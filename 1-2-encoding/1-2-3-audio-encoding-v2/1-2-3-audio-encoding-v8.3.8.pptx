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ppt/notesSlides/notesSlide56.xml" ContentType="application/vnd.openxmlformats-officedocument.presentationml.notesSlide+xml"/>
  <Override PartName="/ppt/notesSlides/notesSlide57.xml" ContentType="application/vnd.openxmlformats-officedocument.presentationml.notesSlide+xml"/>
  <Override PartName="/ppt/notesSlides/notesSlide58.xml" ContentType="application/vnd.openxmlformats-officedocument.presentationml.notesSlide+xml"/>
  <Override PartName="/ppt/notesSlides/notesSlide59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60.xml" ContentType="application/vnd.openxmlformats-officedocument.presentationml.notesSlide+xml"/>
  <Override PartName="/ppt/notesSlides/notesSlide61.xml" ContentType="application/vnd.openxmlformats-officedocument.presentationml.notesSlide+xml"/>
  <Override PartName="/ppt/notesSlides/notesSlide62.xml" ContentType="application/vnd.openxmlformats-officedocument.presentationml.notesSlide+xml"/>
  <Override PartName="/ppt/notesSlides/notesSlide63.xml" ContentType="application/vnd.openxmlformats-officedocument.presentationml.notesSlide+xml"/>
  <Override PartName="/ppt/notesSlides/notesSlide64.xml" ContentType="application/vnd.openxmlformats-officedocument.presentationml.notesSlide+xml"/>
  <Override PartName="/ppt/notesSlides/notesSlide65.xml" ContentType="application/vnd.openxmlformats-officedocument.presentationml.notesSlide+xml"/>
  <Override PartName="/ppt/notesSlides/notesSlide66.xml" ContentType="application/vnd.openxmlformats-officedocument.presentationml.notesSlide+xml"/>
  <Override PartName="/ppt/notesSlides/notesSlide67.xml" ContentType="application/vnd.openxmlformats-officedocument.presentationml.notesSlide+xml"/>
  <Override PartName="/ppt/notesSlides/notesSlide68.xml" ContentType="application/vnd.openxmlformats-officedocument.presentationml.notesSlide+xml"/>
  <Override PartName="/ppt/notesSlides/notesSlide69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70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.xml" ContentType="application/vnd.openxmlformats-officedocument.presentationml.slide+xml"/>
  <Override PartName="/ppt/slides/slide70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322" r:id="rId74"/>
    <p:sldId id="264" r:id="rId16"/>
    <p:sldId id="265" r:id="rId17"/>
    <p:sldId id="321" r:id="rId73"/>
    <p:sldId id="266" r:id="rId18"/>
    <p:sldId id="267" r:id="rId19"/>
    <p:sldId id="268" r:id="rId20"/>
    <p:sldId id="269" r:id="rId21"/>
    <p:sldId id="323" r:id="rId75"/>
    <p:sldId id="270" r:id="rId22"/>
    <p:sldId id="272" r:id="rId24"/>
    <p:sldId id="324" r:id="rId76"/>
    <p:sldId id="271" r:id="rId23"/>
    <p:sldId id="273" r:id="rId25"/>
    <p:sldId id="274" r:id="rId26"/>
    <p:sldId id="320" r:id="rId72"/>
    <p:sldId id="275" r:id="rId27"/>
    <p:sldId id="276" r:id="rId28"/>
    <p:sldId id="277" r:id="rId29"/>
    <p:sldId id="278" r:id="rId30"/>
    <p:sldId id="279" r:id="rId31"/>
    <p:sldId id="280" r:id="rId32"/>
    <p:sldId id="281" r:id="rId33"/>
    <p:sldId id="282" r:id="rId34"/>
    <p:sldId id="283" r:id="rId35"/>
    <p:sldId id="284" r:id="rId36"/>
    <p:sldId id="285" r:id="rId37"/>
    <p:sldId id="286" r:id="rId38"/>
    <p:sldId id="287" r:id="rId39"/>
    <p:sldId id="288" r:id="rId40"/>
    <p:sldId id="289" r:id="rId41"/>
    <p:sldId id="290" r:id="rId42"/>
    <p:sldId id="291" r:id="rId43"/>
    <p:sldId id="292" r:id="rId44"/>
    <p:sldId id="293" r:id="rId45"/>
    <p:sldId id="294" r:id="rId46"/>
    <p:sldId id="295" r:id="rId47"/>
    <p:sldId id="296" r:id="rId48"/>
    <p:sldId id="297" r:id="rId49"/>
    <p:sldId id="298" r:id="rId50"/>
    <p:sldId id="299" r:id="rId51"/>
    <p:sldId id="300" r:id="rId52"/>
    <p:sldId id="301" r:id="rId53"/>
    <p:sldId id="302" r:id="rId54"/>
    <p:sldId id="303" r:id="rId55"/>
    <p:sldId id="304" r:id="rId56"/>
    <p:sldId id="325" r:id="rId77"/>
    <p:sldId id="305" r:id="rId57"/>
    <p:sldId id="306" r:id="rId58"/>
    <p:sldId id="307" r:id="rId59"/>
    <p:sldId id="308" r:id="rId60"/>
    <p:sldId id="309" r:id="rId61"/>
    <p:sldId id="310" r:id="rId62"/>
    <p:sldId id="311" r:id="rId63"/>
    <p:sldId id="312" r:id="rId64"/>
    <p:sldId id="313" r:id="rId65"/>
    <p:sldId id="314" r:id="rId66"/>
    <p:sldId id="315" r:id="rId67"/>
    <p:sldId id="316" r:id="rId68"/>
    <p:sldId id="317" r:id="rId69"/>
    <p:sldId id="318" r:id="rId70"/>
    <p:sldId id="319" r:id="rId7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3.xml"/><Relationship Id="rId19" Type="http://schemas.openxmlformats.org/officeDocument/2006/relationships/slide" Target="slides/slide14.xml"/><Relationship Id="rId20" Type="http://schemas.openxmlformats.org/officeDocument/2006/relationships/slide" Target="slides/slide15.xml"/><Relationship Id="rId21" Type="http://schemas.openxmlformats.org/officeDocument/2006/relationships/slide" Target="slides/slide16.xml"/><Relationship Id="rId22" Type="http://schemas.openxmlformats.org/officeDocument/2006/relationships/slide" Target="slides/slide18.xml"/><Relationship Id="rId23" Type="http://schemas.openxmlformats.org/officeDocument/2006/relationships/slide" Target="slides/slide21.xml"/><Relationship Id="rId24" Type="http://schemas.openxmlformats.org/officeDocument/2006/relationships/slide" Target="slides/slide19.xml"/><Relationship Id="rId25" Type="http://schemas.openxmlformats.org/officeDocument/2006/relationships/slide" Target="slides/slide22.xml"/><Relationship Id="rId26" Type="http://schemas.openxmlformats.org/officeDocument/2006/relationships/slide" Target="slides/slide23.xml"/><Relationship Id="rId27" Type="http://schemas.openxmlformats.org/officeDocument/2006/relationships/slide" Target="slides/slide25.xml"/><Relationship Id="rId28" Type="http://schemas.openxmlformats.org/officeDocument/2006/relationships/slide" Target="slides/slide26.xml"/><Relationship Id="rId29" Type="http://schemas.openxmlformats.org/officeDocument/2006/relationships/slide" Target="slides/slide27.xml"/><Relationship Id="rId30" Type="http://schemas.openxmlformats.org/officeDocument/2006/relationships/slide" Target="slides/slide28.xml"/><Relationship Id="rId31" Type="http://schemas.openxmlformats.org/officeDocument/2006/relationships/slide" Target="slides/slide29.xml"/><Relationship Id="rId32" Type="http://schemas.openxmlformats.org/officeDocument/2006/relationships/slide" Target="slides/slide30.xml"/><Relationship Id="rId33" Type="http://schemas.openxmlformats.org/officeDocument/2006/relationships/slide" Target="slides/slide31.xml"/><Relationship Id="rId34" Type="http://schemas.openxmlformats.org/officeDocument/2006/relationships/slide" Target="slides/slide32.xml"/><Relationship Id="rId35" Type="http://schemas.openxmlformats.org/officeDocument/2006/relationships/slide" Target="slides/slide33.xml"/><Relationship Id="rId36" Type="http://schemas.openxmlformats.org/officeDocument/2006/relationships/slide" Target="slides/slide34.xml"/><Relationship Id="rId37" Type="http://schemas.openxmlformats.org/officeDocument/2006/relationships/slide" Target="slides/slide35.xml"/><Relationship Id="rId38" Type="http://schemas.openxmlformats.org/officeDocument/2006/relationships/slide" Target="slides/slide36.xml"/><Relationship Id="rId39" Type="http://schemas.openxmlformats.org/officeDocument/2006/relationships/slide" Target="slides/slide37.xml"/><Relationship Id="rId40" Type="http://schemas.openxmlformats.org/officeDocument/2006/relationships/slide" Target="slides/slide38.xml"/><Relationship Id="rId41" Type="http://schemas.openxmlformats.org/officeDocument/2006/relationships/slide" Target="slides/slide39.xml"/><Relationship Id="rId42" Type="http://schemas.openxmlformats.org/officeDocument/2006/relationships/slide" Target="slides/slide40.xml"/><Relationship Id="rId43" Type="http://schemas.openxmlformats.org/officeDocument/2006/relationships/slide" Target="slides/slide41.xml"/><Relationship Id="rId44" Type="http://schemas.openxmlformats.org/officeDocument/2006/relationships/slide" Target="slides/slide42.xml"/><Relationship Id="rId45" Type="http://schemas.openxmlformats.org/officeDocument/2006/relationships/slide" Target="slides/slide43.xml"/><Relationship Id="rId46" Type="http://schemas.openxmlformats.org/officeDocument/2006/relationships/slide" Target="slides/slide44.xml"/><Relationship Id="rId47" Type="http://schemas.openxmlformats.org/officeDocument/2006/relationships/slide" Target="slides/slide45.xml"/><Relationship Id="rId48" Type="http://schemas.openxmlformats.org/officeDocument/2006/relationships/slide" Target="slides/slide46.xml"/><Relationship Id="rId49" Type="http://schemas.openxmlformats.org/officeDocument/2006/relationships/slide" Target="slides/slide47.xml"/><Relationship Id="rId50" Type="http://schemas.openxmlformats.org/officeDocument/2006/relationships/slide" Target="slides/slide48.xml"/><Relationship Id="rId51" Type="http://schemas.openxmlformats.org/officeDocument/2006/relationships/slide" Target="slides/slide49.xml"/><Relationship Id="rId52" Type="http://schemas.openxmlformats.org/officeDocument/2006/relationships/slide" Target="slides/slide50.xml"/><Relationship Id="rId53" Type="http://schemas.openxmlformats.org/officeDocument/2006/relationships/slide" Target="slides/slide51.xml"/><Relationship Id="rId54" Type="http://schemas.openxmlformats.org/officeDocument/2006/relationships/slide" Target="slides/slide52.xml"/><Relationship Id="rId55" Type="http://schemas.openxmlformats.org/officeDocument/2006/relationships/slide" Target="slides/slide53.xml"/><Relationship Id="rId56" Type="http://schemas.openxmlformats.org/officeDocument/2006/relationships/slide" Target="slides/slide54.xml"/><Relationship Id="rId57" Type="http://schemas.openxmlformats.org/officeDocument/2006/relationships/slide" Target="slides/slide56.xml"/><Relationship Id="rId58" Type="http://schemas.openxmlformats.org/officeDocument/2006/relationships/slide" Target="slides/slide57.xml"/><Relationship Id="rId59" Type="http://schemas.openxmlformats.org/officeDocument/2006/relationships/slide" Target="slides/slide58.xml"/><Relationship Id="rId60" Type="http://schemas.openxmlformats.org/officeDocument/2006/relationships/slide" Target="slides/slide59.xml"/><Relationship Id="rId61" Type="http://schemas.openxmlformats.org/officeDocument/2006/relationships/slide" Target="slides/slide60.xml"/><Relationship Id="rId62" Type="http://schemas.openxmlformats.org/officeDocument/2006/relationships/slide" Target="slides/slide61.xml"/><Relationship Id="rId63" Type="http://schemas.openxmlformats.org/officeDocument/2006/relationships/slide" Target="slides/slide62.xml"/><Relationship Id="rId64" Type="http://schemas.openxmlformats.org/officeDocument/2006/relationships/slide" Target="slides/slide63.xml"/><Relationship Id="rId65" Type="http://schemas.openxmlformats.org/officeDocument/2006/relationships/slide" Target="slides/slide64.xml"/><Relationship Id="rId66" Type="http://schemas.openxmlformats.org/officeDocument/2006/relationships/slide" Target="slides/slide65.xml"/><Relationship Id="rId67" Type="http://schemas.openxmlformats.org/officeDocument/2006/relationships/slide" Target="slides/slide66.xml"/><Relationship Id="rId68" Type="http://schemas.openxmlformats.org/officeDocument/2006/relationships/slide" Target="slides/slide67.xml"/><Relationship Id="rId69" Type="http://schemas.openxmlformats.org/officeDocument/2006/relationships/slide" Target="slides/slide68.xml"/><Relationship Id="rId70" Type="http://schemas.openxmlformats.org/officeDocument/2006/relationships/slide" Target="slides/slide69.xml"/><Relationship Id="rId71" Type="http://schemas.openxmlformats.org/officeDocument/2006/relationships/slide" Target="slides/slide70.xml"/><Relationship Id="rId72" Type="http://schemas.openxmlformats.org/officeDocument/2006/relationships/slide" Target="slides/slide24.xml"/><Relationship Id="rId73" Type="http://schemas.openxmlformats.org/officeDocument/2006/relationships/slide" Target="slides/slide12.xml"/><Relationship Id="rId74" Type="http://schemas.openxmlformats.org/officeDocument/2006/relationships/slide" Target="slides/slide9.xml"/><Relationship Id="rId75" Type="http://schemas.openxmlformats.org/officeDocument/2006/relationships/slide" Target="slides/slide17.xml"/><Relationship Id="rId76" Type="http://schemas.openxmlformats.org/officeDocument/2006/relationships/slide" Target="slides/slide20.xml"/><Relationship Id="rId77" Type="http://schemas.openxmlformats.org/officeDocument/2006/relationships/slide" Target="slides/slide55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6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7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8.xml"/></Relationships>
</file>

<file path=ppt/notesSlides/_rels/notesSlide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9.xml"/></Relationships>
</file>

<file path=ppt/notesSlides/_rels/notesSlide2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0.xml"/></Relationships>
</file>

<file path=ppt/notesSlides/_rels/notesSlide2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1.xml"/></Relationships>
</file>

<file path=ppt/notesSlides/_rels/notesSlide2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2.xml"/></Relationships>
</file>

<file path=ppt/notesSlides/_rels/notesSlide2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3.xml"/></Relationships>
</file>

<file path=ppt/notesSlides/_rels/notesSlide2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4.xml"/></Relationships>
</file>

<file path=ppt/notesSlides/_rels/notesSlide3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5.xml"/></Relationships>
</file>

<file path=ppt/notesSlides/_rels/notesSlide3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6.xml"/></Relationships>
</file>

<file path=ppt/notesSlides/_rels/notesSlide3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7.xml"/></Relationships>
</file>

<file path=ppt/notesSlides/_rels/notesSlide3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8.xml"/></Relationships>
</file>

<file path=ppt/notesSlides/_rels/notesSlide3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9.xml"/></Relationships>
</file>

<file path=ppt/notesSlides/_rels/notesSlide3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0.xml"/></Relationships>
</file>

<file path=ppt/notesSlides/_rels/notesSlide3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1.xml"/></Relationships>
</file>

<file path=ppt/notesSlides/_rels/notesSlide3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2.xml"/></Relationships>
</file>

<file path=ppt/notesSlides/_rels/notesSlide3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3.xml"/></Relationships>
</file>

<file path=ppt/notesSlides/_rels/notesSlide3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4.xml"/></Relationships>
</file>

<file path=ppt/notesSlides/_rels/notesSlide4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5.xml"/></Relationships>
</file>

<file path=ppt/notesSlides/_rels/notesSlide4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6.xml"/></Relationships>
</file>

<file path=ppt/notesSlides/_rels/notesSlide4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7.xml"/></Relationships>
</file>

<file path=ppt/notesSlides/_rels/notesSlide4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8.xml"/></Relationships>
</file>

<file path=ppt/notesSlides/_rels/notesSlide4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9.xml"/></Relationships>
</file>

<file path=ppt/notesSlides/_rels/notesSlide4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0.xml"/></Relationships>
</file>

<file path=ppt/notesSlides/_rels/notesSlide4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1.xml"/></Relationships>
</file>

<file path=ppt/notesSlides/_rels/notesSlide4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2.xml"/></Relationships>
</file>

<file path=ppt/notesSlides/_rels/notesSlide4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3.xml"/></Relationships>
</file>

<file path=ppt/notesSlides/_rels/notesSlide4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4.xml"/></Relationships>
</file>

<file path=ppt/notesSlides/_rels/notesSlide5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6.xml"/></Relationships>
</file>

<file path=ppt/notesSlides/_rels/notesSlide5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7.xml"/></Relationships>
</file>

<file path=ppt/notesSlides/_rels/notesSlide5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8.xml"/></Relationships>
</file>

<file path=ppt/notesSlides/_rels/notesSlide5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9.xml"/></Relationships>
</file>

<file path=ppt/notesSlides/_rels/notesSlide5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0.xml"/></Relationships>
</file>

<file path=ppt/notesSlides/_rels/notesSlide5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1.xml"/></Relationships>
</file>

<file path=ppt/notesSlides/_rels/notesSlide5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2.xml"/></Relationships>
</file>

<file path=ppt/notesSlides/_rels/notesSlide5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3.xml"/></Relationships>
</file>

<file path=ppt/notesSlides/_rels/notesSlide5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4.xml"/></Relationships>
</file>

<file path=ppt/notesSlides/_rels/notesSlide5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5.xml"/></Relationships>
</file>

<file path=ppt/notesSlides/_rels/notesSlide6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6.xml"/></Relationships>
</file>

<file path=ppt/notesSlides/_rels/notesSlide6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7.xml"/></Relationships>
</file>

<file path=ppt/notesSlides/_rels/notesSlide6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8.xml"/></Relationships>
</file>

<file path=ppt/notesSlides/_rels/notesSlide6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9.xml"/></Relationships>
</file>

<file path=ppt/notesSlides/_rels/notesSlide6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0.xml"/></Relationships>
</file>

<file path=ppt/notesSlides/_rels/notesSlide6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_rels/notesSlide6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6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6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6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7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5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【教师讲述／组织】开场。问：“上一节课学习了图像编码。那么在手机里录下我们的声音，计算机保存的到底是什么？”不要直接报出采样、量化、编码，先让学生提出问题。</a:t>
            </a:r>
          </a:p>
          <a:p>
            <a:r>
              <a:t>【反馈】先听学生如何解释，再决定是否揭示结论；注意控制本页停留时间。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【设计意图】回忆旧知识：字符编码记录符号，图像编码记录像素。请学生预测：自然声音没有像素，计算机怎么办？指向本课总问题，不求答对。</a:t>
            </a:r>
          </a:p>
          <a:p>
            <a:r>
              <a:t>【教师可以这样讲】大家想一想，我们能把一个汉字或一张图片保存进电脑。那么正在说话的声音是不是也能保存？它与图像的最大区别在哪里？</a:t>
            </a:r>
          </a:p>
          <a:p>
            <a:r>
              <a:t>【预判回答与追问】有人会说只要“录下来”就行；追问“录下来”在计算机里究竟记录什么？</a:t>
            </a:r>
          </a:p>
          <a:p>
            <a:r>
              <a:t>【本页收束】收束到核心问题：原来连续的声音如何变成数字。</a:t>
            </a:r>
          </a:p>
          <a:p/>
          <a:p>
            <a:r>
              <a:t>先请学生复述文字和图片怎样编码，再让学生预测麦克风后是什么、计算机需要什么。教师不预告完整三步。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【教师讲述／组织】从实录1的振动声源、空气传播与耳膜经验出发。问：我们说话时什么振动？声音怎样到耳朵？要学生识别声音是物理现象。</a:t>
            </a:r>
          </a:p>
          <a:p>
            <a:r>
              <a:t>【反馈】先听学生如何解释，再决定是否揭示结论；注意控制本页停留时间。</a:t>
            </a:r>
          </a:p>
          <a:p/>
          <a:p>
            <a:r>
              <a:t>【v8.1视觉引导】视觉依据是生成的“音叉—声压疏密变化—麦克风”图；为了投影清晰采用可缩放矢量绘制。它不是声波沿正弦路径传播的图。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【设计意图】先让学生表态：声波在时间上连续变化；文件保存的是离散数字。问麦克风前后，哪一阶段发生改变？</a:t>
            </a:r>
          </a:p>
          <a:p>
            <a:r>
              <a:t>【教师可以这样讲】请先判断：空气中的声音和电脑里的音频文件，是不是同一种东西？举一个理由。</a:t>
            </a:r>
          </a:p>
          <a:p>
            <a:r>
              <a:t>【预判回答与追问】“电脑播放出来还是声音，所以是模拟量”是可能的误解；分清存储形式和播放后的物理振动。</a:t>
            </a:r>
          </a:p>
          <a:p>
            <a:r>
              <a:t>【本页收束】声音属于物理模拟信号；数字文件以离散的数据保存音频。</a:t>
            </a:r>
          </a:p>
          <a:p/>
          <a:p>
            <a:r>
              <a:t>对比模拟声波与文件中的数字，问连续变化的声音如何变成离散数据；先让学生说两者有何不同。</a:t>
            </a:r>
          </a:p>
          <a:p/>
          <a:p>
            <a:r>
              <a:t>[视觉优化] 先让学生观察两图，自己说出波形与离散记录的区别。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【设计意图】承接实录1：猜需要哪些设备。麦克风将声压变化转为连续电信号；此时仍是模拟信号。不要说麦克风直接保存WAV。</a:t>
            </a:r>
          </a:p>
          <a:p>
            <a:r>
              <a:t>【教师可以这样讲】请观察这条流程。麦克风是不是已经把声波变成0和1了？请指出转换前后各是什么。</a:t>
            </a:r>
          </a:p>
          <a:p>
            <a:r>
              <a:t>【预判回答与追问】学生可能认为麦克风就是“录音机”。追问：麦克风输出的电压能否在每个时刻连续变化？</a:t>
            </a:r>
          </a:p>
          <a:p>
            <a:r>
              <a:t>【本页收束】麦克风把声压变化变成模拟电信号，数字化还没有完成。</a:t>
            </a:r>
          </a:p>
          <a:p/>
          <a:p>
            <a:r>
              <a:t>麦克风负责把声压变化变成连续电信号；先预测“是数字还是模拟？”学生说出依据。</a:t>
            </a:r>
          </a:p>
          <a:p/>
          <a:p>
            <a:r>
              <a:t>[视觉优化] 波阵面而非传播路径。麦克风不是二进制编码器。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【设计意图】先问：谁来把模拟电信号转换成0和1？鼓励学生猜CPU、麦克风等。展示声卡音频接口或画流程，以ADC为答案。设备可集成在主板或外置。</a:t>
            </a:r>
          </a:p>
          <a:p>
            <a:r>
              <a:t>【教师可以这样讲】如果麦克风输出还是连续电信号，计算机怎样读懂它？需要什么设备？</a:t>
            </a:r>
          </a:p>
          <a:p>
            <a:r>
              <a:t>【预判回答与追问】学生可能猜CPU，先认可其计算作用，再追问哪个音频部件把模拟信号变成离散样本。</a:t>
            </a:r>
          </a:p>
          <a:p>
            <a:r>
              <a:t>【本页收束】声卡中的ADC完成模数转换。无需记电子线路结构。</a:t>
            </a:r>
          </a:p>
          <a:p/>
          <a:p>
            <a:r>
              <a:t>声卡ADC把模拟信号变为数字数据；不要求硬件电路细节，用前后变化解释。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【教师讲述／组织】追问：存进去的0和1，为什么还能从扬声器变回声音？给出DAC作为反向转换，重点是两个方向的理解；不要展开电路。</a:t>
            </a:r>
          </a:p>
          <a:p>
            <a:r>
              <a:t>【反馈】先听学生如何解释，再决定是否揭示结论；注意控制本页停留时间。</a:t>
            </a:r>
          </a:p>
          <a:p/>
          <a:p>
            <a:r>
              <a:t>按录音顺序走一遍，再反向说播放顺序，确认DAC与ADC的作用不同。</a:t>
            </a:r>
          </a:p>
          <a:p/>
          <a:p>
            <a:r>
              <a:t>[视觉优化] 两条平行流程对应录音与播放。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【设计意图】学生易误解：上下起伏是空气中声波的传播轨迹。请先判断，再明确横轴时间、纵轴同一地点声压或电信号的变化。</a:t>
            </a:r>
          </a:p>
          <a:p>
            <a:r>
              <a:t>【教师可以这样讲】看到这条上下起伏的曲线，请猜：它是不是声音在空气里沿着波浪形路线前进？</a:t>
            </a:r>
          </a:p>
          <a:p>
            <a:r>
              <a:t>【预判回答与追问】提醒固定一个位置，横坐标向右代表时间，纵坐标上下代表压力或电信号偏离参考的变化。</a:t>
            </a:r>
          </a:p>
          <a:p>
            <a:r>
              <a:t>【本页收束】波形是“某处随时间变化”的图，不是空间中的传播路径。</a:t>
            </a:r>
          </a:p>
          <a:p/>
          <a:p>
            <a:r>
              <a:t>【v7 Demo A，约2分钟】先保留本页“传播路线吗”的问题，让学生预测；运行 notebooks/01_听见声音_看见波形.ipynb，在教室Windows浏览器中点击播放。指向红色时间光标：波形表示时间变化，不是空间传播路线。Mac不会播放声音，声音从Windows浏览器输出。网络异常时直接用本页静态图。</a:t>
            </a:r>
          </a:p>
          <a:p/>
          <a:p>
            <a:r>
              <a:t>【v8.1视觉引导】加强波形曲线投影对比；灰色线为信号示意，离散点是取样时刻的记录。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【设计意图】先在波形上让学生指出选取若干时刻的方法，预测“隔一段时间取一个值”；不要急着宣布定义。</a:t>
            </a:r>
          </a:p>
          <a:p>
            <a:r>
              <a:t>【教师可以这样讲】现在只允许保存若干个数字，你会在哪些时刻记录这条曲线？让同桌先各提出一条规则。</a:t>
            </a:r>
          </a:p>
          <a:p>
            <a:r>
              <a:t>【预判回答与追问】有人会只选最高点和最低点。追问：如果换一段波形，这个规则是否容易统一实现？</a:t>
            </a:r>
          </a:p>
          <a:p>
            <a:r>
              <a:t>【本页收束】用固定时间间隔连续记录，形成采样时刻。</a:t>
            </a:r>
          </a:p>
          <a:p/>
          <a:p>
            <a:r>
              <a:t>请学生先在波形上建议记录时刻，再比较哪种规则稳定；引出等时间间隔采样。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【设计意图】保留前页坐标与波形，叠加等间隔采样点。追问：采样之后还保留每个时刻的原始值吗？概括“时间上离散”。</a:t>
            </a:r>
          </a:p>
          <a:p>
            <a:r>
              <a:t>【教师可以这样讲】我们按固定时间间隔记录了12个点。灰色曲线不再直接保存，每个点有自己的时间和值。</a:t>
            </a:r>
          </a:p>
          <a:p>
            <a:r>
              <a:t>【预判回答与追问】学生可能把连点线当作新的连续信号。追问：文件实际存的是曲线，还是这些点对应的数字？</a:t>
            </a:r>
          </a:p>
          <a:p>
            <a:r>
              <a:t>【本页收束】采样的结果是时间上离散的一组样本。</a:t>
            </a:r>
          </a:p>
          <a:p/>
          <a:p>
            <a:r>
              <a:t>【v7 Demo B，约3分钟】运行 notebooks/02_放大波形_看见采样点.ipynb，将观察范围从100毫秒缩至20、4毫秒，直到看见一个个真实样本点。与完整波形极值包络对照，不要把包络竖线叫采样点。先问“看似连续的曲线，计算机究竟保存了什么？”</a:t>
            </a:r>
          </a:p>
          <a:p/>
          <a:p>
            <a:r>
              <a:t>先观察时间刻度和蓝色点，教师追问记录的是什么量，说明在指定时刻记录幅度。</a:t>
            </a:r>
          </a:p>
          <a:p/>
          <a:p>
            <a:r>
              <a:t>【v8.1视觉引导】加强波形曲线投影对比；灰色线为信号示意，离散点是取样时刻的记录。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【设计意图】先让学生预测1 Hz、2 Hz分别表示每秒几个点；同一时间范围，不同点数。讲采样率=单位时间样本数，间隔Δt=1/fs。</a:t>
            </a:r>
          </a:p>
          <a:p>
            <a:r>
              <a:t>【教师可以这样讲】预测：1 Hz每秒几个点？2 Hz每秒几个点？都记录4秒，两个例子的样本数分别是多少？</a:t>
            </a:r>
          </a:p>
          <a:p>
            <a:r>
              <a:t>【预判回答与追问】注意“赫兹”还可表示声音本身频率；本页说的是“采样的次数”。</a:t>
            </a:r>
          </a:p>
          <a:p>
            <a:r>
              <a:t>【本页收束】采样率是每秒采样数；更密意味着相邻采样时刻间隔更短。</a:t>
            </a:r>
          </a:p>
          <a:p/>
          <a:p>
            <a:r>
              <a:t>【v7回扣】演示切换到本页后，要求学生解释采样率和每秒样本数之间的关系。Notebook中的4毫秒局部窗口只是观察尺度。</a:t>
            </a:r>
          </a:p>
          <a:p/>
          <a:p>
            <a:r>
              <a:t>1Hz=每秒1个记录点；2Hz=每秒2个。这里用于放大理解，绝非实际音频录制建议。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【教师讲述／组织】同一波形、同一个时长，采样点由少到多。先比较时间方向的点密度，不谈“采样后连线就完全恢复”。</a:t>
            </a:r>
          </a:p>
          <a:p>
            <a:r>
              <a:t>【反馈】先听学生如何解释，再决定是否揭示结论；注意控制本页停留时间。</a:t>
            </a:r>
          </a:p>
          <a:p/>
          <a:p>
            <a:r>
              <a:t>上下保持同一条曲线不变，只改变时间方向的样本密度，让学生辨认控制变量。</a:t>
            </a:r>
          </a:p>
          <a:p/>
          <a:p>
            <a:r>
              <a:t>【v8.1视觉引导】加强波形曲线投影对比；灰色线为信号示意，离散点是取样时刻的记录。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【设计意图】实录2第二步：采样点的振幅可在连续范围取值，设备却计划使用有限等级。让学生意识到有第二个问题尚未解决。</a:t>
            </a:r>
          </a:p>
          <a:p>
            <a:r>
              <a:t>【教师可以这样讲】假设某个时刻取得3.71这样的振幅值。如果设备只准记录8个整数等级，会怎么办？</a:t>
            </a:r>
          </a:p>
          <a:p>
            <a:r>
              <a:t>【预判回答与追问】学生可能直接回答“四舍五入”，要追问必须先规定可用的代表值与映射规则。</a:t>
            </a:r>
          </a:p>
          <a:p>
            <a:r>
              <a:t>【本页收束】量化解决幅度的离散化，下一页构建0到7的教学模型。</a:t>
            </a:r>
          </a:p>
          <a:p/>
          <a:p>
            <a:r>
              <a:t>【v7 Demo C预告】现在只解决了采样时刻；纵向幅度可能是任意连续值，需要量化，稍后用实验台在同一坐标中比较。</a:t>
            </a:r>
          </a:p>
          <a:p/>
          <a:p>
            <a:r>
              <a:t>讨论3.71这样的幅度怎样用有限个等级近似记录，不让量化等同四舍五入。</a:t>
            </a:r>
          </a:p>
          <a:p/>
          <a:p>
            <a:r>
              <a:t>【v8.1视觉引导】加强波形曲线投影对比；灰色线为信号示意，离散点是取样时刻的记录。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【设计意图】坚持实录2的首个量化模型：等级从0数到7含0，共八级。提醒这里是教学简化例，真实PCM可正可负。让学生先自己数等级。</a:t>
            </a:r>
          </a:p>
          <a:p>
            <a:r>
              <a:t>【教师可以这样讲】请同学数一数，从0到7一共几个数字。0算不算一个等级？</a:t>
            </a:r>
          </a:p>
          <a:p>
            <a:r>
              <a:t>【预判回答与追问】最容易出现7级的误答。让学生逐个数：0、1、2、3、4、5、6、7。</a:t>
            </a:r>
          </a:p>
          <a:p>
            <a:r>
              <a:t>【本页收束】共8个等级。这里是简化模型，并非真实声压只有非负值。</a:t>
            </a:r>
          </a:p>
          <a:p/>
          <a:p>
            <a:r>
              <a:t>讲授0~7是等级编号；不要把取样数、幅度值、等级编号混为一谈，先让学生预测。</a:t>
            </a:r>
          </a:p>
          <a:p/>
          <a:p>
            <a:r>
              <a:t>【v8.1视觉引导】加深0至7的八条量化等级线，先数清等级再引入3 bit。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【设计意图】此页展示明确的取整规则：教学用向下取整（非真实所有PCM的唯一规则）；把3.71映射到3。解释损失了细节，产生量化误差。</a:t>
            </a:r>
          </a:p>
          <a:p>
            <a:r>
              <a:t>【教师可以这样讲】规定一个简化规则：向下取整。原值3.71会落在哪个等级？屏幕上的红点与蓝点哪个是原值？</a:t>
            </a:r>
          </a:p>
          <a:p>
            <a:r>
              <a:t>【预判回答与追问】可能误以为蓝点恰好是原始值。追问：3.71与3有什么不同？少了哪些信息？</a:t>
            </a:r>
          </a:p>
          <a:p>
            <a:r>
              <a:t>【本页收束】量化是用有限代表值近似原值，存在量化误差。</a:t>
            </a:r>
          </a:p>
          <a:p/>
          <a:p>
            <a:r>
              <a:t>这里按[n,n+1)归入Ln，3.71属于L3；量化代表值可取3.5。让学生回看先前错误猜测。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【设计意图】出选择：8个等级需要2位、3位还是8位？请学生复习2的n次方。按最简单映射列出对应表，避免一次上来10个样本。</a:t>
            </a:r>
          </a:p>
          <a:p>
            <a:r>
              <a:t>【教师可以这样讲】刚才有8级，若只有两个二进制位可以表示多少种不同情况？三个呢？</a:t>
            </a:r>
          </a:p>
          <a:p>
            <a:r>
              <a:t>【预判回答与追问】让学生亲自枚举00、01、10、11，然后观察000到111共有八种。</a:t>
            </a:r>
          </a:p>
          <a:p>
            <a:r>
              <a:t>【本页收束】2^3=8，所以这八个等级可以用3 bit表示。</a:t>
            </a:r>
          </a:p>
          <a:p/>
          <a:p>
            <a:r>
              <a:t>该比较图与Notebook 03采用不同示例幅度范围，但都是先采样、划区间、记录等级；先建立3bit=8级再操作。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【设计意图】引导从单样本迁移到样本序列：强调时间先后、量化值与3位二进制对应。不要把10个样本误说为10个量化等级。</a:t>
            </a:r>
          </a:p>
          <a:p>
            <a:r>
              <a:t>【教师可以这样讲】请从第3个样本找起：它的量化值是多少？对应的三位码字是什么？再找第7个。</a:t>
            </a:r>
          </a:p>
          <a:p>
            <a:r>
              <a:t>【预判回答与追问】注意区分“样本数量10”和“等级数量8”，不能把十个样本说成十个等级。</a:t>
            </a:r>
          </a:p>
          <a:p>
            <a:r>
              <a:t>【本页收束】编码按时间顺序保存各个样本的定长码字。</a:t>
            </a:r>
          </a:p>
          <a:p/>
          <a:p>
            <a:r>
              <a:t>三位二进制可以表达8种组合；先问学生最少需要几bit，再揭示全部码字。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【教师讲述／组织】引入实录2的尺子类比：原本分米刻度与厘米刻度，刻度更细通常误差更小。与采样率的时间密度作区分。</a:t>
            </a:r>
          </a:p>
          <a:p>
            <a:r>
              <a:t>【反馈】先听学生如何解释，再决定是否揭示结论；注意控制本页停留时间。</a:t>
            </a:r>
          </a:p>
          <a:p/>
          <a:p>
            <a:r>
              <a:t>十个样本的表先只聚焦第一列：样本编号、量化等级、3bit码字逐一对应，再请学生解释其它样本。</a:t>
            </a:r>
          </a:p>
          <a:p/>
          <a:p>
            <a:r>
              <a:t>【v8.1视觉引导】码字行放大并统一青色；先指出第1列，再读完全部10个样本。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【设计意图】学生两两互问：采样率改变什么方向？量化位数改变什么方向？画时间与幅度两个方向的粗箭头，对照两种概念。</a:t>
            </a:r>
          </a:p>
          <a:p>
            <a:r>
              <a:t>【教师可以这样讲】请指出采样率与量化位数分别控制这张图的哪个方向。</a:t>
            </a:r>
          </a:p>
          <a:p>
            <a:r>
              <a:t>【预判回答与追问】如学生认为量化位数决定点的多少，重新回看每一秒有几个采样时刻。</a:t>
            </a:r>
          </a:p>
          <a:p>
            <a:r>
              <a:t>【本页收束】采样率决定时间方向的密度，量化位数决定幅度方向的精细程度。</a:t>
            </a:r>
          </a:p>
          <a:p/>
          <a:p>
            <a:r>
              <a:t>【v7 Demo C，约5分钟】运行 notebooks/03_采样_量化_编码实验台.ipynb，按①原波形→②采样→③量化→④编码进行。学生先预测调高采样率会变哪些点，再预测保持采样率改bit数时横向点数会否变化。实验台使用归一化-1到1幅度，量化等级编号仍为0～2^n-1，与本页0～7教学例的单位尺度不同。</a:t>
            </a:r>
          </a:p>
          <a:p/>
          <a:p>
            <a:r>
              <a:t>对比3bit与4bit的等级数，先让学生预测会不会增加样本点个数；解释是纵向可选值更密。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【教师讲述／组织】技术纠偏：在其他条件一致且原先不足时通常改善还原保真度；但达到合理条件后并非“数字越大越好”，设备、声源、听觉与滤波都会限制。中学只需掌握趋势和条件。</a:t>
            </a:r>
          </a:p>
          <a:p>
            <a:r>
              <a:t>【反馈】先听学生如何解释，再决定是否揭示结论；注意控制本页停留时间。</a:t>
            </a:r>
          </a:p>
          <a:p/>
          <a:p>
            <a:r>
              <a:t>【v7实验台回扣】在实验台选择3 bit，点击一个点，要求学生报出等级编号和3 bit码字。注意实验台使用[-1,1]输入范围；本页0～7演示是另一种简化尺度，编码原理相同。</a:t>
            </a:r>
          </a:p>
          <a:p/>
          <a:p>
            <a:r>
              <a:t>纠正“设置越高听觉效果必然越好”的绝对化说法，讨论保真能力与具体条件。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【教师讲述／组织】避免从课堂3位例子跳到真实16位时困惑。说明用3位为了看清规律，不是说实际音乐普遍使用3位。</a:t>
            </a:r>
          </a:p>
          <a:p>
            <a:r>
              <a:t>【反馈】先听学生如何解释，再决定是否揭示结论；注意控制本页停留时间。</a:t>
            </a:r>
          </a:p>
          <a:p/>
          <a:p>
            <a:r>
              <a:t>【v7学习证据】让学生说出：“采样确定何时记录，量化决定用哪个代表值，编码将编号写成固定长度的二进制码字。”如果答不出，回实验台查看同一个样本，避免只背步骤名称。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【教师讲述／组织】从实录与v4延展：PCM代表样本数据的编码表示，WAV是保存音频数据的文件容器之一。暂不讲复杂格式比较，示意文件头告诉播放器如何读数据。</a:t>
            </a:r>
          </a:p>
          <a:p>
            <a:r>
              <a:t>【反馈】先听学生如何解释，再决定是否揭示结论；注意控制本页停留时间。</a:t>
            </a:r>
          </a:p>
          <a:p/>
          <a:p>
            <a:r>
              <a:t>区分数字样本和WAV容器头的作用；WAV不等同于一种有损压缩方法。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【设计意图】回扣开场录音/播放闭环：读PCM样本→转换为连续电信号→推动扬声器振动；波形经过重建，不是简单用折线连接采样点。</a:t>
            </a:r>
          </a:p>
          <a:p>
            <a:r>
              <a:t>【教师可以这样讲】复盘完整流程：数字文件里的样本为什么还能被扬声器播放成声音？</a:t>
            </a:r>
          </a:p>
          <a:p>
            <a:r>
              <a:t>【预判回答与追问】不要讲成简单把点连成折线。输出经过数模转换及适当的信号处理。</a:t>
            </a:r>
          </a:p>
          <a:p>
            <a:r>
              <a:t>【本页收束】录音是ADC，播放是DAC，音频数字化形成闭环。</a:t>
            </a:r>
          </a:p>
          <a:p/>
          <a:p>
            <a:r>
              <a:t>沿数字样本→DAC→扬声器→声音完成录放闭环，不在主线要求复述滤波细节。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【教师讲述／组织】从实录2由学生提出因素：越长录音越大，每秒越多点越大，每个点越多bit越大，左右两路各记录一次。请先预测四项，不马上展示公式。</a:t>
            </a:r>
          </a:p>
          <a:p>
            <a:r>
              <a:t>【反馈】先听学生如何解释，再决定是否揭示结论；注意控制本页停留时间。</a:t>
            </a:r>
          </a:p>
          <a:p/>
          <a:p>
            <a:r>
              <a:t>先让学生自己说PCM数据量四个因素，而不是直接背公式。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【设计意图】用小模型实推：每秒2个样本×4秒×1声道=8个样本，每样本3bit共24bit=3Byte。用8个小方块表示样本，而不是一上来给公式。</a:t>
            </a:r>
          </a:p>
          <a:p>
            <a:r>
              <a:t>【教师可以这样讲】请口算每秒2个样本，录4秒，一路声道，共得到多少个样本？每个3位，要几个bit？</a:t>
            </a:r>
          </a:p>
          <a:p>
            <a:r>
              <a:t>【预判回答与追问】学生可能直接乘完得到24 Byte。请指着八个框数，再从bit换到Byte。</a:t>
            </a:r>
          </a:p>
          <a:p>
            <a:r>
              <a:t>【本页收束】8个样本、每个3bit，共24bit，等于3Byte。</a:t>
            </a:r>
          </a:p>
          <a:p/>
          <a:p>
            <a:r>
              <a:t>让学生数8个样本，每个3bit共24bit，除8得到3Byte，单位帮助理解公式。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【设计意图】不要把数据量公式当背诵口令。请学生逐个解释每一项代表哪个物理意义。单位：Hz、bit、秒；/8得到字节。</a:t>
            </a:r>
          </a:p>
          <a:p>
            <a:r>
              <a:t>【教师可以这样讲】我们刚才为什么要把四个因素相乘？请逐一说出公式的单位和意义。</a:t>
            </a:r>
          </a:p>
          <a:p>
            <a:r>
              <a:t>【预判回答与追问】常见错误：1 kHz写成1024 Hz；bit和Byte混用；忘记把分钟换成秒。</a:t>
            </a:r>
          </a:p>
          <a:p>
            <a:r>
              <a:t>【本页收束】会用公式之前先能解释公式。</a:t>
            </a:r>
          </a:p>
          <a:p/>
          <a:p>
            <a:r>
              <a:t>为什么结果是Byte要÷8？把四因素分别对应实际样本数量与每样本bit数。</a:t>
            </a:r>
          </a:p>
          <a:p/>
          <a:p>
            <a:r>
              <a:t>[视觉优化] 从样本总数开始推导数据量，解释每个乘数的单位。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【教师讲述／组织】问题页。给学生独立列式。若学生写16×8×2×5，追问16kHz应等于多少Hz。</a:t>
            </a:r>
          </a:p>
          <a:p>
            <a:r>
              <a:t>【反馈】先听学生如何解释，再决定是否揭示结论；注意控制本页停留时间。</a:t>
            </a:r>
          </a:p>
          <a:p/>
          <a:p>
            <a:r>
              <a:t>独立列式后再揭示；提问哪一个乘数是双声道、为什么还要除以8。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【教师讲述／组织】答案页。问：如果双声道改成单声道，结果会怎样？</a:t>
            </a:r>
          </a:p>
          <a:p>
            <a:r>
              <a:t>【反馈】先听学生如何解释，再决定是否揭示结论；注意控制本页停留时间。</a:t>
            </a:r>
          </a:p>
          <a:p/>
          <a:p>
            <a:r>
              <a:t>答案160000 Byte。让学生先说思路，再对照上一页原位置的题干与下方答案。</a:t>
            </a:r>
          </a:p>
          <a:p/>
          <a:p>
            <a:r>
              <a:t>【v8.1视觉引导】题干完全保留原位置，仅答案区浅紫底原位揭示；注意先等待学生回应再翻页。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【教师讲述／组织】第一课时退出评价。随机请学生说出完整录音链；指一个点说采样与量化区别；算一条小PCM数据量。没掌握则下节开头再复习，不拖到所有附录。</a:t>
            </a:r>
          </a:p>
          <a:p>
            <a:r>
              <a:t>【反馈】先听学生如何解释，再决定是否揭示结论；注意控制本页停留时间。</a:t>
            </a:r>
          </a:p>
          <a:p/>
          <a:p>
            <a:r>
              <a:t>【v7时间控制】本课新增的三个演示分别约2、3、5分钟，应替换原有重复的静态口头描述；并非在原45分钟上增加10分钟。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【教师讲述／组织】第二课时导入。说明第一节学的是数字化与PCM数据量，第二节学数据量计算、音轨和声道、视频数据量冲突及压缩。</a:t>
            </a:r>
          </a:p>
          <a:p>
            <a:r>
              <a:t>【反馈】先听学生如何解释，再决定是否揭示结论；注意控制本页停留时间。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【教师讲述／组织】实录3起手计算前，先让学生能解释参数。分组对答48,000Hz、16bit、2声道、60秒。</a:t>
            </a:r>
          </a:p>
          <a:p>
            <a:r>
              <a:t>【反馈】先听学生如何解释，再决定是否揭示结论；注意控制本页停留时间。</a:t>
            </a:r>
          </a:p>
          <a:p/>
          <a:p>
            <a:r>
              <a:t>先只看48000、16、2、60，要求学生用自己的话说明每个参数是什么。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【教师讲述／组织】问题页。复现实录3的DVD参数题，强调对参数意义的解释，而不只是按键计算。</a:t>
            </a:r>
          </a:p>
          <a:p>
            <a:r>
              <a:t>【反馈】先听学生如何解释，再决定是否揭示结论；注意控制本页停留时间。</a:t>
            </a:r>
          </a:p>
          <a:p/>
          <a:p>
            <a:r>
              <a:t>先从PCM字节数算起，再转换MiB；强调1024²与1000²换算不同。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【教师讲述／组织】答案页。实录转写常写10.98MB，这是截断近似；按四舍五入保留两位应10.99 MiB。</a:t>
            </a:r>
          </a:p>
          <a:p>
            <a:r>
              <a:t>【反馈】先听学生如何解释，再决定是否揭示结论；注意控制本页停留时间。</a:t>
            </a:r>
          </a:p>
          <a:p/>
          <a:p>
            <a:r>
              <a:t>约10.99 MiB；验证11520000 B/1048576。不把带少量文件头的WAV大小当作PCM样本大小。</a:t>
            </a:r>
          </a:p>
          <a:p/>
          <a:p>
            <a:r>
              <a:t>【v8.1视觉引导】题干完全保留原位置，仅答案区浅紫底原位揭示；注意先等待学生回应再翻页。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【设计意图】问题页。先让学生预测。这是实录3较长的认知冲突案例，不要马上公布答案。</a:t>
            </a:r>
          </a:p>
          <a:p>
            <a:r>
              <a:t>【教师可以这样讲】再次提问：多加了一条背景音乐音轨，新的未压缩PCM文件一定比原文件大吗？请先投票并说明依据。</a:t>
            </a:r>
          </a:p>
          <a:p>
            <a:r>
              <a:t>【预判回答与追问】真实课堂里学生曾将音轨误认为声道；暂不判断两种观点谁对。</a:t>
            </a:r>
          </a:p>
          <a:p>
            <a:r>
              <a:t>【本页收束】下一页让两种解释并存，定位分歧。</a:t>
            </a:r>
          </a:p>
          <a:p/>
          <a:p>
            <a:r>
              <a:t>投票多一条编辑音轨容量是否翻倍；不同学生给出理由，暂不揭示正确答案。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【设计意图】把实录中两位学生的理由换一种说法重现。引导学生指出分歧其实在“音轨和声道是不是一回事”。仍不公布答案。</a:t>
            </a:r>
          </a:p>
          <a:p>
            <a:r>
              <a:t>【教师可以这样讲】有人支持不变，有人支持翻倍。注意我们的目标不是投票决定真理，而是检验关键假设。</a:t>
            </a:r>
          </a:p>
          <a:p>
            <a:r>
              <a:t>【预判回答与追问】追问：增加的是“编辑音轨”，还是“导出声道”？哪个出现在容量公式里？</a:t>
            </a:r>
          </a:p>
          <a:p>
            <a:r>
              <a:t>【本页收束】到图示页验证音轨与声道不同。</a:t>
            </a:r>
          </a:p>
          <a:p/>
          <a:p>
            <a:r>
              <a:t>两种观点的矛盾来自把编辑音轨当作输出声道。追问最后导出文件是几声道。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【设计意图】直观图示：两条音轨经混音成为两个输出声道，注意不是左右各有一条编辑音轨。解释可单声道或双声道输出。</a:t>
            </a:r>
          </a:p>
          <a:p>
            <a:r>
              <a:t>【教师可以这样讲】请指向编辑左边两行，它们是两条音轨；再指向右边的L/R，这才是导出的两路声道。</a:t>
            </a:r>
          </a:p>
          <a:p>
            <a:r>
              <a:t>【预判回答与追问】如果学生说“左音轨变左声道”，让他想一想人声与伴奏是否都能同时从左右扬声器传出。</a:t>
            </a:r>
          </a:p>
          <a:p>
            <a:r>
              <a:t>【本页收束】混合不会自动增加声道数，保持四参数则未压缩样本数据量不变。</a:t>
            </a:r>
          </a:p>
          <a:p/>
          <a:p>
            <a:r>
              <a:t>先看两条轨，再揭示混音之后仍可输出L/R两路数据。</a:t>
            </a:r>
          </a:p>
          <a:p/>
          <a:p>
            <a:r>
              <a:t>[视觉优化] 波形为区别音轨与输出通道的示意图，不是混音运算曲线。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【教师讲述／组织】答案页。让学生回看第一个预测，承认纠正了哪一个概念。提醒不同格式和压缩参数会影响最终文件大小。</a:t>
            </a:r>
          </a:p>
          <a:p>
            <a:r>
              <a:t>【反馈】先听学生如何解释，再决定是否揭示结论；注意控制本页停留时间。</a:t>
            </a:r>
          </a:p>
          <a:p/>
          <a:p>
            <a:r>
              <a:t>回到初始投票，解释四个PCM参数保持不变，因此样本数据量不变。</a:t>
            </a:r>
          </a:p>
          <a:p/>
          <a:p>
            <a:r>
              <a:t>【v8.1视觉引导】题干完全保留原位置，仅答案区浅紫底原位揭示；注意先等待学生回应再翻页。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【教师讲述／组织】让学生应用四因素公式。声道数2→1，其他不变，PCM样本数据量减半。音轨增减并不直接决定总量。</a:t>
            </a:r>
          </a:p>
          <a:p>
            <a:r>
              <a:t>【反馈】先听学生如何解释，再决定是否揭示结论；注意控制本页停留时间。</a:t>
            </a:r>
          </a:p>
          <a:p/>
          <a:p>
            <a:r>
              <a:t>迁移：把立体声变成单声道，其他参数相同，PCM样本数据量减半。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【教师讲述／组织】实录3转向视频前回顾图像和声音：图像在空间二维网格采样，声音在时间轴取值；量化都用有限等级记录。</a:t>
            </a:r>
          </a:p>
          <a:p>
            <a:r>
              <a:t>【反馈】先听学生如何解释，再决定是否揭示结论；注意控制本页停留时间。</a:t>
            </a:r>
          </a:p>
          <a:p/>
          <a:p>
            <a:r>
              <a:t>【v8.1视觉引导】重新排列三条对照，文字达到22pt，学生先指出“位置”不同，再比较数据量结构。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【设计意图】借鉴实录3翻页小人的经验。每一帧呈现同一圆的位置改变。问学生：视频需保存几个画面？帧率如何描述？不用严格视觉暂留时间阈值。</a:t>
            </a:r>
          </a:p>
          <a:p>
            <a:r>
              <a:t>【教师可以这样讲】五张小图中蓝点位置发生变化，连续播放后我们会感到它在运动。你生活里见过翻页动画吗？</a:t>
            </a:r>
          </a:p>
          <a:p>
            <a:r>
              <a:t>【预判回答与追问】不要把“视觉暂留0.024秒”当成唯一且固定的生理阈值。</a:t>
            </a:r>
          </a:p>
          <a:p>
            <a:r>
              <a:t>【本页收束】视频可以用连续图像帧与帧率的概念来理解。</a:t>
            </a:r>
          </a:p>
          <a:p/>
          <a:p>
            <a:r>
              <a:t>五帧是同一个运动小球在五个时刻的状态。帧率25fps是每秒25帧，不应解释为人眼严格生理阈值。</a:t>
            </a:r>
          </a:p>
          <a:p/>
          <a:p>
            <a:r>
              <a:t>球在每一帧的位置不同，同样场景取不同时间画面；fps是每秒帧数。</a:t>
            </a:r>
          </a:p>
          <a:p/>
          <a:p>
            <a:r>
              <a:t>【v8.1视觉引导】让学生比较同一小球相对于各帧相同参考线的位置，从第一帧到第五帧明显向右变化。</a:t>
            </a:r>
          </a:p>
          <a:p/>
          <a:p>
            <a:r>
              <a:t>[视觉优化] 控制变量只有球的位置；动画效果来自连续帧的顺序。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【教师讲述／组织】从学生已经理解的“视频是连续图像”计算总帧数。先让学生口算25×60×10=15000帧。</a:t>
            </a:r>
          </a:p>
          <a:p>
            <a:r>
              <a:t>【反馈】先听学生如何解释，再决定是否揭示结论；注意控制本页停留时间。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【设计意图】问题页。来源实录3。不要把帧率误认为采样率，一帧是一张完整图。给3分钟列式，计算可用计算器。</a:t>
            </a:r>
          </a:p>
          <a:p>
            <a:r>
              <a:t>【教师可以这样讲】先算一帧480×320像素，需要多少bit和Byte；再乘上25帧/秒和600秒。</a:t>
            </a:r>
          </a:p>
          <a:p>
            <a:r>
              <a:t>【预判回答与追问】学生可能只乘25或只乘10。追问十分钟共有多少秒、多少帧？</a:t>
            </a:r>
          </a:p>
          <a:p>
            <a:r>
              <a:t>【本页收束】未压缩视频等于单帧数据量乘总帧数。</a:t>
            </a:r>
          </a:p>
          <a:p/>
          <a:p>
            <a:r>
              <a:t>10分钟无声逐帧未压缩视频，先算单帧字节，再算15000帧，单位换算为GiB。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【教师讲述／组织】答案页。把公式拆成两段并让学生自己解释。按十进制GB约6.912 GB。</a:t>
            </a:r>
          </a:p>
          <a:p>
            <a:r>
              <a:t>【反馈】先听学生如何解释，再决定是否揭示结论；注意控制本页停留时间。</a:t>
            </a:r>
          </a:p>
          <a:p/>
          <a:p>
            <a:r>
              <a:t>答案约6.44GiB，检验帧数、bit转Byte以及B转GiB三步。</a:t>
            </a:r>
          </a:p>
          <a:p/>
          <a:p>
            <a:r>
              <a:t>【v8.1视觉引导】题干完全保留原位置，仅答案区浅紫底原位揭示；注意先等待学生回应再翻页。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【设计意图】核心认知冲突，不要预先写“因为压缩”。问：是不是算错？为什么在线短视频能很快播放？给学生发言时间。</a:t>
            </a:r>
          </a:p>
          <a:p>
            <a:r>
              <a:t>【教师可以这样讲】请你对照刚刚算出的6.44 GiB。我们手机里十分钟的视频，为什么通常远小于它？难道计算公式错了？</a:t>
            </a:r>
          </a:p>
          <a:p>
            <a:r>
              <a:t>【预判回答与追问】学生可能回答分辨率不同、格式不同、压缩了。记录这几种可能，指出公式中的题设是未压缩逐帧存储。</a:t>
            </a:r>
          </a:p>
          <a:p>
            <a:r>
              <a:t>【本页收束】这是第二课时核心认知冲突，直到下一页再揭示压缩。</a:t>
            </a:r>
          </a:p>
          <a:p/>
          <a:p>
            <a:r>
              <a:t>先让学生用自己看视频的经验提出文件比估算小的解释，借助冲突引出编码压缩。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【教师讲述／组织】强调不是估计所有真实视频的固定大小。实际视频通常通过压缩编码，如利用相邻帧相似部分与人眼不敏感的某些信息。高中只解释为什么可能缩小。</a:t>
            </a:r>
          </a:p>
          <a:p>
            <a:r>
              <a:t>【反馈】先听学生如何解释，再决定是否揭示结论；注意控制本页停留时间。</a:t>
            </a:r>
          </a:p>
          <a:p/>
          <a:p>
            <a:r>
              <a:t>实际压缩技术还包括多种预测与表示方式；本课只要求理解重复规律允许节省比特，不学习具体codec算法。</a:t>
            </a:r>
          </a:p>
          <a:p/>
          <a:p>
            <a:r>
              <a:t>【v8.1视觉引导】将关键概念和对照放大；不能将视频压缩简化为“直接删除几帧”。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【教师讲述／组织】实录3行李箱类比：整理行李节约空间；通过网络分享文件缩短传输时间。学生可以自举例，不要说压缩必然提升感知画质。</a:t>
            </a:r>
          </a:p>
          <a:p>
            <a:r>
              <a:t>【反馈】先听学生如何解释，再决定是否揭示结论；注意控制本页停留时间。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【设计意图】实录3的经典冗余案例。向学生展示短短的“（中国）×100”与重复文字。说明这仅是启发性的编码例子，不代表真实RAR算法。</a:t>
            </a:r>
          </a:p>
          <a:p>
            <a:r>
              <a:t>【教师可以这样讲】两种写法能不能表示相同文字？“中国”重复一百次与“中国×100”，哪种通常更省符号？</a:t>
            </a:r>
          </a:p>
          <a:p>
            <a:r>
              <a:t>【预判回答与追问】提醒这只是解释冗余的教学模型，不是真实RAR编码的说明。</a:t>
            </a:r>
          </a:p>
          <a:p>
            <a:r>
              <a:t>【本页收束】规律、重复让人有机会用更短的规则表达同一内容。</a:t>
            </a:r>
          </a:p>
          <a:p/>
          <a:p>
            <a:r>
              <a:t>中国重复100次只用“字词×次数”表达是思想模型，不代表RAR或zlib唯一工作机制。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【教师讲述／组织】把“冗余”与重复的内容联系：A有规律，B无规律，但原长度相同。实际压缩算法实现不同，因此“通常更易”而非必然。</a:t>
            </a:r>
          </a:p>
          <a:p>
            <a:r>
              <a:t>【反馈】先听学生如何解释，再决定是否揭示结论；注意控制本页停留时间。</a:t>
            </a:r>
          </a:p>
          <a:p/>
          <a:p>
            <a:r>
              <a:t>重复多往往可用更短的规则表示，但实际压缩要看数据及算法。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【设计意图】可以用Python标准库zlib演示，代码放Notes。生成1000个A与1000个伪随机字节（固定seed），比较同一无损压缩方法所得字节数并检验完全还原。先预测再运行。</a:t>
            </a:r>
          </a:p>
          <a:p>
            <a:r>
              <a:t>【教师可以这样讲】两个数据各1000Byte：一个全是A，一个随机变化。请预测谁压缩后更小，以及能否恢复原数据。</a:t>
            </a:r>
          </a:p>
          <a:p>
            <a:r>
              <a:t>【预判回答与追问】学生可能认为所有文件都会变小。下一页结果显示随机数据在容器开销下甚至略微变大。</a:t>
            </a:r>
          </a:p>
          <a:p>
            <a:r>
              <a:t>【本页收束】测试无损压缩的冗余利用，而不是展示具体算法。</a:t>
            </a:r>
          </a:p>
          <a:p/>
          <a:p>
            <a:r>
              <a:t>【v7 Demo D】先预测两份原始都是1000 Byte的文件哪一个被压得更小，再运行 notebooks/04_压缩前先预测.ipynb。Python zlib在Mac执行，Windows浏览器只展示结果，不依赖音频或py5。</a:t>
            </a:r>
          </a:p>
          <a:p/>
          <a:p>
            <a:r>
              <a:t>A和B均1000Byte，学生先预测谁更省空间、B是否可能压完更大。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【设计意图】演示代码（Windows课堂pt环境，Python标准库即可）：</a:t>
            </a:r>
          </a:p>
          <a:p>
            <a:r>
              <a:t>import zlib, random</a:t>
            </a:r>
          </a:p>
          <a:p>
            <a:r>
              <a:t>a=b"A"*1000</a:t>
            </a:r>
          </a:p>
          <a:p>
            <a:r>
              <a:t>r=random.Random(2026)</a:t>
            </a:r>
          </a:p>
          <a:p>
            <a:r>
              <a:t>b=bytes(r.randrange(256) for _ in range(1000))</a:t>
            </a:r>
          </a:p>
          <a:p>
            <a:r>
              <a:t>for name,x in [("A",a),("B",b)]:</a:t>
            </a:r>
          </a:p>
          <a:p>
            <a:r>
              <a:t>    packed=zlib.compress(x)</a:t>
            </a:r>
          </a:p>
          <a:p>
            <a:r>
              <a:t>    print(name,len(x),len(packed),zlib.decompress(packed)==x)</a:t>
            </a:r>
          </a:p>
          <a:p>
            <a:r>
              <a:t>本次固定随机种子得到A=17 Byte，B=1011 Byte。学生关注重复和冗余；算法细节不展开。</a:t>
            </a:r>
          </a:p>
          <a:p>
            <a:r>
              <a:t>【教师可以这样讲】运行标准库实验或直接展示结果：重复内容1000Byte压后17Byte，随机内容1000Byte压后1011Byte。为什么会这样？</a:t>
            </a:r>
          </a:p>
          <a:p>
            <a:r>
              <a:t>【预判回答与追问】别把高熵文件变大误判为程序出错：压缩文件自身有格式开销。检查两者解压完全一致。</a:t>
            </a:r>
          </a:p>
          <a:p>
            <a:r>
              <a:t>【本页收束】这是无损压缩，且压缩效果取决于可利用的规律与编码方式。</a:t>
            </a:r>
          </a:p>
          <a:p/>
          <a:p>
            <a:r>
              <a:t>【v7实际实验】Notebook 04使用确定性随机字节与重复字节，打印压缩前后真实长度。如果随机字节压缩后略大，是格式开销而非代码错误。让学生总结“能够用规律简洁表示的信息通常更容易压缩”。</a:t>
            </a:r>
          </a:p>
          <a:p/>
          <a:p>
            <a:r>
              <a:t>17Byte与1011Byte是采用Python标准库zlib、固定随机种子的这一次课堂实验结果。数值取决于内容与算法，不是普遍常数；B数据因格式开销而可能变大。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【教师讲述／组织】实录3解释重新编码：数据压缩主要是改变表示方式，无损靠高效编码，允许有损时还可舍弃部分信息。目的与实质分开讲。</a:t>
            </a:r>
          </a:p>
          <a:p>
            <a:r>
              <a:t>【反馈】先听学生如何解释，再决定是否揭示结论；注意控制本页停留时间。</a:t>
            </a:r>
          </a:p>
          <a:p/>
          <a:p>
            <a:r>
              <a:t>归纳数据压缩是更高效的表示；要不要完整恢复决定无损与有损路径。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【设计意图】先提出是否可以还原原始信息，再定义无损有损。注意有损不一定人类完全无感，有时肉眼肉耳可觉察明显差异。</a:t>
            </a:r>
          </a:p>
          <a:p>
            <a:r>
              <a:t>【教师可以这样讲】请判断：压缩后解开，能不能100%恢复原始字节？把这个问题作为分类标准。</a:t>
            </a:r>
          </a:p>
          <a:p>
            <a:r>
              <a:t>【预判回答与追问】有损不等于“损坏文件”；它在可接受的前提下放弃部分原始信息。</a:t>
            </a:r>
          </a:p>
          <a:p>
            <a:r>
              <a:t>【本页收束】无损可完全恢复，有损则不能恢复到原数据完全一致。</a:t>
            </a:r>
          </a:p>
          <a:p/>
          <a:p>
            <a:r>
              <a:t>判别方法：是否能够完全恢复原字节，不用文件后缀或大小作为唯一标准。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【教师讲述／组织】从实录拓展一点格式分层：ZIP/RAR是典型无损归档，MP3是常见有损音频编码，WAV是音频容器可装PCM，MP4是多媒体容器可含有损或无损编码。不要说全部文件扩展名都代表一种压缩算法。</a:t>
            </a:r>
          </a:p>
          <a:p>
            <a:r>
              <a:t>【反馈】先听学生如何解释，再决定是否揭示结论；注意控制本页停留时间。</a:t>
            </a:r>
          </a:p>
          <a:p/>
          <a:p>
            <a:r>
              <a:t>ZIP/RAR属于无损归档，MP3是有损音频编码，WAV和MP4属于容器（MP4常装有损编码视频）。文件后缀与编码算法不是完全同一层级。</a:t>
            </a:r>
          </a:p>
          <a:p/>
          <a:p>
            <a:r>
              <a:t>【v8.1视觉引导】大字号提示学生区分归档格式、压缩编码与文件容器；颜色是视觉分组而非“都同一类”。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【设计意图】实录3三种图像案例。画同尺寸位图：纯色、规则色块、较复杂花纹（不是声称真实风景照片）。首先预测排序，再归纳冗余。</a:t>
            </a:r>
          </a:p>
          <a:p>
            <a:r>
              <a:t>【教师可以这样讲】这三幅图显示的是相同大小、相同位深的像素网格，哪张最容易找到重复的规律？</a:t>
            </a:r>
          </a:p>
          <a:p>
            <a:r>
              <a:t>【预判回答与追问】强调“通常”和“对合适的算法而言”，避免将图像颜色多少当作绝对压缩决定因素。</a:t>
            </a:r>
          </a:p>
          <a:p>
            <a:r>
              <a:t>【本页收束】纯色数据具有明显规律，适合无损压缩；比较结论再迁移到实际图像。</a:t>
            </a:r>
          </a:p>
          <a:p/>
          <a:p>
            <a:r>
              <a:t>三图尺寸和位深一致，让学生预测哪个更规律，判断无损压缩的可能差异。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【教师讲述／组织】问题页。此题迁移文字实验到图像。先解释冗余，再揭示。</a:t>
            </a:r>
          </a:p>
          <a:p>
            <a:r>
              <a:t>【反馈】先听学生如何解释，再决定是否揭示结论；注意控制本页停留时间。</a:t>
            </a:r>
          </a:p>
          <a:p/>
          <a:p>
            <a:r>
              <a:t>练习答案不能只选A，要解释重复和规律性带来更多可利用冗余。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【教师讲述／组织】答案页。强调不是一切文件和算法都绝对如此。</a:t>
            </a:r>
          </a:p>
          <a:p>
            <a:r>
              <a:t>【反馈】先听学生如何解释，再决定是否揭示结论；注意控制本页停留时间。</a:t>
            </a:r>
          </a:p>
          <a:p/>
          <a:p>
            <a:r>
              <a:t>答案中的“通常”必须保留，不同压缩方案有例外。</a:t>
            </a:r>
          </a:p>
          <a:p/>
          <a:p>
            <a:r>
              <a:t>【v8.1视觉引导】题干完全保留原位置，仅答案区浅紫底原位揭示；注意先等待学生回应再翻页。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【教师讲述／组织】实录3用同一花朵比较BMP和JPG。用简洁像素格子示意一张图被近似编码；JPEG不只是“删掉相似像素”，要避免这种错误的字面理解。也不能断言所有BMP必然未压缩。</a:t>
            </a:r>
          </a:p>
          <a:p>
            <a:r>
              <a:t>【反馈】先听学生如何解释，再决定是否揭示结论；注意控制本页停留时间。</a:t>
            </a:r>
          </a:p>
          <a:p/>
          <a:p>
            <a:r>
              <a:t>BMP这里只指未压缩实例，JPG通常有损；文件大小还取决于参数和内容。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【教师讲述／组织】实录3脱水比喻，但不把其当算法。说明高效压缩过的数据通常不容易进一步缩小，可能因为已缺少可利用冗余。再次有损转码可能进一步恶化质量。</a:t>
            </a:r>
          </a:p>
          <a:p>
            <a:r>
              <a:t>【反馈】先听学生如何解释，再决定是否揭示结论；注意控制本页停留时间。</a:t>
            </a:r>
          </a:p>
          <a:p/>
          <a:p>
            <a:r>
              <a:t>已经是MP3/JPG，用RAR压缩通常收益有限，再次有损编码还可能降低质量。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【设计意图】实录3结尾的情境决策：长期备份要完整可还原；实时通话要平衡延迟和质量。用对比培养信息社会责任意识，不只追求压缩比。</a:t>
            </a:r>
          </a:p>
          <a:p>
            <a:r>
              <a:t>【教师可以这样讲】某个班级要长期备份源代码，另一个班级要用手机实时视频通话。两种场景需要的编码选择一样吗？</a:t>
            </a:r>
          </a:p>
          <a:p>
            <a:r>
              <a:t>【预判回答与追问】引导学生考虑完整性、质量、延迟与存储，不要只说压缩得越小越好。</a:t>
            </a:r>
          </a:p>
          <a:p>
            <a:r>
              <a:t>【本页收束】算法与压缩方法要与任务目标匹配。</a:t>
            </a:r>
          </a:p>
          <a:p/>
          <a:p>
            <a:r>
              <a:t>文档备份要求完整，视频通话权衡时延/带宽/质量，反对越小必然越好。</a:t>
            </a:r>
          </a:p>
          <a:p/>
          <a:p>
            <a:r>
              <a:t>【v8.1视觉引导】两组场景对比加大；让学生按完整性、带宽、延迟、质量权衡。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【教师讲述／组织】问题页。综合三种理解：音轨声道、原始视频大小、无损还原。</a:t>
            </a:r>
          </a:p>
          <a:p>
            <a:r>
              <a:t>【反馈】先听学生如何解释，再决定是否揭示结论；注意控制本页停留时间。</a:t>
            </a:r>
          </a:p>
          <a:p/>
          <a:p>
            <a:r>
              <a:t>请学生独立判断三句话，指明每句对应的模型或证据。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【教师讲述／组织】答案页。不接受只给三个对错而不给依据的回答。</a:t>
            </a:r>
          </a:p>
          <a:p>
            <a:r>
              <a:t>【反馈】先听学生如何解释，再决定是否揭示结论；注意控制本页停留时间。</a:t>
            </a:r>
          </a:p>
          <a:p/>
          <a:p>
            <a:r>
              <a:t>先让学生口头解释，再展示①错②对③对，强化数据量与ZIP的两种知识。</a:t>
            </a:r>
          </a:p>
          <a:p/>
          <a:p>
            <a:r>
              <a:t>【v8.1视觉引导】题干完全保留原位置，仅答案区浅紫底原位揭示；注意先等待学生回应再翻页。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【教师讲述／组织】出口评价：任选一个问题让学生用自己的话解释。重点检查概念因果：数字化、视频容量、压缩选择。</a:t>
            </a:r>
          </a:p>
          <a:p>
            <a:r>
              <a:t>【反馈】先听学生如何解释，再决定是否揭示结论；注意控制本页停留时间。</a:t>
            </a:r>
          </a:p>
          <a:p/>
          <a:p>
            <a:r>
              <a:t>退出条检查解释能力而非术语背诵；答不出则回到图示逐步重建。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【教师讲述／组织】本页只作为选讲：混叠。同一离散采样点可能对应不同连续波形，所以低采样率不仅“点稀疏”，可能无法区分某些信号。深入公式留到拓展课程，不作为主线。</a:t>
            </a:r>
          </a:p>
          <a:p>
            <a:r>
              <a:t>【反馈】先听学生如何解释，再决定是否揭示结论；注意控制本页停留时间。</a:t>
            </a:r>
          </a:p>
          <a:p/>
          <a:p>
            <a:r>
              <a:t>可选拓展：不是45分钟主线必讲内容，有时间且学生已完成必要理解才展示。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【教师讲述／组织】这一页可留作下一单元。PCM编码是样本的表示方式；压缩编码改变数据表示量。部分WAV容器可以保存其他编码形式，不能仅凭扩展名断言完全未压缩。</a:t>
            </a:r>
          </a:p>
          <a:p>
            <a:r>
              <a:t>【反馈】先听学生如何解释，再决定是否揭示结论；注意控制本页停留时间。</a:t>
            </a:r>
          </a:p>
          <a:p/>
          <a:p>
            <a:r>
              <a:t>可选拓展：不是45分钟主线必讲内容，有时间且学生已完成必要理解才展示。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在已理解3bit与8个等级后，先给学生两种预测。运行notebooks/03_采样_量化_编码实验台.ipynb，固定4 kHz，位数3→4。学生观察：采样时刻不变，纵向可选的量化代表值从8增加到16，码字长度相应变化。此图只是静态示意，真实数值以Notebook演示为准。约5分钟，不与第15～17页全部额外累加。</a:t>
            </a:r>
          </a:p>
          <a:p/>
          <a:p>
            <a:r>
              <a:t>分别指横轴时间密度与纵轴量化等级，要求学生指出哪一项由采样率/位数控制。</a:t>
            </a:r>
          </a:p>
          <a:p/>
          <a:p>
            <a:r>
              <a:t>[视觉优化] 看横向点与纵向线：要求学生分别解释对应的参数。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运行notebooks/02_放大波形_看见采样点.ipynb。先保持完整波形，再把局部显示范围切换到20毫秒和4毫秒。左侧是示意概览，右侧是局部实际样本思路；在Notebook里，右侧点取自真实生成的PCM数据。不要说采样点之间连线是扬声器实际波形。约3分钟。</a:t>
            </a:r>
          </a:p>
          <a:p/>
          <a:p>
            <a:r>
              <a:t>打开Notebook 02，把波形从100毫秒放大到4毫秒，点击蓝色样本，读出实际时间和幅度；区分极值概览和真实采样点。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运行notebooks/01_听见声音_看见波形.ipynb。请教师从Windows浏览器直接点击播放；让学生预测红线表示空间位置还是播放时间，然后暂停再播放。观察教室音箱发声，Mac只是运算和提供数据。约2分钟。网络失败时直接使用本页示意和原第8页。</a:t>
            </a:r>
          </a:p>
          <a:p/>
          <a:p>
            <a:r>
              <a:t>打开远程JupyterLab Notebook 01，在Windows浏览器播放声音，问红线向右是不是声波向右传播；让学生说横轴是时间。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先显示0~7八级，学生预测3.71是3或4。暂停50秒让学生说出推理规则。再用下页指定的分区规则解决分歧；勿预先提示答案。</a:t>
            </a:r>
          </a:p>
          <a:p/>
          <a:p>
            <a:r>
              <a:t>[视觉优化] 让学生先预测，再到下一页验证[3,4)的区间归属。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逐步指着四个框引导：输入原值3.71，属于区间[3,4)，所以等级编号是3；把3写成三位等长码字011。反例4.15属于L4，码字100。本例幅度[0,8)，Demo C用[-1,1]，逻辑完全相同。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运行remote-demos-v7/notebooks/04_压缩前先预测.ipynb（Mac计算zlib，教室Windows浏览器呈现结果）。学生先猜，再运行，再对照下一页17Byte/1011Byte。B可能变大，包含必要编码开销。zlib不是RAR算法本身。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6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8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9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6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8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9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5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0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1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2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3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4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5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6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7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8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9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0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1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2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3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4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5.xm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6.xml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7.xml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8.xml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9.xml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0.xml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1.xml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2.xml"/></Relationships>
</file>

<file path=ppt/slides/_rels/slide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3.xml"/></Relationships>
</file>

<file path=ppt/slides/_rels/slide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4.xml"/></Relationships>
</file>

<file path=ppt/slides/_rels/slide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5.xml"/></Relationships>
</file>

<file path=ppt/slides/_rels/slide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6.xml"/></Relationships>
</file>

<file path=ppt/slides/_rels/slide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7.xml"/></Relationships>
</file>

<file path=ppt/slides/_rels/slide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8.xml"/></Relationships>
</file>

<file path=ppt/slides/_rels/slide5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9.xml"/></Relationships>
</file>

<file path=ppt/slides/_rels/slide5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0.xml"/></Relationships>
</file>

<file path=ppt/slides/_rels/slide5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0.xml"/></Relationships>
</file>

<file path=ppt/slides/_rels/slide5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1.xml"/></Relationships>
</file>

<file path=ppt/slides/_rels/slide5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2.xml"/></Relationships>
</file>

<file path=ppt/slides/_rels/slide5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3.xml"/></Relationships>
</file>

<file path=ppt/slides/_rels/slide6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4.xml"/></Relationships>
</file>

<file path=ppt/slides/_rels/slide6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5.xml"/></Relationships>
</file>

<file path=ppt/slides/_rels/slide6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6.xml"/></Relationships>
</file>

<file path=ppt/slides/_rels/slide6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7.xml"/></Relationships>
</file>

<file path=ppt/slides/_rels/slide6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8.xml"/></Relationships>
</file>

<file path=ppt/slides/_rels/slide6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9.xml"/></Relationships>
</file>

<file path=ppt/slides/_rels/slide6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0.xml"/></Relationships>
</file>

<file path=ppt/slides/_rels/slide6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1.xml"/></Relationships>
</file>

<file path=ppt/slides/_rels/slide6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2.xml"/></Relationships>
</file>

<file path=ppt/slides/_rels/slide6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3.xml"/></Relationships>
</file>

<file path=ppt/slides/_rels/slide7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4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36576"/>
            <a:ext cx="12191695" cy="73152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57416"/>
            <a:ext cx="12191695" cy="73152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2057400"/>
            <a:ext cx="10881360" cy="11612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5200" b="1">
                <a:solidFill>
                  <a:srgbClr val="262626"/>
                </a:solidFill>
                <a:latin typeface="Alibaba PuHuiTi 3.0 115 Black"/>
              </a:defRPr>
            </a:pPr>
            <a:r>
              <a:t>声音怎样变成0和1？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703320"/>
            <a:ext cx="9966960" cy="7498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3100" b="0">
                <a:solidFill>
                  <a:srgbClr val="808080"/>
                </a:solidFill>
                <a:latin typeface="Alibaba PuHuiTi 3.0 55 Regular"/>
              </a:defRPr>
            </a:pPr>
            <a:r>
              <a:t>第一课时｜从声音到数字音频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36576"/>
            <a:ext cx="12191695" cy="73152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57416"/>
            <a:ext cx="12191695" cy="73152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12648" y="576072"/>
            <a:ext cx="10972800" cy="7863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3400" b="1">
                <a:solidFill>
                  <a:srgbClr val="262626"/>
                </a:solidFill>
                <a:latin typeface="Alibaba PuHuiTi 3.0 115 Black"/>
              </a:defRPr>
            </a:pPr>
            <a:r>
              <a:t>我们会编码文字、图像，那声音呢？</a:t>
            </a:r>
          </a:p>
        </p:txBody>
      </p:sp>
      <p:sp>
        <p:nvSpPr>
          <p:cNvPr id="5" name="Rectangle 4"/>
          <p:cNvSpPr/>
          <p:nvPr/>
        </p:nvSpPr>
        <p:spPr>
          <a:xfrm>
            <a:off x="786384" y="2057400"/>
            <a:ext cx="3200400" cy="667512"/>
          </a:xfrm>
          <a:prstGeom prst="rect">
            <a:avLst/>
          </a:prstGeom>
          <a:noFill/>
          <a:ln w="25400">
            <a:solidFill>
              <a:srgbClr val="8C64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59536" y="2176272"/>
            <a:ext cx="3054096" cy="40233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  <a:defRPr sz="2200" b="1">
                <a:solidFill>
                  <a:srgbClr val="8C64E1"/>
                </a:solidFill>
                <a:latin typeface="Alibaba PuHuiTi 3.0 115 Black"/>
              </a:defRPr>
            </a:pPr>
            <a:r>
              <a:t>文字 → 编码</a:t>
            </a:r>
          </a:p>
        </p:txBody>
      </p:sp>
      <p:sp>
        <p:nvSpPr>
          <p:cNvPr id="7" name="Rectangle 6"/>
          <p:cNvSpPr/>
          <p:nvPr/>
        </p:nvSpPr>
        <p:spPr>
          <a:xfrm>
            <a:off x="4526280" y="2057400"/>
            <a:ext cx="3200400" cy="667512"/>
          </a:xfrm>
          <a:prstGeom prst="rect">
            <a:avLst/>
          </a:prstGeom>
          <a:noFill/>
          <a:ln w="25400">
            <a:solidFill>
              <a:srgbClr val="00B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99432" y="2176272"/>
            <a:ext cx="3054096" cy="40233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  <a:defRPr sz="2200" b="1">
                <a:solidFill>
                  <a:srgbClr val="00B0F0"/>
                </a:solidFill>
                <a:latin typeface="Alibaba PuHuiTi 3.0 115 Black"/>
              </a:defRPr>
            </a:pPr>
            <a:r>
              <a:t>图像 → 编码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449056" y="2011680"/>
            <a:ext cx="3017520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3200" b="1">
                <a:solidFill>
                  <a:srgbClr val="8C64E1"/>
                </a:solidFill>
                <a:latin typeface="Alibaba PuHuiTi 3.0 115 Black"/>
              </a:defRPr>
            </a:pPr>
            <a:r>
              <a:t>声音 → ？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4983480"/>
            <a:ext cx="1078992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000" b="1">
                <a:solidFill>
                  <a:srgbClr val="8C64E1"/>
                </a:solidFill>
                <a:latin typeface="Alibaba PuHuiTi 3.0 115 Black"/>
              </a:defRPr>
            </a:pPr>
            <a:r>
              <a:t>核心问题：手机为什么可以把正在说的话保存成文件？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36576"/>
            <a:ext cx="12191695" cy="73152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12648" y="576072"/>
            <a:ext cx="10972800" cy="7863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3400" b="1">
                <a:solidFill>
                  <a:srgbClr val="262626"/>
                </a:solidFill>
                <a:latin typeface="Alibaba PuHuiTi 3.0 115 Black"/>
              </a:defRPr>
            </a:pPr>
            <a:r>
              <a:t>声音首先是什么？</a:t>
            </a:r>
          </a:p>
        </p:txBody>
      </p:sp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8096" y="1627632"/>
            <a:ext cx="10652760" cy="353872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786384" y="5202936"/>
            <a:ext cx="2971800" cy="521207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300" b="1">
                <a:solidFill>
                  <a:srgbClr val="8C64E1"/>
                </a:solidFill>
                <a:latin typeface="Alibaba PuHuiTi 3.0 115 Black"/>
              </a:defRPr>
            </a:pPr>
            <a:r>
              <a:t>① 音叉振动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096512" y="5202936"/>
            <a:ext cx="4069080" cy="521207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300" b="1">
                <a:solidFill>
                  <a:srgbClr val="8C64E1"/>
                </a:solidFill>
                <a:latin typeface="Alibaba PuHuiTi 3.0 115 Black"/>
              </a:defRPr>
            </a:pPr>
            <a:r>
              <a:t>② 空气中的声压变化传开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339327" y="5202936"/>
            <a:ext cx="3017520" cy="521207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300" b="1">
                <a:solidFill>
                  <a:srgbClr val="8C64E1"/>
                </a:solidFill>
                <a:latin typeface="Alibaba PuHuiTi 3.0 115 Black"/>
              </a:defRPr>
            </a:pPr>
            <a:r>
              <a:t>③ 麦克风接收声音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04672" y="5943600"/>
            <a:ext cx="10652760" cy="42062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900" b="0">
                <a:solidFill>
                  <a:srgbClr val="6251B1"/>
                </a:solidFill>
                <a:latin typeface="Alibaba PuHuiTi 3.0 55 Regular"/>
              </a:defRPr>
            </a:pPr>
            <a:r>
              <a:t>注意：声波不是一条在空间里弯曲前进的线。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36576"/>
            <a:ext cx="12191695" cy="73152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57416"/>
            <a:ext cx="12191695" cy="73152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12648" y="576072"/>
            <a:ext cx="10972800" cy="7863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3400" b="1">
                <a:solidFill>
                  <a:srgbClr val="262626"/>
                </a:solidFill>
                <a:latin typeface="Alibaba PuHuiTi 3.0 115 Black"/>
              </a:defRPr>
            </a:pPr>
            <a:r>
              <a:t>声音和电脑里的音频文件，是同一种量吗？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04672" y="1682496"/>
            <a:ext cx="4937760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>
              <a:spcAft>
                <a:spcPts val="0"/>
              </a:spcAft>
              <a:defRPr sz="2500" b="1">
                <a:solidFill>
                  <a:srgbClr val="8C64E1"/>
                </a:solidFill>
                <a:latin typeface="Alibaba PuHuiTi 3.0 115 Black"/>
              </a:defRPr>
            </a:pPr>
            <a:r>
              <a:t>现实声音：连续变化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0" y="1682496"/>
            <a:ext cx="4937760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>
              <a:spcAft>
                <a:spcPts val="0"/>
              </a:spcAft>
              <a:defRPr sz="2500" b="1">
                <a:solidFill>
                  <a:srgbClr val="00B0F0"/>
                </a:solidFill>
                <a:latin typeface="Alibaba PuHuiTi 3.0 115 Black"/>
              </a:defRPr>
            </a:pPr>
            <a:r>
              <a:t>电脑保存：离散数字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868680" y="4361688"/>
            <a:ext cx="4754880" cy="0"/>
          </a:xfrm>
          <a:prstGeom prst="line">
            <a:avLst/>
          </a:prstGeom>
          <a:ln w="19050">
            <a:solidFill>
              <a:srgbClr val="7171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868680" y="2368296"/>
            <a:ext cx="0" cy="2112264"/>
          </a:xfrm>
          <a:prstGeom prst="line">
            <a:avLst/>
          </a:prstGeom>
          <a:ln w="16510">
            <a:solidFill>
              <a:srgbClr val="7171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6446520" y="4361688"/>
            <a:ext cx="4754880" cy="0"/>
          </a:xfrm>
          <a:prstGeom prst="line">
            <a:avLst/>
          </a:prstGeom>
          <a:ln w="19050">
            <a:solidFill>
              <a:srgbClr val="7171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6446520" y="2368296"/>
            <a:ext cx="0" cy="2112264"/>
          </a:xfrm>
          <a:prstGeom prst="line">
            <a:avLst/>
          </a:prstGeom>
          <a:ln w="16510">
            <a:solidFill>
              <a:srgbClr val="7171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 flipV="1">
            <a:off x="960120" y="3280676"/>
            <a:ext cx="54648" cy="70600"/>
          </a:xfrm>
          <a:prstGeom prst="line">
            <a:avLst/>
          </a:prstGeom>
          <a:ln w="25400">
            <a:solidFill>
              <a:srgbClr val="6251B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 flipV="1">
            <a:off x="1014768" y="3211125"/>
            <a:ext cx="54649" cy="69551"/>
          </a:xfrm>
          <a:prstGeom prst="line">
            <a:avLst/>
          </a:prstGeom>
          <a:ln w="25400">
            <a:solidFill>
              <a:srgbClr val="6251B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 flipV="1">
            <a:off x="1069417" y="3143656"/>
            <a:ext cx="54649" cy="67469"/>
          </a:xfrm>
          <a:prstGeom prst="line">
            <a:avLst/>
          </a:prstGeom>
          <a:ln w="25400">
            <a:solidFill>
              <a:srgbClr val="6251B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 flipV="1">
            <a:off x="1124066" y="3079272"/>
            <a:ext cx="54649" cy="64384"/>
          </a:xfrm>
          <a:prstGeom prst="line">
            <a:avLst/>
          </a:prstGeom>
          <a:ln w="25400">
            <a:solidFill>
              <a:srgbClr val="6251B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 flipV="1">
            <a:off x="1178715" y="3018930"/>
            <a:ext cx="54649" cy="60342"/>
          </a:xfrm>
          <a:prstGeom prst="line">
            <a:avLst/>
          </a:prstGeom>
          <a:ln w="25400">
            <a:solidFill>
              <a:srgbClr val="6251B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 flipV="1">
            <a:off x="1233364" y="2963525"/>
            <a:ext cx="54649" cy="55405"/>
          </a:xfrm>
          <a:prstGeom prst="line">
            <a:avLst/>
          </a:prstGeom>
          <a:ln w="25400">
            <a:solidFill>
              <a:srgbClr val="6251B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 flipV="1">
            <a:off x="1288013" y="2913882"/>
            <a:ext cx="54648" cy="49643"/>
          </a:xfrm>
          <a:prstGeom prst="line">
            <a:avLst/>
          </a:prstGeom>
          <a:ln w="25400">
            <a:solidFill>
              <a:srgbClr val="6251B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 flipV="1">
            <a:off x="1342661" y="2870737"/>
            <a:ext cx="54649" cy="43145"/>
          </a:xfrm>
          <a:prstGeom prst="line">
            <a:avLst/>
          </a:prstGeom>
          <a:ln w="25400">
            <a:solidFill>
              <a:srgbClr val="6251B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 flipV="1">
            <a:off x="1397310" y="2834732"/>
            <a:ext cx="54649" cy="36005"/>
          </a:xfrm>
          <a:prstGeom prst="line">
            <a:avLst/>
          </a:prstGeom>
          <a:ln w="25400">
            <a:solidFill>
              <a:srgbClr val="6251B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 flipV="1">
            <a:off x="1451959" y="2806401"/>
            <a:ext cx="54649" cy="28331"/>
          </a:xfrm>
          <a:prstGeom prst="line">
            <a:avLst/>
          </a:prstGeom>
          <a:ln w="25400">
            <a:solidFill>
              <a:srgbClr val="6251B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 flipV="1">
            <a:off x="1506608" y="2786166"/>
            <a:ext cx="54649" cy="20235"/>
          </a:xfrm>
          <a:prstGeom prst="line">
            <a:avLst/>
          </a:prstGeom>
          <a:ln w="25400">
            <a:solidFill>
              <a:srgbClr val="6251B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 flipV="1">
            <a:off x="1561257" y="2774327"/>
            <a:ext cx="54649" cy="11839"/>
          </a:xfrm>
          <a:prstGeom prst="line">
            <a:avLst/>
          </a:prstGeom>
          <a:ln w="25400">
            <a:solidFill>
              <a:srgbClr val="6251B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 flipV="1">
            <a:off x="1615906" y="2771061"/>
            <a:ext cx="54649" cy="3266"/>
          </a:xfrm>
          <a:prstGeom prst="line">
            <a:avLst/>
          </a:prstGeom>
          <a:ln w="25400">
            <a:solidFill>
              <a:srgbClr val="6251B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>
            <a:off x="1670555" y="2771061"/>
            <a:ext cx="54648" cy="5354"/>
          </a:xfrm>
          <a:prstGeom prst="line">
            <a:avLst/>
          </a:prstGeom>
          <a:ln w="25400">
            <a:solidFill>
              <a:srgbClr val="6251B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>
            <a:off x="1725203" y="2776415"/>
            <a:ext cx="54649" cy="13895"/>
          </a:xfrm>
          <a:prstGeom prst="line">
            <a:avLst/>
          </a:prstGeom>
          <a:ln w="25400">
            <a:solidFill>
              <a:srgbClr val="6251B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>
            <a:off x="1779852" y="2790310"/>
            <a:ext cx="54649" cy="22230"/>
          </a:xfrm>
          <a:prstGeom prst="line">
            <a:avLst/>
          </a:prstGeom>
          <a:ln w="25400">
            <a:solidFill>
              <a:srgbClr val="6251B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6"/>
          <p:cNvCxnSpPr/>
          <p:nvPr/>
        </p:nvCxnSpPr>
        <p:spPr>
          <a:xfrm>
            <a:off x="1834501" y="2812540"/>
            <a:ext cx="54649" cy="30234"/>
          </a:xfrm>
          <a:prstGeom prst="line">
            <a:avLst/>
          </a:prstGeom>
          <a:ln w="25400">
            <a:solidFill>
              <a:srgbClr val="6251B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ector 27"/>
          <p:cNvCxnSpPr/>
          <p:nvPr/>
        </p:nvCxnSpPr>
        <p:spPr>
          <a:xfrm>
            <a:off x="1889150" y="2842774"/>
            <a:ext cx="54649" cy="37789"/>
          </a:xfrm>
          <a:prstGeom prst="line">
            <a:avLst/>
          </a:prstGeom>
          <a:ln w="25400">
            <a:solidFill>
              <a:srgbClr val="6251B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Connector 28"/>
          <p:cNvCxnSpPr/>
          <p:nvPr/>
        </p:nvCxnSpPr>
        <p:spPr>
          <a:xfrm>
            <a:off x="1943799" y="2880563"/>
            <a:ext cx="54649" cy="44783"/>
          </a:xfrm>
          <a:prstGeom prst="line">
            <a:avLst/>
          </a:prstGeom>
          <a:ln w="25400">
            <a:solidFill>
              <a:srgbClr val="6251B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nector 29"/>
          <p:cNvCxnSpPr/>
          <p:nvPr/>
        </p:nvCxnSpPr>
        <p:spPr>
          <a:xfrm>
            <a:off x="1998448" y="2925346"/>
            <a:ext cx="54648" cy="51112"/>
          </a:xfrm>
          <a:prstGeom prst="line">
            <a:avLst/>
          </a:prstGeom>
          <a:ln w="25400">
            <a:solidFill>
              <a:srgbClr val="6251B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nector 30"/>
          <p:cNvCxnSpPr/>
          <p:nvPr/>
        </p:nvCxnSpPr>
        <p:spPr>
          <a:xfrm>
            <a:off x="2053096" y="2976458"/>
            <a:ext cx="54649" cy="56680"/>
          </a:xfrm>
          <a:prstGeom prst="line">
            <a:avLst/>
          </a:prstGeom>
          <a:ln w="25400">
            <a:solidFill>
              <a:srgbClr val="6251B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Connector 31"/>
          <p:cNvCxnSpPr/>
          <p:nvPr/>
        </p:nvCxnSpPr>
        <p:spPr>
          <a:xfrm>
            <a:off x="2107745" y="3033138"/>
            <a:ext cx="54649" cy="61407"/>
          </a:xfrm>
          <a:prstGeom prst="line">
            <a:avLst/>
          </a:prstGeom>
          <a:ln w="25400">
            <a:solidFill>
              <a:srgbClr val="6251B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Connector 32"/>
          <p:cNvCxnSpPr/>
          <p:nvPr/>
        </p:nvCxnSpPr>
        <p:spPr>
          <a:xfrm>
            <a:off x="2162394" y="3094545"/>
            <a:ext cx="54649" cy="65221"/>
          </a:xfrm>
          <a:prstGeom prst="line">
            <a:avLst/>
          </a:prstGeom>
          <a:ln w="25400">
            <a:solidFill>
              <a:srgbClr val="6251B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Connector 33"/>
          <p:cNvCxnSpPr/>
          <p:nvPr/>
        </p:nvCxnSpPr>
        <p:spPr>
          <a:xfrm>
            <a:off x="2217043" y="3159766"/>
            <a:ext cx="54649" cy="68067"/>
          </a:xfrm>
          <a:prstGeom prst="line">
            <a:avLst/>
          </a:prstGeom>
          <a:ln w="25400">
            <a:solidFill>
              <a:srgbClr val="6251B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Connector 34"/>
          <p:cNvCxnSpPr/>
          <p:nvPr/>
        </p:nvCxnSpPr>
        <p:spPr>
          <a:xfrm>
            <a:off x="2271692" y="3227833"/>
            <a:ext cx="54649" cy="69901"/>
          </a:xfrm>
          <a:prstGeom prst="line">
            <a:avLst/>
          </a:prstGeom>
          <a:ln w="25400">
            <a:solidFill>
              <a:srgbClr val="6251B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Connector 35"/>
          <p:cNvCxnSpPr/>
          <p:nvPr/>
        </p:nvCxnSpPr>
        <p:spPr>
          <a:xfrm>
            <a:off x="2326341" y="3297734"/>
            <a:ext cx="54649" cy="70697"/>
          </a:xfrm>
          <a:prstGeom prst="line">
            <a:avLst/>
          </a:prstGeom>
          <a:ln w="25400">
            <a:solidFill>
              <a:srgbClr val="6251B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" name="Connector 36"/>
          <p:cNvCxnSpPr/>
          <p:nvPr/>
        </p:nvCxnSpPr>
        <p:spPr>
          <a:xfrm>
            <a:off x="2380990" y="3368431"/>
            <a:ext cx="54648" cy="70441"/>
          </a:xfrm>
          <a:prstGeom prst="line">
            <a:avLst/>
          </a:prstGeom>
          <a:ln w="25400">
            <a:solidFill>
              <a:srgbClr val="6251B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" name="Connector 37"/>
          <p:cNvCxnSpPr/>
          <p:nvPr/>
        </p:nvCxnSpPr>
        <p:spPr>
          <a:xfrm>
            <a:off x="2435638" y="3438872"/>
            <a:ext cx="54649" cy="69140"/>
          </a:xfrm>
          <a:prstGeom prst="line">
            <a:avLst/>
          </a:prstGeom>
          <a:ln w="25400">
            <a:solidFill>
              <a:srgbClr val="6251B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" name="Connector 38"/>
          <p:cNvCxnSpPr/>
          <p:nvPr/>
        </p:nvCxnSpPr>
        <p:spPr>
          <a:xfrm>
            <a:off x="2490287" y="3508012"/>
            <a:ext cx="54649" cy="66812"/>
          </a:xfrm>
          <a:prstGeom prst="line">
            <a:avLst/>
          </a:prstGeom>
          <a:ln w="25400">
            <a:solidFill>
              <a:srgbClr val="6251B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" name="Connector 39"/>
          <p:cNvCxnSpPr/>
          <p:nvPr/>
        </p:nvCxnSpPr>
        <p:spPr>
          <a:xfrm>
            <a:off x="2544936" y="3574824"/>
            <a:ext cx="54649" cy="63490"/>
          </a:xfrm>
          <a:prstGeom prst="line">
            <a:avLst/>
          </a:prstGeom>
          <a:ln w="25400">
            <a:solidFill>
              <a:srgbClr val="6251B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" name="Connector 40"/>
          <p:cNvCxnSpPr/>
          <p:nvPr/>
        </p:nvCxnSpPr>
        <p:spPr>
          <a:xfrm>
            <a:off x="2599585" y="3638314"/>
            <a:ext cx="54649" cy="59225"/>
          </a:xfrm>
          <a:prstGeom prst="line">
            <a:avLst/>
          </a:prstGeom>
          <a:ln w="25400">
            <a:solidFill>
              <a:srgbClr val="6251B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" name="Connector 41"/>
          <p:cNvCxnSpPr/>
          <p:nvPr/>
        </p:nvCxnSpPr>
        <p:spPr>
          <a:xfrm>
            <a:off x="2654234" y="3697539"/>
            <a:ext cx="54649" cy="54080"/>
          </a:xfrm>
          <a:prstGeom prst="line">
            <a:avLst/>
          </a:prstGeom>
          <a:ln w="25400">
            <a:solidFill>
              <a:srgbClr val="6251B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3" name="Connector 42"/>
          <p:cNvCxnSpPr/>
          <p:nvPr/>
        </p:nvCxnSpPr>
        <p:spPr>
          <a:xfrm>
            <a:off x="2708883" y="3751619"/>
            <a:ext cx="54648" cy="48133"/>
          </a:xfrm>
          <a:prstGeom prst="line">
            <a:avLst/>
          </a:prstGeom>
          <a:ln w="25400">
            <a:solidFill>
              <a:srgbClr val="6251B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Connector 43"/>
          <p:cNvCxnSpPr/>
          <p:nvPr/>
        </p:nvCxnSpPr>
        <p:spPr>
          <a:xfrm>
            <a:off x="2763531" y="3799752"/>
            <a:ext cx="54649" cy="41469"/>
          </a:xfrm>
          <a:prstGeom prst="line">
            <a:avLst/>
          </a:prstGeom>
          <a:ln w="25400">
            <a:solidFill>
              <a:srgbClr val="6251B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" name="Connector 44"/>
          <p:cNvCxnSpPr/>
          <p:nvPr/>
        </p:nvCxnSpPr>
        <p:spPr>
          <a:xfrm>
            <a:off x="2818180" y="3841221"/>
            <a:ext cx="54649" cy="34189"/>
          </a:xfrm>
          <a:prstGeom prst="line">
            <a:avLst/>
          </a:prstGeom>
          <a:ln w="25400">
            <a:solidFill>
              <a:srgbClr val="6251B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6" name="Connector 45"/>
          <p:cNvCxnSpPr/>
          <p:nvPr/>
        </p:nvCxnSpPr>
        <p:spPr>
          <a:xfrm>
            <a:off x="2872829" y="3875410"/>
            <a:ext cx="54649" cy="26402"/>
          </a:xfrm>
          <a:prstGeom prst="line">
            <a:avLst/>
          </a:prstGeom>
          <a:ln w="25400">
            <a:solidFill>
              <a:srgbClr val="6251B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7" name="Connector 46"/>
          <p:cNvCxnSpPr/>
          <p:nvPr/>
        </p:nvCxnSpPr>
        <p:spPr>
          <a:xfrm>
            <a:off x="2927478" y="3901812"/>
            <a:ext cx="54649" cy="18223"/>
          </a:xfrm>
          <a:prstGeom prst="line">
            <a:avLst/>
          </a:prstGeom>
          <a:ln w="25400">
            <a:solidFill>
              <a:srgbClr val="6251B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8" name="Connector 47"/>
          <p:cNvCxnSpPr/>
          <p:nvPr/>
        </p:nvCxnSpPr>
        <p:spPr>
          <a:xfrm>
            <a:off x="2982127" y="3920035"/>
            <a:ext cx="54649" cy="9772"/>
          </a:xfrm>
          <a:prstGeom prst="line">
            <a:avLst/>
          </a:prstGeom>
          <a:ln w="25400">
            <a:solidFill>
              <a:srgbClr val="6251B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9" name="Connector 48"/>
          <p:cNvCxnSpPr/>
          <p:nvPr/>
        </p:nvCxnSpPr>
        <p:spPr>
          <a:xfrm>
            <a:off x="3036776" y="3929807"/>
            <a:ext cx="54649" cy="1176"/>
          </a:xfrm>
          <a:prstGeom prst="line">
            <a:avLst/>
          </a:prstGeom>
          <a:ln w="25400">
            <a:solidFill>
              <a:srgbClr val="6251B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0" name="Connector 49"/>
          <p:cNvCxnSpPr/>
          <p:nvPr/>
        </p:nvCxnSpPr>
        <p:spPr>
          <a:xfrm flipV="1">
            <a:off x="3091425" y="3923546"/>
            <a:ext cx="54648" cy="7437"/>
          </a:xfrm>
          <a:prstGeom prst="line">
            <a:avLst/>
          </a:prstGeom>
          <a:ln w="25400">
            <a:solidFill>
              <a:srgbClr val="6251B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1" name="Connector 50"/>
          <p:cNvCxnSpPr/>
          <p:nvPr/>
        </p:nvCxnSpPr>
        <p:spPr>
          <a:xfrm flipV="1">
            <a:off x="3146073" y="3907607"/>
            <a:ext cx="54649" cy="15939"/>
          </a:xfrm>
          <a:prstGeom prst="line">
            <a:avLst/>
          </a:prstGeom>
          <a:ln w="25400">
            <a:solidFill>
              <a:srgbClr val="6251B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2" name="Connector 51"/>
          <p:cNvCxnSpPr/>
          <p:nvPr/>
        </p:nvCxnSpPr>
        <p:spPr>
          <a:xfrm flipV="1">
            <a:off x="3200722" y="3883402"/>
            <a:ext cx="54649" cy="24205"/>
          </a:xfrm>
          <a:prstGeom prst="line">
            <a:avLst/>
          </a:prstGeom>
          <a:ln w="25400">
            <a:solidFill>
              <a:srgbClr val="6251B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3" name="Connector 52"/>
          <p:cNvCxnSpPr/>
          <p:nvPr/>
        </p:nvCxnSpPr>
        <p:spPr>
          <a:xfrm flipV="1">
            <a:off x="3255371" y="3851290"/>
            <a:ext cx="54649" cy="32112"/>
          </a:xfrm>
          <a:prstGeom prst="line">
            <a:avLst/>
          </a:prstGeom>
          <a:ln w="25400">
            <a:solidFill>
              <a:srgbClr val="6251B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4" name="Connector 53"/>
          <p:cNvCxnSpPr/>
          <p:nvPr/>
        </p:nvCxnSpPr>
        <p:spPr>
          <a:xfrm flipV="1">
            <a:off x="3310020" y="3811750"/>
            <a:ext cx="54649" cy="39540"/>
          </a:xfrm>
          <a:prstGeom prst="line">
            <a:avLst/>
          </a:prstGeom>
          <a:ln w="25400">
            <a:solidFill>
              <a:srgbClr val="6251B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5" name="Connector 54"/>
          <p:cNvCxnSpPr/>
          <p:nvPr/>
        </p:nvCxnSpPr>
        <p:spPr>
          <a:xfrm flipV="1">
            <a:off x="3364669" y="3765368"/>
            <a:ext cx="54649" cy="46382"/>
          </a:xfrm>
          <a:prstGeom prst="line">
            <a:avLst/>
          </a:prstGeom>
          <a:ln w="25400">
            <a:solidFill>
              <a:srgbClr val="6251B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6" name="Connector 55"/>
          <p:cNvCxnSpPr/>
          <p:nvPr/>
        </p:nvCxnSpPr>
        <p:spPr>
          <a:xfrm flipV="1">
            <a:off x="3419318" y="3712833"/>
            <a:ext cx="54648" cy="52535"/>
          </a:xfrm>
          <a:prstGeom prst="line">
            <a:avLst/>
          </a:prstGeom>
          <a:ln w="25400">
            <a:solidFill>
              <a:srgbClr val="6251B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7" name="Connector 56"/>
          <p:cNvCxnSpPr/>
          <p:nvPr/>
        </p:nvCxnSpPr>
        <p:spPr>
          <a:xfrm flipV="1">
            <a:off x="3473966" y="3654927"/>
            <a:ext cx="54649" cy="57906"/>
          </a:xfrm>
          <a:prstGeom prst="line">
            <a:avLst/>
          </a:prstGeom>
          <a:ln w="25400">
            <a:solidFill>
              <a:srgbClr val="6251B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8" name="Connector 57"/>
          <p:cNvCxnSpPr/>
          <p:nvPr/>
        </p:nvCxnSpPr>
        <p:spPr>
          <a:xfrm flipV="1">
            <a:off x="3528615" y="3592509"/>
            <a:ext cx="54649" cy="62418"/>
          </a:xfrm>
          <a:prstGeom prst="line">
            <a:avLst/>
          </a:prstGeom>
          <a:ln w="25400">
            <a:solidFill>
              <a:srgbClr val="6251B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9" name="Connector 58"/>
          <p:cNvCxnSpPr/>
          <p:nvPr/>
        </p:nvCxnSpPr>
        <p:spPr>
          <a:xfrm flipV="1">
            <a:off x="3583264" y="3526507"/>
            <a:ext cx="54649" cy="66002"/>
          </a:xfrm>
          <a:prstGeom prst="line">
            <a:avLst/>
          </a:prstGeom>
          <a:ln w="25400">
            <a:solidFill>
              <a:srgbClr val="6251B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0" name="Connector 59"/>
          <p:cNvCxnSpPr/>
          <p:nvPr/>
        </p:nvCxnSpPr>
        <p:spPr>
          <a:xfrm flipV="1">
            <a:off x="3637913" y="3457901"/>
            <a:ext cx="54649" cy="68606"/>
          </a:xfrm>
          <a:prstGeom prst="line">
            <a:avLst/>
          </a:prstGeom>
          <a:ln w="25400">
            <a:solidFill>
              <a:srgbClr val="6251B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1" name="Connector 60"/>
          <p:cNvCxnSpPr/>
          <p:nvPr/>
        </p:nvCxnSpPr>
        <p:spPr>
          <a:xfrm flipV="1">
            <a:off x="3692562" y="3387711"/>
            <a:ext cx="54649" cy="70190"/>
          </a:xfrm>
          <a:prstGeom prst="line">
            <a:avLst/>
          </a:prstGeom>
          <a:ln w="25400">
            <a:solidFill>
              <a:srgbClr val="6251B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2" name="Connector 61"/>
          <p:cNvCxnSpPr/>
          <p:nvPr/>
        </p:nvCxnSpPr>
        <p:spPr>
          <a:xfrm flipV="1">
            <a:off x="3747211" y="3316980"/>
            <a:ext cx="54649" cy="70731"/>
          </a:xfrm>
          <a:prstGeom prst="line">
            <a:avLst/>
          </a:prstGeom>
          <a:ln w="25400">
            <a:solidFill>
              <a:srgbClr val="6251B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3" name="Connector 62"/>
          <p:cNvCxnSpPr/>
          <p:nvPr/>
        </p:nvCxnSpPr>
        <p:spPr>
          <a:xfrm flipV="1">
            <a:off x="3801860" y="3246759"/>
            <a:ext cx="54648" cy="70221"/>
          </a:xfrm>
          <a:prstGeom prst="line">
            <a:avLst/>
          </a:prstGeom>
          <a:ln w="25400">
            <a:solidFill>
              <a:srgbClr val="6251B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4" name="Connector 63"/>
          <p:cNvCxnSpPr/>
          <p:nvPr/>
        </p:nvCxnSpPr>
        <p:spPr>
          <a:xfrm flipV="1">
            <a:off x="3856508" y="3178090"/>
            <a:ext cx="54649" cy="68669"/>
          </a:xfrm>
          <a:prstGeom prst="line">
            <a:avLst/>
          </a:prstGeom>
          <a:ln w="25400">
            <a:solidFill>
              <a:srgbClr val="6251B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5" name="Connector 64"/>
          <p:cNvCxnSpPr/>
          <p:nvPr/>
        </p:nvCxnSpPr>
        <p:spPr>
          <a:xfrm flipV="1">
            <a:off x="3911157" y="3111994"/>
            <a:ext cx="54649" cy="66096"/>
          </a:xfrm>
          <a:prstGeom prst="line">
            <a:avLst/>
          </a:prstGeom>
          <a:ln w="25400">
            <a:solidFill>
              <a:srgbClr val="6251B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6" name="Connector 65"/>
          <p:cNvCxnSpPr/>
          <p:nvPr/>
        </p:nvCxnSpPr>
        <p:spPr>
          <a:xfrm flipV="1">
            <a:off x="3965806" y="3049454"/>
            <a:ext cx="54649" cy="62540"/>
          </a:xfrm>
          <a:prstGeom prst="line">
            <a:avLst/>
          </a:prstGeom>
          <a:ln w="25400">
            <a:solidFill>
              <a:srgbClr val="6251B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7" name="Connector 66"/>
          <p:cNvCxnSpPr/>
          <p:nvPr/>
        </p:nvCxnSpPr>
        <p:spPr>
          <a:xfrm flipV="1">
            <a:off x="4020455" y="2991397"/>
            <a:ext cx="54649" cy="58057"/>
          </a:xfrm>
          <a:prstGeom prst="line">
            <a:avLst/>
          </a:prstGeom>
          <a:ln w="25400">
            <a:solidFill>
              <a:srgbClr val="6251B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8" name="Connector 67"/>
          <p:cNvCxnSpPr/>
          <p:nvPr/>
        </p:nvCxnSpPr>
        <p:spPr>
          <a:xfrm flipV="1">
            <a:off x="4075104" y="2938688"/>
            <a:ext cx="54649" cy="52709"/>
          </a:xfrm>
          <a:prstGeom prst="line">
            <a:avLst/>
          </a:prstGeom>
          <a:ln w="25400">
            <a:solidFill>
              <a:srgbClr val="6251B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9" name="Connector 68"/>
          <p:cNvCxnSpPr/>
          <p:nvPr/>
        </p:nvCxnSpPr>
        <p:spPr>
          <a:xfrm flipV="1">
            <a:off x="4129753" y="2892109"/>
            <a:ext cx="54648" cy="46579"/>
          </a:xfrm>
          <a:prstGeom prst="line">
            <a:avLst/>
          </a:prstGeom>
          <a:ln w="25400">
            <a:solidFill>
              <a:srgbClr val="6251B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0" name="Connector 69"/>
          <p:cNvCxnSpPr/>
          <p:nvPr/>
        </p:nvCxnSpPr>
        <p:spPr>
          <a:xfrm flipV="1">
            <a:off x="4184401" y="2852352"/>
            <a:ext cx="54649" cy="39757"/>
          </a:xfrm>
          <a:prstGeom prst="line">
            <a:avLst/>
          </a:prstGeom>
          <a:ln w="25400">
            <a:solidFill>
              <a:srgbClr val="6251B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1" name="Connector 70"/>
          <p:cNvCxnSpPr/>
          <p:nvPr/>
        </p:nvCxnSpPr>
        <p:spPr>
          <a:xfrm flipV="1">
            <a:off x="4239050" y="2820008"/>
            <a:ext cx="54649" cy="32344"/>
          </a:xfrm>
          <a:prstGeom prst="line">
            <a:avLst/>
          </a:prstGeom>
          <a:ln w="25400">
            <a:solidFill>
              <a:srgbClr val="6251B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2" name="Connector 71"/>
          <p:cNvCxnSpPr/>
          <p:nvPr/>
        </p:nvCxnSpPr>
        <p:spPr>
          <a:xfrm flipV="1">
            <a:off x="4293699" y="2795558"/>
            <a:ext cx="54649" cy="24450"/>
          </a:xfrm>
          <a:prstGeom prst="line">
            <a:avLst/>
          </a:prstGeom>
          <a:ln w="25400">
            <a:solidFill>
              <a:srgbClr val="6251B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3" name="Connector 72"/>
          <p:cNvCxnSpPr/>
          <p:nvPr/>
        </p:nvCxnSpPr>
        <p:spPr>
          <a:xfrm flipV="1">
            <a:off x="4348348" y="2779364"/>
            <a:ext cx="54649" cy="16194"/>
          </a:xfrm>
          <a:prstGeom prst="line">
            <a:avLst/>
          </a:prstGeom>
          <a:ln w="25400">
            <a:solidFill>
              <a:srgbClr val="6251B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4" name="Connector 73"/>
          <p:cNvCxnSpPr/>
          <p:nvPr/>
        </p:nvCxnSpPr>
        <p:spPr>
          <a:xfrm flipV="1">
            <a:off x="4402997" y="2771667"/>
            <a:ext cx="54649" cy="7697"/>
          </a:xfrm>
          <a:prstGeom prst="line">
            <a:avLst/>
          </a:prstGeom>
          <a:ln w="25400">
            <a:solidFill>
              <a:srgbClr val="6251B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5" name="Connector 74"/>
          <p:cNvCxnSpPr/>
          <p:nvPr/>
        </p:nvCxnSpPr>
        <p:spPr>
          <a:xfrm>
            <a:off x="4457646" y="2771667"/>
            <a:ext cx="54649" cy="915"/>
          </a:xfrm>
          <a:prstGeom prst="line">
            <a:avLst/>
          </a:prstGeom>
          <a:ln w="25400">
            <a:solidFill>
              <a:srgbClr val="6251B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6" name="Connector 75"/>
          <p:cNvCxnSpPr/>
          <p:nvPr/>
        </p:nvCxnSpPr>
        <p:spPr>
          <a:xfrm>
            <a:off x="4512295" y="2772582"/>
            <a:ext cx="54648" cy="9513"/>
          </a:xfrm>
          <a:prstGeom prst="line">
            <a:avLst/>
          </a:prstGeom>
          <a:ln w="25400">
            <a:solidFill>
              <a:srgbClr val="6251B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7" name="Connector 76"/>
          <p:cNvCxnSpPr/>
          <p:nvPr/>
        </p:nvCxnSpPr>
        <p:spPr>
          <a:xfrm>
            <a:off x="4566943" y="2782095"/>
            <a:ext cx="54649" cy="17970"/>
          </a:xfrm>
          <a:prstGeom prst="line">
            <a:avLst/>
          </a:prstGeom>
          <a:ln w="25400">
            <a:solidFill>
              <a:srgbClr val="6251B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8" name="Connector 77"/>
          <p:cNvCxnSpPr/>
          <p:nvPr/>
        </p:nvCxnSpPr>
        <p:spPr>
          <a:xfrm>
            <a:off x="4621592" y="2800065"/>
            <a:ext cx="54649" cy="26159"/>
          </a:xfrm>
          <a:prstGeom prst="line">
            <a:avLst/>
          </a:prstGeom>
          <a:ln w="25400">
            <a:solidFill>
              <a:srgbClr val="6251B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9" name="Connector 78"/>
          <p:cNvCxnSpPr/>
          <p:nvPr/>
        </p:nvCxnSpPr>
        <p:spPr>
          <a:xfrm>
            <a:off x="4676241" y="2826224"/>
            <a:ext cx="54649" cy="33961"/>
          </a:xfrm>
          <a:prstGeom prst="line">
            <a:avLst/>
          </a:prstGeom>
          <a:ln w="25400">
            <a:solidFill>
              <a:srgbClr val="6251B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0" name="Connector 79"/>
          <p:cNvCxnSpPr/>
          <p:nvPr/>
        </p:nvCxnSpPr>
        <p:spPr>
          <a:xfrm>
            <a:off x="4730890" y="2860185"/>
            <a:ext cx="54649" cy="41257"/>
          </a:xfrm>
          <a:prstGeom prst="line">
            <a:avLst/>
          </a:prstGeom>
          <a:ln w="25400">
            <a:solidFill>
              <a:srgbClr val="6251B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1" name="Connector 80"/>
          <p:cNvCxnSpPr/>
          <p:nvPr/>
        </p:nvCxnSpPr>
        <p:spPr>
          <a:xfrm>
            <a:off x="4785539" y="2901442"/>
            <a:ext cx="54649" cy="47940"/>
          </a:xfrm>
          <a:prstGeom prst="line">
            <a:avLst/>
          </a:prstGeom>
          <a:ln w="25400">
            <a:solidFill>
              <a:srgbClr val="6251B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2" name="Connector 81"/>
          <p:cNvCxnSpPr/>
          <p:nvPr/>
        </p:nvCxnSpPr>
        <p:spPr>
          <a:xfrm>
            <a:off x="4840188" y="2949382"/>
            <a:ext cx="54648" cy="53912"/>
          </a:xfrm>
          <a:prstGeom prst="line">
            <a:avLst/>
          </a:prstGeom>
          <a:ln w="25400">
            <a:solidFill>
              <a:srgbClr val="6251B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3" name="Connector 82"/>
          <p:cNvCxnSpPr/>
          <p:nvPr/>
        </p:nvCxnSpPr>
        <p:spPr>
          <a:xfrm>
            <a:off x="4894836" y="3003294"/>
            <a:ext cx="54649" cy="59082"/>
          </a:xfrm>
          <a:prstGeom prst="line">
            <a:avLst/>
          </a:prstGeom>
          <a:ln w="25400">
            <a:solidFill>
              <a:srgbClr val="6251B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4" name="Connector 83"/>
          <p:cNvCxnSpPr/>
          <p:nvPr/>
        </p:nvCxnSpPr>
        <p:spPr>
          <a:xfrm>
            <a:off x="4949485" y="3062376"/>
            <a:ext cx="54649" cy="63374"/>
          </a:xfrm>
          <a:prstGeom prst="line">
            <a:avLst/>
          </a:prstGeom>
          <a:ln w="25400">
            <a:solidFill>
              <a:srgbClr val="6251B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5" name="Connector 84"/>
          <p:cNvCxnSpPr/>
          <p:nvPr/>
        </p:nvCxnSpPr>
        <p:spPr>
          <a:xfrm>
            <a:off x="5004134" y="3125750"/>
            <a:ext cx="54649" cy="66725"/>
          </a:xfrm>
          <a:prstGeom prst="line">
            <a:avLst/>
          </a:prstGeom>
          <a:ln w="25400">
            <a:solidFill>
              <a:srgbClr val="6251B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6" name="Connector 85"/>
          <p:cNvCxnSpPr/>
          <p:nvPr/>
        </p:nvCxnSpPr>
        <p:spPr>
          <a:xfrm>
            <a:off x="5058783" y="3192475"/>
            <a:ext cx="54649" cy="69084"/>
          </a:xfrm>
          <a:prstGeom prst="line">
            <a:avLst/>
          </a:prstGeom>
          <a:ln w="25400">
            <a:solidFill>
              <a:srgbClr val="6251B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7" name="Connector 86"/>
          <p:cNvCxnSpPr/>
          <p:nvPr/>
        </p:nvCxnSpPr>
        <p:spPr>
          <a:xfrm>
            <a:off x="5113432" y="3261559"/>
            <a:ext cx="54649" cy="70418"/>
          </a:xfrm>
          <a:prstGeom prst="line">
            <a:avLst/>
          </a:prstGeom>
          <a:ln w="25400">
            <a:solidFill>
              <a:srgbClr val="6251B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8" name="Connector 87"/>
          <p:cNvCxnSpPr/>
          <p:nvPr/>
        </p:nvCxnSpPr>
        <p:spPr>
          <a:xfrm>
            <a:off x="5168081" y="3331977"/>
            <a:ext cx="54649" cy="70704"/>
          </a:xfrm>
          <a:prstGeom prst="line">
            <a:avLst/>
          </a:prstGeom>
          <a:ln w="25400">
            <a:solidFill>
              <a:srgbClr val="6251B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9" name="Connector 88"/>
          <p:cNvCxnSpPr/>
          <p:nvPr/>
        </p:nvCxnSpPr>
        <p:spPr>
          <a:xfrm>
            <a:off x="5222730" y="3402681"/>
            <a:ext cx="54648" cy="69940"/>
          </a:xfrm>
          <a:prstGeom prst="line">
            <a:avLst/>
          </a:prstGeom>
          <a:ln w="25400">
            <a:solidFill>
              <a:srgbClr val="6251B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0" name="Connector 89"/>
          <p:cNvCxnSpPr/>
          <p:nvPr/>
        </p:nvCxnSpPr>
        <p:spPr>
          <a:xfrm>
            <a:off x="5277378" y="3472621"/>
            <a:ext cx="54649" cy="68138"/>
          </a:xfrm>
          <a:prstGeom prst="line">
            <a:avLst/>
          </a:prstGeom>
          <a:ln w="25400">
            <a:solidFill>
              <a:srgbClr val="6251B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1" name="Connector 90"/>
          <p:cNvCxnSpPr/>
          <p:nvPr/>
        </p:nvCxnSpPr>
        <p:spPr>
          <a:xfrm>
            <a:off x="5332027" y="3540759"/>
            <a:ext cx="54649" cy="65322"/>
          </a:xfrm>
          <a:prstGeom prst="line">
            <a:avLst/>
          </a:prstGeom>
          <a:ln w="25400">
            <a:solidFill>
              <a:srgbClr val="6251B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2" name="Connector 91"/>
          <p:cNvCxnSpPr/>
          <p:nvPr/>
        </p:nvCxnSpPr>
        <p:spPr>
          <a:xfrm>
            <a:off x="5386676" y="3606081"/>
            <a:ext cx="54649" cy="61536"/>
          </a:xfrm>
          <a:prstGeom prst="line">
            <a:avLst/>
          </a:prstGeom>
          <a:ln w="25400">
            <a:solidFill>
              <a:srgbClr val="6251B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3" name="Connector 92"/>
          <p:cNvCxnSpPr/>
          <p:nvPr/>
        </p:nvCxnSpPr>
        <p:spPr>
          <a:xfrm>
            <a:off x="5441325" y="3667617"/>
            <a:ext cx="54649" cy="56837"/>
          </a:xfrm>
          <a:prstGeom prst="line">
            <a:avLst/>
          </a:prstGeom>
          <a:ln w="25400">
            <a:solidFill>
              <a:srgbClr val="6251B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4" name="Connector 93"/>
          <p:cNvCxnSpPr/>
          <p:nvPr/>
        </p:nvCxnSpPr>
        <p:spPr>
          <a:xfrm>
            <a:off x="5495974" y="3724454"/>
            <a:ext cx="54649" cy="51291"/>
          </a:xfrm>
          <a:prstGeom prst="line">
            <a:avLst/>
          </a:prstGeom>
          <a:ln w="25400">
            <a:solidFill>
              <a:srgbClr val="6251B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5" name="Connector 94"/>
          <p:cNvCxnSpPr/>
          <p:nvPr/>
        </p:nvCxnSpPr>
        <p:spPr>
          <a:xfrm>
            <a:off x="5550623" y="3775745"/>
            <a:ext cx="54649" cy="44985"/>
          </a:xfrm>
          <a:prstGeom prst="line">
            <a:avLst/>
          </a:prstGeom>
          <a:ln w="25400">
            <a:solidFill>
              <a:srgbClr val="6251B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6" name="Connector 95"/>
          <p:cNvCxnSpPr/>
          <p:nvPr/>
        </p:nvCxnSpPr>
        <p:spPr>
          <a:xfrm flipV="1">
            <a:off x="6537960" y="3280676"/>
            <a:ext cx="54541" cy="70600"/>
          </a:xfrm>
          <a:prstGeom prst="line">
            <a:avLst/>
          </a:prstGeom>
          <a:ln w="25400">
            <a:solidFill>
              <a:srgbClr val="D0D0D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7" name="Connector 96"/>
          <p:cNvCxnSpPr/>
          <p:nvPr/>
        </p:nvCxnSpPr>
        <p:spPr>
          <a:xfrm flipV="1">
            <a:off x="6592501" y="3211125"/>
            <a:ext cx="54541" cy="69551"/>
          </a:xfrm>
          <a:prstGeom prst="line">
            <a:avLst/>
          </a:prstGeom>
          <a:ln w="25400">
            <a:solidFill>
              <a:srgbClr val="D0D0D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8" name="Connector 97"/>
          <p:cNvCxnSpPr/>
          <p:nvPr/>
        </p:nvCxnSpPr>
        <p:spPr>
          <a:xfrm flipV="1">
            <a:off x="6647042" y="3143656"/>
            <a:ext cx="54541" cy="67469"/>
          </a:xfrm>
          <a:prstGeom prst="line">
            <a:avLst/>
          </a:prstGeom>
          <a:ln w="25400">
            <a:solidFill>
              <a:srgbClr val="D0D0D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9" name="Connector 98"/>
          <p:cNvCxnSpPr/>
          <p:nvPr/>
        </p:nvCxnSpPr>
        <p:spPr>
          <a:xfrm flipV="1">
            <a:off x="6701583" y="3079272"/>
            <a:ext cx="54542" cy="64384"/>
          </a:xfrm>
          <a:prstGeom prst="line">
            <a:avLst/>
          </a:prstGeom>
          <a:ln w="25400">
            <a:solidFill>
              <a:srgbClr val="D0D0D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0" name="Connector 99"/>
          <p:cNvCxnSpPr/>
          <p:nvPr/>
        </p:nvCxnSpPr>
        <p:spPr>
          <a:xfrm flipV="1">
            <a:off x="6756125" y="3018930"/>
            <a:ext cx="54541" cy="60342"/>
          </a:xfrm>
          <a:prstGeom prst="line">
            <a:avLst/>
          </a:prstGeom>
          <a:ln w="25400">
            <a:solidFill>
              <a:srgbClr val="D0D0D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1" name="Connector 100"/>
          <p:cNvCxnSpPr/>
          <p:nvPr/>
        </p:nvCxnSpPr>
        <p:spPr>
          <a:xfrm flipV="1">
            <a:off x="6810666" y="2963525"/>
            <a:ext cx="54541" cy="55405"/>
          </a:xfrm>
          <a:prstGeom prst="line">
            <a:avLst/>
          </a:prstGeom>
          <a:ln w="25400">
            <a:solidFill>
              <a:srgbClr val="D0D0D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2" name="Connector 101"/>
          <p:cNvCxnSpPr/>
          <p:nvPr/>
        </p:nvCxnSpPr>
        <p:spPr>
          <a:xfrm flipV="1">
            <a:off x="6865207" y="2913882"/>
            <a:ext cx="54541" cy="49643"/>
          </a:xfrm>
          <a:prstGeom prst="line">
            <a:avLst/>
          </a:prstGeom>
          <a:ln w="25400">
            <a:solidFill>
              <a:srgbClr val="D0D0D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3" name="Connector 102"/>
          <p:cNvCxnSpPr/>
          <p:nvPr/>
        </p:nvCxnSpPr>
        <p:spPr>
          <a:xfrm flipV="1">
            <a:off x="6919748" y="2870737"/>
            <a:ext cx="54542" cy="43145"/>
          </a:xfrm>
          <a:prstGeom prst="line">
            <a:avLst/>
          </a:prstGeom>
          <a:ln w="25400">
            <a:solidFill>
              <a:srgbClr val="D0D0D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4" name="Connector 103"/>
          <p:cNvCxnSpPr/>
          <p:nvPr/>
        </p:nvCxnSpPr>
        <p:spPr>
          <a:xfrm flipV="1">
            <a:off x="6974290" y="2834732"/>
            <a:ext cx="54541" cy="36005"/>
          </a:xfrm>
          <a:prstGeom prst="line">
            <a:avLst/>
          </a:prstGeom>
          <a:ln w="25400">
            <a:solidFill>
              <a:srgbClr val="D0D0D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5" name="Connector 104"/>
          <p:cNvCxnSpPr/>
          <p:nvPr/>
        </p:nvCxnSpPr>
        <p:spPr>
          <a:xfrm flipV="1">
            <a:off x="7028831" y="2806401"/>
            <a:ext cx="54541" cy="28331"/>
          </a:xfrm>
          <a:prstGeom prst="line">
            <a:avLst/>
          </a:prstGeom>
          <a:ln w="25400">
            <a:solidFill>
              <a:srgbClr val="D0D0D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6" name="Connector 105"/>
          <p:cNvCxnSpPr/>
          <p:nvPr/>
        </p:nvCxnSpPr>
        <p:spPr>
          <a:xfrm flipV="1">
            <a:off x="7083372" y="2786166"/>
            <a:ext cx="54541" cy="20235"/>
          </a:xfrm>
          <a:prstGeom prst="line">
            <a:avLst/>
          </a:prstGeom>
          <a:ln w="25400">
            <a:solidFill>
              <a:srgbClr val="D0D0D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7" name="Connector 106"/>
          <p:cNvCxnSpPr/>
          <p:nvPr/>
        </p:nvCxnSpPr>
        <p:spPr>
          <a:xfrm flipV="1">
            <a:off x="7137913" y="2774327"/>
            <a:ext cx="54542" cy="11839"/>
          </a:xfrm>
          <a:prstGeom prst="line">
            <a:avLst/>
          </a:prstGeom>
          <a:ln w="25400">
            <a:solidFill>
              <a:srgbClr val="D0D0D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8" name="Connector 107"/>
          <p:cNvCxnSpPr/>
          <p:nvPr/>
        </p:nvCxnSpPr>
        <p:spPr>
          <a:xfrm flipV="1">
            <a:off x="7192455" y="2771061"/>
            <a:ext cx="54541" cy="3266"/>
          </a:xfrm>
          <a:prstGeom prst="line">
            <a:avLst/>
          </a:prstGeom>
          <a:ln w="25400">
            <a:solidFill>
              <a:srgbClr val="D0D0D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9" name="Connector 108"/>
          <p:cNvCxnSpPr/>
          <p:nvPr/>
        </p:nvCxnSpPr>
        <p:spPr>
          <a:xfrm>
            <a:off x="7246996" y="2771061"/>
            <a:ext cx="54541" cy="5354"/>
          </a:xfrm>
          <a:prstGeom prst="line">
            <a:avLst/>
          </a:prstGeom>
          <a:ln w="25400">
            <a:solidFill>
              <a:srgbClr val="D0D0D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0" name="Connector 109"/>
          <p:cNvCxnSpPr/>
          <p:nvPr/>
        </p:nvCxnSpPr>
        <p:spPr>
          <a:xfrm>
            <a:off x="7301537" y="2776415"/>
            <a:ext cx="54542" cy="13895"/>
          </a:xfrm>
          <a:prstGeom prst="line">
            <a:avLst/>
          </a:prstGeom>
          <a:ln w="25400">
            <a:solidFill>
              <a:srgbClr val="D0D0D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1" name="Connector 110"/>
          <p:cNvCxnSpPr/>
          <p:nvPr/>
        </p:nvCxnSpPr>
        <p:spPr>
          <a:xfrm>
            <a:off x="7356079" y="2790310"/>
            <a:ext cx="54541" cy="22230"/>
          </a:xfrm>
          <a:prstGeom prst="line">
            <a:avLst/>
          </a:prstGeom>
          <a:ln w="25400">
            <a:solidFill>
              <a:srgbClr val="D0D0D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2" name="Connector 111"/>
          <p:cNvCxnSpPr/>
          <p:nvPr/>
        </p:nvCxnSpPr>
        <p:spPr>
          <a:xfrm>
            <a:off x="7410620" y="2812540"/>
            <a:ext cx="54541" cy="30234"/>
          </a:xfrm>
          <a:prstGeom prst="line">
            <a:avLst/>
          </a:prstGeom>
          <a:ln w="25400">
            <a:solidFill>
              <a:srgbClr val="D0D0D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3" name="Connector 112"/>
          <p:cNvCxnSpPr/>
          <p:nvPr/>
        </p:nvCxnSpPr>
        <p:spPr>
          <a:xfrm>
            <a:off x="7465161" y="2842774"/>
            <a:ext cx="54541" cy="37789"/>
          </a:xfrm>
          <a:prstGeom prst="line">
            <a:avLst/>
          </a:prstGeom>
          <a:ln w="25400">
            <a:solidFill>
              <a:srgbClr val="D0D0D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4" name="Connector 113"/>
          <p:cNvCxnSpPr/>
          <p:nvPr/>
        </p:nvCxnSpPr>
        <p:spPr>
          <a:xfrm>
            <a:off x="7519702" y="2880563"/>
            <a:ext cx="54542" cy="44783"/>
          </a:xfrm>
          <a:prstGeom prst="line">
            <a:avLst/>
          </a:prstGeom>
          <a:ln w="25400">
            <a:solidFill>
              <a:srgbClr val="D0D0D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5" name="Connector 114"/>
          <p:cNvCxnSpPr/>
          <p:nvPr/>
        </p:nvCxnSpPr>
        <p:spPr>
          <a:xfrm>
            <a:off x="7574244" y="2925346"/>
            <a:ext cx="54541" cy="51112"/>
          </a:xfrm>
          <a:prstGeom prst="line">
            <a:avLst/>
          </a:prstGeom>
          <a:ln w="25400">
            <a:solidFill>
              <a:srgbClr val="D0D0D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6" name="Connector 115"/>
          <p:cNvCxnSpPr/>
          <p:nvPr/>
        </p:nvCxnSpPr>
        <p:spPr>
          <a:xfrm>
            <a:off x="7628785" y="2976458"/>
            <a:ext cx="54541" cy="56680"/>
          </a:xfrm>
          <a:prstGeom prst="line">
            <a:avLst/>
          </a:prstGeom>
          <a:ln w="25400">
            <a:solidFill>
              <a:srgbClr val="D0D0D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7" name="Connector 116"/>
          <p:cNvCxnSpPr/>
          <p:nvPr/>
        </p:nvCxnSpPr>
        <p:spPr>
          <a:xfrm>
            <a:off x="7683326" y="3033138"/>
            <a:ext cx="54541" cy="61407"/>
          </a:xfrm>
          <a:prstGeom prst="line">
            <a:avLst/>
          </a:prstGeom>
          <a:ln w="25400">
            <a:solidFill>
              <a:srgbClr val="D0D0D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8" name="Connector 117"/>
          <p:cNvCxnSpPr/>
          <p:nvPr/>
        </p:nvCxnSpPr>
        <p:spPr>
          <a:xfrm>
            <a:off x="7737867" y="3094545"/>
            <a:ext cx="54542" cy="65221"/>
          </a:xfrm>
          <a:prstGeom prst="line">
            <a:avLst/>
          </a:prstGeom>
          <a:ln w="25400">
            <a:solidFill>
              <a:srgbClr val="D0D0D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9" name="Connector 118"/>
          <p:cNvCxnSpPr/>
          <p:nvPr/>
        </p:nvCxnSpPr>
        <p:spPr>
          <a:xfrm>
            <a:off x="7792409" y="3159766"/>
            <a:ext cx="54541" cy="68067"/>
          </a:xfrm>
          <a:prstGeom prst="line">
            <a:avLst/>
          </a:prstGeom>
          <a:ln w="25400">
            <a:solidFill>
              <a:srgbClr val="D0D0D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0" name="Connector 119"/>
          <p:cNvCxnSpPr/>
          <p:nvPr/>
        </p:nvCxnSpPr>
        <p:spPr>
          <a:xfrm>
            <a:off x="7846950" y="3227833"/>
            <a:ext cx="54541" cy="69901"/>
          </a:xfrm>
          <a:prstGeom prst="line">
            <a:avLst/>
          </a:prstGeom>
          <a:ln w="25400">
            <a:solidFill>
              <a:srgbClr val="D0D0D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1" name="Connector 120"/>
          <p:cNvCxnSpPr/>
          <p:nvPr/>
        </p:nvCxnSpPr>
        <p:spPr>
          <a:xfrm>
            <a:off x="7901491" y="3297734"/>
            <a:ext cx="54542" cy="70697"/>
          </a:xfrm>
          <a:prstGeom prst="line">
            <a:avLst/>
          </a:prstGeom>
          <a:ln w="25400">
            <a:solidFill>
              <a:srgbClr val="D0D0D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2" name="Connector 121"/>
          <p:cNvCxnSpPr/>
          <p:nvPr/>
        </p:nvCxnSpPr>
        <p:spPr>
          <a:xfrm>
            <a:off x="7956033" y="3368431"/>
            <a:ext cx="54541" cy="70441"/>
          </a:xfrm>
          <a:prstGeom prst="line">
            <a:avLst/>
          </a:prstGeom>
          <a:ln w="25400">
            <a:solidFill>
              <a:srgbClr val="D0D0D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3" name="Connector 122"/>
          <p:cNvCxnSpPr/>
          <p:nvPr/>
        </p:nvCxnSpPr>
        <p:spPr>
          <a:xfrm>
            <a:off x="8010574" y="3438872"/>
            <a:ext cx="54541" cy="69140"/>
          </a:xfrm>
          <a:prstGeom prst="line">
            <a:avLst/>
          </a:prstGeom>
          <a:ln w="25400">
            <a:solidFill>
              <a:srgbClr val="D0D0D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4" name="Connector 123"/>
          <p:cNvCxnSpPr/>
          <p:nvPr/>
        </p:nvCxnSpPr>
        <p:spPr>
          <a:xfrm>
            <a:off x="8065115" y="3508012"/>
            <a:ext cx="54541" cy="66812"/>
          </a:xfrm>
          <a:prstGeom prst="line">
            <a:avLst/>
          </a:prstGeom>
          <a:ln w="25400">
            <a:solidFill>
              <a:srgbClr val="D0D0D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5" name="Connector 124"/>
          <p:cNvCxnSpPr/>
          <p:nvPr/>
        </p:nvCxnSpPr>
        <p:spPr>
          <a:xfrm>
            <a:off x="8119656" y="3574824"/>
            <a:ext cx="54542" cy="63490"/>
          </a:xfrm>
          <a:prstGeom prst="line">
            <a:avLst/>
          </a:prstGeom>
          <a:ln w="25400">
            <a:solidFill>
              <a:srgbClr val="D0D0D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6" name="Connector 125"/>
          <p:cNvCxnSpPr/>
          <p:nvPr/>
        </p:nvCxnSpPr>
        <p:spPr>
          <a:xfrm>
            <a:off x="8174198" y="3638314"/>
            <a:ext cx="54541" cy="59225"/>
          </a:xfrm>
          <a:prstGeom prst="line">
            <a:avLst/>
          </a:prstGeom>
          <a:ln w="25400">
            <a:solidFill>
              <a:srgbClr val="D0D0D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7" name="Connector 126"/>
          <p:cNvCxnSpPr/>
          <p:nvPr/>
        </p:nvCxnSpPr>
        <p:spPr>
          <a:xfrm>
            <a:off x="8228739" y="3697539"/>
            <a:ext cx="54541" cy="54080"/>
          </a:xfrm>
          <a:prstGeom prst="line">
            <a:avLst/>
          </a:prstGeom>
          <a:ln w="25400">
            <a:solidFill>
              <a:srgbClr val="D0D0D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8" name="Connector 127"/>
          <p:cNvCxnSpPr/>
          <p:nvPr/>
        </p:nvCxnSpPr>
        <p:spPr>
          <a:xfrm>
            <a:off x="8283280" y="3751619"/>
            <a:ext cx="54541" cy="48133"/>
          </a:xfrm>
          <a:prstGeom prst="line">
            <a:avLst/>
          </a:prstGeom>
          <a:ln w="25400">
            <a:solidFill>
              <a:srgbClr val="D0D0D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9" name="Connector 128"/>
          <p:cNvCxnSpPr/>
          <p:nvPr/>
        </p:nvCxnSpPr>
        <p:spPr>
          <a:xfrm>
            <a:off x="8337821" y="3799752"/>
            <a:ext cx="54542" cy="41469"/>
          </a:xfrm>
          <a:prstGeom prst="line">
            <a:avLst/>
          </a:prstGeom>
          <a:ln w="25400">
            <a:solidFill>
              <a:srgbClr val="D0D0D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0" name="Connector 129"/>
          <p:cNvCxnSpPr/>
          <p:nvPr/>
        </p:nvCxnSpPr>
        <p:spPr>
          <a:xfrm>
            <a:off x="8392363" y="3841221"/>
            <a:ext cx="54541" cy="34189"/>
          </a:xfrm>
          <a:prstGeom prst="line">
            <a:avLst/>
          </a:prstGeom>
          <a:ln w="25400">
            <a:solidFill>
              <a:srgbClr val="D0D0D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1" name="Connector 130"/>
          <p:cNvCxnSpPr/>
          <p:nvPr/>
        </p:nvCxnSpPr>
        <p:spPr>
          <a:xfrm>
            <a:off x="8446904" y="3875410"/>
            <a:ext cx="54541" cy="26402"/>
          </a:xfrm>
          <a:prstGeom prst="line">
            <a:avLst/>
          </a:prstGeom>
          <a:ln w="25400">
            <a:solidFill>
              <a:srgbClr val="D0D0D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2" name="Connector 131"/>
          <p:cNvCxnSpPr/>
          <p:nvPr/>
        </p:nvCxnSpPr>
        <p:spPr>
          <a:xfrm>
            <a:off x="8501445" y="3901812"/>
            <a:ext cx="54542" cy="18223"/>
          </a:xfrm>
          <a:prstGeom prst="line">
            <a:avLst/>
          </a:prstGeom>
          <a:ln w="25400">
            <a:solidFill>
              <a:srgbClr val="D0D0D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3" name="Connector 132"/>
          <p:cNvCxnSpPr/>
          <p:nvPr/>
        </p:nvCxnSpPr>
        <p:spPr>
          <a:xfrm>
            <a:off x="8555987" y="3920035"/>
            <a:ext cx="54541" cy="9772"/>
          </a:xfrm>
          <a:prstGeom prst="line">
            <a:avLst/>
          </a:prstGeom>
          <a:ln w="25400">
            <a:solidFill>
              <a:srgbClr val="D0D0D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4" name="Connector 133"/>
          <p:cNvCxnSpPr/>
          <p:nvPr/>
        </p:nvCxnSpPr>
        <p:spPr>
          <a:xfrm>
            <a:off x="8610528" y="3929807"/>
            <a:ext cx="54541" cy="1176"/>
          </a:xfrm>
          <a:prstGeom prst="line">
            <a:avLst/>
          </a:prstGeom>
          <a:ln w="25400">
            <a:solidFill>
              <a:srgbClr val="D0D0D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5" name="Connector 134"/>
          <p:cNvCxnSpPr/>
          <p:nvPr/>
        </p:nvCxnSpPr>
        <p:spPr>
          <a:xfrm flipV="1">
            <a:off x="8665069" y="3923546"/>
            <a:ext cx="54541" cy="7437"/>
          </a:xfrm>
          <a:prstGeom prst="line">
            <a:avLst/>
          </a:prstGeom>
          <a:ln w="25400">
            <a:solidFill>
              <a:srgbClr val="D0D0D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6" name="Connector 135"/>
          <p:cNvCxnSpPr/>
          <p:nvPr/>
        </p:nvCxnSpPr>
        <p:spPr>
          <a:xfrm flipV="1">
            <a:off x="8719610" y="3907607"/>
            <a:ext cx="54542" cy="15939"/>
          </a:xfrm>
          <a:prstGeom prst="line">
            <a:avLst/>
          </a:prstGeom>
          <a:ln w="25400">
            <a:solidFill>
              <a:srgbClr val="D0D0D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7" name="Connector 136"/>
          <p:cNvCxnSpPr/>
          <p:nvPr/>
        </p:nvCxnSpPr>
        <p:spPr>
          <a:xfrm flipV="1">
            <a:off x="8774152" y="3883402"/>
            <a:ext cx="54541" cy="24205"/>
          </a:xfrm>
          <a:prstGeom prst="line">
            <a:avLst/>
          </a:prstGeom>
          <a:ln w="25400">
            <a:solidFill>
              <a:srgbClr val="D0D0D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8" name="Connector 137"/>
          <p:cNvCxnSpPr/>
          <p:nvPr/>
        </p:nvCxnSpPr>
        <p:spPr>
          <a:xfrm flipV="1">
            <a:off x="8828693" y="3851290"/>
            <a:ext cx="54541" cy="32112"/>
          </a:xfrm>
          <a:prstGeom prst="line">
            <a:avLst/>
          </a:prstGeom>
          <a:ln w="25400">
            <a:solidFill>
              <a:srgbClr val="D0D0D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9" name="Connector 138"/>
          <p:cNvCxnSpPr/>
          <p:nvPr/>
        </p:nvCxnSpPr>
        <p:spPr>
          <a:xfrm flipV="1">
            <a:off x="8883234" y="3811750"/>
            <a:ext cx="54541" cy="39540"/>
          </a:xfrm>
          <a:prstGeom prst="line">
            <a:avLst/>
          </a:prstGeom>
          <a:ln w="25400">
            <a:solidFill>
              <a:srgbClr val="D0D0D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0" name="Connector 139"/>
          <p:cNvCxnSpPr/>
          <p:nvPr/>
        </p:nvCxnSpPr>
        <p:spPr>
          <a:xfrm flipV="1">
            <a:off x="8937775" y="3765368"/>
            <a:ext cx="54542" cy="46382"/>
          </a:xfrm>
          <a:prstGeom prst="line">
            <a:avLst/>
          </a:prstGeom>
          <a:ln w="25400">
            <a:solidFill>
              <a:srgbClr val="D0D0D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1" name="Connector 140"/>
          <p:cNvCxnSpPr/>
          <p:nvPr/>
        </p:nvCxnSpPr>
        <p:spPr>
          <a:xfrm flipV="1">
            <a:off x="8992317" y="3712833"/>
            <a:ext cx="54541" cy="52535"/>
          </a:xfrm>
          <a:prstGeom prst="line">
            <a:avLst/>
          </a:prstGeom>
          <a:ln w="25400">
            <a:solidFill>
              <a:srgbClr val="D0D0D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2" name="Connector 141"/>
          <p:cNvCxnSpPr/>
          <p:nvPr/>
        </p:nvCxnSpPr>
        <p:spPr>
          <a:xfrm flipV="1">
            <a:off x="9046858" y="3654927"/>
            <a:ext cx="54541" cy="57906"/>
          </a:xfrm>
          <a:prstGeom prst="line">
            <a:avLst/>
          </a:prstGeom>
          <a:ln w="25400">
            <a:solidFill>
              <a:srgbClr val="D0D0D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3" name="Connector 142"/>
          <p:cNvCxnSpPr/>
          <p:nvPr/>
        </p:nvCxnSpPr>
        <p:spPr>
          <a:xfrm flipV="1">
            <a:off x="9101399" y="3592509"/>
            <a:ext cx="54541" cy="62418"/>
          </a:xfrm>
          <a:prstGeom prst="line">
            <a:avLst/>
          </a:prstGeom>
          <a:ln w="25400">
            <a:solidFill>
              <a:srgbClr val="D0D0D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4" name="Connector 143"/>
          <p:cNvCxnSpPr/>
          <p:nvPr/>
        </p:nvCxnSpPr>
        <p:spPr>
          <a:xfrm flipV="1">
            <a:off x="9155940" y="3526507"/>
            <a:ext cx="54542" cy="66002"/>
          </a:xfrm>
          <a:prstGeom prst="line">
            <a:avLst/>
          </a:prstGeom>
          <a:ln w="25400">
            <a:solidFill>
              <a:srgbClr val="D0D0D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5" name="Connector 144"/>
          <p:cNvCxnSpPr/>
          <p:nvPr/>
        </p:nvCxnSpPr>
        <p:spPr>
          <a:xfrm flipV="1">
            <a:off x="9210482" y="3457901"/>
            <a:ext cx="54541" cy="68606"/>
          </a:xfrm>
          <a:prstGeom prst="line">
            <a:avLst/>
          </a:prstGeom>
          <a:ln w="25400">
            <a:solidFill>
              <a:srgbClr val="D0D0D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6" name="Connector 145"/>
          <p:cNvCxnSpPr/>
          <p:nvPr/>
        </p:nvCxnSpPr>
        <p:spPr>
          <a:xfrm flipV="1">
            <a:off x="9265023" y="3387711"/>
            <a:ext cx="54541" cy="70190"/>
          </a:xfrm>
          <a:prstGeom prst="line">
            <a:avLst/>
          </a:prstGeom>
          <a:ln w="25400">
            <a:solidFill>
              <a:srgbClr val="D0D0D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7" name="Connector 146"/>
          <p:cNvCxnSpPr/>
          <p:nvPr/>
        </p:nvCxnSpPr>
        <p:spPr>
          <a:xfrm flipV="1">
            <a:off x="9319564" y="3316980"/>
            <a:ext cx="54542" cy="70731"/>
          </a:xfrm>
          <a:prstGeom prst="line">
            <a:avLst/>
          </a:prstGeom>
          <a:ln w="25400">
            <a:solidFill>
              <a:srgbClr val="D0D0D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8" name="Connector 147"/>
          <p:cNvCxnSpPr/>
          <p:nvPr/>
        </p:nvCxnSpPr>
        <p:spPr>
          <a:xfrm flipV="1">
            <a:off x="9374106" y="3246759"/>
            <a:ext cx="54541" cy="70221"/>
          </a:xfrm>
          <a:prstGeom prst="line">
            <a:avLst/>
          </a:prstGeom>
          <a:ln w="25400">
            <a:solidFill>
              <a:srgbClr val="D0D0D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9" name="Connector 148"/>
          <p:cNvCxnSpPr/>
          <p:nvPr/>
        </p:nvCxnSpPr>
        <p:spPr>
          <a:xfrm flipV="1">
            <a:off x="9428647" y="3178090"/>
            <a:ext cx="54541" cy="68669"/>
          </a:xfrm>
          <a:prstGeom prst="line">
            <a:avLst/>
          </a:prstGeom>
          <a:ln w="25400">
            <a:solidFill>
              <a:srgbClr val="D0D0D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0" name="Connector 149"/>
          <p:cNvCxnSpPr/>
          <p:nvPr/>
        </p:nvCxnSpPr>
        <p:spPr>
          <a:xfrm flipV="1">
            <a:off x="9483188" y="3111994"/>
            <a:ext cx="54541" cy="66096"/>
          </a:xfrm>
          <a:prstGeom prst="line">
            <a:avLst/>
          </a:prstGeom>
          <a:ln w="25400">
            <a:solidFill>
              <a:srgbClr val="D0D0D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1" name="Connector 150"/>
          <p:cNvCxnSpPr/>
          <p:nvPr/>
        </p:nvCxnSpPr>
        <p:spPr>
          <a:xfrm flipV="1">
            <a:off x="9537729" y="3049454"/>
            <a:ext cx="54542" cy="62540"/>
          </a:xfrm>
          <a:prstGeom prst="line">
            <a:avLst/>
          </a:prstGeom>
          <a:ln w="25400">
            <a:solidFill>
              <a:srgbClr val="D0D0D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2" name="Connector 151"/>
          <p:cNvCxnSpPr/>
          <p:nvPr/>
        </p:nvCxnSpPr>
        <p:spPr>
          <a:xfrm flipV="1">
            <a:off x="9592271" y="2991397"/>
            <a:ext cx="54541" cy="58057"/>
          </a:xfrm>
          <a:prstGeom prst="line">
            <a:avLst/>
          </a:prstGeom>
          <a:ln w="25400">
            <a:solidFill>
              <a:srgbClr val="D0D0D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3" name="Connector 152"/>
          <p:cNvCxnSpPr/>
          <p:nvPr/>
        </p:nvCxnSpPr>
        <p:spPr>
          <a:xfrm flipV="1">
            <a:off x="9646812" y="2938688"/>
            <a:ext cx="54541" cy="52709"/>
          </a:xfrm>
          <a:prstGeom prst="line">
            <a:avLst/>
          </a:prstGeom>
          <a:ln w="25400">
            <a:solidFill>
              <a:srgbClr val="D0D0D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4" name="Connector 153"/>
          <p:cNvCxnSpPr/>
          <p:nvPr/>
        </p:nvCxnSpPr>
        <p:spPr>
          <a:xfrm flipV="1">
            <a:off x="9701353" y="2892109"/>
            <a:ext cx="54541" cy="46579"/>
          </a:xfrm>
          <a:prstGeom prst="line">
            <a:avLst/>
          </a:prstGeom>
          <a:ln w="25400">
            <a:solidFill>
              <a:srgbClr val="D0D0D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5" name="Connector 154"/>
          <p:cNvCxnSpPr/>
          <p:nvPr/>
        </p:nvCxnSpPr>
        <p:spPr>
          <a:xfrm flipV="1">
            <a:off x="9755894" y="2852352"/>
            <a:ext cx="54542" cy="39757"/>
          </a:xfrm>
          <a:prstGeom prst="line">
            <a:avLst/>
          </a:prstGeom>
          <a:ln w="25400">
            <a:solidFill>
              <a:srgbClr val="D0D0D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6" name="Connector 155"/>
          <p:cNvCxnSpPr/>
          <p:nvPr/>
        </p:nvCxnSpPr>
        <p:spPr>
          <a:xfrm flipV="1">
            <a:off x="9810436" y="2820008"/>
            <a:ext cx="54541" cy="32344"/>
          </a:xfrm>
          <a:prstGeom prst="line">
            <a:avLst/>
          </a:prstGeom>
          <a:ln w="25400">
            <a:solidFill>
              <a:srgbClr val="D0D0D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7" name="Connector 156"/>
          <p:cNvCxnSpPr/>
          <p:nvPr/>
        </p:nvCxnSpPr>
        <p:spPr>
          <a:xfrm flipV="1">
            <a:off x="9864977" y="2795558"/>
            <a:ext cx="54541" cy="24450"/>
          </a:xfrm>
          <a:prstGeom prst="line">
            <a:avLst/>
          </a:prstGeom>
          <a:ln w="25400">
            <a:solidFill>
              <a:srgbClr val="D0D0D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8" name="Connector 157"/>
          <p:cNvCxnSpPr/>
          <p:nvPr/>
        </p:nvCxnSpPr>
        <p:spPr>
          <a:xfrm flipV="1">
            <a:off x="9919518" y="2779364"/>
            <a:ext cx="54542" cy="16194"/>
          </a:xfrm>
          <a:prstGeom prst="line">
            <a:avLst/>
          </a:prstGeom>
          <a:ln w="25400">
            <a:solidFill>
              <a:srgbClr val="D0D0D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9" name="Connector 158"/>
          <p:cNvCxnSpPr/>
          <p:nvPr/>
        </p:nvCxnSpPr>
        <p:spPr>
          <a:xfrm flipV="1">
            <a:off x="9974060" y="2771667"/>
            <a:ext cx="54541" cy="7697"/>
          </a:xfrm>
          <a:prstGeom prst="line">
            <a:avLst/>
          </a:prstGeom>
          <a:ln w="25400">
            <a:solidFill>
              <a:srgbClr val="D0D0D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0" name="Connector 159"/>
          <p:cNvCxnSpPr/>
          <p:nvPr/>
        </p:nvCxnSpPr>
        <p:spPr>
          <a:xfrm>
            <a:off x="10028601" y="2771667"/>
            <a:ext cx="54541" cy="915"/>
          </a:xfrm>
          <a:prstGeom prst="line">
            <a:avLst/>
          </a:prstGeom>
          <a:ln w="25400">
            <a:solidFill>
              <a:srgbClr val="D0D0D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1" name="Connector 160"/>
          <p:cNvCxnSpPr/>
          <p:nvPr/>
        </p:nvCxnSpPr>
        <p:spPr>
          <a:xfrm>
            <a:off x="10083142" y="2772582"/>
            <a:ext cx="54541" cy="9513"/>
          </a:xfrm>
          <a:prstGeom prst="line">
            <a:avLst/>
          </a:prstGeom>
          <a:ln w="25400">
            <a:solidFill>
              <a:srgbClr val="D0D0D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2" name="Connector 161"/>
          <p:cNvCxnSpPr/>
          <p:nvPr/>
        </p:nvCxnSpPr>
        <p:spPr>
          <a:xfrm>
            <a:off x="10137683" y="2782095"/>
            <a:ext cx="54542" cy="17970"/>
          </a:xfrm>
          <a:prstGeom prst="line">
            <a:avLst/>
          </a:prstGeom>
          <a:ln w="25400">
            <a:solidFill>
              <a:srgbClr val="D0D0D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3" name="Connector 162"/>
          <p:cNvCxnSpPr/>
          <p:nvPr/>
        </p:nvCxnSpPr>
        <p:spPr>
          <a:xfrm>
            <a:off x="10192225" y="2800065"/>
            <a:ext cx="54541" cy="26159"/>
          </a:xfrm>
          <a:prstGeom prst="line">
            <a:avLst/>
          </a:prstGeom>
          <a:ln w="25400">
            <a:solidFill>
              <a:srgbClr val="D0D0D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4" name="Connector 163"/>
          <p:cNvCxnSpPr/>
          <p:nvPr/>
        </p:nvCxnSpPr>
        <p:spPr>
          <a:xfrm>
            <a:off x="10246766" y="2826224"/>
            <a:ext cx="54541" cy="33961"/>
          </a:xfrm>
          <a:prstGeom prst="line">
            <a:avLst/>
          </a:prstGeom>
          <a:ln w="25400">
            <a:solidFill>
              <a:srgbClr val="D0D0D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5" name="Connector 164"/>
          <p:cNvCxnSpPr/>
          <p:nvPr/>
        </p:nvCxnSpPr>
        <p:spPr>
          <a:xfrm>
            <a:off x="10301307" y="2860185"/>
            <a:ext cx="54541" cy="41257"/>
          </a:xfrm>
          <a:prstGeom prst="line">
            <a:avLst/>
          </a:prstGeom>
          <a:ln w="25400">
            <a:solidFill>
              <a:srgbClr val="D0D0D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6" name="Connector 165"/>
          <p:cNvCxnSpPr/>
          <p:nvPr/>
        </p:nvCxnSpPr>
        <p:spPr>
          <a:xfrm>
            <a:off x="10355848" y="2901442"/>
            <a:ext cx="54542" cy="47940"/>
          </a:xfrm>
          <a:prstGeom prst="line">
            <a:avLst/>
          </a:prstGeom>
          <a:ln w="25400">
            <a:solidFill>
              <a:srgbClr val="D0D0D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7" name="Connector 166"/>
          <p:cNvCxnSpPr/>
          <p:nvPr/>
        </p:nvCxnSpPr>
        <p:spPr>
          <a:xfrm>
            <a:off x="10410390" y="2949382"/>
            <a:ext cx="54541" cy="53912"/>
          </a:xfrm>
          <a:prstGeom prst="line">
            <a:avLst/>
          </a:prstGeom>
          <a:ln w="25400">
            <a:solidFill>
              <a:srgbClr val="D0D0D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8" name="Connector 167"/>
          <p:cNvCxnSpPr/>
          <p:nvPr/>
        </p:nvCxnSpPr>
        <p:spPr>
          <a:xfrm>
            <a:off x="10464931" y="3003294"/>
            <a:ext cx="54541" cy="59082"/>
          </a:xfrm>
          <a:prstGeom prst="line">
            <a:avLst/>
          </a:prstGeom>
          <a:ln w="25400">
            <a:solidFill>
              <a:srgbClr val="D0D0D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9" name="Connector 168"/>
          <p:cNvCxnSpPr/>
          <p:nvPr/>
        </p:nvCxnSpPr>
        <p:spPr>
          <a:xfrm>
            <a:off x="10519472" y="3062376"/>
            <a:ext cx="54542" cy="63374"/>
          </a:xfrm>
          <a:prstGeom prst="line">
            <a:avLst/>
          </a:prstGeom>
          <a:ln w="25400">
            <a:solidFill>
              <a:srgbClr val="D0D0D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0" name="Connector 169"/>
          <p:cNvCxnSpPr/>
          <p:nvPr/>
        </p:nvCxnSpPr>
        <p:spPr>
          <a:xfrm>
            <a:off x="10574014" y="3125750"/>
            <a:ext cx="54541" cy="66725"/>
          </a:xfrm>
          <a:prstGeom prst="line">
            <a:avLst/>
          </a:prstGeom>
          <a:ln w="25400">
            <a:solidFill>
              <a:srgbClr val="D0D0D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1" name="Connector 170"/>
          <p:cNvCxnSpPr/>
          <p:nvPr/>
        </p:nvCxnSpPr>
        <p:spPr>
          <a:xfrm>
            <a:off x="10628555" y="3192475"/>
            <a:ext cx="54541" cy="69084"/>
          </a:xfrm>
          <a:prstGeom prst="line">
            <a:avLst/>
          </a:prstGeom>
          <a:ln w="25400">
            <a:solidFill>
              <a:srgbClr val="D0D0D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2" name="Connector 171"/>
          <p:cNvCxnSpPr/>
          <p:nvPr/>
        </p:nvCxnSpPr>
        <p:spPr>
          <a:xfrm>
            <a:off x="10683096" y="3261559"/>
            <a:ext cx="54541" cy="70418"/>
          </a:xfrm>
          <a:prstGeom prst="line">
            <a:avLst/>
          </a:prstGeom>
          <a:ln w="25400">
            <a:solidFill>
              <a:srgbClr val="D0D0D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3" name="Connector 172"/>
          <p:cNvCxnSpPr/>
          <p:nvPr/>
        </p:nvCxnSpPr>
        <p:spPr>
          <a:xfrm>
            <a:off x="10737637" y="3331977"/>
            <a:ext cx="54542" cy="70704"/>
          </a:xfrm>
          <a:prstGeom prst="line">
            <a:avLst/>
          </a:prstGeom>
          <a:ln w="25400">
            <a:solidFill>
              <a:srgbClr val="D0D0D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4" name="Connector 173"/>
          <p:cNvCxnSpPr/>
          <p:nvPr/>
        </p:nvCxnSpPr>
        <p:spPr>
          <a:xfrm>
            <a:off x="10792179" y="3402681"/>
            <a:ext cx="54541" cy="69940"/>
          </a:xfrm>
          <a:prstGeom prst="line">
            <a:avLst/>
          </a:prstGeom>
          <a:ln w="25400">
            <a:solidFill>
              <a:srgbClr val="D0D0D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5" name="Connector 174"/>
          <p:cNvCxnSpPr/>
          <p:nvPr/>
        </p:nvCxnSpPr>
        <p:spPr>
          <a:xfrm>
            <a:off x="10846720" y="3472621"/>
            <a:ext cx="54541" cy="68138"/>
          </a:xfrm>
          <a:prstGeom prst="line">
            <a:avLst/>
          </a:prstGeom>
          <a:ln w="25400">
            <a:solidFill>
              <a:srgbClr val="D0D0D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6" name="Connector 175"/>
          <p:cNvCxnSpPr/>
          <p:nvPr/>
        </p:nvCxnSpPr>
        <p:spPr>
          <a:xfrm>
            <a:off x="10901261" y="3540759"/>
            <a:ext cx="54541" cy="65322"/>
          </a:xfrm>
          <a:prstGeom prst="line">
            <a:avLst/>
          </a:prstGeom>
          <a:ln w="25400">
            <a:solidFill>
              <a:srgbClr val="D0D0D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7" name="Connector 176"/>
          <p:cNvCxnSpPr/>
          <p:nvPr/>
        </p:nvCxnSpPr>
        <p:spPr>
          <a:xfrm>
            <a:off x="10955802" y="3606081"/>
            <a:ext cx="54542" cy="61536"/>
          </a:xfrm>
          <a:prstGeom prst="line">
            <a:avLst/>
          </a:prstGeom>
          <a:ln w="25400">
            <a:solidFill>
              <a:srgbClr val="D0D0D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8" name="Connector 177"/>
          <p:cNvCxnSpPr/>
          <p:nvPr/>
        </p:nvCxnSpPr>
        <p:spPr>
          <a:xfrm>
            <a:off x="11010344" y="3667617"/>
            <a:ext cx="54541" cy="56837"/>
          </a:xfrm>
          <a:prstGeom prst="line">
            <a:avLst/>
          </a:prstGeom>
          <a:ln w="25400">
            <a:solidFill>
              <a:srgbClr val="D0D0D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9" name="Connector 178"/>
          <p:cNvCxnSpPr/>
          <p:nvPr/>
        </p:nvCxnSpPr>
        <p:spPr>
          <a:xfrm>
            <a:off x="11064885" y="3724454"/>
            <a:ext cx="54541" cy="51291"/>
          </a:xfrm>
          <a:prstGeom prst="line">
            <a:avLst/>
          </a:prstGeom>
          <a:ln w="25400">
            <a:solidFill>
              <a:srgbClr val="D0D0D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0" name="Connector 179"/>
          <p:cNvCxnSpPr/>
          <p:nvPr/>
        </p:nvCxnSpPr>
        <p:spPr>
          <a:xfrm>
            <a:off x="11119426" y="3775745"/>
            <a:ext cx="54542" cy="44985"/>
          </a:xfrm>
          <a:prstGeom prst="line">
            <a:avLst/>
          </a:prstGeom>
          <a:ln w="25400">
            <a:solidFill>
              <a:srgbClr val="D0D0D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1" name="Connector 180"/>
          <p:cNvCxnSpPr/>
          <p:nvPr/>
        </p:nvCxnSpPr>
        <p:spPr>
          <a:xfrm flipV="1">
            <a:off x="6565392" y="3351276"/>
            <a:ext cx="0" cy="1010412"/>
          </a:xfrm>
          <a:prstGeom prst="line">
            <a:avLst/>
          </a:prstGeom>
          <a:ln w="1524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2" name="Oval 181"/>
          <p:cNvSpPr/>
          <p:nvPr/>
        </p:nvSpPr>
        <p:spPr>
          <a:xfrm>
            <a:off x="6504127" y="3290011"/>
            <a:ext cx="122529" cy="122529"/>
          </a:xfrm>
          <a:prstGeom prst="ellipse">
            <a:avLst/>
          </a:prstGeom>
          <a:solidFill>
            <a:srgbClr val="00B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83" name="Connector 182"/>
          <p:cNvCxnSpPr/>
          <p:nvPr/>
        </p:nvCxnSpPr>
        <p:spPr>
          <a:xfrm flipV="1">
            <a:off x="6981028" y="2881821"/>
            <a:ext cx="0" cy="1479867"/>
          </a:xfrm>
          <a:prstGeom prst="line">
            <a:avLst/>
          </a:prstGeom>
          <a:ln w="1524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4" name="Oval 183"/>
          <p:cNvSpPr/>
          <p:nvPr/>
        </p:nvSpPr>
        <p:spPr>
          <a:xfrm>
            <a:off x="6919763" y="2820556"/>
            <a:ext cx="122529" cy="122529"/>
          </a:xfrm>
          <a:prstGeom prst="ellipse">
            <a:avLst/>
          </a:prstGeom>
          <a:solidFill>
            <a:srgbClr val="00B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85" name="Connector 184"/>
          <p:cNvCxnSpPr/>
          <p:nvPr/>
        </p:nvCxnSpPr>
        <p:spPr>
          <a:xfrm flipV="1">
            <a:off x="7396664" y="2799398"/>
            <a:ext cx="0" cy="1562290"/>
          </a:xfrm>
          <a:prstGeom prst="line">
            <a:avLst/>
          </a:prstGeom>
          <a:ln w="1524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6" name="Oval 185"/>
          <p:cNvSpPr/>
          <p:nvPr/>
        </p:nvSpPr>
        <p:spPr>
          <a:xfrm>
            <a:off x="7335399" y="2738133"/>
            <a:ext cx="122529" cy="122529"/>
          </a:xfrm>
          <a:prstGeom prst="ellipse">
            <a:avLst/>
          </a:prstGeom>
          <a:solidFill>
            <a:srgbClr val="00B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87" name="Connector 186"/>
          <p:cNvCxnSpPr/>
          <p:nvPr/>
        </p:nvCxnSpPr>
        <p:spPr>
          <a:xfrm flipV="1">
            <a:off x="7812301" y="3171960"/>
            <a:ext cx="0" cy="1189728"/>
          </a:xfrm>
          <a:prstGeom prst="line">
            <a:avLst/>
          </a:prstGeom>
          <a:ln w="1524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8" name="Oval 187"/>
          <p:cNvSpPr/>
          <p:nvPr/>
        </p:nvSpPr>
        <p:spPr>
          <a:xfrm>
            <a:off x="7751036" y="3110695"/>
            <a:ext cx="122529" cy="122529"/>
          </a:xfrm>
          <a:prstGeom prst="ellipse">
            <a:avLst/>
          </a:prstGeom>
          <a:solidFill>
            <a:srgbClr val="00B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89" name="Connector 188"/>
          <p:cNvCxnSpPr/>
          <p:nvPr/>
        </p:nvCxnSpPr>
        <p:spPr>
          <a:xfrm flipV="1">
            <a:off x="8227937" y="3692354"/>
            <a:ext cx="0" cy="669334"/>
          </a:xfrm>
          <a:prstGeom prst="line">
            <a:avLst/>
          </a:prstGeom>
          <a:ln w="1524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0" name="Oval 189"/>
          <p:cNvSpPr/>
          <p:nvPr/>
        </p:nvSpPr>
        <p:spPr>
          <a:xfrm>
            <a:off x="8166672" y="3631090"/>
            <a:ext cx="122529" cy="122529"/>
          </a:xfrm>
          <a:prstGeom prst="ellipse">
            <a:avLst/>
          </a:prstGeom>
          <a:solidFill>
            <a:srgbClr val="00B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91" name="Connector 190"/>
          <p:cNvCxnSpPr/>
          <p:nvPr/>
        </p:nvCxnSpPr>
        <p:spPr>
          <a:xfrm flipV="1">
            <a:off x="8643573" y="3931554"/>
            <a:ext cx="0" cy="430134"/>
          </a:xfrm>
          <a:prstGeom prst="line">
            <a:avLst/>
          </a:prstGeom>
          <a:ln w="1524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2" name="Oval 191"/>
          <p:cNvSpPr/>
          <p:nvPr/>
        </p:nvSpPr>
        <p:spPr>
          <a:xfrm>
            <a:off x="8582309" y="3870289"/>
            <a:ext cx="122529" cy="122529"/>
          </a:xfrm>
          <a:prstGeom prst="ellipse">
            <a:avLst/>
          </a:prstGeom>
          <a:solidFill>
            <a:srgbClr val="00B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93" name="Connector 192"/>
          <p:cNvCxnSpPr/>
          <p:nvPr/>
        </p:nvCxnSpPr>
        <p:spPr>
          <a:xfrm flipV="1">
            <a:off x="9059210" y="3692354"/>
            <a:ext cx="0" cy="669334"/>
          </a:xfrm>
          <a:prstGeom prst="line">
            <a:avLst/>
          </a:prstGeom>
          <a:ln w="1524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4" name="Oval 193"/>
          <p:cNvSpPr/>
          <p:nvPr/>
        </p:nvSpPr>
        <p:spPr>
          <a:xfrm>
            <a:off x="8997945" y="3631090"/>
            <a:ext cx="122529" cy="122529"/>
          </a:xfrm>
          <a:prstGeom prst="ellipse">
            <a:avLst/>
          </a:prstGeom>
          <a:solidFill>
            <a:srgbClr val="00B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95" name="Connector 194"/>
          <p:cNvCxnSpPr/>
          <p:nvPr/>
        </p:nvCxnSpPr>
        <p:spPr>
          <a:xfrm flipV="1">
            <a:off x="9474846" y="3171960"/>
            <a:ext cx="0" cy="1189728"/>
          </a:xfrm>
          <a:prstGeom prst="line">
            <a:avLst/>
          </a:prstGeom>
          <a:ln w="1524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6" name="Oval 195"/>
          <p:cNvSpPr/>
          <p:nvPr/>
        </p:nvSpPr>
        <p:spPr>
          <a:xfrm>
            <a:off x="9413581" y="3110695"/>
            <a:ext cx="122529" cy="122529"/>
          </a:xfrm>
          <a:prstGeom prst="ellipse">
            <a:avLst/>
          </a:prstGeom>
          <a:solidFill>
            <a:srgbClr val="00B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97" name="Connector 196"/>
          <p:cNvCxnSpPr/>
          <p:nvPr/>
        </p:nvCxnSpPr>
        <p:spPr>
          <a:xfrm flipV="1">
            <a:off x="9890482" y="2799398"/>
            <a:ext cx="0" cy="1562290"/>
          </a:xfrm>
          <a:prstGeom prst="line">
            <a:avLst/>
          </a:prstGeom>
          <a:ln w="1524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8" name="Oval 197"/>
          <p:cNvSpPr/>
          <p:nvPr/>
        </p:nvSpPr>
        <p:spPr>
          <a:xfrm>
            <a:off x="9829218" y="2738133"/>
            <a:ext cx="122529" cy="122529"/>
          </a:xfrm>
          <a:prstGeom prst="ellipse">
            <a:avLst/>
          </a:prstGeom>
          <a:solidFill>
            <a:srgbClr val="00B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99" name="Connector 198"/>
          <p:cNvCxnSpPr/>
          <p:nvPr/>
        </p:nvCxnSpPr>
        <p:spPr>
          <a:xfrm flipV="1">
            <a:off x="10306119" y="2881821"/>
            <a:ext cx="0" cy="1479867"/>
          </a:xfrm>
          <a:prstGeom prst="line">
            <a:avLst/>
          </a:prstGeom>
          <a:ln w="1524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0" name="Oval 199"/>
          <p:cNvSpPr/>
          <p:nvPr/>
        </p:nvSpPr>
        <p:spPr>
          <a:xfrm>
            <a:off x="10244854" y="2820556"/>
            <a:ext cx="122529" cy="122529"/>
          </a:xfrm>
          <a:prstGeom prst="ellipse">
            <a:avLst/>
          </a:prstGeom>
          <a:solidFill>
            <a:srgbClr val="00B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01" name="Connector 200"/>
          <p:cNvCxnSpPr/>
          <p:nvPr/>
        </p:nvCxnSpPr>
        <p:spPr>
          <a:xfrm flipV="1">
            <a:off x="10721755" y="3351275"/>
            <a:ext cx="0" cy="1010413"/>
          </a:xfrm>
          <a:prstGeom prst="line">
            <a:avLst/>
          </a:prstGeom>
          <a:ln w="1524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2" name="Oval 201"/>
          <p:cNvSpPr/>
          <p:nvPr/>
        </p:nvSpPr>
        <p:spPr>
          <a:xfrm>
            <a:off x="10660490" y="3290011"/>
            <a:ext cx="122529" cy="122529"/>
          </a:xfrm>
          <a:prstGeom prst="ellipse">
            <a:avLst/>
          </a:prstGeom>
          <a:solidFill>
            <a:srgbClr val="00B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03" name="Connector 202"/>
          <p:cNvCxnSpPr/>
          <p:nvPr/>
        </p:nvCxnSpPr>
        <p:spPr>
          <a:xfrm flipV="1">
            <a:off x="11137392" y="3820730"/>
            <a:ext cx="0" cy="540958"/>
          </a:xfrm>
          <a:prstGeom prst="line">
            <a:avLst/>
          </a:prstGeom>
          <a:ln w="1524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4" name="Oval 203"/>
          <p:cNvSpPr/>
          <p:nvPr/>
        </p:nvSpPr>
        <p:spPr>
          <a:xfrm>
            <a:off x="11076127" y="3759466"/>
            <a:ext cx="122529" cy="122529"/>
          </a:xfrm>
          <a:prstGeom prst="ellipse">
            <a:avLst/>
          </a:prstGeom>
          <a:solidFill>
            <a:srgbClr val="00B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5" name="TextBox 204"/>
          <p:cNvSpPr txBox="1"/>
          <p:nvPr/>
        </p:nvSpPr>
        <p:spPr>
          <a:xfrm>
            <a:off x="868680" y="4800600"/>
            <a:ext cx="4937760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>
              <a:spcAft>
                <a:spcPts val="0"/>
              </a:spcAft>
              <a:defRPr sz="2000" b="0">
                <a:solidFill>
                  <a:srgbClr val="262626"/>
                </a:solidFill>
                <a:latin typeface="Alibaba PuHuiTi 3.0 55 Regular"/>
              </a:defRPr>
            </a:pPr>
            <a:r>
              <a:t>同一位置的信号随时间变化</a:t>
            </a:r>
          </a:p>
        </p:txBody>
      </p:sp>
      <p:sp>
        <p:nvSpPr>
          <p:cNvPr id="206" name="TextBox 205"/>
          <p:cNvSpPr txBox="1"/>
          <p:nvPr/>
        </p:nvSpPr>
        <p:spPr>
          <a:xfrm>
            <a:off x="6428232" y="4800600"/>
            <a:ext cx="4846320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>
              <a:spcAft>
                <a:spcPts val="0"/>
              </a:spcAft>
              <a:defRPr sz="2000" b="0">
                <a:solidFill>
                  <a:srgbClr val="262626"/>
                </a:solidFill>
                <a:latin typeface="Alibaba PuHuiTi 3.0 55 Regular"/>
              </a:defRPr>
            </a:pPr>
            <a:r>
              <a:t>只记录特定时刻的一组数值</a:t>
            </a:r>
          </a:p>
        </p:txBody>
      </p:sp>
      <p:sp>
        <p:nvSpPr>
          <p:cNvPr id="207" name="TextBox 206"/>
          <p:cNvSpPr txBox="1"/>
          <p:nvPr/>
        </p:nvSpPr>
        <p:spPr>
          <a:xfrm>
            <a:off x="786384" y="5852160"/>
            <a:ext cx="10698480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>
              <a:spcAft>
                <a:spcPts val="0"/>
              </a:spcAft>
              <a:defRPr sz="1700" b="0">
                <a:solidFill>
                  <a:srgbClr val="8C64E1"/>
                </a:solidFill>
                <a:latin typeface="Alibaba PuHuiTi 3.0 55 Regular"/>
              </a:defRPr>
            </a:pPr>
            <a:r>
              <a:t>连续信号 → 等间隔采样 → 离散样本；图示是同一段信号。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36576"/>
            <a:ext cx="12191695" cy="73152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57416"/>
            <a:ext cx="12191695" cy="73152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12648" y="576072"/>
            <a:ext cx="10972800" cy="7863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3400" b="1">
                <a:solidFill>
                  <a:srgbClr val="262626"/>
                </a:solidFill>
                <a:latin typeface="Alibaba PuHuiTi 3.0 115 Black"/>
              </a:defRPr>
            </a:pPr>
            <a:r>
              <a:t>麦克风把声波变成什么？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1700784"/>
            <a:ext cx="3337560" cy="4846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>
              <a:spcAft>
                <a:spcPts val="0"/>
              </a:spcAft>
              <a:defRPr sz="2500" b="1">
                <a:solidFill>
                  <a:srgbClr val="8C64E1"/>
                </a:solidFill>
                <a:latin typeface="Alibaba PuHuiTi 3.0 115 Black"/>
              </a:defRPr>
            </a:pPr>
            <a:r>
              <a:t>声源振动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489704" y="1700784"/>
            <a:ext cx="3337560" cy="4846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>
              <a:spcAft>
                <a:spcPts val="0"/>
              </a:spcAft>
              <a:defRPr sz="2500" b="1">
                <a:solidFill>
                  <a:srgbClr val="262626"/>
                </a:solidFill>
                <a:latin typeface="Alibaba PuHuiTi 3.0 115 Black"/>
              </a:defRPr>
            </a:pPr>
            <a:r>
              <a:t>麦克风感受声压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47888" y="1700784"/>
            <a:ext cx="3246120" cy="4846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>
              <a:spcAft>
                <a:spcPts val="0"/>
              </a:spcAft>
              <a:defRPr sz="2500" b="1">
                <a:solidFill>
                  <a:srgbClr val="00B0F0"/>
                </a:solidFill>
                <a:latin typeface="Alibaba PuHuiTi 3.0 115 Black"/>
              </a:defRPr>
            </a:pPr>
            <a:r>
              <a:t>输出连续电信号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1051560" y="2834640"/>
            <a:ext cx="0" cy="1051560"/>
          </a:xfrm>
          <a:prstGeom prst="line">
            <a:avLst/>
          </a:prstGeom>
          <a:ln w="3810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1289304" y="2980944"/>
            <a:ext cx="0" cy="758952"/>
          </a:xfrm>
          <a:prstGeom prst="line">
            <a:avLst/>
          </a:prstGeom>
          <a:ln w="3810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1527048" y="2834640"/>
            <a:ext cx="0" cy="1051560"/>
          </a:xfrm>
          <a:prstGeom prst="line">
            <a:avLst/>
          </a:prstGeom>
          <a:ln w="3810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1764792" y="2980944"/>
            <a:ext cx="0" cy="758952"/>
          </a:xfrm>
          <a:prstGeom prst="line">
            <a:avLst/>
          </a:prstGeom>
          <a:ln w="3810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2002536" y="2834640"/>
            <a:ext cx="0" cy="1051560"/>
          </a:xfrm>
          <a:prstGeom prst="line">
            <a:avLst/>
          </a:prstGeom>
          <a:ln w="3810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2423160" y="2779776"/>
            <a:ext cx="146304" cy="329184"/>
          </a:xfrm>
          <a:prstGeom prst="line">
            <a:avLst/>
          </a:prstGeom>
          <a:ln w="2540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 flipH="1">
            <a:off x="2423160" y="3108960"/>
            <a:ext cx="146304" cy="329184"/>
          </a:xfrm>
          <a:prstGeom prst="line">
            <a:avLst/>
          </a:prstGeom>
          <a:ln w="2540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>
            <a:off x="2834640" y="2779776"/>
            <a:ext cx="146304" cy="329184"/>
          </a:xfrm>
          <a:prstGeom prst="line">
            <a:avLst/>
          </a:prstGeom>
          <a:ln w="2540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 flipH="1">
            <a:off x="2834640" y="3108960"/>
            <a:ext cx="146304" cy="329184"/>
          </a:xfrm>
          <a:prstGeom prst="line">
            <a:avLst/>
          </a:prstGeom>
          <a:ln w="2540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>
            <a:off x="3246120" y="2779776"/>
            <a:ext cx="146304" cy="329184"/>
          </a:xfrm>
          <a:prstGeom prst="line">
            <a:avLst/>
          </a:prstGeom>
          <a:ln w="2540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 flipH="1">
            <a:off x="3246120" y="3108960"/>
            <a:ext cx="146304" cy="329184"/>
          </a:xfrm>
          <a:prstGeom prst="line">
            <a:avLst/>
          </a:prstGeom>
          <a:ln w="2540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>
            <a:off x="3886200" y="3246120"/>
            <a:ext cx="484632" cy="0"/>
          </a:xfrm>
          <a:prstGeom prst="line">
            <a:avLst/>
          </a:prstGeom>
          <a:ln w="3810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Oval 19"/>
          <p:cNvSpPr/>
          <p:nvPr/>
        </p:nvSpPr>
        <p:spPr>
          <a:xfrm>
            <a:off x="5440679" y="2843784"/>
            <a:ext cx="950976" cy="950976"/>
          </a:xfrm>
          <a:prstGeom prst="ellipse">
            <a:avLst/>
          </a:prstGeom>
          <a:solidFill>
            <a:srgbClr val="E9E7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1" name="Connector 20"/>
          <p:cNvCxnSpPr/>
          <p:nvPr/>
        </p:nvCxnSpPr>
        <p:spPr>
          <a:xfrm>
            <a:off x="5916168" y="3794760"/>
            <a:ext cx="0" cy="393192"/>
          </a:xfrm>
          <a:prstGeom prst="line">
            <a:avLst/>
          </a:prstGeom>
          <a:ln w="38100">
            <a:solidFill>
              <a:srgbClr val="7171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>
            <a:off x="6629400" y="3246120"/>
            <a:ext cx="1335024" cy="0"/>
          </a:xfrm>
          <a:prstGeom prst="line">
            <a:avLst/>
          </a:prstGeom>
          <a:ln w="3175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>
            <a:off x="8238744" y="4160520"/>
            <a:ext cx="2898648" cy="0"/>
          </a:xfrm>
          <a:prstGeom prst="line">
            <a:avLst/>
          </a:prstGeom>
          <a:ln w="15240">
            <a:solidFill>
              <a:srgbClr val="7171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 flipV="1">
            <a:off x="8247888" y="3256268"/>
            <a:ext cx="33994" cy="63004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 flipV="1">
            <a:off x="8281882" y="3193891"/>
            <a:ext cx="33994" cy="62377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 flipV="1">
            <a:off x="8315876" y="3132762"/>
            <a:ext cx="33994" cy="61129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6"/>
          <p:cNvCxnSpPr/>
          <p:nvPr/>
        </p:nvCxnSpPr>
        <p:spPr>
          <a:xfrm flipV="1">
            <a:off x="8349870" y="3073489"/>
            <a:ext cx="33994" cy="59273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ector 27"/>
          <p:cNvCxnSpPr/>
          <p:nvPr/>
        </p:nvCxnSpPr>
        <p:spPr>
          <a:xfrm flipV="1">
            <a:off x="8383864" y="3016661"/>
            <a:ext cx="33994" cy="56828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Connector 28"/>
          <p:cNvCxnSpPr/>
          <p:nvPr/>
        </p:nvCxnSpPr>
        <p:spPr>
          <a:xfrm flipV="1">
            <a:off x="8417858" y="2962845"/>
            <a:ext cx="33994" cy="53816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nector 29"/>
          <p:cNvCxnSpPr/>
          <p:nvPr/>
        </p:nvCxnSpPr>
        <p:spPr>
          <a:xfrm flipV="1">
            <a:off x="8451852" y="2912574"/>
            <a:ext cx="33995" cy="50271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nector 30"/>
          <p:cNvCxnSpPr/>
          <p:nvPr/>
        </p:nvCxnSpPr>
        <p:spPr>
          <a:xfrm flipV="1">
            <a:off x="8485847" y="2866351"/>
            <a:ext cx="33994" cy="46223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Connector 31"/>
          <p:cNvCxnSpPr/>
          <p:nvPr/>
        </p:nvCxnSpPr>
        <p:spPr>
          <a:xfrm flipV="1">
            <a:off x="8519841" y="2824634"/>
            <a:ext cx="33994" cy="41717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Connector 32"/>
          <p:cNvCxnSpPr/>
          <p:nvPr/>
        </p:nvCxnSpPr>
        <p:spPr>
          <a:xfrm flipV="1">
            <a:off x="8553835" y="2787839"/>
            <a:ext cx="33994" cy="36795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Connector 33"/>
          <p:cNvCxnSpPr/>
          <p:nvPr/>
        </p:nvCxnSpPr>
        <p:spPr>
          <a:xfrm flipV="1">
            <a:off x="8587829" y="2756331"/>
            <a:ext cx="33994" cy="31508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Connector 34"/>
          <p:cNvCxnSpPr/>
          <p:nvPr/>
        </p:nvCxnSpPr>
        <p:spPr>
          <a:xfrm flipV="1">
            <a:off x="8621823" y="2730425"/>
            <a:ext cx="33994" cy="25906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Connector 35"/>
          <p:cNvCxnSpPr/>
          <p:nvPr/>
        </p:nvCxnSpPr>
        <p:spPr>
          <a:xfrm flipV="1">
            <a:off x="8655817" y="2710378"/>
            <a:ext cx="33995" cy="20047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" name="Connector 36"/>
          <p:cNvCxnSpPr/>
          <p:nvPr/>
        </p:nvCxnSpPr>
        <p:spPr>
          <a:xfrm flipV="1">
            <a:off x="8689812" y="2696390"/>
            <a:ext cx="33994" cy="13988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" name="Connector 37"/>
          <p:cNvCxnSpPr/>
          <p:nvPr/>
        </p:nvCxnSpPr>
        <p:spPr>
          <a:xfrm flipV="1">
            <a:off x="8723806" y="2688599"/>
            <a:ext cx="33994" cy="7791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" name="Connector 38"/>
          <p:cNvCxnSpPr/>
          <p:nvPr/>
        </p:nvCxnSpPr>
        <p:spPr>
          <a:xfrm flipV="1">
            <a:off x="8757800" y="2687084"/>
            <a:ext cx="33994" cy="1515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" name="Connector 39"/>
          <p:cNvCxnSpPr/>
          <p:nvPr/>
        </p:nvCxnSpPr>
        <p:spPr>
          <a:xfrm>
            <a:off x="8791794" y="2687084"/>
            <a:ext cx="33994" cy="4775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" name="Connector 40"/>
          <p:cNvCxnSpPr/>
          <p:nvPr/>
        </p:nvCxnSpPr>
        <p:spPr>
          <a:xfrm>
            <a:off x="8825788" y="2691859"/>
            <a:ext cx="33994" cy="11018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" name="Connector 41"/>
          <p:cNvCxnSpPr/>
          <p:nvPr/>
        </p:nvCxnSpPr>
        <p:spPr>
          <a:xfrm>
            <a:off x="8859782" y="2702877"/>
            <a:ext cx="33995" cy="17151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3" name="Connector 42"/>
          <p:cNvCxnSpPr/>
          <p:nvPr/>
        </p:nvCxnSpPr>
        <p:spPr>
          <a:xfrm>
            <a:off x="8893777" y="2720028"/>
            <a:ext cx="33994" cy="23114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Connector 43"/>
          <p:cNvCxnSpPr/>
          <p:nvPr/>
        </p:nvCxnSpPr>
        <p:spPr>
          <a:xfrm>
            <a:off x="8927771" y="2743142"/>
            <a:ext cx="33994" cy="28846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" name="Connector 44"/>
          <p:cNvCxnSpPr/>
          <p:nvPr/>
        </p:nvCxnSpPr>
        <p:spPr>
          <a:xfrm>
            <a:off x="8961765" y="2771988"/>
            <a:ext cx="33994" cy="34292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6" name="Connector 45"/>
          <p:cNvCxnSpPr/>
          <p:nvPr/>
        </p:nvCxnSpPr>
        <p:spPr>
          <a:xfrm>
            <a:off x="8995759" y="2806280"/>
            <a:ext cx="33994" cy="39396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7" name="Connector 46"/>
          <p:cNvCxnSpPr/>
          <p:nvPr/>
        </p:nvCxnSpPr>
        <p:spPr>
          <a:xfrm>
            <a:off x="9029753" y="2845676"/>
            <a:ext cx="33994" cy="44108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8" name="Connector 47"/>
          <p:cNvCxnSpPr/>
          <p:nvPr/>
        </p:nvCxnSpPr>
        <p:spPr>
          <a:xfrm>
            <a:off x="9063747" y="2889784"/>
            <a:ext cx="33995" cy="48382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9" name="Connector 48"/>
          <p:cNvCxnSpPr/>
          <p:nvPr/>
        </p:nvCxnSpPr>
        <p:spPr>
          <a:xfrm>
            <a:off x="9097742" y="2938166"/>
            <a:ext cx="33994" cy="52174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0" name="Connector 49"/>
          <p:cNvCxnSpPr/>
          <p:nvPr/>
        </p:nvCxnSpPr>
        <p:spPr>
          <a:xfrm>
            <a:off x="9131736" y="2990340"/>
            <a:ext cx="33994" cy="55447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1" name="Connector 50"/>
          <p:cNvCxnSpPr/>
          <p:nvPr/>
        </p:nvCxnSpPr>
        <p:spPr>
          <a:xfrm>
            <a:off x="9165730" y="3045787"/>
            <a:ext cx="33994" cy="58168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2" name="Connector 51"/>
          <p:cNvCxnSpPr/>
          <p:nvPr/>
        </p:nvCxnSpPr>
        <p:spPr>
          <a:xfrm>
            <a:off x="9199724" y="3103955"/>
            <a:ext cx="33994" cy="60310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3" name="Connector 52"/>
          <p:cNvCxnSpPr/>
          <p:nvPr/>
        </p:nvCxnSpPr>
        <p:spPr>
          <a:xfrm>
            <a:off x="9233718" y="3164265"/>
            <a:ext cx="33994" cy="61853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4" name="Connector 53"/>
          <p:cNvCxnSpPr/>
          <p:nvPr/>
        </p:nvCxnSpPr>
        <p:spPr>
          <a:xfrm>
            <a:off x="9267712" y="3226118"/>
            <a:ext cx="33995" cy="62780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5" name="Connector 54"/>
          <p:cNvCxnSpPr/>
          <p:nvPr/>
        </p:nvCxnSpPr>
        <p:spPr>
          <a:xfrm>
            <a:off x="9301707" y="3288898"/>
            <a:ext cx="33994" cy="63082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6" name="Connector 55"/>
          <p:cNvCxnSpPr/>
          <p:nvPr/>
        </p:nvCxnSpPr>
        <p:spPr>
          <a:xfrm>
            <a:off x="9335701" y="3351980"/>
            <a:ext cx="33994" cy="62756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7" name="Connector 56"/>
          <p:cNvCxnSpPr/>
          <p:nvPr/>
        </p:nvCxnSpPr>
        <p:spPr>
          <a:xfrm>
            <a:off x="9369695" y="3414736"/>
            <a:ext cx="33994" cy="61807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8" name="Connector 57"/>
          <p:cNvCxnSpPr/>
          <p:nvPr/>
        </p:nvCxnSpPr>
        <p:spPr>
          <a:xfrm>
            <a:off x="9403689" y="3476543"/>
            <a:ext cx="33994" cy="60241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9" name="Connector 58"/>
          <p:cNvCxnSpPr/>
          <p:nvPr/>
        </p:nvCxnSpPr>
        <p:spPr>
          <a:xfrm>
            <a:off x="9437683" y="3536784"/>
            <a:ext cx="33994" cy="58078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0" name="Connector 59"/>
          <p:cNvCxnSpPr/>
          <p:nvPr/>
        </p:nvCxnSpPr>
        <p:spPr>
          <a:xfrm>
            <a:off x="9471677" y="3594862"/>
            <a:ext cx="33995" cy="55335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1" name="Connector 60"/>
          <p:cNvCxnSpPr/>
          <p:nvPr/>
        </p:nvCxnSpPr>
        <p:spPr>
          <a:xfrm>
            <a:off x="9505672" y="3650197"/>
            <a:ext cx="33994" cy="52043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2" name="Connector 61"/>
          <p:cNvCxnSpPr/>
          <p:nvPr/>
        </p:nvCxnSpPr>
        <p:spPr>
          <a:xfrm>
            <a:off x="9539666" y="3702240"/>
            <a:ext cx="33994" cy="48232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3" name="Connector 62"/>
          <p:cNvCxnSpPr/>
          <p:nvPr/>
        </p:nvCxnSpPr>
        <p:spPr>
          <a:xfrm>
            <a:off x="9573660" y="3750472"/>
            <a:ext cx="33994" cy="43941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4" name="Connector 63"/>
          <p:cNvCxnSpPr/>
          <p:nvPr/>
        </p:nvCxnSpPr>
        <p:spPr>
          <a:xfrm>
            <a:off x="9607654" y="3794413"/>
            <a:ext cx="33994" cy="39214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5" name="Connector 64"/>
          <p:cNvCxnSpPr/>
          <p:nvPr/>
        </p:nvCxnSpPr>
        <p:spPr>
          <a:xfrm>
            <a:off x="9641648" y="3833627"/>
            <a:ext cx="33994" cy="34096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6" name="Connector 65"/>
          <p:cNvCxnSpPr/>
          <p:nvPr/>
        </p:nvCxnSpPr>
        <p:spPr>
          <a:xfrm>
            <a:off x="9675642" y="3867723"/>
            <a:ext cx="33995" cy="28638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7" name="Connector 66"/>
          <p:cNvCxnSpPr/>
          <p:nvPr/>
        </p:nvCxnSpPr>
        <p:spPr>
          <a:xfrm>
            <a:off x="9709637" y="3896361"/>
            <a:ext cx="33994" cy="22897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8" name="Connector 67"/>
          <p:cNvCxnSpPr/>
          <p:nvPr/>
        </p:nvCxnSpPr>
        <p:spPr>
          <a:xfrm>
            <a:off x="9743631" y="3919258"/>
            <a:ext cx="33994" cy="16926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9" name="Connector 68"/>
          <p:cNvCxnSpPr/>
          <p:nvPr/>
        </p:nvCxnSpPr>
        <p:spPr>
          <a:xfrm>
            <a:off x="9777625" y="3936184"/>
            <a:ext cx="33994" cy="10789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0" name="Connector 69"/>
          <p:cNvCxnSpPr/>
          <p:nvPr/>
        </p:nvCxnSpPr>
        <p:spPr>
          <a:xfrm>
            <a:off x="9811619" y="3946973"/>
            <a:ext cx="33994" cy="4542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1" name="Connector 70"/>
          <p:cNvCxnSpPr/>
          <p:nvPr/>
        </p:nvCxnSpPr>
        <p:spPr>
          <a:xfrm flipV="1">
            <a:off x="9845613" y="3949767"/>
            <a:ext cx="33994" cy="1748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2" name="Connector 71"/>
          <p:cNvCxnSpPr/>
          <p:nvPr/>
        </p:nvCxnSpPr>
        <p:spPr>
          <a:xfrm flipV="1">
            <a:off x="9879607" y="3941745"/>
            <a:ext cx="33995" cy="8022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3" name="Connector 72"/>
          <p:cNvCxnSpPr/>
          <p:nvPr/>
        </p:nvCxnSpPr>
        <p:spPr>
          <a:xfrm flipV="1">
            <a:off x="9913602" y="3927529"/>
            <a:ext cx="33994" cy="14216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4" name="Connector 73"/>
          <p:cNvCxnSpPr/>
          <p:nvPr/>
        </p:nvCxnSpPr>
        <p:spPr>
          <a:xfrm flipV="1">
            <a:off x="9947596" y="3907261"/>
            <a:ext cx="33994" cy="20268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5" name="Connector 74"/>
          <p:cNvCxnSpPr/>
          <p:nvPr/>
        </p:nvCxnSpPr>
        <p:spPr>
          <a:xfrm flipV="1">
            <a:off x="9981590" y="3881143"/>
            <a:ext cx="33994" cy="26118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6" name="Connector 75"/>
          <p:cNvCxnSpPr/>
          <p:nvPr/>
        </p:nvCxnSpPr>
        <p:spPr>
          <a:xfrm flipV="1">
            <a:off x="10015584" y="3849434"/>
            <a:ext cx="33994" cy="31709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7" name="Connector 76"/>
          <p:cNvCxnSpPr/>
          <p:nvPr/>
        </p:nvCxnSpPr>
        <p:spPr>
          <a:xfrm flipV="1">
            <a:off x="10049578" y="3812449"/>
            <a:ext cx="33994" cy="36985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8" name="Connector 77"/>
          <p:cNvCxnSpPr/>
          <p:nvPr/>
        </p:nvCxnSpPr>
        <p:spPr>
          <a:xfrm flipV="1">
            <a:off x="10083572" y="3770558"/>
            <a:ext cx="33995" cy="41891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9" name="Connector 78"/>
          <p:cNvCxnSpPr/>
          <p:nvPr/>
        </p:nvCxnSpPr>
        <p:spPr>
          <a:xfrm flipV="1">
            <a:off x="10117567" y="3724176"/>
            <a:ext cx="33994" cy="46382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0" name="Connector 79"/>
          <p:cNvCxnSpPr/>
          <p:nvPr/>
        </p:nvCxnSpPr>
        <p:spPr>
          <a:xfrm flipV="1">
            <a:off x="10151561" y="3673765"/>
            <a:ext cx="33994" cy="50411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1" name="Connector 80"/>
          <p:cNvCxnSpPr/>
          <p:nvPr/>
        </p:nvCxnSpPr>
        <p:spPr>
          <a:xfrm flipV="1">
            <a:off x="10185555" y="3619827"/>
            <a:ext cx="33994" cy="53938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2" name="Connector 81"/>
          <p:cNvCxnSpPr/>
          <p:nvPr/>
        </p:nvCxnSpPr>
        <p:spPr>
          <a:xfrm flipV="1">
            <a:off x="10219549" y="3562899"/>
            <a:ext cx="33994" cy="56928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3" name="Connector 82"/>
          <p:cNvCxnSpPr/>
          <p:nvPr/>
        </p:nvCxnSpPr>
        <p:spPr>
          <a:xfrm flipV="1">
            <a:off x="10253543" y="3503546"/>
            <a:ext cx="33994" cy="59353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4" name="Connector 83"/>
          <p:cNvCxnSpPr/>
          <p:nvPr/>
        </p:nvCxnSpPr>
        <p:spPr>
          <a:xfrm flipV="1">
            <a:off x="10287537" y="3442360"/>
            <a:ext cx="33995" cy="61186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5" name="Connector 84"/>
          <p:cNvCxnSpPr/>
          <p:nvPr/>
        </p:nvCxnSpPr>
        <p:spPr>
          <a:xfrm flipV="1">
            <a:off x="10321532" y="3379949"/>
            <a:ext cx="33994" cy="62411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6" name="Connector 85"/>
          <p:cNvCxnSpPr/>
          <p:nvPr/>
        </p:nvCxnSpPr>
        <p:spPr>
          <a:xfrm flipV="1">
            <a:off x="10355526" y="3316934"/>
            <a:ext cx="33994" cy="63015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7" name="Connector 86"/>
          <p:cNvCxnSpPr/>
          <p:nvPr/>
        </p:nvCxnSpPr>
        <p:spPr>
          <a:xfrm flipV="1">
            <a:off x="10389520" y="3253943"/>
            <a:ext cx="33994" cy="62991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8" name="Connector 87"/>
          <p:cNvCxnSpPr/>
          <p:nvPr/>
        </p:nvCxnSpPr>
        <p:spPr>
          <a:xfrm flipV="1">
            <a:off x="10423514" y="3191601"/>
            <a:ext cx="33994" cy="62342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9" name="Connector 88"/>
          <p:cNvCxnSpPr/>
          <p:nvPr/>
        </p:nvCxnSpPr>
        <p:spPr>
          <a:xfrm flipV="1">
            <a:off x="10457508" y="3130530"/>
            <a:ext cx="33994" cy="61071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0" name="Connector 89"/>
          <p:cNvCxnSpPr/>
          <p:nvPr/>
        </p:nvCxnSpPr>
        <p:spPr>
          <a:xfrm flipV="1">
            <a:off x="10491502" y="3071337"/>
            <a:ext cx="33995" cy="59193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1" name="Connector 90"/>
          <p:cNvCxnSpPr/>
          <p:nvPr/>
        </p:nvCxnSpPr>
        <p:spPr>
          <a:xfrm flipV="1">
            <a:off x="10525497" y="3014611"/>
            <a:ext cx="33994" cy="56726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2" name="Connector 91"/>
          <p:cNvCxnSpPr/>
          <p:nvPr/>
        </p:nvCxnSpPr>
        <p:spPr>
          <a:xfrm flipV="1">
            <a:off x="10559491" y="2960916"/>
            <a:ext cx="33994" cy="53695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3" name="Connector 92"/>
          <p:cNvCxnSpPr/>
          <p:nvPr/>
        </p:nvCxnSpPr>
        <p:spPr>
          <a:xfrm flipV="1">
            <a:off x="10593485" y="2910787"/>
            <a:ext cx="33994" cy="50129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4" name="Connector 93"/>
          <p:cNvCxnSpPr/>
          <p:nvPr/>
        </p:nvCxnSpPr>
        <p:spPr>
          <a:xfrm flipV="1">
            <a:off x="10627479" y="2864723"/>
            <a:ext cx="33994" cy="46064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5" name="Connector 94"/>
          <p:cNvCxnSpPr/>
          <p:nvPr/>
        </p:nvCxnSpPr>
        <p:spPr>
          <a:xfrm flipV="1">
            <a:off x="10661473" y="2823181"/>
            <a:ext cx="33994" cy="41542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6" name="Connector 95"/>
          <p:cNvCxnSpPr/>
          <p:nvPr/>
        </p:nvCxnSpPr>
        <p:spPr>
          <a:xfrm flipV="1">
            <a:off x="10695467" y="2786575"/>
            <a:ext cx="33995" cy="36606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7" name="Connector 96"/>
          <p:cNvCxnSpPr/>
          <p:nvPr/>
        </p:nvCxnSpPr>
        <p:spPr>
          <a:xfrm flipV="1">
            <a:off x="10729462" y="2755270"/>
            <a:ext cx="33994" cy="31305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8" name="Connector 97"/>
          <p:cNvCxnSpPr/>
          <p:nvPr/>
        </p:nvCxnSpPr>
        <p:spPr>
          <a:xfrm flipV="1">
            <a:off x="10763456" y="2729577"/>
            <a:ext cx="33994" cy="25693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9" name="Connector 98"/>
          <p:cNvCxnSpPr/>
          <p:nvPr/>
        </p:nvCxnSpPr>
        <p:spPr>
          <a:xfrm flipV="1">
            <a:off x="10797450" y="2709751"/>
            <a:ext cx="33994" cy="19826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0" name="Connector 99"/>
          <p:cNvCxnSpPr/>
          <p:nvPr/>
        </p:nvCxnSpPr>
        <p:spPr>
          <a:xfrm flipV="1">
            <a:off x="10831444" y="2695990"/>
            <a:ext cx="33994" cy="13761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1" name="Connector 100"/>
          <p:cNvCxnSpPr/>
          <p:nvPr/>
        </p:nvCxnSpPr>
        <p:spPr>
          <a:xfrm flipV="1">
            <a:off x="10865438" y="2688431"/>
            <a:ext cx="33994" cy="7559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2" name="Connector 101"/>
          <p:cNvCxnSpPr/>
          <p:nvPr/>
        </p:nvCxnSpPr>
        <p:spPr>
          <a:xfrm flipV="1">
            <a:off x="10899432" y="2687149"/>
            <a:ext cx="33995" cy="1282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3" name="Connector 102"/>
          <p:cNvCxnSpPr/>
          <p:nvPr/>
        </p:nvCxnSpPr>
        <p:spPr>
          <a:xfrm>
            <a:off x="10933427" y="2687149"/>
            <a:ext cx="33994" cy="5007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4" name="Connector 103"/>
          <p:cNvCxnSpPr/>
          <p:nvPr/>
        </p:nvCxnSpPr>
        <p:spPr>
          <a:xfrm>
            <a:off x="10967421" y="2692156"/>
            <a:ext cx="33994" cy="11248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5" name="Connector 104"/>
          <p:cNvCxnSpPr/>
          <p:nvPr/>
        </p:nvCxnSpPr>
        <p:spPr>
          <a:xfrm>
            <a:off x="11001415" y="2703404"/>
            <a:ext cx="33994" cy="17375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6" name="Connector 105"/>
          <p:cNvCxnSpPr/>
          <p:nvPr/>
        </p:nvCxnSpPr>
        <p:spPr>
          <a:xfrm>
            <a:off x="11035409" y="2720779"/>
            <a:ext cx="33994" cy="23330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7" name="Connector 106"/>
          <p:cNvCxnSpPr/>
          <p:nvPr/>
        </p:nvCxnSpPr>
        <p:spPr>
          <a:xfrm>
            <a:off x="11069403" y="2744109"/>
            <a:ext cx="33994" cy="29054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8" name="Connector 107"/>
          <p:cNvCxnSpPr/>
          <p:nvPr/>
        </p:nvCxnSpPr>
        <p:spPr>
          <a:xfrm>
            <a:off x="11103397" y="2773163"/>
            <a:ext cx="33995" cy="34487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9" name="TextBox 108"/>
          <p:cNvSpPr txBox="1"/>
          <p:nvPr/>
        </p:nvSpPr>
        <p:spPr>
          <a:xfrm>
            <a:off x="896112" y="4782312"/>
            <a:ext cx="3017520" cy="4846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>
              <a:spcAft>
                <a:spcPts val="0"/>
              </a:spcAft>
              <a:defRPr sz="1900" b="0">
                <a:solidFill>
                  <a:srgbClr val="262626"/>
                </a:solidFill>
                <a:latin typeface="Alibaba PuHuiTi 3.0 55 Regular"/>
              </a:defRPr>
            </a:pPr>
            <a:r>
              <a:t>空气中的变化</a:t>
            </a:r>
          </a:p>
        </p:txBody>
      </p:sp>
      <p:sp>
        <p:nvSpPr>
          <p:cNvPr id="110" name="TextBox 109"/>
          <p:cNvSpPr txBox="1"/>
          <p:nvPr/>
        </p:nvSpPr>
        <p:spPr>
          <a:xfrm>
            <a:off x="4681728" y="4782312"/>
            <a:ext cx="2834640" cy="4846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>
              <a:spcAft>
                <a:spcPts val="0"/>
              </a:spcAft>
              <a:defRPr sz="1900" b="0">
                <a:solidFill>
                  <a:srgbClr val="262626"/>
                </a:solidFill>
                <a:latin typeface="Alibaba PuHuiTi 3.0 55 Regular"/>
              </a:defRPr>
            </a:pPr>
            <a:r>
              <a:t>转换为电信号</a:t>
            </a:r>
          </a:p>
        </p:txBody>
      </p:sp>
      <p:sp>
        <p:nvSpPr>
          <p:cNvPr id="111" name="TextBox 110"/>
          <p:cNvSpPr txBox="1"/>
          <p:nvPr/>
        </p:nvSpPr>
        <p:spPr>
          <a:xfrm>
            <a:off x="8357616" y="4782312"/>
            <a:ext cx="2834640" cy="4846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>
              <a:spcAft>
                <a:spcPts val="0"/>
              </a:spcAft>
              <a:defRPr sz="1900" b="0">
                <a:solidFill>
                  <a:srgbClr val="262626"/>
                </a:solidFill>
                <a:latin typeface="Alibaba PuHuiTi 3.0 55 Regular"/>
              </a:defRPr>
            </a:pPr>
            <a:r>
              <a:t>仍是连续变化的</a:t>
            </a:r>
          </a:p>
        </p:txBody>
      </p:sp>
      <p:sp>
        <p:nvSpPr>
          <p:cNvPr id="112" name="TextBox 111"/>
          <p:cNvSpPr txBox="1"/>
          <p:nvPr/>
        </p:nvSpPr>
        <p:spPr>
          <a:xfrm>
            <a:off x="786384" y="5852160"/>
            <a:ext cx="10698480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>
              <a:spcAft>
                <a:spcPts val="0"/>
              </a:spcAft>
              <a:defRPr sz="1700" b="0">
                <a:solidFill>
                  <a:srgbClr val="8C64E1"/>
                </a:solidFill>
                <a:latin typeface="Alibaba PuHuiTi 3.0 55 Regular"/>
              </a:defRPr>
            </a:pPr>
            <a:r>
              <a:t>麦克风完成“声压变化 → 电信号”；将模拟信号数字化由ADC完成。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36576"/>
            <a:ext cx="12191695" cy="73152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57416"/>
            <a:ext cx="12191695" cy="73152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12648" y="576072"/>
            <a:ext cx="10972800" cy="7863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3400" b="1">
                <a:solidFill>
                  <a:srgbClr val="262626"/>
                </a:solidFill>
                <a:latin typeface="Alibaba PuHuiTi 3.0 115 Black"/>
              </a:defRPr>
            </a:pPr>
            <a:r>
              <a:t>连续电信号，怎样变成数字？</a:t>
            </a:r>
          </a:p>
        </p:txBody>
      </p:sp>
      <p:sp>
        <p:nvSpPr>
          <p:cNvPr id="5" name="Rectangle 4"/>
          <p:cNvSpPr/>
          <p:nvPr/>
        </p:nvSpPr>
        <p:spPr>
          <a:xfrm>
            <a:off x="804672" y="2286000"/>
            <a:ext cx="3200400" cy="667512"/>
          </a:xfrm>
          <a:prstGeom prst="rect">
            <a:avLst/>
          </a:prstGeom>
          <a:noFill/>
          <a:ln w="25400">
            <a:solidFill>
              <a:srgbClr val="8C64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77824" y="2404872"/>
            <a:ext cx="3054096" cy="40233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  <a:defRPr sz="2200" b="1">
                <a:solidFill>
                  <a:srgbClr val="8C64E1"/>
                </a:solidFill>
                <a:latin typeface="Alibaba PuHuiTi 3.0 115 Black"/>
              </a:defRPr>
            </a:pPr>
            <a:r>
              <a:t>模拟电信号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4133087" y="2624328"/>
            <a:ext cx="603505" cy="0"/>
          </a:xfrm>
          <a:prstGeom prst="line">
            <a:avLst/>
          </a:prstGeom>
          <a:ln w="3810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ectangle 7"/>
          <p:cNvSpPr/>
          <p:nvPr/>
        </p:nvSpPr>
        <p:spPr>
          <a:xfrm>
            <a:off x="4828032" y="2286000"/>
            <a:ext cx="2743200" cy="667512"/>
          </a:xfrm>
          <a:prstGeom prst="rect">
            <a:avLst/>
          </a:prstGeom>
          <a:noFill/>
          <a:ln w="25400">
            <a:solidFill>
              <a:srgbClr val="00B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901184" y="2404872"/>
            <a:ext cx="2596896" cy="40233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  <a:defRPr sz="2200" b="1">
                <a:solidFill>
                  <a:srgbClr val="00B0F0"/>
                </a:solidFill>
                <a:latin typeface="Alibaba PuHuiTi 3.0 115 Black"/>
              </a:defRPr>
            </a:pPr>
            <a:r>
              <a:t>声卡：ADC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7708392" y="2624328"/>
            <a:ext cx="612648" cy="0"/>
          </a:xfrm>
          <a:prstGeom prst="line">
            <a:avLst/>
          </a:prstGeom>
          <a:ln w="3810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ectangle 10"/>
          <p:cNvSpPr/>
          <p:nvPr/>
        </p:nvSpPr>
        <p:spPr>
          <a:xfrm>
            <a:off x="8412480" y="2286000"/>
            <a:ext cx="2743200" cy="667512"/>
          </a:xfrm>
          <a:prstGeom prst="rect">
            <a:avLst/>
          </a:prstGeom>
          <a:noFill/>
          <a:ln w="25400">
            <a:solidFill>
              <a:srgbClr val="8C64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485632" y="2404872"/>
            <a:ext cx="2596896" cy="40233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  <a:defRPr sz="2200" b="1">
                <a:solidFill>
                  <a:srgbClr val="8C64E1"/>
                </a:solidFill>
                <a:latin typeface="Alibaba PuHuiTi 3.0 115 Black"/>
              </a:defRPr>
            </a:pPr>
            <a:r>
              <a:t>数字音频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60120" y="4069080"/>
            <a:ext cx="10515600" cy="7680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500" b="1">
                <a:solidFill>
                  <a:srgbClr val="8C64E1"/>
                </a:solidFill>
                <a:latin typeface="Alibaba PuHuiTi 3.0 115 Black"/>
              </a:defRPr>
            </a:pPr>
            <a:r>
              <a:t>ADC = 模数转换（模拟信号 → 数字信号）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77240" y="5184648"/>
            <a:ext cx="1078992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000" b="1">
                <a:solidFill>
                  <a:srgbClr val="8C64E1"/>
                </a:solidFill>
                <a:latin typeface="Alibaba PuHuiTi 3.0 115 Black"/>
              </a:defRPr>
            </a:pPr>
            <a:r>
              <a:t>声卡负责完成这一转换；它不等于“存储音频文件”。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36576"/>
            <a:ext cx="12191695" cy="73152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57416"/>
            <a:ext cx="12191695" cy="73152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12648" y="576072"/>
            <a:ext cx="10972800" cy="7863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3400" b="1">
                <a:solidFill>
                  <a:srgbClr val="262626"/>
                </a:solidFill>
                <a:latin typeface="Alibaba PuHuiTi 3.0 115 Black"/>
              </a:defRPr>
            </a:pPr>
            <a:r>
              <a:t>把录音过程和播放过程接起来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04672" y="1545336"/>
            <a:ext cx="4572000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>
              <a:spcAft>
                <a:spcPts val="0"/>
              </a:spcAft>
              <a:defRPr sz="2500" b="1">
                <a:solidFill>
                  <a:srgbClr val="8C64E1"/>
                </a:solidFill>
                <a:latin typeface="Alibaba PuHuiTi 3.0 115 Black"/>
              </a:defRPr>
            </a:pPr>
            <a:r>
              <a:t>录音：模拟 → 数字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04672" y="3822191"/>
            <a:ext cx="4572000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>
              <a:spcAft>
                <a:spcPts val="0"/>
              </a:spcAft>
              <a:defRPr sz="2500" b="1">
                <a:solidFill>
                  <a:srgbClr val="00B0F0"/>
                </a:solidFill>
                <a:latin typeface="Alibaba PuHuiTi 3.0 115 Black"/>
              </a:defRPr>
            </a:pPr>
            <a:r>
              <a:t>播放：数字 → 模拟</a:t>
            </a:r>
          </a:p>
        </p:txBody>
      </p:sp>
      <p:sp>
        <p:nvSpPr>
          <p:cNvPr id="7" name="Rectangle 6"/>
          <p:cNvSpPr/>
          <p:nvPr/>
        </p:nvSpPr>
        <p:spPr>
          <a:xfrm>
            <a:off x="850392" y="2249424"/>
            <a:ext cx="1965960" cy="649224"/>
          </a:xfrm>
          <a:prstGeom prst="rect">
            <a:avLst/>
          </a:prstGeom>
          <a:solidFill>
            <a:srgbClr val="F8F6FE"/>
          </a:solidFill>
          <a:ln w="17780">
            <a:solidFill>
              <a:srgbClr val="8C64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50392" y="2368296"/>
            <a:ext cx="1965960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0"/>
              </a:spcAft>
              <a:defRPr sz="2000" b="1">
                <a:solidFill>
                  <a:srgbClr val="8C64E1"/>
                </a:solidFill>
                <a:latin typeface="Alibaba PuHuiTi 3.0 115 Black"/>
              </a:defRPr>
            </a:pPr>
            <a:r>
              <a:t>声波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2852928" y="2569464"/>
            <a:ext cx="740664" cy="0"/>
          </a:xfrm>
          <a:prstGeom prst="line">
            <a:avLst/>
          </a:prstGeom>
          <a:ln w="2794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ectangle 9"/>
          <p:cNvSpPr/>
          <p:nvPr/>
        </p:nvSpPr>
        <p:spPr>
          <a:xfrm>
            <a:off x="3666744" y="2249424"/>
            <a:ext cx="1965960" cy="649224"/>
          </a:xfrm>
          <a:prstGeom prst="rect">
            <a:avLst/>
          </a:prstGeom>
          <a:solidFill>
            <a:srgbClr val="F8F6FE"/>
          </a:solidFill>
          <a:ln w="17780">
            <a:solidFill>
              <a:srgbClr val="8C64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666744" y="2368296"/>
            <a:ext cx="1965960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0"/>
              </a:spcAft>
              <a:defRPr sz="2000" b="1">
                <a:solidFill>
                  <a:srgbClr val="8C64E1"/>
                </a:solidFill>
                <a:latin typeface="Alibaba PuHuiTi 3.0 115 Black"/>
              </a:defRPr>
            </a:pPr>
            <a:r>
              <a:t>麦克风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5669279" y="2569464"/>
            <a:ext cx="740665" cy="0"/>
          </a:xfrm>
          <a:prstGeom prst="line">
            <a:avLst/>
          </a:prstGeom>
          <a:ln w="2794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ectangle 12"/>
          <p:cNvSpPr/>
          <p:nvPr/>
        </p:nvSpPr>
        <p:spPr>
          <a:xfrm>
            <a:off x="6483096" y="2249424"/>
            <a:ext cx="1965960" cy="649224"/>
          </a:xfrm>
          <a:prstGeom prst="rect">
            <a:avLst/>
          </a:prstGeom>
          <a:solidFill>
            <a:srgbClr val="F8F6FE"/>
          </a:solidFill>
          <a:ln w="17780">
            <a:solidFill>
              <a:srgbClr val="8C64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83096" y="2368296"/>
            <a:ext cx="1965960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0"/>
              </a:spcAft>
              <a:defRPr sz="2000" b="1">
                <a:solidFill>
                  <a:srgbClr val="8C64E1"/>
                </a:solidFill>
                <a:latin typeface="Alibaba PuHuiTi 3.0 115 Black"/>
              </a:defRPr>
            </a:pPr>
            <a:r>
              <a:t>ADC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8485632" y="2569464"/>
            <a:ext cx="740664" cy="0"/>
          </a:xfrm>
          <a:prstGeom prst="line">
            <a:avLst/>
          </a:prstGeom>
          <a:ln w="2794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ectangle 15"/>
          <p:cNvSpPr/>
          <p:nvPr/>
        </p:nvSpPr>
        <p:spPr>
          <a:xfrm>
            <a:off x="9299448" y="2249424"/>
            <a:ext cx="1965960" cy="649224"/>
          </a:xfrm>
          <a:prstGeom prst="rect">
            <a:avLst/>
          </a:prstGeom>
          <a:solidFill>
            <a:srgbClr val="F8F6FE"/>
          </a:solidFill>
          <a:ln w="17780">
            <a:solidFill>
              <a:srgbClr val="8C64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299448" y="2368296"/>
            <a:ext cx="1965960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0"/>
              </a:spcAft>
              <a:defRPr sz="2000" b="1">
                <a:solidFill>
                  <a:srgbClr val="8C64E1"/>
                </a:solidFill>
                <a:latin typeface="Alibaba PuHuiTi 3.0 115 Black"/>
              </a:defRPr>
            </a:pPr>
            <a:r>
              <a:t>数字文件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50392" y="4498848"/>
            <a:ext cx="1965960" cy="649224"/>
          </a:xfrm>
          <a:prstGeom prst="rect">
            <a:avLst/>
          </a:prstGeom>
          <a:solidFill>
            <a:srgbClr val="FFFFFF"/>
          </a:solidFill>
          <a:ln w="17780">
            <a:solidFill>
              <a:srgbClr val="00B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50392" y="4617720"/>
            <a:ext cx="1965960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0"/>
              </a:spcAft>
              <a:defRPr sz="2000" b="1">
                <a:solidFill>
                  <a:srgbClr val="00B0F0"/>
                </a:solidFill>
                <a:latin typeface="Alibaba PuHuiTi 3.0 115 Black"/>
              </a:defRPr>
            </a:pPr>
            <a:r>
              <a:t>数字文件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2852928" y="4818888"/>
            <a:ext cx="740664" cy="0"/>
          </a:xfrm>
          <a:prstGeom prst="line">
            <a:avLst/>
          </a:prstGeom>
          <a:ln w="2794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Rectangle 20"/>
          <p:cNvSpPr/>
          <p:nvPr/>
        </p:nvSpPr>
        <p:spPr>
          <a:xfrm>
            <a:off x="3666744" y="4498848"/>
            <a:ext cx="1965960" cy="649224"/>
          </a:xfrm>
          <a:prstGeom prst="rect">
            <a:avLst/>
          </a:prstGeom>
          <a:solidFill>
            <a:srgbClr val="FFFFFF"/>
          </a:solidFill>
          <a:ln w="17780">
            <a:solidFill>
              <a:srgbClr val="00B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666744" y="4617720"/>
            <a:ext cx="1965960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0"/>
              </a:spcAft>
              <a:defRPr sz="2000" b="1">
                <a:solidFill>
                  <a:srgbClr val="00B0F0"/>
                </a:solidFill>
                <a:latin typeface="Alibaba PuHuiTi 3.0 115 Black"/>
              </a:defRPr>
            </a:pPr>
            <a:r>
              <a:t>DAC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5669279" y="4818888"/>
            <a:ext cx="740665" cy="0"/>
          </a:xfrm>
          <a:prstGeom prst="line">
            <a:avLst/>
          </a:prstGeom>
          <a:ln w="2794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Rectangle 23"/>
          <p:cNvSpPr/>
          <p:nvPr/>
        </p:nvSpPr>
        <p:spPr>
          <a:xfrm>
            <a:off x="6483096" y="4498848"/>
            <a:ext cx="1965960" cy="649224"/>
          </a:xfrm>
          <a:prstGeom prst="rect">
            <a:avLst/>
          </a:prstGeom>
          <a:solidFill>
            <a:srgbClr val="FFFFFF"/>
          </a:solidFill>
          <a:ln w="17780">
            <a:solidFill>
              <a:srgbClr val="00B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83096" y="4617720"/>
            <a:ext cx="1965960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0"/>
              </a:spcAft>
              <a:defRPr sz="2000" b="1">
                <a:solidFill>
                  <a:srgbClr val="00B0F0"/>
                </a:solidFill>
                <a:latin typeface="Alibaba PuHuiTi 3.0 115 Black"/>
              </a:defRPr>
            </a:pPr>
            <a:r>
              <a:t>扬声器</a:t>
            </a:r>
          </a:p>
        </p:txBody>
      </p:sp>
      <p:cxnSp>
        <p:nvCxnSpPr>
          <p:cNvPr id="26" name="Connector 25"/>
          <p:cNvCxnSpPr/>
          <p:nvPr/>
        </p:nvCxnSpPr>
        <p:spPr>
          <a:xfrm>
            <a:off x="8485632" y="4818888"/>
            <a:ext cx="740664" cy="0"/>
          </a:xfrm>
          <a:prstGeom prst="line">
            <a:avLst/>
          </a:prstGeom>
          <a:ln w="2794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Rectangle 26"/>
          <p:cNvSpPr/>
          <p:nvPr/>
        </p:nvSpPr>
        <p:spPr>
          <a:xfrm>
            <a:off x="9299448" y="4498848"/>
            <a:ext cx="1965960" cy="649224"/>
          </a:xfrm>
          <a:prstGeom prst="rect">
            <a:avLst/>
          </a:prstGeom>
          <a:solidFill>
            <a:srgbClr val="FFFFFF"/>
          </a:solidFill>
          <a:ln w="17780">
            <a:solidFill>
              <a:srgbClr val="00B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299448" y="4617720"/>
            <a:ext cx="1965960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0"/>
              </a:spcAft>
              <a:defRPr sz="2000" b="1">
                <a:solidFill>
                  <a:srgbClr val="00B0F0"/>
                </a:solidFill>
                <a:latin typeface="Alibaba PuHuiTi 3.0 115 Black"/>
              </a:defRPr>
            </a:pPr>
            <a:r>
              <a:t>声音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86384" y="5852160"/>
            <a:ext cx="10698480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>
              <a:spcAft>
                <a:spcPts val="0"/>
              </a:spcAft>
              <a:defRPr sz="1700" b="0">
                <a:solidFill>
                  <a:srgbClr val="8C64E1"/>
                </a:solidFill>
                <a:latin typeface="Alibaba PuHuiTi 3.0 55 Regular"/>
              </a:defRPr>
            </a:pPr>
            <a:r>
              <a:t>思考：麦克风和扬声器、ADC和DAC，各负责什么转换？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36576"/>
            <a:ext cx="12191695" cy="73152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57416"/>
            <a:ext cx="12191695" cy="73152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12648" y="576072"/>
            <a:ext cx="10972800" cy="7863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3400" b="1">
                <a:solidFill>
                  <a:srgbClr val="262626"/>
                </a:solidFill>
                <a:latin typeface="Alibaba PuHuiTi 3.0 115 Black"/>
              </a:defRPr>
            </a:pPr>
            <a:r>
              <a:t>波形图画的是“声音的传播路线”吗？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1005840" y="3479291"/>
            <a:ext cx="9875520" cy="0"/>
          </a:xfrm>
          <a:prstGeom prst="line">
            <a:avLst/>
          </a:prstGeom>
          <a:ln w="2032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>
            <a:off x="1097280" y="2075688"/>
            <a:ext cx="0" cy="2816352"/>
          </a:xfrm>
          <a:prstGeom prst="line">
            <a:avLst/>
          </a:prstGeom>
          <a:ln w="1651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1124712" y="1764792"/>
            <a:ext cx="128016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1600" b="0">
                <a:solidFill>
                  <a:srgbClr val="808080"/>
                </a:solidFill>
                <a:latin typeface="Alibaba PuHuiTi 3.0 55 Regular"/>
              </a:defRPr>
            </a:pPr>
            <a:r>
              <a:t>振幅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966960" y="3598163"/>
            <a:ext cx="82296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1600" b="0">
                <a:solidFill>
                  <a:srgbClr val="808080"/>
                </a:solidFill>
                <a:latin typeface="Alibaba PuHuiTi 3.0 55 Regular"/>
              </a:defRPr>
            </a:pPr>
            <a:r>
              <a:t>时间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05840" y="1536192"/>
            <a:ext cx="987552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200" b="1">
                <a:solidFill>
                  <a:srgbClr val="8C64E1"/>
                </a:solidFill>
                <a:latin typeface="Alibaba PuHuiTi 3.0 115 Black"/>
              </a:defRPr>
            </a:pPr>
            <a:r>
              <a:t>同一个位置，信号随时间变化</a:t>
            </a:r>
          </a:p>
        </p:txBody>
      </p:sp>
      <p:cxnSp>
        <p:nvCxnSpPr>
          <p:cNvPr id="10" name="Connector 9"/>
          <p:cNvCxnSpPr/>
          <p:nvPr/>
        </p:nvCxnSpPr>
        <p:spPr>
          <a:xfrm flipV="1">
            <a:off x="1143000" y="3306954"/>
            <a:ext cx="91440" cy="135762"/>
          </a:xfrm>
          <a:prstGeom prst="line">
            <a:avLst/>
          </a:prstGeom>
          <a:ln w="2540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 flipV="1">
            <a:off x="1234440" y="3173553"/>
            <a:ext cx="91440" cy="133401"/>
          </a:xfrm>
          <a:prstGeom prst="line">
            <a:avLst/>
          </a:prstGeom>
          <a:ln w="2540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 flipV="1">
            <a:off x="1325880" y="3044831"/>
            <a:ext cx="91440" cy="128722"/>
          </a:xfrm>
          <a:prstGeom prst="line">
            <a:avLst/>
          </a:prstGeom>
          <a:ln w="2540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 flipV="1">
            <a:off x="1417320" y="2923027"/>
            <a:ext cx="91440" cy="121804"/>
          </a:xfrm>
          <a:prstGeom prst="line">
            <a:avLst/>
          </a:prstGeom>
          <a:ln w="2540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 flipV="1">
            <a:off x="1508760" y="2810256"/>
            <a:ext cx="91440" cy="112771"/>
          </a:xfrm>
          <a:prstGeom prst="line">
            <a:avLst/>
          </a:prstGeom>
          <a:ln w="2540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 flipV="1">
            <a:off x="1600200" y="2708482"/>
            <a:ext cx="91440" cy="101774"/>
          </a:xfrm>
          <a:prstGeom prst="line">
            <a:avLst/>
          </a:prstGeom>
          <a:ln w="2540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 flipV="1">
            <a:off x="1691640" y="2619471"/>
            <a:ext cx="91440" cy="89011"/>
          </a:xfrm>
          <a:prstGeom prst="line">
            <a:avLst/>
          </a:prstGeom>
          <a:ln w="2540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 flipV="1">
            <a:off x="1783080" y="2544773"/>
            <a:ext cx="91439" cy="74698"/>
          </a:xfrm>
          <a:prstGeom prst="line">
            <a:avLst/>
          </a:prstGeom>
          <a:ln w="2540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 flipV="1">
            <a:off x="1874519" y="2485684"/>
            <a:ext cx="91441" cy="59089"/>
          </a:xfrm>
          <a:prstGeom prst="line">
            <a:avLst/>
          </a:prstGeom>
          <a:ln w="2540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 flipV="1">
            <a:off x="1965960" y="2443234"/>
            <a:ext cx="91440" cy="42450"/>
          </a:xfrm>
          <a:prstGeom prst="line">
            <a:avLst/>
          </a:prstGeom>
          <a:ln w="2540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 flipV="1">
            <a:off x="2057400" y="2418160"/>
            <a:ext cx="91440" cy="25074"/>
          </a:xfrm>
          <a:prstGeom prst="line">
            <a:avLst/>
          </a:prstGeom>
          <a:ln w="2540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 flipV="1">
            <a:off x="2148840" y="2410897"/>
            <a:ext cx="91440" cy="7263"/>
          </a:xfrm>
          <a:prstGeom prst="line">
            <a:avLst/>
          </a:prstGeom>
          <a:ln w="2540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>
            <a:off x="2240280" y="2410897"/>
            <a:ext cx="91440" cy="10675"/>
          </a:xfrm>
          <a:prstGeom prst="line">
            <a:avLst/>
          </a:prstGeom>
          <a:ln w="2540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>
            <a:off x="2331720" y="2421572"/>
            <a:ext cx="91440" cy="28427"/>
          </a:xfrm>
          <a:prstGeom prst="line">
            <a:avLst/>
          </a:prstGeom>
          <a:ln w="2540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>
            <a:off x="2423160" y="2449999"/>
            <a:ext cx="91440" cy="45685"/>
          </a:xfrm>
          <a:prstGeom prst="line">
            <a:avLst/>
          </a:prstGeom>
          <a:ln w="2540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>
            <a:off x="2514600" y="2495684"/>
            <a:ext cx="91440" cy="62149"/>
          </a:xfrm>
          <a:prstGeom prst="line">
            <a:avLst/>
          </a:prstGeom>
          <a:ln w="2540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>
            <a:off x="2606040" y="2557833"/>
            <a:ext cx="91440" cy="77533"/>
          </a:xfrm>
          <a:prstGeom prst="line">
            <a:avLst/>
          </a:prstGeom>
          <a:ln w="2540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6"/>
          <p:cNvCxnSpPr/>
          <p:nvPr/>
        </p:nvCxnSpPr>
        <p:spPr>
          <a:xfrm>
            <a:off x="2697480" y="2635366"/>
            <a:ext cx="91440" cy="91568"/>
          </a:xfrm>
          <a:prstGeom prst="line">
            <a:avLst/>
          </a:prstGeom>
          <a:ln w="2540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ector 27"/>
          <p:cNvCxnSpPr/>
          <p:nvPr/>
        </p:nvCxnSpPr>
        <p:spPr>
          <a:xfrm>
            <a:off x="2788920" y="2726934"/>
            <a:ext cx="91440" cy="104012"/>
          </a:xfrm>
          <a:prstGeom prst="line">
            <a:avLst/>
          </a:prstGeom>
          <a:ln w="2540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Connector 28"/>
          <p:cNvCxnSpPr/>
          <p:nvPr/>
        </p:nvCxnSpPr>
        <p:spPr>
          <a:xfrm>
            <a:off x="2880360" y="2830946"/>
            <a:ext cx="91440" cy="114648"/>
          </a:xfrm>
          <a:prstGeom prst="line">
            <a:avLst/>
          </a:prstGeom>
          <a:ln w="2540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nector 29"/>
          <p:cNvCxnSpPr/>
          <p:nvPr/>
        </p:nvCxnSpPr>
        <p:spPr>
          <a:xfrm>
            <a:off x="2971800" y="2945594"/>
            <a:ext cx="91440" cy="123289"/>
          </a:xfrm>
          <a:prstGeom prst="line">
            <a:avLst/>
          </a:prstGeom>
          <a:ln w="2540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nector 30"/>
          <p:cNvCxnSpPr/>
          <p:nvPr/>
        </p:nvCxnSpPr>
        <p:spPr>
          <a:xfrm>
            <a:off x="3063240" y="3068883"/>
            <a:ext cx="91440" cy="129789"/>
          </a:xfrm>
          <a:prstGeom prst="line">
            <a:avLst/>
          </a:prstGeom>
          <a:ln w="2540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Connector 31"/>
          <p:cNvCxnSpPr/>
          <p:nvPr/>
        </p:nvCxnSpPr>
        <p:spPr>
          <a:xfrm>
            <a:off x="3154680" y="3198672"/>
            <a:ext cx="91440" cy="134031"/>
          </a:xfrm>
          <a:prstGeom prst="line">
            <a:avLst/>
          </a:prstGeom>
          <a:ln w="2540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Connector 32"/>
          <p:cNvCxnSpPr/>
          <p:nvPr/>
        </p:nvCxnSpPr>
        <p:spPr>
          <a:xfrm>
            <a:off x="3246120" y="3332703"/>
            <a:ext cx="91440" cy="135944"/>
          </a:xfrm>
          <a:prstGeom prst="line">
            <a:avLst/>
          </a:prstGeom>
          <a:ln w="2540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Connector 33"/>
          <p:cNvCxnSpPr/>
          <p:nvPr/>
        </p:nvCxnSpPr>
        <p:spPr>
          <a:xfrm>
            <a:off x="3337560" y="3468647"/>
            <a:ext cx="91440" cy="135493"/>
          </a:xfrm>
          <a:prstGeom prst="line">
            <a:avLst/>
          </a:prstGeom>
          <a:ln w="2540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Connector 34"/>
          <p:cNvCxnSpPr/>
          <p:nvPr/>
        </p:nvCxnSpPr>
        <p:spPr>
          <a:xfrm>
            <a:off x="3429000" y="3604140"/>
            <a:ext cx="91440" cy="132687"/>
          </a:xfrm>
          <a:prstGeom prst="line">
            <a:avLst/>
          </a:prstGeom>
          <a:ln w="2540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Connector 35"/>
          <p:cNvCxnSpPr/>
          <p:nvPr/>
        </p:nvCxnSpPr>
        <p:spPr>
          <a:xfrm>
            <a:off x="3520440" y="3736827"/>
            <a:ext cx="91440" cy="127574"/>
          </a:xfrm>
          <a:prstGeom prst="line">
            <a:avLst/>
          </a:prstGeom>
          <a:ln w="2540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" name="Connector 36"/>
          <p:cNvCxnSpPr/>
          <p:nvPr/>
        </p:nvCxnSpPr>
        <p:spPr>
          <a:xfrm>
            <a:off x="3611880" y="3864401"/>
            <a:ext cx="91440" cy="120242"/>
          </a:xfrm>
          <a:prstGeom prst="line">
            <a:avLst/>
          </a:prstGeom>
          <a:ln w="2540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" name="Connector 37"/>
          <p:cNvCxnSpPr/>
          <p:nvPr/>
        </p:nvCxnSpPr>
        <p:spPr>
          <a:xfrm>
            <a:off x="3703320" y="3984643"/>
            <a:ext cx="91440" cy="110822"/>
          </a:xfrm>
          <a:prstGeom prst="line">
            <a:avLst/>
          </a:prstGeom>
          <a:ln w="2540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" name="Connector 38"/>
          <p:cNvCxnSpPr/>
          <p:nvPr/>
        </p:nvCxnSpPr>
        <p:spPr>
          <a:xfrm>
            <a:off x="3794760" y="4095465"/>
            <a:ext cx="91440" cy="99474"/>
          </a:xfrm>
          <a:prstGeom prst="line">
            <a:avLst/>
          </a:prstGeom>
          <a:ln w="2540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" name="Connector 39"/>
          <p:cNvCxnSpPr/>
          <p:nvPr/>
        </p:nvCxnSpPr>
        <p:spPr>
          <a:xfrm>
            <a:off x="3886200" y="4194939"/>
            <a:ext cx="91439" cy="86396"/>
          </a:xfrm>
          <a:prstGeom prst="line">
            <a:avLst/>
          </a:prstGeom>
          <a:ln w="2540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" name="Connector 40"/>
          <p:cNvCxnSpPr/>
          <p:nvPr/>
        </p:nvCxnSpPr>
        <p:spPr>
          <a:xfrm>
            <a:off x="3977639" y="4281335"/>
            <a:ext cx="91441" cy="71817"/>
          </a:xfrm>
          <a:prstGeom prst="line">
            <a:avLst/>
          </a:prstGeom>
          <a:ln w="2540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" name="Connector 41"/>
          <p:cNvCxnSpPr/>
          <p:nvPr/>
        </p:nvCxnSpPr>
        <p:spPr>
          <a:xfrm>
            <a:off x="4069080" y="4353152"/>
            <a:ext cx="91440" cy="55990"/>
          </a:xfrm>
          <a:prstGeom prst="line">
            <a:avLst/>
          </a:prstGeom>
          <a:ln w="2540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3" name="Connector 42"/>
          <p:cNvCxnSpPr/>
          <p:nvPr/>
        </p:nvCxnSpPr>
        <p:spPr>
          <a:xfrm>
            <a:off x="4160520" y="4409142"/>
            <a:ext cx="91440" cy="39188"/>
          </a:xfrm>
          <a:prstGeom prst="line">
            <a:avLst/>
          </a:prstGeom>
          <a:ln w="2540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Connector 43"/>
          <p:cNvCxnSpPr/>
          <p:nvPr/>
        </p:nvCxnSpPr>
        <p:spPr>
          <a:xfrm>
            <a:off x="4251960" y="4448330"/>
            <a:ext cx="91440" cy="21706"/>
          </a:xfrm>
          <a:prstGeom prst="line">
            <a:avLst/>
          </a:prstGeom>
          <a:ln w="2540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" name="Connector 44"/>
          <p:cNvCxnSpPr/>
          <p:nvPr/>
        </p:nvCxnSpPr>
        <p:spPr>
          <a:xfrm>
            <a:off x="4343400" y="4470036"/>
            <a:ext cx="91440" cy="3847"/>
          </a:xfrm>
          <a:prstGeom prst="line">
            <a:avLst/>
          </a:prstGeom>
          <a:ln w="2540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6" name="Connector 45"/>
          <p:cNvCxnSpPr/>
          <p:nvPr/>
        </p:nvCxnSpPr>
        <p:spPr>
          <a:xfrm flipV="1">
            <a:off x="4434840" y="4459803"/>
            <a:ext cx="91440" cy="14080"/>
          </a:xfrm>
          <a:prstGeom prst="line">
            <a:avLst/>
          </a:prstGeom>
          <a:ln w="2540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7" name="Connector 46"/>
          <p:cNvCxnSpPr/>
          <p:nvPr/>
        </p:nvCxnSpPr>
        <p:spPr>
          <a:xfrm flipV="1">
            <a:off x="4526280" y="4428041"/>
            <a:ext cx="91440" cy="31762"/>
          </a:xfrm>
          <a:prstGeom prst="line">
            <a:avLst/>
          </a:prstGeom>
          <a:ln w="2540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8" name="Connector 47"/>
          <p:cNvCxnSpPr/>
          <p:nvPr/>
        </p:nvCxnSpPr>
        <p:spPr>
          <a:xfrm flipV="1">
            <a:off x="4617720" y="4379149"/>
            <a:ext cx="91440" cy="48892"/>
          </a:xfrm>
          <a:prstGeom prst="line">
            <a:avLst/>
          </a:prstGeom>
          <a:ln w="2540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9" name="Connector 48"/>
          <p:cNvCxnSpPr/>
          <p:nvPr/>
        </p:nvCxnSpPr>
        <p:spPr>
          <a:xfrm flipV="1">
            <a:off x="4709160" y="4313978"/>
            <a:ext cx="91440" cy="65171"/>
          </a:xfrm>
          <a:prstGeom prst="line">
            <a:avLst/>
          </a:prstGeom>
          <a:ln w="2540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0" name="Connector 49"/>
          <p:cNvCxnSpPr/>
          <p:nvPr/>
        </p:nvCxnSpPr>
        <p:spPr>
          <a:xfrm flipV="1">
            <a:off x="4800600" y="4233660"/>
            <a:ext cx="91440" cy="80318"/>
          </a:xfrm>
          <a:prstGeom prst="line">
            <a:avLst/>
          </a:prstGeom>
          <a:ln w="2540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1" name="Connector 50"/>
          <p:cNvCxnSpPr/>
          <p:nvPr/>
        </p:nvCxnSpPr>
        <p:spPr>
          <a:xfrm flipV="1">
            <a:off x="4892040" y="4139592"/>
            <a:ext cx="91440" cy="94068"/>
          </a:xfrm>
          <a:prstGeom prst="line">
            <a:avLst/>
          </a:prstGeom>
          <a:ln w="2540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2" name="Connector 51"/>
          <p:cNvCxnSpPr/>
          <p:nvPr/>
        </p:nvCxnSpPr>
        <p:spPr>
          <a:xfrm flipV="1">
            <a:off x="4983480" y="4033408"/>
            <a:ext cx="91440" cy="106184"/>
          </a:xfrm>
          <a:prstGeom prst="line">
            <a:avLst/>
          </a:prstGeom>
          <a:ln w="2540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3" name="Connector 52"/>
          <p:cNvCxnSpPr/>
          <p:nvPr/>
        </p:nvCxnSpPr>
        <p:spPr>
          <a:xfrm flipV="1">
            <a:off x="5074920" y="3916956"/>
            <a:ext cx="91440" cy="116452"/>
          </a:xfrm>
          <a:prstGeom prst="line">
            <a:avLst/>
          </a:prstGeom>
          <a:ln w="2540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4" name="Connector 53"/>
          <p:cNvCxnSpPr/>
          <p:nvPr/>
        </p:nvCxnSpPr>
        <p:spPr>
          <a:xfrm flipV="1">
            <a:off x="5166360" y="3792259"/>
            <a:ext cx="91440" cy="124697"/>
          </a:xfrm>
          <a:prstGeom prst="line">
            <a:avLst/>
          </a:prstGeom>
          <a:ln w="2540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5" name="Connector 54"/>
          <p:cNvCxnSpPr/>
          <p:nvPr/>
        </p:nvCxnSpPr>
        <p:spPr>
          <a:xfrm flipV="1">
            <a:off x="5257800" y="3661486"/>
            <a:ext cx="91440" cy="130773"/>
          </a:xfrm>
          <a:prstGeom prst="line">
            <a:avLst/>
          </a:prstGeom>
          <a:ln w="2540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6" name="Connector 55"/>
          <p:cNvCxnSpPr/>
          <p:nvPr/>
        </p:nvCxnSpPr>
        <p:spPr>
          <a:xfrm flipV="1">
            <a:off x="5349240" y="3526909"/>
            <a:ext cx="91439" cy="134577"/>
          </a:xfrm>
          <a:prstGeom prst="line">
            <a:avLst/>
          </a:prstGeom>
          <a:ln w="2540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7" name="Connector 56"/>
          <p:cNvCxnSpPr/>
          <p:nvPr/>
        </p:nvCxnSpPr>
        <p:spPr>
          <a:xfrm flipV="1">
            <a:off x="5440679" y="3390868"/>
            <a:ext cx="91441" cy="136041"/>
          </a:xfrm>
          <a:prstGeom prst="line">
            <a:avLst/>
          </a:prstGeom>
          <a:ln w="2540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8" name="Connector 57"/>
          <p:cNvCxnSpPr/>
          <p:nvPr/>
        </p:nvCxnSpPr>
        <p:spPr>
          <a:xfrm flipV="1">
            <a:off x="5532120" y="3255729"/>
            <a:ext cx="91440" cy="135139"/>
          </a:xfrm>
          <a:prstGeom prst="line">
            <a:avLst/>
          </a:prstGeom>
          <a:ln w="2540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9" name="Connector 58"/>
          <p:cNvCxnSpPr/>
          <p:nvPr/>
        </p:nvCxnSpPr>
        <p:spPr>
          <a:xfrm flipV="1">
            <a:off x="5623560" y="3123841"/>
            <a:ext cx="91440" cy="131888"/>
          </a:xfrm>
          <a:prstGeom prst="line">
            <a:avLst/>
          </a:prstGeom>
          <a:ln w="2540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0" name="Connector 59"/>
          <p:cNvCxnSpPr/>
          <p:nvPr/>
        </p:nvCxnSpPr>
        <p:spPr>
          <a:xfrm flipV="1">
            <a:off x="5715000" y="2997496"/>
            <a:ext cx="91440" cy="126345"/>
          </a:xfrm>
          <a:prstGeom prst="line">
            <a:avLst/>
          </a:prstGeom>
          <a:ln w="2540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1" name="Connector 60"/>
          <p:cNvCxnSpPr/>
          <p:nvPr/>
        </p:nvCxnSpPr>
        <p:spPr>
          <a:xfrm flipV="1">
            <a:off x="5806440" y="2878891"/>
            <a:ext cx="91440" cy="118605"/>
          </a:xfrm>
          <a:prstGeom prst="line">
            <a:avLst/>
          </a:prstGeom>
          <a:ln w="2540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2" name="Connector 61"/>
          <p:cNvCxnSpPr/>
          <p:nvPr/>
        </p:nvCxnSpPr>
        <p:spPr>
          <a:xfrm flipV="1">
            <a:off x="5897880" y="2770088"/>
            <a:ext cx="91440" cy="108803"/>
          </a:xfrm>
          <a:prstGeom prst="line">
            <a:avLst/>
          </a:prstGeom>
          <a:ln w="2540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3" name="Connector 62"/>
          <p:cNvCxnSpPr/>
          <p:nvPr/>
        </p:nvCxnSpPr>
        <p:spPr>
          <a:xfrm flipV="1">
            <a:off x="5989320" y="2672979"/>
            <a:ext cx="91440" cy="97109"/>
          </a:xfrm>
          <a:prstGeom prst="line">
            <a:avLst/>
          </a:prstGeom>
          <a:ln w="2540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4" name="Connector 63"/>
          <p:cNvCxnSpPr/>
          <p:nvPr/>
        </p:nvCxnSpPr>
        <p:spPr>
          <a:xfrm flipV="1">
            <a:off x="6080760" y="2589251"/>
            <a:ext cx="91440" cy="83728"/>
          </a:xfrm>
          <a:prstGeom prst="line">
            <a:avLst/>
          </a:prstGeom>
          <a:ln w="2540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5" name="Connector 64"/>
          <p:cNvCxnSpPr/>
          <p:nvPr/>
        </p:nvCxnSpPr>
        <p:spPr>
          <a:xfrm flipV="1">
            <a:off x="6172200" y="2520360"/>
            <a:ext cx="91440" cy="68891"/>
          </a:xfrm>
          <a:prstGeom prst="line">
            <a:avLst/>
          </a:prstGeom>
          <a:ln w="2540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6" name="Connector 65"/>
          <p:cNvCxnSpPr/>
          <p:nvPr/>
        </p:nvCxnSpPr>
        <p:spPr>
          <a:xfrm flipV="1">
            <a:off x="6263640" y="2467505"/>
            <a:ext cx="91439" cy="52855"/>
          </a:xfrm>
          <a:prstGeom prst="line">
            <a:avLst/>
          </a:prstGeom>
          <a:ln w="2540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7" name="Connector 66"/>
          <p:cNvCxnSpPr/>
          <p:nvPr/>
        </p:nvCxnSpPr>
        <p:spPr>
          <a:xfrm flipV="1">
            <a:off x="6355079" y="2431603"/>
            <a:ext cx="91441" cy="35902"/>
          </a:xfrm>
          <a:prstGeom prst="line">
            <a:avLst/>
          </a:prstGeom>
          <a:ln w="2540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8" name="Connector 67"/>
          <p:cNvCxnSpPr/>
          <p:nvPr/>
        </p:nvCxnSpPr>
        <p:spPr>
          <a:xfrm flipV="1">
            <a:off x="6446520" y="2413279"/>
            <a:ext cx="91439" cy="18324"/>
          </a:xfrm>
          <a:prstGeom prst="line">
            <a:avLst/>
          </a:prstGeom>
          <a:ln w="2540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9" name="Connector 68"/>
          <p:cNvCxnSpPr/>
          <p:nvPr/>
        </p:nvCxnSpPr>
        <p:spPr>
          <a:xfrm flipV="1">
            <a:off x="6537959" y="2412851"/>
            <a:ext cx="91441" cy="428"/>
          </a:xfrm>
          <a:prstGeom prst="line">
            <a:avLst/>
          </a:prstGeom>
          <a:ln w="2540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0" name="Connector 69"/>
          <p:cNvCxnSpPr/>
          <p:nvPr/>
        </p:nvCxnSpPr>
        <p:spPr>
          <a:xfrm>
            <a:off x="6629400" y="2412851"/>
            <a:ext cx="91440" cy="17477"/>
          </a:xfrm>
          <a:prstGeom prst="line">
            <a:avLst/>
          </a:prstGeom>
          <a:ln w="2540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1" name="Connector 70"/>
          <p:cNvCxnSpPr/>
          <p:nvPr/>
        </p:nvCxnSpPr>
        <p:spPr>
          <a:xfrm>
            <a:off x="6720840" y="2430328"/>
            <a:ext cx="91440" cy="35076"/>
          </a:xfrm>
          <a:prstGeom prst="line">
            <a:avLst/>
          </a:prstGeom>
          <a:ln w="2540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2" name="Connector 71"/>
          <p:cNvCxnSpPr/>
          <p:nvPr/>
        </p:nvCxnSpPr>
        <p:spPr>
          <a:xfrm>
            <a:off x="6812280" y="2465404"/>
            <a:ext cx="91440" cy="52067"/>
          </a:xfrm>
          <a:prstGeom prst="line">
            <a:avLst/>
          </a:prstGeom>
          <a:ln w="2540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3" name="Connector 72"/>
          <p:cNvCxnSpPr/>
          <p:nvPr/>
        </p:nvCxnSpPr>
        <p:spPr>
          <a:xfrm>
            <a:off x="6903720" y="2517471"/>
            <a:ext cx="91440" cy="68152"/>
          </a:xfrm>
          <a:prstGeom prst="line">
            <a:avLst/>
          </a:prstGeom>
          <a:ln w="2540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4" name="Connector 73"/>
          <p:cNvCxnSpPr/>
          <p:nvPr/>
        </p:nvCxnSpPr>
        <p:spPr>
          <a:xfrm>
            <a:off x="6995160" y="2585623"/>
            <a:ext cx="91440" cy="83053"/>
          </a:xfrm>
          <a:prstGeom prst="line">
            <a:avLst/>
          </a:prstGeom>
          <a:ln w="2540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5" name="Connector 74"/>
          <p:cNvCxnSpPr/>
          <p:nvPr/>
        </p:nvCxnSpPr>
        <p:spPr>
          <a:xfrm>
            <a:off x="7086600" y="2668676"/>
            <a:ext cx="91440" cy="96508"/>
          </a:xfrm>
          <a:prstGeom prst="line">
            <a:avLst/>
          </a:prstGeom>
          <a:ln w="2540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6" name="Connector 75"/>
          <p:cNvCxnSpPr/>
          <p:nvPr/>
        </p:nvCxnSpPr>
        <p:spPr>
          <a:xfrm>
            <a:off x="7178040" y="2765184"/>
            <a:ext cx="91440" cy="108288"/>
          </a:xfrm>
          <a:prstGeom prst="line">
            <a:avLst/>
          </a:prstGeom>
          <a:ln w="2540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7" name="Connector 76"/>
          <p:cNvCxnSpPr/>
          <p:nvPr/>
        </p:nvCxnSpPr>
        <p:spPr>
          <a:xfrm>
            <a:off x="7269480" y="2873472"/>
            <a:ext cx="91440" cy="118184"/>
          </a:xfrm>
          <a:prstGeom prst="line">
            <a:avLst/>
          </a:prstGeom>
          <a:ln w="2540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8" name="Connector 77"/>
          <p:cNvCxnSpPr/>
          <p:nvPr/>
        </p:nvCxnSpPr>
        <p:spPr>
          <a:xfrm>
            <a:off x="7360920" y="2991656"/>
            <a:ext cx="91439" cy="126025"/>
          </a:xfrm>
          <a:prstGeom prst="line">
            <a:avLst/>
          </a:prstGeom>
          <a:ln w="2540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9" name="Connector 78"/>
          <p:cNvCxnSpPr/>
          <p:nvPr/>
        </p:nvCxnSpPr>
        <p:spPr>
          <a:xfrm>
            <a:off x="7452359" y="3117681"/>
            <a:ext cx="91441" cy="131676"/>
          </a:xfrm>
          <a:prstGeom prst="line">
            <a:avLst/>
          </a:prstGeom>
          <a:ln w="2540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0" name="Connector 79"/>
          <p:cNvCxnSpPr/>
          <p:nvPr/>
        </p:nvCxnSpPr>
        <p:spPr>
          <a:xfrm>
            <a:off x="7543800" y="3249357"/>
            <a:ext cx="91440" cy="135037"/>
          </a:xfrm>
          <a:prstGeom prst="line">
            <a:avLst/>
          </a:prstGeom>
          <a:ln w="2540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1" name="Connector 80"/>
          <p:cNvCxnSpPr/>
          <p:nvPr/>
        </p:nvCxnSpPr>
        <p:spPr>
          <a:xfrm>
            <a:off x="7635240" y="3384394"/>
            <a:ext cx="91439" cy="136051"/>
          </a:xfrm>
          <a:prstGeom prst="line">
            <a:avLst/>
          </a:prstGeom>
          <a:ln w="2540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2" name="Connector 81"/>
          <p:cNvCxnSpPr/>
          <p:nvPr/>
        </p:nvCxnSpPr>
        <p:spPr>
          <a:xfrm>
            <a:off x="7726679" y="3520445"/>
            <a:ext cx="91441" cy="134700"/>
          </a:xfrm>
          <a:prstGeom prst="line">
            <a:avLst/>
          </a:prstGeom>
          <a:ln w="2540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3" name="Connector 82"/>
          <p:cNvCxnSpPr/>
          <p:nvPr/>
        </p:nvCxnSpPr>
        <p:spPr>
          <a:xfrm>
            <a:off x="7818120" y="3655145"/>
            <a:ext cx="91440" cy="131007"/>
          </a:xfrm>
          <a:prstGeom prst="line">
            <a:avLst/>
          </a:prstGeom>
          <a:ln w="2540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4" name="Connector 83"/>
          <p:cNvCxnSpPr/>
          <p:nvPr/>
        </p:nvCxnSpPr>
        <p:spPr>
          <a:xfrm>
            <a:off x="7909560" y="3786152"/>
            <a:ext cx="91440" cy="125036"/>
          </a:xfrm>
          <a:prstGeom prst="line">
            <a:avLst/>
          </a:prstGeom>
          <a:ln w="2540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5" name="Connector 84"/>
          <p:cNvCxnSpPr/>
          <p:nvPr/>
        </p:nvCxnSpPr>
        <p:spPr>
          <a:xfrm>
            <a:off x="8001000" y="3911188"/>
            <a:ext cx="91440" cy="116893"/>
          </a:xfrm>
          <a:prstGeom prst="line">
            <a:avLst/>
          </a:prstGeom>
          <a:ln w="2540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6" name="Connector 85"/>
          <p:cNvCxnSpPr/>
          <p:nvPr/>
        </p:nvCxnSpPr>
        <p:spPr>
          <a:xfrm>
            <a:off x="8092440" y="4028081"/>
            <a:ext cx="91439" cy="106715"/>
          </a:xfrm>
          <a:prstGeom prst="line">
            <a:avLst/>
          </a:prstGeom>
          <a:ln w="2540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7" name="Connector 86"/>
          <p:cNvCxnSpPr/>
          <p:nvPr/>
        </p:nvCxnSpPr>
        <p:spPr>
          <a:xfrm>
            <a:off x="8183879" y="4134796"/>
            <a:ext cx="91441" cy="94684"/>
          </a:xfrm>
          <a:prstGeom prst="line">
            <a:avLst/>
          </a:prstGeom>
          <a:ln w="2540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8" name="Connector 87"/>
          <p:cNvCxnSpPr/>
          <p:nvPr/>
        </p:nvCxnSpPr>
        <p:spPr>
          <a:xfrm>
            <a:off x="8275320" y="4229480"/>
            <a:ext cx="91440" cy="81007"/>
          </a:xfrm>
          <a:prstGeom prst="line">
            <a:avLst/>
          </a:prstGeom>
          <a:ln w="2540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9" name="Connector 88"/>
          <p:cNvCxnSpPr/>
          <p:nvPr/>
        </p:nvCxnSpPr>
        <p:spPr>
          <a:xfrm>
            <a:off x="8366760" y="4310487"/>
            <a:ext cx="91440" cy="65920"/>
          </a:xfrm>
          <a:prstGeom prst="line">
            <a:avLst/>
          </a:prstGeom>
          <a:ln w="2540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0" name="Connector 89"/>
          <p:cNvCxnSpPr/>
          <p:nvPr/>
        </p:nvCxnSpPr>
        <p:spPr>
          <a:xfrm>
            <a:off x="8458200" y="4376407"/>
            <a:ext cx="91440" cy="49688"/>
          </a:xfrm>
          <a:prstGeom prst="line">
            <a:avLst/>
          </a:prstGeom>
          <a:ln w="2540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1" name="Connector 90"/>
          <p:cNvCxnSpPr/>
          <p:nvPr/>
        </p:nvCxnSpPr>
        <p:spPr>
          <a:xfrm>
            <a:off x="8549640" y="4426095"/>
            <a:ext cx="91440" cy="32593"/>
          </a:xfrm>
          <a:prstGeom prst="line">
            <a:avLst/>
          </a:prstGeom>
          <a:ln w="2540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2" name="Connector 91"/>
          <p:cNvCxnSpPr/>
          <p:nvPr/>
        </p:nvCxnSpPr>
        <p:spPr>
          <a:xfrm>
            <a:off x="8641080" y="4458688"/>
            <a:ext cx="91439" cy="14930"/>
          </a:xfrm>
          <a:prstGeom prst="line">
            <a:avLst/>
          </a:prstGeom>
          <a:ln w="2540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3" name="Connector 92"/>
          <p:cNvCxnSpPr/>
          <p:nvPr/>
        </p:nvCxnSpPr>
        <p:spPr>
          <a:xfrm flipV="1">
            <a:off x="8732519" y="4470626"/>
            <a:ext cx="91441" cy="2992"/>
          </a:xfrm>
          <a:prstGeom prst="line">
            <a:avLst/>
          </a:prstGeom>
          <a:ln w="2540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4" name="Connector 93"/>
          <p:cNvCxnSpPr/>
          <p:nvPr/>
        </p:nvCxnSpPr>
        <p:spPr>
          <a:xfrm flipV="1">
            <a:off x="8823960" y="4449764"/>
            <a:ext cx="91440" cy="20862"/>
          </a:xfrm>
          <a:prstGeom prst="line">
            <a:avLst/>
          </a:prstGeom>
          <a:ln w="2540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5" name="Connector 94"/>
          <p:cNvCxnSpPr/>
          <p:nvPr/>
        </p:nvCxnSpPr>
        <p:spPr>
          <a:xfrm flipV="1">
            <a:off x="8915400" y="4411395"/>
            <a:ext cx="91440" cy="38369"/>
          </a:xfrm>
          <a:prstGeom prst="line">
            <a:avLst/>
          </a:prstGeom>
          <a:ln w="2540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6" name="Connector 95"/>
          <p:cNvCxnSpPr/>
          <p:nvPr/>
        </p:nvCxnSpPr>
        <p:spPr>
          <a:xfrm flipV="1">
            <a:off x="9006840" y="4356186"/>
            <a:ext cx="91440" cy="55209"/>
          </a:xfrm>
          <a:prstGeom prst="line">
            <a:avLst/>
          </a:prstGeom>
          <a:ln w="2540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7" name="Connector 96"/>
          <p:cNvCxnSpPr/>
          <p:nvPr/>
        </p:nvCxnSpPr>
        <p:spPr>
          <a:xfrm flipV="1">
            <a:off x="9098280" y="4285096"/>
            <a:ext cx="91440" cy="71090"/>
          </a:xfrm>
          <a:prstGeom prst="line">
            <a:avLst/>
          </a:prstGeom>
          <a:ln w="2540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8" name="Connector 97"/>
          <p:cNvCxnSpPr/>
          <p:nvPr/>
        </p:nvCxnSpPr>
        <p:spPr>
          <a:xfrm flipV="1">
            <a:off x="9189720" y="4199362"/>
            <a:ext cx="91440" cy="85734"/>
          </a:xfrm>
          <a:prstGeom prst="line">
            <a:avLst/>
          </a:prstGeom>
          <a:ln w="2540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9" name="Connector 98"/>
          <p:cNvCxnSpPr/>
          <p:nvPr/>
        </p:nvCxnSpPr>
        <p:spPr>
          <a:xfrm flipV="1">
            <a:off x="9281160" y="4100474"/>
            <a:ext cx="91440" cy="98888"/>
          </a:xfrm>
          <a:prstGeom prst="line">
            <a:avLst/>
          </a:prstGeom>
          <a:ln w="2540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0" name="Connector 99"/>
          <p:cNvCxnSpPr/>
          <p:nvPr/>
        </p:nvCxnSpPr>
        <p:spPr>
          <a:xfrm flipV="1">
            <a:off x="9372600" y="3990150"/>
            <a:ext cx="91440" cy="110324"/>
          </a:xfrm>
          <a:prstGeom prst="line">
            <a:avLst/>
          </a:prstGeom>
          <a:ln w="2540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1" name="Connector 100"/>
          <p:cNvCxnSpPr/>
          <p:nvPr/>
        </p:nvCxnSpPr>
        <p:spPr>
          <a:xfrm flipV="1">
            <a:off x="9464040" y="3870310"/>
            <a:ext cx="91440" cy="119840"/>
          </a:xfrm>
          <a:prstGeom prst="line">
            <a:avLst/>
          </a:prstGeom>
          <a:ln w="2540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2" name="Connector 101"/>
          <p:cNvCxnSpPr/>
          <p:nvPr/>
        </p:nvCxnSpPr>
        <p:spPr>
          <a:xfrm flipV="1">
            <a:off x="9555480" y="3743036"/>
            <a:ext cx="91440" cy="127274"/>
          </a:xfrm>
          <a:prstGeom prst="line">
            <a:avLst/>
          </a:prstGeom>
          <a:ln w="2540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3" name="Connector 102"/>
          <p:cNvCxnSpPr/>
          <p:nvPr/>
        </p:nvCxnSpPr>
        <p:spPr>
          <a:xfrm flipV="1">
            <a:off x="9646920" y="3610541"/>
            <a:ext cx="91439" cy="132495"/>
          </a:xfrm>
          <a:prstGeom prst="line">
            <a:avLst/>
          </a:prstGeom>
          <a:ln w="2540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4" name="Connector 103"/>
          <p:cNvCxnSpPr/>
          <p:nvPr/>
        </p:nvCxnSpPr>
        <p:spPr>
          <a:xfrm flipV="1">
            <a:off x="9738359" y="3475128"/>
            <a:ext cx="91441" cy="135413"/>
          </a:xfrm>
          <a:prstGeom prst="line">
            <a:avLst/>
          </a:prstGeom>
          <a:ln w="2540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5" name="Connector 104"/>
          <p:cNvCxnSpPr/>
          <p:nvPr/>
        </p:nvCxnSpPr>
        <p:spPr>
          <a:xfrm flipV="1">
            <a:off x="9829800" y="3339152"/>
            <a:ext cx="91440" cy="135976"/>
          </a:xfrm>
          <a:prstGeom prst="line">
            <a:avLst/>
          </a:prstGeom>
          <a:ln w="2540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6" name="Connector 105"/>
          <p:cNvCxnSpPr/>
          <p:nvPr/>
        </p:nvCxnSpPr>
        <p:spPr>
          <a:xfrm flipV="1">
            <a:off x="9921240" y="3204977"/>
            <a:ext cx="91440" cy="134175"/>
          </a:xfrm>
          <a:prstGeom prst="line">
            <a:avLst/>
          </a:prstGeom>
          <a:ln w="2540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7" name="Connector 106"/>
          <p:cNvCxnSpPr/>
          <p:nvPr/>
        </p:nvCxnSpPr>
        <p:spPr>
          <a:xfrm flipV="1">
            <a:off x="10012680" y="3074934"/>
            <a:ext cx="91440" cy="130043"/>
          </a:xfrm>
          <a:prstGeom prst="line">
            <a:avLst/>
          </a:prstGeom>
          <a:ln w="2540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8" name="Connector 107"/>
          <p:cNvCxnSpPr/>
          <p:nvPr/>
        </p:nvCxnSpPr>
        <p:spPr>
          <a:xfrm flipV="1">
            <a:off x="10104120" y="2951285"/>
            <a:ext cx="91440" cy="123649"/>
          </a:xfrm>
          <a:prstGeom prst="line">
            <a:avLst/>
          </a:prstGeom>
          <a:ln w="2540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9" name="Connector 108"/>
          <p:cNvCxnSpPr/>
          <p:nvPr/>
        </p:nvCxnSpPr>
        <p:spPr>
          <a:xfrm flipV="1">
            <a:off x="10195560" y="2836180"/>
            <a:ext cx="91440" cy="115105"/>
          </a:xfrm>
          <a:prstGeom prst="line">
            <a:avLst/>
          </a:prstGeom>
          <a:ln w="2540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0" name="TextBox 109"/>
          <p:cNvSpPr txBox="1"/>
          <p:nvPr/>
        </p:nvSpPr>
        <p:spPr>
          <a:xfrm>
            <a:off x="777240" y="5879592"/>
            <a:ext cx="1078992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000" b="1">
                <a:solidFill>
                  <a:srgbClr val="8C64E1"/>
                </a:solidFill>
                <a:latin typeface="Alibaba PuHuiTi 3.0 115 Black"/>
              </a:defRPr>
            </a:pPr>
            <a:r>
              <a:t>波形不是声音在空间里走过的弯曲路线。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36576"/>
            <a:ext cx="12191695" cy="73152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57416"/>
            <a:ext cx="12191695" cy="73152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12648" y="576072"/>
            <a:ext cx="10972800" cy="7863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300"/>
              </a:spcAft>
              <a:defRPr sz="3400" b="1">
                <a:solidFill>
                  <a:srgbClr val="262626"/>
                </a:solidFill>
                <a:latin typeface="Alibaba PuHuiTi 3.0 115 Black"/>
              </a:defRPr>
            </a:pPr>
            <a:r>
              <a:t>演示A：听声音，波形上的红线如何移动？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86384" y="1517904"/>
            <a:ext cx="1069848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300"/>
              </a:spcAft>
              <a:defRPr sz="2500" b="1">
                <a:solidFill>
                  <a:srgbClr val="8C64E1"/>
                </a:solidFill>
                <a:latin typeface="Alibaba PuHuiTi 3.0 115 Black"/>
              </a:defRPr>
            </a:pPr>
            <a:r>
              <a:t>先预测：红色光标向右，表示声音向右传播吗？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941832" y="3712464"/>
            <a:ext cx="10222992" cy="0"/>
          </a:xfrm>
          <a:prstGeom prst="line">
            <a:avLst/>
          </a:prstGeom>
          <a:ln w="1778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>
            <a:off x="987552" y="2523744"/>
            <a:ext cx="0" cy="2423160"/>
          </a:xfrm>
          <a:prstGeom prst="line">
            <a:avLst/>
          </a:prstGeom>
          <a:ln w="1397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941832" y="2093976"/>
            <a:ext cx="114300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300"/>
              </a:spcAft>
              <a:defRPr sz="1700" b="0">
                <a:solidFill>
                  <a:srgbClr val="808080"/>
                </a:solidFill>
                <a:latin typeface="Alibaba PuHuiTi 3.0 55 Regular"/>
              </a:defRPr>
            </a:pPr>
            <a:r>
              <a:t>振幅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250424" y="3840480"/>
            <a:ext cx="82296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300"/>
              </a:spcAft>
              <a:defRPr sz="1700" b="0">
                <a:solidFill>
                  <a:srgbClr val="808080"/>
                </a:solidFill>
                <a:latin typeface="Alibaba PuHuiTi 3.0 55 Regular"/>
              </a:defRPr>
            </a:pPr>
            <a:r>
              <a:t>时间</a:t>
            </a:r>
          </a:p>
        </p:txBody>
      </p:sp>
      <p:cxnSp>
        <p:nvCxnSpPr>
          <p:cNvPr id="10" name="Connector 9"/>
          <p:cNvCxnSpPr/>
          <p:nvPr/>
        </p:nvCxnSpPr>
        <p:spPr>
          <a:xfrm flipV="1">
            <a:off x="1060704" y="3458819"/>
            <a:ext cx="98572" cy="106370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 flipV="1">
            <a:off x="1159276" y="3356450"/>
            <a:ext cx="98572" cy="102369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 flipV="1">
            <a:off x="1257848" y="3259695"/>
            <a:ext cx="98572" cy="96755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 flipV="1">
            <a:off x="1356420" y="3170080"/>
            <a:ext cx="98573" cy="89615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 flipV="1">
            <a:off x="1454993" y="3089019"/>
            <a:ext cx="98572" cy="81061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 flipV="1">
            <a:off x="1553565" y="3017791"/>
            <a:ext cx="98572" cy="71228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 flipV="1">
            <a:off x="1652137" y="2957517"/>
            <a:ext cx="98573" cy="60274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 flipV="1">
            <a:off x="1750710" y="2909150"/>
            <a:ext cx="98572" cy="48367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 flipV="1">
            <a:off x="1849282" y="2873451"/>
            <a:ext cx="98572" cy="35699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 flipV="1">
            <a:off x="1947854" y="2850984"/>
            <a:ext cx="98573" cy="22467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 flipV="1">
            <a:off x="2046427" y="2842104"/>
            <a:ext cx="98572" cy="8880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>
            <a:off x="2144999" y="2842104"/>
            <a:ext cx="98572" cy="4845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>
            <a:off x="2243571" y="2846949"/>
            <a:ext cx="98573" cy="18495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>
            <a:off x="2342144" y="2865444"/>
            <a:ext cx="98572" cy="31853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>
            <a:off x="2440716" y="2897297"/>
            <a:ext cx="98572" cy="44708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>
            <a:off x="2539288" y="2942005"/>
            <a:ext cx="98573" cy="56859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>
            <a:off x="2637861" y="2998864"/>
            <a:ext cx="98572" cy="68113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6"/>
          <p:cNvCxnSpPr/>
          <p:nvPr/>
        </p:nvCxnSpPr>
        <p:spPr>
          <a:xfrm>
            <a:off x="2736433" y="3066977"/>
            <a:ext cx="98572" cy="78293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ector 27"/>
          <p:cNvCxnSpPr/>
          <p:nvPr/>
        </p:nvCxnSpPr>
        <p:spPr>
          <a:xfrm>
            <a:off x="2835005" y="3145270"/>
            <a:ext cx="98573" cy="87238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Connector 28"/>
          <p:cNvCxnSpPr/>
          <p:nvPr/>
        </p:nvCxnSpPr>
        <p:spPr>
          <a:xfrm>
            <a:off x="2933578" y="3232508"/>
            <a:ext cx="98572" cy="94807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nector 29"/>
          <p:cNvCxnSpPr/>
          <p:nvPr/>
        </p:nvCxnSpPr>
        <p:spPr>
          <a:xfrm>
            <a:off x="3032150" y="3327315"/>
            <a:ext cx="98572" cy="100881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nector 30"/>
          <p:cNvCxnSpPr/>
          <p:nvPr/>
        </p:nvCxnSpPr>
        <p:spPr>
          <a:xfrm>
            <a:off x="3130722" y="3428196"/>
            <a:ext cx="98573" cy="105364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Connector 31"/>
          <p:cNvCxnSpPr/>
          <p:nvPr/>
        </p:nvCxnSpPr>
        <p:spPr>
          <a:xfrm>
            <a:off x="3229295" y="3533560"/>
            <a:ext cx="98572" cy="108185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Connector 32"/>
          <p:cNvCxnSpPr/>
          <p:nvPr/>
        </p:nvCxnSpPr>
        <p:spPr>
          <a:xfrm>
            <a:off x="3327867" y="3641745"/>
            <a:ext cx="98572" cy="109301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Connector 33"/>
          <p:cNvCxnSpPr/>
          <p:nvPr/>
        </p:nvCxnSpPr>
        <p:spPr>
          <a:xfrm>
            <a:off x="3426439" y="3751046"/>
            <a:ext cx="98573" cy="108692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Connector 34"/>
          <p:cNvCxnSpPr/>
          <p:nvPr/>
        </p:nvCxnSpPr>
        <p:spPr>
          <a:xfrm>
            <a:off x="3525012" y="3859738"/>
            <a:ext cx="98572" cy="106370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Connector 35"/>
          <p:cNvCxnSpPr/>
          <p:nvPr/>
        </p:nvCxnSpPr>
        <p:spPr>
          <a:xfrm>
            <a:off x="3623584" y="3966108"/>
            <a:ext cx="98572" cy="102369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" name="Connector 36"/>
          <p:cNvCxnSpPr/>
          <p:nvPr/>
        </p:nvCxnSpPr>
        <p:spPr>
          <a:xfrm>
            <a:off x="3722156" y="4068477"/>
            <a:ext cx="98572" cy="96755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" name="Connector 37"/>
          <p:cNvCxnSpPr/>
          <p:nvPr/>
        </p:nvCxnSpPr>
        <p:spPr>
          <a:xfrm>
            <a:off x="3820728" y="4165232"/>
            <a:ext cx="98573" cy="89615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" name="Connector 38"/>
          <p:cNvCxnSpPr/>
          <p:nvPr/>
        </p:nvCxnSpPr>
        <p:spPr>
          <a:xfrm>
            <a:off x="3919301" y="4254847"/>
            <a:ext cx="98572" cy="81061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" name="Connector 39"/>
          <p:cNvCxnSpPr/>
          <p:nvPr/>
        </p:nvCxnSpPr>
        <p:spPr>
          <a:xfrm>
            <a:off x="4017873" y="4335908"/>
            <a:ext cx="98572" cy="71228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" name="Connector 40"/>
          <p:cNvCxnSpPr/>
          <p:nvPr/>
        </p:nvCxnSpPr>
        <p:spPr>
          <a:xfrm>
            <a:off x="4116445" y="4407136"/>
            <a:ext cx="98573" cy="60274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" name="Connector 41"/>
          <p:cNvCxnSpPr/>
          <p:nvPr/>
        </p:nvCxnSpPr>
        <p:spPr>
          <a:xfrm>
            <a:off x="4215018" y="4467410"/>
            <a:ext cx="98572" cy="48367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3" name="Connector 42"/>
          <p:cNvCxnSpPr/>
          <p:nvPr/>
        </p:nvCxnSpPr>
        <p:spPr>
          <a:xfrm>
            <a:off x="4313590" y="4515777"/>
            <a:ext cx="98572" cy="35699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Connector 43"/>
          <p:cNvCxnSpPr/>
          <p:nvPr/>
        </p:nvCxnSpPr>
        <p:spPr>
          <a:xfrm>
            <a:off x="4412162" y="4551476"/>
            <a:ext cx="98573" cy="22467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" name="Connector 44"/>
          <p:cNvCxnSpPr/>
          <p:nvPr/>
        </p:nvCxnSpPr>
        <p:spPr>
          <a:xfrm>
            <a:off x="4510735" y="4573943"/>
            <a:ext cx="98572" cy="8880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6" name="Connector 45"/>
          <p:cNvCxnSpPr/>
          <p:nvPr/>
        </p:nvCxnSpPr>
        <p:spPr>
          <a:xfrm flipV="1">
            <a:off x="4609307" y="4577978"/>
            <a:ext cx="98572" cy="4845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7" name="Connector 46"/>
          <p:cNvCxnSpPr/>
          <p:nvPr/>
        </p:nvCxnSpPr>
        <p:spPr>
          <a:xfrm flipV="1">
            <a:off x="4707879" y="4559483"/>
            <a:ext cx="98573" cy="18495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8" name="Connector 47"/>
          <p:cNvCxnSpPr/>
          <p:nvPr/>
        </p:nvCxnSpPr>
        <p:spPr>
          <a:xfrm flipV="1">
            <a:off x="4806452" y="4527630"/>
            <a:ext cx="98572" cy="31853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9" name="Connector 48"/>
          <p:cNvCxnSpPr/>
          <p:nvPr/>
        </p:nvCxnSpPr>
        <p:spPr>
          <a:xfrm flipV="1">
            <a:off x="4905024" y="4482922"/>
            <a:ext cx="98572" cy="44708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0" name="Connector 49"/>
          <p:cNvCxnSpPr/>
          <p:nvPr/>
        </p:nvCxnSpPr>
        <p:spPr>
          <a:xfrm flipV="1">
            <a:off x="5003596" y="4426063"/>
            <a:ext cx="98573" cy="56859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1" name="Connector 50"/>
          <p:cNvCxnSpPr/>
          <p:nvPr/>
        </p:nvCxnSpPr>
        <p:spPr>
          <a:xfrm flipV="1">
            <a:off x="5102169" y="4357950"/>
            <a:ext cx="98572" cy="68113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2" name="Connector 51"/>
          <p:cNvCxnSpPr/>
          <p:nvPr/>
        </p:nvCxnSpPr>
        <p:spPr>
          <a:xfrm flipV="1">
            <a:off x="5200741" y="4279657"/>
            <a:ext cx="98572" cy="78293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3" name="Connector 52"/>
          <p:cNvCxnSpPr/>
          <p:nvPr/>
        </p:nvCxnSpPr>
        <p:spPr>
          <a:xfrm flipV="1">
            <a:off x="5299313" y="4192419"/>
            <a:ext cx="98573" cy="87238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4" name="Connector 53"/>
          <p:cNvCxnSpPr/>
          <p:nvPr/>
        </p:nvCxnSpPr>
        <p:spPr>
          <a:xfrm flipV="1">
            <a:off x="5397886" y="4097612"/>
            <a:ext cx="98572" cy="94807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5" name="Connector 54"/>
          <p:cNvCxnSpPr/>
          <p:nvPr/>
        </p:nvCxnSpPr>
        <p:spPr>
          <a:xfrm flipV="1">
            <a:off x="5496458" y="3996731"/>
            <a:ext cx="98572" cy="100881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6" name="Connector 55"/>
          <p:cNvCxnSpPr/>
          <p:nvPr/>
        </p:nvCxnSpPr>
        <p:spPr>
          <a:xfrm flipV="1">
            <a:off x="5595030" y="3891367"/>
            <a:ext cx="98573" cy="105364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7" name="Connector 56"/>
          <p:cNvCxnSpPr/>
          <p:nvPr/>
        </p:nvCxnSpPr>
        <p:spPr>
          <a:xfrm flipV="1">
            <a:off x="5693603" y="3783182"/>
            <a:ext cx="98572" cy="108185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8" name="Connector 57"/>
          <p:cNvCxnSpPr/>
          <p:nvPr/>
        </p:nvCxnSpPr>
        <p:spPr>
          <a:xfrm flipV="1">
            <a:off x="5792175" y="3673881"/>
            <a:ext cx="98572" cy="109301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9" name="Connector 58"/>
          <p:cNvCxnSpPr/>
          <p:nvPr/>
        </p:nvCxnSpPr>
        <p:spPr>
          <a:xfrm flipV="1">
            <a:off x="5890747" y="3565189"/>
            <a:ext cx="98573" cy="108692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0" name="Connector 59"/>
          <p:cNvCxnSpPr/>
          <p:nvPr/>
        </p:nvCxnSpPr>
        <p:spPr>
          <a:xfrm flipV="1">
            <a:off x="5989320" y="3458819"/>
            <a:ext cx="98572" cy="106370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1" name="Connector 60"/>
          <p:cNvCxnSpPr/>
          <p:nvPr/>
        </p:nvCxnSpPr>
        <p:spPr>
          <a:xfrm flipV="1">
            <a:off x="6087892" y="3356450"/>
            <a:ext cx="98572" cy="102369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2" name="Connector 61"/>
          <p:cNvCxnSpPr/>
          <p:nvPr/>
        </p:nvCxnSpPr>
        <p:spPr>
          <a:xfrm flipV="1">
            <a:off x="6186464" y="3259695"/>
            <a:ext cx="98572" cy="96755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3" name="Connector 62"/>
          <p:cNvCxnSpPr/>
          <p:nvPr/>
        </p:nvCxnSpPr>
        <p:spPr>
          <a:xfrm flipV="1">
            <a:off x="6285036" y="3170080"/>
            <a:ext cx="98573" cy="89615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4" name="Connector 63"/>
          <p:cNvCxnSpPr/>
          <p:nvPr/>
        </p:nvCxnSpPr>
        <p:spPr>
          <a:xfrm flipV="1">
            <a:off x="6383609" y="3089019"/>
            <a:ext cx="98572" cy="81061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5" name="Connector 64"/>
          <p:cNvCxnSpPr/>
          <p:nvPr/>
        </p:nvCxnSpPr>
        <p:spPr>
          <a:xfrm flipV="1">
            <a:off x="6482181" y="3017791"/>
            <a:ext cx="98572" cy="71228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6" name="Connector 65"/>
          <p:cNvCxnSpPr/>
          <p:nvPr/>
        </p:nvCxnSpPr>
        <p:spPr>
          <a:xfrm flipV="1">
            <a:off x="6580753" y="2957517"/>
            <a:ext cx="98573" cy="60274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7" name="Connector 66"/>
          <p:cNvCxnSpPr/>
          <p:nvPr/>
        </p:nvCxnSpPr>
        <p:spPr>
          <a:xfrm flipV="1">
            <a:off x="6679326" y="2909150"/>
            <a:ext cx="98572" cy="48367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8" name="Connector 67"/>
          <p:cNvCxnSpPr/>
          <p:nvPr/>
        </p:nvCxnSpPr>
        <p:spPr>
          <a:xfrm flipV="1">
            <a:off x="6777898" y="2873451"/>
            <a:ext cx="98572" cy="35699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9" name="Connector 68"/>
          <p:cNvCxnSpPr/>
          <p:nvPr/>
        </p:nvCxnSpPr>
        <p:spPr>
          <a:xfrm flipV="1">
            <a:off x="6876470" y="2850984"/>
            <a:ext cx="98573" cy="22467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0" name="Connector 69"/>
          <p:cNvCxnSpPr/>
          <p:nvPr/>
        </p:nvCxnSpPr>
        <p:spPr>
          <a:xfrm flipV="1">
            <a:off x="6975043" y="2842104"/>
            <a:ext cx="98572" cy="8880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1" name="Connector 70"/>
          <p:cNvCxnSpPr/>
          <p:nvPr/>
        </p:nvCxnSpPr>
        <p:spPr>
          <a:xfrm>
            <a:off x="7073615" y="2842104"/>
            <a:ext cx="98572" cy="4845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2" name="Connector 71"/>
          <p:cNvCxnSpPr/>
          <p:nvPr/>
        </p:nvCxnSpPr>
        <p:spPr>
          <a:xfrm>
            <a:off x="7172187" y="2846949"/>
            <a:ext cx="98573" cy="18495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3" name="Connector 72"/>
          <p:cNvCxnSpPr/>
          <p:nvPr/>
        </p:nvCxnSpPr>
        <p:spPr>
          <a:xfrm>
            <a:off x="7270760" y="2865444"/>
            <a:ext cx="98572" cy="31853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4" name="Connector 73"/>
          <p:cNvCxnSpPr/>
          <p:nvPr/>
        </p:nvCxnSpPr>
        <p:spPr>
          <a:xfrm>
            <a:off x="7369332" y="2897297"/>
            <a:ext cx="98572" cy="44708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5" name="Connector 74"/>
          <p:cNvCxnSpPr/>
          <p:nvPr/>
        </p:nvCxnSpPr>
        <p:spPr>
          <a:xfrm>
            <a:off x="7467904" y="2942005"/>
            <a:ext cx="98573" cy="56859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6" name="Connector 75"/>
          <p:cNvCxnSpPr/>
          <p:nvPr/>
        </p:nvCxnSpPr>
        <p:spPr>
          <a:xfrm>
            <a:off x="7566477" y="2998864"/>
            <a:ext cx="98572" cy="68113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7" name="Connector 76"/>
          <p:cNvCxnSpPr/>
          <p:nvPr/>
        </p:nvCxnSpPr>
        <p:spPr>
          <a:xfrm>
            <a:off x="7665049" y="3066977"/>
            <a:ext cx="98572" cy="78293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8" name="Connector 77"/>
          <p:cNvCxnSpPr/>
          <p:nvPr/>
        </p:nvCxnSpPr>
        <p:spPr>
          <a:xfrm>
            <a:off x="7763621" y="3145270"/>
            <a:ext cx="98573" cy="87238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9" name="Connector 78"/>
          <p:cNvCxnSpPr/>
          <p:nvPr/>
        </p:nvCxnSpPr>
        <p:spPr>
          <a:xfrm>
            <a:off x="7862194" y="3232508"/>
            <a:ext cx="98572" cy="94807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0" name="Connector 79"/>
          <p:cNvCxnSpPr/>
          <p:nvPr/>
        </p:nvCxnSpPr>
        <p:spPr>
          <a:xfrm>
            <a:off x="7960766" y="3327315"/>
            <a:ext cx="98572" cy="100881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1" name="Connector 80"/>
          <p:cNvCxnSpPr/>
          <p:nvPr/>
        </p:nvCxnSpPr>
        <p:spPr>
          <a:xfrm>
            <a:off x="8059338" y="3428196"/>
            <a:ext cx="98573" cy="105364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2" name="Connector 81"/>
          <p:cNvCxnSpPr/>
          <p:nvPr/>
        </p:nvCxnSpPr>
        <p:spPr>
          <a:xfrm>
            <a:off x="8157911" y="3533560"/>
            <a:ext cx="98572" cy="108185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3" name="Connector 82"/>
          <p:cNvCxnSpPr/>
          <p:nvPr/>
        </p:nvCxnSpPr>
        <p:spPr>
          <a:xfrm>
            <a:off x="8256483" y="3641745"/>
            <a:ext cx="98572" cy="109301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4" name="Connector 83"/>
          <p:cNvCxnSpPr/>
          <p:nvPr/>
        </p:nvCxnSpPr>
        <p:spPr>
          <a:xfrm>
            <a:off x="8355055" y="3751046"/>
            <a:ext cx="98573" cy="108692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5" name="Connector 84"/>
          <p:cNvCxnSpPr/>
          <p:nvPr/>
        </p:nvCxnSpPr>
        <p:spPr>
          <a:xfrm>
            <a:off x="8453628" y="3859738"/>
            <a:ext cx="98572" cy="106370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6" name="Connector 85"/>
          <p:cNvCxnSpPr/>
          <p:nvPr/>
        </p:nvCxnSpPr>
        <p:spPr>
          <a:xfrm>
            <a:off x="8552200" y="3966108"/>
            <a:ext cx="98572" cy="102369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7" name="Connector 86"/>
          <p:cNvCxnSpPr/>
          <p:nvPr/>
        </p:nvCxnSpPr>
        <p:spPr>
          <a:xfrm>
            <a:off x="8650772" y="4068477"/>
            <a:ext cx="98572" cy="96755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8" name="Connector 87"/>
          <p:cNvCxnSpPr/>
          <p:nvPr/>
        </p:nvCxnSpPr>
        <p:spPr>
          <a:xfrm>
            <a:off x="8749344" y="4165232"/>
            <a:ext cx="98573" cy="89615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9" name="Connector 88"/>
          <p:cNvCxnSpPr/>
          <p:nvPr/>
        </p:nvCxnSpPr>
        <p:spPr>
          <a:xfrm>
            <a:off x="8847917" y="4254847"/>
            <a:ext cx="98572" cy="81061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0" name="Connector 89"/>
          <p:cNvCxnSpPr/>
          <p:nvPr/>
        </p:nvCxnSpPr>
        <p:spPr>
          <a:xfrm>
            <a:off x="8946489" y="4335908"/>
            <a:ext cx="98572" cy="71228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1" name="Connector 90"/>
          <p:cNvCxnSpPr/>
          <p:nvPr/>
        </p:nvCxnSpPr>
        <p:spPr>
          <a:xfrm>
            <a:off x="9045061" y="4407136"/>
            <a:ext cx="98573" cy="60274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2" name="Connector 91"/>
          <p:cNvCxnSpPr/>
          <p:nvPr/>
        </p:nvCxnSpPr>
        <p:spPr>
          <a:xfrm>
            <a:off x="9143634" y="4467410"/>
            <a:ext cx="98572" cy="48367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3" name="Connector 92"/>
          <p:cNvCxnSpPr/>
          <p:nvPr/>
        </p:nvCxnSpPr>
        <p:spPr>
          <a:xfrm>
            <a:off x="9242206" y="4515777"/>
            <a:ext cx="98572" cy="35699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4" name="Connector 93"/>
          <p:cNvCxnSpPr/>
          <p:nvPr/>
        </p:nvCxnSpPr>
        <p:spPr>
          <a:xfrm>
            <a:off x="9340778" y="4551476"/>
            <a:ext cx="98573" cy="22467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5" name="Connector 94"/>
          <p:cNvCxnSpPr/>
          <p:nvPr/>
        </p:nvCxnSpPr>
        <p:spPr>
          <a:xfrm>
            <a:off x="9439351" y="4573943"/>
            <a:ext cx="98572" cy="8880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6" name="Connector 95"/>
          <p:cNvCxnSpPr/>
          <p:nvPr/>
        </p:nvCxnSpPr>
        <p:spPr>
          <a:xfrm flipV="1">
            <a:off x="9537923" y="4577978"/>
            <a:ext cx="98572" cy="4845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7" name="Connector 96"/>
          <p:cNvCxnSpPr/>
          <p:nvPr/>
        </p:nvCxnSpPr>
        <p:spPr>
          <a:xfrm flipV="1">
            <a:off x="9636495" y="4559483"/>
            <a:ext cx="98573" cy="18495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8" name="Connector 97"/>
          <p:cNvCxnSpPr/>
          <p:nvPr/>
        </p:nvCxnSpPr>
        <p:spPr>
          <a:xfrm flipV="1">
            <a:off x="9735068" y="4527630"/>
            <a:ext cx="98572" cy="31853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9" name="Connector 98"/>
          <p:cNvCxnSpPr/>
          <p:nvPr/>
        </p:nvCxnSpPr>
        <p:spPr>
          <a:xfrm flipV="1">
            <a:off x="9833640" y="4482922"/>
            <a:ext cx="98572" cy="44708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0" name="Connector 99"/>
          <p:cNvCxnSpPr/>
          <p:nvPr/>
        </p:nvCxnSpPr>
        <p:spPr>
          <a:xfrm flipV="1">
            <a:off x="9932212" y="4426063"/>
            <a:ext cx="98573" cy="56859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1" name="Connector 100"/>
          <p:cNvCxnSpPr/>
          <p:nvPr/>
        </p:nvCxnSpPr>
        <p:spPr>
          <a:xfrm flipV="1">
            <a:off x="10030785" y="4357950"/>
            <a:ext cx="98572" cy="68113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2" name="Connector 101"/>
          <p:cNvCxnSpPr/>
          <p:nvPr/>
        </p:nvCxnSpPr>
        <p:spPr>
          <a:xfrm flipV="1">
            <a:off x="10129357" y="4279657"/>
            <a:ext cx="98572" cy="78293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3" name="Connector 102"/>
          <p:cNvCxnSpPr/>
          <p:nvPr/>
        </p:nvCxnSpPr>
        <p:spPr>
          <a:xfrm flipV="1">
            <a:off x="10227929" y="4192419"/>
            <a:ext cx="98573" cy="87238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4" name="Connector 103"/>
          <p:cNvCxnSpPr/>
          <p:nvPr/>
        </p:nvCxnSpPr>
        <p:spPr>
          <a:xfrm flipV="1">
            <a:off x="10326502" y="4097612"/>
            <a:ext cx="98572" cy="94807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5" name="Connector 104"/>
          <p:cNvCxnSpPr/>
          <p:nvPr/>
        </p:nvCxnSpPr>
        <p:spPr>
          <a:xfrm flipV="1">
            <a:off x="10425074" y="3996731"/>
            <a:ext cx="98572" cy="100881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6" name="Connector 105"/>
          <p:cNvCxnSpPr/>
          <p:nvPr/>
        </p:nvCxnSpPr>
        <p:spPr>
          <a:xfrm flipV="1">
            <a:off x="10523646" y="3891367"/>
            <a:ext cx="98573" cy="105364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7" name="Connector 106"/>
          <p:cNvCxnSpPr/>
          <p:nvPr/>
        </p:nvCxnSpPr>
        <p:spPr>
          <a:xfrm flipV="1">
            <a:off x="10622219" y="3783182"/>
            <a:ext cx="98572" cy="108185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8" name="Connector 107"/>
          <p:cNvCxnSpPr/>
          <p:nvPr/>
        </p:nvCxnSpPr>
        <p:spPr>
          <a:xfrm flipV="1">
            <a:off x="10720791" y="3673881"/>
            <a:ext cx="98572" cy="109301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9" name="Connector 108"/>
          <p:cNvCxnSpPr/>
          <p:nvPr/>
        </p:nvCxnSpPr>
        <p:spPr>
          <a:xfrm flipV="1">
            <a:off x="10819363" y="3565189"/>
            <a:ext cx="98573" cy="108692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0" name="Connector 109"/>
          <p:cNvCxnSpPr/>
          <p:nvPr/>
        </p:nvCxnSpPr>
        <p:spPr>
          <a:xfrm>
            <a:off x="6638544" y="2587752"/>
            <a:ext cx="0" cy="2286000"/>
          </a:xfrm>
          <a:prstGeom prst="line">
            <a:avLst/>
          </a:prstGeom>
          <a:ln w="40640"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1" name="TextBox 110"/>
          <p:cNvSpPr txBox="1"/>
          <p:nvPr/>
        </p:nvSpPr>
        <p:spPr>
          <a:xfrm>
            <a:off x="914400" y="5330952"/>
            <a:ext cx="5760720" cy="49377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300"/>
              </a:spcAft>
              <a:defRPr sz="2300" b="1">
                <a:solidFill>
                  <a:srgbClr val="262626"/>
                </a:solidFill>
                <a:latin typeface="Alibaba PuHuiTi 3.0 115 Black"/>
              </a:defRPr>
            </a:pPr>
            <a:r>
              <a:t>▶ 由教室浏览器播放</a:t>
            </a:r>
          </a:p>
        </p:txBody>
      </p:sp>
      <p:sp>
        <p:nvSpPr>
          <p:cNvPr id="112" name="TextBox 111"/>
          <p:cNvSpPr txBox="1"/>
          <p:nvPr/>
        </p:nvSpPr>
        <p:spPr>
          <a:xfrm>
            <a:off x="7726679" y="5330952"/>
            <a:ext cx="3108960" cy="49377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300"/>
              </a:spcAft>
              <a:defRPr sz="2300" b="1">
                <a:solidFill>
                  <a:srgbClr val="8C64E1"/>
                </a:solidFill>
                <a:latin typeface="Alibaba PuHuiTi 3.0 115 Black"/>
              </a:defRPr>
            </a:pPr>
            <a:r>
              <a:t>时间继续向右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36576"/>
            <a:ext cx="12191695" cy="73152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57416"/>
            <a:ext cx="12191695" cy="73152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12648" y="576072"/>
            <a:ext cx="10972800" cy="7863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3400" b="1">
                <a:solidFill>
                  <a:srgbClr val="262626"/>
                </a:solidFill>
                <a:latin typeface="Alibaba PuHuiTi 3.0 115 Black"/>
              </a:defRPr>
            </a:pPr>
            <a:r>
              <a:t>如果只能记录有限个数字，应该记录哪些时刻？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914400" y="3483864"/>
            <a:ext cx="10058400" cy="0"/>
          </a:xfrm>
          <a:prstGeom prst="line">
            <a:avLst/>
          </a:prstGeom>
          <a:ln w="2032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>
            <a:off x="1005840" y="1956816"/>
            <a:ext cx="0" cy="3063239"/>
          </a:xfrm>
          <a:prstGeom prst="line">
            <a:avLst/>
          </a:prstGeom>
          <a:ln w="1651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1033271" y="1645920"/>
            <a:ext cx="128016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1600" b="0">
                <a:solidFill>
                  <a:srgbClr val="808080"/>
                </a:solidFill>
                <a:latin typeface="Alibaba PuHuiTi 3.0 55 Regular"/>
              </a:defRPr>
            </a:pPr>
            <a:r>
              <a:t>振幅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0" y="3602736"/>
            <a:ext cx="82296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1600" b="0">
                <a:solidFill>
                  <a:srgbClr val="808080"/>
                </a:solidFill>
                <a:latin typeface="Alibaba PuHuiTi 3.0 55 Regular"/>
              </a:defRPr>
            </a:pPr>
            <a:r>
              <a:t>时间</a:t>
            </a:r>
          </a:p>
        </p:txBody>
      </p:sp>
      <p:cxnSp>
        <p:nvCxnSpPr>
          <p:cNvPr id="9" name="Connector 8"/>
          <p:cNvCxnSpPr/>
          <p:nvPr/>
        </p:nvCxnSpPr>
        <p:spPr>
          <a:xfrm flipV="1">
            <a:off x="1069848" y="3279400"/>
            <a:ext cx="93543" cy="126739"/>
          </a:xfrm>
          <a:prstGeom prst="line">
            <a:avLst/>
          </a:prstGeom>
          <a:ln w="3302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 flipV="1">
            <a:off x="1163391" y="3154370"/>
            <a:ext cx="93543" cy="125030"/>
          </a:xfrm>
          <a:prstGeom prst="line">
            <a:avLst/>
          </a:prstGeom>
          <a:ln w="3302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 flipV="1">
            <a:off x="1256934" y="3032739"/>
            <a:ext cx="93543" cy="121631"/>
          </a:xfrm>
          <a:prstGeom prst="line">
            <a:avLst/>
          </a:prstGeom>
          <a:ln w="3302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 flipV="1">
            <a:off x="1350477" y="2916147"/>
            <a:ext cx="93543" cy="116592"/>
          </a:xfrm>
          <a:prstGeom prst="line">
            <a:avLst/>
          </a:prstGeom>
          <a:ln w="3302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 flipV="1">
            <a:off x="1444020" y="2806168"/>
            <a:ext cx="93543" cy="109979"/>
          </a:xfrm>
          <a:prstGeom prst="line">
            <a:avLst/>
          </a:prstGeom>
          <a:ln w="3302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 flipV="1">
            <a:off x="1537563" y="2704286"/>
            <a:ext cx="93543" cy="101882"/>
          </a:xfrm>
          <a:prstGeom prst="line">
            <a:avLst/>
          </a:prstGeom>
          <a:ln w="3302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 flipV="1">
            <a:off x="1631106" y="2611877"/>
            <a:ext cx="93543" cy="92409"/>
          </a:xfrm>
          <a:prstGeom prst="line">
            <a:avLst/>
          </a:prstGeom>
          <a:ln w="3302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 flipV="1">
            <a:off x="1724649" y="2530188"/>
            <a:ext cx="93543" cy="81689"/>
          </a:xfrm>
          <a:prstGeom prst="line">
            <a:avLst/>
          </a:prstGeom>
          <a:ln w="3302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 flipV="1">
            <a:off x="1818192" y="2460320"/>
            <a:ext cx="93544" cy="69868"/>
          </a:xfrm>
          <a:prstGeom prst="line">
            <a:avLst/>
          </a:prstGeom>
          <a:ln w="3302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 flipV="1">
            <a:off x="1911736" y="2403218"/>
            <a:ext cx="93543" cy="57102"/>
          </a:xfrm>
          <a:prstGeom prst="line">
            <a:avLst/>
          </a:prstGeom>
          <a:ln w="3302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 flipV="1">
            <a:off x="2005279" y="2359651"/>
            <a:ext cx="93543" cy="43567"/>
          </a:xfrm>
          <a:prstGeom prst="line">
            <a:avLst/>
          </a:prstGeom>
          <a:ln w="3302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 flipV="1">
            <a:off x="2098822" y="2330208"/>
            <a:ext cx="93543" cy="29443"/>
          </a:xfrm>
          <a:prstGeom prst="line">
            <a:avLst/>
          </a:prstGeom>
          <a:ln w="3302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 flipV="1">
            <a:off x="2192365" y="2315286"/>
            <a:ext cx="93543" cy="14922"/>
          </a:xfrm>
          <a:prstGeom prst="line">
            <a:avLst/>
          </a:prstGeom>
          <a:ln w="3302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 flipV="1">
            <a:off x="2285908" y="2315087"/>
            <a:ext cx="93543" cy="199"/>
          </a:xfrm>
          <a:prstGeom prst="line">
            <a:avLst/>
          </a:prstGeom>
          <a:ln w="3302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>
            <a:off x="2379451" y="2315087"/>
            <a:ext cx="93543" cy="14526"/>
          </a:xfrm>
          <a:prstGeom prst="line">
            <a:avLst/>
          </a:prstGeom>
          <a:ln w="3302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>
            <a:off x="2472994" y="2329613"/>
            <a:ext cx="93543" cy="29054"/>
          </a:xfrm>
          <a:prstGeom prst="line">
            <a:avLst/>
          </a:prstGeom>
          <a:ln w="3302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>
            <a:off x="2566537" y="2358667"/>
            <a:ext cx="93544" cy="43192"/>
          </a:xfrm>
          <a:prstGeom prst="line">
            <a:avLst/>
          </a:prstGeom>
          <a:ln w="3302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>
            <a:off x="2660081" y="2401859"/>
            <a:ext cx="93543" cy="56746"/>
          </a:xfrm>
          <a:prstGeom prst="line">
            <a:avLst/>
          </a:prstGeom>
          <a:ln w="3302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6"/>
          <p:cNvCxnSpPr/>
          <p:nvPr/>
        </p:nvCxnSpPr>
        <p:spPr>
          <a:xfrm>
            <a:off x="2753624" y="2458605"/>
            <a:ext cx="93543" cy="69534"/>
          </a:xfrm>
          <a:prstGeom prst="line">
            <a:avLst/>
          </a:prstGeom>
          <a:ln w="3302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ector 27"/>
          <p:cNvCxnSpPr/>
          <p:nvPr/>
        </p:nvCxnSpPr>
        <p:spPr>
          <a:xfrm>
            <a:off x="2847167" y="2528139"/>
            <a:ext cx="93543" cy="81384"/>
          </a:xfrm>
          <a:prstGeom prst="line">
            <a:avLst/>
          </a:prstGeom>
          <a:ln w="3302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Connector 28"/>
          <p:cNvCxnSpPr/>
          <p:nvPr/>
        </p:nvCxnSpPr>
        <p:spPr>
          <a:xfrm>
            <a:off x="2940710" y="2609523"/>
            <a:ext cx="93543" cy="92135"/>
          </a:xfrm>
          <a:prstGeom prst="line">
            <a:avLst/>
          </a:prstGeom>
          <a:ln w="3302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nector 29"/>
          <p:cNvCxnSpPr/>
          <p:nvPr/>
        </p:nvCxnSpPr>
        <p:spPr>
          <a:xfrm>
            <a:off x="3034253" y="2701658"/>
            <a:ext cx="93543" cy="101643"/>
          </a:xfrm>
          <a:prstGeom prst="line">
            <a:avLst/>
          </a:prstGeom>
          <a:ln w="3302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nector 30"/>
          <p:cNvCxnSpPr/>
          <p:nvPr/>
        </p:nvCxnSpPr>
        <p:spPr>
          <a:xfrm>
            <a:off x="3127796" y="2803301"/>
            <a:ext cx="93543" cy="109779"/>
          </a:xfrm>
          <a:prstGeom prst="line">
            <a:avLst/>
          </a:prstGeom>
          <a:ln w="3302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Connector 31"/>
          <p:cNvCxnSpPr/>
          <p:nvPr/>
        </p:nvCxnSpPr>
        <p:spPr>
          <a:xfrm>
            <a:off x="3221339" y="2913080"/>
            <a:ext cx="93543" cy="116434"/>
          </a:xfrm>
          <a:prstGeom prst="line">
            <a:avLst/>
          </a:prstGeom>
          <a:ln w="3302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Connector 32"/>
          <p:cNvCxnSpPr/>
          <p:nvPr/>
        </p:nvCxnSpPr>
        <p:spPr>
          <a:xfrm>
            <a:off x="3314882" y="3029514"/>
            <a:ext cx="93544" cy="121517"/>
          </a:xfrm>
          <a:prstGeom prst="line">
            <a:avLst/>
          </a:prstGeom>
          <a:ln w="3302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Connector 33"/>
          <p:cNvCxnSpPr/>
          <p:nvPr/>
        </p:nvCxnSpPr>
        <p:spPr>
          <a:xfrm>
            <a:off x="3408426" y="3151031"/>
            <a:ext cx="93543" cy="124959"/>
          </a:xfrm>
          <a:prstGeom prst="line">
            <a:avLst/>
          </a:prstGeom>
          <a:ln w="3302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Connector 34"/>
          <p:cNvCxnSpPr/>
          <p:nvPr/>
        </p:nvCxnSpPr>
        <p:spPr>
          <a:xfrm>
            <a:off x="3501969" y="3275990"/>
            <a:ext cx="93543" cy="126716"/>
          </a:xfrm>
          <a:prstGeom prst="line">
            <a:avLst/>
          </a:prstGeom>
          <a:ln w="3302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Connector 35"/>
          <p:cNvCxnSpPr/>
          <p:nvPr/>
        </p:nvCxnSpPr>
        <p:spPr>
          <a:xfrm>
            <a:off x="3595512" y="3402706"/>
            <a:ext cx="93543" cy="126763"/>
          </a:xfrm>
          <a:prstGeom prst="line">
            <a:avLst/>
          </a:prstGeom>
          <a:ln w="3302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" name="Connector 36"/>
          <p:cNvCxnSpPr/>
          <p:nvPr/>
        </p:nvCxnSpPr>
        <p:spPr>
          <a:xfrm>
            <a:off x="3689055" y="3529469"/>
            <a:ext cx="93543" cy="125098"/>
          </a:xfrm>
          <a:prstGeom prst="line">
            <a:avLst/>
          </a:prstGeom>
          <a:ln w="3302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" name="Connector 37"/>
          <p:cNvCxnSpPr/>
          <p:nvPr/>
        </p:nvCxnSpPr>
        <p:spPr>
          <a:xfrm>
            <a:off x="3782598" y="3654567"/>
            <a:ext cx="93543" cy="121745"/>
          </a:xfrm>
          <a:prstGeom prst="line">
            <a:avLst/>
          </a:prstGeom>
          <a:ln w="3302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" name="Connector 38"/>
          <p:cNvCxnSpPr/>
          <p:nvPr/>
        </p:nvCxnSpPr>
        <p:spPr>
          <a:xfrm>
            <a:off x="3876141" y="3776312"/>
            <a:ext cx="93543" cy="116749"/>
          </a:xfrm>
          <a:prstGeom prst="line">
            <a:avLst/>
          </a:prstGeom>
          <a:ln w="3302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" name="Connector 39"/>
          <p:cNvCxnSpPr/>
          <p:nvPr/>
        </p:nvCxnSpPr>
        <p:spPr>
          <a:xfrm>
            <a:off x="3969684" y="3893061"/>
            <a:ext cx="93543" cy="110178"/>
          </a:xfrm>
          <a:prstGeom prst="line">
            <a:avLst/>
          </a:prstGeom>
          <a:ln w="3302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" name="Connector 40"/>
          <p:cNvCxnSpPr/>
          <p:nvPr/>
        </p:nvCxnSpPr>
        <p:spPr>
          <a:xfrm>
            <a:off x="4063227" y="4003239"/>
            <a:ext cx="93543" cy="102119"/>
          </a:xfrm>
          <a:prstGeom prst="line">
            <a:avLst/>
          </a:prstGeom>
          <a:ln w="3302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" name="Connector 41"/>
          <p:cNvCxnSpPr/>
          <p:nvPr/>
        </p:nvCxnSpPr>
        <p:spPr>
          <a:xfrm>
            <a:off x="4156770" y="4105358"/>
            <a:ext cx="93544" cy="92682"/>
          </a:xfrm>
          <a:prstGeom prst="line">
            <a:avLst/>
          </a:prstGeom>
          <a:ln w="3302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3" name="Connector 42"/>
          <p:cNvCxnSpPr/>
          <p:nvPr/>
        </p:nvCxnSpPr>
        <p:spPr>
          <a:xfrm>
            <a:off x="4250314" y="4198040"/>
            <a:ext cx="93543" cy="81994"/>
          </a:xfrm>
          <a:prstGeom prst="line">
            <a:avLst/>
          </a:prstGeom>
          <a:ln w="3302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Connector 43"/>
          <p:cNvCxnSpPr/>
          <p:nvPr/>
        </p:nvCxnSpPr>
        <p:spPr>
          <a:xfrm>
            <a:off x="4343857" y="4280034"/>
            <a:ext cx="93543" cy="70201"/>
          </a:xfrm>
          <a:prstGeom prst="line">
            <a:avLst/>
          </a:prstGeom>
          <a:ln w="3302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" name="Connector 44"/>
          <p:cNvCxnSpPr/>
          <p:nvPr/>
        </p:nvCxnSpPr>
        <p:spPr>
          <a:xfrm>
            <a:off x="4437400" y="4350235"/>
            <a:ext cx="93543" cy="57458"/>
          </a:xfrm>
          <a:prstGeom prst="line">
            <a:avLst/>
          </a:prstGeom>
          <a:ln w="3302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6" name="Connector 45"/>
          <p:cNvCxnSpPr/>
          <p:nvPr/>
        </p:nvCxnSpPr>
        <p:spPr>
          <a:xfrm>
            <a:off x="4530943" y="4407693"/>
            <a:ext cx="93543" cy="43941"/>
          </a:xfrm>
          <a:prstGeom prst="line">
            <a:avLst/>
          </a:prstGeom>
          <a:ln w="3302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7" name="Connector 46"/>
          <p:cNvCxnSpPr/>
          <p:nvPr/>
        </p:nvCxnSpPr>
        <p:spPr>
          <a:xfrm>
            <a:off x="4624486" y="4451634"/>
            <a:ext cx="93543" cy="29831"/>
          </a:xfrm>
          <a:prstGeom prst="line">
            <a:avLst/>
          </a:prstGeom>
          <a:ln w="3302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8" name="Connector 47"/>
          <p:cNvCxnSpPr/>
          <p:nvPr/>
        </p:nvCxnSpPr>
        <p:spPr>
          <a:xfrm>
            <a:off x="4718029" y="4481465"/>
            <a:ext cx="93543" cy="15318"/>
          </a:xfrm>
          <a:prstGeom prst="line">
            <a:avLst/>
          </a:prstGeom>
          <a:ln w="3302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9" name="Connector 48"/>
          <p:cNvCxnSpPr/>
          <p:nvPr/>
        </p:nvCxnSpPr>
        <p:spPr>
          <a:xfrm>
            <a:off x="4811572" y="4496783"/>
            <a:ext cx="93543" cy="598"/>
          </a:xfrm>
          <a:prstGeom prst="line">
            <a:avLst/>
          </a:prstGeom>
          <a:ln w="3302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0" name="Connector 49"/>
          <p:cNvCxnSpPr/>
          <p:nvPr/>
        </p:nvCxnSpPr>
        <p:spPr>
          <a:xfrm flipV="1">
            <a:off x="4905115" y="4483251"/>
            <a:ext cx="93544" cy="14130"/>
          </a:xfrm>
          <a:prstGeom prst="line">
            <a:avLst/>
          </a:prstGeom>
          <a:ln w="3302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1" name="Connector 50"/>
          <p:cNvCxnSpPr/>
          <p:nvPr/>
        </p:nvCxnSpPr>
        <p:spPr>
          <a:xfrm flipV="1">
            <a:off x="4998659" y="4454585"/>
            <a:ext cx="93543" cy="28666"/>
          </a:xfrm>
          <a:prstGeom prst="line">
            <a:avLst/>
          </a:prstGeom>
          <a:ln w="3302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2" name="Connector 51"/>
          <p:cNvCxnSpPr/>
          <p:nvPr/>
        </p:nvCxnSpPr>
        <p:spPr>
          <a:xfrm flipV="1">
            <a:off x="5092202" y="4411768"/>
            <a:ext cx="93543" cy="42817"/>
          </a:xfrm>
          <a:prstGeom prst="line">
            <a:avLst/>
          </a:prstGeom>
          <a:ln w="3302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3" name="Connector 52"/>
          <p:cNvCxnSpPr/>
          <p:nvPr/>
        </p:nvCxnSpPr>
        <p:spPr>
          <a:xfrm flipV="1">
            <a:off x="5185745" y="4355380"/>
            <a:ext cx="93543" cy="56388"/>
          </a:xfrm>
          <a:prstGeom prst="line">
            <a:avLst/>
          </a:prstGeom>
          <a:ln w="3302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4" name="Connector 53"/>
          <p:cNvCxnSpPr/>
          <p:nvPr/>
        </p:nvCxnSpPr>
        <p:spPr>
          <a:xfrm flipV="1">
            <a:off x="5279288" y="4286180"/>
            <a:ext cx="93543" cy="69200"/>
          </a:xfrm>
          <a:prstGeom prst="line">
            <a:avLst/>
          </a:prstGeom>
          <a:ln w="3302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5" name="Connector 54"/>
          <p:cNvCxnSpPr/>
          <p:nvPr/>
        </p:nvCxnSpPr>
        <p:spPr>
          <a:xfrm flipV="1">
            <a:off x="5372831" y="4205102"/>
            <a:ext cx="93543" cy="81078"/>
          </a:xfrm>
          <a:prstGeom prst="line">
            <a:avLst/>
          </a:prstGeom>
          <a:ln w="3302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6" name="Connector 55"/>
          <p:cNvCxnSpPr/>
          <p:nvPr/>
        </p:nvCxnSpPr>
        <p:spPr>
          <a:xfrm flipV="1">
            <a:off x="5466374" y="4113242"/>
            <a:ext cx="93543" cy="91860"/>
          </a:xfrm>
          <a:prstGeom prst="line">
            <a:avLst/>
          </a:prstGeom>
          <a:ln w="3302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7" name="Connector 56"/>
          <p:cNvCxnSpPr/>
          <p:nvPr/>
        </p:nvCxnSpPr>
        <p:spPr>
          <a:xfrm flipV="1">
            <a:off x="5559917" y="4011838"/>
            <a:ext cx="93543" cy="101404"/>
          </a:xfrm>
          <a:prstGeom prst="line">
            <a:avLst/>
          </a:prstGeom>
          <a:ln w="3302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8" name="Connector 57"/>
          <p:cNvCxnSpPr/>
          <p:nvPr/>
        </p:nvCxnSpPr>
        <p:spPr>
          <a:xfrm flipV="1">
            <a:off x="5653460" y="3902260"/>
            <a:ext cx="93544" cy="109578"/>
          </a:xfrm>
          <a:prstGeom prst="line">
            <a:avLst/>
          </a:prstGeom>
          <a:ln w="3302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9" name="Connector 58"/>
          <p:cNvCxnSpPr/>
          <p:nvPr/>
        </p:nvCxnSpPr>
        <p:spPr>
          <a:xfrm flipV="1">
            <a:off x="5747004" y="3785986"/>
            <a:ext cx="93543" cy="116274"/>
          </a:xfrm>
          <a:prstGeom prst="line">
            <a:avLst/>
          </a:prstGeom>
          <a:ln w="3302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0" name="Connector 59"/>
          <p:cNvCxnSpPr/>
          <p:nvPr/>
        </p:nvCxnSpPr>
        <p:spPr>
          <a:xfrm flipV="1">
            <a:off x="5840547" y="3664585"/>
            <a:ext cx="93543" cy="121401"/>
          </a:xfrm>
          <a:prstGeom prst="line">
            <a:avLst/>
          </a:prstGeom>
          <a:ln w="3302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1" name="Connector 60"/>
          <p:cNvCxnSpPr/>
          <p:nvPr/>
        </p:nvCxnSpPr>
        <p:spPr>
          <a:xfrm flipV="1">
            <a:off x="5934090" y="3539697"/>
            <a:ext cx="93543" cy="124888"/>
          </a:xfrm>
          <a:prstGeom prst="line">
            <a:avLst/>
          </a:prstGeom>
          <a:ln w="3302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2" name="Connector 61"/>
          <p:cNvCxnSpPr/>
          <p:nvPr/>
        </p:nvCxnSpPr>
        <p:spPr>
          <a:xfrm flipV="1">
            <a:off x="6027633" y="3413006"/>
            <a:ext cx="93543" cy="126691"/>
          </a:xfrm>
          <a:prstGeom prst="line">
            <a:avLst/>
          </a:prstGeom>
          <a:ln w="3302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3" name="Connector 62"/>
          <p:cNvCxnSpPr/>
          <p:nvPr/>
        </p:nvCxnSpPr>
        <p:spPr>
          <a:xfrm flipV="1">
            <a:off x="6121176" y="3286222"/>
            <a:ext cx="93543" cy="126784"/>
          </a:xfrm>
          <a:prstGeom prst="line">
            <a:avLst/>
          </a:prstGeom>
          <a:ln w="3302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4" name="Connector 63"/>
          <p:cNvCxnSpPr/>
          <p:nvPr/>
        </p:nvCxnSpPr>
        <p:spPr>
          <a:xfrm flipV="1">
            <a:off x="6214719" y="3161057"/>
            <a:ext cx="93543" cy="125165"/>
          </a:xfrm>
          <a:prstGeom prst="line">
            <a:avLst/>
          </a:prstGeom>
          <a:ln w="3302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5" name="Connector 64"/>
          <p:cNvCxnSpPr/>
          <p:nvPr/>
        </p:nvCxnSpPr>
        <p:spPr>
          <a:xfrm flipV="1">
            <a:off x="6308262" y="3039199"/>
            <a:ext cx="93543" cy="121858"/>
          </a:xfrm>
          <a:prstGeom prst="line">
            <a:avLst/>
          </a:prstGeom>
          <a:ln w="3302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6" name="Connector 65"/>
          <p:cNvCxnSpPr/>
          <p:nvPr/>
        </p:nvCxnSpPr>
        <p:spPr>
          <a:xfrm flipV="1">
            <a:off x="6401805" y="2922294"/>
            <a:ext cx="93543" cy="116905"/>
          </a:xfrm>
          <a:prstGeom prst="line">
            <a:avLst/>
          </a:prstGeom>
          <a:ln w="3302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7" name="Connector 66"/>
          <p:cNvCxnSpPr/>
          <p:nvPr/>
        </p:nvCxnSpPr>
        <p:spPr>
          <a:xfrm flipV="1">
            <a:off x="6495348" y="2811918"/>
            <a:ext cx="93544" cy="110376"/>
          </a:xfrm>
          <a:prstGeom prst="line">
            <a:avLst/>
          </a:prstGeom>
          <a:ln w="3302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8" name="Connector 67"/>
          <p:cNvCxnSpPr/>
          <p:nvPr/>
        </p:nvCxnSpPr>
        <p:spPr>
          <a:xfrm flipV="1">
            <a:off x="6588892" y="2709563"/>
            <a:ext cx="93543" cy="102355"/>
          </a:xfrm>
          <a:prstGeom prst="line">
            <a:avLst/>
          </a:prstGeom>
          <a:ln w="3302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9" name="Connector 68"/>
          <p:cNvCxnSpPr/>
          <p:nvPr/>
        </p:nvCxnSpPr>
        <p:spPr>
          <a:xfrm flipV="1">
            <a:off x="6682435" y="2616609"/>
            <a:ext cx="93543" cy="92954"/>
          </a:xfrm>
          <a:prstGeom prst="line">
            <a:avLst/>
          </a:prstGeom>
          <a:ln w="3302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0" name="Connector 69"/>
          <p:cNvCxnSpPr/>
          <p:nvPr/>
        </p:nvCxnSpPr>
        <p:spPr>
          <a:xfrm flipV="1">
            <a:off x="6775978" y="2534310"/>
            <a:ext cx="93543" cy="82299"/>
          </a:xfrm>
          <a:prstGeom prst="line">
            <a:avLst/>
          </a:prstGeom>
          <a:ln w="3302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1" name="Connector 70"/>
          <p:cNvCxnSpPr/>
          <p:nvPr/>
        </p:nvCxnSpPr>
        <p:spPr>
          <a:xfrm flipV="1">
            <a:off x="6869521" y="2463778"/>
            <a:ext cx="93543" cy="70532"/>
          </a:xfrm>
          <a:prstGeom prst="line">
            <a:avLst/>
          </a:prstGeom>
          <a:ln w="3302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2" name="Connector 71"/>
          <p:cNvCxnSpPr/>
          <p:nvPr/>
        </p:nvCxnSpPr>
        <p:spPr>
          <a:xfrm flipV="1">
            <a:off x="6963064" y="2405964"/>
            <a:ext cx="93543" cy="57814"/>
          </a:xfrm>
          <a:prstGeom prst="line">
            <a:avLst/>
          </a:prstGeom>
          <a:ln w="3302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3" name="Connector 72"/>
          <p:cNvCxnSpPr/>
          <p:nvPr/>
        </p:nvCxnSpPr>
        <p:spPr>
          <a:xfrm flipV="1">
            <a:off x="7056607" y="2361649"/>
            <a:ext cx="93543" cy="44315"/>
          </a:xfrm>
          <a:prstGeom prst="line">
            <a:avLst/>
          </a:prstGeom>
          <a:ln w="3302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4" name="Connector 73"/>
          <p:cNvCxnSpPr/>
          <p:nvPr/>
        </p:nvCxnSpPr>
        <p:spPr>
          <a:xfrm flipV="1">
            <a:off x="7150150" y="2331431"/>
            <a:ext cx="93543" cy="30218"/>
          </a:xfrm>
          <a:prstGeom prst="line">
            <a:avLst/>
          </a:prstGeom>
          <a:ln w="3302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5" name="Connector 74"/>
          <p:cNvCxnSpPr/>
          <p:nvPr/>
        </p:nvCxnSpPr>
        <p:spPr>
          <a:xfrm flipV="1">
            <a:off x="7243693" y="2315717"/>
            <a:ext cx="93544" cy="15714"/>
          </a:xfrm>
          <a:prstGeom prst="line">
            <a:avLst/>
          </a:prstGeom>
          <a:ln w="3302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6" name="Connector 75"/>
          <p:cNvCxnSpPr/>
          <p:nvPr/>
        </p:nvCxnSpPr>
        <p:spPr>
          <a:xfrm flipV="1">
            <a:off x="7337237" y="2314720"/>
            <a:ext cx="93543" cy="997"/>
          </a:xfrm>
          <a:prstGeom prst="line">
            <a:avLst/>
          </a:prstGeom>
          <a:ln w="3302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7" name="Connector 76"/>
          <p:cNvCxnSpPr/>
          <p:nvPr/>
        </p:nvCxnSpPr>
        <p:spPr>
          <a:xfrm>
            <a:off x="7430780" y="2314720"/>
            <a:ext cx="93543" cy="13733"/>
          </a:xfrm>
          <a:prstGeom prst="line">
            <a:avLst/>
          </a:prstGeom>
          <a:ln w="3302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8" name="Connector 77"/>
          <p:cNvCxnSpPr/>
          <p:nvPr/>
        </p:nvCxnSpPr>
        <p:spPr>
          <a:xfrm>
            <a:off x="7524323" y="2328453"/>
            <a:ext cx="93543" cy="28278"/>
          </a:xfrm>
          <a:prstGeom prst="line">
            <a:avLst/>
          </a:prstGeom>
          <a:ln w="3302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9" name="Connector 78"/>
          <p:cNvCxnSpPr/>
          <p:nvPr/>
        </p:nvCxnSpPr>
        <p:spPr>
          <a:xfrm>
            <a:off x="7617866" y="2356731"/>
            <a:ext cx="93543" cy="42441"/>
          </a:xfrm>
          <a:prstGeom prst="line">
            <a:avLst/>
          </a:prstGeom>
          <a:ln w="3302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0" name="Connector 79"/>
          <p:cNvCxnSpPr/>
          <p:nvPr/>
        </p:nvCxnSpPr>
        <p:spPr>
          <a:xfrm>
            <a:off x="7711409" y="2399172"/>
            <a:ext cx="93543" cy="56031"/>
          </a:xfrm>
          <a:prstGeom prst="line">
            <a:avLst/>
          </a:prstGeom>
          <a:ln w="3302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1" name="Connector 80"/>
          <p:cNvCxnSpPr/>
          <p:nvPr/>
        </p:nvCxnSpPr>
        <p:spPr>
          <a:xfrm>
            <a:off x="7804952" y="2455203"/>
            <a:ext cx="93543" cy="68865"/>
          </a:xfrm>
          <a:prstGeom prst="line">
            <a:avLst/>
          </a:prstGeom>
          <a:ln w="3302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2" name="Connector 81"/>
          <p:cNvCxnSpPr/>
          <p:nvPr/>
        </p:nvCxnSpPr>
        <p:spPr>
          <a:xfrm>
            <a:off x="7898495" y="2524068"/>
            <a:ext cx="93543" cy="80770"/>
          </a:xfrm>
          <a:prstGeom prst="line">
            <a:avLst/>
          </a:prstGeom>
          <a:ln w="3302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3" name="Connector 82"/>
          <p:cNvCxnSpPr/>
          <p:nvPr/>
        </p:nvCxnSpPr>
        <p:spPr>
          <a:xfrm>
            <a:off x="7992038" y="2604838"/>
            <a:ext cx="93544" cy="91585"/>
          </a:xfrm>
          <a:prstGeom prst="line">
            <a:avLst/>
          </a:prstGeom>
          <a:ln w="3302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4" name="Connector 83"/>
          <p:cNvCxnSpPr/>
          <p:nvPr/>
        </p:nvCxnSpPr>
        <p:spPr>
          <a:xfrm>
            <a:off x="8085582" y="2696423"/>
            <a:ext cx="93543" cy="101163"/>
          </a:xfrm>
          <a:prstGeom prst="line">
            <a:avLst/>
          </a:prstGeom>
          <a:ln w="3302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5" name="Connector 84"/>
          <p:cNvCxnSpPr/>
          <p:nvPr/>
        </p:nvCxnSpPr>
        <p:spPr>
          <a:xfrm>
            <a:off x="8179125" y="2797586"/>
            <a:ext cx="93543" cy="109376"/>
          </a:xfrm>
          <a:prstGeom prst="line">
            <a:avLst/>
          </a:prstGeom>
          <a:ln w="3302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6" name="Connector 85"/>
          <p:cNvCxnSpPr/>
          <p:nvPr/>
        </p:nvCxnSpPr>
        <p:spPr>
          <a:xfrm>
            <a:off x="8272668" y="2906962"/>
            <a:ext cx="93543" cy="116114"/>
          </a:xfrm>
          <a:prstGeom prst="line">
            <a:avLst/>
          </a:prstGeom>
          <a:ln w="3302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7" name="Connector 86"/>
          <p:cNvCxnSpPr/>
          <p:nvPr/>
        </p:nvCxnSpPr>
        <p:spPr>
          <a:xfrm>
            <a:off x="8366211" y="3023076"/>
            <a:ext cx="93543" cy="121283"/>
          </a:xfrm>
          <a:prstGeom prst="line">
            <a:avLst/>
          </a:prstGeom>
          <a:ln w="3302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8" name="Connector 87"/>
          <p:cNvCxnSpPr/>
          <p:nvPr/>
        </p:nvCxnSpPr>
        <p:spPr>
          <a:xfrm>
            <a:off x="8459754" y="3144359"/>
            <a:ext cx="93543" cy="124816"/>
          </a:xfrm>
          <a:prstGeom prst="line">
            <a:avLst/>
          </a:prstGeom>
          <a:ln w="3302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9" name="Connector 88"/>
          <p:cNvCxnSpPr/>
          <p:nvPr/>
        </p:nvCxnSpPr>
        <p:spPr>
          <a:xfrm>
            <a:off x="8553297" y="3269175"/>
            <a:ext cx="93543" cy="126665"/>
          </a:xfrm>
          <a:prstGeom prst="line">
            <a:avLst/>
          </a:prstGeom>
          <a:ln w="3302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0" name="Connector 89"/>
          <p:cNvCxnSpPr/>
          <p:nvPr/>
        </p:nvCxnSpPr>
        <p:spPr>
          <a:xfrm>
            <a:off x="8646840" y="3395840"/>
            <a:ext cx="93543" cy="126804"/>
          </a:xfrm>
          <a:prstGeom prst="line">
            <a:avLst/>
          </a:prstGeom>
          <a:ln w="3302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1" name="Connector 90"/>
          <p:cNvCxnSpPr/>
          <p:nvPr/>
        </p:nvCxnSpPr>
        <p:spPr>
          <a:xfrm>
            <a:off x="8740383" y="3522644"/>
            <a:ext cx="93543" cy="125232"/>
          </a:xfrm>
          <a:prstGeom prst="line">
            <a:avLst/>
          </a:prstGeom>
          <a:ln w="3302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2" name="Connector 91"/>
          <p:cNvCxnSpPr/>
          <p:nvPr/>
        </p:nvCxnSpPr>
        <p:spPr>
          <a:xfrm>
            <a:off x="8833926" y="3647876"/>
            <a:ext cx="93544" cy="121969"/>
          </a:xfrm>
          <a:prstGeom prst="line">
            <a:avLst/>
          </a:prstGeom>
          <a:ln w="3302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3" name="Connector 92"/>
          <p:cNvCxnSpPr/>
          <p:nvPr/>
        </p:nvCxnSpPr>
        <p:spPr>
          <a:xfrm>
            <a:off x="8927470" y="3769845"/>
            <a:ext cx="93543" cy="117060"/>
          </a:xfrm>
          <a:prstGeom prst="line">
            <a:avLst/>
          </a:prstGeom>
          <a:ln w="3302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4" name="Connector 93"/>
          <p:cNvCxnSpPr/>
          <p:nvPr/>
        </p:nvCxnSpPr>
        <p:spPr>
          <a:xfrm>
            <a:off x="9021013" y="3886905"/>
            <a:ext cx="93543" cy="110572"/>
          </a:xfrm>
          <a:prstGeom prst="line">
            <a:avLst/>
          </a:prstGeom>
          <a:ln w="3302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5" name="Connector 94"/>
          <p:cNvCxnSpPr/>
          <p:nvPr/>
        </p:nvCxnSpPr>
        <p:spPr>
          <a:xfrm>
            <a:off x="9114556" y="3997477"/>
            <a:ext cx="93543" cy="102590"/>
          </a:xfrm>
          <a:prstGeom prst="line">
            <a:avLst/>
          </a:prstGeom>
          <a:ln w="3302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6" name="Connector 95"/>
          <p:cNvCxnSpPr/>
          <p:nvPr/>
        </p:nvCxnSpPr>
        <p:spPr>
          <a:xfrm>
            <a:off x="9208099" y="4100067"/>
            <a:ext cx="93543" cy="93226"/>
          </a:xfrm>
          <a:prstGeom prst="line">
            <a:avLst/>
          </a:prstGeom>
          <a:ln w="3302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7" name="Connector 96"/>
          <p:cNvCxnSpPr/>
          <p:nvPr/>
        </p:nvCxnSpPr>
        <p:spPr>
          <a:xfrm>
            <a:off x="9301642" y="4193293"/>
            <a:ext cx="93543" cy="82602"/>
          </a:xfrm>
          <a:prstGeom prst="line">
            <a:avLst/>
          </a:prstGeom>
          <a:ln w="3302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8" name="Connector 97"/>
          <p:cNvCxnSpPr/>
          <p:nvPr/>
        </p:nvCxnSpPr>
        <p:spPr>
          <a:xfrm>
            <a:off x="9395185" y="4275895"/>
            <a:ext cx="93543" cy="70863"/>
          </a:xfrm>
          <a:prstGeom prst="line">
            <a:avLst/>
          </a:prstGeom>
          <a:ln w="3302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9" name="Connector 98"/>
          <p:cNvCxnSpPr/>
          <p:nvPr/>
        </p:nvCxnSpPr>
        <p:spPr>
          <a:xfrm>
            <a:off x="9488728" y="4346758"/>
            <a:ext cx="93543" cy="58168"/>
          </a:xfrm>
          <a:prstGeom prst="line">
            <a:avLst/>
          </a:prstGeom>
          <a:ln w="3302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0" name="Connector 99"/>
          <p:cNvCxnSpPr/>
          <p:nvPr/>
        </p:nvCxnSpPr>
        <p:spPr>
          <a:xfrm>
            <a:off x="9582271" y="4404926"/>
            <a:ext cx="93544" cy="44689"/>
          </a:xfrm>
          <a:prstGeom prst="line">
            <a:avLst/>
          </a:prstGeom>
          <a:ln w="3302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1" name="Connector 100"/>
          <p:cNvCxnSpPr/>
          <p:nvPr/>
        </p:nvCxnSpPr>
        <p:spPr>
          <a:xfrm>
            <a:off x="9675815" y="4449615"/>
            <a:ext cx="93543" cy="30605"/>
          </a:xfrm>
          <a:prstGeom prst="line">
            <a:avLst/>
          </a:prstGeom>
          <a:ln w="3302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2" name="Connector 101"/>
          <p:cNvCxnSpPr/>
          <p:nvPr/>
        </p:nvCxnSpPr>
        <p:spPr>
          <a:xfrm>
            <a:off x="9769358" y="4480220"/>
            <a:ext cx="93543" cy="16110"/>
          </a:xfrm>
          <a:prstGeom prst="line">
            <a:avLst/>
          </a:prstGeom>
          <a:ln w="3302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3" name="Connector 102"/>
          <p:cNvCxnSpPr/>
          <p:nvPr/>
        </p:nvCxnSpPr>
        <p:spPr>
          <a:xfrm>
            <a:off x="9862901" y="4496330"/>
            <a:ext cx="93543" cy="1396"/>
          </a:xfrm>
          <a:prstGeom prst="line">
            <a:avLst/>
          </a:prstGeom>
          <a:ln w="3302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4" name="Connector 103"/>
          <p:cNvCxnSpPr/>
          <p:nvPr/>
        </p:nvCxnSpPr>
        <p:spPr>
          <a:xfrm flipV="1">
            <a:off x="9956444" y="4484389"/>
            <a:ext cx="93543" cy="13337"/>
          </a:xfrm>
          <a:prstGeom prst="line">
            <a:avLst/>
          </a:prstGeom>
          <a:ln w="3302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5" name="Connector 104"/>
          <p:cNvCxnSpPr/>
          <p:nvPr/>
        </p:nvCxnSpPr>
        <p:spPr>
          <a:xfrm flipV="1">
            <a:off x="10049987" y="4456501"/>
            <a:ext cx="93543" cy="27888"/>
          </a:xfrm>
          <a:prstGeom prst="line">
            <a:avLst/>
          </a:prstGeom>
          <a:ln w="3302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6" name="Connector 105"/>
          <p:cNvCxnSpPr/>
          <p:nvPr/>
        </p:nvCxnSpPr>
        <p:spPr>
          <a:xfrm flipV="1">
            <a:off x="10143530" y="4414436"/>
            <a:ext cx="93543" cy="42065"/>
          </a:xfrm>
          <a:prstGeom prst="line">
            <a:avLst/>
          </a:prstGeom>
          <a:ln w="3302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7" name="Connector 106"/>
          <p:cNvCxnSpPr/>
          <p:nvPr/>
        </p:nvCxnSpPr>
        <p:spPr>
          <a:xfrm flipV="1">
            <a:off x="10237073" y="4358763"/>
            <a:ext cx="93543" cy="55673"/>
          </a:xfrm>
          <a:prstGeom prst="line">
            <a:avLst/>
          </a:prstGeom>
          <a:ln w="3302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8" name="Connector 107"/>
          <p:cNvCxnSpPr/>
          <p:nvPr/>
        </p:nvCxnSpPr>
        <p:spPr>
          <a:xfrm flipV="1">
            <a:off x="10330616" y="4290233"/>
            <a:ext cx="93544" cy="68530"/>
          </a:xfrm>
          <a:prstGeom prst="line">
            <a:avLst/>
          </a:prstGeom>
          <a:ln w="3302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9" name="TextBox 108"/>
          <p:cNvSpPr txBox="1"/>
          <p:nvPr/>
        </p:nvSpPr>
        <p:spPr>
          <a:xfrm>
            <a:off x="777240" y="5879592"/>
            <a:ext cx="1078992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000" b="1">
                <a:solidFill>
                  <a:srgbClr val="8C64E1"/>
                </a:solidFill>
                <a:latin typeface="Alibaba PuHuiTi 3.0 115 Black"/>
              </a:defRPr>
            </a:pPr>
            <a:r>
              <a:t>请提出一个规则：怎样公平地选出一组采样时刻？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36576"/>
            <a:ext cx="12191695" cy="73152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57416"/>
            <a:ext cx="12191695" cy="73152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12648" y="576072"/>
            <a:ext cx="10972800" cy="7863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3400" b="1">
                <a:solidFill>
                  <a:srgbClr val="262626"/>
                </a:solidFill>
                <a:latin typeface="Alibaba PuHuiTi 3.0 115 Black"/>
              </a:defRPr>
            </a:pPr>
            <a:r>
              <a:t>每隔相同时间，取一个幅度值。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914400" y="3483864"/>
            <a:ext cx="10058400" cy="0"/>
          </a:xfrm>
          <a:prstGeom prst="line">
            <a:avLst/>
          </a:prstGeom>
          <a:ln w="2032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>
            <a:off x="1005840" y="1956816"/>
            <a:ext cx="0" cy="3063239"/>
          </a:xfrm>
          <a:prstGeom prst="line">
            <a:avLst/>
          </a:prstGeom>
          <a:ln w="1651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1033271" y="1645920"/>
            <a:ext cx="128016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1600" b="0">
                <a:solidFill>
                  <a:srgbClr val="808080"/>
                </a:solidFill>
                <a:latin typeface="Alibaba PuHuiTi 3.0 55 Regular"/>
              </a:defRPr>
            </a:pPr>
            <a:r>
              <a:t>振幅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0" y="3602736"/>
            <a:ext cx="82296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1600" b="0">
                <a:solidFill>
                  <a:srgbClr val="808080"/>
                </a:solidFill>
                <a:latin typeface="Alibaba PuHuiTi 3.0 55 Regular"/>
              </a:defRPr>
            </a:pPr>
            <a:r>
              <a:t>时间</a:t>
            </a:r>
          </a:p>
        </p:txBody>
      </p:sp>
      <p:cxnSp>
        <p:nvCxnSpPr>
          <p:cNvPr id="9" name="Connector 8"/>
          <p:cNvCxnSpPr/>
          <p:nvPr/>
        </p:nvCxnSpPr>
        <p:spPr>
          <a:xfrm flipV="1">
            <a:off x="1069848" y="3279400"/>
            <a:ext cx="93543" cy="126739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 flipV="1">
            <a:off x="1163391" y="3154370"/>
            <a:ext cx="93543" cy="125030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 flipV="1">
            <a:off x="1256934" y="3032739"/>
            <a:ext cx="93543" cy="121631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 flipV="1">
            <a:off x="1350477" y="2916147"/>
            <a:ext cx="93543" cy="116592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 flipV="1">
            <a:off x="1444020" y="2806168"/>
            <a:ext cx="93543" cy="109979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 flipV="1">
            <a:off x="1537563" y="2704286"/>
            <a:ext cx="93543" cy="101882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 flipV="1">
            <a:off x="1631106" y="2611877"/>
            <a:ext cx="93543" cy="92409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 flipV="1">
            <a:off x="1724649" y="2530188"/>
            <a:ext cx="93543" cy="81689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 flipV="1">
            <a:off x="1818192" y="2460320"/>
            <a:ext cx="93544" cy="69868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 flipV="1">
            <a:off x="1911736" y="2403218"/>
            <a:ext cx="93543" cy="57102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 flipV="1">
            <a:off x="2005279" y="2359651"/>
            <a:ext cx="93543" cy="43567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 flipV="1">
            <a:off x="2098822" y="2330208"/>
            <a:ext cx="93543" cy="29443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 flipV="1">
            <a:off x="2192365" y="2315286"/>
            <a:ext cx="93543" cy="14922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 flipV="1">
            <a:off x="2285908" y="2315087"/>
            <a:ext cx="93543" cy="199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>
            <a:off x="2379451" y="2315087"/>
            <a:ext cx="93543" cy="14526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>
            <a:off x="2472994" y="2329613"/>
            <a:ext cx="93543" cy="29054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>
            <a:off x="2566537" y="2358667"/>
            <a:ext cx="93544" cy="43192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>
            <a:off x="2660081" y="2401859"/>
            <a:ext cx="93543" cy="56746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6"/>
          <p:cNvCxnSpPr/>
          <p:nvPr/>
        </p:nvCxnSpPr>
        <p:spPr>
          <a:xfrm>
            <a:off x="2753624" y="2458605"/>
            <a:ext cx="93543" cy="69534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ector 27"/>
          <p:cNvCxnSpPr/>
          <p:nvPr/>
        </p:nvCxnSpPr>
        <p:spPr>
          <a:xfrm>
            <a:off x="2847167" y="2528139"/>
            <a:ext cx="93543" cy="81384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Connector 28"/>
          <p:cNvCxnSpPr/>
          <p:nvPr/>
        </p:nvCxnSpPr>
        <p:spPr>
          <a:xfrm>
            <a:off x="2940710" y="2609523"/>
            <a:ext cx="93543" cy="92135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nector 29"/>
          <p:cNvCxnSpPr/>
          <p:nvPr/>
        </p:nvCxnSpPr>
        <p:spPr>
          <a:xfrm>
            <a:off x="3034253" y="2701658"/>
            <a:ext cx="93543" cy="101643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nector 30"/>
          <p:cNvCxnSpPr/>
          <p:nvPr/>
        </p:nvCxnSpPr>
        <p:spPr>
          <a:xfrm>
            <a:off x="3127796" y="2803301"/>
            <a:ext cx="93543" cy="109779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Connector 31"/>
          <p:cNvCxnSpPr/>
          <p:nvPr/>
        </p:nvCxnSpPr>
        <p:spPr>
          <a:xfrm>
            <a:off x="3221339" y="2913080"/>
            <a:ext cx="93543" cy="116434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Connector 32"/>
          <p:cNvCxnSpPr/>
          <p:nvPr/>
        </p:nvCxnSpPr>
        <p:spPr>
          <a:xfrm>
            <a:off x="3314882" y="3029514"/>
            <a:ext cx="93544" cy="121517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Connector 33"/>
          <p:cNvCxnSpPr/>
          <p:nvPr/>
        </p:nvCxnSpPr>
        <p:spPr>
          <a:xfrm>
            <a:off x="3408426" y="3151031"/>
            <a:ext cx="93543" cy="124959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Connector 34"/>
          <p:cNvCxnSpPr/>
          <p:nvPr/>
        </p:nvCxnSpPr>
        <p:spPr>
          <a:xfrm>
            <a:off x="3501969" y="3275990"/>
            <a:ext cx="93543" cy="126716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Connector 35"/>
          <p:cNvCxnSpPr/>
          <p:nvPr/>
        </p:nvCxnSpPr>
        <p:spPr>
          <a:xfrm>
            <a:off x="3595512" y="3402706"/>
            <a:ext cx="93543" cy="126763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" name="Connector 36"/>
          <p:cNvCxnSpPr/>
          <p:nvPr/>
        </p:nvCxnSpPr>
        <p:spPr>
          <a:xfrm>
            <a:off x="3689055" y="3529469"/>
            <a:ext cx="93543" cy="125098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" name="Connector 37"/>
          <p:cNvCxnSpPr/>
          <p:nvPr/>
        </p:nvCxnSpPr>
        <p:spPr>
          <a:xfrm>
            <a:off x="3782598" y="3654567"/>
            <a:ext cx="93543" cy="121745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" name="Connector 38"/>
          <p:cNvCxnSpPr/>
          <p:nvPr/>
        </p:nvCxnSpPr>
        <p:spPr>
          <a:xfrm>
            <a:off x="3876141" y="3776312"/>
            <a:ext cx="93543" cy="116749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" name="Connector 39"/>
          <p:cNvCxnSpPr/>
          <p:nvPr/>
        </p:nvCxnSpPr>
        <p:spPr>
          <a:xfrm>
            <a:off x="3969684" y="3893061"/>
            <a:ext cx="93543" cy="110178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" name="Connector 40"/>
          <p:cNvCxnSpPr/>
          <p:nvPr/>
        </p:nvCxnSpPr>
        <p:spPr>
          <a:xfrm>
            <a:off x="4063227" y="4003239"/>
            <a:ext cx="93543" cy="102119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" name="Connector 41"/>
          <p:cNvCxnSpPr/>
          <p:nvPr/>
        </p:nvCxnSpPr>
        <p:spPr>
          <a:xfrm>
            <a:off x="4156770" y="4105358"/>
            <a:ext cx="93544" cy="92682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3" name="Connector 42"/>
          <p:cNvCxnSpPr/>
          <p:nvPr/>
        </p:nvCxnSpPr>
        <p:spPr>
          <a:xfrm>
            <a:off x="4250314" y="4198040"/>
            <a:ext cx="93543" cy="81994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Connector 43"/>
          <p:cNvCxnSpPr/>
          <p:nvPr/>
        </p:nvCxnSpPr>
        <p:spPr>
          <a:xfrm>
            <a:off x="4343857" y="4280034"/>
            <a:ext cx="93543" cy="70201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" name="Connector 44"/>
          <p:cNvCxnSpPr/>
          <p:nvPr/>
        </p:nvCxnSpPr>
        <p:spPr>
          <a:xfrm>
            <a:off x="4437400" y="4350235"/>
            <a:ext cx="93543" cy="57458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6" name="Connector 45"/>
          <p:cNvCxnSpPr/>
          <p:nvPr/>
        </p:nvCxnSpPr>
        <p:spPr>
          <a:xfrm>
            <a:off x="4530943" y="4407693"/>
            <a:ext cx="93543" cy="43941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7" name="Connector 46"/>
          <p:cNvCxnSpPr/>
          <p:nvPr/>
        </p:nvCxnSpPr>
        <p:spPr>
          <a:xfrm>
            <a:off x="4624486" y="4451634"/>
            <a:ext cx="93543" cy="29831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8" name="Connector 47"/>
          <p:cNvCxnSpPr/>
          <p:nvPr/>
        </p:nvCxnSpPr>
        <p:spPr>
          <a:xfrm>
            <a:off x="4718029" y="4481465"/>
            <a:ext cx="93543" cy="15318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9" name="Connector 48"/>
          <p:cNvCxnSpPr/>
          <p:nvPr/>
        </p:nvCxnSpPr>
        <p:spPr>
          <a:xfrm>
            <a:off x="4811572" y="4496783"/>
            <a:ext cx="93543" cy="598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0" name="Connector 49"/>
          <p:cNvCxnSpPr/>
          <p:nvPr/>
        </p:nvCxnSpPr>
        <p:spPr>
          <a:xfrm flipV="1">
            <a:off x="4905115" y="4483251"/>
            <a:ext cx="93544" cy="14130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1" name="Connector 50"/>
          <p:cNvCxnSpPr/>
          <p:nvPr/>
        </p:nvCxnSpPr>
        <p:spPr>
          <a:xfrm flipV="1">
            <a:off x="4998659" y="4454585"/>
            <a:ext cx="93543" cy="28666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2" name="Connector 51"/>
          <p:cNvCxnSpPr/>
          <p:nvPr/>
        </p:nvCxnSpPr>
        <p:spPr>
          <a:xfrm flipV="1">
            <a:off x="5092202" y="4411768"/>
            <a:ext cx="93543" cy="42817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3" name="Connector 52"/>
          <p:cNvCxnSpPr/>
          <p:nvPr/>
        </p:nvCxnSpPr>
        <p:spPr>
          <a:xfrm flipV="1">
            <a:off x="5185745" y="4355380"/>
            <a:ext cx="93543" cy="56388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4" name="Connector 53"/>
          <p:cNvCxnSpPr/>
          <p:nvPr/>
        </p:nvCxnSpPr>
        <p:spPr>
          <a:xfrm flipV="1">
            <a:off x="5279288" y="4286180"/>
            <a:ext cx="93543" cy="69200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5" name="Connector 54"/>
          <p:cNvCxnSpPr/>
          <p:nvPr/>
        </p:nvCxnSpPr>
        <p:spPr>
          <a:xfrm flipV="1">
            <a:off x="5372831" y="4205102"/>
            <a:ext cx="93543" cy="81078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6" name="Connector 55"/>
          <p:cNvCxnSpPr/>
          <p:nvPr/>
        </p:nvCxnSpPr>
        <p:spPr>
          <a:xfrm flipV="1">
            <a:off x="5466374" y="4113242"/>
            <a:ext cx="93543" cy="91860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7" name="Connector 56"/>
          <p:cNvCxnSpPr/>
          <p:nvPr/>
        </p:nvCxnSpPr>
        <p:spPr>
          <a:xfrm flipV="1">
            <a:off x="5559917" y="4011838"/>
            <a:ext cx="93543" cy="101404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8" name="Connector 57"/>
          <p:cNvCxnSpPr/>
          <p:nvPr/>
        </p:nvCxnSpPr>
        <p:spPr>
          <a:xfrm flipV="1">
            <a:off x="5653460" y="3902260"/>
            <a:ext cx="93544" cy="109578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9" name="Connector 58"/>
          <p:cNvCxnSpPr/>
          <p:nvPr/>
        </p:nvCxnSpPr>
        <p:spPr>
          <a:xfrm flipV="1">
            <a:off x="5747004" y="3785986"/>
            <a:ext cx="93543" cy="116274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0" name="Connector 59"/>
          <p:cNvCxnSpPr/>
          <p:nvPr/>
        </p:nvCxnSpPr>
        <p:spPr>
          <a:xfrm flipV="1">
            <a:off x="5840547" y="3664585"/>
            <a:ext cx="93543" cy="121401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1" name="Connector 60"/>
          <p:cNvCxnSpPr/>
          <p:nvPr/>
        </p:nvCxnSpPr>
        <p:spPr>
          <a:xfrm flipV="1">
            <a:off x="5934090" y="3539697"/>
            <a:ext cx="93543" cy="124888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2" name="Connector 61"/>
          <p:cNvCxnSpPr/>
          <p:nvPr/>
        </p:nvCxnSpPr>
        <p:spPr>
          <a:xfrm flipV="1">
            <a:off x="6027633" y="3413006"/>
            <a:ext cx="93543" cy="126691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3" name="Connector 62"/>
          <p:cNvCxnSpPr/>
          <p:nvPr/>
        </p:nvCxnSpPr>
        <p:spPr>
          <a:xfrm flipV="1">
            <a:off x="6121176" y="3286222"/>
            <a:ext cx="93543" cy="126784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4" name="Connector 63"/>
          <p:cNvCxnSpPr/>
          <p:nvPr/>
        </p:nvCxnSpPr>
        <p:spPr>
          <a:xfrm flipV="1">
            <a:off x="6214719" y="3161057"/>
            <a:ext cx="93543" cy="125165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5" name="Connector 64"/>
          <p:cNvCxnSpPr/>
          <p:nvPr/>
        </p:nvCxnSpPr>
        <p:spPr>
          <a:xfrm flipV="1">
            <a:off x="6308262" y="3039199"/>
            <a:ext cx="93543" cy="121858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6" name="Connector 65"/>
          <p:cNvCxnSpPr/>
          <p:nvPr/>
        </p:nvCxnSpPr>
        <p:spPr>
          <a:xfrm flipV="1">
            <a:off x="6401805" y="2922294"/>
            <a:ext cx="93543" cy="116905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7" name="Connector 66"/>
          <p:cNvCxnSpPr/>
          <p:nvPr/>
        </p:nvCxnSpPr>
        <p:spPr>
          <a:xfrm flipV="1">
            <a:off x="6495348" y="2811918"/>
            <a:ext cx="93544" cy="110376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8" name="Connector 67"/>
          <p:cNvCxnSpPr/>
          <p:nvPr/>
        </p:nvCxnSpPr>
        <p:spPr>
          <a:xfrm flipV="1">
            <a:off x="6588892" y="2709563"/>
            <a:ext cx="93543" cy="102355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9" name="Connector 68"/>
          <p:cNvCxnSpPr/>
          <p:nvPr/>
        </p:nvCxnSpPr>
        <p:spPr>
          <a:xfrm flipV="1">
            <a:off x="6682435" y="2616609"/>
            <a:ext cx="93543" cy="92954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0" name="Connector 69"/>
          <p:cNvCxnSpPr/>
          <p:nvPr/>
        </p:nvCxnSpPr>
        <p:spPr>
          <a:xfrm flipV="1">
            <a:off x="6775978" y="2534310"/>
            <a:ext cx="93543" cy="82299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1" name="Connector 70"/>
          <p:cNvCxnSpPr/>
          <p:nvPr/>
        </p:nvCxnSpPr>
        <p:spPr>
          <a:xfrm flipV="1">
            <a:off x="6869521" y="2463778"/>
            <a:ext cx="93543" cy="70532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2" name="Connector 71"/>
          <p:cNvCxnSpPr/>
          <p:nvPr/>
        </p:nvCxnSpPr>
        <p:spPr>
          <a:xfrm flipV="1">
            <a:off x="6963064" y="2405964"/>
            <a:ext cx="93543" cy="57814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3" name="Connector 72"/>
          <p:cNvCxnSpPr/>
          <p:nvPr/>
        </p:nvCxnSpPr>
        <p:spPr>
          <a:xfrm flipV="1">
            <a:off x="7056607" y="2361649"/>
            <a:ext cx="93543" cy="44315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4" name="Connector 73"/>
          <p:cNvCxnSpPr/>
          <p:nvPr/>
        </p:nvCxnSpPr>
        <p:spPr>
          <a:xfrm flipV="1">
            <a:off x="7150150" y="2331431"/>
            <a:ext cx="93543" cy="30218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5" name="Connector 74"/>
          <p:cNvCxnSpPr/>
          <p:nvPr/>
        </p:nvCxnSpPr>
        <p:spPr>
          <a:xfrm flipV="1">
            <a:off x="7243693" y="2315717"/>
            <a:ext cx="93544" cy="15714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6" name="Connector 75"/>
          <p:cNvCxnSpPr/>
          <p:nvPr/>
        </p:nvCxnSpPr>
        <p:spPr>
          <a:xfrm flipV="1">
            <a:off x="7337237" y="2314720"/>
            <a:ext cx="93543" cy="997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7" name="Connector 76"/>
          <p:cNvCxnSpPr/>
          <p:nvPr/>
        </p:nvCxnSpPr>
        <p:spPr>
          <a:xfrm>
            <a:off x="7430780" y="2314720"/>
            <a:ext cx="93543" cy="13733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8" name="Connector 77"/>
          <p:cNvCxnSpPr/>
          <p:nvPr/>
        </p:nvCxnSpPr>
        <p:spPr>
          <a:xfrm>
            <a:off x="7524323" y="2328453"/>
            <a:ext cx="93543" cy="28278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9" name="Connector 78"/>
          <p:cNvCxnSpPr/>
          <p:nvPr/>
        </p:nvCxnSpPr>
        <p:spPr>
          <a:xfrm>
            <a:off x="7617866" y="2356731"/>
            <a:ext cx="93543" cy="42441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0" name="Connector 79"/>
          <p:cNvCxnSpPr/>
          <p:nvPr/>
        </p:nvCxnSpPr>
        <p:spPr>
          <a:xfrm>
            <a:off x="7711409" y="2399172"/>
            <a:ext cx="93543" cy="56031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1" name="Connector 80"/>
          <p:cNvCxnSpPr/>
          <p:nvPr/>
        </p:nvCxnSpPr>
        <p:spPr>
          <a:xfrm>
            <a:off x="7804952" y="2455203"/>
            <a:ext cx="93543" cy="68865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2" name="Connector 81"/>
          <p:cNvCxnSpPr/>
          <p:nvPr/>
        </p:nvCxnSpPr>
        <p:spPr>
          <a:xfrm>
            <a:off x="7898495" y="2524068"/>
            <a:ext cx="93543" cy="80770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3" name="Connector 82"/>
          <p:cNvCxnSpPr/>
          <p:nvPr/>
        </p:nvCxnSpPr>
        <p:spPr>
          <a:xfrm>
            <a:off x="7992038" y="2604838"/>
            <a:ext cx="93544" cy="91585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4" name="Connector 83"/>
          <p:cNvCxnSpPr/>
          <p:nvPr/>
        </p:nvCxnSpPr>
        <p:spPr>
          <a:xfrm>
            <a:off x="8085582" y="2696423"/>
            <a:ext cx="93543" cy="101163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5" name="Connector 84"/>
          <p:cNvCxnSpPr/>
          <p:nvPr/>
        </p:nvCxnSpPr>
        <p:spPr>
          <a:xfrm>
            <a:off x="8179125" y="2797586"/>
            <a:ext cx="93543" cy="109376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6" name="Connector 85"/>
          <p:cNvCxnSpPr/>
          <p:nvPr/>
        </p:nvCxnSpPr>
        <p:spPr>
          <a:xfrm>
            <a:off x="8272668" y="2906962"/>
            <a:ext cx="93543" cy="116114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7" name="Connector 86"/>
          <p:cNvCxnSpPr/>
          <p:nvPr/>
        </p:nvCxnSpPr>
        <p:spPr>
          <a:xfrm>
            <a:off x="8366211" y="3023076"/>
            <a:ext cx="93543" cy="121283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8" name="Connector 87"/>
          <p:cNvCxnSpPr/>
          <p:nvPr/>
        </p:nvCxnSpPr>
        <p:spPr>
          <a:xfrm>
            <a:off x="8459754" y="3144359"/>
            <a:ext cx="93543" cy="124816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9" name="Connector 88"/>
          <p:cNvCxnSpPr/>
          <p:nvPr/>
        </p:nvCxnSpPr>
        <p:spPr>
          <a:xfrm>
            <a:off x="8553297" y="3269175"/>
            <a:ext cx="93543" cy="126665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0" name="Connector 89"/>
          <p:cNvCxnSpPr/>
          <p:nvPr/>
        </p:nvCxnSpPr>
        <p:spPr>
          <a:xfrm>
            <a:off x="8646840" y="3395840"/>
            <a:ext cx="93543" cy="126804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1" name="Connector 90"/>
          <p:cNvCxnSpPr/>
          <p:nvPr/>
        </p:nvCxnSpPr>
        <p:spPr>
          <a:xfrm>
            <a:off x="8740383" y="3522644"/>
            <a:ext cx="93543" cy="125232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2" name="Connector 91"/>
          <p:cNvCxnSpPr/>
          <p:nvPr/>
        </p:nvCxnSpPr>
        <p:spPr>
          <a:xfrm>
            <a:off x="8833926" y="3647876"/>
            <a:ext cx="93544" cy="121969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3" name="Connector 92"/>
          <p:cNvCxnSpPr/>
          <p:nvPr/>
        </p:nvCxnSpPr>
        <p:spPr>
          <a:xfrm>
            <a:off x="8927470" y="3769845"/>
            <a:ext cx="93543" cy="117060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4" name="Connector 93"/>
          <p:cNvCxnSpPr/>
          <p:nvPr/>
        </p:nvCxnSpPr>
        <p:spPr>
          <a:xfrm>
            <a:off x="9021013" y="3886905"/>
            <a:ext cx="93543" cy="110572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5" name="Connector 94"/>
          <p:cNvCxnSpPr/>
          <p:nvPr/>
        </p:nvCxnSpPr>
        <p:spPr>
          <a:xfrm>
            <a:off x="9114556" y="3997477"/>
            <a:ext cx="93543" cy="102590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6" name="Connector 95"/>
          <p:cNvCxnSpPr/>
          <p:nvPr/>
        </p:nvCxnSpPr>
        <p:spPr>
          <a:xfrm>
            <a:off x="9208099" y="4100067"/>
            <a:ext cx="93543" cy="93226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7" name="Connector 96"/>
          <p:cNvCxnSpPr/>
          <p:nvPr/>
        </p:nvCxnSpPr>
        <p:spPr>
          <a:xfrm>
            <a:off x="9301642" y="4193293"/>
            <a:ext cx="93543" cy="82602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8" name="Connector 97"/>
          <p:cNvCxnSpPr/>
          <p:nvPr/>
        </p:nvCxnSpPr>
        <p:spPr>
          <a:xfrm>
            <a:off x="9395185" y="4275895"/>
            <a:ext cx="93543" cy="70863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9" name="Connector 98"/>
          <p:cNvCxnSpPr/>
          <p:nvPr/>
        </p:nvCxnSpPr>
        <p:spPr>
          <a:xfrm>
            <a:off x="9488728" y="4346758"/>
            <a:ext cx="93543" cy="58168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0" name="Connector 99"/>
          <p:cNvCxnSpPr/>
          <p:nvPr/>
        </p:nvCxnSpPr>
        <p:spPr>
          <a:xfrm>
            <a:off x="9582271" y="4404926"/>
            <a:ext cx="93544" cy="44689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1" name="Connector 100"/>
          <p:cNvCxnSpPr/>
          <p:nvPr/>
        </p:nvCxnSpPr>
        <p:spPr>
          <a:xfrm>
            <a:off x="9675815" y="4449615"/>
            <a:ext cx="93543" cy="30605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2" name="Connector 101"/>
          <p:cNvCxnSpPr/>
          <p:nvPr/>
        </p:nvCxnSpPr>
        <p:spPr>
          <a:xfrm>
            <a:off x="9769358" y="4480220"/>
            <a:ext cx="93543" cy="16110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3" name="Connector 102"/>
          <p:cNvCxnSpPr/>
          <p:nvPr/>
        </p:nvCxnSpPr>
        <p:spPr>
          <a:xfrm>
            <a:off x="9862901" y="4496330"/>
            <a:ext cx="93543" cy="1396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4" name="Connector 103"/>
          <p:cNvCxnSpPr/>
          <p:nvPr/>
        </p:nvCxnSpPr>
        <p:spPr>
          <a:xfrm flipV="1">
            <a:off x="9956444" y="4484389"/>
            <a:ext cx="93543" cy="13337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5" name="Connector 104"/>
          <p:cNvCxnSpPr/>
          <p:nvPr/>
        </p:nvCxnSpPr>
        <p:spPr>
          <a:xfrm flipV="1">
            <a:off x="10049987" y="4456501"/>
            <a:ext cx="93543" cy="27888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6" name="Connector 105"/>
          <p:cNvCxnSpPr/>
          <p:nvPr/>
        </p:nvCxnSpPr>
        <p:spPr>
          <a:xfrm flipV="1">
            <a:off x="10143530" y="4414436"/>
            <a:ext cx="93543" cy="42065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7" name="Connector 106"/>
          <p:cNvCxnSpPr/>
          <p:nvPr/>
        </p:nvCxnSpPr>
        <p:spPr>
          <a:xfrm flipV="1">
            <a:off x="10237073" y="4358763"/>
            <a:ext cx="93543" cy="55673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8" name="Connector 107"/>
          <p:cNvCxnSpPr/>
          <p:nvPr/>
        </p:nvCxnSpPr>
        <p:spPr>
          <a:xfrm flipV="1">
            <a:off x="10330616" y="4290233"/>
            <a:ext cx="93544" cy="68530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9" name="Connector 108"/>
          <p:cNvCxnSpPr/>
          <p:nvPr/>
        </p:nvCxnSpPr>
        <p:spPr>
          <a:xfrm>
            <a:off x="1069848" y="1956815"/>
            <a:ext cx="0" cy="2916937"/>
          </a:xfrm>
          <a:prstGeom prst="line">
            <a:avLst/>
          </a:prstGeom>
          <a:ln w="12700">
            <a:solidFill>
              <a:srgbClr val="E2E2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0" name="Oval 109"/>
          <p:cNvSpPr/>
          <p:nvPr/>
        </p:nvSpPr>
        <p:spPr>
          <a:xfrm>
            <a:off x="1008583" y="3344875"/>
            <a:ext cx="122529" cy="122529"/>
          </a:xfrm>
          <a:prstGeom prst="ellipse">
            <a:avLst/>
          </a:prstGeom>
          <a:solidFill>
            <a:srgbClr val="00B0F0"/>
          </a:solidFill>
          <a:ln w="12700">
            <a:solidFill>
              <a:srgbClr val="00B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11" name="Connector 110"/>
          <p:cNvCxnSpPr/>
          <p:nvPr/>
        </p:nvCxnSpPr>
        <p:spPr>
          <a:xfrm>
            <a:off x="1849374" y="1956815"/>
            <a:ext cx="0" cy="2916937"/>
          </a:xfrm>
          <a:prstGeom prst="line">
            <a:avLst/>
          </a:prstGeom>
          <a:ln w="12700">
            <a:solidFill>
              <a:srgbClr val="E2E2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2" name="Oval 111"/>
          <p:cNvSpPr/>
          <p:nvPr/>
        </p:nvSpPr>
        <p:spPr>
          <a:xfrm>
            <a:off x="1788109" y="2444270"/>
            <a:ext cx="122529" cy="122529"/>
          </a:xfrm>
          <a:prstGeom prst="ellipse">
            <a:avLst/>
          </a:prstGeom>
          <a:solidFill>
            <a:srgbClr val="00B0F0"/>
          </a:solidFill>
          <a:ln w="12700">
            <a:solidFill>
              <a:srgbClr val="00B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13" name="Connector 112"/>
          <p:cNvCxnSpPr/>
          <p:nvPr/>
        </p:nvCxnSpPr>
        <p:spPr>
          <a:xfrm>
            <a:off x="2628900" y="1956815"/>
            <a:ext cx="0" cy="2916937"/>
          </a:xfrm>
          <a:prstGeom prst="line">
            <a:avLst/>
          </a:prstGeom>
          <a:ln w="12700">
            <a:solidFill>
              <a:srgbClr val="E2E2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4" name="Oval 113"/>
          <p:cNvSpPr/>
          <p:nvPr/>
        </p:nvSpPr>
        <p:spPr>
          <a:xfrm>
            <a:off x="2567635" y="2324659"/>
            <a:ext cx="122529" cy="122529"/>
          </a:xfrm>
          <a:prstGeom prst="ellipse">
            <a:avLst/>
          </a:prstGeom>
          <a:solidFill>
            <a:srgbClr val="00B0F0"/>
          </a:solidFill>
          <a:ln w="12700">
            <a:solidFill>
              <a:srgbClr val="00B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15" name="Connector 114"/>
          <p:cNvCxnSpPr/>
          <p:nvPr/>
        </p:nvCxnSpPr>
        <p:spPr>
          <a:xfrm>
            <a:off x="3408426" y="1956815"/>
            <a:ext cx="0" cy="2916937"/>
          </a:xfrm>
          <a:prstGeom prst="line">
            <a:avLst/>
          </a:prstGeom>
          <a:ln w="12700">
            <a:solidFill>
              <a:srgbClr val="E2E2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6" name="Oval 115"/>
          <p:cNvSpPr/>
          <p:nvPr/>
        </p:nvSpPr>
        <p:spPr>
          <a:xfrm>
            <a:off x="3347161" y="3089766"/>
            <a:ext cx="122529" cy="122529"/>
          </a:xfrm>
          <a:prstGeom prst="ellipse">
            <a:avLst/>
          </a:prstGeom>
          <a:solidFill>
            <a:srgbClr val="00B0F0"/>
          </a:solidFill>
          <a:ln w="12700">
            <a:solidFill>
              <a:srgbClr val="00B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17" name="Connector 116"/>
          <p:cNvCxnSpPr/>
          <p:nvPr/>
        </p:nvCxnSpPr>
        <p:spPr>
          <a:xfrm>
            <a:off x="4187952" y="1956815"/>
            <a:ext cx="0" cy="2916937"/>
          </a:xfrm>
          <a:prstGeom prst="line">
            <a:avLst/>
          </a:prstGeom>
          <a:ln w="12700">
            <a:solidFill>
              <a:srgbClr val="E2E2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8" name="Oval 117"/>
          <p:cNvSpPr/>
          <p:nvPr/>
        </p:nvSpPr>
        <p:spPr>
          <a:xfrm>
            <a:off x="4126687" y="4076100"/>
            <a:ext cx="122529" cy="122529"/>
          </a:xfrm>
          <a:prstGeom prst="ellipse">
            <a:avLst/>
          </a:prstGeom>
          <a:solidFill>
            <a:srgbClr val="00B0F0"/>
          </a:solidFill>
          <a:ln w="12700">
            <a:solidFill>
              <a:srgbClr val="00B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19" name="Connector 118"/>
          <p:cNvCxnSpPr/>
          <p:nvPr/>
        </p:nvCxnSpPr>
        <p:spPr>
          <a:xfrm>
            <a:off x="4967478" y="1956815"/>
            <a:ext cx="0" cy="2916937"/>
          </a:xfrm>
          <a:prstGeom prst="line">
            <a:avLst/>
          </a:prstGeom>
          <a:ln w="12700">
            <a:solidFill>
              <a:srgbClr val="E2E2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0" name="Oval 119"/>
          <p:cNvSpPr/>
          <p:nvPr/>
        </p:nvSpPr>
        <p:spPr>
          <a:xfrm>
            <a:off x="4906213" y="4428325"/>
            <a:ext cx="122529" cy="122529"/>
          </a:xfrm>
          <a:prstGeom prst="ellipse">
            <a:avLst/>
          </a:prstGeom>
          <a:solidFill>
            <a:srgbClr val="00B0F0"/>
          </a:solidFill>
          <a:ln w="12700">
            <a:solidFill>
              <a:srgbClr val="00B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21" name="Connector 120"/>
          <p:cNvCxnSpPr/>
          <p:nvPr/>
        </p:nvCxnSpPr>
        <p:spPr>
          <a:xfrm>
            <a:off x="5747004" y="1956815"/>
            <a:ext cx="0" cy="2916937"/>
          </a:xfrm>
          <a:prstGeom prst="line">
            <a:avLst/>
          </a:prstGeom>
          <a:ln w="12700">
            <a:solidFill>
              <a:srgbClr val="E2E2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2" name="Oval 121"/>
          <p:cNvSpPr/>
          <p:nvPr/>
        </p:nvSpPr>
        <p:spPr>
          <a:xfrm>
            <a:off x="5685739" y="3840995"/>
            <a:ext cx="122529" cy="122529"/>
          </a:xfrm>
          <a:prstGeom prst="ellipse">
            <a:avLst/>
          </a:prstGeom>
          <a:solidFill>
            <a:srgbClr val="00B0F0"/>
          </a:solidFill>
          <a:ln w="12700">
            <a:solidFill>
              <a:srgbClr val="00B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23" name="Connector 122"/>
          <p:cNvCxnSpPr/>
          <p:nvPr/>
        </p:nvCxnSpPr>
        <p:spPr>
          <a:xfrm>
            <a:off x="6526530" y="1956815"/>
            <a:ext cx="0" cy="2916937"/>
          </a:xfrm>
          <a:prstGeom prst="line">
            <a:avLst/>
          </a:prstGeom>
          <a:ln w="12700">
            <a:solidFill>
              <a:srgbClr val="E2E2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4" name="Oval 123"/>
          <p:cNvSpPr/>
          <p:nvPr/>
        </p:nvSpPr>
        <p:spPr>
          <a:xfrm>
            <a:off x="6465265" y="2823436"/>
            <a:ext cx="122529" cy="122529"/>
          </a:xfrm>
          <a:prstGeom prst="ellipse">
            <a:avLst/>
          </a:prstGeom>
          <a:solidFill>
            <a:srgbClr val="00B0F0"/>
          </a:solidFill>
          <a:ln w="12700">
            <a:solidFill>
              <a:srgbClr val="00B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25" name="Connector 124"/>
          <p:cNvCxnSpPr/>
          <p:nvPr/>
        </p:nvCxnSpPr>
        <p:spPr>
          <a:xfrm>
            <a:off x="7306056" y="1956815"/>
            <a:ext cx="0" cy="2916937"/>
          </a:xfrm>
          <a:prstGeom prst="line">
            <a:avLst/>
          </a:prstGeom>
          <a:ln w="12700">
            <a:solidFill>
              <a:srgbClr val="E2E2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6" name="Oval 125"/>
          <p:cNvSpPr/>
          <p:nvPr/>
        </p:nvSpPr>
        <p:spPr>
          <a:xfrm>
            <a:off x="7244791" y="2258062"/>
            <a:ext cx="122529" cy="122529"/>
          </a:xfrm>
          <a:prstGeom prst="ellipse">
            <a:avLst/>
          </a:prstGeom>
          <a:solidFill>
            <a:srgbClr val="00B0F0"/>
          </a:solidFill>
          <a:ln w="12700">
            <a:solidFill>
              <a:srgbClr val="00B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27" name="Connector 126"/>
          <p:cNvCxnSpPr/>
          <p:nvPr/>
        </p:nvCxnSpPr>
        <p:spPr>
          <a:xfrm>
            <a:off x="8085582" y="1956815"/>
            <a:ext cx="0" cy="2916937"/>
          </a:xfrm>
          <a:prstGeom prst="line">
            <a:avLst/>
          </a:prstGeom>
          <a:ln w="12700">
            <a:solidFill>
              <a:srgbClr val="E2E2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8" name="Oval 127"/>
          <p:cNvSpPr/>
          <p:nvPr/>
        </p:nvSpPr>
        <p:spPr>
          <a:xfrm>
            <a:off x="8024317" y="2635158"/>
            <a:ext cx="122529" cy="122529"/>
          </a:xfrm>
          <a:prstGeom prst="ellipse">
            <a:avLst/>
          </a:prstGeom>
          <a:solidFill>
            <a:srgbClr val="00B0F0"/>
          </a:solidFill>
          <a:ln w="12700">
            <a:solidFill>
              <a:srgbClr val="00B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29" name="Connector 128"/>
          <p:cNvCxnSpPr/>
          <p:nvPr/>
        </p:nvCxnSpPr>
        <p:spPr>
          <a:xfrm>
            <a:off x="8865108" y="1956815"/>
            <a:ext cx="0" cy="2916937"/>
          </a:xfrm>
          <a:prstGeom prst="line">
            <a:avLst/>
          </a:prstGeom>
          <a:ln w="12700">
            <a:solidFill>
              <a:srgbClr val="E2E2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0" name="Oval 129"/>
          <p:cNvSpPr/>
          <p:nvPr/>
        </p:nvSpPr>
        <p:spPr>
          <a:xfrm>
            <a:off x="8803843" y="3627712"/>
            <a:ext cx="122529" cy="122529"/>
          </a:xfrm>
          <a:prstGeom prst="ellipse">
            <a:avLst/>
          </a:prstGeom>
          <a:solidFill>
            <a:srgbClr val="00B0F0"/>
          </a:solidFill>
          <a:ln w="12700">
            <a:solidFill>
              <a:srgbClr val="00B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31" name="Connector 130"/>
          <p:cNvCxnSpPr/>
          <p:nvPr/>
        </p:nvCxnSpPr>
        <p:spPr>
          <a:xfrm>
            <a:off x="9644634" y="1956815"/>
            <a:ext cx="0" cy="2916937"/>
          </a:xfrm>
          <a:prstGeom prst="line">
            <a:avLst/>
          </a:prstGeom>
          <a:ln w="12700">
            <a:solidFill>
              <a:srgbClr val="E2E2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2" name="Oval 131"/>
          <p:cNvSpPr/>
          <p:nvPr/>
        </p:nvSpPr>
        <p:spPr>
          <a:xfrm>
            <a:off x="9583369" y="4374993"/>
            <a:ext cx="122529" cy="122529"/>
          </a:xfrm>
          <a:prstGeom prst="ellipse">
            <a:avLst/>
          </a:prstGeom>
          <a:solidFill>
            <a:srgbClr val="00B0F0"/>
          </a:solidFill>
          <a:ln w="12700">
            <a:solidFill>
              <a:srgbClr val="00B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3" name="TextBox 132"/>
          <p:cNvSpPr txBox="1"/>
          <p:nvPr/>
        </p:nvSpPr>
        <p:spPr>
          <a:xfrm>
            <a:off x="777240" y="5879592"/>
            <a:ext cx="1078992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000" b="1">
                <a:solidFill>
                  <a:srgbClr val="8C64E1"/>
                </a:solidFill>
                <a:latin typeface="Alibaba PuHuiTi 3.0 115 Black"/>
              </a:defRPr>
            </a:pPr>
            <a:r>
              <a:t>采样：在固定时刻取样，让时间上的记录变得离散。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36576"/>
            <a:ext cx="12191695" cy="73152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57416"/>
            <a:ext cx="12191695" cy="73152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12648" y="576072"/>
            <a:ext cx="10972800" cy="7863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300"/>
              </a:spcAft>
              <a:defRPr sz="3400" b="1">
                <a:solidFill>
                  <a:srgbClr val="262626"/>
                </a:solidFill>
                <a:latin typeface="Alibaba PuHuiTi 3.0 115 Black"/>
              </a:defRPr>
            </a:pPr>
            <a:r>
              <a:t>演示B：把波形放大，能看见一个个采样点吗？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04672" y="1499616"/>
            <a:ext cx="10424160" cy="594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300"/>
              </a:spcAft>
              <a:defRPr sz="2400" b="1">
                <a:solidFill>
                  <a:srgbClr val="8C64E1"/>
                </a:solidFill>
                <a:latin typeface="Alibaba PuHuiTi 3.0 115 Black"/>
              </a:defRPr>
            </a:pPr>
            <a:r>
              <a:t>同一段录音：左边看整体，右边看极短的一段。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41248" y="2194560"/>
            <a:ext cx="4937760" cy="4480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300"/>
              </a:spcAft>
              <a:defRPr sz="2400" b="1">
                <a:solidFill>
                  <a:srgbClr val="262626"/>
                </a:solidFill>
                <a:latin typeface="Alibaba PuHuiTi 3.0 115 Black"/>
              </a:defRPr>
            </a:pPr>
            <a:r>
              <a:t>整段波形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46520" y="2194560"/>
            <a:ext cx="5120640" cy="4480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300"/>
              </a:spcAft>
              <a:defRPr sz="2400" b="1">
                <a:solidFill>
                  <a:srgbClr val="262626"/>
                </a:solidFill>
                <a:latin typeface="Alibaba PuHuiTi 3.0 115 Black"/>
              </a:defRPr>
            </a:pPr>
            <a:r>
              <a:t>局部放大：真实样本点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804672" y="3794760"/>
            <a:ext cx="5029200" cy="0"/>
          </a:xfrm>
          <a:prstGeom prst="line">
            <a:avLst/>
          </a:prstGeom>
          <a:ln w="1778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850392" y="2889504"/>
            <a:ext cx="0" cy="1856232"/>
          </a:xfrm>
          <a:prstGeom prst="line">
            <a:avLst/>
          </a:prstGeom>
          <a:ln w="1397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804672" y="2459736"/>
            <a:ext cx="114300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300"/>
              </a:spcAft>
              <a:defRPr sz="1700" b="0">
                <a:solidFill>
                  <a:srgbClr val="808080"/>
                </a:solidFill>
                <a:latin typeface="Alibaba PuHuiTi 3.0 55 Regular"/>
              </a:defRPr>
            </a:pPr>
            <a:r>
              <a:t>振幅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919472" y="3922776"/>
            <a:ext cx="82296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300"/>
              </a:spcAft>
              <a:defRPr sz="1700" b="0">
                <a:solidFill>
                  <a:srgbClr val="808080"/>
                </a:solidFill>
                <a:latin typeface="Alibaba PuHuiTi 3.0 55 Regular"/>
              </a:defRPr>
            </a:pPr>
            <a:r>
              <a:t>时间</a:t>
            </a:r>
          </a:p>
        </p:txBody>
      </p:sp>
      <p:cxnSp>
        <p:nvCxnSpPr>
          <p:cNvPr id="12" name="Connector 11"/>
          <p:cNvCxnSpPr/>
          <p:nvPr/>
        </p:nvCxnSpPr>
        <p:spPr>
          <a:xfrm flipV="1">
            <a:off x="923544" y="3597279"/>
            <a:ext cx="46634" cy="82817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 flipV="1">
            <a:off x="970178" y="3517577"/>
            <a:ext cx="46634" cy="79702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 flipV="1">
            <a:off x="1016812" y="3442247"/>
            <a:ext cx="46635" cy="75330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 flipV="1">
            <a:off x="1063447" y="3372475"/>
            <a:ext cx="46634" cy="69772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 flipV="1">
            <a:off x="1110081" y="3309364"/>
            <a:ext cx="46635" cy="63111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 flipV="1">
            <a:off x="1156716" y="3253907"/>
            <a:ext cx="46634" cy="55457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 flipV="1">
            <a:off x="1203350" y="3206980"/>
            <a:ext cx="46634" cy="46927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 flipV="1">
            <a:off x="1249984" y="3169323"/>
            <a:ext cx="46635" cy="37657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 flipV="1">
            <a:off x="1296619" y="3141529"/>
            <a:ext cx="46634" cy="27794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 flipV="1">
            <a:off x="1343253" y="3124037"/>
            <a:ext cx="46635" cy="17492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 flipV="1">
            <a:off x="1389888" y="3117122"/>
            <a:ext cx="46634" cy="6915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>
            <a:off x="1436522" y="3117122"/>
            <a:ext cx="46634" cy="3772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>
            <a:off x="1483156" y="3120894"/>
            <a:ext cx="46635" cy="14400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>
            <a:off x="1529791" y="3135294"/>
            <a:ext cx="46634" cy="24800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>
            <a:off x="1576425" y="3160094"/>
            <a:ext cx="46635" cy="34809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6"/>
          <p:cNvCxnSpPr/>
          <p:nvPr/>
        </p:nvCxnSpPr>
        <p:spPr>
          <a:xfrm>
            <a:off x="1623060" y="3194903"/>
            <a:ext cx="46634" cy="44269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ector 27"/>
          <p:cNvCxnSpPr/>
          <p:nvPr/>
        </p:nvCxnSpPr>
        <p:spPr>
          <a:xfrm>
            <a:off x="1669694" y="3239172"/>
            <a:ext cx="46634" cy="53031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Connector 28"/>
          <p:cNvCxnSpPr/>
          <p:nvPr/>
        </p:nvCxnSpPr>
        <p:spPr>
          <a:xfrm>
            <a:off x="1716328" y="3292203"/>
            <a:ext cx="46635" cy="60956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nector 29"/>
          <p:cNvCxnSpPr/>
          <p:nvPr/>
        </p:nvCxnSpPr>
        <p:spPr>
          <a:xfrm>
            <a:off x="1762963" y="3353159"/>
            <a:ext cx="46634" cy="67921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nector 30"/>
          <p:cNvCxnSpPr/>
          <p:nvPr/>
        </p:nvCxnSpPr>
        <p:spPr>
          <a:xfrm>
            <a:off x="1809597" y="3421080"/>
            <a:ext cx="46635" cy="73814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Connector 31"/>
          <p:cNvCxnSpPr/>
          <p:nvPr/>
        </p:nvCxnSpPr>
        <p:spPr>
          <a:xfrm>
            <a:off x="1856232" y="3494894"/>
            <a:ext cx="46634" cy="78543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Connector 32"/>
          <p:cNvCxnSpPr/>
          <p:nvPr/>
        </p:nvCxnSpPr>
        <p:spPr>
          <a:xfrm>
            <a:off x="1902866" y="3573437"/>
            <a:ext cx="46634" cy="82033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Connector 33"/>
          <p:cNvCxnSpPr/>
          <p:nvPr/>
        </p:nvCxnSpPr>
        <p:spPr>
          <a:xfrm>
            <a:off x="1949500" y="3655470"/>
            <a:ext cx="46635" cy="84230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Connector 34"/>
          <p:cNvCxnSpPr/>
          <p:nvPr/>
        </p:nvCxnSpPr>
        <p:spPr>
          <a:xfrm>
            <a:off x="1996135" y="3739700"/>
            <a:ext cx="46634" cy="85099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Connector 35"/>
          <p:cNvCxnSpPr/>
          <p:nvPr/>
        </p:nvCxnSpPr>
        <p:spPr>
          <a:xfrm>
            <a:off x="2042769" y="3824799"/>
            <a:ext cx="46635" cy="84624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" name="Connector 36"/>
          <p:cNvCxnSpPr/>
          <p:nvPr/>
        </p:nvCxnSpPr>
        <p:spPr>
          <a:xfrm>
            <a:off x="2089404" y="3909423"/>
            <a:ext cx="46634" cy="82817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" name="Connector 37"/>
          <p:cNvCxnSpPr/>
          <p:nvPr/>
        </p:nvCxnSpPr>
        <p:spPr>
          <a:xfrm>
            <a:off x="2136038" y="3992240"/>
            <a:ext cx="46634" cy="79702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" name="Connector 38"/>
          <p:cNvCxnSpPr/>
          <p:nvPr/>
        </p:nvCxnSpPr>
        <p:spPr>
          <a:xfrm>
            <a:off x="2182672" y="4071942"/>
            <a:ext cx="46635" cy="75330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" name="Connector 39"/>
          <p:cNvCxnSpPr/>
          <p:nvPr/>
        </p:nvCxnSpPr>
        <p:spPr>
          <a:xfrm>
            <a:off x="2229307" y="4147272"/>
            <a:ext cx="46634" cy="69772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" name="Connector 40"/>
          <p:cNvCxnSpPr/>
          <p:nvPr/>
        </p:nvCxnSpPr>
        <p:spPr>
          <a:xfrm>
            <a:off x="2275941" y="4217044"/>
            <a:ext cx="46635" cy="63111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" name="Connector 41"/>
          <p:cNvCxnSpPr/>
          <p:nvPr/>
        </p:nvCxnSpPr>
        <p:spPr>
          <a:xfrm>
            <a:off x="2322576" y="4280155"/>
            <a:ext cx="46634" cy="55457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3" name="Connector 42"/>
          <p:cNvCxnSpPr/>
          <p:nvPr/>
        </p:nvCxnSpPr>
        <p:spPr>
          <a:xfrm>
            <a:off x="2369210" y="4335612"/>
            <a:ext cx="46634" cy="46927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Connector 43"/>
          <p:cNvCxnSpPr/>
          <p:nvPr/>
        </p:nvCxnSpPr>
        <p:spPr>
          <a:xfrm>
            <a:off x="2415844" y="4382539"/>
            <a:ext cx="46635" cy="37657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" name="Connector 44"/>
          <p:cNvCxnSpPr/>
          <p:nvPr/>
        </p:nvCxnSpPr>
        <p:spPr>
          <a:xfrm>
            <a:off x="2462479" y="4420196"/>
            <a:ext cx="46634" cy="27794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6" name="Connector 45"/>
          <p:cNvCxnSpPr/>
          <p:nvPr/>
        </p:nvCxnSpPr>
        <p:spPr>
          <a:xfrm>
            <a:off x="2509113" y="4447990"/>
            <a:ext cx="46635" cy="17492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7" name="Connector 46"/>
          <p:cNvCxnSpPr/>
          <p:nvPr/>
        </p:nvCxnSpPr>
        <p:spPr>
          <a:xfrm>
            <a:off x="2555748" y="4465482"/>
            <a:ext cx="46634" cy="6915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8" name="Connector 47"/>
          <p:cNvCxnSpPr/>
          <p:nvPr/>
        </p:nvCxnSpPr>
        <p:spPr>
          <a:xfrm flipV="1">
            <a:off x="2602382" y="4468625"/>
            <a:ext cx="46634" cy="3772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9" name="Connector 48"/>
          <p:cNvCxnSpPr/>
          <p:nvPr/>
        </p:nvCxnSpPr>
        <p:spPr>
          <a:xfrm flipV="1">
            <a:off x="2649016" y="4454225"/>
            <a:ext cx="46635" cy="14400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0" name="Connector 49"/>
          <p:cNvCxnSpPr/>
          <p:nvPr/>
        </p:nvCxnSpPr>
        <p:spPr>
          <a:xfrm flipV="1">
            <a:off x="2695651" y="4429425"/>
            <a:ext cx="46634" cy="24800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1" name="Connector 50"/>
          <p:cNvCxnSpPr/>
          <p:nvPr/>
        </p:nvCxnSpPr>
        <p:spPr>
          <a:xfrm flipV="1">
            <a:off x="2742285" y="4394616"/>
            <a:ext cx="46635" cy="34809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2" name="Connector 51"/>
          <p:cNvCxnSpPr/>
          <p:nvPr/>
        </p:nvCxnSpPr>
        <p:spPr>
          <a:xfrm flipV="1">
            <a:off x="2788920" y="4350347"/>
            <a:ext cx="46634" cy="44269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3" name="Connector 52"/>
          <p:cNvCxnSpPr/>
          <p:nvPr/>
        </p:nvCxnSpPr>
        <p:spPr>
          <a:xfrm flipV="1">
            <a:off x="2835554" y="4297316"/>
            <a:ext cx="46634" cy="53031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4" name="Connector 53"/>
          <p:cNvCxnSpPr/>
          <p:nvPr/>
        </p:nvCxnSpPr>
        <p:spPr>
          <a:xfrm flipV="1">
            <a:off x="2882188" y="4236360"/>
            <a:ext cx="46635" cy="60956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5" name="Connector 54"/>
          <p:cNvCxnSpPr/>
          <p:nvPr/>
        </p:nvCxnSpPr>
        <p:spPr>
          <a:xfrm flipV="1">
            <a:off x="2928823" y="4168439"/>
            <a:ext cx="46634" cy="67921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6" name="Connector 55"/>
          <p:cNvCxnSpPr/>
          <p:nvPr/>
        </p:nvCxnSpPr>
        <p:spPr>
          <a:xfrm flipV="1">
            <a:off x="2975457" y="4094625"/>
            <a:ext cx="46634" cy="73814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7" name="Connector 56"/>
          <p:cNvCxnSpPr/>
          <p:nvPr/>
        </p:nvCxnSpPr>
        <p:spPr>
          <a:xfrm flipV="1">
            <a:off x="3022091" y="4016082"/>
            <a:ext cx="46635" cy="78543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8" name="Connector 57"/>
          <p:cNvCxnSpPr/>
          <p:nvPr/>
        </p:nvCxnSpPr>
        <p:spPr>
          <a:xfrm flipV="1">
            <a:off x="3068726" y="3934049"/>
            <a:ext cx="46634" cy="82033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9" name="Connector 58"/>
          <p:cNvCxnSpPr/>
          <p:nvPr/>
        </p:nvCxnSpPr>
        <p:spPr>
          <a:xfrm flipV="1">
            <a:off x="3115360" y="3849819"/>
            <a:ext cx="46635" cy="84230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0" name="Connector 59"/>
          <p:cNvCxnSpPr/>
          <p:nvPr/>
        </p:nvCxnSpPr>
        <p:spPr>
          <a:xfrm flipV="1">
            <a:off x="3161995" y="3764720"/>
            <a:ext cx="46634" cy="85099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1" name="Connector 60"/>
          <p:cNvCxnSpPr/>
          <p:nvPr/>
        </p:nvCxnSpPr>
        <p:spPr>
          <a:xfrm flipV="1">
            <a:off x="3208629" y="3680096"/>
            <a:ext cx="46634" cy="84624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2" name="Connector 61"/>
          <p:cNvCxnSpPr/>
          <p:nvPr/>
        </p:nvCxnSpPr>
        <p:spPr>
          <a:xfrm flipV="1">
            <a:off x="3255263" y="3597279"/>
            <a:ext cx="46635" cy="82817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3" name="Connector 62"/>
          <p:cNvCxnSpPr/>
          <p:nvPr/>
        </p:nvCxnSpPr>
        <p:spPr>
          <a:xfrm flipV="1">
            <a:off x="3301898" y="3517577"/>
            <a:ext cx="46634" cy="79702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4" name="Connector 63"/>
          <p:cNvCxnSpPr/>
          <p:nvPr/>
        </p:nvCxnSpPr>
        <p:spPr>
          <a:xfrm flipV="1">
            <a:off x="3348532" y="3442247"/>
            <a:ext cx="46635" cy="75330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5" name="Connector 64"/>
          <p:cNvCxnSpPr/>
          <p:nvPr/>
        </p:nvCxnSpPr>
        <p:spPr>
          <a:xfrm flipV="1">
            <a:off x="3395167" y="3372475"/>
            <a:ext cx="46634" cy="69772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6" name="Connector 65"/>
          <p:cNvCxnSpPr/>
          <p:nvPr/>
        </p:nvCxnSpPr>
        <p:spPr>
          <a:xfrm flipV="1">
            <a:off x="3441801" y="3309364"/>
            <a:ext cx="46635" cy="63111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7" name="Connector 66"/>
          <p:cNvCxnSpPr/>
          <p:nvPr/>
        </p:nvCxnSpPr>
        <p:spPr>
          <a:xfrm flipV="1">
            <a:off x="3488436" y="3253907"/>
            <a:ext cx="46634" cy="55457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8" name="Connector 67"/>
          <p:cNvCxnSpPr/>
          <p:nvPr/>
        </p:nvCxnSpPr>
        <p:spPr>
          <a:xfrm flipV="1">
            <a:off x="3535070" y="3206980"/>
            <a:ext cx="46634" cy="46927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9" name="Connector 68"/>
          <p:cNvCxnSpPr/>
          <p:nvPr/>
        </p:nvCxnSpPr>
        <p:spPr>
          <a:xfrm flipV="1">
            <a:off x="3581704" y="3169323"/>
            <a:ext cx="46635" cy="37657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0" name="Connector 69"/>
          <p:cNvCxnSpPr/>
          <p:nvPr/>
        </p:nvCxnSpPr>
        <p:spPr>
          <a:xfrm flipV="1">
            <a:off x="3628339" y="3141529"/>
            <a:ext cx="46634" cy="27794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1" name="Connector 70"/>
          <p:cNvCxnSpPr/>
          <p:nvPr/>
        </p:nvCxnSpPr>
        <p:spPr>
          <a:xfrm flipV="1">
            <a:off x="3674973" y="3124037"/>
            <a:ext cx="46634" cy="17492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2" name="Connector 71"/>
          <p:cNvCxnSpPr/>
          <p:nvPr/>
        </p:nvCxnSpPr>
        <p:spPr>
          <a:xfrm flipV="1">
            <a:off x="3721607" y="3117122"/>
            <a:ext cx="46635" cy="6915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3" name="Connector 72"/>
          <p:cNvCxnSpPr/>
          <p:nvPr/>
        </p:nvCxnSpPr>
        <p:spPr>
          <a:xfrm>
            <a:off x="3768242" y="3117122"/>
            <a:ext cx="46634" cy="3772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4" name="Connector 73"/>
          <p:cNvCxnSpPr/>
          <p:nvPr/>
        </p:nvCxnSpPr>
        <p:spPr>
          <a:xfrm>
            <a:off x="3814876" y="3120894"/>
            <a:ext cx="46635" cy="14400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5" name="Connector 74"/>
          <p:cNvCxnSpPr/>
          <p:nvPr/>
        </p:nvCxnSpPr>
        <p:spPr>
          <a:xfrm>
            <a:off x="3861511" y="3135294"/>
            <a:ext cx="46634" cy="24800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6" name="Connector 75"/>
          <p:cNvCxnSpPr/>
          <p:nvPr/>
        </p:nvCxnSpPr>
        <p:spPr>
          <a:xfrm>
            <a:off x="3908145" y="3160094"/>
            <a:ext cx="46635" cy="34809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7" name="Connector 76"/>
          <p:cNvCxnSpPr/>
          <p:nvPr/>
        </p:nvCxnSpPr>
        <p:spPr>
          <a:xfrm>
            <a:off x="3954780" y="3194903"/>
            <a:ext cx="46634" cy="44269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8" name="Connector 77"/>
          <p:cNvCxnSpPr/>
          <p:nvPr/>
        </p:nvCxnSpPr>
        <p:spPr>
          <a:xfrm>
            <a:off x="4001414" y="3239172"/>
            <a:ext cx="46634" cy="53031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9" name="Connector 78"/>
          <p:cNvCxnSpPr/>
          <p:nvPr/>
        </p:nvCxnSpPr>
        <p:spPr>
          <a:xfrm>
            <a:off x="4048048" y="3292203"/>
            <a:ext cx="46635" cy="60956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0" name="Connector 79"/>
          <p:cNvCxnSpPr/>
          <p:nvPr/>
        </p:nvCxnSpPr>
        <p:spPr>
          <a:xfrm>
            <a:off x="4094683" y="3353159"/>
            <a:ext cx="46634" cy="67921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1" name="Connector 80"/>
          <p:cNvCxnSpPr/>
          <p:nvPr/>
        </p:nvCxnSpPr>
        <p:spPr>
          <a:xfrm>
            <a:off x="4141317" y="3421080"/>
            <a:ext cx="46634" cy="73814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2" name="Connector 81"/>
          <p:cNvCxnSpPr/>
          <p:nvPr/>
        </p:nvCxnSpPr>
        <p:spPr>
          <a:xfrm>
            <a:off x="4187951" y="3494894"/>
            <a:ext cx="46635" cy="78543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3" name="Connector 82"/>
          <p:cNvCxnSpPr/>
          <p:nvPr/>
        </p:nvCxnSpPr>
        <p:spPr>
          <a:xfrm>
            <a:off x="4234586" y="3573437"/>
            <a:ext cx="46634" cy="82033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4" name="Connector 83"/>
          <p:cNvCxnSpPr/>
          <p:nvPr/>
        </p:nvCxnSpPr>
        <p:spPr>
          <a:xfrm>
            <a:off x="4281220" y="3655470"/>
            <a:ext cx="46635" cy="84230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5" name="Connector 84"/>
          <p:cNvCxnSpPr/>
          <p:nvPr/>
        </p:nvCxnSpPr>
        <p:spPr>
          <a:xfrm>
            <a:off x="4327855" y="3739700"/>
            <a:ext cx="46634" cy="85099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6" name="Connector 85"/>
          <p:cNvCxnSpPr/>
          <p:nvPr/>
        </p:nvCxnSpPr>
        <p:spPr>
          <a:xfrm>
            <a:off x="4374489" y="3824799"/>
            <a:ext cx="46635" cy="84624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7" name="Connector 86"/>
          <p:cNvCxnSpPr/>
          <p:nvPr/>
        </p:nvCxnSpPr>
        <p:spPr>
          <a:xfrm>
            <a:off x="4421124" y="3909423"/>
            <a:ext cx="46634" cy="82817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8" name="Connector 87"/>
          <p:cNvCxnSpPr/>
          <p:nvPr/>
        </p:nvCxnSpPr>
        <p:spPr>
          <a:xfrm>
            <a:off x="4467758" y="3992240"/>
            <a:ext cx="46634" cy="79702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9" name="Connector 88"/>
          <p:cNvCxnSpPr/>
          <p:nvPr/>
        </p:nvCxnSpPr>
        <p:spPr>
          <a:xfrm>
            <a:off x="4514392" y="4071942"/>
            <a:ext cx="46635" cy="75330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0" name="Connector 89"/>
          <p:cNvCxnSpPr/>
          <p:nvPr/>
        </p:nvCxnSpPr>
        <p:spPr>
          <a:xfrm>
            <a:off x="4561027" y="4147272"/>
            <a:ext cx="46634" cy="69772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1" name="Connector 90"/>
          <p:cNvCxnSpPr/>
          <p:nvPr/>
        </p:nvCxnSpPr>
        <p:spPr>
          <a:xfrm>
            <a:off x="4607661" y="4217044"/>
            <a:ext cx="46635" cy="63111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2" name="Connector 91"/>
          <p:cNvCxnSpPr/>
          <p:nvPr/>
        </p:nvCxnSpPr>
        <p:spPr>
          <a:xfrm>
            <a:off x="4654296" y="4280155"/>
            <a:ext cx="46634" cy="55457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3" name="Connector 92"/>
          <p:cNvCxnSpPr/>
          <p:nvPr/>
        </p:nvCxnSpPr>
        <p:spPr>
          <a:xfrm>
            <a:off x="4700930" y="4335612"/>
            <a:ext cx="46634" cy="46927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4" name="Connector 93"/>
          <p:cNvCxnSpPr/>
          <p:nvPr/>
        </p:nvCxnSpPr>
        <p:spPr>
          <a:xfrm>
            <a:off x="4747564" y="4382539"/>
            <a:ext cx="46635" cy="37657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5" name="Connector 94"/>
          <p:cNvCxnSpPr/>
          <p:nvPr/>
        </p:nvCxnSpPr>
        <p:spPr>
          <a:xfrm>
            <a:off x="4794199" y="4420196"/>
            <a:ext cx="46634" cy="27794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6" name="Connector 95"/>
          <p:cNvCxnSpPr/>
          <p:nvPr/>
        </p:nvCxnSpPr>
        <p:spPr>
          <a:xfrm>
            <a:off x="4840833" y="4447990"/>
            <a:ext cx="46635" cy="17492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7" name="Connector 96"/>
          <p:cNvCxnSpPr/>
          <p:nvPr/>
        </p:nvCxnSpPr>
        <p:spPr>
          <a:xfrm>
            <a:off x="4887468" y="4465482"/>
            <a:ext cx="46634" cy="6915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8" name="Connector 97"/>
          <p:cNvCxnSpPr/>
          <p:nvPr/>
        </p:nvCxnSpPr>
        <p:spPr>
          <a:xfrm flipV="1">
            <a:off x="4934102" y="4468625"/>
            <a:ext cx="46634" cy="3772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9" name="Connector 98"/>
          <p:cNvCxnSpPr/>
          <p:nvPr/>
        </p:nvCxnSpPr>
        <p:spPr>
          <a:xfrm flipV="1">
            <a:off x="4980736" y="4454225"/>
            <a:ext cx="46635" cy="14400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0" name="Connector 99"/>
          <p:cNvCxnSpPr/>
          <p:nvPr/>
        </p:nvCxnSpPr>
        <p:spPr>
          <a:xfrm flipV="1">
            <a:off x="5027371" y="4429425"/>
            <a:ext cx="46634" cy="24800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1" name="Connector 100"/>
          <p:cNvCxnSpPr/>
          <p:nvPr/>
        </p:nvCxnSpPr>
        <p:spPr>
          <a:xfrm flipV="1">
            <a:off x="5074005" y="4394616"/>
            <a:ext cx="46635" cy="34809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2" name="Connector 101"/>
          <p:cNvCxnSpPr/>
          <p:nvPr/>
        </p:nvCxnSpPr>
        <p:spPr>
          <a:xfrm flipV="1">
            <a:off x="5120640" y="4350347"/>
            <a:ext cx="46634" cy="44269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3" name="Connector 102"/>
          <p:cNvCxnSpPr/>
          <p:nvPr/>
        </p:nvCxnSpPr>
        <p:spPr>
          <a:xfrm flipV="1">
            <a:off x="5167274" y="4297316"/>
            <a:ext cx="46634" cy="53031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4" name="Connector 103"/>
          <p:cNvCxnSpPr/>
          <p:nvPr/>
        </p:nvCxnSpPr>
        <p:spPr>
          <a:xfrm flipV="1">
            <a:off x="5213908" y="4236360"/>
            <a:ext cx="46635" cy="60956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5" name="Connector 104"/>
          <p:cNvCxnSpPr/>
          <p:nvPr/>
        </p:nvCxnSpPr>
        <p:spPr>
          <a:xfrm flipV="1">
            <a:off x="5260543" y="4168439"/>
            <a:ext cx="46634" cy="67921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6" name="Connector 105"/>
          <p:cNvCxnSpPr/>
          <p:nvPr/>
        </p:nvCxnSpPr>
        <p:spPr>
          <a:xfrm flipV="1">
            <a:off x="5307177" y="4094625"/>
            <a:ext cx="46635" cy="73814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7" name="Connector 106"/>
          <p:cNvCxnSpPr/>
          <p:nvPr/>
        </p:nvCxnSpPr>
        <p:spPr>
          <a:xfrm flipV="1">
            <a:off x="5353812" y="4016082"/>
            <a:ext cx="46634" cy="78543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8" name="Connector 107"/>
          <p:cNvCxnSpPr/>
          <p:nvPr/>
        </p:nvCxnSpPr>
        <p:spPr>
          <a:xfrm flipV="1">
            <a:off x="5400446" y="3934049"/>
            <a:ext cx="46634" cy="82033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9" name="Connector 108"/>
          <p:cNvCxnSpPr/>
          <p:nvPr/>
        </p:nvCxnSpPr>
        <p:spPr>
          <a:xfrm flipV="1">
            <a:off x="5447080" y="3849819"/>
            <a:ext cx="46635" cy="84230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0" name="Connector 109"/>
          <p:cNvCxnSpPr/>
          <p:nvPr/>
        </p:nvCxnSpPr>
        <p:spPr>
          <a:xfrm flipV="1">
            <a:off x="5493715" y="3764720"/>
            <a:ext cx="46634" cy="85099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1" name="Connector 110"/>
          <p:cNvCxnSpPr/>
          <p:nvPr/>
        </p:nvCxnSpPr>
        <p:spPr>
          <a:xfrm flipV="1">
            <a:off x="5540349" y="3680096"/>
            <a:ext cx="46634" cy="84624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2" name="Connector 111"/>
          <p:cNvCxnSpPr/>
          <p:nvPr/>
        </p:nvCxnSpPr>
        <p:spPr>
          <a:xfrm>
            <a:off x="6446520" y="3794760"/>
            <a:ext cx="4892039" cy="0"/>
          </a:xfrm>
          <a:prstGeom prst="line">
            <a:avLst/>
          </a:prstGeom>
          <a:ln w="1778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3" name="Connector 112"/>
          <p:cNvCxnSpPr/>
          <p:nvPr/>
        </p:nvCxnSpPr>
        <p:spPr>
          <a:xfrm>
            <a:off x="6492240" y="2889504"/>
            <a:ext cx="0" cy="1856232"/>
          </a:xfrm>
          <a:prstGeom prst="line">
            <a:avLst/>
          </a:prstGeom>
          <a:ln w="1397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4" name="TextBox 113"/>
          <p:cNvSpPr txBox="1"/>
          <p:nvPr/>
        </p:nvSpPr>
        <p:spPr>
          <a:xfrm>
            <a:off x="6446520" y="2459736"/>
            <a:ext cx="114300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300"/>
              </a:spcAft>
              <a:defRPr sz="1700" b="0">
                <a:solidFill>
                  <a:srgbClr val="808080"/>
                </a:solidFill>
                <a:latin typeface="Alibaba PuHuiTi 3.0 55 Regular"/>
              </a:defRPr>
            </a:pPr>
            <a:r>
              <a:t>振幅</a:t>
            </a:r>
          </a:p>
        </p:txBody>
      </p:sp>
      <p:sp>
        <p:nvSpPr>
          <p:cNvPr id="115" name="TextBox 114"/>
          <p:cNvSpPr txBox="1"/>
          <p:nvPr/>
        </p:nvSpPr>
        <p:spPr>
          <a:xfrm>
            <a:off x="10424159" y="3922776"/>
            <a:ext cx="82296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300"/>
              </a:spcAft>
              <a:defRPr sz="1700" b="0">
                <a:solidFill>
                  <a:srgbClr val="808080"/>
                </a:solidFill>
                <a:latin typeface="Alibaba PuHuiTi 3.0 55 Regular"/>
              </a:defRPr>
            </a:pPr>
            <a:r>
              <a:t>时间</a:t>
            </a:r>
          </a:p>
        </p:txBody>
      </p:sp>
      <p:cxnSp>
        <p:nvCxnSpPr>
          <p:cNvPr id="116" name="Connector 115"/>
          <p:cNvCxnSpPr/>
          <p:nvPr/>
        </p:nvCxnSpPr>
        <p:spPr>
          <a:xfrm flipV="1">
            <a:off x="6565392" y="3621856"/>
            <a:ext cx="45262" cy="58240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7" name="Connector 116"/>
          <p:cNvCxnSpPr/>
          <p:nvPr/>
        </p:nvCxnSpPr>
        <p:spPr>
          <a:xfrm flipV="1">
            <a:off x="6610654" y="3564953"/>
            <a:ext cx="45263" cy="56903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8" name="Connector 117"/>
          <p:cNvCxnSpPr/>
          <p:nvPr/>
        </p:nvCxnSpPr>
        <p:spPr>
          <a:xfrm flipV="1">
            <a:off x="6655917" y="3509827"/>
            <a:ext cx="45263" cy="55126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9" name="Connector 118"/>
          <p:cNvCxnSpPr/>
          <p:nvPr/>
        </p:nvCxnSpPr>
        <p:spPr>
          <a:xfrm flipV="1">
            <a:off x="6701180" y="3456905"/>
            <a:ext cx="45263" cy="52922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0" name="Connector 119"/>
          <p:cNvCxnSpPr/>
          <p:nvPr/>
        </p:nvCxnSpPr>
        <p:spPr>
          <a:xfrm flipV="1">
            <a:off x="6746443" y="3406595"/>
            <a:ext cx="45262" cy="50310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1" name="Connector 120"/>
          <p:cNvCxnSpPr/>
          <p:nvPr/>
        </p:nvCxnSpPr>
        <p:spPr>
          <a:xfrm flipV="1">
            <a:off x="6791705" y="3359287"/>
            <a:ext cx="45263" cy="47308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2" name="Connector 121"/>
          <p:cNvCxnSpPr/>
          <p:nvPr/>
        </p:nvCxnSpPr>
        <p:spPr>
          <a:xfrm flipV="1">
            <a:off x="6836968" y="3315346"/>
            <a:ext cx="45263" cy="43941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3" name="Connector 122"/>
          <p:cNvCxnSpPr/>
          <p:nvPr/>
        </p:nvCxnSpPr>
        <p:spPr>
          <a:xfrm flipV="1">
            <a:off x="6882231" y="3275112"/>
            <a:ext cx="45263" cy="40234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4" name="Connector 123"/>
          <p:cNvCxnSpPr/>
          <p:nvPr/>
        </p:nvCxnSpPr>
        <p:spPr>
          <a:xfrm flipV="1">
            <a:off x="6927494" y="3238897"/>
            <a:ext cx="45263" cy="36215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5" name="Connector 124"/>
          <p:cNvCxnSpPr/>
          <p:nvPr/>
        </p:nvCxnSpPr>
        <p:spPr>
          <a:xfrm flipV="1">
            <a:off x="6972757" y="3206980"/>
            <a:ext cx="45263" cy="31917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6" name="Connector 125"/>
          <p:cNvCxnSpPr/>
          <p:nvPr/>
        </p:nvCxnSpPr>
        <p:spPr>
          <a:xfrm flipV="1">
            <a:off x="7018020" y="3179608"/>
            <a:ext cx="45262" cy="27372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7" name="Connector 126"/>
          <p:cNvCxnSpPr/>
          <p:nvPr/>
        </p:nvCxnSpPr>
        <p:spPr>
          <a:xfrm flipV="1">
            <a:off x="7063282" y="3156993"/>
            <a:ext cx="45263" cy="22615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8" name="Connector 127"/>
          <p:cNvCxnSpPr/>
          <p:nvPr/>
        </p:nvCxnSpPr>
        <p:spPr>
          <a:xfrm flipV="1">
            <a:off x="7108545" y="3139310"/>
            <a:ext cx="45263" cy="17683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9" name="Connector 128"/>
          <p:cNvCxnSpPr/>
          <p:nvPr/>
        </p:nvCxnSpPr>
        <p:spPr>
          <a:xfrm flipV="1">
            <a:off x="7153808" y="3126695"/>
            <a:ext cx="45263" cy="12615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0" name="Connector 129"/>
          <p:cNvCxnSpPr/>
          <p:nvPr/>
        </p:nvCxnSpPr>
        <p:spPr>
          <a:xfrm flipV="1">
            <a:off x="7199071" y="3119246"/>
            <a:ext cx="45262" cy="7449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1" name="Connector 130"/>
          <p:cNvCxnSpPr/>
          <p:nvPr/>
        </p:nvCxnSpPr>
        <p:spPr>
          <a:xfrm flipV="1">
            <a:off x="7244333" y="3117021"/>
            <a:ext cx="45263" cy="2225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2" name="Connector 131"/>
          <p:cNvCxnSpPr/>
          <p:nvPr/>
        </p:nvCxnSpPr>
        <p:spPr>
          <a:xfrm>
            <a:off x="7289596" y="3117021"/>
            <a:ext cx="45263" cy="3016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3" name="Connector 132"/>
          <p:cNvCxnSpPr/>
          <p:nvPr/>
        </p:nvCxnSpPr>
        <p:spPr>
          <a:xfrm>
            <a:off x="7334859" y="3120037"/>
            <a:ext cx="45263" cy="8233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4" name="Connector 133"/>
          <p:cNvCxnSpPr/>
          <p:nvPr/>
        </p:nvCxnSpPr>
        <p:spPr>
          <a:xfrm>
            <a:off x="7380122" y="3128270"/>
            <a:ext cx="45263" cy="13387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5" name="Connector 134"/>
          <p:cNvCxnSpPr/>
          <p:nvPr/>
        </p:nvCxnSpPr>
        <p:spPr>
          <a:xfrm>
            <a:off x="7425385" y="3141657"/>
            <a:ext cx="45263" cy="18437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6" name="Connector 135"/>
          <p:cNvCxnSpPr/>
          <p:nvPr/>
        </p:nvCxnSpPr>
        <p:spPr>
          <a:xfrm>
            <a:off x="7470648" y="3160094"/>
            <a:ext cx="45262" cy="23345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7" name="Connector 136"/>
          <p:cNvCxnSpPr/>
          <p:nvPr/>
        </p:nvCxnSpPr>
        <p:spPr>
          <a:xfrm>
            <a:off x="7515910" y="3183439"/>
            <a:ext cx="45263" cy="28072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8" name="Connector 137"/>
          <p:cNvCxnSpPr/>
          <p:nvPr/>
        </p:nvCxnSpPr>
        <p:spPr>
          <a:xfrm>
            <a:off x="7561173" y="3211511"/>
            <a:ext cx="45263" cy="32582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9" name="Connector 138"/>
          <p:cNvCxnSpPr/>
          <p:nvPr/>
        </p:nvCxnSpPr>
        <p:spPr>
          <a:xfrm>
            <a:off x="7606436" y="3244093"/>
            <a:ext cx="45263" cy="36841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0" name="Connector 139"/>
          <p:cNvCxnSpPr/>
          <p:nvPr/>
        </p:nvCxnSpPr>
        <p:spPr>
          <a:xfrm>
            <a:off x="7651699" y="3280934"/>
            <a:ext cx="45263" cy="40813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1" name="Connector 140"/>
          <p:cNvCxnSpPr/>
          <p:nvPr/>
        </p:nvCxnSpPr>
        <p:spPr>
          <a:xfrm>
            <a:off x="7696962" y="3321747"/>
            <a:ext cx="45262" cy="44472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2" name="Connector 141"/>
          <p:cNvCxnSpPr/>
          <p:nvPr/>
        </p:nvCxnSpPr>
        <p:spPr>
          <a:xfrm>
            <a:off x="7742224" y="3366219"/>
            <a:ext cx="45263" cy="47785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3" name="Connector 142"/>
          <p:cNvCxnSpPr/>
          <p:nvPr/>
        </p:nvCxnSpPr>
        <p:spPr>
          <a:xfrm>
            <a:off x="7787487" y="3414004"/>
            <a:ext cx="45263" cy="50730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4" name="Connector 143"/>
          <p:cNvCxnSpPr/>
          <p:nvPr/>
        </p:nvCxnSpPr>
        <p:spPr>
          <a:xfrm>
            <a:off x="7832750" y="3464734"/>
            <a:ext cx="45263" cy="53281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5" name="Connector 144"/>
          <p:cNvCxnSpPr/>
          <p:nvPr/>
        </p:nvCxnSpPr>
        <p:spPr>
          <a:xfrm>
            <a:off x="7878013" y="3518015"/>
            <a:ext cx="45262" cy="55422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6" name="Connector 145"/>
          <p:cNvCxnSpPr/>
          <p:nvPr/>
        </p:nvCxnSpPr>
        <p:spPr>
          <a:xfrm>
            <a:off x="7923275" y="3573437"/>
            <a:ext cx="45263" cy="57133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7" name="Connector 146"/>
          <p:cNvCxnSpPr/>
          <p:nvPr/>
        </p:nvCxnSpPr>
        <p:spPr>
          <a:xfrm>
            <a:off x="7968538" y="3630570"/>
            <a:ext cx="45263" cy="58403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8" name="Connector 147"/>
          <p:cNvCxnSpPr/>
          <p:nvPr/>
        </p:nvCxnSpPr>
        <p:spPr>
          <a:xfrm>
            <a:off x="8013801" y="3688973"/>
            <a:ext cx="45263" cy="59220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9" name="Connector 148"/>
          <p:cNvCxnSpPr/>
          <p:nvPr/>
        </p:nvCxnSpPr>
        <p:spPr>
          <a:xfrm>
            <a:off x="8059064" y="3748193"/>
            <a:ext cx="45263" cy="59581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0" name="Connector 149"/>
          <p:cNvCxnSpPr/>
          <p:nvPr/>
        </p:nvCxnSpPr>
        <p:spPr>
          <a:xfrm>
            <a:off x="8104327" y="3807774"/>
            <a:ext cx="45263" cy="59480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1" name="Connector 150"/>
          <p:cNvCxnSpPr/>
          <p:nvPr/>
        </p:nvCxnSpPr>
        <p:spPr>
          <a:xfrm>
            <a:off x="8149590" y="3867254"/>
            <a:ext cx="45262" cy="58920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2" name="Connector 151"/>
          <p:cNvCxnSpPr/>
          <p:nvPr/>
        </p:nvCxnSpPr>
        <p:spPr>
          <a:xfrm>
            <a:off x="8194852" y="3926174"/>
            <a:ext cx="45263" cy="57903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3" name="Connector 152"/>
          <p:cNvCxnSpPr/>
          <p:nvPr/>
        </p:nvCxnSpPr>
        <p:spPr>
          <a:xfrm>
            <a:off x="8240115" y="3984077"/>
            <a:ext cx="45263" cy="56439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4" name="Connector 153"/>
          <p:cNvCxnSpPr/>
          <p:nvPr/>
        </p:nvCxnSpPr>
        <p:spPr>
          <a:xfrm>
            <a:off x="8285378" y="4040516"/>
            <a:ext cx="45263" cy="54539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5" name="Connector 154"/>
          <p:cNvCxnSpPr/>
          <p:nvPr/>
        </p:nvCxnSpPr>
        <p:spPr>
          <a:xfrm>
            <a:off x="8330641" y="4095055"/>
            <a:ext cx="45263" cy="52217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6" name="Connector 155"/>
          <p:cNvCxnSpPr/>
          <p:nvPr/>
        </p:nvCxnSpPr>
        <p:spPr>
          <a:xfrm>
            <a:off x="8375904" y="4147272"/>
            <a:ext cx="45262" cy="49491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7" name="Connector 156"/>
          <p:cNvCxnSpPr/>
          <p:nvPr/>
        </p:nvCxnSpPr>
        <p:spPr>
          <a:xfrm>
            <a:off x="8421166" y="4196763"/>
            <a:ext cx="45263" cy="46383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8" name="Connector 157"/>
          <p:cNvCxnSpPr/>
          <p:nvPr/>
        </p:nvCxnSpPr>
        <p:spPr>
          <a:xfrm>
            <a:off x="8466429" y="4243146"/>
            <a:ext cx="45263" cy="42915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9" name="Connector 158"/>
          <p:cNvCxnSpPr/>
          <p:nvPr/>
        </p:nvCxnSpPr>
        <p:spPr>
          <a:xfrm>
            <a:off x="8511692" y="4286061"/>
            <a:ext cx="45263" cy="39116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0" name="Connector 159"/>
          <p:cNvCxnSpPr/>
          <p:nvPr/>
        </p:nvCxnSpPr>
        <p:spPr>
          <a:xfrm>
            <a:off x="8556955" y="4325177"/>
            <a:ext cx="45262" cy="35014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1" name="Connector 160"/>
          <p:cNvCxnSpPr/>
          <p:nvPr/>
        </p:nvCxnSpPr>
        <p:spPr>
          <a:xfrm>
            <a:off x="8602217" y="4360191"/>
            <a:ext cx="45263" cy="30642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2" name="Connector 161"/>
          <p:cNvCxnSpPr/>
          <p:nvPr/>
        </p:nvCxnSpPr>
        <p:spPr>
          <a:xfrm>
            <a:off x="8647480" y="4390833"/>
            <a:ext cx="45263" cy="26033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3" name="Connector 162"/>
          <p:cNvCxnSpPr/>
          <p:nvPr/>
        </p:nvCxnSpPr>
        <p:spPr>
          <a:xfrm>
            <a:off x="8692743" y="4416866"/>
            <a:ext cx="45263" cy="21222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4" name="Connector 163"/>
          <p:cNvCxnSpPr/>
          <p:nvPr/>
        </p:nvCxnSpPr>
        <p:spPr>
          <a:xfrm>
            <a:off x="8738006" y="4438088"/>
            <a:ext cx="45263" cy="16247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5" name="Connector 164"/>
          <p:cNvCxnSpPr/>
          <p:nvPr/>
        </p:nvCxnSpPr>
        <p:spPr>
          <a:xfrm>
            <a:off x="8783269" y="4454335"/>
            <a:ext cx="45263" cy="11147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6" name="Connector 165"/>
          <p:cNvCxnSpPr/>
          <p:nvPr/>
        </p:nvCxnSpPr>
        <p:spPr>
          <a:xfrm>
            <a:off x="8828532" y="4465482"/>
            <a:ext cx="45262" cy="5961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7" name="Connector 166"/>
          <p:cNvCxnSpPr/>
          <p:nvPr/>
        </p:nvCxnSpPr>
        <p:spPr>
          <a:xfrm>
            <a:off x="8873794" y="4471443"/>
            <a:ext cx="45263" cy="728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8" name="Connector 167"/>
          <p:cNvCxnSpPr/>
          <p:nvPr/>
        </p:nvCxnSpPr>
        <p:spPr>
          <a:xfrm flipV="1">
            <a:off x="8919057" y="4467660"/>
            <a:ext cx="45263" cy="4511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9" name="Connector 168"/>
          <p:cNvCxnSpPr/>
          <p:nvPr/>
        </p:nvCxnSpPr>
        <p:spPr>
          <a:xfrm flipV="1">
            <a:off x="8964320" y="4457946"/>
            <a:ext cx="45263" cy="9714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0" name="Connector 169"/>
          <p:cNvCxnSpPr/>
          <p:nvPr/>
        </p:nvCxnSpPr>
        <p:spPr>
          <a:xfrm flipV="1">
            <a:off x="9009583" y="4443104"/>
            <a:ext cx="45263" cy="14842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1" name="Connector 170"/>
          <p:cNvCxnSpPr/>
          <p:nvPr/>
        </p:nvCxnSpPr>
        <p:spPr>
          <a:xfrm flipV="1">
            <a:off x="9054846" y="4423249"/>
            <a:ext cx="45262" cy="19855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2" name="Connector 171"/>
          <p:cNvCxnSpPr/>
          <p:nvPr/>
        </p:nvCxnSpPr>
        <p:spPr>
          <a:xfrm flipV="1">
            <a:off x="9100108" y="4398533"/>
            <a:ext cx="45263" cy="24716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3" name="Connector 172"/>
          <p:cNvCxnSpPr/>
          <p:nvPr/>
        </p:nvCxnSpPr>
        <p:spPr>
          <a:xfrm flipV="1">
            <a:off x="9145371" y="4369149"/>
            <a:ext cx="45263" cy="29384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4" name="Connector 173"/>
          <p:cNvCxnSpPr/>
          <p:nvPr/>
        </p:nvCxnSpPr>
        <p:spPr>
          <a:xfrm flipV="1">
            <a:off x="9190634" y="4335323"/>
            <a:ext cx="45263" cy="33826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5" name="Connector 174"/>
          <p:cNvCxnSpPr/>
          <p:nvPr/>
        </p:nvCxnSpPr>
        <p:spPr>
          <a:xfrm flipV="1">
            <a:off x="9235897" y="4297316"/>
            <a:ext cx="45262" cy="38007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6" name="Connector 175"/>
          <p:cNvCxnSpPr/>
          <p:nvPr/>
        </p:nvCxnSpPr>
        <p:spPr>
          <a:xfrm flipV="1">
            <a:off x="9281159" y="4255424"/>
            <a:ext cx="45263" cy="41892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7" name="Connector 176"/>
          <p:cNvCxnSpPr/>
          <p:nvPr/>
        </p:nvCxnSpPr>
        <p:spPr>
          <a:xfrm flipV="1">
            <a:off x="9326422" y="4209970"/>
            <a:ext cx="45263" cy="45454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8" name="Connector 177"/>
          <p:cNvCxnSpPr/>
          <p:nvPr/>
        </p:nvCxnSpPr>
        <p:spPr>
          <a:xfrm flipV="1">
            <a:off x="9371685" y="4161304"/>
            <a:ext cx="45263" cy="48666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9" name="Connector 178"/>
          <p:cNvCxnSpPr/>
          <p:nvPr/>
        </p:nvCxnSpPr>
        <p:spPr>
          <a:xfrm flipV="1">
            <a:off x="9416948" y="4109805"/>
            <a:ext cx="45263" cy="51499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0" name="Connector 179"/>
          <p:cNvCxnSpPr/>
          <p:nvPr/>
        </p:nvCxnSpPr>
        <p:spPr>
          <a:xfrm flipV="1">
            <a:off x="9462211" y="4055869"/>
            <a:ext cx="45263" cy="53936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1" name="Connector 180"/>
          <p:cNvCxnSpPr/>
          <p:nvPr/>
        </p:nvCxnSpPr>
        <p:spPr>
          <a:xfrm flipV="1">
            <a:off x="9507474" y="3999914"/>
            <a:ext cx="45262" cy="55955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2" name="Connector 181"/>
          <p:cNvCxnSpPr/>
          <p:nvPr/>
        </p:nvCxnSpPr>
        <p:spPr>
          <a:xfrm flipV="1">
            <a:off x="9552736" y="3942373"/>
            <a:ext cx="45263" cy="57541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3" name="Connector 182"/>
          <p:cNvCxnSpPr/>
          <p:nvPr/>
        </p:nvCxnSpPr>
        <p:spPr>
          <a:xfrm flipV="1">
            <a:off x="9597999" y="3883690"/>
            <a:ext cx="45263" cy="58683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4" name="Connector 183"/>
          <p:cNvCxnSpPr/>
          <p:nvPr/>
        </p:nvCxnSpPr>
        <p:spPr>
          <a:xfrm flipV="1">
            <a:off x="9643262" y="3824319"/>
            <a:ext cx="45263" cy="59371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5" name="Connector 184"/>
          <p:cNvCxnSpPr/>
          <p:nvPr/>
        </p:nvCxnSpPr>
        <p:spPr>
          <a:xfrm flipV="1">
            <a:off x="9688525" y="3764720"/>
            <a:ext cx="45263" cy="59599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6" name="Connector 185"/>
          <p:cNvCxnSpPr/>
          <p:nvPr/>
        </p:nvCxnSpPr>
        <p:spPr>
          <a:xfrm flipV="1">
            <a:off x="9733788" y="3705353"/>
            <a:ext cx="45262" cy="59367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7" name="Connector 186"/>
          <p:cNvCxnSpPr/>
          <p:nvPr/>
        </p:nvCxnSpPr>
        <p:spPr>
          <a:xfrm flipV="1">
            <a:off x="9779050" y="3646678"/>
            <a:ext cx="45263" cy="58675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8" name="Connector 187"/>
          <p:cNvCxnSpPr/>
          <p:nvPr/>
        </p:nvCxnSpPr>
        <p:spPr>
          <a:xfrm flipV="1">
            <a:off x="9824313" y="3589148"/>
            <a:ext cx="45263" cy="57530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9" name="Connector 188"/>
          <p:cNvCxnSpPr/>
          <p:nvPr/>
        </p:nvCxnSpPr>
        <p:spPr>
          <a:xfrm flipV="1">
            <a:off x="9869576" y="3533207"/>
            <a:ext cx="45263" cy="55941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0" name="Connector 189"/>
          <p:cNvCxnSpPr/>
          <p:nvPr/>
        </p:nvCxnSpPr>
        <p:spPr>
          <a:xfrm flipV="1">
            <a:off x="9914839" y="3479289"/>
            <a:ext cx="45262" cy="53918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1" name="Connector 190"/>
          <p:cNvCxnSpPr/>
          <p:nvPr/>
        </p:nvCxnSpPr>
        <p:spPr>
          <a:xfrm flipV="1">
            <a:off x="9960101" y="3427811"/>
            <a:ext cx="45263" cy="51478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2" name="Connector 191"/>
          <p:cNvCxnSpPr/>
          <p:nvPr/>
        </p:nvCxnSpPr>
        <p:spPr>
          <a:xfrm flipV="1">
            <a:off x="10005364" y="3379170"/>
            <a:ext cx="45263" cy="48641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3" name="Connector 192"/>
          <p:cNvCxnSpPr/>
          <p:nvPr/>
        </p:nvCxnSpPr>
        <p:spPr>
          <a:xfrm flipV="1">
            <a:off x="10050627" y="3333743"/>
            <a:ext cx="45263" cy="45427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4" name="Connector 193"/>
          <p:cNvCxnSpPr/>
          <p:nvPr/>
        </p:nvCxnSpPr>
        <p:spPr>
          <a:xfrm flipV="1">
            <a:off x="10095890" y="3291881"/>
            <a:ext cx="45263" cy="41862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5" name="Connector 194"/>
          <p:cNvCxnSpPr/>
          <p:nvPr/>
        </p:nvCxnSpPr>
        <p:spPr>
          <a:xfrm flipV="1">
            <a:off x="10141153" y="3253907"/>
            <a:ext cx="45262" cy="37974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6" name="Connector 195"/>
          <p:cNvCxnSpPr/>
          <p:nvPr/>
        </p:nvCxnSpPr>
        <p:spPr>
          <a:xfrm flipV="1">
            <a:off x="10186415" y="3220116"/>
            <a:ext cx="45263" cy="33791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7" name="Connector 196"/>
          <p:cNvCxnSpPr/>
          <p:nvPr/>
        </p:nvCxnSpPr>
        <p:spPr>
          <a:xfrm flipV="1">
            <a:off x="10231678" y="3190768"/>
            <a:ext cx="45263" cy="29348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8" name="Connector 197"/>
          <p:cNvCxnSpPr/>
          <p:nvPr/>
        </p:nvCxnSpPr>
        <p:spPr>
          <a:xfrm flipV="1">
            <a:off x="10276941" y="3166091"/>
            <a:ext cx="45263" cy="24677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9" name="Connector 198"/>
          <p:cNvCxnSpPr/>
          <p:nvPr/>
        </p:nvCxnSpPr>
        <p:spPr>
          <a:xfrm flipV="1">
            <a:off x="10322204" y="3146275"/>
            <a:ext cx="45263" cy="19816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0" name="Connector 199"/>
          <p:cNvCxnSpPr/>
          <p:nvPr/>
        </p:nvCxnSpPr>
        <p:spPr>
          <a:xfrm flipV="1">
            <a:off x="10367467" y="3131474"/>
            <a:ext cx="45263" cy="14801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1" name="Connector 200"/>
          <p:cNvCxnSpPr/>
          <p:nvPr/>
        </p:nvCxnSpPr>
        <p:spPr>
          <a:xfrm flipV="1">
            <a:off x="10412730" y="3121802"/>
            <a:ext cx="45262" cy="9672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2" name="Connector 201"/>
          <p:cNvCxnSpPr/>
          <p:nvPr/>
        </p:nvCxnSpPr>
        <p:spPr>
          <a:xfrm flipV="1">
            <a:off x="10457992" y="3117333"/>
            <a:ext cx="45263" cy="4469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3" name="Connector 202"/>
          <p:cNvCxnSpPr/>
          <p:nvPr/>
        </p:nvCxnSpPr>
        <p:spPr>
          <a:xfrm>
            <a:off x="10503255" y="3117333"/>
            <a:ext cx="45263" cy="770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4" name="Connector 203"/>
          <p:cNvCxnSpPr/>
          <p:nvPr/>
        </p:nvCxnSpPr>
        <p:spPr>
          <a:xfrm>
            <a:off x="10548518" y="3118103"/>
            <a:ext cx="45263" cy="6003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5" name="Connector 204"/>
          <p:cNvCxnSpPr/>
          <p:nvPr/>
        </p:nvCxnSpPr>
        <p:spPr>
          <a:xfrm>
            <a:off x="10593781" y="3124106"/>
            <a:ext cx="45262" cy="11188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6" name="Connector 205"/>
          <p:cNvCxnSpPr/>
          <p:nvPr/>
        </p:nvCxnSpPr>
        <p:spPr>
          <a:xfrm>
            <a:off x="10639043" y="3135294"/>
            <a:ext cx="45263" cy="16288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7" name="Connector 206"/>
          <p:cNvCxnSpPr/>
          <p:nvPr/>
        </p:nvCxnSpPr>
        <p:spPr>
          <a:xfrm>
            <a:off x="10684306" y="3151582"/>
            <a:ext cx="45263" cy="21262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8" name="Connector 207"/>
          <p:cNvCxnSpPr/>
          <p:nvPr/>
        </p:nvCxnSpPr>
        <p:spPr>
          <a:xfrm>
            <a:off x="10729569" y="3172844"/>
            <a:ext cx="45263" cy="26070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9" name="Connector 208"/>
          <p:cNvCxnSpPr/>
          <p:nvPr/>
        </p:nvCxnSpPr>
        <p:spPr>
          <a:xfrm>
            <a:off x="10774832" y="3198914"/>
            <a:ext cx="45263" cy="30678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0" name="Connector 209"/>
          <p:cNvCxnSpPr/>
          <p:nvPr/>
        </p:nvCxnSpPr>
        <p:spPr>
          <a:xfrm>
            <a:off x="10820095" y="3229592"/>
            <a:ext cx="45262" cy="35049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1" name="Connector 210"/>
          <p:cNvCxnSpPr/>
          <p:nvPr/>
        </p:nvCxnSpPr>
        <p:spPr>
          <a:xfrm>
            <a:off x="10865357" y="3264641"/>
            <a:ext cx="45263" cy="39148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2" name="Connector 211"/>
          <p:cNvCxnSpPr/>
          <p:nvPr/>
        </p:nvCxnSpPr>
        <p:spPr>
          <a:xfrm>
            <a:off x="10910620" y="3303789"/>
            <a:ext cx="45263" cy="42944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3" name="Connector 212"/>
          <p:cNvCxnSpPr/>
          <p:nvPr/>
        </p:nvCxnSpPr>
        <p:spPr>
          <a:xfrm>
            <a:off x="10955883" y="3346733"/>
            <a:ext cx="45263" cy="46409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4" name="Connector 213"/>
          <p:cNvCxnSpPr/>
          <p:nvPr/>
        </p:nvCxnSpPr>
        <p:spPr>
          <a:xfrm>
            <a:off x="11001146" y="3393142"/>
            <a:ext cx="45263" cy="49515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5" name="Connector 214"/>
          <p:cNvCxnSpPr/>
          <p:nvPr/>
        </p:nvCxnSpPr>
        <p:spPr>
          <a:xfrm>
            <a:off x="11046409" y="3442657"/>
            <a:ext cx="45263" cy="52237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6" name="Oval 215"/>
          <p:cNvSpPr/>
          <p:nvPr/>
        </p:nvSpPr>
        <p:spPr>
          <a:xfrm>
            <a:off x="6507784" y="3622488"/>
            <a:ext cx="115214" cy="115214"/>
          </a:xfrm>
          <a:prstGeom prst="ellipse">
            <a:avLst/>
          </a:prstGeom>
          <a:solidFill>
            <a:srgbClr val="00B0F0"/>
          </a:solidFill>
          <a:ln w="19050">
            <a:solidFill>
              <a:srgbClr val="00B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7" name="Oval 216"/>
          <p:cNvSpPr/>
          <p:nvPr/>
        </p:nvSpPr>
        <p:spPr>
          <a:xfrm>
            <a:off x="6809536" y="3271990"/>
            <a:ext cx="115214" cy="115214"/>
          </a:xfrm>
          <a:prstGeom prst="ellipse">
            <a:avLst/>
          </a:prstGeom>
          <a:solidFill>
            <a:srgbClr val="00B0F0"/>
          </a:solidFill>
          <a:ln w="19050">
            <a:solidFill>
              <a:srgbClr val="00B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8" name="Oval 217"/>
          <p:cNvSpPr/>
          <p:nvPr/>
        </p:nvSpPr>
        <p:spPr>
          <a:xfrm>
            <a:off x="7111288" y="3076929"/>
            <a:ext cx="115214" cy="115214"/>
          </a:xfrm>
          <a:prstGeom prst="ellipse">
            <a:avLst/>
          </a:prstGeom>
          <a:solidFill>
            <a:srgbClr val="00B0F0"/>
          </a:solidFill>
          <a:ln w="19050">
            <a:solidFill>
              <a:srgbClr val="00B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9" name="Oval 218"/>
          <p:cNvSpPr/>
          <p:nvPr/>
        </p:nvSpPr>
        <p:spPr>
          <a:xfrm>
            <a:off x="7413040" y="3102487"/>
            <a:ext cx="115214" cy="115214"/>
          </a:xfrm>
          <a:prstGeom prst="ellipse">
            <a:avLst/>
          </a:prstGeom>
          <a:solidFill>
            <a:srgbClr val="00B0F0"/>
          </a:solidFill>
          <a:ln w="19050">
            <a:solidFill>
              <a:srgbClr val="00B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0" name="Oval 219"/>
          <p:cNvSpPr/>
          <p:nvPr/>
        </p:nvSpPr>
        <p:spPr>
          <a:xfrm>
            <a:off x="7714792" y="3340123"/>
            <a:ext cx="115214" cy="115214"/>
          </a:xfrm>
          <a:prstGeom prst="ellipse">
            <a:avLst/>
          </a:prstGeom>
          <a:solidFill>
            <a:srgbClr val="00B0F0"/>
          </a:solidFill>
          <a:ln w="19050">
            <a:solidFill>
              <a:srgbClr val="00B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1" name="Oval 220"/>
          <p:cNvSpPr/>
          <p:nvPr/>
        </p:nvSpPr>
        <p:spPr>
          <a:xfrm>
            <a:off x="8016544" y="3710429"/>
            <a:ext cx="115214" cy="115214"/>
          </a:xfrm>
          <a:prstGeom prst="ellipse">
            <a:avLst/>
          </a:prstGeom>
          <a:solidFill>
            <a:srgbClr val="00B0F0"/>
          </a:solidFill>
          <a:ln w="19050">
            <a:solidFill>
              <a:srgbClr val="00B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2" name="Oval 221"/>
          <p:cNvSpPr/>
          <p:nvPr/>
        </p:nvSpPr>
        <p:spPr>
          <a:xfrm>
            <a:off x="8318296" y="4089665"/>
            <a:ext cx="115214" cy="115214"/>
          </a:xfrm>
          <a:prstGeom prst="ellipse">
            <a:avLst/>
          </a:prstGeom>
          <a:solidFill>
            <a:srgbClr val="00B0F0"/>
          </a:solidFill>
          <a:ln w="19050">
            <a:solidFill>
              <a:srgbClr val="00B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3" name="Oval 222"/>
          <p:cNvSpPr/>
          <p:nvPr/>
        </p:nvSpPr>
        <p:spPr>
          <a:xfrm>
            <a:off x="8620048" y="4351107"/>
            <a:ext cx="115214" cy="115214"/>
          </a:xfrm>
          <a:prstGeom prst="ellipse">
            <a:avLst/>
          </a:prstGeom>
          <a:solidFill>
            <a:srgbClr val="00B0F0"/>
          </a:solidFill>
          <a:ln w="19050">
            <a:solidFill>
              <a:srgbClr val="00B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4" name="Oval 223"/>
          <p:cNvSpPr/>
          <p:nvPr/>
        </p:nvSpPr>
        <p:spPr>
          <a:xfrm>
            <a:off x="8921800" y="4407390"/>
            <a:ext cx="115214" cy="115214"/>
          </a:xfrm>
          <a:prstGeom prst="ellipse">
            <a:avLst/>
          </a:prstGeom>
          <a:solidFill>
            <a:srgbClr val="00B0F0"/>
          </a:solidFill>
          <a:ln w="19050">
            <a:solidFill>
              <a:srgbClr val="00B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5" name="Oval 224"/>
          <p:cNvSpPr/>
          <p:nvPr/>
        </p:nvSpPr>
        <p:spPr>
          <a:xfrm>
            <a:off x="9223552" y="4239709"/>
            <a:ext cx="115214" cy="115214"/>
          </a:xfrm>
          <a:prstGeom prst="ellipse">
            <a:avLst/>
          </a:prstGeom>
          <a:solidFill>
            <a:srgbClr val="00B0F0"/>
          </a:solidFill>
          <a:ln w="19050">
            <a:solidFill>
              <a:srgbClr val="00B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6" name="Oval 225"/>
          <p:cNvSpPr/>
          <p:nvPr/>
        </p:nvSpPr>
        <p:spPr>
          <a:xfrm>
            <a:off x="9525304" y="3904095"/>
            <a:ext cx="115214" cy="115214"/>
          </a:xfrm>
          <a:prstGeom prst="ellipse">
            <a:avLst/>
          </a:prstGeom>
          <a:solidFill>
            <a:srgbClr val="00B0F0"/>
          </a:solidFill>
          <a:ln w="19050">
            <a:solidFill>
              <a:srgbClr val="00B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7" name="Oval 226"/>
          <p:cNvSpPr/>
          <p:nvPr/>
        </p:nvSpPr>
        <p:spPr>
          <a:xfrm>
            <a:off x="9827056" y="3512695"/>
            <a:ext cx="115214" cy="115214"/>
          </a:xfrm>
          <a:prstGeom prst="ellipse">
            <a:avLst/>
          </a:prstGeom>
          <a:solidFill>
            <a:srgbClr val="00B0F0"/>
          </a:solidFill>
          <a:ln w="19050">
            <a:solidFill>
              <a:srgbClr val="00B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8" name="Oval 227"/>
          <p:cNvSpPr/>
          <p:nvPr/>
        </p:nvSpPr>
        <p:spPr>
          <a:xfrm>
            <a:off x="10128808" y="3196300"/>
            <a:ext cx="115214" cy="115214"/>
          </a:xfrm>
          <a:prstGeom prst="ellipse">
            <a:avLst/>
          </a:prstGeom>
          <a:solidFill>
            <a:srgbClr val="00B0F0"/>
          </a:solidFill>
          <a:ln w="19050">
            <a:solidFill>
              <a:srgbClr val="00B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9" name="Oval 228"/>
          <p:cNvSpPr/>
          <p:nvPr/>
        </p:nvSpPr>
        <p:spPr>
          <a:xfrm>
            <a:off x="10430560" y="3060634"/>
            <a:ext cx="115214" cy="115214"/>
          </a:xfrm>
          <a:prstGeom prst="ellipse">
            <a:avLst/>
          </a:prstGeom>
          <a:solidFill>
            <a:srgbClr val="00B0F0"/>
          </a:solidFill>
          <a:ln w="19050">
            <a:solidFill>
              <a:srgbClr val="00B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0" name="Oval 229"/>
          <p:cNvSpPr/>
          <p:nvPr/>
        </p:nvSpPr>
        <p:spPr>
          <a:xfrm>
            <a:off x="10732312" y="3151032"/>
            <a:ext cx="115214" cy="115214"/>
          </a:xfrm>
          <a:prstGeom prst="ellipse">
            <a:avLst/>
          </a:prstGeom>
          <a:solidFill>
            <a:srgbClr val="00B0F0"/>
          </a:solidFill>
          <a:ln w="19050">
            <a:solidFill>
              <a:srgbClr val="00B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1" name="TextBox 230"/>
          <p:cNvSpPr txBox="1"/>
          <p:nvPr/>
        </p:nvSpPr>
        <p:spPr>
          <a:xfrm>
            <a:off x="877824" y="5458968"/>
            <a:ext cx="10515600" cy="6126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300"/>
              </a:spcAft>
              <a:defRPr sz="2300" b="1">
                <a:solidFill>
                  <a:srgbClr val="8C64E1"/>
                </a:solidFill>
                <a:latin typeface="Alibaba PuHuiTi 3.0 115 Black"/>
              </a:defRPr>
            </a:pPr>
            <a:r>
              <a:t>先预测：放大到足够短的时间，会出现什么？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36576"/>
            <a:ext cx="12191695" cy="73152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57416"/>
            <a:ext cx="12191695" cy="73152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12648" y="576072"/>
            <a:ext cx="10972800" cy="7863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3400" b="1">
                <a:solidFill>
                  <a:srgbClr val="262626"/>
                </a:solidFill>
                <a:latin typeface="Alibaba PuHuiTi 3.0 115 Black"/>
              </a:defRPr>
            </a:pPr>
            <a:r>
              <a:t>1 Hz和2 Hz，一秒内取几个样本？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950976" y="2478024"/>
            <a:ext cx="9875520" cy="0"/>
          </a:xfrm>
          <a:prstGeom prst="line">
            <a:avLst/>
          </a:prstGeom>
          <a:ln w="2032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>
            <a:off x="1042416" y="1819656"/>
            <a:ext cx="0" cy="1325880"/>
          </a:xfrm>
          <a:prstGeom prst="line">
            <a:avLst/>
          </a:prstGeom>
          <a:ln w="1651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1069848" y="1508760"/>
            <a:ext cx="128016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1600" b="0">
                <a:solidFill>
                  <a:srgbClr val="808080"/>
                </a:solidFill>
                <a:latin typeface="Alibaba PuHuiTi 3.0 55 Regular"/>
              </a:defRPr>
            </a:pPr>
            <a:r>
              <a:t>振幅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912096" y="2596896"/>
            <a:ext cx="82296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1600" b="0">
                <a:solidFill>
                  <a:srgbClr val="808080"/>
                </a:solidFill>
                <a:latin typeface="Alibaba PuHuiTi 3.0 55 Regular"/>
              </a:defRPr>
            </a:pPr>
            <a:r>
              <a:t>时间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50976" y="1280160"/>
            <a:ext cx="987552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200" b="1">
                <a:solidFill>
                  <a:srgbClr val="8C64E1"/>
                </a:solidFill>
                <a:latin typeface="Alibaba PuHuiTi 3.0 115 Black"/>
              </a:defRPr>
            </a:pPr>
            <a:r>
              <a:t>1 Hz</a:t>
            </a:r>
          </a:p>
        </p:txBody>
      </p:sp>
      <p:sp>
        <p:nvSpPr>
          <p:cNvPr id="10" name="Oval 9"/>
          <p:cNvSpPr/>
          <p:nvPr/>
        </p:nvSpPr>
        <p:spPr>
          <a:xfrm>
            <a:off x="1081735" y="2389327"/>
            <a:ext cx="122529" cy="122529"/>
          </a:xfrm>
          <a:prstGeom prst="ellipse">
            <a:avLst/>
          </a:prstGeom>
          <a:solidFill>
            <a:srgbClr val="8C64E1"/>
          </a:solidFill>
          <a:ln w="12700">
            <a:solidFill>
              <a:srgbClr val="8C64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3344875" y="1922068"/>
            <a:ext cx="122529" cy="122529"/>
          </a:xfrm>
          <a:prstGeom prst="ellipse">
            <a:avLst/>
          </a:prstGeom>
          <a:solidFill>
            <a:srgbClr val="8C64E1"/>
          </a:solidFill>
          <a:ln w="12700">
            <a:solidFill>
              <a:srgbClr val="8C64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5608015" y="2389327"/>
            <a:ext cx="122529" cy="122529"/>
          </a:xfrm>
          <a:prstGeom prst="ellipse">
            <a:avLst/>
          </a:prstGeom>
          <a:solidFill>
            <a:srgbClr val="8C64E1"/>
          </a:solidFill>
          <a:ln w="12700">
            <a:solidFill>
              <a:srgbClr val="8C64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7871155" y="2856585"/>
            <a:ext cx="122529" cy="122529"/>
          </a:xfrm>
          <a:prstGeom prst="ellipse">
            <a:avLst/>
          </a:prstGeom>
          <a:solidFill>
            <a:srgbClr val="8C64E1"/>
          </a:solidFill>
          <a:ln w="12700">
            <a:solidFill>
              <a:srgbClr val="8C64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4" name="Connector 13"/>
          <p:cNvCxnSpPr/>
          <p:nvPr/>
        </p:nvCxnSpPr>
        <p:spPr>
          <a:xfrm>
            <a:off x="950976" y="4443983"/>
            <a:ext cx="9875520" cy="0"/>
          </a:xfrm>
          <a:prstGeom prst="line">
            <a:avLst/>
          </a:prstGeom>
          <a:ln w="2032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>
            <a:off x="1042416" y="3785615"/>
            <a:ext cx="0" cy="1325880"/>
          </a:xfrm>
          <a:prstGeom prst="line">
            <a:avLst/>
          </a:prstGeom>
          <a:ln w="1651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TextBox 15"/>
          <p:cNvSpPr txBox="1"/>
          <p:nvPr/>
        </p:nvSpPr>
        <p:spPr>
          <a:xfrm>
            <a:off x="1069848" y="3474720"/>
            <a:ext cx="128016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1600" b="0">
                <a:solidFill>
                  <a:srgbClr val="808080"/>
                </a:solidFill>
                <a:latin typeface="Alibaba PuHuiTi 3.0 55 Regular"/>
              </a:defRPr>
            </a:pPr>
            <a:r>
              <a:t>振幅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912096" y="4562855"/>
            <a:ext cx="82296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1600" b="0">
                <a:solidFill>
                  <a:srgbClr val="808080"/>
                </a:solidFill>
                <a:latin typeface="Alibaba PuHuiTi 3.0 55 Regular"/>
              </a:defRPr>
            </a:pPr>
            <a:r>
              <a:t>时间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50976" y="3246120"/>
            <a:ext cx="987552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200" b="1">
                <a:solidFill>
                  <a:srgbClr val="8C64E1"/>
                </a:solidFill>
                <a:latin typeface="Alibaba PuHuiTi 3.0 115 Black"/>
              </a:defRPr>
            </a:pPr>
            <a:r>
              <a:t>2 Hz</a:t>
            </a:r>
          </a:p>
        </p:txBody>
      </p:sp>
      <p:sp>
        <p:nvSpPr>
          <p:cNvPr id="19" name="Oval 18"/>
          <p:cNvSpPr/>
          <p:nvPr/>
        </p:nvSpPr>
        <p:spPr>
          <a:xfrm>
            <a:off x="1081735" y="4355287"/>
            <a:ext cx="122529" cy="122529"/>
          </a:xfrm>
          <a:prstGeom prst="ellipse">
            <a:avLst/>
          </a:prstGeom>
          <a:solidFill>
            <a:srgbClr val="00B0F0"/>
          </a:solidFill>
          <a:ln w="12700">
            <a:solidFill>
              <a:srgbClr val="00B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2213305" y="4024885"/>
            <a:ext cx="122529" cy="122529"/>
          </a:xfrm>
          <a:prstGeom prst="ellipse">
            <a:avLst/>
          </a:prstGeom>
          <a:solidFill>
            <a:srgbClr val="00B0F0"/>
          </a:solidFill>
          <a:ln w="12700">
            <a:solidFill>
              <a:srgbClr val="00B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3344875" y="3888028"/>
            <a:ext cx="122529" cy="122529"/>
          </a:xfrm>
          <a:prstGeom prst="ellipse">
            <a:avLst/>
          </a:prstGeom>
          <a:solidFill>
            <a:srgbClr val="00B0F0"/>
          </a:solidFill>
          <a:ln w="12700">
            <a:solidFill>
              <a:srgbClr val="00B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4476445" y="4024885"/>
            <a:ext cx="122529" cy="122529"/>
          </a:xfrm>
          <a:prstGeom prst="ellipse">
            <a:avLst/>
          </a:prstGeom>
          <a:solidFill>
            <a:srgbClr val="00B0F0"/>
          </a:solidFill>
          <a:ln w="12700">
            <a:solidFill>
              <a:srgbClr val="00B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5608015" y="4355287"/>
            <a:ext cx="122529" cy="122529"/>
          </a:xfrm>
          <a:prstGeom prst="ellipse">
            <a:avLst/>
          </a:prstGeom>
          <a:solidFill>
            <a:srgbClr val="00B0F0"/>
          </a:solidFill>
          <a:ln w="12700">
            <a:solidFill>
              <a:srgbClr val="00B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739585" y="4685688"/>
            <a:ext cx="122529" cy="122529"/>
          </a:xfrm>
          <a:prstGeom prst="ellipse">
            <a:avLst/>
          </a:prstGeom>
          <a:solidFill>
            <a:srgbClr val="00B0F0"/>
          </a:solidFill>
          <a:ln w="12700">
            <a:solidFill>
              <a:srgbClr val="00B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7871155" y="4822545"/>
            <a:ext cx="122529" cy="122529"/>
          </a:xfrm>
          <a:prstGeom prst="ellipse">
            <a:avLst/>
          </a:prstGeom>
          <a:solidFill>
            <a:srgbClr val="00B0F0"/>
          </a:solidFill>
          <a:ln w="12700">
            <a:solidFill>
              <a:srgbClr val="00B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9002725" y="4685688"/>
            <a:ext cx="122529" cy="122529"/>
          </a:xfrm>
          <a:prstGeom prst="ellipse">
            <a:avLst/>
          </a:prstGeom>
          <a:solidFill>
            <a:srgbClr val="00B0F0"/>
          </a:solidFill>
          <a:ln w="12700">
            <a:solidFill>
              <a:srgbClr val="00B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77240" y="5806440"/>
            <a:ext cx="1078992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000" b="1">
                <a:solidFill>
                  <a:srgbClr val="8C64E1"/>
                </a:solidFill>
                <a:latin typeface="Alibaba PuHuiTi 3.0 115 Black"/>
              </a:defRPr>
            </a:pPr>
            <a:r>
              <a:t>采样率：每秒采集多少个样本，单位为Hz。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36576"/>
            <a:ext cx="12191695" cy="73152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57416"/>
            <a:ext cx="12191695" cy="73152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12648" y="576072"/>
            <a:ext cx="10972800" cy="7863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3400" b="1">
                <a:solidFill>
                  <a:srgbClr val="262626"/>
                </a:solidFill>
                <a:latin typeface="Alibaba PuHuiTi 3.0 115 Black"/>
              </a:defRPr>
            </a:pPr>
            <a:r>
              <a:t>提高采样率，改变的是时间轴上的什么？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1005840" y="2432304"/>
            <a:ext cx="9747504" cy="0"/>
          </a:xfrm>
          <a:prstGeom prst="line">
            <a:avLst/>
          </a:prstGeom>
          <a:ln w="2032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>
            <a:off x="1097280" y="1737360"/>
            <a:ext cx="0" cy="1399032"/>
          </a:xfrm>
          <a:prstGeom prst="line">
            <a:avLst/>
          </a:prstGeom>
          <a:ln w="1651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1124712" y="1426464"/>
            <a:ext cx="128016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1600" b="0">
                <a:solidFill>
                  <a:srgbClr val="808080"/>
                </a:solidFill>
                <a:latin typeface="Alibaba PuHuiTi 3.0 55 Regular"/>
              </a:defRPr>
            </a:pPr>
            <a:r>
              <a:t>振幅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838944" y="2551176"/>
            <a:ext cx="82296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1600" b="0">
                <a:solidFill>
                  <a:srgbClr val="808080"/>
                </a:solidFill>
                <a:latin typeface="Alibaba PuHuiTi 3.0 55 Regular"/>
              </a:defRPr>
            </a:pPr>
            <a:r>
              <a:t>时间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05840" y="1197864"/>
            <a:ext cx="9747504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200" b="1">
                <a:solidFill>
                  <a:srgbClr val="8C64E1"/>
                </a:solidFill>
                <a:latin typeface="Alibaba PuHuiTi 3.0 115 Black"/>
              </a:defRPr>
            </a:pPr>
            <a:r>
              <a:t>采样点较少</a:t>
            </a:r>
          </a:p>
        </p:txBody>
      </p:sp>
      <p:cxnSp>
        <p:nvCxnSpPr>
          <p:cNvPr id="10" name="Connector 9"/>
          <p:cNvCxnSpPr/>
          <p:nvPr/>
        </p:nvCxnSpPr>
        <p:spPr>
          <a:xfrm flipV="1">
            <a:off x="1124712" y="2358641"/>
            <a:ext cx="91074" cy="59947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 flipV="1">
            <a:off x="1215786" y="2299460"/>
            <a:ext cx="91074" cy="59181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 flipV="1">
            <a:off x="1306860" y="2241802"/>
            <a:ext cx="91074" cy="57658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 flipV="1">
            <a:off x="1397934" y="2186403"/>
            <a:ext cx="91074" cy="55399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 flipV="1">
            <a:off x="1489008" y="2133970"/>
            <a:ext cx="91075" cy="52433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 flipV="1">
            <a:off x="1580083" y="2085174"/>
            <a:ext cx="91074" cy="48796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 flipV="1">
            <a:off x="1671157" y="2040638"/>
            <a:ext cx="91074" cy="44536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 flipV="1">
            <a:off x="1762231" y="2000931"/>
            <a:ext cx="91074" cy="39707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 flipV="1">
            <a:off x="1853305" y="1966561"/>
            <a:ext cx="91075" cy="34370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 flipV="1">
            <a:off x="1944380" y="1937966"/>
            <a:ext cx="91074" cy="28595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 flipV="1">
            <a:off x="2035454" y="1915513"/>
            <a:ext cx="91074" cy="22453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 flipV="1">
            <a:off x="2126528" y="1899487"/>
            <a:ext cx="91074" cy="16026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 flipV="1">
            <a:off x="2217602" y="1890094"/>
            <a:ext cx="91075" cy="9393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 flipV="1">
            <a:off x="2308677" y="1887454"/>
            <a:ext cx="91074" cy="2640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>
            <a:off x="2399751" y="1887454"/>
            <a:ext cx="91074" cy="4147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>
            <a:off x="2490825" y="1891601"/>
            <a:ext cx="91074" cy="10880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>
            <a:off x="2581899" y="1902481"/>
            <a:ext cx="91075" cy="17475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6"/>
          <p:cNvCxnSpPr/>
          <p:nvPr/>
        </p:nvCxnSpPr>
        <p:spPr>
          <a:xfrm>
            <a:off x="2672974" y="1919956"/>
            <a:ext cx="91074" cy="23845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ector 27"/>
          <p:cNvCxnSpPr/>
          <p:nvPr/>
        </p:nvCxnSpPr>
        <p:spPr>
          <a:xfrm>
            <a:off x="2764048" y="1943801"/>
            <a:ext cx="91074" cy="29913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Connector 28"/>
          <p:cNvCxnSpPr/>
          <p:nvPr/>
        </p:nvCxnSpPr>
        <p:spPr>
          <a:xfrm>
            <a:off x="2855122" y="1973714"/>
            <a:ext cx="91074" cy="35596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nector 29"/>
          <p:cNvCxnSpPr/>
          <p:nvPr/>
        </p:nvCxnSpPr>
        <p:spPr>
          <a:xfrm>
            <a:off x="2946196" y="2009310"/>
            <a:ext cx="91075" cy="40826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nector 30"/>
          <p:cNvCxnSpPr/>
          <p:nvPr/>
        </p:nvCxnSpPr>
        <p:spPr>
          <a:xfrm>
            <a:off x="3037271" y="2050136"/>
            <a:ext cx="91074" cy="45534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Connector 31"/>
          <p:cNvCxnSpPr/>
          <p:nvPr/>
        </p:nvCxnSpPr>
        <p:spPr>
          <a:xfrm>
            <a:off x="3128345" y="2095670"/>
            <a:ext cx="91074" cy="49660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Connector 32"/>
          <p:cNvCxnSpPr/>
          <p:nvPr/>
        </p:nvCxnSpPr>
        <p:spPr>
          <a:xfrm>
            <a:off x="3219419" y="2145330"/>
            <a:ext cx="91074" cy="53152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Connector 33"/>
          <p:cNvCxnSpPr/>
          <p:nvPr/>
        </p:nvCxnSpPr>
        <p:spPr>
          <a:xfrm>
            <a:off x="3310493" y="2198482"/>
            <a:ext cx="91075" cy="55963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Connector 34"/>
          <p:cNvCxnSpPr/>
          <p:nvPr/>
        </p:nvCxnSpPr>
        <p:spPr>
          <a:xfrm>
            <a:off x="3401568" y="2254445"/>
            <a:ext cx="91074" cy="58062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Connector 35"/>
          <p:cNvCxnSpPr/>
          <p:nvPr/>
        </p:nvCxnSpPr>
        <p:spPr>
          <a:xfrm>
            <a:off x="3492642" y="2312507"/>
            <a:ext cx="91074" cy="59416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" name="Connector 36"/>
          <p:cNvCxnSpPr/>
          <p:nvPr/>
        </p:nvCxnSpPr>
        <p:spPr>
          <a:xfrm>
            <a:off x="3583716" y="2371923"/>
            <a:ext cx="91074" cy="60013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" name="Connector 37"/>
          <p:cNvCxnSpPr/>
          <p:nvPr/>
        </p:nvCxnSpPr>
        <p:spPr>
          <a:xfrm>
            <a:off x="3674790" y="2431936"/>
            <a:ext cx="91074" cy="59842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" name="Connector 38"/>
          <p:cNvCxnSpPr/>
          <p:nvPr/>
        </p:nvCxnSpPr>
        <p:spPr>
          <a:xfrm>
            <a:off x="3765864" y="2491778"/>
            <a:ext cx="91075" cy="58907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" name="Connector 39"/>
          <p:cNvCxnSpPr/>
          <p:nvPr/>
        </p:nvCxnSpPr>
        <p:spPr>
          <a:xfrm>
            <a:off x="3856939" y="2550685"/>
            <a:ext cx="91074" cy="57220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" name="Connector 40"/>
          <p:cNvCxnSpPr/>
          <p:nvPr/>
        </p:nvCxnSpPr>
        <p:spPr>
          <a:xfrm>
            <a:off x="3948013" y="2607905"/>
            <a:ext cx="91074" cy="54800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" name="Connector 41"/>
          <p:cNvCxnSpPr/>
          <p:nvPr/>
        </p:nvCxnSpPr>
        <p:spPr>
          <a:xfrm>
            <a:off x="4039087" y="2662705"/>
            <a:ext cx="91074" cy="51681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3" name="Connector 42"/>
          <p:cNvCxnSpPr/>
          <p:nvPr/>
        </p:nvCxnSpPr>
        <p:spPr>
          <a:xfrm>
            <a:off x="4130161" y="2714386"/>
            <a:ext cx="91075" cy="47901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Connector 43"/>
          <p:cNvCxnSpPr/>
          <p:nvPr/>
        </p:nvCxnSpPr>
        <p:spPr>
          <a:xfrm>
            <a:off x="4221236" y="2762287"/>
            <a:ext cx="91074" cy="43510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" name="Connector 44"/>
          <p:cNvCxnSpPr/>
          <p:nvPr/>
        </p:nvCxnSpPr>
        <p:spPr>
          <a:xfrm>
            <a:off x="4312310" y="2805797"/>
            <a:ext cx="91074" cy="38563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6" name="Connector 45"/>
          <p:cNvCxnSpPr/>
          <p:nvPr/>
        </p:nvCxnSpPr>
        <p:spPr>
          <a:xfrm>
            <a:off x="4403384" y="2844360"/>
            <a:ext cx="91074" cy="33122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7" name="Connector 46"/>
          <p:cNvCxnSpPr/>
          <p:nvPr/>
        </p:nvCxnSpPr>
        <p:spPr>
          <a:xfrm>
            <a:off x="4494458" y="2877482"/>
            <a:ext cx="91075" cy="27259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8" name="Connector 47"/>
          <p:cNvCxnSpPr/>
          <p:nvPr/>
        </p:nvCxnSpPr>
        <p:spPr>
          <a:xfrm>
            <a:off x="4585533" y="2904741"/>
            <a:ext cx="91074" cy="21047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9" name="Connector 48"/>
          <p:cNvCxnSpPr/>
          <p:nvPr/>
        </p:nvCxnSpPr>
        <p:spPr>
          <a:xfrm>
            <a:off x="4676607" y="2925788"/>
            <a:ext cx="91074" cy="14566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0" name="Connector 49"/>
          <p:cNvCxnSpPr/>
          <p:nvPr/>
        </p:nvCxnSpPr>
        <p:spPr>
          <a:xfrm>
            <a:off x="4767681" y="2940354"/>
            <a:ext cx="91074" cy="7899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1" name="Connector 50"/>
          <p:cNvCxnSpPr/>
          <p:nvPr/>
        </p:nvCxnSpPr>
        <p:spPr>
          <a:xfrm>
            <a:off x="4858755" y="2948253"/>
            <a:ext cx="91075" cy="1132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2" name="Connector 51"/>
          <p:cNvCxnSpPr/>
          <p:nvPr/>
        </p:nvCxnSpPr>
        <p:spPr>
          <a:xfrm flipV="1">
            <a:off x="4949830" y="2943735"/>
            <a:ext cx="91074" cy="5650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3" name="Connector 52"/>
          <p:cNvCxnSpPr/>
          <p:nvPr/>
        </p:nvCxnSpPr>
        <p:spPr>
          <a:xfrm flipV="1">
            <a:off x="5040904" y="2931374"/>
            <a:ext cx="91074" cy="12361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4" name="Connector 53"/>
          <p:cNvCxnSpPr/>
          <p:nvPr/>
        </p:nvCxnSpPr>
        <p:spPr>
          <a:xfrm flipV="1">
            <a:off x="5131978" y="2912461"/>
            <a:ext cx="91074" cy="18913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5" name="Connector 54"/>
          <p:cNvCxnSpPr/>
          <p:nvPr/>
        </p:nvCxnSpPr>
        <p:spPr>
          <a:xfrm flipV="1">
            <a:off x="5223052" y="2887239"/>
            <a:ext cx="91075" cy="25222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6" name="Connector 55"/>
          <p:cNvCxnSpPr/>
          <p:nvPr/>
        </p:nvCxnSpPr>
        <p:spPr>
          <a:xfrm flipV="1">
            <a:off x="5314127" y="2856027"/>
            <a:ext cx="91074" cy="31212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7" name="Connector 56"/>
          <p:cNvCxnSpPr/>
          <p:nvPr/>
        </p:nvCxnSpPr>
        <p:spPr>
          <a:xfrm flipV="1">
            <a:off x="5405201" y="2819227"/>
            <a:ext cx="91074" cy="36800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8" name="Connector 57"/>
          <p:cNvCxnSpPr/>
          <p:nvPr/>
        </p:nvCxnSpPr>
        <p:spPr>
          <a:xfrm flipV="1">
            <a:off x="5496275" y="2777307"/>
            <a:ext cx="91074" cy="41920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9" name="Connector 58"/>
          <p:cNvCxnSpPr/>
          <p:nvPr/>
        </p:nvCxnSpPr>
        <p:spPr>
          <a:xfrm flipV="1">
            <a:off x="5587349" y="2730804"/>
            <a:ext cx="91075" cy="46503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0" name="Connector 59"/>
          <p:cNvCxnSpPr/>
          <p:nvPr/>
        </p:nvCxnSpPr>
        <p:spPr>
          <a:xfrm flipV="1">
            <a:off x="5678424" y="2680312"/>
            <a:ext cx="91074" cy="50492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1" name="Connector 60"/>
          <p:cNvCxnSpPr/>
          <p:nvPr/>
        </p:nvCxnSpPr>
        <p:spPr>
          <a:xfrm flipV="1">
            <a:off x="5769498" y="2626475"/>
            <a:ext cx="91074" cy="53837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2" name="Connector 61"/>
          <p:cNvCxnSpPr/>
          <p:nvPr/>
        </p:nvCxnSpPr>
        <p:spPr>
          <a:xfrm flipV="1">
            <a:off x="5860572" y="2569983"/>
            <a:ext cx="91074" cy="56492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3" name="Connector 62"/>
          <p:cNvCxnSpPr/>
          <p:nvPr/>
        </p:nvCxnSpPr>
        <p:spPr>
          <a:xfrm flipV="1">
            <a:off x="5951646" y="2511555"/>
            <a:ext cx="91074" cy="58428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4" name="Connector 63"/>
          <p:cNvCxnSpPr/>
          <p:nvPr/>
        </p:nvCxnSpPr>
        <p:spPr>
          <a:xfrm flipV="1">
            <a:off x="6042720" y="2451940"/>
            <a:ext cx="91075" cy="59615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5" name="Connector 64"/>
          <p:cNvCxnSpPr/>
          <p:nvPr/>
        </p:nvCxnSpPr>
        <p:spPr>
          <a:xfrm flipV="1">
            <a:off x="6133795" y="2391899"/>
            <a:ext cx="91074" cy="60041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6" name="Connector 65"/>
          <p:cNvCxnSpPr/>
          <p:nvPr/>
        </p:nvCxnSpPr>
        <p:spPr>
          <a:xfrm flipV="1">
            <a:off x="6224869" y="2332199"/>
            <a:ext cx="91074" cy="59700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7" name="Connector 66"/>
          <p:cNvCxnSpPr/>
          <p:nvPr/>
        </p:nvCxnSpPr>
        <p:spPr>
          <a:xfrm flipV="1">
            <a:off x="6315943" y="2273602"/>
            <a:ext cx="91074" cy="58597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8" name="Connector 67"/>
          <p:cNvCxnSpPr/>
          <p:nvPr/>
        </p:nvCxnSpPr>
        <p:spPr>
          <a:xfrm flipV="1">
            <a:off x="6407017" y="2216858"/>
            <a:ext cx="91075" cy="56744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9" name="Connector 68"/>
          <p:cNvCxnSpPr/>
          <p:nvPr/>
        </p:nvCxnSpPr>
        <p:spPr>
          <a:xfrm flipV="1">
            <a:off x="6498092" y="2162692"/>
            <a:ext cx="91074" cy="54166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0" name="Connector 69"/>
          <p:cNvCxnSpPr/>
          <p:nvPr/>
        </p:nvCxnSpPr>
        <p:spPr>
          <a:xfrm flipV="1">
            <a:off x="6589166" y="2111795"/>
            <a:ext cx="91074" cy="50897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1" name="Connector 70"/>
          <p:cNvCxnSpPr/>
          <p:nvPr/>
        </p:nvCxnSpPr>
        <p:spPr>
          <a:xfrm flipV="1">
            <a:off x="6680240" y="2064819"/>
            <a:ext cx="91074" cy="46976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2" name="Connector 71"/>
          <p:cNvCxnSpPr/>
          <p:nvPr/>
        </p:nvCxnSpPr>
        <p:spPr>
          <a:xfrm flipV="1">
            <a:off x="6771314" y="2022362"/>
            <a:ext cx="91075" cy="42457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3" name="Connector 72"/>
          <p:cNvCxnSpPr/>
          <p:nvPr/>
        </p:nvCxnSpPr>
        <p:spPr>
          <a:xfrm flipV="1">
            <a:off x="6862389" y="1984969"/>
            <a:ext cx="91074" cy="37393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4" name="Connector 73"/>
          <p:cNvCxnSpPr/>
          <p:nvPr/>
        </p:nvCxnSpPr>
        <p:spPr>
          <a:xfrm flipV="1">
            <a:off x="6953463" y="1953115"/>
            <a:ext cx="91074" cy="31854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5" name="Connector 74"/>
          <p:cNvCxnSpPr/>
          <p:nvPr/>
        </p:nvCxnSpPr>
        <p:spPr>
          <a:xfrm flipV="1">
            <a:off x="7044537" y="1927210"/>
            <a:ext cx="91074" cy="25905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6" name="Connector 75"/>
          <p:cNvCxnSpPr/>
          <p:nvPr/>
        </p:nvCxnSpPr>
        <p:spPr>
          <a:xfrm flipV="1">
            <a:off x="7135611" y="1907582"/>
            <a:ext cx="91075" cy="19628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7" name="Connector 76"/>
          <p:cNvCxnSpPr/>
          <p:nvPr/>
        </p:nvCxnSpPr>
        <p:spPr>
          <a:xfrm flipV="1">
            <a:off x="7226686" y="1894485"/>
            <a:ext cx="91074" cy="13097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8" name="Connector 77"/>
          <p:cNvCxnSpPr/>
          <p:nvPr/>
        </p:nvCxnSpPr>
        <p:spPr>
          <a:xfrm flipV="1">
            <a:off x="7317760" y="1888083"/>
            <a:ext cx="91074" cy="6402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9" name="Connector 78"/>
          <p:cNvCxnSpPr/>
          <p:nvPr/>
        </p:nvCxnSpPr>
        <p:spPr>
          <a:xfrm>
            <a:off x="7408834" y="1888083"/>
            <a:ext cx="91074" cy="378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0" name="Connector 79"/>
          <p:cNvCxnSpPr/>
          <p:nvPr/>
        </p:nvCxnSpPr>
        <p:spPr>
          <a:xfrm>
            <a:off x="7499908" y="1888461"/>
            <a:ext cx="91075" cy="7151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1" name="Connector 80"/>
          <p:cNvCxnSpPr/>
          <p:nvPr/>
        </p:nvCxnSpPr>
        <p:spPr>
          <a:xfrm>
            <a:off x="7590983" y="1895612"/>
            <a:ext cx="91074" cy="13833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2" name="Connector 81"/>
          <p:cNvCxnSpPr/>
          <p:nvPr/>
        </p:nvCxnSpPr>
        <p:spPr>
          <a:xfrm>
            <a:off x="7682057" y="1909445"/>
            <a:ext cx="91074" cy="20338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3" name="Connector 82"/>
          <p:cNvCxnSpPr/>
          <p:nvPr/>
        </p:nvCxnSpPr>
        <p:spPr>
          <a:xfrm>
            <a:off x="7773131" y="1929783"/>
            <a:ext cx="91074" cy="26585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4" name="Connector 83"/>
          <p:cNvCxnSpPr/>
          <p:nvPr/>
        </p:nvCxnSpPr>
        <p:spPr>
          <a:xfrm>
            <a:off x="7864205" y="1956368"/>
            <a:ext cx="91075" cy="32490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5" name="Connector 84"/>
          <p:cNvCxnSpPr/>
          <p:nvPr/>
        </p:nvCxnSpPr>
        <p:spPr>
          <a:xfrm>
            <a:off x="7955280" y="1988858"/>
            <a:ext cx="91074" cy="37981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6" name="Connector 85"/>
          <p:cNvCxnSpPr/>
          <p:nvPr/>
        </p:nvCxnSpPr>
        <p:spPr>
          <a:xfrm>
            <a:off x="8046354" y="2026839"/>
            <a:ext cx="91074" cy="42987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7" name="Connector 86"/>
          <p:cNvCxnSpPr/>
          <p:nvPr/>
        </p:nvCxnSpPr>
        <p:spPr>
          <a:xfrm>
            <a:off x="8137428" y="2069826"/>
            <a:ext cx="91074" cy="47442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8" name="Connector 87"/>
          <p:cNvCxnSpPr/>
          <p:nvPr/>
        </p:nvCxnSpPr>
        <p:spPr>
          <a:xfrm>
            <a:off x="8228502" y="2117268"/>
            <a:ext cx="91074" cy="51293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9" name="Connector 88"/>
          <p:cNvCxnSpPr/>
          <p:nvPr/>
        </p:nvCxnSpPr>
        <p:spPr>
          <a:xfrm>
            <a:off x="8319576" y="2168561"/>
            <a:ext cx="91075" cy="54488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0" name="Connector 89"/>
          <p:cNvCxnSpPr/>
          <p:nvPr/>
        </p:nvCxnSpPr>
        <p:spPr>
          <a:xfrm>
            <a:off x="8410651" y="2223049"/>
            <a:ext cx="91074" cy="56986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1" name="Connector 90"/>
          <p:cNvCxnSpPr/>
          <p:nvPr/>
        </p:nvCxnSpPr>
        <p:spPr>
          <a:xfrm>
            <a:off x="8501725" y="2280035"/>
            <a:ext cx="91074" cy="58756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2" name="Connector 91"/>
          <p:cNvCxnSpPr/>
          <p:nvPr/>
        </p:nvCxnSpPr>
        <p:spPr>
          <a:xfrm>
            <a:off x="8592799" y="2338791"/>
            <a:ext cx="91074" cy="59776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3" name="Connector 92"/>
          <p:cNvCxnSpPr/>
          <p:nvPr/>
        </p:nvCxnSpPr>
        <p:spPr>
          <a:xfrm>
            <a:off x="8683873" y="2398567"/>
            <a:ext cx="91075" cy="60032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4" name="Connector 93"/>
          <p:cNvCxnSpPr/>
          <p:nvPr/>
        </p:nvCxnSpPr>
        <p:spPr>
          <a:xfrm>
            <a:off x="8774948" y="2458599"/>
            <a:ext cx="91074" cy="59521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5" name="Connector 94"/>
          <p:cNvCxnSpPr/>
          <p:nvPr/>
        </p:nvCxnSpPr>
        <p:spPr>
          <a:xfrm>
            <a:off x="8866022" y="2518120"/>
            <a:ext cx="91074" cy="58249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6" name="Connector 95"/>
          <p:cNvCxnSpPr/>
          <p:nvPr/>
        </p:nvCxnSpPr>
        <p:spPr>
          <a:xfrm>
            <a:off x="8957096" y="2576369"/>
            <a:ext cx="91074" cy="56232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7" name="Connector 96"/>
          <p:cNvCxnSpPr/>
          <p:nvPr/>
        </p:nvCxnSpPr>
        <p:spPr>
          <a:xfrm>
            <a:off x="9048170" y="2632601"/>
            <a:ext cx="91075" cy="53499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8" name="Connector 97"/>
          <p:cNvCxnSpPr/>
          <p:nvPr/>
        </p:nvCxnSpPr>
        <p:spPr>
          <a:xfrm>
            <a:off x="9139245" y="2686100"/>
            <a:ext cx="91074" cy="50080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9" name="Connector 98"/>
          <p:cNvCxnSpPr/>
          <p:nvPr/>
        </p:nvCxnSpPr>
        <p:spPr>
          <a:xfrm>
            <a:off x="9230319" y="2736180"/>
            <a:ext cx="91074" cy="46022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0" name="Connector 99"/>
          <p:cNvCxnSpPr/>
          <p:nvPr/>
        </p:nvCxnSpPr>
        <p:spPr>
          <a:xfrm>
            <a:off x="9321393" y="2782202"/>
            <a:ext cx="91074" cy="41376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1" name="Connector 100"/>
          <p:cNvCxnSpPr/>
          <p:nvPr/>
        </p:nvCxnSpPr>
        <p:spPr>
          <a:xfrm>
            <a:off x="9412467" y="2823578"/>
            <a:ext cx="91075" cy="36201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2" name="Connector 101"/>
          <p:cNvCxnSpPr/>
          <p:nvPr/>
        </p:nvCxnSpPr>
        <p:spPr>
          <a:xfrm>
            <a:off x="9503542" y="2859779"/>
            <a:ext cx="91074" cy="30564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3" name="Connector 102"/>
          <p:cNvCxnSpPr/>
          <p:nvPr/>
        </p:nvCxnSpPr>
        <p:spPr>
          <a:xfrm>
            <a:off x="9594616" y="2890343"/>
            <a:ext cx="91074" cy="24537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4" name="Connector 103"/>
          <p:cNvCxnSpPr/>
          <p:nvPr/>
        </p:nvCxnSpPr>
        <p:spPr>
          <a:xfrm>
            <a:off x="9685690" y="2914880"/>
            <a:ext cx="91074" cy="18195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5" name="Connector 104"/>
          <p:cNvCxnSpPr/>
          <p:nvPr/>
        </p:nvCxnSpPr>
        <p:spPr>
          <a:xfrm>
            <a:off x="9776764" y="2933075"/>
            <a:ext cx="91075" cy="11621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6" name="Connector 105"/>
          <p:cNvCxnSpPr/>
          <p:nvPr/>
        </p:nvCxnSpPr>
        <p:spPr>
          <a:xfrm>
            <a:off x="9867839" y="2944696"/>
            <a:ext cx="91074" cy="4899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7" name="Connector 106"/>
          <p:cNvCxnSpPr/>
          <p:nvPr/>
        </p:nvCxnSpPr>
        <p:spPr>
          <a:xfrm flipV="1">
            <a:off x="9958913" y="2947709"/>
            <a:ext cx="91074" cy="1886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8" name="Connector 107"/>
          <p:cNvCxnSpPr/>
          <p:nvPr/>
        </p:nvCxnSpPr>
        <p:spPr>
          <a:xfrm flipV="1">
            <a:off x="10049987" y="2939062"/>
            <a:ext cx="91074" cy="8647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9" name="Connector 108"/>
          <p:cNvCxnSpPr/>
          <p:nvPr/>
        </p:nvCxnSpPr>
        <p:spPr>
          <a:xfrm flipV="1">
            <a:off x="10141061" y="2923765"/>
            <a:ext cx="91075" cy="15297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0" name="Oval 109"/>
          <p:cNvSpPr/>
          <p:nvPr/>
        </p:nvSpPr>
        <p:spPr>
          <a:xfrm>
            <a:off x="1063447" y="2357323"/>
            <a:ext cx="122529" cy="122529"/>
          </a:xfrm>
          <a:prstGeom prst="ellipse">
            <a:avLst/>
          </a:prstGeom>
          <a:solidFill>
            <a:srgbClr val="8C64E1"/>
          </a:solidFill>
          <a:ln w="12700">
            <a:solidFill>
              <a:srgbClr val="8C64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1" name="Oval 110"/>
          <p:cNvSpPr/>
          <p:nvPr/>
        </p:nvSpPr>
        <p:spPr>
          <a:xfrm>
            <a:off x="2201875" y="1832687"/>
            <a:ext cx="122529" cy="122529"/>
          </a:xfrm>
          <a:prstGeom prst="ellipse">
            <a:avLst/>
          </a:prstGeom>
          <a:solidFill>
            <a:srgbClr val="8C64E1"/>
          </a:solidFill>
          <a:ln w="12700">
            <a:solidFill>
              <a:srgbClr val="8C64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2" name="Oval 111"/>
          <p:cNvSpPr/>
          <p:nvPr/>
        </p:nvSpPr>
        <p:spPr>
          <a:xfrm>
            <a:off x="3340303" y="2193181"/>
            <a:ext cx="122529" cy="122529"/>
          </a:xfrm>
          <a:prstGeom prst="ellipse">
            <a:avLst/>
          </a:prstGeom>
          <a:solidFill>
            <a:srgbClr val="8C64E1"/>
          </a:solidFill>
          <a:ln w="12700">
            <a:solidFill>
              <a:srgbClr val="8C64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3" name="Oval 112"/>
          <p:cNvSpPr/>
          <p:nvPr/>
        </p:nvSpPr>
        <p:spPr>
          <a:xfrm>
            <a:off x="4478731" y="2830603"/>
            <a:ext cx="122529" cy="122529"/>
          </a:xfrm>
          <a:prstGeom prst="ellipse">
            <a:avLst/>
          </a:prstGeom>
          <a:solidFill>
            <a:srgbClr val="8C64E1"/>
          </a:solidFill>
          <a:ln w="12700">
            <a:solidFill>
              <a:srgbClr val="8C64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4" name="Oval 113"/>
          <p:cNvSpPr/>
          <p:nvPr/>
        </p:nvSpPr>
        <p:spPr>
          <a:xfrm>
            <a:off x="5617159" y="2669540"/>
            <a:ext cx="122529" cy="122529"/>
          </a:xfrm>
          <a:prstGeom prst="ellipse">
            <a:avLst/>
          </a:prstGeom>
          <a:solidFill>
            <a:srgbClr val="8C64E1"/>
          </a:solidFill>
          <a:ln w="12700">
            <a:solidFill>
              <a:srgbClr val="8C64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5" name="Oval 114"/>
          <p:cNvSpPr/>
          <p:nvPr/>
        </p:nvSpPr>
        <p:spPr>
          <a:xfrm>
            <a:off x="6755587" y="1981725"/>
            <a:ext cx="122529" cy="122529"/>
          </a:xfrm>
          <a:prstGeom prst="ellipse">
            <a:avLst/>
          </a:prstGeom>
          <a:solidFill>
            <a:srgbClr val="8C64E1"/>
          </a:solidFill>
          <a:ln w="12700">
            <a:solidFill>
              <a:srgbClr val="8C64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6" name="Oval 115"/>
          <p:cNvSpPr/>
          <p:nvPr/>
        </p:nvSpPr>
        <p:spPr>
          <a:xfrm>
            <a:off x="7894015" y="1927593"/>
            <a:ext cx="122529" cy="122529"/>
          </a:xfrm>
          <a:prstGeom prst="ellipse">
            <a:avLst/>
          </a:prstGeom>
          <a:solidFill>
            <a:srgbClr val="8C64E1"/>
          </a:solidFill>
          <a:ln w="12700">
            <a:solidFill>
              <a:srgbClr val="8C64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7" name="Oval 116"/>
          <p:cNvSpPr/>
          <p:nvPr/>
        </p:nvSpPr>
        <p:spPr>
          <a:xfrm>
            <a:off x="9032443" y="2598471"/>
            <a:ext cx="122529" cy="122529"/>
          </a:xfrm>
          <a:prstGeom prst="ellipse">
            <a:avLst/>
          </a:prstGeom>
          <a:solidFill>
            <a:srgbClr val="8C64E1"/>
          </a:solidFill>
          <a:ln w="12700">
            <a:solidFill>
              <a:srgbClr val="8C64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18" name="Connector 117"/>
          <p:cNvCxnSpPr/>
          <p:nvPr/>
        </p:nvCxnSpPr>
        <p:spPr>
          <a:xfrm>
            <a:off x="1005840" y="4535424"/>
            <a:ext cx="9747504" cy="0"/>
          </a:xfrm>
          <a:prstGeom prst="line">
            <a:avLst/>
          </a:prstGeom>
          <a:ln w="2032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9" name="Connector 118"/>
          <p:cNvCxnSpPr/>
          <p:nvPr/>
        </p:nvCxnSpPr>
        <p:spPr>
          <a:xfrm>
            <a:off x="1097280" y="3840480"/>
            <a:ext cx="0" cy="1399032"/>
          </a:xfrm>
          <a:prstGeom prst="line">
            <a:avLst/>
          </a:prstGeom>
          <a:ln w="1651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0" name="TextBox 119"/>
          <p:cNvSpPr txBox="1"/>
          <p:nvPr/>
        </p:nvSpPr>
        <p:spPr>
          <a:xfrm>
            <a:off x="1124712" y="3529584"/>
            <a:ext cx="128016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1600" b="0">
                <a:solidFill>
                  <a:srgbClr val="808080"/>
                </a:solidFill>
                <a:latin typeface="Alibaba PuHuiTi 3.0 55 Regular"/>
              </a:defRPr>
            </a:pPr>
            <a:r>
              <a:t>振幅</a:t>
            </a:r>
          </a:p>
        </p:txBody>
      </p:sp>
      <p:sp>
        <p:nvSpPr>
          <p:cNvPr id="121" name="TextBox 120"/>
          <p:cNvSpPr txBox="1"/>
          <p:nvPr/>
        </p:nvSpPr>
        <p:spPr>
          <a:xfrm>
            <a:off x="9838944" y="4654296"/>
            <a:ext cx="82296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1600" b="0">
                <a:solidFill>
                  <a:srgbClr val="808080"/>
                </a:solidFill>
                <a:latin typeface="Alibaba PuHuiTi 3.0 55 Regular"/>
              </a:defRPr>
            </a:pPr>
            <a:r>
              <a:t>时间</a:t>
            </a:r>
          </a:p>
        </p:txBody>
      </p:sp>
      <p:sp>
        <p:nvSpPr>
          <p:cNvPr id="122" name="TextBox 121"/>
          <p:cNvSpPr txBox="1"/>
          <p:nvPr/>
        </p:nvSpPr>
        <p:spPr>
          <a:xfrm>
            <a:off x="1005840" y="3300984"/>
            <a:ext cx="9747504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200" b="1">
                <a:solidFill>
                  <a:srgbClr val="8C64E1"/>
                </a:solidFill>
                <a:latin typeface="Alibaba PuHuiTi 3.0 115 Black"/>
              </a:defRPr>
            </a:pPr>
            <a:r>
              <a:t>采样点较多</a:t>
            </a:r>
          </a:p>
        </p:txBody>
      </p:sp>
      <p:cxnSp>
        <p:nvCxnSpPr>
          <p:cNvPr id="123" name="Connector 122"/>
          <p:cNvCxnSpPr/>
          <p:nvPr/>
        </p:nvCxnSpPr>
        <p:spPr>
          <a:xfrm flipV="1">
            <a:off x="1124712" y="4461761"/>
            <a:ext cx="91074" cy="59947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4" name="Connector 123"/>
          <p:cNvCxnSpPr/>
          <p:nvPr/>
        </p:nvCxnSpPr>
        <p:spPr>
          <a:xfrm flipV="1">
            <a:off x="1215786" y="4402580"/>
            <a:ext cx="91074" cy="59181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5" name="Connector 124"/>
          <p:cNvCxnSpPr/>
          <p:nvPr/>
        </p:nvCxnSpPr>
        <p:spPr>
          <a:xfrm flipV="1">
            <a:off x="1306860" y="4344922"/>
            <a:ext cx="91074" cy="57658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6" name="Connector 125"/>
          <p:cNvCxnSpPr/>
          <p:nvPr/>
        </p:nvCxnSpPr>
        <p:spPr>
          <a:xfrm flipV="1">
            <a:off x="1397934" y="4289523"/>
            <a:ext cx="91074" cy="55399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7" name="Connector 126"/>
          <p:cNvCxnSpPr/>
          <p:nvPr/>
        </p:nvCxnSpPr>
        <p:spPr>
          <a:xfrm flipV="1">
            <a:off x="1489008" y="4237090"/>
            <a:ext cx="91075" cy="52433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8" name="Connector 127"/>
          <p:cNvCxnSpPr/>
          <p:nvPr/>
        </p:nvCxnSpPr>
        <p:spPr>
          <a:xfrm flipV="1">
            <a:off x="1580083" y="4188294"/>
            <a:ext cx="91074" cy="48796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9" name="Connector 128"/>
          <p:cNvCxnSpPr/>
          <p:nvPr/>
        </p:nvCxnSpPr>
        <p:spPr>
          <a:xfrm flipV="1">
            <a:off x="1671157" y="4143758"/>
            <a:ext cx="91074" cy="44536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0" name="Connector 129"/>
          <p:cNvCxnSpPr/>
          <p:nvPr/>
        </p:nvCxnSpPr>
        <p:spPr>
          <a:xfrm flipV="1">
            <a:off x="1762231" y="4104051"/>
            <a:ext cx="91074" cy="39707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1" name="Connector 130"/>
          <p:cNvCxnSpPr/>
          <p:nvPr/>
        </p:nvCxnSpPr>
        <p:spPr>
          <a:xfrm flipV="1">
            <a:off x="1853305" y="4069681"/>
            <a:ext cx="91075" cy="34370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2" name="Connector 131"/>
          <p:cNvCxnSpPr/>
          <p:nvPr/>
        </p:nvCxnSpPr>
        <p:spPr>
          <a:xfrm flipV="1">
            <a:off x="1944380" y="4041086"/>
            <a:ext cx="91074" cy="28595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3" name="Connector 132"/>
          <p:cNvCxnSpPr/>
          <p:nvPr/>
        </p:nvCxnSpPr>
        <p:spPr>
          <a:xfrm flipV="1">
            <a:off x="2035454" y="4018633"/>
            <a:ext cx="91074" cy="22453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4" name="Connector 133"/>
          <p:cNvCxnSpPr/>
          <p:nvPr/>
        </p:nvCxnSpPr>
        <p:spPr>
          <a:xfrm flipV="1">
            <a:off x="2126528" y="4002607"/>
            <a:ext cx="91074" cy="16026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5" name="Connector 134"/>
          <p:cNvCxnSpPr/>
          <p:nvPr/>
        </p:nvCxnSpPr>
        <p:spPr>
          <a:xfrm flipV="1">
            <a:off x="2217602" y="3993214"/>
            <a:ext cx="91075" cy="9393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6" name="Connector 135"/>
          <p:cNvCxnSpPr/>
          <p:nvPr/>
        </p:nvCxnSpPr>
        <p:spPr>
          <a:xfrm flipV="1">
            <a:off x="2308677" y="3990574"/>
            <a:ext cx="91074" cy="2640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7" name="Connector 136"/>
          <p:cNvCxnSpPr/>
          <p:nvPr/>
        </p:nvCxnSpPr>
        <p:spPr>
          <a:xfrm>
            <a:off x="2399751" y="3990574"/>
            <a:ext cx="91074" cy="4147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8" name="Connector 137"/>
          <p:cNvCxnSpPr/>
          <p:nvPr/>
        </p:nvCxnSpPr>
        <p:spPr>
          <a:xfrm>
            <a:off x="2490825" y="3994721"/>
            <a:ext cx="91074" cy="10880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9" name="Connector 138"/>
          <p:cNvCxnSpPr/>
          <p:nvPr/>
        </p:nvCxnSpPr>
        <p:spPr>
          <a:xfrm>
            <a:off x="2581899" y="4005601"/>
            <a:ext cx="91075" cy="17475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0" name="Connector 139"/>
          <p:cNvCxnSpPr/>
          <p:nvPr/>
        </p:nvCxnSpPr>
        <p:spPr>
          <a:xfrm>
            <a:off x="2672974" y="4023076"/>
            <a:ext cx="91074" cy="23845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1" name="Connector 140"/>
          <p:cNvCxnSpPr/>
          <p:nvPr/>
        </p:nvCxnSpPr>
        <p:spPr>
          <a:xfrm>
            <a:off x="2764048" y="4046921"/>
            <a:ext cx="91074" cy="29913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2" name="Connector 141"/>
          <p:cNvCxnSpPr/>
          <p:nvPr/>
        </p:nvCxnSpPr>
        <p:spPr>
          <a:xfrm>
            <a:off x="2855122" y="4076834"/>
            <a:ext cx="91074" cy="35596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3" name="Connector 142"/>
          <p:cNvCxnSpPr/>
          <p:nvPr/>
        </p:nvCxnSpPr>
        <p:spPr>
          <a:xfrm>
            <a:off x="2946196" y="4112430"/>
            <a:ext cx="91075" cy="40826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4" name="Connector 143"/>
          <p:cNvCxnSpPr/>
          <p:nvPr/>
        </p:nvCxnSpPr>
        <p:spPr>
          <a:xfrm>
            <a:off x="3037271" y="4153256"/>
            <a:ext cx="91074" cy="45534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5" name="Connector 144"/>
          <p:cNvCxnSpPr/>
          <p:nvPr/>
        </p:nvCxnSpPr>
        <p:spPr>
          <a:xfrm>
            <a:off x="3128345" y="4198790"/>
            <a:ext cx="91074" cy="49660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6" name="Connector 145"/>
          <p:cNvCxnSpPr/>
          <p:nvPr/>
        </p:nvCxnSpPr>
        <p:spPr>
          <a:xfrm>
            <a:off x="3219419" y="4248450"/>
            <a:ext cx="91074" cy="53152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7" name="Connector 146"/>
          <p:cNvCxnSpPr/>
          <p:nvPr/>
        </p:nvCxnSpPr>
        <p:spPr>
          <a:xfrm>
            <a:off x="3310493" y="4301602"/>
            <a:ext cx="91075" cy="55963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8" name="Connector 147"/>
          <p:cNvCxnSpPr/>
          <p:nvPr/>
        </p:nvCxnSpPr>
        <p:spPr>
          <a:xfrm>
            <a:off x="3401568" y="4357565"/>
            <a:ext cx="91074" cy="58062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9" name="Connector 148"/>
          <p:cNvCxnSpPr/>
          <p:nvPr/>
        </p:nvCxnSpPr>
        <p:spPr>
          <a:xfrm>
            <a:off x="3492642" y="4415627"/>
            <a:ext cx="91074" cy="59416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0" name="Connector 149"/>
          <p:cNvCxnSpPr/>
          <p:nvPr/>
        </p:nvCxnSpPr>
        <p:spPr>
          <a:xfrm>
            <a:off x="3583716" y="4475043"/>
            <a:ext cx="91074" cy="60013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1" name="Connector 150"/>
          <p:cNvCxnSpPr/>
          <p:nvPr/>
        </p:nvCxnSpPr>
        <p:spPr>
          <a:xfrm>
            <a:off x="3674790" y="4535056"/>
            <a:ext cx="91074" cy="59842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2" name="Connector 151"/>
          <p:cNvCxnSpPr/>
          <p:nvPr/>
        </p:nvCxnSpPr>
        <p:spPr>
          <a:xfrm>
            <a:off x="3765864" y="4594898"/>
            <a:ext cx="91075" cy="58907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3" name="Connector 152"/>
          <p:cNvCxnSpPr/>
          <p:nvPr/>
        </p:nvCxnSpPr>
        <p:spPr>
          <a:xfrm>
            <a:off x="3856939" y="4653805"/>
            <a:ext cx="91074" cy="57220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4" name="Connector 153"/>
          <p:cNvCxnSpPr/>
          <p:nvPr/>
        </p:nvCxnSpPr>
        <p:spPr>
          <a:xfrm>
            <a:off x="3948013" y="4711025"/>
            <a:ext cx="91074" cy="54800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5" name="Connector 154"/>
          <p:cNvCxnSpPr/>
          <p:nvPr/>
        </p:nvCxnSpPr>
        <p:spPr>
          <a:xfrm>
            <a:off x="4039087" y="4765825"/>
            <a:ext cx="91074" cy="51681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6" name="Connector 155"/>
          <p:cNvCxnSpPr/>
          <p:nvPr/>
        </p:nvCxnSpPr>
        <p:spPr>
          <a:xfrm>
            <a:off x="4130161" y="4817506"/>
            <a:ext cx="91075" cy="47901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7" name="Connector 156"/>
          <p:cNvCxnSpPr/>
          <p:nvPr/>
        </p:nvCxnSpPr>
        <p:spPr>
          <a:xfrm>
            <a:off x="4221236" y="4865407"/>
            <a:ext cx="91074" cy="43510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8" name="Connector 157"/>
          <p:cNvCxnSpPr/>
          <p:nvPr/>
        </p:nvCxnSpPr>
        <p:spPr>
          <a:xfrm>
            <a:off x="4312310" y="4908917"/>
            <a:ext cx="91074" cy="38563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9" name="Connector 158"/>
          <p:cNvCxnSpPr/>
          <p:nvPr/>
        </p:nvCxnSpPr>
        <p:spPr>
          <a:xfrm>
            <a:off x="4403384" y="4947480"/>
            <a:ext cx="91074" cy="33122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0" name="Connector 159"/>
          <p:cNvCxnSpPr/>
          <p:nvPr/>
        </p:nvCxnSpPr>
        <p:spPr>
          <a:xfrm>
            <a:off x="4494458" y="4980602"/>
            <a:ext cx="91075" cy="27259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1" name="Connector 160"/>
          <p:cNvCxnSpPr/>
          <p:nvPr/>
        </p:nvCxnSpPr>
        <p:spPr>
          <a:xfrm>
            <a:off x="4585533" y="5007861"/>
            <a:ext cx="91074" cy="21047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2" name="Connector 161"/>
          <p:cNvCxnSpPr/>
          <p:nvPr/>
        </p:nvCxnSpPr>
        <p:spPr>
          <a:xfrm>
            <a:off x="4676607" y="5028908"/>
            <a:ext cx="91074" cy="14566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3" name="Connector 162"/>
          <p:cNvCxnSpPr/>
          <p:nvPr/>
        </p:nvCxnSpPr>
        <p:spPr>
          <a:xfrm>
            <a:off x="4767681" y="5043474"/>
            <a:ext cx="91074" cy="7899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4" name="Connector 163"/>
          <p:cNvCxnSpPr/>
          <p:nvPr/>
        </p:nvCxnSpPr>
        <p:spPr>
          <a:xfrm>
            <a:off x="4858755" y="5051373"/>
            <a:ext cx="91075" cy="1132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5" name="Connector 164"/>
          <p:cNvCxnSpPr/>
          <p:nvPr/>
        </p:nvCxnSpPr>
        <p:spPr>
          <a:xfrm flipV="1">
            <a:off x="4949830" y="5046855"/>
            <a:ext cx="91074" cy="5650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6" name="Connector 165"/>
          <p:cNvCxnSpPr/>
          <p:nvPr/>
        </p:nvCxnSpPr>
        <p:spPr>
          <a:xfrm flipV="1">
            <a:off x="5040904" y="5034494"/>
            <a:ext cx="91074" cy="12361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7" name="Connector 166"/>
          <p:cNvCxnSpPr/>
          <p:nvPr/>
        </p:nvCxnSpPr>
        <p:spPr>
          <a:xfrm flipV="1">
            <a:off x="5131978" y="5015581"/>
            <a:ext cx="91074" cy="18913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8" name="Connector 167"/>
          <p:cNvCxnSpPr/>
          <p:nvPr/>
        </p:nvCxnSpPr>
        <p:spPr>
          <a:xfrm flipV="1">
            <a:off x="5223052" y="4990359"/>
            <a:ext cx="91075" cy="25222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9" name="Connector 168"/>
          <p:cNvCxnSpPr/>
          <p:nvPr/>
        </p:nvCxnSpPr>
        <p:spPr>
          <a:xfrm flipV="1">
            <a:off x="5314127" y="4959147"/>
            <a:ext cx="91074" cy="31212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0" name="Connector 169"/>
          <p:cNvCxnSpPr/>
          <p:nvPr/>
        </p:nvCxnSpPr>
        <p:spPr>
          <a:xfrm flipV="1">
            <a:off x="5405201" y="4922347"/>
            <a:ext cx="91074" cy="36800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1" name="Connector 170"/>
          <p:cNvCxnSpPr/>
          <p:nvPr/>
        </p:nvCxnSpPr>
        <p:spPr>
          <a:xfrm flipV="1">
            <a:off x="5496275" y="4880427"/>
            <a:ext cx="91074" cy="41920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2" name="Connector 171"/>
          <p:cNvCxnSpPr/>
          <p:nvPr/>
        </p:nvCxnSpPr>
        <p:spPr>
          <a:xfrm flipV="1">
            <a:off x="5587349" y="4833924"/>
            <a:ext cx="91075" cy="46503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3" name="Connector 172"/>
          <p:cNvCxnSpPr/>
          <p:nvPr/>
        </p:nvCxnSpPr>
        <p:spPr>
          <a:xfrm flipV="1">
            <a:off x="5678424" y="4783432"/>
            <a:ext cx="91074" cy="50492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4" name="Connector 173"/>
          <p:cNvCxnSpPr/>
          <p:nvPr/>
        </p:nvCxnSpPr>
        <p:spPr>
          <a:xfrm flipV="1">
            <a:off x="5769498" y="4729595"/>
            <a:ext cx="91074" cy="53837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5" name="Connector 174"/>
          <p:cNvCxnSpPr/>
          <p:nvPr/>
        </p:nvCxnSpPr>
        <p:spPr>
          <a:xfrm flipV="1">
            <a:off x="5860572" y="4673103"/>
            <a:ext cx="91074" cy="56492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6" name="Connector 175"/>
          <p:cNvCxnSpPr/>
          <p:nvPr/>
        </p:nvCxnSpPr>
        <p:spPr>
          <a:xfrm flipV="1">
            <a:off x="5951646" y="4614675"/>
            <a:ext cx="91074" cy="58428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7" name="Connector 176"/>
          <p:cNvCxnSpPr/>
          <p:nvPr/>
        </p:nvCxnSpPr>
        <p:spPr>
          <a:xfrm flipV="1">
            <a:off x="6042720" y="4555060"/>
            <a:ext cx="91075" cy="59615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8" name="Connector 177"/>
          <p:cNvCxnSpPr/>
          <p:nvPr/>
        </p:nvCxnSpPr>
        <p:spPr>
          <a:xfrm flipV="1">
            <a:off x="6133795" y="4495019"/>
            <a:ext cx="91074" cy="60041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9" name="Connector 178"/>
          <p:cNvCxnSpPr/>
          <p:nvPr/>
        </p:nvCxnSpPr>
        <p:spPr>
          <a:xfrm flipV="1">
            <a:off x="6224869" y="4435319"/>
            <a:ext cx="91074" cy="59700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0" name="Connector 179"/>
          <p:cNvCxnSpPr/>
          <p:nvPr/>
        </p:nvCxnSpPr>
        <p:spPr>
          <a:xfrm flipV="1">
            <a:off x="6315943" y="4376722"/>
            <a:ext cx="91074" cy="58597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1" name="Connector 180"/>
          <p:cNvCxnSpPr/>
          <p:nvPr/>
        </p:nvCxnSpPr>
        <p:spPr>
          <a:xfrm flipV="1">
            <a:off x="6407017" y="4319978"/>
            <a:ext cx="91075" cy="56744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2" name="Connector 181"/>
          <p:cNvCxnSpPr/>
          <p:nvPr/>
        </p:nvCxnSpPr>
        <p:spPr>
          <a:xfrm flipV="1">
            <a:off x="6498092" y="4265812"/>
            <a:ext cx="91074" cy="54166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3" name="Connector 182"/>
          <p:cNvCxnSpPr/>
          <p:nvPr/>
        </p:nvCxnSpPr>
        <p:spPr>
          <a:xfrm flipV="1">
            <a:off x="6589166" y="4214915"/>
            <a:ext cx="91074" cy="50897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4" name="Connector 183"/>
          <p:cNvCxnSpPr/>
          <p:nvPr/>
        </p:nvCxnSpPr>
        <p:spPr>
          <a:xfrm flipV="1">
            <a:off x="6680240" y="4167939"/>
            <a:ext cx="91074" cy="46976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5" name="Connector 184"/>
          <p:cNvCxnSpPr/>
          <p:nvPr/>
        </p:nvCxnSpPr>
        <p:spPr>
          <a:xfrm flipV="1">
            <a:off x="6771314" y="4125482"/>
            <a:ext cx="91075" cy="42457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6" name="Connector 185"/>
          <p:cNvCxnSpPr/>
          <p:nvPr/>
        </p:nvCxnSpPr>
        <p:spPr>
          <a:xfrm flipV="1">
            <a:off x="6862389" y="4088089"/>
            <a:ext cx="91074" cy="37393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7" name="Connector 186"/>
          <p:cNvCxnSpPr/>
          <p:nvPr/>
        </p:nvCxnSpPr>
        <p:spPr>
          <a:xfrm flipV="1">
            <a:off x="6953463" y="4056235"/>
            <a:ext cx="91074" cy="31854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8" name="Connector 187"/>
          <p:cNvCxnSpPr/>
          <p:nvPr/>
        </p:nvCxnSpPr>
        <p:spPr>
          <a:xfrm flipV="1">
            <a:off x="7044537" y="4030330"/>
            <a:ext cx="91074" cy="25905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9" name="Connector 188"/>
          <p:cNvCxnSpPr/>
          <p:nvPr/>
        </p:nvCxnSpPr>
        <p:spPr>
          <a:xfrm flipV="1">
            <a:off x="7135611" y="4010702"/>
            <a:ext cx="91075" cy="19628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0" name="Connector 189"/>
          <p:cNvCxnSpPr/>
          <p:nvPr/>
        </p:nvCxnSpPr>
        <p:spPr>
          <a:xfrm flipV="1">
            <a:off x="7226686" y="3997605"/>
            <a:ext cx="91074" cy="13097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1" name="Connector 190"/>
          <p:cNvCxnSpPr/>
          <p:nvPr/>
        </p:nvCxnSpPr>
        <p:spPr>
          <a:xfrm flipV="1">
            <a:off x="7317760" y="3991203"/>
            <a:ext cx="91074" cy="6402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2" name="Connector 191"/>
          <p:cNvCxnSpPr/>
          <p:nvPr/>
        </p:nvCxnSpPr>
        <p:spPr>
          <a:xfrm>
            <a:off x="7408834" y="3991203"/>
            <a:ext cx="91074" cy="378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3" name="Connector 192"/>
          <p:cNvCxnSpPr/>
          <p:nvPr/>
        </p:nvCxnSpPr>
        <p:spPr>
          <a:xfrm>
            <a:off x="7499908" y="3991581"/>
            <a:ext cx="91075" cy="7151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4" name="Connector 193"/>
          <p:cNvCxnSpPr/>
          <p:nvPr/>
        </p:nvCxnSpPr>
        <p:spPr>
          <a:xfrm>
            <a:off x="7590983" y="3998732"/>
            <a:ext cx="91074" cy="13833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5" name="Connector 194"/>
          <p:cNvCxnSpPr/>
          <p:nvPr/>
        </p:nvCxnSpPr>
        <p:spPr>
          <a:xfrm>
            <a:off x="7682057" y="4012565"/>
            <a:ext cx="91074" cy="20338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6" name="Connector 195"/>
          <p:cNvCxnSpPr/>
          <p:nvPr/>
        </p:nvCxnSpPr>
        <p:spPr>
          <a:xfrm>
            <a:off x="7773131" y="4032903"/>
            <a:ext cx="91074" cy="26585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7" name="Connector 196"/>
          <p:cNvCxnSpPr/>
          <p:nvPr/>
        </p:nvCxnSpPr>
        <p:spPr>
          <a:xfrm>
            <a:off x="7864205" y="4059488"/>
            <a:ext cx="91075" cy="32490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8" name="Connector 197"/>
          <p:cNvCxnSpPr/>
          <p:nvPr/>
        </p:nvCxnSpPr>
        <p:spPr>
          <a:xfrm>
            <a:off x="7955280" y="4091978"/>
            <a:ext cx="91074" cy="37981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9" name="Connector 198"/>
          <p:cNvCxnSpPr/>
          <p:nvPr/>
        </p:nvCxnSpPr>
        <p:spPr>
          <a:xfrm>
            <a:off x="8046354" y="4129959"/>
            <a:ext cx="91074" cy="42987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0" name="Connector 199"/>
          <p:cNvCxnSpPr/>
          <p:nvPr/>
        </p:nvCxnSpPr>
        <p:spPr>
          <a:xfrm>
            <a:off x="8137428" y="4172946"/>
            <a:ext cx="91074" cy="47442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1" name="Connector 200"/>
          <p:cNvCxnSpPr/>
          <p:nvPr/>
        </p:nvCxnSpPr>
        <p:spPr>
          <a:xfrm>
            <a:off x="8228502" y="4220388"/>
            <a:ext cx="91074" cy="51293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2" name="Connector 201"/>
          <p:cNvCxnSpPr/>
          <p:nvPr/>
        </p:nvCxnSpPr>
        <p:spPr>
          <a:xfrm>
            <a:off x="8319576" y="4271681"/>
            <a:ext cx="91075" cy="54488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3" name="Connector 202"/>
          <p:cNvCxnSpPr/>
          <p:nvPr/>
        </p:nvCxnSpPr>
        <p:spPr>
          <a:xfrm>
            <a:off x="8410651" y="4326169"/>
            <a:ext cx="91074" cy="56986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4" name="Connector 203"/>
          <p:cNvCxnSpPr/>
          <p:nvPr/>
        </p:nvCxnSpPr>
        <p:spPr>
          <a:xfrm>
            <a:off x="8501725" y="4383155"/>
            <a:ext cx="91074" cy="58756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5" name="Connector 204"/>
          <p:cNvCxnSpPr/>
          <p:nvPr/>
        </p:nvCxnSpPr>
        <p:spPr>
          <a:xfrm>
            <a:off x="8592799" y="4441911"/>
            <a:ext cx="91074" cy="59776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6" name="Connector 205"/>
          <p:cNvCxnSpPr/>
          <p:nvPr/>
        </p:nvCxnSpPr>
        <p:spPr>
          <a:xfrm>
            <a:off x="8683873" y="4501687"/>
            <a:ext cx="91075" cy="60032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7" name="Connector 206"/>
          <p:cNvCxnSpPr/>
          <p:nvPr/>
        </p:nvCxnSpPr>
        <p:spPr>
          <a:xfrm>
            <a:off x="8774948" y="4561719"/>
            <a:ext cx="91074" cy="59521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8" name="Connector 207"/>
          <p:cNvCxnSpPr/>
          <p:nvPr/>
        </p:nvCxnSpPr>
        <p:spPr>
          <a:xfrm>
            <a:off x="8866022" y="4621240"/>
            <a:ext cx="91074" cy="58249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9" name="Connector 208"/>
          <p:cNvCxnSpPr/>
          <p:nvPr/>
        </p:nvCxnSpPr>
        <p:spPr>
          <a:xfrm>
            <a:off x="8957096" y="4679489"/>
            <a:ext cx="91074" cy="56232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0" name="Connector 209"/>
          <p:cNvCxnSpPr/>
          <p:nvPr/>
        </p:nvCxnSpPr>
        <p:spPr>
          <a:xfrm>
            <a:off x="9048170" y="4735721"/>
            <a:ext cx="91075" cy="53499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1" name="Connector 210"/>
          <p:cNvCxnSpPr/>
          <p:nvPr/>
        </p:nvCxnSpPr>
        <p:spPr>
          <a:xfrm>
            <a:off x="9139245" y="4789220"/>
            <a:ext cx="91074" cy="50080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2" name="Connector 211"/>
          <p:cNvCxnSpPr/>
          <p:nvPr/>
        </p:nvCxnSpPr>
        <p:spPr>
          <a:xfrm>
            <a:off x="9230319" y="4839300"/>
            <a:ext cx="91074" cy="46022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3" name="Connector 212"/>
          <p:cNvCxnSpPr/>
          <p:nvPr/>
        </p:nvCxnSpPr>
        <p:spPr>
          <a:xfrm>
            <a:off x="9321393" y="4885322"/>
            <a:ext cx="91074" cy="41376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4" name="Connector 213"/>
          <p:cNvCxnSpPr/>
          <p:nvPr/>
        </p:nvCxnSpPr>
        <p:spPr>
          <a:xfrm>
            <a:off x="9412467" y="4926698"/>
            <a:ext cx="91075" cy="36201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5" name="Connector 214"/>
          <p:cNvCxnSpPr/>
          <p:nvPr/>
        </p:nvCxnSpPr>
        <p:spPr>
          <a:xfrm>
            <a:off x="9503542" y="4962899"/>
            <a:ext cx="91074" cy="30564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6" name="Connector 215"/>
          <p:cNvCxnSpPr/>
          <p:nvPr/>
        </p:nvCxnSpPr>
        <p:spPr>
          <a:xfrm>
            <a:off x="9594616" y="4993463"/>
            <a:ext cx="91074" cy="24537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7" name="Connector 216"/>
          <p:cNvCxnSpPr/>
          <p:nvPr/>
        </p:nvCxnSpPr>
        <p:spPr>
          <a:xfrm>
            <a:off x="9685690" y="5018000"/>
            <a:ext cx="91074" cy="18195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8" name="Connector 217"/>
          <p:cNvCxnSpPr/>
          <p:nvPr/>
        </p:nvCxnSpPr>
        <p:spPr>
          <a:xfrm>
            <a:off x="9776764" y="5036195"/>
            <a:ext cx="91075" cy="11621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9" name="Connector 218"/>
          <p:cNvCxnSpPr/>
          <p:nvPr/>
        </p:nvCxnSpPr>
        <p:spPr>
          <a:xfrm>
            <a:off x="9867839" y="5047816"/>
            <a:ext cx="91074" cy="4899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0" name="Connector 219"/>
          <p:cNvCxnSpPr/>
          <p:nvPr/>
        </p:nvCxnSpPr>
        <p:spPr>
          <a:xfrm flipV="1">
            <a:off x="9958913" y="5050829"/>
            <a:ext cx="91074" cy="1886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1" name="Connector 220"/>
          <p:cNvCxnSpPr/>
          <p:nvPr/>
        </p:nvCxnSpPr>
        <p:spPr>
          <a:xfrm flipV="1">
            <a:off x="10049987" y="5042182"/>
            <a:ext cx="91074" cy="8647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2" name="Connector 221"/>
          <p:cNvCxnSpPr/>
          <p:nvPr/>
        </p:nvCxnSpPr>
        <p:spPr>
          <a:xfrm flipV="1">
            <a:off x="10141061" y="5026885"/>
            <a:ext cx="91075" cy="15297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3" name="Oval 222"/>
          <p:cNvSpPr/>
          <p:nvPr/>
        </p:nvSpPr>
        <p:spPr>
          <a:xfrm>
            <a:off x="1063447" y="4460443"/>
            <a:ext cx="122529" cy="122529"/>
          </a:xfrm>
          <a:prstGeom prst="ellipse">
            <a:avLst/>
          </a:prstGeom>
          <a:solidFill>
            <a:srgbClr val="00B0F0"/>
          </a:solidFill>
          <a:ln w="12700">
            <a:solidFill>
              <a:srgbClr val="00B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4" name="Oval 223"/>
          <p:cNvSpPr/>
          <p:nvPr/>
        </p:nvSpPr>
        <p:spPr>
          <a:xfrm>
            <a:off x="1518818" y="4175825"/>
            <a:ext cx="122529" cy="122529"/>
          </a:xfrm>
          <a:prstGeom prst="ellipse">
            <a:avLst/>
          </a:prstGeom>
          <a:solidFill>
            <a:srgbClr val="00B0F0"/>
          </a:solidFill>
          <a:ln w="12700">
            <a:solidFill>
              <a:srgbClr val="00B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5" name="Oval 224"/>
          <p:cNvSpPr/>
          <p:nvPr/>
        </p:nvSpPr>
        <p:spPr>
          <a:xfrm>
            <a:off x="1974189" y="3979821"/>
            <a:ext cx="122529" cy="122529"/>
          </a:xfrm>
          <a:prstGeom prst="ellipse">
            <a:avLst/>
          </a:prstGeom>
          <a:solidFill>
            <a:srgbClr val="00B0F0"/>
          </a:solidFill>
          <a:ln w="12700">
            <a:solidFill>
              <a:srgbClr val="00B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6" name="Oval 225"/>
          <p:cNvSpPr/>
          <p:nvPr/>
        </p:nvSpPr>
        <p:spPr>
          <a:xfrm>
            <a:off x="2429560" y="3933456"/>
            <a:ext cx="122529" cy="122529"/>
          </a:xfrm>
          <a:prstGeom prst="ellipse">
            <a:avLst/>
          </a:prstGeom>
          <a:solidFill>
            <a:srgbClr val="00B0F0"/>
          </a:solidFill>
          <a:ln w="12700">
            <a:solidFill>
              <a:srgbClr val="00B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7" name="Oval 226"/>
          <p:cNvSpPr/>
          <p:nvPr/>
        </p:nvSpPr>
        <p:spPr>
          <a:xfrm>
            <a:off x="2884932" y="4051165"/>
            <a:ext cx="122529" cy="122529"/>
          </a:xfrm>
          <a:prstGeom prst="ellipse">
            <a:avLst/>
          </a:prstGeom>
          <a:solidFill>
            <a:srgbClr val="00B0F0"/>
          </a:solidFill>
          <a:ln w="12700">
            <a:solidFill>
              <a:srgbClr val="00B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8" name="Oval 227"/>
          <p:cNvSpPr/>
          <p:nvPr/>
        </p:nvSpPr>
        <p:spPr>
          <a:xfrm>
            <a:off x="3340303" y="4296301"/>
            <a:ext cx="122529" cy="122529"/>
          </a:xfrm>
          <a:prstGeom prst="ellipse">
            <a:avLst/>
          </a:prstGeom>
          <a:solidFill>
            <a:srgbClr val="00B0F0"/>
          </a:solidFill>
          <a:ln w="12700">
            <a:solidFill>
              <a:srgbClr val="00B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9" name="Oval 228"/>
          <p:cNvSpPr/>
          <p:nvPr/>
        </p:nvSpPr>
        <p:spPr>
          <a:xfrm>
            <a:off x="3795674" y="4592541"/>
            <a:ext cx="122529" cy="122529"/>
          </a:xfrm>
          <a:prstGeom prst="ellipse">
            <a:avLst/>
          </a:prstGeom>
          <a:solidFill>
            <a:srgbClr val="00B0F0"/>
          </a:solidFill>
          <a:ln w="12700">
            <a:solidFill>
              <a:srgbClr val="00B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0" name="Oval 229"/>
          <p:cNvSpPr/>
          <p:nvPr/>
        </p:nvSpPr>
        <p:spPr>
          <a:xfrm>
            <a:off x="4251045" y="4847653"/>
            <a:ext cx="122529" cy="122529"/>
          </a:xfrm>
          <a:prstGeom prst="ellipse">
            <a:avLst/>
          </a:prstGeom>
          <a:solidFill>
            <a:srgbClr val="00B0F0"/>
          </a:solidFill>
          <a:ln w="12700">
            <a:solidFill>
              <a:srgbClr val="00B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1" name="Oval 230"/>
          <p:cNvSpPr/>
          <p:nvPr/>
        </p:nvSpPr>
        <p:spPr>
          <a:xfrm>
            <a:off x="4706416" y="4982209"/>
            <a:ext cx="122529" cy="122529"/>
          </a:xfrm>
          <a:prstGeom prst="ellipse">
            <a:avLst/>
          </a:prstGeom>
          <a:solidFill>
            <a:srgbClr val="00B0F0"/>
          </a:solidFill>
          <a:ln w="12700">
            <a:solidFill>
              <a:srgbClr val="00B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2" name="Oval 231"/>
          <p:cNvSpPr/>
          <p:nvPr/>
        </p:nvSpPr>
        <p:spPr>
          <a:xfrm>
            <a:off x="5161788" y="4954317"/>
            <a:ext cx="122529" cy="122529"/>
          </a:xfrm>
          <a:prstGeom prst="ellipse">
            <a:avLst/>
          </a:prstGeom>
          <a:solidFill>
            <a:srgbClr val="00B0F0"/>
          </a:solidFill>
          <a:ln w="12700">
            <a:solidFill>
              <a:srgbClr val="00B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3" name="Oval 232"/>
          <p:cNvSpPr/>
          <p:nvPr/>
        </p:nvSpPr>
        <p:spPr>
          <a:xfrm>
            <a:off x="5617159" y="4772660"/>
            <a:ext cx="122529" cy="122529"/>
          </a:xfrm>
          <a:prstGeom prst="ellipse">
            <a:avLst/>
          </a:prstGeom>
          <a:solidFill>
            <a:srgbClr val="00B0F0"/>
          </a:solidFill>
          <a:ln w="12700">
            <a:solidFill>
              <a:srgbClr val="00B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4" name="Oval 233"/>
          <p:cNvSpPr/>
          <p:nvPr/>
        </p:nvSpPr>
        <p:spPr>
          <a:xfrm>
            <a:off x="6072530" y="4493795"/>
            <a:ext cx="122529" cy="122529"/>
          </a:xfrm>
          <a:prstGeom prst="ellipse">
            <a:avLst/>
          </a:prstGeom>
          <a:solidFill>
            <a:srgbClr val="00B0F0"/>
          </a:solidFill>
          <a:ln w="12700">
            <a:solidFill>
              <a:srgbClr val="00B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5" name="Oval 234"/>
          <p:cNvSpPr/>
          <p:nvPr/>
        </p:nvSpPr>
        <p:spPr>
          <a:xfrm>
            <a:off x="6527901" y="4204547"/>
            <a:ext cx="122529" cy="122529"/>
          </a:xfrm>
          <a:prstGeom prst="ellipse">
            <a:avLst/>
          </a:prstGeom>
          <a:solidFill>
            <a:srgbClr val="00B0F0"/>
          </a:solidFill>
          <a:ln w="12700">
            <a:solidFill>
              <a:srgbClr val="00B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6" name="Oval 235"/>
          <p:cNvSpPr/>
          <p:nvPr/>
        </p:nvSpPr>
        <p:spPr>
          <a:xfrm>
            <a:off x="6983272" y="3994971"/>
            <a:ext cx="122529" cy="122529"/>
          </a:xfrm>
          <a:prstGeom prst="ellipse">
            <a:avLst/>
          </a:prstGeom>
          <a:solidFill>
            <a:srgbClr val="00B0F0"/>
          </a:solidFill>
          <a:ln w="12700">
            <a:solidFill>
              <a:srgbClr val="00B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7" name="Oval 236"/>
          <p:cNvSpPr/>
          <p:nvPr/>
        </p:nvSpPr>
        <p:spPr>
          <a:xfrm>
            <a:off x="7438644" y="3930316"/>
            <a:ext cx="122529" cy="122529"/>
          </a:xfrm>
          <a:prstGeom prst="ellipse">
            <a:avLst/>
          </a:prstGeom>
          <a:solidFill>
            <a:srgbClr val="00B0F0"/>
          </a:solidFill>
          <a:ln w="12700">
            <a:solidFill>
              <a:srgbClr val="00B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8" name="Oval 237"/>
          <p:cNvSpPr/>
          <p:nvPr/>
        </p:nvSpPr>
        <p:spPr>
          <a:xfrm>
            <a:off x="7894015" y="4030713"/>
            <a:ext cx="122529" cy="122529"/>
          </a:xfrm>
          <a:prstGeom prst="ellipse">
            <a:avLst/>
          </a:prstGeom>
          <a:solidFill>
            <a:srgbClr val="00B0F0"/>
          </a:solidFill>
          <a:ln w="12700">
            <a:solidFill>
              <a:srgbClr val="00B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9" name="Oval 238"/>
          <p:cNvSpPr/>
          <p:nvPr/>
        </p:nvSpPr>
        <p:spPr>
          <a:xfrm>
            <a:off x="8349386" y="4264904"/>
            <a:ext cx="122529" cy="122529"/>
          </a:xfrm>
          <a:prstGeom prst="ellipse">
            <a:avLst/>
          </a:prstGeom>
          <a:solidFill>
            <a:srgbClr val="00B0F0"/>
          </a:solidFill>
          <a:ln w="12700">
            <a:solidFill>
              <a:srgbClr val="00B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0" name="Oval 239"/>
          <p:cNvSpPr/>
          <p:nvPr/>
        </p:nvSpPr>
        <p:spPr>
          <a:xfrm>
            <a:off x="8804757" y="4559975"/>
            <a:ext cx="122529" cy="122529"/>
          </a:xfrm>
          <a:prstGeom prst="ellipse">
            <a:avLst/>
          </a:prstGeom>
          <a:solidFill>
            <a:srgbClr val="00B0F0"/>
          </a:solidFill>
          <a:ln w="12700">
            <a:solidFill>
              <a:srgbClr val="00B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1" name="Oval 240"/>
          <p:cNvSpPr/>
          <p:nvPr/>
        </p:nvSpPr>
        <p:spPr>
          <a:xfrm>
            <a:off x="9260128" y="4824057"/>
            <a:ext cx="122529" cy="122529"/>
          </a:xfrm>
          <a:prstGeom prst="ellipse">
            <a:avLst/>
          </a:prstGeom>
          <a:solidFill>
            <a:srgbClr val="00B0F0"/>
          </a:solidFill>
          <a:ln w="12700">
            <a:solidFill>
              <a:srgbClr val="00B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2" name="Oval 241"/>
          <p:cNvSpPr/>
          <p:nvPr/>
        </p:nvSpPr>
        <p:spPr>
          <a:xfrm>
            <a:off x="9715500" y="4974930"/>
            <a:ext cx="122529" cy="122529"/>
          </a:xfrm>
          <a:prstGeom prst="ellipse">
            <a:avLst/>
          </a:prstGeom>
          <a:solidFill>
            <a:srgbClr val="00B0F0"/>
          </a:solidFill>
          <a:ln w="12700">
            <a:solidFill>
              <a:srgbClr val="00B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3" name="TextBox 242"/>
          <p:cNvSpPr txBox="1"/>
          <p:nvPr/>
        </p:nvSpPr>
        <p:spPr>
          <a:xfrm>
            <a:off x="777240" y="5961888"/>
            <a:ext cx="1078992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000" b="1">
                <a:solidFill>
                  <a:srgbClr val="8C64E1"/>
                </a:solidFill>
                <a:latin typeface="Alibaba PuHuiTi 3.0 115 Black"/>
              </a:defRPr>
            </a:pPr>
            <a:r>
              <a:t>每秒记录的次数变多；数据量也会随之增加。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36576"/>
            <a:ext cx="12191695" cy="73152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57416"/>
            <a:ext cx="12191695" cy="73152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12648" y="576072"/>
            <a:ext cx="10972800" cy="7863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3400" b="1">
                <a:solidFill>
                  <a:srgbClr val="262626"/>
                </a:solidFill>
                <a:latin typeface="Alibaba PuHuiTi 3.0 115 Black"/>
              </a:defRPr>
            </a:pPr>
            <a:r>
              <a:t>采样点的值，可能是3.71这样的数。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868680" y="3346704"/>
            <a:ext cx="10149839" cy="0"/>
          </a:xfrm>
          <a:prstGeom prst="line">
            <a:avLst/>
          </a:prstGeom>
          <a:ln w="2032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>
            <a:off x="960120" y="1956816"/>
            <a:ext cx="0" cy="2788920"/>
          </a:xfrm>
          <a:prstGeom prst="line">
            <a:avLst/>
          </a:prstGeom>
          <a:ln w="1651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987552" y="1645920"/>
            <a:ext cx="128016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1600" b="0">
                <a:solidFill>
                  <a:srgbClr val="808080"/>
                </a:solidFill>
                <a:latin typeface="Alibaba PuHuiTi 3.0 55 Regular"/>
              </a:defRPr>
            </a:pPr>
            <a:r>
              <a:t>振幅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104119" y="3465576"/>
            <a:ext cx="82296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1600" b="0">
                <a:solidFill>
                  <a:srgbClr val="808080"/>
                </a:solidFill>
                <a:latin typeface="Alibaba PuHuiTi 3.0 55 Regular"/>
              </a:defRPr>
            </a:pPr>
            <a:r>
              <a:t>时间</a:t>
            </a:r>
          </a:p>
        </p:txBody>
      </p:sp>
      <p:cxnSp>
        <p:nvCxnSpPr>
          <p:cNvPr id="9" name="Connector 8"/>
          <p:cNvCxnSpPr/>
          <p:nvPr/>
        </p:nvCxnSpPr>
        <p:spPr>
          <a:xfrm flipV="1">
            <a:off x="1005840" y="3235877"/>
            <a:ext cx="93451" cy="97111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 flipV="1">
            <a:off x="1099291" y="3139629"/>
            <a:ext cx="93452" cy="96248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 flipV="1">
            <a:off x="1192743" y="3045096"/>
            <a:ext cx="93452" cy="94533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 flipV="1">
            <a:off x="1286195" y="2953120"/>
            <a:ext cx="93451" cy="91976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 flipV="1">
            <a:off x="1379646" y="2864515"/>
            <a:ext cx="93452" cy="88605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 flipV="1">
            <a:off x="1473098" y="2780068"/>
            <a:ext cx="93452" cy="84447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 flipV="1">
            <a:off x="1566550" y="2700528"/>
            <a:ext cx="93451" cy="79540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 flipV="1">
            <a:off x="1660001" y="2626603"/>
            <a:ext cx="93452" cy="73925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 flipV="1">
            <a:off x="1753453" y="2558948"/>
            <a:ext cx="93452" cy="67655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 flipV="1">
            <a:off x="1846905" y="2498163"/>
            <a:ext cx="93451" cy="60785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 flipV="1">
            <a:off x="1940356" y="2444787"/>
            <a:ext cx="93452" cy="53376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 flipV="1">
            <a:off x="2033808" y="2399296"/>
            <a:ext cx="93452" cy="45491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 flipV="1">
            <a:off x="2127260" y="2362092"/>
            <a:ext cx="93451" cy="37204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 flipV="1">
            <a:off x="2220711" y="2333506"/>
            <a:ext cx="93452" cy="28586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 flipV="1">
            <a:off x="2314163" y="2313792"/>
            <a:ext cx="93452" cy="19714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 flipV="1">
            <a:off x="2407615" y="2303123"/>
            <a:ext cx="93451" cy="10669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 flipV="1">
            <a:off x="2501066" y="2301596"/>
            <a:ext cx="93452" cy="1527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>
            <a:off x="2594518" y="2301596"/>
            <a:ext cx="93452" cy="7628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6"/>
          <p:cNvCxnSpPr/>
          <p:nvPr/>
        </p:nvCxnSpPr>
        <p:spPr>
          <a:xfrm>
            <a:off x="2687970" y="2309224"/>
            <a:ext cx="93451" cy="16715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ector 27"/>
          <p:cNvCxnSpPr/>
          <p:nvPr/>
        </p:nvCxnSpPr>
        <p:spPr>
          <a:xfrm>
            <a:off x="2781421" y="2325939"/>
            <a:ext cx="93452" cy="25653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Connector 28"/>
          <p:cNvCxnSpPr/>
          <p:nvPr/>
        </p:nvCxnSpPr>
        <p:spPr>
          <a:xfrm>
            <a:off x="2874873" y="2351592"/>
            <a:ext cx="93452" cy="34364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nector 29"/>
          <p:cNvCxnSpPr/>
          <p:nvPr/>
        </p:nvCxnSpPr>
        <p:spPr>
          <a:xfrm>
            <a:off x="2968325" y="2385956"/>
            <a:ext cx="93451" cy="42770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nector 30"/>
          <p:cNvCxnSpPr/>
          <p:nvPr/>
        </p:nvCxnSpPr>
        <p:spPr>
          <a:xfrm>
            <a:off x="3061776" y="2428726"/>
            <a:ext cx="93452" cy="50797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Connector 31"/>
          <p:cNvCxnSpPr/>
          <p:nvPr/>
        </p:nvCxnSpPr>
        <p:spPr>
          <a:xfrm>
            <a:off x="3155228" y="2479523"/>
            <a:ext cx="93452" cy="58372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Connector 32"/>
          <p:cNvCxnSpPr/>
          <p:nvPr/>
        </p:nvCxnSpPr>
        <p:spPr>
          <a:xfrm>
            <a:off x="3248680" y="2537895"/>
            <a:ext cx="93452" cy="65429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Connector 33"/>
          <p:cNvCxnSpPr/>
          <p:nvPr/>
        </p:nvCxnSpPr>
        <p:spPr>
          <a:xfrm>
            <a:off x="3342132" y="2603324"/>
            <a:ext cx="93451" cy="71905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Connector 34"/>
          <p:cNvCxnSpPr/>
          <p:nvPr/>
        </p:nvCxnSpPr>
        <p:spPr>
          <a:xfrm>
            <a:off x="3435583" y="2675229"/>
            <a:ext cx="93452" cy="77744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Connector 35"/>
          <p:cNvCxnSpPr/>
          <p:nvPr/>
        </p:nvCxnSpPr>
        <p:spPr>
          <a:xfrm>
            <a:off x="3529035" y="2752973"/>
            <a:ext cx="93452" cy="82893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" name="Connector 36"/>
          <p:cNvCxnSpPr/>
          <p:nvPr/>
        </p:nvCxnSpPr>
        <p:spPr>
          <a:xfrm>
            <a:off x="3622487" y="2835866"/>
            <a:ext cx="93451" cy="87304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" name="Connector 37"/>
          <p:cNvCxnSpPr/>
          <p:nvPr/>
        </p:nvCxnSpPr>
        <p:spPr>
          <a:xfrm>
            <a:off x="3715938" y="2923170"/>
            <a:ext cx="93452" cy="90943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" name="Connector 38"/>
          <p:cNvCxnSpPr/>
          <p:nvPr/>
        </p:nvCxnSpPr>
        <p:spPr>
          <a:xfrm>
            <a:off x="3809390" y="3014113"/>
            <a:ext cx="93452" cy="93772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" name="Connector 39"/>
          <p:cNvCxnSpPr/>
          <p:nvPr/>
        </p:nvCxnSpPr>
        <p:spPr>
          <a:xfrm>
            <a:off x="3902842" y="3107885"/>
            <a:ext cx="93451" cy="95771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" name="Connector 40"/>
          <p:cNvCxnSpPr/>
          <p:nvPr/>
        </p:nvCxnSpPr>
        <p:spPr>
          <a:xfrm>
            <a:off x="3996293" y="3203656"/>
            <a:ext cx="93452" cy="96919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" name="Connector 41"/>
          <p:cNvCxnSpPr/>
          <p:nvPr/>
        </p:nvCxnSpPr>
        <p:spPr>
          <a:xfrm>
            <a:off x="4089745" y="3300575"/>
            <a:ext cx="93452" cy="97206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3" name="Connector 42"/>
          <p:cNvCxnSpPr/>
          <p:nvPr/>
        </p:nvCxnSpPr>
        <p:spPr>
          <a:xfrm>
            <a:off x="4183197" y="3397781"/>
            <a:ext cx="93451" cy="96631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Connector 43"/>
          <p:cNvCxnSpPr/>
          <p:nvPr/>
        </p:nvCxnSpPr>
        <p:spPr>
          <a:xfrm>
            <a:off x="4276648" y="3494412"/>
            <a:ext cx="93452" cy="95199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" name="Connector 44"/>
          <p:cNvCxnSpPr/>
          <p:nvPr/>
        </p:nvCxnSpPr>
        <p:spPr>
          <a:xfrm>
            <a:off x="4370100" y="3589611"/>
            <a:ext cx="93452" cy="92920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6" name="Connector 45"/>
          <p:cNvCxnSpPr/>
          <p:nvPr/>
        </p:nvCxnSpPr>
        <p:spPr>
          <a:xfrm>
            <a:off x="4463552" y="3682531"/>
            <a:ext cx="93451" cy="89818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7" name="Connector 46"/>
          <p:cNvCxnSpPr/>
          <p:nvPr/>
        </p:nvCxnSpPr>
        <p:spPr>
          <a:xfrm>
            <a:off x="4557003" y="3772349"/>
            <a:ext cx="93452" cy="85919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8" name="Connector 47"/>
          <p:cNvCxnSpPr/>
          <p:nvPr/>
        </p:nvCxnSpPr>
        <p:spPr>
          <a:xfrm>
            <a:off x="4650455" y="3858268"/>
            <a:ext cx="93452" cy="81255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9" name="Connector 48"/>
          <p:cNvCxnSpPr/>
          <p:nvPr/>
        </p:nvCxnSpPr>
        <p:spPr>
          <a:xfrm>
            <a:off x="4743907" y="3939523"/>
            <a:ext cx="93451" cy="75872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0" name="Connector 49"/>
          <p:cNvCxnSpPr/>
          <p:nvPr/>
        </p:nvCxnSpPr>
        <p:spPr>
          <a:xfrm>
            <a:off x="4837358" y="4015395"/>
            <a:ext cx="93452" cy="69816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1" name="Connector 50"/>
          <p:cNvCxnSpPr/>
          <p:nvPr/>
        </p:nvCxnSpPr>
        <p:spPr>
          <a:xfrm>
            <a:off x="4930810" y="4085211"/>
            <a:ext cx="93452" cy="63138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2" name="Connector 51"/>
          <p:cNvCxnSpPr/>
          <p:nvPr/>
        </p:nvCxnSpPr>
        <p:spPr>
          <a:xfrm>
            <a:off x="5024262" y="4148349"/>
            <a:ext cx="93451" cy="55901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3" name="Connector 52"/>
          <p:cNvCxnSpPr/>
          <p:nvPr/>
        </p:nvCxnSpPr>
        <p:spPr>
          <a:xfrm>
            <a:off x="5117713" y="4204250"/>
            <a:ext cx="93452" cy="48167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4" name="Connector 53"/>
          <p:cNvCxnSpPr/>
          <p:nvPr/>
        </p:nvCxnSpPr>
        <p:spPr>
          <a:xfrm>
            <a:off x="5211165" y="4252417"/>
            <a:ext cx="93452" cy="40007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5" name="Connector 54"/>
          <p:cNvCxnSpPr/>
          <p:nvPr/>
        </p:nvCxnSpPr>
        <p:spPr>
          <a:xfrm>
            <a:off x="5304617" y="4292424"/>
            <a:ext cx="93451" cy="31491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6" name="Connector 55"/>
          <p:cNvCxnSpPr/>
          <p:nvPr/>
        </p:nvCxnSpPr>
        <p:spPr>
          <a:xfrm>
            <a:off x="5398068" y="4323915"/>
            <a:ext cx="93452" cy="22695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7" name="Connector 56"/>
          <p:cNvCxnSpPr/>
          <p:nvPr/>
        </p:nvCxnSpPr>
        <p:spPr>
          <a:xfrm>
            <a:off x="5491520" y="4346610"/>
            <a:ext cx="93452" cy="13698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8" name="Connector 57"/>
          <p:cNvCxnSpPr/>
          <p:nvPr/>
        </p:nvCxnSpPr>
        <p:spPr>
          <a:xfrm>
            <a:off x="5584972" y="4360308"/>
            <a:ext cx="93452" cy="4580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9" name="Connector 58"/>
          <p:cNvCxnSpPr/>
          <p:nvPr/>
        </p:nvCxnSpPr>
        <p:spPr>
          <a:xfrm flipV="1">
            <a:off x="5678424" y="4360308"/>
            <a:ext cx="93451" cy="4580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0" name="Connector 59"/>
          <p:cNvCxnSpPr/>
          <p:nvPr/>
        </p:nvCxnSpPr>
        <p:spPr>
          <a:xfrm flipV="1">
            <a:off x="5771875" y="4346610"/>
            <a:ext cx="93452" cy="13698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1" name="Connector 60"/>
          <p:cNvCxnSpPr/>
          <p:nvPr/>
        </p:nvCxnSpPr>
        <p:spPr>
          <a:xfrm flipV="1">
            <a:off x="5865327" y="4323915"/>
            <a:ext cx="93452" cy="22695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2" name="Connector 61"/>
          <p:cNvCxnSpPr/>
          <p:nvPr/>
        </p:nvCxnSpPr>
        <p:spPr>
          <a:xfrm flipV="1">
            <a:off x="5958779" y="4292424"/>
            <a:ext cx="93451" cy="31491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3" name="Connector 62"/>
          <p:cNvCxnSpPr/>
          <p:nvPr/>
        </p:nvCxnSpPr>
        <p:spPr>
          <a:xfrm flipV="1">
            <a:off x="6052230" y="4252417"/>
            <a:ext cx="93452" cy="40007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4" name="Connector 63"/>
          <p:cNvCxnSpPr/>
          <p:nvPr/>
        </p:nvCxnSpPr>
        <p:spPr>
          <a:xfrm flipV="1">
            <a:off x="6145682" y="4204250"/>
            <a:ext cx="93452" cy="48167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5" name="Connector 64"/>
          <p:cNvCxnSpPr/>
          <p:nvPr/>
        </p:nvCxnSpPr>
        <p:spPr>
          <a:xfrm flipV="1">
            <a:off x="6239134" y="4148349"/>
            <a:ext cx="93451" cy="55901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6" name="Connector 65"/>
          <p:cNvCxnSpPr/>
          <p:nvPr/>
        </p:nvCxnSpPr>
        <p:spPr>
          <a:xfrm flipV="1">
            <a:off x="6332585" y="4085211"/>
            <a:ext cx="93452" cy="63138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7" name="Connector 66"/>
          <p:cNvCxnSpPr/>
          <p:nvPr/>
        </p:nvCxnSpPr>
        <p:spPr>
          <a:xfrm flipV="1">
            <a:off x="6426037" y="4015395"/>
            <a:ext cx="93452" cy="69816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8" name="Connector 67"/>
          <p:cNvCxnSpPr/>
          <p:nvPr/>
        </p:nvCxnSpPr>
        <p:spPr>
          <a:xfrm flipV="1">
            <a:off x="6519489" y="3939523"/>
            <a:ext cx="93451" cy="75872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9" name="Connector 68"/>
          <p:cNvCxnSpPr/>
          <p:nvPr/>
        </p:nvCxnSpPr>
        <p:spPr>
          <a:xfrm flipV="1">
            <a:off x="6612940" y="3858268"/>
            <a:ext cx="93452" cy="81255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0" name="Connector 69"/>
          <p:cNvCxnSpPr/>
          <p:nvPr/>
        </p:nvCxnSpPr>
        <p:spPr>
          <a:xfrm flipV="1">
            <a:off x="6706392" y="3772349"/>
            <a:ext cx="93452" cy="85919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1" name="Connector 70"/>
          <p:cNvCxnSpPr/>
          <p:nvPr/>
        </p:nvCxnSpPr>
        <p:spPr>
          <a:xfrm flipV="1">
            <a:off x="6799844" y="3682531"/>
            <a:ext cx="93451" cy="89818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2" name="Connector 71"/>
          <p:cNvCxnSpPr/>
          <p:nvPr/>
        </p:nvCxnSpPr>
        <p:spPr>
          <a:xfrm flipV="1">
            <a:off x="6893295" y="3589611"/>
            <a:ext cx="93452" cy="92920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3" name="Connector 72"/>
          <p:cNvCxnSpPr/>
          <p:nvPr/>
        </p:nvCxnSpPr>
        <p:spPr>
          <a:xfrm flipV="1">
            <a:off x="6986747" y="3494412"/>
            <a:ext cx="93452" cy="95199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4" name="Connector 73"/>
          <p:cNvCxnSpPr/>
          <p:nvPr/>
        </p:nvCxnSpPr>
        <p:spPr>
          <a:xfrm flipV="1">
            <a:off x="7080199" y="3397781"/>
            <a:ext cx="93451" cy="96631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5" name="Connector 74"/>
          <p:cNvCxnSpPr/>
          <p:nvPr/>
        </p:nvCxnSpPr>
        <p:spPr>
          <a:xfrm flipV="1">
            <a:off x="7173650" y="3300575"/>
            <a:ext cx="93452" cy="97206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6" name="Connector 75"/>
          <p:cNvCxnSpPr/>
          <p:nvPr/>
        </p:nvCxnSpPr>
        <p:spPr>
          <a:xfrm flipV="1">
            <a:off x="7267102" y="3203656"/>
            <a:ext cx="93452" cy="96919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7" name="Connector 76"/>
          <p:cNvCxnSpPr/>
          <p:nvPr/>
        </p:nvCxnSpPr>
        <p:spPr>
          <a:xfrm flipV="1">
            <a:off x="7360554" y="3107885"/>
            <a:ext cx="93451" cy="95771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8" name="Connector 77"/>
          <p:cNvCxnSpPr/>
          <p:nvPr/>
        </p:nvCxnSpPr>
        <p:spPr>
          <a:xfrm flipV="1">
            <a:off x="7454005" y="3014113"/>
            <a:ext cx="93452" cy="93772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9" name="Connector 78"/>
          <p:cNvCxnSpPr/>
          <p:nvPr/>
        </p:nvCxnSpPr>
        <p:spPr>
          <a:xfrm flipV="1">
            <a:off x="7547457" y="2923170"/>
            <a:ext cx="93452" cy="90943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0" name="Connector 79"/>
          <p:cNvCxnSpPr/>
          <p:nvPr/>
        </p:nvCxnSpPr>
        <p:spPr>
          <a:xfrm flipV="1">
            <a:off x="7640909" y="2835866"/>
            <a:ext cx="93451" cy="87304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1" name="Connector 80"/>
          <p:cNvCxnSpPr/>
          <p:nvPr/>
        </p:nvCxnSpPr>
        <p:spPr>
          <a:xfrm flipV="1">
            <a:off x="7734360" y="2752973"/>
            <a:ext cx="93452" cy="82893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2" name="Connector 81"/>
          <p:cNvCxnSpPr/>
          <p:nvPr/>
        </p:nvCxnSpPr>
        <p:spPr>
          <a:xfrm flipV="1">
            <a:off x="7827812" y="2675229"/>
            <a:ext cx="93452" cy="77744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3" name="Connector 82"/>
          <p:cNvCxnSpPr/>
          <p:nvPr/>
        </p:nvCxnSpPr>
        <p:spPr>
          <a:xfrm flipV="1">
            <a:off x="7921264" y="2603324"/>
            <a:ext cx="93452" cy="71905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4" name="Connector 83"/>
          <p:cNvCxnSpPr/>
          <p:nvPr/>
        </p:nvCxnSpPr>
        <p:spPr>
          <a:xfrm flipV="1">
            <a:off x="8014716" y="2537895"/>
            <a:ext cx="93451" cy="65429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5" name="Connector 84"/>
          <p:cNvCxnSpPr/>
          <p:nvPr/>
        </p:nvCxnSpPr>
        <p:spPr>
          <a:xfrm flipV="1">
            <a:off x="8108167" y="2479523"/>
            <a:ext cx="93452" cy="58372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6" name="Connector 85"/>
          <p:cNvCxnSpPr/>
          <p:nvPr/>
        </p:nvCxnSpPr>
        <p:spPr>
          <a:xfrm flipV="1">
            <a:off x="8201619" y="2428726"/>
            <a:ext cx="93452" cy="50797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7" name="Connector 86"/>
          <p:cNvCxnSpPr/>
          <p:nvPr/>
        </p:nvCxnSpPr>
        <p:spPr>
          <a:xfrm flipV="1">
            <a:off x="8295071" y="2385956"/>
            <a:ext cx="93451" cy="42770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8" name="Connector 87"/>
          <p:cNvCxnSpPr/>
          <p:nvPr/>
        </p:nvCxnSpPr>
        <p:spPr>
          <a:xfrm flipV="1">
            <a:off x="8388522" y="2351592"/>
            <a:ext cx="93452" cy="34364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9" name="Connector 88"/>
          <p:cNvCxnSpPr/>
          <p:nvPr/>
        </p:nvCxnSpPr>
        <p:spPr>
          <a:xfrm flipV="1">
            <a:off x="8481974" y="2325939"/>
            <a:ext cx="93452" cy="25653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0" name="Connector 89"/>
          <p:cNvCxnSpPr/>
          <p:nvPr/>
        </p:nvCxnSpPr>
        <p:spPr>
          <a:xfrm flipV="1">
            <a:off x="8575426" y="2309224"/>
            <a:ext cx="93451" cy="16715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1" name="Connector 90"/>
          <p:cNvCxnSpPr/>
          <p:nvPr/>
        </p:nvCxnSpPr>
        <p:spPr>
          <a:xfrm flipV="1">
            <a:off x="8668877" y="2301596"/>
            <a:ext cx="93452" cy="7628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2" name="Connector 91"/>
          <p:cNvCxnSpPr/>
          <p:nvPr/>
        </p:nvCxnSpPr>
        <p:spPr>
          <a:xfrm>
            <a:off x="8762329" y="2301596"/>
            <a:ext cx="93452" cy="1527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3" name="Connector 92"/>
          <p:cNvCxnSpPr/>
          <p:nvPr/>
        </p:nvCxnSpPr>
        <p:spPr>
          <a:xfrm>
            <a:off x="8855781" y="2303123"/>
            <a:ext cx="93451" cy="10669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4" name="Connector 93"/>
          <p:cNvCxnSpPr/>
          <p:nvPr/>
        </p:nvCxnSpPr>
        <p:spPr>
          <a:xfrm>
            <a:off x="8949232" y="2313792"/>
            <a:ext cx="93452" cy="19714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5" name="Connector 94"/>
          <p:cNvCxnSpPr/>
          <p:nvPr/>
        </p:nvCxnSpPr>
        <p:spPr>
          <a:xfrm>
            <a:off x="9042684" y="2333506"/>
            <a:ext cx="93452" cy="28586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6" name="Connector 95"/>
          <p:cNvCxnSpPr/>
          <p:nvPr/>
        </p:nvCxnSpPr>
        <p:spPr>
          <a:xfrm>
            <a:off x="9136136" y="2362092"/>
            <a:ext cx="93451" cy="37204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7" name="Connector 96"/>
          <p:cNvCxnSpPr/>
          <p:nvPr/>
        </p:nvCxnSpPr>
        <p:spPr>
          <a:xfrm>
            <a:off x="9229587" y="2399296"/>
            <a:ext cx="93452" cy="45491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8" name="Connector 97"/>
          <p:cNvCxnSpPr/>
          <p:nvPr/>
        </p:nvCxnSpPr>
        <p:spPr>
          <a:xfrm>
            <a:off x="9323039" y="2444787"/>
            <a:ext cx="93452" cy="53376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9" name="Connector 98"/>
          <p:cNvCxnSpPr/>
          <p:nvPr/>
        </p:nvCxnSpPr>
        <p:spPr>
          <a:xfrm>
            <a:off x="9416491" y="2498163"/>
            <a:ext cx="93451" cy="60785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0" name="Connector 99"/>
          <p:cNvCxnSpPr/>
          <p:nvPr/>
        </p:nvCxnSpPr>
        <p:spPr>
          <a:xfrm>
            <a:off x="9509942" y="2558948"/>
            <a:ext cx="93452" cy="67655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1" name="Connector 100"/>
          <p:cNvCxnSpPr/>
          <p:nvPr/>
        </p:nvCxnSpPr>
        <p:spPr>
          <a:xfrm>
            <a:off x="9603394" y="2626603"/>
            <a:ext cx="93452" cy="73925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2" name="Connector 101"/>
          <p:cNvCxnSpPr/>
          <p:nvPr/>
        </p:nvCxnSpPr>
        <p:spPr>
          <a:xfrm>
            <a:off x="9696846" y="2700528"/>
            <a:ext cx="93451" cy="79540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3" name="Connector 102"/>
          <p:cNvCxnSpPr/>
          <p:nvPr/>
        </p:nvCxnSpPr>
        <p:spPr>
          <a:xfrm>
            <a:off x="9790297" y="2780068"/>
            <a:ext cx="93452" cy="84447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4" name="Connector 103"/>
          <p:cNvCxnSpPr/>
          <p:nvPr/>
        </p:nvCxnSpPr>
        <p:spPr>
          <a:xfrm>
            <a:off x="9883749" y="2864515"/>
            <a:ext cx="93452" cy="88605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5" name="Connector 104"/>
          <p:cNvCxnSpPr/>
          <p:nvPr/>
        </p:nvCxnSpPr>
        <p:spPr>
          <a:xfrm>
            <a:off x="9977201" y="2953120"/>
            <a:ext cx="93451" cy="91976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6" name="Connector 105"/>
          <p:cNvCxnSpPr/>
          <p:nvPr/>
        </p:nvCxnSpPr>
        <p:spPr>
          <a:xfrm>
            <a:off x="10070652" y="3045096"/>
            <a:ext cx="93452" cy="94533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7" name="Connector 106"/>
          <p:cNvCxnSpPr/>
          <p:nvPr/>
        </p:nvCxnSpPr>
        <p:spPr>
          <a:xfrm>
            <a:off x="10164104" y="3139629"/>
            <a:ext cx="93452" cy="96248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8" name="Connector 107"/>
          <p:cNvCxnSpPr/>
          <p:nvPr/>
        </p:nvCxnSpPr>
        <p:spPr>
          <a:xfrm>
            <a:off x="10257556" y="3235877"/>
            <a:ext cx="93452" cy="97110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9" name="Oval 108"/>
          <p:cNvSpPr/>
          <p:nvPr/>
        </p:nvSpPr>
        <p:spPr>
          <a:xfrm>
            <a:off x="944575" y="3271723"/>
            <a:ext cx="122529" cy="122529"/>
          </a:xfrm>
          <a:prstGeom prst="ellipse">
            <a:avLst/>
          </a:prstGeom>
          <a:solidFill>
            <a:srgbClr val="00B0F0"/>
          </a:solidFill>
          <a:ln w="12700">
            <a:solidFill>
              <a:srgbClr val="00B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0" name="Oval 109"/>
          <p:cNvSpPr/>
          <p:nvPr/>
        </p:nvSpPr>
        <p:spPr>
          <a:xfrm>
            <a:off x="1879091" y="2436898"/>
            <a:ext cx="122529" cy="122529"/>
          </a:xfrm>
          <a:prstGeom prst="ellipse">
            <a:avLst/>
          </a:prstGeom>
          <a:solidFill>
            <a:srgbClr val="00B0F0"/>
          </a:solidFill>
          <a:ln w="12700">
            <a:solidFill>
              <a:srgbClr val="00B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1" name="Oval 110"/>
          <p:cNvSpPr/>
          <p:nvPr/>
        </p:nvSpPr>
        <p:spPr>
          <a:xfrm>
            <a:off x="2813608" y="2290327"/>
            <a:ext cx="122529" cy="122529"/>
          </a:xfrm>
          <a:prstGeom prst="ellipse">
            <a:avLst/>
          </a:prstGeom>
          <a:solidFill>
            <a:srgbClr val="00B0F0"/>
          </a:solidFill>
          <a:ln w="12700">
            <a:solidFill>
              <a:srgbClr val="00B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2" name="Oval 111"/>
          <p:cNvSpPr/>
          <p:nvPr/>
        </p:nvSpPr>
        <p:spPr>
          <a:xfrm>
            <a:off x="3748125" y="2952848"/>
            <a:ext cx="122529" cy="122529"/>
          </a:xfrm>
          <a:prstGeom prst="ellipse">
            <a:avLst/>
          </a:prstGeom>
          <a:solidFill>
            <a:srgbClr val="00B0F0"/>
          </a:solidFill>
          <a:ln w="12700">
            <a:solidFill>
              <a:srgbClr val="00B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3" name="Oval 112"/>
          <p:cNvSpPr/>
          <p:nvPr/>
        </p:nvSpPr>
        <p:spPr>
          <a:xfrm>
            <a:off x="4682642" y="3878259"/>
            <a:ext cx="122529" cy="122529"/>
          </a:xfrm>
          <a:prstGeom prst="ellipse">
            <a:avLst/>
          </a:prstGeom>
          <a:solidFill>
            <a:srgbClr val="00B0F0"/>
          </a:solidFill>
          <a:ln w="12700">
            <a:solidFill>
              <a:srgbClr val="00B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4" name="Oval 113"/>
          <p:cNvSpPr/>
          <p:nvPr/>
        </p:nvSpPr>
        <p:spPr>
          <a:xfrm>
            <a:off x="5617159" y="4303623"/>
            <a:ext cx="122529" cy="122529"/>
          </a:xfrm>
          <a:prstGeom prst="ellipse">
            <a:avLst/>
          </a:prstGeom>
          <a:solidFill>
            <a:srgbClr val="00B0F0"/>
          </a:solidFill>
          <a:ln w="12700">
            <a:solidFill>
              <a:srgbClr val="00B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5" name="Oval 114"/>
          <p:cNvSpPr/>
          <p:nvPr/>
        </p:nvSpPr>
        <p:spPr>
          <a:xfrm>
            <a:off x="6551676" y="3878259"/>
            <a:ext cx="122529" cy="122529"/>
          </a:xfrm>
          <a:prstGeom prst="ellipse">
            <a:avLst/>
          </a:prstGeom>
          <a:solidFill>
            <a:srgbClr val="00B0F0"/>
          </a:solidFill>
          <a:ln w="12700">
            <a:solidFill>
              <a:srgbClr val="00B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6" name="Oval 115"/>
          <p:cNvSpPr/>
          <p:nvPr/>
        </p:nvSpPr>
        <p:spPr>
          <a:xfrm>
            <a:off x="7486192" y="2952848"/>
            <a:ext cx="122529" cy="122529"/>
          </a:xfrm>
          <a:prstGeom prst="ellipse">
            <a:avLst/>
          </a:prstGeom>
          <a:solidFill>
            <a:srgbClr val="00B0F0"/>
          </a:solidFill>
          <a:ln w="12700">
            <a:solidFill>
              <a:srgbClr val="00B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7" name="Oval 116"/>
          <p:cNvSpPr/>
          <p:nvPr/>
        </p:nvSpPr>
        <p:spPr>
          <a:xfrm>
            <a:off x="8420709" y="2290327"/>
            <a:ext cx="122529" cy="122529"/>
          </a:xfrm>
          <a:prstGeom prst="ellipse">
            <a:avLst/>
          </a:prstGeom>
          <a:solidFill>
            <a:srgbClr val="00B0F0"/>
          </a:solidFill>
          <a:ln w="12700">
            <a:solidFill>
              <a:srgbClr val="00B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8" name="Oval 117"/>
          <p:cNvSpPr/>
          <p:nvPr/>
        </p:nvSpPr>
        <p:spPr>
          <a:xfrm>
            <a:off x="9355226" y="2436898"/>
            <a:ext cx="122529" cy="122529"/>
          </a:xfrm>
          <a:prstGeom prst="ellipse">
            <a:avLst/>
          </a:prstGeom>
          <a:solidFill>
            <a:srgbClr val="00B0F0"/>
          </a:solidFill>
          <a:ln w="12700">
            <a:solidFill>
              <a:srgbClr val="00B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9" name="Oval 118"/>
          <p:cNvSpPr/>
          <p:nvPr/>
        </p:nvSpPr>
        <p:spPr>
          <a:xfrm>
            <a:off x="3690518" y="2895241"/>
            <a:ext cx="237744" cy="237744"/>
          </a:xfrm>
          <a:prstGeom prst="ellipse">
            <a:avLst/>
          </a:prstGeom>
          <a:solidFill>
            <a:srgbClr val="FFFFFF"/>
          </a:solidFill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0" name="TextBox 119"/>
          <p:cNvSpPr txBox="1"/>
          <p:nvPr/>
        </p:nvSpPr>
        <p:spPr>
          <a:xfrm>
            <a:off x="3973982" y="2611777"/>
            <a:ext cx="2880360" cy="4846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000" b="1">
                <a:solidFill>
                  <a:srgbClr val="8C64E1"/>
                </a:solidFill>
                <a:latin typeface="Alibaba PuHuiTi 3.0 115 Black"/>
              </a:defRPr>
            </a:pPr>
            <a:r>
              <a:t>某个样本：3.71</a:t>
            </a:r>
          </a:p>
        </p:txBody>
      </p:sp>
      <p:sp>
        <p:nvSpPr>
          <p:cNvPr id="121" name="TextBox 120"/>
          <p:cNvSpPr txBox="1"/>
          <p:nvPr/>
        </p:nvSpPr>
        <p:spPr>
          <a:xfrm>
            <a:off x="777240" y="5879592"/>
            <a:ext cx="1078992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000" b="1">
                <a:solidFill>
                  <a:srgbClr val="8C64E1"/>
                </a:solidFill>
                <a:latin typeface="Alibaba PuHuiTi 3.0 115 Black"/>
              </a:defRPr>
            </a:pPr>
            <a:r>
              <a:t>新问题：如果只允许8个振幅等级，怎么记录这些值？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36576"/>
            <a:ext cx="12191695" cy="73152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57416"/>
            <a:ext cx="12191695" cy="73152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12648" y="576072"/>
            <a:ext cx="10972800" cy="7863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3400" b="1">
                <a:solidFill>
                  <a:srgbClr val="262626"/>
                </a:solidFill>
                <a:latin typeface="Alibaba PuHuiTi 3.0 115 Black"/>
              </a:defRPr>
            </a:pPr>
            <a:r>
              <a:t>把振幅划分成0～7，共几个等级？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1600200" y="5394960"/>
            <a:ext cx="8001000" cy="0"/>
          </a:xfrm>
          <a:prstGeom prst="line">
            <a:avLst/>
          </a:prstGeom>
          <a:ln w="3175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813816" y="5230368"/>
            <a:ext cx="59436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1900" b="1">
                <a:solidFill>
                  <a:srgbClr val="8C64E1"/>
                </a:solidFill>
                <a:latin typeface="Alibaba PuHuiTi 3.0 115 Black"/>
              </a:defRPr>
            </a:pPr>
            <a:r>
              <a:rPr sz="2300" b="1">
                <a:solidFill>
                  <a:srgbClr val="6251B1"/>
                </a:solidFill>
                <a:latin typeface="Alibaba PuHuiTi 3.0 115 Black"/>
              </a:rPr>
              <a:t>0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1600200" y="4910328"/>
            <a:ext cx="8001000" cy="0"/>
          </a:xfrm>
          <a:prstGeom prst="line">
            <a:avLst/>
          </a:prstGeom>
          <a:ln w="3175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813816" y="4745736"/>
            <a:ext cx="59436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1900" b="1">
                <a:solidFill>
                  <a:srgbClr val="8C64E1"/>
                </a:solidFill>
                <a:latin typeface="Alibaba PuHuiTi 3.0 115 Black"/>
              </a:defRPr>
            </a:pPr>
            <a:r>
              <a:rPr sz="2300" b="1">
                <a:solidFill>
                  <a:srgbClr val="6251B1"/>
                </a:solidFill>
                <a:latin typeface="Alibaba PuHuiTi 3.0 115 Black"/>
              </a:rPr>
              <a:t>1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1600200" y="4425696"/>
            <a:ext cx="8001000" cy="0"/>
          </a:xfrm>
          <a:prstGeom prst="line">
            <a:avLst/>
          </a:prstGeom>
          <a:ln w="3175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813816" y="4261104"/>
            <a:ext cx="59436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1900" b="1">
                <a:solidFill>
                  <a:srgbClr val="8C64E1"/>
                </a:solidFill>
                <a:latin typeface="Alibaba PuHuiTi 3.0 115 Black"/>
              </a:defRPr>
            </a:pPr>
            <a:r>
              <a:rPr sz="2300" b="1">
                <a:solidFill>
                  <a:srgbClr val="6251B1"/>
                </a:solidFill>
                <a:latin typeface="Alibaba PuHuiTi 3.0 115 Black"/>
              </a:rPr>
              <a:t>2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1600200" y="3941064"/>
            <a:ext cx="8001000" cy="0"/>
          </a:xfrm>
          <a:prstGeom prst="line">
            <a:avLst/>
          </a:prstGeom>
          <a:ln w="3175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813816" y="3776472"/>
            <a:ext cx="59436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1900" b="1">
                <a:solidFill>
                  <a:srgbClr val="8C64E1"/>
                </a:solidFill>
                <a:latin typeface="Alibaba PuHuiTi 3.0 115 Black"/>
              </a:defRPr>
            </a:pPr>
            <a:r>
              <a:rPr sz="2300" b="1">
                <a:solidFill>
                  <a:srgbClr val="6251B1"/>
                </a:solidFill>
                <a:latin typeface="Alibaba PuHuiTi 3.0 115 Black"/>
              </a:rPr>
              <a:t>3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1600200" y="3456432"/>
            <a:ext cx="8001000" cy="0"/>
          </a:xfrm>
          <a:prstGeom prst="line">
            <a:avLst/>
          </a:prstGeom>
          <a:ln w="3175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extBox 13"/>
          <p:cNvSpPr txBox="1"/>
          <p:nvPr/>
        </p:nvSpPr>
        <p:spPr>
          <a:xfrm>
            <a:off x="813816" y="3291840"/>
            <a:ext cx="59436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1900" b="1">
                <a:solidFill>
                  <a:srgbClr val="8C64E1"/>
                </a:solidFill>
                <a:latin typeface="Alibaba PuHuiTi 3.0 115 Black"/>
              </a:defRPr>
            </a:pPr>
            <a:r>
              <a:rPr sz="2300" b="1">
                <a:solidFill>
                  <a:srgbClr val="6251B1"/>
                </a:solidFill>
                <a:latin typeface="Alibaba PuHuiTi 3.0 115 Black"/>
              </a:rPr>
              <a:t>4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1600200" y="2971800"/>
            <a:ext cx="8001000" cy="0"/>
          </a:xfrm>
          <a:prstGeom prst="line">
            <a:avLst/>
          </a:prstGeom>
          <a:ln w="3175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TextBox 15"/>
          <p:cNvSpPr txBox="1"/>
          <p:nvPr/>
        </p:nvSpPr>
        <p:spPr>
          <a:xfrm>
            <a:off x="813816" y="2807208"/>
            <a:ext cx="59436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1900" b="1">
                <a:solidFill>
                  <a:srgbClr val="8C64E1"/>
                </a:solidFill>
                <a:latin typeface="Alibaba PuHuiTi 3.0 115 Black"/>
              </a:defRPr>
            </a:pPr>
            <a:r>
              <a:rPr sz="2300" b="1">
                <a:solidFill>
                  <a:srgbClr val="6251B1"/>
                </a:solidFill>
                <a:latin typeface="Alibaba PuHuiTi 3.0 115 Black"/>
              </a:rPr>
              <a:t>5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1600200" y="2487168"/>
            <a:ext cx="8001000" cy="0"/>
          </a:xfrm>
          <a:prstGeom prst="line">
            <a:avLst/>
          </a:prstGeom>
          <a:ln w="3175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TextBox 17"/>
          <p:cNvSpPr txBox="1"/>
          <p:nvPr/>
        </p:nvSpPr>
        <p:spPr>
          <a:xfrm>
            <a:off x="813816" y="2322576"/>
            <a:ext cx="59436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1900" b="1">
                <a:solidFill>
                  <a:srgbClr val="8C64E1"/>
                </a:solidFill>
                <a:latin typeface="Alibaba PuHuiTi 3.0 115 Black"/>
              </a:defRPr>
            </a:pPr>
            <a:r>
              <a:rPr sz="2300" b="1">
                <a:solidFill>
                  <a:srgbClr val="6251B1"/>
                </a:solidFill>
                <a:latin typeface="Alibaba PuHuiTi 3.0 115 Black"/>
              </a:rPr>
              <a:t>6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1600200" y="2002536"/>
            <a:ext cx="8001000" cy="0"/>
          </a:xfrm>
          <a:prstGeom prst="line">
            <a:avLst/>
          </a:prstGeom>
          <a:ln w="3175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TextBox 19"/>
          <p:cNvSpPr txBox="1"/>
          <p:nvPr/>
        </p:nvSpPr>
        <p:spPr>
          <a:xfrm>
            <a:off x="813816" y="1837944"/>
            <a:ext cx="59436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1900" b="1">
                <a:solidFill>
                  <a:srgbClr val="8C64E1"/>
                </a:solidFill>
                <a:latin typeface="Alibaba PuHuiTi 3.0 115 Black"/>
              </a:defRPr>
            </a:pPr>
            <a:r>
              <a:rPr sz="2300" b="1">
                <a:solidFill>
                  <a:srgbClr val="6251B1"/>
                </a:solidFill>
                <a:latin typeface="Alibaba PuHuiTi 3.0 115 Black"/>
              </a:rPr>
              <a:t>7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77240" y="5879592"/>
            <a:ext cx="1078992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000" b="1">
                <a:solidFill>
                  <a:srgbClr val="8C64E1"/>
                </a:solidFill>
                <a:latin typeface="Alibaba PuHuiTi 3.0 115 Black"/>
              </a:defRPr>
            </a:pPr>
            <a:r>
              <a:t>0也是一个等级，所以一共有8个等级。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36576"/>
            <a:ext cx="12191695" cy="73152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57416"/>
            <a:ext cx="12191695" cy="73152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08076" y="585216"/>
            <a:ext cx="10972800" cy="7772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defRPr b="1" sz="3500">
                <a:solidFill>
                  <a:srgbClr val="262626"/>
                </a:solidFill>
                <a:latin typeface="Alibaba PuHuiTi 3.0 115 Black"/>
              </a:defRPr>
            </a:pPr>
            <a:r>
              <a:t>3.71 应记为等级3，还是等级4？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645920"/>
            <a:ext cx="10515600" cy="5760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>
              <a:spcAft>
                <a:spcPts val="0"/>
              </a:spcAft>
              <a:defRPr sz="2300" b="0">
                <a:solidFill>
                  <a:srgbClr val="262626"/>
                </a:solidFill>
                <a:latin typeface="Alibaba PuHuiTi 3.0 55 Regular"/>
              </a:defRPr>
            </a:pPr>
            <a:r>
              <a:t>输入范围 [0,8) 分成8段：每一段对应一个等级。</a:t>
            </a:r>
          </a:p>
        </p:txBody>
      </p:sp>
      <p:sp>
        <p:nvSpPr>
          <p:cNvPr id="6" name="Rectangle 5"/>
          <p:cNvSpPr/>
          <p:nvPr/>
        </p:nvSpPr>
        <p:spPr>
          <a:xfrm>
            <a:off x="905256" y="2907792"/>
            <a:ext cx="1234439" cy="658368"/>
          </a:xfrm>
          <a:prstGeom prst="rect">
            <a:avLst/>
          </a:prstGeom>
          <a:solidFill>
            <a:srgbClr val="FFFFFF"/>
          </a:solidFill>
          <a:ln w="15240">
            <a:solidFill>
              <a:srgbClr val="E2DE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05256" y="2980944"/>
            <a:ext cx="1234439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0"/>
              </a:spcAft>
              <a:defRPr sz="2300" b="1">
                <a:solidFill>
                  <a:srgbClr val="262626"/>
                </a:solidFill>
                <a:latin typeface="Alibaba PuHuiTi 3.0 115 Black"/>
              </a:defRPr>
            </a:pPr>
            <a:r>
              <a:t>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32104" y="3703320"/>
            <a:ext cx="320040" cy="3017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>
              <a:spcAft>
                <a:spcPts val="0"/>
              </a:spcAft>
              <a:defRPr sz="1500" b="0">
                <a:solidFill>
                  <a:srgbClr val="262626"/>
                </a:solidFill>
                <a:latin typeface="Alibaba PuHuiTi 3.0 55 Regular"/>
              </a:defRPr>
            </a:pPr>
            <a:r>
              <a:t>0</a:t>
            </a:r>
          </a:p>
        </p:txBody>
      </p:sp>
      <p:sp>
        <p:nvSpPr>
          <p:cNvPr id="9" name="Rectangle 8"/>
          <p:cNvSpPr/>
          <p:nvPr/>
        </p:nvSpPr>
        <p:spPr>
          <a:xfrm>
            <a:off x="2176272" y="2907792"/>
            <a:ext cx="1234439" cy="658368"/>
          </a:xfrm>
          <a:prstGeom prst="rect">
            <a:avLst/>
          </a:prstGeom>
          <a:solidFill>
            <a:srgbClr val="FFFFFF"/>
          </a:solidFill>
          <a:ln w="15240">
            <a:solidFill>
              <a:srgbClr val="E2DE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176272" y="2980944"/>
            <a:ext cx="1234439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0"/>
              </a:spcAft>
              <a:defRPr sz="2300" b="1">
                <a:solidFill>
                  <a:srgbClr val="262626"/>
                </a:solidFill>
                <a:latin typeface="Alibaba PuHuiTi 3.0 115 Black"/>
              </a:defRPr>
            </a:pPr>
            <a: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103120" y="3703320"/>
            <a:ext cx="320040" cy="3017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>
              <a:spcAft>
                <a:spcPts val="0"/>
              </a:spcAft>
              <a:defRPr sz="1500" b="0">
                <a:solidFill>
                  <a:srgbClr val="262626"/>
                </a:solidFill>
                <a:latin typeface="Alibaba PuHuiTi 3.0 55 Regular"/>
              </a:defRPr>
            </a:pPr>
            <a:r>
              <a:t>1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447287" y="2907792"/>
            <a:ext cx="1234439" cy="658368"/>
          </a:xfrm>
          <a:prstGeom prst="rect">
            <a:avLst/>
          </a:prstGeom>
          <a:solidFill>
            <a:srgbClr val="FFFFFF"/>
          </a:solidFill>
          <a:ln w="15240">
            <a:solidFill>
              <a:srgbClr val="E2DE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447287" y="2980944"/>
            <a:ext cx="1234439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0"/>
              </a:spcAft>
              <a:defRPr sz="2300" b="1">
                <a:solidFill>
                  <a:srgbClr val="262626"/>
                </a:solidFill>
                <a:latin typeface="Alibaba PuHuiTi 3.0 115 Black"/>
              </a:defRPr>
            </a:pPr>
            <a: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374135" y="3703320"/>
            <a:ext cx="320040" cy="3017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>
              <a:spcAft>
                <a:spcPts val="0"/>
              </a:spcAft>
              <a:defRPr sz="1500" b="0">
                <a:solidFill>
                  <a:srgbClr val="262626"/>
                </a:solidFill>
                <a:latin typeface="Alibaba PuHuiTi 3.0 55 Regular"/>
              </a:defRPr>
            </a:pPr>
            <a:r>
              <a:t>2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718304" y="2907792"/>
            <a:ext cx="1234439" cy="658368"/>
          </a:xfrm>
          <a:prstGeom prst="rect">
            <a:avLst/>
          </a:prstGeom>
          <a:solidFill>
            <a:srgbClr val="EFE9FF"/>
          </a:solidFill>
          <a:ln w="38100">
            <a:solidFill>
              <a:srgbClr val="8C64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718304" y="2980944"/>
            <a:ext cx="1234439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0"/>
              </a:spcAft>
              <a:defRPr sz="2300" b="1">
                <a:solidFill>
                  <a:srgbClr val="8C64E1"/>
                </a:solidFill>
                <a:latin typeface="Alibaba PuHuiTi 3.0 115 Black"/>
              </a:defRPr>
            </a:pPr>
            <a: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645152" y="3703320"/>
            <a:ext cx="320040" cy="3017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>
              <a:spcAft>
                <a:spcPts val="0"/>
              </a:spcAft>
              <a:defRPr sz="1500" b="0">
                <a:solidFill>
                  <a:srgbClr val="262626"/>
                </a:solidFill>
                <a:latin typeface="Alibaba PuHuiTi 3.0 55 Regular"/>
              </a:defRPr>
            </a:pPr>
            <a:r>
              <a:t>3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989320" y="2907792"/>
            <a:ext cx="1234439" cy="658368"/>
          </a:xfrm>
          <a:prstGeom prst="rect">
            <a:avLst/>
          </a:prstGeom>
          <a:solidFill>
            <a:srgbClr val="FFFFFF"/>
          </a:solidFill>
          <a:ln w="15240">
            <a:solidFill>
              <a:srgbClr val="E2DE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989320" y="2980944"/>
            <a:ext cx="1234439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0"/>
              </a:spcAft>
              <a:defRPr sz="2300" b="1">
                <a:solidFill>
                  <a:srgbClr val="262626"/>
                </a:solidFill>
                <a:latin typeface="Alibaba PuHuiTi 3.0 115 Black"/>
              </a:defRPr>
            </a:pPr>
            <a:r>
              <a:t>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916168" y="3703320"/>
            <a:ext cx="320040" cy="3017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>
              <a:spcAft>
                <a:spcPts val="0"/>
              </a:spcAft>
              <a:defRPr sz="1500" b="0">
                <a:solidFill>
                  <a:srgbClr val="262626"/>
                </a:solidFill>
                <a:latin typeface="Alibaba PuHuiTi 3.0 55 Regular"/>
              </a:defRPr>
            </a:pPr>
            <a:r>
              <a:t>4</a:t>
            </a:r>
          </a:p>
        </p:txBody>
      </p:sp>
      <p:sp>
        <p:nvSpPr>
          <p:cNvPr id="21" name="Rectangle 20"/>
          <p:cNvSpPr/>
          <p:nvPr/>
        </p:nvSpPr>
        <p:spPr>
          <a:xfrm>
            <a:off x="7260336" y="2907792"/>
            <a:ext cx="1234439" cy="658368"/>
          </a:xfrm>
          <a:prstGeom prst="rect">
            <a:avLst/>
          </a:prstGeom>
          <a:solidFill>
            <a:srgbClr val="FFFFFF"/>
          </a:solidFill>
          <a:ln w="15240">
            <a:solidFill>
              <a:srgbClr val="E2DE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260336" y="2980944"/>
            <a:ext cx="1234439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0"/>
              </a:spcAft>
              <a:defRPr sz="2300" b="1">
                <a:solidFill>
                  <a:srgbClr val="262626"/>
                </a:solidFill>
                <a:latin typeface="Alibaba PuHuiTi 3.0 115 Black"/>
              </a:defRPr>
            </a:pPr>
            <a:r>
              <a:t>5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187183" y="3703320"/>
            <a:ext cx="320040" cy="3017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>
              <a:spcAft>
                <a:spcPts val="0"/>
              </a:spcAft>
              <a:defRPr sz="1500" b="0">
                <a:solidFill>
                  <a:srgbClr val="262626"/>
                </a:solidFill>
                <a:latin typeface="Alibaba PuHuiTi 3.0 55 Regular"/>
              </a:defRPr>
            </a:pPr>
            <a:r>
              <a:t>5</a:t>
            </a:r>
          </a:p>
        </p:txBody>
      </p:sp>
      <p:sp>
        <p:nvSpPr>
          <p:cNvPr id="24" name="Rectangle 23"/>
          <p:cNvSpPr/>
          <p:nvPr/>
        </p:nvSpPr>
        <p:spPr>
          <a:xfrm>
            <a:off x="8531352" y="2907792"/>
            <a:ext cx="1234439" cy="658368"/>
          </a:xfrm>
          <a:prstGeom prst="rect">
            <a:avLst/>
          </a:prstGeom>
          <a:solidFill>
            <a:srgbClr val="FFFFFF"/>
          </a:solidFill>
          <a:ln w="15240">
            <a:solidFill>
              <a:srgbClr val="E2DE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531352" y="2980944"/>
            <a:ext cx="1234439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0"/>
              </a:spcAft>
              <a:defRPr sz="2300" b="1">
                <a:solidFill>
                  <a:srgbClr val="262626"/>
                </a:solidFill>
                <a:latin typeface="Alibaba PuHuiTi 3.0 115 Black"/>
              </a:defRPr>
            </a:pPr>
            <a:r>
              <a:t>6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458200" y="3703320"/>
            <a:ext cx="320040" cy="3017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>
              <a:spcAft>
                <a:spcPts val="0"/>
              </a:spcAft>
              <a:defRPr sz="1500" b="0">
                <a:solidFill>
                  <a:srgbClr val="262626"/>
                </a:solidFill>
                <a:latin typeface="Alibaba PuHuiTi 3.0 55 Regular"/>
              </a:defRPr>
            </a:pPr>
            <a:r>
              <a:t>6</a:t>
            </a:r>
          </a:p>
        </p:txBody>
      </p:sp>
      <p:sp>
        <p:nvSpPr>
          <p:cNvPr id="27" name="Rectangle 26"/>
          <p:cNvSpPr/>
          <p:nvPr/>
        </p:nvSpPr>
        <p:spPr>
          <a:xfrm>
            <a:off x="9802367" y="2907792"/>
            <a:ext cx="1234439" cy="658368"/>
          </a:xfrm>
          <a:prstGeom prst="rect">
            <a:avLst/>
          </a:prstGeom>
          <a:solidFill>
            <a:srgbClr val="FFFFFF"/>
          </a:solidFill>
          <a:ln w="15240">
            <a:solidFill>
              <a:srgbClr val="E2DE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802367" y="2980944"/>
            <a:ext cx="1234439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0"/>
              </a:spcAft>
              <a:defRPr sz="2300" b="1">
                <a:solidFill>
                  <a:srgbClr val="262626"/>
                </a:solidFill>
                <a:latin typeface="Alibaba PuHuiTi 3.0 115 Black"/>
              </a:defRPr>
            </a:pPr>
            <a:r>
              <a:t>7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729215" y="3703320"/>
            <a:ext cx="320040" cy="3017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>
              <a:spcAft>
                <a:spcPts val="0"/>
              </a:spcAft>
              <a:defRPr sz="1500" b="0">
                <a:solidFill>
                  <a:srgbClr val="262626"/>
                </a:solidFill>
                <a:latin typeface="Alibaba PuHuiTi 3.0 55 Regular"/>
              </a:defRPr>
            </a:pPr>
            <a:r>
              <a:t>7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991088" y="3703320"/>
            <a:ext cx="411480" cy="3017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>
              <a:spcAft>
                <a:spcPts val="0"/>
              </a:spcAft>
              <a:defRPr sz="1500" b="0">
                <a:solidFill>
                  <a:srgbClr val="262626"/>
                </a:solidFill>
                <a:latin typeface="Alibaba PuHuiTi 3.0 55 Regular"/>
              </a:defRPr>
            </a:pPr>
            <a:r>
              <a:t>8</a:t>
            </a:r>
          </a:p>
        </p:txBody>
      </p:sp>
      <p:cxnSp>
        <p:nvCxnSpPr>
          <p:cNvPr id="31" name="Connector 30"/>
          <p:cNvCxnSpPr/>
          <p:nvPr/>
        </p:nvCxnSpPr>
        <p:spPr>
          <a:xfrm>
            <a:off x="5620725" y="2468880"/>
            <a:ext cx="0" cy="420624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Oval 31"/>
          <p:cNvSpPr/>
          <p:nvPr/>
        </p:nvSpPr>
        <p:spPr>
          <a:xfrm>
            <a:off x="5552145" y="2382012"/>
            <a:ext cx="137160" cy="137160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5200101" y="1938528"/>
            <a:ext cx="932688" cy="43891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0"/>
              </a:spcAft>
              <a:defRPr sz="2300" b="1">
                <a:solidFill>
                  <a:srgbClr val="FF0000"/>
                </a:solidFill>
                <a:latin typeface="Alibaba PuHuiTi 3.0 115 Black"/>
              </a:defRPr>
            </a:pPr>
            <a:r>
              <a:t>3.71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86968" y="4343400"/>
            <a:ext cx="10241280" cy="67665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>
              <a:spcAft>
                <a:spcPts val="0"/>
              </a:spcAft>
              <a:defRPr sz="2600" b="1">
                <a:solidFill>
                  <a:srgbClr val="8C64E1"/>
                </a:solidFill>
                <a:latin typeface="Alibaba PuHuiTi 3.0 115 Black"/>
              </a:defRPr>
            </a:pPr>
            <a:r>
              <a:t>红点落在哪一段？请先独立判断等级编号。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86384" y="5852160"/>
            <a:ext cx="10698480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>
              <a:spcAft>
                <a:spcPts val="0"/>
              </a:spcAft>
              <a:defRPr sz="1700" b="0">
                <a:solidFill>
                  <a:srgbClr val="8C64E1"/>
                </a:solidFill>
                <a:latin typeface="Alibaba PuHuiTi 3.0 55 Regular"/>
              </a:defRPr>
            </a:pPr>
            <a:r>
              <a:t>先只预测，不公布答案；翻页再验证区间规则。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36576"/>
            <a:ext cx="12191695" cy="73152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57416"/>
            <a:ext cx="12191695" cy="73152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12648" y="576072"/>
            <a:ext cx="10972800" cy="7863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3400" b="1">
                <a:solidFill>
                  <a:srgbClr val="262626"/>
                </a:solidFill>
                <a:latin typeface="Alibaba PuHuiTi 3.0 115 Black"/>
              </a:defRPr>
            </a:pPr>
            <a:r>
              <a:t>量化：把每个样本归入一个代表值。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1901952" y="5257800"/>
            <a:ext cx="7059168" cy="0"/>
          </a:xfrm>
          <a:prstGeom prst="line">
            <a:avLst/>
          </a:prstGeom>
          <a:ln w="19050">
            <a:solidFill>
              <a:srgbClr val="E2E2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1078992" y="5093208"/>
            <a:ext cx="64008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1900" b="1">
                <a:solidFill>
                  <a:srgbClr val="8C64E1"/>
                </a:solidFill>
                <a:latin typeface="Alibaba PuHuiTi 3.0 115 Black"/>
              </a:defRPr>
            </a:pPr>
            <a:r>
              <a:t>0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1901952" y="4800600"/>
            <a:ext cx="7059168" cy="0"/>
          </a:xfrm>
          <a:prstGeom prst="line">
            <a:avLst/>
          </a:prstGeom>
          <a:ln w="19050">
            <a:solidFill>
              <a:srgbClr val="E2E2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1078992" y="4636008"/>
            <a:ext cx="64008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1900" b="1">
                <a:solidFill>
                  <a:srgbClr val="8C64E1"/>
                </a:solidFill>
                <a:latin typeface="Alibaba PuHuiTi 3.0 115 Black"/>
              </a:defRPr>
            </a:pPr>
            <a:r>
              <a:t>1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1901952" y="4343400"/>
            <a:ext cx="7059168" cy="0"/>
          </a:xfrm>
          <a:prstGeom prst="line">
            <a:avLst/>
          </a:prstGeom>
          <a:ln w="19050">
            <a:solidFill>
              <a:srgbClr val="E2E2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1078992" y="4178808"/>
            <a:ext cx="64008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1900" b="1">
                <a:solidFill>
                  <a:srgbClr val="8C64E1"/>
                </a:solidFill>
                <a:latin typeface="Alibaba PuHuiTi 3.0 115 Black"/>
              </a:defRPr>
            </a:pPr>
            <a:r>
              <a:t>2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1901952" y="3886200"/>
            <a:ext cx="7059168" cy="0"/>
          </a:xfrm>
          <a:prstGeom prst="line">
            <a:avLst/>
          </a:prstGeom>
          <a:ln w="19050">
            <a:solidFill>
              <a:srgbClr val="E2E2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1078992" y="3721608"/>
            <a:ext cx="64008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1900" b="1">
                <a:solidFill>
                  <a:srgbClr val="8C64E1"/>
                </a:solidFill>
                <a:latin typeface="Alibaba PuHuiTi 3.0 115 Black"/>
              </a:defRPr>
            </a:pPr>
            <a:r>
              <a:t>3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1901952" y="3429000"/>
            <a:ext cx="7059168" cy="0"/>
          </a:xfrm>
          <a:prstGeom prst="line">
            <a:avLst/>
          </a:prstGeom>
          <a:ln w="19050">
            <a:solidFill>
              <a:srgbClr val="E2E2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extBox 13"/>
          <p:cNvSpPr txBox="1"/>
          <p:nvPr/>
        </p:nvSpPr>
        <p:spPr>
          <a:xfrm>
            <a:off x="1078992" y="3264408"/>
            <a:ext cx="64008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1900" b="1">
                <a:solidFill>
                  <a:srgbClr val="8C64E1"/>
                </a:solidFill>
                <a:latin typeface="Alibaba PuHuiTi 3.0 115 Black"/>
              </a:defRPr>
            </a:pPr>
            <a:r>
              <a:t>4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1901952" y="2971800"/>
            <a:ext cx="7059168" cy="0"/>
          </a:xfrm>
          <a:prstGeom prst="line">
            <a:avLst/>
          </a:prstGeom>
          <a:ln w="19050">
            <a:solidFill>
              <a:srgbClr val="E2E2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TextBox 15"/>
          <p:cNvSpPr txBox="1"/>
          <p:nvPr/>
        </p:nvSpPr>
        <p:spPr>
          <a:xfrm>
            <a:off x="1078992" y="2807208"/>
            <a:ext cx="64008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1900" b="1">
                <a:solidFill>
                  <a:srgbClr val="8C64E1"/>
                </a:solidFill>
                <a:latin typeface="Alibaba PuHuiTi 3.0 115 Black"/>
              </a:defRPr>
            </a:pPr>
            <a:r>
              <a:t>5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1901952" y="2514600"/>
            <a:ext cx="7059168" cy="0"/>
          </a:xfrm>
          <a:prstGeom prst="line">
            <a:avLst/>
          </a:prstGeom>
          <a:ln w="19050">
            <a:solidFill>
              <a:srgbClr val="E2E2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TextBox 17"/>
          <p:cNvSpPr txBox="1"/>
          <p:nvPr/>
        </p:nvSpPr>
        <p:spPr>
          <a:xfrm>
            <a:off x="1078992" y="2350008"/>
            <a:ext cx="64008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1900" b="1">
                <a:solidFill>
                  <a:srgbClr val="8C64E1"/>
                </a:solidFill>
                <a:latin typeface="Alibaba PuHuiTi 3.0 115 Black"/>
              </a:defRPr>
            </a:pPr>
            <a:r>
              <a:t>6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1901952" y="2057400"/>
            <a:ext cx="7059168" cy="0"/>
          </a:xfrm>
          <a:prstGeom prst="line">
            <a:avLst/>
          </a:prstGeom>
          <a:ln w="19050">
            <a:solidFill>
              <a:srgbClr val="E2E2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TextBox 19"/>
          <p:cNvSpPr txBox="1"/>
          <p:nvPr/>
        </p:nvSpPr>
        <p:spPr>
          <a:xfrm>
            <a:off x="1078992" y="1892807"/>
            <a:ext cx="64008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1900" b="1">
                <a:solidFill>
                  <a:srgbClr val="8C64E1"/>
                </a:solidFill>
                <a:latin typeface="Alibaba PuHuiTi 3.0 115 Black"/>
              </a:defRPr>
            </a:pPr>
            <a:r>
              <a:t>7</a:t>
            </a:r>
          </a:p>
        </p:txBody>
      </p:sp>
      <p:sp>
        <p:nvSpPr>
          <p:cNvPr id="21" name="Oval 20"/>
          <p:cNvSpPr/>
          <p:nvPr/>
        </p:nvSpPr>
        <p:spPr>
          <a:xfrm>
            <a:off x="5577840" y="3474720"/>
            <a:ext cx="173736" cy="173736"/>
          </a:xfrm>
          <a:prstGeom prst="ellipse">
            <a:avLst/>
          </a:prstGeom>
          <a:solidFill>
            <a:srgbClr val="FFFFFF"/>
          </a:solidFill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5577840" y="3799332"/>
            <a:ext cx="173736" cy="173736"/>
          </a:xfrm>
          <a:prstGeom prst="ellipse">
            <a:avLst/>
          </a:prstGeom>
          <a:solidFill>
            <a:srgbClr val="00B0F0"/>
          </a:solidFill>
          <a:ln w="25400">
            <a:solidFill>
              <a:srgbClr val="00B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3" name="Connector 22"/>
          <p:cNvCxnSpPr/>
          <p:nvPr/>
        </p:nvCxnSpPr>
        <p:spPr>
          <a:xfrm>
            <a:off x="5669280" y="3662172"/>
            <a:ext cx="0" cy="123443"/>
          </a:xfrm>
          <a:prstGeom prst="line">
            <a:avLst/>
          </a:prstGeom>
          <a:ln w="34290"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TextBox 23"/>
          <p:cNvSpPr txBox="1"/>
          <p:nvPr/>
        </p:nvSpPr>
        <p:spPr>
          <a:xfrm>
            <a:off x="6080760" y="3150108"/>
            <a:ext cx="2743200" cy="42062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100" b="1">
                <a:solidFill>
                  <a:srgbClr val="262626"/>
                </a:solidFill>
                <a:latin typeface="Alibaba PuHuiTi 3.0 115 Black"/>
              </a:defRPr>
            </a:pPr>
            <a:r>
              <a:t>原值 3.71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080760" y="3922776"/>
            <a:ext cx="2286000" cy="4297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100" b="1">
                <a:solidFill>
                  <a:srgbClr val="8C64E1"/>
                </a:solidFill>
                <a:latin typeface="Alibaba PuHuiTi 3.0 115 Black"/>
              </a:defRPr>
            </a:pPr>
            <a:r>
              <a:t>等级 L3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77240" y="5879592"/>
            <a:ext cx="1078992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000" b="1">
                <a:solidFill>
                  <a:srgbClr val="8C64E1"/>
                </a:solidFill>
                <a:latin typeface="Alibaba PuHuiTi 3.0 115 Black"/>
              </a:defRPr>
            </a:pPr>
            <a:r>
              <a:t>量化：用有限个等级来近似表示样本的振幅。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60120" y="5394960"/>
            <a:ext cx="1014984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defRPr b="1" sz="1800">
                <a:solidFill>
                  <a:srgbClr val="8C64E1"/>
                </a:solidFill>
                <a:latin typeface="Alibaba PuHuiTi 3.0 115 Black"/>
              </a:defRPr>
            </a:pPr>
            <a:r>
              <a:t>规则：[3,4) → L3；区间代表值可取 3.5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36576"/>
            <a:ext cx="12191695" cy="73152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57416"/>
            <a:ext cx="12191695" cy="73152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12648" y="576072"/>
            <a:ext cx="10972800" cy="7863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3400" b="1">
                <a:solidFill>
                  <a:srgbClr val="262626"/>
                </a:solidFill>
                <a:latin typeface="Alibaba PuHuiTi 3.0 115 Black"/>
              </a:defRPr>
            </a:pPr>
            <a:r>
              <a:t>同一个声音的10个样本，怎样依次编码？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1847088"/>
            <a:ext cx="1828800" cy="4389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1900" b="1">
                <a:solidFill>
                  <a:srgbClr val="8C64E1"/>
                </a:solidFill>
                <a:latin typeface="Alibaba PuHuiTi 3.0 115 Black"/>
              </a:defRPr>
            </a:pPr>
            <a:r>
              <a:t>采样顺序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13232" y="2816352"/>
            <a:ext cx="1828800" cy="4389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1900" b="1">
                <a:solidFill>
                  <a:srgbClr val="8C64E1"/>
                </a:solidFill>
                <a:latin typeface="Alibaba PuHuiTi 3.0 115 Black"/>
              </a:defRPr>
            </a:pPr>
            <a:r>
              <a:t>量化等级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13232" y="3776472"/>
            <a:ext cx="1828800" cy="4389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1900" b="1">
                <a:solidFill>
                  <a:srgbClr val="8C64E1"/>
                </a:solidFill>
                <a:latin typeface="Alibaba PuHuiTi 3.0 115 Black"/>
              </a:defRPr>
            </a:pPr>
            <a:r>
              <a:t>3 bit码字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688336" y="1856231"/>
            <a:ext cx="731520" cy="3840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  <a:defRPr sz="1800" b="0">
                <a:solidFill>
                  <a:srgbClr val="808080"/>
                </a:solidFill>
                <a:latin typeface="Alibaba PuHuiTi 3.0 55 Regular"/>
              </a:defRPr>
            </a:pPr>
            <a: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688336" y="2807208"/>
            <a:ext cx="731520" cy="3931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  <a:defRPr sz="2300" b="1">
                <a:solidFill>
                  <a:srgbClr val="8C64E1"/>
                </a:solidFill>
                <a:latin typeface="Alibaba PuHuiTi 3.0 115 Black"/>
              </a:defRPr>
            </a:pPr>
            <a:r>
              <a:t>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688336" y="3776472"/>
            <a:ext cx="731520" cy="3931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  <a:defRPr sz="1900" b="1">
                <a:solidFill>
                  <a:srgbClr val="00B0F0"/>
                </a:solidFill>
                <a:latin typeface="Alibaba PuHuiTi 3.0 115 Black"/>
              </a:defRPr>
            </a:pPr>
            <a:r>
              <a:t>011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3044952" y="2249424"/>
            <a:ext cx="0" cy="466344"/>
          </a:xfrm>
          <a:prstGeom prst="line">
            <a:avLst/>
          </a:prstGeom>
          <a:ln w="12700">
            <a:solidFill>
              <a:srgbClr val="E2E2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3044952" y="3191256"/>
            <a:ext cx="0" cy="493776"/>
          </a:xfrm>
          <a:prstGeom prst="line">
            <a:avLst/>
          </a:prstGeom>
          <a:ln w="12700">
            <a:solidFill>
              <a:srgbClr val="E2E2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3547872" y="1856231"/>
            <a:ext cx="731520" cy="3840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  <a:defRPr sz="1800" b="0">
                <a:solidFill>
                  <a:srgbClr val="808080"/>
                </a:solidFill>
                <a:latin typeface="Alibaba PuHuiTi 3.0 55 Regular"/>
              </a:defRPr>
            </a:pPr>
            <a: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547872" y="2807208"/>
            <a:ext cx="731520" cy="3931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  <a:defRPr sz="2300" b="1">
                <a:solidFill>
                  <a:srgbClr val="8C64E1"/>
                </a:solidFill>
                <a:latin typeface="Alibaba PuHuiTi 3.0 115 Black"/>
              </a:defRPr>
            </a:pPr>
            <a:r>
              <a:t>5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547872" y="3776472"/>
            <a:ext cx="731520" cy="3931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  <a:defRPr sz="1900" b="1">
                <a:solidFill>
                  <a:srgbClr val="00B0F0"/>
                </a:solidFill>
                <a:latin typeface="Alibaba PuHuiTi 3.0 115 Black"/>
              </a:defRPr>
            </a:pPr>
            <a:r>
              <a:t>101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3904487" y="2249424"/>
            <a:ext cx="0" cy="466344"/>
          </a:xfrm>
          <a:prstGeom prst="line">
            <a:avLst/>
          </a:prstGeom>
          <a:ln w="12700">
            <a:solidFill>
              <a:srgbClr val="E2E2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>
            <a:off x="3904487" y="3191256"/>
            <a:ext cx="0" cy="493776"/>
          </a:xfrm>
          <a:prstGeom prst="line">
            <a:avLst/>
          </a:prstGeom>
          <a:ln w="12700">
            <a:solidFill>
              <a:srgbClr val="E2E2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TextBox 17"/>
          <p:cNvSpPr txBox="1"/>
          <p:nvPr/>
        </p:nvSpPr>
        <p:spPr>
          <a:xfrm>
            <a:off x="4407408" y="1856231"/>
            <a:ext cx="731520" cy="3840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  <a:defRPr sz="1800" b="0">
                <a:solidFill>
                  <a:srgbClr val="808080"/>
                </a:solidFill>
                <a:latin typeface="Alibaba PuHuiTi 3.0 55 Regular"/>
              </a:defRPr>
            </a:pPr>
            <a: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407408" y="2807208"/>
            <a:ext cx="731520" cy="3931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  <a:defRPr sz="2300" b="1">
                <a:solidFill>
                  <a:srgbClr val="8C64E1"/>
                </a:solidFill>
                <a:latin typeface="Alibaba PuHuiTi 3.0 115 Black"/>
              </a:defRPr>
            </a:pPr>
            <a:r>
              <a:t>7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407408" y="3776472"/>
            <a:ext cx="731520" cy="3931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  <a:defRPr sz="1900" b="1">
                <a:solidFill>
                  <a:srgbClr val="00B0F0"/>
                </a:solidFill>
                <a:latin typeface="Alibaba PuHuiTi 3.0 115 Black"/>
              </a:defRPr>
            </a:pPr>
            <a:r>
              <a:t>111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4764024" y="2249424"/>
            <a:ext cx="0" cy="466344"/>
          </a:xfrm>
          <a:prstGeom prst="line">
            <a:avLst/>
          </a:prstGeom>
          <a:ln w="12700">
            <a:solidFill>
              <a:srgbClr val="E2E2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>
            <a:off x="4764024" y="3191256"/>
            <a:ext cx="0" cy="493776"/>
          </a:xfrm>
          <a:prstGeom prst="line">
            <a:avLst/>
          </a:prstGeom>
          <a:ln w="12700">
            <a:solidFill>
              <a:srgbClr val="E2E2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TextBox 22"/>
          <p:cNvSpPr txBox="1"/>
          <p:nvPr/>
        </p:nvSpPr>
        <p:spPr>
          <a:xfrm>
            <a:off x="5266944" y="1856231"/>
            <a:ext cx="731520" cy="3840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  <a:defRPr sz="1800" b="0">
                <a:solidFill>
                  <a:srgbClr val="808080"/>
                </a:solidFill>
                <a:latin typeface="Alibaba PuHuiTi 3.0 55 Regular"/>
              </a:defRPr>
            </a:pPr>
            <a:r>
              <a:t>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266944" y="2807208"/>
            <a:ext cx="731520" cy="3931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  <a:defRPr sz="2300" b="1">
                <a:solidFill>
                  <a:srgbClr val="8C64E1"/>
                </a:solidFill>
                <a:latin typeface="Alibaba PuHuiTi 3.0 115 Black"/>
              </a:defRPr>
            </a:pPr>
            <a:r>
              <a:t>6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266944" y="3776472"/>
            <a:ext cx="731520" cy="3931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  <a:defRPr sz="1900" b="1">
                <a:solidFill>
                  <a:srgbClr val="00B0F0"/>
                </a:solidFill>
                <a:latin typeface="Alibaba PuHuiTi 3.0 115 Black"/>
              </a:defRPr>
            </a:pPr>
            <a:r>
              <a:t>110</a:t>
            </a:r>
          </a:p>
        </p:txBody>
      </p:sp>
      <p:cxnSp>
        <p:nvCxnSpPr>
          <p:cNvPr id="26" name="Connector 25"/>
          <p:cNvCxnSpPr/>
          <p:nvPr/>
        </p:nvCxnSpPr>
        <p:spPr>
          <a:xfrm>
            <a:off x="5623559" y="2249424"/>
            <a:ext cx="0" cy="466344"/>
          </a:xfrm>
          <a:prstGeom prst="line">
            <a:avLst/>
          </a:prstGeom>
          <a:ln w="12700">
            <a:solidFill>
              <a:srgbClr val="E2E2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6"/>
          <p:cNvCxnSpPr/>
          <p:nvPr/>
        </p:nvCxnSpPr>
        <p:spPr>
          <a:xfrm>
            <a:off x="5623559" y="3191256"/>
            <a:ext cx="0" cy="493776"/>
          </a:xfrm>
          <a:prstGeom prst="line">
            <a:avLst/>
          </a:prstGeom>
          <a:ln w="12700">
            <a:solidFill>
              <a:srgbClr val="E2E2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TextBox 27"/>
          <p:cNvSpPr txBox="1"/>
          <p:nvPr/>
        </p:nvSpPr>
        <p:spPr>
          <a:xfrm>
            <a:off x="6126479" y="1856231"/>
            <a:ext cx="731520" cy="3840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  <a:defRPr sz="1800" b="0">
                <a:solidFill>
                  <a:srgbClr val="808080"/>
                </a:solidFill>
                <a:latin typeface="Alibaba PuHuiTi 3.0 55 Regular"/>
              </a:defRPr>
            </a:pPr>
            <a:r>
              <a:t>5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126479" y="2807208"/>
            <a:ext cx="731520" cy="3931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  <a:defRPr sz="2300" b="1">
                <a:solidFill>
                  <a:srgbClr val="8C64E1"/>
                </a:solidFill>
                <a:latin typeface="Alibaba PuHuiTi 3.0 115 Black"/>
              </a:defRPr>
            </a:pPr>
            <a:r>
              <a:t>4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126479" y="3776472"/>
            <a:ext cx="731520" cy="3931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  <a:defRPr sz="1900" b="1">
                <a:solidFill>
                  <a:srgbClr val="00B0F0"/>
                </a:solidFill>
                <a:latin typeface="Alibaba PuHuiTi 3.0 115 Black"/>
              </a:defRPr>
            </a:pPr>
            <a:r>
              <a:t>100</a:t>
            </a:r>
          </a:p>
        </p:txBody>
      </p:sp>
      <p:cxnSp>
        <p:nvCxnSpPr>
          <p:cNvPr id="31" name="Connector 30"/>
          <p:cNvCxnSpPr/>
          <p:nvPr/>
        </p:nvCxnSpPr>
        <p:spPr>
          <a:xfrm>
            <a:off x="6483095" y="2249424"/>
            <a:ext cx="0" cy="466344"/>
          </a:xfrm>
          <a:prstGeom prst="line">
            <a:avLst/>
          </a:prstGeom>
          <a:ln w="12700">
            <a:solidFill>
              <a:srgbClr val="E2E2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Connector 31"/>
          <p:cNvCxnSpPr/>
          <p:nvPr/>
        </p:nvCxnSpPr>
        <p:spPr>
          <a:xfrm>
            <a:off x="6483095" y="3191256"/>
            <a:ext cx="0" cy="493776"/>
          </a:xfrm>
          <a:prstGeom prst="line">
            <a:avLst/>
          </a:prstGeom>
          <a:ln w="12700">
            <a:solidFill>
              <a:srgbClr val="E2E2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3" name="TextBox 32"/>
          <p:cNvSpPr txBox="1"/>
          <p:nvPr/>
        </p:nvSpPr>
        <p:spPr>
          <a:xfrm>
            <a:off x="6986015" y="1856231"/>
            <a:ext cx="731520" cy="3840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  <a:defRPr sz="1800" b="0">
                <a:solidFill>
                  <a:srgbClr val="808080"/>
                </a:solidFill>
                <a:latin typeface="Alibaba PuHuiTi 3.0 55 Regular"/>
              </a:defRPr>
            </a:pPr>
            <a:r>
              <a:t>6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986015" y="2807208"/>
            <a:ext cx="731520" cy="3931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  <a:defRPr sz="2300" b="1">
                <a:solidFill>
                  <a:srgbClr val="8C64E1"/>
                </a:solidFill>
                <a:latin typeface="Alibaba PuHuiTi 3.0 115 Black"/>
              </a:defRPr>
            </a:pPr>
            <a:r>
              <a:t>2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986015" y="3776472"/>
            <a:ext cx="731520" cy="3931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  <a:defRPr sz="1900" b="1">
                <a:solidFill>
                  <a:srgbClr val="00B0F0"/>
                </a:solidFill>
                <a:latin typeface="Alibaba PuHuiTi 3.0 115 Black"/>
              </a:defRPr>
            </a:pPr>
            <a:r>
              <a:t>010</a:t>
            </a:r>
          </a:p>
        </p:txBody>
      </p:sp>
      <p:cxnSp>
        <p:nvCxnSpPr>
          <p:cNvPr id="36" name="Connector 35"/>
          <p:cNvCxnSpPr/>
          <p:nvPr/>
        </p:nvCxnSpPr>
        <p:spPr>
          <a:xfrm>
            <a:off x="7342631" y="2249424"/>
            <a:ext cx="0" cy="466344"/>
          </a:xfrm>
          <a:prstGeom prst="line">
            <a:avLst/>
          </a:prstGeom>
          <a:ln w="12700">
            <a:solidFill>
              <a:srgbClr val="E2E2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" name="Connector 36"/>
          <p:cNvCxnSpPr/>
          <p:nvPr/>
        </p:nvCxnSpPr>
        <p:spPr>
          <a:xfrm>
            <a:off x="7342631" y="3191256"/>
            <a:ext cx="0" cy="493776"/>
          </a:xfrm>
          <a:prstGeom prst="line">
            <a:avLst/>
          </a:prstGeom>
          <a:ln w="12700">
            <a:solidFill>
              <a:srgbClr val="E2E2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8" name="TextBox 37"/>
          <p:cNvSpPr txBox="1"/>
          <p:nvPr/>
        </p:nvSpPr>
        <p:spPr>
          <a:xfrm>
            <a:off x="7845552" y="1856231"/>
            <a:ext cx="731520" cy="3840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  <a:defRPr sz="1800" b="0">
                <a:solidFill>
                  <a:srgbClr val="808080"/>
                </a:solidFill>
                <a:latin typeface="Alibaba PuHuiTi 3.0 55 Regular"/>
              </a:defRPr>
            </a:pPr>
            <a:r>
              <a:t>7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7845552" y="2807208"/>
            <a:ext cx="731520" cy="3931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  <a:defRPr sz="2300" b="1">
                <a:solidFill>
                  <a:srgbClr val="8C64E1"/>
                </a:solidFill>
                <a:latin typeface="Alibaba PuHuiTi 3.0 115 Black"/>
              </a:defRPr>
            </a:pPr>
            <a:r>
              <a:t>0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7845552" y="3776472"/>
            <a:ext cx="731520" cy="3931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  <a:defRPr sz="1900" b="1">
                <a:solidFill>
                  <a:srgbClr val="00B0F0"/>
                </a:solidFill>
                <a:latin typeface="Alibaba PuHuiTi 3.0 115 Black"/>
              </a:defRPr>
            </a:pPr>
            <a:r>
              <a:t>000</a:t>
            </a:r>
          </a:p>
        </p:txBody>
      </p:sp>
      <p:cxnSp>
        <p:nvCxnSpPr>
          <p:cNvPr id="41" name="Connector 40"/>
          <p:cNvCxnSpPr/>
          <p:nvPr/>
        </p:nvCxnSpPr>
        <p:spPr>
          <a:xfrm>
            <a:off x="8202168" y="2249424"/>
            <a:ext cx="0" cy="466344"/>
          </a:xfrm>
          <a:prstGeom prst="line">
            <a:avLst/>
          </a:prstGeom>
          <a:ln w="12700">
            <a:solidFill>
              <a:srgbClr val="E2E2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" name="Connector 41"/>
          <p:cNvCxnSpPr/>
          <p:nvPr/>
        </p:nvCxnSpPr>
        <p:spPr>
          <a:xfrm>
            <a:off x="8202168" y="3191256"/>
            <a:ext cx="0" cy="493776"/>
          </a:xfrm>
          <a:prstGeom prst="line">
            <a:avLst/>
          </a:prstGeom>
          <a:ln w="12700">
            <a:solidFill>
              <a:srgbClr val="E2E2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3" name="TextBox 42"/>
          <p:cNvSpPr txBox="1"/>
          <p:nvPr/>
        </p:nvSpPr>
        <p:spPr>
          <a:xfrm>
            <a:off x="8705088" y="1856231"/>
            <a:ext cx="731520" cy="3840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  <a:defRPr sz="1800" b="0">
                <a:solidFill>
                  <a:srgbClr val="808080"/>
                </a:solidFill>
                <a:latin typeface="Alibaba PuHuiTi 3.0 55 Regular"/>
              </a:defRPr>
            </a:pPr>
            <a:r>
              <a:t>8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8705088" y="2807208"/>
            <a:ext cx="731520" cy="3931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  <a:defRPr sz="2300" b="1">
                <a:solidFill>
                  <a:srgbClr val="8C64E1"/>
                </a:solidFill>
                <a:latin typeface="Alibaba PuHuiTi 3.0 115 Black"/>
              </a:defRPr>
            </a:pPr>
            <a:r>
              <a:t>1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8705088" y="3776472"/>
            <a:ext cx="731520" cy="3931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  <a:defRPr sz="1900" b="1">
                <a:solidFill>
                  <a:srgbClr val="00B0F0"/>
                </a:solidFill>
                <a:latin typeface="Alibaba PuHuiTi 3.0 115 Black"/>
              </a:defRPr>
            </a:pPr>
            <a:r>
              <a:t>001</a:t>
            </a:r>
          </a:p>
        </p:txBody>
      </p:sp>
      <p:cxnSp>
        <p:nvCxnSpPr>
          <p:cNvPr id="46" name="Connector 45"/>
          <p:cNvCxnSpPr/>
          <p:nvPr/>
        </p:nvCxnSpPr>
        <p:spPr>
          <a:xfrm>
            <a:off x="9061704" y="2249424"/>
            <a:ext cx="0" cy="466344"/>
          </a:xfrm>
          <a:prstGeom prst="line">
            <a:avLst/>
          </a:prstGeom>
          <a:ln w="12700">
            <a:solidFill>
              <a:srgbClr val="E2E2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7" name="Connector 46"/>
          <p:cNvCxnSpPr/>
          <p:nvPr/>
        </p:nvCxnSpPr>
        <p:spPr>
          <a:xfrm>
            <a:off x="9061704" y="3191256"/>
            <a:ext cx="0" cy="493776"/>
          </a:xfrm>
          <a:prstGeom prst="line">
            <a:avLst/>
          </a:prstGeom>
          <a:ln w="12700">
            <a:solidFill>
              <a:srgbClr val="E2E2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8" name="TextBox 47"/>
          <p:cNvSpPr txBox="1"/>
          <p:nvPr/>
        </p:nvSpPr>
        <p:spPr>
          <a:xfrm>
            <a:off x="9564624" y="1856231"/>
            <a:ext cx="731520" cy="3840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  <a:defRPr sz="1800" b="0">
                <a:solidFill>
                  <a:srgbClr val="808080"/>
                </a:solidFill>
                <a:latin typeface="Alibaba PuHuiTi 3.0 55 Regular"/>
              </a:defRPr>
            </a:pPr>
            <a:r>
              <a:t>9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9564624" y="2807208"/>
            <a:ext cx="731520" cy="3931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  <a:defRPr sz="2300" b="1">
                <a:solidFill>
                  <a:srgbClr val="8C64E1"/>
                </a:solidFill>
                <a:latin typeface="Alibaba PuHuiTi 3.0 115 Black"/>
              </a:defRPr>
            </a:pPr>
            <a:r>
              <a:t>3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9564624" y="3776472"/>
            <a:ext cx="731520" cy="3931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  <a:defRPr sz="1900" b="1">
                <a:solidFill>
                  <a:srgbClr val="00B0F0"/>
                </a:solidFill>
                <a:latin typeface="Alibaba PuHuiTi 3.0 115 Black"/>
              </a:defRPr>
            </a:pPr>
            <a:r>
              <a:t>011</a:t>
            </a:r>
          </a:p>
        </p:txBody>
      </p:sp>
      <p:cxnSp>
        <p:nvCxnSpPr>
          <p:cNvPr id="51" name="Connector 50"/>
          <p:cNvCxnSpPr/>
          <p:nvPr/>
        </p:nvCxnSpPr>
        <p:spPr>
          <a:xfrm>
            <a:off x="9921240" y="2249424"/>
            <a:ext cx="0" cy="466344"/>
          </a:xfrm>
          <a:prstGeom prst="line">
            <a:avLst/>
          </a:prstGeom>
          <a:ln w="12700">
            <a:solidFill>
              <a:srgbClr val="E2E2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2" name="Connector 51"/>
          <p:cNvCxnSpPr/>
          <p:nvPr/>
        </p:nvCxnSpPr>
        <p:spPr>
          <a:xfrm>
            <a:off x="9921240" y="3191256"/>
            <a:ext cx="0" cy="493776"/>
          </a:xfrm>
          <a:prstGeom prst="line">
            <a:avLst/>
          </a:prstGeom>
          <a:ln w="12700">
            <a:solidFill>
              <a:srgbClr val="E2E2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3" name="TextBox 52"/>
          <p:cNvSpPr txBox="1"/>
          <p:nvPr/>
        </p:nvSpPr>
        <p:spPr>
          <a:xfrm>
            <a:off x="10424159" y="1856231"/>
            <a:ext cx="731520" cy="3840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  <a:defRPr sz="1800" b="0">
                <a:solidFill>
                  <a:srgbClr val="808080"/>
                </a:solidFill>
                <a:latin typeface="Alibaba PuHuiTi 3.0 55 Regular"/>
              </a:defRPr>
            </a:pPr>
            <a:r>
              <a:t>10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10424159" y="2807208"/>
            <a:ext cx="731520" cy="3931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  <a:defRPr sz="2300" b="1">
                <a:solidFill>
                  <a:srgbClr val="8C64E1"/>
                </a:solidFill>
                <a:latin typeface="Alibaba PuHuiTi 3.0 115 Black"/>
              </a:defRPr>
            </a:pPr>
            <a:r>
              <a:t>4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10424159" y="3776472"/>
            <a:ext cx="731520" cy="3931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  <a:defRPr sz="1900" b="1">
                <a:solidFill>
                  <a:srgbClr val="00B0F0"/>
                </a:solidFill>
                <a:latin typeface="Alibaba PuHuiTi 3.0 115 Black"/>
              </a:defRPr>
            </a:pPr>
            <a:r>
              <a:t>100</a:t>
            </a:r>
          </a:p>
        </p:txBody>
      </p:sp>
      <p:cxnSp>
        <p:nvCxnSpPr>
          <p:cNvPr id="56" name="Connector 55"/>
          <p:cNvCxnSpPr/>
          <p:nvPr/>
        </p:nvCxnSpPr>
        <p:spPr>
          <a:xfrm>
            <a:off x="10780776" y="2249424"/>
            <a:ext cx="0" cy="466344"/>
          </a:xfrm>
          <a:prstGeom prst="line">
            <a:avLst/>
          </a:prstGeom>
          <a:ln w="12700">
            <a:solidFill>
              <a:srgbClr val="E2E2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7" name="Connector 56"/>
          <p:cNvCxnSpPr/>
          <p:nvPr/>
        </p:nvCxnSpPr>
        <p:spPr>
          <a:xfrm>
            <a:off x="10780776" y="3191256"/>
            <a:ext cx="0" cy="493776"/>
          </a:xfrm>
          <a:prstGeom prst="line">
            <a:avLst/>
          </a:prstGeom>
          <a:ln w="12700">
            <a:solidFill>
              <a:srgbClr val="E2E2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8" name="TextBox 57"/>
          <p:cNvSpPr txBox="1"/>
          <p:nvPr/>
        </p:nvSpPr>
        <p:spPr>
          <a:xfrm>
            <a:off x="777240" y="5879592"/>
            <a:ext cx="1078992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000" b="1">
                <a:solidFill>
                  <a:srgbClr val="8C64E1"/>
                </a:solidFill>
                <a:latin typeface="Alibaba PuHuiTi 3.0 115 Black"/>
              </a:defRPr>
            </a:pPr>
            <a:r>
              <a:t>采样决定“什么时候记录”，量化决定“记录哪个等级”，编码决定“用哪些bit表示”。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36576"/>
            <a:ext cx="12191695" cy="73152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57416"/>
            <a:ext cx="12191695" cy="73152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08076" y="585216"/>
            <a:ext cx="10972800" cy="7772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defRPr b="1" sz="3500">
                <a:solidFill>
                  <a:srgbClr val="262626"/>
                </a:solidFill>
                <a:latin typeface="Alibaba PuHuiTi 3.0 115 Black"/>
              </a:defRPr>
            </a:pPr>
            <a:r>
              <a:t>3.71 为什么写成 011，而不是 100？</a:t>
            </a:r>
          </a:p>
        </p:txBody>
      </p:sp>
      <p:sp>
        <p:nvSpPr>
          <p:cNvPr id="5" name="Rectangle 4"/>
          <p:cNvSpPr/>
          <p:nvPr/>
        </p:nvSpPr>
        <p:spPr>
          <a:xfrm>
            <a:off x="749808" y="2249424"/>
            <a:ext cx="2432304" cy="1636776"/>
          </a:xfrm>
          <a:prstGeom prst="rect">
            <a:avLst/>
          </a:prstGeom>
          <a:solidFill>
            <a:srgbClr val="FFFFFF"/>
          </a:solidFill>
          <a:ln w="19050">
            <a:solidFill>
              <a:srgbClr val="8C64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41247" y="2441448"/>
            <a:ext cx="2267712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defRPr b="0" sz="2100">
                <a:solidFill>
                  <a:srgbClr val="8C64E1"/>
                </a:solidFill>
                <a:latin typeface="Alibaba PuHuiTi 3.0 55 Regular"/>
              </a:defRPr>
            </a:pPr>
            <a:r>
              <a:t>采样原值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41247" y="2980944"/>
            <a:ext cx="2267712" cy="5943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defRPr b="1" sz="3100">
                <a:solidFill>
                  <a:srgbClr val="262626"/>
                </a:solidFill>
                <a:latin typeface="Alibaba PuHuiTi 3.0 115 Black"/>
              </a:defRPr>
            </a:pPr>
            <a:r>
              <a:t>3.71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3236976" y="3063240"/>
            <a:ext cx="329184" cy="0"/>
          </a:xfrm>
          <a:prstGeom prst="line">
            <a:avLst/>
          </a:prstGeom>
          <a:ln w="2540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ectangle 8"/>
          <p:cNvSpPr/>
          <p:nvPr/>
        </p:nvSpPr>
        <p:spPr>
          <a:xfrm>
            <a:off x="3630168" y="2249424"/>
            <a:ext cx="2432304" cy="1636776"/>
          </a:xfrm>
          <a:prstGeom prst="rect">
            <a:avLst/>
          </a:prstGeom>
          <a:solidFill>
            <a:srgbClr val="FFFFFF"/>
          </a:solidFill>
          <a:ln w="19050">
            <a:solidFill>
              <a:srgbClr val="8C64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721607" y="2441448"/>
            <a:ext cx="2267712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defRPr b="0" sz="2100">
                <a:solidFill>
                  <a:srgbClr val="8C64E1"/>
                </a:solidFill>
                <a:latin typeface="Alibaba PuHuiTi 3.0 55 Regular"/>
              </a:defRPr>
            </a:pPr>
            <a:r>
              <a:t>输入范围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721607" y="2980944"/>
            <a:ext cx="2267712" cy="5943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defRPr b="1" sz="3100">
                <a:solidFill>
                  <a:srgbClr val="262626"/>
                </a:solidFill>
                <a:latin typeface="Alibaba PuHuiTi 3.0 115 Black"/>
              </a:defRPr>
            </a:pPr>
            <a:r>
              <a:t>[3,4)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6117336" y="3063240"/>
            <a:ext cx="329184" cy="0"/>
          </a:xfrm>
          <a:prstGeom prst="line">
            <a:avLst/>
          </a:prstGeom>
          <a:ln w="2540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ectangle 12"/>
          <p:cNvSpPr/>
          <p:nvPr/>
        </p:nvSpPr>
        <p:spPr>
          <a:xfrm>
            <a:off x="6510528" y="2249424"/>
            <a:ext cx="2432304" cy="1636776"/>
          </a:xfrm>
          <a:prstGeom prst="rect">
            <a:avLst/>
          </a:prstGeom>
          <a:solidFill>
            <a:srgbClr val="FFFFFF"/>
          </a:solidFill>
          <a:ln w="19050">
            <a:solidFill>
              <a:srgbClr val="8C64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601968" y="2441448"/>
            <a:ext cx="2267712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defRPr b="0" sz="2100">
                <a:solidFill>
                  <a:srgbClr val="8C64E1"/>
                </a:solidFill>
                <a:latin typeface="Alibaba PuHuiTi 3.0 55 Regular"/>
              </a:defRPr>
            </a:pPr>
            <a:r>
              <a:t>量化等级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601968" y="2980944"/>
            <a:ext cx="2267712" cy="5943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defRPr b="1" sz="3100">
                <a:solidFill>
                  <a:srgbClr val="262626"/>
                </a:solidFill>
                <a:latin typeface="Alibaba PuHuiTi 3.0 115 Black"/>
              </a:defRPr>
            </a:pPr>
            <a:r>
              <a:t>L3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8997696" y="3063240"/>
            <a:ext cx="329184" cy="0"/>
          </a:xfrm>
          <a:prstGeom prst="line">
            <a:avLst/>
          </a:prstGeom>
          <a:ln w="2540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Rectangle 16"/>
          <p:cNvSpPr/>
          <p:nvPr/>
        </p:nvSpPr>
        <p:spPr>
          <a:xfrm>
            <a:off x="9390888" y="2249424"/>
            <a:ext cx="2432304" cy="1636776"/>
          </a:xfrm>
          <a:prstGeom prst="rect">
            <a:avLst/>
          </a:prstGeom>
          <a:solidFill>
            <a:srgbClr val="F3EFFF"/>
          </a:solidFill>
          <a:ln w="19050">
            <a:solidFill>
              <a:srgbClr val="8C64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482328" y="2441448"/>
            <a:ext cx="2267712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defRPr b="0" sz="2100">
                <a:solidFill>
                  <a:srgbClr val="8C64E1"/>
                </a:solidFill>
                <a:latin typeface="Alibaba PuHuiTi 3.0 55 Regular"/>
              </a:defRPr>
            </a:pPr>
            <a:r>
              <a:t>3 bit码字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482328" y="2980944"/>
            <a:ext cx="2267712" cy="5943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defRPr b="1" sz="3100">
                <a:solidFill>
                  <a:srgbClr val="8C64E1"/>
                </a:solidFill>
                <a:latin typeface="Alibaba PuHuiTi 3.0 115 Black"/>
              </a:defRPr>
            </a:pPr>
            <a:r>
              <a:t>011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86384" y="4663440"/>
            <a:ext cx="10652760" cy="7315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defRPr b="1" sz="2400">
                <a:solidFill>
                  <a:srgbClr val="262626"/>
                </a:solidFill>
                <a:latin typeface="Alibaba PuHuiTi 3.0 115 Black"/>
              </a:defRPr>
            </a:pPr>
            <a:r>
              <a:t>规则：按输入范围确定等级，再用固定长度的0和1记录等级编号。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95528" y="5824728"/>
            <a:ext cx="10332720" cy="4389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defRPr b="0" sz="2100">
                <a:solidFill>
                  <a:srgbClr val="8C64E1"/>
                </a:solidFill>
                <a:latin typeface="Alibaba PuHuiTi 3.0 55 Regular"/>
              </a:defRPr>
            </a:pPr>
            <a:r>
              <a:t>验证：输入值4.15对应的码字是什么？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36576"/>
            <a:ext cx="12191695" cy="73152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57416"/>
            <a:ext cx="12191695" cy="73152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12648" y="576072"/>
            <a:ext cx="10972800" cy="7863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3400" b="1">
                <a:solidFill>
                  <a:srgbClr val="262626"/>
                </a:solidFill>
                <a:latin typeface="Alibaba PuHuiTi 3.0 115 Black"/>
              </a:defRPr>
            </a:pPr>
            <a:r>
              <a:t>一个样本需要几个二进制位？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32104" y="1682496"/>
            <a:ext cx="6583680" cy="7040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3100" b="1">
                <a:solidFill>
                  <a:srgbClr val="8C64E1"/>
                </a:solidFill>
                <a:latin typeface="Alibaba PuHuiTi 3.0 115 Black"/>
              </a:defRPr>
            </a:pPr>
            <a:r>
              <a:t>8个等级 = 2³</a:t>
            </a:r>
          </a:p>
        </p:txBody>
      </p:sp>
      <p:sp>
        <p:nvSpPr>
          <p:cNvPr id="6" name="Rectangle 5"/>
          <p:cNvSpPr/>
          <p:nvPr/>
        </p:nvSpPr>
        <p:spPr>
          <a:xfrm>
            <a:off x="914400" y="2724912"/>
            <a:ext cx="2267712" cy="667512"/>
          </a:xfrm>
          <a:prstGeom prst="rect">
            <a:avLst/>
          </a:prstGeom>
          <a:noFill/>
          <a:ln w="25400">
            <a:solidFill>
              <a:srgbClr val="8C64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87552" y="2843784"/>
            <a:ext cx="2121408" cy="40233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  <a:defRPr sz="2300" b="1">
                <a:solidFill>
                  <a:srgbClr val="8C64E1"/>
                </a:solidFill>
                <a:latin typeface="Alibaba PuHuiTi 3.0 115 Black"/>
              </a:defRPr>
            </a:pPr>
            <a:r>
              <a:t>0 → 000</a:t>
            </a:r>
          </a:p>
        </p:txBody>
      </p:sp>
      <p:sp>
        <p:nvSpPr>
          <p:cNvPr id="8" name="Rectangle 7"/>
          <p:cNvSpPr/>
          <p:nvPr/>
        </p:nvSpPr>
        <p:spPr>
          <a:xfrm>
            <a:off x="3703320" y="2724912"/>
            <a:ext cx="2267712" cy="667512"/>
          </a:xfrm>
          <a:prstGeom prst="rect">
            <a:avLst/>
          </a:prstGeom>
          <a:noFill/>
          <a:ln w="25400">
            <a:solidFill>
              <a:srgbClr val="8C64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776472" y="2843784"/>
            <a:ext cx="2121408" cy="40233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  <a:defRPr sz="2300" b="1">
                <a:solidFill>
                  <a:srgbClr val="8C64E1"/>
                </a:solidFill>
                <a:latin typeface="Alibaba PuHuiTi 3.0 115 Black"/>
              </a:defRPr>
            </a:pPr>
            <a:r>
              <a:t>1 → 001</a:t>
            </a:r>
          </a:p>
        </p:txBody>
      </p:sp>
      <p:sp>
        <p:nvSpPr>
          <p:cNvPr id="10" name="Rectangle 9"/>
          <p:cNvSpPr/>
          <p:nvPr/>
        </p:nvSpPr>
        <p:spPr>
          <a:xfrm>
            <a:off x="6492240" y="2724912"/>
            <a:ext cx="2267712" cy="667512"/>
          </a:xfrm>
          <a:prstGeom prst="rect">
            <a:avLst/>
          </a:prstGeom>
          <a:noFill/>
          <a:ln w="25400">
            <a:solidFill>
              <a:srgbClr val="8C64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565392" y="2843784"/>
            <a:ext cx="2121408" cy="40233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  <a:defRPr sz="2300" b="1">
                <a:solidFill>
                  <a:srgbClr val="8C64E1"/>
                </a:solidFill>
                <a:latin typeface="Alibaba PuHuiTi 3.0 115 Black"/>
              </a:defRPr>
            </a:pPr>
            <a:r>
              <a:t>2 → 010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281159" y="2724912"/>
            <a:ext cx="2267712" cy="667512"/>
          </a:xfrm>
          <a:prstGeom prst="rect">
            <a:avLst/>
          </a:prstGeom>
          <a:noFill/>
          <a:ln w="25400">
            <a:solidFill>
              <a:srgbClr val="8C64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354311" y="2843784"/>
            <a:ext cx="2121408" cy="40233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  <a:defRPr sz="2300" b="1">
                <a:solidFill>
                  <a:srgbClr val="8C64E1"/>
                </a:solidFill>
                <a:latin typeface="Alibaba PuHuiTi 3.0 115 Black"/>
              </a:defRPr>
            </a:pPr>
            <a:r>
              <a:t>3 → 011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14400" y="3913632"/>
            <a:ext cx="2267712" cy="667512"/>
          </a:xfrm>
          <a:prstGeom prst="rect">
            <a:avLst/>
          </a:prstGeom>
          <a:noFill/>
          <a:ln w="25400">
            <a:solidFill>
              <a:srgbClr val="00B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87552" y="4032504"/>
            <a:ext cx="2121408" cy="40233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  <a:defRPr sz="2300" b="1">
                <a:solidFill>
                  <a:srgbClr val="00B0F0"/>
                </a:solidFill>
                <a:latin typeface="Alibaba PuHuiTi 3.0 115 Black"/>
              </a:defRPr>
            </a:pPr>
            <a:r>
              <a:t>4 → 100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703320" y="3913632"/>
            <a:ext cx="2267712" cy="667512"/>
          </a:xfrm>
          <a:prstGeom prst="rect">
            <a:avLst/>
          </a:prstGeom>
          <a:noFill/>
          <a:ln w="25400">
            <a:solidFill>
              <a:srgbClr val="00B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776472" y="4032504"/>
            <a:ext cx="2121408" cy="40233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  <a:defRPr sz="2300" b="1">
                <a:solidFill>
                  <a:srgbClr val="00B0F0"/>
                </a:solidFill>
                <a:latin typeface="Alibaba PuHuiTi 3.0 115 Black"/>
              </a:defRPr>
            </a:pPr>
            <a:r>
              <a:t>5 → 101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492240" y="3913632"/>
            <a:ext cx="2267712" cy="667512"/>
          </a:xfrm>
          <a:prstGeom prst="rect">
            <a:avLst/>
          </a:prstGeom>
          <a:noFill/>
          <a:ln w="25400">
            <a:solidFill>
              <a:srgbClr val="00B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565392" y="4032504"/>
            <a:ext cx="2121408" cy="40233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  <a:defRPr sz="2300" b="1">
                <a:solidFill>
                  <a:srgbClr val="00B0F0"/>
                </a:solidFill>
                <a:latin typeface="Alibaba PuHuiTi 3.0 115 Black"/>
              </a:defRPr>
            </a:pPr>
            <a:r>
              <a:t>6 → 110</a:t>
            </a:r>
          </a:p>
        </p:txBody>
      </p:sp>
      <p:sp>
        <p:nvSpPr>
          <p:cNvPr id="20" name="Rectangle 19"/>
          <p:cNvSpPr/>
          <p:nvPr/>
        </p:nvSpPr>
        <p:spPr>
          <a:xfrm>
            <a:off x="9281159" y="3913632"/>
            <a:ext cx="2267712" cy="667512"/>
          </a:xfrm>
          <a:prstGeom prst="rect">
            <a:avLst/>
          </a:prstGeom>
          <a:noFill/>
          <a:ln w="25400">
            <a:solidFill>
              <a:srgbClr val="00B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354311" y="4032504"/>
            <a:ext cx="2121408" cy="40233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  <a:defRPr sz="2300" b="1">
                <a:solidFill>
                  <a:srgbClr val="00B0F0"/>
                </a:solidFill>
                <a:latin typeface="Alibaba PuHuiTi 3.0 115 Black"/>
              </a:defRPr>
            </a:pPr>
            <a:r>
              <a:t>7 → 111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77240" y="5879592"/>
            <a:ext cx="1078992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000" b="1">
                <a:solidFill>
                  <a:srgbClr val="8C64E1"/>
                </a:solidFill>
                <a:latin typeface="Alibaba PuHuiTi 3.0 115 Black"/>
              </a:defRPr>
            </a:pPr>
            <a:r>
              <a:t>3 bit可以写出8种不同的编码：000～111。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36576"/>
            <a:ext cx="12191695" cy="73152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57416"/>
            <a:ext cx="12191695" cy="73152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12648" y="576072"/>
            <a:ext cx="10972800" cy="7863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3400" b="1">
                <a:solidFill>
                  <a:srgbClr val="262626"/>
                </a:solidFill>
                <a:latin typeface="Alibaba PuHuiTi 3.0 115 Black"/>
              </a:defRPr>
            </a:pPr>
            <a:r>
              <a:t>把量化等级分得更细，会发生什么？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71600" y="1755648"/>
            <a:ext cx="4343400" cy="51206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600" b="1">
                <a:solidFill>
                  <a:srgbClr val="8C64E1"/>
                </a:solidFill>
                <a:latin typeface="Alibaba PuHuiTi 3.0 115 Black"/>
              </a:defRPr>
            </a:pPr>
            <a:r>
              <a:t>3 bit → 8级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1371600" y="5230368"/>
            <a:ext cx="4069080" cy="0"/>
          </a:xfrm>
          <a:prstGeom prst="line">
            <a:avLst/>
          </a:prstGeom>
          <a:ln w="2032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>
            <a:off x="1371600" y="4828031"/>
            <a:ext cx="4069080" cy="0"/>
          </a:xfrm>
          <a:prstGeom prst="line">
            <a:avLst/>
          </a:prstGeom>
          <a:ln w="20320">
            <a:solidFill>
              <a:srgbClr val="E2E2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1371600" y="4425696"/>
            <a:ext cx="4069080" cy="0"/>
          </a:xfrm>
          <a:prstGeom prst="line">
            <a:avLst/>
          </a:prstGeom>
          <a:ln w="2032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1371600" y="4023359"/>
            <a:ext cx="4069080" cy="0"/>
          </a:xfrm>
          <a:prstGeom prst="line">
            <a:avLst/>
          </a:prstGeom>
          <a:ln w="20320">
            <a:solidFill>
              <a:srgbClr val="E2E2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1371600" y="3621024"/>
            <a:ext cx="4069080" cy="0"/>
          </a:xfrm>
          <a:prstGeom prst="line">
            <a:avLst/>
          </a:prstGeom>
          <a:ln w="2032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1371600" y="3218687"/>
            <a:ext cx="4069080" cy="0"/>
          </a:xfrm>
          <a:prstGeom prst="line">
            <a:avLst/>
          </a:prstGeom>
          <a:ln w="20320">
            <a:solidFill>
              <a:srgbClr val="E2E2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1371600" y="2816351"/>
            <a:ext cx="4069080" cy="0"/>
          </a:xfrm>
          <a:prstGeom prst="line">
            <a:avLst/>
          </a:prstGeom>
          <a:ln w="2032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1371600" y="2414015"/>
            <a:ext cx="4069080" cy="0"/>
          </a:xfrm>
          <a:prstGeom prst="line">
            <a:avLst/>
          </a:prstGeom>
          <a:ln w="20320">
            <a:solidFill>
              <a:srgbClr val="E2E2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extBox 13"/>
          <p:cNvSpPr txBox="1"/>
          <p:nvPr/>
        </p:nvSpPr>
        <p:spPr>
          <a:xfrm>
            <a:off x="1371600" y="5486400"/>
            <a:ext cx="4114800" cy="4480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000" b="0">
                <a:solidFill>
                  <a:srgbClr val="262626"/>
                </a:solidFill>
                <a:latin typeface="Alibaba PuHuiTi 3.0 55 Regular"/>
              </a:defRPr>
            </a:pPr>
            <a:r>
              <a:t>可选代表值更密集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858000" y="1755648"/>
            <a:ext cx="4343400" cy="51206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600" b="1">
                <a:solidFill>
                  <a:srgbClr val="00B0F0"/>
                </a:solidFill>
                <a:latin typeface="Alibaba PuHuiTi 3.0 115 Black"/>
              </a:defRPr>
            </a:pPr>
            <a:r>
              <a:t>4 bit → 16级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6858000" y="5230368"/>
            <a:ext cx="4069080" cy="0"/>
          </a:xfrm>
          <a:prstGeom prst="line">
            <a:avLst/>
          </a:prstGeom>
          <a:ln w="2032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>
            <a:off x="6858000" y="5042611"/>
            <a:ext cx="4069080" cy="0"/>
          </a:xfrm>
          <a:prstGeom prst="line">
            <a:avLst/>
          </a:prstGeom>
          <a:ln w="20320">
            <a:solidFill>
              <a:srgbClr val="E2E2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>
            <a:off x="6858000" y="4854854"/>
            <a:ext cx="4069080" cy="0"/>
          </a:xfrm>
          <a:prstGeom prst="line">
            <a:avLst/>
          </a:prstGeom>
          <a:ln w="2032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>
            <a:off x="6858000" y="4667097"/>
            <a:ext cx="4069080" cy="0"/>
          </a:xfrm>
          <a:prstGeom prst="line">
            <a:avLst/>
          </a:prstGeom>
          <a:ln w="20320">
            <a:solidFill>
              <a:srgbClr val="E2E2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>
            <a:off x="6858000" y="4479340"/>
            <a:ext cx="4069080" cy="0"/>
          </a:xfrm>
          <a:prstGeom prst="line">
            <a:avLst/>
          </a:prstGeom>
          <a:ln w="2032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>
            <a:off x="6858000" y="4291584"/>
            <a:ext cx="4069080" cy="0"/>
          </a:xfrm>
          <a:prstGeom prst="line">
            <a:avLst/>
          </a:prstGeom>
          <a:ln w="20320">
            <a:solidFill>
              <a:srgbClr val="E2E2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>
            <a:off x="6858000" y="4103827"/>
            <a:ext cx="4069080" cy="0"/>
          </a:xfrm>
          <a:prstGeom prst="line">
            <a:avLst/>
          </a:prstGeom>
          <a:ln w="2032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>
            <a:off x="6858000" y="3916070"/>
            <a:ext cx="4069080" cy="0"/>
          </a:xfrm>
          <a:prstGeom prst="line">
            <a:avLst/>
          </a:prstGeom>
          <a:ln w="20320">
            <a:solidFill>
              <a:srgbClr val="E2E2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>
            <a:off x="6858000" y="3728313"/>
            <a:ext cx="4069080" cy="0"/>
          </a:xfrm>
          <a:prstGeom prst="line">
            <a:avLst/>
          </a:prstGeom>
          <a:ln w="2032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>
            <a:off x="6858000" y="3540556"/>
            <a:ext cx="4069080" cy="0"/>
          </a:xfrm>
          <a:prstGeom prst="line">
            <a:avLst/>
          </a:prstGeom>
          <a:ln w="20320">
            <a:solidFill>
              <a:srgbClr val="E2E2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>
            <a:off x="6858000" y="3352800"/>
            <a:ext cx="4069080" cy="0"/>
          </a:xfrm>
          <a:prstGeom prst="line">
            <a:avLst/>
          </a:prstGeom>
          <a:ln w="2032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6"/>
          <p:cNvCxnSpPr/>
          <p:nvPr/>
        </p:nvCxnSpPr>
        <p:spPr>
          <a:xfrm>
            <a:off x="6858000" y="3165043"/>
            <a:ext cx="4069080" cy="0"/>
          </a:xfrm>
          <a:prstGeom prst="line">
            <a:avLst/>
          </a:prstGeom>
          <a:ln w="20320">
            <a:solidFill>
              <a:srgbClr val="E2E2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ector 27"/>
          <p:cNvCxnSpPr/>
          <p:nvPr/>
        </p:nvCxnSpPr>
        <p:spPr>
          <a:xfrm>
            <a:off x="6858000" y="2977286"/>
            <a:ext cx="4069080" cy="0"/>
          </a:xfrm>
          <a:prstGeom prst="line">
            <a:avLst/>
          </a:prstGeom>
          <a:ln w="2032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Connector 28"/>
          <p:cNvCxnSpPr/>
          <p:nvPr/>
        </p:nvCxnSpPr>
        <p:spPr>
          <a:xfrm>
            <a:off x="6858000" y="2789529"/>
            <a:ext cx="4069080" cy="0"/>
          </a:xfrm>
          <a:prstGeom prst="line">
            <a:avLst/>
          </a:prstGeom>
          <a:ln w="20320">
            <a:solidFill>
              <a:srgbClr val="E2E2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nector 29"/>
          <p:cNvCxnSpPr/>
          <p:nvPr/>
        </p:nvCxnSpPr>
        <p:spPr>
          <a:xfrm>
            <a:off x="6858000" y="2601772"/>
            <a:ext cx="4069080" cy="0"/>
          </a:xfrm>
          <a:prstGeom prst="line">
            <a:avLst/>
          </a:prstGeom>
          <a:ln w="2032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nector 30"/>
          <p:cNvCxnSpPr/>
          <p:nvPr/>
        </p:nvCxnSpPr>
        <p:spPr>
          <a:xfrm>
            <a:off x="6858000" y="2414015"/>
            <a:ext cx="4069080" cy="0"/>
          </a:xfrm>
          <a:prstGeom prst="line">
            <a:avLst/>
          </a:prstGeom>
          <a:ln w="20320">
            <a:solidFill>
              <a:srgbClr val="E2E2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TextBox 31"/>
          <p:cNvSpPr txBox="1"/>
          <p:nvPr/>
        </p:nvSpPr>
        <p:spPr>
          <a:xfrm>
            <a:off x="6858000" y="5486400"/>
            <a:ext cx="4114800" cy="4480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000" b="0">
                <a:solidFill>
                  <a:srgbClr val="262626"/>
                </a:solidFill>
                <a:latin typeface="Alibaba PuHuiTi 3.0 55 Regular"/>
              </a:defRPr>
            </a:pPr>
            <a:r>
              <a:t>可选代表值更密集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36576"/>
            <a:ext cx="12191695" cy="73152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57416"/>
            <a:ext cx="12191695" cy="73152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12648" y="576072"/>
            <a:ext cx="10972800" cy="7863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3400" b="1">
                <a:solidFill>
                  <a:srgbClr val="262626"/>
                </a:solidFill>
                <a:latin typeface="Alibaba PuHuiTi 3.0 115 Black"/>
              </a:defRPr>
            </a:pPr>
            <a:r>
              <a:t>不要混淆：采样率和量化位数。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969264" y="3291840"/>
            <a:ext cx="9784080" cy="0"/>
          </a:xfrm>
          <a:prstGeom prst="line">
            <a:avLst/>
          </a:prstGeom>
          <a:ln w="2032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>
            <a:off x="1060704" y="1956816"/>
            <a:ext cx="0" cy="2679191"/>
          </a:xfrm>
          <a:prstGeom prst="line">
            <a:avLst/>
          </a:prstGeom>
          <a:ln w="1651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1088136" y="1645920"/>
            <a:ext cx="128016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1600" b="0">
                <a:solidFill>
                  <a:srgbClr val="808080"/>
                </a:solidFill>
                <a:latin typeface="Alibaba PuHuiTi 3.0 55 Regular"/>
              </a:defRPr>
            </a:pPr>
            <a:r>
              <a:t>振幅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838944" y="3410712"/>
            <a:ext cx="82296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1600" b="0">
                <a:solidFill>
                  <a:srgbClr val="808080"/>
                </a:solidFill>
                <a:latin typeface="Alibaba PuHuiTi 3.0 55 Regular"/>
              </a:defRPr>
            </a:pPr>
            <a:r>
              <a:t>时间</a:t>
            </a:r>
          </a:p>
        </p:txBody>
      </p:sp>
      <p:cxnSp>
        <p:nvCxnSpPr>
          <p:cNvPr id="9" name="Connector 8"/>
          <p:cNvCxnSpPr/>
          <p:nvPr/>
        </p:nvCxnSpPr>
        <p:spPr>
          <a:xfrm flipV="1">
            <a:off x="1106424" y="3153678"/>
            <a:ext cx="91440" cy="110730"/>
          </a:xfrm>
          <a:prstGeom prst="line">
            <a:avLst/>
          </a:prstGeom>
          <a:ln w="2286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 flipV="1">
            <a:off x="1197864" y="3044364"/>
            <a:ext cx="91440" cy="109314"/>
          </a:xfrm>
          <a:prstGeom prst="line">
            <a:avLst/>
          </a:prstGeom>
          <a:ln w="2286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 flipV="1">
            <a:off x="1289304" y="2937861"/>
            <a:ext cx="91440" cy="106503"/>
          </a:xfrm>
          <a:prstGeom prst="line">
            <a:avLst/>
          </a:prstGeom>
          <a:ln w="2286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 flipV="1">
            <a:off x="1380744" y="2835531"/>
            <a:ext cx="91440" cy="102330"/>
          </a:xfrm>
          <a:prstGeom prst="line">
            <a:avLst/>
          </a:prstGeom>
          <a:ln w="2286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 flipV="1">
            <a:off x="1472184" y="2738680"/>
            <a:ext cx="91440" cy="96851"/>
          </a:xfrm>
          <a:prstGeom prst="line">
            <a:avLst/>
          </a:prstGeom>
          <a:ln w="2286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 flipV="1">
            <a:off x="1563624" y="2648547"/>
            <a:ext cx="91440" cy="90133"/>
          </a:xfrm>
          <a:prstGeom prst="line">
            <a:avLst/>
          </a:prstGeom>
          <a:ln w="2286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 flipV="1">
            <a:off x="1655064" y="2566283"/>
            <a:ext cx="91440" cy="82264"/>
          </a:xfrm>
          <a:prstGeom prst="line">
            <a:avLst/>
          </a:prstGeom>
          <a:ln w="2286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 flipV="1">
            <a:off x="1746504" y="2492940"/>
            <a:ext cx="91439" cy="73343"/>
          </a:xfrm>
          <a:prstGeom prst="line">
            <a:avLst/>
          </a:prstGeom>
          <a:ln w="2286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 flipV="1">
            <a:off x="1837943" y="2429453"/>
            <a:ext cx="91441" cy="63487"/>
          </a:xfrm>
          <a:prstGeom prst="line">
            <a:avLst/>
          </a:prstGeom>
          <a:ln w="2286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 flipV="1">
            <a:off x="1929384" y="2376635"/>
            <a:ext cx="91440" cy="52818"/>
          </a:xfrm>
          <a:prstGeom prst="line">
            <a:avLst/>
          </a:prstGeom>
          <a:ln w="2286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 flipV="1">
            <a:off x="2020824" y="2335161"/>
            <a:ext cx="91440" cy="41474"/>
          </a:xfrm>
          <a:prstGeom prst="line">
            <a:avLst/>
          </a:prstGeom>
          <a:ln w="2286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 flipV="1">
            <a:off x="2112264" y="2305560"/>
            <a:ext cx="91440" cy="29601"/>
          </a:xfrm>
          <a:prstGeom prst="line">
            <a:avLst/>
          </a:prstGeom>
          <a:ln w="2286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 flipV="1">
            <a:off x="2203704" y="2288210"/>
            <a:ext cx="91440" cy="17350"/>
          </a:xfrm>
          <a:prstGeom prst="line">
            <a:avLst/>
          </a:prstGeom>
          <a:ln w="2286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 flipV="1">
            <a:off x="2295144" y="2283334"/>
            <a:ext cx="91440" cy="4876"/>
          </a:xfrm>
          <a:prstGeom prst="line">
            <a:avLst/>
          </a:prstGeom>
          <a:ln w="2286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>
            <a:off x="2386584" y="2283334"/>
            <a:ext cx="91440" cy="7659"/>
          </a:xfrm>
          <a:prstGeom prst="line">
            <a:avLst/>
          </a:prstGeom>
          <a:ln w="2286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>
            <a:off x="2478024" y="2290993"/>
            <a:ext cx="91440" cy="20097"/>
          </a:xfrm>
          <a:prstGeom prst="line">
            <a:avLst/>
          </a:prstGeom>
          <a:ln w="2286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>
            <a:off x="2569464" y="2311090"/>
            <a:ext cx="91440" cy="32278"/>
          </a:xfrm>
          <a:prstGeom prst="line">
            <a:avLst/>
          </a:prstGeom>
          <a:ln w="2286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>
            <a:off x="2660904" y="2343368"/>
            <a:ext cx="91440" cy="44046"/>
          </a:xfrm>
          <a:prstGeom prst="line">
            <a:avLst/>
          </a:prstGeom>
          <a:ln w="2286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6"/>
          <p:cNvCxnSpPr/>
          <p:nvPr/>
        </p:nvCxnSpPr>
        <p:spPr>
          <a:xfrm>
            <a:off x="2752344" y="2387414"/>
            <a:ext cx="91440" cy="55252"/>
          </a:xfrm>
          <a:prstGeom prst="line">
            <a:avLst/>
          </a:prstGeom>
          <a:ln w="2286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ector 27"/>
          <p:cNvCxnSpPr/>
          <p:nvPr/>
        </p:nvCxnSpPr>
        <p:spPr>
          <a:xfrm>
            <a:off x="2843784" y="2442666"/>
            <a:ext cx="91440" cy="65752"/>
          </a:xfrm>
          <a:prstGeom prst="line">
            <a:avLst/>
          </a:prstGeom>
          <a:ln w="2286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Connector 28"/>
          <p:cNvCxnSpPr/>
          <p:nvPr/>
        </p:nvCxnSpPr>
        <p:spPr>
          <a:xfrm>
            <a:off x="2935224" y="2508418"/>
            <a:ext cx="91440" cy="75411"/>
          </a:xfrm>
          <a:prstGeom prst="line">
            <a:avLst/>
          </a:prstGeom>
          <a:ln w="2286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nector 29"/>
          <p:cNvCxnSpPr/>
          <p:nvPr/>
        </p:nvCxnSpPr>
        <p:spPr>
          <a:xfrm>
            <a:off x="3026664" y="2583829"/>
            <a:ext cx="91440" cy="84107"/>
          </a:xfrm>
          <a:prstGeom prst="line">
            <a:avLst/>
          </a:prstGeom>
          <a:ln w="2286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nector 30"/>
          <p:cNvCxnSpPr/>
          <p:nvPr/>
        </p:nvCxnSpPr>
        <p:spPr>
          <a:xfrm>
            <a:off x="3118104" y="2667936"/>
            <a:ext cx="91440" cy="91729"/>
          </a:xfrm>
          <a:prstGeom prst="line">
            <a:avLst/>
          </a:prstGeom>
          <a:ln w="2286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Connector 31"/>
          <p:cNvCxnSpPr/>
          <p:nvPr/>
        </p:nvCxnSpPr>
        <p:spPr>
          <a:xfrm>
            <a:off x="3209544" y="2759665"/>
            <a:ext cx="91440" cy="98177"/>
          </a:xfrm>
          <a:prstGeom prst="line">
            <a:avLst/>
          </a:prstGeom>
          <a:ln w="2286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Connector 32"/>
          <p:cNvCxnSpPr/>
          <p:nvPr/>
        </p:nvCxnSpPr>
        <p:spPr>
          <a:xfrm>
            <a:off x="3300984" y="2857842"/>
            <a:ext cx="91440" cy="103373"/>
          </a:xfrm>
          <a:prstGeom prst="line">
            <a:avLst/>
          </a:prstGeom>
          <a:ln w="2286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Connector 33"/>
          <p:cNvCxnSpPr/>
          <p:nvPr/>
        </p:nvCxnSpPr>
        <p:spPr>
          <a:xfrm>
            <a:off x="3392424" y="2961215"/>
            <a:ext cx="91440" cy="107247"/>
          </a:xfrm>
          <a:prstGeom prst="line">
            <a:avLst/>
          </a:prstGeom>
          <a:ln w="2286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Connector 34"/>
          <p:cNvCxnSpPr/>
          <p:nvPr/>
        </p:nvCxnSpPr>
        <p:spPr>
          <a:xfrm>
            <a:off x="3483864" y="3068462"/>
            <a:ext cx="91440" cy="109750"/>
          </a:xfrm>
          <a:prstGeom prst="line">
            <a:avLst/>
          </a:prstGeom>
          <a:ln w="2286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Connector 35"/>
          <p:cNvCxnSpPr/>
          <p:nvPr/>
        </p:nvCxnSpPr>
        <p:spPr>
          <a:xfrm>
            <a:off x="3575304" y="3178212"/>
            <a:ext cx="91440" cy="110852"/>
          </a:xfrm>
          <a:prstGeom prst="line">
            <a:avLst/>
          </a:prstGeom>
          <a:ln w="2286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" name="Connector 36"/>
          <p:cNvCxnSpPr/>
          <p:nvPr/>
        </p:nvCxnSpPr>
        <p:spPr>
          <a:xfrm>
            <a:off x="3666744" y="3289064"/>
            <a:ext cx="91439" cy="110537"/>
          </a:xfrm>
          <a:prstGeom prst="line">
            <a:avLst/>
          </a:prstGeom>
          <a:ln w="2286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" name="Connector 37"/>
          <p:cNvCxnSpPr/>
          <p:nvPr/>
        </p:nvCxnSpPr>
        <p:spPr>
          <a:xfrm>
            <a:off x="3758183" y="3399601"/>
            <a:ext cx="91441" cy="108809"/>
          </a:xfrm>
          <a:prstGeom prst="line">
            <a:avLst/>
          </a:prstGeom>
          <a:ln w="2286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" name="Connector 38"/>
          <p:cNvCxnSpPr/>
          <p:nvPr/>
        </p:nvCxnSpPr>
        <p:spPr>
          <a:xfrm>
            <a:off x="3849624" y="3508410"/>
            <a:ext cx="91440" cy="105691"/>
          </a:xfrm>
          <a:prstGeom prst="line">
            <a:avLst/>
          </a:prstGeom>
          <a:ln w="2286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" name="Connector 39"/>
          <p:cNvCxnSpPr/>
          <p:nvPr/>
        </p:nvCxnSpPr>
        <p:spPr>
          <a:xfrm>
            <a:off x="3941064" y="3614101"/>
            <a:ext cx="91440" cy="101224"/>
          </a:xfrm>
          <a:prstGeom prst="line">
            <a:avLst/>
          </a:prstGeom>
          <a:ln w="2286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" name="Connector 40"/>
          <p:cNvCxnSpPr/>
          <p:nvPr/>
        </p:nvCxnSpPr>
        <p:spPr>
          <a:xfrm>
            <a:off x="4032504" y="3715325"/>
            <a:ext cx="91440" cy="95462"/>
          </a:xfrm>
          <a:prstGeom prst="line">
            <a:avLst/>
          </a:prstGeom>
          <a:ln w="2286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" name="Connector 41"/>
          <p:cNvCxnSpPr/>
          <p:nvPr/>
        </p:nvCxnSpPr>
        <p:spPr>
          <a:xfrm>
            <a:off x="4123944" y="3810787"/>
            <a:ext cx="91440" cy="88480"/>
          </a:xfrm>
          <a:prstGeom prst="line">
            <a:avLst/>
          </a:prstGeom>
          <a:ln w="2286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3" name="Connector 42"/>
          <p:cNvCxnSpPr/>
          <p:nvPr/>
        </p:nvCxnSpPr>
        <p:spPr>
          <a:xfrm>
            <a:off x="4215384" y="3899267"/>
            <a:ext cx="91440" cy="80369"/>
          </a:xfrm>
          <a:prstGeom prst="line">
            <a:avLst/>
          </a:prstGeom>
          <a:ln w="2286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Connector 43"/>
          <p:cNvCxnSpPr/>
          <p:nvPr/>
        </p:nvCxnSpPr>
        <p:spPr>
          <a:xfrm>
            <a:off x="4306824" y="3979636"/>
            <a:ext cx="91440" cy="71230"/>
          </a:xfrm>
          <a:prstGeom prst="line">
            <a:avLst/>
          </a:prstGeom>
          <a:ln w="2286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" name="Connector 44"/>
          <p:cNvCxnSpPr/>
          <p:nvPr/>
        </p:nvCxnSpPr>
        <p:spPr>
          <a:xfrm>
            <a:off x="4398264" y="4050866"/>
            <a:ext cx="91440" cy="61181"/>
          </a:xfrm>
          <a:prstGeom prst="line">
            <a:avLst/>
          </a:prstGeom>
          <a:ln w="2286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6" name="Connector 45"/>
          <p:cNvCxnSpPr/>
          <p:nvPr/>
        </p:nvCxnSpPr>
        <p:spPr>
          <a:xfrm>
            <a:off x="4489704" y="4112047"/>
            <a:ext cx="91440" cy="50350"/>
          </a:xfrm>
          <a:prstGeom prst="line">
            <a:avLst/>
          </a:prstGeom>
          <a:ln w="2286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7" name="Connector 46"/>
          <p:cNvCxnSpPr/>
          <p:nvPr/>
        </p:nvCxnSpPr>
        <p:spPr>
          <a:xfrm>
            <a:off x="4581144" y="4162397"/>
            <a:ext cx="91440" cy="38877"/>
          </a:xfrm>
          <a:prstGeom prst="line">
            <a:avLst/>
          </a:prstGeom>
          <a:ln w="2286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8" name="Connector 47"/>
          <p:cNvCxnSpPr/>
          <p:nvPr/>
        </p:nvCxnSpPr>
        <p:spPr>
          <a:xfrm>
            <a:off x="4672584" y="4201274"/>
            <a:ext cx="91440" cy="26906"/>
          </a:xfrm>
          <a:prstGeom prst="line">
            <a:avLst/>
          </a:prstGeom>
          <a:ln w="2286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9" name="Connector 48"/>
          <p:cNvCxnSpPr/>
          <p:nvPr/>
        </p:nvCxnSpPr>
        <p:spPr>
          <a:xfrm>
            <a:off x="4764024" y="4228180"/>
            <a:ext cx="91440" cy="14591"/>
          </a:xfrm>
          <a:prstGeom prst="line">
            <a:avLst/>
          </a:prstGeom>
          <a:ln w="2286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0" name="Connector 49"/>
          <p:cNvCxnSpPr/>
          <p:nvPr/>
        </p:nvCxnSpPr>
        <p:spPr>
          <a:xfrm>
            <a:off x="4855464" y="4242771"/>
            <a:ext cx="91440" cy="2091"/>
          </a:xfrm>
          <a:prstGeom prst="line">
            <a:avLst/>
          </a:prstGeom>
          <a:ln w="2286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1" name="Connector 50"/>
          <p:cNvCxnSpPr/>
          <p:nvPr/>
        </p:nvCxnSpPr>
        <p:spPr>
          <a:xfrm flipV="1">
            <a:off x="4946904" y="4234424"/>
            <a:ext cx="91440" cy="10438"/>
          </a:xfrm>
          <a:prstGeom prst="line">
            <a:avLst/>
          </a:prstGeom>
          <a:ln w="2286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2" name="Connector 51"/>
          <p:cNvCxnSpPr/>
          <p:nvPr/>
        </p:nvCxnSpPr>
        <p:spPr>
          <a:xfrm flipV="1">
            <a:off x="5038344" y="4211593"/>
            <a:ext cx="91440" cy="22831"/>
          </a:xfrm>
          <a:prstGeom prst="line">
            <a:avLst/>
          </a:prstGeom>
          <a:ln w="2286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3" name="Connector 52"/>
          <p:cNvCxnSpPr/>
          <p:nvPr/>
        </p:nvCxnSpPr>
        <p:spPr>
          <a:xfrm flipV="1">
            <a:off x="5129784" y="4176659"/>
            <a:ext cx="91440" cy="34934"/>
          </a:xfrm>
          <a:prstGeom prst="line">
            <a:avLst/>
          </a:prstGeom>
          <a:ln w="2286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4" name="Connector 53"/>
          <p:cNvCxnSpPr/>
          <p:nvPr/>
        </p:nvCxnSpPr>
        <p:spPr>
          <a:xfrm flipV="1">
            <a:off x="5221224" y="4130069"/>
            <a:ext cx="91440" cy="46590"/>
          </a:xfrm>
          <a:prstGeom prst="line">
            <a:avLst/>
          </a:prstGeom>
          <a:ln w="2286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5" name="Connector 54"/>
          <p:cNvCxnSpPr/>
          <p:nvPr/>
        </p:nvCxnSpPr>
        <p:spPr>
          <a:xfrm flipV="1">
            <a:off x="5312664" y="4072417"/>
            <a:ext cx="91439" cy="57652"/>
          </a:xfrm>
          <a:prstGeom prst="line">
            <a:avLst/>
          </a:prstGeom>
          <a:ln w="2286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6" name="Connector 55"/>
          <p:cNvCxnSpPr/>
          <p:nvPr/>
        </p:nvCxnSpPr>
        <p:spPr>
          <a:xfrm flipV="1">
            <a:off x="5404103" y="4004442"/>
            <a:ext cx="91441" cy="67975"/>
          </a:xfrm>
          <a:prstGeom prst="line">
            <a:avLst/>
          </a:prstGeom>
          <a:ln w="2286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7" name="Connector 56"/>
          <p:cNvCxnSpPr/>
          <p:nvPr/>
        </p:nvCxnSpPr>
        <p:spPr>
          <a:xfrm flipV="1">
            <a:off x="5495544" y="3927011"/>
            <a:ext cx="91440" cy="77431"/>
          </a:xfrm>
          <a:prstGeom prst="line">
            <a:avLst/>
          </a:prstGeom>
          <a:ln w="2286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8" name="Connector 57"/>
          <p:cNvCxnSpPr/>
          <p:nvPr/>
        </p:nvCxnSpPr>
        <p:spPr>
          <a:xfrm flipV="1">
            <a:off x="5586984" y="3841114"/>
            <a:ext cx="91440" cy="85897"/>
          </a:xfrm>
          <a:prstGeom prst="line">
            <a:avLst/>
          </a:prstGeom>
          <a:ln w="2286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9" name="Connector 58"/>
          <p:cNvCxnSpPr/>
          <p:nvPr/>
        </p:nvCxnSpPr>
        <p:spPr>
          <a:xfrm flipV="1">
            <a:off x="5678424" y="3747848"/>
            <a:ext cx="91440" cy="93266"/>
          </a:xfrm>
          <a:prstGeom prst="line">
            <a:avLst/>
          </a:prstGeom>
          <a:ln w="2286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0" name="Connector 59"/>
          <p:cNvCxnSpPr/>
          <p:nvPr/>
        </p:nvCxnSpPr>
        <p:spPr>
          <a:xfrm flipV="1">
            <a:off x="5769864" y="3648404"/>
            <a:ext cx="91440" cy="99444"/>
          </a:xfrm>
          <a:prstGeom prst="line">
            <a:avLst/>
          </a:prstGeom>
          <a:ln w="2286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1" name="Connector 60"/>
          <p:cNvCxnSpPr/>
          <p:nvPr/>
        </p:nvCxnSpPr>
        <p:spPr>
          <a:xfrm flipV="1">
            <a:off x="5861304" y="3544054"/>
            <a:ext cx="91440" cy="104350"/>
          </a:xfrm>
          <a:prstGeom prst="line">
            <a:avLst/>
          </a:prstGeom>
          <a:ln w="2286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2" name="Connector 61"/>
          <p:cNvCxnSpPr/>
          <p:nvPr/>
        </p:nvCxnSpPr>
        <p:spPr>
          <a:xfrm flipV="1">
            <a:off x="5952744" y="3436132"/>
            <a:ext cx="91440" cy="107922"/>
          </a:xfrm>
          <a:prstGeom prst="line">
            <a:avLst/>
          </a:prstGeom>
          <a:ln w="2286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3" name="Connector 62"/>
          <p:cNvCxnSpPr/>
          <p:nvPr/>
        </p:nvCxnSpPr>
        <p:spPr>
          <a:xfrm flipV="1">
            <a:off x="6044184" y="3326014"/>
            <a:ext cx="91440" cy="110118"/>
          </a:xfrm>
          <a:prstGeom prst="line">
            <a:avLst/>
          </a:prstGeom>
          <a:ln w="2286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4" name="Connector 63"/>
          <p:cNvCxnSpPr/>
          <p:nvPr/>
        </p:nvCxnSpPr>
        <p:spPr>
          <a:xfrm flipV="1">
            <a:off x="6135624" y="3215110"/>
            <a:ext cx="91440" cy="110904"/>
          </a:xfrm>
          <a:prstGeom prst="line">
            <a:avLst/>
          </a:prstGeom>
          <a:ln w="2286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5" name="Connector 64"/>
          <p:cNvCxnSpPr/>
          <p:nvPr/>
        </p:nvCxnSpPr>
        <p:spPr>
          <a:xfrm flipV="1">
            <a:off x="6227064" y="3104836"/>
            <a:ext cx="91439" cy="110274"/>
          </a:xfrm>
          <a:prstGeom prst="line">
            <a:avLst/>
          </a:prstGeom>
          <a:ln w="2286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6" name="Connector 65"/>
          <p:cNvCxnSpPr/>
          <p:nvPr/>
        </p:nvCxnSpPr>
        <p:spPr>
          <a:xfrm flipV="1">
            <a:off x="6318503" y="2996600"/>
            <a:ext cx="91441" cy="108236"/>
          </a:xfrm>
          <a:prstGeom prst="line">
            <a:avLst/>
          </a:prstGeom>
          <a:ln w="2286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7" name="Connector 66"/>
          <p:cNvCxnSpPr/>
          <p:nvPr/>
        </p:nvCxnSpPr>
        <p:spPr>
          <a:xfrm flipV="1">
            <a:off x="6409944" y="2891787"/>
            <a:ext cx="91439" cy="104813"/>
          </a:xfrm>
          <a:prstGeom prst="line">
            <a:avLst/>
          </a:prstGeom>
          <a:ln w="2286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8" name="Connector 67"/>
          <p:cNvCxnSpPr/>
          <p:nvPr/>
        </p:nvCxnSpPr>
        <p:spPr>
          <a:xfrm flipV="1">
            <a:off x="6501383" y="2791734"/>
            <a:ext cx="91441" cy="100053"/>
          </a:xfrm>
          <a:prstGeom prst="line">
            <a:avLst/>
          </a:prstGeom>
          <a:ln w="2286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9" name="Connector 68"/>
          <p:cNvCxnSpPr/>
          <p:nvPr/>
        </p:nvCxnSpPr>
        <p:spPr>
          <a:xfrm flipV="1">
            <a:off x="6592824" y="2697721"/>
            <a:ext cx="91440" cy="94013"/>
          </a:xfrm>
          <a:prstGeom prst="line">
            <a:avLst/>
          </a:prstGeom>
          <a:ln w="2286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0" name="Connector 69"/>
          <p:cNvCxnSpPr/>
          <p:nvPr/>
        </p:nvCxnSpPr>
        <p:spPr>
          <a:xfrm flipV="1">
            <a:off x="6684264" y="2610949"/>
            <a:ext cx="91440" cy="86772"/>
          </a:xfrm>
          <a:prstGeom prst="line">
            <a:avLst/>
          </a:prstGeom>
          <a:ln w="2286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1" name="Connector 70"/>
          <p:cNvCxnSpPr/>
          <p:nvPr/>
        </p:nvCxnSpPr>
        <p:spPr>
          <a:xfrm flipV="1">
            <a:off x="6775704" y="2532526"/>
            <a:ext cx="91440" cy="78423"/>
          </a:xfrm>
          <a:prstGeom prst="line">
            <a:avLst/>
          </a:prstGeom>
          <a:ln w="2286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2" name="Connector 71"/>
          <p:cNvCxnSpPr/>
          <p:nvPr/>
        </p:nvCxnSpPr>
        <p:spPr>
          <a:xfrm flipV="1">
            <a:off x="6867144" y="2463455"/>
            <a:ext cx="91440" cy="69071"/>
          </a:xfrm>
          <a:prstGeom prst="line">
            <a:avLst/>
          </a:prstGeom>
          <a:ln w="2286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3" name="Connector 72"/>
          <p:cNvCxnSpPr/>
          <p:nvPr/>
        </p:nvCxnSpPr>
        <p:spPr>
          <a:xfrm flipV="1">
            <a:off x="6958584" y="2404618"/>
            <a:ext cx="91440" cy="58837"/>
          </a:xfrm>
          <a:prstGeom prst="line">
            <a:avLst/>
          </a:prstGeom>
          <a:ln w="2286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4" name="Connector 73"/>
          <p:cNvCxnSpPr/>
          <p:nvPr/>
        </p:nvCxnSpPr>
        <p:spPr>
          <a:xfrm flipV="1">
            <a:off x="7050024" y="2356767"/>
            <a:ext cx="91440" cy="47851"/>
          </a:xfrm>
          <a:prstGeom prst="line">
            <a:avLst/>
          </a:prstGeom>
          <a:ln w="2286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5" name="Connector 74"/>
          <p:cNvCxnSpPr/>
          <p:nvPr/>
        </p:nvCxnSpPr>
        <p:spPr>
          <a:xfrm flipV="1">
            <a:off x="7141464" y="2320513"/>
            <a:ext cx="91440" cy="36254"/>
          </a:xfrm>
          <a:prstGeom prst="line">
            <a:avLst/>
          </a:prstGeom>
          <a:ln w="2286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6" name="Connector 75"/>
          <p:cNvCxnSpPr/>
          <p:nvPr/>
        </p:nvCxnSpPr>
        <p:spPr>
          <a:xfrm flipV="1">
            <a:off x="7232904" y="2296319"/>
            <a:ext cx="91440" cy="24194"/>
          </a:xfrm>
          <a:prstGeom prst="line">
            <a:avLst/>
          </a:prstGeom>
          <a:ln w="2286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7" name="Connector 76"/>
          <p:cNvCxnSpPr/>
          <p:nvPr/>
        </p:nvCxnSpPr>
        <p:spPr>
          <a:xfrm flipV="1">
            <a:off x="7324344" y="2284496"/>
            <a:ext cx="91439" cy="11823"/>
          </a:xfrm>
          <a:prstGeom prst="line">
            <a:avLst/>
          </a:prstGeom>
          <a:ln w="2286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8" name="Connector 77"/>
          <p:cNvCxnSpPr/>
          <p:nvPr/>
        </p:nvCxnSpPr>
        <p:spPr>
          <a:xfrm>
            <a:off x="7415783" y="2284496"/>
            <a:ext cx="91441" cy="696"/>
          </a:xfrm>
          <a:prstGeom prst="line">
            <a:avLst/>
          </a:prstGeom>
          <a:ln w="2286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9" name="Connector 78"/>
          <p:cNvCxnSpPr/>
          <p:nvPr/>
        </p:nvCxnSpPr>
        <p:spPr>
          <a:xfrm>
            <a:off x="7507224" y="2285192"/>
            <a:ext cx="91439" cy="13209"/>
          </a:xfrm>
          <a:prstGeom prst="line">
            <a:avLst/>
          </a:prstGeom>
          <a:ln w="2286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0" name="Connector 79"/>
          <p:cNvCxnSpPr/>
          <p:nvPr/>
        </p:nvCxnSpPr>
        <p:spPr>
          <a:xfrm>
            <a:off x="7598663" y="2298401"/>
            <a:ext cx="91441" cy="25552"/>
          </a:xfrm>
          <a:prstGeom prst="line">
            <a:avLst/>
          </a:prstGeom>
          <a:ln w="2286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1" name="Connector 80"/>
          <p:cNvCxnSpPr/>
          <p:nvPr/>
        </p:nvCxnSpPr>
        <p:spPr>
          <a:xfrm>
            <a:off x="7690104" y="2323953"/>
            <a:ext cx="91440" cy="37568"/>
          </a:xfrm>
          <a:prstGeom prst="line">
            <a:avLst/>
          </a:prstGeom>
          <a:ln w="2286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2" name="Connector 81"/>
          <p:cNvCxnSpPr/>
          <p:nvPr/>
        </p:nvCxnSpPr>
        <p:spPr>
          <a:xfrm>
            <a:off x="7781544" y="2361521"/>
            <a:ext cx="91439" cy="49105"/>
          </a:xfrm>
          <a:prstGeom prst="line">
            <a:avLst/>
          </a:prstGeom>
          <a:ln w="2286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3" name="Connector 82"/>
          <p:cNvCxnSpPr/>
          <p:nvPr/>
        </p:nvCxnSpPr>
        <p:spPr>
          <a:xfrm>
            <a:off x="7872983" y="2410626"/>
            <a:ext cx="91441" cy="60014"/>
          </a:xfrm>
          <a:prstGeom prst="line">
            <a:avLst/>
          </a:prstGeom>
          <a:ln w="2286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4" name="Connector 83"/>
          <p:cNvCxnSpPr/>
          <p:nvPr/>
        </p:nvCxnSpPr>
        <p:spPr>
          <a:xfrm>
            <a:off x="7964424" y="2470640"/>
            <a:ext cx="91439" cy="70156"/>
          </a:xfrm>
          <a:prstGeom prst="line">
            <a:avLst/>
          </a:prstGeom>
          <a:ln w="2286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5" name="Connector 84"/>
          <p:cNvCxnSpPr/>
          <p:nvPr/>
        </p:nvCxnSpPr>
        <p:spPr>
          <a:xfrm>
            <a:off x="8055863" y="2540796"/>
            <a:ext cx="91441" cy="79402"/>
          </a:xfrm>
          <a:prstGeom prst="line">
            <a:avLst/>
          </a:prstGeom>
          <a:ln w="2286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6" name="Connector 85"/>
          <p:cNvCxnSpPr/>
          <p:nvPr/>
        </p:nvCxnSpPr>
        <p:spPr>
          <a:xfrm>
            <a:off x="8147304" y="2620198"/>
            <a:ext cx="91440" cy="87633"/>
          </a:xfrm>
          <a:prstGeom prst="line">
            <a:avLst/>
          </a:prstGeom>
          <a:ln w="2286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7" name="Connector 86"/>
          <p:cNvCxnSpPr/>
          <p:nvPr/>
        </p:nvCxnSpPr>
        <p:spPr>
          <a:xfrm>
            <a:off x="8238744" y="2707831"/>
            <a:ext cx="91439" cy="94745"/>
          </a:xfrm>
          <a:prstGeom prst="line">
            <a:avLst/>
          </a:prstGeom>
          <a:ln w="2286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8" name="Connector 87"/>
          <p:cNvCxnSpPr/>
          <p:nvPr/>
        </p:nvCxnSpPr>
        <p:spPr>
          <a:xfrm>
            <a:off x="8330183" y="2802576"/>
            <a:ext cx="91441" cy="100646"/>
          </a:xfrm>
          <a:prstGeom prst="line">
            <a:avLst/>
          </a:prstGeom>
          <a:ln w="2286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9" name="Connector 88"/>
          <p:cNvCxnSpPr/>
          <p:nvPr/>
        </p:nvCxnSpPr>
        <p:spPr>
          <a:xfrm>
            <a:off x="8421624" y="2903222"/>
            <a:ext cx="91440" cy="105261"/>
          </a:xfrm>
          <a:prstGeom prst="line">
            <a:avLst/>
          </a:prstGeom>
          <a:ln w="2286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0" name="Connector 89"/>
          <p:cNvCxnSpPr/>
          <p:nvPr/>
        </p:nvCxnSpPr>
        <p:spPr>
          <a:xfrm>
            <a:off x="8513064" y="3008483"/>
            <a:ext cx="91440" cy="108530"/>
          </a:xfrm>
          <a:prstGeom prst="line">
            <a:avLst/>
          </a:prstGeom>
          <a:ln w="2286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1" name="Connector 90"/>
          <p:cNvCxnSpPr/>
          <p:nvPr/>
        </p:nvCxnSpPr>
        <p:spPr>
          <a:xfrm>
            <a:off x="8604504" y="3117013"/>
            <a:ext cx="91439" cy="110415"/>
          </a:xfrm>
          <a:prstGeom prst="line">
            <a:avLst/>
          </a:prstGeom>
          <a:ln w="2286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2" name="Connector 91"/>
          <p:cNvCxnSpPr/>
          <p:nvPr/>
        </p:nvCxnSpPr>
        <p:spPr>
          <a:xfrm>
            <a:off x="8695943" y="3227428"/>
            <a:ext cx="91441" cy="110886"/>
          </a:xfrm>
          <a:prstGeom prst="line">
            <a:avLst/>
          </a:prstGeom>
          <a:ln w="2286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3" name="Connector 92"/>
          <p:cNvCxnSpPr/>
          <p:nvPr/>
        </p:nvCxnSpPr>
        <p:spPr>
          <a:xfrm>
            <a:off x="8787384" y="3338314"/>
            <a:ext cx="91440" cy="109943"/>
          </a:xfrm>
          <a:prstGeom prst="line">
            <a:avLst/>
          </a:prstGeom>
          <a:ln w="2286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4" name="Connector 93"/>
          <p:cNvCxnSpPr/>
          <p:nvPr/>
        </p:nvCxnSpPr>
        <p:spPr>
          <a:xfrm>
            <a:off x="8878824" y="3448257"/>
            <a:ext cx="91439" cy="107593"/>
          </a:xfrm>
          <a:prstGeom prst="line">
            <a:avLst/>
          </a:prstGeom>
          <a:ln w="2286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5" name="Connector 94"/>
          <p:cNvCxnSpPr/>
          <p:nvPr/>
        </p:nvCxnSpPr>
        <p:spPr>
          <a:xfrm>
            <a:off x="8970263" y="3555850"/>
            <a:ext cx="91441" cy="103870"/>
          </a:xfrm>
          <a:prstGeom prst="line">
            <a:avLst/>
          </a:prstGeom>
          <a:ln w="2286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6" name="Connector 95"/>
          <p:cNvCxnSpPr/>
          <p:nvPr/>
        </p:nvCxnSpPr>
        <p:spPr>
          <a:xfrm>
            <a:off x="9061704" y="3659720"/>
            <a:ext cx="91440" cy="98818"/>
          </a:xfrm>
          <a:prstGeom prst="line">
            <a:avLst/>
          </a:prstGeom>
          <a:ln w="2286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7" name="Connector 96"/>
          <p:cNvCxnSpPr/>
          <p:nvPr/>
        </p:nvCxnSpPr>
        <p:spPr>
          <a:xfrm>
            <a:off x="9153144" y="3758538"/>
            <a:ext cx="91440" cy="92505"/>
          </a:xfrm>
          <a:prstGeom prst="line">
            <a:avLst/>
          </a:prstGeom>
          <a:ln w="2286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8" name="Connector 97"/>
          <p:cNvCxnSpPr/>
          <p:nvPr/>
        </p:nvCxnSpPr>
        <p:spPr>
          <a:xfrm>
            <a:off x="9244584" y="3851043"/>
            <a:ext cx="91440" cy="85009"/>
          </a:xfrm>
          <a:prstGeom prst="line">
            <a:avLst/>
          </a:prstGeom>
          <a:ln w="2286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9" name="Connector 98"/>
          <p:cNvCxnSpPr/>
          <p:nvPr/>
        </p:nvCxnSpPr>
        <p:spPr>
          <a:xfrm>
            <a:off x="9336024" y="3936052"/>
            <a:ext cx="91439" cy="76427"/>
          </a:xfrm>
          <a:prstGeom prst="line">
            <a:avLst/>
          </a:prstGeom>
          <a:ln w="2286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0" name="Connector 99"/>
          <p:cNvCxnSpPr/>
          <p:nvPr/>
        </p:nvCxnSpPr>
        <p:spPr>
          <a:xfrm>
            <a:off x="9427463" y="4012479"/>
            <a:ext cx="91441" cy="66869"/>
          </a:xfrm>
          <a:prstGeom prst="line">
            <a:avLst/>
          </a:prstGeom>
          <a:ln w="2286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1" name="Connector 100"/>
          <p:cNvCxnSpPr/>
          <p:nvPr/>
        </p:nvCxnSpPr>
        <p:spPr>
          <a:xfrm>
            <a:off x="9518904" y="4079348"/>
            <a:ext cx="91440" cy="56456"/>
          </a:xfrm>
          <a:prstGeom prst="line">
            <a:avLst/>
          </a:prstGeom>
          <a:ln w="2286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2" name="Connector 101"/>
          <p:cNvCxnSpPr/>
          <p:nvPr/>
        </p:nvCxnSpPr>
        <p:spPr>
          <a:xfrm>
            <a:off x="9610344" y="4135804"/>
            <a:ext cx="91440" cy="45321"/>
          </a:xfrm>
          <a:prstGeom prst="line">
            <a:avLst/>
          </a:prstGeom>
          <a:ln w="2286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3" name="Connector 102"/>
          <p:cNvCxnSpPr/>
          <p:nvPr/>
        </p:nvCxnSpPr>
        <p:spPr>
          <a:xfrm>
            <a:off x="9701784" y="4181125"/>
            <a:ext cx="91440" cy="33609"/>
          </a:xfrm>
          <a:prstGeom prst="line">
            <a:avLst/>
          </a:prstGeom>
          <a:ln w="2286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4" name="Connector 103"/>
          <p:cNvCxnSpPr/>
          <p:nvPr/>
        </p:nvCxnSpPr>
        <p:spPr>
          <a:xfrm>
            <a:off x="9793224" y="4214734"/>
            <a:ext cx="91439" cy="21466"/>
          </a:xfrm>
          <a:prstGeom prst="line">
            <a:avLst/>
          </a:prstGeom>
          <a:ln w="2286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5" name="Connector 104"/>
          <p:cNvCxnSpPr/>
          <p:nvPr/>
        </p:nvCxnSpPr>
        <p:spPr>
          <a:xfrm>
            <a:off x="9884663" y="4236200"/>
            <a:ext cx="91441" cy="9049"/>
          </a:xfrm>
          <a:prstGeom prst="line">
            <a:avLst/>
          </a:prstGeom>
          <a:ln w="2286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6" name="Connector 105"/>
          <p:cNvCxnSpPr/>
          <p:nvPr/>
        </p:nvCxnSpPr>
        <p:spPr>
          <a:xfrm flipV="1">
            <a:off x="9976104" y="4241765"/>
            <a:ext cx="91440" cy="3484"/>
          </a:xfrm>
          <a:prstGeom prst="line">
            <a:avLst/>
          </a:prstGeom>
          <a:ln w="2286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7" name="Connector 106"/>
          <p:cNvCxnSpPr/>
          <p:nvPr/>
        </p:nvCxnSpPr>
        <p:spPr>
          <a:xfrm flipV="1">
            <a:off x="10067544" y="4225793"/>
            <a:ext cx="91440" cy="15972"/>
          </a:xfrm>
          <a:prstGeom prst="line">
            <a:avLst/>
          </a:prstGeom>
          <a:ln w="2286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8" name="Connector 107"/>
          <p:cNvCxnSpPr/>
          <p:nvPr/>
        </p:nvCxnSpPr>
        <p:spPr>
          <a:xfrm flipV="1">
            <a:off x="10158984" y="4197538"/>
            <a:ext cx="91440" cy="28255"/>
          </a:xfrm>
          <a:prstGeom prst="line">
            <a:avLst/>
          </a:prstGeom>
          <a:ln w="2286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9" name="Oval 108"/>
          <p:cNvSpPr/>
          <p:nvPr/>
        </p:nvSpPr>
        <p:spPr>
          <a:xfrm>
            <a:off x="1045159" y="3203143"/>
            <a:ext cx="122529" cy="122529"/>
          </a:xfrm>
          <a:prstGeom prst="ellipse">
            <a:avLst/>
          </a:prstGeom>
          <a:solidFill>
            <a:srgbClr val="00B0F0"/>
          </a:solidFill>
          <a:ln w="12700">
            <a:solidFill>
              <a:srgbClr val="00B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0" name="Oval 109"/>
          <p:cNvSpPr/>
          <p:nvPr/>
        </p:nvSpPr>
        <p:spPr>
          <a:xfrm>
            <a:off x="1748543" y="2453233"/>
            <a:ext cx="122529" cy="122529"/>
          </a:xfrm>
          <a:prstGeom prst="ellipse">
            <a:avLst/>
          </a:prstGeom>
          <a:solidFill>
            <a:srgbClr val="00B0F0"/>
          </a:solidFill>
          <a:ln w="12700">
            <a:solidFill>
              <a:srgbClr val="00B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1" name="Oval 110"/>
          <p:cNvSpPr/>
          <p:nvPr/>
        </p:nvSpPr>
        <p:spPr>
          <a:xfrm>
            <a:off x="2451928" y="2235996"/>
            <a:ext cx="122529" cy="122529"/>
          </a:xfrm>
          <a:prstGeom prst="ellipse">
            <a:avLst/>
          </a:prstGeom>
          <a:solidFill>
            <a:srgbClr val="00B0F0"/>
          </a:solidFill>
          <a:ln w="12700">
            <a:solidFill>
              <a:srgbClr val="00B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2" name="Oval 111"/>
          <p:cNvSpPr/>
          <p:nvPr/>
        </p:nvSpPr>
        <p:spPr>
          <a:xfrm>
            <a:off x="3155313" y="2705738"/>
            <a:ext cx="122529" cy="122529"/>
          </a:xfrm>
          <a:prstGeom prst="ellipse">
            <a:avLst/>
          </a:prstGeom>
          <a:solidFill>
            <a:srgbClr val="00B0F0"/>
          </a:solidFill>
          <a:ln w="12700">
            <a:solidFill>
              <a:srgbClr val="00B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3" name="Oval 112"/>
          <p:cNvSpPr/>
          <p:nvPr/>
        </p:nvSpPr>
        <p:spPr>
          <a:xfrm>
            <a:off x="3858697" y="3528794"/>
            <a:ext cx="122529" cy="122529"/>
          </a:xfrm>
          <a:prstGeom prst="ellipse">
            <a:avLst/>
          </a:prstGeom>
          <a:solidFill>
            <a:srgbClr val="00B0F0"/>
          </a:solidFill>
          <a:ln w="12700">
            <a:solidFill>
              <a:srgbClr val="00B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4" name="Oval 113"/>
          <p:cNvSpPr/>
          <p:nvPr/>
        </p:nvSpPr>
        <p:spPr>
          <a:xfrm>
            <a:off x="4562082" y="4120535"/>
            <a:ext cx="122529" cy="122529"/>
          </a:xfrm>
          <a:prstGeom prst="ellipse">
            <a:avLst/>
          </a:prstGeom>
          <a:solidFill>
            <a:srgbClr val="00B0F0"/>
          </a:solidFill>
          <a:ln w="12700">
            <a:solidFill>
              <a:srgbClr val="00B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5" name="Oval 114"/>
          <p:cNvSpPr/>
          <p:nvPr/>
        </p:nvSpPr>
        <p:spPr>
          <a:xfrm>
            <a:off x="5265466" y="4060637"/>
            <a:ext cx="122529" cy="122529"/>
          </a:xfrm>
          <a:prstGeom prst="ellipse">
            <a:avLst/>
          </a:prstGeom>
          <a:solidFill>
            <a:srgbClr val="00B0F0"/>
          </a:solidFill>
          <a:ln w="12700">
            <a:solidFill>
              <a:srgbClr val="00B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6" name="Oval 115"/>
          <p:cNvSpPr/>
          <p:nvPr/>
        </p:nvSpPr>
        <p:spPr>
          <a:xfrm>
            <a:off x="5968851" y="3391648"/>
            <a:ext cx="122529" cy="122529"/>
          </a:xfrm>
          <a:prstGeom prst="ellipse">
            <a:avLst/>
          </a:prstGeom>
          <a:solidFill>
            <a:srgbClr val="00B0F0"/>
          </a:solidFill>
          <a:ln w="12700">
            <a:solidFill>
              <a:srgbClr val="00B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7" name="Oval 116"/>
          <p:cNvSpPr/>
          <p:nvPr/>
        </p:nvSpPr>
        <p:spPr>
          <a:xfrm>
            <a:off x="6672236" y="2588760"/>
            <a:ext cx="122529" cy="122529"/>
          </a:xfrm>
          <a:prstGeom prst="ellipse">
            <a:avLst/>
          </a:prstGeom>
          <a:solidFill>
            <a:srgbClr val="00B0F0"/>
          </a:solidFill>
          <a:ln w="12700">
            <a:solidFill>
              <a:srgbClr val="00B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8" name="Oval 117"/>
          <p:cNvSpPr/>
          <p:nvPr/>
        </p:nvSpPr>
        <p:spPr>
          <a:xfrm>
            <a:off x="7375620" y="2222278"/>
            <a:ext cx="122529" cy="122529"/>
          </a:xfrm>
          <a:prstGeom prst="ellipse">
            <a:avLst/>
          </a:prstGeom>
          <a:solidFill>
            <a:srgbClr val="00B0F0"/>
          </a:solidFill>
          <a:ln w="12700">
            <a:solidFill>
              <a:srgbClr val="00B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9" name="Oval 118"/>
          <p:cNvSpPr/>
          <p:nvPr/>
        </p:nvSpPr>
        <p:spPr>
          <a:xfrm>
            <a:off x="8079005" y="2552519"/>
            <a:ext cx="122529" cy="122529"/>
          </a:xfrm>
          <a:prstGeom prst="ellipse">
            <a:avLst/>
          </a:prstGeom>
          <a:solidFill>
            <a:srgbClr val="00B0F0"/>
          </a:solidFill>
          <a:ln w="12700">
            <a:solidFill>
              <a:srgbClr val="00B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0" name="Oval 119"/>
          <p:cNvSpPr/>
          <p:nvPr/>
        </p:nvSpPr>
        <p:spPr>
          <a:xfrm>
            <a:off x="8782389" y="3344908"/>
            <a:ext cx="122529" cy="122529"/>
          </a:xfrm>
          <a:prstGeom prst="ellipse">
            <a:avLst/>
          </a:prstGeom>
          <a:solidFill>
            <a:srgbClr val="00B0F0"/>
          </a:solidFill>
          <a:ln w="12700">
            <a:solidFill>
              <a:srgbClr val="00B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1" name="Oval 120"/>
          <p:cNvSpPr/>
          <p:nvPr/>
        </p:nvSpPr>
        <p:spPr>
          <a:xfrm>
            <a:off x="9485774" y="4036599"/>
            <a:ext cx="122529" cy="122529"/>
          </a:xfrm>
          <a:prstGeom prst="ellipse">
            <a:avLst/>
          </a:prstGeom>
          <a:solidFill>
            <a:srgbClr val="00B0F0"/>
          </a:solidFill>
          <a:ln w="12700">
            <a:solidFill>
              <a:srgbClr val="00B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22" name="Connector 121"/>
          <p:cNvCxnSpPr/>
          <p:nvPr/>
        </p:nvCxnSpPr>
        <p:spPr>
          <a:xfrm>
            <a:off x="4023360" y="4754880"/>
            <a:ext cx="3200400" cy="0"/>
          </a:xfrm>
          <a:prstGeom prst="line">
            <a:avLst/>
          </a:prstGeom>
          <a:ln w="508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3" name="TextBox 122"/>
          <p:cNvSpPr txBox="1"/>
          <p:nvPr/>
        </p:nvSpPr>
        <p:spPr>
          <a:xfrm>
            <a:off x="3657600" y="5038344"/>
            <a:ext cx="4206240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300" b="1">
                <a:solidFill>
                  <a:srgbClr val="00B0F0"/>
                </a:solidFill>
                <a:latin typeface="Alibaba PuHuiTi 3.0 115 Black"/>
              </a:defRPr>
            </a:pPr>
            <a:r>
              <a:t>采样率：时间方向</a:t>
            </a:r>
          </a:p>
        </p:txBody>
      </p:sp>
      <p:cxnSp>
        <p:nvCxnSpPr>
          <p:cNvPr id="124" name="Connector 123"/>
          <p:cNvCxnSpPr/>
          <p:nvPr/>
        </p:nvCxnSpPr>
        <p:spPr>
          <a:xfrm>
            <a:off x="10625328" y="2103120"/>
            <a:ext cx="0" cy="2395728"/>
          </a:xfrm>
          <a:prstGeom prst="line">
            <a:avLst/>
          </a:prstGeom>
          <a:ln w="5080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5" name="TextBox 124"/>
          <p:cNvSpPr txBox="1"/>
          <p:nvPr/>
        </p:nvSpPr>
        <p:spPr>
          <a:xfrm>
            <a:off x="9098280" y="1874519"/>
            <a:ext cx="2103120" cy="104241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200" b="1">
                <a:solidFill>
                  <a:srgbClr val="8C64E1"/>
                </a:solidFill>
                <a:latin typeface="Alibaba PuHuiTi 3.0 115 Black"/>
              </a:defRPr>
            </a:pPr>
            <a:r>
              <a:t>量化位数</a:t>
            </a:r>
          </a:p>
          <a:p>
            <a:pPr>
              <a:spcBef>
                <a:spcPts val="0"/>
              </a:spcBef>
              <a:spcAft>
                <a:spcPts val="200"/>
              </a:spcAft>
              <a:defRPr sz="2200" b="1">
                <a:solidFill>
                  <a:srgbClr val="8C64E1"/>
                </a:solidFill>
                <a:latin typeface="Alibaba PuHuiTi 3.0 115 Black"/>
              </a:defRPr>
            </a:pPr>
            <a:r>
              <a:t>幅度方向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36576"/>
            <a:ext cx="12191695" cy="73152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57416"/>
            <a:ext cx="12191695" cy="73152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12648" y="576072"/>
            <a:ext cx="10972800" cy="7863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300"/>
              </a:spcAft>
              <a:defRPr sz="3400" b="1">
                <a:solidFill>
                  <a:srgbClr val="262626"/>
                </a:solidFill>
                <a:latin typeface="Alibaba PuHuiTi 3.0 115 Black"/>
              </a:defRPr>
            </a:pPr>
            <a:r>
              <a:t>演示C：3 bit变4 bit，横向的点会变多吗？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1591056"/>
            <a:ext cx="5120640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>
              <a:spcAft>
                <a:spcPts val="0"/>
              </a:spcAft>
              <a:defRPr sz="2400" b="1">
                <a:solidFill>
                  <a:srgbClr val="8C64E1"/>
                </a:solidFill>
                <a:latin typeface="Alibaba PuHuiTi 3.0 115 Black"/>
              </a:defRPr>
            </a:pPr>
            <a:r>
              <a:t>采样率：横向有多少次记录？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291072" y="1591056"/>
            <a:ext cx="5303520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>
              <a:spcAft>
                <a:spcPts val="0"/>
              </a:spcAft>
              <a:defRPr sz="2400" b="1">
                <a:solidFill>
                  <a:srgbClr val="00B0F0"/>
                </a:solidFill>
                <a:latin typeface="Alibaba PuHuiTi 3.0 115 Black"/>
              </a:defRPr>
            </a:pPr>
            <a:r>
              <a:t>量化位数：纵向有多少等级？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932688" y="4297680"/>
            <a:ext cx="4553712" cy="0"/>
          </a:xfrm>
          <a:prstGeom prst="line">
            <a:avLst/>
          </a:prstGeom>
          <a:ln w="16510">
            <a:solidFill>
              <a:srgbClr val="7171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932688" y="2240280"/>
            <a:ext cx="0" cy="2194560"/>
          </a:xfrm>
          <a:prstGeom prst="line">
            <a:avLst/>
          </a:prstGeom>
          <a:ln w="16510">
            <a:solidFill>
              <a:srgbClr val="7171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 flipV="1">
            <a:off x="969264" y="3145084"/>
            <a:ext cx="52712" cy="59888"/>
          </a:xfrm>
          <a:prstGeom prst="line">
            <a:avLst/>
          </a:prstGeom>
          <a:ln w="25400">
            <a:solidFill>
              <a:srgbClr val="7171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 flipV="1">
            <a:off x="1021976" y="3085791"/>
            <a:ext cx="52712" cy="59293"/>
          </a:xfrm>
          <a:prstGeom prst="line">
            <a:avLst/>
          </a:prstGeom>
          <a:ln w="25400">
            <a:solidFill>
              <a:srgbClr val="7171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 flipV="1">
            <a:off x="1074688" y="3027685"/>
            <a:ext cx="52713" cy="58106"/>
          </a:xfrm>
          <a:prstGeom prst="line">
            <a:avLst/>
          </a:prstGeom>
          <a:ln w="25400">
            <a:solidFill>
              <a:srgbClr val="7171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 flipV="1">
            <a:off x="1127401" y="2971343"/>
            <a:ext cx="52712" cy="56342"/>
          </a:xfrm>
          <a:prstGeom prst="line">
            <a:avLst/>
          </a:prstGeom>
          <a:ln w="25400">
            <a:solidFill>
              <a:srgbClr val="7171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 flipV="1">
            <a:off x="1180113" y="2917325"/>
            <a:ext cx="52713" cy="54018"/>
          </a:xfrm>
          <a:prstGeom prst="line">
            <a:avLst/>
          </a:prstGeom>
          <a:ln w="25400">
            <a:solidFill>
              <a:srgbClr val="7171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 flipV="1">
            <a:off x="1232826" y="2866170"/>
            <a:ext cx="52712" cy="51155"/>
          </a:xfrm>
          <a:prstGeom prst="line">
            <a:avLst/>
          </a:prstGeom>
          <a:ln w="25400">
            <a:solidFill>
              <a:srgbClr val="7171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 flipV="1">
            <a:off x="1285538" y="2818386"/>
            <a:ext cx="52713" cy="47784"/>
          </a:xfrm>
          <a:prstGeom prst="line">
            <a:avLst/>
          </a:prstGeom>
          <a:ln w="25400">
            <a:solidFill>
              <a:srgbClr val="7171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 flipV="1">
            <a:off x="1338251" y="2774448"/>
            <a:ext cx="52712" cy="43938"/>
          </a:xfrm>
          <a:prstGeom prst="line">
            <a:avLst/>
          </a:prstGeom>
          <a:ln w="25400">
            <a:solidFill>
              <a:srgbClr val="7171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 flipV="1">
            <a:off x="1390963" y="2734794"/>
            <a:ext cx="52713" cy="39654"/>
          </a:xfrm>
          <a:prstGeom prst="line">
            <a:avLst/>
          </a:prstGeom>
          <a:ln w="25400">
            <a:solidFill>
              <a:srgbClr val="7171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 flipV="1">
            <a:off x="1443676" y="2699818"/>
            <a:ext cx="52712" cy="34976"/>
          </a:xfrm>
          <a:prstGeom prst="line">
            <a:avLst/>
          </a:prstGeom>
          <a:ln w="25400">
            <a:solidFill>
              <a:srgbClr val="7171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 flipV="1">
            <a:off x="1496388" y="2669869"/>
            <a:ext cx="52713" cy="29949"/>
          </a:xfrm>
          <a:prstGeom prst="line">
            <a:avLst/>
          </a:prstGeom>
          <a:ln w="25400">
            <a:solidFill>
              <a:srgbClr val="7171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 flipV="1">
            <a:off x="1549101" y="2645244"/>
            <a:ext cx="52712" cy="24625"/>
          </a:xfrm>
          <a:prstGeom prst="line">
            <a:avLst/>
          </a:prstGeom>
          <a:ln w="25400">
            <a:solidFill>
              <a:srgbClr val="7171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 flipV="1">
            <a:off x="1601813" y="2626188"/>
            <a:ext cx="52713" cy="19056"/>
          </a:xfrm>
          <a:prstGeom prst="line">
            <a:avLst/>
          </a:prstGeom>
          <a:ln w="25400">
            <a:solidFill>
              <a:srgbClr val="7171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 flipV="1">
            <a:off x="1654526" y="2612892"/>
            <a:ext cx="52712" cy="13296"/>
          </a:xfrm>
          <a:prstGeom prst="line">
            <a:avLst/>
          </a:prstGeom>
          <a:ln w="25400">
            <a:solidFill>
              <a:srgbClr val="7171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 flipV="1">
            <a:off x="1707238" y="2605487"/>
            <a:ext cx="52713" cy="7405"/>
          </a:xfrm>
          <a:prstGeom prst="line">
            <a:avLst/>
          </a:prstGeom>
          <a:ln w="25400">
            <a:solidFill>
              <a:srgbClr val="7171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 flipV="1">
            <a:off x="1759951" y="2604046"/>
            <a:ext cx="52712" cy="1441"/>
          </a:xfrm>
          <a:prstGeom prst="line">
            <a:avLst/>
          </a:prstGeom>
          <a:ln w="25400">
            <a:solidFill>
              <a:srgbClr val="7171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>
            <a:off x="1812663" y="2604046"/>
            <a:ext cx="52713" cy="4539"/>
          </a:xfrm>
          <a:prstGeom prst="line">
            <a:avLst/>
          </a:prstGeom>
          <a:ln w="25400">
            <a:solidFill>
              <a:srgbClr val="7171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>
            <a:off x="1865376" y="2608585"/>
            <a:ext cx="52712" cy="10473"/>
          </a:xfrm>
          <a:prstGeom prst="line">
            <a:avLst/>
          </a:prstGeom>
          <a:ln w="25400">
            <a:solidFill>
              <a:srgbClr val="7171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6"/>
          <p:cNvCxnSpPr/>
          <p:nvPr/>
        </p:nvCxnSpPr>
        <p:spPr>
          <a:xfrm>
            <a:off x="1918088" y="2619058"/>
            <a:ext cx="52712" cy="16303"/>
          </a:xfrm>
          <a:prstGeom prst="line">
            <a:avLst/>
          </a:prstGeom>
          <a:ln w="25400">
            <a:solidFill>
              <a:srgbClr val="7171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ector 27"/>
          <p:cNvCxnSpPr/>
          <p:nvPr/>
        </p:nvCxnSpPr>
        <p:spPr>
          <a:xfrm>
            <a:off x="1970800" y="2635361"/>
            <a:ext cx="52713" cy="21971"/>
          </a:xfrm>
          <a:prstGeom prst="line">
            <a:avLst/>
          </a:prstGeom>
          <a:ln w="25400">
            <a:solidFill>
              <a:srgbClr val="7171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Connector 28"/>
          <p:cNvCxnSpPr/>
          <p:nvPr/>
        </p:nvCxnSpPr>
        <p:spPr>
          <a:xfrm>
            <a:off x="2023513" y="2657332"/>
            <a:ext cx="52712" cy="27419"/>
          </a:xfrm>
          <a:prstGeom prst="line">
            <a:avLst/>
          </a:prstGeom>
          <a:ln w="25400">
            <a:solidFill>
              <a:srgbClr val="7171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nector 29"/>
          <p:cNvCxnSpPr/>
          <p:nvPr/>
        </p:nvCxnSpPr>
        <p:spPr>
          <a:xfrm>
            <a:off x="2076225" y="2684751"/>
            <a:ext cx="52713" cy="32596"/>
          </a:xfrm>
          <a:prstGeom prst="line">
            <a:avLst/>
          </a:prstGeom>
          <a:ln w="25400">
            <a:solidFill>
              <a:srgbClr val="7171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nector 30"/>
          <p:cNvCxnSpPr/>
          <p:nvPr/>
        </p:nvCxnSpPr>
        <p:spPr>
          <a:xfrm>
            <a:off x="2128938" y="2717347"/>
            <a:ext cx="52712" cy="37448"/>
          </a:xfrm>
          <a:prstGeom prst="line">
            <a:avLst/>
          </a:prstGeom>
          <a:ln w="25400">
            <a:solidFill>
              <a:srgbClr val="7171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Connector 31"/>
          <p:cNvCxnSpPr/>
          <p:nvPr/>
        </p:nvCxnSpPr>
        <p:spPr>
          <a:xfrm>
            <a:off x="2181650" y="2754795"/>
            <a:ext cx="52713" cy="41927"/>
          </a:xfrm>
          <a:prstGeom prst="line">
            <a:avLst/>
          </a:prstGeom>
          <a:ln w="25400">
            <a:solidFill>
              <a:srgbClr val="7171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Connector 32"/>
          <p:cNvCxnSpPr/>
          <p:nvPr/>
        </p:nvCxnSpPr>
        <p:spPr>
          <a:xfrm>
            <a:off x="2234363" y="2796722"/>
            <a:ext cx="52712" cy="45990"/>
          </a:xfrm>
          <a:prstGeom prst="line">
            <a:avLst/>
          </a:prstGeom>
          <a:ln w="25400">
            <a:solidFill>
              <a:srgbClr val="7171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Connector 33"/>
          <p:cNvCxnSpPr/>
          <p:nvPr/>
        </p:nvCxnSpPr>
        <p:spPr>
          <a:xfrm>
            <a:off x="2287075" y="2842712"/>
            <a:ext cx="52713" cy="49594"/>
          </a:xfrm>
          <a:prstGeom prst="line">
            <a:avLst/>
          </a:prstGeom>
          <a:ln w="25400">
            <a:solidFill>
              <a:srgbClr val="7171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Connector 34"/>
          <p:cNvCxnSpPr/>
          <p:nvPr/>
        </p:nvCxnSpPr>
        <p:spPr>
          <a:xfrm>
            <a:off x="2339788" y="2892306"/>
            <a:ext cx="52712" cy="52705"/>
          </a:xfrm>
          <a:prstGeom prst="line">
            <a:avLst/>
          </a:prstGeom>
          <a:ln w="25400">
            <a:solidFill>
              <a:srgbClr val="7171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Connector 35"/>
          <p:cNvCxnSpPr/>
          <p:nvPr/>
        </p:nvCxnSpPr>
        <p:spPr>
          <a:xfrm>
            <a:off x="2392500" y="2945011"/>
            <a:ext cx="52713" cy="55291"/>
          </a:xfrm>
          <a:prstGeom prst="line">
            <a:avLst/>
          </a:prstGeom>
          <a:ln w="25400">
            <a:solidFill>
              <a:srgbClr val="7171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" name="Connector 36"/>
          <p:cNvCxnSpPr/>
          <p:nvPr/>
        </p:nvCxnSpPr>
        <p:spPr>
          <a:xfrm>
            <a:off x="2445213" y="3000302"/>
            <a:ext cx="52712" cy="57328"/>
          </a:xfrm>
          <a:prstGeom prst="line">
            <a:avLst/>
          </a:prstGeom>
          <a:ln w="25400">
            <a:solidFill>
              <a:srgbClr val="7171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" name="Connector 37"/>
          <p:cNvCxnSpPr/>
          <p:nvPr/>
        </p:nvCxnSpPr>
        <p:spPr>
          <a:xfrm>
            <a:off x="2497925" y="3057630"/>
            <a:ext cx="52713" cy="58795"/>
          </a:xfrm>
          <a:prstGeom prst="line">
            <a:avLst/>
          </a:prstGeom>
          <a:ln w="25400">
            <a:solidFill>
              <a:srgbClr val="7171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" name="Connector 38"/>
          <p:cNvCxnSpPr/>
          <p:nvPr/>
        </p:nvCxnSpPr>
        <p:spPr>
          <a:xfrm>
            <a:off x="2550638" y="3116425"/>
            <a:ext cx="52712" cy="59675"/>
          </a:xfrm>
          <a:prstGeom prst="line">
            <a:avLst/>
          </a:prstGeom>
          <a:ln w="25400">
            <a:solidFill>
              <a:srgbClr val="7171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" name="Connector 39"/>
          <p:cNvCxnSpPr/>
          <p:nvPr/>
        </p:nvCxnSpPr>
        <p:spPr>
          <a:xfrm>
            <a:off x="2603350" y="3176100"/>
            <a:ext cx="52713" cy="59962"/>
          </a:xfrm>
          <a:prstGeom prst="line">
            <a:avLst/>
          </a:prstGeom>
          <a:ln w="25400">
            <a:solidFill>
              <a:srgbClr val="7171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" name="Connector 40"/>
          <p:cNvCxnSpPr/>
          <p:nvPr/>
        </p:nvCxnSpPr>
        <p:spPr>
          <a:xfrm>
            <a:off x="2656063" y="3236062"/>
            <a:ext cx="52712" cy="59653"/>
          </a:xfrm>
          <a:prstGeom prst="line">
            <a:avLst/>
          </a:prstGeom>
          <a:ln w="25400">
            <a:solidFill>
              <a:srgbClr val="7171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" name="Connector 41"/>
          <p:cNvCxnSpPr/>
          <p:nvPr/>
        </p:nvCxnSpPr>
        <p:spPr>
          <a:xfrm>
            <a:off x="2708775" y="3295715"/>
            <a:ext cx="52713" cy="58751"/>
          </a:xfrm>
          <a:prstGeom prst="line">
            <a:avLst/>
          </a:prstGeom>
          <a:ln w="25400">
            <a:solidFill>
              <a:srgbClr val="7171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3" name="Connector 42"/>
          <p:cNvCxnSpPr/>
          <p:nvPr/>
        </p:nvCxnSpPr>
        <p:spPr>
          <a:xfrm>
            <a:off x="2761488" y="3354466"/>
            <a:ext cx="52712" cy="57262"/>
          </a:xfrm>
          <a:prstGeom prst="line">
            <a:avLst/>
          </a:prstGeom>
          <a:ln w="25400">
            <a:solidFill>
              <a:srgbClr val="7171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Connector 43"/>
          <p:cNvCxnSpPr/>
          <p:nvPr/>
        </p:nvCxnSpPr>
        <p:spPr>
          <a:xfrm>
            <a:off x="2814200" y="3411728"/>
            <a:ext cx="52712" cy="55206"/>
          </a:xfrm>
          <a:prstGeom prst="line">
            <a:avLst/>
          </a:prstGeom>
          <a:ln w="25400">
            <a:solidFill>
              <a:srgbClr val="7171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" name="Connector 44"/>
          <p:cNvCxnSpPr/>
          <p:nvPr/>
        </p:nvCxnSpPr>
        <p:spPr>
          <a:xfrm>
            <a:off x="2866912" y="3466934"/>
            <a:ext cx="52713" cy="52599"/>
          </a:xfrm>
          <a:prstGeom prst="line">
            <a:avLst/>
          </a:prstGeom>
          <a:ln w="25400">
            <a:solidFill>
              <a:srgbClr val="7171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6" name="Connector 45"/>
          <p:cNvCxnSpPr/>
          <p:nvPr/>
        </p:nvCxnSpPr>
        <p:spPr>
          <a:xfrm>
            <a:off x="2919625" y="3519533"/>
            <a:ext cx="52712" cy="49469"/>
          </a:xfrm>
          <a:prstGeom prst="line">
            <a:avLst/>
          </a:prstGeom>
          <a:ln w="25400">
            <a:solidFill>
              <a:srgbClr val="7171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7" name="Connector 46"/>
          <p:cNvCxnSpPr/>
          <p:nvPr/>
        </p:nvCxnSpPr>
        <p:spPr>
          <a:xfrm>
            <a:off x="2972337" y="3569002"/>
            <a:ext cx="52713" cy="45847"/>
          </a:xfrm>
          <a:prstGeom prst="line">
            <a:avLst/>
          </a:prstGeom>
          <a:ln w="25400">
            <a:solidFill>
              <a:srgbClr val="7171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8" name="Connector 47"/>
          <p:cNvCxnSpPr/>
          <p:nvPr/>
        </p:nvCxnSpPr>
        <p:spPr>
          <a:xfrm>
            <a:off x="3025050" y="3614849"/>
            <a:ext cx="52712" cy="41768"/>
          </a:xfrm>
          <a:prstGeom prst="line">
            <a:avLst/>
          </a:prstGeom>
          <a:ln w="25400">
            <a:solidFill>
              <a:srgbClr val="7171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9" name="Connector 48"/>
          <p:cNvCxnSpPr/>
          <p:nvPr/>
        </p:nvCxnSpPr>
        <p:spPr>
          <a:xfrm>
            <a:off x="3077762" y="3656617"/>
            <a:ext cx="52713" cy="37275"/>
          </a:xfrm>
          <a:prstGeom prst="line">
            <a:avLst/>
          </a:prstGeom>
          <a:ln w="25400">
            <a:solidFill>
              <a:srgbClr val="7171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0" name="Connector 49"/>
          <p:cNvCxnSpPr/>
          <p:nvPr/>
        </p:nvCxnSpPr>
        <p:spPr>
          <a:xfrm>
            <a:off x="3130475" y="3693892"/>
            <a:ext cx="52712" cy="32409"/>
          </a:xfrm>
          <a:prstGeom prst="line">
            <a:avLst/>
          </a:prstGeom>
          <a:ln w="25400">
            <a:solidFill>
              <a:srgbClr val="7171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1" name="Connector 50"/>
          <p:cNvCxnSpPr/>
          <p:nvPr/>
        </p:nvCxnSpPr>
        <p:spPr>
          <a:xfrm>
            <a:off x="3183187" y="3726301"/>
            <a:ext cx="52713" cy="27223"/>
          </a:xfrm>
          <a:prstGeom prst="line">
            <a:avLst/>
          </a:prstGeom>
          <a:ln w="25400">
            <a:solidFill>
              <a:srgbClr val="7171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2" name="Connector 51"/>
          <p:cNvCxnSpPr/>
          <p:nvPr/>
        </p:nvCxnSpPr>
        <p:spPr>
          <a:xfrm>
            <a:off x="3235900" y="3753524"/>
            <a:ext cx="52712" cy="21764"/>
          </a:xfrm>
          <a:prstGeom prst="line">
            <a:avLst/>
          </a:prstGeom>
          <a:ln w="25400">
            <a:solidFill>
              <a:srgbClr val="7171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3" name="Connector 52"/>
          <p:cNvCxnSpPr/>
          <p:nvPr/>
        </p:nvCxnSpPr>
        <p:spPr>
          <a:xfrm>
            <a:off x="3288612" y="3775288"/>
            <a:ext cx="52713" cy="16090"/>
          </a:xfrm>
          <a:prstGeom prst="line">
            <a:avLst/>
          </a:prstGeom>
          <a:ln w="25400">
            <a:solidFill>
              <a:srgbClr val="7171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4" name="Connector 53"/>
          <p:cNvCxnSpPr/>
          <p:nvPr/>
        </p:nvCxnSpPr>
        <p:spPr>
          <a:xfrm>
            <a:off x="3341325" y="3791378"/>
            <a:ext cx="52712" cy="10254"/>
          </a:xfrm>
          <a:prstGeom prst="line">
            <a:avLst/>
          </a:prstGeom>
          <a:ln w="25400">
            <a:solidFill>
              <a:srgbClr val="7171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5" name="Connector 54"/>
          <p:cNvCxnSpPr/>
          <p:nvPr/>
        </p:nvCxnSpPr>
        <p:spPr>
          <a:xfrm>
            <a:off x="3394037" y="3801632"/>
            <a:ext cx="52713" cy="4318"/>
          </a:xfrm>
          <a:prstGeom prst="line">
            <a:avLst/>
          </a:prstGeom>
          <a:ln w="25400">
            <a:solidFill>
              <a:srgbClr val="7171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6" name="Connector 55"/>
          <p:cNvCxnSpPr/>
          <p:nvPr/>
        </p:nvCxnSpPr>
        <p:spPr>
          <a:xfrm flipV="1">
            <a:off x="3446750" y="3804288"/>
            <a:ext cx="52712" cy="1662"/>
          </a:xfrm>
          <a:prstGeom prst="line">
            <a:avLst/>
          </a:prstGeom>
          <a:ln w="25400">
            <a:solidFill>
              <a:srgbClr val="7171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7" name="Connector 56"/>
          <p:cNvCxnSpPr/>
          <p:nvPr/>
        </p:nvCxnSpPr>
        <p:spPr>
          <a:xfrm flipV="1">
            <a:off x="3499462" y="3796663"/>
            <a:ext cx="52713" cy="7625"/>
          </a:xfrm>
          <a:prstGeom prst="line">
            <a:avLst/>
          </a:prstGeom>
          <a:ln w="25400">
            <a:solidFill>
              <a:srgbClr val="7171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8" name="Connector 57"/>
          <p:cNvCxnSpPr/>
          <p:nvPr/>
        </p:nvCxnSpPr>
        <p:spPr>
          <a:xfrm flipV="1">
            <a:off x="3552175" y="3783150"/>
            <a:ext cx="52712" cy="13513"/>
          </a:xfrm>
          <a:prstGeom prst="line">
            <a:avLst/>
          </a:prstGeom>
          <a:ln w="25400">
            <a:solidFill>
              <a:srgbClr val="7171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9" name="Connector 58"/>
          <p:cNvCxnSpPr/>
          <p:nvPr/>
        </p:nvCxnSpPr>
        <p:spPr>
          <a:xfrm flipV="1">
            <a:off x="3604887" y="3763885"/>
            <a:ext cx="52713" cy="19265"/>
          </a:xfrm>
          <a:prstGeom prst="line">
            <a:avLst/>
          </a:prstGeom>
          <a:ln w="25400">
            <a:solidFill>
              <a:srgbClr val="7171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0" name="Connector 59"/>
          <p:cNvCxnSpPr/>
          <p:nvPr/>
        </p:nvCxnSpPr>
        <p:spPr>
          <a:xfrm flipV="1">
            <a:off x="3657600" y="3739058"/>
            <a:ext cx="52712" cy="24827"/>
          </a:xfrm>
          <a:prstGeom prst="line">
            <a:avLst/>
          </a:prstGeom>
          <a:ln w="25400">
            <a:solidFill>
              <a:srgbClr val="7171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1" name="Connector 60"/>
          <p:cNvCxnSpPr/>
          <p:nvPr/>
        </p:nvCxnSpPr>
        <p:spPr>
          <a:xfrm flipV="1">
            <a:off x="3710312" y="3708917"/>
            <a:ext cx="52712" cy="30141"/>
          </a:xfrm>
          <a:prstGeom prst="line">
            <a:avLst/>
          </a:prstGeom>
          <a:ln w="25400">
            <a:solidFill>
              <a:srgbClr val="7171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2" name="Connector 61"/>
          <p:cNvCxnSpPr/>
          <p:nvPr/>
        </p:nvCxnSpPr>
        <p:spPr>
          <a:xfrm flipV="1">
            <a:off x="3763024" y="3673761"/>
            <a:ext cx="52713" cy="35156"/>
          </a:xfrm>
          <a:prstGeom prst="line">
            <a:avLst/>
          </a:prstGeom>
          <a:ln w="25400">
            <a:solidFill>
              <a:srgbClr val="7171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3" name="Connector 62"/>
          <p:cNvCxnSpPr/>
          <p:nvPr/>
        </p:nvCxnSpPr>
        <p:spPr>
          <a:xfrm flipV="1">
            <a:off x="3815737" y="3633942"/>
            <a:ext cx="52712" cy="39819"/>
          </a:xfrm>
          <a:prstGeom prst="line">
            <a:avLst/>
          </a:prstGeom>
          <a:ln w="25400">
            <a:solidFill>
              <a:srgbClr val="7171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4" name="Connector 63"/>
          <p:cNvCxnSpPr/>
          <p:nvPr/>
        </p:nvCxnSpPr>
        <p:spPr>
          <a:xfrm flipV="1">
            <a:off x="3868449" y="3589853"/>
            <a:ext cx="52713" cy="44089"/>
          </a:xfrm>
          <a:prstGeom prst="line">
            <a:avLst/>
          </a:prstGeom>
          <a:ln w="25400">
            <a:solidFill>
              <a:srgbClr val="7171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5" name="Connector 64"/>
          <p:cNvCxnSpPr/>
          <p:nvPr/>
        </p:nvCxnSpPr>
        <p:spPr>
          <a:xfrm flipV="1">
            <a:off x="3921162" y="3541935"/>
            <a:ext cx="52712" cy="47918"/>
          </a:xfrm>
          <a:prstGeom prst="line">
            <a:avLst/>
          </a:prstGeom>
          <a:ln w="25400">
            <a:solidFill>
              <a:srgbClr val="7171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6" name="Connector 65"/>
          <p:cNvCxnSpPr/>
          <p:nvPr/>
        </p:nvCxnSpPr>
        <p:spPr>
          <a:xfrm flipV="1">
            <a:off x="3973874" y="3490665"/>
            <a:ext cx="52713" cy="51270"/>
          </a:xfrm>
          <a:prstGeom prst="line">
            <a:avLst/>
          </a:prstGeom>
          <a:ln w="25400">
            <a:solidFill>
              <a:srgbClr val="7171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7" name="Connector 66"/>
          <p:cNvCxnSpPr/>
          <p:nvPr/>
        </p:nvCxnSpPr>
        <p:spPr>
          <a:xfrm flipV="1">
            <a:off x="4026587" y="3436551"/>
            <a:ext cx="52712" cy="54114"/>
          </a:xfrm>
          <a:prstGeom prst="line">
            <a:avLst/>
          </a:prstGeom>
          <a:ln w="25400">
            <a:solidFill>
              <a:srgbClr val="7171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8" name="Connector 67"/>
          <p:cNvCxnSpPr/>
          <p:nvPr/>
        </p:nvCxnSpPr>
        <p:spPr>
          <a:xfrm flipV="1">
            <a:off x="4079299" y="3380134"/>
            <a:ext cx="52713" cy="56417"/>
          </a:xfrm>
          <a:prstGeom prst="line">
            <a:avLst/>
          </a:prstGeom>
          <a:ln w="25400">
            <a:solidFill>
              <a:srgbClr val="7171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9" name="Connector 68"/>
          <p:cNvCxnSpPr/>
          <p:nvPr/>
        </p:nvCxnSpPr>
        <p:spPr>
          <a:xfrm flipV="1">
            <a:off x="4132012" y="3321973"/>
            <a:ext cx="52712" cy="58161"/>
          </a:xfrm>
          <a:prstGeom prst="line">
            <a:avLst/>
          </a:prstGeom>
          <a:ln w="25400">
            <a:solidFill>
              <a:srgbClr val="7171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0" name="Connector 69"/>
          <p:cNvCxnSpPr/>
          <p:nvPr/>
        </p:nvCxnSpPr>
        <p:spPr>
          <a:xfrm flipV="1">
            <a:off x="4184724" y="3262648"/>
            <a:ext cx="52713" cy="59325"/>
          </a:xfrm>
          <a:prstGeom prst="line">
            <a:avLst/>
          </a:prstGeom>
          <a:ln w="25400">
            <a:solidFill>
              <a:srgbClr val="7171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1" name="Connector 70"/>
          <p:cNvCxnSpPr/>
          <p:nvPr/>
        </p:nvCxnSpPr>
        <p:spPr>
          <a:xfrm flipV="1">
            <a:off x="4237437" y="3202750"/>
            <a:ext cx="52712" cy="59898"/>
          </a:xfrm>
          <a:prstGeom prst="line">
            <a:avLst/>
          </a:prstGeom>
          <a:ln w="25400">
            <a:solidFill>
              <a:srgbClr val="7171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2" name="Connector 71"/>
          <p:cNvCxnSpPr/>
          <p:nvPr/>
        </p:nvCxnSpPr>
        <p:spPr>
          <a:xfrm flipV="1">
            <a:off x="4290149" y="3142873"/>
            <a:ext cx="52713" cy="59877"/>
          </a:xfrm>
          <a:prstGeom prst="line">
            <a:avLst/>
          </a:prstGeom>
          <a:ln w="25400">
            <a:solidFill>
              <a:srgbClr val="7171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3" name="Connector 72"/>
          <p:cNvCxnSpPr/>
          <p:nvPr/>
        </p:nvCxnSpPr>
        <p:spPr>
          <a:xfrm flipV="1">
            <a:off x="4342862" y="3083615"/>
            <a:ext cx="52712" cy="59258"/>
          </a:xfrm>
          <a:prstGeom prst="line">
            <a:avLst/>
          </a:prstGeom>
          <a:ln w="25400">
            <a:solidFill>
              <a:srgbClr val="7171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4" name="Connector 73"/>
          <p:cNvCxnSpPr/>
          <p:nvPr/>
        </p:nvCxnSpPr>
        <p:spPr>
          <a:xfrm flipV="1">
            <a:off x="4395574" y="3025564"/>
            <a:ext cx="52713" cy="58051"/>
          </a:xfrm>
          <a:prstGeom prst="line">
            <a:avLst/>
          </a:prstGeom>
          <a:ln w="25400">
            <a:solidFill>
              <a:srgbClr val="7171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5" name="Connector 74"/>
          <p:cNvCxnSpPr/>
          <p:nvPr/>
        </p:nvCxnSpPr>
        <p:spPr>
          <a:xfrm flipV="1">
            <a:off x="4448287" y="2969298"/>
            <a:ext cx="52712" cy="56266"/>
          </a:xfrm>
          <a:prstGeom prst="line">
            <a:avLst/>
          </a:prstGeom>
          <a:ln w="25400">
            <a:solidFill>
              <a:srgbClr val="7171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6" name="Connector 75"/>
          <p:cNvCxnSpPr/>
          <p:nvPr/>
        </p:nvCxnSpPr>
        <p:spPr>
          <a:xfrm flipV="1">
            <a:off x="4500999" y="2915377"/>
            <a:ext cx="52713" cy="53921"/>
          </a:xfrm>
          <a:prstGeom prst="line">
            <a:avLst/>
          </a:prstGeom>
          <a:ln w="25400">
            <a:solidFill>
              <a:srgbClr val="7171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7" name="Connector 76"/>
          <p:cNvCxnSpPr/>
          <p:nvPr/>
        </p:nvCxnSpPr>
        <p:spPr>
          <a:xfrm flipV="1">
            <a:off x="4553712" y="2864337"/>
            <a:ext cx="52712" cy="51040"/>
          </a:xfrm>
          <a:prstGeom prst="line">
            <a:avLst/>
          </a:prstGeom>
          <a:ln w="25400">
            <a:solidFill>
              <a:srgbClr val="7171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8" name="Connector 77"/>
          <p:cNvCxnSpPr/>
          <p:nvPr/>
        </p:nvCxnSpPr>
        <p:spPr>
          <a:xfrm flipV="1">
            <a:off x="4606424" y="2816687"/>
            <a:ext cx="52712" cy="47650"/>
          </a:xfrm>
          <a:prstGeom prst="line">
            <a:avLst/>
          </a:prstGeom>
          <a:ln w="25400">
            <a:solidFill>
              <a:srgbClr val="7171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9" name="Connector 78"/>
          <p:cNvCxnSpPr/>
          <p:nvPr/>
        </p:nvCxnSpPr>
        <p:spPr>
          <a:xfrm flipV="1">
            <a:off x="4659136" y="2772900"/>
            <a:ext cx="52713" cy="43787"/>
          </a:xfrm>
          <a:prstGeom prst="line">
            <a:avLst/>
          </a:prstGeom>
          <a:ln w="25400">
            <a:solidFill>
              <a:srgbClr val="7171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0" name="Connector 79"/>
          <p:cNvCxnSpPr/>
          <p:nvPr/>
        </p:nvCxnSpPr>
        <p:spPr>
          <a:xfrm flipV="1">
            <a:off x="4711849" y="2733413"/>
            <a:ext cx="52712" cy="39487"/>
          </a:xfrm>
          <a:prstGeom prst="line">
            <a:avLst/>
          </a:prstGeom>
          <a:ln w="25400">
            <a:solidFill>
              <a:srgbClr val="7171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1" name="Connector 80"/>
          <p:cNvCxnSpPr/>
          <p:nvPr/>
        </p:nvCxnSpPr>
        <p:spPr>
          <a:xfrm flipV="1">
            <a:off x="4764561" y="2698618"/>
            <a:ext cx="52713" cy="34795"/>
          </a:xfrm>
          <a:prstGeom prst="line">
            <a:avLst/>
          </a:prstGeom>
          <a:ln w="25400">
            <a:solidFill>
              <a:srgbClr val="7171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2" name="Connector 81"/>
          <p:cNvCxnSpPr/>
          <p:nvPr/>
        </p:nvCxnSpPr>
        <p:spPr>
          <a:xfrm flipV="1">
            <a:off x="4817274" y="2668860"/>
            <a:ext cx="52712" cy="29758"/>
          </a:xfrm>
          <a:prstGeom prst="line">
            <a:avLst/>
          </a:prstGeom>
          <a:ln w="25400">
            <a:solidFill>
              <a:srgbClr val="7171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3" name="Connector 82"/>
          <p:cNvCxnSpPr/>
          <p:nvPr/>
        </p:nvCxnSpPr>
        <p:spPr>
          <a:xfrm flipV="1">
            <a:off x="4869986" y="2644438"/>
            <a:ext cx="52713" cy="24422"/>
          </a:xfrm>
          <a:prstGeom prst="line">
            <a:avLst/>
          </a:prstGeom>
          <a:ln w="25400">
            <a:solidFill>
              <a:srgbClr val="7171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4" name="Connector 83"/>
          <p:cNvCxnSpPr/>
          <p:nvPr/>
        </p:nvCxnSpPr>
        <p:spPr>
          <a:xfrm flipV="1">
            <a:off x="4922699" y="2625592"/>
            <a:ext cx="52712" cy="18846"/>
          </a:xfrm>
          <a:prstGeom prst="line">
            <a:avLst/>
          </a:prstGeom>
          <a:ln w="25400">
            <a:solidFill>
              <a:srgbClr val="7171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5" name="Connector 84"/>
          <p:cNvCxnSpPr/>
          <p:nvPr/>
        </p:nvCxnSpPr>
        <p:spPr>
          <a:xfrm flipV="1">
            <a:off x="4975411" y="2612512"/>
            <a:ext cx="52713" cy="13080"/>
          </a:xfrm>
          <a:prstGeom prst="line">
            <a:avLst/>
          </a:prstGeom>
          <a:ln w="25400">
            <a:solidFill>
              <a:srgbClr val="7171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6" name="Connector 85"/>
          <p:cNvCxnSpPr/>
          <p:nvPr/>
        </p:nvCxnSpPr>
        <p:spPr>
          <a:xfrm flipV="1">
            <a:off x="5028124" y="2605327"/>
            <a:ext cx="52712" cy="7185"/>
          </a:xfrm>
          <a:prstGeom prst="line">
            <a:avLst/>
          </a:prstGeom>
          <a:ln w="25400">
            <a:solidFill>
              <a:srgbClr val="7171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7" name="Connector 86"/>
          <p:cNvCxnSpPr/>
          <p:nvPr/>
        </p:nvCxnSpPr>
        <p:spPr>
          <a:xfrm flipV="1">
            <a:off x="5080836" y="2604108"/>
            <a:ext cx="52713" cy="1219"/>
          </a:xfrm>
          <a:prstGeom prst="line">
            <a:avLst/>
          </a:prstGeom>
          <a:ln w="25400">
            <a:solidFill>
              <a:srgbClr val="7171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8" name="Connector 87"/>
          <p:cNvCxnSpPr/>
          <p:nvPr/>
        </p:nvCxnSpPr>
        <p:spPr>
          <a:xfrm>
            <a:off x="5133549" y="2604108"/>
            <a:ext cx="52712" cy="4760"/>
          </a:xfrm>
          <a:prstGeom prst="line">
            <a:avLst/>
          </a:prstGeom>
          <a:ln w="25400">
            <a:solidFill>
              <a:srgbClr val="7171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9" name="Connector 88"/>
          <p:cNvCxnSpPr/>
          <p:nvPr/>
        </p:nvCxnSpPr>
        <p:spPr>
          <a:xfrm>
            <a:off x="5186261" y="2608868"/>
            <a:ext cx="52713" cy="10691"/>
          </a:xfrm>
          <a:prstGeom prst="line">
            <a:avLst/>
          </a:prstGeom>
          <a:ln w="25400">
            <a:solidFill>
              <a:srgbClr val="7171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0" name="Connector 89"/>
          <p:cNvCxnSpPr/>
          <p:nvPr/>
        </p:nvCxnSpPr>
        <p:spPr>
          <a:xfrm>
            <a:off x="5238974" y="2619559"/>
            <a:ext cx="52712" cy="16516"/>
          </a:xfrm>
          <a:prstGeom prst="line">
            <a:avLst/>
          </a:prstGeom>
          <a:ln w="25400">
            <a:solidFill>
              <a:srgbClr val="7171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1" name="Connector 90"/>
          <p:cNvCxnSpPr/>
          <p:nvPr/>
        </p:nvCxnSpPr>
        <p:spPr>
          <a:xfrm>
            <a:off x="5291686" y="2636075"/>
            <a:ext cx="52713" cy="22176"/>
          </a:xfrm>
          <a:prstGeom prst="line">
            <a:avLst/>
          </a:prstGeom>
          <a:ln w="25400">
            <a:solidFill>
              <a:srgbClr val="7171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2" name="Connector 91"/>
          <p:cNvCxnSpPr/>
          <p:nvPr/>
        </p:nvCxnSpPr>
        <p:spPr>
          <a:xfrm>
            <a:off x="5344399" y="2658251"/>
            <a:ext cx="52712" cy="27617"/>
          </a:xfrm>
          <a:prstGeom prst="line">
            <a:avLst/>
          </a:prstGeom>
          <a:ln w="25400">
            <a:solidFill>
              <a:srgbClr val="7171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3" name="Connector 92"/>
          <p:cNvCxnSpPr/>
          <p:nvPr/>
        </p:nvCxnSpPr>
        <p:spPr>
          <a:xfrm>
            <a:off x="5397111" y="2685868"/>
            <a:ext cx="52713" cy="32782"/>
          </a:xfrm>
          <a:prstGeom prst="line">
            <a:avLst/>
          </a:prstGeom>
          <a:ln w="25400">
            <a:solidFill>
              <a:srgbClr val="7171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4" name="Connector 93"/>
          <p:cNvCxnSpPr/>
          <p:nvPr/>
        </p:nvCxnSpPr>
        <p:spPr>
          <a:xfrm>
            <a:off x="6528816" y="4297680"/>
            <a:ext cx="4553712" cy="0"/>
          </a:xfrm>
          <a:prstGeom prst="line">
            <a:avLst/>
          </a:prstGeom>
          <a:ln w="16510">
            <a:solidFill>
              <a:srgbClr val="7171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5" name="Connector 94"/>
          <p:cNvCxnSpPr/>
          <p:nvPr/>
        </p:nvCxnSpPr>
        <p:spPr>
          <a:xfrm>
            <a:off x="6528816" y="2240280"/>
            <a:ext cx="0" cy="2194560"/>
          </a:xfrm>
          <a:prstGeom prst="line">
            <a:avLst/>
          </a:prstGeom>
          <a:ln w="16510">
            <a:solidFill>
              <a:srgbClr val="7171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6" name="Connector 95"/>
          <p:cNvCxnSpPr/>
          <p:nvPr/>
        </p:nvCxnSpPr>
        <p:spPr>
          <a:xfrm flipV="1">
            <a:off x="6565392" y="3145084"/>
            <a:ext cx="52712" cy="59888"/>
          </a:xfrm>
          <a:prstGeom prst="line">
            <a:avLst/>
          </a:prstGeom>
          <a:ln w="25400">
            <a:solidFill>
              <a:srgbClr val="7171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7" name="Connector 96"/>
          <p:cNvCxnSpPr/>
          <p:nvPr/>
        </p:nvCxnSpPr>
        <p:spPr>
          <a:xfrm flipV="1">
            <a:off x="6618104" y="3085791"/>
            <a:ext cx="52712" cy="59293"/>
          </a:xfrm>
          <a:prstGeom prst="line">
            <a:avLst/>
          </a:prstGeom>
          <a:ln w="25400">
            <a:solidFill>
              <a:srgbClr val="7171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8" name="Connector 97"/>
          <p:cNvCxnSpPr/>
          <p:nvPr/>
        </p:nvCxnSpPr>
        <p:spPr>
          <a:xfrm flipV="1">
            <a:off x="6670816" y="3027685"/>
            <a:ext cx="52713" cy="58106"/>
          </a:xfrm>
          <a:prstGeom prst="line">
            <a:avLst/>
          </a:prstGeom>
          <a:ln w="25400">
            <a:solidFill>
              <a:srgbClr val="7171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9" name="Connector 98"/>
          <p:cNvCxnSpPr/>
          <p:nvPr/>
        </p:nvCxnSpPr>
        <p:spPr>
          <a:xfrm flipV="1">
            <a:off x="6723529" y="2971343"/>
            <a:ext cx="52712" cy="56342"/>
          </a:xfrm>
          <a:prstGeom prst="line">
            <a:avLst/>
          </a:prstGeom>
          <a:ln w="25400">
            <a:solidFill>
              <a:srgbClr val="7171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0" name="Connector 99"/>
          <p:cNvCxnSpPr/>
          <p:nvPr/>
        </p:nvCxnSpPr>
        <p:spPr>
          <a:xfrm flipV="1">
            <a:off x="6776241" y="2917325"/>
            <a:ext cx="52713" cy="54018"/>
          </a:xfrm>
          <a:prstGeom prst="line">
            <a:avLst/>
          </a:prstGeom>
          <a:ln w="25400">
            <a:solidFill>
              <a:srgbClr val="7171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1" name="Connector 100"/>
          <p:cNvCxnSpPr/>
          <p:nvPr/>
        </p:nvCxnSpPr>
        <p:spPr>
          <a:xfrm flipV="1">
            <a:off x="6828954" y="2866170"/>
            <a:ext cx="52712" cy="51155"/>
          </a:xfrm>
          <a:prstGeom prst="line">
            <a:avLst/>
          </a:prstGeom>
          <a:ln w="25400">
            <a:solidFill>
              <a:srgbClr val="7171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2" name="Connector 101"/>
          <p:cNvCxnSpPr/>
          <p:nvPr/>
        </p:nvCxnSpPr>
        <p:spPr>
          <a:xfrm flipV="1">
            <a:off x="6881666" y="2818386"/>
            <a:ext cx="52713" cy="47784"/>
          </a:xfrm>
          <a:prstGeom prst="line">
            <a:avLst/>
          </a:prstGeom>
          <a:ln w="25400">
            <a:solidFill>
              <a:srgbClr val="7171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3" name="Connector 102"/>
          <p:cNvCxnSpPr/>
          <p:nvPr/>
        </p:nvCxnSpPr>
        <p:spPr>
          <a:xfrm flipV="1">
            <a:off x="6934379" y="2774448"/>
            <a:ext cx="52712" cy="43938"/>
          </a:xfrm>
          <a:prstGeom prst="line">
            <a:avLst/>
          </a:prstGeom>
          <a:ln w="25400">
            <a:solidFill>
              <a:srgbClr val="7171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4" name="Connector 103"/>
          <p:cNvCxnSpPr/>
          <p:nvPr/>
        </p:nvCxnSpPr>
        <p:spPr>
          <a:xfrm flipV="1">
            <a:off x="6987091" y="2734794"/>
            <a:ext cx="52713" cy="39654"/>
          </a:xfrm>
          <a:prstGeom prst="line">
            <a:avLst/>
          </a:prstGeom>
          <a:ln w="25400">
            <a:solidFill>
              <a:srgbClr val="7171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5" name="Connector 104"/>
          <p:cNvCxnSpPr/>
          <p:nvPr/>
        </p:nvCxnSpPr>
        <p:spPr>
          <a:xfrm flipV="1">
            <a:off x="7039804" y="2699818"/>
            <a:ext cx="52712" cy="34976"/>
          </a:xfrm>
          <a:prstGeom prst="line">
            <a:avLst/>
          </a:prstGeom>
          <a:ln w="25400">
            <a:solidFill>
              <a:srgbClr val="7171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6" name="Connector 105"/>
          <p:cNvCxnSpPr/>
          <p:nvPr/>
        </p:nvCxnSpPr>
        <p:spPr>
          <a:xfrm flipV="1">
            <a:off x="7092516" y="2669869"/>
            <a:ext cx="52713" cy="29949"/>
          </a:xfrm>
          <a:prstGeom prst="line">
            <a:avLst/>
          </a:prstGeom>
          <a:ln w="25400">
            <a:solidFill>
              <a:srgbClr val="7171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7" name="Connector 106"/>
          <p:cNvCxnSpPr/>
          <p:nvPr/>
        </p:nvCxnSpPr>
        <p:spPr>
          <a:xfrm flipV="1">
            <a:off x="7145229" y="2645244"/>
            <a:ext cx="52712" cy="24625"/>
          </a:xfrm>
          <a:prstGeom prst="line">
            <a:avLst/>
          </a:prstGeom>
          <a:ln w="25400">
            <a:solidFill>
              <a:srgbClr val="7171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8" name="Connector 107"/>
          <p:cNvCxnSpPr/>
          <p:nvPr/>
        </p:nvCxnSpPr>
        <p:spPr>
          <a:xfrm flipV="1">
            <a:off x="7197941" y="2626188"/>
            <a:ext cx="52713" cy="19056"/>
          </a:xfrm>
          <a:prstGeom prst="line">
            <a:avLst/>
          </a:prstGeom>
          <a:ln w="25400">
            <a:solidFill>
              <a:srgbClr val="7171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9" name="Connector 108"/>
          <p:cNvCxnSpPr/>
          <p:nvPr/>
        </p:nvCxnSpPr>
        <p:spPr>
          <a:xfrm flipV="1">
            <a:off x="7250654" y="2612892"/>
            <a:ext cx="52712" cy="13296"/>
          </a:xfrm>
          <a:prstGeom prst="line">
            <a:avLst/>
          </a:prstGeom>
          <a:ln w="25400">
            <a:solidFill>
              <a:srgbClr val="7171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0" name="Connector 109"/>
          <p:cNvCxnSpPr/>
          <p:nvPr/>
        </p:nvCxnSpPr>
        <p:spPr>
          <a:xfrm flipV="1">
            <a:off x="7303366" y="2605487"/>
            <a:ext cx="52713" cy="7405"/>
          </a:xfrm>
          <a:prstGeom prst="line">
            <a:avLst/>
          </a:prstGeom>
          <a:ln w="25400">
            <a:solidFill>
              <a:srgbClr val="7171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1" name="Connector 110"/>
          <p:cNvCxnSpPr/>
          <p:nvPr/>
        </p:nvCxnSpPr>
        <p:spPr>
          <a:xfrm flipV="1">
            <a:off x="7356079" y="2604046"/>
            <a:ext cx="52712" cy="1441"/>
          </a:xfrm>
          <a:prstGeom prst="line">
            <a:avLst/>
          </a:prstGeom>
          <a:ln w="25400">
            <a:solidFill>
              <a:srgbClr val="7171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2" name="Connector 111"/>
          <p:cNvCxnSpPr/>
          <p:nvPr/>
        </p:nvCxnSpPr>
        <p:spPr>
          <a:xfrm>
            <a:off x="7408791" y="2604046"/>
            <a:ext cx="52713" cy="4539"/>
          </a:xfrm>
          <a:prstGeom prst="line">
            <a:avLst/>
          </a:prstGeom>
          <a:ln w="25400">
            <a:solidFill>
              <a:srgbClr val="7171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3" name="Connector 112"/>
          <p:cNvCxnSpPr/>
          <p:nvPr/>
        </p:nvCxnSpPr>
        <p:spPr>
          <a:xfrm>
            <a:off x="7461504" y="2608585"/>
            <a:ext cx="52712" cy="10473"/>
          </a:xfrm>
          <a:prstGeom prst="line">
            <a:avLst/>
          </a:prstGeom>
          <a:ln w="25400">
            <a:solidFill>
              <a:srgbClr val="7171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4" name="Connector 113"/>
          <p:cNvCxnSpPr/>
          <p:nvPr/>
        </p:nvCxnSpPr>
        <p:spPr>
          <a:xfrm>
            <a:off x="7514216" y="2619058"/>
            <a:ext cx="52712" cy="16303"/>
          </a:xfrm>
          <a:prstGeom prst="line">
            <a:avLst/>
          </a:prstGeom>
          <a:ln w="25400">
            <a:solidFill>
              <a:srgbClr val="7171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5" name="Connector 114"/>
          <p:cNvCxnSpPr/>
          <p:nvPr/>
        </p:nvCxnSpPr>
        <p:spPr>
          <a:xfrm>
            <a:off x="7566928" y="2635361"/>
            <a:ext cx="52713" cy="21971"/>
          </a:xfrm>
          <a:prstGeom prst="line">
            <a:avLst/>
          </a:prstGeom>
          <a:ln w="25400">
            <a:solidFill>
              <a:srgbClr val="7171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6" name="Connector 115"/>
          <p:cNvCxnSpPr/>
          <p:nvPr/>
        </p:nvCxnSpPr>
        <p:spPr>
          <a:xfrm>
            <a:off x="7619641" y="2657332"/>
            <a:ext cx="52712" cy="27419"/>
          </a:xfrm>
          <a:prstGeom prst="line">
            <a:avLst/>
          </a:prstGeom>
          <a:ln w="25400">
            <a:solidFill>
              <a:srgbClr val="7171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7" name="Connector 116"/>
          <p:cNvCxnSpPr/>
          <p:nvPr/>
        </p:nvCxnSpPr>
        <p:spPr>
          <a:xfrm>
            <a:off x="7672353" y="2684751"/>
            <a:ext cx="52713" cy="32596"/>
          </a:xfrm>
          <a:prstGeom prst="line">
            <a:avLst/>
          </a:prstGeom>
          <a:ln w="25400">
            <a:solidFill>
              <a:srgbClr val="7171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8" name="Connector 117"/>
          <p:cNvCxnSpPr/>
          <p:nvPr/>
        </p:nvCxnSpPr>
        <p:spPr>
          <a:xfrm>
            <a:off x="7725066" y="2717347"/>
            <a:ext cx="52712" cy="37448"/>
          </a:xfrm>
          <a:prstGeom prst="line">
            <a:avLst/>
          </a:prstGeom>
          <a:ln w="25400">
            <a:solidFill>
              <a:srgbClr val="7171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9" name="Connector 118"/>
          <p:cNvCxnSpPr/>
          <p:nvPr/>
        </p:nvCxnSpPr>
        <p:spPr>
          <a:xfrm>
            <a:off x="7777778" y="2754795"/>
            <a:ext cx="52713" cy="41927"/>
          </a:xfrm>
          <a:prstGeom prst="line">
            <a:avLst/>
          </a:prstGeom>
          <a:ln w="25400">
            <a:solidFill>
              <a:srgbClr val="7171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0" name="Connector 119"/>
          <p:cNvCxnSpPr/>
          <p:nvPr/>
        </p:nvCxnSpPr>
        <p:spPr>
          <a:xfrm>
            <a:off x="7830491" y="2796722"/>
            <a:ext cx="52712" cy="45990"/>
          </a:xfrm>
          <a:prstGeom prst="line">
            <a:avLst/>
          </a:prstGeom>
          <a:ln w="25400">
            <a:solidFill>
              <a:srgbClr val="7171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1" name="Connector 120"/>
          <p:cNvCxnSpPr/>
          <p:nvPr/>
        </p:nvCxnSpPr>
        <p:spPr>
          <a:xfrm>
            <a:off x="7883203" y="2842712"/>
            <a:ext cx="52713" cy="49594"/>
          </a:xfrm>
          <a:prstGeom prst="line">
            <a:avLst/>
          </a:prstGeom>
          <a:ln w="25400">
            <a:solidFill>
              <a:srgbClr val="7171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2" name="Connector 121"/>
          <p:cNvCxnSpPr/>
          <p:nvPr/>
        </p:nvCxnSpPr>
        <p:spPr>
          <a:xfrm>
            <a:off x="7935916" y="2892306"/>
            <a:ext cx="52712" cy="52705"/>
          </a:xfrm>
          <a:prstGeom prst="line">
            <a:avLst/>
          </a:prstGeom>
          <a:ln w="25400">
            <a:solidFill>
              <a:srgbClr val="7171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3" name="Connector 122"/>
          <p:cNvCxnSpPr/>
          <p:nvPr/>
        </p:nvCxnSpPr>
        <p:spPr>
          <a:xfrm>
            <a:off x="7988628" y="2945011"/>
            <a:ext cx="52713" cy="55291"/>
          </a:xfrm>
          <a:prstGeom prst="line">
            <a:avLst/>
          </a:prstGeom>
          <a:ln w="25400">
            <a:solidFill>
              <a:srgbClr val="7171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4" name="Connector 123"/>
          <p:cNvCxnSpPr/>
          <p:nvPr/>
        </p:nvCxnSpPr>
        <p:spPr>
          <a:xfrm>
            <a:off x="8041341" y="3000302"/>
            <a:ext cx="52712" cy="57328"/>
          </a:xfrm>
          <a:prstGeom prst="line">
            <a:avLst/>
          </a:prstGeom>
          <a:ln w="25400">
            <a:solidFill>
              <a:srgbClr val="7171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5" name="Connector 124"/>
          <p:cNvCxnSpPr/>
          <p:nvPr/>
        </p:nvCxnSpPr>
        <p:spPr>
          <a:xfrm>
            <a:off x="8094053" y="3057630"/>
            <a:ext cx="52713" cy="58795"/>
          </a:xfrm>
          <a:prstGeom prst="line">
            <a:avLst/>
          </a:prstGeom>
          <a:ln w="25400">
            <a:solidFill>
              <a:srgbClr val="7171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6" name="Connector 125"/>
          <p:cNvCxnSpPr/>
          <p:nvPr/>
        </p:nvCxnSpPr>
        <p:spPr>
          <a:xfrm>
            <a:off x="8146766" y="3116425"/>
            <a:ext cx="52712" cy="59675"/>
          </a:xfrm>
          <a:prstGeom prst="line">
            <a:avLst/>
          </a:prstGeom>
          <a:ln w="25400">
            <a:solidFill>
              <a:srgbClr val="7171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7" name="Connector 126"/>
          <p:cNvCxnSpPr/>
          <p:nvPr/>
        </p:nvCxnSpPr>
        <p:spPr>
          <a:xfrm>
            <a:off x="8199478" y="3176100"/>
            <a:ext cx="52713" cy="59962"/>
          </a:xfrm>
          <a:prstGeom prst="line">
            <a:avLst/>
          </a:prstGeom>
          <a:ln w="25400">
            <a:solidFill>
              <a:srgbClr val="7171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8" name="Connector 127"/>
          <p:cNvCxnSpPr/>
          <p:nvPr/>
        </p:nvCxnSpPr>
        <p:spPr>
          <a:xfrm>
            <a:off x="8252191" y="3236062"/>
            <a:ext cx="52712" cy="59653"/>
          </a:xfrm>
          <a:prstGeom prst="line">
            <a:avLst/>
          </a:prstGeom>
          <a:ln w="25400">
            <a:solidFill>
              <a:srgbClr val="7171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9" name="Connector 128"/>
          <p:cNvCxnSpPr/>
          <p:nvPr/>
        </p:nvCxnSpPr>
        <p:spPr>
          <a:xfrm>
            <a:off x="8304903" y="3295715"/>
            <a:ext cx="52713" cy="58751"/>
          </a:xfrm>
          <a:prstGeom prst="line">
            <a:avLst/>
          </a:prstGeom>
          <a:ln w="25400">
            <a:solidFill>
              <a:srgbClr val="7171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0" name="Connector 129"/>
          <p:cNvCxnSpPr/>
          <p:nvPr/>
        </p:nvCxnSpPr>
        <p:spPr>
          <a:xfrm>
            <a:off x="8357616" y="3354466"/>
            <a:ext cx="52712" cy="57262"/>
          </a:xfrm>
          <a:prstGeom prst="line">
            <a:avLst/>
          </a:prstGeom>
          <a:ln w="25400">
            <a:solidFill>
              <a:srgbClr val="7171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1" name="Connector 130"/>
          <p:cNvCxnSpPr/>
          <p:nvPr/>
        </p:nvCxnSpPr>
        <p:spPr>
          <a:xfrm>
            <a:off x="8410328" y="3411728"/>
            <a:ext cx="52712" cy="55206"/>
          </a:xfrm>
          <a:prstGeom prst="line">
            <a:avLst/>
          </a:prstGeom>
          <a:ln w="25400">
            <a:solidFill>
              <a:srgbClr val="7171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2" name="Connector 131"/>
          <p:cNvCxnSpPr/>
          <p:nvPr/>
        </p:nvCxnSpPr>
        <p:spPr>
          <a:xfrm>
            <a:off x="8463040" y="3466934"/>
            <a:ext cx="52713" cy="52599"/>
          </a:xfrm>
          <a:prstGeom prst="line">
            <a:avLst/>
          </a:prstGeom>
          <a:ln w="25400">
            <a:solidFill>
              <a:srgbClr val="7171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3" name="Connector 132"/>
          <p:cNvCxnSpPr/>
          <p:nvPr/>
        </p:nvCxnSpPr>
        <p:spPr>
          <a:xfrm>
            <a:off x="8515753" y="3519533"/>
            <a:ext cx="52712" cy="49469"/>
          </a:xfrm>
          <a:prstGeom prst="line">
            <a:avLst/>
          </a:prstGeom>
          <a:ln w="25400">
            <a:solidFill>
              <a:srgbClr val="7171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4" name="Connector 133"/>
          <p:cNvCxnSpPr/>
          <p:nvPr/>
        </p:nvCxnSpPr>
        <p:spPr>
          <a:xfrm>
            <a:off x="8568465" y="3569002"/>
            <a:ext cx="52713" cy="45847"/>
          </a:xfrm>
          <a:prstGeom prst="line">
            <a:avLst/>
          </a:prstGeom>
          <a:ln w="25400">
            <a:solidFill>
              <a:srgbClr val="7171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5" name="Connector 134"/>
          <p:cNvCxnSpPr/>
          <p:nvPr/>
        </p:nvCxnSpPr>
        <p:spPr>
          <a:xfrm>
            <a:off x="8621178" y="3614849"/>
            <a:ext cx="52712" cy="41768"/>
          </a:xfrm>
          <a:prstGeom prst="line">
            <a:avLst/>
          </a:prstGeom>
          <a:ln w="25400">
            <a:solidFill>
              <a:srgbClr val="7171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6" name="Connector 135"/>
          <p:cNvCxnSpPr/>
          <p:nvPr/>
        </p:nvCxnSpPr>
        <p:spPr>
          <a:xfrm>
            <a:off x="8673890" y="3656617"/>
            <a:ext cx="52713" cy="37275"/>
          </a:xfrm>
          <a:prstGeom prst="line">
            <a:avLst/>
          </a:prstGeom>
          <a:ln w="25400">
            <a:solidFill>
              <a:srgbClr val="7171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7" name="Connector 136"/>
          <p:cNvCxnSpPr/>
          <p:nvPr/>
        </p:nvCxnSpPr>
        <p:spPr>
          <a:xfrm>
            <a:off x="8726603" y="3693892"/>
            <a:ext cx="52712" cy="32409"/>
          </a:xfrm>
          <a:prstGeom prst="line">
            <a:avLst/>
          </a:prstGeom>
          <a:ln w="25400">
            <a:solidFill>
              <a:srgbClr val="7171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8" name="Connector 137"/>
          <p:cNvCxnSpPr/>
          <p:nvPr/>
        </p:nvCxnSpPr>
        <p:spPr>
          <a:xfrm>
            <a:off x="8779315" y="3726301"/>
            <a:ext cx="52713" cy="27223"/>
          </a:xfrm>
          <a:prstGeom prst="line">
            <a:avLst/>
          </a:prstGeom>
          <a:ln w="25400">
            <a:solidFill>
              <a:srgbClr val="7171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9" name="Connector 138"/>
          <p:cNvCxnSpPr/>
          <p:nvPr/>
        </p:nvCxnSpPr>
        <p:spPr>
          <a:xfrm>
            <a:off x="8832028" y="3753524"/>
            <a:ext cx="52712" cy="21764"/>
          </a:xfrm>
          <a:prstGeom prst="line">
            <a:avLst/>
          </a:prstGeom>
          <a:ln w="25400">
            <a:solidFill>
              <a:srgbClr val="7171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0" name="Connector 139"/>
          <p:cNvCxnSpPr/>
          <p:nvPr/>
        </p:nvCxnSpPr>
        <p:spPr>
          <a:xfrm>
            <a:off x="8884740" y="3775288"/>
            <a:ext cx="52713" cy="16090"/>
          </a:xfrm>
          <a:prstGeom prst="line">
            <a:avLst/>
          </a:prstGeom>
          <a:ln w="25400">
            <a:solidFill>
              <a:srgbClr val="7171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1" name="Connector 140"/>
          <p:cNvCxnSpPr/>
          <p:nvPr/>
        </p:nvCxnSpPr>
        <p:spPr>
          <a:xfrm>
            <a:off x="8937453" y="3791378"/>
            <a:ext cx="52712" cy="10254"/>
          </a:xfrm>
          <a:prstGeom prst="line">
            <a:avLst/>
          </a:prstGeom>
          <a:ln w="25400">
            <a:solidFill>
              <a:srgbClr val="7171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2" name="Connector 141"/>
          <p:cNvCxnSpPr/>
          <p:nvPr/>
        </p:nvCxnSpPr>
        <p:spPr>
          <a:xfrm>
            <a:off x="8990165" y="3801632"/>
            <a:ext cx="52713" cy="4318"/>
          </a:xfrm>
          <a:prstGeom prst="line">
            <a:avLst/>
          </a:prstGeom>
          <a:ln w="25400">
            <a:solidFill>
              <a:srgbClr val="7171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3" name="Connector 142"/>
          <p:cNvCxnSpPr/>
          <p:nvPr/>
        </p:nvCxnSpPr>
        <p:spPr>
          <a:xfrm flipV="1">
            <a:off x="9042878" y="3804288"/>
            <a:ext cx="52712" cy="1662"/>
          </a:xfrm>
          <a:prstGeom prst="line">
            <a:avLst/>
          </a:prstGeom>
          <a:ln w="25400">
            <a:solidFill>
              <a:srgbClr val="7171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4" name="Connector 143"/>
          <p:cNvCxnSpPr/>
          <p:nvPr/>
        </p:nvCxnSpPr>
        <p:spPr>
          <a:xfrm flipV="1">
            <a:off x="9095590" y="3796663"/>
            <a:ext cx="52713" cy="7625"/>
          </a:xfrm>
          <a:prstGeom prst="line">
            <a:avLst/>
          </a:prstGeom>
          <a:ln w="25400">
            <a:solidFill>
              <a:srgbClr val="7171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5" name="Connector 144"/>
          <p:cNvCxnSpPr/>
          <p:nvPr/>
        </p:nvCxnSpPr>
        <p:spPr>
          <a:xfrm flipV="1">
            <a:off x="9148303" y="3783150"/>
            <a:ext cx="52712" cy="13513"/>
          </a:xfrm>
          <a:prstGeom prst="line">
            <a:avLst/>
          </a:prstGeom>
          <a:ln w="25400">
            <a:solidFill>
              <a:srgbClr val="7171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6" name="Connector 145"/>
          <p:cNvCxnSpPr/>
          <p:nvPr/>
        </p:nvCxnSpPr>
        <p:spPr>
          <a:xfrm flipV="1">
            <a:off x="9201015" y="3763885"/>
            <a:ext cx="52713" cy="19265"/>
          </a:xfrm>
          <a:prstGeom prst="line">
            <a:avLst/>
          </a:prstGeom>
          <a:ln w="25400">
            <a:solidFill>
              <a:srgbClr val="7171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7" name="Connector 146"/>
          <p:cNvCxnSpPr/>
          <p:nvPr/>
        </p:nvCxnSpPr>
        <p:spPr>
          <a:xfrm flipV="1">
            <a:off x="9253728" y="3739058"/>
            <a:ext cx="52712" cy="24827"/>
          </a:xfrm>
          <a:prstGeom prst="line">
            <a:avLst/>
          </a:prstGeom>
          <a:ln w="25400">
            <a:solidFill>
              <a:srgbClr val="7171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8" name="Connector 147"/>
          <p:cNvCxnSpPr/>
          <p:nvPr/>
        </p:nvCxnSpPr>
        <p:spPr>
          <a:xfrm flipV="1">
            <a:off x="9306440" y="3708917"/>
            <a:ext cx="52712" cy="30141"/>
          </a:xfrm>
          <a:prstGeom prst="line">
            <a:avLst/>
          </a:prstGeom>
          <a:ln w="25400">
            <a:solidFill>
              <a:srgbClr val="7171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9" name="Connector 148"/>
          <p:cNvCxnSpPr/>
          <p:nvPr/>
        </p:nvCxnSpPr>
        <p:spPr>
          <a:xfrm flipV="1">
            <a:off x="9359152" y="3673761"/>
            <a:ext cx="52713" cy="35156"/>
          </a:xfrm>
          <a:prstGeom prst="line">
            <a:avLst/>
          </a:prstGeom>
          <a:ln w="25400">
            <a:solidFill>
              <a:srgbClr val="7171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0" name="Connector 149"/>
          <p:cNvCxnSpPr/>
          <p:nvPr/>
        </p:nvCxnSpPr>
        <p:spPr>
          <a:xfrm flipV="1">
            <a:off x="9411865" y="3633942"/>
            <a:ext cx="52712" cy="39819"/>
          </a:xfrm>
          <a:prstGeom prst="line">
            <a:avLst/>
          </a:prstGeom>
          <a:ln w="25400">
            <a:solidFill>
              <a:srgbClr val="7171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1" name="Connector 150"/>
          <p:cNvCxnSpPr/>
          <p:nvPr/>
        </p:nvCxnSpPr>
        <p:spPr>
          <a:xfrm flipV="1">
            <a:off x="9464577" y="3589853"/>
            <a:ext cx="52713" cy="44089"/>
          </a:xfrm>
          <a:prstGeom prst="line">
            <a:avLst/>
          </a:prstGeom>
          <a:ln w="25400">
            <a:solidFill>
              <a:srgbClr val="7171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2" name="Connector 151"/>
          <p:cNvCxnSpPr/>
          <p:nvPr/>
        </p:nvCxnSpPr>
        <p:spPr>
          <a:xfrm flipV="1">
            <a:off x="9517290" y="3541935"/>
            <a:ext cx="52712" cy="47918"/>
          </a:xfrm>
          <a:prstGeom prst="line">
            <a:avLst/>
          </a:prstGeom>
          <a:ln w="25400">
            <a:solidFill>
              <a:srgbClr val="7171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3" name="Connector 152"/>
          <p:cNvCxnSpPr/>
          <p:nvPr/>
        </p:nvCxnSpPr>
        <p:spPr>
          <a:xfrm flipV="1">
            <a:off x="9570002" y="3490665"/>
            <a:ext cx="52713" cy="51270"/>
          </a:xfrm>
          <a:prstGeom prst="line">
            <a:avLst/>
          </a:prstGeom>
          <a:ln w="25400">
            <a:solidFill>
              <a:srgbClr val="7171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4" name="Connector 153"/>
          <p:cNvCxnSpPr/>
          <p:nvPr/>
        </p:nvCxnSpPr>
        <p:spPr>
          <a:xfrm flipV="1">
            <a:off x="9622715" y="3436551"/>
            <a:ext cx="52712" cy="54114"/>
          </a:xfrm>
          <a:prstGeom prst="line">
            <a:avLst/>
          </a:prstGeom>
          <a:ln w="25400">
            <a:solidFill>
              <a:srgbClr val="7171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5" name="Connector 154"/>
          <p:cNvCxnSpPr/>
          <p:nvPr/>
        </p:nvCxnSpPr>
        <p:spPr>
          <a:xfrm flipV="1">
            <a:off x="9675427" y="3380134"/>
            <a:ext cx="52713" cy="56417"/>
          </a:xfrm>
          <a:prstGeom prst="line">
            <a:avLst/>
          </a:prstGeom>
          <a:ln w="25400">
            <a:solidFill>
              <a:srgbClr val="7171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6" name="Connector 155"/>
          <p:cNvCxnSpPr/>
          <p:nvPr/>
        </p:nvCxnSpPr>
        <p:spPr>
          <a:xfrm flipV="1">
            <a:off x="9728140" y="3321973"/>
            <a:ext cx="52712" cy="58161"/>
          </a:xfrm>
          <a:prstGeom prst="line">
            <a:avLst/>
          </a:prstGeom>
          <a:ln w="25400">
            <a:solidFill>
              <a:srgbClr val="7171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7" name="Connector 156"/>
          <p:cNvCxnSpPr/>
          <p:nvPr/>
        </p:nvCxnSpPr>
        <p:spPr>
          <a:xfrm flipV="1">
            <a:off x="9780852" y="3262648"/>
            <a:ext cx="52713" cy="59325"/>
          </a:xfrm>
          <a:prstGeom prst="line">
            <a:avLst/>
          </a:prstGeom>
          <a:ln w="25400">
            <a:solidFill>
              <a:srgbClr val="7171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8" name="Connector 157"/>
          <p:cNvCxnSpPr/>
          <p:nvPr/>
        </p:nvCxnSpPr>
        <p:spPr>
          <a:xfrm flipV="1">
            <a:off x="9833565" y="3202750"/>
            <a:ext cx="52712" cy="59898"/>
          </a:xfrm>
          <a:prstGeom prst="line">
            <a:avLst/>
          </a:prstGeom>
          <a:ln w="25400">
            <a:solidFill>
              <a:srgbClr val="7171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9" name="Connector 158"/>
          <p:cNvCxnSpPr/>
          <p:nvPr/>
        </p:nvCxnSpPr>
        <p:spPr>
          <a:xfrm flipV="1">
            <a:off x="9886277" y="3142873"/>
            <a:ext cx="52713" cy="59877"/>
          </a:xfrm>
          <a:prstGeom prst="line">
            <a:avLst/>
          </a:prstGeom>
          <a:ln w="25400">
            <a:solidFill>
              <a:srgbClr val="7171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0" name="Connector 159"/>
          <p:cNvCxnSpPr/>
          <p:nvPr/>
        </p:nvCxnSpPr>
        <p:spPr>
          <a:xfrm flipV="1">
            <a:off x="9938990" y="3083615"/>
            <a:ext cx="52712" cy="59258"/>
          </a:xfrm>
          <a:prstGeom prst="line">
            <a:avLst/>
          </a:prstGeom>
          <a:ln w="25400">
            <a:solidFill>
              <a:srgbClr val="7171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1" name="Connector 160"/>
          <p:cNvCxnSpPr/>
          <p:nvPr/>
        </p:nvCxnSpPr>
        <p:spPr>
          <a:xfrm flipV="1">
            <a:off x="9991702" y="3025564"/>
            <a:ext cx="52713" cy="58051"/>
          </a:xfrm>
          <a:prstGeom prst="line">
            <a:avLst/>
          </a:prstGeom>
          <a:ln w="25400">
            <a:solidFill>
              <a:srgbClr val="7171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2" name="Connector 161"/>
          <p:cNvCxnSpPr/>
          <p:nvPr/>
        </p:nvCxnSpPr>
        <p:spPr>
          <a:xfrm flipV="1">
            <a:off x="10044415" y="2969298"/>
            <a:ext cx="52712" cy="56266"/>
          </a:xfrm>
          <a:prstGeom prst="line">
            <a:avLst/>
          </a:prstGeom>
          <a:ln w="25400">
            <a:solidFill>
              <a:srgbClr val="7171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3" name="Connector 162"/>
          <p:cNvCxnSpPr/>
          <p:nvPr/>
        </p:nvCxnSpPr>
        <p:spPr>
          <a:xfrm flipV="1">
            <a:off x="10097127" y="2915377"/>
            <a:ext cx="52713" cy="53921"/>
          </a:xfrm>
          <a:prstGeom prst="line">
            <a:avLst/>
          </a:prstGeom>
          <a:ln w="25400">
            <a:solidFill>
              <a:srgbClr val="7171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4" name="Connector 163"/>
          <p:cNvCxnSpPr/>
          <p:nvPr/>
        </p:nvCxnSpPr>
        <p:spPr>
          <a:xfrm flipV="1">
            <a:off x="10149840" y="2864337"/>
            <a:ext cx="52712" cy="51040"/>
          </a:xfrm>
          <a:prstGeom prst="line">
            <a:avLst/>
          </a:prstGeom>
          <a:ln w="25400">
            <a:solidFill>
              <a:srgbClr val="7171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5" name="Connector 164"/>
          <p:cNvCxnSpPr/>
          <p:nvPr/>
        </p:nvCxnSpPr>
        <p:spPr>
          <a:xfrm flipV="1">
            <a:off x="10202552" y="2816687"/>
            <a:ext cx="52712" cy="47650"/>
          </a:xfrm>
          <a:prstGeom prst="line">
            <a:avLst/>
          </a:prstGeom>
          <a:ln w="25400">
            <a:solidFill>
              <a:srgbClr val="7171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6" name="Connector 165"/>
          <p:cNvCxnSpPr/>
          <p:nvPr/>
        </p:nvCxnSpPr>
        <p:spPr>
          <a:xfrm flipV="1">
            <a:off x="10255264" y="2772900"/>
            <a:ext cx="52713" cy="43787"/>
          </a:xfrm>
          <a:prstGeom prst="line">
            <a:avLst/>
          </a:prstGeom>
          <a:ln w="25400">
            <a:solidFill>
              <a:srgbClr val="7171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7" name="Connector 166"/>
          <p:cNvCxnSpPr/>
          <p:nvPr/>
        </p:nvCxnSpPr>
        <p:spPr>
          <a:xfrm flipV="1">
            <a:off x="10307977" y="2733413"/>
            <a:ext cx="52712" cy="39487"/>
          </a:xfrm>
          <a:prstGeom prst="line">
            <a:avLst/>
          </a:prstGeom>
          <a:ln w="25400">
            <a:solidFill>
              <a:srgbClr val="7171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8" name="Connector 167"/>
          <p:cNvCxnSpPr/>
          <p:nvPr/>
        </p:nvCxnSpPr>
        <p:spPr>
          <a:xfrm flipV="1">
            <a:off x="10360689" y="2698618"/>
            <a:ext cx="52713" cy="34795"/>
          </a:xfrm>
          <a:prstGeom prst="line">
            <a:avLst/>
          </a:prstGeom>
          <a:ln w="25400">
            <a:solidFill>
              <a:srgbClr val="7171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9" name="Connector 168"/>
          <p:cNvCxnSpPr/>
          <p:nvPr/>
        </p:nvCxnSpPr>
        <p:spPr>
          <a:xfrm flipV="1">
            <a:off x="10413402" y="2668860"/>
            <a:ext cx="52712" cy="29758"/>
          </a:xfrm>
          <a:prstGeom prst="line">
            <a:avLst/>
          </a:prstGeom>
          <a:ln w="25400">
            <a:solidFill>
              <a:srgbClr val="7171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0" name="Connector 169"/>
          <p:cNvCxnSpPr/>
          <p:nvPr/>
        </p:nvCxnSpPr>
        <p:spPr>
          <a:xfrm flipV="1">
            <a:off x="10466114" y="2644438"/>
            <a:ext cx="52713" cy="24422"/>
          </a:xfrm>
          <a:prstGeom prst="line">
            <a:avLst/>
          </a:prstGeom>
          <a:ln w="25400">
            <a:solidFill>
              <a:srgbClr val="7171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1" name="Connector 170"/>
          <p:cNvCxnSpPr/>
          <p:nvPr/>
        </p:nvCxnSpPr>
        <p:spPr>
          <a:xfrm flipV="1">
            <a:off x="10518827" y="2625592"/>
            <a:ext cx="52712" cy="18846"/>
          </a:xfrm>
          <a:prstGeom prst="line">
            <a:avLst/>
          </a:prstGeom>
          <a:ln w="25400">
            <a:solidFill>
              <a:srgbClr val="7171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2" name="Connector 171"/>
          <p:cNvCxnSpPr/>
          <p:nvPr/>
        </p:nvCxnSpPr>
        <p:spPr>
          <a:xfrm flipV="1">
            <a:off x="10571539" y="2612512"/>
            <a:ext cx="52713" cy="13080"/>
          </a:xfrm>
          <a:prstGeom prst="line">
            <a:avLst/>
          </a:prstGeom>
          <a:ln w="25400">
            <a:solidFill>
              <a:srgbClr val="7171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3" name="Connector 172"/>
          <p:cNvCxnSpPr/>
          <p:nvPr/>
        </p:nvCxnSpPr>
        <p:spPr>
          <a:xfrm flipV="1">
            <a:off x="10624252" y="2605327"/>
            <a:ext cx="52712" cy="7185"/>
          </a:xfrm>
          <a:prstGeom prst="line">
            <a:avLst/>
          </a:prstGeom>
          <a:ln w="25400">
            <a:solidFill>
              <a:srgbClr val="7171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4" name="Connector 173"/>
          <p:cNvCxnSpPr/>
          <p:nvPr/>
        </p:nvCxnSpPr>
        <p:spPr>
          <a:xfrm flipV="1">
            <a:off x="10676964" y="2604108"/>
            <a:ext cx="52713" cy="1219"/>
          </a:xfrm>
          <a:prstGeom prst="line">
            <a:avLst/>
          </a:prstGeom>
          <a:ln w="25400">
            <a:solidFill>
              <a:srgbClr val="7171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5" name="Connector 174"/>
          <p:cNvCxnSpPr/>
          <p:nvPr/>
        </p:nvCxnSpPr>
        <p:spPr>
          <a:xfrm>
            <a:off x="10729677" y="2604108"/>
            <a:ext cx="52712" cy="4760"/>
          </a:xfrm>
          <a:prstGeom prst="line">
            <a:avLst/>
          </a:prstGeom>
          <a:ln w="25400">
            <a:solidFill>
              <a:srgbClr val="7171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6" name="Connector 175"/>
          <p:cNvCxnSpPr/>
          <p:nvPr/>
        </p:nvCxnSpPr>
        <p:spPr>
          <a:xfrm>
            <a:off x="10782389" y="2608868"/>
            <a:ext cx="52713" cy="10691"/>
          </a:xfrm>
          <a:prstGeom prst="line">
            <a:avLst/>
          </a:prstGeom>
          <a:ln w="25400">
            <a:solidFill>
              <a:srgbClr val="7171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7" name="Connector 176"/>
          <p:cNvCxnSpPr/>
          <p:nvPr/>
        </p:nvCxnSpPr>
        <p:spPr>
          <a:xfrm>
            <a:off x="10835102" y="2619559"/>
            <a:ext cx="52712" cy="16516"/>
          </a:xfrm>
          <a:prstGeom prst="line">
            <a:avLst/>
          </a:prstGeom>
          <a:ln w="25400">
            <a:solidFill>
              <a:srgbClr val="7171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8" name="Connector 177"/>
          <p:cNvCxnSpPr/>
          <p:nvPr/>
        </p:nvCxnSpPr>
        <p:spPr>
          <a:xfrm>
            <a:off x="10887814" y="2636075"/>
            <a:ext cx="52713" cy="22176"/>
          </a:xfrm>
          <a:prstGeom prst="line">
            <a:avLst/>
          </a:prstGeom>
          <a:ln w="25400">
            <a:solidFill>
              <a:srgbClr val="7171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9" name="Connector 178"/>
          <p:cNvCxnSpPr/>
          <p:nvPr/>
        </p:nvCxnSpPr>
        <p:spPr>
          <a:xfrm>
            <a:off x="10940527" y="2658251"/>
            <a:ext cx="52712" cy="27617"/>
          </a:xfrm>
          <a:prstGeom prst="line">
            <a:avLst/>
          </a:prstGeom>
          <a:ln w="25400">
            <a:solidFill>
              <a:srgbClr val="7171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0" name="Connector 179"/>
          <p:cNvCxnSpPr/>
          <p:nvPr/>
        </p:nvCxnSpPr>
        <p:spPr>
          <a:xfrm>
            <a:off x="10993239" y="2685868"/>
            <a:ext cx="52713" cy="32782"/>
          </a:xfrm>
          <a:prstGeom prst="line">
            <a:avLst/>
          </a:prstGeom>
          <a:ln w="25400">
            <a:solidFill>
              <a:srgbClr val="7171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1" name="Oval 180"/>
          <p:cNvSpPr/>
          <p:nvPr/>
        </p:nvSpPr>
        <p:spPr>
          <a:xfrm>
            <a:off x="905256" y="3140964"/>
            <a:ext cx="128016" cy="128016"/>
          </a:xfrm>
          <a:prstGeom prst="ellipse">
            <a:avLst/>
          </a:prstGeom>
          <a:solidFill>
            <a:srgbClr val="8C64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2" name="Oval 181"/>
          <p:cNvSpPr/>
          <p:nvPr/>
        </p:nvSpPr>
        <p:spPr>
          <a:xfrm>
            <a:off x="1353312" y="2690052"/>
            <a:ext cx="128016" cy="128016"/>
          </a:xfrm>
          <a:prstGeom prst="ellipse">
            <a:avLst/>
          </a:prstGeom>
          <a:solidFill>
            <a:srgbClr val="8C64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3" name="Oval 182"/>
          <p:cNvSpPr/>
          <p:nvPr/>
        </p:nvSpPr>
        <p:spPr>
          <a:xfrm>
            <a:off x="1801368" y="2544577"/>
            <a:ext cx="128016" cy="128016"/>
          </a:xfrm>
          <a:prstGeom prst="ellipse">
            <a:avLst/>
          </a:prstGeom>
          <a:solidFill>
            <a:srgbClr val="8C64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4" name="Oval 183"/>
          <p:cNvSpPr/>
          <p:nvPr/>
        </p:nvSpPr>
        <p:spPr>
          <a:xfrm>
            <a:off x="2249424" y="2803080"/>
            <a:ext cx="128016" cy="128016"/>
          </a:xfrm>
          <a:prstGeom prst="ellipse">
            <a:avLst/>
          </a:prstGeom>
          <a:solidFill>
            <a:srgbClr val="8C64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5" name="Oval 184"/>
          <p:cNvSpPr/>
          <p:nvPr/>
        </p:nvSpPr>
        <p:spPr>
          <a:xfrm>
            <a:off x="2697480" y="3290458"/>
            <a:ext cx="128016" cy="128016"/>
          </a:xfrm>
          <a:prstGeom prst="ellipse">
            <a:avLst/>
          </a:prstGeom>
          <a:solidFill>
            <a:srgbClr val="8C64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6" name="Oval 185"/>
          <p:cNvSpPr/>
          <p:nvPr/>
        </p:nvSpPr>
        <p:spPr>
          <a:xfrm>
            <a:off x="3145536" y="3676571"/>
            <a:ext cx="128016" cy="128016"/>
          </a:xfrm>
          <a:prstGeom prst="ellipse">
            <a:avLst/>
          </a:prstGeom>
          <a:solidFill>
            <a:srgbClr val="8C64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7" name="Oval 186"/>
          <p:cNvSpPr/>
          <p:nvPr/>
        </p:nvSpPr>
        <p:spPr>
          <a:xfrm>
            <a:off x="3593592" y="3699877"/>
            <a:ext cx="128016" cy="128016"/>
          </a:xfrm>
          <a:prstGeom prst="ellipse">
            <a:avLst/>
          </a:prstGeom>
          <a:solidFill>
            <a:srgbClr val="8C64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8" name="Oval 187"/>
          <p:cNvSpPr/>
          <p:nvPr/>
        </p:nvSpPr>
        <p:spPr>
          <a:xfrm>
            <a:off x="4041648" y="3344588"/>
            <a:ext cx="128016" cy="128016"/>
          </a:xfrm>
          <a:prstGeom prst="ellipse">
            <a:avLst/>
          </a:prstGeom>
          <a:solidFill>
            <a:srgbClr val="8C64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9" name="Oval 188"/>
          <p:cNvSpPr/>
          <p:nvPr/>
        </p:nvSpPr>
        <p:spPr>
          <a:xfrm>
            <a:off x="4489704" y="2851369"/>
            <a:ext cx="128016" cy="128016"/>
          </a:xfrm>
          <a:prstGeom prst="ellipse">
            <a:avLst/>
          </a:prstGeom>
          <a:solidFill>
            <a:srgbClr val="8C64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0" name="Oval 189"/>
          <p:cNvSpPr/>
          <p:nvPr/>
        </p:nvSpPr>
        <p:spPr>
          <a:xfrm>
            <a:off x="4937760" y="2554314"/>
            <a:ext cx="128016" cy="128016"/>
          </a:xfrm>
          <a:prstGeom prst="ellipse">
            <a:avLst/>
          </a:prstGeom>
          <a:solidFill>
            <a:srgbClr val="8C64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1" name="Oval 190"/>
          <p:cNvSpPr/>
          <p:nvPr/>
        </p:nvSpPr>
        <p:spPr>
          <a:xfrm>
            <a:off x="5385816" y="2654642"/>
            <a:ext cx="128016" cy="128016"/>
          </a:xfrm>
          <a:prstGeom prst="ellipse">
            <a:avLst/>
          </a:prstGeom>
          <a:solidFill>
            <a:srgbClr val="8C64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92" name="Connector 191"/>
          <p:cNvCxnSpPr/>
          <p:nvPr/>
        </p:nvCxnSpPr>
        <p:spPr>
          <a:xfrm>
            <a:off x="6537960" y="2331720"/>
            <a:ext cx="4544568" cy="0"/>
          </a:xfrm>
          <a:prstGeom prst="line">
            <a:avLst/>
          </a:prstGeom>
          <a:ln w="1905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3" name="Connector 192"/>
          <p:cNvCxnSpPr/>
          <p:nvPr/>
        </p:nvCxnSpPr>
        <p:spPr>
          <a:xfrm>
            <a:off x="6537960" y="2578608"/>
            <a:ext cx="4544568" cy="0"/>
          </a:xfrm>
          <a:prstGeom prst="line">
            <a:avLst/>
          </a:prstGeom>
          <a:ln w="1905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4" name="Connector 193"/>
          <p:cNvCxnSpPr/>
          <p:nvPr/>
        </p:nvCxnSpPr>
        <p:spPr>
          <a:xfrm>
            <a:off x="6537960" y="2825496"/>
            <a:ext cx="4544568" cy="0"/>
          </a:xfrm>
          <a:prstGeom prst="line">
            <a:avLst/>
          </a:prstGeom>
          <a:ln w="1905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5" name="Connector 194"/>
          <p:cNvCxnSpPr/>
          <p:nvPr/>
        </p:nvCxnSpPr>
        <p:spPr>
          <a:xfrm>
            <a:off x="6537960" y="3072384"/>
            <a:ext cx="4544568" cy="0"/>
          </a:xfrm>
          <a:prstGeom prst="line">
            <a:avLst/>
          </a:prstGeom>
          <a:ln w="1905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6" name="Connector 195"/>
          <p:cNvCxnSpPr/>
          <p:nvPr/>
        </p:nvCxnSpPr>
        <p:spPr>
          <a:xfrm>
            <a:off x="6537960" y="3319272"/>
            <a:ext cx="4544568" cy="0"/>
          </a:xfrm>
          <a:prstGeom prst="line">
            <a:avLst/>
          </a:prstGeom>
          <a:ln w="1905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7" name="Connector 196"/>
          <p:cNvCxnSpPr/>
          <p:nvPr/>
        </p:nvCxnSpPr>
        <p:spPr>
          <a:xfrm>
            <a:off x="6537960" y="3566160"/>
            <a:ext cx="4544568" cy="0"/>
          </a:xfrm>
          <a:prstGeom prst="line">
            <a:avLst/>
          </a:prstGeom>
          <a:ln w="1905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8" name="Connector 197"/>
          <p:cNvCxnSpPr/>
          <p:nvPr/>
        </p:nvCxnSpPr>
        <p:spPr>
          <a:xfrm>
            <a:off x="6537960" y="3813048"/>
            <a:ext cx="4544568" cy="0"/>
          </a:xfrm>
          <a:prstGeom prst="line">
            <a:avLst/>
          </a:prstGeom>
          <a:ln w="1905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9" name="Connector 198"/>
          <p:cNvCxnSpPr/>
          <p:nvPr/>
        </p:nvCxnSpPr>
        <p:spPr>
          <a:xfrm>
            <a:off x="6537960" y="4059935"/>
            <a:ext cx="4544568" cy="0"/>
          </a:xfrm>
          <a:prstGeom prst="line">
            <a:avLst/>
          </a:prstGeom>
          <a:ln w="1905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0" name="TextBox 199"/>
          <p:cNvSpPr txBox="1"/>
          <p:nvPr/>
        </p:nvSpPr>
        <p:spPr>
          <a:xfrm>
            <a:off x="868680" y="4864608"/>
            <a:ext cx="4983480" cy="7132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>
              <a:spcAft>
                <a:spcPts val="0"/>
              </a:spcAft>
              <a:defRPr sz="2100" b="1">
                <a:solidFill>
                  <a:srgbClr val="8C64E1"/>
                </a:solidFill>
                <a:latin typeface="Alibaba PuHuiTi 3.0 115 Black"/>
              </a:defRPr>
            </a:pPr>
            <a:r>
              <a:t>时间位置变密：样本个数变化</a:t>
            </a:r>
          </a:p>
        </p:txBody>
      </p:sp>
      <p:sp>
        <p:nvSpPr>
          <p:cNvPr id="201" name="TextBox 200"/>
          <p:cNvSpPr txBox="1"/>
          <p:nvPr/>
        </p:nvSpPr>
        <p:spPr>
          <a:xfrm>
            <a:off x="6428232" y="4864608"/>
            <a:ext cx="4828032" cy="7132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>
              <a:spcAft>
                <a:spcPts val="0"/>
              </a:spcAft>
              <a:defRPr sz="2100" b="1">
                <a:solidFill>
                  <a:srgbClr val="00B0F0"/>
                </a:solidFill>
                <a:latin typeface="Alibaba PuHuiTi 3.0 115 Black"/>
              </a:defRPr>
            </a:pPr>
            <a:r>
              <a:t>代表值变密：每点存储位数变化</a:t>
            </a:r>
          </a:p>
        </p:txBody>
      </p:sp>
      <p:sp>
        <p:nvSpPr>
          <p:cNvPr id="202" name="TextBox 201"/>
          <p:cNvSpPr txBox="1"/>
          <p:nvPr/>
        </p:nvSpPr>
        <p:spPr>
          <a:xfrm>
            <a:off x="786384" y="5852160"/>
            <a:ext cx="10698480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>
              <a:spcAft>
                <a:spcPts val="0"/>
              </a:spcAft>
              <a:defRPr sz="1700" b="0">
                <a:solidFill>
                  <a:srgbClr val="8C64E1"/>
                </a:solidFill>
                <a:latin typeface="Alibaba PuHuiTi 3.0 55 Regular"/>
              </a:defRPr>
            </a:pPr>
            <a:r>
              <a:t>重要区别：位数变大，不等于同一时间里采样次数变多。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36576"/>
            <a:ext cx="12191695" cy="73152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57416"/>
            <a:ext cx="12191695" cy="73152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12648" y="576072"/>
            <a:ext cx="10972800" cy="7863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3400" b="1">
                <a:solidFill>
                  <a:srgbClr val="262626"/>
                </a:solidFill>
                <a:latin typeface="Alibaba PuHuiTi 3.0 115 Black"/>
              </a:defRPr>
            </a:pPr>
            <a:r>
              <a:t>采样更多、等级更密，就一定听得更好吗？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194560"/>
            <a:ext cx="4206240" cy="7040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3000" b="1">
                <a:solidFill>
                  <a:srgbClr val="8C64E1"/>
                </a:solidFill>
                <a:latin typeface="Alibaba PuHuiTi 3.0 115 Black"/>
              </a:defRPr>
            </a:pPr>
            <a:r>
              <a:t>采样率 ↑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2990088"/>
            <a:ext cx="438912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300" b="0">
                <a:solidFill>
                  <a:srgbClr val="262626"/>
                </a:solidFill>
                <a:latin typeface="Alibaba PuHuiTi 3.0 55 Regular"/>
              </a:defRPr>
            </a:pPr>
            <a:r>
              <a:t>每秒样本更多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92240" y="2194560"/>
            <a:ext cx="4297680" cy="7040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3000" b="1">
                <a:solidFill>
                  <a:srgbClr val="00B0F0"/>
                </a:solidFill>
                <a:latin typeface="Alibaba PuHuiTi 3.0 115 Black"/>
              </a:defRPr>
            </a:pPr>
            <a:r>
              <a:t>量化位数 ↑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92240" y="2990088"/>
            <a:ext cx="457200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300" b="0">
                <a:solidFill>
                  <a:srgbClr val="262626"/>
                </a:solidFill>
                <a:latin typeface="Alibaba PuHuiTi 3.0 55 Regular"/>
              </a:defRPr>
            </a:pPr>
            <a:r>
              <a:t>每样本可选等级更多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13816" y="5230368"/>
            <a:ext cx="9966960" cy="4754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300" b="1">
                <a:solidFill>
                  <a:srgbClr val="8C64E1"/>
                </a:solidFill>
                <a:latin typeface="Alibaba PuHuiTi 3.0 115 Black"/>
              </a:defRPr>
            </a:pPr>
            <a:r>
              <a:t>通常能提高记录的精细程度，但音质不会无限提高。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36576"/>
            <a:ext cx="12191695" cy="73152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57416"/>
            <a:ext cx="12191695" cy="73152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12648" y="576072"/>
            <a:ext cx="10972800" cy="7863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3400" b="1">
                <a:solidFill>
                  <a:srgbClr val="262626"/>
                </a:solidFill>
                <a:latin typeface="Alibaba PuHuiTi 3.0 115 Black"/>
              </a:defRPr>
            </a:pPr>
            <a:r>
              <a:t>3 bit是教学模型，真实录音常见16 bit。</a:t>
            </a:r>
          </a:p>
        </p:txBody>
      </p:sp>
      <p:sp>
        <p:nvSpPr>
          <p:cNvPr id="5" name="Rectangle 4"/>
          <p:cNvSpPr/>
          <p:nvPr/>
        </p:nvSpPr>
        <p:spPr>
          <a:xfrm>
            <a:off x="905256" y="2066543"/>
            <a:ext cx="4709160" cy="667512"/>
          </a:xfrm>
          <a:prstGeom prst="rect">
            <a:avLst/>
          </a:prstGeom>
          <a:noFill/>
          <a:ln w="25400">
            <a:solidFill>
              <a:srgbClr val="8C64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78408" y="2185415"/>
            <a:ext cx="4562856" cy="40233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  <a:defRPr sz="2600" b="1">
                <a:solidFill>
                  <a:srgbClr val="8C64E1"/>
                </a:solidFill>
                <a:latin typeface="Alibaba PuHuiTi 3.0 115 Black"/>
              </a:defRPr>
            </a:pPr>
            <a:r>
              <a:t>课堂模型：3 bit</a:t>
            </a:r>
          </a:p>
        </p:txBody>
      </p:sp>
      <p:sp>
        <p:nvSpPr>
          <p:cNvPr id="7" name="Rectangle 6"/>
          <p:cNvSpPr/>
          <p:nvPr/>
        </p:nvSpPr>
        <p:spPr>
          <a:xfrm>
            <a:off x="6528816" y="2066543"/>
            <a:ext cx="4626864" cy="667512"/>
          </a:xfrm>
          <a:prstGeom prst="rect">
            <a:avLst/>
          </a:prstGeom>
          <a:noFill/>
          <a:ln w="25400">
            <a:solidFill>
              <a:srgbClr val="00B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601968" y="2185415"/>
            <a:ext cx="4480559" cy="40233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  <a:defRPr sz="2600" b="1">
                <a:solidFill>
                  <a:srgbClr val="00B0F0"/>
                </a:solidFill>
                <a:latin typeface="Alibaba PuHuiTi 3.0 115 Black"/>
              </a:defRPr>
            </a:pPr>
            <a:r>
              <a:t>PCM例子：16 bit</a:t>
            </a:r>
          </a:p>
        </p:txBody>
      </p:sp>
      <p:sp>
        <p:nvSpPr>
          <p:cNvPr id="9" name="Rectangle 8"/>
          <p:cNvSpPr/>
          <p:nvPr/>
        </p:nvSpPr>
        <p:spPr>
          <a:xfrm>
            <a:off x="1005840" y="3429000"/>
            <a:ext cx="384048" cy="411480"/>
          </a:xfrm>
          <a:prstGeom prst="rect">
            <a:avLst/>
          </a:prstGeom>
          <a:solidFill>
            <a:srgbClr val="FFFFFF"/>
          </a:solidFill>
          <a:ln w="25400">
            <a:solidFill>
              <a:srgbClr val="8C64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97280" y="3461004"/>
            <a:ext cx="22860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1600" b="1">
                <a:solidFill>
                  <a:srgbClr val="262626"/>
                </a:solidFill>
                <a:latin typeface="Alibaba PuHuiTi 3.0 115 Black"/>
              </a:defRPr>
            </a:pPr>
            <a:r>
              <a:t>1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490472" y="3429000"/>
            <a:ext cx="384048" cy="411480"/>
          </a:xfrm>
          <a:prstGeom prst="rect">
            <a:avLst/>
          </a:prstGeom>
          <a:solidFill>
            <a:srgbClr val="FFFFFF"/>
          </a:solidFill>
          <a:ln w="25400">
            <a:solidFill>
              <a:srgbClr val="8C64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581912" y="3461004"/>
            <a:ext cx="22860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1600" b="1">
                <a:solidFill>
                  <a:srgbClr val="262626"/>
                </a:solidFill>
                <a:latin typeface="Alibaba PuHuiTi 3.0 115 Black"/>
              </a:defRPr>
            </a:pPr>
            <a:r>
              <a:t>0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975104" y="3429000"/>
            <a:ext cx="384048" cy="411480"/>
          </a:xfrm>
          <a:prstGeom prst="rect">
            <a:avLst/>
          </a:prstGeom>
          <a:solidFill>
            <a:srgbClr val="FFFFFF"/>
          </a:solidFill>
          <a:ln w="25400">
            <a:solidFill>
              <a:srgbClr val="8C64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066544" y="3461004"/>
            <a:ext cx="22860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1600" b="1">
                <a:solidFill>
                  <a:srgbClr val="262626"/>
                </a:solidFill>
                <a:latin typeface="Alibaba PuHuiTi 3.0 115 Black"/>
              </a:defRPr>
            </a:pPr>
            <a:r>
              <a:t>0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611112" y="3429000"/>
            <a:ext cx="384048" cy="411480"/>
          </a:xfrm>
          <a:prstGeom prst="rect">
            <a:avLst/>
          </a:prstGeom>
          <a:solidFill>
            <a:srgbClr val="FFFFFF"/>
          </a:solidFill>
          <a:ln w="25400">
            <a:solidFill>
              <a:srgbClr val="00B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702552" y="3461004"/>
            <a:ext cx="22860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1600" b="1">
                <a:solidFill>
                  <a:srgbClr val="262626"/>
                </a:solidFill>
                <a:latin typeface="Alibaba PuHuiTi 3.0 115 Black"/>
              </a:defRPr>
            </a:pPr>
            <a:r>
              <a:t>1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095744" y="3429000"/>
            <a:ext cx="384048" cy="411480"/>
          </a:xfrm>
          <a:prstGeom prst="rect">
            <a:avLst/>
          </a:prstGeom>
          <a:solidFill>
            <a:srgbClr val="FFFFFF"/>
          </a:solidFill>
          <a:ln w="25400">
            <a:solidFill>
              <a:srgbClr val="00B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187184" y="3461004"/>
            <a:ext cx="22860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1600" b="1">
                <a:solidFill>
                  <a:srgbClr val="262626"/>
                </a:solidFill>
                <a:latin typeface="Alibaba PuHuiTi 3.0 115 Black"/>
              </a:defRPr>
            </a:pPr>
            <a:r>
              <a:t>0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580376" y="3429000"/>
            <a:ext cx="384048" cy="411480"/>
          </a:xfrm>
          <a:prstGeom prst="rect">
            <a:avLst/>
          </a:prstGeom>
          <a:solidFill>
            <a:srgbClr val="FFFFFF"/>
          </a:solidFill>
          <a:ln w="25400">
            <a:solidFill>
              <a:srgbClr val="00B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671816" y="3461004"/>
            <a:ext cx="22860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1600" b="1">
                <a:solidFill>
                  <a:srgbClr val="262626"/>
                </a:solidFill>
                <a:latin typeface="Alibaba PuHuiTi 3.0 115 Black"/>
              </a:defRPr>
            </a:pPr>
            <a:r>
              <a:t>0</a:t>
            </a:r>
          </a:p>
        </p:txBody>
      </p:sp>
      <p:sp>
        <p:nvSpPr>
          <p:cNvPr id="21" name="Rectangle 20"/>
          <p:cNvSpPr/>
          <p:nvPr/>
        </p:nvSpPr>
        <p:spPr>
          <a:xfrm>
            <a:off x="8065008" y="3429000"/>
            <a:ext cx="384048" cy="411480"/>
          </a:xfrm>
          <a:prstGeom prst="rect">
            <a:avLst/>
          </a:prstGeom>
          <a:solidFill>
            <a:srgbClr val="FFFFFF"/>
          </a:solidFill>
          <a:ln w="25400">
            <a:solidFill>
              <a:srgbClr val="00B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156448" y="3461004"/>
            <a:ext cx="22860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1600" b="1">
                <a:solidFill>
                  <a:srgbClr val="262626"/>
                </a:solidFill>
                <a:latin typeface="Alibaba PuHuiTi 3.0 115 Black"/>
              </a:defRPr>
            </a:pPr>
            <a:r>
              <a:t>1</a:t>
            </a:r>
          </a:p>
        </p:txBody>
      </p:sp>
      <p:sp>
        <p:nvSpPr>
          <p:cNvPr id="23" name="Rectangle 22"/>
          <p:cNvSpPr/>
          <p:nvPr/>
        </p:nvSpPr>
        <p:spPr>
          <a:xfrm>
            <a:off x="8549640" y="3429000"/>
            <a:ext cx="384048" cy="411480"/>
          </a:xfrm>
          <a:prstGeom prst="rect">
            <a:avLst/>
          </a:prstGeom>
          <a:solidFill>
            <a:srgbClr val="FFFFFF"/>
          </a:solidFill>
          <a:ln w="25400">
            <a:solidFill>
              <a:srgbClr val="00B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641080" y="3461004"/>
            <a:ext cx="22860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1600" b="1">
                <a:solidFill>
                  <a:srgbClr val="262626"/>
                </a:solidFill>
                <a:latin typeface="Alibaba PuHuiTi 3.0 115 Black"/>
              </a:defRPr>
            </a:pPr>
            <a:r>
              <a:t>0</a:t>
            </a:r>
          </a:p>
        </p:txBody>
      </p:sp>
      <p:sp>
        <p:nvSpPr>
          <p:cNvPr id="25" name="Rectangle 24"/>
          <p:cNvSpPr/>
          <p:nvPr/>
        </p:nvSpPr>
        <p:spPr>
          <a:xfrm>
            <a:off x="9034272" y="3429000"/>
            <a:ext cx="384048" cy="411480"/>
          </a:xfrm>
          <a:prstGeom prst="rect">
            <a:avLst/>
          </a:prstGeom>
          <a:solidFill>
            <a:srgbClr val="FFFFFF"/>
          </a:solidFill>
          <a:ln w="25400">
            <a:solidFill>
              <a:srgbClr val="00B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125712" y="3461004"/>
            <a:ext cx="22860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1600" b="1">
                <a:solidFill>
                  <a:srgbClr val="262626"/>
                </a:solidFill>
                <a:latin typeface="Alibaba PuHuiTi 3.0 115 Black"/>
              </a:defRPr>
            </a:pPr>
            <a:r>
              <a:t>0</a:t>
            </a:r>
          </a:p>
        </p:txBody>
      </p:sp>
      <p:sp>
        <p:nvSpPr>
          <p:cNvPr id="27" name="Rectangle 26"/>
          <p:cNvSpPr/>
          <p:nvPr/>
        </p:nvSpPr>
        <p:spPr>
          <a:xfrm>
            <a:off x="9518904" y="3429000"/>
            <a:ext cx="384048" cy="411480"/>
          </a:xfrm>
          <a:prstGeom prst="rect">
            <a:avLst/>
          </a:prstGeom>
          <a:solidFill>
            <a:srgbClr val="FFFFFF"/>
          </a:solidFill>
          <a:ln w="25400">
            <a:solidFill>
              <a:srgbClr val="00B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610344" y="3461004"/>
            <a:ext cx="22860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1600" b="1">
                <a:solidFill>
                  <a:srgbClr val="262626"/>
                </a:solidFill>
                <a:latin typeface="Alibaba PuHuiTi 3.0 115 Black"/>
              </a:defRPr>
            </a:pPr>
            <a:r>
              <a:t>1</a:t>
            </a:r>
          </a:p>
        </p:txBody>
      </p:sp>
      <p:sp>
        <p:nvSpPr>
          <p:cNvPr id="29" name="Rectangle 28"/>
          <p:cNvSpPr/>
          <p:nvPr/>
        </p:nvSpPr>
        <p:spPr>
          <a:xfrm>
            <a:off x="10003536" y="3429000"/>
            <a:ext cx="384048" cy="411480"/>
          </a:xfrm>
          <a:prstGeom prst="rect">
            <a:avLst/>
          </a:prstGeom>
          <a:solidFill>
            <a:srgbClr val="FFFFFF"/>
          </a:solidFill>
          <a:ln w="25400">
            <a:solidFill>
              <a:srgbClr val="00B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0094976" y="3461004"/>
            <a:ext cx="22860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1600" b="1">
                <a:solidFill>
                  <a:srgbClr val="262626"/>
                </a:solidFill>
                <a:latin typeface="Alibaba PuHuiTi 3.0 115 Black"/>
              </a:defRPr>
            </a:pPr>
            <a:r>
              <a:t>0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611112" y="4014215"/>
            <a:ext cx="384048" cy="411480"/>
          </a:xfrm>
          <a:prstGeom prst="rect">
            <a:avLst/>
          </a:prstGeom>
          <a:solidFill>
            <a:srgbClr val="FFFFFF"/>
          </a:solidFill>
          <a:ln w="25400">
            <a:solidFill>
              <a:srgbClr val="00B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702552" y="4046220"/>
            <a:ext cx="22860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1600" b="1">
                <a:solidFill>
                  <a:srgbClr val="262626"/>
                </a:solidFill>
                <a:latin typeface="Alibaba PuHuiTi 3.0 115 Black"/>
              </a:defRPr>
            </a:pPr>
            <a:r>
              <a:t>0</a:t>
            </a:r>
          </a:p>
        </p:txBody>
      </p:sp>
      <p:sp>
        <p:nvSpPr>
          <p:cNvPr id="33" name="Rectangle 32"/>
          <p:cNvSpPr/>
          <p:nvPr/>
        </p:nvSpPr>
        <p:spPr>
          <a:xfrm>
            <a:off x="7095744" y="4014215"/>
            <a:ext cx="384048" cy="411480"/>
          </a:xfrm>
          <a:prstGeom prst="rect">
            <a:avLst/>
          </a:prstGeom>
          <a:solidFill>
            <a:srgbClr val="FFFFFF"/>
          </a:solidFill>
          <a:ln w="25400">
            <a:solidFill>
              <a:srgbClr val="00B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7187184" y="4046220"/>
            <a:ext cx="22860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1600" b="1">
                <a:solidFill>
                  <a:srgbClr val="262626"/>
                </a:solidFill>
                <a:latin typeface="Alibaba PuHuiTi 3.0 115 Black"/>
              </a:defRPr>
            </a:pPr>
            <a:r>
              <a:t>1</a:t>
            </a:r>
          </a:p>
        </p:txBody>
      </p:sp>
      <p:sp>
        <p:nvSpPr>
          <p:cNvPr id="35" name="Rectangle 34"/>
          <p:cNvSpPr/>
          <p:nvPr/>
        </p:nvSpPr>
        <p:spPr>
          <a:xfrm>
            <a:off x="7580376" y="4014215"/>
            <a:ext cx="384048" cy="411480"/>
          </a:xfrm>
          <a:prstGeom prst="rect">
            <a:avLst/>
          </a:prstGeom>
          <a:solidFill>
            <a:srgbClr val="FFFFFF"/>
          </a:solidFill>
          <a:ln w="25400">
            <a:solidFill>
              <a:srgbClr val="00B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7671816" y="4046220"/>
            <a:ext cx="22860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1600" b="1">
                <a:solidFill>
                  <a:srgbClr val="262626"/>
                </a:solidFill>
                <a:latin typeface="Alibaba PuHuiTi 3.0 115 Black"/>
              </a:defRPr>
            </a:pPr>
            <a:r>
              <a:t>0</a:t>
            </a:r>
          </a:p>
        </p:txBody>
      </p:sp>
      <p:sp>
        <p:nvSpPr>
          <p:cNvPr id="37" name="Rectangle 36"/>
          <p:cNvSpPr/>
          <p:nvPr/>
        </p:nvSpPr>
        <p:spPr>
          <a:xfrm>
            <a:off x="8065008" y="4014215"/>
            <a:ext cx="384048" cy="411480"/>
          </a:xfrm>
          <a:prstGeom prst="rect">
            <a:avLst/>
          </a:prstGeom>
          <a:solidFill>
            <a:srgbClr val="FFFFFF"/>
          </a:solidFill>
          <a:ln w="25400">
            <a:solidFill>
              <a:srgbClr val="00B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8156448" y="4046220"/>
            <a:ext cx="22860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1600" b="1">
                <a:solidFill>
                  <a:srgbClr val="262626"/>
                </a:solidFill>
                <a:latin typeface="Alibaba PuHuiTi 3.0 115 Black"/>
              </a:defRPr>
            </a:pPr>
            <a:r>
              <a:t>0</a:t>
            </a:r>
          </a:p>
        </p:txBody>
      </p:sp>
      <p:sp>
        <p:nvSpPr>
          <p:cNvPr id="39" name="Rectangle 38"/>
          <p:cNvSpPr/>
          <p:nvPr/>
        </p:nvSpPr>
        <p:spPr>
          <a:xfrm>
            <a:off x="8549640" y="4014215"/>
            <a:ext cx="384048" cy="411480"/>
          </a:xfrm>
          <a:prstGeom prst="rect">
            <a:avLst/>
          </a:prstGeom>
          <a:solidFill>
            <a:srgbClr val="FFFFFF"/>
          </a:solidFill>
          <a:ln w="25400">
            <a:solidFill>
              <a:srgbClr val="00B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8641080" y="4046220"/>
            <a:ext cx="22860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1600" b="1">
                <a:solidFill>
                  <a:srgbClr val="262626"/>
                </a:solidFill>
                <a:latin typeface="Alibaba PuHuiTi 3.0 115 Black"/>
              </a:defRPr>
            </a:pPr>
            <a:r>
              <a:t>1</a:t>
            </a:r>
          </a:p>
        </p:txBody>
      </p:sp>
      <p:sp>
        <p:nvSpPr>
          <p:cNvPr id="41" name="Rectangle 40"/>
          <p:cNvSpPr/>
          <p:nvPr/>
        </p:nvSpPr>
        <p:spPr>
          <a:xfrm>
            <a:off x="9034272" y="4014215"/>
            <a:ext cx="384048" cy="411480"/>
          </a:xfrm>
          <a:prstGeom prst="rect">
            <a:avLst/>
          </a:prstGeom>
          <a:solidFill>
            <a:srgbClr val="FFFFFF"/>
          </a:solidFill>
          <a:ln w="25400">
            <a:solidFill>
              <a:srgbClr val="00B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9125712" y="4046220"/>
            <a:ext cx="22860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1600" b="1">
                <a:solidFill>
                  <a:srgbClr val="262626"/>
                </a:solidFill>
                <a:latin typeface="Alibaba PuHuiTi 3.0 115 Black"/>
              </a:defRPr>
            </a:pPr>
            <a:r>
              <a:t>0</a:t>
            </a:r>
          </a:p>
        </p:txBody>
      </p:sp>
      <p:sp>
        <p:nvSpPr>
          <p:cNvPr id="43" name="Rectangle 42"/>
          <p:cNvSpPr/>
          <p:nvPr/>
        </p:nvSpPr>
        <p:spPr>
          <a:xfrm>
            <a:off x="9518904" y="4014215"/>
            <a:ext cx="384048" cy="411480"/>
          </a:xfrm>
          <a:prstGeom prst="rect">
            <a:avLst/>
          </a:prstGeom>
          <a:solidFill>
            <a:srgbClr val="FFFFFF"/>
          </a:solidFill>
          <a:ln w="25400">
            <a:solidFill>
              <a:srgbClr val="00B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9610344" y="4046220"/>
            <a:ext cx="22860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1600" b="1">
                <a:solidFill>
                  <a:srgbClr val="262626"/>
                </a:solidFill>
                <a:latin typeface="Alibaba PuHuiTi 3.0 115 Black"/>
              </a:defRPr>
            </a:pPr>
            <a:r>
              <a:t>0</a:t>
            </a:r>
          </a:p>
        </p:txBody>
      </p:sp>
      <p:sp>
        <p:nvSpPr>
          <p:cNvPr id="45" name="Rectangle 44"/>
          <p:cNvSpPr/>
          <p:nvPr/>
        </p:nvSpPr>
        <p:spPr>
          <a:xfrm>
            <a:off x="10003536" y="4014215"/>
            <a:ext cx="384048" cy="411480"/>
          </a:xfrm>
          <a:prstGeom prst="rect">
            <a:avLst/>
          </a:prstGeom>
          <a:solidFill>
            <a:srgbClr val="FFFFFF"/>
          </a:solidFill>
          <a:ln w="25400">
            <a:solidFill>
              <a:srgbClr val="00B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10094976" y="4046220"/>
            <a:ext cx="22860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1600" b="1">
                <a:solidFill>
                  <a:srgbClr val="262626"/>
                </a:solidFill>
                <a:latin typeface="Alibaba PuHuiTi 3.0 115 Black"/>
              </a:defRPr>
            </a:pPr>
            <a:r>
              <a:t>1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777240" y="5879592"/>
            <a:ext cx="1078992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000" b="1">
                <a:solidFill>
                  <a:srgbClr val="8C64E1"/>
                </a:solidFill>
                <a:latin typeface="Alibaba PuHuiTi 3.0 115 Black"/>
              </a:defRPr>
            </a:pPr>
            <a:r>
              <a:t>位数越多，一份未压缩样本数据所占的空间也越大。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36576"/>
            <a:ext cx="12191695" cy="73152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57416"/>
            <a:ext cx="12191695" cy="73152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12648" y="576072"/>
            <a:ext cx="10972800" cy="7863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3400" b="1">
                <a:solidFill>
                  <a:srgbClr val="262626"/>
                </a:solidFill>
                <a:latin typeface="Alibaba PuHuiTi 3.0 115 Black"/>
              </a:defRPr>
            </a:pPr>
            <a:r>
              <a:t>PCM样本和WAV文件，是一回事吗？</a:t>
            </a:r>
          </a:p>
        </p:txBody>
      </p:sp>
      <p:sp>
        <p:nvSpPr>
          <p:cNvPr id="5" name="Rectangle 4"/>
          <p:cNvSpPr/>
          <p:nvPr/>
        </p:nvSpPr>
        <p:spPr>
          <a:xfrm>
            <a:off x="914400" y="2176272"/>
            <a:ext cx="2898648" cy="1371600"/>
          </a:xfrm>
          <a:prstGeom prst="rect">
            <a:avLst/>
          </a:prstGeom>
          <a:noFill/>
          <a:ln w="25400">
            <a:solidFill>
              <a:srgbClr val="8C64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52144" y="2569464"/>
            <a:ext cx="246888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500" b="1">
                <a:solidFill>
                  <a:srgbClr val="8C64E1"/>
                </a:solidFill>
                <a:latin typeface="Alibaba PuHuiTi 3.0 115 Black"/>
              </a:defRPr>
            </a:pPr>
            <a:r>
              <a:t>WAV文件头</a:t>
            </a:r>
          </a:p>
        </p:txBody>
      </p:sp>
      <p:sp>
        <p:nvSpPr>
          <p:cNvPr id="7" name="Rectangle 6"/>
          <p:cNvSpPr/>
          <p:nvPr/>
        </p:nvSpPr>
        <p:spPr>
          <a:xfrm>
            <a:off x="3986784" y="2176272"/>
            <a:ext cx="7059168" cy="1371600"/>
          </a:xfrm>
          <a:prstGeom prst="rect">
            <a:avLst/>
          </a:prstGeom>
          <a:noFill/>
          <a:ln w="25400">
            <a:solidFill>
              <a:srgbClr val="00B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434840" y="2569464"/>
            <a:ext cx="6272784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500" b="1">
                <a:solidFill>
                  <a:srgbClr val="00B0F0"/>
                </a:solidFill>
                <a:latin typeface="Alibaba PuHuiTi 3.0 115 Black"/>
              </a:defRPr>
            </a:pPr>
            <a:r>
              <a:t>PCM：一个个数字样本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32688" y="3941063"/>
            <a:ext cx="3657600" cy="95097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000" b="0">
                <a:solidFill>
                  <a:srgbClr val="262626"/>
                </a:solidFill>
                <a:latin typeface="Alibaba PuHuiTi 3.0 55 Regular"/>
              </a:defRPr>
            </a:pPr>
            <a:r>
              <a:t>采样率、声道等说明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133087" y="3950208"/>
            <a:ext cx="6858000" cy="95097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200" b="0">
                <a:solidFill>
                  <a:srgbClr val="262626"/>
                </a:solidFill>
                <a:latin typeface="Alibaba PuHuiTi 3.0 55 Regular"/>
              </a:defRPr>
            </a:pPr>
            <a:r>
              <a:t>例如：0010 1101 0110 …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5879592"/>
            <a:ext cx="1078992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000" b="1">
                <a:solidFill>
                  <a:srgbClr val="8C64E1"/>
                </a:solidFill>
                <a:latin typeface="Alibaba PuHuiTi 3.0 115 Black"/>
              </a:defRPr>
            </a:pPr>
            <a:r>
              <a:t>编码 ≠ 压缩；WAV常保存未压缩PCM，但并非只有这一种情况。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36576"/>
            <a:ext cx="12191695" cy="73152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57416"/>
            <a:ext cx="12191695" cy="73152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12648" y="576072"/>
            <a:ext cx="10972800" cy="7863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3400" b="1">
                <a:solidFill>
                  <a:srgbClr val="262626"/>
                </a:solidFill>
                <a:latin typeface="Alibaba PuHuiTi 3.0 115 Black"/>
              </a:defRPr>
            </a:pPr>
            <a:r>
              <a:t>播放时：数字样本怎样重新变成声音？</a:t>
            </a:r>
          </a:p>
        </p:txBody>
      </p:sp>
      <p:sp>
        <p:nvSpPr>
          <p:cNvPr id="5" name="Rectangle 4"/>
          <p:cNvSpPr/>
          <p:nvPr/>
        </p:nvSpPr>
        <p:spPr>
          <a:xfrm>
            <a:off x="704088" y="2258568"/>
            <a:ext cx="2404872" cy="667512"/>
          </a:xfrm>
          <a:prstGeom prst="rect">
            <a:avLst/>
          </a:prstGeom>
          <a:noFill/>
          <a:ln w="25400">
            <a:solidFill>
              <a:srgbClr val="8C64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2377440"/>
            <a:ext cx="2258568" cy="40233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  <a:defRPr sz="2200" b="1">
                <a:solidFill>
                  <a:srgbClr val="8C64E1"/>
                </a:solidFill>
                <a:latin typeface="Alibaba PuHuiTi 3.0 115 Black"/>
              </a:defRPr>
            </a:pPr>
            <a:r>
              <a:t>数字样本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3182112" y="2596896"/>
            <a:ext cx="356616" cy="0"/>
          </a:xfrm>
          <a:prstGeom prst="line">
            <a:avLst/>
          </a:prstGeom>
          <a:ln w="3810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ectangle 7"/>
          <p:cNvSpPr/>
          <p:nvPr/>
        </p:nvSpPr>
        <p:spPr>
          <a:xfrm>
            <a:off x="3630168" y="2258568"/>
            <a:ext cx="2404872" cy="667512"/>
          </a:xfrm>
          <a:prstGeom prst="rect">
            <a:avLst/>
          </a:prstGeom>
          <a:noFill/>
          <a:ln w="25400">
            <a:solidFill>
              <a:srgbClr val="00B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703320" y="2377440"/>
            <a:ext cx="2258568" cy="40233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  <a:defRPr sz="2200" b="1">
                <a:solidFill>
                  <a:srgbClr val="00B0F0"/>
                </a:solidFill>
                <a:latin typeface="Alibaba PuHuiTi 3.0 115 Black"/>
              </a:defRPr>
            </a:pPr>
            <a:r>
              <a:t>DAC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6108192" y="2596896"/>
            <a:ext cx="356616" cy="0"/>
          </a:xfrm>
          <a:prstGeom prst="line">
            <a:avLst/>
          </a:prstGeom>
          <a:ln w="3810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ectangle 10"/>
          <p:cNvSpPr/>
          <p:nvPr/>
        </p:nvSpPr>
        <p:spPr>
          <a:xfrm>
            <a:off x="6556248" y="2258568"/>
            <a:ext cx="2404872" cy="667512"/>
          </a:xfrm>
          <a:prstGeom prst="rect">
            <a:avLst/>
          </a:prstGeom>
          <a:noFill/>
          <a:ln w="25400">
            <a:solidFill>
              <a:srgbClr val="8C64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629400" y="2377440"/>
            <a:ext cx="2258568" cy="40233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  <a:defRPr sz="2200" b="1">
                <a:solidFill>
                  <a:srgbClr val="8C64E1"/>
                </a:solidFill>
                <a:latin typeface="Alibaba PuHuiTi 3.0 115 Black"/>
              </a:defRPr>
            </a:pPr>
            <a:r>
              <a:t>连续电信号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9034272" y="2596896"/>
            <a:ext cx="356616" cy="0"/>
          </a:xfrm>
          <a:prstGeom prst="line">
            <a:avLst/>
          </a:prstGeom>
          <a:ln w="3810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ectangle 13"/>
          <p:cNvSpPr/>
          <p:nvPr/>
        </p:nvSpPr>
        <p:spPr>
          <a:xfrm>
            <a:off x="9482328" y="2258568"/>
            <a:ext cx="2404872" cy="667512"/>
          </a:xfrm>
          <a:prstGeom prst="rect">
            <a:avLst/>
          </a:prstGeom>
          <a:noFill/>
          <a:ln w="25400">
            <a:solidFill>
              <a:srgbClr val="00B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555480" y="2377440"/>
            <a:ext cx="2258568" cy="40233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  <a:defRPr sz="2200" b="1">
                <a:solidFill>
                  <a:srgbClr val="00B0F0"/>
                </a:solidFill>
                <a:latin typeface="Alibaba PuHuiTi 3.0 115 Black"/>
              </a:defRPr>
            </a:pPr>
            <a:r>
              <a:t>扬声器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77240" y="4846320"/>
            <a:ext cx="1078992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000" b="1">
                <a:solidFill>
                  <a:srgbClr val="8C64E1"/>
                </a:solidFill>
                <a:latin typeface="Alibaba PuHuiTi 3.0 115 Black"/>
              </a:defRPr>
            </a:pPr>
            <a:r>
              <a:t>录音是模拟 → 数字；播放是数字 → 模拟。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36576"/>
            <a:ext cx="12191695" cy="73152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57416"/>
            <a:ext cx="12191695" cy="73152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12648" y="576072"/>
            <a:ext cx="10972800" cy="7863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3400" b="1">
                <a:solidFill>
                  <a:srgbClr val="262626"/>
                </a:solidFill>
                <a:latin typeface="Alibaba PuHuiTi 3.0 115 Black"/>
              </a:defRPr>
            </a:pPr>
            <a:r>
              <a:t>声音数据量为什么与四个参数有关？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883664"/>
            <a:ext cx="4937760" cy="4389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600" b="1">
                <a:solidFill>
                  <a:srgbClr val="8C64E1"/>
                </a:solidFill>
                <a:latin typeface="Alibaba PuHuiTi 3.0 115 Black"/>
              </a:defRPr>
            </a:pPr>
            <a:r>
              <a:t>采样率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2468880"/>
            <a:ext cx="4937760" cy="6766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100" b="0">
                <a:solidFill>
                  <a:srgbClr val="262626"/>
                </a:solidFill>
                <a:latin typeface="Alibaba PuHuiTi 3.0 55 Regular"/>
              </a:defRPr>
            </a:pPr>
            <a:r>
              <a:t>每秒几个样本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364224" y="1883664"/>
            <a:ext cx="4937760" cy="4389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600" b="1">
                <a:solidFill>
                  <a:srgbClr val="00B0F0"/>
                </a:solidFill>
                <a:latin typeface="Alibaba PuHuiTi 3.0 115 Black"/>
              </a:defRPr>
            </a:pPr>
            <a:r>
              <a:t>量化位数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64224" y="2468880"/>
            <a:ext cx="4937760" cy="6766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100" b="0">
                <a:solidFill>
                  <a:srgbClr val="262626"/>
                </a:solidFill>
                <a:latin typeface="Alibaba PuHuiTi 3.0 55 Regular"/>
              </a:defRPr>
            </a:pPr>
            <a:r>
              <a:t>每样本多少bit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3511296"/>
            <a:ext cx="4937760" cy="4389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600" b="1">
                <a:solidFill>
                  <a:srgbClr val="8C64E1"/>
                </a:solidFill>
                <a:latin typeface="Alibaba PuHuiTi 3.0 115 Black"/>
              </a:defRPr>
            </a:pPr>
            <a:r>
              <a:t>声道数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4096511"/>
            <a:ext cx="4937760" cy="6766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100" b="0">
                <a:solidFill>
                  <a:srgbClr val="262626"/>
                </a:solidFill>
                <a:latin typeface="Alibaba PuHuiTi 3.0 55 Regular"/>
              </a:defRPr>
            </a:pPr>
            <a:r>
              <a:t>同一时刻几路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364224" y="3511296"/>
            <a:ext cx="4937760" cy="4389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600" b="1">
                <a:solidFill>
                  <a:srgbClr val="00B0F0"/>
                </a:solidFill>
                <a:latin typeface="Alibaba PuHuiTi 3.0 115 Black"/>
              </a:defRPr>
            </a:pPr>
            <a:r>
              <a:t>时长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364224" y="4096511"/>
            <a:ext cx="4937760" cy="6766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100" b="0">
                <a:solidFill>
                  <a:srgbClr val="262626"/>
                </a:solidFill>
                <a:latin typeface="Alibaba PuHuiTi 3.0 55 Regular"/>
              </a:defRPr>
            </a:pPr>
            <a:r>
              <a:t>持续多少秒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36576"/>
            <a:ext cx="12191695" cy="73152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57416"/>
            <a:ext cx="12191695" cy="73152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12648" y="576072"/>
            <a:ext cx="10972800" cy="7863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3400" b="1">
                <a:solidFill>
                  <a:srgbClr val="262626"/>
                </a:solidFill>
                <a:latin typeface="Alibaba PuHuiTi 3.0 115 Black"/>
              </a:defRPr>
            </a:pPr>
            <a:r>
              <a:t>先数样本，再数bit，最后换算成Byte。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737360"/>
            <a:ext cx="1078992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500" b="1">
                <a:solidFill>
                  <a:srgbClr val="262626"/>
                </a:solidFill>
                <a:latin typeface="Alibaba PuHuiTi 3.0 115 Black"/>
              </a:defRPr>
            </a:pPr>
            <a:r>
              <a:t>2 样本/秒 × 4 秒 × 1 声道 = 8 个样本</a:t>
            </a:r>
          </a:p>
        </p:txBody>
      </p:sp>
      <p:sp>
        <p:nvSpPr>
          <p:cNvPr id="6" name="Rectangle 5"/>
          <p:cNvSpPr/>
          <p:nvPr/>
        </p:nvSpPr>
        <p:spPr>
          <a:xfrm>
            <a:off x="941832" y="2761488"/>
            <a:ext cx="1024128" cy="768096"/>
          </a:xfrm>
          <a:prstGeom prst="rect">
            <a:avLst/>
          </a:prstGeom>
          <a:noFill/>
          <a:ln w="25400">
            <a:solidFill>
              <a:srgbClr val="8C64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60704" y="2999232"/>
            <a:ext cx="896112" cy="3291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1800" b="1">
                <a:solidFill>
                  <a:srgbClr val="8C64E1"/>
                </a:solidFill>
                <a:latin typeface="Alibaba PuHuiTi 3.0 115 Black"/>
              </a:defRPr>
            </a:pPr>
            <a:r>
              <a:t>3 bit</a:t>
            </a:r>
          </a:p>
        </p:txBody>
      </p:sp>
      <p:sp>
        <p:nvSpPr>
          <p:cNvPr id="8" name="Rectangle 7"/>
          <p:cNvSpPr/>
          <p:nvPr/>
        </p:nvSpPr>
        <p:spPr>
          <a:xfrm>
            <a:off x="2231136" y="2761488"/>
            <a:ext cx="1024128" cy="768096"/>
          </a:xfrm>
          <a:prstGeom prst="rect">
            <a:avLst/>
          </a:prstGeom>
          <a:noFill/>
          <a:ln w="25400">
            <a:solidFill>
              <a:srgbClr val="8C64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350008" y="2999232"/>
            <a:ext cx="896112" cy="3291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1800" b="1">
                <a:solidFill>
                  <a:srgbClr val="8C64E1"/>
                </a:solidFill>
                <a:latin typeface="Alibaba PuHuiTi 3.0 115 Black"/>
              </a:defRPr>
            </a:pPr>
            <a:r>
              <a:t>3 bit</a:t>
            </a:r>
          </a:p>
        </p:txBody>
      </p:sp>
      <p:sp>
        <p:nvSpPr>
          <p:cNvPr id="10" name="Rectangle 9"/>
          <p:cNvSpPr/>
          <p:nvPr/>
        </p:nvSpPr>
        <p:spPr>
          <a:xfrm>
            <a:off x="3520439" y="2761488"/>
            <a:ext cx="1024128" cy="768096"/>
          </a:xfrm>
          <a:prstGeom prst="rect">
            <a:avLst/>
          </a:prstGeom>
          <a:noFill/>
          <a:ln w="25400">
            <a:solidFill>
              <a:srgbClr val="8C64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639311" y="2999232"/>
            <a:ext cx="896112" cy="3291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1800" b="1">
                <a:solidFill>
                  <a:srgbClr val="8C64E1"/>
                </a:solidFill>
                <a:latin typeface="Alibaba PuHuiTi 3.0 115 Black"/>
              </a:defRPr>
            </a:pPr>
            <a:r>
              <a:t>3 bit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809744" y="2761488"/>
            <a:ext cx="1024128" cy="768096"/>
          </a:xfrm>
          <a:prstGeom prst="rect">
            <a:avLst/>
          </a:prstGeom>
          <a:noFill/>
          <a:ln w="25400">
            <a:solidFill>
              <a:srgbClr val="8C64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928616" y="2999232"/>
            <a:ext cx="896112" cy="3291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1800" b="1">
                <a:solidFill>
                  <a:srgbClr val="8C64E1"/>
                </a:solidFill>
                <a:latin typeface="Alibaba PuHuiTi 3.0 115 Black"/>
              </a:defRPr>
            </a:pPr>
            <a:r>
              <a:t>3 bit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099048" y="2761488"/>
            <a:ext cx="1024128" cy="768096"/>
          </a:xfrm>
          <a:prstGeom prst="rect">
            <a:avLst/>
          </a:prstGeom>
          <a:noFill/>
          <a:ln w="25400">
            <a:solidFill>
              <a:srgbClr val="8C64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217920" y="2999232"/>
            <a:ext cx="896112" cy="3291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1800" b="1">
                <a:solidFill>
                  <a:srgbClr val="8C64E1"/>
                </a:solidFill>
                <a:latin typeface="Alibaba PuHuiTi 3.0 115 Black"/>
              </a:defRPr>
            </a:pPr>
            <a:r>
              <a:t>3 bit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388352" y="2761488"/>
            <a:ext cx="1024128" cy="768096"/>
          </a:xfrm>
          <a:prstGeom prst="rect">
            <a:avLst/>
          </a:prstGeom>
          <a:noFill/>
          <a:ln w="25400">
            <a:solidFill>
              <a:srgbClr val="8C64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507224" y="2999232"/>
            <a:ext cx="896112" cy="3291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1800" b="1">
                <a:solidFill>
                  <a:srgbClr val="8C64E1"/>
                </a:solidFill>
                <a:latin typeface="Alibaba PuHuiTi 3.0 115 Black"/>
              </a:defRPr>
            </a:pPr>
            <a:r>
              <a:t>3 bit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677655" y="2761488"/>
            <a:ext cx="1024128" cy="768096"/>
          </a:xfrm>
          <a:prstGeom prst="rect">
            <a:avLst/>
          </a:prstGeom>
          <a:noFill/>
          <a:ln w="25400">
            <a:solidFill>
              <a:srgbClr val="8C64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796528" y="2999232"/>
            <a:ext cx="896112" cy="3291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1800" b="1">
                <a:solidFill>
                  <a:srgbClr val="8C64E1"/>
                </a:solidFill>
                <a:latin typeface="Alibaba PuHuiTi 3.0 115 Black"/>
              </a:defRPr>
            </a:pPr>
            <a:r>
              <a:t>3 bit</a:t>
            </a:r>
          </a:p>
        </p:txBody>
      </p:sp>
      <p:sp>
        <p:nvSpPr>
          <p:cNvPr id="20" name="Rectangle 19"/>
          <p:cNvSpPr/>
          <p:nvPr/>
        </p:nvSpPr>
        <p:spPr>
          <a:xfrm>
            <a:off x="9966959" y="2761488"/>
            <a:ext cx="1024128" cy="768096"/>
          </a:xfrm>
          <a:prstGeom prst="rect">
            <a:avLst/>
          </a:prstGeom>
          <a:noFill/>
          <a:ln w="25400">
            <a:solidFill>
              <a:srgbClr val="8C64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0085832" y="2999232"/>
            <a:ext cx="896112" cy="3291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1800" b="1">
                <a:solidFill>
                  <a:srgbClr val="8C64E1"/>
                </a:solidFill>
                <a:latin typeface="Alibaba PuHuiTi 3.0 115 Black"/>
              </a:defRPr>
            </a:pPr>
            <a:r>
              <a:t>3 bit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32104" y="4389120"/>
            <a:ext cx="10698480" cy="58521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700" b="1">
                <a:solidFill>
                  <a:srgbClr val="00B0F0"/>
                </a:solidFill>
                <a:latin typeface="Alibaba PuHuiTi 3.0 115 Black"/>
              </a:defRPr>
            </a:pPr>
            <a:r>
              <a:t>8 个样本 × 3 bit = 24 bit = 3 Byte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77240" y="5879592"/>
            <a:ext cx="1078992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000" b="1">
                <a:solidFill>
                  <a:srgbClr val="8C64E1"/>
                </a:solidFill>
                <a:latin typeface="Alibaba PuHuiTi 3.0 115 Black"/>
              </a:defRPr>
            </a:pPr>
            <a:r>
              <a:t>不同声道要各自记录样本；声道数翻倍，未压缩样本数据量也翻倍。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36576"/>
            <a:ext cx="12191695" cy="73152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57416"/>
            <a:ext cx="12191695" cy="73152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12648" y="576072"/>
            <a:ext cx="10972800" cy="7863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3400" b="1">
                <a:solidFill>
                  <a:srgbClr val="262626"/>
                </a:solidFill>
                <a:latin typeface="Alibaba PuHuiTi 3.0 115 Black"/>
              </a:defRPr>
            </a:pPr>
            <a:r>
              <a:t>未压缩PCM数据量公式，从哪里来？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591056"/>
            <a:ext cx="10698480" cy="7315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>
              <a:spcAft>
                <a:spcPts val="0"/>
              </a:spcAft>
              <a:defRPr sz="2500" b="1">
                <a:solidFill>
                  <a:srgbClr val="8C64E1"/>
                </a:solidFill>
                <a:latin typeface="Alibaba PuHuiTi 3.0 115 Black"/>
              </a:defRPr>
            </a:pPr>
            <a:r>
              <a:t>数据量（Byte） = 采样率 × 时长 × 声道数 × 位数 ÷ 8</a:t>
            </a:r>
          </a:p>
        </p:txBody>
      </p:sp>
      <p:sp>
        <p:nvSpPr>
          <p:cNvPr id="6" name="Rectangle 5"/>
          <p:cNvSpPr/>
          <p:nvPr/>
        </p:nvSpPr>
        <p:spPr>
          <a:xfrm>
            <a:off x="868680" y="2734056"/>
            <a:ext cx="2514600" cy="1408176"/>
          </a:xfrm>
          <a:prstGeom prst="rect">
            <a:avLst/>
          </a:prstGeom>
          <a:solidFill>
            <a:srgbClr val="F8F6FE"/>
          </a:solidFill>
          <a:ln w="17780">
            <a:solidFill>
              <a:srgbClr val="8C64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87552" y="2898648"/>
            <a:ext cx="2286000" cy="39319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0"/>
              </a:spcAft>
              <a:defRPr sz="2300" b="1">
                <a:solidFill>
                  <a:srgbClr val="8C64E1"/>
                </a:solidFill>
                <a:latin typeface="Alibaba PuHuiTi 3.0 115 Black"/>
              </a:defRPr>
            </a:pPr>
            <a:r>
              <a:t>采样率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50976" y="3419856"/>
            <a:ext cx="2359152" cy="44805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0"/>
              </a:spcAft>
              <a:defRPr sz="1600" b="0">
                <a:solidFill>
                  <a:srgbClr val="262626"/>
                </a:solidFill>
                <a:latin typeface="Alibaba PuHuiTi 3.0 55 Regular"/>
              </a:defRPr>
            </a:pPr>
            <a:r>
              <a:t>每秒几个样本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419856" y="3072384"/>
            <a:ext cx="274320" cy="39319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0"/>
              </a:spcAft>
              <a:defRPr sz="2100" b="1">
                <a:solidFill>
                  <a:srgbClr val="8C64E1"/>
                </a:solidFill>
                <a:latin typeface="Alibaba PuHuiTi 3.0 115 Black"/>
              </a:defRPr>
            </a:pPr>
            <a:r>
              <a:t>×</a:t>
            </a:r>
          </a:p>
        </p:txBody>
      </p:sp>
      <p:sp>
        <p:nvSpPr>
          <p:cNvPr id="10" name="Rectangle 9"/>
          <p:cNvSpPr/>
          <p:nvPr/>
        </p:nvSpPr>
        <p:spPr>
          <a:xfrm>
            <a:off x="3767328" y="2734056"/>
            <a:ext cx="2514600" cy="1408176"/>
          </a:xfrm>
          <a:prstGeom prst="rect">
            <a:avLst/>
          </a:prstGeom>
          <a:solidFill>
            <a:srgbClr val="F8F6FE"/>
          </a:solidFill>
          <a:ln w="17780">
            <a:solidFill>
              <a:srgbClr val="8C64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886200" y="2898648"/>
            <a:ext cx="2286000" cy="39319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0"/>
              </a:spcAft>
              <a:defRPr sz="2300" b="1">
                <a:solidFill>
                  <a:srgbClr val="8C64E1"/>
                </a:solidFill>
                <a:latin typeface="Alibaba PuHuiTi 3.0 115 Black"/>
              </a:defRPr>
            </a:pPr>
            <a:r>
              <a:t>时长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849624" y="3419856"/>
            <a:ext cx="2359152" cy="44805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0"/>
              </a:spcAft>
              <a:defRPr sz="1600" b="0">
                <a:solidFill>
                  <a:srgbClr val="262626"/>
                </a:solidFill>
                <a:latin typeface="Alibaba PuHuiTi 3.0 55 Regular"/>
              </a:defRPr>
            </a:pPr>
            <a:r>
              <a:t>采多少秒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318504" y="3072384"/>
            <a:ext cx="274320" cy="39319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0"/>
              </a:spcAft>
              <a:defRPr sz="2100" b="1">
                <a:solidFill>
                  <a:srgbClr val="8C64E1"/>
                </a:solidFill>
                <a:latin typeface="Alibaba PuHuiTi 3.0 115 Black"/>
              </a:defRPr>
            </a:pPr>
            <a:r>
              <a:t>×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665976" y="2734056"/>
            <a:ext cx="2514600" cy="1408176"/>
          </a:xfrm>
          <a:prstGeom prst="rect">
            <a:avLst/>
          </a:prstGeom>
          <a:solidFill>
            <a:srgbClr val="F8F6FE"/>
          </a:solidFill>
          <a:ln w="17780">
            <a:solidFill>
              <a:srgbClr val="8C64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784848" y="2898648"/>
            <a:ext cx="2286000" cy="39319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0"/>
              </a:spcAft>
              <a:defRPr sz="2300" b="1">
                <a:solidFill>
                  <a:srgbClr val="8C64E1"/>
                </a:solidFill>
                <a:latin typeface="Alibaba PuHuiTi 3.0 115 Black"/>
              </a:defRPr>
            </a:pPr>
            <a:r>
              <a:t>声道数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748272" y="3419856"/>
            <a:ext cx="2359152" cy="44805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0"/>
              </a:spcAft>
              <a:defRPr sz="1600" b="0">
                <a:solidFill>
                  <a:srgbClr val="262626"/>
                </a:solidFill>
                <a:latin typeface="Alibaba PuHuiTi 3.0 55 Regular"/>
              </a:defRPr>
            </a:pPr>
            <a:r>
              <a:t>同时记录几路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217152" y="3072384"/>
            <a:ext cx="274320" cy="39319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0"/>
              </a:spcAft>
              <a:defRPr sz="2100" b="1">
                <a:solidFill>
                  <a:srgbClr val="8C64E1"/>
                </a:solidFill>
                <a:latin typeface="Alibaba PuHuiTi 3.0 115 Black"/>
              </a:defRPr>
            </a:pPr>
            <a:r>
              <a:t>×</a:t>
            </a:r>
          </a:p>
        </p:txBody>
      </p:sp>
      <p:sp>
        <p:nvSpPr>
          <p:cNvPr id="18" name="Rectangle 17"/>
          <p:cNvSpPr/>
          <p:nvPr/>
        </p:nvSpPr>
        <p:spPr>
          <a:xfrm>
            <a:off x="9564624" y="2734056"/>
            <a:ext cx="2514600" cy="1408176"/>
          </a:xfrm>
          <a:prstGeom prst="rect">
            <a:avLst/>
          </a:prstGeom>
          <a:solidFill>
            <a:srgbClr val="F8F6FE"/>
          </a:solidFill>
          <a:ln w="17780">
            <a:solidFill>
              <a:srgbClr val="8C64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683496" y="2898648"/>
            <a:ext cx="2286000" cy="39319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0"/>
              </a:spcAft>
              <a:defRPr sz="2300" b="1">
                <a:solidFill>
                  <a:srgbClr val="8C64E1"/>
                </a:solidFill>
                <a:latin typeface="Alibaba PuHuiTi 3.0 115 Black"/>
              </a:defRPr>
            </a:pPr>
            <a:r>
              <a:t>量化位数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646919" y="3419856"/>
            <a:ext cx="2359152" cy="44805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0"/>
              </a:spcAft>
              <a:defRPr sz="1600" b="0">
                <a:solidFill>
                  <a:srgbClr val="262626"/>
                </a:solidFill>
                <a:latin typeface="Alibaba PuHuiTi 3.0 55 Regular"/>
              </a:defRPr>
            </a:pPr>
            <a:r>
              <a:t>每个样本多少bit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932688" y="4599432"/>
            <a:ext cx="10076688" cy="0"/>
          </a:xfrm>
          <a:prstGeom prst="line">
            <a:avLst/>
          </a:prstGeom>
          <a:ln w="19050">
            <a:solidFill>
              <a:srgbClr val="E2DEF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TextBox 21"/>
          <p:cNvSpPr txBox="1"/>
          <p:nvPr/>
        </p:nvSpPr>
        <p:spPr>
          <a:xfrm>
            <a:off x="859536" y="4919472"/>
            <a:ext cx="10652760" cy="58521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>
              <a:spcAft>
                <a:spcPts val="0"/>
              </a:spcAft>
              <a:defRPr sz="2000" b="1">
                <a:solidFill>
                  <a:srgbClr val="262626"/>
                </a:solidFill>
                <a:latin typeface="Alibaba PuHuiTi 3.0 115 Black"/>
              </a:defRPr>
            </a:pPr>
            <a:r>
              <a:t>前3项相乘 → 样本总数；再乘bit/样本 → bit；最后÷8 → Byte。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86384" y="5852160"/>
            <a:ext cx="10698480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>
              <a:spcAft>
                <a:spcPts val="0"/>
              </a:spcAft>
              <a:defRPr sz="1700" b="0">
                <a:solidFill>
                  <a:srgbClr val="8C64E1"/>
                </a:solidFill>
                <a:latin typeface="Alibaba PuHuiTi 3.0 55 Regular"/>
              </a:defRPr>
            </a:pPr>
            <a:r>
              <a:t>单位检验：Hz×s×声道×bit÷8，最终为什么得到Byte？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36576"/>
            <a:ext cx="12191695" cy="73152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57416"/>
            <a:ext cx="12191695" cy="73152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12648" y="576072"/>
            <a:ext cx="10972800" cy="7863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3400" b="1">
                <a:solidFill>
                  <a:srgbClr val="262626"/>
                </a:solidFill>
                <a:latin typeface="Alibaba PuHuiTi 3.0 115 Black"/>
              </a:defRPr>
            </a:pPr>
            <a:r>
              <a:t>练习题 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86384" y="1691640"/>
            <a:ext cx="10652760" cy="30358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700" b="0">
                <a:solidFill>
                  <a:srgbClr val="262626"/>
                </a:solidFill>
                <a:latin typeface="Alibaba PuHuiTi 3.0 55 Regular"/>
              </a:defRPr>
            </a:pPr>
            <a:r>
              <a:t>采样率 16,000 Hz，8 bit，双声道，录制5秒。</a:t>
            </a:r>
          </a:p>
          <a:p>
            <a:pPr>
              <a:spcBef>
                <a:spcPts val="0"/>
              </a:spcBef>
              <a:spcAft>
                <a:spcPts val="200"/>
              </a:spcAft>
              <a:defRPr sz="2700" b="0">
                <a:solidFill>
                  <a:srgbClr val="262626"/>
                </a:solidFill>
                <a:latin typeface="Alibaba PuHuiTi 3.0 55 Regular"/>
              </a:defRPr>
            </a:pPr>
            <a:r>
              <a:t>未压缩PCM样本数据共有多少 Byte？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822960" y="4919472"/>
            <a:ext cx="10259568" cy="0"/>
          </a:xfrm>
          <a:prstGeom prst="line">
            <a:avLst/>
          </a:prstGeom>
          <a:ln w="25400">
            <a:solidFill>
              <a:srgbClr val="E2E2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832104" y="5166360"/>
            <a:ext cx="10332720" cy="6766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200" b="1">
                <a:solidFill>
                  <a:srgbClr val="8C64E1"/>
                </a:solidFill>
                <a:latin typeface="Alibaba PuHuiTi 3.0 115 Black"/>
              </a:defRPr>
            </a:pPr>
            <a:r>
              <a:t>先标出每个数字的含义。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36576"/>
            <a:ext cx="12191695" cy="73152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57416"/>
            <a:ext cx="12191695" cy="73152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77240" y="5010912"/>
            <a:ext cx="10661904" cy="1261872"/>
          </a:xfrm>
          <a:prstGeom prst="rect">
            <a:avLst/>
          </a:prstGeom>
          <a:solidFill>
            <a:srgbClr val="F6F3FF"/>
          </a:solidFill>
          <a:ln w="8890">
            <a:solidFill>
              <a:srgbClr val="E0DD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77240" y="5010912"/>
            <a:ext cx="68580" cy="1261872"/>
          </a:xfrm>
          <a:prstGeom prst="rect">
            <a:avLst/>
          </a:prstGeom>
          <a:solidFill>
            <a:srgbClr val="6251B1"/>
          </a:solidFill>
          <a:ln w="8890">
            <a:solidFill>
              <a:srgbClr val="6251B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12648" y="576072"/>
            <a:ext cx="10972800" cy="7863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3400" b="1">
                <a:solidFill>
                  <a:srgbClr val="262626"/>
                </a:solidFill>
                <a:latin typeface="Alibaba PuHuiTi 3.0 115 Black"/>
              </a:defRPr>
            </a:pPr>
            <a:r>
              <a:t>练习题 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86384" y="1691640"/>
            <a:ext cx="10652760" cy="30358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700" b="0">
                <a:solidFill>
                  <a:srgbClr val="262626"/>
                </a:solidFill>
                <a:latin typeface="Alibaba PuHuiTi 3.0 55 Regular"/>
              </a:defRPr>
            </a:pPr>
            <a:r>
              <a:t>采样率 16,000 Hz，8 bit，双声道，录制5秒。</a:t>
            </a:r>
          </a:p>
          <a:p>
            <a:pPr>
              <a:spcBef>
                <a:spcPts val="0"/>
              </a:spcBef>
              <a:spcAft>
                <a:spcPts val="200"/>
              </a:spcAft>
              <a:defRPr sz="2700" b="0">
                <a:solidFill>
                  <a:srgbClr val="262626"/>
                </a:solidFill>
                <a:latin typeface="Alibaba PuHuiTi 3.0 55 Regular"/>
              </a:defRPr>
            </a:pPr>
            <a:r>
              <a:t>未压缩PCM样本数据共有多少 Byte？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822960" y="4919472"/>
            <a:ext cx="10259568" cy="0"/>
          </a:xfrm>
          <a:prstGeom prst="line">
            <a:avLst/>
          </a:prstGeom>
          <a:ln w="25400">
            <a:solidFill>
              <a:srgbClr val="E2E2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1005840" y="5111496"/>
            <a:ext cx="10241280" cy="521207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300" b="1">
                <a:solidFill>
                  <a:srgbClr val="8C64E1"/>
                </a:solidFill>
                <a:latin typeface="Alibaba PuHuiTi 3.0 115 Black"/>
              </a:defRPr>
            </a:pPr>
            <a:r>
              <a:rPr b="1" sz="2600">
                <a:solidFill>
                  <a:srgbClr val="6251B1"/>
                </a:solidFill>
                <a:latin typeface="Alibaba PuHuiTi 3.0 115 Black"/>
              </a:rPr>
              <a:t>答案：160,000 Byte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5660136"/>
            <a:ext cx="10241280" cy="60350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1900" b="0">
                <a:solidFill>
                  <a:srgbClr val="262626"/>
                </a:solidFill>
                <a:latin typeface="Alibaba PuHuiTi 3.0 55 Regular"/>
              </a:defRPr>
            </a:pPr>
            <a:r>
              <a:rPr sz="1800" b="0">
                <a:solidFill>
                  <a:srgbClr val="262626"/>
                </a:solidFill>
                <a:latin typeface="Alibaba PuHuiTi 3.0 55 Regular"/>
              </a:rPr>
              <a:t>16,000 × 8 × 2 × 5 ÷ 8 = 160,000 Byte。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36576"/>
            <a:ext cx="12191695" cy="73152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57416"/>
            <a:ext cx="12191695" cy="73152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12648" y="576072"/>
            <a:ext cx="10972800" cy="7863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3400" b="1">
                <a:solidFill>
                  <a:srgbClr val="262626"/>
                </a:solidFill>
                <a:latin typeface="Alibaba PuHuiTi 3.0 115 Black"/>
              </a:defRPr>
            </a:pPr>
            <a:r>
              <a:t>本节课你能解释三件事吗？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04672" y="1783080"/>
            <a:ext cx="10789920" cy="4480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400" b="1">
                <a:solidFill>
                  <a:srgbClr val="8C64E1"/>
                </a:solidFill>
                <a:latin typeface="Alibaba PuHuiTi 3.0 115 Black"/>
              </a:defRPr>
            </a:pPr>
            <a:r>
              <a:t>① 声音怎么进入电脑？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60120" y="2350008"/>
            <a:ext cx="10515600" cy="4754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100" b="0">
                <a:solidFill>
                  <a:srgbClr val="262626"/>
                </a:solidFill>
                <a:latin typeface="Alibaba PuHuiTi 3.0 55 Regular"/>
              </a:defRPr>
            </a:pPr>
            <a:r>
              <a:t>麦克风 → ADC → 数字数据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04672" y="3081528"/>
            <a:ext cx="10789920" cy="4480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400" b="1">
                <a:solidFill>
                  <a:srgbClr val="8C64E1"/>
                </a:solidFill>
                <a:latin typeface="Alibaba PuHuiTi 3.0 115 Black"/>
              </a:defRPr>
            </a:pPr>
            <a:r>
              <a:t>② 采样和量化有什么不同？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0120" y="3648456"/>
            <a:ext cx="10515600" cy="4754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100" b="0">
                <a:solidFill>
                  <a:srgbClr val="262626"/>
                </a:solidFill>
                <a:latin typeface="Alibaba PuHuiTi 3.0 55 Regular"/>
              </a:defRPr>
            </a:pPr>
            <a:r>
              <a:t>前者定时刻，后者定代表值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04672" y="4379976"/>
            <a:ext cx="10789920" cy="4480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400" b="1">
                <a:solidFill>
                  <a:srgbClr val="8C64E1"/>
                </a:solidFill>
                <a:latin typeface="Alibaba PuHuiTi 3.0 115 Black"/>
              </a:defRPr>
            </a:pPr>
            <a:r>
              <a:t>③ PCM为什么有大小差别？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60120" y="4946904"/>
            <a:ext cx="10515600" cy="4754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100" b="0">
                <a:solidFill>
                  <a:srgbClr val="262626"/>
                </a:solidFill>
                <a:latin typeface="Alibaba PuHuiTi 3.0 55 Regular"/>
              </a:defRPr>
            </a:pPr>
            <a:r>
              <a:t>样本数 × 每样本bit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36576"/>
            <a:ext cx="12191695" cy="73152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57416"/>
            <a:ext cx="12191695" cy="73152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94944" y="1993392"/>
            <a:ext cx="10881360" cy="12070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5000" b="1">
                <a:solidFill>
                  <a:srgbClr val="262626"/>
                </a:solidFill>
                <a:latin typeface="Alibaba PuHuiTi 3.0 115 Black"/>
              </a:defRPr>
            </a:pPr>
            <a:r>
              <a:t>为什么文件还需要压缩？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2376" y="3730752"/>
            <a:ext cx="10698480" cy="777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900" b="0">
                <a:solidFill>
                  <a:srgbClr val="808080"/>
                </a:solidFill>
                <a:latin typeface="Alibaba PuHuiTi 3.0 55 Regular"/>
              </a:defRPr>
            </a:pPr>
            <a:r>
              <a:t>第二课时｜音频、视频编码与数据压缩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36576"/>
            <a:ext cx="12191695" cy="73152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57416"/>
            <a:ext cx="12191695" cy="73152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12648" y="576072"/>
            <a:ext cx="10972800" cy="7863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3400" b="1">
                <a:solidFill>
                  <a:srgbClr val="262626"/>
                </a:solidFill>
                <a:latin typeface="Alibaba PuHuiTi 3.0 115 Black"/>
              </a:defRPr>
            </a:pPr>
            <a:r>
              <a:t>先回忆：这四个数字，分别是什么意思？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59536" y="1828800"/>
            <a:ext cx="4956048" cy="5669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3000" b="1">
                <a:solidFill>
                  <a:srgbClr val="8C64E1"/>
                </a:solidFill>
                <a:latin typeface="Alibaba PuHuiTi 3.0 115 Black"/>
              </a:defRPr>
            </a:pPr>
            <a:r>
              <a:t>48,000 Hz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59536" y="2551176"/>
            <a:ext cx="4956048" cy="521207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200" b="0">
                <a:solidFill>
                  <a:srgbClr val="262626"/>
                </a:solidFill>
                <a:latin typeface="Alibaba PuHuiTi 3.0 55 Regular"/>
              </a:defRPr>
            </a:pPr>
            <a:r>
              <a:t>每秒取样次数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55664" y="1828800"/>
            <a:ext cx="4956048" cy="5669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3000" b="1">
                <a:solidFill>
                  <a:srgbClr val="00B0F0"/>
                </a:solidFill>
                <a:latin typeface="Alibaba PuHuiTi 3.0 115 Black"/>
              </a:defRPr>
            </a:pPr>
            <a:r>
              <a:t>16 bit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55664" y="2551176"/>
            <a:ext cx="4956048" cy="521207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200" b="0">
                <a:solidFill>
                  <a:srgbClr val="262626"/>
                </a:solidFill>
                <a:latin typeface="Alibaba PuHuiTi 3.0 55 Regular"/>
              </a:defRPr>
            </a:pPr>
            <a:r>
              <a:t>每样本的位数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59536" y="3566160"/>
            <a:ext cx="4956048" cy="5669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3000" b="1">
                <a:solidFill>
                  <a:srgbClr val="8C64E1"/>
                </a:solidFill>
                <a:latin typeface="Alibaba PuHuiTi 3.0 115 Black"/>
              </a:defRPr>
            </a:pPr>
            <a:r>
              <a:t>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59536" y="4288536"/>
            <a:ext cx="4956048" cy="521207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200" b="0">
                <a:solidFill>
                  <a:srgbClr val="262626"/>
                </a:solidFill>
                <a:latin typeface="Alibaba PuHuiTi 3.0 55 Regular"/>
              </a:defRPr>
            </a:pPr>
            <a:r>
              <a:t>左右两个声道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55664" y="3566160"/>
            <a:ext cx="4956048" cy="5669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3000" b="1">
                <a:solidFill>
                  <a:srgbClr val="00B0F0"/>
                </a:solidFill>
                <a:latin typeface="Alibaba PuHuiTi 3.0 115 Black"/>
              </a:defRPr>
            </a:pPr>
            <a:r>
              <a:t>60 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55664" y="4288536"/>
            <a:ext cx="4956048" cy="521207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200" b="0">
                <a:solidFill>
                  <a:srgbClr val="262626"/>
                </a:solidFill>
                <a:latin typeface="Alibaba PuHuiTi 3.0 55 Regular"/>
              </a:defRPr>
            </a:pPr>
            <a:r>
              <a:t>音频持续时间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7240" y="5879592"/>
            <a:ext cx="1078992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000" b="1">
                <a:solidFill>
                  <a:srgbClr val="8C64E1"/>
                </a:solidFill>
                <a:latin typeface="Alibaba PuHuiTi 3.0 115 Black"/>
              </a:defRPr>
            </a:pPr>
            <a:r>
              <a:t>提醒：1 MB（按1024²换算）在严格单位写法中应称MiB。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36576"/>
            <a:ext cx="12191695" cy="73152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57416"/>
            <a:ext cx="12191695" cy="73152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12648" y="576072"/>
            <a:ext cx="10972800" cy="7863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3400" b="1">
                <a:solidFill>
                  <a:srgbClr val="262626"/>
                </a:solidFill>
                <a:latin typeface="Alibaba PuHuiTi 3.0 115 Black"/>
              </a:defRPr>
            </a:pPr>
            <a:r>
              <a:t>练习题 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86384" y="1691640"/>
            <a:ext cx="10652760" cy="30358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700" b="0">
                <a:solidFill>
                  <a:srgbClr val="262626"/>
                </a:solidFill>
                <a:latin typeface="Alibaba PuHuiTi 3.0 55 Regular"/>
              </a:defRPr>
            </a:pPr>
            <a:r>
              <a:t>1分钟未压缩PCM音频：48,000 Hz、16 bit、双声道。</a:t>
            </a:r>
          </a:p>
          <a:p>
            <a:pPr>
              <a:spcBef>
                <a:spcPts val="0"/>
              </a:spcBef>
              <a:spcAft>
                <a:spcPts val="200"/>
              </a:spcAft>
              <a:defRPr sz="2700" b="0">
                <a:solidFill>
                  <a:srgbClr val="262626"/>
                </a:solidFill>
                <a:latin typeface="Alibaba PuHuiTi 3.0 55 Regular"/>
              </a:defRPr>
            </a:pPr>
            <a:r>
              <a:t>样本数据量约多少MiB？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822960" y="4919472"/>
            <a:ext cx="10259568" cy="0"/>
          </a:xfrm>
          <a:prstGeom prst="line">
            <a:avLst/>
          </a:prstGeom>
          <a:ln w="25400">
            <a:solidFill>
              <a:srgbClr val="E2E2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832104" y="5166360"/>
            <a:ext cx="10332720" cy="6766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200" b="1">
                <a:solidFill>
                  <a:srgbClr val="8C64E1"/>
                </a:solidFill>
                <a:latin typeface="Alibaba PuHuiTi 3.0 115 Black"/>
              </a:defRPr>
            </a:pPr>
            <a:r>
              <a:t>先列式，再做单位换算。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36576"/>
            <a:ext cx="12191695" cy="73152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57416"/>
            <a:ext cx="12191695" cy="73152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77240" y="5010912"/>
            <a:ext cx="10661904" cy="1261872"/>
          </a:xfrm>
          <a:prstGeom prst="rect">
            <a:avLst/>
          </a:prstGeom>
          <a:solidFill>
            <a:srgbClr val="F6F3FF"/>
          </a:solidFill>
          <a:ln w="8890">
            <a:solidFill>
              <a:srgbClr val="E0DD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77240" y="5010912"/>
            <a:ext cx="68580" cy="1261872"/>
          </a:xfrm>
          <a:prstGeom prst="rect">
            <a:avLst/>
          </a:prstGeom>
          <a:solidFill>
            <a:srgbClr val="6251B1"/>
          </a:solidFill>
          <a:ln w="8890">
            <a:solidFill>
              <a:srgbClr val="6251B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12648" y="576072"/>
            <a:ext cx="10972800" cy="7863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3400" b="1">
                <a:solidFill>
                  <a:srgbClr val="262626"/>
                </a:solidFill>
                <a:latin typeface="Alibaba PuHuiTi 3.0 115 Black"/>
              </a:defRPr>
            </a:pPr>
            <a:r>
              <a:t>练习题 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86384" y="1691640"/>
            <a:ext cx="10652760" cy="30358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700" b="0">
                <a:solidFill>
                  <a:srgbClr val="262626"/>
                </a:solidFill>
                <a:latin typeface="Alibaba PuHuiTi 3.0 55 Regular"/>
              </a:defRPr>
            </a:pPr>
            <a:r>
              <a:t>1分钟未压缩PCM音频：48,000 Hz、16 bit、双声道。</a:t>
            </a:r>
          </a:p>
          <a:p>
            <a:pPr>
              <a:spcBef>
                <a:spcPts val="0"/>
              </a:spcBef>
              <a:spcAft>
                <a:spcPts val="200"/>
              </a:spcAft>
              <a:defRPr sz="2700" b="0">
                <a:solidFill>
                  <a:srgbClr val="262626"/>
                </a:solidFill>
                <a:latin typeface="Alibaba PuHuiTi 3.0 55 Regular"/>
              </a:defRPr>
            </a:pPr>
            <a:r>
              <a:t>样本数据量约多少MiB？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822960" y="4919472"/>
            <a:ext cx="10259568" cy="0"/>
          </a:xfrm>
          <a:prstGeom prst="line">
            <a:avLst/>
          </a:prstGeom>
          <a:ln w="25400">
            <a:solidFill>
              <a:srgbClr val="E2E2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1005840" y="5111496"/>
            <a:ext cx="10241280" cy="521207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300" b="1">
                <a:solidFill>
                  <a:srgbClr val="8C64E1"/>
                </a:solidFill>
                <a:latin typeface="Alibaba PuHuiTi 3.0 115 Black"/>
              </a:defRPr>
            </a:pPr>
            <a:r>
              <a:rPr b="1" sz="2600">
                <a:solidFill>
                  <a:srgbClr val="6251B1"/>
                </a:solidFill>
                <a:latin typeface="Alibaba PuHuiTi 3.0 115 Black"/>
              </a:rPr>
              <a:t>答案：约10.99 MiB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5660136"/>
            <a:ext cx="10241280" cy="60350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1900" b="0">
                <a:solidFill>
                  <a:srgbClr val="262626"/>
                </a:solidFill>
                <a:latin typeface="Alibaba PuHuiTi 3.0 55 Regular"/>
              </a:defRPr>
            </a:pPr>
            <a:r>
              <a:rPr sz="1800" b="0">
                <a:solidFill>
                  <a:srgbClr val="262626"/>
                </a:solidFill>
                <a:latin typeface="Alibaba PuHuiTi 3.0 55 Regular"/>
              </a:rPr>
              <a:t>48,000×16×2×60÷8=11,520,000 B；÷1024²≈10.99 MiB。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36576"/>
            <a:ext cx="12191695" cy="73152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57416"/>
            <a:ext cx="12191695" cy="73152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12648" y="576072"/>
            <a:ext cx="10972800" cy="7863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3400" b="1">
                <a:solidFill>
                  <a:srgbClr val="262626"/>
                </a:solidFill>
                <a:latin typeface="Alibaba PuHuiTi 3.0 115 Black"/>
              </a:defRPr>
            </a:pPr>
            <a:r>
              <a:t>练习题 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86384" y="1691640"/>
            <a:ext cx="10652760" cy="30358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700" b="0">
                <a:solidFill>
                  <a:srgbClr val="262626"/>
                </a:solidFill>
                <a:latin typeface="Alibaba PuHuiTi 3.0 55 Regular"/>
              </a:defRPr>
            </a:pPr>
            <a:r>
              <a:t>给5分钟的诗朗诵加入一条等时长背景音乐音轨。</a:t>
            </a:r>
          </a:p>
          <a:p>
            <a:pPr>
              <a:spcBef>
                <a:spcPts val="0"/>
              </a:spcBef>
              <a:spcAft>
                <a:spcPts val="200"/>
              </a:spcAft>
              <a:defRPr sz="2700" b="0">
                <a:solidFill>
                  <a:srgbClr val="262626"/>
                </a:solidFill>
                <a:latin typeface="Alibaba PuHuiTi 3.0 55 Regular"/>
              </a:defRPr>
            </a:pPr>
            <a:r>
              <a:t>如果导出时仍为44.1 kHz、16 bit、双声道PCM，</a:t>
            </a:r>
          </a:p>
          <a:p>
            <a:pPr>
              <a:spcBef>
                <a:spcPts val="0"/>
              </a:spcBef>
              <a:spcAft>
                <a:spcPts val="200"/>
              </a:spcAft>
              <a:defRPr sz="2700" b="0">
                <a:solidFill>
                  <a:srgbClr val="262626"/>
                </a:solidFill>
                <a:latin typeface="Alibaba PuHuiTi 3.0 55 Regular"/>
              </a:defRPr>
            </a:pPr>
            <a:r>
              <a:t>数据量会翻倍吗？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822960" y="4919472"/>
            <a:ext cx="10259568" cy="0"/>
          </a:xfrm>
          <a:prstGeom prst="line">
            <a:avLst/>
          </a:prstGeom>
          <a:ln w="25400">
            <a:solidFill>
              <a:srgbClr val="E2E2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832104" y="5166360"/>
            <a:ext cx="10332720" cy="6766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200" b="1">
                <a:solidFill>
                  <a:srgbClr val="8C64E1"/>
                </a:solidFill>
                <a:latin typeface="Alibaba PuHuiTi 3.0 115 Black"/>
              </a:defRPr>
            </a:pPr>
            <a:r>
              <a:t>先投票：翻倍 / 不变 / 说不清。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36576"/>
            <a:ext cx="12191695" cy="73152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57416"/>
            <a:ext cx="12191695" cy="73152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12648" y="576072"/>
            <a:ext cx="10972800" cy="7863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3400" b="1">
                <a:solidFill>
                  <a:srgbClr val="262626"/>
                </a:solidFill>
                <a:latin typeface="Alibaba PuHuiTi 3.0 115 Black"/>
              </a:defRPr>
            </a:pPr>
            <a:r>
              <a:t>两个看似有道理的答案，你支持哪一个？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6080760" y="1627632"/>
            <a:ext cx="0" cy="3776472"/>
          </a:xfrm>
          <a:prstGeom prst="line">
            <a:avLst/>
          </a:prstGeom>
          <a:ln w="25400">
            <a:solidFill>
              <a:srgbClr val="E2E2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822960" y="1737360"/>
            <a:ext cx="5074920" cy="6949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800" b="1">
                <a:solidFill>
                  <a:srgbClr val="8C64E1"/>
                </a:solidFill>
                <a:latin typeface="Alibaba PuHuiTi 3.0 115 Black"/>
              </a:defRPr>
            </a:pPr>
            <a:r>
              <a:t>观点 A：不变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55664" y="1737360"/>
            <a:ext cx="4754880" cy="6949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800" b="1">
                <a:solidFill>
                  <a:srgbClr val="00B0F0"/>
                </a:solidFill>
                <a:latin typeface="Alibaba PuHuiTi 3.0 115 Black"/>
              </a:defRPr>
            </a:pPr>
            <a:r>
              <a:t>观点 B：翻倍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2743200"/>
            <a:ext cx="5010912" cy="2286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300" b="0">
                <a:solidFill>
                  <a:srgbClr val="262626"/>
                </a:solidFill>
                <a:latin typeface="Alibaba PuHuiTi 3.0 55 Regular"/>
              </a:defRPr>
            </a:pPr>
            <a:r>
              <a:t>采样率没变，位数没变，时长没变，输出的声道数也没变。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55664" y="2743200"/>
            <a:ext cx="4873752" cy="2286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300" b="0">
                <a:solidFill>
                  <a:srgbClr val="262626"/>
                </a:solidFill>
                <a:latin typeface="Alibaba PuHuiTi 3.0 55 Regular"/>
              </a:defRPr>
            </a:pPr>
            <a:r>
              <a:t>录音里多了一份音乐，是不是就需要多一份音频数据？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5879592"/>
            <a:ext cx="1078992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000" b="1">
                <a:solidFill>
                  <a:srgbClr val="8C64E1"/>
                </a:solidFill>
                <a:latin typeface="Alibaba PuHuiTi 3.0 115 Black"/>
              </a:defRPr>
            </a:pPr>
            <a:r>
              <a:t>争论的关键：编辑时的“音轨”，是不是导出时的“声道”？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36576"/>
            <a:ext cx="12191695" cy="73152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57416"/>
            <a:ext cx="12191695" cy="73152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12648" y="576072"/>
            <a:ext cx="10972800" cy="7863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3400" b="1">
                <a:solidFill>
                  <a:srgbClr val="262626"/>
                </a:solidFill>
                <a:latin typeface="Alibaba PuHuiTi 3.0 115 Black"/>
              </a:defRPr>
            </a:pPr>
            <a:r>
              <a:t>音轨是编辑时的层，声道是输出时的通道。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95528" y="1664208"/>
            <a:ext cx="475488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>
              <a:spcAft>
                <a:spcPts val="0"/>
              </a:spcAft>
              <a:defRPr sz="2500" b="1">
                <a:solidFill>
                  <a:srgbClr val="8C64E1"/>
                </a:solidFill>
                <a:latin typeface="Alibaba PuHuiTi 3.0 115 Black"/>
              </a:defRPr>
            </a:pPr>
            <a:r>
              <a:t>编辑工程：两条音轨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702552" y="1664208"/>
            <a:ext cx="475488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>
              <a:spcAft>
                <a:spcPts val="0"/>
              </a:spcAft>
              <a:defRPr sz="2500" b="1">
                <a:solidFill>
                  <a:srgbClr val="00B0F0"/>
                </a:solidFill>
                <a:latin typeface="Alibaba PuHuiTi 3.0 115 Black"/>
              </a:defRPr>
            </a:pPr>
            <a:r>
              <a:t>混音导出：两个声道</a:t>
            </a:r>
          </a:p>
        </p:txBody>
      </p:sp>
      <p:sp>
        <p:nvSpPr>
          <p:cNvPr id="7" name="Rectangle 6"/>
          <p:cNvSpPr/>
          <p:nvPr/>
        </p:nvSpPr>
        <p:spPr>
          <a:xfrm>
            <a:off x="859536" y="2487168"/>
            <a:ext cx="4480560" cy="786384"/>
          </a:xfrm>
          <a:prstGeom prst="rect">
            <a:avLst/>
          </a:prstGeom>
          <a:solidFill>
            <a:srgbClr val="FFFFFF"/>
          </a:solidFill>
          <a:ln w="25400">
            <a:solidFill>
              <a:srgbClr val="8C64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69264" y="2633472"/>
            <a:ext cx="2377440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>
              <a:spcAft>
                <a:spcPts val="0"/>
              </a:spcAft>
              <a:defRPr sz="1600" b="1">
                <a:solidFill>
                  <a:srgbClr val="8C64E1"/>
                </a:solidFill>
                <a:latin typeface="Alibaba PuHuiTi 3.0 115 Black"/>
              </a:defRPr>
            </a:pPr>
            <a:r>
              <a:t>音轨1：诗朗诵</a:t>
            </a:r>
          </a:p>
        </p:txBody>
      </p:sp>
      <p:cxnSp>
        <p:nvCxnSpPr>
          <p:cNvPr id="9" name="Connector 8"/>
          <p:cNvCxnSpPr/>
          <p:nvPr/>
        </p:nvCxnSpPr>
        <p:spPr>
          <a:xfrm flipV="1">
            <a:off x="3319272" y="2820093"/>
            <a:ext cx="21838" cy="37407"/>
          </a:xfrm>
          <a:prstGeom prst="line">
            <a:avLst/>
          </a:prstGeom>
          <a:ln w="2540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 flipV="1">
            <a:off x="3341110" y="2783862"/>
            <a:ext cx="21838" cy="36231"/>
          </a:xfrm>
          <a:prstGeom prst="line">
            <a:avLst/>
          </a:prstGeom>
          <a:ln w="2540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 flipV="1">
            <a:off x="3362948" y="2749941"/>
            <a:ext cx="21838" cy="33921"/>
          </a:xfrm>
          <a:prstGeom prst="line">
            <a:avLst/>
          </a:prstGeom>
          <a:ln w="2540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 flipV="1">
            <a:off x="3384786" y="2719398"/>
            <a:ext cx="21838" cy="30543"/>
          </a:xfrm>
          <a:prstGeom prst="line">
            <a:avLst/>
          </a:prstGeom>
          <a:ln w="2540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 flipV="1">
            <a:off x="3406624" y="2693189"/>
            <a:ext cx="21838" cy="26209"/>
          </a:xfrm>
          <a:prstGeom prst="line">
            <a:avLst/>
          </a:prstGeom>
          <a:ln w="2540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 flipV="1">
            <a:off x="3428462" y="2672138"/>
            <a:ext cx="21838" cy="21051"/>
          </a:xfrm>
          <a:prstGeom prst="line">
            <a:avLst/>
          </a:prstGeom>
          <a:ln w="2540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 flipV="1">
            <a:off x="3450300" y="2656906"/>
            <a:ext cx="21838" cy="15232"/>
          </a:xfrm>
          <a:prstGeom prst="line">
            <a:avLst/>
          </a:prstGeom>
          <a:ln w="2540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 flipV="1">
            <a:off x="3472138" y="2647971"/>
            <a:ext cx="21838" cy="8935"/>
          </a:xfrm>
          <a:prstGeom prst="line">
            <a:avLst/>
          </a:prstGeom>
          <a:ln w="2540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 flipV="1">
            <a:off x="3493976" y="2645613"/>
            <a:ext cx="21838" cy="2358"/>
          </a:xfrm>
          <a:prstGeom prst="line">
            <a:avLst/>
          </a:prstGeom>
          <a:ln w="2540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>
            <a:off x="3515814" y="2645613"/>
            <a:ext cx="21838" cy="4293"/>
          </a:xfrm>
          <a:prstGeom prst="line">
            <a:avLst/>
          </a:prstGeom>
          <a:ln w="2540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>
            <a:off x="3537652" y="2649906"/>
            <a:ext cx="21838" cy="10810"/>
          </a:xfrm>
          <a:prstGeom prst="line">
            <a:avLst/>
          </a:prstGeom>
          <a:ln w="2540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>
            <a:off x="3559490" y="2660716"/>
            <a:ext cx="21838" cy="16987"/>
          </a:xfrm>
          <a:prstGeom prst="line">
            <a:avLst/>
          </a:prstGeom>
          <a:ln w="2540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>
            <a:off x="3581328" y="2677703"/>
            <a:ext cx="21838" cy="22631"/>
          </a:xfrm>
          <a:prstGeom prst="line">
            <a:avLst/>
          </a:prstGeom>
          <a:ln w="2540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>
            <a:off x="3603166" y="2700334"/>
            <a:ext cx="21838" cy="27565"/>
          </a:xfrm>
          <a:prstGeom prst="line">
            <a:avLst/>
          </a:prstGeom>
          <a:ln w="2540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>
            <a:off x="3625004" y="2727899"/>
            <a:ext cx="21838" cy="31633"/>
          </a:xfrm>
          <a:prstGeom prst="line">
            <a:avLst/>
          </a:prstGeom>
          <a:ln w="2540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>
            <a:off x="3646842" y="2759532"/>
            <a:ext cx="21838" cy="34708"/>
          </a:xfrm>
          <a:prstGeom prst="line">
            <a:avLst/>
          </a:prstGeom>
          <a:ln w="2540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>
            <a:off x="3668680" y="2794240"/>
            <a:ext cx="21838" cy="36694"/>
          </a:xfrm>
          <a:prstGeom prst="line">
            <a:avLst/>
          </a:prstGeom>
          <a:ln w="2540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>
            <a:off x="3690518" y="2830934"/>
            <a:ext cx="21838" cy="37528"/>
          </a:xfrm>
          <a:prstGeom prst="line">
            <a:avLst/>
          </a:prstGeom>
          <a:ln w="2540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6"/>
          <p:cNvCxnSpPr/>
          <p:nvPr/>
        </p:nvCxnSpPr>
        <p:spPr>
          <a:xfrm>
            <a:off x="3712356" y="2868462"/>
            <a:ext cx="21838" cy="37184"/>
          </a:xfrm>
          <a:prstGeom prst="line">
            <a:avLst/>
          </a:prstGeom>
          <a:ln w="2540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ector 27"/>
          <p:cNvCxnSpPr/>
          <p:nvPr/>
        </p:nvCxnSpPr>
        <p:spPr>
          <a:xfrm>
            <a:off x="3734194" y="2905646"/>
            <a:ext cx="21838" cy="35673"/>
          </a:xfrm>
          <a:prstGeom prst="line">
            <a:avLst/>
          </a:prstGeom>
          <a:ln w="2540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Connector 28"/>
          <p:cNvCxnSpPr/>
          <p:nvPr/>
        </p:nvCxnSpPr>
        <p:spPr>
          <a:xfrm>
            <a:off x="3756032" y="2941319"/>
            <a:ext cx="21838" cy="33041"/>
          </a:xfrm>
          <a:prstGeom prst="line">
            <a:avLst/>
          </a:prstGeom>
          <a:ln w="2540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nector 29"/>
          <p:cNvCxnSpPr/>
          <p:nvPr/>
        </p:nvCxnSpPr>
        <p:spPr>
          <a:xfrm>
            <a:off x="3777870" y="2974360"/>
            <a:ext cx="21838" cy="29373"/>
          </a:xfrm>
          <a:prstGeom prst="line">
            <a:avLst/>
          </a:prstGeom>
          <a:ln w="2540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nector 30"/>
          <p:cNvCxnSpPr/>
          <p:nvPr/>
        </p:nvCxnSpPr>
        <p:spPr>
          <a:xfrm>
            <a:off x="3799708" y="3003733"/>
            <a:ext cx="21838" cy="24782"/>
          </a:xfrm>
          <a:prstGeom prst="line">
            <a:avLst/>
          </a:prstGeom>
          <a:ln w="2540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Connector 31"/>
          <p:cNvCxnSpPr/>
          <p:nvPr/>
        </p:nvCxnSpPr>
        <p:spPr>
          <a:xfrm>
            <a:off x="3821546" y="3028515"/>
            <a:ext cx="21838" cy="19415"/>
          </a:xfrm>
          <a:prstGeom prst="line">
            <a:avLst/>
          </a:prstGeom>
          <a:ln w="2540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Connector 32"/>
          <p:cNvCxnSpPr/>
          <p:nvPr/>
        </p:nvCxnSpPr>
        <p:spPr>
          <a:xfrm>
            <a:off x="3843384" y="3047930"/>
            <a:ext cx="21838" cy="13436"/>
          </a:xfrm>
          <a:prstGeom prst="line">
            <a:avLst/>
          </a:prstGeom>
          <a:ln w="2540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Connector 33"/>
          <p:cNvCxnSpPr/>
          <p:nvPr/>
        </p:nvCxnSpPr>
        <p:spPr>
          <a:xfrm>
            <a:off x="3865222" y="3061366"/>
            <a:ext cx="21838" cy="7037"/>
          </a:xfrm>
          <a:prstGeom prst="line">
            <a:avLst/>
          </a:prstGeom>
          <a:ln w="2540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Connector 34"/>
          <p:cNvCxnSpPr/>
          <p:nvPr/>
        </p:nvCxnSpPr>
        <p:spPr>
          <a:xfrm>
            <a:off x="3887060" y="3068403"/>
            <a:ext cx="21838" cy="416"/>
          </a:xfrm>
          <a:prstGeom prst="line">
            <a:avLst/>
          </a:prstGeom>
          <a:ln w="2540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Connector 35"/>
          <p:cNvCxnSpPr/>
          <p:nvPr/>
        </p:nvCxnSpPr>
        <p:spPr>
          <a:xfrm flipV="1">
            <a:off x="3908898" y="3062602"/>
            <a:ext cx="21838" cy="6217"/>
          </a:xfrm>
          <a:prstGeom prst="line">
            <a:avLst/>
          </a:prstGeom>
          <a:ln w="2540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" name="Connector 36"/>
          <p:cNvCxnSpPr/>
          <p:nvPr/>
        </p:nvCxnSpPr>
        <p:spPr>
          <a:xfrm flipV="1">
            <a:off x="3930736" y="3049947"/>
            <a:ext cx="21838" cy="12655"/>
          </a:xfrm>
          <a:prstGeom prst="line">
            <a:avLst/>
          </a:prstGeom>
          <a:ln w="2540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" name="Connector 37"/>
          <p:cNvCxnSpPr/>
          <p:nvPr/>
        </p:nvCxnSpPr>
        <p:spPr>
          <a:xfrm flipV="1">
            <a:off x="3952574" y="3031250"/>
            <a:ext cx="21838" cy="18697"/>
          </a:xfrm>
          <a:prstGeom prst="line">
            <a:avLst/>
          </a:prstGeom>
          <a:ln w="2540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" name="Connector 38"/>
          <p:cNvCxnSpPr/>
          <p:nvPr/>
        </p:nvCxnSpPr>
        <p:spPr>
          <a:xfrm flipV="1">
            <a:off x="3974412" y="3007099"/>
            <a:ext cx="21838" cy="24151"/>
          </a:xfrm>
          <a:prstGeom prst="line">
            <a:avLst/>
          </a:prstGeom>
          <a:ln w="2540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" name="Connector 39"/>
          <p:cNvCxnSpPr/>
          <p:nvPr/>
        </p:nvCxnSpPr>
        <p:spPr>
          <a:xfrm flipV="1">
            <a:off x="3996250" y="2978252"/>
            <a:ext cx="21838" cy="28847"/>
          </a:xfrm>
          <a:prstGeom prst="line">
            <a:avLst/>
          </a:prstGeom>
          <a:ln w="2540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" name="Connector 40"/>
          <p:cNvCxnSpPr/>
          <p:nvPr/>
        </p:nvCxnSpPr>
        <p:spPr>
          <a:xfrm flipV="1">
            <a:off x="4018088" y="2945615"/>
            <a:ext cx="21838" cy="32637"/>
          </a:xfrm>
          <a:prstGeom prst="line">
            <a:avLst/>
          </a:prstGeom>
          <a:ln w="2540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" name="Connector 41"/>
          <p:cNvCxnSpPr/>
          <p:nvPr/>
        </p:nvCxnSpPr>
        <p:spPr>
          <a:xfrm flipV="1">
            <a:off x="4039926" y="2910211"/>
            <a:ext cx="21838" cy="35404"/>
          </a:xfrm>
          <a:prstGeom prst="line">
            <a:avLst/>
          </a:prstGeom>
          <a:ln w="2540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3" name="Connector 42"/>
          <p:cNvCxnSpPr/>
          <p:nvPr/>
        </p:nvCxnSpPr>
        <p:spPr>
          <a:xfrm flipV="1">
            <a:off x="4061764" y="2873153"/>
            <a:ext cx="21838" cy="37058"/>
          </a:xfrm>
          <a:prstGeom prst="line">
            <a:avLst/>
          </a:prstGeom>
          <a:ln w="2540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Connector 43"/>
          <p:cNvCxnSpPr/>
          <p:nvPr/>
        </p:nvCxnSpPr>
        <p:spPr>
          <a:xfrm flipV="1">
            <a:off x="4083602" y="2835604"/>
            <a:ext cx="21838" cy="37549"/>
          </a:xfrm>
          <a:prstGeom prst="line">
            <a:avLst/>
          </a:prstGeom>
          <a:ln w="2540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" name="Connector 44"/>
          <p:cNvCxnSpPr/>
          <p:nvPr/>
        </p:nvCxnSpPr>
        <p:spPr>
          <a:xfrm flipV="1">
            <a:off x="4105440" y="2798741"/>
            <a:ext cx="21838" cy="36863"/>
          </a:xfrm>
          <a:prstGeom prst="line">
            <a:avLst/>
          </a:prstGeom>
          <a:ln w="2540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6" name="Connector 45"/>
          <p:cNvCxnSpPr/>
          <p:nvPr/>
        </p:nvCxnSpPr>
        <p:spPr>
          <a:xfrm flipV="1">
            <a:off x="4127278" y="2763724"/>
            <a:ext cx="21838" cy="35017"/>
          </a:xfrm>
          <a:prstGeom prst="line">
            <a:avLst/>
          </a:prstGeom>
          <a:ln w="2540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7" name="Connector 46"/>
          <p:cNvCxnSpPr/>
          <p:nvPr/>
        </p:nvCxnSpPr>
        <p:spPr>
          <a:xfrm flipV="1">
            <a:off x="4149116" y="2731650"/>
            <a:ext cx="21838" cy="32074"/>
          </a:xfrm>
          <a:prstGeom prst="line">
            <a:avLst/>
          </a:prstGeom>
          <a:ln w="2540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8" name="Connector 47"/>
          <p:cNvCxnSpPr/>
          <p:nvPr/>
        </p:nvCxnSpPr>
        <p:spPr>
          <a:xfrm flipV="1">
            <a:off x="4170954" y="2703526"/>
            <a:ext cx="21838" cy="28124"/>
          </a:xfrm>
          <a:prstGeom prst="line">
            <a:avLst/>
          </a:prstGeom>
          <a:ln w="2540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9" name="Connector 48"/>
          <p:cNvCxnSpPr/>
          <p:nvPr/>
        </p:nvCxnSpPr>
        <p:spPr>
          <a:xfrm flipV="1">
            <a:off x="4192792" y="2680236"/>
            <a:ext cx="21838" cy="23290"/>
          </a:xfrm>
          <a:prstGeom prst="line">
            <a:avLst/>
          </a:prstGeom>
          <a:ln w="2540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0" name="Connector 49"/>
          <p:cNvCxnSpPr/>
          <p:nvPr/>
        </p:nvCxnSpPr>
        <p:spPr>
          <a:xfrm flipV="1">
            <a:off x="4214630" y="2662510"/>
            <a:ext cx="21838" cy="17726"/>
          </a:xfrm>
          <a:prstGeom prst="line">
            <a:avLst/>
          </a:prstGeom>
          <a:ln w="2540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1" name="Connector 50"/>
          <p:cNvCxnSpPr/>
          <p:nvPr/>
        </p:nvCxnSpPr>
        <p:spPr>
          <a:xfrm flipV="1">
            <a:off x="4236468" y="2650906"/>
            <a:ext cx="21839" cy="11604"/>
          </a:xfrm>
          <a:prstGeom prst="line">
            <a:avLst/>
          </a:prstGeom>
          <a:ln w="2540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2" name="Connector 51"/>
          <p:cNvCxnSpPr/>
          <p:nvPr/>
        </p:nvCxnSpPr>
        <p:spPr>
          <a:xfrm flipV="1">
            <a:off x="4258307" y="2645786"/>
            <a:ext cx="21838" cy="5120"/>
          </a:xfrm>
          <a:prstGeom prst="line">
            <a:avLst/>
          </a:prstGeom>
          <a:ln w="2540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3" name="Connector 52"/>
          <p:cNvCxnSpPr/>
          <p:nvPr/>
        </p:nvCxnSpPr>
        <p:spPr>
          <a:xfrm>
            <a:off x="4280145" y="2645786"/>
            <a:ext cx="21838" cy="1527"/>
          </a:xfrm>
          <a:prstGeom prst="line">
            <a:avLst/>
          </a:prstGeom>
          <a:ln w="2540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4" name="Connector 53"/>
          <p:cNvCxnSpPr/>
          <p:nvPr/>
        </p:nvCxnSpPr>
        <p:spPr>
          <a:xfrm>
            <a:off x="4301983" y="2647313"/>
            <a:ext cx="21838" cy="8124"/>
          </a:xfrm>
          <a:prstGeom prst="line">
            <a:avLst/>
          </a:prstGeom>
          <a:ln w="2540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5" name="Connector 54"/>
          <p:cNvCxnSpPr/>
          <p:nvPr/>
        </p:nvCxnSpPr>
        <p:spPr>
          <a:xfrm>
            <a:off x="4323821" y="2655437"/>
            <a:ext cx="21838" cy="14467"/>
          </a:xfrm>
          <a:prstGeom prst="line">
            <a:avLst/>
          </a:prstGeom>
          <a:ln w="2540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6" name="Connector 55"/>
          <p:cNvCxnSpPr/>
          <p:nvPr/>
        </p:nvCxnSpPr>
        <p:spPr>
          <a:xfrm>
            <a:off x="4345659" y="2669904"/>
            <a:ext cx="21838" cy="20356"/>
          </a:xfrm>
          <a:prstGeom prst="line">
            <a:avLst/>
          </a:prstGeom>
          <a:ln w="2540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7" name="Connector 56"/>
          <p:cNvCxnSpPr/>
          <p:nvPr/>
        </p:nvCxnSpPr>
        <p:spPr>
          <a:xfrm>
            <a:off x="4367497" y="2690260"/>
            <a:ext cx="21838" cy="25606"/>
          </a:xfrm>
          <a:prstGeom prst="line">
            <a:avLst/>
          </a:prstGeom>
          <a:ln w="2540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8" name="Connector 57"/>
          <p:cNvCxnSpPr/>
          <p:nvPr/>
        </p:nvCxnSpPr>
        <p:spPr>
          <a:xfrm>
            <a:off x="4389335" y="2715866"/>
            <a:ext cx="21838" cy="30052"/>
          </a:xfrm>
          <a:prstGeom prst="line">
            <a:avLst/>
          </a:prstGeom>
          <a:ln w="2540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9" name="Connector 58"/>
          <p:cNvCxnSpPr/>
          <p:nvPr/>
        </p:nvCxnSpPr>
        <p:spPr>
          <a:xfrm>
            <a:off x="4411173" y="2745918"/>
            <a:ext cx="21838" cy="33555"/>
          </a:xfrm>
          <a:prstGeom prst="line">
            <a:avLst/>
          </a:prstGeom>
          <a:ln w="2540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0" name="Connector 59"/>
          <p:cNvCxnSpPr/>
          <p:nvPr/>
        </p:nvCxnSpPr>
        <p:spPr>
          <a:xfrm>
            <a:off x="4433011" y="2779473"/>
            <a:ext cx="21838" cy="36003"/>
          </a:xfrm>
          <a:prstGeom prst="line">
            <a:avLst/>
          </a:prstGeom>
          <a:ln w="2540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1" name="Connector 60"/>
          <p:cNvCxnSpPr/>
          <p:nvPr/>
        </p:nvCxnSpPr>
        <p:spPr>
          <a:xfrm>
            <a:off x="4454849" y="2815476"/>
            <a:ext cx="21838" cy="37324"/>
          </a:xfrm>
          <a:prstGeom prst="line">
            <a:avLst/>
          </a:prstGeom>
          <a:ln w="2540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2" name="Connector 61"/>
          <p:cNvCxnSpPr/>
          <p:nvPr/>
        </p:nvCxnSpPr>
        <p:spPr>
          <a:xfrm>
            <a:off x="4476687" y="2852800"/>
            <a:ext cx="21838" cy="37470"/>
          </a:xfrm>
          <a:prstGeom prst="line">
            <a:avLst/>
          </a:prstGeom>
          <a:ln w="2540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3" name="Connector 62"/>
          <p:cNvCxnSpPr/>
          <p:nvPr/>
        </p:nvCxnSpPr>
        <p:spPr>
          <a:xfrm>
            <a:off x="4498525" y="2890270"/>
            <a:ext cx="21838" cy="36442"/>
          </a:xfrm>
          <a:prstGeom prst="line">
            <a:avLst/>
          </a:prstGeom>
          <a:ln w="2540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4" name="Connector 63"/>
          <p:cNvCxnSpPr/>
          <p:nvPr/>
        </p:nvCxnSpPr>
        <p:spPr>
          <a:xfrm>
            <a:off x="4520363" y="2926712"/>
            <a:ext cx="21838" cy="34269"/>
          </a:xfrm>
          <a:prstGeom prst="line">
            <a:avLst/>
          </a:prstGeom>
          <a:ln w="2540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5" name="Connector 64"/>
          <p:cNvCxnSpPr/>
          <p:nvPr/>
        </p:nvCxnSpPr>
        <p:spPr>
          <a:xfrm>
            <a:off x="4542201" y="2960981"/>
            <a:ext cx="21838" cy="31021"/>
          </a:xfrm>
          <a:prstGeom prst="line">
            <a:avLst/>
          </a:prstGeom>
          <a:ln w="2540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6" name="Connector 65"/>
          <p:cNvCxnSpPr/>
          <p:nvPr/>
        </p:nvCxnSpPr>
        <p:spPr>
          <a:xfrm>
            <a:off x="4564039" y="2992002"/>
            <a:ext cx="21838" cy="26799"/>
          </a:xfrm>
          <a:prstGeom prst="line">
            <a:avLst/>
          </a:prstGeom>
          <a:ln w="2540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7" name="Connector 66"/>
          <p:cNvCxnSpPr/>
          <p:nvPr/>
        </p:nvCxnSpPr>
        <p:spPr>
          <a:xfrm>
            <a:off x="4585877" y="3018801"/>
            <a:ext cx="21838" cy="21735"/>
          </a:xfrm>
          <a:prstGeom prst="line">
            <a:avLst/>
          </a:prstGeom>
          <a:ln w="2540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8" name="Connector 67"/>
          <p:cNvCxnSpPr/>
          <p:nvPr/>
        </p:nvCxnSpPr>
        <p:spPr>
          <a:xfrm>
            <a:off x="4607715" y="3040536"/>
            <a:ext cx="21838" cy="15990"/>
          </a:xfrm>
          <a:prstGeom prst="line">
            <a:avLst/>
          </a:prstGeom>
          <a:ln w="2540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9" name="Connector 68"/>
          <p:cNvCxnSpPr/>
          <p:nvPr/>
        </p:nvCxnSpPr>
        <p:spPr>
          <a:xfrm>
            <a:off x="4629553" y="3056526"/>
            <a:ext cx="21838" cy="9741"/>
          </a:xfrm>
          <a:prstGeom prst="line">
            <a:avLst/>
          </a:prstGeom>
          <a:ln w="2540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0" name="Connector 69"/>
          <p:cNvCxnSpPr/>
          <p:nvPr/>
        </p:nvCxnSpPr>
        <p:spPr>
          <a:xfrm>
            <a:off x="4651391" y="3066267"/>
            <a:ext cx="21838" cy="3189"/>
          </a:xfrm>
          <a:prstGeom prst="line">
            <a:avLst/>
          </a:prstGeom>
          <a:ln w="2540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1" name="Connector 70"/>
          <p:cNvCxnSpPr/>
          <p:nvPr/>
        </p:nvCxnSpPr>
        <p:spPr>
          <a:xfrm flipV="1">
            <a:off x="4673229" y="3065991"/>
            <a:ext cx="21838" cy="3465"/>
          </a:xfrm>
          <a:prstGeom prst="line">
            <a:avLst/>
          </a:prstGeom>
          <a:ln w="2540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2" name="Connector 71"/>
          <p:cNvCxnSpPr/>
          <p:nvPr/>
        </p:nvCxnSpPr>
        <p:spPr>
          <a:xfrm flipV="1">
            <a:off x="4695067" y="3055981"/>
            <a:ext cx="21838" cy="10010"/>
          </a:xfrm>
          <a:prstGeom prst="line">
            <a:avLst/>
          </a:prstGeom>
          <a:ln w="2540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3" name="Connector 72"/>
          <p:cNvCxnSpPr/>
          <p:nvPr/>
        </p:nvCxnSpPr>
        <p:spPr>
          <a:xfrm flipV="1">
            <a:off x="4716905" y="3039741"/>
            <a:ext cx="21838" cy="16240"/>
          </a:xfrm>
          <a:prstGeom prst="line">
            <a:avLst/>
          </a:prstGeom>
          <a:ln w="2540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4" name="Connector 73"/>
          <p:cNvCxnSpPr/>
          <p:nvPr/>
        </p:nvCxnSpPr>
        <p:spPr>
          <a:xfrm flipV="1">
            <a:off x="4738743" y="3017780"/>
            <a:ext cx="21838" cy="21961"/>
          </a:xfrm>
          <a:prstGeom prst="line">
            <a:avLst/>
          </a:prstGeom>
          <a:ln w="2540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5" name="Connector 74"/>
          <p:cNvCxnSpPr/>
          <p:nvPr/>
        </p:nvCxnSpPr>
        <p:spPr>
          <a:xfrm flipV="1">
            <a:off x="4760581" y="2990787"/>
            <a:ext cx="21838" cy="26993"/>
          </a:xfrm>
          <a:prstGeom prst="line">
            <a:avLst/>
          </a:prstGeom>
          <a:ln w="2540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6" name="Connector 75"/>
          <p:cNvCxnSpPr/>
          <p:nvPr/>
        </p:nvCxnSpPr>
        <p:spPr>
          <a:xfrm flipV="1">
            <a:off x="4782419" y="2959611"/>
            <a:ext cx="21838" cy="31176"/>
          </a:xfrm>
          <a:prstGeom prst="line">
            <a:avLst/>
          </a:prstGeom>
          <a:ln w="2540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7" name="Connector 76"/>
          <p:cNvCxnSpPr/>
          <p:nvPr/>
        </p:nvCxnSpPr>
        <p:spPr>
          <a:xfrm flipV="1">
            <a:off x="4804257" y="2925229"/>
            <a:ext cx="21838" cy="34382"/>
          </a:xfrm>
          <a:prstGeom prst="line">
            <a:avLst/>
          </a:prstGeom>
          <a:ln w="2540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8" name="Connector 77"/>
          <p:cNvCxnSpPr/>
          <p:nvPr/>
        </p:nvCxnSpPr>
        <p:spPr>
          <a:xfrm flipV="1">
            <a:off x="4826095" y="2888721"/>
            <a:ext cx="21838" cy="36508"/>
          </a:xfrm>
          <a:prstGeom prst="line">
            <a:avLst/>
          </a:prstGeom>
          <a:ln w="2540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9" name="Connector 78"/>
          <p:cNvCxnSpPr/>
          <p:nvPr/>
        </p:nvCxnSpPr>
        <p:spPr>
          <a:xfrm flipV="1">
            <a:off x="4847933" y="2851233"/>
            <a:ext cx="21838" cy="37488"/>
          </a:xfrm>
          <a:prstGeom prst="line">
            <a:avLst/>
          </a:prstGeom>
          <a:ln w="2540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0" name="Connector 79"/>
          <p:cNvCxnSpPr/>
          <p:nvPr/>
        </p:nvCxnSpPr>
        <p:spPr>
          <a:xfrm flipV="1">
            <a:off x="4869771" y="2813942"/>
            <a:ext cx="21838" cy="37291"/>
          </a:xfrm>
          <a:prstGeom prst="line">
            <a:avLst/>
          </a:prstGeom>
          <a:ln w="2540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1" name="Connector 80"/>
          <p:cNvCxnSpPr/>
          <p:nvPr/>
        </p:nvCxnSpPr>
        <p:spPr>
          <a:xfrm flipV="1">
            <a:off x="4891609" y="2778018"/>
            <a:ext cx="21838" cy="35924"/>
          </a:xfrm>
          <a:prstGeom prst="line">
            <a:avLst/>
          </a:prstGeom>
          <a:ln w="2540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2" name="Connector 81"/>
          <p:cNvCxnSpPr/>
          <p:nvPr/>
        </p:nvCxnSpPr>
        <p:spPr>
          <a:xfrm flipV="1">
            <a:off x="4913447" y="2744589"/>
            <a:ext cx="21838" cy="33429"/>
          </a:xfrm>
          <a:prstGeom prst="line">
            <a:avLst/>
          </a:prstGeom>
          <a:ln w="2540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3" name="Connector 82"/>
          <p:cNvCxnSpPr/>
          <p:nvPr/>
        </p:nvCxnSpPr>
        <p:spPr>
          <a:xfrm flipV="1">
            <a:off x="4935285" y="2714704"/>
            <a:ext cx="21838" cy="29885"/>
          </a:xfrm>
          <a:prstGeom prst="line">
            <a:avLst/>
          </a:prstGeom>
          <a:ln w="2540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4" name="Connector 83"/>
          <p:cNvCxnSpPr/>
          <p:nvPr/>
        </p:nvCxnSpPr>
        <p:spPr>
          <a:xfrm flipV="1">
            <a:off x="4957123" y="2689302"/>
            <a:ext cx="21838" cy="25402"/>
          </a:xfrm>
          <a:prstGeom prst="line">
            <a:avLst/>
          </a:prstGeom>
          <a:ln w="2540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5" name="Connector 84"/>
          <p:cNvCxnSpPr/>
          <p:nvPr/>
        </p:nvCxnSpPr>
        <p:spPr>
          <a:xfrm flipV="1">
            <a:off x="4978961" y="2669180"/>
            <a:ext cx="21838" cy="20122"/>
          </a:xfrm>
          <a:prstGeom prst="line">
            <a:avLst/>
          </a:prstGeom>
          <a:ln w="2540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6" name="Connector 85"/>
          <p:cNvCxnSpPr/>
          <p:nvPr/>
        </p:nvCxnSpPr>
        <p:spPr>
          <a:xfrm flipV="1">
            <a:off x="5000799" y="2654969"/>
            <a:ext cx="21838" cy="14211"/>
          </a:xfrm>
          <a:prstGeom prst="line">
            <a:avLst/>
          </a:prstGeom>
          <a:ln w="2540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7" name="Connector 86"/>
          <p:cNvCxnSpPr/>
          <p:nvPr/>
        </p:nvCxnSpPr>
        <p:spPr>
          <a:xfrm flipV="1">
            <a:off x="5022637" y="2647116"/>
            <a:ext cx="21838" cy="7853"/>
          </a:xfrm>
          <a:prstGeom prst="line">
            <a:avLst/>
          </a:prstGeom>
          <a:ln w="2540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8" name="Connector 87"/>
          <p:cNvCxnSpPr/>
          <p:nvPr/>
        </p:nvCxnSpPr>
        <p:spPr>
          <a:xfrm flipV="1">
            <a:off x="5044475" y="2645867"/>
            <a:ext cx="21838" cy="1249"/>
          </a:xfrm>
          <a:prstGeom prst="line">
            <a:avLst/>
          </a:prstGeom>
          <a:ln w="2540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9" name="Connector 88"/>
          <p:cNvCxnSpPr/>
          <p:nvPr/>
        </p:nvCxnSpPr>
        <p:spPr>
          <a:xfrm>
            <a:off x="5066313" y="2645867"/>
            <a:ext cx="21838" cy="5395"/>
          </a:xfrm>
          <a:prstGeom prst="line">
            <a:avLst/>
          </a:prstGeom>
          <a:ln w="2540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0" name="Connector 89"/>
          <p:cNvCxnSpPr/>
          <p:nvPr/>
        </p:nvCxnSpPr>
        <p:spPr>
          <a:xfrm>
            <a:off x="5088151" y="2651262"/>
            <a:ext cx="21838" cy="11868"/>
          </a:xfrm>
          <a:prstGeom prst="line">
            <a:avLst/>
          </a:prstGeom>
          <a:ln w="2540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1" name="Connector 90"/>
          <p:cNvCxnSpPr/>
          <p:nvPr/>
        </p:nvCxnSpPr>
        <p:spPr>
          <a:xfrm>
            <a:off x="5109989" y="2663130"/>
            <a:ext cx="21838" cy="17970"/>
          </a:xfrm>
          <a:prstGeom prst="line">
            <a:avLst/>
          </a:prstGeom>
          <a:ln w="2540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2" name="Connector 91"/>
          <p:cNvCxnSpPr/>
          <p:nvPr/>
        </p:nvCxnSpPr>
        <p:spPr>
          <a:xfrm>
            <a:off x="5131827" y="2681100"/>
            <a:ext cx="21838" cy="23507"/>
          </a:xfrm>
          <a:prstGeom prst="line">
            <a:avLst/>
          </a:prstGeom>
          <a:ln w="2540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3" name="Connector 92"/>
          <p:cNvCxnSpPr/>
          <p:nvPr/>
        </p:nvCxnSpPr>
        <p:spPr>
          <a:xfrm>
            <a:off x="5153665" y="2704607"/>
            <a:ext cx="21839" cy="28307"/>
          </a:xfrm>
          <a:prstGeom prst="line">
            <a:avLst/>
          </a:prstGeom>
          <a:ln w="2540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4" name="Rectangle 93"/>
          <p:cNvSpPr/>
          <p:nvPr/>
        </p:nvSpPr>
        <p:spPr>
          <a:xfrm>
            <a:off x="859536" y="3502152"/>
            <a:ext cx="4480560" cy="786384"/>
          </a:xfrm>
          <a:prstGeom prst="rect">
            <a:avLst/>
          </a:prstGeom>
          <a:solidFill>
            <a:srgbClr val="FFFFFF"/>
          </a:solidFill>
          <a:ln w="25400">
            <a:solidFill>
              <a:srgbClr val="00B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" name="TextBox 94"/>
          <p:cNvSpPr txBox="1"/>
          <p:nvPr/>
        </p:nvSpPr>
        <p:spPr>
          <a:xfrm>
            <a:off x="969264" y="3648456"/>
            <a:ext cx="2377440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>
              <a:spcAft>
                <a:spcPts val="0"/>
              </a:spcAft>
              <a:defRPr sz="1600" b="1">
                <a:solidFill>
                  <a:srgbClr val="00B0F0"/>
                </a:solidFill>
                <a:latin typeface="Alibaba PuHuiTi 3.0 115 Black"/>
              </a:defRPr>
            </a:pPr>
            <a:r>
              <a:t>音轨2：背景音乐</a:t>
            </a:r>
          </a:p>
        </p:txBody>
      </p:sp>
      <p:cxnSp>
        <p:nvCxnSpPr>
          <p:cNvPr id="96" name="Connector 95"/>
          <p:cNvCxnSpPr/>
          <p:nvPr/>
        </p:nvCxnSpPr>
        <p:spPr>
          <a:xfrm flipV="1">
            <a:off x="3319272" y="3740210"/>
            <a:ext cx="21838" cy="12593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7" name="Connector 96"/>
          <p:cNvCxnSpPr/>
          <p:nvPr/>
        </p:nvCxnSpPr>
        <p:spPr>
          <a:xfrm flipV="1">
            <a:off x="3341110" y="3728340"/>
            <a:ext cx="21838" cy="11870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8" name="Connector 97"/>
          <p:cNvCxnSpPr/>
          <p:nvPr/>
        </p:nvCxnSpPr>
        <p:spPr>
          <a:xfrm flipV="1">
            <a:off x="3362948" y="3717257"/>
            <a:ext cx="21838" cy="11083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9" name="Connector 98"/>
          <p:cNvCxnSpPr/>
          <p:nvPr/>
        </p:nvCxnSpPr>
        <p:spPr>
          <a:xfrm flipV="1">
            <a:off x="3384786" y="3707022"/>
            <a:ext cx="21838" cy="10235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0" name="Connector 99"/>
          <p:cNvCxnSpPr/>
          <p:nvPr/>
        </p:nvCxnSpPr>
        <p:spPr>
          <a:xfrm flipV="1">
            <a:off x="3406624" y="3697690"/>
            <a:ext cx="21838" cy="9332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1" name="Connector 100"/>
          <p:cNvCxnSpPr/>
          <p:nvPr/>
        </p:nvCxnSpPr>
        <p:spPr>
          <a:xfrm flipV="1">
            <a:off x="3428462" y="3689314"/>
            <a:ext cx="21838" cy="8376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2" name="Connector 101"/>
          <p:cNvCxnSpPr/>
          <p:nvPr/>
        </p:nvCxnSpPr>
        <p:spPr>
          <a:xfrm flipV="1">
            <a:off x="3450300" y="3681937"/>
            <a:ext cx="21838" cy="7377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3" name="Connector 102"/>
          <p:cNvCxnSpPr/>
          <p:nvPr/>
        </p:nvCxnSpPr>
        <p:spPr>
          <a:xfrm flipV="1">
            <a:off x="3472138" y="3675601"/>
            <a:ext cx="21838" cy="6336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4" name="Connector 103"/>
          <p:cNvCxnSpPr/>
          <p:nvPr/>
        </p:nvCxnSpPr>
        <p:spPr>
          <a:xfrm flipV="1">
            <a:off x="3493976" y="3670341"/>
            <a:ext cx="21838" cy="5260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5" name="Connector 104"/>
          <p:cNvCxnSpPr/>
          <p:nvPr/>
        </p:nvCxnSpPr>
        <p:spPr>
          <a:xfrm flipV="1">
            <a:off x="3515814" y="3666185"/>
            <a:ext cx="21838" cy="4156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6" name="Connector 105"/>
          <p:cNvCxnSpPr/>
          <p:nvPr/>
        </p:nvCxnSpPr>
        <p:spPr>
          <a:xfrm flipV="1">
            <a:off x="3537652" y="3663155"/>
            <a:ext cx="21838" cy="3030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7" name="Connector 106"/>
          <p:cNvCxnSpPr/>
          <p:nvPr/>
        </p:nvCxnSpPr>
        <p:spPr>
          <a:xfrm flipV="1">
            <a:off x="3559490" y="3661269"/>
            <a:ext cx="21838" cy="1886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8" name="Connector 107"/>
          <p:cNvCxnSpPr/>
          <p:nvPr/>
        </p:nvCxnSpPr>
        <p:spPr>
          <a:xfrm flipV="1">
            <a:off x="3581328" y="3660536"/>
            <a:ext cx="21838" cy="733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9" name="Connector 108"/>
          <p:cNvCxnSpPr/>
          <p:nvPr/>
        </p:nvCxnSpPr>
        <p:spPr>
          <a:xfrm>
            <a:off x="3603166" y="3660536"/>
            <a:ext cx="21838" cy="425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0" name="Connector 109"/>
          <p:cNvCxnSpPr/>
          <p:nvPr/>
        </p:nvCxnSpPr>
        <p:spPr>
          <a:xfrm>
            <a:off x="3625004" y="3660961"/>
            <a:ext cx="21838" cy="1580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1" name="Connector 110"/>
          <p:cNvCxnSpPr/>
          <p:nvPr/>
        </p:nvCxnSpPr>
        <p:spPr>
          <a:xfrm>
            <a:off x="3646842" y="3662541"/>
            <a:ext cx="21838" cy="2726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2" name="Connector 111"/>
          <p:cNvCxnSpPr/>
          <p:nvPr/>
        </p:nvCxnSpPr>
        <p:spPr>
          <a:xfrm>
            <a:off x="3668680" y="3665267"/>
            <a:ext cx="21838" cy="3859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3" name="Connector 112"/>
          <p:cNvCxnSpPr/>
          <p:nvPr/>
        </p:nvCxnSpPr>
        <p:spPr>
          <a:xfrm>
            <a:off x="3690518" y="3669126"/>
            <a:ext cx="21838" cy="4969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4" name="Connector 113"/>
          <p:cNvCxnSpPr/>
          <p:nvPr/>
        </p:nvCxnSpPr>
        <p:spPr>
          <a:xfrm>
            <a:off x="3712356" y="3674095"/>
            <a:ext cx="21838" cy="6053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5" name="Connector 114"/>
          <p:cNvCxnSpPr/>
          <p:nvPr/>
        </p:nvCxnSpPr>
        <p:spPr>
          <a:xfrm>
            <a:off x="3734194" y="3680148"/>
            <a:ext cx="21838" cy="7103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6" name="Connector 115"/>
          <p:cNvCxnSpPr/>
          <p:nvPr/>
        </p:nvCxnSpPr>
        <p:spPr>
          <a:xfrm>
            <a:off x="3756032" y="3687251"/>
            <a:ext cx="21838" cy="8114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7" name="Connector 116"/>
          <p:cNvCxnSpPr/>
          <p:nvPr/>
        </p:nvCxnSpPr>
        <p:spPr>
          <a:xfrm>
            <a:off x="3777870" y="3695365"/>
            <a:ext cx="21838" cy="9083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8" name="Connector 117"/>
          <p:cNvCxnSpPr/>
          <p:nvPr/>
        </p:nvCxnSpPr>
        <p:spPr>
          <a:xfrm>
            <a:off x="3799708" y="3704448"/>
            <a:ext cx="21838" cy="9999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9" name="Connector 118"/>
          <p:cNvCxnSpPr/>
          <p:nvPr/>
        </p:nvCxnSpPr>
        <p:spPr>
          <a:xfrm>
            <a:off x="3821546" y="3714447"/>
            <a:ext cx="21838" cy="10863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0" name="Connector 119"/>
          <p:cNvCxnSpPr/>
          <p:nvPr/>
        </p:nvCxnSpPr>
        <p:spPr>
          <a:xfrm>
            <a:off x="3843384" y="3725310"/>
            <a:ext cx="21838" cy="11667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1" name="Connector 120"/>
          <p:cNvCxnSpPr/>
          <p:nvPr/>
        </p:nvCxnSpPr>
        <p:spPr>
          <a:xfrm>
            <a:off x="3865222" y="3736977"/>
            <a:ext cx="21838" cy="12407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2" name="Connector 121"/>
          <p:cNvCxnSpPr/>
          <p:nvPr/>
        </p:nvCxnSpPr>
        <p:spPr>
          <a:xfrm>
            <a:off x="3887060" y="3749384"/>
            <a:ext cx="21838" cy="13079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3" name="Connector 122"/>
          <p:cNvCxnSpPr/>
          <p:nvPr/>
        </p:nvCxnSpPr>
        <p:spPr>
          <a:xfrm>
            <a:off x="3908898" y="3762463"/>
            <a:ext cx="21838" cy="13681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4" name="Connector 123"/>
          <p:cNvCxnSpPr/>
          <p:nvPr/>
        </p:nvCxnSpPr>
        <p:spPr>
          <a:xfrm>
            <a:off x="3930736" y="3776144"/>
            <a:ext cx="21838" cy="14206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5" name="Connector 124"/>
          <p:cNvCxnSpPr/>
          <p:nvPr/>
        </p:nvCxnSpPr>
        <p:spPr>
          <a:xfrm>
            <a:off x="3952574" y="3790350"/>
            <a:ext cx="21838" cy="14655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6" name="Connector 125"/>
          <p:cNvCxnSpPr/>
          <p:nvPr/>
        </p:nvCxnSpPr>
        <p:spPr>
          <a:xfrm>
            <a:off x="3974412" y="3805005"/>
            <a:ext cx="21838" cy="15023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7" name="Connector 126"/>
          <p:cNvCxnSpPr/>
          <p:nvPr/>
        </p:nvCxnSpPr>
        <p:spPr>
          <a:xfrm>
            <a:off x="3996250" y="3820028"/>
            <a:ext cx="21838" cy="15310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8" name="Connector 127"/>
          <p:cNvCxnSpPr/>
          <p:nvPr/>
        </p:nvCxnSpPr>
        <p:spPr>
          <a:xfrm>
            <a:off x="4018088" y="3835338"/>
            <a:ext cx="21838" cy="15513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9" name="Connector 128"/>
          <p:cNvCxnSpPr/>
          <p:nvPr/>
        </p:nvCxnSpPr>
        <p:spPr>
          <a:xfrm>
            <a:off x="4039926" y="3850851"/>
            <a:ext cx="21838" cy="15631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0" name="Connector 129"/>
          <p:cNvCxnSpPr/>
          <p:nvPr/>
        </p:nvCxnSpPr>
        <p:spPr>
          <a:xfrm>
            <a:off x="4061764" y="3866482"/>
            <a:ext cx="21838" cy="15664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1" name="Connector 130"/>
          <p:cNvCxnSpPr/>
          <p:nvPr/>
        </p:nvCxnSpPr>
        <p:spPr>
          <a:xfrm>
            <a:off x="4083602" y="3882146"/>
            <a:ext cx="21838" cy="15611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2" name="Connector 131"/>
          <p:cNvCxnSpPr/>
          <p:nvPr/>
        </p:nvCxnSpPr>
        <p:spPr>
          <a:xfrm>
            <a:off x="4105440" y="3897757"/>
            <a:ext cx="21838" cy="15473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3" name="Connector 132"/>
          <p:cNvCxnSpPr/>
          <p:nvPr/>
        </p:nvCxnSpPr>
        <p:spPr>
          <a:xfrm>
            <a:off x="4127278" y="3913230"/>
            <a:ext cx="21838" cy="15250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4" name="Connector 133"/>
          <p:cNvCxnSpPr/>
          <p:nvPr/>
        </p:nvCxnSpPr>
        <p:spPr>
          <a:xfrm>
            <a:off x="4149116" y="3928480"/>
            <a:ext cx="21838" cy="14945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5" name="Connector 134"/>
          <p:cNvCxnSpPr/>
          <p:nvPr/>
        </p:nvCxnSpPr>
        <p:spPr>
          <a:xfrm>
            <a:off x="4170954" y="3943425"/>
            <a:ext cx="21838" cy="14557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6" name="Connector 135"/>
          <p:cNvCxnSpPr/>
          <p:nvPr/>
        </p:nvCxnSpPr>
        <p:spPr>
          <a:xfrm>
            <a:off x="4192792" y="3957982"/>
            <a:ext cx="21838" cy="14090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7" name="Connector 136"/>
          <p:cNvCxnSpPr/>
          <p:nvPr/>
        </p:nvCxnSpPr>
        <p:spPr>
          <a:xfrm>
            <a:off x="4214630" y="3972072"/>
            <a:ext cx="21838" cy="13546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8" name="Connector 137"/>
          <p:cNvCxnSpPr/>
          <p:nvPr/>
        </p:nvCxnSpPr>
        <p:spPr>
          <a:xfrm>
            <a:off x="4236468" y="3985618"/>
            <a:ext cx="21839" cy="12928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9" name="Connector 138"/>
          <p:cNvCxnSpPr/>
          <p:nvPr/>
        </p:nvCxnSpPr>
        <p:spPr>
          <a:xfrm>
            <a:off x="4258307" y="3998546"/>
            <a:ext cx="21838" cy="12240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0" name="Connector 139"/>
          <p:cNvCxnSpPr/>
          <p:nvPr/>
        </p:nvCxnSpPr>
        <p:spPr>
          <a:xfrm>
            <a:off x="4280145" y="4010786"/>
            <a:ext cx="21838" cy="11485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1" name="Connector 140"/>
          <p:cNvCxnSpPr/>
          <p:nvPr/>
        </p:nvCxnSpPr>
        <p:spPr>
          <a:xfrm>
            <a:off x="4301983" y="4022271"/>
            <a:ext cx="21838" cy="10666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2" name="Connector 141"/>
          <p:cNvCxnSpPr/>
          <p:nvPr/>
        </p:nvCxnSpPr>
        <p:spPr>
          <a:xfrm>
            <a:off x="4323821" y="4032937"/>
            <a:ext cx="21838" cy="9790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3" name="Connector 142"/>
          <p:cNvCxnSpPr/>
          <p:nvPr/>
        </p:nvCxnSpPr>
        <p:spPr>
          <a:xfrm>
            <a:off x="4345659" y="4042727"/>
            <a:ext cx="21838" cy="8860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4" name="Connector 143"/>
          <p:cNvCxnSpPr/>
          <p:nvPr/>
        </p:nvCxnSpPr>
        <p:spPr>
          <a:xfrm>
            <a:off x="4367497" y="4051587"/>
            <a:ext cx="21838" cy="7882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5" name="Connector 144"/>
          <p:cNvCxnSpPr/>
          <p:nvPr/>
        </p:nvCxnSpPr>
        <p:spPr>
          <a:xfrm>
            <a:off x="4389335" y="4059469"/>
            <a:ext cx="21838" cy="6861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6" name="Connector 145"/>
          <p:cNvCxnSpPr/>
          <p:nvPr/>
        </p:nvCxnSpPr>
        <p:spPr>
          <a:xfrm>
            <a:off x="4411173" y="4066330"/>
            <a:ext cx="21838" cy="5802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7" name="Connector 146"/>
          <p:cNvCxnSpPr/>
          <p:nvPr/>
        </p:nvCxnSpPr>
        <p:spPr>
          <a:xfrm>
            <a:off x="4433011" y="4072132"/>
            <a:ext cx="21838" cy="4712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8" name="Connector 147"/>
          <p:cNvCxnSpPr/>
          <p:nvPr/>
        </p:nvCxnSpPr>
        <p:spPr>
          <a:xfrm>
            <a:off x="4454849" y="4076844"/>
            <a:ext cx="21838" cy="3595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9" name="Connector 148"/>
          <p:cNvCxnSpPr/>
          <p:nvPr/>
        </p:nvCxnSpPr>
        <p:spPr>
          <a:xfrm>
            <a:off x="4476687" y="4080439"/>
            <a:ext cx="21838" cy="2460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0" name="Connector 149"/>
          <p:cNvCxnSpPr/>
          <p:nvPr/>
        </p:nvCxnSpPr>
        <p:spPr>
          <a:xfrm>
            <a:off x="4498525" y="4082899"/>
            <a:ext cx="21838" cy="1310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1" name="Connector 150"/>
          <p:cNvCxnSpPr/>
          <p:nvPr/>
        </p:nvCxnSpPr>
        <p:spPr>
          <a:xfrm>
            <a:off x="4520363" y="4084209"/>
            <a:ext cx="21838" cy="154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2" name="Connector 151"/>
          <p:cNvCxnSpPr/>
          <p:nvPr/>
        </p:nvCxnSpPr>
        <p:spPr>
          <a:xfrm flipV="1">
            <a:off x="4542201" y="4083360"/>
            <a:ext cx="21838" cy="1003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3" name="Connector 152"/>
          <p:cNvCxnSpPr/>
          <p:nvPr/>
        </p:nvCxnSpPr>
        <p:spPr>
          <a:xfrm flipV="1">
            <a:off x="4564039" y="4081206"/>
            <a:ext cx="21838" cy="2154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4" name="Connector 153"/>
          <p:cNvCxnSpPr/>
          <p:nvPr/>
        </p:nvCxnSpPr>
        <p:spPr>
          <a:xfrm flipV="1">
            <a:off x="4585877" y="4077911"/>
            <a:ext cx="21838" cy="3295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5" name="Connector 154"/>
          <p:cNvCxnSpPr/>
          <p:nvPr/>
        </p:nvCxnSpPr>
        <p:spPr>
          <a:xfrm flipV="1">
            <a:off x="4607715" y="4073494"/>
            <a:ext cx="21838" cy="4417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6" name="Connector 155"/>
          <p:cNvCxnSpPr/>
          <p:nvPr/>
        </p:nvCxnSpPr>
        <p:spPr>
          <a:xfrm flipV="1">
            <a:off x="4629553" y="4067979"/>
            <a:ext cx="21838" cy="5515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7" name="Connector 156"/>
          <p:cNvCxnSpPr/>
          <p:nvPr/>
        </p:nvCxnSpPr>
        <p:spPr>
          <a:xfrm flipV="1">
            <a:off x="4651391" y="4061397"/>
            <a:ext cx="21838" cy="6582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8" name="Connector 157"/>
          <p:cNvCxnSpPr/>
          <p:nvPr/>
        </p:nvCxnSpPr>
        <p:spPr>
          <a:xfrm flipV="1">
            <a:off x="4673229" y="4053783"/>
            <a:ext cx="21838" cy="7614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9" name="Connector 158"/>
          <p:cNvCxnSpPr/>
          <p:nvPr/>
        </p:nvCxnSpPr>
        <p:spPr>
          <a:xfrm flipV="1">
            <a:off x="4695067" y="4045178"/>
            <a:ext cx="21838" cy="8605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0" name="Connector 159"/>
          <p:cNvCxnSpPr/>
          <p:nvPr/>
        </p:nvCxnSpPr>
        <p:spPr>
          <a:xfrm flipV="1">
            <a:off x="4716905" y="4035631"/>
            <a:ext cx="21838" cy="9547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1" name="Connector 160"/>
          <p:cNvCxnSpPr/>
          <p:nvPr/>
        </p:nvCxnSpPr>
        <p:spPr>
          <a:xfrm flipV="1">
            <a:off x="4738743" y="4025192"/>
            <a:ext cx="21838" cy="10439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2" name="Connector 161"/>
          <p:cNvCxnSpPr/>
          <p:nvPr/>
        </p:nvCxnSpPr>
        <p:spPr>
          <a:xfrm flipV="1">
            <a:off x="4760581" y="4013920"/>
            <a:ext cx="21838" cy="11272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3" name="Connector 162"/>
          <p:cNvCxnSpPr/>
          <p:nvPr/>
        </p:nvCxnSpPr>
        <p:spPr>
          <a:xfrm flipV="1">
            <a:off x="4782419" y="4001875"/>
            <a:ext cx="21838" cy="12045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4" name="Connector 163"/>
          <p:cNvCxnSpPr/>
          <p:nvPr/>
        </p:nvCxnSpPr>
        <p:spPr>
          <a:xfrm flipV="1">
            <a:off x="4804257" y="3989123"/>
            <a:ext cx="21838" cy="12752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5" name="Connector 164"/>
          <p:cNvCxnSpPr/>
          <p:nvPr/>
        </p:nvCxnSpPr>
        <p:spPr>
          <a:xfrm flipV="1">
            <a:off x="4826095" y="3975734"/>
            <a:ext cx="21838" cy="13389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6" name="Connector 165"/>
          <p:cNvCxnSpPr/>
          <p:nvPr/>
        </p:nvCxnSpPr>
        <p:spPr>
          <a:xfrm flipV="1">
            <a:off x="4847933" y="3961781"/>
            <a:ext cx="21838" cy="13953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7" name="Connector 166"/>
          <p:cNvCxnSpPr/>
          <p:nvPr/>
        </p:nvCxnSpPr>
        <p:spPr>
          <a:xfrm flipV="1">
            <a:off x="4869771" y="3947341"/>
            <a:ext cx="21838" cy="14440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8" name="Connector 167"/>
          <p:cNvCxnSpPr/>
          <p:nvPr/>
        </p:nvCxnSpPr>
        <p:spPr>
          <a:xfrm flipV="1">
            <a:off x="4891609" y="3932491"/>
            <a:ext cx="21838" cy="14850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9" name="Connector 168"/>
          <p:cNvCxnSpPr/>
          <p:nvPr/>
        </p:nvCxnSpPr>
        <p:spPr>
          <a:xfrm flipV="1">
            <a:off x="4913447" y="3917314"/>
            <a:ext cx="21838" cy="15177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0" name="Connector 169"/>
          <p:cNvCxnSpPr/>
          <p:nvPr/>
        </p:nvCxnSpPr>
        <p:spPr>
          <a:xfrm flipV="1">
            <a:off x="4935285" y="3901892"/>
            <a:ext cx="21838" cy="15422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1" name="Connector 170"/>
          <p:cNvCxnSpPr/>
          <p:nvPr/>
        </p:nvCxnSpPr>
        <p:spPr>
          <a:xfrm flipV="1">
            <a:off x="4957123" y="3886310"/>
            <a:ext cx="21838" cy="15582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2" name="Connector 171"/>
          <p:cNvCxnSpPr/>
          <p:nvPr/>
        </p:nvCxnSpPr>
        <p:spPr>
          <a:xfrm flipV="1">
            <a:off x="4978961" y="3870652"/>
            <a:ext cx="21838" cy="15658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3" name="Connector 172"/>
          <p:cNvCxnSpPr/>
          <p:nvPr/>
        </p:nvCxnSpPr>
        <p:spPr>
          <a:xfrm flipV="1">
            <a:off x="5000799" y="3855004"/>
            <a:ext cx="21838" cy="15648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4" name="Connector 173"/>
          <p:cNvCxnSpPr/>
          <p:nvPr/>
        </p:nvCxnSpPr>
        <p:spPr>
          <a:xfrm flipV="1">
            <a:off x="5022637" y="3839451"/>
            <a:ext cx="21838" cy="15553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5" name="Connector 174"/>
          <p:cNvCxnSpPr/>
          <p:nvPr/>
        </p:nvCxnSpPr>
        <p:spPr>
          <a:xfrm flipV="1">
            <a:off x="5044475" y="3824079"/>
            <a:ext cx="21838" cy="15372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6" name="Connector 175"/>
          <p:cNvCxnSpPr/>
          <p:nvPr/>
        </p:nvCxnSpPr>
        <p:spPr>
          <a:xfrm flipV="1">
            <a:off x="5066313" y="3808971"/>
            <a:ext cx="21838" cy="15108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7" name="Connector 176"/>
          <p:cNvCxnSpPr/>
          <p:nvPr/>
        </p:nvCxnSpPr>
        <p:spPr>
          <a:xfrm flipV="1">
            <a:off x="5088151" y="3794210"/>
            <a:ext cx="21838" cy="14761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8" name="Connector 177"/>
          <p:cNvCxnSpPr/>
          <p:nvPr/>
        </p:nvCxnSpPr>
        <p:spPr>
          <a:xfrm flipV="1">
            <a:off x="5109989" y="3779877"/>
            <a:ext cx="21838" cy="14333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9" name="Connector 178"/>
          <p:cNvCxnSpPr/>
          <p:nvPr/>
        </p:nvCxnSpPr>
        <p:spPr>
          <a:xfrm flipV="1">
            <a:off x="5131827" y="3766049"/>
            <a:ext cx="21838" cy="13828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0" name="Connector 179"/>
          <p:cNvCxnSpPr/>
          <p:nvPr/>
        </p:nvCxnSpPr>
        <p:spPr>
          <a:xfrm flipV="1">
            <a:off x="5153665" y="3752803"/>
            <a:ext cx="21839" cy="13246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1" name="Connector 180"/>
          <p:cNvCxnSpPr/>
          <p:nvPr/>
        </p:nvCxnSpPr>
        <p:spPr>
          <a:xfrm>
            <a:off x="5504688" y="3218688"/>
            <a:ext cx="941832" cy="0"/>
          </a:xfrm>
          <a:prstGeom prst="line">
            <a:avLst/>
          </a:prstGeom>
          <a:ln w="3810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2" name="TextBox 181"/>
          <p:cNvSpPr txBox="1"/>
          <p:nvPr/>
        </p:nvSpPr>
        <p:spPr>
          <a:xfrm>
            <a:off x="5532120" y="2761488"/>
            <a:ext cx="896112" cy="39319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0"/>
              </a:spcAft>
              <a:defRPr sz="1800" b="1">
                <a:solidFill>
                  <a:srgbClr val="8C64E1"/>
                </a:solidFill>
                <a:latin typeface="Alibaba PuHuiTi 3.0 115 Black"/>
              </a:defRPr>
            </a:pPr>
            <a:r>
              <a:t>混合</a:t>
            </a:r>
          </a:p>
        </p:txBody>
      </p:sp>
      <p:sp>
        <p:nvSpPr>
          <p:cNvPr id="183" name="Rectangle 182"/>
          <p:cNvSpPr/>
          <p:nvPr/>
        </p:nvSpPr>
        <p:spPr>
          <a:xfrm>
            <a:off x="6638544" y="2487168"/>
            <a:ext cx="4572000" cy="786384"/>
          </a:xfrm>
          <a:prstGeom prst="rect">
            <a:avLst/>
          </a:prstGeom>
          <a:solidFill>
            <a:srgbClr val="FFFFFF"/>
          </a:solidFill>
          <a:ln w="25400">
            <a:solidFill>
              <a:srgbClr val="00B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4" name="TextBox 183"/>
          <p:cNvSpPr txBox="1"/>
          <p:nvPr/>
        </p:nvSpPr>
        <p:spPr>
          <a:xfrm>
            <a:off x="6766560" y="2633472"/>
            <a:ext cx="1399032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>
              <a:spcAft>
                <a:spcPts val="0"/>
              </a:spcAft>
              <a:defRPr sz="1600" b="1">
                <a:solidFill>
                  <a:srgbClr val="00B0F0"/>
                </a:solidFill>
                <a:latin typeface="Alibaba PuHuiTi 3.0 115 Black"/>
              </a:defRPr>
            </a:pPr>
            <a:r>
              <a:t>左声道 L</a:t>
            </a:r>
          </a:p>
        </p:txBody>
      </p:sp>
      <p:cxnSp>
        <p:nvCxnSpPr>
          <p:cNvPr id="185" name="Connector 184"/>
          <p:cNvCxnSpPr/>
          <p:nvPr/>
        </p:nvCxnSpPr>
        <p:spPr>
          <a:xfrm flipV="1">
            <a:off x="8311896" y="2829380"/>
            <a:ext cx="32488" cy="28120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6" name="Connector 185"/>
          <p:cNvCxnSpPr/>
          <p:nvPr/>
        </p:nvCxnSpPr>
        <p:spPr>
          <a:xfrm flipV="1">
            <a:off x="8344384" y="2801758"/>
            <a:ext cx="32488" cy="27622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7" name="Connector 186"/>
          <p:cNvCxnSpPr/>
          <p:nvPr/>
        </p:nvCxnSpPr>
        <p:spPr>
          <a:xfrm flipV="1">
            <a:off x="8376872" y="2775122"/>
            <a:ext cx="32488" cy="26636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8" name="Connector 187"/>
          <p:cNvCxnSpPr/>
          <p:nvPr/>
        </p:nvCxnSpPr>
        <p:spPr>
          <a:xfrm flipV="1">
            <a:off x="8409360" y="2749941"/>
            <a:ext cx="32488" cy="25181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9" name="Connector 188"/>
          <p:cNvCxnSpPr/>
          <p:nvPr/>
        </p:nvCxnSpPr>
        <p:spPr>
          <a:xfrm flipV="1">
            <a:off x="8441848" y="2726662"/>
            <a:ext cx="32488" cy="23279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0" name="Connector 189"/>
          <p:cNvCxnSpPr/>
          <p:nvPr/>
        </p:nvCxnSpPr>
        <p:spPr>
          <a:xfrm flipV="1">
            <a:off x="8474336" y="2705696"/>
            <a:ext cx="32488" cy="20966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1" name="Connector 190"/>
          <p:cNvCxnSpPr/>
          <p:nvPr/>
        </p:nvCxnSpPr>
        <p:spPr>
          <a:xfrm flipV="1">
            <a:off x="8506824" y="2687414"/>
            <a:ext cx="32488" cy="18282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2" name="Connector 191"/>
          <p:cNvCxnSpPr/>
          <p:nvPr/>
        </p:nvCxnSpPr>
        <p:spPr>
          <a:xfrm flipV="1">
            <a:off x="8539312" y="2672138"/>
            <a:ext cx="32488" cy="15276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3" name="Connector 192"/>
          <p:cNvCxnSpPr/>
          <p:nvPr/>
        </p:nvCxnSpPr>
        <p:spPr>
          <a:xfrm flipV="1">
            <a:off x="8571800" y="2660139"/>
            <a:ext cx="32488" cy="11999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4" name="Connector 193"/>
          <p:cNvCxnSpPr/>
          <p:nvPr/>
        </p:nvCxnSpPr>
        <p:spPr>
          <a:xfrm flipV="1">
            <a:off x="8604288" y="2651629"/>
            <a:ext cx="32488" cy="8510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5" name="Connector 194"/>
          <p:cNvCxnSpPr/>
          <p:nvPr/>
        </p:nvCxnSpPr>
        <p:spPr>
          <a:xfrm flipV="1">
            <a:off x="8636776" y="2646758"/>
            <a:ext cx="32489" cy="4871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6" name="Connector 195"/>
          <p:cNvCxnSpPr/>
          <p:nvPr/>
        </p:nvCxnSpPr>
        <p:spPr>
          <a:xfrm flipV="1">
            <a:off x="8669265" y="2645613"/>
            <a:ext cx="32488" cy="1145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7" name="Connector 196"/>
          <p:cNvCxnSpPr/>
          <p:nvPr/>
        </p:nvCxnSpPr>
        <p:spPr>
          <a:xfrm>
            <a:off x="8701753" y="2645613"/>
            <a:ext cx="32488" cy="2600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8" name="Connector 197"/>
          <p:cNvCxnSpPr/>
          <p:nvPr/>
        </p:nvCxnSpPr>
        <p:spPr>
          <a:xfrm>
            <a:off x="8734241" y="2648213"/>
            <a:ext cx="32488" cy="6300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9" name="Connector 198"/>
          <p:cNvCxnSpPr/>
          <p:nvPr/>
        </p:nvCxnSpPr>
        <p:spPr>
          <a:xfrm>
            <a:off x="8766729" y="2654513"/>
            <a:ext cx="32488" cy="9888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0" name="Connector 199"/>
          <p:cNvCxnSpPr/>
          <p:nvPr/>
        </p:nvCxnSpPr>
        <p:spPr>
          <a:xfrm>
            <a:off x="8799217" y="2664401"/>
            <a:ext cx="32488" cy="13302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1" name="Connector 200"/>
          <p:cNvCxnSpPr/>
          <p:nvPr/>
        </p:nvCxnSpPr>
        <p:spPr>
          <a:xfrm>
            <a:off x="8831705" y="2677703"/>
            <a:ext cx="32488" cy="16480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2" name="Connector 201"/>
          <p:cNvCxnSpPr/>
          <p:nvPr/>
        </p:nvCxnSpPr>
        <p:spPr>
          <a:xfrm>
            <a:off x="8864193" y="2694183"/>
            <a:ext cx="32488" cy="19367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3" name="Connector 202"/>
          <p:cNvCxnSpPr/>
          <p:nvPr/>
        </p:nvCxnSpPr>
        <p:spPr>
          <a:xfrm>
            <a:off x="8896681" y="2713550"/>
            <a:ext cx="32488" cy="21912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4" name="Connector 203"/>
          <p:cNvCxnSpPr/>
          <p:nvPr/>
        </p:nvCxnSpPr>
        <p:spPr>
          <a:xfrm>
            <a:off x="8929169" y="2735462"/>
            <a:ext cx="32488" cy="24070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5" name="Connector 204"/>
          <p:cNvCxnSpPr/>
          <p:nvPr/>
        </p:nvCxnSpPr>
        <p:spPr>
          <a:xfrm>
            <a:off x="8961657" y="2759532"/>
            <a:ext cx="32488" cy="25801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6" name="Connector 205"/>
          <p:cNvCxnSpPr/>
          <p:nvPr/>
        </p:nvCxnSpPr>
        <p:spPr>
          <a:xfrm>
            <a:off x="8994145" y="2785333"/>
            <a:ext cx="32489" cy="27077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7" name="Connector 206"/>
          <p:cNvCxnSpPr/>
          <p:nvPr/>
        </p:nvCxnSpPr>
        <p:spPr>
          <a:xfrm>
            <a:off x="9026634" y="2812410"/>
            <a:ext cx="32488" cy="27874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8" name="Connector 207"/>
          <p:cNvCxnSpPr/>
          <p:nvPr/>
        </p:nvCxnSpPr>
        <p:spPr>
          <a:xfrm>
            <a:off x="9059122" y="2840284"/>
            <a:ext cx="32488" cy="28178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9" name="Connector 208"/>
          <p:cNvCxnSpPr/>
          <p:nvPr/>
        </p:nvCxnSpPr>
        <p:spPr>
          <a:xfrm>
            <a:off x="9091610" y="2868462"/>
            <a:ext cx="32488" cy="27985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0" name="Connector 209"/>
          <p:cNvCxnSpPr/>
          <p:nvPr/>
        </p:nvCxnSpPr>
        <p:spPr>
          <a:xfrm>
            <a:off x="9124098" y="2896447"/>
            <a:ext cx="32488" cy="27296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1" name="Connector 210"/>
          <p:cNvCxnSpPr/>
          <p:nvPr/>
        </p:nvCxnSpPr>
        <p:spPr>
          <a:xfrm>
            <a:off x="9156586" y="2923743"/>
            <a:ext cx="32488" cy="26125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2" name="Connector 211"/>
          <p:cNvCxnSpPr/>
          <p:nvPr/>
        </p:nvCxnSpPr>
        <p:spPr>
          <a:xfrm>
            <a:off x="9189074" y="2949868"/>
            <a:ext cx="32488" cy="24492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3" name="Connector 212"/>
          <p:cNvCxnSpPr/>
          <p:nvPr/>
        </p:nvCxnSpPr>
        <p:spPr>
          <a:xfrm>
            <a:off x="9221562" y="2974360"/>
            <a:ext cx="32488" cy="22426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4" name="Connector 213"/>
          <p:cNvCxnSpPr/>
          <p:nvPr/>
        </p:nvCxnSpPr>
        <p:spPr>
          <a:xfrm>
            <a:off x="9254050" y="2996786"/>
            <a:ext cx="32488" cy="19964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5" name="Connector 214"/>
          <p:cNvCxnSpPr/>
          <p:nvPr/>
        </p:nvCxnSpPr>
        <p:spPr>
          <a:xfrm>
            <a:off x="9286538" y="3016750"/>
            <a:ext cx="32488" cy="17149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6" name="Connector 215"/>
          <p:cNvCxnSpPr/>
          <p:nvPr/>
        </p:nvCxnSpPr>
        <p:spPr>
          <a:xfrm>
            <a:off x="9319026" y="3033899"/>
            <a:ext cx="32489" cy="14031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7" name="Connector 216"/>
          <p:cNvCxnSpPr/>
          <p:nvPr/>
        </p:nvCxnSpPr>
        <p:spPr>
          <a:xfrm>
            <a:off x="9351515" y="3047930"/>
            <a:ext cx="32488" cy="10664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8" name="Connector 217"/>
          <p:cNvCxnSpPr/>
          <p:nvPr/>
        </p:nvCxnSpPr>
        <p:spPr>
          <a:xfrm>
            <a:off x="9384003" y="3058594"/>
            <a:ext cx="32488" cy="7109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9" name="Connector 218"/>
          <p:cNvCxnSpPr/>
          <p:nvPr/>
        </p:nvCxnSpPr>
        <p:spPr>
          <a:xfrm>
            <a:off x="9416491" y="3065703"/>
            <a:ext cx="32488" cy="3429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0" name="Connector 219"/>
          <p:cNvCxnSpPr/>
          <p:nvPr/>
        </p:nvCxnSpPr>
        <p:spPr>
          <a:xfrm flipV="1">
            <a:off x="9448979" y="3068819"/>
            <a:ext cx="32488" cy="313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1" name="Connector 220"/>
          <p:cNvCxnSpPr/>
          <p:nvPr/>
        </p:nvCxnSpPr>
        <p:spPr>
          <a:xfrm flipV="1">
            <a:off x="9481467" y="3064771"/>
            <a:ext cx="32488" cy="4048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2" name="Connector 221"/>
          <p:cNvCxnSpPr/>
          <p:nvPr/>
        </p:nvCxnSpPr>
        <p:spPr>
          <a:xfrm flipV="1">
            <a:off x="9513955" y="3057059"/>
            <a:ext cx="32488" cy="7712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3" name="Connector 222"/>
          <p:cNvCxnSpPr/>
          <p:nvPr/>
        </p:nvCxnSpPr>
        <p:spPr>
          <a:xfrm flipV="1">
            <a:off x="9546443" y="3045819"/>
            <a:ext cx="32488" cy="11240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4" name="Connector 223"/>
          <p:cNvCxnSpPr/>
          <p:nvPr/>
        </p:nvCxnSpPr>
        <p:spPr>
          <a:xfrm flipV="1">
            <a:off x="9578931" y="3031250"/>
            <a:ext cx="32488" cy="14569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5" name="Connector 224"/>
          <p:cNvCxnSpPr/>
          <p:nvPr/>
        </p:nvCxnSpPr>
        <p:spPr>
          <a:xfrm flipV="1">
            <a:off x="9611419" y="3013609"/>
            <a:ext cx="32488" cy="17641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6" name="Connector 225"/>
          <p:cNvCxnSpPr/>
          <p:nvPr/>
        </p:nvCxnSpPr>
        <p:spPr>
          <a:xfrm flipV="1">
            <a:off x="9643907" y="2993209"/>
            <a:ext cx="32488" cy="20400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7" name="Connector 226"/>
          <p:cNvCxnSpPr/>
          <p:nvPr/>
        </p:nvCxnSpPr>
        <p:spPr>
          <a:xfrm flipV="1">
            <a:off x="9676395" y="2970410"/>
            <a:ext cx="32489" cy="22799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8" name="Connector 227"/>
          <p:cNvCxnSpPr/>
          <p:nvPr/>
        </p:nvCxnSpPr>
        <p:spPr>
          <a:xfrm flipV="1">
            <a:off x="9708884" y="2945615"/>
            <a:ext cx="32488" cy="24795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9" name="Connector 228"/>
          <p:cNvCxnSpPr/>
          <p:nvPr/>
        </p:nvCxnSpPr>
        <p:spPr>
          <a:xfrm flipV="1">
            <a:off x="9741372" y="2919262"/>
            <a:ext cx="32488" cy="26353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0" name="Connector 229"/>
          <p:cNvCxnSpPr/>
          <p:nvPr/>
        </p:nvCxnSpPr>
        <p:spPr>
          <a:xfrm flipV="1">
            <a:off x="9773860" y="2891817"/>
            <a:ext cx="32488" cy="27445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1" name="Connector 230"/>
          <p:cNvCxnSpPr/>
          <p:nvPr/>
        </p:nvCxnSpPr>
        <p:spPr>
          <a:xfrm flipV="1">
            <a:off x="9806348" y="2863766"/>
            <a:ext cx="32488" cy="28051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2" name="Connector 231"/>
          <p:cNvCxnSpPr/>
          <p:nvPr/>
        </p:nvCxnSpPr>
        <p:spPr>
          <a:xfrm flipV="1">
            <a:off x="9838836" y="2835604"/>
            <a:ext cx="32488" cy="28162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3" name="Connector 232"/>
          <p:cNvCxnSpPr/>
          <p:nvPr/>
        </p:nvCxnSpPr>
        <p:spPr>
          <a:xfrm flipV="1">
            <a:off x="9871324" y="2807828"/>
            <a:ext cx="32488" cy="27776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4" name="Connector 233"/>
          <p:cNvCxnSpPr/>
          <p:nvPr/>
        </p:nvCxnSpPr>
        <p:spPr>
          <a:xfrm flipV="1">
            <a:off x="9903812" y="2780931"/>
            <a:ext cx="32488" cy="26897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5" name="Connector 234"/>
          <p:cNvCxnSpPr/>
          <p:nvPr/>
        </p:nvCxnSpPr>
        <p:spPr>
          <a:xfrm flipV="1">
            <a:off x="9936300" y="2755388"/>
            <a:ext cx="32488" cy="25543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6" name="Connector 235"/>
          <p:cNvCxnSpPr/>
          <p:nvPr/>
        </p:nvCxnSpPr>
        <p:spPr>
          <a:xfrm flipV="1">
            <a:off x="9968788" y="2731650"/>
            <a:ext cx="32488" cy="23738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7" name="Connector 236"/>
          <p:cNvCxnSpPr/>
          <p:nvPr/>
        </p:nvCxnSpPr>
        <p:spPr>
          <a:xfrm flipV="1">
            <a:off x="10001276" y="2710136"/>
            <a:ext cx="32488" cy="21514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8" name="Connector 237"/>
          <p:cNvCxnSpPr/>
          <p:nvPr/>
        </p:nvCxnSpPr>
        <p:spPr>
          <a:xfrm flipV="1">
            <a:off x="10033764" y="2691227"/>
            <a:ext cx="32489" cy="18909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9" name="Connector 238"/>
          <p:cNvCxnSpPr/>
          <p:nvPr/>
        </p:nvCxnSpPr>
        <p:spPr>
          <a:xfrm flipV="1">
            <a:off x="10066253" y="2675258"/>
            <a:ext cx="32488" cy="15969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0" name="Connector 239"/>
          <p:cNvCxnSpPr/>
          <p:nvPr/>
        </p:nvCxnSpPr>
        <p:spPr>
          <a:xfrm flipV="1">
            <a:off x="10098741" y="2662510"/>
            <a:ext cx="32488" cy="12748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1" name="Connector 240"/>
          <p:cNvCxnSpPr/>
          <p:nvPr/>
        </p:nvCxnSpPr>
        <p:spPr>
          <a:xfrm flipV="1">
            <a:off x="10131229" y="2653210"/>
            <a:ext cx="32488" cy="9300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2" name="Connector 241"/>
          <p:cNvCxnSpPr/>
          <p:nvPr/>
        </p:nvCxnSpPr>
        <p:spPr>
          <a:xfrm flipV="1">
            <a:off x="10163717" y="2647520"/>
            <a:ext cx="32488" cy="5690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3" name="Connector 242"/>
          <p:cNvCxnSpPr/>
          <p:nvPr/>
        </p:nvCxnSpPr>
        <p:spPr>
          <a:xfrm flipV="1">
            <a:off x="10196205" y="2645543"/>
            <a:ext cx="32488" cy="1977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4" name="Connector 243"/>
          <p:cNvCxnSpPr/>
          <p:nvPr/>
        </p:nvCxnSpPr>
        <p:spPr>
          <a:xfrm>
            <a:off x="10228693" y="2645543"/>
            <a:ext cx="32488" cy="1770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5" name="Connector 244"/>
          <p:cNvCxnSpPr/>
          <p:nvPr/>
        </p:nvCxnSpPr>
        <p:spPr>
          <a:xfrm>
            <a:off x="10261181" y="2647313"/>
            <a:ext cx="32488" cy="5485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6" name="Connector 245"/>
          <p:cNvCxnSpPr/>
          <p:nvPr/>
        </p:nvCxnSpPr>
        <p:spPr>
          <a:xfrm>
            <a:off x="10293669" y="2652798"/>
            <a:ext cx="32488" cy="9104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7" name="Connector 246"/>
          <p:cNvCxnSpPr/>
          <p:nvPr/>
        </p:nvCxnSpPr>
        <p:spPr>
          <a:xfrm>
            <a:off x="10326157" y="2661902"/>
            <a:ext cx="32488" cy="12561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8" name="Connector 247"/>
          <p:cNvCxnSpPr/>
          <p:nvPr/>
        </p:nvCxnSpPr>
        <p:spPr>
          <a:xfrm>
            <a:off x="10358645" y="2674463"/>
            <a:ext cx="32489" cy="15797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9" name="Connector 248"/>
          <p:cNvCxnSpPr/>
          <p:nvPr/>
        </p:nvCxnSpPr>
        <p:spPr>
          <a:xfrm>
            <a:off x="10391134" y="2690260"/>
            <a:ext cx="32488" cy="18754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0" name="Connector 249"/>
          <p:cNvCxnSpPr/>
          <p:nvPr/>
        </p:nvCxnSpPr>
        <p:spPr>
          <a:xfrm>
            <a:off x="10423622" y="2709014"/>
            <a:ext cx="32488" cy="21378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1" name="Connector 250"/>
          <p:cNvCxnSpPr/>
          <p:nvPr/>
        </p:nvCxnSpPr>
        <p:spPr>
          <a:xfrm>
            <a:off x="10456110" y="2730392"/>
            <a:ext cx="32488" cy="23626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2" name="Connector 251"/>
          <p:cNvCxnSpPr/>
          <p:nvPr/>
        </p:nvCxnSpPr>
        <p:spPr>
          <a:xfrm>
            <a:off x="10488598" y="2754018"/>
            <a:ext cx="32488" cy="25455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3" name="Connector 252"/>
          <p:cNvCxnSpPr/>
          <p:nvPr/>
        </p:nvCxnSpPr>
        <p:spPr>
          <a:xfrm>
            <a:off x="10521086" y="2779473"/>
            <a:ext cx="32488" cy="26834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4" name="Connector 253"/>
          <p:cNvCxnSpPr/>
          <p:nvPr/>
        </p:nvCxnSpPr>
        <p:spPr>
          <a:xfrm>
            <a:off x="10553574" y="2806307"/>
            <a:ext cx="32488" cy="27739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5" name="Connector 254"/>
          <p:cNvCxnSpPr/>
          <p:nvPr/>
        </p:nvCxnSpPr>
        <p:spPr>
          <a:xfrm>
            <a:off x="10586062" y="2834046"/>
            <a:ext cx="32488" cy="28153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6" name="Connector 255"/>
          <p:cNvCxnSpPr/>
          <p:nvPr/>
        </p:nvCxnSpPr>
        <p:spPr>
          <a:xfrm>
            <a:off x="10618550" y="2862199"/>
            <a:ext cx="32488" cy="28071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7" name="Connector 256"/>
          <p:cNvCxnSpPr/>
          <p:nvPr/>
        </p:nvCxnSpPr>
        <p:spPr>
          <a:xfrm>
            <a:off x="10651038" y="2890270"/>
            <a:ext cx="32488" cy="27491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8" name="Connector 257"/>
          <p:cNvCxnSpPr/>
          <p:nvPr/>
        </p:nvCxnSpPr>
        <p:spPr>
          <a:xfrm>
            <a:off x="10683526" y="2917761"/>
            <a:ext cx="32488" cy="26426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9" name="Connector 258"/>
          <p:cNvCxnSpPr/>
          <p:nvPr/>
        </p:nvCxnSpPr>
        <p:spPr>
          <a:xfrm>
            <a:off x="10716014" y="2944187"/>
            <a:ext cx="32489" cy="24894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0" name="Connector 259"/>
          <p:cNvCxnSpPr/>
          <p:nvPr/>
        </p:nvCxnSpPr>
        <p:spPr>
          <a:xfrm>
            <a:off x="10748503" y="2969081"/>
            <a:ext cx="32488" cy="22921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1" name="Connector 260"/>
          <p:cNvCxnSpPr/>
          <p:nvPr/>
        </p:nvCxnSpPr>
        <p:spPr>
          <a:xfrm>
            <a:off x="10780991" y="2992002"/>
            <a:ext cx="32488" cy="20543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2" name="Connector 261"/>
          <p:cNvCxnSpPr/>
          <p:nvPr/>
        </p:nvCxnSpPr>
        <p:spPr>
          <a:xfrm>
            <a:off x="10813479" y="3012545"/>
            <a:ext cx="32488" cy="17803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3" name="Connector 262"/>
          <p:cNvCxnSpPr/>
          <p:nvPr/>
        </p:nvCxnSpPr>
        <p:spPr>
          <a:xfrm>
            <a:off x="10845967" y="3030348"/>
            <a:ext cx="32488" cy="14747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4" name="Connector 263"/>
          <p:cNvCxnSpPr/>
          <p:nvPr/>
        </p:nvCxnSpPr>
        <p:spPr>
          <a:xfrm>
            <a:off x="10878455" y="3045095"/>
            <a:ext cx="32488" cy="11431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5" name="Connector 264"/>
          <p:cNvCxnSpPr/>
          <p:nvPr/>
        </p:nvCxnSpPr>
        <p:spPr>
          <a:xfrm>
            <a:off x="10910943" y="3056526"/>
            <a:ext cx="32488" cy="7912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6" name="Connector 265"/>
          <p:cNvCxnSpPr/>
          <p:nvPr/>
        </p:nvCxnSpPr>
        <p:spPr>
          <a:xfrm>
            <a:off x="10943431" y="3064438"/>
            <a:ext cx="32488" cy="4254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7" name="Connector 266"/>
          <p:cNvCxnSpPr/>
          <p:nvPr/>
        </p:nvCxnSpPr>
        <p:spPr>
          <a:xfrm>
            <a:off x="10975919" y="3068692"/>
            <a:ext cx="32488" cy="521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8" name="Connector 267"/>
          <p:cNvCxnSpPr/>
          <p:nvPr/>
        </p:nvCxnSpPr>
        <p:spPr>
          <a:xfrm flipV="1">
            <a:off x="11008407" y="3065991"/>
            <a:ext cx="32488" cy="3222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9" name="Connector 268"/>
          <p:cNvCxnSpPr/>
          <p:nvPr/>
        </p:nvCxnSpPr>
        <p:spPr>
          <a:xfrm flipV="1">
            <a:off x="11040895" y="3059083"/>
            <a:ext cx="32489" cy="6908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0" name="Rectangle 269"/>
          <p:cNvSpPr/>
          <p:nvPr/>
        </p:nvSpPr>
        <p:spPr>
          <a:xfrm>
            <a:off x="6638544" y="3502152"/>
            <a:ext cx="4572000" cy="786384"/>
          </a:xfrm>
          <a:prstGeom prst="rect">
            <a:avLst/>
          </a:prstGeom>
          <a:solidFill>
            <a:srgbClr val="FFFFFF"/>
          </a:solidFill>
          <a:ln w="25400">
            <a:solidFill>
              <a:srgbClr val="00B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1" name="TextBox 270"/>
          <p:cNvSpPr txBox="1"/>
          <p:nvPr/>
        </p:nvSpPr>
        <p:spPr>
          <a:xfrm>
            <a:off x="6766560" y="3648456"/>
            <a:ext cx="1399032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>
              <a:spcAft>
                <a:spcPts val="0"/>
              </a:spcAft>
              <a:defRPr sz="1600" b="1">
                <a:solidFill>
                  <a:srgbClr val="00B0F0"/>
                </a:solidFill>
                <a:latin typeface="Alibaba PuHuiTi 3.0 115 Black"/>
              </a:defRPr>
            </a:pPr>
            <a:r>
              <a:t>右声道 R</a:t>
            </a:r>
          </a:p>
        </p:txBody>
      </p:sp>
      <p:cxnSp>
        <p:nvCxnSpPr>
          <p:cNvPr id="272" name="Connector 271"/>
          <p:cNvCxnSpPr/>
          <p:nvPr/>
        </p:nvCxnSpPr>
        <p:spPr>
          <a:xfrm flipV="1">
            <a:off x="8311896" y="3747087"/>
            <a:ext cx="32488" cy="23778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3" name="Connector 272"/>
          <p:cNvCxnSpPr/>
          <p:nvPr/>
        </p:nvCxnSpPr>
        <p:spPr>
          <a:xfrm flipV="1">
            <a:off x="8344384" y="3725525"/>
            <a:ext cx="32488" cy="21562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4" name="Connector 273"/>
          <p:cNvCxnSpPr/>
          <p:nvPr/>
        </p:nvCxnSpPr>
        <p:spPr>
          <a:xfrm flipV="1">
            <a:off x="8376872" y="3706561"/>
            <a:ext cx="32488" cy="18964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5" name="Connector 274"/>
          <p:cNvCxnSpPr/>
          <p:nvPr/>
        </p:nvCxnSpPr>
        <p:spPr>
          <a:xfrm flipV="1">
            <a:off x="8409360" y="3690530"/>
            <a:ext cx="32488" cy="16031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6" name="Connector 275"/>
          <p:cNvCxnSpPr/>
          <p:nvPr/>
        </p:nvCxnSpPr>
        <p:spPr>
          <a:xfrm flipV="1">
            <a:off x="8441848" y="3677716"/>
            <a:ext cx="32488" cy="12814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7" name="Connector 276"/>
          <p:cNvCxnSpPr/>
          <p:nvPr/>
        </p:nvCxnSpPr>
        <p:spPr>
          <a:xfrm flipV="1">
            <a:off x="8474336" y="3668344"/>
            <a:ext cx="32488" cy="9372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8" name="Connector 277"/>
          <p:cNvCxnSpPr/>
          <p:nvPr/>
        </p:nvCxnSpPr>
        <p:spPr>
          <a:xfrm flipV="1">
            <a:off x="8506824" y="3662582"/>
            <a:ext cx="32488" cy="5762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9" name="Connector 278"/>
          <p:cNvCxnSpPr/>
          <p:nvPr/>
        </p:nvCxnSpPr>
        <p:spPr>
          <a:xfrm flipV="1">
            <a:off x="8539312" y="3660530"/>
            <a:ext cx="32488" cy="2052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0" name="Connector 279"/>
          <p:cNvCxnSpPr/>
          <p:nvPr/>
        </p:nvCxnSpPr>
        <p:spPr>
          <a:xfrm>
            <a:off x="8571800" y="3660530"/>
            <a:ext cx="32488" cy="1695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1" name="Connector 280"/>
          <p:cNvCxnSpPr/>
          <p:nvPr/>
        </p:nvCxnSpPr>
        <p:spPr>
          <a:xfrm>
            <a:off x="8604288" y="3662225"/>
            <a:ext cx="32488" cy="5411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2" name="Connector 281"/>
          <p:cNvCxnSpPr/>
          <p:nvPr/>
        </p:nvCxnSpPr>
        <p:spPr>
          <a:xfrm>
            <a:off x="8636776" y="3667636"/>
            <a:ext cx="32489" cy="9033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3" name="Connector 282"/>
          <p:cNvCxnSpPr/>
          <p:nvPr/>
        </p:nvCxnSpPr>
        <p:spPr>
          <a:xfrm>
            <a:off x="8669265" y="3676669"/>
            <a:ext cx="32488" cy="12495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4" name="Connector 283"/>
          <p:cNvCxnSpPr/>
          <p:nvPr/>
        </p:nvCxnSpPr>
        <p:spPr>
          <a:xfrm>
            <a:off x="8701753" y="3689164"/>
            <a:ext cx="32488" cy="15735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5" name="Connector 284"/>
          <p:cNvCxnSpPr/>
          <p:nvPr/>
        </p:nvCxnSpPr>
        <p:spPr>
          <a:xfrm>
            <a:off x="8734241" y="3704899"/>
            <a:ext cx="32488" cy="18698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6" name="Connector 285"/>
          <p:cNvCxnSpPr/>
          <p:nvPr/>
        </p:nvCxnSpPr>
        <p:spPr>
          <a:xfrm>
            <a:off x="8766729" y="3723597"/>
            <a:ext cx="32488" cy="21329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7" name="Connector 286"/>
          <p:cNvCxnSpPr/>
          <p:nvPr/>
        </p:nvCxnSpPr>
        <p:spPr>
          <a:xfrm>
            <a:off x="8799217" y="3744926"/>
            <a:ext cx="32488" cy="23585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8" name="Connector 287"/>
          <p:cNvCxnSpPr/>
          <p:nvPr/>
        </p:nvCxnSpPr>
        <p:spPr>
          <a:xfrm>
            <a:off x="8831705" y="3768511"/>
            <a:ext cx="32488" cy="25423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9" name="Connector 288"/>
          <p:cNvCxnSpPr/>
          <p:nvPr/>
        </p:nvCxnSpPr>
        <p:spPr>
          <a:xfrm>
            <a:off x="8864193" y="3793934"/>
            <a:ext cx="32488" cy="26811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0" name="Connector 289"/>
          <p:cNvCxnSpPr/>
          <p:nvPr/>
        </p:nvCxnSpPr>
        <p:spPr>
          <a:xfrm>
            <a:off x="8896681" y="3820745"/>
            <a:ext cx="32488" cy="27726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1" name="Connector 290"/>
          <p:cNvCxnSpPr/>
          <p:nvPr/>
        </p:nvCxnSpPr>
        <p:spPr>
          <a:xfrm>
            <a:off x="8929169" y="3848471"/>
            <a:ext cx="32488" cy="28150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2" name="Connector 291"/>
          <p:cNvCxnSpPr/>
          <p:nvPr/>
        </p:nvCxnSpPr>
        <p:spPr>
          <a:xfrm>
            <a:off x="8961657" y="3876621"/>
            <a:ext cx="32488" cy="28077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3" name="Connector 292"/>
          <p:cNvCxnSpPr/>
          <p:nvPr/>
        </p:nvCxnSpPr>
        <p:spPr>
          <a:xfrm>
            <a:off x="8994145" y="3904698"/>
            <a:ext cx="32489" cy="27508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4" name="Connector 293"/>
          <p:cNvCxnSpPr/>
          <p:nvPr/>
        </p:nvCxnSpPr>
        <p:spPr>
          <a:xfrm>
            <a:off x="9026634" y="3932206"/>
            <a:ext cx="32488" cy="26452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5" name="Connector 294"/>
          <p:cNvCxnSpPr/>
          <p:nvPr/>
        </p:nvCxnSpPr>
        <p:spPr>
          <a:xfrm>
            <a:off x="9059122" y="3958658"/>
            <a:ext cx="32488" cy="24928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6" name="Connector 295"/>
          <p:cNvCxnSpPr/>
          <p:nvPr/>
        </p:nvCxnSpPr>
        <p:spPr>
          <a:xfrm>
            <a:off x="9091610" y="3983586"/>
            <a:ext cx="32488" cy="22965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7" name="Connector 296"/>
          <p:cNvCxnSpPr/>
          <p:nvPr/>
        </p:nvCxnSpPr>
        <p:spPr>
          <a:xfrm>
            <a:off x="9124098" y="4006551"/>
            <a:ext cx="32488" cy="20594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8" name="Connector 297"/>
          <p:cNvCxnSpPr/>
          <p:nvPr/>
        </p:nvCxnSpPr>
        <p:spPr>
          <a:xfrm>
            <a:off x="9156586" y="4027145"/>
            <a:ext cx="32488" cy="17861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9" name="Connector 298"/>
          <p:cNvCxnSpPr/>
          <p:nvPr/>
        </p:nvCxnSpPr>
        <p:spPr>
          <a:xfrm>
            <a:off x="9189074" y="4045006"/>
            <a:ext cx="32488" cy="14810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0" name="Connector 299"/>
          <p:cNvCxnSpPr/>
          <p:nvPr/>
        </p:nvCxnSpPr>
        <p:spPr>
          <a:xfrm>
            <a:off x="9221562" y="4059816"/>
            <a:ext cx="32488" cy="11499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1" name="Connector 300"/>
          <p:cNvCxnSpPr/>
          <p:nvPr/>
        </p:nvCxnSpPr>
        <p:spPr>
          <a:xfrm>
            <a:off x="9254050" y="4071315"/>
            <a:ext cx="32488" cy="7984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2" name="Connector 301"/>
          <p:cNvCxnSpPr/>
          <p:nvPr/>
        </p:nvCxnSpPr>
        <p:spPr>
          <a:xfrm>
            <a:off x="9286538" y="4079299"/>
            <a:ext cx="32488" cy="4329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3" name="Connector 302"/>
          <p:cNvCxnSpPr/>
          <p:nvPr/>
        </p:nvCxnSpPr>
        <p:spPr>
          <a:xfrm>
            <a:off x="9319026" y="4083628"/>
            <a:ext cx="32489" cy="595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4" name="Connector 303"/>
          <p:cNvCxnSpPr/>
          <p:nvPr/>
        </p:nvCxnSpPr>
        <p:spPr>
          <a:xfrm flipV="1">
            <a:off x="9351515" y="4081076"/>
            <a:ext cx="32488" cy="3147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5" name="Connector 304"/>
          <p:cNvCxnSpPr/>
          <p:nvPr/>
        </p:nvCxnSpPr>
        <p:spPr>
          <a:xfrm flipV="1">
            <a:off x="9384003" y="4074241"/>
            <a:ext cx="32488" cy="6835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6" name="Connector 305"/>
          <p:cNvCxnSpPr/>
          <p:nvPr/>
        </p:nvCxnSpPr>
        <p:spPr>
          <a:xfrm flipV="1">
            <a:off x="9416491" y="4063839"/>
            <a:ext cx="32488" cy="10402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7" name="Connector 306"/>
          <p:cNvCxnSpPr/>
          <p:nvPr/>
        </p:nvCxnSpPr>
        <p:spPr>
          <a:xfrm flipV="1">
            <a:off x="9448979" y="4050055"/>
            <a:ext cx="32488" cy="13784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8" name="Connector 307"/>
          <p:cNvCxnSpPr/>
          <p:nvPr/>
        </p:nvCxnSpPr>
        <p:spPr>
          <a:xfrm flipV="1">
            <a:off x="9481467" y="4033131"/>
            <a:ext cx="32488" cy="16924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9" name="Connector 308"/>
          <p:cNvCxnSpPr/>
          <p:nvPr/>
        </p:nvCxnSpPr>
        <p:spPr>
          <a:xfrm flipV="1">
            <a:off x="9513955" y="4013368"/>
            <a:ext cx="32488" cy="19763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0" name="Connector 309"/>
          <p:cNvCxnSpPr/>
          <p:nvPr/>
        </p:nvCxnSpPr>
        <p:spPr>
          <a:xfrm flipV="1">
            <a:off x="9546443" y="3991115"/>
            <a:ext cx="32488" cy="22253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1" name="Connector 310"/>
          <p:cNvCxnSpPr/>
          <p:nvPr/>
        </p:nvCxnSpPr>
        <p:spPr>
          <a:xfrm flipV="1">
            <a:off x="9578931" y="3966764"/>
            <a:ext cx="32488" cy="24351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2" name="Connector 311"/>
          <p:cNvCxnSpPr/>
          <p:nvPr/>
        </p:nvCxnSpPr>
        <p:spPr>
          <a:xfrm flipV="1">
            <a:off x="9611419" y="3940746"/>
            <a:ext cx="32488" cy="26018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3" name="Connector 312"/>
          <p:cNvCxnSpPr/>
          <p:nvPr/>
        </p:nvCxnSpPr>
        <p:spPr>
          <a:xfrm flipV="1">
            <a:off x="9643907" y="3913522"/>
            <a:ext cx="32488" cy="27224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4" name="Connector 313"/>
          <p:cNvCxnSpPr/>
          <p:nvPr/>
        </p:nvCxnSpPr>
        <p:spPr>
          <a:xfrm flipV="1">
            <a:off x="9676395" y="3885572"/>
            <a:ext cx="32489" cy="27950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5" name="Connector 314"/>
          <p:cNvCxnSpPr/>
          <p:nvPr/>
        </p:nvCxnSpPr>
        <p:spPr>
          <a:xfrm flipV="1">
            <a:off x="9708884" y="3857391"/>
            <a:ext cx="32488" cy="28181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6" name="Connector 315"/>
          <p:cNvCxnSpPr/>
          <p:nvPr/>
        </p:nvCxnSpPr>
        <p:spPr>
          <a:xfrm flipV="1">
            <a:off x="9741372" y="3829477"/>
            <a:ext cx="32488" cy="27914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7" name="Connector 316"/>
          <p:cNvCxnSpPr/>
          <p:nvPr/>
        </p:nvCxnSpPr>
        <p:spPr>
          <a:xfrm flipV="1">
            <a:off x="9773860" y="3802323"/>
            <a:ext cx="32488" cy="27154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8" name="Connector 317"/>
          <p:cNvCxnSpPr/>
          <p:nvPr/>
        </p:nvCxnSpPr>
        <p:spPr>
          <a:xfrm flipV="1">
            <a:off x="9806348" y="3776409"/>
            <a:ext cx="32488" cy="25914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9" name="Connector 318"/>
          <p:cNvCxnSpPr/>
          <p:nvPr/>
        </p:nvCxnSpPr>
        <p:spPr>
          <a:xfrm flipV="1">
            <a:off x="9838836" y="3752194"/>
            <a:ext cx="32488" cy="24215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0" name="Connector 319"/>
          <p:cNvCxnSpPr/>
          <p:nvPr/>
        </p:nvCxnSpPr>
        <p:spPr>
          <a:xfrm flipV="1">
            <a:off x="9871324" y="3730105"/>
            <a:ext cx="32488" cy="22089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1" name="Connector 320"/>
          <p:cNvCxnSpPr/>
          <p:nvPr/>
        </p:nvCxnSpPr>
        <p:spPr>
          <a:xfrm flipV="1">
            <a:off x="9903812" y="3710533"/>
            <a:ext cx="32488" cy="19572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2" name="Connector 321"/>
          <p:cNvCxnSpPr/>
          <p:nvPr/>
        </p:nvCxnSpPr>
        <p:spPr>
          <a:xfrm flipV="1">
            <a:off x="9936300" y="3693824"/>
            <a:ext cx="32488" cy="16709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3" name="Connector 322"/>
          <p:cNvCxnSpPr/>
          <p:nvPr/>
        </p:nvCxnSpPr>
        <p:spPr>
          <a:xfrm flipV="1">
            <a:off x="9968788" y="3680273"/>
            <a:ext cx="32488" cy="13551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4" name="Connector 323"/>
          <p:cNvCxnSpPr/>
          <p:nvPr/>
        </p:nvCxnSpPr>
        <p:spPr>
          <a:xfrm flipV="1">
            <a:off x="10001276" y="3670120"/>
            <a:ext cx="32488" cy="10153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5" name="Connector 324"/>
          <p:cNvCxnSpPr/>
          <p:nvPr/>
        </p:nvCxnSpPr>
        <p:spPr>
          <a:xfrm flipV="1">
            <a:off x="10033764" y="3663544"/>
            <a:ext cx="32489" cy="6576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6" name="Connector 325"/>
          <p:cNvCxnSpPr/>
          <p:nvPr/>
        </p:nvCxnSpPr>
        <p:spPr>
          <a:xfrm flipV="1">
            <a:off x="10066253" y="3660662"/>
            <a:ext cx="32488" cy="2882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7" name="Connector 326"/>
          <p:cNvCxnSpPr/>
          <p:nvPr/>
        </p:nvCxnSpPr>
        <p:spPr>
          <a:xfrm>
            <a:off x="10098741" y="3660662"/>
            <a:ext cx="32488" cy="863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8" name="Connector 327"/>
          <p:cNvCxnSpPr/>
          <p:nvPr/>
        </p:nvCxnSpPr>
        <p:spPr>
          <a:xfrm>
            <a:off x="10131229" y="3661525"/>
            <a:ext cx="32488" cy="4592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9" name="Connector 328"/>
          <p:cNvCxnSpPr/>
          <p:nvPr/>
        </p:nvCxnSpPr>
        <p:spPr>
          <a:xfrm>
            <a:off x="10163717" y="3666117"/>
            <a:ext cx="32488" cy="8239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0" name="Connector 329"/>
          <p:cNvCxnSpPr/>
          <p:nvPr/>
        </p:nvCxnSpPr>
        <p:spPr>
          <a:xfrm>
            <a:off x="10196205" y="3674356"/>
            <a:ext cx="32488" cy="11743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1" name="Connector 330"/>
          <p:cNvCxnSpPr/>
          <p:nvPr/>
        </p:nvCxnSpPr>
        <p:spPr>
          <a:xfrm>
            <a:off x="10228693" y="3686099"/>
            <a:ext cx="32488" cy="15037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2" name="Connector 331"/>
          <p:cNvCxnSpPr/>
          <p:nvPr/>
        </p:nvCxnSpPr>
        <p:spPr>
          <a:xfrm>
            <a:off x="10261181" y="3701136"/>
            <a:ext cx="32488" cy="18066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3" name="Connector 332"/>
          <p:cNvCxnSpPr/>
          <p:nvPr/>
        </p:nvCxnSpPr>
        <p:spPr>
          <a:xfrm>
            <a:off x="10293669" y="3719202"/>
            <a:ext cx="32488" cy="20776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4" name="Connector 333"/>
          <p:cNvCxnSpPr/>
          <p:nvPr/>
        </p:nvCxnSpPr>
        <p:spPr>
          <a:xfrm>
            <a:off x="10326157" y="3739978"/>
            <a:ext cx="32488" cy="23118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5" name="Connector 334"/>
          <p:cNvCxnSpPr/>
          <p:nvPr/>
        </p:nvCxnSpPr>
        <p:spPr>
          <a:xfrm>
            <a:off x="10358645" y="3763096"/>
            <a:ext cx="32489" cy="25052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6" name="Connector 335"/>
          <p:cNvCxnSpPr/>
          <p:nvPr/>
        </p:nvCxnSpPr>
        <p:spPr>
          <a:xfrm>
            <a:off x="10391134" y="3788148"/>
            <a:ext cx="32488" cy="26543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7" name="Connector 336"/>
          <p:cNvCxnSpPr/>
          <p:nvPr/>
        </p:nvCxnSpPr>
        <p:spPr>
          <a:xfrm>
            <a:off x="10423622" y="3814691"/>
            <a:ext cx="32488" cy="27564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8" name="Connector 337"/>
          <p:cNvCxnSpPr/>
          <p:nvPr/>
        </p:nvCxnSpPr>
        <p:spPr>
          <a:xfrm>
            <a:off x="10456110" y="3842255"/>
            <a:ext cx="32488" cy="28099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9" name="Connector 338"/>
          <p:cNvCxnSpPr/>
          <p:nvPr/>
        </p:nvCxnSpPr>
        <p:spPr>
          <a:xfrm>
            <a:off x="10488598" y="3870354"/>
            <a:ext cx="32488" cy="28137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0" name="Connector 339"/>
          <p:cNvCxnSpPr/>
          <p:nvPr/>
        </p:nvCxnSpPr>
        <p:spPr>
          <a:xfrm>
            <a:off x="10521086" y="3898491"/>
            <a:ext cx="32488" cy="27676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1" name="Connector 340"/>
          <p:cNvCxnSpPr/>
          <p:nvPr/>
        </p:nvCxnSpPr>
        <p:spPr>
          <a:xfrm>
            <a:off x="10553574" y="3926167"/>
            <a:ext cx="32488" cy="26728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2" name="Connector 341"/>
          <p:cNvCxnSpPr/>
          <p:nvPr/>
        </p:nvCxnSpPr>
        <p:spPr>
          <a:xfrm>
            <a:off x="10586062" y="3952895"/>
            <a:ext cx="32488" cy="25306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3" name="Connector 342"/>
          <p:cNvCxnSpPr/>
          <p:nvPr/>
        </p:nvCxnSpPr>
        <p:spPr>
          <a:xfrm>
            <a:off x="10618550" y="3978201"/>
            <a:ext cx="32488" cy="23438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4" name="Connector 343"/>
          <p:cNvCxnSpPr/>
          <p:nvPr/>
        </p:nvCxnSpPr>
        <p:spPr>
          <a:xfrm>
            <a:off x="10651038" y="4001639"/>
            <a:ext cx="32488" cy="21154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5" name="Connector 344"/>
          <p:cNvCxnSpPr/>
          <p:nvPr/>
        </p:nvCxnSpPr>
        <p:spPr>
          <a:xfrm>
            <a:off x="10683526" y="4022793"/>
            <a:ext cx="32488" cy="18497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6" name="Connector 345"/>
          <p:cNvCxnSpPr/>
          <p:nvPr/>
        </p:nvCxnSpPr>
        <p:spPr>
          <a:xfrm>
            <a:off x="10716014" y="4041290"/>
            <a:ext cx="32489" cy="15513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7" name="Connector 346"/>
          <p:cNvCxnSpPr/>
          <p:nvPr/>
        </p:nvCxnSpPr>
        <p:spPr>
          <a:xfrm>
            <a:off x="10748503" y="4056803"/>
            <a:ext cx="32488" cy="12254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8" name="Connector 347"/>
          <p:cNvCxnSpPr/>
          <p:nvPr/>
        </p:nvCxnSpPr>
        <p:spPr>
          <a:xfrm>
            <a:off x="10780991" y="4069057"/>
            <a:ext cx="32488" cy="8780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9" name="Connector 348"/>
          <p:cNvCxnSpPr/>
          <p:nvPr/>
        </p:nvCxnSpPr>
        <p:spPr>
          <a:xfrm>
            <a:off x="10813479" y="4077837"/>
            <a:ext cx="32488" cy="5150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0" name="Connector 349"/>
          <p:cNvCxnSpPr/>
          <p:nvPr/>
        </p:nvCxnSpPr>
        <p:spPr>
          <a:xfrm>
            <a:off x="10845967" y="4082987"/>
            <a:ext cx="32488" cy="1428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1" name="Connector 350"/>
          <p:cNvCxnSpPr/>
          <p:nvPr/>
        </p:nvCxnSpPr>
        <p:spPr>
          <a:xfrm flipV="1">
            <a:off x="10878455" y="4082097"/>
            <a:ext cx="32488" cy="2318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2" name="Connector 351"/>
          <p:cNvCxnSpPr/>
          <p:nvPr/>
        </p:nvCxnSpPr>
        <p:spPr>
          <a:xfrm flipV="1">
            <a:off x="10910943" y="4076073"/>
            <a:ext cx="32488" cy="6024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3" name="Connector 352"/>
          <p:cNvCxnSpPr/>
          <p:nvPr/>
        </p:nvCxnSpPr>
        <p:spPr>
          <a:xfrm flipV="1">
            <a:off x="10943431" y="4066450"/>
            <a:ext cx="32488" cy="9623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4" name="Connector 353"/>
          <p:cNvCxnSpPr/>
          <p:nvPr/>
        </p:nvCxnSpPr>
        <p:spPr>
          <a:xfrm flipV="1">
            <a:off x="10975919" y="4053399"/>
            <a:ext cx="32488" cy="13051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5" name="Connector 354"/>
          <p:cNvCxnSpPr/>
          <p:nvPr/>
        </p:nvCxnSpPr>
        <p:spPr>
          <a:xfrm flipV="1">
            <a:off x="11008407" y="4037149"/>
            <a:ext cx="32488" cy="16250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6" name="Connector 355"/>
          <p:cNvCxnSpPr/>
          <p:nvPr/>
        </p:nvCxnSpPr>
        <p:spPr>
          <a:xfrm flipV="1">
            <a:off x="11040895" y="4017988"/>
            <a:ext cx="32489" cy="19161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57" name="TextBox 356"/>
          <p:cNvSpPr txBox="1"/>
          <p:nvPr/>
        </p:nvSpPr>
        <p:spPr>
          <a:xfrm>
            <a:off x="786384" y="5852160"/>
            <a:ext cx="10698480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>
              <a:spcAft>
                <a:spcPts val="0"/>
              </a:spcAft>
              <a:defRPr sz="1700" b="0">
                <a:solidFill>
                  <a:srgbClr val="8C64E1"/>
                </a:solidFill>
                <a:latin typeface="Alibaba PuHuiTi 3.0 55 Regular"/>
              </a:defRPr>
            </a:pPr>
            <a:r>
              <a:t>两条编辑音轨可以混合成两路输出；决定PCM数据量的是输出声道数。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36576"/>
            <a:ext cx="12191695" cy="73152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57416"/>
            <a:ext cx="12191695" cy="73152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77240" y="5010912"/>
            <a:ext cx="10661904" cy="1261872"/>
          </a:xfrm>
          <a:prstGeom prst="rect">
            <a:avLst/>
          </a:prstGeom>
          <a:solidFill>
            <a:srgbClr val="F6F3FF"/>
          </a:solidFill>
          <a:ln w="8890">
            <a:solidFill>
              <a:srgbClr val="E0DD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77240" y="5010912"/>
            <a:ext cx="68580" cy="1261872"/>
          </a:xfrm>
          <a:prstGeom prst="rect">
            <a:avLst/>
          </a:prstGeom>
          <a:solidFill>
            <a:srgbClr val="6251B1"/>
          </a:solidFill>
          <a:ln w="8890">
            <a:solidFill>
              <a:srgbClr val="6251B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12648" y="576072"/>
            <a:ext cx="10972800" cy="7863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3400" b="1">
                <a:solidFill>
                  <a:srgbClr val="262626"/>
                </a:solidFill>
                <a:latin typeface="Alibaba PuHuiTi 3.0 115 Black"/>
              </a:defRPr>
            </a:pPr>
            <a:r>
              <a:t>练习题 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86384" y="1691640"/>
            <a:ext cx="10652760" cy="30358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700" b="0">
                <a:solidFill>
                  <a:srgbClr val="262626"/>
                </a:solidFill>
                <a:latin typeface="Alibaba PuHuiTi 3.0 55 Regular"/>
              </a:defRPr>
            </a:pPr>
            <a:r>
              <a:t>给5分钟的诗朗诵加入一条等时长背景音乐音轨。</a:t>
            </a:r>
          </a:p>
          <a:p>
            <a:pPr>
              <a:spcBef>
                <a:spcPts val="0"/>
              </a:spcBef>
              <a:spcAft>
                <a:spcPts val="200"/>
              </a:spcAft>
              <a:defRPr sz="2700" b="0">
                <a:solidFill>
                  <a:srgbClr val="262626"/>
                </a:solidFill>
                <a:latin typeface="Alibaba PuHuiTi 3.0 55 Regular"/>
              </a:defRPr>
            </a:pPr>
            <a:r>
              <a:t>如果导出时仍为44.1 kHz、16 bit、双声道PCM，</a:t>
            </a:r>
          </a:p>
          <a:p>
            <a:pPr>
              <a:spcBef>
                <a:spcPts val="0"/>
              </a:spcBef>
              <a:spcAft>
                <a:spcPts val="200"/>
              </a:spcAft>
              <a:defRPr sz="2700" b="0">
                <a:solidFill>
                  <a:srgbClr val="262626"/>
                </a:solidFill>
                <a:latin typeface="Alibaba PuHuiTi 3.0 55 Regular"/>
              </a:defRPr>
            </a:pPr>
            <a:r>
              <a:t>数据量会翻倍吗？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822960" y="4919472"/>
            <a:ext cx="10259568" cy="0"/>
          </a:xfrm>
          <a:prstGeom prst="line">
            <a:avLst/>
          </a:prstGeom>
          <a:ln w="25400">
            <a:solidFill>
              <a:srgbClr val="E2E2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1005840" y="5111496"/>
            <a:ext cx="10241280" cy="521207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300" b="1">
                <a:solidFill>
                  <a:srgbClr val="8C64E1"/>
                </a:solidFill>
                <a:latin typeface="Alibaba PuHuiTi 3.0 115 Black"/>
              </a:defRPr>
            </a:pPr>
            <a:r>
              <a:rPr b="1" sz="2600">
                <a:solidFill>
                  <a:srgbClr val="6251B1"/>
                </a:solidFill>
                <a:latin typeface="Alibaba PuHuiTi 3.0 115 Black"/>
              </a:rPr>
              <a:t>答案：未压缩样本数据量不变。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5660136"/>
            <a:ext cx="10241280" cy="60350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1900" b="0">
                <a:solidFill>
                  <a:srgbClr val="262626"/>
                </a:solidFill>
                <a:latin typeface="Alibaba PuHuiTi 3.0 55 Regular"/>
              </a:defRPr>
            </a:pPr>
            <a:r>
              <a:rPr sz="1800" b="0">
                <a:solidFill>
                  <a:srgbClr val="262626"/>
                </a:solidFill>
                <a:latin typeface="Alibaba PuHuiTi 3.0 55 Regular"/>
              </a:rPr>
              <a:t>内容变了，但采样率、位数、声道数、时长均未变。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36576"/>
            <a:ext cx="12191695" cy="73152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57416"/>
            <a:ext cx="12191695" cy="73152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12648" y="576072"/>
            <a:ext cx="10972800" cy="7863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3400" b="1">
                <a:solidFill>
                  <a:srgbClr val="262626"/>
                </a:solidFill>
                <a:latin typeface="Alibaba PuHuiTi 3.0 115 Black"/>
              </a:defRPr>
            </a:pPr>
            <a:r>
              <a:t>迁移：把双声道改成单声道，会怎样？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77824" y="2185416"/>
            <a:ext cx="493776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700" b="1">
                <a:solidFill>
                  <a:srgbClr val="8C64E1"/>
                </a:solidFill>
                <a:latin typeface="Alibaba PuHuiTi 3.0 115 Black"/>
              </a:defRPr>
            </a:pPr>
            <a:r>
              <a:t>双声道：2路数据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01384" y="2185416"/>
            <a:ext cx="493776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700" b="1">
                <a:solidFill>
                  <a:srgbClr val="00B0F0"/>
                </a:solidFill>
                <a:latin typeface="Alibaba PuHuiTi 3.0 115 Black"/>
              </a:defRPr>
            </a:pPr>
            <a:r>
              <a:t>单声道：1路数据</a:t>
            </a:r>
          </a:p>
        </p:txBody>
      </p:sp>
      <p:sp>
        <p:nvSpPr>
          <p:cNvPr id="7" name="Rectangle 6"/>
          <p:cNvSpPr/>
          <p:nvPr/>
        </p:nvSpPr>
        <p:spPr>
          <a:xfrm>
            <a:off x="1115568" y="3145536"/>
            <a:ext cx="3694176" cy="411480"/>
          </a:xfrm>
          <a:prstGeom prst="rect">
            <a:avLst/>
          </a:prstGeom>
          <a:noFill/>
          <a:ln w="25400">
            <a:solidFill>
              <a:srgbClr val="8C64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115568" y="3721608"/>
            <a:ext cx="3694176" cy="411480"/>
          </a:xfrm>
          <a:prstGeom prst="rect">
            <a:avLst/>
          </a:prstGeom>
          <a:noFill/>
          <a:ln w="25400">
            <a:solidFill>
              <a:srgbClr val="8C64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729984" y="3438144"/>
            <a:ext cx="3694176" cy="411480"/>
          </a:xfrm>
          <a:prstGeom prst="rect">
            <a:avLst/>
          </a:prstGeom>
          <a:noFill/>
          <a:ln w="25400">
            <a:solidFill>
              <a:srgbClr val="00B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77240" y="5879592"/>
            <a:ext cx="1078992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000" b="1">
                <a:solidFill>
                  <a:srgbClr val="8C64E1"/>
                </a:solidFill>
                <a:latin typeface="Alibaba PuHuiTi 3.0 115 Black"/>
              </a:defRPr>
            </a:pPr>
            <a:r>
              <a:t>未压缩PCM：声道数变成一半，样本数据量也变成一半。</a:t>
            </a: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36576"/>
            <a:ext cx="12191695" cy="73152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57416"/>
            <a:ext cx="12191695" cy="73152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12648" y="576072"/>
            <a:ext cx="10972800" cy="7863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3400" b="1">
                <a:solidFill>
                  <a:srgbClr val="262626"/>
                </a:solidFill>
                <a:latin typeface="Alibaba PuHuiTi 3.0 115 Black"/>
              </a:defRPr>
            </a:pPr>
            <a:r>
              <a:t>图像采样与声音采样，哪里相同？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77240" y="5879592"/>
            <a:ext cx="1078992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000" b="1">
                <a:solidFill>
                  <a:srgbClr val="8C64E1"/>
                </a:solidFill>
                <a:latin typeface="Alibaba PuHuiTi 3.0 115 Black"/>
              </a:defRPr>
            </a:pPr>
            <a:r>
              <a:t>这两种编码都有“选择样本”和“用有限数字表达样本”的过程。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58952" y="1600200"/>
            <a:ext cx="2130552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400" b="1">
                <a:solidFill>
                  <a:srgbClr val="6251B1"/>
                </a:solidFill>
                <a:latin typeface="Alibaba PuHuiTi 3.0 115 Black"/>
              </a:defRPr>
            </a:pPr>
            <a:r>
              <a:t>比较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127248" y="1600200"/>
            <a:ext cx="3822191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600" b="1">
                <a:solidFill>
                  <a:srgbClr val="6251B1"/>
                </a:solidFill>
                <a:latin typeface="Alibaba PuHuiTi 3.0 115 Black"/>
              </a:defRPr>
            </a:pPr>
            <a:r>
              <a:t>图像：空间采样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379208" y="1600200"/>
            <a:ext cx="3968496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600" b="1">
                <a:solidFill>
                  <a:srgbClr val="00B0F0"/>
                </a:solidFill>
                <a:latin typeface="Alibaba PuHuiTi 3.0 115 Black"/>
              </a:defRPr>
            </a:pPr>
            <a:r>
              <a:t>声音：时间采样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768096" y="2322576"/>
            <a:ext cx="10488168" cy="0"/>
          </a:xfrm>
          <a:prstGeom prst="line">
            <a:avLst/>
          </a:prstGeom>
          <a:ln w="15240">
            <a:solidFill>
              <a:srgbClr val="E0DDE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TextBox 20"/>
          <p:cNvSpPr txBox="1"/>
          <p:nvPr/>
        </p:nvSpPr>
        <p:spPr>
          <a:xfrm>
            <a:off x="777240" y="2478024"/>
            <a:ext cx="2267712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200" b="1">
                <a:solidFill>
                  <a:srgbClr val="6251B1"/>
                </a:solidFill>
                <a:latin typeface="Alibaba PuHuiTi 3.0 115 Black"/>
              </a:defRPr>
            </a:pPr>
            <a:r>
              <a:t>① 取样位置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136392" y="2478024"/>
            <a:ext cx="3767328" cy="7040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200" b="0">
                <a:solidFill>
                  <a:srgbClr val="262626"/>
                </a:solidFill>
                <a:latin typeface="Alibaba PuHuiTi 3.0 55 Regular"/>
              </a:defRPr>
            </a:pPr>
            <a:r>
              <a:t>二维：行×列的像素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388352" y="2478024"/>
            <a:ext cx="3977639" cy="7040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200" b="0">
                <a:solidFill>
                  <a:srgbClr val="262626"/>
                </a:solidFill>
                <a:latin typeface="Alibaba PuHuiTi 3.0 55 Regular"/>
              </a:defRPr>
            </a:pPr>
            <a:r>
              <a:t>一维：时间点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768096" y="3419856"/>
            <a:ext cx="10488168" cy="0"/>
          </a:xfrm>
          <a:prstGeom prst="line">
            <a:avLst/>
          </a:prstGeom>
          <a:ln w="15240">
            <a:solidFill>
              <a:srgbClr val="E0DDE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TextBox 24"/>
          <p:cNvSpPr txBox="1"/>
          <p:nvPr/>
        </p:nvSpPr>
        <p:spPr>
          <a:xfrm>
            <a:off x="777240" y="3575304"/>
            <a:ext cx="2267712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200" b="1">
                <a:solidFill>
                  <a:srgbClr val="6251B1"/>
                </a:solidFill>
                <a:latin typeface="Alibaba PuHuiTi 3.0 115 Black"/>
              </a:defRPr>
            </a:pPr>
            <a:r>
              <a:t>② 记录什么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136392" y="3575304"/>
            <a:ext cx="3767328" cy="7040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200" b="0">
                <a:solidFill>
                  <a:srgbClr val="262626"/>
                </a:solidFill>
                <a:latin typeface="Alibaba PuHuiTi 3.0 55 Regular"/>
              </a:defRPr>
            </a:pPr>
            <a:r>
              <a:t>像素颜色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388352" y="3575304"/>
            <a:ext cx="3977639" cy="7040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200" b="0">
                <a:solidFill>
                  <a:srgbClr val="262626"/>
                </a:solidFill>
                <a:latin typeface="Alibaba PuHuiTi 3.0 55 Regular"/>
              </a:defRPr>
            </a:pPr>
            <a:r>
              <a:t>信号幅度</a:t>
            </a:r>
          </a:p>
        </p:txBody>
      </p:sp>
      <p:cxnSp>
        <p:nvCxnSpPr>
          <p:cNvPr id="28" name="Connector 27"/>
          <p:cNvCxnSpPr/>
          <p:nvPr/>
        </p:nvCxnSpPr>
        <p:spPr>
          <a:xfrm>
            <a:off x="768096" y="4517136"/>
            <a:ext cx="10488168" cy="0"/>
          </a:xfrm>
          <a:prstGeom prst="line">
            <a:avLst/>
          </a:prstGeom>
          <a:ln w="15240">
            <a:solidFill>
              <a:srgbClr val="E0DDE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TextBox 28"/>
          <p:cNvSpPr txBox="1"/>
          <p:nvPr/>
        </p:nvSpPr>
        <p:spPr>
          <a:xfrm>
            <a:off x="777240" y="4672583"/>
            <a:ext cx="2267712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200" b="1">
                <a:solidFill>
                  <a:srgbClr val="6251B1"/>
                </a:solidFill>
                <a:latin typeface="Alibaba PuHuiTi 3.0 115 Black"/>
              </a:defRPr>
            </a:pPr>
            <a:r>
              <a:t>③ 数据量怎么算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136392" y="4672583"/>
            <a:ext cx="3767328" cy="7040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200" b="0">
                <a:solidFill>
                  <a:srgbClr val="262626"/>
                </a:solidFill>
                <a:latin typeface="Alibaba PuHuiTi 3.0 55 Regular"/>
              </a:defRPr>
            </a:pPr>
            <a:r>
              <a:t>像素数 × 每像素位数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388352" y="4672583"/>
            <a:ext cx="3977639" cy="7040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200" b="0">
                <a:solidFill>
                  <a:srgbClr val="262626"/>
                </a:solidFill>
                <a:latin typeface="Alibaba PuHuiTi 3.0 55 Regular"/>
              </a:defRPr>
            </a:pPr>
            <a:r>
              <a:t>样本数 × 每样本位数</a:t>
            </a: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36576"/>
            <a:ext cx="12191695" cy="73152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57416"/>
            <a:ext cx="12191695" cy="73152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12648" y="576072"/>
            <a:ext cx="10972800" cy="7863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3400" b="1">
                <a:solidFill>
                  <a:srgbClr val="262626"/>
                </a:solidFill>
                <a:latin typeface="Alibaba PuHuiTi 3.0 115 Black"/>
              </a:defRPr>
            </a:pPr>
            <a:r>
              <a:t>一张张图片连续变化，就能让我们看到运动。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04672" y="1609344"/>
            <a:ext cx="10570464" cy="521207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>
              <a:spcAft>
                <a:spcPts val="0"/>
              </a:spcAft>
              <a:defRPr sz="2400" b="1">
                <a:solidFill>
                  <a:srgbClr val="8C64E1"/>
                </a:solidFill>
                <a:latin typeface="Alibaba PuHuiTi 3.0 115 Black"/>
              </a:defRPr>
            </a:pPr>
            <a:r>
              <a:t>同一个球，在5个连续时刻的位置变化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2331720"/>
            <a:ext cx="1874519" cy="2075688"/>
          </a:xfrm>
          <a:prstGeom prst="rect">
            <a:avLst/>
          </a:prstGeom>
          <a:solidFill>
            <a:srgbClr val="FFFFFF"/>
          </a:solidFill>
          <a:ln w="19050">
            <a:solidFill>
              <a:srgbClr val="E2DE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7" name="Connector 6"/>
          <p:cNvCxnSpPr/>
          <p:nvPr/>
        </p:nvCxnSpPr>
        <p:spPr>
          <a:xfrm>
            <a:off x="868680" y="3904487"/>
            <a:ext cx="1600200" cy="0"/>
          </a:xfrm>
          <a:prstGeom prst="line">
            <a:avLst/>
          </a:prstGeom>
          <a:ln w="16510">
            <a:solidFill>
              <a:srgbClr val="E2DEF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Oval 7"/>
          <p:cNvSpPr/>
          <p:nvPr/>
        </p:nvSpPr>
        <p:spPr>
          <a:xfrm>
            <a:off x="841248" y="3191256"/>
            <a:ext cx="329184" cy="329184"/>
          </a:xfrm>
          <a:prstGeom prst="ellipse">
            <a:avLst/>
          </a:prstGeom>
          <a:solidFill>
            <a:srgbClr val="00B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1520" y="4526280"/>
            <a:ext cx="1874519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0"/>
              </a:spcAft>
              <a:defRPr sz="1900" b="1">
                <a:solidFill>
                  <a:srgbClr val="262626"/>
                </a:solidFill>
                <a:latin typeface="Alibaba PuHuiTi 3.0 115 Black"/>
              </a:defRPr>
            </a:pPr>
            <a:r>
              <a:t>第1帧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596896" y="3154680"/>
            <a:ext cx="356616" cy="43891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0"/>
              </a:spcAft>
              <a:defRPr sz="2200" b="1">
                <a:solidFill>
                  <a:srgbClr val="8C64E1"/>
                </a:solidFill>
                <a:latin typeface="Alibaba PuHuiTi 3.0 115 Black"/>
              </a:defRPr>
            </a:pPr>
            <a:r>
              <a:t>→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971800" y="2331720"/>
            <a:ext cx="1874519" cy="2075688"/>
          </a:xfrm>
          <a:prstGeom prst="rect">
            <a:avLst/>
          </a:prstGeom>
          <a:solidFill>
            <a:srgbClr val="FFFFFF"/>
          </a:solidFill>
          <a:ln w="19050">
            <a:solidFill>
              <a:srgbClr val="E2DE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2" name="Connector 11"/>
          <p:cNvCxnSpPr/>
          <p:nvPr/>
        </p:nvCxnSpPr>
        <p:spPr>
          <a:xfrm>
            <a:off x="3108960" y="3904487"/>
            <a:ext cx="1600200" cy="0"/>
          </a:xfrm>
          <a:prstGeom prst="line">
            <a:avLst/>
          </a:prstGeom>
          <a:ln w="16510">
            <a:solidFill>
              <a:srgbClr val="E2DEF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Oval 12"/>
          <p:cNvSpPr/>
          <p:nvPr/>
        </p:nvSpPr>
        <p:spPr>
          <a:xfrm>
            <a:off x="3392423" y="3191256"/>
            <a:ext cx="329184" cy="329184"/>
          </a:xfrm>
          <a:prstGeom prst="ellipse">
            <a:avLst/>
          </a:prstGeom>
          <a:solidFill>
            <a:srgbClr val="00B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971800" y="4526280"/>
            <a:ext cx="1874519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0"/>
              </a:spcAft>
              <a:defRPr sz="1900" b="1">
                <a:solidFill>
                  <a:srgbClr val="262626"/>
                </a:solidFill>
                <a:latin typeface="Alibaba PuHuiTi 3.0 115 Black"/>
              </a:defRPr>
            </a:pPr>
            <a:r>
              <a:t>第2帧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837176" y="3154680"/>
            <a:ext cx="356616" cy="43891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0"/>
              </a:spcAft>
              <a:defRPr sz="2200" b="1">
                <a:solidFill>
                  <a:srgbClr val="8C64E1"/>
                </a:solidFill>
                <a:latin typeface="Alibaba PuHuiTi 3.0 115 Black"/>
              </a:defRPr>
            </a:pPr>
            <a:r>
              <a:t>→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212080" y="2331720"/>
            <a:ext cx="1874519" cy="2075688"/>
          </a:xfrm>
          <a:prstGeom prst="rect">
            <a:avLst/>
          </a:prstGeom>
          <a:solidFill>
            <a:srgbClr val="FFFFFF"/>
          </a:solidFill>
          <a:ln w="19050">
            <a:solidFill>
              <a:srgbClr val="E2DE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7" name="Connector 16"/>
          <p:cNvCxnSpPr/>
          <p:nvPr/>
        </p:nvCxnSpPr>
        <p:spPr>
          <a:xfrm>
            <a:off x="5349240" y="3904487"/>
            <a:ext cx="1600200" cy="0"/>
          </a:xfrm>
          <a:prstGeom prst="line">
            <a:avLst/>
          </a:prstGeom>
          <a:ln w="16510">
            <a:solidFill>
              <a:srgbClr val="E2DEF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Oval 17"/>
          <p:cNvSpPr/>
          <p:nvPr/>
        </p:nvSpPr>
        <p:spPr>
          <a:xfrm>
            <a:off x="5943600" y="3191256"/>
            <a:ext cx="329184" cy="329184"/>
          </a:xfrm>
          <a:prstGeom prst="ellipse">
            <a:avLst/>
          </a:prstGeom>
          <a:solidFill>
            <a:srgbClr val="00B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212080" y="4526280"/>
            <a:ext cx="1874519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0"/>
              </a:spcAft>
              <a:defRPr sz="1900" b="1">
                <a:solidFill>
                  <a:srgbClr val="262626"/>
                </a:solidFill>
                <a:latin typeface="Alibaba PuHuiTi 3.0 115 Black"/>
              </a:defRPr>
            </a:pPr>
            <a:r>
              <a:t>第3帧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077456" y="3154680"/>
            <a:ext cx="356616" cy="43891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0"/>
              </a:spcAft>
              <a:defRPr sz="2200" b="1">
                <a:solidFill>
                  <a:srgbClr val="8C64E1"/>
                </a:solidFill>
                <a:latin typeface="Alibaba PuHuiTi 3.0 115 Black"/>
              </a:defRPr>
            </a:pPr>
            <a:r>
              <a:t>→</a:t>
            </a:r>
          </a:p>
        </p:txBody>
      </p:sp>
      <p:sp>
        <p:nvSpPr>
          <p:cNvPr id="21" name="Rectangle 20"/>
          <p:cNvSpPr/>
          <p:nvPr/>
        </p:nvSpPr>
        <p:spPr>
          <a:xfrm>
            <a:off x="7452360" y="2331720"/>
            <a:ext cx="1874519" cy="2075688"/>
          </a:xfrm>
          <a:prstGeom prst="rect">
            <a:avLst/>
          </a:prstGeom>
          <a:solidFill>
            <a:srgbClr val="FFFFFF"/>
          </a:solidFill>
          <a:ln w="19050">
            <a:solidFill>
              <a:srgbClr val="E2DE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2" name="Connector 21"/>
          <p:cNvCxnSpPr/>
          <p:nvPr/>
        </p:nvCxnSpPr>
        <p:spPr>
          <a:xfrm>
            <a:off x="7589520" y="3904487"/>
            <a:ext cx="1600200" cy="0"/>
          </a:xfrm>
          <a:prstGeom prst="line">
            <a:avLst/>
          </a:prstGeom>
          <a:ln w="16510">
            <a:solidFill>
              <a:srgbClr val="E2DEF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Oval 22"/>
          <p:cNvSpPr/>
          <p:nvPr/>
        </p:nvSpPr>
        <p:spPr>
          <a:xfrm>
            <a:off x="8494776" y="3191256"/>
            <a:ext cx="329184" cy="329184"/>
          </a:xfrm>
          <a:prstGeom prst="ellipse">
            <a:avLst/>
          </a:prstGeom>
          <a:solidFill>
            <a:srgbClr val="00B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452360" y="4526280"/>
            <a:ext cx="1874519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0"/>
              </a:spcAft>
              <a:defRPr sz="1900" b="1">
                <a:solidFill>
                  <a:srgbClr val="262626"/>
                </a:solidFill>
                <a:latin typeface="Alibaba PuHuiTi 3.0 115 Black"/>
              </a:defRPr>
            </a:pPr>
            <a:r>
              <a:t>第4帧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317736" y="3154680"/>
            <a:ext cx="356616" cy="43891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0"/>
              </a:spcAft>
              <a:defRPr sz="2200" b="1">
                <a:solidFill>
                  <a:srgbClr val="8C64E1"/>
                </a:solidFill>
                <a:latin typeface="Alibaba PuHuiTi 3.0 115 Black"/>
              </a:defRPr>
            </a:pPr>
            <a:r>
              <a:t>→</a:t>
            </a:r>
          </a:p>
        </p:txBody>
      </p:sp>
      <p:sp>
        <p:nvSpPr>
          <p:cNvPr id="26" name="Rectangle 25"/>
          <p:cNvSpPr/>
          <p:nvPr/>
        </p:nvSpPr>
        <p:spPr>
          <a:xfrm>
            <a:off x="9692640" y="2331720"/>
            <a:ext cx="1874519" cy="2075688"/>
          </a:xfrm>
          <a:prstGeom prst="rect">
            <a:avLst/>
          </a:prstGeom>
          <a:solidFill>
            <a:srgbClr val="FFFFFF"/>
          </a:solidFill>
          <a:ln w="19050">
            <a:solidFill>
              <a:srgbClr val="E2DE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7" name="Connector 26"/>
          <p:cNvCxnSpPr/>
          <p:nvPr/>
        </p:nvCxnSpPr>
        <p:spPr>
          <a:xfrm>
            <a:off x="9829800" y="3904487"/>
            <a:ext cx="1600200" cy="0"/>
          </a:xfrm>
          <a:prstGeom prst="line">
            <a:avLst/>
          </a:prstGeom>
          <a:ln w="16510">
            <a:solidFill>
              <a:srgbClr val="E2DEF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Oval 27"/>
          <p:cNvSpPr/>
          <p:nvPr/>
        </p:nvSpPr>
        <p:spPr>
          <a:xfrm>
            <a:off x="11045952" y="3191256"/>
            <a:ext cx="329184" cy="329184"/>
          </a:xfrm>
          <a:prstGeom prst="ellipse">
            <a:avLst/>
          </a:prstGeom>
          <a:solidFill>
            <a:srgbClr val="00B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9692640" y="4526280"/>
            <a:ext cx="1874519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0"/>
              </a:spcAft>
              <a:defRPr sz="1900" b="1">
                <a:solidFill>
                  <a:srgbClr val="262626"/>
                </a:solidFill>
                <a:latin typeface="Alibaba PuHuiTi 3.0 115 Black"/>
              </a:defRPr>
            </a:pPr>
            <a:r>
              <a:t>第5帧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41248" y="5166360"/>
            <a:ext cx="1033272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>
              <a:spcAft>
                <a:spcPts val="0"/>
              </a:spcAft>
              <a:defRPr sz="2000" b="1">
                <a:solidFill>
                  <a:srgbClr val="8C64E1"/>
                </a:solidFill>
                <a:latin typeface="Alibaba PuHuiTi 3.0 115 Black"/>
              </a:defRPr>
            </a:pPr>
            <a:r>
              <a:t>位置逐帧变化（背景和球的大小不变）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86384" y="5852160"/>
            <a:ext cx="10698480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>
              <a:spcAft>
                <a:spcPts val="0"/>
              </a:spcAft>
              <a:defRPr sz="1700" b="0">
                <a:solidFill>
                  <a:srgbClr val="8C64E1"/>
                </a:solidFill>
                <a:latin typeface="Alibaba PuHuiTi 3.0 55 Regular"/>
              </a:defRPr>
            </a:pPr>
            <a:r>
              <a:t>25 fps = 每秒显示25帧；“帧”不是声道，也不是采样位数。</a:t>
            </a: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36576"/>
            <a:ext cx="12191695" cy="73152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57416"/>
            <a:ext cx="12191695" cy="73152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12648" y="576072"/>
            <a:ext cx="10972800" cy="7863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3400" b="1">
                <a:solidFill>
                  <a:srgbClr val="262626"/>
                </a:solidFill>
                <a:latin typeface="Alibaba PuHuiTi 3.0 115 Black"/>
              </a:defRPr>
            </a:pPr>
            <a:r>
              <a:t>10分钟、每秒25帧，要保存多少张画面？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8096" y="2048256"/>
            <a:ext cx="10789920" cy="777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700" b="1">
                <a:solidFill>
                  <a:srgbClr val="262626"/>
                </a:solidFill>
                <a:latin typeface="Alibaba PuHuiTi 3.0 115 Black"/>
              </a:defRPr>
            </a:pPr>
            <a:r>
              <a:t>25帧/秒 × 60秒/分钟 × 10分钟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41248" y="3264408"/>
            <a:ext cx="10515600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4200" b="1">
                <a:solidFill>
                  <a:srgbClr val="8C64E1"/>
                </a:solidFill>
                <a:latin typeface="Alibaba PuHuiTi 3.0 115 Black"/>
              </a:defRPr>
            </a:pPr>
            <a:r>
              <a:t>= 15,000 帧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4910328"/>
            <a:ext cx="1078992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000" b="1">
                <a:solidFill>
                  <a:srgbClr val="8C64E1"/>
                </a:solidFill>
                <a:latin typeface="Alibaba PuHuiTi 3.0 115 Black"/>
              </a:defRPr>
            </a:pPr>
            <a:r>
              <a:t>无压缩视频 = 单帧图像数据量 × 总帧数。</a:t>
            </a: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36576"/>
            <a:ext cx="12191695" cy="73152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57416"/>
            <a:ext cx="12191695" cy="73152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12648" y="576072"/>
            <a:ext cx="10972800" cy="7863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3400" b="1">
                <a:solidFill>
                  <a:srgbClr val="262626"/>
                </a:solidFill>
                <a:latin typeface="Alibaba PuHuiTi 3.0 115 Black"/>
              </a:defRPr>
            </a:pPr>
            <a:r>
              <a:t>练习题 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86384" y="1691640"/>
            <a:ext cx="10652760" cy="30358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700" b="0">
                <a:solidFill>
                  <a:srgbClr val="262626"/>
                </a:solidFill>
                <a:latin typeface="Alibaba PuHuiTi 3.0 55 Regular"/>
              </a:defRPr>
            </a:pPr>
            <a:r>
              <a:t>10分钟的无声视频：480×320像素，24 bit/像素，</a:t>
            </a:r>
          </a:p>
          <a:p>
            <a:pPr>
              <a:spcBef>
                <a:spcPts val="0"/>
              </a:spcBef>
              <a:spcAft>
                <a:spcPts val="200"/>
              </a:spcAft>
              <a:defRPr sz="2700" b="0">
                <a:solidFill>
                  <a:srgbClr val="262626"/>
                </a:solidFill>
                <a:latin typeface="Alibaba PuHuiTi 3.0 55 Regular"/>
              </a:defRPr>
            </a:pPr>
            <a:r>
              <a:t>帧率25 fps。假设逐帧未压缩存储，</a:t>
            </a:r>
          </a:p>
          <a:p>
            <a:pPr>
              <a:spcBef>
                <a:spcPts val="0"/>
              </a:spcBef>
              <a:spcAft>
                <a:spcPts val="200"/>
              </a:spcAft>
              <a:defRPr sz="2700" b="0">
                <a:solidFill>
                  <a:srgbClr val="262626"/>
                </a:solidFill>
                <a:latin typeface="Alibaba PuHuiTi 3.0 55 Regular"/>
              </a:defRPr>
            </a:pPr>
            <a:r>
              <a:t>总数据量约多少GiB？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822960" y="4919472"/>
            <a:ext cx="10259568" cy="0"/>
          </a:xfrm>
          <a:prstGeom prst="line">
            <a:avLst/>
          </a:prstGeom>
          <a:ln w="25400">
            <a:solidFill>
              <a:srgbClr val="E2E2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832104" y="5166360"/>
            <a:ext cx="10332720" cy="6766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200" b="1">
                <a:solidFill>
                  <a:srgbClr val="8C64E1"/>
                </a:solidFill>
                <a:latin typeface="Alibaba PuHuiTi 3.0 115 Black"/>
              </a:defRPr>
            </a:pPr>
            <a:r>
              <a:t>先算每帧，再算总帧数。</a:t>
            </a: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36576"/>
            <a:ext cx="12191695" cy="73152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57416"/>
            <a:ext cx="12191695" cy="73152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77240" y="5010912"/>
            <a:ext cx="10661904" cy="1261872"/>
          </a:xfrm>
          <a:prstGeom prst="rect">
            <a:avLst/>
          </a:prstGeom>
          <a:solidFill>
            <a:srgbClr val="F6F3FF"/>
          </a:solidFill>
          <a:ln w="8890">
            <a:solidFill>
              <a:srgbClr val="E0DD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77240" y="5010912"/>
            <a:ext cx="68580" cy="1261872"/>
          </a:xfrm>
          <a:prstGeom prst="rect">
            <a:avLst/>
          </a:prstGeom>
          <a:solidFill>
            <a:srgbClr val="6251B1"/>
          </a:solidFill>
          <a:ln w="8890">
            <a:solidFill>
              <a:srgbClr val="6251B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12648" y="576072"/>
            <a:ext cx="10972800" cy="7863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3400" b="1">
                <a:solidFill>
                  <a:srgbClr val="262626"/>
                </a:solidFill>
                <a:latin typeface="Alibaba PuHuiTi 3.0 115 Black"/>
              </a:defRPr>
            </a:pPr>
            <a:r>
              <a:t>练习题 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86384" y="1691640"/>
            <a:ext cx="10652760" cy="30358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700" b="0">
                <a:solidFill>
                  <a:srgbClr val="262626"/>
                </a:solidFill>
                <a:latin typeface="Alibaba PuHuiTi 3.0 55 Regular"/>
              </a:defRPr>
            </a:pPr>
            <a:r>
              <a:t>10分钟的无声视频：480×320像素，24 bit/像素，</a:t>
            </a:r>
          </a:p>
          <a:p>
            <a:pPr>
              <a:spcBef>
                <a:spcPts val="0"/>
              </a:spcBef>
              <a:spcAft>
                <a:spcPts val="200"/>
              </a:spcAft>
              <a:defRPr sz="2700" b="0">
                <a:solidFill>
                  <a:srgbClr val="262626"/>
                </a:solidFill>
                <a:latin typeface="Alibaba PuHuiTi 3.0 55 Regular"/>
              </a:defRPr>
            </a:pPr>
            <a:r>
              <a:t>帧率25 fps。假设逐帧未压缩存储，</a:t>
            </a:r>
          </a:p>
          <a:p>
            <a:pPr>
              <a:spcBef>
                <a:spcPts val="0"/>
              </a:spcBef>
              <a:spcAft>
                <a:spcPts val="200"/>
              </a:spcAft>
              <a:defRPr sz="2700" b="0">
                <a:solidFill>
                  <a:srgbClr val="262626"/>
                </a:solidFill>
                <a:latin typeface="Alibaba PuHuiTi 3.0 55 Regular"/>
              </a:defRPr>
            </a:pPr>
            <a:r>
              <a:t>总数据量约多少GiB？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822960" y="4919472"/>
            <a:ext cx="10259568" cy="0"/>
          </a:xfrm>
          <a:prstGeom prst="line">
            <a:avLst/>
          </a:prstGeom>
          <a:ln w="25400">
            <a:solidFill>
              <a:srgbClr val="E2E2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1005840" y="5111496"/>
            <a:ext cx="10241280" cy="521207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300" b="1">
                <a:solidFill>
                  <a:srgbClr val="8C64E1"/>
                </a:solidFill>
                <a:latin typeface="Alibaba PuHuiTi 3.0 115 Black"/>
              </a:defRPr>
            </a:pPr>
            <a:r>
              <a:rPr b="1" sz="2600">
                <a:solidFill>
                  <a:srgbClr val="6251B1"/>
                </a:solidFill>
                <a:latin typeface="Alibaba PuHuiTi 3.0 115 Black"/>
              </a:rPr>
              <a:t>答案：约6.44 GiB。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5660136"/>
            <a:ext cx="10241280" cy="60350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1900" b="0">
                <a:solidFill>
                  <a:srgbClr val="262626"/>
                </a:solidFill>
                <a:latin typeface="Alibaba PuHuiTi 3.0 55 Regular"/>
              </a:defRPr>
            </a:pPr>
            <a:r>
              <a:rPr sz="1800" b="0">
                <a:solidFill>
                  <a:srgbClr val="262626"/>
                </a:solidFill>
                <a:latin typeface="Alibaba PuHuiTi 3.0 55 Regular"/>
              </a:rPr>
              <a:t>480×320×24÷8×25×600 = 6,912,000,000 B；÷1024³≈6.44 GiB。</a:t>
            </a: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36576"/>
            <a:ext cx="12191695" cy="73152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57416"/>
            <a:ext cx="12191695" cy="73152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12648" y="576072"/>
            <a:ext cx="10972800" cy="7863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3400" b="1">
                <a:solidFill>
                  <a:srgbClr val="262626"/>
                </a:solidFill>
                <a:latin typeface="Alibaba PuHuiTi 3.0 115 Black"/>
              </a:defRPr>
            </a:pPr>
            <a:r>
              <a:t>可是我们看的10分钟视频，为什么远没有6.44 GiB？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04672" y="1892807"/>
            <a:ext cx="10789920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3400" b="1">
                <a:solidFill>
                  <a:srgbClr val="8C64E1"/>
                </a:solidFill>
                <a:latin typeface="Alibaba PuHuiTi 3.0 115 Black"/>
              </a:defRPr>
            </a:pPr>
            <a:r>
              <a:t>刚才的计算错了吗？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3300984"/>
            <a:ext cx="10698480" cy="1554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800" b="0">
                <a:solidFill>
                  <a:srgbClr val="262626"/>
                </a:solidFill>
                <a:latin typeface="Alibaba PuHuiTi 3.0 55 Regular"/>
              </a:defRPr>
            </a:pPr>
            <a:r>
              <a:t>如果公式没错，实际文件为什么可能小得多？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5879592"/>
            <a:ext cx="1078992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000" b="1">
                <a:solidFill>
                  <a:srgbClr val="8C64E1"/>
                </a:solidFill>
                <a:latin typeface="Alibaba PuHuiTi 3.0 115 Black"/>
              </a:defRPr>
            </a:pPr>
            <a:r>
              <a:t>请提出至少一种可以检验的解释。</a:t>
            </a: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36576"/>
            <a:ext cx="12191695" cy="73152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57416"/>
            <a:ext cx="12191695" cy="73152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12648" y="576072"/>
            <a:ext cx="10972800" cy="7863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3400" b="1">
                <a:solidFill>
                  <a:srgbClr val="262626"/>
                </a:solidFill>
                <a:latin typeface="Alibaba PuHuiTi 3.0 115 Black"/>
              </a:defRPr>
            </a:pPr>
            <a:r>
              <a:t>因为我们算的是“逐帧未压缩数据量”。</a:t>
            </a:r>
          </a:p>
        </p:txBody>
      </p:sp>
      <p:sp>
        <p:nvSpPr>
          <p:cNvPr id="5" name="Rectangle 4"/>
          <p:cNvSpPr/>
          <p:nvPr/>
        </p:nvSpPr>
        <p:spPr>
          <a:xfrm>
            <a:off x="832104" y="2267712"/>
            <a:ext cx="4590288" cy="667512"/>
          </a:xfrm>
          <a:prstGeom prst="rect">
            <a:avLst/>
          </a:prstGeom>
          <a:noFill/>
          <a:ln w="25400">
            <a:solidFill>
              <a:srgbClr val="8C64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05256" y="2386584"/>
            <a:ext cx="4443983" cy="40233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  <a:defRPr sz="2200" b="1">
                <a:solidFill>
                  <a:srgbClr val="8C64E1"/>
                </a:solidFill>
                <a:latin typeface="Alibaba PuHuiTi 3.0 115 Black"/>
              </a:defRPr>
            </a:pPr>
            <a:r>
              <a:rPr sz="2500" b="1">
                <a:solidFill>
                  <a:srgbClr val="6251B1"/>
                </a:solidFill>
                <a:latin typeface="Alibaba PuHuiTi 3.0 115 Black"/>
              </a:rPr>
              <a:t>未压缩图像帧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5513832" y="2606040"/>
            <a:ext cx="987552" cy="0"/>
          </a:xfrm>
          <a:prstGeom prst="line">
            <a:avLst/>
          </a:prstGeom>
          <a:ln w="3810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ectangle 7"/>
          <p:cNvSpPr/>
          <p:nvPr/>
        </p:nvSpPr>
        <p:spPr>
          <a:xfrm>
            <a:off x="6574536" y="2267712"/>
            <a:ext cx="4663440" cy="667512"/>
          </a:xfrm>
          <a:prstGeom prst="rect">
            <a:avLst/>
          </a:prstGeom>
          <a:noFill/>
          <a:ln w="25400">
            <a:solidFill>
              <a:srgbClr val="00B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647688" y="2386584"/>
            <a:ext cx="4517136" cy="40233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  <a:defRPr sz="2200" b="1">
                <a:solidFill>
                  <a:srgbClr val="00B0F0"/>
                </a:solidFill>
                <a:latin typeface="Alibaba PuHuiTi 3.0 115 Black"/>
              </a:defRPr>
            </a:pPr>
            <a:r>
              <a:rPr sz="2500" b="1">
                <a:solidFill>
                  <a:srgbClr val="6251B1"/>
                </a:solidFill>
                <a:latin typeface="Alibaba PuHuiTi 3.0 115 Black"/>
              </a:rPr>
              <a:t>重新编码后的视频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59536" y="3712463"/>
            <a:ext cx="4599432" cy="10789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100" b="0">
                <a:solidFill>
                  <a:srgbClr val="262626"/>
                </a:solidFill>
                <a:latin typeface="Alibaba PuHuiTi 3.0 55 Regular"/>
              </a:defRPr>
            </a:pPr>
            <a:r>
              <a:rPr sz="2200" b="0">
                <a:solidFill>
                  <a:srgbClr val="262626"/>
                </a:solidFill>
                <a:latin typeface="Alibaba PuHuiTi 3.0 55 Regular"/>
              </a:rPr>
              <a:t>每一帧都要保存完整的原始像素数据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601968" y="3712463"/>
            <a:ext cx="4681728" cy="10789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100" b="0">
                <a:solidFill>
                  <a:srgbClr val="262626"/>
                </a:solidFill>
                <a:latin typeface="Alibaba PuHuiTi 3.0 55 Regular"/>
              </a:defRPr>
            </a:pPr>
            <a:r>
              <a:rPr sz="2200" b="0">
                <a:solidFill>
                  <a:srgbClr val="262626"/>
                </a:solidFill>
                <a:latin typeface="Alibaba PuHuiTi 3.0 55 Regular"/>
              </a:rPr>
              <a:t>利用帧间相似和更有效的编码，数据可能显著减小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40" y="5879592"/>
            <a:ext cx="1078992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000" b="1">
                <a:solidFill>
                  <a:srgbClr val="8C64E1"/>
                </a:solidFill>
                <a:latin typeface="Alibaba PuHuiTi 3.0 115 Black"/>
              </a:defRPr>
            </a:pPr>
            <a:r>
              <a:t>数据量计算仍正确，它描述的是题设中的“未压缩”情况。</a:t>
            </a:r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36576"/>
            <a:ext cx="12191695" cy="73152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57416"/>
            <a:ext cx="12191695" cy="73152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12648" y="576072"/>
            <a:ext cx="10972800" cy="7863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3400" b="1">
                <a:solidFill>
                  <a:srgbClr val="262626"/>
                </a:solidFill>
                <a:latin typeface="Alibaba PuHuiTi 3.0 115 Black"/>
              </a:defRPr>
            </a:pPr>
            <a:r>
              <a:t>为什么要压缩？先想两种真实需求。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6080760" y="1627632"/>
            <a:ext cx="0" cy="3776472"/>
          </a:xfrm>
          <a:prstGeom prst="line">
            <a:avLst/>
          </a:prstGeom>
          <a:ln w="25400">
            <a:solidFill>
              <a:srgbClr val="E2E2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822960" y="1737360"/>
            <a:ext cx="5074920" cy="6949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800" b="1">
                <a:solidFill>
                  <a:srgbClr val="8C64E1"/>
                </a:solidFill>
                <a:latin typeface="Alibaba PuHuiTi 3.0 115 Black"/>
              </a:defRPr>
            </a:pPr>
            <a:r>
              <a:t>节省存储空间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55664" y="1737360"/>
            <a:ext cx="4754880" cy="6949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800" b="1">
                <a:solidFill>
                  <a:srgbClr val="00B0F0"/>
                </a:solidFill>
                <a:latin typeface="Alibaba PuHuiTi 3.0 115 Black"/>
              </a:defRPr>
            </a:pPr>
            <a:r>
              <a:t>方便网络传输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2743200"/>
            <a:ext cx="5010912" cy="2286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300" b="0">
                <a:solidFill>
                  <a:srgbClr val="262626"/>
                </a:solidFill>
                <a:latin typeface="Alibaba PuHuiTi 3.0 55 Regular"/>
              </a:defRPr>
            </a:pPr>
            <a:r>
              <a:t>同样容量的手机或硬盘，可以保存更多数据。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55664" y="2743200"/>
            <a:ext cx="4873752" cy="2286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300" b="0">
                <a:solidFill>
                  <a:srgbClr val="262626"/>
                </a:solidFill>
                <a:latin typeface="Alibaba PuHuiTi 3.0 55 Regular"/>
              </a:defRPr>
            </a:pPr>
            <a:r>
              <a:t>需要传输的数据更少，通常能更快下载或播放。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5879592"/>
            <a:ext cx="1078992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000" b="1">
                <a:solidFill>
                  <a:srgbClr val="8C64E1"/>
                </a:solidFill>
                <a:latin typeface="Alibaba PuHuiTi 3.0 115 Black"/>
              </a:defRPr>
            </a:pPr>
            <a:r>
              <a:t>压缩的两个目的：节省空间、提高传输效率。</a:t>
            </a:r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36576"/>
            <a:ext cx="12191695" cy="73152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57416"/>
            <a:ext cx="12191695" cy="73152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12648" y="576072"/>
            <a:ext cx="10972800" cy="7863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3400" b="1">
                <a:solidFill>
                  <a:srgbClr val="262626"/>
                </a:solidFill>
                <a:latin typeface="Alibaba PuHuiTi 3.0 115 Black"/>
              </a:defRPr>
            </a:pPr>
            <a:r>
              <a:t>“中国”重复100次，有没有更简短的写法？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86384" y="1975104"/>
            <a:ext cx="10789920" cy="10789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3000" b="1">
                <a:solidFill>
                  <a:srgbClr val="262626"/>
                </a:solidFill>
                <a:latin typeface="Alibaba PuHuiTi 3.0 115 Black"/>
              </a:defRPr>
            </a:pPr>
            <a:r>
              <a:t>中国中国中国中国中国中国……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3291840" y="3685032"/>
            <a:ext cx="3154680" cy="0"/>
          </a:xfrm>
          <a:prstGeom prst="line">
            <a:avLst/>
          </a:prstGeom>
          <a:ln w="3810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6803136" y="3310128"/>
            <a:ext cx="4297680" cy="10241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3300" b="1">
                <a:solidFill>
                  <a:srgbClr val="8C64E1"/>
                </a:solidFill>
                <a:latin typeface="Alibaba PuHuiTi 3.0 115 Black"/>
              </a:defRPr>
            </a:pPr>
            <a:r>
              <a:t>“中国” × 100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5879592"/>
            <a:ext cx="1078992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000" b="1">
                <a:solidFill>
                  <a:srgbClr val="8C64E1"/>
                </a:solidFill>
                <a:latin typeface="Alibaba PuHuiTi 3.0 115 Black"/>
              </a:defRPr>
            </a:pPr>
            <a:r>
              <a:t>在不改变内容的前提下，用规则和次数来表示重复部分。</a:t>
            </a:r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36576"/>
            <a:ext cx="12191695" cy="73152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57416"/>
            <a:ext cx="12191695" cy="73152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12648" y="576072"/>
            <a:ext cx="10972800" cy="7863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3400" b="1">
                <a:solidFill>
                  <a:srgbClr val="262626"/>
                </a:solidFill>
                <a:latin typeface="Alibaba PuHuiTi 3.0 115 Black"/>
              </a:defRPr>
            </a:pPr>
            <a:r>
              <a:t>为什么重复内容更容易压缩？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6080760" y="1627632"/>
            <a:ext cx="0" cy="3776472"/>
          </a:xfrm>
          <a:prstGeom prst="line">
            <a:avLst/>
          </a:prstGeom>
          <a:ln w="25400">
            <a:solidFill>
              <a:srgbClr val="E2E2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822960" y="1737360"/>
            <a:ext cx="5074920" cy="6949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800" b="1">
                <a:solidFill>
                  <a:srgbClr val="8C64E1"/>
                </a:solidFill>
                <a:latin typeface="Alibaba PuHuiTi 3.0 115 Black"/>
              </a:defRPr>
            </a:pPr>
            <a:r>
              <a:t>高度重复的内容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55664" y="1737360"/>
            <a:ext cx="4754880" cy="6949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800" b="1">
                <a:solidFill>
                  <a:srgbClr val="00B0F0"/>
                </a:solidFill>
                <a:latin typeface="Alibaba PuHuiTi 3.0 115 Black"/>
              </a:defRPr>
            </a:pPr>
            <a:r>
              <a:t>变化复杂的内容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2743200"/>
            <a:ext cx="5010912" cy="2286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300" b="0">
                <a:solidFill>
                  <a:srgbClr val="262626"/>
                </a:solidFill>
                <a:latin typeface="Alibaba PuHuiTi 3.0 55 Regular"/>
              </a:defRPr>
            </a:pPr>
            <a:r>
              <a:t>AAAAAAAAAA…</a:t>
            </a:r>
          </a:p>
          <a:p>
            <a:pPr>
              <a:spcBef>
                <a:spcPts val="0"/>
              </a:spcBef>
              <a:spcAft>
                <a:spcPts val="200"/>
              </a:spcAft>
              <a:defRPr sz="2300" b="0">
                <a:solidFill>
                  <a:srgbClr val="262626"/>
                </a:solidFill>
                <a:latin typeface="Alibaba PuHuiTi 3.0 55 Regular"/>
              </a:defRPr>
            </a:pPr>
          </a:p>
          <a:p>
            <a:pPr>
              <a:spcBef>
                <a:spcPts val="0"/>
              </a:spcBef>
              <a:spcAft>
                <a:spcPts val="200"/>
              </a:spcAft>
              <a:defRPr sz="2300" b="0">
                <a:solidFill>
                  <a:srgbClr val="262626"/>
                </a:solidFill>
                <a:latin typeface="Alibaba PuHuiTi 3.0 55 Regular"/>
              </a:defRPr>
            </a:pPr>
            <a:r>
              <a:t>容易用简短规则表示。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55664" y="2743200"/>
            <a:ext cx="4873752" cy="2286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300" b="0">
                <a:solidFill>
                  <a:srgbClr val="262626"/>
                </a:solidFill>
                <a:latin typeface="Alibaba PuHuiTi 3.0 55 Regular"/>
              </a:defRPr>
            </a:pPr>
            <a:r>
              <a:t>AX3Q9P8F2…</a:t>
            </a:r>
          </a:p>
          <a:p>
            <a:pPr>
              <a:spcBef>
                <a:spcPts val="0"/>
              </a:spcBef>
              <a:spcAft>
                <a:spcPts val="200"/>
              </a:spcAft>
              <a:defRPr sz="2300" b="0">
                <a:solidFill>
                  <a:srgbClr val="262626"/>
                </a:solidFill>
                <a:latin typeface="Alibaba PuHuiTi 3.0 55 Regular"/>
              </a:defRPr>
            </a:pPr>
          </a:p>
          <a:p>
            <a:pPr>
              <a:spcBef>
                <a:spcPts val="0"/>
              </a:spcBef>
              <a:spcAft>
                <a:spcPts val="200"/>
              </a:spcAft>
              <a:defRPr sz="2300" b="0">
                <a:solidFill>
                  <a:srgbClr val="262626"/>
                </a:solidFill>
                <a:latin typeface="Alibaba PuHuiTi 3.0 55 Regular"/>
              </a:defRPr>
            </a:pPr>
            <a:r>
              <a:t>难以找到同样简短的规则。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5879592"/>
            <a:ext cx="1078992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000" b="1">
                <a:solidFill>
                  <a:srgbClr val="8C64E1"/>
                </a:solidFill>
                <a:latin typeface="Alibaba PuHuiTi 3.0 115 Black"/>
              </a:defRPr>
            </a:pPr>
            <a:r>
              <a:t>冗余越多，使用合适的算法时，通常越容易压缩。</a:t>
            </a:r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36576"/>
            <a:ext cx="12191695" cy="73152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57416"/>
            <a:ext cx="12191695" cy="73152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12648" y="576072"/>
            <a:ext cx="10972800" cy="7863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3400" b="1">
                <a:solidFill>
                  <a:srgbClr val="262626"/>
                </a:solidFill>
                <a:latin typeface="Alibaba PuHuiTi 3.0 115 Black"/>
              </a:defRPr>
            </a:pPr>
            <a:r>
              <a:t>预测：两份都是1000 Byte，压缩后谁更小？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95528" y="2002536"/>
            <a:ext cx="4882896" cy="60350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700" b="1">
                <a:solidFill>
                  <a:srgbClr val="8C64E1"/>
                </a:solidFill>
                <a:latin typeface="Alibaba PuHuiTi 3.0 115 Black"/>
              </a:defRPr>
            </a:pPr>
            <a:r>
              <a:t>文件A：1000个“A”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19088" y="2002536"/>
            <a:ext cx="4828032" cy="6217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600" b="1">
                <a:solidFill>
                  <a:srgbClr val="00B0F0"/>
                </a:solidFill>
                <a:latin typeface="Alibaba PuHuiTi 3.0 115 Black"/>
              </a:defRPr>
            </a:pPr>
            <a:r>
              <a:t>文件B：1000个随机字节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04672" y="3337560"/>
            <a:ext cx="10515600" cy="60350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400" b="0">
                <a:solidFill>
                  <a:srgbClr val="262626"/>
                </a:solidFill>
                <a:latin typeface="Alibaba PuHuiTi 3.0 55 Regular"/>
              </a:defRPr>
            </a:pPr>
            <a:r>
              <a:t>原始大小相同，都等于1000 Byte。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5065776"/>
            <a:ext cx="1078992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000" b="1">
                <a:solidFill>
                  <a:srgbClr val="8C64E1"/>
                </a:solidFill>
                <a:latin typeface="Alibaba PuHuiTi 3.0 115 Black"/>
              </a:defRPr>
            </a:pPr>
            <a:r>
              <a:t>请预测：压缩后 A、B 谁更小？能够完整恢复吗？</a:t>
            </a:r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36576"/>
            <a:ext cx="12191695" cy="73152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57416"/>
            <a:ext cx="12191695" cy="73152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08076" y="585216"/>
            <a:ext cx="10972800" cy="7772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defRPr b="1" sz="3500">
                <a:solidFill>
                  <a:srgbClr val="262626"/>
                </a:solidFill>
                <a:latin typeface="Alibaba PuHuiTi 3.0 115 Black"/>
              </a:defRPr>
            </a:pPr>
            <a:r>
              <a:t>演示D：同样1000 Byte，压缩后真的不同吗？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627632"/>
            <a:ext cx="1051560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defRPr b="1" sz="2600">
                <a:solidFill>
                  <a:srgbClr val="262626"/>
                </a:solidFill>
                <a:latin typeface="Alibaba PuHuiTi 3.0 115 Black"/>
              </a:defRPr>
            </a:pPr>
            <a:r>
              <a:t>同样是 1000 Byte：</a:t>
            </a:r>
          </a:p>
        </p:txBody>
      </p:sp>
      <p:sp>
        <p:nvSpPr>
          <p:cNvPr id="6" name="Rectangle 5"/>
          <p:cNvSpPr/>
          <p:nvPr/>
        </p:nvSpPr>
        <p:spPr>
          <a:xfrm>
            <a:off x="822960" y="2587752"/>
            <a:ext cx="5102352" cy="1261872"/>
          </a:xfrm>
          <a:prstGeom prst="rect">
            <a:avLst/>
          </a:prstGeom>
          <a:noFill/>
          <a:ln w="19050">
            <a:solidFill>
              <a:srgbClr val="8C64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14984" y="2798064"/>
            <a:ext cx="1353312" cy="51206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defRPr b="1" sz="2300">
                <a:solidFill>
                  <a:srgbClr val="8C64E1"/>
                </a:solidFill>
                <a:latin typeface="Alibaba PuHuiTi 3.0 115 Black"/>
              </a:defRPr>
            </a:pPr>
            <a:r>
              <a:t>文件 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340864" y="2798064"/>
            <a:ext cx="3273552" cy="52120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defRPr b="0" sz="1900">
                <a:solidFill>
                  <a:srgbClr val="262626"/>
                </a:solidFill>
                <a:latin typeface="Alibaba PuHuiTi 3.0 55 Regular"/>
              </a:defRPr>
            </a:pPr>
            <a:r>
              <a:t>1000个重复的字节“A”</a:t>
            </a:r>
          </a:p>
        </p:txBody>
      </p:sp>
      <p:sp>
        <p:nvSpPr>
          <p:cNvPr id="9" name="Rectangle 8"/>
          <p:cNvSpPr/>
          <p:nvPr/>
        </p:nvSpPr>
        <p:spPr>
          <a:xfrm>
            <a:off x="6629400" y="2587752"/>
            <a:ext cx="5102352" cy="1261872"/>
          </a:xfrm>
          <a:prstGeom prst="rect">
            <a:avLst/>
          </a:prstGeom>
          <a:noFill/>
          <a:ln w="19050">
            <a:solidFill>
              <a:srgbClr val="00B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821424" y="2798064"/>
            <a:ext cx="1353312" cy="51206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defRPr b="1" sz="2300">
                <a:solidFill>
                  <a:srgbClr val="00B0F0"/>
                </a:solidFill>
                <a:latin typeface="Alibaba PuHuiTi 3.0 115 Black"/>
              </a:defRPr>
            </a:pPr>
            <a:r>
              <a:t>文件 B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147304" y="2798064"/>
            <a:ext cx="3273552" cy="52120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defRPr b="0" sz="1900">
                <a:solidFill>
                  <a:srgbClr val="262626"/>
                </a:solidFill>
                <a:latin typeface="Alibaba PuHuiTi 3.0 55 Regular"/>
              </a:defRPr>
            </a:pPr>
            <a:r>
              <a:t>1000个随机变化的字节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04672" y="4315968"/>
            <a:ext cx="10625328" cy="8503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defRPr b="1" sz="2400">
                <a:solidFill>
                  <a:srgbClr val="8C64E1"/>
                </a:solidFill>
                <a:latin typeface="Alibaba PuHuiTi 3.0 115 Black"/>
              </a:defRPr>
            </a:pPr>
            <a:r>
              <a:t>① 先预测 → ② 运行Notebook的zlib压缩 → ③ 比较结果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04672" y="5559552"/>
            <a:ext cx="10515600" cy="53035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defRPr b="0" sz="2100">
                <a:solidFill>
                  <a:srgbClr val="262626"/>
                </a:solidFill>
                <a:latin typeface="Alibaba PuHuiTi 3.0 55 Regular"/>
              </a:defRPr>
            </a:pPr>
            <a:r>
              <a:t>可追问：压缩后的文件有没有可能比原来更大？</a:t>
            </a:r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36576"/>
            <a:ext cx="12191695" cy="73152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57416"/>
            <a:ext cx="12191695" cy="73152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12648" y="576072"/>
            <a:ext cx="10972800" cy="7863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3400" b="1">
                <a:solidFill>
                  <a:srgbClr val="262626"/>
                </a:solidFill>
                <a:latin typeface="Alibaba PuHuiTi 3.0 115 Black"/>
              </a:defRPr>
            </a:pPr>
            <a:r>
              <a:t>实验验证：为什么同样大小的文件效果不同？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6080760" y="1627632"/>
            <a:ext cx="0" cy="3776472"/>
          </a:xfrm>
          <a:prstGeom prst="line">
            <a:avLst/>
          </a:prstGeom>
          <a:ln w="25400">
            <a:solidFill>
              <a:srgbClr val="E2E2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822960" y="1737360"/>
            <a:ext cx="5074920" cy="6949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800" b="1">
                <a:solidFill>
                  <a:srgbClr val="8C64E1"/>
                </a:solidFill>
                <a:latin typeface="Alibaba PuHuiTi 3.0 115 Black"/>
              </a:defRPr>
            </a:pPr>
            <a:r>
              <a:t>A：重复的内容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55664" y="1737360"/>
            <a:ext cx="4754880" cy="6949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800" b="1">
                <a:solidFill>
                  <a:srgbClr val="00B0F0"/>
                </a:solidFill>
                <a:latin typeface="Alibaba PuHuiTi 3.0 115 Black"/>
              </a:defRPr>
            </a:pPr>
            <a:r>
              <a:t>B：复杂的内容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2743200"/>
            <a:ext cx="5010912" cy="2286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300" b="0">
                <a:solidFill>
                  <a:srgbClr val="262626"/>
                </a:solidFill>
                <a:latin typeface="Alibaba PuHuiTi 3.0 55 Regular"/>
              </a:defRPr>
            </a:pPr>
            <a:r>
              <a:t>原始大小：1000 Byte</a:t>
            </a:r>
          </a:p>
          <a:p>
            <a:pPr>
              <a:spcBef>
                <a:spcPts val="0"/>
              </a:spcBef>
              <a:spcAft>
                <a:spcPts val="200"/>
              </a:spcAft>
              <a:defRPr sz="2300" b="0">
                <a:solidFill>
                  <a:srgbClr val="262626"/>
                </a:solidFill>
                <a:latin typeface="Alibaba PuHuiTi 3.0 55 Regular"/>
              </a:defRPr>
            </a:pPr>
            <a:r>
              <a:t>压缩后：17 Byte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55664" y="2743200"/>
            <a:ext cx="4873752" cy="2286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300" b="0">
                <a:solidFill>
                  <a:srgbClr val="262626"/>
                </a:solidFill>
                <a:latin typeface="Alibaba PuHuiTi 3.0 55 Regular"/>
              </a:defRPr>
            </a:pPr>
            <a:r>
              <a:t>原始大小：1000 Byte</a:t>
            </a:r>
          </a:p>
          <a:p>
            <a:pPr>
              <a:spcBef>
                <a:spcPts val="0"/>
              </a:spcBef>
              <a:spcAft>
                <a:spcPts val="200"/>
              </a:spcAft>
              <a:defRPr sz="2300" b="0">
                <a:solidFill>
                  <a:srgbClr val="262626"/>
                </a:solidFill>
                <a:latin typeface="Alibaba PuHuiTi 3.0 55 Regular"/>
              </a:defRPr>
            </a:pPr>
            <a:r>
              <a:t>压缩后：1011 Byte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5879592"/>
            <a:ext cx="1078992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000" b="1">
                <a:solidFill>
                  <a:srgbClr val="8C64E1"/>
                </a:solidFill>
                <a:latin typeface="Alibaba PuHuiTi 3.0 115 Black"/>
              </a:defRPr>
            </a:pPr>
            <a:r>
              <a:t>两者解压后都能一字节不差地还原：这就是无损压缩。</a:t>
            </a:r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36576"/>
            <a:ext cx="12191695" cy="73152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57416"/>
            <a:ext cx="12191695" cy="73152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12648" y="576072"/>
            <a:ext cx="10972800" cy="7863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3400" b="1">
                <a:solidFill>
                  <a:srgbClr val="262626"/>
                </a:solidFill>
                <a:latin typeface="Alibaba PuHuiTi 3.0 115 Black"/>
              </a:defRPr>
            </a:pPr>
            <a:r>
              <a:t>压缩到底改变了什么？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13816" y="1837943"/>
            <a:ext cx="10698480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900" b="1">
                <a:solidFill>
                  <a:srgbClr val="262626"/>
                </a:solidFill>
                <a:latin typeface="Alibaba PuHuiTi 3.0 115 Black"/>
              </a:defRPr>
            </a:pPr>
            <a:r>
              <a:t>数据本身在计算机中仍是0和1。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32104" y="2999232"/>
            <a:ext cx="10698480" cy="121615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700" b="1">
                <a:solidFill>
                  <a:srgbClr val="8C64E1"/>
                </a:solidFill>
                <a:latin typeface="Alibaba PuHuiTi 3.0 115 Black"/>
              </a:defRPr>
            </a:pPr>
            <a:r>
              <a:t>压缩：用更少的比特，重新表示相同或近似相同的内容。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5879592"/>
            <a:ext cx="1078992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000" b="1">
                <a:solidFill>
                  <a:srgbClr val="8C64E1"/>
                </a:solidFill>
                <a:latin typeface="Alibaba PuHuiTi 3.0 115 Black"/>
              </a:defRPr>
            </a:pPr>
            <a:r>
              <a:t>方法有很多，今天重点研究能不能完整还原。</a:t>
            </a:r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36576"/>
            <a:ext cx="12191695" cy="73152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57416"/>
            <a:ext cx="12191695" cy="73152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12648" y="576072"/>
            <a:ext cx="10972800" cy="7863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3400" b="1">
                <a:solidFill>
                  <a:srgbClr val="262626"/>
                </a:solidFill>
                <a:latin typeface="Alibaba PuHuiTi 3.0 115 Black"/>
              </a:defRPr>
            </a:pPr>
            <a:r>
              <a:t>两种压缩：怎样区分“无损”和“有损”？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6080760" y="1627632"/>
            <a:ext cx="0" cy="3776472"/>
          </a:xfrm>
          <a:prstGeom prst="line">
            <a:avLst/>
          </a:prstGeom>
          <a:ln w="25400">
            <a:solidFill>
              <a:srgbClr val="E2E2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822960" y="1737360"/>
            <a:ext cx="5074920" cy="6949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800" b="1">
                <a:solidFill>
                  <a:srgbClr val="8C64E1"/>
                </a:solidFill>
                <a:latin typeface="Alibaba PuHuiTi 3.0 115 Black"/>
              </a:defRPr>
            </a:pPr>
            <a:r>
              <a:t>无损压缩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55664" y="1737360"/>
            <a:ext cx="4754880" cy="6949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800" b="1">
                <a:solidFill>
                  <a:srgbClr val="00B0F0"/>
                </a:solidFill>
                <a:latin typeface="Alibaba PuHuiTi 3.0 115 Black"/>
              </a:defRPr>
            </a:pPr>
            <a:r>
              <a:t>有损压缩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2743200"/>
            <a:ext cx="5010912" cy="2286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300" b="0">
                <a:solidFill>
                  <a:srgbClr val="262626"/>
                </a:solidFill>
                <a:latin typeface="Alibaba PuHuiTi 3.0 55 Regular"/>
              </a:defRPr>
            </a:pPr>
            <a:r>
              <a:t>还原以后，与原始数据完全一致。</a:t>
            </a:r>
          </a:p>
          <a:p>
            <a:pPr>
              <a:spcBef>
                <a:spcPts val="0"/>
              </a:spcBef>
              <a:spcAft>
                <a:spcPts val="200"/>
              </a:spcAft>
              <a:defRPr sz="2300" b="0">
                <a:solidFill>
                  <a:srgbClr val="262626"/>
                </a:solidFill>
                <a:latin typeface="Alibaba PuHuiTi 3.0 55 Regular"/>
              </a:defRPr>
            </a:pPr>
          </a:p>
          <a:p>
            <a:pPr>
              <a:spcBef>
                <a:spcPts val="0"/>
              </a:spcBef>
              <a:spcAft>
                <a:spcPts val="200"/>
              </a:spcAft>
              <a:defRPr sz="2300" b="0">
                <a:solidFill>
                  <a:srgbClr val="262626"/>
                </a:solidFill>
                <a:latin typeface="Alibaba PuHuiTi 3.0 55 Regular"/>
              </a:defRPr>
            </a:pPr>
            <a:r>
              <a:t>适合：文档、程序、精确备份。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55664" y="2743200"/>
            <a:ext cx="4873752" cy="2286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300" b="0">
                <a:solidFill>
                  <a:srgbClr val="262626"/>
                </a:solidFill>
                <a:latin typeface="Alibaba PuHuiTi 3.0 55 Regular"/>
              </a:defRPr>
            </a:pPr>
            <a:r>
              <a:t>还原以后，无法与原始数据完全一致。</a:t>
            </a:r>
          </a:p>
          <a:p>
            <a:pPr>
              <a:spcBef>
                <a:spcPts val="0"/>
              </a:spcBef>
              <a:spcAft>
                <a:spcPts val="200"/>
              </a:spcAft>
              <a:defRPr sz="2300" b="0">
                <a:solidFill>
                  <a:srgbClr val="262626"/>
                </a:solidFill>
                <a:latin typeface="Alibaba PuHuiTi 3.0 55 Regular"/>
              </a:defRPr>
            </a:pPr>
          </a:p>
          <a:p>
            <a:pPr>
              <a:spcBef>
                <a:spcPts val="0"/>
              </a:spcBef>
              <a:spcAft>
                <a:spcPts val="200"/>
              </a:spcAft>
              <a:defRPr sz="2300" b="0">
                <a:solidFill>
                  <a:srgbClr val="262626"/>
                </a:solidFill>
                <a:latin typeface="Alibaba PuHuiTi 3.0 55 Regular"/>
              </a:defRPr>
            </a:pPr>
            <a:r>
              <a:t>适合：可接受部分失真的音视频。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5879592"/>
            <a:ext cx="1078992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000" b="1">
                <a:solidFill>
                  <a:srgbClr val="8C64E1"/>
                </a:solidFill>
                <a:latin typeface="Alibaba PuHuiTi 3.0 115 Black"/>
              </a:defRPr>
            </a:pPr>
            <a:r>
              <a:t>判断标准：解码/解压后，能否完整得到原始数据？</a:t>
            </a:r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36576"/>
            <a:ext cx="12191695" cy="73152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57416"/>
            <a:ext cx="12191695" cy="73152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12648" y="576072"/>
            <a:ext cx="10972800" cy="7863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3400" b="1">
                <a:solidFill>
                  <a:srgbClr val="262626"/>
                </a:solidFill>
                <a:latin typeface="Alibaba PuHuiTi 3.0 115 Black"/>
              </a:defRPr>
            </a:pPr>
            <a:r>
              <a:t>ZIP、MP3、WAV、MP4，它们属于同一类吗？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865376"/>
            <a:ext cx="4846320" cy="51206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700" b="1">
                <a:solidFill>
                  <a:srgbClr val="8C64E1"/>
                </a:solidFill>
                <a:latin typeface="Alibaba PuHuiTi 3.0 115 Black"/>
              </a:defRPr>
            </a:pPr>
            <a:r>
              <a:rPr sz="3000" b="1">
                <a:solidFill>
                  <a:srgbClr val="6251B1"/>
                </a:solidFill>
                <a:latin typeface="Alibaba PuHuiTi 3.0 115 Black"/>
              </a:rPr>
              <a:t>ZIP / RAR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2441448"/>
            <a:ext cx="4873752" cy="685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100" b="0">
                <a:solidFill>
                  <a:srgbClr val="262626"/>
                </a:solidFill>
                <a:latin typeface="Alibaba PuHuiTi 3.0 55 Regular"/>
              </a:defRPr>
            </a:pPr>
            <a:r>
              <a:rPr sz="2200" b="0">
                <a:solidFill>
                  <a:srgbClr val="262626"/>
                </a:solidFill>
                <a:latin typeface="Alibaba PuHuiTi 3.0 55 Regular"/>
              </a:rPr>
              <a:t>通常为无损归档格式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0" y="1865376"/>
            <a:ext cx="4846320" cy="51206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700" b="1">
                <a:solidFill>
                  <a:srgbClr val="00B0F0"/>
                </a:solidFill>
                <a:latin typeface="Alibaba PuHuiTi 3.0 115 Black"/>
              </a:defRPr>
            </a:pPr>
            <a:r>
              <a:rPr sz="3000" b="1">
                <a:solidFill>
                  <a:srgbClr val="00B0F0"/>
                </a:solidFill>
                <a:latin typeface="Alibaba PuHuiTi 3.0 115 Black"/>
              </a:rPr>
              <a:t>MP3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0" y="2441448"/>
            <a:ext cx="4873752" cy="685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100" b="0">
                <a:solidFill>
                  <a:srgbClr val="262626"/>
                </a:solidFill>
                <a:latin typeface="Alibaba PuHuiTi 3.0 55 Regular"/>
              </a:defRPr>
            </a:pPr>
            <a:r>
              <a:rPr sz="2200" b="0">
                <a:solidFill>
                  <a:srgbClr val="262626"/>
                </a:solidFill>
                <a:latin typeface="Alibaba PuHuiTi 3.0 55 Regular"/>
              </a:rPr>
              <a:t>常见有损音频编码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3502152"/>
            <a:ext cx="4846320" cy="51206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700" b="1">
                <a:solidFill>
                  <a:srgbClr val="8C64E1"/>
                </a:solidFill>
                <a:latin typeface="Alibaba PuHuiTi 3.0 115 Black"/>
              </a:defRPr>
            </a:pPr>
            <a:r>
              <a:rPr sz="3000" b="1">
                <a:solidFill>
                  <a:srgbClr val="6251B1"/>
                </a:solidFill>
                <a:latin typeface="Alibaba PuHuiTi 3.0 115 Black"/>
              </a:rPr>
              <a:t>WAV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4078224"/>
            <a:ext cx="4873752" cy="685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100" b="0">
                <a:solidFill>
                  <a:srgbClr val="262626"/>
                </a:solidFill>
                <a:latin typeface="Alibaba PuHuiTi 3.0 55 Regular"/>
              </a:defRPr>
            </a:pPr>
            <a:r>
              <a:rPr sz="2200" b="0">
                <a:solidFill>
                  <a:srgbClr val="262626"/>
                </a:solidFill>
                <a:latin typeface="Alibaba PuHuiTi 3.0 55 Regular"/>
              </a:rPr>
              <a:t>容器；常见未压缩PCM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0" y="3502152"/>
            <a:ext cx="4846320" cy="51206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700" b="1">
                <a:solidFill>
                  <a:srgbClr val="00B0F0"/>
                </a:solidFill>
                <a:latin typeface="Alibaba PuHuiTi 3.0 115 Black"/>
              </a:defRPr>
            </a:pPr>
            <a:r>
              <a:rPr sz="3000" b="1">
                <a:solidFill>
                  <a:srgbClr val="00B0F0"/>
                </a:solidFill>
                <a:latin typeface="Alibaba PuHuiTi 3.0 115 Black"/>
              </a:rPr>
              <a:t>MP4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0" y="4078224"/>
            <a:ext cx="4873752" cy="685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100" b="0">
                <a:solidFill>
                  <a:srgbClr val="262626"/>
                </a:solidFill>
                <a:latin typeface="Alibaba PuHuiTi 3.0 55 Regular"/>
              </a:defRPr>
            </a:pPr>
            <a:r>
              <a:rPr sz="2200" b="0">
                <a:solidFill>
                  <a:srgbClr val="262626"/>
                </a:solidFill>
                <a:latin typeface="Alibaba PuHuiTi 3.0 55 Regular"/>
              </a:rPr>
              <a:t>容器；常装有损视频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7240" y="5879592"/>
            <a:ext cx="1078992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000" b="1">
                <a:solidFill>
                  <a:srgbClr val="8C64E1"/>
                </a:solidFill>
                <a:latin typeface="Alibaba PuHuiTi 3.0 115 Black"/>
              </a:defRPr>
            </a:pPr>
            <a:r>
              <a:t>格式名和压缩方法不总是一回事。</a:t>
            </a:r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36576"/>
            <a:ext cx="12191695" cy="73152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57416"/>
            <a:ext cx="12191695" cy="73152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12648" y="576072"/>
            <a:ext cx="10972800" cy="7863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3400" b="1">
                <a:solidFill>
                  <a:srgbClr val="262626"/>
                </a:solidFill>
                <a:latin typeface="Alibaba PuHuiTi 3.0 115 Black"/>
              </a:defRPr>
            </a:pPr>
            <a:r>
              <a:t>三幅相同大小的图，谁通常最容易无损压缩？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50392" y="1719072"/>
            <a:ext cx="3474720" cy="4389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500" b="1">
                <a:solidFill>
                  <a:srgbClr val="262626"/>
                </a:solidFill>
                <a:latin typeface="Alibaba PuHuiTi 3.0 115 Black"/>
              </a:defRPr>
            </a:pPr>
            <a:r>
              <a:t>A 纯色</a:t>
            </a:r>
          </a:p>
        </p:txBody>
      </p:sp>
      <p:sp>
        <p:nvSpPr>
          <p:cNvPr id="6" name="Rectangle 5"/>
          <p:cNvSpPr/>
          <p:nvPr/>
        </p:nvSpPr>
        <p:spPr>
          <a:xfrm>
            <a:off x="850392" y="2532888"/>
            <a:ext cx="333756" cy="333756"/>
          </a:xfrm>
          <a:prstGeom prst="rect">
            <a:avLst/>
          </a:prstGeom>
          <a:solidFill>
            <a:srgbClr val="8C64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1207008" y="2532888"/>
            <a:ext cx="333756" cy="333756"/>
          </a:xfrm>
          <a:prstGeom prst="rect">
            <a:avLst/>
          </a:prstGeom>
          <a:solidFill>
            <a:srgbClr val="8C64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563624" y="2532888"/>
            <a:ext cx="333756" cy="333756"/>
          </a:xfrm>
          <a:prstGeom prst="rect">
            <a:avLst/>
          </a:prstGeom>
          <a:solidFill>
            <a:srgbClr val="8C64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920240" y="2532888"/>
            <a:ext cx="333756" cy="333756"/>
          </a:xfrm>
          <a:prstGeom prst="rect">
            <a:avLst/>
          </a:prstGeom>
          <a:solidFill>
            <a:srgbClr val="8C64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2276856" y="2532888"/>
            <a:ext cx="333756" cy="333756"/>
          </a:xfrm>
          <a:prstGeom prst="rect">
            <a:avLst/>
          </a:prstGeom>
          <a:solidFill>
            <a:srgbClr val="8C64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2633472" y="2532888"/>
            <a:ext cx="333756" cy="333756"/>
          </a:xfrm>
          <a:prstGeom prst="rect">
            <a:avLst/>
          </a:prstGeom>
          <a:solidFill>
            <a:srgbClr val="8C64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2990088" y="2532888"/>
            <a:ext cx="333756" cy="333756"/>
          </a:xfrm>
          <a:prstGeom prst="rect">
            <a:avLst/>
          </a:prstGeom>
          <a:solidFill>
            <a:srgbClr val="8C64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3346704" y="2532888"/>
            <a:ext cx="333756" cy="333756"/>
          </a:xfrm>
          <a:prstGeom prst="rect">
            <a:avLst/>
          </a:prstGeom>
          <a:solidFill>
            <a:srgbClr val="8C64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3703320" y="2532888"/>
            <a:ext cx="333756" cy="333756"/>
          </a:xfrm>
          <a:prstGeom prst="rect">
            <a:avLst/>
          </a:prstGeom>
          <a:solidFill>
            <a:srgbClr val="8C64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50392" y="2889504"/>
            <a:ext cx="333756" cy="333756"/>
          </a:xfrm>
          <a:prstGeom prst="rect">
            <a:avLst/>
          </a:prstGeom>
          <a:solidFill>
            <a:srgbClr val="8C64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1207008" y="2889504"/>
            <a:ext cx="333756" cy="333756"/>
          </a:xfrm>
          <a:prstGeom prst="rect">
            <a:avLst/>
          </a:prstGeom>
          <a:solidFill>
            <a:srgbClr val="8C64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1563624" y="2889504"/>
            <a:ext cx="333756" cy="333756"/>
          </a:xfrm>
          <a:prstGeom prst="rect">
            <a:avLst/>
          </a:prstGeom>
          <a:solidFill>
            <a:srgbClr val="8C64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1920240" y="2889504"/>
            <a:ext cx="333756" cy="333756"/>
          </a:xfrm>
          <a:prstGeom prst="rect">
            <a:avLst/>
          </a:prstGeom>
          <a:solidFill>
            <a:srgbClr val="8C64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2276856" y="2889504"/>
            <a:ext cx="333756" cy="333756"/>
          </a:xfrm>
          <a:prstGeom prst="rect">
            <a:avLst/>
          </a:prstGeom>
          <a:solidFill>
            <a:srgbClr val="8C64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2633472" y="2889504"/>
            <a:ext cx="333756" cy="333756"/>
          </a:xfrm>
          <a:prstGeom prst="rect">
            <a:avLst/>
          </a:prstGeom>
          <a:solidFill>
            <a:srgbClr val="8C64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2990088" y="2889504"/>
            <a:ext cx="333756" cy="333756"/>
          </a:xfrm>
          <a:prstGeom prst="rect">
            <a:avLst/>
          </a:prstGeom>
          <a:solidFill>
            <a:srgbClr val="8C64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3346704" y="2889504"/>
            <a:ext cx="333756" cy="333756"/>
          </a:xfrm>
          <a:prstGeom prst="rect">
            <a:avLst/>
          </a:prstGeom>
          <a:solidFill>
            <a:srgbClr val="8C64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3703320" y="2889504"/>
            <a:ext cx="333756" cy="333756"/>
          </a:xfrm>
          <a:prstGeom prst="rect">
            <a:avLst/>
          </a:prstGeom>
          <a:solidFill>
            <a:srgbClr val="8C64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850392" y="3246120"/>
            <a:ext cx="333756" cy="333756"/>
          </a:xfrm>
          <a:prstGeom prst="rect">
            <a:avLst/>
          </a:prstGeom>
          <a:solidFill>
            <a:srgbClr val="8C64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1207008" y="3246120"/>
            <a:ext cx="333756" cy="333756"/>
          </a:xfrm>
          <a:prstGeom prst="rect">
            <a:avLst/>
          </a:prstGeom>
          <a:solidFill>
            <a:srgbClr val="8C64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1563624" y="3246120"/>
            <a:ext cx="333756" cy="333756"/>
          </a:xfrm>
          <a:prstGeom prst="rect">
            <a:avLst/>
          </a:prstGeom>
          <a:solidFill>
            <a:srgbClr val="8C64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1920240" y="3246120"/>
            <a:ext cx="333756" cy="333756"/>
          </a:xfrm>
          <a:prstGeom prst="rect">
            <a:avLst/>
          </a:prstGeom>
          <a:solidFill>
            <a:srgbClr val="8C64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2276856" y="3246120"/>
            <a:ext cx="333756" cy="333756"/>
          </a:xfrm>
          <a:prstGeom prst="rect">
            <a:avLst/>
          </a:prstGeom>
          <a:solidFill>
            <a:srgbClr val="8C64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2633472" y="3246120"/>
            <a:ext cx="333756" cy="333756"/>
          </a:xfrm>
          <a:prstGeom prst="rect">
            <a:avLst/>
          </a:prstGeom>
          <a:solidFill>
            <a:srgbClr val="8C64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2990088" y="3246120"/>
            <a:ext cx="333756" cy="333756"/>
          </a:xfrm>
          <a:prstGeom prst="rect">
            <a:avLst/>
          </a:prstGeom>
          <a:solidFill>
            <a:srgbClr val="8C64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3346704" y="3246120"/>
            <a:ext cx="333756" cy="333756"/>
          </a:xfrm>
          <a:prstGeom prst="rect">
            <a:avLst/>
          </a:prstGeom>
          <a:solidFill>
            <a:srgbClr val="8C64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3703320" y="3246120"/>
            <a:ext cx="333756" cy="333756"/>
          </a:xfrm>
          <a:prstGeom prst="rect">
            <a:avLst/>
          </a:prstGeom>
          <a:solidFill>
            <a:srgbClr val="8C64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850392" y="3602736"/>
            <a:ext cx="333756" cy="333756"/>
          </a:xfrm>
          <a:prstGeom prst="rect">
            <a:avLst/>
          </a:prstGeom>
          <a:solidFill>
            <a:srgbClr val="8C64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1207008" y="3602736"/>
            <a:ext cx="333756" cy="333756"/>
          </a:xfrm>
          <a:prstGeom prst="rect">
            <a:avLst/>
          </a:prstGeom>
          <a:solidFill>
            <a:srgbClr val="8C64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1563624" y="3602736"/>
            <a:ext cx="333756" cy="333756"/>
          </a:xfrm>
          <a:prstGeom prst="rect">
            <a:avLst/>
          </a:prstGeom>
          <a:solidFill>
            <a:srgbClr val="8C64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1920240" y="3602736"/>
            <a:ext cx="333756" cy="333756"/>
          </a:xfrm>
          <a:prstGeom prst="rect">
            <a:avLst/>
          </a:prstGeom>
          <a:solidFill>
            <a:srgbClr val="8C64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2276856" y="3602736"/>
            <a:ext cx="333756" cy="333756"/>
          </a:xfrm>
          <a:prstGeom prst="rect">
            <a:avLst/>
          </a:prstGeom>
          <a:solidFill>
            <a:srgbClr val="8C64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2633472" y="3602736"/>
            <a:ext cx="333756" cy="333756"/>
          </a:xfrm>
          <a:prstGeom prst="rect">
            <a:avLst/>
          </a:prstGeom>
          <a:solidFill>
            <a:srgbClr val="8C64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2990088" y="3602736"/>
            <a:ext cx="333756" cy="333756"/>
          </a:xfrm>
          <a:prstGeom prst="rect">
            <a:avLst/>
          </a:prstGeom>
          <a:solidFill>
            <a:srgbClr val="8C64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3346704" y="3602736"/>
            <a:ext cx="333756" cy="333756"/>
          </a:xfrm>
          <a:prstGeom prst="rect">
            <a:avLst/>
          </a:prstGeom>
          <a:solidFill>
            <a:srgbClr val="8C64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3703320" y="3602736"/>
            <a:ext cx="333756" cy="333756"/>
          </a:xfrm>
          <a:prstGeom prst="rect">
            <a:avLst/>
          </a:prstGeom>
          <a:solidFill>
            <a:srgbClr val="8C64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850392" y="3959352"/>
            <a:ext cx="333756" cy="333756"/>
          </a:xfrm>
          <a:prstGeom prst="rect">
            <a:avLst/>
          </a:prstGeom>
          <a:solidFill>
            <a:srgbClr val="8C64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1207008" y="3959352"/>
            <a:ext cx="333756" cy="333756"/>
          </a:xfrm>
          <a:prstGeom prst="rect">
            <a:avLst/>
          </a:prstGeom>
          <a:solidFill>
            <a:srgbClr val="8C64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1563624" y="3959352"/>
            <a:ext cx="333756" cy="333756"/>
          </a:xfrm>
          <a:prstGeom prst="rect">
            <a:avLst/>
          </a:prstGeom>
          <a:solidFill>
            <a:srgbClr val="8C64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1920240" y="3959352"/>
            <a:ext cx="333756" cy="333756"/>
          </a:xfrm>
          <a:prstGeom prst="rect">
            <a:avLst/>
          </a:prstGeom>
          <a:solidFill>
            <a:srgbClr val="8C64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ectangle 45"/>
          <p:cNvSpPr/>
          <p:nvPr/>
        </p:nvSpPr>
        <p:spPr>
          <a:xfrm>
            <a:off x="2276856" y="3959352"/>
            <a:ext cx="333756" cy="333756"/>
          </a:xfrm>
          <a:prstGeom prst="rect">
            <a:avLst/>
          </a:prstGeom>
          <a:solidFill>
            <a:srgbClr val="8C64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ectangle 46"/>
          <p:cNvSpPr/>
          <p:nvPr/>
        </p:nvSpPr>
        <p:spPr>
          <a:xfrm>
            <a:off x="2633472" y="3959352"/>
            <a:ext cx="333756" cy="333756"/>
          </a:xfrm>
          <a:prstGeom prst="rect">
            <a:avLst/>
          </a:prstGeom>
          <a:solidFill>
            <a:srgbClr val="8C64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2990088" y="3959352"/>
            <a:ext cx="333756" cy="333756"/>
          </a:xfrm>
          <a:prstGeom prst="rect">
            <a:avLst/>
          </a:prstGeom>
          <a:solidFill>
            <a:srgbClr val="8C64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Rectangle 48"/>
          <p:cNvSpPr/>
          <p:nvPr/>
        </p:nvSpPr>
        <p:spPr>
          <a:xfrm>
            <a:off x="3346704" y="3959352"/>
            <a:ext cx="333756" cy="333756"/>
          </a:xfrm>
          <a:prstGeom prst="rect">
            <a:avLst/>
          </a:prstGeom>
          <a:solidFill>
            <a:srgbClr val="8C64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ectangle 49"/>
          <p:cNvSpPr/>
          <p:nvPr/>
        </p:nvSpPr>
        <p:spPr>
          <a:xfrm>
            <a:off x="3703320" y="3959352"/>
            <a:ext cx="333756" cy="333756"/>
          </a:xfrm>
          <a:prstGeom prst="rect">
            <a:avLst/>
          </a:prstGeom>
          <a:solidFill>
            <a:srgbClr val="8C64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Rectangle 50"/>
          <p:cNvSpPr/>
          <p:nvPr/>
        </p:nvSpPr>
        <p:spPr>
          <a:xfrm>
            <a:off x="850392" y="4315968"/>
            <a:ext cx="333756" cy="333756"/>
          </a:xfrm>
          <a:prstGeom prst="rect">
            <a:avLst/>
          </a:prstGeom>
          <a:solidFill>
            <a:srgbClr val="8C64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Rectangle 51"/>
          <p:cNvSpPr/>
          <p:nvPr/>
        </p:nvSpPr>
        <p:spPr>
          <a:xfrm>
            <a:off x="1207008" y="4315968"/>
            <a:ext cx="333756" cy="333756"/>
          </a:xfrm>
          <a:prstGeom prst="rect">
            <a:avLst/>
          </a:prstGeom>
          <a:solidFill>
            <a:srgbClr val="8C64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Rectangle 52"/>
          <p:cNvSpPr/>
          <p:nvPr/>
        </p:nvSpPr>
        <p:spPr>
          <a:xfrm>
            <a:off x="1563624" y="4315968"/>
            <a:ext cx="333756" cy="333756"/>
          </a:xfrm>
          <a:prstGeom prst="rect">
            <a:avLst/>
          </a:prstGeom>
          <a:solidFill>
            <a:srgbClr val="8C64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Rectangle 53"/>
          <p:cNvSpPr/>
          <p:nvPr/>
        </p:nvSpPr>
        <p:spPr>
          <a:xfrm>
            <a:off x="1920240" y="4315968"/>
            <a:ext cx="333756" cy="333756"/>
          </a:xfrm>
          <a:prstGeom prst="rect">
            <a:avLst/>
          </a:prstGeom>
          <a:solidFill>
            <a:srgbClr val="8C64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Rectangle 54"/>
          <p:cNvSpPr/>
          <p:nvPr/>
        </p:nvSpPr>
        <p:spPr>
          <a:xfrm>
            <a:off x="2276856" y="4315968"/>
            <a:ext cx="333756" cy="333756"/>
          </a:xfrm>
          <a:prstGeom prst="rect">
            <a:avLst/>
          </a:prstGeom>
          <a:solidFill>
            <a:srgbClr val="8C64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Rectangle 55"/>
          <p:cNvSpPr/>
          <p:nvPr/>
        </p:nvSpPr>
        <p:spPr>
          <a:xfrm>
            <a:off x="2633472" y="4315968"/>
            <a:ext cx="333756" cy="333756"/>
          </a:xfrm>
          <a:prstGeom prst="rect">
            <a:avLst/>
          </a:prstGeom>
          <a:solidFill>
            <a:srgbClr val="8C64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Rectangle 56"/>
          <p:cNvSpPr/>
          <p:nvPr/>
        </p:nvSpPr>
        <p:spPr>
          <a:xfrm>
            <a:off x="2990088" y="4315968"/>
            <a:ext cx="333756" cy="333756"/>
          </a:xfrm>
          <a:prstGeom prst="rect">
            <a:avLst/>
          </a:prstGeom>
          <a:solidFill>
            <a:srgbClr val="8C64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Rectangle 57"/>
          <p:cNvSpPr/>
          <p:nvPr/>
        </p:nvSpPr>
        <p:spPr>
          <a:xfrm>
            <a:off x="3346704" y="4315968"/>
            <a:ext cx="333756" cy="333756"/>
          </a:xfrm>
          <a:prstGeom prst="rect">
            <a:avLst/>
          </a:prstGeom>
          <a:solidFill>
            <a:srgbClr val="8C64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Rectangle 58"/>
          <p:cNvSpPr/>
          <p:nvPr/>
        </p:nvSpPr>
        <p:spPr>
          <a:xfrm>
            <a:off x="3703320" y="4315968"/>
            <a:ext cx="333756" cy="333756"/>
          </a:xfrm>
          <a:prstGeom prst="rect">
            <a:avLst/>
          </a:prstGeom>
          <a:solidFill>
            <a:srgbClr val="8C64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850392" y="4946904"/>
            <a:ext cx="3383280" cy="3931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1900" b="0">
                <a:solidFill>
                  <a:srgbClr val="808080"/>
                </a:solidFill>
                <a:latin typeface="Alibaba PuHuiTi 3.0 55 Regular"/>
              </a:defRPr>
            </a:pPr>
            <a:r>
              <a:t>同一尺寸与位深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4690872" y="1719072"/>
            <a:ext cx="3474720" cy="4389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500" b="1">
                <a:solidFill>
                  <a:srgbClr val="262626"/>
                </a:solidFill>
                <a:latin typeface="Alibaba PuHuiTi 3.0 115 Black"/>
              </a:defRPr>
            </a:pPr>
            <a:r>
              <a:t>B 色块</a:t>
            </a:r>
          </a:p>
        </p:txBody>
      </p:sp>
      <p:sp>
        <p:nvSpPr>
          <p:cNvPr id="62" name="Rectangle 61"/>
          <p:cNvSpPr/>
          <p:nvPr/>
        </p:nvSpPr>
        <p:spPr>
          <a:xfrm>
            <a:off x="4690872" y="2532888"/>
            <a:ext cx="333756" cy="333756"/>
          </a:xfrm>
          <a:prstGeom prst="rect">
            <a:avLst/>
          </a:prstGeom>
          <a:solidFill>
            <a:srgbClr val="8C64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Rectangle 62"/>
          <p:cNvSpPr/>
          <p:nvPr/>
        </p:nvSpPr>
        <p:spPr>
          <a:xfrm>
            <a:off x="5047488" y="2532888"/>
            <a:ext cx="333756" cy="333756"/>
          </a:xfrm>
          <a:prstGeom prst="rect">
            <a:avLst/>
          </a:prstGeom>
          <a:solidFill>
            <a:srgbClr val="8C64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Rectangle 63"/>
          <p:cNvSpPr/>
          <p:nvPr/>
        </p:nvSpPr>
        <p:spPr>
          <a:xfrm>
            <a:off x="5404104" y="2532888"/>
            <a:ext cx="333756" cy="333756"/>
          </a:xfrm>
          <a:prstGeom prst="rect">
            <a:avLst/>
          </a:prstGeom>
          <a:solidFill>
            <a:srgbClr val="8C64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Rectangle 64"/>
          <p:cNvSpPr/>
          <p:nvPr/>
        </p:nvSpPr>
        <p:spPr>
          <a:xfrm>
            <a:off x="5760720" y="2532888"/>
            <a:ext cx="333756" cy="333756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Rectangle 65"/>
          <p:cNvSpPr/>
          <p:nvPr/>
        </p:nvSpPr>
        <p:spPr>
          <a:xfrm>
            <a:off x="6117336" y="2532888"/>
            <a:ext cx="333756" cy="333756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Rectangle 66"/>
          <p:cNvSpPr/>
          <p:nvPr/>
        </p:nvSpPr>
        <p:spPr>
          <a:xfrm>
            <a:off x="6473952" y="2532888"/>
            <a:ext cx="333756" cy="333756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Rectangle 67"/>
          <p:cNvSpPr/>
          <p:nvPr/>
        </p:nvSpPr>
        <p:spPr>
          <a:xfrm>
            <a:off x="6830568" y="2532888"/>
            <a:ext cx="333756" cy="333756"/>
          </a:xfrm>
          <a:prstGeom prst="rect">
            <a:avLst/>
          </a:prstGeom>
          <a:solidFill>
            <a:srgbClr val="8C64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Rectangle 68"/>
          <p:cNvSpPr/>
          <p:nvPr/>
        </p:nvSpPr>
        <p:spPr>
          <a:xfrm>
            <a:off x="7187183" y="2532888"/>
            <a:ext cx="333756" cy="333756"/>
          </a:xfrm>
          <a:prstGeom prst="rect">
            <a:avLst/>
          </a:prstGeom>
          <a:solidFill>
            <a:srgbClr val="8C64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Rectangle 69"/>
          <p:cNvSpPr/>
          <p:nvPr/>
        </p:nvSpPr>
        <p:spPr>
          <a:xfrm>
            <a:off x="7543800" y="2532888"/>
            <a:ext cx="333756" cy="333756"/>
          </a:xfrm>
          <a:prstGeom prst="rect">
            <a:avLst/>
          </a:prstGeom>
          <a:solidFill>
            <a:srgbClr val="8C64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Rectangle 70"/>
          <p:cNvSpPr/>
          <p:nvPr/>
        </p:nvSpPr>
        <p:spPr>
          <a:xfrm>
            <a:off x="4690872" y="2889504"/>
            <a:ext cx="333756" cy="333756"/>
          </a:xfrm>
          <a:prstGeom prst="rect">
            <a:avLst/>
          </a:prstGeom>
          <a:solidFill>
            <a:srgbClr val="8C64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Rectangle 71"/>
          <p:cNvSpPr/>
          <p:nvPr/>
        </p:nvSpPr>
        <p:spPr>
          <a:xfrm>
            <a:off x="5047488" y="2889504"/>
            <a:ext cx="333756" cy="333756"/>
          </a:xfrm>
          <a:prstGeom prst="rect">
            <a:avLst/>
          </a:prstGeom>
          <a:solidFill>
            <a:srgbClr val="8C64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Rectangle 72"/>
          <p:cNvSpPr/>
          <p:nvPr/>
        </p:nvSpPr>
        <p:spPr>
          <a:xfrm>
            <a:off x="5404104" y="2889504"/>
            <a:ext cx="333756" cy="333756"/>
          </a:xfrm>
          <a:prstGeom prst="rect">
            <a:avLst/>
          </a:prstGeom>
          <a:solidFill>
            <a:srgbClr val="8C64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Rectangle 73"/>
          <p:cNvSpPr/>
          <p:nvPr/>
        </p:nvSpPr>
        <p:spPr>
          <a:xfrm>
            <a:off x="5760720" y="2889504"/>
            <a:ext cx="333756" cy="333756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Rectangle 74"/>
          <p:cNvSpPr/>
          <p:nvPr/>
        </p:nvSpPr>
        <p:spPr>
          <a:xfrm>
            <a:off x="6117336" y="2889504"/>
            <a:ext cx="333756" cy="333756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Rectangle 75"/>
          <p:cNvSpPr/>
          <p:nvPr/>
        </p:nvSpPr>
        <p:spPr>
          <a:xfrm>
            <a:off x="6473952" y="2889504"/>
            <a:ext cx="333756" cy="333756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Rectangle 76"/>
          <p:cNvSpPr/>
          <p:nvPr/>
        </p:nvSpPr>
        <p:spPr>
          <a:xfrm>
            <a:off x="6830568" y="2889504"/>
            <a:ext cx="333756" cy="333756"/>
          </a:xfrm>
          <a:prstGeom prst="rect">
            <a:avLst/>
          </a:prstGeom>
          <a:solidFill>
            <a:srgbClr val="8C64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Rectangle 77"/>
          <p:cNvSpPr/>
          <p:nvPr/>
        </p:nvSpPr>
        <p:spPr>
          <a:xfrm>
            <a:off x="7187183" y="2889504"/>
            <a:ext cx="333756" cy="333756"/>
          </a:xfrm>
          <a:prstGeom prst="rect">
            <a:avLst/>
          </a:prstGeom>
          <a:solidFill>
            <a:srgbClr val="8C64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Rectangle 78"/>
          <p:cNvSpPr/>
          <p:nvPr/>
        </p:nvSpPr>
        <p:spPr>
          <a:xfrm>
            <a:off x="7543800" y="2889504"/>
            <a:ext cx="333756" cy="333756"/>
          </a:xfrm>
          <a:prstGeom prst="rect">
            <a:avLst/>
          </a:prstGeom>
          <a:solidFill>
            <a:srgbClr val="8C64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Rectangle 79"/>
          <p:cNvSpPr/>
          <p:nvPr/>
        </p:nvSpPr>
        <p:spPr>
          <a:xfrm>
            <a:off x="4690872" y="3246120"/>
            <a:ext cx="333756" cy="333756"/>
          </a:xfrm>
          <a:prstGeom prst="rect">
            <a:avLst/>
          </a:prstGeom>
          <a:solidFill>
            <a:srgbClr val="8C64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Rectangle 80"/>
          <p:cNvSpPr/>
          <p:nvPr/>
        </p:nvSpPr>
        <p:spPr>
          <a:xfrm>
            <a:off x="5047488" y="3246120"/>
            <a:ext cx="333756" cy="333756"/>
          </a:xfrm>
          <a:prstGeom prst="rect">
            <a:avLst/>
          </a:prstGeom>
          <a:solidFill>
            <a:srgbClr val="8C64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Rectangle 81"/>
          <p:cNvSpPr/>
          <p:nvPr/>
        </p:nvSpPr>
        <p:spPr>
          <a:xfrm>
            <a:off x="5404104" y="3246120"/>
            <a:ext cx="333756" cy="333756"/>
          </a:xfrm>
          <a:prstGeom prst="rect">
            <a:avLst/>
          </a:prstGeom>
          <a:solidFill>
            <a:srgbClr val="8C64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Rectangle 82"/>
          <p:cNvSpPr/>
          <p:nvPr/>
        </p:nvSpPr>
        <p:spPr>
          <a:xfrm>
            <a:off x="5760720" y="3246120"/>
            <a:ext cx="333756" cy="333756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Rectangle 83"/>
          <p:cNvSpPr/>
          <p:nvPr/>
        </p:nvSpPr>
        <p:spPr>
          <a:xfrm>
            <a:off x="6117336" y="3246120"/>
            <a:ext cx="333756" cy="333756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Rectangle 84"/>
          <p:cNvSpPr/>
          <p:nvPr/>
        </p:nvSpPr>
        <p:spPr>
          <a:xfrm>
            <a:off x="6473952" y="3246120"/>
            <a:ext cx="333756" cy="333756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Rectangle 85"/>
          <p:cNvSpPr/>
          <p:nvPr/>
        </p:nvSpPr>
        <p:spPr>
          <a:xfrm>
            <a:off x="6830568" y="3246120"/>
            <a:ext cx="333756" cy="333756"/>
          </a:xfrm>
          <a:prstGeom prst="rect">
            <a:avLst/>
          </a:prstGeom>
          <a:solidFill>
            <a:srgbClr val="8C64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Rectangle 86"/>
          <p:cNvSpPr/>
          <p:nvPr/>
        </p:nvSpPr>
        <p:spPr>
          <a:xfrm>
            <a:off x="7187183" y="3246120"/>
            <a:ext cx="333756" cy="333756"/>
          </a:xfrm>
          <a:prstGeom prst="rect">
            <a:avLst/>
          </a:prstGeom>
          <a:solidFill>
            <a:srgbClr val="8C64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" name="Rectangle 87"/>
          <p:cNvSpPr/>
          <p:nvPr/>
        </p:nvSpPr>
        <p:spPr>
          <a:xfrm>
            <a:off x="7543800" y="3246120"/>
            <a:ext cx="333756" cy="333756"/>
          </a:xfrm>
          <a:prstGeom prst="rect">
            <a:avLst/>
          </a:prstGeom>
          <a:solidFill>
            <a:srgbClr val="8C64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" name="Rectangle 88"/>
          <p:cNvSpPr/>
          <p:nvPr/>
        </p:nvSpPr>
        <p:spPr>
          <a:xfrm>
            <a:off x="4690872" y="3602736"/>
            <a:ext cx="333756" cy="333756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" name="Rectangle 89"/>
          <p:cNvSpPr/>
          <p:nvPr/>
        </p:nvSpPr>
        <p:spPr>
          <a:xfrm>
            <a:off x="5047488" y="3602736"/>
            <a:ext cx="333756" cy="333756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Rectangle 90"/>
          <p:cNvSpPr/>
          <p:nvPr/>
        </p:nvSpPr>
        <p:spPr>
          <a:xfrm>
            <a:off x="5404104" y="3602736"/>
            <a:ext cx="333756" cy="333756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2" name="Rectangle 91"/>
          <p:cNvSpPr/>
          <p:nvPr/>
        </p:nvSpPr>
        <p:spPr>
          <a:xfrm>
            <a:off x="5760720" y="3602736"/>
            <a:ext cx="333756" cy="333756"/>
          </a:xfrm>
          <a:prstGeom prst="rect">
            <a:avLst/>
          </a:prstGeom>
          <a:solidFill>
            <a:srgbClr val="8C64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" name="Rectangle 92"/>
          <p:cNvSpPr/>
          <p:nvPr/>
        </p:nvSpPr>
        <p:spPr>
          <a:xfrm>
            <a:off x="6117336" y="3602736"/>
            <a:ext cx="333756" cy="333756"/>
          </a:xfrm>
          <a:prstGeom prst="rect">
            <a:avLst/>
          </a:prstGeom>
          <a:solidFill>
            <a:srgbClr val="8C64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4" name="Rectangle 93"/>
          <p:cNvSpPr/>
          <p:nvPr/>
        </p:nvSpPr>
        <p:spPr>
          <a:xfrm>
            <a:off x="6473952" y="3602736"/>
            <a:ext cx="333756" cy="333756"/>
          </a:xfrm>
          <a:prstGeom prst="rect">
            <a:avLst/>
          </a:prstGeom>
          <a:solidFill>
            <a:srgbClr val="8C64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" name="Rectangle 94"/>
          <p:cNvSpPr/>
          <p:nvPr/>
        </p:nvSpPr>
        <p:spPr>
          <a:xfrm>
            <a:off x="6830568" y="3602736"/>
            <a:ext cx="333756" cy="333756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6" name="Rectangle 95"/>
          <p:cNvSpPr/>
          <p:nvPr/>
        </p:nvSpPr>
        <p:spPr>
          <a:xfrm>
            <a:off x="7187183" y="3602736"/>
            <a:ext cx="333756" cy="333756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" name="Rectangle 96"/>
          <p:cNvSpPr/>
          <p:nvPr/>
        </p:nvSpPr>
        <p:spPr>
          <a:xfrm>
            <a:off x="7543800" y="3602736"/>
            <a:ext cx="333756" cy="333756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8" name="Rectangle 97"/>
          <p:cNvSpPr/>
          <p:nvPr/>
        </p:nvSpPr>
        <p:spPr>
          <a:xfrm>
            <a:off x="4690872" y="3959352"/>
            <a:ext cx="333756" cy="333756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" name="Rectangle 98"/>
          <p:cNvSpPr/>
          <p:nvPr/>
        </p:nvSpPr>
        <p:spPr>
          <a:xfrm>
            <a:off x="5047488" y="3959352"/>
            <a:ext cx="333756" cy="333756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0" name="Rectangle 99"/>
          <p:cNvSpPr/>
          <p:nvPr/>
        </p:nvSpPr>
        <p:spPr>
          <a:xfrm>
            <a:off x="5404104" y="3959352"/>
            <a:ext cx="333756" cy="333756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1" name="Rectangle 100"/>
          <p:cNvSpPr/>
          <p:nvPr/>
        </p:nvSpPr>
        <p:spPr>
          <a:xfrm>
            <a:off x="5760720" y="3959352"/>
            <a:ext cx="333756" cy="333756"/>
          </a:xfrm>
          <a:prstGeom prst="rect">
            <a:avLst/>
          </a:prstGeom>
          <a:solidFill>
            <a:srgbClr val="8C64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2" name="Rectangle 101"/>
          <p:cNvSpPr/>
          <p:nvPr/>
        </p:nvSpPr>
        <p:spPr>
          <a:xfrm>
            <a:off x="6117336" y="3959352"/>
            <a:ext cx="333756" cy="333756"/>
          </a:xfrm>
          <a:prstGeom prst="rect">
            <a:avLst/>
          </a:prstGeom>
          <a:solidFill>
            <a:srgbClr val="8C64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3" name="Rectangle 102"/>
          <p:cNvSpPr/>
          <p:nvPr/>
        </p:nvSpPr>
        <p:spPr>
          <a:xfrm>
            <a:off x="6473952" y="3959352"/>
            <a:ext cx="333756" cy="333756"/>
          </a:xfrm>
          <a:prstGeom prst="rect">
            <a:avLst/>
          </a:prstGeom>
          <a:solidFill>
            <a:srgbClr val="8C64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4" name="Rectangle 103"/>
          <p:cNvSpPr/>
          <p:nvPr/>
        </p:nvSpPr>
        <p:spPr>
          <a:xfrm>
            <a:off x="6830568" y="3959352"/>
            <a:ext cx="333756" cy="333756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5" name="Rectangle 104"/>
          <p:cNvSpPr/>
          <p:nvPr/>
        </p:nvSpPr>
        <p:spPr>
          <a:xfrm>
            <a:off x="7187183" y="3959352"/>
            <a:ext cx="333756" cy="333756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6" name="Rectangle 105"/>
          <p:cNvSpPr/>
          <p:nvPr/>
        </p:nvSpPr>
        <p:spPr>
          <a:xfrm>
            <a:off x="7543800" y="3959352"/>
            <a:ext cx="333756" cy="333756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7" name="Rectangle 106"/>
          <p:cNvSpPr/>
          <p:nvPr/>
        </p:nvSpPr>
        <p:spPr>
          <a:xfrm>
            <a:off x="4690872" y="4315968"/>
            <a:ext cx="333756" cy="333756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8" name="Rectangle 107"/>
          <p:cNvSpPr/>
          <p:nvPr/>
        </p:nvSpPr>
        <p:spPr>
          <a:xfrm>
            <a:off x="5047488" y="4315968"/>
            <a:ext cx="333756" cy="333756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9" name="Rectangle 108"/>
          <p:cNvSpPr/>
          <p:nvPr/>
        </p:nvSpPr>
        <p:spPr>
          <a:xfrm>
            <a:off x="5404104" y="4315968"/>
            <a:ext cx="333756" cy="333756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0" name="Rectangle 109"/>
          <p:cNvSpPr/>
          <p:nvPr/>
        </p:nvSpPr>
        <p:spPr>
          <a:xfrm>
            <a:off x="5760720" y="4315968"/>
            <a:ext cx="333756" cy="333756"/>
          </a:xfrm>
          <a:prstGeom prst="rect">
            <a:avLst/>
          </a:prstGeom>
          <a:solidFill>
            <a:srgbClr val="8C64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1" name="Rectangle 110"/>
          <p:cNvSpPr/>
          <p:nvPr/>
        </p:nvSpPr>
        <p:spPr>
          <a:xfrm>
            <a:off x="6117336" y="4315968"/>
            <a:ext cx="333756" cy="333756"/>
          </a:xfrm>
          <a:prstGeom prst="rect">
            <a:avLst/>
          </a:prstGeom>
          <a:solidFill>
            <a:srgbClr val="8C64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2" name="Rectangle 111"/>
          <p:cNvSpPr/>
          <p:nvPr/>
        </p:nvSpPr>
        <p:spPr>
          <a:xfrm>
            <a:off x="6473952" y="4315968"/>
            <a:ext cx="333756" cy="333756"/>
          </a:xfrm>
          <a:prstGeom prst="rect">
            <a:avLst/>
          </a:prstGeom>
          <a:solidFill>
            <a:srgbClr val="8C64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3" name="Rectangle 112"/>
          <p:cNvSpPr/>
          <p:nvPr/>
        </p:nvSpPr>
        <p:spPr>
          <a:xfrm>
            <a:off x="6830568" y="4315968"/>
            <a:ext cx="333756" cy="333756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4" name="Rectangle 113"/>
          <p:cNvSpPr/>
          <p:nvPr/>
        </p:nvSpPr>
        <p:spPr>
          <a:xfrm>
            <a:off x="7187183" y="4315968"/>
            <a:ext cx="333756" cy="333756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5" name="Rectangle 114"/>
          <p:cNvSpPr/>
          <p:nvPr/>
        </p:nvSpPr>
        <p:spPr>
          <a:xfrm>
            <a:off x="7543800" y="4315968"/>
            <a:ext cx="333756" cy="333756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6" name="TextBox 115"/>
          <p:cNvSpPr txBox="1"/>
          <p:nvPr/>
        </p:nvSpPr>
        <p:spPr>
          <a:xfrm>
            <a:off x="4690872" y="4946904"/>
            <a:ext cx="3383280" cy="3931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1900" b="0">
                <a:solidFill>
                  <a:srgbClr val="808080"/>
                </a:solidFill>
                <a:latin typeface="Alibaba PuHuiTi 3.0 55 Regular"/>
              </a:defRPr>
            </a:pPr>
            <a:r>
              <a:t>同一尺寸与位深</a:t>
            </a:r>
          </a:p>
        </p:txBody>
      </p:sp>
      <p:sp>
        <p:nvSpPr>
          <p:cNvPr id="117" name="TextBox 116"/>
          <p:cNvSpPr txBox="1"/>
          <p:nvPr/>
        </p:nvSpPr>
        <p:spPr>
          <a:xfrm>
            <a:off x="8531352" y="1719072"/>
            <a:ext cx="3474720" cy="4389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500" b="1">
                <a:solidFill>
                  <a:srgbClr val="262626"/>
                </a:solidFill>
                <a:latin typeface="Alibaba PuHuiTi 3.0 115 Black"/>
              </a:defRPr>
            </a:pPr>
            <a:r>
              <a:t>C 复杂图案</a:t>
            </a:r>
          </a:p>
        </p:txBody>
      </p:sp>
      <p:sp>
        <p:nvSpPr>
          <p:cNvPr id="118" name="Rectangle 117"/>
          <p:cNvSpPr/>
          <p:nvPr/>
        </p:nvSpPr>
        <p:spPr>
          <a:xfrm>
            <a:off x="8531352" y="2532888"/>
            <a:ext cx="333756" cy="333756"/>
          </a:xfrm>
          <a:prstGeom prst="rect">
            <a:avLst/>
          </a:prstGeom>
          <a:solidFill>
            <a:srgbClr val="8C64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9" name="Rectangle 118"/>
          <p:cNvSpPr/>
          <p:nvPr/>
        </p:nvSpPr>
        <p:spPr>
          <a:xfrm>
            <a:off x="8887968" y="2532888"/>
            <a:ext cx="333756" cy="333756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0" name="Rectangle 119"/>
          <p:cNvSpPr/>
          <p:nvPr/>
        </p:nvSpPr>
        <p:spPr>
          <a:xfrm>
            <a:off x="9244584" y="2532888"/>
            <a:ext cx="333756" cy="333756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1" name="Rectangle 120"/>
          <p:cNvSpPr/>
          <p:nvPr/>
        </p:nvSpPr>
        <p:spPr>
          <a:xfrm>
            <a:off x="9601200" y="2532888"/>
            <a:ext cx="333756" cy="333756"/>
          </a:xfrm>
          <a:prstGeom prst="rect">
            <a:avLst/>
          </a:prstGeom>
          <a:solidFill>
            <a:srgbClr val="8C64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2" name="Rectangle 121"/>
          <p:cNvSpPr/>
          <p:nvPr/>
        </p:nvSpPr>
        <p:spPr>
          <a:xfrm>
            <a:off x="9957816" y="2532888"/>
            <a:ext cx="333756" cy="333756"/>
          </a:xfrm>
          <a:prstGeom prst="rect">
            <a:avLst/>
          </a:prstGeom>
          <a:solidFill>
            <a:srgbClr val="8C64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3" name="Rectangle 122"/>
          <p:cNvSpPr/>
          <p:nvPr/>
        </p:nvSpPr>
        <p:spPr>
          <a:xfrm>
            <a:off x="10314432" y="2532888"/>
            <a:ext cx="333756" cy="333756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4" name="Rectangle 123"/>
          <p:cNvSpPr/>
          <p:nvPr/>
        </p:nvSpPr>
        <p:spPr>
          <a:xfrm>
            <a:off x="10671048" y="2532888"/>
            <a:ext cx="333756" cy="333756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5" name="Rectangle 124"/>
          <p:cNvSpPr/>
          <p:nvPr/>
        </p:nvSpPr>
        <p:spPr>
          <a:xfrm>
            <a:off x="11027664" y="2532888"/>
            <a:ext cx="333756" cy="333756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6" name="Rectangle 125"/>
          <p:cNvSpPr/>
          <p:nvPr/>
        </p:nvSpPr>
        <p:spPr>
          <a:xfrm>
            <a:off x="11384280" y="2532888"/>
            <a:ext cx="333756" cy="333756"/>
          </a:xfrm>
          <a:prstGeom prst="rect">
            <a:avLst/>
          </a:prstGeom>
          <a:solidFill>
            <a:srgbClr val="8C64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7" name="Rectangle 126"/>
          <p:cNvSpPr/>
          <p:nvPr/>
        </p:nvSpPr>
        <p:spPr>
          <a:xfrm>
            <a:off x="8531352" y="2889504"/>
            <a:ext cx="333756" cy="333756"/>
          </a:xfrm>
          <a:prstGeom prst="rect">
            <a:avLst/>
          </a:prstGeom>
          <a:solidFill>
            <a:srgbClr val="8C64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8" name="Rectangle 127"/>
          <p:cNvSpPr/>
          <p:nvPr/>
        </p:nvSpPr>
        <p:spPr>
          <a:xfrm>
            <a:off x="8887968" y="2889504"/>
            <a:ext cx="333756" cy="333756"/>
          </a:xfrm>
          <a:prstGeom prst="rect">
            <a:avLst/>
          </a:prstGeom>
          <a:solidFill>
            <a:srgbClr val="8C64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9" name="Rectangle 128"/>
          <p:cNvSpPr/>
          <p:nvPr/>
        </p:nvSpPr>
        <p:spPr>
          <a:xfrm>
            <a:off x="9244584" y="2889504"/>
            <a:ext cx="333756" cy="333756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0" name="Rectangle 129"/>
          <p:cNvSpPr/>
          <p:nvPr/>
        </p:nvSpPr>
        <p:spPr>
          <a:xfrm>
            <a:off x="9601200" y="2889504"/>
            <a:ext cx="333756" cy="333756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1" name="Rectangle 130"/>
          <p:cNvSpPr/>
          <p:nvPr/>
        </p:nvSpPr>
        <p:spPr>
          <a:xfrm>
            <a:off x="9957816" y="2889504"/>
            <a:ext cx="333756" cy="333756"/>
          </a:xfrm>
          <a:prstGeom prst="rect">
            <a:avLst/>
          </a:prstGeom>
          <a:solidFill>
            <a:srgbClr val="8C64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2" name="Rectangle 131"/>
          <p:cNvSpPr/>
          <p:nvPr/>
        </p:nvSpPr>
        <p:spPr>
          <a:xfrm>
            <a:off x="10314432" y="2889504"/>
            <a:ext cx="333756" cy="333756"/>
          </a:xfrm>
          <a:prstGeom prst="rect">
            <a:avLst/>
          </a:prstGeom>
          <a:solidFill>
            <a:srgbClr val="8C64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3" name="Rectangle 132"/>
          <p:cNvSpPr/>
          <p:nvPr/>
        </p:nvSpPr>
        <p:spPr>
          <a:xfrm>
            <a:off x="10671048" y="2889504"/>
            <a:ext cx="333756" cy="333756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4" name="Rectangle 133"/>
          <p:cNvSpPr/>
          <p:nvPr/>
        </p:nvSpPr>
        <p:spPr>
          <a:xfrm>
            <a:off x="11027664" y="2889504"/>
            <a:ext cx="333756" cy="333756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5" name="Rectangle 134"/>
          <p:cNvSpPr/>
          <p:nvPr/>
        </p:nvSpPr>
        <p:spPr>
          <a:xfrm>
            <a:off x="11384280" y="2889504"/>
            <a:ext cx="333756" cy="333756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6" name="Rectangle 135"/>
          <p:cNvSpPr/>
          <p:nvPr/>
        </p:nvSpPr>
        <p:spPr>
          <a:xfrm>
            <a:off x="8531352" y="3246120"/>
            <a:ext cx="333756" cy="333756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7" name="Rectangle 136"/>
          <p:cNvSpPr/>
          <p:nvPr/>
        </p:nvSpPr>
        <p:spPr>
          <a:xfrm>
            <a:off x="8887968" y="3246120"/>
            <a:ext cx="333756" cy="333756"/>
          </a:xfrm>
          <a:prstGeom prst="rect">
            <a:avLst/>
          </a:prstGeom>
          <a:solidFill>
            <a:srgbClr val="8C64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8" name="Rectangle 137"/>
          <p:cNvSpPr/>
          <p:nvPr/>
        </p:nvSpPr>
        <p:spPr>
          <a:xfrm>
            <a:off x="9244584" y="3246120"/>
            <a:ext cx="333756" cy="333756"/>
          </a:xfrm>
          <a:prstGeom prst="rect">
            <a:avLst/>
          </a:prstGeom>
          <a:solidFill>
            <a:srgbClr val="8C64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9" name="Rectangle 138"/>
          <p:cNvSpPr/>
          <p:nvPr/>
        </p:nvSpPr>
        <p:spPr>
          <a:xfrm>
            <a:off x="9601200" y="3246120"/>
            <a:ext cx="333756" cy="333756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0" name="Rectangle 139"/>
          <p:cNvSpPr/>
          <p:nvPr/>
        </p:nvSpPr>
        <p:spPr>
          <a:xfrm>
            <a:off x="9957816" y="3246120"/>
            <a:ext cx="333756" cy="333756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1" name="Rectangle 140"/>
          <p:cNvSpPr/>
          <p:nvPr/>
        </p:nvSpPr>
        <p:spPr>
          <a:xfrm>
            <a:off x="10314432" y="3246120"/>
            <a:ext cx="333756" cy="333756"/>
          </a:xfrm>
          <a:prstGeom prst="rect">
            <a:avLst/>
          </a:prstGeom>
          <a:solidFill>
            <a:srgbClr val="8C64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2" name="Rectangle 141"/>
          <p:cNvSpPr/>
          <p:nvPr/>
        </p:nvSpPr>
        <p:spPr>
          <a:xfrm>
            <a:off x="10671048" y="3246120"/>
            <a:ext cx="333756" cy="333756"/>
          </a:xfrm>
          <a:prstGeom prst="rect">
            <a:avLst/>
          </a:prstGeom>
          <a:solidFill>
            <a:srgbClr val="8C64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3" name="Rectangle 142"/>
          <p:cNvSpPr/>
          <p:nvPr/>
        </p:nvSpPr>
        <p:spPr>
          <a:xfrm>
            <a:off x="11027664" y="3246120"/>
            <a:ext cx="333756" cy="333756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4" name="Rectangle 143"/>
          <p:cNvSpPr/>
          <p:nvPr/>
        </p:nvSpPr>
        <p:spPr>
          <a:xfrm>
            <a:off x="11384280" y="3246120"/>
            <a:ext cx="333756" cy="333756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5" name="Rectangle 144"/>
          <p:cNvSpPr/>
          <p:nvPr/>
        </p:nvSpPr>
        <p:spPr>
          <a:xfrm>
            <a:off x="8531352" y="3602736"/>
            <a:ext cx="333756" cy="333756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6" name="Rectangle 145"/>
          <p:cNvSpPr/>
          <p:nvPr/>
        </p:nvSpPr>
        <p:spPr>
          <a:xfrm>
            <a:off x="8887968" y="3602736"/>
            <a:ext cx="333756" cy="333756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7" name="Rectangle 146"/>
          <p:cNvSpPr/>
          <p:nvPr/>
        </p:nvSpPr>
        <p:spPr>
          <a:xfrm>
            <a:off x="9244584" y="3602736"/>
            <a:ext cx="333756" cy="333756"/>
          </a:xfrm>
          <a:prstGeom prst="rect">
            <a:avLst/>
          </a:prstGeom>
          <a:solidFill>
            <a:srgbClr val="8C64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8" name="Rectangle 147"/>
          <p:cNvSpPr/>
          <p:nvPr/>
        </p:nvSpPr>
        <p:spPr>
          <a:xfrm>
            <a:off x="9601200" y="3602736"/>
            <a:ext cx="333756" cy="333756"/>
          </a:xfrm>
          <a:prstGeom prst="rect">
            <a:avLst/>
          </a:prstGeom>
          <a:solidFill>
            <a:srgbClr val="8C64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9" name="Rectangle 148"/>
          <p:cNvSpPr/>
          <p:nvPr/>
        </p:nvSpPr>
        <p:spPr>
          <a:xfrm>
            <a:off x="9957816" y="3602736"/>
            <a:ext cx="333756" cy="333756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0" name="Rectangle 149"/>
          <p:cNvSpPr/>
          <p:nvPr/>
        </p:nvSpPr>
        <p:spPr>
          <a:xfrm>
            <a:off x="10314432" y="3602736"/>
            <a:ext cx="333756" cy="333756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1" name="Rectangle 150"/>
          <p:cNvSpPr/>
          <p:nvPr/>
        </p:nvSpPr>
        <p:spPr>
          <a:xfrm>
            <a:off x="10671048" y="3602736"/>
            <a:ext cx="333756" cy="333756"/>
          </a:xfrm>
          <a:prstGeom prst="rect">
            <a:avLst/>
          </a:prstGeom>
          <a:solidFill>
            <a:srgbClr val="8C64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2" name="Rectangle 151"/>
          <p:cNvSpPr/>
          <p:nvPr/>
        </p:nvSpPr>
        <p:spPr>
          <a:xfrm>
            <a:off x="11027664" y="3602736"/>
            <a:ext cx="333756" cy="333756"/>
          </a:xfrm>
          <a:prstGeom prst="rect">
            <a:avLst/>
          </a:prstGeom>
          <a:solidFill>
            <a:srgbClr val="8C64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3" name="Rectangle 152"/>
          <p:cNvSpPr/>
          <p:nvPr/>
        </p:nvSpPr>
        <p:spPr>
          <a:xfrm>
            <a:off x="11384280" y="3602736"/>
            <a:ext cx="333756" cy="333756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4" name="Rectangle 153"/>
          <p:cNvSpPr/>
          <p:nvPr/>
        </p:nvSpPr>
        <p:spPr>
          <a:xfrm>
            <a:off x="8531352" y="3959352"/>
            <a:ext cx="333756" cy="333756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5" name="Rectangle 154"/>
          <p:cNvSpPr/>
          <p:nvPr/>
        </p:nvSpPr>
        <p:spPr>
          <a:xfrm>
            <a:off x="8887968" y="3959352"/>
            <a:ext cx="333756" cy="333756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6" name="Rectangle 155"/>
          <p:cNvSpPr/>
          <p:nvPr/>
        </p:nvSpPr>
        <p:spPr>
          <a:xfrm>
            <a:off x="9244584" y="3959352"/>
            <a:ext cx="333756" cy="333756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7" name="Rectangle 156"/>
          <p:cNvSpPr/>
          <p:nvPr/>
        </p:nvSpPr>
        <p:spPr>
          <a:xfrm>
            <a:off x="9601200" y="3959352"/>
            <a:ext cx="333756" cy="333756"/>
          </a:xfrm>
          <a:prstGeom prst="rect">
            <a:avLst/>
          </a:prstGeom>
          <a:solidFill>
            <a:srgbClr val="8C64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8" name="Rectangle 157"/>
          <p:cNvSpPr/>
          <p:nvPr/>
        </p:nvSpPr>
        <p:spPr>
          <a:xfrm>
            <a:off x="9957816" y="3959352"/>
            <a:ext cx="333756" cy="333756"/>
          </a:xfrm>
          <a:prstGeom prst="rect">
            <a:avLst/>
          </a:prstGeom>
          <a:solidFill>
            <a:srgbClr val="8C64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9" name="Rectangle 158"/>
          <p:cNvSpPr/>
          <p:nvPr/>
        </p:nvSpPr>
        <p:spPr>
          <a:xfrm>
            <a:off x="10314432" y="3959352"/>
            <a:ext cx="333756" cy="333756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0" name="Rectangle 159"/>
          <p:cNvSpPr/>
          <p:nvPr/>
        </p:nvSpPr>
        <p:spPr>
          <a:xfrm>
            <a:off x="10671048" y="3959352"/>
            <a:ext cx="333756" cy="333756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1" name="Rectangle 160"/>
          <p:cNvSpPr/>
          <p:nvPr/>
        </p:nvSpPr>
        <p:spPr>
          <a:xfrm>
            <a:off x="11027664" y="3959352"/>
            <a:ext cx="333756" cy="333756"/>
          </a:xfrm>
          <a:prstGeom prst="rect">
            <a:avLst/>
          </a:prstGeom>
          <a:solidFill>
            <a:srgbClr val="8C64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2" name="Rectangle 161"/>
          <p:cNvSpPr/>
          <p:nvPr/>
        </p:nvSpPr>
        <p:spPr>
          <a:xfrm>
            <a:off x="11384280" y="3959352"/>
            <a:ext cx="333756" cy="333756"/>
          </a:xfrm>
          <a:prstGeom prst="rect">
            <a:avLst/>
          </a:prstGeom>
          <a:solidFill>
            <a:srgbClr val="8C64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3" name="Rectangle 162"/>
          <p:cNvSpPr/>
          <p:nvPr/>
        </p:nvSpPr>
        <p:spPr>
          <a:xfrm>
            <a:off x="8531352" y="4315968"/>
            <a:ext cx="333756" cy="333756"/>
          </a:xfrm>
          <a:prstGeom prst="rect">
            <a:avLst/>
          </a:prstGeom>
          <a:solidFill>
            <a:srgbClr val="8C64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4" name="Rectangle 163"/>
          <p:cNvSpPr/>
          <p:nvPr/>
        </p:nvSpPr>
        <p:spPr>
          <a:xfrm>
            <a:off x="8887968" y="4315968"/>
            <a:ext cx="333756" cy="333756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5" name="Rectangle 164"/>
          <p:cNvSpPr/>
          <p:nvPr/>
        </p:nvSpPr>
        <p:spPr>
          <a:xfrm>
            <a:off x="9244584" y="4315968"/>
            <a:ext cx="333756" cy="333756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6" name="Rectangle 165"/>
          <p:cNvSpPr/>
          <p:nvPr/>
        </p:nvSpPr>
        <p:spPr>
          <a:xfrm>
            <a:off x="9601200" y="4315968"/>
            <a:ext cx="333756" cy="333756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7" name="Rectangle 166"/>
          <p:cNvSpPr/>
          <p:nvPr/>
        </p:nvSpPr>
        <p:spPr>
          <a:xfrm>
            <a:off x="9957816" y="4315968"/>
            <a:ext cx="333756" cy="333756"/>
          </a:xfrm>
          <a:prstGeom prst="rect">
            <a:avLst/>
          </a:prstGeom>
          <a:solidFill>
            <a:srgbClr val="8C64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8" name="Rectangle 167"/>
          <p:cNvSpPr/>
          <p:nvPr/>
        </p:nvSpPr>
        <p:spPr>
          <a:xfrm>
            <a:off x="10314432" y="4315968"/>
            <a:ext cx="333756" cy="333756"/>
          </a:xfrm>
          <a:prstGeom prst="rect">
            <a:avLst/>
          </a:prstGeom>
          <a:solidFill>
            <a:srgbClr val="8C64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9" name="Rectangle 168"/>
          <p:cNvSpPr/>
          <p:nvPr/>
        </p:nvSpPr>
        <p:spPr>
          <a:xfrm>
            <a:off x="10671048" y="4315968"/>
            <a:ext cx="333756" cy="333756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0" name="Rectangle 169"/>
          <p:cNvSpPr/>
          <p:nvPr/>
        </p:nvSpPr>
        <p:spPr>
          <a:xfrm>
            <a:off x="11027664" y="4315968"/>
            <a:ext cx="333756" cy="333756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1" name="Rectangle 170"/>
          <p:cNvSpPr/>
          <p:nvPr/>
        </p:nvSpPr>
        <p:spPr>
          <a:xfrm>
            <a:off x="11384280" y="4315968"/>
            <a:ext cx="333756" cy="333756"/>
          </a:xfrm>
          <a:prstGeom prst="rect">
            <a:avLst/>
          </a:prstGeom>
          <a:solidFill>
            <a:srgbClr val="8C64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2" name="TextBox 171"/>
          <p:cNvSpPr txBox="1"/>
          <p:nvPr/>
        </p:nvSpPr>
        <p:spPr>
          <a:xfrm>
            <a:off x="8531352" y="4946904"/>
            <a:ext cx="3383280" cy="3931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1900" b="0">
                <a:solidFill>
                  <a:srgbClr val="808080"/>
                </a:solidFill>
                <a:latin typeface="Alibaba PuHuiTi 3.0 55 Regular"/>
              </a:defRPr>
            </a:pPr>
            <a:r>
              <a:t>同一尺寸与位深</a:t>
            </a:r>
          </a:p>
        </p:txBody>
      </p:sp>
      <p:sp>
        <p:nvSpPr>
          <p:cNvPr id="173" name="TextBox 172"/>
          <p:cNvSpPr txBox="1"/>
          <p:nvPr/>
        </p:nvSpPr>
        <p:spPr>
          <a:xfrm>
            <a:off x="777240" y="5879592"/>
            <a:ext cx="1078992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000" b="1">
                <a:solidFill>
                  <a:srgbClr val="8C64E1"/>
                </a:solidFill>
                <a:latin typeface="Alibaba PuHuiTi 3.0 115 Black"/>
              </a:defRPr>
            </a:pPr>
            <a:r>
              <a:t>想一想：哪幅图最容易用几条规则完整表示？</a:t>
            </a:r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36576"/>
            <a:ext cx="12191695" cy="73152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57416"/>
            <a:ext cx="12191695" cy="73152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12648" y="576072"/>
            <a:ext cx="10972800" cy="7863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3400" b="1">
                <a:solidFill>
                  <a:srgbClr val="262626"/>
                </a:solidFill>
                <a:latin typeface="Alibaba PuHuiTi 3.0 115 Black"/>
              </a:defRPr>
            </a:pPr>
            <a:r>
              <a:t>练习题 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86384" y="1691640"/>
            <a:ext cx="10652760" cy="30358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700" b="0">
                <a:solidFill>
                  <a:srgbClr val="262626"/>
                </a:solidFill>
                <a:latin typeface="Alibaba PuHuiTi 3.0 55 Regular"/>
              </a:defRPr>
            </a:pPr>
            <a:r>
              <a:t>A纯色、B规则色块、C复杂花纹，尺寸与位深相同。</a:t>
            </a:r>
          </a:p>
          <a:p>
            <a:pPr>
              <a:spcBef>
                <a:spcPts val="0"/>
              </a:spcBef>
              <a:spcAft>
                <a:spcPts val="200"/>
              </a:spcAft>
              <a:defRPr sz="2700" b="0">
                <a:solidFill>
                  <a:srgbClr val="262626"/>
                </a:solidFill>
                <a:latin typeface="Alibaba PuHuiTi 3.0 55 Regular"/>
              </a:defRPr>
            </a:pPr>
            <a:r>
              <a:t>分别用相同无损方法压缩，谁通常最小？为什么？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822960" y="4919472"/>
            <a:ext cx="10259568" cy="0"/>
          </a:xfrm>
          <a:prstGeom prst="line">
            <a:avLst/>
          </a:prstGeom>
          <a:ln w="25400">
            <a:solidFill>
              <a:srgbClr val="E2E2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832104" y="5166360"/>
            <a:ext cx="10332720" cy="6766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200" b="1">
                <a:solidFill>
                  <a:srgbClr val="8C64E1"/>
                </a:solidFill>
                <a:latin typeface="Alibaba PuHuiTi 3.0 115 Black"/>
              </a:defRPr>
            </a:pPr>
            <a:r>
              <a:t>不仅选择，还要解释“重复”和“规律”。</a:t>
            </a:r>
          </a:p>
        </p:txBody>
      </p:sp>
    </p:spTree>
  </p:cSld>
  <p:clrMapOvr>
    <a:masterClrMapping/>
  </p:clrMapOvr>
</p:sld>
</file>

<file path=ppt/slides/slide6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36576"/>
            <a:ext cx="12191695" cy="73152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57416"/>
            <a:ext cx="12191695" cy="73152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77240" y="5010912"/>
            <a:ext cx="10661904" cy="1261872"/>
          </a:xfrm>
          <a:prstGeom prst="rect">
            <a:avLst/>
          </a:prstGeom>
          <a:solidFill>
            <a:srgbClr val="F6F3FF"/>
          </a:solidFill>
          <a:ln w="8890">
            <a:solidFill>
              <a:srgbClr val="E0DD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77240" y="5010912"/>
            <a:ext cx="68580" cy="1261872"/>
          </a:xfrm>
          <a:prstGeom prst="rect">
            <a:avLst/>
          </a:prstGeom>
          <a:solidFill>
            <a:srgbClr val="6251B1"/>
          </a:solidFill>
          <a:ln w="8890">
            <a:solidFill>
              <a:srgbClr val="6251B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12648" y="576072"/>
            <a:ext cx="10972800" cy="7863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3400" b="1">
                <a:solidFill>
                  <a:srgbClr val="262626"/>
                </a:solidFill>
                <a:latin typeface="Alibaba PuHuiTi 3.0 115 Black"/>
              </a:defRPr>
            </a:pPr>
            <a:r>
              <a:t>练习题 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86384" y="1691640"/>
            <a:ext cx="10652760" cy="30358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700" b="0">
                <a:solidFill>
                  <a:srgbClr val="262626"/>
                </a:solidFill>
                <a:latin typeface="Alibaba PuHuiTi 3.0 55 Regular"/>
              </a:defRPr>
            </a:pPr>
            <a:r>
              <a:t>A纯色、B规则色块、C复杂花纹，尺寸与位深相同。</a:t>
            </a:r>
          </a:p>
          <a:p>
            <a:pPr>
              <a:spcBef>
                <a:spcPts val="0"/>
              </a:spcBef>
              <a:spcAft>
                <a:spcPts val="200"/>
              </a:spcAft>
              <a:defRPr sz="2700" b="0">
                <a:solidFill>
                  <a:srgbClr val="262626"/>
                </a:solidFill>
                <a:latin typeface="Alibaba PuHuiTi 3.0 55 Regular"/>
              </a:defRPr>
            </a:pPr>
            <a:r>
              <a:t>分别用相同无损方法压缩，谁通常最小？为什么？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822960" y="4919472"/>
            <a:ext cx="10259568" cy="0"/>
          </a:xfrm>
          <a:prstGeom prst="line">
            <a:avLst/>
          </a:prstGeom>
          <a:ln w="25400">
            <a:solidFill>
              <a:srgbClr val="E2E2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1005840" y="5111496"/>
            <a:ext cx="10241280" cy="521207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300" b="1">
                <a:solidFill>
                  <a:srgbClr val="8C64E1"/>
                </a:solidFill>
                <a:latin typeface="Alibaba PuHuiTi 3.0 115 Black"/>
              </a:defRPr>
            </a:pPr>
            <a:r>
              <a:rPr b="1" sz="2600">
                <a:solidFill>
                  <a:srgbClr val="6251B1"/>
                </a:solidFill>
                <a:latin typeface="Alibaba PuHuiTi 3.0 115 Black"/>
              </a:rPr>
              <a:t>答案：A通常最小。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5660136"/>
            <a:ext cx="10241280" cy="60350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1900" b="0">
                <a:solidFill>
                  <a:srgbClr val="262626"/>
                </a:solidFill>
                <a:latin typeface="Alibaba PuHuiTi 3.0 55 Regular"/>
              </a:defRPr>
            </a:pPr>
            <a:r>
              <a:rPr sz="1800" b="0">
                <a:solidFill>
                  <a:srgbClr val="262626"/>
                </a:solidFill>
                <a:latin typeface="Alibaba PuHuiTi 3.0 55 Regular"/>
              </a:rPr>
              <a:t>纯色图像的重复与规律性最强，一般更容易用简短规则表示。</a:t>
            </a:r>
          </a:p>
        </p:txBody>
      </p:sp>
    </p:spTree>
  </p:cSld>
  <p:clrMapOvr>
    <a:masterClrMapping/>
  </p:clrMapOvr>
</p:sld>
</file>

<file path=ppt/slides/slide6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36576"/>
            <a:ext cx="12191695" cy="73152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57416"/>
            <a:ext cx="12191695" cy="73152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12648" y="576072"/>
            <a:ext cx="10972800" cy="7863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3400" b="1">
                <a:solidFill>
                  <a:srgbClr val="262626"/>
                </a:solidFill>
                <a:latin typeface="Alibaba PuHuiTi 3.0 115 Black"/>
              </a:defRPr>
            </a:pPr>
            <a:r>
              <a:t>同一张图：BMP与JPG有什么不同？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6080760" y="1627632"/>
            <a:ext cx="0" cy="3776472"/>
          </a:xfrm>
          <a:prstGeom prst="line">
            <a:avLst/>
          </a:prstGeom>
          <a:ln w="25400">
            <a:solidFill>
              <a:srgbClr val="E2E2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822960" y="1737360"/>
            <a:ext cx="5074920" cy="6949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800" b="1">
                <a:solidFill>
                  <a:srgbClr val="8C64E1"/>
                </a:solidFill>
                <a:latin typeface="Alibaba PuHuiTi 3.0 115 Black"/>
              </a:defRPr>
            </a:pPr>
            <a:r>
              <a:t>BMP（课堂例：未压缩）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55664" y="1737360"/>
            <a:ext cx="4754880" cy="6949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800" b="1">
                <a:solidFill>
                  <a:srgbClr val="00B0F0"/>
                </a:solidFill>
                <a:latin typeface="Alibaba PuHuiTi 3.0 115 Black"/>
              </a:defRPr>
            </a:pPr>
            <a:r>
              <a:t>JPG（常见有损）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2743200"/>
            <a:ext cx="5010912" cy="2286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300" b="0">
                <a:solidFill>
                  <a:srgbClr val="262626"/>
                </a:solidFill>
                <a:latin typeface="Alibaba PuHuiTi 3.0 55 Regular"/>
              </a:defRPr>
            </a:pPr>
            <a:r>
              <a:t>保存每个像素的颜色信息。</a:t>
            </a:r>
          </a:p>
          <a:p>
            <a:pPr>
              <a:spcBef>
                <a:spcPts val="0"/>
              </a:spcBef>
              <a:spcAft>
                <a:spcPts val="200"/>
              </a:spcAft>
              <a:defRPr sz="2300" b="0">
                <a:solidFill>
                  <a:srgbClr val="262626"/>
                </a:solidFill>
                <a:latin typeface="Alibaba PuHuiTi 3.0 55 Regular"/>
              </a:defRPr>
            </a:pPr>
          </a:p>
          <a:p>
            <a:pPr>
              <a:spcBef>
                <a:spcPts val="0"/>
              </a:spcBef>
              <a:spcAft>
                <a:spcPts val="200"/>
              </a:spcAft>
              <a:defRPr sz="2300" b="0">
                <a:solidFill>
                  <a:srgbClr val="262626"/>
                </a:solidFill>
                <a:latin typeface="Alibaba PuHuiTi 3.0 55 Regular"/>
              </a:defRPr>
            </a:pPr>
            <a:r>
              <a:t>可能占用较多空间。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55664" y="2743200"/>
            <a:ext cx="4873752" cy="2286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300" b="0">
                <a:solidFill>
                  <a:srgbClr val="262626"/>
                </a:solidFill>
                <a:latin typeface="Alibaba PuHuiTi 3.0 55 Regular"/>
              </a:defRPr>
            </a:pPr>
            <a:r>
              <a:t>对图像进行近似表示。</a:t>
            </a:r>
          </a:p>
          <a:p>
            <a:pPr>
              <a:spcBef>
                <a:spcPts val="0"/>
              </a:spcBef>
              <a:spcAft>
                <a:spcPts val="200"/>
              </a:spcAft>
              <a:defRPr sz="2300" b="0">
                <a:solidFill>
                  <a:srgbClr val="262626"/>
                </a:solidFill>
                <a:latin typeface="Alibaba PuHuiTi 3.0 55 Regular"/>
              </a:defRPr>
            </a:pPr>
          </a:p>
          <a:p>
            <a:pPr>
              <a:spcBef>
                <a:spcPts val="0"/>
              </a:spcBef>
              <a:spcAft>
                <a:spcPts val="200"/>
              </a:spcAft>
              <a:defRPr sz="2300" b="0">
                <a:solidFill>
                  <a:srgbClr val="262626"/>
                </a:solidFill>
                <a:latin typeface="Alibaba PuHuiTi 3.0 55 Regular"/>
              </a:defRPr>
            </a:pPr>
            <a:r>
              <a:t>文件可能明显更小，但不能逐像素完全还原。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5879592"/>
            <a:ext cx="1078992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000" b="1">
                <a:solidFill>
                  <a:srgbClr val="8C64E1"/>
                </a:solidFill>
                <a:latin typeface="Alibaba PuHuiTi 3.0 115 Black"/>
              </a:defRPr>
            </a:pPr>
            <a:r>
              <a:t>有损不等于看起来一定明显变差；质量与参数有关。</a:t>
            </a:r>
          </a:p>
        </p:txBody>
      </p:sp>
    </p:spTree>
  </p:cSld>
  <p:clrMapOvr>
    <a:masterClrMapping/>
  </p:clrMapOvr>
</p:sld>
</file>

<file path=ppt/slides/slide6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36576"/>
            <a:ext cx="12191695" cy="73152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57416"/>
            <a:ext cx="12191695" cy="73152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12648" y="576072"/>
            <a:ext cx="10972800" cy="7863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3400" b="1">
                <a:solidFill>
                  <a:srgbClr val="262626"/>
                </a:solidFill>
                <a:latin typeface="Alibaba PuHuiTi 3.0 115 Black"/>
              </a:defRPr>
            </a:pPr>
            <a:r>
              <a:t>已经压成MP3、JPG，再用RAR压一遍呢？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6080760" y="1627632"/>
            <a:ext cx="0" cy="3776472"/>
          </a:xfrm>
          <a:prstGeom prst="line">
            <a:avLst/>
          </a:prstGeom>
          <a:ln w="25400">
            <a:solidFill>
              <a:srgbClr val="E2E2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822960" y="1737360"/>
            <a:ext cx="5074920" cy="6949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800" b="1">
                <a:solidFill>
                  <a:srgbClr val="8C64E1"/>
                </a:solidFill>
                <a:latin typeface="Alibaba PuHuiTi 3.0 115 Black"/>
              </a:defRPr>
            </a:pPr>
            <a:r>
              <a:t>第一次压缩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55664" y="1737360"/>
            <a:ext cx="4754880" cy="6949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800" b="1">
                <a:solidFill>
                  <a:srgbClr val="00B0F0"/>
                </a:solidFill>
                <a:latin typeface="Alibaba PuHuiTi 3.0 115 Black"/>
              </a:defRPr>
            </a:pPr>
            <a:r>
              <a:t>再次压缩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2743200"/>
            <a:ext cx="5010912" cy="2286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300" b="0">
                <a:solidFill>
                  <a:srgbClr val="262626"/>
                </a:solidFill>
                <a:latin typeface="Alibaba PuHuiTi 3.0 55 Regular"/>
              </a:defRPr>
            </a:pPr>
            <a:r>
              <a:t>有些重复或不重要的信息被更简洁地表示，文件大幅减小。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55664" y="2743200"/>
            <a:ext cx="4873752" cy="2286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300" b="0">
                <a:solidFill>
                  <a:srgbClr val="262626"/>
                </a:solidFill>
                <a:latin typeface="Alibaba PuHuiTi 3.0 55 Regular"/>
              </a:defRPr>
            </a:pPr>
            <a:r>
              <a:t>可进一步利用的冗余通常较少，RAR再压往往收效不大。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5879592"/>
            <a:ext cx="1078992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000" b="1">
                <a:solidFill>
                  <a:srgbClr val="8C64E1"/>
                </a:solidFill>
                <a:latin typeface="Alibaba PuHuiTi 3.0 115 Black"/>
              </a:defRPr>
            </a:pPr>
            <a:r>
              <a:t>注意：再次用有损编码重新保存，还可能累积质量损失。</a:t>
            </a:r>
          </a:p>
        </p:txBody>
      </p:sp>
    </p:spTree>
  </p:cSld>
  <p:clrMapOvr>
    <a:masterClrMapping/>
  </p:clrMapOvr>
</p:sld>
</file>

<file path=ppt/slides/slide6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36576"/>
            <a:ext cx="12191695" cy="73152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57416"/>
            <a:ext cx="12191695" cy="73152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12648" y="576072"/>
            <a:ext cx="10972800" cy="7863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3400" b="1">
                <a:solidFill>
                  <a:srgbClr val="262626"/>
                </a:solidFill>
                <a:latin typeface="Alibaba PuHuiTi 3.0 115 Black"/>
              </a:defRPr>
            </a:pPr>
            <a:r>
              <a:t>是不是压得越小就一定越好？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6080760" y="1627632"/>
            <a:ext cx="0" cy="3776472"/>
          </a:xfrm>
          <a:prstGeom prst="line">
            <a:avLst/>
          </a:prstGeom>
          <a:ln w="25400">
            <a:solidFill>
              <a:srgbClr val="E2E2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822960" y="1737360"/>
            <a:ext cx="5074920" cy="6949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800" b="1">
                <a:solidFill>
                  <a:srgbClr val="8C64E1"/>
                </a:solidFill>
                <a:latin typeface="Alibaba PuHuiTi 3.0 115 Black"/>
              </a:defRPr>
            </a:pPr>
            <a:r>
              <a:rPr sz="2700" b="1">
                <a:solidFill>
                  <a:srgbClr val="6251B1"/>
                </a:solidFill>
                <a:latin typeface="Alibaba PuHuiTi 3.0 115 Black"/>
              </a:rPr>
              <a:t>重要文档长期备份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55664" y="1737360"/>
            <a:ext cx="4754880" cy="6949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800" b="1">
                <a:solidFill>
                  <a:srgbClr val="00B0F0"/>
                </a:solidFill>
                <a:latin typeface="Alibaba PuHuiTi 3.0 115 Black"/>
              </a:defRPr>
            </a:pPr>
            <a:r>
              <a:rPr sz="2700" b="1">
                <a:solidFill>
                  <a:srgbClr val="00B0F0"/>
                </a:solidFill>
                <a:latin typeface="Alibaba PuHuiTi 3.0 115 Black"/>
              </a:rPr>
              <a:t>实时视频通话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2743200"/>
            <a:ext cx="5010912" cy="2286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300" b="0">
                <a:solidFill>
                  <a:srgbClr val="262626"/>
                </a:solidFill>
                <a:latin typeface="Alibaba PuHuiTi 3.0 55 Regular"/>
              </a:defRPr>
            </a:pPr>
            <a:r>
              <a:rPr sz="2300">
                <a:latin typeface="Alibaba PuHuiTi 3.0 55 Regular"/>
              </a:rPr>
              <a:t>优先考虑信息完整、能够恢复，以及可靠保存。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55664" y="2743200"/>
            <a:ext cx="4873752" cy="2286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300" b="0">
                <a:solidFill>
                  <a:srgbClr val="262626"/>
                </a:solidFill>
                <a:latin typeface="Alibaba PuHuiTi 3.0 55 Regular"/>
              </a:defRPr>
            </a:pPr>
            <a:r>
              <a:rPr sz="2300">
                <a:latin typeface="Alibaba PuHuiTi 3.0 55 Regular"/>
              </a:rPr>
              <a:t>优先兼顾流畅度、延迟、声音画面质量和传输量。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5879592"/>
            <a:ext cx="1078992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000" b="1">
                <a:solidFill>
                  <a:srgbClr val="8C64E1"/>
                </a:solidFill>
                <a:latin typeface="Alibaba PuHuiTi 3.0 115 Black"/>
              </a:defRPr>
            </a:pPr>
            <a:r>
              <a:t>选择编码与压缩方式，要看具体任务，而不是只比文件大小。</a:t>
            </a:r>
          </a:p>
        </p:txBody>
      </p:sp>
    </p:spTree>
  </p:cSld>
  <p:clrMapOvr>
    <a:masterClrMapping/>
  </p:clrMapOvr>
</p:sld>
</file>

<file path=ppt/slides/slide6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36576"/>
            <a:ext cx="12191695" cy="73152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57416"/>
            <a:ext cx="12191695" cy="73152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12648" y="576072"/>
            <a:ext cx="10972800" cy="7863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3400" b="1">
                <a:solidFill>
                  <a:srgbClr val="262626"/>
                </a:solidFill>
                <a:latin typeface="Alibaba PuHuiTi 3.0 115 Black"/>
              </a:defRPr>
            </a:pPr>
            <a:r>
              <a:t>练习题 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86384" y="1691640"/>
            <a:ext cx="10652760" cy="30358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700" b="0">
                <a:solidFill>
                  <a:srgbClr val="262626"/>
                </a:solidFill>
                <a:latin typeface="Alibaba PuHuiTi 3.0 55 Regular"/>
              </a:defRPr>
            </a:pPr>
            <a:r>
              <a:t>下列说法，哪些正确？</a:t>
            </a:r>
          </a:p>
          <a:p>
            <a:pPr>
              <a:spcBef>
                <a:spcPts val="0"/>
              </a:spcBef>
              <a:spcAft>
                <a:spcPts val="200"/>
              </a:spcAft>
              <a:defRPr sz="2700" b="0">
                <a:solidFill>
                  <a:srgbClr val="262626"/>
                </a:solidFill>
                <a:latin typeface="Alibaba PuHuiTi 3.0 55 Regular"/>
              </a:defRPr>
            </a:pPr>
            <a:r>
              <a:t>① 增加编辑音轨，未压缩PCM数据量必然翻倍。</a:t>
            </a:r>
          </a:p>
          <a:p>
            <a:pPr>
              <a:spcBef>
                <a:spcPts val="0"/>
              </a:spcBef>
              <a:spcAft>
                <a:spcPts val="200"/>
              </a:spcAft>
              <a:defRPr sz="2700" b="0">
                <a:solidFill>
                  <a:srgbClr val="262626"/>
                </a:solidFill>
                <a:latin typeface="Alibaba PuHuiTi 3.0 55 Regular"/>
              </a:defRPr>
            </a:pPr>
            <a:r>
              <a:t>② 未压缩视频逐帧保存，数据量可能很大。</a:t>
            </a:r>
          </a:p>
          <a:p>
            <a:pPr>
              <a:spcBef>
                <a:spcPts val="0"/>
              </a:spcBef>
              <a:spcAft>
                <a:spcPts val="200"/>
              </a:spcAft>
              <a:defRPr sz="2700" b="0">
                <a:solidFill>
                  <a:srgbClr val="262626"/>
                </a:solidFill>
                <a:latin typeface="Alibaba PuHuiTi 3.0 55 Regular"/>
              </a:defRPr>
            </a:pPr>
            <a:r>
              <a:t>③ ZIP解压后可以恢复原始文档。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822960" y="4919472"/>
            <a:ext cx="10259568" cy="0"/>
          </a:xfrm>
          <a:prstGeom prst="line">
            <a:avLst/>
          </a:prstGeom>
          <a:ln w="25400">
            <a:solidFill>
              <a:srgbClr val="E2E2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832104" y="5166360"/>
            <a:ext cx="10332720" cy="6766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200" b="1">
                <a:solidFill>
                  <a:srgbClr val="8C64E1"/>
                </a:solidFill>
                <a:latin typeface="Alibaba PuHuiTi 3.0 115 Black"/>
              </a:defRPr>
            </a:pPr>
            <a:r>
              <a:t>逐条作答，并解释理由。</a:t>
            </a:r>
          </a:p>
        </p:txBody>
      </p:sp>
    </p:spTree>
  </p:cSld>
  <p:clrMapOvr>
    <a:masterClrMapping/>
  </p:clrMapOvr>
</p:sld>
</file>

<file path=ppt/slides/slide6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36576"/>
            <a:ext cx="12191695" cy="73152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57416"/>
            <a:ext cx="12191695" cy="73152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77240" y="5010912"/>
            <a:ext cx="10661904" cy="1261872"/>
          </a:xfrm>
          <a:prstGeom prst="rect">
            <a:avLst/>
          </a:prstGeom>
          <a:solidFill>
            <a:srgbClr val="F6F3FF"/>
          </a:solidFill>
          <a:ln w="8890">
            <a:solidFill>
              <a:srgbClr val="E0DD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77240" y="5010912"/>
            <a:ext cx="68580" cy="1261872"/>
          </a:xfrm>
          <a:prstGeom prst="rect">
            <a:avLst/>
          </a:prstGeom>
          <a:solidFill>
            <a:srgbClr val="6251B1"/>
          </a:solidFill>
          <a:ln w="8890">
            <a:solidFill>
              <a:srgbClr val="6251B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12648" y="576072"/>
            <a:ext cx="10972800" cy="7863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3400" b="1">
                <a:solidFill>
                  <a:srgbClr val="262626"/>
                </a:solidFill>
                <a:latin typeface="Alibaba PuHuiTi 3.0 115 Black"/>
              </a:defRPr>
            </a:pPr>
            <a:r>
              <a:t>练习题 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86384" y="1691640"/>
            <a:ext cx="10652760" cy="30358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700" b="0">
                <a:solidFill>
                  <a:srgbClr val="262626"/>
                </a:solidFill>
                <a:latin typeface="Alibaba PuHuiTi 3.0 55 Regular"/>
              </a:defRPr>
            </a:pPr>
            <a:r>
              <a:t>下列说法，哪些正确？</a:t>
            </a:r>
          </a:p>
          <a:p>
            <a:pPr>
              <a:spcBef>
                <a:spcPts val="0"/>
              </a:spcBef>
              <a:spcAft>
                <a:spcPts val="200"/>
              </a:spcAft>
              <a:defRPr sz="2700" b="0">
                <a:solidFill>
                  <a:srgbClr val="262626"/>
                </a:solidFill>
                <a:latin typeface="Alibaba PuHuiTi 3.0 55 Regular"/>
              </a:defRPr>
            </a:pPr>
            <a:r>
              <a:t>① 增加编辑音轨，未压缩PCM数据量必然翻倍。</a:t>
            </a:r>
          </a:p>
          <a:p>
            <a:pPr>
              <a:spcBef>
                <a:spcPts val="0"/>
              </a:spcBef>
              <a:spcAft>
                <a:spcPts val="200"/>
              </a:spcAft>
              <a:defRPr sz="2700" b="0">
                <a:solidFill>
                  <a:srgbClr val="262626"/>
                </a:solidFill>
                <a:latin typeface="Alibaba PuHuiTi 3.0 55 Regular"/>
              </a:defRPr>
            </a:pPr>
            <a:r>
              <a:t>② 未压缩视频逐帧保存，数据量可能很大。</a:t>
            </a:r>
          </a:p>
          <a:p>
            <a:pPr>
              <a:spcBef>
                <a:spcPts val="0"/>
              </a:spcBef>
              <a:spcAft>
                <a:spcPts val="200"/>
              </a:spcAft>
              <a:defRPr sz="2700" b="0">
                <a:solidFill>
                  <a:srgbClr val="262626"/>
                </a:solidFill>
                <a:latin typeface="Alibaba PuHuiTi 3.0 55 Regular"/>
              </a:defRPr>
            </a:pPr>
            <a:r>
              <a:t>③ ZIP解压后可以恢复原始文档。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822960" y="4919472"/>
            <a:ext cx="10259568" cy="0"/>
          </a:xfrm>
          <a:prstGeom prst="line">
            <a:avLst/>
          </a:prstGeom>
          <a:ln w="25400">
            <a:solidFill>
              <a:srgbClr val="E2E2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1005840" y="5111496"/>
            <a:ext cx="10241280" cy="521207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300" b="1">
                <a:solidFill>
                  <a:srgbClr val="8C64E1"/>
                </a:solidFill>
                <a:latin typeface="Alibaba PuHuiTi 3.0 115 Black"/>
              </a:defRPr>
            </a:pPr>
            <a:r>
              <a:rPr b="1" sz="2600">
                <a:solidFill>
                  <a:srgbClr val="6251B1"/>
                </a:solidFill>
                <a:latin typeface="Alibaba PuHuiTi 3.0 115 Black"/>
              </a:rPr>
              <a:t>答案：①错；②对；③对。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5660136"/>
            <a:ext cx="10241280" cy="60350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1900" b="0">
                <a:solidFill>
                  <a:srgbClr val="262626"/>
                </a:solidFill>
                <a:latin typeface="Alibaba PuHuiTi 3.0 55 Regular"/>
              </a:defRPr>
            </a:pPr>
            <a:r>
              <a:rPr sz="1800" b="0">
                <a:solidFill>
                  <a:srgbClr val="262626"/>
                </a:solidFill>
                <a:latin typeface="Alibaba PuHuiTi 3.0 55 Regular"/>
              </a:rPr>
              <a:t>①音轨不等于声道；②每帧的数据量相加可能很大；③ZIP为无损归档。</a:t>
            </a:r>
          </a:p>
        </p:txBody>
      </p:sp>
    </p:spTree>
  </p:cSld>
  <p:clrMapOvr>
    <a:masterClrMapping/>
  </p:clrMapOvr>
</p:sld>
</file>

<file path=ppt/slides/slide6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36576"/>
            <a:ext cx="12191695" cy="73152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57416"/>
            <a:ext cx="12191695" cy="73152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12648" y="576072"/>
            <a:ext cx="10972800" cy="7863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3400" b="1">
                <a:solidFill>
                  <a:srgbClr val="262626"/>
                </a:solidFill>
                <a:latin typeface="Alibaba PuHuiTi 3.0 115 Black"/>
              </a:defRPr>
            </a:pPr>
            <a:r>
              <a:t>离开课堂前，你能解释三个为什么吗？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86384" y="1828800"/>
            <a:ext cx="10881360" cy="777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600" b="1">
                <a:solidFill>
                  <a:srgbClr val="8C64E1"/>
                </a:solidFill>
                <a:latin typeface="Alibaba PuHuiTi 3.0 115 Black"/>
              </a:defRPr>
            </a:pPr>
            <a:r>
              <a:t>① 声音为什么能变成一组0和1？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86384" y="3063240"/>
            <a:ext cx="10881360" cy="777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600" b="1">
                <a:solidFill>
                  <a:srgbClr val="00B0F0"/>
                </a:solidFill>
                <a:latin typeface="Alibaba PuHuiTi 3.0 115 Black"/>
              </a:defRPr>
            </a:pPr>
            <a:r>
              <a:t>② 小视频为什么可能算出6.44 GiB？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86384" y="4297680"/>
            <a:ext cx="10881360" cy="777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600" b="1">
                <a:solidFill>
                  <a:srgbClr val="8C64E1"/>
                </a:solidFill>
                <a:latin typeface="Alibaba PuHuiTi 3.0 115 Black"/>
              </a:defRPr>
            </a:pPr>
            <a:r>
              <a:t>③ 有些文件为什么压缩后变化很小？</a:t>
            </a:r>
          </a:p>
        </p:txBody>
      </p:sp>
    </p:spTree>
  </p:cSld>
  <p:clrMapOvr>
    <a:masterClrMapping/>
  </p:clrMapOvr>
</p:sld>
</file>

<file path=ppt/slides/slide6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36576"/>
            <a:ext cx="12191695" cy="73152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57416"/>
            <a:ext cx="12191695" cy="73152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12648" y="576072"/>
            <a:ext cx="10972800" cy="7863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3400" b="1">
                <a:solidFill>
                  <a:srgbClr val="262626"/>
                </a:solidFill>
                <a:latin typeface="Alibaba PuHuiTi 3.0 115 Black"/>
              </a:defRPr>
            </a:pPr>
            <a:r>
              <a:t>可选拓展：采样不足时会发生什么？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1097280" y="2468880"/>
            <a:ext cx="9509760" cy="0"/>
          </a:xfrm>
          <a:prstGeom prst="line">
            <a:avLst/>
          </a:prstGeom>
          <a:ln w="2032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>
            <a:off x="1188720" y="1810512"/>
            <a:ext cx="0" cy="1325880"/>
          </a:xfrm>
          <a:prstGeom prst="line">
            <a:avLst/>
          </a:prstGeom>
          <a:ln w="1651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1216152" y="1499616"/>
            <a:ext cx="128016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1600" b="0">
                <a:solidFill>
                  <a:srgbClr val="808080"/>
                </a:solidFill>
                <a:latin typeface="Alibaba PuHuiTi 3.0 55 Regular"/>
              </a:defRPr>
            </a:pPr>
            <a:r>
              <a:t>振幅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92640" y="2587752"/>
            <a:ext cx="82296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1600" b="0">
                <a:solidFill>
                  <a:srgbClr val="808080"/>
                </a:solidFill>
                <a:latin typeface="Alibaba PuHuiTi 3.0 55 Regular"/>
              </a:defRPr>
            </a:pPr>
            <a:r>
              <a:t>时间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" y="1271016"/>
            <a:ext cx="950976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200" b="1">
                <a:solidFill>
                  <a:srgbClr val="8C64E1"/>
                </a:solidFill>
                <a:latin typeface="Alibaba PuHuiTi 3.0 115 Black"/>
              </a:defRPr>
            </a:pPr>
            <a:r>
              <a:t>波形 A</a:t>
            </a:r>
          </a:p>
        </p:txBody>
      </p:sp>
      <p:cxnSp>
        <p:nvCxnSpPr>
          <p:cNvPr id="10" name="Connector 9"/>
          <p:cNvCxnSpPr/>
          <p:nvPr/>
        </p:nvCxnSpPr>
        <p:spPr>
          <a:xfrm flipV="1">
            <a:off x="1188720" y="2369440"/>
            <a:ext cx="87325" cy="44575"/>
          </a:xfrm>
          <a:prstGeom prst="line">
            <a:avLst/>
          </a:prstGeom>
          <a:ln w="2413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 flipV="1">
            <a:off x="1276045" y="2325261"/>
            <a:ext cx="87325" cy="44179"/>
          </a:xfrm>
          <a:prstGeom prst="line">
            <a:avLst/>
          </a:prstGeom>
          <a:ln w="2413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 flipV="1">
            <a:off x="1363370" y="2281869"/>
            <a:ext cx="87325" cy="43392"/>
          </a:xfrm>
          <a:prstGeom prst="line">
            <a:avLst/>
          </a:prstGeom>
          <a:ln w="2413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 flipV="1">
            <a:off x="1450695" y="2239650"/>
            <a:ext cx="87325" cy="42219"/>
          </a:xfrm>
          <a:prstGeom prst="line">
            <a:avLst/>
          </a:prstGeom>
          <a:ln w="2413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 flipV="1">
            <a:off x="1538020" y="2198979"/>
            <a:ext cx="87326" cy="40671"/>
          </a:xfrm>
          <a:prstGeom prst="line">
            <a:avLst/>
          </a:prstGeom>
          <a:ln w="2413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 flipV="1">
            <a:off x="1625346" y="2160216"/>
            <a:ext cx="87325" cy="38763"/>
          </a:xfrm>
          <a:prstGeom prst="line">
            <a:avLst/>
          </a:prstGeom>
          <a:ln w="2413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 flipV="1">
            <a:off x="1712671" y="2123706"/>
            <a:ext cx="87325" cy="36510"/>
          </a:xfrm>
          <a:prstGeom prst="line">
            <a:avLst/>
          </a:prstGeom>
          <a:ln w="2413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 flipV="1">
            <a:off x="1799996" y="2089773"/>
            <a:ext cx="87325" cy="33933"/>
          </a:xfrm>
          <a:prstGeom prst="line">
            <a:avLst/>
          </a:prstGeom>
          <a:ln w="2413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 flipV="1">
            <a:off x="1887321" y="2058718"/>
            <a:ext cx="87325" cy="31055"/>
          </a:xfrm>
          <a:prstGeom prst="line">
            <a:avLst/>
          </a:prstGeom>
          <a:ln w="2413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 flipV="1">
            <a:off x="1974646" y="2030817"/>
            <a:ext cx="87326" cy="27901"/>
          </a:xfrm>
          <a:prstGeom prst="line">
            <a:avLst/>
          </a:prstGeom>
          <a:ln w="2413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 flipV="1">
            <a:off x="2061972" y="2006317"/>
            <a:ext cx="87325" cy="24500"/>
          </a:xfrm>
          <a:prstGeom prst="line">
            <a:avLst/>
          </a:prstGeom>
          <a:ln w="2413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 flipV="1">
            <a:off x="2149297" y="1985436"/>
            <a:ext cx="87325" cy="20881"/>
          </a:xfrm>
          <a:prstGeom prst="line">
            <a:avLst/>
          </a:prstGeom>
          <a:ln w="2413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 flipV="1">
            <a:off x="2236622" y="1968359"/>
            <a:ext cx="87325" cy="17077"/>
          </a:xfrm>
          <a:prstGeom prst="line">
            <a:avLst/>
          </a:prstGeom>
          <a:ln w="2413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 flipV="1">
            <a:off x="2323947" y="1955237"/>
            <a:ext cx="87325" cy="13122"/>
          </a:xfrm>
          <a:prstGeom prst="line">
            <a:avLst/>
          </a:prstGeom>
          <a:ln w="2413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 flipV="1">
            <a:off x="2411272" y="1946188"/>
            <a:ext cx="87326" cy="9049"/>
          </a:xfrm>
          <a:prstGeom prst="line">
            <a:avLst/>
          </a:prstGeom>
          <a:ln w="2413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 flipV="1">
            <a:off x="2498598" y="1941291"/>
            <a:ext cx="87325" cy="4897"/>
          </a:xfrm>
          <a:prstGeom prst="line">
            <a:avLst/>
          </a:prstGeom>
          <a:ln w="2413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 flipV="1">
            <a:off x="2585923" y="1940590"/>
            <a:ext cx="87325" cy="701"/>
          </a:xfrm>
          <a:prstGeom prst="line">
            <a:avLst/>
          </a:prstGeom>
          <a:ln w="2413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6"/>
          <p:cNvCxnSpPr/>
          <p:nvPr/>
        </p:nvCxnSpPr>
        <p:spPr>
          <a:xfrm>
            <a:off x="2673248" y="1940590"/>
            <a:ext cx="87325" cy="3501"/>
          </a:xfrm>
          <a:prstGeom prst="line">
            <a:avLst/>
          </a:prstGeom>
          <a:ln w="2413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ector 27"/>
          <p:cNvCxnSpPr/>
          <p:nvPr/>
        </p:nvCxnSpPr>
        <p:spPr>
          <a:xfrm>
            <a:off x="2760573" y="1944091"/>
            <a:ext cx="87325" cy="7673"/>
          </a:xfrm>
          <a:prstGeom prst="line">
            <a:avLst/>
          </a:prstGeom>
          <a:ln w="2413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Connector 28"/>
          <p:cNvCxnSpPr/>
          <p:nvPr/>
        </p:nvCxnSpPr>
        <p:spPr>
          <a:xfrm>
            <a:off x="2847898" y="1951764"/>
            <a:ext cx="87326" cy="11775"/>
          </a:xfrm>
          <a:prstGeom prst="line">
            <a:avLst/>
          </a:prstGeom>
          <a:ln w="2413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nector 29"/>
          <p:cNvCxnSpPr/>
          <p:nvPr/>
        </p:nvCxnSpPr>
        <p:spPr>
          <a:xfrm>
            <a:off x="2935224" y="1963539"/>
            <a:ext cx="87325" cy="15774"/>
          </a:xfrm>
          <a:prstGeom prst="line">
            <a:avLst/>
          </a:prstGeom>
          <a:ln w="2413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nector 30"/>
          <p:cNvCxnSpPr/>
          <p:nvPr/>
        </p:nvCxnSpPr>
        <p:spPr>
          <a:xfrm>
            <a:off x="3022549" y="1979313"/>
            <a:ext cx="87325" cy="19632"/>
          </a:xfrm>
          <a:prstGeom prst="line">
            <a:avLst/>
          </a:prstGeom>
          <a:ln w="2413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Connector 31"/>
          <p:cNvCxnSpPr/>
          <p:nvPr/>
        </p:nvCxnSpPr>
        <p:spPr>
          <a:xfrm>
            <a:off x="3109874" y="1998945"/>
            <a:ext cx="87325" cy="23316"/>
          </a:xfrm>
          <a:prstGeom prst="line">
            <a:avLst/>
          </a:prstGeom>
          <a:ln w="2413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Connector 32"/>
          <p:cNvCxnSpPr/>
          <p:nvPr/>
        </p:nvCxnSpPr>
        <p:spPr>
          <a:xfrm>
            <a:off x="3197199" y="2022261"/>
            <a:ext cx="87325" cy="26794"/>
          </a:xfrm>
          <a:prstGeom prst="line">
            <a:avLst/>
          </a:prstGeom>
          <a:ln w="2413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Connector 33"/>
          <p:cNvCxnSpPr/>
          <p:nvPr/>
        </p:nvCxnSpPr>
        <p:spPr>
          <a:xfrm>
            <a:off x="3284524" y="2049055"/>
            <a:ext cx="87326" cy="30033"/>
          </a:xfrm>
          <a:prstGeom prst="line">
            <a:avLst/>
          </a:prstGeom>
          <a:ln w="2413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Connector 34"/>
          <p:cNvCxnSpPr/>
          <p:nvPr/>
        </p:nvCxnSpPr>
        <p:spPr>
          <a:xfrm>
            <a:off x="3371850" y="2079088"/>
            <a:ext cx="87325" cy="33006"/>
          </a:xfrm>
          <a:prstGeom prst="line">
            <a:avLst/>
          </a:prstGeom>
          <a:ln w="2413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Connector 35"/>
          <p:cNvCxnSpPr/>
          <p:nvPr/>
        </p:nvCxnSpPr>
        <p:spPr>
          <a:xfrm>
            <a:off x="3459175" y="2112094"/>
            <a:ext cx="87325" cy="35686"/>
          </a:xfrm>
          <a:prstGeom prst="line">
            <a:avLst/>
          </a:prstGeom>
          <a:ln w="2413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" name="Connector 36"/>
          <p:cNvCxnSpPr/>
          <p:nvPr/>
        </p:nvCxnSpPr>
        <p:spPr>
          <a:xfrm>
            <a:off x="3546500" y="2147780"/>
            <a:ext cx="87325" cy="38048"/>
          </a:xfrm>
          <a:prstGeom prst="line">
            <a:avLst/>
          </a:prstGeom>
          <a:ln w="2413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" name="Connector 37"/>
          <p:cNvCxnSpPr/>
          <p:nvPr/>
        </p:nvCxnSpPr>
        <p:spPr>
          <a:xfrm>
            <a:off x="3633825" y="2185828"/>
            <a:ext cx="87325" cy="40075"/>
          </a:xfrm>
          <a:prstGeom prst="line">
            <a:avLst/>
          </a:prstGeom>
          <a:ln w="2413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" name="Connector 38"/>
          <p:cNvCxnSpPr/>
          <p:nvPr/>
        </p:nvCxnSpPr>
        <p:spPr>
          <a:xfrm>
            <a:off x="3721150" y="2225903"/>
            <a:ext cx="87326" cy="41744"/>
          </a:xfrm>
          <a:prstGeom prst="line">
            <a:avLst/>
          </a:prstGeom>
          <a:ln w="2413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" name="Connector 39"/>
          <p:cNvCxnSpPr/>
          <p:nvPr/>
        </p:nvCxnSpPr>
        <p:spPr>
          <a:xfrm>
            <a:off x="3808476" y="2267647"/>
            <a:ext cx="87325" cy="43043"/>
          </a:xfrm>
          <a:prstGeom prst="line">
            <a:avLst/>
          </a:prstGeom>
          <a:ln w="2413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" name="Connector 40"/>
          <p:cNvCxnSpPr/>
          <p:nvPr/>
        </p:nvCxnSpPr>
        <p:spPr>
          <a:xfrm>
            <a:off x="3895801" y="2310690"/>
            <a:ext cx="87325" cy="43960"/>
          </a:xfrm>
          <a:prstGeom prst="line">
            <a:avLst/>
          </a:prstGeom>
          <a:ln w="2413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" name="Connector 41"/>
          <p:cNvCxnSpPr/>
          <p:nvPr/>
        </p:nvCxnSpPr>
        <p:spPr>
          <a:xfrm>
            <a:off x="3983126" y="2354650"/>
            <a:ext cx="87325" cy="44488"/>
          </a:xfrm>
          <a:prstGeom prst="line">
            <a:avLst/>
          </a:prstGeom>
          <a:ln w="2413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3" name="Connector 42"/>
          <p:cNvCxnSpPr/>
          <p:nvPr/>
        </p:nvCxnSpPr>
        <p:spPr>
          <a:xfrm>
            <a:off x="4070451" y="2399138"/>
            <a:ext cx="87325" cy="44619"/>
          </a:xfrm>
          <a:prstGeom prst="line">
            <a:avLst/>
          </a:prstGeom>
          <a:ln w="2413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Connector 43"/>
          <p:cNvCxnSpPr/>
          <p:nvPr/>
        </p:nvCxnSpPr>
        <p:spPr>
          <a:xfrm>
            <a:off x="4157776" y="2443757"/>
            <a:ext cx="87326" cy="44355"/>
          </a:xfrm>
          <a:prstGeom prst="line">
            <a:avLst/>
          </a:prstGeom>
          <a:ln w="2413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" name="Connector 44"/>
          <p:cNvCxnSpPr/>
          <p:nvPr/>
        </p:nvCxnSpPr>
        <p:spPr>
          <a:xfrm>
            <a:off x="4245102" y="2488112"/>
            <a:ext cx="87325" cy="43698"/>
          </a:xfrm>
          <a:prstGeom prst="line">
            <a:avLst/>
          </a:prstGeom>
          <a:ln w="2413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6" name="Connector 45"/>
          <p:cNvCxnSpPr/>
          <p:nvPr/>
        </p:nvCxnSpPr>
        <p:spPr>
          <a:xfrm>
            <a:off x="4332427" y="2531810"/>
            <a:ext cx="87325" cy="42652"/>
          </a:xfrm>
          <a:prstGeom prst="line">
            <a:avLst/>
          </a:prstGeom>
          <a:ln w="2413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7" name="Connector 46"/>
          <p:cNvCxnSpPr/>
          <p:nvPr/>
        </p:nvCxnSpPr>
        <p:spPr>
          <a:xfrm>
            <a:off x="4419752" y="2574462"/>
            <a:ext cx="87325" cy="41228"/>
          </a:xfrm>
          <a:prstGeom prst="line">
            <a:avLst/>
          </a:prstGeom>
          <a:ln w="2413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8" name="Connector 47"/>
          <p:cNvCxnSpPr/>
          <p:nvPr/>
        </p:nvCxnSpPr>
        <p:spPr>
          <a:xfrm>
            <a:off x="4507077" y="2615690"/>
            <a:ext cx="87325" cy="39438"/>
          </a:xfrm>
          <a:prstGeom prst="line">
            <a:avLst/>
          </a:prstGeom>
          <a:ln w="2413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9" name="Connector 48"/>
          <p:cNvCxnSpPr/>
          <p:nvPr/>
        </p:nvCxnSpPr>
        <p:spPr>
          <a:xfrm>
            <a:off x="4594402" y="2655128"/>
            <a:ext cx="87326" cy="37297"/>
          </a:xfrm>
          <a:prstGeom prst="line">
            <a:avLst/>
          </a:prstGeom>
          <a:ln w="2413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0" name="Connector 49"/>
          <p:cNvCxnSpPr/>
          <p:nvPr/>
        </p:nvCxnSpPr>
        <p:spPr>
          <a:xfrm>
            <a:off x="4681728" y="2692425"/>
            <a:ext cx="87325" cy="34827"/>
          </a:xfrm>
          <a:prstGeom prst="line">
            <a:avLst/>
          </a:prstGeom>
          <a:ln w="2413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1" name="Connector 50"/>
          <p:cNvCxnSpPr/>
          <p:nvPr/>
        </p:nvCxnSpPr>
        <p:spPr>
          <a:xfrm>
            <a:off x="4769053" y="2727252"/>
            <a:ext cx="87325" cy="32046"/>
          </a:xfrm>
          <a:prstGeom prst="line">
            <a:avLst/>
          </a:prstGeom>
          <a:ln w="2413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2" name="Connector 51"/>
          <p:cNvCxnSpPr/>
          <p:nvPr/>
        </p:nvCxnSpPr>
        <p:spPr>
          <a:xfrm>
            <a:off x="4856378" y="2759298"/>
            <a:ext cx="87325" cy="28982"/>
          </a:xfrm>
          <a:prstGeom prst="line">
            <a:avLst/>
          </a:prstGeom>
          <a:ln w="2413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3" name="Connector 52"/>
          <p:cNvCxnSpPr/>
          <p:nvPr/>
        </p:nvCxnSpPr>
        <p:spPr>
          <a:xfrm>
            <a:off x="4943703" y="2788280"/>
            <a:ext cx="87325" cy="25659"/>
          </a:xfrm>
          <a:prstGeom prst="line">
            <a:avLst/>
          </a:prstGeom>
          <a:ln w="2413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4" name="Connector 53"/>
          <p:cNvCxnSpPr/>
          <p:nvPr/>
        </p:nvCxnSpPr>
        <p:spPr>
          <a:xfrm>
            <a:off x="5031028" y="2813939"/>
            <a:ext cx="87326" cy="22110"/>
          </a:xfrm>
          <a:prstGeom prst="line">
            <a:avLst/>
          </a:prstGeom>
          <a:ln w="2413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5" name="Connector 54"/>
          <p:cNvCxnSpPr/>
          <p:nvPr/>
        </p:nvCxnSpPr>
        <p:spPr>
          <a:xfrm>
            <a:off x="5118354" y="2836049"/>
            <a:ext cx="87325" cy="18364"/>
          </a:xfrm>
          <a:prstGeom prst="line">
            <a:avLst/>
          </a:prstGeom>
          <a:ln w="2413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6" name="Connector 55"/>
          <p:cNvCxnSpPr/>
          <p:nvPr/>
        </p:nvCxnSpPr>
        <p:spPr>
          <a:xfrm>
            <a:off x="5205679" y="2854413"/>
            <a:ext cx="87325" cy="14454"/>
          </a:xfrm>
          <a:prstGeom prst="line">
            <a:avLst/>
          </a:prstGeom>
          <a:ln w="2413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7" name="Connector 56"/>
          <p:cNvCxnSpPr/>
          <p:nvPr/>
        </p:nvCxnSpPr>
        <p:spPr>
          <a:xfrm>
            <a:off x="5293004" y="2868867"/>
            <a:ext cx="87325" cy="10418"/>
          </a:xfrm>
          <a:prstGeom prst="line">
            <a:avLst/>
          </a:prstGeom>
          <a:ln w="2413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8" name="Connector 57"/>
          <p:cNvCxnSpPr/>
          <p:nvPr/>
        </p:nvCxnSpPr>
        <p:spPr>
          <a:xfrm>
            <a:off x="5380329" y="2879285"/>
            <a:ext cx="87325" cy="6288"/>
          </a:xfrm>
          <a:prstGeom prst="line">
            <a:avLst/>
          </a:prstGeom>
          <a:ln w="2413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9" name="Connector 58"/>
          <p:cNvCxnSpPr/>
          <p:nvPr/>
        </p:nvCxnSpPr>
        <p:spPr>
          <a:xfrm>
            <a:off x="5467654" y="2885573"/>
            <a:ext cx="87326" cy="2102"/>
          </a:xfrm>
          <a:prstGeom prst="line">
            <a:avLst/>
          </a:prstGeom>
          <a:ln w="2413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0" name="Connector 59"/>
          <p:cNvCxnSpPr/>
          <p:nvPr/>
        </p:nvCxnSpPr>
        <p:spPr>
          <a:xfrm flipV="1">
            <a:off x="5554980" y="2885573"/>
            <a:ext cx="87325" cy="2102"/>
          </a:xfrm>
          <a:prstGeom prst="line">
            <a:avLst/>
          </a:prstGeom>
          <a:ln w="2413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1" name="Connector 60"/>
          <p:cNvCxnSpPr/>
          <p:nvPr/>
        </p:nvCxnSpPr>
        <p:spPr>
          <a:xfrm flipV="1">
            <a:off x="5642305" y="2879285"/>
            <a:ext cx="87325" cy="6288"/>
          </a:xfrm>
          <a:prstGeom prst="line">
            <a:avLst/>
          </a:prstGeom>
          <a:ln w="2413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2" name="Connector 61"/>
          <p:cNvCxnSpPr/>
          <p:nvPr/>
        </p:nvCxnSpPr>
        <p:spPr>
          <a:xfrm flipV="1">
            <a:off x="5729630" y="2868867"/>
            <a:ext cx="87325" cy="10418"/>
          </a:xfrm>
          <a:prstGeom prst="line">
            <a:avLst/>
          </a:prstGeom>
          <a:ln w="2413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3" name="Connector 62"/>
          <p:cNvCxnSpPr/>
          <p:nvPr/>
        </p:nvCxnSpPr>
        <p:spPr>
          <a:xfrm flipV="1">
            <a:off x="5816955" y="2854413"/>
            <a:ext cx="87325" cy="14454"/>
          </a:xfrm>
          <a:prstGeom prst="line">
            <a:avLst/>
          </a:prstGeom>
          <a:ln w="2413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4" name="Connector 63"/>
          <p:cNvCxnSpPr/>
          <p:nvPr/>
        </p:nvCxnSpPr>
        <p:spPr>
          <a:xfrm flipV="1">
            <a:off x="5904280" y="2836049"/>
            <a:ext cx="87326" cy="18364"/>
          </a:xfrm>
          <a:prstGeom prst="line">
            <a:avLst/>
          </a:prstGeom>
          <a:ln w="2413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5" name="Connector 64"/>
          <p:cNvCxnSpPr/>
          <p:nvPr/>
        </p:nvCxnSpPr>
        <p:spPr>
          <a:xfrm flipV="1">
            <a:off x="5991606" y="2813939"/>
            <a:ext cx="87325" cy="22110"/>
          </a:xfrm>
          <a:prstGeom prst="line">
            <a:avLst/>
          </a:prstGeom>
          <a:ln w="2413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6" name="Connector 65"/>
          <p:cNvCxnSpPr/>
          <p:nvPr/>
        </p:nvCxnSpPr>
        <p:spPr>
          <a:xfrm flipV="1">
            <a:off x="6078931" y="2788280"/>
            <a:ext cx="87325" cy="25659"/>
          </a:xfrm>
          <a:prstGeom prst="line">
            <a:avLst/>
          </a:prstGeom>
          <a:ln w="2413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7" name="Connector 66"/>
          <p:cNvCxnSpPr/>
          <p:nvPr/>
        </p:nvCxnSpPr>
        <p:spPr>
          <a:xfrm flipV="1">
            <a:off x="6166256" y="2759298"/>
            <a:ext cx="87325" cy="28982"/>
          </a:xfrm>
          <a:prstGeom prst="line">
            <a:avLst/>
          </a:prstGeom>
          <a:ln w="2413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8" name="Connector 67"/>
          <p:cNvCxnSpPr/>
          <p:nvPr/>
        </p:nvCxnSpPr>
        <p:spPr>
          <a:xfrm flipV="1">
            <a:off x="6253581" y="2727252"/>
            <a:ext cx="87325" cy="32046"/>
          </a:xfrm>
          <a:prstGeom prst="line">
            <a:avLst/>
          </a:prstGeom>
          <a:ln w="2413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9" name="Connector 68"/>
          <p:cNvCxnSpPr/>
          <p:nvPr/>
        </p:nvCxnSpPr>
        <p:spPr>
          <a:xfrm flipV="1">
            <a:off x="6340906" y="2692425"/>
            <a:ext cx="87326" cy="34827"/>
          </a:xfrm>
          <a:prstGeom prst="line">
            <a:avLst/>
          </a:prstGeom>
          <a:ln w="2413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0" name="Connector 69"/>
          <p:cNvCxnSpPr/>
          <p:nvPr/>
        </p:nvCxnSpPr>
        <p:spPr>
          <a:xfrm flipV="1">
            <a:off x="6428232" y="2655128"/>
            <a:ext cx="87325" cy="37297"/>
          </a:xfrm>
          <a:prstGeom prst="line">
            <a:avLst/>
          </a:prstGeom>
          <a:ln w="2413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1" name="Connector 70"/>
          <p:cNvCxnSpPr/>
          <p:nvPr/>
        </p:nvCxnSpPr>
        <p:spPr>
          <a:xfrm flipV="1">
            <a:off x="6515557" y="2615690"/>
            <a:ext cx="87325" cy="39438"/>
          </a:xfrm>
          <a:prstGeom prst="line">
            <a:avLst/>
          </a:prstGeom>
          <a:ln w="2413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2" name="Connector 71"/>
          <p:cNvCxnSpPr/>
          <p:nvPr/>
        </p:nvCxnSpPr>
        <p:spPr>
          <a:xfrm flipV="1">
            <a:off x="6602882" y="2574462"/>
            <a:ext cx="87325" cy="41228"/>
          </a:xfrm>
          <a:prstGeom prst="line">
            <a:avLst/>
          </a:prstGeom>
          <a:ln w="2413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3" name="Connector 72"/>
          <p:cNvCxnSpPr/>
          <p:nvPr/>
        </p:nvCxnSpPr>
        <p:spPr>
          <a:xfrm flipV="1">
            <a:off x="6690207" y="2531810"/>
            <a:ext cx="87325" cy="42652"/>
          </a:xfrm>
          <a:prstGeom prst="line">
            <a:avLst/>
          </a:prstGeom>
          <a:ln w="2413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4" name="Connector 73"/>
          <p:cNvCxnSpPr/>
          <p:nvPr/>
        </p:nvCxnSpPr>
        <p:spPr>
          <a:xfrm flipV="1">
            <a:off x="6777532" y="2488112"/>
            <a:ext cx="87326" cy="43698"/>
          </a:xfrm>
          <a:prstGeom prst="line">
            <a:avLst/>
          </a:prstGeom>
          <a:ln w="2413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5" name="Connector 74"/>
          <p:cNvCxnSpPr/>
          <p:nvPr/>
        </p:nvCxnSpPr>
        <p:spPr>
          <a:xfrm flipV="1">
            <a:off x="6864858" y="2443757"/>
            <a:ext cx="87325" cy="44355"/>
          </a:xfrm>
          <a:prstGeom prst="line">
            <a:avLst/>
          </a:prstGeom>
          <a:ln w="2413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6" name="Connector 75"/>
          <p:cNvCxnSpPr/>
          <p:nvPr/>
        </p:nvCxnSpPr>
        <p:spPr>
          <a:xfrm flipV="1">
            <a:off x="6952183" y="2399138"/>
            <a:ext cx="87325" cy="44619"/>
          </a:xfrm>
          <a:prstGeom prst="line">
            <a:avLst/>
          </a:prstGeom>
          <a:ln w="2413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7" name="Connector 76"/>
          <p:cNvCxnSpPr/>
          <p:nvPr/>
        </p:nvCxnSpPr>
        <p:spPr>
          <a:xfrm flipV="1">
            <a:off x="7039508" y="2354650"/>
            <a:ext cx="87325" cy="44488"/>
          </a:xfrm>
          <a:prstGeom prst="line">
            <a:avLst/>
          </a:prstGeom>
          <a:ln w="2413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8" name="Connector 77"/>
          <p:cNvCxnSpPr/>
          <p:nvPr/>
        </p:nvCxnSpPr>
        <p:spPr>
          <a:xfrm flipV="1">
            <a:off x="7126833" y="2310690"/>
            <a:ext cx="87325" cy="43960"/>
          </a:xfrm>
          <a:prstGeom prst="line">
            <a:avLst/>
          </a:prstGeom>
          <a:ln w="2413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9" name="Connector 78"/>
          <p:cNvCxnSpPr/>
          <p:nvPr/>
        </p:nvCxnSpPr>
        <p:spPr>
          <a:xfrm flipV="1">
            <a:off x="7214158" y="2267647"/>
            <a:ext cx="87326" cy="43043"/>
          </a:xfrm>
          <a:prstGeom prst="line">
            <a:avLst/>
          </a:prstGeom>
          <a:ln w="2413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0" name="Connector 79"/>
          <p:cNvCxnSpPr/>
          <p:nvPr/>
        </p:nvCxnSpPr>
        <p:spPr>
          <a:xfrm flipV="1">
            <a:off x="7301484" y="2225903"/>
            <a:ext cx="87325" cy="41744"/>
          </a:xfrm>
          <a:prstGeom prst="line">
            <a:avLst/>
          </a:prstGeom>
          <a:ln w="2413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1" name="Connector 80"/>
          <p:cNvCxnSpPr/>
          <p:nvPr/>
        </p:nvCxnSpPr>
        <p:spPr>
          <a:xfrm flipV="1">
            <a:off x="7388809" y="2185828"/>
            <a:ext cx="87325" cy="40075"/>
          </a:xfrm>
          <a:prstGeom prst="line">
            <a:avLst/>
          </a:prstGeom>
          <a:ln w="2413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2" name="Connector 81"/>
          <p:cNvCxnSpPr/>
          <p:nvPr/>
        </p:nvCxnSpPr>
        <p:spPr>
          <a:xfrm flipV="1">
            <a:off x="7476134" y="2147780"/>
            <a:ext cx="87325" cy="38048"/>
          </a:xfrm>
          <a:prstGeom prst="line">
            <a:avLst/>
          </a:prstGeom>
          <a:ln w="2413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3" name="Connector 82"/>
          <p:cNvCxnSpPr/>
          <p:nvPr/>
        </p:nvCxnSpPr>
        <p:spPr>
          <a:xfrm flipV="1">
            <a:off x="7563459" y="2112094"/>
            <a:ext cx="87325" cy="35686"/>
          </a:xfrm>
          <a:prstGeom prst="line">
            <a:avLst/>
          </a:prstGeom>
          <a:ln w="2413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4" name="Connector 83"/>
          <p:cNvCxnSpPr/>
          <p:nvPr/>
        </p:nvCxnSpPr>
        <p:spPr>
          <a:xfrm flipV="1">
            <a:off x="7650784" y="2079088"/>
            <a:ext cx="87326" cy="33006"/>
          </a:xfrm>
          <a:prstGeom prst="line">
            <a:avLst/>
          </a:prstGeom>
          <a:ln w="2413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5" name="Connector 84"/>
          <p:cNvCxnSpPr/>
          <p:nvPr/>
        </p:nvCxnSpPr>
        <p:spPr>
          <a:xfrm flipV="1">
            <a:off x="7738110" y="2049055"/>
            <a:ext cx="87325" cy="30033"/>
          </a:xfrm>
          <a:prstGeom prst="line">
            <a:avLst/>
          </a:prstGeom>
          <a:ln w="2413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6" name="Connector 85"/>
          <p:cNvCxnSpPr/>
          <p:nvPr/>
        </p:nvCxnSpPr>
        <p:spPr>
          <a:xfrm flipV="1">
            <a:off x="7825435" y="2022261"/>
            <a:ext cx="87325" cy="26794"/>
          </a:xfrm>
          <a:prstGeom prst="line">
            <a:avLst/>
          </a:prstGeom>
          <a:ln w="2413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7" name="Connector 86"/>
          <p:cNvCxnSpPr/>
          <p:nvPr/>
        </p:nvCxnSpPr>
        <p:spPr>
          <a:xfrm flipV="1">
            <a:off x="7912760" y="1998945"/>
            <a:ext cx="87325" cy="23316"/>
          </a:xfrm>
          <a:prstGeom prst="line">
            <a:avLst/>
          </a:prstGeom>
          <a:ln w="2413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8" name="Connector 87"/>
          <p:cNvCxnSpPr/>
          <p:nvPr/>
        </p:nvCxnSpPr>
        <p:spPr>
          <a:xfrm flipV="1">
            <a:off x="8000085" y="1979313"/>
            <a:ext cx="87325" cy="19632"/>
          </a:xfrm>
          <a:prstGeom prst="line">
            <a:avLst/>
          </a:prstGeom>
          <a:ln w="2413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9" name="Connector 88"/>
          <p:cNvCxnSpPr/>
          <p:nvPr/>
        </p:nvCxnSpPr>
        <p:spPr>
          <a:xfrm flipV="1">
            <a:off x="8087410" y="1963539"/>
            <a:ext cx="87326" cy="15774"/>
          </a:xfrm>
          <a:prstGeom prst="line">
            <a:avLst/>
          </a:prstGeom>
          <a:ln w="2413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0" name="Connector 89"/>
          <p:cNvCxnSpPr/>
          <p:nvPr/>
        </p:nvCxnSpPr>
        <p:spPr>
          <a:xfrm flipV="1">
            <a:off x="8174736" y="1951764"/>
            <a:ext cx="87325" cy="11775"/>
          </a:xfrm>
          <a:prstGeom prst="line">
            <a:avLst/>
          </a:prstGeom>
          <a:ln w="2413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1" name="Connector 90"/>
          <p:cNvCxnSpPr/>
          <p:nvPr/>
        </p:nvCxnSpPr>
        <p:spPr>
          <a:xfrm flipV="1">
            <a:off x="8262061" y="1944091"/>
            <a:ext cx="87325" cy="7673"/>
          </a:xfrm>
          <a:prstGeom prst="line">
            <a:avLst/>
          </a:prstGeom>
          <a:ln w="2413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2" name="Connector 91"/>
          <p:cNvCxnSpPr/>
          <p:nvPr/>
        </p:nvCxnSpPr>
        <p:spPr>
          <a:xfrm flipV="1">
            <a:off x="8349386" y="1940590"/>
            <a:ext cx="87325" cy="3501"/>
          </a:xfrm>
          <a:prstGeom prst="line">
            <a:avLst/>
          </a:prstGeom>
          <a:ln w="2413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3" name="Connector 92"/>
          <p:cNvCxnSpPr/>
          <p:nvPr/>
        </p:nvCxnSpPr>
        <p:spPr>
          <a:xfrm>
            <a:off x="8436711" y="1940590"/>
            <a:ext cx="87325" cy="701"/>
          </a:xfrm>
          <a:prstGeom prst="line">
            <a:avLst/>
          </a:prstGeom>
          <a:ln w="2413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4" name="Connector 93"/>
          <p:cNvCxnSpPr/>
          <p:nvPr/>
        </p:nvCxnSpPr>
        <p:spPr>
          <a:xfrm>
            <a:off x="8524036" y="1941291"/>
            <a:ext cx="87326" cy="4897"/>
          </a:xfrm>
          <a:prstGeom prst="line">
            <a:avLst/>
          </a:prstGeom>
          <a:ln w="2413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5" name="Connector 94"/>
          <p:cNvCxnSpPr/>
          <p:nvPr/>
        </p:nvCxnSpPr>
        <p:spPr>
          <a:xfrm>
            <a:off x="8611362" y="1946188"/>
            <a:ext cx="87325" cy="9049"/>
          </a:xfrm>
          <a:prstGeom prst="line">
            <a:avLst/>
          </a:prstGeom>
          <a:ln w="2413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6" name="Connector 95"/>
          <p:cNvCxnSpPr/>
          <p:nvPr/>
        </p:nvCxnSpPr>
        <p:spPr>
          <a:xfrm>
            <a:off x="8698687" y="1955237"/>
            <a:ext cx="87325" cy="13122"/>
          </a:xfrm>
          <a:prstGeom prst="line">
            <a:avLst/>
          </a:prstGeom>
          <a:ln w="2413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7" name="Connector 96"/>
          <p:cNvCxnSpPr/>
          <p:nvPr/>
        </p:nvCxnSpPr>
        <p:spPr>
          <a:xfrm>
            <a:off x="8786012" y="1968359"/>
            <a:ext cx="87325" cy="17077"/>
          </a:xfrm>
          <a:prstGeom prst="line">
            <a:avLst/>
          </a:prstGeom>
          <a:ln w="2413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8" name="Connector 97"/>
          <p:cNvCxnSpPr/>
          <p:nvPr/>
        </p:nvCxnSpPr>
        <p:spPr>
          <a:xfrm>
            <a:off x="8873337" y="1985436"/>
            <a:ext cx="87325" cy="20881"/>
          </a:xfrm>
          <a:prstGeom prst="line">
            <a:avLst/>
          </a:prstGeom>
          <a:ln w="2413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9" name="Connector 98"/>
          <p:cNvCxnSpPr/>
          <p:nvPr/>
        </p:nvCxnSpPr>
        <p:spPr>
          <a:xfrm>
            <a:off x="8960662" y="2006317"/>
            <a:ext cx="87326" cy="24500"/>
          </a:xfrm>
          <a:prstGeom prst="line">
            <a:avLst/>
          </a:prstGeom>
          <a:ln w="2413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0" name="Connector 99"/>
          <p:cNvCxnSpPr/>
          <p:nvPr/>
        </p:nvCxnSpPr>
        <p:spPr>
          <a:xfrm>
            <a:off x="9047988" y="2030817"/>
            <a:ext cx="87325" cy="27901"/>
          </a:xfrm>
          <a:prstGeom prst="line">
            <a:avLst/>
          </a:prstGeom>
          <a:ln w="2413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1" name="Connector 100"/>
          <p:cNvCxnSpPr/>
          <p:nvPr/>
        </p:nvCxnSpPr>
        <p:spPr>
          <a:xfrm>
            <a:off x="9135313" y="2058718"/>
            <a:ext cx="87325" cy="31055"/>
          </a:xfrm>
          <a:prstGeom prst="line">
            <a:avLst/>
          </a:prstGeom>
          <a:ln w="2413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2" name="Connector 101"/>
          <p:cNvCxnSpPr/>
          <p:nvPr/>
        </p:nvCxnSpPr>
        <p:spPr>
          <a:xfrm>
            <a:off x="9222638" y="2089773"/>
            <a:ext cx="87325" cy="33933"/>
          </a:xfrm>
          <a:prstGeom prst="line">
            <a:avLst/>
          </a:prstGeom>
          <a:ln w="2413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3" name="Connector 102"/>
          <p:cNvCxnSpPr/>
          <p:nvPr/>
        </p:nvCxnSpPr>
        <p:spPr>
          <a:xfrm>
            <a:off x="9309963" y="2123706"/>
            <a:ext cx="87325" cy="36510"/>
          </a:xfrm>
          <a:prstGeom prst="line">
            <a:avLst/>
          </a:prstGeom>
          <a:ln w="2413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4" name="Connector 103"/>
          <p:cNvCxnSpPr/>
          <p:nvPr/>
        </p:nvCxnSpPr>
        <p:spPr>
          <a:xfrm>
            <a:off x="9397288" y="2160216"/>
            <a:ext cx="87326" cy="38763"/>
          </a:xfrm>
          <a:prstGeom prst="line">
            <a:avLst/>
          </a:prstGeom>
          <a:ln w="2413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5" name="Connector 104"/>
          <p:cNvCxnSpPr/>
          <p:nvPr/>
        </p:nvCxnSpPr>
        <p:spPr>
          <a:xfrm>
            <a:off x="9484614" y="2198979"/>
            <a:ext cx="87325" cy="40671"/>
          </a:xfrm>
          <a:prstGeom prst="line">
            <a:avLst/>
          </a:prstGeom>
          <a:ln w="2413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6" name="Connector 105"/>
          <p:cNvCxnSpPr/>
          <p:nvPr/>
        </p:nvCxnSpPr>
        <p:spPr>
          <a:xfrm>
            <a:off x="9571939" y="2239650"/>
            <a:ext cx="87325" cy="42219"/>
          </a:xfrm>
          <a:prstGeom prst="line">
            <a:avLst/>
          </a:prstGeom>
          <a:ln w="2413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7" name="Connector 106"/>
          <p:cNvCxnSpPr/>
          <p:nvPr/>
        </p:nvCxnSpPr>
        <p:spPr>
          <a:xfrm>
            <a:off x="9659264" y="2281869"/>
            <a:ext cx="87325" cy="43392"/>
          </a:xfrm>
          <a:prstGeom prst="line">
            <a:avLst/>
          </a:prstGeom>
          <a:ln w="2413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8" name="Connector 107"/>
          <p:cNvCxnSpPr/>
          <p:nvPr/>
        </p:nvCxnSpPr>
        <p:spPr>
          <a:xfrm>
            <a:off x="9746589" y="2325261"/>
            <a:ext cx="87325" cy="44179"/>
          </a:xfrm>
          <a:prstGeom prst="line">
            <a:avLst/>
          </a:prstGeom>
          <a:ln w="2413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9" name="Connector 108"/>
          <p:cNvCxnSpPr/>
          <p:nvPr/>
        </p:nvCxnSpPr>
        <p:spPr>
          <a:xfrm>
            <a:off x="9833914" y="2369440"/>
            <a:ext cx="87326" cy="44575"/>
          </a:xfrm>
          <a:prstGeom prst="line">
            <a:avLst/>
          </a:prstGeom>
          <a:ln w="2413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0" name="Connector 109"/>
          <p:cNvCxnSpPr/>
          <p:nvPr/>
        </p:nvCxnSpPr>
        <p:spPr>
          <a:xfrm>
            <a:off x="1097280" y="4425696"/>
            <a:ext cx="9509760" cy="0"/>
          </a:xfrm>
          <a:prstGeom prst="line">
            <a:avLst/>
          </a:prstGeom>
          <a:ln w="2032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1" name="Connector 110"/>
          <p:cNvCxnSpPr/>
          <p:nvPr/>
        </p:nvCxnSpPr>
        <p:spPr>
          <a:xfrm>
            <a:off x="1188720" y="3767328"/>
            <a:ext cx="0" cy="1325879"/>
          </a:xfrm>
          <a:prstGeom prst="line">
            <a:avLst/>
          </a:prstGeom>
          <a:ln w="1651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2" name="TextBox 111"/>
          <p:cNvSpPr txBox="1"/>
          <p:nvPr/>
        </p:nvSpPr>
        <p:spPr>
          <a:xfrm>
            <a:off x="1216152" y="3456432"/>
            <a:ext cx="128016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1600" b="0">
                <a:solidFill>
                  <a:srgbClr val="808080"/>
                </a:solidFill>
                <a:latin typeface="Alibaba PuHuiTi 3.0 55 Regular"/>
              </a:defRPr>
            </a:pPr>
            <a:r>
              <a:t>振幅</a:t>
            </a:r>
          </a:p>
        </p:txBody>
      </p:sp>
      <p:sp>
        <p:nvSpPr>
          <p:cNvPr id="113" name="TextBox 112"/>
          <p:cNvSpPr txBox="1"/>
          <p:nvPr/>
        </p:nvSpPr>
        <p:spPr>
          <a:xfrm>
            <a:off x="9692640" y="4544568"/>
            <a:ext cx="82296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1600" b="0">
                <a:solidFill>
                  <a:srgbClr val="808080"/>
                </a:solidFill>
                <a:latin typeface="Alibaba PuHuiTi 3.0 55 Regular"/>
              </a:defRPr>
            </a:pPr>
            <a:r>
              <a:t>时间</a:t>
            </a:r>
          </a:p>
        </p:txBody>
      </p:sp>
      <p:sp>
        <p:nvSpPr>
          <p:cNvPr id="114" name="TextBox 113"/>
          <p:cNvSpPr txBox="1"/>
          <p:nvPr/>
        </p:nvSpPr>
        <p:spPr>
          <a:xfrm>
            <a:off x="1097280" y="3227832"/>
            <a:ext cx="950976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200" b="1">
                <a:solidFill>
                  <a:srgbClr val="8C64E1"/>
                </a:solidFill>
                <a:latin typeface="Alibaba PuHuiTi 3.0 115 Black"/>
              </a:defRPr>
            </a:pPr>
            <a:r>
              <a:t>波形 B</a:t>
            </a:r>
          </a:p>
        </p:txBody>
      </p:sp>
      <p:cxnSp>
        <p:nvCxnSpPr>
          <p:cNvPr id="115" name="Connector 114"/>
          <p:cNvCxnSpPr/>
          <p:nvPr/>
        </p:nvCxnSpPr>
        <p:spPr>
          <a:xfrm flipV="1">
            <a:off x="1188720" y="4267506"/>
            <a:ext cx="87325" cy="103326"/>
          </a:xfrm>
          <a:prstGeom prst="line">
            <a:avLst/>
          </a:prstGeom>
          <a:ln w="2413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6" name="Connector 115"/>
          <p:cNvCxnSpPr/>
          <p:nvPr/>
        </p:nvCxnSpPr>
        <p:spPr>
          <a:xfrm flipV="1">
            <a:off x="1276045" y="4169157"/>
            <a:ext cx="87325" cy="98349"/>
          </a:xfrm>
          <a:prstGeom prst="line">
            <a:avLst/>
          </a:prstGeom>
          <a:ln w="2413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7" name="Connector 116"/>
          <p:cNvCxnSpPr/>
          <p:nvPr/>
        </p:nvCxnSpPr>
        <p:spPr>
          <a:xfrm flipV="1">
            <a:off x="1363370" y="4080522"/>
            <a:ext cx="87325" cy="88635"/>
          </a:xfrm>
          <a:prstGeom prst="line">
            <a:avLst/>
          </a:prstGeom>
          <a:ln w="2413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8" name="Connector 117"/>
          <p:cNvCxnSpPr/>
          <p:nvPr/>
        </p:nvCxnSpPr>
        <p:spPr>
          <a:xfrm flipV="1">
            <a:off x="1450695" y="4005871"/>
            <a:ext cx="87325" cy="74651"/>
          </a:xfrm>
          <a:prstGeom prst="line">
            <a:avLst/>
          </a:prstGeom>
          <a:ln w="2413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9" name="Connector 118"/>
          <p:cNvCxnSpPr/>
          <p:nvPr/>
        </p:nvCxnSpPr>
        <p:spPr>
          <a:xfrm flipV="1">
            <a:off x="1538020" y="3948798"/>
            <a:ext cx="87326" cy="57073"/>
          </a:xfrm>
          <a:prstGeom prst="line">
            <a:avLst/>
          </a:prstGeom>
          <a:ln w="2413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0" name="Connector 119"/>
          <p:cNvCxnSpPr/>
          <p:nvPr/>
        </p:nvCxnSpPr>
        <p:spPr>
          <a:xfrm flipV="1">
            <a:off x="1625346" y="3912053"/>
            <a:ext cx="87325" cy="36745"/>
          </a:xfrm>
          <a:prstGeom prst="line">
            <a:avLst/>
          </a:prstGeom>
          <a:ln w="2413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1" name="Connector 120"/>
          <p:cNvCxnSpPr/>
          <p:nvPr/>
        </p:nvCxnSpPr>
        <p:spPr>
          <a:xfrm flipV="1">
            <a:off x="1712671" y="3897406"/>
            <a:ext cx="87325" cy="14647"/>
          </a:xfrm>
          <a:prstGeom prst="line">
            <a:avLst/>
          </a:prstGeom>
          <a:ln w="2413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2" name="Connector 121"/>
          <p:cNvCxnSpPr/>
          <p:nvPr/>
        </p:nvCxnSpPr>
        <p:spPr>
          <a:xfrm>
            <a:off x="1799996" y="3897406"/>
            <a:ext cx="87325" cy="8156"/>
          </a:xfrm>
          <a:prstGeom prst="line">
            <a:avLst/>
          </a:prstGeom>
          <a:ln w="2413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3" name="Connector 122"/>
          <p:cNvCxnSpPr/>
          <p:nvPr/>
        </p:nvCxnSpPr>
        <p:spPr>
          <a:xfrm>
            <a:off x="1887321" y="3905562"/>
            <a:ext cx="87325" cy="30567"/>
          </a:xfrm>
          <a:prstGeom prst="line">
            <a:avLst/>
          </a:prstGeom>
          <a:ln w="2413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4" name="Connector 123"/>
          <p:cNvCxnSpPr/>
          <p:nvPr/>
        </p:nvCxnSpPr>
        <p:spPr>
          <a:xfrm>
            <a:off x="1974646" y="3936129"/>
            <a:ext cx="87326" cy="51504"/>
          </a:xfrm>
          <a:prstGeom prst="line">
            <a:avLst/>
          </a:prstGeom>
          <a:ln w="2413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5" name="Connector 124"/>
          <p:cNvCxnSpPr/>
          <p:nvPr/>
        </p:nvCxnSpPr>
        <p:spPr>
          <a:xfrm>
            <a:off x="2061972" y="3987633"/>
            <a:ext cx="87325" cy="69962"/>
          </a:xfrm>
          <a:prstGeom prst="line">
            <a:avLst/>
          </a:prstGeom>
          <a:ln w="2413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6" name="Connector 125"/>
          <p:cNvCxnSpPr/>
          <p:nvPr/>
        </p:nvCxnSpPr>
        <p:spPr>
          <a:xfrm>
            <a:off x="2149297" y="4057595"/>
            <a:ext cx="87325" cy="85049"/>
          </a:xfrm>
          <a:prstGeom prst="line">
            <a:avLst/>
          </a:prstGeom>
          <a:ln w="2413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7" name="Connector 126"/>
          <p:cNvCxnSpPr/>
          <p:nvPr/>
        </p:nvCxnSpPr>
        <p:spPr>
          <a:xfrm>
            <a:off x="2236622" y="4142644"/>
            <a:ext cx="87325" cy="96041"/>
          </a:xfrm>
          <a:prstGeom prst="line">
            <a:avLst/>
          </a:prstGeom>
          <a:ln w="2413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8" name="Connector 127"/>
          <p:cNvCxnSpPr/>
          <p:nvPr/>
        </p:nvCxnSpPr>
        <p:spPr>
          <a:xfrm>
            <a:off x="2323947" y="4238685"/>
            <a:ext cx="87325" cy="102405"/>
          </a:xfrm>
          <a:prstGeom prst="line">
            <a:avLst/>
          </a:prstGeom>
          <a:ln w="2413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9" name="Connector 128"/>
          <p:cNvCxnSpPr/>
          <p:nvPr/>
        </p:nvCxnSpPr>
        <p:spPr>
          <a:xfrm>
            <a:off x="2411272" y="4341090"/>
            <a:ext cx="87326" cy="103838"/>
          </a:xfrm>
          <a:prstGeom prst="line">
            <a:avLst/>
          </a:prstGeom>
          <a:ln w="2413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0" name="Connector 129"/>
          <p:cNvCxnSpPr/>
          <p:nvPr/>
        </p:nvCxnSpPr>
        <p:spPr>
          <a:xfrm>
            <a:off x="2498598" y="4444928"/>
            <a:ext cx="87325" cy="100269"/>
          </a:xfrm>
          <a:prstGeom prst="line">
            <a:avLst/>
          </a:prstGeom>
          <a:ln w="2413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1" name="Connector 130"/>
          <p:cNvCxnSpPr/>
          <p:nvPr/>
        </p:nvCxnSpPr>
        <p:spPr>
          <a:xfrm>
            <a:off x="2585923" y="4545197"/>
            <a:ext cx="87325" cy="91870"/>
          </a:xfrm>
          <a:prstGeom prst="line">
            <a:avLst/>
          </a:prstGeom>
          <a:ln w="2413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2" name="Connector 131"/>
          <p:cNvCxnSpPr/>
          <p:nvPr/>
        </p:nvCxnSpPr>
        <p:spPr>
          <a:xfrm>
            <a:off x="2673248" y="4637067"/>
            <a:ext cx="87325" cy="79047"/>
          </a:xfrm>
          <a:prstGeom prst="line">
            <a:avLst/>
          </a:prstGeom>
          <a:ln w="2413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3" name="Connector 132"/>
          <p:cNvCxnSpPr/>
          <p:nvPr/>
        </p:nvCxnSpPr>
        <p:spPr>
          <a:xfrm>
            <a:off x="2760573" y="4716114"/>
            <a:ext cx="87325" cy="62416"/>
          </a:xfrm>
          <a:prstGeom prst="line">
            <a:avLst/>
          </a:prstGeom>
          <a:ln w="2413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4" name="Connector 133"/>
          <p:cNvCxnSpPr/>
          <p:nvPr/>
        </p:nvCxnSpPr>
        <p:spPr>
          <a:xfrm>
            <a:off x="2847898" y="4778530"/>
            <a:ext cx="87326" cy="42778"/>
          </a:xfrm>
          <a:prstGeom prst="line">
            <a:avLst/>
          </a:prstGeom>
          <a:ln w="2413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5" name="Connector 134"/>
          <p:cNvCxnSpPr/>
          <p:nvPr/>
        </p:nvCxnSpPr>
        <p:spPr>
          <a:xfrm>
            <a:off x="2935224" y="4821308"/>
            <a:ext cx="87325" cy="21081"/>
          </a:xfrm>
          <a:prstGeom prst="line">
            <a:avLst/>
          </a:prstGeom>
          <a:ln w="2413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6" name="Connector 135"/>
          <p:cNvCxnSpPr/>
          <p:nvPr/>
        </p:nvCxnSpPr>
        <p:spPr>
          <a:xfrm flipV="1">
            <a:off x="3022549" y="4840756"/>
            <a:ext cx="87325" cy="1633"/>
          </a:xfrm>
          <a:prstGeom prst="line">
            <a:avLst/>
          </a:prstGeom>
          <a:ln w="2413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7" name="Connector 136"/>
          <p:cNvCxnSpPr/>
          <p:nvPr/>
        </p:nvCxnSpPr>
        <p:spPr>
          <a:xfrm flipV="1">
            <a:off x="3109874" y="4816488"/>
            <a:ext cx="87325" cy="24268"/>
          </a:xfrm>
          <a:prstGeom prst="line">
            <a:avLst/>
          </a:prstGeom>
          <a:ln w="2413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8" name="Connector 137"/>
          <p:cNvCxnSpPr/>
          <p:nvPr/>
        </p:nvCxnSpPr>
        <p:spPr>
          <a:xfrm flipV="1">
            <a:off x="3197199" y="4770755"/>
            <a:ext cx="87325" cy="45733"/>
          </a:xfrm>
          <a:prstGeom prst="line">
            <a:avLst/>
          </a:prstGeom>
          <a:ln w="2413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9" name="Connector 138"/>
          <p:cNvCxnSpPr/>
          <p:nvPr/>
        </p:nvCxnSpPr>
        <p:spPr>
          <a:xfrm flipV="1">
            <a:off x="3284524" y="4705759"/>
            <a:ext cx="87326" cy="64996"/>
          </a:xfrm>
          <a:prstGeom prst="line">
            <a:avLst/>
          </a:prstGeom>
          <a:ln w="2413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0" name="Connector 139"/>
          <p:cNvCxnSpPr/>
          <p:nvPr/>
        </p:nvCxnSpPr>
        <p:spPr>
          <a:xfrm flipV="1">
            <a:off x="3371850" y="4624631"/>
            <a:ext cx="87325" cy="81128"/>
          </a:xfrm>
          <a:prstGeom prst="line">
            <a:avLst/>
          </a:prstGeom>
          <a:ln w="2413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1" name="Connector 140"/>
          <p:cNvCxnSpPr/>
          <p:nvPr/>
        </p:nvCxnSpPr>
        <p:spPr>
          <a:xfrm flipV="1">
            <a:off x="3459175" y="4531278"/>
            <a:ext cx="87325" cy="93353"/>
          </a:xfrm>
          <a:prstGeom prst="line">
            <a:avLst/>
          </a:prstGeom>
          <a:ln w="2413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2" name="Connector 141"/>
          <p:cNvCxnSpPr/>
          <p:nvPr/>
        </p:nvCxnSpPr>
        <p:spPr>
          <a:xfrm flipV="1">
            <a:off x="3546500" y="4430197"/>
            <a:ext cx="87325" cy="101081"/>
          </a:xfrm>
          <a:prstGeom prst="line">
            <a:avLst/>
          </a:prstGeom>
          <a:ln w="2413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3" name="Connector 142"/>
          <p:cNvCxnSpPr/>
          <p:nvPr/>
        </p:nvCxnSpPr>
        <p:spPr>
          <a:xfrm flipV="1">
            <a:off x="3633825" y="4326256"/>
            <a:ext cx="87325" cy="103941"/>
          </a:xfrm>
          <a:prstGeom prst="line">
            <a:avLst/>
          </a:prstGeom>
          <a:ln w="2413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4" name="Connector 143"/>
          <p:cNvCxnSpPr/>
          <p:nvPr/>
        </p:nvCxnSpPr>
        <p:spPr>
          <a:xfrm flipV="1">
            <a:off x="3721150" y="4224463"/>
            <a:ext cx="87326" cy="101793"/>
          </a:xfrm>
          <a:prstGeom prst="line">
            <a:avLst/>
          </a:prstGeom>
          <a:ln w="2413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5" name="Connector 144"/>
          <p:cNvCxnSpPr/>
          <p:nvPr/>
        </p:nvCxnSpPr>
        <p:spPr>
          <a:xfrm flipV="1">
            <a:off x="3808476" y="4129719"/>
            <a:ext cx="87325" cy="94744"/>
          </a:xfrm>
          <a:prstGeom prst="line">
            <a:avLst/>
          </a:prstGeom>
          <a:ln w="2413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6" name="Connector 145"/>
          <p:cNvCxnSpPr/>
          <p:nvPr/>
        </p:nvCxnSpPr>
        <p:spPr>
          <a:xfrm flipV="1">
            <a:off x="3895801" y="4046589"/>
            <a:ext cx="87325" cy="83130"/>
          </a:xfrm>
          <a:prstGeom prst="line">
            <a:avLst/>
          </a:prstGeom>
          <a:ln w="2413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7" name="Connector 146"/>
          <p:cNvCxnSpPr/>
          <p:nvPr/>
        </p:nvCxnSpPr>
        <p:spPr>
          <a:xfrm flipV="1">
            <a:off x="3983126" y="3979077"/>
            <a:ext cx="87325" cy="67512"/>
          </a:xfrm>
          <a:prstGeom prst="line">
            <a:avLst/>
          </a:prstGeom>
          <a:ln w="2413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8" name="Connector 147"/>
          <p:cNvCxnSpPr/>
          <p:nvPr/>
        </p:nvCxnSpPr>
        <p:spPr>
          <a:xfrm flipV="1">
            <a:off x="4070451" y="3930434"/>
            <a:ext cx="87325" cy="48643"/>
          </a:xfrm>
          <a:prstGeom prst="line">
            <a:avLst/>
          </a:prstGeom>
          <a:ln w="2413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9" name="Connector 148"/>
          <p:cNvCxnSpPr/>
          <p:nvPr/>
        </p:nvCxnSpPr>
        <p:spPr>
          <a:xfrm flipV="1">
            <a:off x="4157776" y="3903004"/>
            <a:ext cx="87326" cy="27430"/>
          </a:xfrm>
          <a:prstGeom prst="line">
            <a:avLst/>
          </a:prstGeom>
          <a:ln w="2413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0" name="Connector 149"/>
          <p:cNvCxnSpPr/>
          <p:nvPr/>
        </p:nvCxnSpPr>
        <p:spPr>
          <a:xfrm flipV="1">
            <a:off x="4245102" y="3898107"/>
            <a:ext cx="87325" cy="4897"/>
          </a:xfrm>
          <a:prstGeom prst="line">
            <a:avLst/>
          </a:prstGeom>
          <a:ln w="2413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1" name="Connector 150"/>
          <p:cNvCxnSpPr/>
          <p:nvPr/>
        </p:nvCxnSpPr>
        <p:spPr>
          <a:xfrm>
            <a:off x="4332427" y="3898107"/>
            <a:ext cx="87325" cy="17873"/>
          </a:xfrm>
          <a:prstGeom prst="line">
            <a:avLst/>
          </a:prstGeom>
          <a:ln w="2413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2" name="Connector 151"/>
          <p:cNvCxnSpPr/>
          <p:nvPr/>
        </p:nvCxnSpPr>
        <p:spPr>
          <a:xfrm>
            <a:off x="4419752" y="3915980"/>
            <a:ext cx="87325" cy="39781"/>
          </a:xfrm>
          <a:prstGeom prst="line">
            <a:avLst/>
          </a:prstGeom>
          <a:ln w="2413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3" name="Connector 152"/>
          <p:cNvCxnSpPr/>
          <p:nvPr/>
        </p:nvCxnSpPr>
        <p:spPr>
          <a:xfrm>
            <a:off x="4507077" y="3955761"/>
            <a:ext cx="87325" cy="59773"/>
          </a:xfrm>
          <a:prstGeom prst="line">
            <a:avLst/>
          </a:prstGeom>
          <a:ln w="2413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4" name="Connector 153"/>
          <p:cNvCxnSpPr/>
          <p:nvPr/>
        </p:nvCxnSpPr>
        <p:spPr>
          <a:xfrm>
            <a:off x="4594402" y="4015534"/>
            <a:ext cx="87326" cy="76888"/>
          </a:xfrm>
          <a:prstGeom prst="line">
            <a:avLst/>
          </a:prstGeom>
          <a:ln w="2413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5" name="Connector 154"/>
          <p:cNvCxnSpPr/>
          <p:nvPr/>
        </p:nvCxnSpPr>
        <p:spPr>
          <a:xfrm>
            <a:off x="4681728" y="4092422"/>
            <a:ext cx="87325" cy="90297"/>
          </a:xfrm>
          <a:prstGeom prst="line">
            <a:avLst/>
          </a:prstGeom>
          <a:ln w="2413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6" name="Connector 155"/>
          <p:cNvCxnSpPr/>
          <p:nvPr/>
        </p:nvCxnSpPr>
        <p:spPr>
          <a:xfrm>
            <a:off x="4769053" y="4182719"/>
            <a:ext cx="87325" cy="99358"/>
          </a:xfrm>
          <a:prstGeom prst="line">
            <a:avLst/>
          </a:prstGeom>
          <a:ln w="2413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7" name="Connector 156"/>
          <p:cNvCxnSpPr/>
          <p:nvPr/>
        </p:nvCxnSpPr>
        <p:spPr>
          <a:xfrm>
            <a:off x="4856378" y="4282077"/>
            <a:ext cx="87325" cy="103632"/>
          </a:xfrm>
          <a:prstGeom prst="line">
            <a:avLst/>
          </a:prstGeom>
          <a:ln w="2413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8" name="Connector 157"/>
          <p:cNvCxnSpPr/>
          <p:nvPr/>
        </p:nvCxnSpPr>
        <p:spPr>
          <a:xfrm>
            <a:off x="4943703" y="4385709"/>
            <a:ext cx="87325" cy="102917"/>
          </a:xfrm>
          <a:prstGeom prst="line">
            <a:avLst/>
          </a:prstGeom>
          <a:ln w="2413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9" name="Connector 158"/>
          <p:cNvCxnSpPr/>
          <p:nvPr/>
        </p:nvCxnSpPr>
        <p:spPr>
          <a:xfrm>
            <a:off x="5031028" y="4488626"/>
            <a:ext cx="87326" cy="97242"/>
          </a:xfrm>
          <a:prstGeom prst="line">
            <a:avLst/>
          </a:prstGeom>
          <a:ln w="2413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0" name="Connector 159"/>
          <p:cNvCxnSpPr/>
          <p:nvPr/>
        </p:nvCxnSpPr>
        <p:spPr>
          <a:xfrm>
            <a:off x="5118354" y="4585868"/>
            <a:ext cx="87325" cy="86885"/>
          </a:xfrm>
          <a:prstGeom prst="line">
            <a:avLst/>
          </a:prstGeom>
          <a:ln w="2413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1" name="Connector 160"/>
          <p:cNvCxnSpPr/>
          <p:nvPr/>
        </p:nvCxnSpPr>
        <p:spPr>
          <a:xfrm>
            <a:off x="5205679" y="4672753"/>
            <a:ext cx="87325" cy="72343"/>
          </a:xfrm>
          <a:prstGeom prst="line">
            <a:avLst/>
          </a:prstGeom>
          <a:ln w="2413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2" name="Connector 161"/>
          <p:cNvCxnSpPr/>
          <p:nvPr/>
        </p:nvCxnSpPr>
        <p:spPr>
          <a:xfrm>
            <a:off x="5293004" y="4745096"/>
            <a:ext cx="87325" cy="54315"/>
          </a:xfrm>
          <a:prstGeom prst="line">
            <a:avLst/>
          </a:prstGeom>
          <a:ln w="2413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3" name="Connector 162"/>
          <p:cNvCxnSpPr/>
          <p:nvPr/>
        </p:nvCxnSpPr>
        <p:spPr>
          <a:xfrm>
            <a:off x="5380329" y="4799411"/>
            <a:ext cx="87325" cy="33672"/>
          </a:xfrm>
          <a:prstGeom prst="line">
            <a:avLst/>
          </a:prstGeom>
          <a:ln w="2413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4" name="Connector 163"/>
          <p:cNvCxnSpPr/>
          <p:nvPr/>
        </p:nvCxnSpPr>
        <p:spPr>
          <a:xfrm>
            <a:off x="5467654" y="4833083"/>
            <a:ext cx="87326" cy="11408"/>
          </a:xfrm>
          <a:prstGeom prst="line">
            <a:avLst/>
          </a:prstGeom>
          <a:ln w="2413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5" name="Connector 164"/>
          <p:cNvCxnSpPr/>
          <p:nvPr/>
        </p:nvCxnSpPr>
        <p:spPr>
          <a:xfrm flipV="1">
            <a:off x="5554980" y="4833083"/>
            <a:ext cx="87325" cy="11408"/>
          </a:xfrm>
          <a:prstGeom prst="line">
            <a:avLst/>
          </a:prstGeom>
          <a:ln w="2413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6" name="Connector 165"/>
          <p:cNvCxnSpPr/>
          <p:nvPr/>
        </p:nvCxnSpPr>
        <p:spPr>
          <a:xfrm flipV="1">
            <a:off x="5642305" y="4799411"/>
            <a:ext cx="87325" cy="33672"/>
          </a:xfrm>
          <a:prstGeom prst="line">
            <a:avLst/>
          </a:prstGeom>
          <a:ln w="2413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7" name="Connector 166"/>
          <p:cNvCxnSpPr/>
          <p:nvPr/>
        </p:nvCxnSpPr>
        <p:spPr>
          <a:xfrm flipV="1">
            <a:off x="5729630" y="4745096"/>
            <a:ext cx="87325" cy="54315"/>
          </a:xfrm>
          <a:prstGeom prst="line">
            <a:avLst/>
          </a:prstGeom>
          <a:ln w="2413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8" name="Connector 167"/>
          <p:cNvCxnSpPr/>
          <p:nvPr/>
        </p:nvCxnSpPr>
        <p:spPr>
          <a:xfrm flipV="1">
            <a:off x="5816955" y="4672753"/>
            <a:ext cx="87325" cy="72343"/>
          </a:xfrm>
          <a:prstGeom prst="line">
            <a:avLst/>
          </a:prstGeom>
          <a:ln w="2413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9" name="Connector 168"/>
          <p:cNvCxnSpPr/>
          <p:nvPr/>
        </p:nvCxnSpPr>
        <p:spPr>
          <a:xfrm flipV="1">
            <a:off x="5904280" y="4585868"/>
            <a:ext cx="87326" cy="86885"/>
          </a:xfrm>
          <a:prstGeom prst="line">
            <a:avLst/>
          </a:prstGeom>
          <a:ln w="2413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0" name="Connector 169"/>
          <p:cNvCxnSpPr/>
          <p:nvPr/>
        </p:nvCxnSpPr>
        <p:spPr>
          <a:xfrm flipV="1">
            <a:off x="5991606" y="4488626"/>
            <a:ext cx="87325" cy="97242"/>
          </a:xfrm>
          <a:prstGeom prst="line">
            <a:avLst/>
          </a:prstGeom>
          <a:ln w="2413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1" name="Connector 170"/>
          <p:cNvCxnSpPr/>
          <p:nvPr/>
        </p:nvCxnSpPr>
        <p:spPr>
          <a:xfrm flipV="1">
            <a:off x="6078931" y="4385709"/>
            <a:ext cx="87325" cy="102917"/>
          </a:xfrm>
          <a:prstGeom prst="line">
            <a:avLst/>
          </a:prstGeom>
          <a:ln w="2413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2" name="Connector 171"/>
          <p:cNvCxnSpPr/>
          <p:nvPr/>
        </p:nvCxnSpPr>
        <p:spPr>
          <a:xfrm flipV="1">
            <a:off x="6166256" y="4282077"/>
            <a:ext cx="87325" cy="103632"/>
          </a:xfrm>
          <a:prstGeom prst="line">
            <a:avLst/>
          </a:prstGeom>
          <a:ln w="2413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3" name="Connector 172"/>
          <p:cNvCxnSpPr/>
          <p:nvPr/>
        </p:nvCxnSpPr>
        <p:spPr>
          <a:xfrm flipV="1">
            <a:off x="6253581" y="4182719"/>
            <a:ext cx="87325" cy="99358"/>
          </a:xfrm>
          <a:prstGeom prst="line">
            <a:avLst/>
          </a:prstGeom>
          <a:ln w="2413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4" name="Connector 173"/>
          <p:cNvCxnSpPr/>
          <p:nvPr/>
        </p:nvCxnSpPr>
        <p:spPr>
          <a:xfrm flipV="1">
            <a:off x="6340906" y="4092422"/>
            <a:ext cx="87326" cy="90297"/>
          </a:xfrm>
          <a:prstGeom prst="line">
            <a:avLst/>
          </a:prstGeom>
          <a:ln w="2413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5" name="Connector 174"/>
          <p:cNvCxnSpPr/>
          <p:nvPr/>
        </p:nvCxnSpPr>
        <p:spPr>
          <a:xfrm flipV="1">
            <a:off x="6428232" y="4015534"/>
            <a:ext cx="87325" cy="76888"/>
          </a:xfrm>
          <a:prstGeom prst="line">
            <a:avLst/>
          </a:prstGeom>
          <a:ln w="2413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6" name="Connector 175"/>
          <p:cNvCxnSpPr/>
          <p:nvPr/>
        </p:nvCxnSpPr>
        <p:spPr>
          <a:xfrm flipV="1">
            <a:off x="6515557" y="3955761"/>
            <a:ext cx="87325" cy="59773"/>
          </a:xfrm>
          <a:prstGeom prst="line">
            <a:avLst/>
          </a:prstGeom>
          <a:ln w="2413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7" name="Connector 176"/>
          <p:cNvCxnSpPr/>
          <p:nvPr/>
        </p:nvCxnSpPr>
        <p:spPr>
          <a:xfrm flipV="1">
            <a:off x="6602882" y="3915980"/>
            <a:ext cx="87325" cy="39781"/>
          </a:xfrm>
          <a:prstGeom prst="line">
            <a:avLst/>
          </a:prstGeom>
          <a:ln w="2413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8" name="Connector 177"/>
          <p:cNvCxnSpPr/>
          <p:nvPr/>
        </p:nvCxnSpPr>
        <p:spPr>
          <a:xfrm flipV="1">
            <a:off x="6690207" y="3898107"/>
            <a:ext cx="87325" cy="17873"/>
          </a:xfrm>
          <a:prstGeom prst="line">
            <a:avLst/>
          </a:prstGeom>
          <a:ln w="2413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9" name="Connector 178"/>
          <p:cNvCxnSpPr/>
          <p:nvPr/>
        </p:nvCxnSpPr>
        <p:spPr>
          <a:xfrm>
            <a:off x="6777532" y="3898107"/>
            <a:ext cx="87326" cy="4897"/>
          </a:xfrm>
          <a:prstGeom prst="line">
            <a:avLst/>
          </a:prstGeom>
          <a:ln w="2413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0" name="Connector 179"/>
          <p:cNvCxnSpPr/>
          <p:nvPr/>
        </p:nvCxnSpPr>
        <p:spPr>
          <a:xfrm>
            <a:off x="6864858" y="3903004"/>
            <a:ext cx="87325" cy="27430"/>
          </a:xfrm>
          <a:prstGeom prst="line">
            <a:avLst/>
          </a:prstGeom>
          <a:ln w="2413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1" name="Connector 180"/>
          <p:cNvCxnSpPr/>
          <p:nvPr/>
        </p:nvCxnSpPr>
        <p:spPr>
          <a:xfrm>
            <a:off x="6952183" y="3930434"/>
            <a:ext cx="87325" cy="48643"/>
          </a:xfrm>
          <a:prstGeom prst="line">
            <a:avLst/>
          </a:prstGeom>
          <a:ln w="2413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2" name="Connector 181"/>
          <p:cNvCxnSpPr/>
          <p:nvPr/>
        </p:nvCxnSpPr>
        <p:spPr>
          <a:xfrm>
            <a:off x="7039508" y="3979077"/>
            <a:ext cx="87325" cy="67512"/>
          </a:xfrm>
          <a:prstGeom prst="line">
            <a:avLst/>
          </a:prstGeom>
          <a:ln w="2413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3" name="Connector 182"/>
          <p:cNvCxnSpPr/>
          <p:nvPr/>
        </p:nvCxnSpPr>
        <p:spPr>
          <a:xfrm>
            <a:off x="7126833" y="4046589"/>
            <a:ext cx="87325" cy="83130"/>
          </a:xfrm>
          <a:prstGeom prst="line">
            <a:avLst/>
          </a:prstGeom>
          <a:ln w="2413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4" name="Connector 183"/>
          <p:cNvCxnSpPr/>
          <p:nvPr/>
        </p:nvCxnSpPr>
        <p:spPr>
          <a:xfrm>
            <a:off x="7214158" y="4129719"/>
            <a:ext cx="87326" cy="94744"/>
          </a:xfrm>
          <a:prstGeom prst="line">
            <a:avLst/>
          </a:prstGeom>
          <a:ln w="2413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5" name="Connector 184"/>
          <p:cNvCxnSpPr/>
          <p:nvPr/>
        </p:nvCxnSpPr>
        <p:spPr>
          <a:xfrm>
            <a:off x="7301484" y="4224463"/>
            <a:ext cx="87325" cy="101793"/>
          </a:xfrm>
          <a:prstGeom prst="line">
            <a:avLst/>
          </a:prstGeom>
          <a:ln w="2413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6" name="Connector 185"/>
          <p:cNvCxnSpPr/>
          <p:nvPr/>
        </p:nvCxnSpPr>
        <p:spPr>
          <a:xfrm>
            <a:off x="7388809" y="4326256"/>
            <a:ext cx="87325" cy="103941"/>
          </a:xfrm>
          <a:prstGeom prst="line">
            <a:avLst/>
          </a:prstGeom>
          <a:ln w="2413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7" name="Connector 186"/>
          <p:cNvCxnSpPr/>
          <p:nvPr/>
        </p:nvCxnSpPr>
        <p:spPr>
          <a:xfrm>
            <a:off x="7476134" y="4430197"/>
            <a:ext cx="87325" cy="101081"/>
          </a:xfrm>
          <a:prstGeom prst="line">
            <a:avLst/>
          </a:prstGeom>
          <a:ln w="2413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8" name="Connector 187"/>
          <p:cNvCxnSpPr/>
          <p:nvPr/>
        </p:nvCxnSpPr>
        <p:spPr>
          <a:xfrm>
            <a:off x="7563459" y="4531278"/>
            <a:ext cx="87325" cy="93353"/>
          </a:xfrm>
          <a:prstGeom prst="line">
            <a:avLst/>
          </a:prstGeom>
          <a:ln w="2413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9" name="Connector 188"/>
          <p:cNvCxnSpPr/>
          <p:nvPr/>
        </p:nvCxnSpPr>
        <p:spPr>
          <a:xfrm>
            <a:off x="7650784" y="4624631"/>
            <a:ext cx="87326" cy="81128"/>
          </a:xfrm>
          <a:prstGeom prst="line">
            <a:avLst/>
          </a:prstGeom>
          <a:ln w="2413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0" name="Connector 189"/>
          <p:cNvCxnSpPr/>
          <p:nvPr/>
        </p:nvCxnSpPr>
        <p:spPr>
          <a:xfrm>
            <a:off x="7738110" y="4705759"/>
            <a:ext cx="87325" cy="64996"/>
          </a:xfrm>
          <a:prstGeom prst="line">
            <a:avLst/>
          </a:prstGeom>
          <a:ln w="2413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1" name="Connector 190"/>
          <p:cNvCxnSpPr/>
          <p:nvPr/>
        </p:nvCxnSpPr>
        <p:spPr>
          <a:xfrm>
            <a:off x="7825435" y="4770755"/>
            <a:ext cx="87325" cy="45733"/>
          </a:xfrm>
          <a:prstGeom prst="line">
            <a:avLst/>
          </a:prstGeom>
          <a:ln w="2413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2" name="Connector 191"/>
          <p:cNvCxnSpPr/>
          <p:nvPr/>
        </p:nvCxnSpPr>
        <p:spPr>
          <a:xfrm>
            <a:off x="7912760" y="4816488"/>
            <a:ext cx="87325" cy="24268"/>
          </a:xfrm>
          <a:prstGeom prst="line">
            <a:avLst/>
          </a:prstGeom>
          <a:ln w="2413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3" name="Connector 192"/>
          <p:cNvCxnSpPr/>
          <p:nvPr/>
        </p:nvCxnSpPr>
        <p:spPr>
          <a:xfrm>
            <a:off x="8000085" y="4840756"/>
            <a:ext cx="87325" cy="1633"/>
          </a:xfrm>
          <a:prstGeom prst="line">
            <a:avLst/>
          </a:prstGeom>
          <a:ln w="2413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4" name="Connector 193"/>
          <p:cNvCxnSpPr/>
          <p:nvPr/>
        </p:nvCxnSpPr>
        <p:spPr>
          <a:xfrm flipV="1">
            <a:off x="8087410" y="4821308"/>
            <a:ext cx="87326" cy="21081"/>
          </a:xfrm>
          <a:prstGeom prst="line">
            <a:avLst/>
          </a:prstGeom>
          <a:ln w="2413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5" name="Connector 194"/>
          <p:cNvCxnSpPr/>
          <p:nvPr/>
        </p:nvCxnSpPr>
        <p:spPr>
          <a:xfrm flipV="1">
            <a:off x="8174736" y="4778530"/>
            <a:ext cx="87325" cy="42778"/>
          </a:xfrm>
          <a:prstGeom prst="line">
            <a:avLst/>
          </a:prstGeom>
          <a:ln w="2413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6" name="Connector 195"/>
          <p:cNvCxnSpPr/>
          <p:nvPr/>
        </p:nvCxnSpPr>
        <p:spPr>
          <a:xfrm flipV="1">
            <a:off x="8262061" y="4716114"/>
            <a:ext cx="87325" cy="62416"/>
          </a:xfrm>
          <a:prstGeom prst="line">
            <a:avLst/>
          </a:prstGeom>
          <a:ln w="2413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7" name="Connector 196"/>
          <p:cNvCxnSpPr/>
          <p:nvPr/>
        </p:nvCxnSpPr>
        <p:spPr>
          <a:xfrm flipV="1">
            <a:off x="8349386" y="4637067"/>
            <a:ext cx="87325" cy="79047"/>
          </a:xfrm>
          <a:prstGeom prst="line">
            <a:avLst/>
          </a:prstGeom>
          <a:ln w="2413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8" name="Connector 197"/>
          <p:cNvCxnSpPr/>
          <p:nvPr/>
        </p:nvCxnSpPr>
        <p:spPr>
          <a:xfrm flipV="1">
            <a:off x="8436711" y="4545197"/>
            <a:ext cx="87325" cy="91870"/>
          </a:xfrm>
          <a:prstGeom prst="line">
            <a:avLst/>
          </a:prstGeom>
          <a:ln w="2413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9" name="Connector 198"/>
          <p:cNvCxnSpPr/>
          <p:nvPr/>
        </p:nvCxnSpPr>
        <p:spPr>
          <a:xfrm flipV="1">
            <a:off x="8524036" y="4444928"/>
            <a:ext cx="87326" cy="100269"/>
          </a:xfrm>
          <a:prstGeom prst="line">
            <a:avLst/>
          </a:prstGeom>
          <a:ln w="2413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0" name="Connector 199"/>
          <p:cNvCxnSpPr/>
          <p:nvPr/>
        </p:nvCxnSpPr>
        <p:spPr>
          <a:xfrm flipV="1">
            <a:off x="8611362" y="4341090"/>
            <a:ext cx="87325" cy="103838"/>
          </a:xfrm>
          <a:prstGeom prst="line">
            <a:avLst/>
          </a:prstGeom>
          <a:ln w="2413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1" name="Connector 200"/>
          <p:cNvCxnSpPr/>
          <p:nvPr/>
        </p:nvCxnSpPr>
        <p:spPr>
          <a:xfrm flipV="1">
            <a:off x="8698687" y="4238685"/>
            <a:ext cx="87325" cy="102405"/>
          </a:xfrm>
          <a:prstGeom prst="line">
            <a:avLst/>
          </a:prstGeom>
          <a:ln w="2413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2" name="Connector 201"/>
          <p:cNvCxnSpPr/>
          <p:nvPr/>
        </p:nvCxnSpPr>
        <p:spPr>
          <a:xfrm flipV="1">
            <a:off x="8786012" y="4142644"/>
            <a:ext cx="87325" cy="96041"/>
          </a:xfrm>
          <a:prstGeom prst="line">
            <a:avLst/>
          </a:prstGeom>
          <a:ln w="2413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3" name="Connector 202"/>
          <p:cNvCxnSpPr/>
          <p:nvPr/>
        </p:nvCxnSpPr>
        <p:spPr>
          <a:xfrm flipV="1">
            <a:off x="8873337" y="4057595"/>
            <a:ext cx="87325" cy="85049"/>
          </a:xfrm>
          <a:prstGeom prst="line">
            <a:avLst/>
          </a:prstGeom>
          <a:ln w="2413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4" name="Connector 203"/>
          <p:cNvCxnSpPr/>
          <p:nvPr/>
        </p:nvCxnSpPr>
        <p:spPr>
          <a:xfrm flipV="1">
            <a:off x="8960662" y="3987633"/>
            <a:ext cx="87326" cy="69962"/>
          </a:xfrm>
          <a:prstGeom prst="line">
            <a:avLst/>
          </a:prstGeom>
          <a:ln w="2413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5" name="Connector 204"/>
          <p:cNvCxnSpPr/>
          <p:nvPr/>
        </p:nvCxnSpPr>
        <p:spPr>
          <a:xfrm flipV="1">
            <a:off x="9047988" y="3936129"/>
            <a:ext cx="87325" cy="51504"/>
          </a:xfrm>
          <a:prstGeom prst="line">
            <a:avLst/>
          </a:prstGeom>
          <a:ln w="2413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6" name="Connector 205"/>
          <p:cNvCxnSpPr/>
          <p:nvPr/>
        </p:nvCxnSpPr>
        <p:spPr>
          <a:xfrm flipV="1">
            <a:off x="9135313" y="3905562"/>
            <a:ext cx="87325" cy="30567"/>
          </a:xfrm>
          <a:prstGeom prst="line">
            <a:avLst/>
          </a:prstGeom>
          <a:ln w="2413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7" name="Connector 206"/>
          <p:cNvCxnSpPr/>
          <p:nvPr/>
        </p:nvCxnSpPr>
        <p:spPr>
          <a:xfrm flipV="1">
            <a:off x="9222638" y="3897406"/>
            <a:ext cx="87325" cy="8156"/>
          </a:xfrm>
          <a:prstGeom prst="line">
            <a:avLst/>
          </a:prstGeom>
          <a:ln w="2413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8" name="Connector 207"/>
          <p:cNvCxnSpPr/>
          <p:nvPr/>
        </p:nvCxnSpPr>
        <p:spPr>
          <a:xfrm>
            <a:off x="9309963" y="3897406"/>
            <a:ext cx="87325" cy="14647"/>
          </a:xfrm>
          <a:prstGeom prst="line">
            <a:avLst/>
          </a:prstGeom>
          <a:ln w="2413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9" name="Connector 208"/>
          <p:cNvCxnSpPr/>
          <p:nvPr/>
        </p:nvCxnSpPr>
        <p:spPr>
          <a:xfrm>
            <a:off x="9397288" y="3912053"/>
            <a:ext cx="87326" cy="36745"/>
          </a:xfrm>
          <a:prstGeom prst="line">
            <a:avLst/>
          </a:prstGeom>
          <a:ln w="2413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0" name="Connector 209"/>
          <p:cNvCxnSpPr/>
          <p:nvPr/>
        </p:nvCxnSpPr>
        <p:spPr>
          <a:xfrm>
            <a:off x="9484614" y="3948798"/>
            <a:ext cx="87325" cy="57073"/>
          </a:xfrm>
          <a:prstGeom prst="line">
            <a:avLst/>
          </a:prstGeom>
          <a:ln w="2413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1" name="Connector 210"/>
          <p:cNvCxnSpPr/>
          <p:nvPr/>
        </p:nvCxnSpPr>
        <p:spPr>
          <a:xfrm>
            <a:off x="9571939" y="4005871"/>
            <a:ext cx="87325" cy="74651"/>
          </a:xfrm>
          <a:prstGeom prst="line">
            <a:avLst/>
          </a:prstGeom>
          <a:ln w="2413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2" name="Connector 211"/>
          <p:cNvCxnSpPr/>
          <p:nvPr/>
        </p:nvCxnSpPr>
        <p:spPr>
          <a:xfrm>
            <a:off x="9659264" y="4080522"/>
            <a:ext cx="87325" cy="88635"/>
          </a:xfrm>
          <a:prstGeom prst="line">
            <a:avLst/>
          </a:prstGeom>
          <a:ln w="2413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3" name="Connector 212"/>
          <p:cNvCxnSpPr/>
          <p:nvPr/>
        </p:nvCxnSpPr>
        <p:spPr>
          <a:xfrm>
            <a:off x="9746589" y="4169157"/>
            <a:ext cx="87325" cy="98349"/>
          </a:xfrm>
          <a:prstGeom prst="line">
            <a:avLst/>
          </a:prstGeom>
          <a:ln w="2413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4" name="Connector 213"/>
          <p:cNvCxnSpPr/>
          <p:nvPr/>
        </p:nvCxnSpPr>
        <p:spPr>
          <a:xfrm>
            <a:off x="9833914" y="4267506"/>
            <a:ext cx="87326" cy="103326"/>
          </a:xfrm>
          <a:prstGeom prst="line">
            <a:avLst/>
          </a:prstGeom>
          <a:ln w="2413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5" name="TextBox 214"/>
          <p:cNvSpPr txBox="1"/>
          <p:nvPr/>
        </p:nvSpPr>
        <p:spPr>
          <a:xfrm>
            <a:off x="777240" y="5843016"/>
            <a:ext cx="1078992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000" b="1">
                <a:solidFill>
                  <a:srgbClr val="8C64E1"/>
                </a:solidFill>
                <a:latin typeface="Alibaba PuHuiTi 3.0 115 Black"/>
              </a:defRPr>
            </a:pPr>
            <a:r>
              <a:t>拓展问题：少量离散样本，是否足以唯一确定连续信号？</a:t>
            </a:r>
          </a:p>
        </p:txBody>
      </p:sp>
    </p:spTree>
  </p:cSld>
  <p:clrMapOvr>
    <a:masterClrMapping/>
  </p:clrMapOvr>
</p:sld>
</file>

<file path=ppt/slides/slide7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36576"/>
            <a:ext cx="12191695" cy="73152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57416"/>
            <a:ext cx="12191695" cy="73152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12648" y="576072"/>
            <a:ext cx="10972800" cy="7863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3400" b="1">
                <a:solidFill>
                  <a:srgbClr val="262626"/>
                </a:solidFill>
                <a:latin typeface="Alibaba PuHuiTi 3.0 115 Black"/>
              </a:defRPr>
            </a:pPr>
            <a:r>
              <a:t>可选拓展：编码和压缩不是同一件事。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6080760" y="1627632"/>
            <a:ext cx="0" cy="3776472"/>
          </a:xfrm>
          <a:prstGeom prst="line">
            <a:avLst/>
          </a:prstGeom>
          <a:ln w="25400">
            <a:solidFill>
              <a:srgbClr val="E2E2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822960" y="1737360"/>
            <a:ext cx="5074920" cy="6949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800" b="1">
                <a:solidFill>
                  <a:srgbClr val="8C64E1"/>
                </a:solidFill>
                <a:latin typeface="Alibaba PuHuiTi 3.0 115 Black"/>
              </a:defRPr>
            </a:pPr>
            <a:r>
              <a:t>声音编码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55664" y="1737360"/>
            <a:ext cx="4754880" cy="6949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800" b="1">
                <a:solidFill>
                  <a:srgbClr val="00B0F0"/>
                </a:solidFill>
                <a:latin typeface="Alibaba PuHuiTi 3.0 115 Black"/>
              </a:defRPr>
            </a:pPr>
            <a:r>
              <a:t>数据压缩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2743200"/>
            <a:ext cx="5010912" cy="2286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300" b="0">
                <a:solidFill>
                  <a:srgbClr val="262626"/>
                </a:solidFill>
                <a:latin typeface="Alibaba PuHuiTi 3.0 55 Regular"/>
              </a:defRPr>
            </a:pPr>
            <a:r>
              <a:t>让连续声音能够用数字样本记录；也包括后续数据表示。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55664" y="2743200"/>
            <a:ext cx="4873752" cy="2286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300" b="0">
                <a:solidFill>
                  <a:srgbClr val="262626"/>
                </a:solidFill>
                <a:latin typeface="Alibaba PuHuiTi 3.0 55 Regular"/>
              </a:defRPr>
            </a:pPr>
            <a:r>
              <a:t>用更少的比特表达相同或近似相同的信息。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5879592"/>
            <a:ext cx="1078992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000" b="1">
                <a:solidFill>
                  <a:srgbClr val="8C64E1"/>
                </a:solidFill>
                <a:latin typeface="Alibaba PuHuiTi 3.0 115 Black"/>
              </a:defRPr>
            </a:pPr>
            <a:r>
              <a:t>数字化、容器封装、压缩，是相关但不同的概念。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声音编码与数据压缩·视觉迭代v8.3.8</dc:title>
  <dc:subject>高中信息科技：声音数字化与数据压缩</dc:subject>
  <dc:creator/>
  <cp:keywords>采样,量化,编码,PCM,声道,音轨,数据压缩,冗余</cp:keywords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
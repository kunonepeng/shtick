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322" r:id="rId74"/>
    <p:sldId id="264" r:id="rId16"/>
    <p:sldId id="265" r:id="rId17"/>
    <p:sldId id="321" r:id="rId73"/>
    <p:sldId id="266" r:id="rId18"/>
    <p:sldId id="267" r:id="rId19"/>
    <p:sldId id="268" r:id="rId20"/>
    <p:sldId id="269" r:id="rId21"/>
    <p:sldId id="323" r:id="rId75"/>
    <p:sldId id="270" r:id="rId22"/>
    <p:sldId id="272" r:id="rId24"/>
    <p:sldId id="324" r:id="rId76"/>
    <p:sldId id="271" r:id="rId23"/>
    <p:sldId id="273" r:id="rId25"/>
    <p:sldId id="274" r:id="rId26"/>
    <p:sldId id="320" r:id="rId72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25" r:id="rId77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8.xml"/><Relationship Id="rId23" Type="http://schemas.openxmlformats.org/officeDocument/2006/relationships/slide" Target="slides/slide21.xml"/><Relationship Id="rId24" Type="http://schemas.openxmlformats.org/officeDocument/2006/relationships/slide" Target="slides/slide19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5.xml"/><Relationship Id="rId28" Type="http://schemas.openxmlformats.org/officeDocument/2006/relationships/slide" Target="slides/slide26.xml"/><Relationship Id="rId29" Type="http://schemas.openxmlformats.org/officeDocument/2006/relationships/slide" Target="slides/slide27.xml"/><Relationship Id="rId30" Type="http://schemas.openxmlformats.org/officeDocument/2006/relationships/slide" Target="slides/slide28.xml"/><Relationship Id="rId31" Type="http://schemas.openxmlformats.org/officeDocument/2006/relationships/slide" Target="slides/slide29.xml"/><Relationship Id="rId32" Type="http://schemas.openxmlformats.org/officeDocument/2006/relationships/slide" Target="slides/slide30.xml"/><Relationship Id="rId33" Type="http://schemas.openxmlformats.org/officeDocument/2006/relationships/slide" Target="slides/slide31.xml"/><Relationship Id="rId34" Type="http://schemas.openxmlformats.org/officeDocument/2006/relationships/slide" Target="slides/slide32.xml"/><Relationship Id="rId35" Type="http://schemas.openxmlformats.org/officeDocument/2006/relationships/slide" Target="slides/slide33.xml"/><Relationship Id="rId36" Type="http://schemas.openxmlformats.org/officeDocument/2006/relationships/slide" Target="slides/slide34.xml"/><Relationship Id="rId37" Type="http://schemas.openxmlformats.org/officeDocument/2006/relationships/slide" Target="slides/slide35.xml"/><Relationship Id="rId38" Type="http://schemas.openxmlformats.org/officeDocument/2006/relationships/slide" Target="slides/slide36.xml"/><Relationship Id="rId39" Type="http://schemas.openxmlformats.org/officeDocument/2006/relationships/slide" Target="slides/slide37.xml"/><Relationship Id="rId40" Type="http://schemas.openxmlformats.org/officeDocument/2006/relationships/slide" Target="slides/slide38.xml"/><Relationship Id="rId41" Type="http://schemas.openxmlformats.org/officeDocument/2006/relationships/slide" Target="slides/slide39.xml"/><Relationship Id="rId42" Type="http://schemas.openxmlformats.org/officeDocument/2006/relationships/slide" Target="slides/slide40.xml"/><Relationship Id="rId43" Type="http://schemas.openxmlformats.org/officeDocument/2006/relationships/slide" Target="slides/slide41.xml"/><Relationship Id="rId44" Type="http://schemas.openxmlformats.org/officeDocument/2006/relationships/slide" Target="slides/slide42.xml"/><Relationship Id="rId45" Type="http://schemas.openxmlformats.org/officeDocument/2006/relationships/slide" Target="slides/slide43.xml"/><Relationship Id="rId46" Type="http://schemas.openxmlformats.org/officeDocument/2006/relationships/slide" Target="slides/slide44.xml"/><Relationship Id="rId47" Type="http://schemas.openxmlformats.org/officeDocument/2006/relationships/slide" Target="slides/slide45.xml"/><Relationship Id="rId48" Type="http://schemas.openxmlformats.org/officeDocument/2006/relationships/slide" Target="slides/slide46.xml"/><Relationship Id="rId49" Type="http://schemas.openxmlformats.org/officeDocument/2006/relationships/slide" Target="slides/slide47.xml"/><Relationship Id="rId50" Type="http://schemas.openxmlformats.org/officeDocument/2006/relationships/slide" Target="slides/slide48.xml"/><Relationship Id="rId51" Type="http://schemas.openxmlformats.org/officeDocument/2006/relationships/slide" Target="slides/slide49.xml"/><Relationship Id="rId52" Type="http://schemas.openxmlformats.org/officeDocument/2006/relationships/slide" Target="slides/slide50.xml"/><Relationship Id="rId53" Type="http://schemas.openxmlformats.org/officeDocument/2006/relationships/slide" Target="slides/slide51.xml"/><Relationship Id="rId54" Type="http://schemas.openxmlformats.org/officeDocument/2006/relationships/slide" Target="slides/slide52.xml"/><Relationship Id="rId55" Type="http://schemas.openxmlformats.org/officeDocument/2006/relationships/slide" Target="slides/slide53.xml"/><Relationship Id="rId56" Type="http://schemas.openxmlformats.org/officeDocument/2006/relationships/slide" Target="slides/slide54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24.xml"/><Relationship Id="rId73" Type="http://schemas.openxmlformats.org/officeDocument/2006/relationships/slide" Target="slides/slide12.xml"/><Relationship Id="rId74" Type="http://schemas.openxmlformats.org/officeDocument/2006/relationships/slide" Target="slides/slide9.xml"/><Relationship Id="rId75" Type="http://schemas.openxmlformats.org/officeDocument/2006/relationships/slide" Target="slides/slide17.xml"/><Relationship Id="rId76" Type="http://schemas.openxmlformats.org/officeDocument/2006/relationships/slide" Target="slides/slide20.xml"/><Relationship Id="rId77" Type="http://schemas.openxmlformats.org/officeDocument/2006/relationships/slide" Target="slides/slide5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8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9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0.xml"/></Relationships>
</file>

<file path=ppt/notesSlides/_rels/notesSlide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7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【教师讲述／组织】开场。问：“上一节课学习了图像编码。那么在手机里录下我们的声音，计算机保存的到底是什么？”不要直接报出采样、量化、编码，先让学生提出问题。</a:t>
            </a:r>
          </a:p>
          <a:p>
            <a:r>
              <a:t>【反馈】先听学生如何解释，再决定是否揭示结论；注意控制本页停留时间。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【设计意图】回忆旧知识：字符编码记录符号，图像编码记录像素。请学生预测：自然声音没有像素，计算机怎么办？指向本课总问题，不求答对。</a:t>
            </a:r>
          </a:p>
          <a:p>
            <a:r>
              <a:t>【教师可以这样讲】大家想一想，我们能把一个汉字或一张图片保存进电脑。那么正在说话的声音是不是也能保存？它与图像的最大区别在哪里？</a:t>
            </a:r>
          </a:p>
          <a:p>
            <a:r>
              <a:t>【预判回答与追问】有人会说只要“录下来”就行；追问“录下来”在计算机里究竟记录什么？</a:t>
            </a:r>
          </a:p>
          <a:p>
            <a:r>
              <a:t>【本页收束】收束到核心问题：原来连续的声音如何变成数字。</a:t>
            </a:r>
          </a:p>
          <a:p/>
          <a:p>
            <a:r>
              <a:t>先请学生复述文字和图片怎样编码，再让学生预测麦克风后是什么、计算机需要什么。教师不预告完整三步。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【教师讲述／组织】从实录1的振动声源、空气传播与耳膜经验出发。问：我们说话时什么振动？声音怎样到耳朵？要学生识别声音是物理现象。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【v8.1视觉引导】视觉依据是生成的“音叉—声压疏密变化—麦克风”图；为了投影清晰采用可缩放矢量绘制。它不是声波沿正弦路径传播的图。</a:t>
            </a:r>
          </a:p>
          <a:p/>
          <a:p>
            <a:r>
              <a:t>[视觉改进提示] 提示学生辨认：振动产生声波，麦克风把声压变化转换成连续变化的电信号；此示意的波阵面不是传播轨迹。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【设计意图】先让学生表态：声波在时间上连续变化；文件保存的是离散数字。问麦克风前后，哪一阶段发生改变？</a:t>
            </a:r>
          </a:p>
          <a:p>
            <a:r>
              <a:t>【教师可以这样讲】请先判断：空气中的声音和电脑里的音频文件，是不是同一种东西？举一个理由。</a:t>
            </a:r>
          </a:p>
          <a:p>
            <a:r>
              <a:t>【预判回答与追问】“电脑播放出来还是声音，所以是模拟量”是可能的误解；分清存储形式和播放后的物理振动。</a:t>
            </a:r>
          </a:p>
          <a:p>
            <a:r>
              <a:t>【本页收束】声音属于物理模拟信号；数字文件以离散的数据保存音频。</a:t>
            </a:r>
          </a:p>
          <a:p/>
          <a:p>
            <a:r>
              <a:t>对比模拟声波与文件中的数字，问连续变化的声音如何变成离散数据；先让学生说两者有何不同。</a:t>
            </a:r>
          </a:p>
          <a:p/>
          <a:p>
            <a:r>
              <a:t>[视觉优化] 先让学生观察两图，自己说出波形与离散记录的区别。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【设计意图】承接实录1：猜需要哪些设备。麦克风将声压变化转为连续电信号；此时仍是模拟信号。不要说麦克风直接保存WAV。</a:t>
            </a:r>
          </a:p>
          <a:p>
            <a:r>
              <a:t>【教师可以这样讲】请观察这条流程。麦克风是不是已经把声波变成0和1了？请指出转换前后各是什么。</a:t>
            </a:r>
          </a:p>
          <a:p>
            <a:r>
              <a:t>【预判回答与追问】学生可能认为麦克风就是“录音机”。追问：麦克风输出的电压能否在每个时刻连续变化？</a:t>
            </a:r>
          </a:p>
          <a:p>
            <a:r>
              <a:t>【本页收束】麦克风把声压变化变成模拟电信号，数字化还没有完成。</a:t>
            </a:r>
          </a:p>
          <a:p/>
          <a:p>
            <a:r>
              <a:t>麦克风负责把声压变化变成连续电信号；先预测“是数字还是模拟？”学生说出依据。</a:t>
            </a:r>
          </a:p>
          <a:p/>
          <a:p>
            <a:r>
              <a:t>[视觉优化] 波阵面而非传播路径。麦克风不是二进制编码器。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【设计意图】先问：谁来把模拟电信号转换成0和1？鼓励学生猜CPU、麦克风等。展示声卡音频接口或画流程，以ADC为答案。设备可集成在主板或外置。</a:t>
            </a:r>
          </a:p>
          <a:p>
            <a:r>
              <a:t>【教师可以这样讲】如果麦克风输出还是连续电信号，计算机怎样读懂它？需要什么设备？</a:t>
            </a:r>
          </a:p>
          <a:p>
            <a:r>
              <a:t>【预判回答与追问】学生可能猜CPU，先认可其计算作用，再追问哪个音频部件把模拟信号变成离散样本。</a:t>
            </a:r>
          </a:p>
          <a:p>
            <a:r>
              <a:t>【本页收束】声卡中的ADC完成模数转换。无需记电子线路结构。</a:t>
            </a:r>
          </a:p>
          <a:p/>
          <a:p>
            <a:r>
              <a:t>声卡ADC把模拟信号变为数字数据；不要求硬件电路细节，用前后变化解释。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【教师讲述／组织】追问：存进去的0和1，为什么还能从扬声器变回声音？给出DAC作为反向转换，重点是两个方向的理解；不要展开电路。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按录音顺序走一遍，再反向说播放顺序，确认DAC与ADC的作用不同。</a:t>
            </a:r>
          </a:p>
          <a:p/>
          <a:p>
            <a:r>
              <a:t>[视觉优化] 两条平行流程对应录音与播放。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【设计意图】学生易误解：上下起伏是空气中声波的传播轨迹。请先判断，再明确横轴时间、纵轴同一地点声压或电信号的变化。</a:t>
            </a:r>
          </a:p>
          <a:p>
            <a:r>
              <a:t>【教师可以这样讲】看到这条上下起伏的曲线，请猜：它是不是声音在空气里沿着波浪形路线前进？</a:t>
            </a:r>
          </a:p>
          <a:p>
            <a:r>
              <a:t>【预判回答与追问】提醒固定一个位置，横坐标向右代表时间，纵坐标上下代表压力或电信号偏离参考的变化。</a:t>
            </a:r>
          </a:p>
          <a:p>
            <a:r>
              <a:t>【本页收束】波形是“某处随时间变化”的图，不是空间中的传播路径。</a:t>
            </a:r>
          </a:p>
          <a:p/>
          <a:p>
            <a:r>
              <a:t>【v7 Demo A，约2分钟】先保留本页“传播路线吗”的问题，让学生预测；运行 notebooks/01_听见声音_看见波形.ipynb，在教室Windows浏览器中点击播放。指向红色时间光标：波形表示时间变化，不是空间传播路线。Mac不会播放声音，声音从Windows浏览器输出。网络异常时直接用本页静态图。</a:t>
            </a:r>
          </a:p>
          <a:p/>
          <a:p>
            <a:r>
              <a:t>【v8.1视觉引导】加强波形曲线投影对比；灰色线为信号示意，离散点是取样时刻的记录。</a:t>
            </a:r>
          </a:p>
          <a:p/>
          <a:p>
            <a:r>
              <a:t>[视觉改进提示] 右图的横轴是时间；左图是空间波阵面，不能说声音像绳子一样上下弯曲前进。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【设计意图】先在波形上让学生指出选取若干时刻的方法，预测“隔一段时间取一个值”；不要急着宣布定义。</a:t>
            </a:r>
          </a:p>
          <a:p>
            <a:r>
              <a:t>【教师可以这样讲】现在只允许保存若干个数字，你会在哪些时刻记录这条曲线？让同桌先各提出一条规则。</a:t>
            </a:r>
          </a:p>
          <a:p>
            <a:r>
              <a:t>【预判回答与追问】有人会只选最高点和最低点。追问：如果换一段波形，这个规则是否容易统一实现？</a:t>
            </a:r>
          </a:p>
          <a:p>
            <a:r>
              <a:t>【本页收束】用固定时间间隔连续记录，形成采样时刻。</a:t>
            </a:r>
          </a:p>
          <a:p/>
          <a:p>
            <a:r>
              <a:t>请学生先在波形上建议记录时刻，再比较哪种规则稳定；引出等时间间隔采样。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【设计意图】保留前页坐标与波形，叠加等间隔采样点。追问：采样之后还保留每个时刻的原始值吗？概括“时间上离散”。</a:t>
            </a:r>
          </a:p>
          <a:p>
            <a:r>
              <a:t>【教师可以这样讲】我们按固定时间间隔记录了12个点。灰色曲线不再直接保存，每个点有自己的时间和值。</a:t>
            </a:r>
          </a:p>
          <a:p>
            <a:r>
              <a:t>【预判回答与追问】学生可能把连点线当作新的连续信号。追问：文件实际存的是曲线，还是这些点对应的数字？</a:t>
            </a:r>
          </a:p>
          <a:p>
            <a:r>
              <a:t>【本页收束】采样的结果是时间上离散的一组样本。</a:t>
            </a:r>
          </a:p>
          <a:p/>
          <a:p>
            <a:r>
              <a:t>【v7 Demo B，约3分钟】运行 notebooks/02_放大波形_看见采样点.ipynb，将观察范围从100毫秒缩至20、4毫秒，直到看见一个个真实样本点。与完整波形极值包络对照，不要把包络竖线叫采样点。先问“看似连续的曲线，计算机究竟保存了什么？”</a:t>
            </a:r>
          </a:p>
          <a:p/>
          <a:p>
            <a:r>
              <a:t>先观察时间刻度和蓝色点，教师追问记录的是什么量，说明在指定时刻记录幅度。</a:t>
            </a:r>
          </a:p>
          <a:p/>
          <a:p>
            <a:r>
              <a:t>【v8.1视觉引导】加强波形曲线投影对比；灰色线为信号示意，离散点是取样时刻的记录。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【设计意图】先让学生预测1 Hz、2 Hz分别表示每秒几个点；同一时间范围，不同点数。讲采样率=单位时间样本数，间隔Δt=1/fs。</a:t>
            </a:r>
          </a:p>
          <a:p>
            <a:r>
              <a:t>【教师可以这样讲】预测：1 Hz每秒几个点？2 Hz每秒几个点？都记录4秒，两个例子的样本数分别是多少？</a:t>
            </a:r>
          </a:p>
          <a:p>
            <a:r>
              <a:t>【预判回答与追问】注意“赫兹”还可表示声音本身频率；本页说的是“采样的次数”。</a:t>
            </a:r>
          </a:p>
          <a:p>
            <a:r>
              <a:t>【本页收束】采样率是每秒采样数；更密意味着相邻采样时刻间隔更短。</a:t>
            </a:r>
          </a:p>
          <a:p/>
          <a:p>
            <a:r>
              <a:t>【v7回扣】演示切换到本页后，要求学生解释采样率和每秒样本数之间的关系。Notebook中的4毫秒局部窗口只是观察尺度。</a:t>
            </a:r>
          </a:p>
          <a:p/>
          <a:p>
            <a:r>
              <a:t>1Hz=每秒1个记录点；2Hz=每秒2个。这里用于放大理解，绝非实际音频录制建议。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【教师讲述／组织】同一波形、同一个时长，采样点由少到多。先比较时间方向的点密度，不谈“采样后连线就完全恢复”。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上下保持同一条曲线不变，只改变时间方向的样本密度，让学生辨认控制变量。</a:t>
            </a:r>
          </a:p>
          <a:p/>
          <a:p>
            <a:r>
              <a:t>【v8.1视觉引导】加强波形曲线投影对比；灰色线为信号示意，离散点是取样时刻的记录。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【设计意图】实录2第二步：采样点的振幅可在连续范围取值，设备却计划使用有限等级。让学生意识到有第二个问题尚未解决。</a:t>
            </a:r>
          </a:p>
          <a:p>
            <a:r>
              <a:t>【教师可以这样讲】假设某个时刻取得3.71这样的振幅值。如果设备只准记录8个整数等级，会怎么办？</a:t>
            </a:r>
          </a:p>
          <a:p>
            <a:r>
              <a:t>【预判回答与追问】学生可能直接回答“四舍五入”，要追问必须先规定可用的代表值与映射规则。</a:t>
            </a:r>
          </a:p>
          <a:p>
            <a:r>
              <a:t>【本页收束】量化解决幅度的离散化，下一页构建0到7的教学模型。</a:t>
            </a:r>
          </a:p>
          <a:p/>
          <a:p>
            <a:r>
              <a:t>【v7 Demo C预告】现在只解决了采样时刻；纵向幅度可能是任意连续值，需要量化，稍后用实验台在同一坐标中比较。</a:t>
            </a:r>
          </a:p>
          <a:p/>
          <a:p>
            <a:r>
              <a:t>讨论3.71这样的幅度怎样用有限个等级近似记录，不让量化等同四舍五入。</a:t>
            </a:r>
          </a:p>
          <a:p/>
          <a:p>
            <a:r>
              <a:t>【v8.1视觉引导】加强波形曲线投影对比；灰色线为信号示意，离散点是取样时刻的记录。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【设计意图】坚持实录2的首个量化模型：等级从0数到7含0，共八级。提醒这里是教学简化例，真实PCM可正可负。让学生先自己数等级。</a:t>
            </a:r>
          </a:p>
          <a:p>
            <a:r>
              <a:t>【教师可以这样讲】请同学数一数，从0到7一共几个数字。0算不算一个等级？</a:t>
            </a:r>
          </a:p>
          <a:p>
            <a:r>
              <a:t>【预判回答与追问】最容易出现7级的误答。让学生逐个数：0、1、2、3、4、5、6、7。</a:t>
            </a:r>
          </a:p>
          <a:p>
            <a:r>
              <a:t>【本页收束】共8个等级。这里是简化模型，并非真实声压只有非负值。</a:t>
            </a:r>
          </a:p>
          <a:p/>
          <a:p>
            <a:r>
              <a:t>讲授0~7是等级编号；不要把取样数、幅度值、等级编号混为一谈，先让学生预测。</a:t>
            </a:r>
          </a:p>
          <a:p/>
          <a:p>
            <a:r>
              <a:t>【v8.1视觉引导】加深0至7的八条量化等级线，先数清等级再引入3 bit。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【设计意图】此页展示明确的取整规则：教学用向下取整（非真实所有PCM的唯一规则）；把3.71映射到3。解释损失了细节，产生量化误差。</a:t>
            </a:r>
          </a:p>
          <a:p>
            <a:r>
              <a:t>【教师可以这样讲】规定一个简化规则：向下取整。原值3.71会落在哪个等级？屏幕上的红点与蓝点哪个是原值？</a:t>
            </a:r>
          </a:p>
          <a:p>
            <a:r>
              <a:t>【预判回答与追问】可能误以为蓝点恰好是原始值。追问：3.71与3有什么不同？少了哪些信息？</a:t>
            </a:r>
          </a:p>
          <a:p>
            <a:r>
              <a:t>【本页收束】量化是用有限代表值近似原值，存在量化误差。</a:t>
            </a:r>
          </a:p>
          <a:p/>
          <a:p>
            <a:r>
              <a:t>这里按[n,n+1)归入Ln，3.71属于L3；量化代表值可取3.5。让学生回看先前错误猜测。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【设计意图】出选择：8个等级需要2位、3位还是8位？请学生复习2的n次方。按最简单映射列出对应表，避免一次上来10个样本。</a:t>
            </a:r>
          </a:p>
          <a:p>
            <a:r>
              <a:t>【教师可以这样讲】刚才有8级，若只有两个二进制位可以表示多少种不同情况？三个呢？</a:t>
            </a:r>
          </a:p>
          <a:p>
            <a:r>
              <a:t>【预判回答与追问】让学生亲自枚举00、01、10、11，然后观察000到111共有八种。</a:t>
            </a:r>
          </a:p>
          <a:p>
            <a:r>
              <a:t>【本页收束】2^3=8，所以这八个等级可以用3 bit表示。</a:t>
            </a:r>
          </a:p>
          <a:p/>
          <a:p>
            <a:r>
              <a:t>该比较图与Notebook 03采用不同示例幅度范围，但都是先采样、划区间、记录等级；先建立3bit=8级再操作。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【设计意图】引导从单样本迁移到样本序列：强调时间先后、量化值与3位二进制对应。不要把10个样本误说为10个量化等级。</a:t>
            </a:r>
          </a:p>
          <a:p>
            <a:r>
              <a:t>【教师可以这样讲】请从第3个样本找起：它的量化值是多少？对应的三位码字是什么？再找第7个。</a:t>
            </a:r>
          </a:p>
          <a:p>
            <a:r>
              <a:t>【预判回答与追问】注意区分“样本数量10”和“等级数量8”，不能把十个样本说成十个等级。</a:t>
            </a:r>
          </a:p>
          <a:p>
            <a:r>
              <a:t>【本页收束】编码按时间顺序保存各个样本的定长码字。</a:t>
            </a:r>
          </a:p>
          <a:p/>
          <a:p>
            <a:r>
              <a:t>三位二进制可以表达8种组合；先问学生最少需要几bit，再揭示全部码字。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【教师讲述／组织】引入实录2的尺子类比：原本分米刻度与厘米刻度，刻度更细通常误差更小。与采样率的时间密度作区分。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十个样本的表先只聚焦第一列：样本编号、量化等级、3bit码字逐一对应，再请学生解释其它样本。</a:t>
            </a:r>
          </a:p>
          <a:p/>
          <a:p>
            <a:r>
              <a:t>【v8.1视觉引导】码字行放大并统一青色；先指出第1列，再读完全部10个样本。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【设计意图】学生两两互问：采样率改变什么方向？量化位数改变什么方向？画时间与幅度两个方向的粗箭头，对照两种概念。</a:t>
            </a:r>
          </a:p>
          <a:p>
            <a:r>
              <a:t>【教师可以这样讲】请指出采样率与量化位数分别控制这张图的哪个方向。</a:t>
            </a:r>
          </a:p>
          <a:p>
            <a:r>
              <a:t>【预判回答与追问】如学生认为量化位数决定点的多少，重新回看每一秒有几个采样时刻。</a:t>
            </a:r>
          </a:p>
          <a:p>
            <a:r>
              <a:t>【本页收束】采样率决定时间方向的密度，量化位数决定幅度方向的精细程度。</a:t>
            </a:r>
          </a:p>
          <a:p/>
          <a:p>
            <a:r>
              <a:t>【v7 Demo C，约5分钟】运行 notebooks/03_采样_量化_编码实验台.ipynb，按①原波形→②采样→③量化→④编码进行。学生先预测调高采样率会变哪些点，再预测保持采样率改bit数时横向点数会否变化。实验台使用归一化-1到1幅度，量化等级编号仍为0～2^n-1，与本页0～7教学例的单位尺度不同。</a:t>
            </a:r>
          </a:p>
          <a:p/>
          <a:p>
            <a:r>
              <a:t>对比3bit与4bit的等级数，先让学生预测会不会增加样本点个数；解释是纵向可选值更密。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【教师讲述／组织】技术纠偏：在其他条件一致且原先不足时通常改善还原保真度；但达到合理条件后并非“数字越大越好”，设备、声源、听觉与滤波都会限制。中学只需掌握趋势和条件。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【v7实验台回扣】在实验台选择3 bit，点击一个点，要求学生报出等级编号和3 bit码字。注意实验台使用[-1,1]输入范围；本页0～7演示是另一种简化尺度，编码原理相同。</a:t>
            </a:r>
          </a:p>
          <a:p/>
          <a:p>
            <a:r>
              <a:t>纠正“设置越高听觉效果必然越好”的绝对化说法，讨论保真能力与具体条件。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【教师讲述／组织】避免从课堂3位例子跳到真实16位时困惑。说明用3位为了看清规律，不是说实际音乐普遍使用3位。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【v7学习证据】让学生说出：“采样确定何时记录，量化决定用哪个代表值，编码将编号写成固定长度的二进制码字。”如果答不出，回实验台查看同一个样本，避免只背步骤名称。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【教师讲述／组织】从实录与v4延展：PCM代表样本数据的编码表示，WAV是保存音频数据的文件容器之一。暂不讲复杂格式比较，示意文件头告诉播放器如何读数据。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区分数字样本和WAV容器头的作用；WAV不等同于一种有损压缩方法。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【设计意图】回扣开场录音/播放闭环：读PCM样本→转换为连续电信号→推动扬声器振动；波形经过重建，不是简单用折线连接采样点。</a:t>
            </a:r>
          </a:p>
          <a:p>
            <a:r>
              <a:t>【教师可以这样讲】复盘完整流程：数字文件里的样本为什么还能被扬声器播放成声音？</a:t>
            </a:r>
          </a:p>
          <a:p>
            <a:r>
              <a:t>【预判回答与追问】不要讲成简单把点连成折线。输出经过数模转换及适当的信号处理。</a:t>
            </a:r>
          </a:p>
          <a:p>
            <a:r>
              <a:t>【本页收束】录音是ADC，播放是DAC，音频数字化形成闭环。</a:t>
            </a:r>
          </a:p>
          <a:p/>
          <a:p>
            <a:r>
              <a:t>沿数字样本→DAC→扬声器→声音完成录放闭环，不在主线要求复述滤波细节。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【教师讲述／组织】从实录2由学生提出因素：越长录音越大，每秒越多点越大，每个点越多bit越大，左右两路各记录一次。请先预测四项，不马上展示公式。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先让学生自己说PCM数据量四个因素，而不是直接背公式。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【设计意图】用小模型实推：每秒2个样本×4秒×1声道=8个样本，每样本3bit共24bit=3Byte。用8个小方块表示样本，而不是一上来给公式。</a:t>
            </a:r>
          </a:p>
          <a:p>
            <a:r>
              <a:t>【教师可以这样讲】请口算每秒2个样本，录4秒，一路声道，共得到多少个样本？每个3位，要几个bit？</a:t>
            </a:r>
          </a:p>
          <a:p>
            <a:r>
              <a:t>【预判回答与追问】学生可能直接乘完得到24 Byte。请指着八个框数，再从bit换到Byte。</a:t>
            </a:r>
          </a:p>
          <a:p>
            <a:r>
              <a:t>【本页收束】8个样本、每个3bit，共24bit，等于3Byte。</a:t>
            </a:r>
          </a:p>
          <a:p/>
          <a:p>
            <a:r>
              <a:t>让学生数8个样本，每个3bit共24bit，除8得到3Byte，单位帮助理解公式。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【设计意图】不要把数据量公式当背诵口令。请学生逐个解释每一项代表哪个物理意义。单位：Hz、bit、秒；/8得到字节。</a:t>
            </a:r>
          </a:p>
          <a:p>
            <a:r>
              <a:t>【教师可以这样讲】我们刚才为什么要把四个因素相乘？请逐一说出公式的单位和意义。</a:t>
            </a:r>
          </a:p>
          <a:p>
            <a:r>
              <a:t>【预判回答与追问】常见错误：1 kHz写成1024 Hz；bit和Byte混用；忘记把分钟换成秒。</a:t>
            </a:r>
          </a:p>
          <a:p>
            <a:r>
              <a:t>【本页收束】会用公式之前先能解释公式。</a:t>
            </a:r>
          </a:p>
          <a:p/>
          <a:p>
            <a:r>
              <a:t>为什么结果是Byte要÷8？把四因素分别对应实际样本数量与每样本bit数。</a:t>
            </a:r>
          </a:p>
          <a:p/>
          <a:p>
            <a:r>
              <a:t>[视觉优化] 从样本总数开始推导数据量，解释每个乘数的单位。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【教师讲述／组织】问题页。给学生独立列式。若学生写16×8×2×5，追问16kHz应等于多少Hz。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独立列式后再揭示；提问哪一个乘数是双声道、为什么还要除以8。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【教师讲述／组织】答案页。问：如果双声道改成单声道，结果会怎样？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答案160000 Byte。让学生先说思路，再对照上一页原位置的题干与下方答案。</a:t>
            </a:r>
          </a:p>
          <a:p/>
          <a:p>
            <a:r>
              <a:t>【v8.1视觉引导】题干完全保留原位置，仅答案区浅紫底原位揭示；注意先等待学生回应再翻页。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【教师讲述／组织】第一课时退出评价。随机请学生说出完整录音链；指一个点说采样与量化区别；算一条小PCM数据量。没掌握则下节开头再复习，不拖到所有附录。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【v7时间控制】本课新增的三个演示分别约2、3、5分钟，应替换原有重复的静态口头描述；并非在原45分钟上增加10分钟。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【教师讲述／组织】第二课时导入。说明第一节学的是数字化与PCM数据量，第二节学数据量计算、音轨和声道、视频数据量冲突及压缩。</a:t>
            </a:r>
          </a:p>
          <a:p>
            <a:r>
              <a:t>【反馈】先听学生如何解释，再决定是否揭示结论；注意控制本页停留时间。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【教师讲述／组织】实录3起手计算前，先让学生能解释参数。分组对答48,000Hz、16bit、2声道、60秒。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先只看48000、16、2、60，要求学生用自己的话说明每个参数是什么。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【教师讲述／组织】问题页。复现实录3的DVD参数题，强调对参数意义的解释，而不只是按键计算。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先从PCM字节数算起，再转换MiB；强调1024²与1000²换算不同。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【教师讲述／组织】答案页。实录转写常写10.98MB，这是截断近似；按四舍五入保留两位应10.99 MiB。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约10.99 MiB；验证11520000 B/1048576。不把带少量文件头的WAV大小当作PCM样本大小。</a:t>
            </a:r>
          </a:p>
          <a:p/>
          <a:p>
            <a:r>
              <a:t>【v8.1视觉引导】题干完全保留原位置，仅答案区浅紫底原位揭示；注意先等待学生回应再翻页。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【设计意图】问题页。先让学生预测。这是实录3较长的认知冲突案例，不要马上公布答案。</a:t>
            </a:r>
          </a:p>
          <a:p>
            <a:r>
              <a:t>【教师可以这样讲】再次提问：多加了一条背景音乐音轨，新的未压缩PCM文件一定比原文件大吗？请先投票并说明依据。</a:t>
            </a:r>
          </a:p>
          <a:p>
            <a:r>
              <a:t>【预判回答与追问】真实课堂里学生曾将音轨误认为声道；暂不判断两种观点谁对。</a:t>
            </a:r>
          </a:p>
          <a:p>
            <a:r>
              <a:t>【本页收束】下一页让两种解释并存，定位分歧。</a:t>
            </a:r>
          </a:p>
          <a:p/>
          <a:p>
            <a:r>
              <a:t>投票多一条编辑音轨容量是否翻倍；不同学生给出理由，暂不揭示正确答案。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【设计意图】把实录中两位学生的理由换一种说法重现。引导学生指出分歧其实在“音轨和声道是不是一回事”。仍不公布答案。</a:t>
            </a:r>
          </a:p>
          <a:p>
            <a:r>
              <a:t>【教师可以这样讲】有人支持不变，有人支持翻倍。注意我们的目标不是投票决定真理，而是检验关键假设。</a:t>
            </a:r>
          </a:p>
          <a:p>
            <a:r>
              <a:t>【预判回答与追问】追问：增加的是“编辑音轨”，还是“导出声道”？哪个出现在容量公式里？</a:t>
            </a:r>
          </a:p>
          <a:p>
            <a:r>
              <a:t>【本页收束】到图示页验证音轨与声道不同。</a:t>
            </a:r>
          </a:p>
          <a:p/>
          <a:p>
            <a:r>
              <a:t>两种观点的矛盾来自把编辑音轨当作输出声道。追问最后导出文件是几声道。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【设计意图】直观图示：两条音轨经混音成为两个输出声道，注意不是左右各有一条编辑音轨。解释可单声道或双声道输出。</a:t>
            </a:r>
          </a:p>
          <a:p>
            <a:r>
              <a:t>【教师可以这样讲】请指向编辑左边两行，它们是两条音轨；再指向右边的L/R，这才是导出的两路声道。</a:t>
            </a:r>
          </a:p>
          <a:p>
            <a:r>
              <a:t>【预判回答与追问】如果学生说“左音轨变左声道”，让他想一想人声与伴奏是否都能同时从左右扬声器传出。</a:t>
            </a:r>
          </a:p>
          <a:p>
            <a:r>
              <a:t>【本页收束】混合不会自动增加声道数，保持四参数则未压缩样本数据量不变。</a:t>
            </a:r>
          </a:p>
          <a:p/>
          <a:p>
            <a:r>
              <a:t>先看两条轨，再揭示混音之后仍可输出L/R两路数据。</a:t>
            </a:r>
          </a:p>
          <a:p/>
          <a:p>
            <a:r>
              <a:t>[视觉优化] 波形为区别音轨与输出通道的示意图，不是混音运算曲线。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【教师讲述／组织】答案页。让学生回看第一个预测，承认纠正了哪一个概念。提醒不同格式和压缩参数会影响最终文件大小。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回到初始投票，解释四个PCM参数保持不变，因此样本数据量不变。</a:t>
            </a:r>
          </a:p>
          <a:p/>
          <a:p>
            <a:r>
              <a:t>【v8.1视觉引导】题干完全保留原位置，仅答案区浅紫底原位揭示；注意先等待学生回应再翻页。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【教师讲述／组织】让学生应用四因素公式。声道数2→1，其他不变，PCM样本数据量减半。音轨增减并不直接决定总量。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迁移：把立体声变成单声道，其他参数相同，PCM样本数据量减半。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【教师讲述／组织】实录3转向视频前回顾图像和声音：图像在空间二维网格采样，声音在时间轴取值；量化都用有限等级记录。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【v8.1视觉引导】重新排列三条对照，文字达到22pt，学生先指出“位置”不同，再比较数据量结构。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【设计意图】借鉴实录3翻页小人的经验。每一帧呈现同一圆的位置改变。问学生：视频需保存几个画面？帧率如何描述？不用严格视觉暂留时间阈值。</a:t>
            </a:r>
          </a:p>
          <a:p>
            <a:r>
              <a:t>【教师可以这样讲】五张小图中蓝点位置发生变化，连续播放后我们会感到它在运动。你生活里见过翻页动画吗？</a:t>
            </a:r>
          </a:p>
          <a:p>
            <a:r>
              <a:t>【预判回答与追问】不要把“视觉暂留0.024秒”当成唯一且固定的生理阈值。</a:t>
            </a:r>
          </a:p>
          <a:p>
            <a:r>
              <a:t>【本页收束】视频可以用连续图像帧与帧率的概念来理解。</a:t>
            </a:r>
          </a:p>
          <a:p/>
          <a:p>
            <a:r>
              <a:t>五帧是同一个运动小球在五个时刻的状态。帧率25fps是每秒25帧，不应解释为人眼严格生理阈值。</a:t>
            </a:r>
          </a:p>
          <a:p/>
          <a:p>
            <a:r>
              <a:t>球在每一帧的位置不同，同样场景取不同时间画面；fps是每秒帧数。</a:t>
            </a:r>
          </a:p>
          <a:p/>
          <a:p>
            <a:r>
              <a:t>【v8.1视觉引导】让学生比较同一小球相对于各帧相同参考线的位置，从第一帧到第五帧明显向右变化。</a:t>
            </a:r>
          </a:p>
          <a:p/>
          <a:p>
            <a:r>
              <a:t>[视觉优化] 控制变量只有球的位置；动画效果来自连续帧的顺序。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【教师讲述／组织】从学生已经理解的“视频是连续图像”计算总帧数。先让学生口算25×60×10=15000帧。</a:t>
            </a:r>
          </a:p>
          <a:p>
            <a:r>
              <a:t>【反馈】先听学生如何解释，再决定是否揭示结论；注意控制本页停留时间。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【设计意图】问题页。来源实录3。不要把帧率误认为采样率，一帧是一张完整图。给3分钟列式，计算可用计算器。</a:t>
            </a:r>
          </a:p>
          <a:p>
            <a:r>
              <a:t>【教师可以这样讲】先算一帧480×320像素，需要多少bit和Byte；再乘上25帧/秒和600秒。</a:t>
            </a:r>
          </a:p>
          <a:p>
            <a:r>
              <a:t>【预判回答与追问】学生可能只乘25或只乘10。追问十分钟共有多少秒、多少帧？</a:t>
            </a:r>
          </a:p>
          <a:p>
            <a:r>
              <a:t>【本页收束】未压缩视频等于单帧数据量乘总帧数。</a:t>
            </a:r>
          </a:p>
          <a:p/>
          <a:p>
            <a:r>
              <a:t>10分钟无声逐帧未压缩视频，先算单帧字节，再算15000帧，单位换算为GiB。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【教师讲述／组织】答案页。把公式拆成两段并让学生自己解释。按十进制GB约6.912 GB。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答案约6.44GiB，检验帧数、bit转Byte以及B转GiB三步。</a:t>
            </a:r>
          </a:p>
          <a:p/>
          <a:p>
            <a:r>
              <a:t>【v8.1视觉引导】题干完全保留原位置，仅答案区浅紫底原位揭示；注意先等待学生回应再翻页。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【设计意图】核心认知冲突，不要预先写“因为压缩”。问：是不是算错？为什么在线短视频能很快播放？给学生发言时间。</a:t>
            </a:r>
          </a:p>
          <a:p>
            <a:r>
              <a:t>【教师可以这样讲】请你对照刚刚算出的6.44 GiB。我们手机里十分钟的视频，为什么通常远小于它？难道计算公式错了？</a:t>
            </a:r>
          </a:p>
          <a:p>
            <a:r>
              <a:t>【预判回答与追问】学生可能回答分辨率不同、格式不同、压缩了。记录这几种可能，指出公式中的题设是未压缩逐帧存储。</a:t>
            </a:r>
          </a:p>
          <a:p>
            <a:r>
              <a:t>【本页收束】这是第二课时核心认知冲突，直到下一页再揭示压缩。</a:t>
            </a:r>
          </a:p>
          <a:p/>
          <a:p>
            <a:r>
              <a:t>先让学生用自己看视频的经验提出文件比估算小的解释，借助冲突引出编码压缩。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【教师讲述／组织】强调不是估计所有真实视频的固定大小。实际视频通常通过压缩编码，如利用相邻帧相似部分与人眼不敏感的某些信息。高中只解释为什么可能缩小。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实际压缩技术还包括多种预测与表示方式；本课只要求理解重复规律允许节省比特，不学习具体codec算法。</a:t>
            </a:r>
          </a:p>
          <a:p/>
          <a:p>
            <a:r>
              <a:t>【v8.1视觉引导】将关键概念和对照放大；不能将视频压缩简化为“直接删除几帧”。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【教师讲述／组织】实录3行李箱类比：整理行李节约空间；通过网络分享文件缩短传输时间。学生可以自举例，不要说压缩必然提升感知画质。</a:t>
            </a:r>
          </a:p>
          <a:p>
            <a:r>
              <a:t>【反馈】先听学生如何解释，再决定是否揭示结论；注意控制本页停留时间。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【设计意图】实录3的经典冗余案例。向学生展示短短的“（中国）×100”与重复文字。说明这仅是启发性的编码例子，不代表真实RAR算法。</a:t>
            </a:r>
          </a:p>
          <a:p>
            <a:r>
              <a:t>【教师可以这样讲】两种写法能不能表示相同文字？“中国”重复一百次与“中国×100”，哪种通常更省符号？</a:t>
            </a:r>
          </a:p>
          <a:p>
            <a:r>
              <a:t>【预判回答与追问】提醒这只是解释冗余的教学模型，不是真实RAR编码的说明。</a:t>
            </a:r>
          </a:p>
          <a:p>
            <a:r>
              <a:t>【本页收束】规律、重复让人有机会用更短的规则表达同一内容。</a:t>
            </a:r>
          </a:p>
          <a:p/>
          <a:p>
            <a:r>
              <a:t>中国重复100次只用“字词×次数”表达是思想模型，不代表RAR或zlib唯一工作机制。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【教师讲述／组织】把“冗余”与重复的内容联系：A有规律，B无规律，但原长度相同。实际压缩算法实现不同，因此“通常更易”而非必然。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重复多往往可用更短的规则表示，但实际压缩要看数据及算法。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【设计意图】可以用Python标准库zlib演示，代码放Notes。生成1000个A与1000个伪随机字节（固定seed），比较同一无损压缩方法所得字节数并检验完全还原。先预测再运行。</a:t>
            </a:r>
          </a:p>
          <a:p>
            <a:r>
              <a:t>【教师可以这样讲】两个数据各1000Byte：一个全是A，一个随机变化。请预测谁压缩后更小，以及能否恢复原数据。</a:t>
            </a:r>
          </a:p>
          <a:p>
            <a:r>
              <a:t>【预判回答与追问】学生可能认为所有文件都会变小。下一页结果显示随机数据在容器开销下甚至略微变大。</a:t>
            </a:r>
          </a:p>
          <a:p>
            <a:r>
              <a:t>【本页收束】测试无损压缩的冗余利用，而不是展示具体算法。</a:t>
            </a:r>
          </a:p>
          <a:p/>
          <a:p>
            <a:r>
              <a:t>【v7 Demo D】先预测两份原始都是1000 Byte的文件哪一个被压得更小，再运行 notebooks/04_压缩前先预测.ipynb。Python zlib在Mac执行，Windows浏览器只展示结果，不依赖音频或py5。</a:t>
            </a:r>
          </a:p>
          <a:p/>
          <a:p>
            <a:r>
              <a:t>A和B均1000Byte，学生先预测谁更省空间、B是否可能压完更大。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【设计意图】演示代码（Windows课堂pt环境，Python标准库即可）：</a:t>
            </a:r>
          </a:p>
          <a:p>
            <a:r>
              <a:t>import zlib, random</a:t>
            </a:r>
          </a:p>
          <a:p>
            <a:r>
              <a:t>a=b"A"*1000</a:t>
            </a:r>
          </a:p>
          <a:p>
            <a:r>
              <a:t>r=random.Random(2026)</a:t>
            </a:r>
          </a:p>
          <a:p>
            <a:r>
              <a:t>b=bytes(r.randrange(256) for _ in range(1000))</a:t>
            </a:r>
          </a:p>
          <a:p>
            <a:r>
              <a:t>for name,x in [("A",a),("B",b)]:</a:t>
            </a:r>
          </a:p>
          <a:p>
            <a:r>
              <a:t>    packed=zlib.compress(x)</a:t>
            </a:r>
          </a:p>
          <a:p>
            <a:r>
              <a:t>    print(name,len(x),len(packed),zlib.decompress(packed)==x)</a:t>
            </a:r>
          </a:p>
          <a:p>
            <a:r>
              <a:t>本次固定随机种子得到A=17 Byte，B=1011 Byte。学生关注重复和冗余；算法细节不展开。</a:t>
            </a:r>
          </a:p>
          <a:p>
            <a:r>
              <a:t>【教师可以这样讲】运行标准库实验或直接展示结果：重复内容1000Byte压后17Byte，随机内容1000Byte压后1011Byte。为什么会这样？</a:t>
            </a:r>
          </a:p>
          <a:p>
            <a:r>
              <a:t>【预判回答与追问】别把高熵文件变大误判为程序出错：压缩文件自身有格式开销。检查两者解压完全一致。</a:t>
            </a:r>
          </a:p>
          <a:p>
            <a:r>
              <a:t>【本页收束】这是无损压缩，且压缩效果取决于可利用的规律与编码方式。</a:t>
            </a:r>
          </a:p>
          <a:p/>
          <a:p>
            <a:r>
              <a:t>【v7实际实验】Notebook 04使用确定性随机字节与重复字节，打印压缩前后真实长度。如果随机字节压缩后略大，是格式开销而非代码错误。让学生总结“能够用规律简洁表示的信息通常更容易压缩”。</a:t>
            </a:r>
          </a:p>
          <a:p/>
          <a:p>
            <a:r>
              <a:t>17Byte与1011Byte是采用Python标准库zlib、固定随机种子的这一次课堂实验结果。数值取决于内容与算法，不是普遍常数；B数据因格式开销而可能变大。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【教师讲述／组织】实录3解释重新编码：数据压缩主要是改变表示方式，无损靠高效编码，允许有损时还可舍弃部分信息。目的与实质分开讲。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归纳数据压缩是更高效的表示；要不要完整恢复决定无损与有损路径。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【设计意图】先提出是否可以还原原始信息，再定义无损有损。注意有损不一定人类完全无感，有时肉眼肉耳可觉察明显差异。</a:t>
            </a:r>
          </a:p>
          <a:p>
            <a:r>
              <a:t>【教师可以这样讲】请判断：压缩后解开，能不能100%恢复原始字节？把这个问题作为分类标准。</a:t>
            </a:r>
          </a:p>
          <a:p>
            <a:r>
              <a:t>【预判回答与追问】有损不等于“损坏文件”；它在可接受的前提下放弃部分原始信息。</a:t>
            </a:r>
          </a:p>
          <a:p>
            <a:r>
              <a:t>【本页收束】无损可完全恢复，有损则不能恢复到原数据完全一致。</a:t>
            </a:r>
          </a:p>
          <a:p/>
          <a:p>
            <a:r>
              <a:t>判别方法：是否能够完全恢复原字节，不用文件后缀或大小作为唯一标准。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【教师讲述／组织】从实录拓展一点格式分层：ZIP/RAR是典型无损归档，MP3是常见有损音频编码，WAV是音频容器可装PCM，MP4是多媒体容器可含有损或无损编码。不要说全部文件扩展名都代表一种压缩算法。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ZIP/RAR属于无损归档，MP3是有损音频编码，WAV和MP4属于容器（MP4常装有损编码视频）。文件后缀与编码算法不是完全同一层级。</a:t>
            </a:r>
          </a:p>
          <a:p/>
          <a:p>
            <a:r>
              <a:t>【v8.1视觉引导】大字号提示学生区分归档格式、压缩编码与文件容器；颜色是视觉分组而非“都同一类”。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【设计意图】实录3三种图像案例。画同尺寸位图：纯色、规则色块、较复杂花纹（不是声称真实风景照片）。首先预测排序，再归纳冗余。</a:t>
            </a:r>
          </a:p>
          <a:p>
            <a:r>
              <a:t>【教师可以这样讲】这三幅图显示的是相同大小、相同位深的像素网格，哪张最容易找到重复的规律？</a:t>
            </a:r>
          </a:p>
          <a:p>
            <a:r>
              <a:t>【预判回答与追问】强调“通常”和“对合适的算法而言”，避免将图像颜色多少当作绝对压缩决定因素。</a:t>
            </a:r>
          </a:p>
          <a:p>
            <a:r>
              <a:t>【本页收束】纯色数据具有明显规律，适合无损压缩；比较结论再迁移到实际图像。</a:t>
            </a:r>
          </a:p>
          <a:p/>
          <a:p>
            <a:r>
              <a:t>三图尺寸和位深一致，让学生预测哪个更规律，判断无损压缩的可能差异。</a:t>
            </a:r>
          </a:p>
          <a:p/>
          <a:p>
            <a:r>
              <a:t>[视觉优化] 相同尺寸和色彩模式；内容结构不同。冗余与压缩算法共同决定结果。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【教师讲述／组织】问题页。此题迁移文字实验到图像。先解释冗余，再揭示。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练习答案不能只选A，要解释重复和规律性带来更多可利用冗余。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【教师讲述／组织】答案页。强调不是一切文件和算法都绝对如此。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答案中的“通常”必须保留，不同压缩方案有例外。</a:t>
            </a:r>
          </a:p>
          <a:p/>
          <a:p>
            <a:r>
              <a:t>【v8.1视觉引导】题干完全保留原位置，仅答案区浅紫底原位揭示；注意先等待学生回应再翻页。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【教师讲述／组织】实录3用同一花朵比较BMP和JPG。用简洁像素格子示意一张图被近似编码；JPEG不只是“删掉相似像素”，要避免这种错误的字面理解。也不能断言所有BMP必然未压缩。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BMP这里只指未压缩实例，JPG通常有损；文件大小还取决于参数和内容。</a:t>
            </a:r>
          </a:p>
          <a:p/>
          <a:p>
            <a:r>
              <a:t>[视觉优化] 同一640×350 RGB程序生成图像以quality=3编码JPEG；有损差异随参数改变。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【教师讲述／组织】实录3脱水比喻，但不把其当算法。说明高效压缩过的数据通常不容易进一步缩小，可能因为已缺少可利用冗余。再次有损转码可能进一步恶化质量。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已经是MP3/JPG，用RAR压缩通常收益有限，再次有损编码还可能降低质量。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【设计意图】实录3结尾的情境决策：长期备份要完整可还原；实时通话要平衡延迟和质量。用对比培养信息社会责任意识，不只追求压缩比。</a:t>
            </a:r>
          </a:p>
          <a:p>
            <a:r>
              <a:t>【教师可以这样讲】某个班级要长期备份源代码，另一个班级要用手机实时视频通话。两种场景需要的编码选择一样吗？</a:t>
            </a:r>
          </a:p>
          <a:p>
            <a:r>
              <a:t>【预判回答与追问】引导学生考虑完整性、质量、延迟与存储，不要只说压缩得越小越好。</a:t>
            </a:r>
          </a:p>
          <a:p>
            <a:r>
              <a:t>【本页收束】算法与压缩方法要与任务目标匹配。</a:t>
            </a:r>
          </a:p>
          <a:p/>
          <a:p>
            <a:r>
              <a:t>文档备份要求完整，视频通话权衡时延/带宽/质量，反对越小必然越好。</a:t>
            </a:r>
          </a:p>
          <a:p/>
          <a:p>
            <a:r>
              <a:t>【v8.1视觉引导】两组场景对比加大；让学生按完整性、带宽、延迟、质量权衡。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【教师讲述／组织】问题页。综合三种理解：音轨声道、原始视频大小、无损还原。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请学生独立判断三句话，指明每句对应的模型或证据。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【教师讲述／组织】答案页。不接受只给三个对错而不给依据的回答。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先让学生口头解释，再展示①错②对③对，强化数据量与ZIP的两种知识。</a:t>
            </a:r>
          </a:p>
          <a:p/>
          <a:p>
            <a:r>
              <a:t>【v8.1视觉引导】题干完全保留原位置，仅答案区浅紫底原位揭示；注意先等待学生回应再翻页。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【教师讲述／组织】出口评价：任选一个问题让学生用自己的话解释。重点检查概念因果：数字化、视频容量、压缩选择。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退出条检查解释能力而非术语背诵；答不出则回到图示逐步重建。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【教师讲述／组织】本页只作为选讲：混叠。同一离散采样点可能对应不同连续波形，所以低采样率不仅“点稀疏”，可能无法区分某些信号。深入公式留到拓展课程，不作为主线。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可选拓展：不是45分钟主线必讲内容，有时间且学生已完成必要理解才展示。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【教师讲述／组织】这一页可留作下一单元。PCM编码是样本的表示方式；压缩编码改变数据表示量。部分WAV容器可以保存其他编码形式，不能仅凭扩展名断言完全未压缩。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可选拓展：不是45分钟主线必讲内容，有时间且学生已完成必要理解才展示。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在已理解3bit与8个等级后，先给学生两种预测。运行notebooks/03_采样_量化_编码实验台.ipynb，固定4 kHz，位数3→4。学生观察：采样时刻不变，纵向可选的量化代表值从8增加到16，码字长度相应变化。此图只是静态示意，真实数值以Notebook演示为准。约5分钟，不与第15～17页全部额外累加。</a:t>
            </a:r>
          </a:p>
          <a:p/>
          <a:p>
            <a:r>
              <a:t>分别指横轴时间密度与纵轴量化等级，要求学生指出哪一项由采样率/位数控制。</a:t>
            </a:r>
          </a:p>
          <a:p/>
          <a:p>
            <a:r>
              <a:t>[视觉优化] 看横向点与纵向线：要求学生分别解释对应的参数。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运行notebooks/02_放大波形_看见采样点.ipynb。先保持完整波形，再把局部显示范围切换到20毫秒和4毫秒。左侧是示意概览，右侧是局部实际样本思路；在Notebook里，右侧点取自真实生成的PCM数据。不要说采样点之间连线是扬声器实际波形。约3分钟。</a:t>
            </a:r>
          </a:p>
          <a:p/>
          <a:p>
            <a:r>
              <a:t>打开Notebook 02，把波形从100毫秒放大到4毫秒，点击蓝色样本，读出实际时间和幅度；区分极值概览和真实采样点。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运行notebooks/01_听见声音_看见波形.ipynb。请教师从Windows浏览器直接点击播放；让学生预测红线表示空间位置还是播放时间，然后暂停再播放。观察教室音箱发声，Mac只是运算和提供数据。约2分钟。网络失败时直接使用本页示意和原第8页。</a:t>
            </a:r>
          </a:p>
          <a:p/>
          <a:p>
            <a:r>
              <a:t>打开远程JupyterLab Notebook 01，在Windows浏览器播放声音，问红线向右是不是声波向右传播；让学生说横轴是时间。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先显示0~7八级，学生预测3.71是3或4。暂停50秒让学生说出推理规则。再用下页指定的分区规则解决分歧；勿预先提示答案。</a:t>
            </a:r>
          </a:p>
          <a:p/>
          <a:p>
            <a:r>
              <a:t>[视觉优化] 让学生先预测，再到下一页验证[3,4)的区间归属。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逐步指着四个框引导：输入原值3.71，属于区间[3,4)，所以等级编号是3；把3写成三位等长码字011。反例4.15属于L4，码字100。本例幅度[0,8)，Demo C用[-1,1]，逻辑完全相同。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运行remote-demos-v7/notebooks/04_压缩前先预测.ipynb（Mac计算zlib，教室Windows浏览器呈现结果）。学生先猜，再运行，再对照下一页17Byte/1011Byte。B可能变大，包含必要编码开销。zlib不是RAR算法本身。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8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9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5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2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3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4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5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6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8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9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0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0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1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2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3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4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5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6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7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8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9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0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1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2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3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2057400"/>
            <a:ext cx="10881360" cy="11612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5200" b="1">
                <a:solidFill>
                  <a:srgbClr val="262626"/>
                </a:solidFill>
                <a:latin typeface="Alibaba PuHuiTi 3.0 115 Black"/>
              </a:defRPr>
            </a:pPr>
            <a:r>
              <a:t>声音怎样变成0和1？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703320"/>
            <a:ext cx="9966960" cy="749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100" b="0">
                <a:solidFill>
                  <a:srgbClr val="808080"/>
                </a:solidFill>
                <a:latin typeface="Alibaba PuHuiTi 3.0 55 Regular"/>
              </a:defRPr>
            </a:pPr>
            <a:r>
              <a:t>第一课时｜从声音到数字音频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我们会编码文字、图像，那声音呢？</a:t>
            </a:r>
          </a:p>
        </p:txBody>
      </p:sp>
      <p:sp>
        <p:nvSpPr>
          <p:cNvPr id="5" name="Rectangle 4"/>
          <p:cNvSpPr/>
          <p:nvPr/>
        </p:nvSpPr>
        <p:spPr>
          <a:xfrm>
            <a:off x="786384" y="2057400"/>
            <a:ext cx="3200400" cy="667512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9536" y="2176272"/>
            <a:ext cx="3054096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t>文字 → 编码</a:t>
            </a:r>
          </a:p>
        </p:txBody>
      </p:sp>
      <p:sp>
        <p:nvSpPr>
          <p:cNvPr id="7" name="Rectangle 6"/>
          <p:cNvSpPr/>
          <p:nvPr/>
        </p:nvSpPr>
        <p:spPr>
          <a:xfrm>
            <a:off x="4526280" y="2057400"/>
            <a:ext cx="3200400" cy="667512"/>
          </a:xfrm>
          <a:prstGeom prst="rect">
            <a:avLst/>
          </a:prstGeom>
          <a:noFill/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99432" y="2176272"/>
            <a:ext cx="3054096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00B0F0"/>
                </a:solidFill>
                <a:latin typeface="Alibaba PuHuiTi 3.0 115 Black"/>
              </a:defRPr>
            </a:pPr>
            <a:r>
              <a:t>图像 → 编码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49056" y="2011680"/>
            <a:ext cx="301752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200" b="1">
                <a:solidFill>
                  <a:srgbClr val="8C64E1"/>
                </a:solidFill>
                <a:latin typeface="Alibaba PuHuiTi 3.0 115 Black"/>
              </a:defRPr>
            </a:pPr>
            <a:r>
              <a:t>声音 → 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983480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核心问题：手机为什么可以把正在说的话保存成文件？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声音首先是什么？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1865376"/>
            <a:ext cx="10515600" cy="29260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68680" y="4910328"/>
            <a:ext cx="256032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t>振动声源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51960" y="4910328"/>
            <a:ext cx="256032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t>空气中的声压扰动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78240" y="4910328"/>
            <a:ext cx="256032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t>麦克风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" y="5843016"/>
            <a:ext cx="1074420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1700" b="0">
                <a:solidFill>
                  <a:srgbClr val="8C64E1"/>
                </a:solidFill>
                <a:latin typeface="Alibaba PuHuiTi 3.0 55 Regular"/>
              </a:defRPr>
            </a:pPr>
            <a:r>
              <a:t>从声源到麦克风：声压扰动向外传播，而不是沿蛇形路线行进。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声音和电脑里的音频文件，是同一种量吗？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1682496"/>
            <a:ext cx="493776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2500" b="1">
                <a:solidFill>
                  <a:srgbClr val="8C64E1"/>
                </a:solidFill>
                <a:latin typeface="Alibaba PuHuiTi 3.0 115 Black"/>
              </a:defRPr>
            </a:pPr>
            <a:r>
              <a:t>现实声音：连续变化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682496"/>
            <a:ext cx="493776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2500" b="1">
                <a:solidFill>
                  <a:srgbClr val="00B0F0"/>
                </a:solidFill>
                <a:latin typeface="Alibaba PuHuiTi 3.0 115 Black"/>
              </a:defRPr>
            </a:pPr>
            <a:r>
              <a:t>电脑保存：离散数字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868680" y="4361688"/>
            <a:ext cx="4754880" cy="0"/>
          </a:xfrm>
          <a:prstGeom prst="line">
            <a:avLst/>
          </a:prstGeom>
          <a:ln w="1905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868680" y="2368296"/>
            <a:ext cx="0" cy="2112264"/>
          </a:xfrm>
          <a:prstGeom prst="line">
            <a:avLst/>
          </a:prstGeom>
          <a:ln w="1651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6446520" y="4361688"/>
            <a:ext cx="4754880" cy="0"/>
          </a:xfrm>
          <a:prstGeom prst="line">
            <a:avLst/>
          </a:prstGeom>
          <a:ln w="1905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446520" y="2368296"/>
            <a:ext cx="0" cy="2112264"/>
          </a:xfrm>
          <a:prstGeom prst="line">
            <a:avLst/>
          </a:prstGeom>
          <a:ln w="1651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960120" y="3280676"/>
            <a:ext cx="54648" cy="70600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1014768" y="3211125"/>
            <a:ext cx="54649" cy="69551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1069417" y="3143656"/>
            <a:ext cx="54649" cy="67469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1124066" y="3079272"/>
            <a:ext cx="54649" cy="64384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1178715" y="3018930"/>
            <a:ext cx="54649" cy="60342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1233364" y="2963525"/>
            <a:ext cx="54649" cy="55405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1288013" y="2913882"/>
            <a:ext cx="54648" cy="49643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1342661" y="2870737"/>
            <a:ext cx="54649" cy="43145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1397310" y="2834732"/>
            <a:ext cx="54649" cy="36005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1451959" y="2806401"/>
            <a:ext cx="54649" cy="28331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1506608" y="2786166"/>
            <a:ext cx="54649" cy="20235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1561257" y="2774327"/>
            <a:ext cx="54649" cy="11839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1615906" y="2771061"/>
            <a:ext cx="54649" cy="3266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1670555" y="2771061"/>
            <a:ext cx="54648" cy="5354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1725203" y="2776415"/>
            <a:ext cx="54649" cy="13895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1779852" y="2790310"/>
            <a:ext cx="54649" cy="22230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1834501" y="2812540"/>
            <a:ext cx="54649" cy="30234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1889150" y="2842774"/>
            <a:ext cx="54649" cy="37789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1943799" y="2880563"/>
            <a:ext cx="54649" cy="44783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1998448" y="2925346"/>
            <a:ext cx="54648" cy="51112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2053096" y="2976458"/>
            <a:ext cx="54649" cy="56680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2107745" y="3033138"/>
            <a:ext cx="54649" cy="61407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2162394" y="3094545"/>
            <a:ext cx="54649" cy="65221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2217043" y="3159766"/>
            <a:ext cx="54649" cy="68067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2271692" y="3227833"/>
            <a:ext cx="54649" cy="69901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2326341" y="3297734"/>
            <a:ext cx="54649" cy="70697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2380990" y="3368431"/>
            <a:ext cx="54648" cy="70441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2435638" y="3438872"/>
            <a:ext cx="54649" cy="69140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2490287" y="3508012"/>
            <a:ext cx="54649" cy="66812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2544936" y="3574824"/>
            <a:ext cx="54649" cy="63490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2599585" y="3638314"/>
            <a:ext cx="54649" cy="59225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2654234" y="3697539"/>
            <a:ext cx="54649" cy="54080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2708883" y="3751619"/>
            <a:ext cx="54648" cy="48133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2763531" y="3799752"/>
            <a:ext cx="54649" cy="41469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2818180" y="3841221"/>
            <a:ext cx="54649" cy="34189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2872829" y="3875410"/>
            <a:ext cx="54649" cy="26402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2927478" y="3901812"/>
            <a:ext cx="54649" cy="18223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2982127" y="3920035"/>
            <a:ext cx="54649" cy="9772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3036776" y="3929807"/>
            <a:ext cx="54649" cy="1176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V="1">
            <a:off x="3091425" y="3923546"/>
            <a:ext cx="54648" cy="7437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V="1">
            <a:off x="3146073" y="3907607"/>
            <a:ext cx="54649" cy="15939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V="1">
            <a:off x="3200722" y="3883402"/>
            <a:ext cx="54649" cy="24205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V="1">
            <a:off x="3255371" y="3851290"/>
            <a:ext cx="54649" cy="32112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V="1">
            <a:off x="3310020" y="3811750"/>
            <a:ext cx="54649" cy="39540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 flipV="1">
            <a:off x="3364669" y="3765368"/>
            <a:ext cx="54649" cy="46382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V="1">
            <a:off x="3419318" y="3712833"/>
            <a:ext cx="54648" cy="52535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V="1">
            <a:off x="3473966" y="3654927"/>
            <a:ext cx="54649" cy="57906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 flipV="1">
            <a:off x="3528615" y="3592509"/>
            <a:ext cx="54649" cy="62418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 flipV="1">
            <a:off x="3583264" y="3526507"/>
            <a:ext cx="54649" cy="66002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V="1">
            <a:off x="3637913" y="3457901"/>
            <a:ext cx="54649" cy="68606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V="1">
            <a:off x="3692562" y="3387711"/>
            <a:ext cx="54649" cy="70190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 flipV="1">
            <a:off x="3747211" y="3316980"/>
            <a:ext cx="54649" cy="70731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 flipV="1">
            <a:off x="3801860" y="3246759"/>
            <a:ext cx="54648" cy="70221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V="1">
            <a:off x="3856508" y="3178090"/>
            <a:ext cx="54649" cy="68669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 flipV="1">
            <a:off x="3911157" y="3111994"/>
            <a:ext cx="54649" cy="66096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 flipV="1">
            <a:off x="3965806" y="3049454"/>
            <a:ext cx="54649" cy="62540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V="1">
            <a:off x="4020455" y="2991397"/>
            <a:ext cx="54649" cy="58057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 flipV="1">
            <a:off x="4075104" y="2938688"/>
            <a:ext cx="54649" cy="52709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V="1">
            <a:off x="4129753" y="2892109"/>
            <a:ext cx="54648" cy="46579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 flipV="1">
            <a:off x="4184401" y="2852352"/>
            <a:ext cx="54649" cy="39757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 flipV="1">
            <a:off x="4239050" y="2820008"/>
            <a:ext cx="54649" cy="32344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 flipV="1">
            <a:off x="4293699" y="2795558"/>
            <a:ext cx="54649" cy="24450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 flipV="1">
            <a:off x="4348348" y="2779364"/>
            <a:ext cx="54649" cy="16194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 flipV="1">
            <a:off x="4402997" y="2771667"/>
            <a:ext cx="54649" cy="7697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>
            <a:off x="4457646" y="2771667"/>
            <a:ext cx="54649" cy="915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>
            <a:off x="4512295" y="2772582"/>
            <a:ext cx="54648" cy="9513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>
            <a:off x="4566943" y="2782095"/>
            <a:ext cx="54649" cy="17970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>
            <a:off x="4621592" y="2800065"/>
            <a:ext cx="54649" cy="26159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>
            <a:off x="4676241" y="2826224"/>
            <a:ext cx="54649" cy="33961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>
            <a:off x="4730890" y="2860185"/>
            <a:ext cx="54649" cy="41257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>
            <a:off x="4785539" y="2901442"/>
            <a:ext cx="54649" cy="47940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>
            <a:off x="4840188" y="2949382"/>
            <a:ext cx="54648" cy="53912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>
            <a:off x="4894836" y="3003294"/>
            <a:ext cx="54649" cy="59082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>
            <a:off x="4949485" y="3062376"/>
            <a:ext cx="54649" cy="63374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>
            <a:off x="5004134" y="3125750"/>
            <a:ext cx="54649" cy="66725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>
            <a:off x="5058783" y="3192475"/>
            <a:ext cx="54649" cy="69084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>
            <a:off x="5113432" y="3261559"/>
            <a:ext cx="54649" cy="70418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>
            <a:off x="5168081" y="3331977"/>
            <a:ext cx="54649" cy="70704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>
            <a:off x="5222730" y="3402681"/>
            <a:ext cx="54648" cy="69940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>
            <a:off x="5277378" y="3472621"/>
            <a:ext cx="54649" cy="68138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>
            <a:off x="5332027" y="3540759"/>
            <a:ext cx="54649" cy="65322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>
            <a:off x="5386676" y="3606081"/>
            <a:ext cx="54649" cy="61536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>
            <a:off x="5441325" y="3667617"/>
            <a:ext cx="54649" cy="56837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>
            <a:off x="5495974" y="3724454"/>
            <a:ext cx="54649" cy="51291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>
            <a:off x="5550623" y="3775745"/>
            <a:ext cx="54649" cy="44985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 flipV="1">
            <a:off x="6537960" y="3280676"/>
            <a:ext cx="54541" cy="70600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 flipV="1">
            <a:off x="6592501" y="3211125"/>
            <a:ext cx="54541" cy="69551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 flipV="1">
            <a:off x="6647042" y="3143656"/>
            <a:ext cx="54541" cy="67469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 flipV="1">
            <a:off x="6701583" y="3079272"/>
            <a:ext cx="54542" cy="64384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 flipV="1">
            <a:off x="6756125" y="3018930"/>
            <a:ext cx="54541" cy="60342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 flipV="1">
            <a:off x="6810666" y="2963525"/>
            <a:ext cx="54541" cy="55405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 flipV="1">
            <a:off x="6865207" y="2913882"/>
            <a:ext cx="54541" cy="49643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 flipV="1">
            <a:off x="6919748" y="2870737"/>
            <a:ext cx="54542" cy="43145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 flipV="1">
            <a:off x="6974290" y="2834732"/>
            <a:ext cx="54541" cy="36005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 flipV="1">
            <a:off x="7028831" y="2806401"/>
            <a:ext cx="54541" cy="28331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 flipV="1">
            <a:off x="7083372" y="2786166"/>
            <a:ext cx="54541" cy="20235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 flipV="1">
            <a:off x="7137913" y="2774327"/>
            <a:ext cx="54542" cy="11839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 flipV="1">
            <a:off x="7192455" y="2771061"/>
            <a:ext cx="54541" cy="3266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or 108"/>
          <p:cNvCxnSpPr/>
          <p:nvPr/>
        </p:nvCxnSpPr>
        <p:spPr>
          <a:xfrm>
            <a:off x="7246996" y="2771061"/>
            <a:ext cx="54541" cy="5354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Connector 109"/>
          <p:cNvCxnSpPr/>
          <p:nvPr/>
        </p:nvCxnSpPr>
        <p:spPr>
          <a:xfrm>
            <a:off x="7301537" y="2776415"/>
            <a:ext cx="54542" cy="13895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Connector 110"/>
          <p:cNvCxnSpPr/>
          <p:nvPr/>
        </p:nvCxnSpPr>
        <p:spPr>
          <a:xfrm>
            <a:off x="7356079" y="2790310"/>
            <a:ext cx="54541" cy="22230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Connector 111"/>
          <p:cNvCxnSpPr/>
          <p:nvPr/>
        </p:nvCxnSpPr>
        <p:spPr>
          <a:xfrm>
            <a:off x="7410620" y="2812540"/>
            <a:ext cx="54541" cy="30234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Connector 112"/>
          <p:cNvCxnSpPr/>
          <p:nvPr/>
        </p:nvCxnSpPr>
        <p:spPr>
          <a:xfrm>
            <a:off x="7465161" y="2842774"/>
            <a:ext cx="54541" cy="37789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Connector 113"/>
          <p:cNvCxnSpPr/>
          <p:nvPr/>
        </p:nvCxnSpPr>
        <p:spPr>
          <a:xfrm>
            <a:off x="7519702" y="2880563"/>
            <a:ext cx="54542" cy="44783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Connector 114"/>
          <p:cNvCxnSpPr/>
          <p:nvPr/>
        </p:nvCxnSpPr>
        <p:spPr>
          <a:xfrm>
            <a:off x="7574244" y="2925346"/>
            <a:ext cx="54541" cy="51112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Connector 115"/>
          <p:cNvCxnSpPr/>
          <p:nvPr/>
        </p:nvCxnSpPr>
        <p:spPr>
          <a:xfrm>
            <a:off x="7628785" y="2976458"/>
            <a:ext cx="54541" cy="56680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" name="Connector 116"/>
          <p:cNvCxnSpPr/>
          <p:nvPr/>
        </p:nvCxnSpPr>
        <p:spPr>
          <a:xfrm>
            <a:off x="7683326" y="3033138"/>
            <a:ext cx="54541" cy="61407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Connector 117"/>
          <p:cNvCxnSpPr/>
          <p:nvPr/>
        </p:nvCxnSpPr>
        <p:spPr>
          <a:xfrm>
            <a:off x="7737867" y="3094545"/>
            <a:ext cx="54542" cy="65221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or 118"/>
          <p:cNvCxnSpPr/>
          <p:nvPr/>
        </p:nvCxnSpPr>
        <p:spPr>
          <a:xfrm>
            <a:off x="7792409" y="3159766"/>
            <a:ext cx="54541" cy="68067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Connector 119"/>
          <p:cNvCxnSpPr/>
          <p:nvPr/>
        </p:nvCxnSpPr>
        <p:spPr>
          <a:xfrm>
            <a:off x="7846950" y="3227833"/>
            <a:ext cx="54541" cy="69901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" name="Connector 120"/>
          <p:cNvCxnSpPr/>
          <p:nvPr/>
        </p:nvCxnSpPr>
        <p:spPr>
          <a:xfrm>
            <a:off x="7901491" y="3297734"/>
            <a:ext cx="54542" cy="70697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" name="Connector 121"/>
          <p:cNvCxnSpPr/>
          <p:nvPr/>
        </p:nvCxnSpPr>
        <p:spPr>
          <a:xfrm>
            <a:off x="7956033" y="3368431"/>
            <a:ext cx="54541" cy="70441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" name="Connector 122"/>
          <p:cNvCxnSpPr/>
          <p:nvPr/>
        </p:nvCxnSpPr>
        <p:spPr>
          <a:xfrm>
            <a:off x="8010574" y="3438872"/>
            <a:ext cx="54541" cy="69140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Connector 123"/>
          <p:cNvCxnSpPr/>
          <p:nvPr/>
        </p:nvCxnSpPr>
        <p:spPr>
          <a:xfrm>
            <a:off x="8065115" y="3508012"/>
            <a:ext cx="54541" cy="66812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Connector 124"/>
          <p:cNvCxnSpPr/>
          <p:nvPr/>
        </p:nvCxnSpPr>
        <p:spPr>
          <a:xfrm>
            <a:off x="8119656" y="3574824"/>
            <a:ext cx="54542" cy="63490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" name="Connector 125"/>
          <p:cNvCxnSpPr/>
          <p:nvPr/>
        </p:nvCxnSpPr>
        <p:spPr>
          <a:xfrm>
            <a:off x="8174198" y="3638314"/>
            <a:ext cx="54541" cy="59225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" name="Connector 126"/>
          <p:cNvCxnSpPr/>
          <p:nvPr/>
        </p:nvCxnSpPr>
        <p:spPr>
          <a:xfrm>
            <a:off x="8228739" y="3697539"/>
            <a:ext cx="54541" cy="54080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" name="Connector 127"/>
          <p:cNvCxnSpPr/>
          <p:nvPr/>
        </p:nvCxnSpPr>
        <p:spPr>
          <a:xfrm>
            <a:off x="8283280" y="3751619"/>
            <a:ext cx="54541" cy="48133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" name="Connector 128"/>
          <p:cNvCxnSpPr/>
          <p:nvPr/>
        </p:nvCxnSpPr>
        <p:spPr>
          <a:xfrm>
            <a:off x="8337821" y="3799752"/>
            <a:ext cx="54542" cy="41469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" name="Connector 129"/>
          <p:cNvCxnSpPr/>
          <p:nvPr/>
        </p:nvCxnSpPr>
        <p:spPr>
          <a:xfrm>
            <a:off x="8392363" y="3841221"/>
            <a:ext cx="54541" cy="34189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Connector 130"/>
          <p:cNvCxnSpPr/>
          <p:nvPr/>
        </p:nvCxnSpPr>
        <p:spPr>
          <a:xfrm>
            <a:off x="8446904" y="3875410"/>
            <a:ext cx="54541" cy="26402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Connector 131"/>
          <p:cNvCxnSpPr/>
          <p:nvPr/>
        </p:nvCxnSpPr>
        <p:spPr>
          <a:xfrm>
            <a:off x="8501445" y="3901812"/>
            <a:ext cx="54542" cy="18223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3" name="Connector 132"/>
          <p:cNvCxnSpPr/>
          <p:nvPr/>
        </p:nvCxnSpPr>
        <p:spPr>
          <a:xfrm>
            <a:off x="8555987" y="3920035"/>
            <a:ext cx="54541" cy="9772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Connector 133"/>
          <p:cNvCxnSpPr/>
          <p:nvPr/>
        </p:nvCxnSpPr>
        <p:spPr>
          <a:xfrm>
            <a:off x="8610528" y="3929807"/>
            <a:ext cx="54541" cy="1176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Connector 134"/>
          <p:cNvCxnSpPr/>
          <p:nvPr/>
        </p:nvCxnSpPr>
        <p:spPr>
          <a:xfrm flipV="1">
            <a:off x="8665069" y="3923546"/>
            <a:ext cx="54541" cy="7437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Connector 135"/>
          <p:cNvCxnSpPr/>
          <p:nvPr/>
        </p:nvCxnSpPr>
        <p:spPr>
          <a:xfrm flipV="1">
            <a:off x="8719610" y="3907607"/>
            <a:ext cx="54542" cy="15939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Connector 136"/>
          <p:cNvCxnSpPr/>
          <p:nvPr/>
        </p:nvCxnSpPr>
        <p:spPr>
          <a:xfrm flipV="1">
            <a:off x="8774152" y="3883402"/>
            <a:ext cx="54541" cy="24205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Connector 137"/>
          <p:cNvCxnSpPr/>
          <p:nvPr/>
        </p:nvCxnSpPr>
        <p:spPr>
          <a:xfrm flipV="1">
            <a:off x="8828693" y="3851290"/>
            <a:ext cx="54541" cy="32112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" name="Connector 138"/>
          <p:cNvCxnSpPr/>
          <p:nvPr/>
        </p:nvCxnSpPr>
        <p:spPr>
          <a:xfrm flipV="1">
            <a:off x="8883234" y="3811750"/>
            <a:ext cx="54541" cy="39540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" name="Connector 139"/>
          <p:cNvCxnSpPr/>
          <p:nvPr/>
        </p:nvCxnSpPr>
        <p:spPr>
          <a:xfrm flipV="1">
            <a:off x="8937775" y="3765368"/>
            <a:ext cx="54542" cy="46382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Connector 140"/>
          <p:cNvCxnSpPr/>
          <p:nvPr/>
        </p:nvCxnSpPr>
        <p:spPr>
          <a:xfrm flipV="1">
            <a:off x="8992317" y="3712833"/>
            <a:ext cx="54541" cy="52535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2" name="Connector 141"/>
          <p:cNvCxnSpPr/>
          <p:nvPr/>
        </p:nvCxnSpPr>
        <p:spPr>
          <a:xfrm flipV="1">
            <a:off x="9046858" y="3654927"/>
            <a:ext cx="54541" cy="57906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3" name="Connector 142"/>
          <p:cNvCxnSpPr/>
          <p:nvPr/>
        </p:nvCxnSpPr>
        <p:spPr>
          <a:xfrm flipV="1">
            <a:off x="9101399" y="3592509"/>
            <a:ext cx="54541" cy="62418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4" name="Connector 143"/>
          <p:cNvCxnSpPr/>
          <p:nvPr/>
        </p:nvCxnSpPr>
        <p:spPr>
          <a:xfrm flipV="1">
            <a:off x="9155940" y="3526507"/>
            <a:ext cx="54542" cy="66002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5" name="Connector 144"/>
          <p:cNvCxnSpPr/>
          <p:nvPr/>
        </p:nvCxnSpPr>
        <p:spPr>
          <a:xfrm flipV="1">
            <a:off x="9210482" y="3457901"/>
            <a:ext cx="54541" cy="68606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6" name="Connector 145"/>
          <p:cNvCxnSpPr/>
          <p:nvPr/>
        </p:nvCxnSpPr>
        <p:spPr>
          <a:xfrm flipV="1">
            <a:off x="9265023" y="3387711"/>
            <a:ext cx="54541" cy="70190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7" name="Connector 146"/>
          <p:cNvCxnSpPr/>
          <p:nvPr/>
        </p:nvCxnSpPr>
        <p:spPr>
          <a:xfrm flipV="1">
            <a:off x="9319564" y="3316980"/>
            <a:ext cx="54542" cy="70731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8" name="Connector 147"/>
          <p:cNvCxnSpPr/>
          <p:nvPr/>
        </p:nvCxnSpPr>
        <p:spPr>
          <a:xfrm flipV="1">
            <a:off x="9374106" y="3246759"/>
            <a:ext cx="54541" cy="70221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9" name="Connector 148"/>
          <p:cNvCxnSpPr/>
          <p:nvPr/>
        </p:nvCxnSpPr>
        <p:spPr>
          <a:xfrm flipV="1">
            <a:off x="9428647" y="3178090"/>
            <a:ext cx="54541" cy="68669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0" name="Connector 149"/>
          <p:cNvCxnSpPr/>
          <p:nvPr/>
        </p:nvCxnSpPr>
        <p:spPr>
          <a:xfrm flipV="1">
            <a:off x="9483188" y="3111994"/>
            <a:ext cx="54541" cy="66096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1" name="Connector 150"/>
          <p:cNvCxnSpPr/>
          <p:nvPr/>
        </p:nvCxnSpPr>
        <p:spPr>
          <a:xfrm flipV="1">
            <a:off x="9537729" y="3049454"/>
            <a:ext cx="54542" cy="62540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2" name="Connector 151"/>
          <p:cNvCxnSpPr/>
          <p:nvPr/>
        </p:nvCxnSpPr>
        <p:spPr>
          <a:xfrm flipV="1">
            <a:off x="9592271" y="2991397"/>
            <a:ext cx="54541" cy="58057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" name="Connector 152"/>
          <p:cNvCxnSpPr/>
          <p:nvPr/>
        </p:nvCxnSpPr>
        <p:spPr>
          <a:xfrm flipV="1">
            <a:off x="9646812" y="2938688"/>
            <a:ext cx="54541" cy="52709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4" name="Connector 153"/>
          <p:cNvCxnSpPr/>
          <p:nvPr/>
        </p:nvCxnSpPr>
        <p:spPr>
          <a:xfrm flipV="1">
            <a:off x="9701353" y="2892109"/>
            <a:ext cx="54541" cy="46579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5" name="Connector 154"/>
          <p:cNvCxnSpPr/>
          <p:nvPr/>
        </p:nvCxnSpPr>
        <p:spPr>
          <a:xfrm flipV="1">
            <a:off x="9755894" y="2852352"/>
            <a:ext cx="54542" cy="39757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6" name="Connector 155"/>
          <p:cNvCxnSpPr/>
          <p:nvPr/>
        </p:nvCxnSpPr>
        <p:spPr>
          <a:xfrm flipV="1">
            <a:off x="9810436" y="2820008"/>
            <a:ext cx="54541" cy="32344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7" name="Connector 156"/>
          <p:cNvCxnSpPr/>
          <p:nvPr/>
        </p:nvCxnSpPr>
        <p:spPr>
          <a:xfrm flipV="1">
            <a:off x="9864977" y="2795558"/>
            <a:ext cx="54541" cy="24450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8" name="Connector 157"/>
          <p:cNvCxnSpPr/>
          <p:nvPr/>
        </p:nvCxnSpPr>
        <p:spPr>
          <a:xfrm flipV="1">
            <a:off x="9919518" y="2779364"/>
            <a:ext cx="54542" cy="16194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9" name="Connector 158"/>
          <p:cNvCxnSpPr/>
          <p:nvPr/>
        </p:nvCxnSpPr>
        <p:spPr>
          <a:xfrm flipV="1">
            <a:off x="9974060" y="2771667"/>
            <a:ext cx="54541" cy="7697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0" name="Connector 159"/>
          <p:cNvCxnSpPr/>
          <p:nvPr/>
        </p:nvCxnSpPr>
        <p:spPr>
          <a:xfrm>
            <a:off x="10028601" y="2771667"/>
            <a:ext cx="54541" cy="915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1" name="Connector 160"/>
          <p:cNvCxnSpPr/>
          <p:nvPr/>
        </p:nvCxnSpPr>
        <p:spPr>
          <a:xfrm>
            <a:off x="10083142" y="2772582"/>
            <a:ext cx="54541" cy="9513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2" name="Connector 161"/>
          <p:cNvCxnSpPr/>
          <p:nvPr/>
        </p:nvCxnSpPr>
        <p:spPr>
          <a:xfrm>
            <a:off x="10137683" y="2782095"/>
            <a:ext cx="54542" cy="17970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3" name="Connector 162"/>
          <p:cNvCxnSpPr/>
          <p:nvPr/>
        </p:nvCxnSpPr>
        <p:spPr>
          <a:xfrm>
            <a:off x="10192225" y="2800065"/>
            <a:ext cx="54541" cy="26159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4" name="Connector 163"/>
          <p:cNvCxnSpPr/>
          <p:nvPr/>
        </p:nvCxnSpPr>
        <p:spPr>
          <a:xfrm>
            <a:off x="10246766" y="2826224"/>
            <a:ext cx="54541" cy="33961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5" name="Connector 164"/>
          <p:cNvCxnSpPr/>
          <p:nvPr/>
        </p:nvCxnSpPr>
        <p:spPr>
          <a:xfrm>
            <a:off x="10301307" y="2860185"/>
            <a:ext cx="54541" cy="41257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6" name="Connector 165"/>
          <p:cNvCxnSpPr/>
          <p:nvPr/>
        </p:nvCxnSpPr>
        <p:spPr>
          <a:xfrm>
            <a:off x="10355848" y="2901442"/>
            <a:ext cx="54542" cy="47940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7" name="Connector 166"/>
          <p:cNvCxnSpPr/>
          <p:nvPr/>
        </p:nvCxnSpPr>
        <p:spPr>
          <a:xfrm>
            <a:off x="10410390" y="2949382"/>
            <a:ext cx="54541" cy="53912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8" name="Connector 167"/>
          <p:cNvCxnSpPr/>
          <p:nvPr/>
        </p:nvCxnSpPr>
        <p:spPr>
          <a:xfrm>
            <a:off x="10464931" y="3003294"/>
            <a:ext cx="54541" cy="59082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9" name="Connector 168"/>
          <p:cNvCxnSpPr/>
          <p:nvPr/>
        </p:nvCxnSpPr>
        <p:spPr>
          <a:xfrm>
            <a:off x="10519472" y="3062376"/>
            <a:ext cx="54542" cy="63374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0" name="Connector 169"/>
          <p:cNvCxnSpPr/>
          <p:nvPr/>
        </p:nvCxnSpPr>
        <p:spPr>
          <a:xfrm>
            <a:off x="10574014" y="3125750"/>
            <a:ext cx="54541" cy="66725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1" name="Connector 170"/>
          <p:cNvCxnSpPr/>
          <p:nvPr/>
        </p:nvCxnSpPr>
        <p:spPr>
          <a:xfrm>
            <a:off x="10628555" y="3192475"/>
            <a:ext cx="54541" cy="69084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2" name="Connector 171"/>
          <p:cNvCxnSpPr/>
          <p:nvPr/>
        </p:nvCxnSpPr>
        <p:spPr>
          <a:xfrm>
            <a:off x="10683096" y="3261559"/>
            <a:ext cx="54541" cy="70418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3" name="Connector 172"/>
          <p:cNvCxnSpPr/>
          <p:nvPr/>
        </p:nvCxnSpPr>
        <p:spPr>
          <a:xfrm>
            <a:off x="10737637" y="3331977"/>
            <a:ext cx="54542" cy="70704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" name="Connector 173"/>
          <p:cNvCxnSpPr/>
          <p:nvPr/>
        </p:nvCxnSpPr>
        <p:spPr>
          <a:xfrm>
            <a:off x="10792179" y="3402681"/>
            <a:ext cx="54541" cy="69940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5" name="Connector 174"/>
          <p:cNvCxnSpPr/>
          <p:nvPr/>
        </p:nvCxnSpPr>
        <p:spPr>
          <a:xfrm>
            <a:off x="10846720" y="3472621"/>
            <a:ext cx="54541" cy="68138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6" name="Connector 175"/>
          <p:cNvCxnSpPr/>
          <p:nvPr/>
        </p:nvCxnSpPr>
        <p:spPr>
          <a:xfrm>
            <a:off x="10901261" y="3540759"/>
            <a:ext cx="54541" cy="65322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7" name="Connector 176"/>
          <p:cNvCxnSpPr/>
          <p:nvPr/>
        </p:nvCxnSpPr>
        <p:spPr>
          <a:xfrm>
            <a:off x="10955802" y="3606081"/>
            <a:ext cx="54542" cy="61536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8" name="Connector 177"/>
          <p:cNvCxnSpPr/>
          <p:nvPr/>
        </p:nvCxnSpPr>
        <p:spPr>
          <a:xfrm>
            <a:off x="11010344" y="3667617"/>
            <a:ext cx="54541" cy="56837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9" name="Connector 178"/>
          <p:cNvCxnSpPr/>
          <p:nvPr/>
        </p:nvCxnSpPr>
        <p:spPr>
          <a:xfrm>
            <a:off x="11064885" y="3724454"/>
            <a:ext cx="54541" cy="51291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0" name="Connector 179"/>
          <p:cNvCxnSpPr/>
          <p:nvPr/>
        </p:nvCxnSpPr>
        <p:spPr>
          <a:xfrm>
            <a:off x="11119426" y="3775745"/>
            <a:ext cx="54542" cy="44985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1" name="Connector 180"/>
          <p:cNvCxnSpPr/>
          <p:nvPr/>
        </p:nvCxnSpPr>
        <p:spPr>
          <a:xfrm flipV="1">
            <a:off x="6565392" y="3351276"/>
            <a:ext cx="0" cy="1010412"/>
          </a:xfrm>
          <a:prstGeom prst="line">
            <a:avLst/>
          </a:prstGeom>
          <a:ln w="1524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2" name="Oval 181"/>
          <p:cNvSpPr/>
          <p:nvPr/>
        </p:nvSpPr>
        <p:spPr>
          <a:xfrm>
            <a:off x="6504127" y="3290011"/>
            <a:ext cx="122529" cy="122529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83" name="Connector 182"/>
          <p:cNvCxnSpPr/>
          <p:nvPr/>
        </p:nvCxnSpPr>
        <p:spPr>
          <a:xfrm flipV="1">
            <a:off x="6981028" y="2881821"/>
            <a:ext cx="0" cy="1479867"/>
          </a:xfrm>
          <a:prstGeom prst="line">
            <a:avLst/>
          </a:prstGeom>
          <a:ln w="1524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4" name="Oval 183"/>
          <p:cNvSpPr/>
          <p:nvPr/>
        </p:nvSpPr>
        <p:spPr>
          <a:xfrm>
            <a:off x="6919763" y="2820556"/>
            <a:ext cx="122529" cy="122529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85" name="Connector 184"/>
          <p:cNvCxnSpPr/>
          <p:nvPr/>
        </p:nvCxnSpPr>
        <p:spPr>
          <a:xfrm flipV="1">
            <a:off x="7396664" y="2799398"/>
            <a:ext cx="0" cy="1562290"/>
          </a:xfrm>
          <a:prstGeom prst="line">
            <a:avLst/>
          </a:prstGeom>
          <a:ln w="1524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6" name="Oval 185"/>
          <p:cNvSpPr/>
          <p:nvPr/>
        </p:nvSpPr>
        <p:spPr>
          <a:xfrm>
            <a:off x="7335399" y="2738133"/>
            <a:ext cx="122529" cy="122529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87" name="Connector 186"/>
          <p:cNvCxnSpPr/>
          <p:nvPr/>
        </p:nvCxnSpPr>
        <p:spPr>
          <a:xfrm flipV="1">
            <a:off x="7812301" y="3171960"/>
            <a:ext cx="0" cy="1189728"/>
          </a:xfrm>
          <a:prstGeom prst="line">
            <a:avLst/>
          </a:prstGeom>
          <a:ln w="1524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8" name="Oval 187"/>
          <p:cNvSpPr/>
          <p:nvPr/>
        </p:nvSpPr>
        <p:spPr>
          <a:xfrm>
            <a:off x="7751036" y="3110695"/>
            <a:ext cx="122529" cy="122529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89" name="Connector 188"/>
          <p:cNvCxnSpPr/>
          <p:nvPr/>
        </p:nvCxnSpPr>
        <p:spPr>
          <a:xfrm flipV="1">
            <a:off x="8227937" y="3692354"/>
            <a:ext cx="0" cy="669334"/>
          </a:xfrm>
          <a:prstGeom prst="line">
            <a:avLst/>
          </a:prstGeom>
          <a:ln w="1524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0" name="Oval 189"/>
          <p:cNvSpPr/>
          <p:nvPr/>
        </p:nvSpPr>
        <p:spPr>
          <a:xfrm>
            <a:off x="8166672" y="3631090"/>
            <a:ext cx="122529" cy="122529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91" name="Connector 190"/>
          <p:cNvCxnSpPr/>
          <p:nvPr/>
        </p:nvCxnSpPr>
        <p:spPr>
          <a:xfrm flipV="1">
            <a:off x="8643573" y="3931554"/>
            <a:ext cx="0" cy="430134"/>
          </a:xfrm>
          <a:prstGeom prst="line">
            <a:avLst/>
          </a:prstGeom>
          <a:ln w="1524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2" name="Oval 191"/>
          <p:cNvSpPr/>
          <p:nvPr/>
        </p:nvSpPr>
        <p:spPr>
          <a:xfrm>
            <a:off x="8582309" y="3870289"/>
            <a:ext cx="122529" cy="122529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93" name="Connector 192"/>
          <p:cNvCxnSpPr/>
          <p:nvPr/>
        </p:nvCxnSpPr>
        <p:spPr>
          <a:xfrm flipV="1">
            <a:off x="9059210" y="3692354"/>
            <a:ext cx="0" cy="669334"/>
          </a:xfrm>
          <a:prstGeom prst="line">
            <a:avLst/>
          </a:prstGeom>
          <a:ln w="1524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4" name="Oval 193"/>
          <p:cNvSpPr/>
          <p:nvPr/>
        </p:nvSpPr>
        <p:spPr>
          <a:xfrm>
            <a:off x="8997945" y="3631090"/>
            <a:ext cx="122529" cy="122529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95" name="Connector 194"/>
          <p:cNvCxnSpPr/>
          <p:nvPr/>
        </p:nvCxnSpPr>
        <p:spPr>
          <a:xfrm flipV="1">
            <a:off x="9474846" y="3171960"/>
            <a:ext cx="0" cy="1189728"/>
          </a:xfrm>
          <a:prstGeom prst="line">
            <a:avLst/>
          </a:prstGeom>
          <a:ln w="1524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6" name="Oval 195"/>
          <p:cNvSpPr/>
          <p:nvPr/>
        </p:nvSpPr>
        <p:spPr>
          <a:xfrm>
            <a:off x="9413581" y="3110695"/>
            <a:ext cx="122529" cy="122529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97" name="Connector 196"/>
          <p:cNvCxnSpPr/>
          <p:nvPr/>
        </p:nvCxnSpPr>
        <p:spPr>
          <a:xfrm flipV="1">
            <a:off x="9890482" y="2799398"/>
            <a:ext cx="0" cy="1562290"/>
          </a:xfrm>
          <a:prstGeom prst="line">
            <a:avLst/>
          </a:prstGeom>
          <a:ln w="1524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8" name="Oval 197"/>
          <p:cNvSpPr/>
          <p:nvPr/>
        </p:nvSpPr>
        <p:spPr>
          <a:xfrm>
            <a:off x="9829218" y="2738133"/>
            <a:ext cx="122529" cy="122529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99" name="Connector 198"/>
          <p:cNvCxnSpPr/>
          <p:nvPr/>
        </p:nvCxnSpPr>
        <p:spPr>
          <a:xfrm flipV="1">
            <a:off x="10306119" y="2881821"/>
            <a:ext cx="0" cy="1479867"/>
          </a:xfrm>
          <a:prstGeom prst="line">
            <a:avLst/>
          </a:prstGeom>
          <a:ln w="1524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0" name="Oval 199"/>
          <p:cNvSpPr/>
          <p:nvPr/>
        </p:nvSpPr>
        <p:spPr>
          <a:xfrm>
            <a:off x="10244854" y="2820556"/>
            <a:ext cx="122529" cy="122529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1" name="Connector 200"/>
          <p:cNvCxnSpPr/>
          <p:nvPr/>
        </p:nvCxnSpPr>
        <p:spPr>
          <a:xfrm flipV="1">
            <a:off x="10721755" y="3351275"/>
            <a:ext cx="0" cy="1010413"/>
          </a:xfrm>
          <a:prstGeom prst="line">
            <a:avLst/>
          </a:prstGeom>
          <a:ln w="1524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2" name="Oval 201"/>
          <p:cNvSpPr/>
          <p:nvPr/>
        </p:nvSpPr>
        <p:spPr>
          <a:xfrm>
            <a:off x="10660490" y="3290011"/>
            <a:ext cx="122529" cy="122529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3" name="Connector 202"/>
          <p:cNvCxnSpPr/>
          <p:nvPr/>
        </p:nvCxnSpPr>
        <p:spPr>
          <a:xfrm flipV="1">
            <a:off x="11137392" y="3820730"/>
            <a:ext cx="0" cy="540958"/>
          </a:xfrm>
          <a:prstGeom prst="line">
            <a:avLst/>
          </a:prstGeom>
          <a:ln w="1524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4" name="Oval 203"/>
          <p:cNvSpPr/>
          <p:nvPr/>
        </p:nvSpPr>
        <p:spPr>
          <a:xfrm>
            <a:off x="11076127" y="3759466"/>
            <a:ext cx="122529" cy="122529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TextBox 204"/>
          <p:cNvSpPr txBox="1"/>
          <p:nvPr/>
        </p:nvSpPr>
        <p:spPr>
          <a:xfrm>
            <a:off x="868680" y="4800600"/>
            <a:ext cx="493776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2000" b="0">
                <a:solidFill>
                  <a:srgbClr val="262626"/>
                </a:solidFill>
                <a:latin typeface="Alibaba PuHuiTi 3.0 55 Regular"/>
              </a:defRPr>
            </a:pPr>
            <a:r>
              <a:t>同一位置的信号随时间变化</a:t>
            </a:r>
          </a:p>
        </p:txBody>
      </p:sp>
      <p:sp>
        <p:nvSpPr>
          <p:cNvPr id="206" name="TextBox 205"/>
          <p:cNvSpPr txBox="1"/>
          <p:nvPr/>
        </p:nvSpPr>
        <p:spPr>
          <a:xfrm>
            <a:off x="6428232" y="4800600"/>
            <a:ext cx="48463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2000" b="0">
                <a:solidFill>
                  <a:srgbClr val="262626"/>
                </a:solidFill>
                <a:latin typeface="Alibaba PuHuiTi 3.0 55 Regular"/>
              </a:defRPr>
            </a:pPr>
            <a:r>
              <a:t>只记录特定时刻的一组数值</a:t>
            </a:r>
          </a:p>
        </p:txBody>
      </p:sp>
      <p:sp>
        <p:nvSpPr>
          <p:cNvPr id="207" name="TextBox 206"/>
          <p:cNvSpPr txBox="1"/>
          <p:nvPr/>
        </p:nvSpPr>
        <p:spPr>
          <a:xfrm>
            <a:off x="786384" y="5852160"/>
            <a:ext cx="1069848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1700" b="0">
                <a:solidFill>
                  <a:srgbClr val="8C64E1"/>
                </a:solidFill>
                <a:latin typeface="Alibaba PuHuiTi 3.0 55 Regular"/>
              </a:defRPr>
            </a:pPr>
            <a:r>
              <a:t>连续信号 → 等间隔采样 → 离散样本；图示是同一段信号。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麦克风把声波变成什么？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700784"/>
            <a:ext cx="3337560" cy="4846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2500" b="1">
                <a:solidFill>
                  <a:srgbClr val="8C64E1"/>
                </a:solidFill>
                <a:latin typeface="Alibaba PuHuiTi 3.0 115 Black"/>
              </a:defRPr>
            </a:pPr>
            <a:r>
              <a:t>声源振动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489704" y="1700784"/>
            <a:ext cx="3337560" cy="4846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2500" b="1">
                <a:solidFill>
                  <a:srgbClr val="262626"/>
                </a:solidFill>
                <a:latin typeface="Alibaba PuHuiTi 3.0 115 Black"/>
              </a:defRPr>
            </a:pPr>
            <a:r>
              <a:t>麦克风感受声压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47888" y="1700784"/>
            <a:ext cx="3246120" cy="4846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2500" b="1">
                <a:solidFill>
                  <a:srgbClr val="00B0F0"/>
                </a:solidFill>
                <a:latin typeface="Alibaba PuHuiTi 3.0 115 Black"/>
              </a:defRPr>
            </a:pPr>
            <a:r>
              <a:t>输出连续电信号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051560" y="2834640"/>
            <a:ext cx="0" cy="1051560"/>
          </a:xfrm>
          <a:prstGeom prst="line">
            <a:avLst/>
          </a:prstGeom>
          <a:ln w="381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289304" y="2980944"/>
            <a:ext cx="0" cy="758952"/>
          </a:xfrm>
          <a:prstGeom prst="line">
            <a:avLst/>
          </a:prstGeom>
          <a:ln w="381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1527048" y="2834640"/>
            <a:ext cx="0" cy="1051560"/>
          </a:xfrm>
          <a:prstGeom prst="line">
            <a:avLst/>
          </a:prstGeom>
          <a:ln w="381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1764792" y="2980944"/>
            <a:ext cx="0" cy="758952"/>
          </a:xfrm>
          <a:prstGeom prst="line">
            <a:avLst/>
          </a:prstGeom>
          <a:ln w="381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2002536" y="2834640"/>
            <a:ext cx="0" cy="1051560"/>
          </a:xfrm>
          <a:prstGeom prst="line">
            <a:avLst/>
          </a:prstGeom>
          <a:ln w="381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2423160" y="2779776"/>
            <a:ext cx="146304" cy="329184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2423160" y="3108960"/>
            <a:ext cx="146304" cy="329184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2834640" y="2779776"/>
            <a:ext cx="146304" cy="329184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H="1">
            <a:off x="2834640" y="3108960"/>
            <a:ext cx="146304" cy="329184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3246120" y="2779776"/>
            <a:ext cx="146304" cy="329184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H="1">
            <a:off x="3246120" y="3108960"/>
            <a:ext cx="146304" cy="329184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3886200" y="3246120"/>
            <a:ext cx="484632" cy="0"/>
          </a:xfrm>
          <a:prstGeom prst="line">
            <a:avLst/>
          </a:prstGeom>
          <a:ln w="381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Oval 19"/>
          <p:cNvSpPr/>
          <p:nvPr/>
        </p:nvSpPr>
        <p:spPr>
          <a:xfrm>
            <a:off x="5440679" y="2843784"/>
            <a:ext cx="950976" cy="950976"/>
          </a:xfrm>
          <a:prstGeom prst="ellipse">
            <a:avLst/>
          </a:prstGeom>
          <a:solidFill>
            <a:srgbClr val="E9E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1" name="Connector 20"/>
          <p:cNvCxnSpPr/>
          <p:nvPr/>
        </p:nvCxnSpPr>
        <p:spPr>
          <a:xfrm>
            <a:off x="5916168" y="3794760"/>
            <a:ext cx="0" cy="393192"/>
          </a:xfrm>
          <a:prstGeom prst="line">
            <a:avLst/>
          </a:prstGeom>
          <a:ln w="381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6629400" y="3246120"/>
            <a:ext cx="1335024" cy="0"/>
          </a:xfrm>
          <a:prstGeom prst="line">
            <a:avLst/>
          </a:prstGeom>
          <a:ln w="3175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8238744" y="4160520"/>
            <a:ext cx="2898648" cy="0"/>
          </a:xfrm>
          <a:prstGeom prst="line">
            <a:avLst/>
          </a:prstGeom>
          <a:ln w="1524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8247888" y="3256268"/>
            <a:ext cx="33994" cy="63004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8281882" y="3193891"/>
            <a:ext cx="33994" cy="62377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8315876" y="3132762"/>
            <a:ext cx="33994" cy="61129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8349870" y="3073489"/>
            <a:ext cx="33994" cy="59273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V="1">
            <a:off x="8383864" y="3016661"/>
            <a:ext cx="33994" cy="56828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V="1">
            <a:off x="8417858" y="2962845"/>
            <a:ext cx="33994" cy="53816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V="1">
            <a:off x="8451852" y="2912574"/>
            <a:ext cx="33995" cy="50271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V="1">
            <a:off x="8485847" y="2866351"/>
            <a:ext cx="33994" cy="46223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V="1">
            <a:off x="8519841" y="2824634"/>
            <a:ext cx="33994" cy="41717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V="1">
            <a:off x="8553835" y="2787839"/>
            <a:ext cx="33994" cy="36795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V="1">
            <a:off x="8587829" y="2756331"/>
            <a:ext cx="33994" cy="31508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V="1">
            <a:off x="8621823" y="2730425"/>
            <a:ext cx="33994" cy="25906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V="1">
            <a:off x="8655817" y="2710378"/>
            <a:ext cx="33995" cy="20047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V="1">
            <a:off x="8689812" y="2696390"/>
            <a:ext cx="33994" cy="13988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V="1">
            <a:off x="8723806" y="2688599"/>
            <a:ext cx="33994" cy="7791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V="1">
            <a:off x="8757800" y="2687084"/>
            <a:ext cx="33994" cy="1515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8791794" y="2687084"/>
            <a:ext cx="33994" cy="4775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8825788" y="2691859"/>
            <a:ext cx="33994" cy="11018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8859782" y="2702877"/>
            <a:ext cx="33995" cy="17151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8893777" y="2720028"/>
            <a:ext cx="33994" cy="23114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8927771" y="2743142"/>
            <a:ext cx="33994" cy="28846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8961765" y="2771988"/>
            <a:ext cx="33994" cy="34292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8995759" y="2806280"/>
            <a:ext cx="33994" cy="39396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9029753" y="2845676"/>
            <a:ext cx="33994" cy="44108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9063747" y="2889784"/>
            <a:ext cx="33995" cy="48382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9097742" y="2938166"/>
            <a:ext cx="33994" cy="52174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9131736" y="2990340"/>
            <a:ext cx="33994" cy="55447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9165730" y="3045787"/>
            <a:ext cx="33994" cy="58168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9199724" y="3103955"/>
            <a:ext cx="33994" cy="60310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9233718" y="3164265"/>
            <a:ext cx="33994" cy="61853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9267712" y="3226118"/>
            <a:ext cx="33995" cy="62780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9301707" y="3288898"/>
            <a:ext cx="33994" cy="63082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9335701" y="3351980"/>
            <a:ext cx="33994" cy="62756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9369695" y="3414736"/>
            <a:ext cx="33994" cy="61807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9403689" y="3476543"/>
            <a:ext cx="33994" cy="60241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9437683" y="3536784"/>
            <a:ext cx="33994" cy="58078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9471677" y="3594862"/>
            <a:ext cx="33995" cy="55335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>
            <a:off x="9505672" y="3650197"/>
            <a:ext cx="33994" cy="52043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9539666" y="3702240"/>
            <a:ext cx="33994" cy="48232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>
            <a:off x="9573660" y="3750472"/>
            <a:ext cx="33994" cy="43941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>
            <a:off x="9607654" y="3794413"/>
            <a:ext cx="33994" cy="39214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>
            <a:off x="9641648" y="3833627"/>
            <a:ext cx="33994" cy="34096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>
            <a:off x="9675642" y="3867723"/>
            <a:ext cx="33995" cy="28638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>
            <a:off x="9709637" y="3896361"/>
            <a:ext cx="33994" cy="22897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>
            <a:off x="9743631" y="3919258"/>
            <a:ext cx="33994" cy="16926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>
            <a:off x="9777625" y="3936184"/>
            <a:ext cx="33994" cy="10789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>
            <a:off x="9811619" y="3946973"/>
            <a:ext cx="33994" cy="4542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 flipV="1">
            <a:off x="9845613" y="3949767"/>
            <a:ext cx="33994" cy="1748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 flipV="1">
            <a:off x="9879607" y="3941745"/>
            <a:ext cx="33995" cy="8022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 flipV="1">
            <a:off x="9913602" y="3927529"/>
            <a:ext cx="33994" cy="14216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 flipV="1">
            <a:off x="9947596" y="3907261"/>
            <a:ext cx="33994" cy="20268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 flipV="1">
            <a:off x="9981590" y="3881143"/>
            <a:ext cx="33994" cy="26118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 flipV="1">
            <a:off x="10015584" y="3849434"/>
            <a:ext cx="33994" cy="31709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 flipV="1">
            <a:off x="10049578" y="3812449"/>
            <a:ext cx="33994" cy="36985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 flipV="1">
            <a:off x="10083572" y="3770558"/>
            <a:ext cx="33995" cy="41891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 flipV="1">
            <a:off x="10117567" y="3724176"/>
            <a:ext cx="33994" cy="46382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 flipV="1">
            <a:off x="10151561" y="3673765"/>
            <a:ext cx="33994" cy="50411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 flipV="1">
            <a:off x="10185555" y="3619827"/>
            <a:ext cx="33994" cy="53938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 flipV="1">
            <a:off x="10219549" y="3562899"/>
            <a:ext cx="33994" cy="56928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 flipV="1">
            <a:off x="10253543" y="3503546"/>
            <a:ext cx="33994" cy="59353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 flipV="1">
            <a:off x="10287537" y="3442360"/>
            <a:ext cx="33995" cy="61186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 flipV="1">
            <a:off x="10321532" y="3379949"/>
            <a:ext cx="33994" cy="62411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 flipV="1">
            <a:off x="10355526" y="3316934"/>
            <a:ext cx="33994" cy="63015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 flipV="1">
            <a:off x="10389520" y="3253943"/>
            <a:ext cx="33994" cy="62991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 flipV="1">
            <a:off x="10423514" y="3191601"/>
            <a:ext cx="33994" cy="62342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 flipV="1">
            <a:off x="10457508" y="3130530"/>
            <a:ext cx="33994" cy="61071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 flipV="1">
            <a:off x="10491502" y="3071337"/>
            <a:ext cx="33995" cy="59193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 flipV="1">
            <a:off x="10525497" y="3014611"/>
            <a:ext cx="33994" cy="56726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 flipV="1">
            <a:off x="10559491" y="2960916"/>
            <a:ext cx="33994" cy="53695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 flipV="1">
            <a:off x="10593485" y="2910787"/>
            <a:ext cx="33994" cy="50129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 flipV="1">
            <a:off x="10627479" y="2864723"/>
            <a:ext cx="33994" cy="46064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 flipV="1">
            <a:off x="10661473" y="2823181"/>
            <a:ext cx="33994" cy="41542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 flipV="1">
            <a:off x="10695467" y="2786575"/>
            <a:ext cx="33995" cy="36606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 flipV="1">
            <a:off x="10729462" y="2755270"/>
            <a:ext cx="33994" cy="31305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 flipV="1">
            <a:off x="10763456" y="2729577"/>
            <a:ext cx="33994" cy="25693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 flipV="1">
            <a:off x="10797450" y="2709751"/>
            <a:ext cx="33994" cy="19826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 flipV="1">
            <a:off x="10831444" y="2695990"/>
            <a:ext cx="33994" cy="13761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 flipV="1">
            <a:off x="10865438" y="2688431"/>
            <a:ext cx="33994" cy="7559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 flipV="1">
            <a:off x="10899432" y="2687149"/>
            <a:ext cx="33995" cy="1282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>
            <a:off x="10933427" y="2687149"/>
            <a:ext cx="33994" cy="5007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>
            <a:off x="10967421" y="2692156"/>
            <a:ext cx="33994" cy="11248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>
            <a:off x="11001415" y="2703404"/>
            <a:ext cx="33994" cy="17375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>
            <a:off x="11035409" y="2720779"/>
            <a:ext cx="33994" cy="23330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>
            <a:off x="11069403" y="2744109"/>
            <a:ext cx="33994" cy="29054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>
            <a:off x="11103397" y="2773163"/>
            <a:ext cx="33995" cy="34487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9" name="TextBox 108"/>
          <p:cNvSpPr txBox="1"/>
          <p:nvPr/>
        </p:nvSpPr>
        <p:spPr>
          <a:xfrm>
            <a:off x="896112" y="4782312"/>
            <a:ext cx="3017520" cy="4846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1900" b="0">
                <a:solidFill>
                  <a:srgbClr val="262626"/>
                </a:solidFill>
                <a:latin typeface="Alibaba PuHuiTi 3.0 55 Regular"/>
              </a:defRPr>
            </a:pPr>
            <a:r>
              <a:t>空气中的变化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4681728" y="4782312"/>
            <a:ext cx="2834640" cy="4846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1900" b="0">
                <a:solidFill>
                  <a:srgbClr val="262626"/>
                </a:solidFill>
                <a:latin typeface="Alibaba PuHuiTi 3.0 55 Regular"/>
              </a:defRPr>
            </a:pPr>
            <a:r>
              <a:t>转换为电信号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8357616" y="4782312"/>
            <a:ext cx="2834640" cy="4846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1900" b="0">
                <a:solidFill>
                  <a:srgbClr val="262626"/>
                </a:solidFill>
                <a:latin typeface="Alibaba PuHuiTi 3.0 55 Regular"/>
              </a:defRPr>
            </a:pPr>
            <a:r>
              <a:t>仍是连续变化的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786384" y="5852160"/>
            <a:ext cx="1069848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1700" b="0">
                <a:solidFill>
                  <a:srgbClr val="8C64E1"/>
                </a:solidFill>
                <a:latin typeface="Alibaba PuHuiTi 3.0 55 Regular"/>
              </a:defRPr>
            </a:pPr>
            <a:r>
              <a:t>麦克风完成“声压变化 → 电信号”；将模拟信号数字化由ADC完成。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连续电信号，怎样变成数字？</a:t>
            </a:r>
          </a:p>
        </p:txBody>
      </p:sp>
      <p:sp>
        <p:nvSpPr>
          <p:cNvPr id="5" name="Rectangle 4"/>
          <p:cNvSpPr/>
          <p:nvPr/>
        </p:nvSpPr>
        <p:spPr>
          <a:xfrm>
            <a:off x="804672" y="2286000"/>
            <a:ext cx="3200400" cy="667512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7824" y="2404872"/>
            <a:ext cx="3054096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t>模拟电信号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133087" y="2624328"/>
            <a:ext cx="603505" cy="0"/>
          </a:xfrm>
          <a:prstGeom prst="line">
            <a:avLst/>
          </a:prstGeom>
          <a:ln w="381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4828032" y="2286000"/>
            <a:ext cx="2743200" cy="667512"/>
          </a:xfrm>
          <a:prstGeom prst="rect">
            <a:avLst/>
          </a:prstGeom>
          <a:noFill/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901184" y="2404872"/>
            <a:ext cx="2596896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00B0F0"/>
                </a:solidFill>
                <a:latin typeface="Alibaba PuHuiTi 3.0 115 Black"/>
              </a:defRPr>
            </a:pPr>
            <a:r>
              <a:t>声卡：ADC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708392" y="2624328"/>
            <a:ext cx="612648" cy="0"/>
          </a:xfrm>
          <a:prstGeom prst="line">
            <a:avLst/>
          </a:prstGeom>
          <a:ln w="381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8412480" y="2286000"/>
            <a:ext cx="2743200" cy="667512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85632" y="2404872"/>
            <a:ext cx="2596896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t>数字音频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4069080"/>
            <a:ext cx="10515600" cy="7680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500" b="1">
                <a:solidFill>
                  <a:srgbClr val="8C64E1"/>
                </a:solidFill>
                <a:latin typeface="Alibaba PuHuiTi 3.0 115 Black"/>
              </a:defRPr>
            </a:pPr>
            <a:r>
              <a:t>ADC = 模数转换（模拟信号 → 数字信号）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5184648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声卡负责完成这一转换；它不等于“存储音频文件”。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把录音过程和播放过程接起来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1545336"/>
            <a:ext cx="45720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2500" b="1">
                <a:solidFill>
                  <a:srgbClr val="8C64E1"/>
                </a:solidFill>
                <a:latin typeface="Alibaba PuHuiTi 3.0 115 Black"/>
              </a:defRPr>
            </a:pPr>
            <a:r>
              <a:t>录音：模拟 → 数字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" y="3822191"/>
            <a:ext cx="45720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2500" b="1">
                <a:solidFill>
                  <a:srgbClr val="00B0F0"/>
                </a:solidFill>
                <a:latin typeface="Alibaba PuHuiTi 3.0 115 Black"/>
              </a:defRPr>
            </a:pPr>
            <a:r>
              <a:t>播放：数字 → 模拟</a:t>
            </a:r>
          </a:p>
        </p:txBody>
      </p:sp>
      <p:sp>
        <p:nvSpPr>
          <p:cNvPr id="7" name="Rectangle 6"/>
          <p:cNvSpPr/>
          <p:nvPr/>
        </p:nvSpPr>
        <p:spPr>
          <a:xfrm>
            <a:off x="850392" y="2249424"/>
            <a:ext cx="1965960" cy="649224"/>
          </a:xfrm>
          <a:prstGeom prst="rect">
            <a:avLst/>
          </a:prstGeom>
          <a:solidFill>
            <a:srgbClr val="F8F6FE"/>
          </a:solidFill>
          <a:ln w="1778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0392" y="2368296"/>
            <a:ext cx="196596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声波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852928" y="2569464"/>
            <a:ext cx="740664" cy="0"/>
          </a:xfrm>
          <a:prstGeom prst="line">
            <a:avLst/>
          </a:prstGeom>
          <a:ln w="2794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3666744" y="2249424"/>
            <a:ext cx="1965960" cy="649224"/>
          </a:xfrm>
          <a:prstGeom prst="rect">
            <a:avLst/>
          </a:prstGeom>
          <a:solidFill>
            <a:srgbClr val="F8F6FE"/>
          </a:solidFill>
          <a:ln w="1778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66744" y="2368296"/>
            <a:ext cx="196596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麦克风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669279" y="2569464"/>
            <a:ext cx="740665" cy="0"/>
          </a:xfrm>
          <a:prstGeom prst="line">
            <a:avLst/>
          </a:prstGeom>
          <a:ln w="2794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6483096" y="2249424"/>
            <a:ext cx="1965960" cy="649224"/>
          </a:xfrm>
          <a:prstGeom prst="rect">
            <a:avLst/>
          </a:prstGeom>
          <a:solidFill>
            <a:srgbClr val="F8F6FE"/>
          </a:solidFill>
          <a:ln w="1778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83096" y="2368296"/>
            <a:ext cx="196596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ADC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485632" y="2569464"/>
            <a:ext cx="740664" cy="0"/>
          </a:xfrm>
          <a:prstGeom prst="line">
            <a:avLst/>
          </a:prstGeom>
          <a:ln w="2794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9299448" y="2249424"/>
            <a:ext cx="1965960" cy="649224"/>
          </a:xfrm>
          <a:prstGeom prst="rect">
            <a:avLst/>
          </a:prstGeom>
          <a:solidFill>
            <a:srgbClr val="F8F6FE"/>
          </a:solidFill>
          <a:ln w="1778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299448" y="2368296"/>
            <a:ext cx="196596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数字文件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50392" y="4498848"/>
            <a:ext cx="1965960" cy="649224"/>
          </a:xfrm>
          <a:prstGeom prst="rect">
            <a:avLst/>
          </a:prstGeom>
          <a:solidFill>
            <a:srgbClr val="FFFFFF"/>
          </a:solidFill>
          <a:ln w="1778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0392" y="4617720"/>
            <a:ext cx="196596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000" b="1">
                <a:solidFill>
                  <a:srgbClr val="00B0F0"/>
                </a:solidFill>
                <a:latin typeface="Alibaba PuHuiTi 3.0 115 Black"/>
              </a:defRPr>
            </a:pPr>
            <a:r>
              <a:t>数字文件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2852928" y="4818888"/>
            <a:ext cx="740664" cy="0"/>
          </a:xfrm>
          <a:prstGeom prst="line">
            <a:avLst/>
          </a:prstGeom>
          <a:ln w="2794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angle 20"/>
          <p:cNvSpPr/>
          <p:nvPr/>
        </p:nvSpPr>
        <p:spPr>
          <a:xfrm>
            <a:off x="3666744" y="4498848"/>
            <a:ext cx="1965960" cy="649224"/>
          </a:xfrm>
          <a:prstGeom prst="rect">
            <a:avLst/>
          </a:prstGeom>
          <a:solidFill>
            <a:srgbClr val="FFFFFF"/>
          </a:solidFill>
          <a:ln w="1778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66744" y="4617720"/>
            <a:ext cx="196596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000" b="1">
                <a:solidFill>
                  <a:srgbClr val="00B0F0"/>
                </a:solidFill>
                <a:latin typeface="Alibaba PuHuiTi 3.0 115 Black"/>
              </a:defRPr>
            </a:pPr>
            <a:r>
              <a:t>DAC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5669279" y="4818888"/>
            <a:ext cx="740665" cy="0"/>
          </a:xfrm>
          <a:prstGeom prst="line">
            <a:avLst/>
          </a:prstGeom>
          <a:ln w="2794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6483096" y="4498848"/>
            <a:ext cx="1965960" cy="649224"/>
          </a:xfrm>
          <a:prstGeom prst="rect">
            <a:avLst/>
          </a:prstGeom>
          <a:solidFill>
            <a:srgbClr val="FFFFFF"/>
          </a:solidFill>
          <a:ln w="1778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3096" y="4617720"/>
            <a:ext cx="196596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000" b="1">
                <a:solidFill>
                  <a:srgbClr val="00B0F0"/>
                </a:solidFill>
                <a:latin typeface="Alibaba PuHuiTi 3.0 115 Black"/>
              </a:defRPr>
            </a:pPr>
            <a:r>
              <a:t>扬声器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485632" y="4818888"/>
            <a:ext cx="740664" cy="0"/>
          </a:xfrm>
          <a:prstGeom prst="line">
            <a:avLst/>
          </a:prstGeom>
          <a:ln w="2794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ectangle 26"/>
          <p:cNvSpPr/>
          <p:nvPr/>
        </p:nvSpPr>
        <p:spPr>
          <a:xfrm>
            <a:off x="9299448" y="4498848"/>
            <a:ext cx="1965960" cy="649224"/>
          </a:xfrm>
          <a:prstGeom prst="rect">
            <a:avLst/>
          </a:prstGeom>
          <a:solidFill>
            <a:srgbClr val="FFFFFF"/>
          </a:solidFill>
          <a:ln w="1778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299448" y="4617720"/>
            <a:ext cx="196596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000" b="1">
                <a:solidFill>
                  <a:srgbClr val="00B0F0"/>
                </a:solidFill>
                <a:latin typeface="Alibaba PuHuiTi 3.0 115 Black"/>
              </a:defRPr>
            </a:pPr>
            <a:r>
              <a:t>声音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86384" y="5852160"/>
            <a:ext cx="1069848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1700" b="0">
                <a:solidFill>
                  <a:srgbClr val="8C64E1"/>
                </a:solidFill>
                <a:latin typeface="Alibaba PuHuiTi 3.0 55 Regular"/>
              </a:defRPr>
            </a:pPr>
            <a:r>
              <a:t>思考：麦克风和扬声器、ADC和DAC，各负责什么转换？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波形图画的是“声音的传播路线”吗？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011680"/>
            <a:ext cx="10735056" cy="289864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86968" y="1600200"/>
            <a:ext cx="5029200" cy="4846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t>空气中传播：波阵面的位置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01384" y="1600200"/>
            <a:ext cx="4937760" cy="4846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2300" b="1">
                <a:solidFill>
                  <a:srgbClr val="00B0F0"/>
                </a:solidFill>
                <a:latin typeface="Alibaba PuHuiTi 3.0 115 Black"/>
              </a:defRPr>
            </a:pPr>
            <a:r>
              <a:t>固定位置：幅度随时间变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" y="5843016"/>
            <a:ext cx="1074420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1700" b="0">
                <a:solidFill>
                  <a:srgbClr val="8C64E1"/>
                </a:solidFill>
                <a:latin typeface="Alibaba PuHuiTi 3.0 55 Regular"/>
              </a:defRPr>
            </a:pPr>
            <a:r>
              <a:t>同一物理过程，两种描述：空间中的传播 vs 记录点上的时间变化。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演示A：听声音，波形上的红线如何移动？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1517904"/>
            <a:ext cx="106984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2500" b="1">
                <a:solidFill>
                  <a:srgbClr val="8C64E1"/>
                </a:solidFill>
                <a:latin typeface="Alibaba PuHuiTi 3.0 115 Black"/>
              </a:defRPr>
            </a:pPr>
            <a:r>
              <a:t>先预测：红色光标向右，表示声音向右传播吗？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941832" y="3712464"/>
            <a:ext cx="10222992" cy="0"/>
          </a:xfrm>
          <a:prstGeom prst="line">
            <a:avLst/>
          </a:prstGeom>
          <a:ln w="1778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987552" y="2523744"/>
            <a:ext cx="0" cy="2423160"/>
          </a:xfrm>
          <a:prstGeom prst="line">
            <a:avLst/>
          </a:prstGeom>
          <a:ln w="1397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941832" y="2093976"/>
            <a:ext cx="11430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700" b="0">
                <a:solidFill>
                  <a:srgbClr val="808080"/>
                </a:solidFill>
                <a:latin typeface="Alibaba PuHuiTi 3.0 55 Regular"/>
              </a:defRPr>
            </a:pPr>
            <a:r>
              <a:t>振幅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50424" y="3840480"/>
            <a:ext cx="8229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700" b="0">
                <a:solidFill>
                  <a:srgbClr val="808080"/>
                </a:solidFill>
                <a:latin typeface="Alibaba PuHuiTi 3.0 55 Regular"/>
              </a:defRPr>
            </a:pPr>
            <a:r>
              <a:t>时间</a:t>
            </a:r>
          </a:p>
        </p:txBody>
      </p:sp>
      <p:cxnSp>
        <p:nvCxnSpPr>
          <p:cNvPr id="10" name="Connector 9"/>
          <p:cNvCxnSpPr/>
          <p:nvPr/>
        </p:nvCxnSpPr>
        <p:spPr>
          <a:xfrm flipV="1">
            <a:off x="1060704" y="3458819"/>
            <a:ext cx="98572" cy="106370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1159276" y="3356450"/>
            <a:ext cx="98572" cy="102369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1257848" y="3259695"/>
            <a:ext cx="98572" cy="9675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1356420" y="3170080"/>
            <a:ext cx="98573" cy="8961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1454993" y="3089019"/>
            <a:ext cx="98572" cy="8106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1553565" y="3017791"/>
            <a:ext cx="98572" cy="71228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1652137" y="2957517"/>
            <a:ext cx="98573" cy="60274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1750710" y="2909150"/>
            <a:ext cx="98572" cy="4836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1849282" y="2873451"/>
            <a:ext cx="98572" cy="35699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1947854" y="2850984"/>
            <a:ext cx="98573" cy="2246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2046427" y="2842104"/>
            <a:ext cx="98572" cy="8880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2144999" y="2842104"/>
            <a:ext cx="98572" cy="484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2243571" y="2846949"/>
            <a:ext cx="98573" cy="1849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2342144" y="2865444"/>
            <a:ext cx="98572" cy="31853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2440716" y="2897297"/>
            <a:ext cx="98572" cy="44708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2539288" y="2942005"/>
            <a:ext cx="98573" cy="56859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2637861" y="2998864"/>
            <a:ext cx="98572" cy="68113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2736433" y="3066977"/>
            <a:ext cx="98572" cy="78293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2835005" y="3145270"/>
            <a:ext cx="98573" cy="87238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2933578" y="3232508"/>
            <a:ext cx="98572" cy="9480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3032150" y="3327315"/>
            <a:ext cx="98572" cy="10088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3130722" y="3428196"/>
            <a:ext cx="98573" cy="105364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3229295" y="3533560"/>
            <a:ext cx="98572" cy="10818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3327867" y="3641745"/>
            <a:ext cx="98572" cy="10930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3426439" y="3751046"/>
            <a:ext cx="98573" cy="108692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3525012" y="3859738"/>
            <a:ext cx="98572" cy="106370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3623584" y="3966108"/>
            <a:ext cx="98572" cy="102369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3722156" y="4068477"/>
            <a:ext cx="98572" cy="9675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3820728" y="4165232"/>
            <a:ext cx="98573" cy="8961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3919301" y="4254847"/>
            <a:ext cx="98572" cy="8106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4017873" y="4335908"/>
            <a:ext cx="98572" cy="71228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4116445" y="4407136"/>
            <a:ext cx="98573" cy="60274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4215018" y="4467410"/>
            <a:ext cx="98572" cy="4836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4313590" y="4515777"/>
            <a:ext cx="98572" cy="35699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4412162" y="4551476"/>
            <a:ext cx="98573" cy="2246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4510735" y="4573943"/>
            <a:ext cx="98572" cy="8880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V="1">
            <a:off x="4609307" y="4577978"/>
            <a:ext cx="98572" cy="484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 flipV="1">
            <a:off x="4707879" y="4559483"/>
            <a:ext cx="98573" cy="1849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 flipV="1">
            <a:off x="4806452" y="4527630"/>
            <a:ext cx="98572" cy="31853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 flipV="1">
            <a:off x="4905024" y="4482922"/>
            <a:ext cx="98572" cy="44708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V="1">
            <a:off x="5003596" y="4426063"/>
            <a:ext cx="98573" cy="56859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V="1">
            <a:off x="5102169" y="4357950"/>
            <a:ext cx="98572" cy="68113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V="1">
            <a:off x="5200741" y="4279657"/>
            <a:ext cx="98572" cy="78293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V="1">
            <a:off x="5299313" y="4192419"/>
            <a:ext cx="98573" cy="87238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V="1">
            <a:off x="5397886" y="4097612"/>
            <a:ext cx="98572" cy="9480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 flipV="1">
            <a:off x="5496458" y="3996731"/>
            <a:ext cx="98572" cy="10088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V="1">
            <a:off x="5595030" y="3891367"/>
            <a:ext cx="98573" cy="105364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V="1">
            <a:off x="5693603" y="3783182"/>
            <a:ext cx="98572" cy="10818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 flipV="1">
            <a:off x="5792175" y="3673881"/>
            <a:ext cx="98572" cy="10930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 flipV="1">
            <a:off x="5890747" y="3565189"/>
            <a:ext cx="98573" cy="108692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V="1">
            <a:off x="5989320" y="3458819"/>
            <a:ext cx="98572" cy="106370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V="1">
            <a:off x="6087892" y="3356450"/>
            <a:ext cx="98572" cy="102369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 flipV="1">
            <a:off x="6186464" y="3259695"/>
            <a:ext cx="98572" cy="9675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 flipV="1">
            <a:off x="6285036" y="3170080"/>
            <a:ext cx="98573" cy="8961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V="1">
            <a:off x="6383609" y="3089019"/>
            <a:ext cx="98572" cy="8106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 flipV="1">
            <a:off x="6482181" y="3017791"/>
            <a:ext cx="98572" cy="71228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 flipV="1">
            <a:off x="6580753" y="2957517"/>
            <a:ext cx="98573" cy="60274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V="1">
            <a:off x="6679326" y="2909150"/>
            <a:ext cx="98572" cy="4836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 flipV="1">
            <a:off x="6777898" y="2873451"/>
            <a:ext cx="98572" cy="35699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V="1">
            <a:off x="6876470" y="2850984"/>
            <a:ext cx="98573" cy="2246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 flipV="1">
            <a:off x="6975043" y="2842104"/>
            <a:ext cx="98572" cy="8880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>
            <a:off x="7073615" y="2842104"/>
            <a:ext cx="98572" cy="484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>
            <a:off x="7172187" y="2846949"/>
            <a:ext cx="98573" cy="1849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>
            <a:off x="7270760" y="2865444"/>
            <a:ext cx="98572" cy="31853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>
            <a:off x="7369332" y="2897297"/>
            <a:ext cx="98572" cy="44708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>
            <a:off x="7467904" y="2942005"/>
            <a:ext cx="98573" cy="56859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>
            <a:off x="7566477" y="2998864"/>
            <a:ext cx="98572" cy="68113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>
            <a:off x="7665049" y="3066977"/>
            <a:ext cx="98572" cy="78293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>
            <a:off x="7763621" y="3145270"/>
            <a:ext cx="98573" cy="87238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>
            <a:off x="7862194" y="3232508"/>
            <a:ext cx="98572" cy="9480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>
            <a:off x="7960766" y="3327315"/>
            <a:ext cx="98572" cy="10088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>
            <a:off x="8059338" y="3428196"/>
            <a:ext cx="98573" cy="105364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>
            <a:off x="8157911" y="3533560"/>
            <a:ext cx="98572" cy="10818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>
            <a:off x="8256483" y="3641745"/>
            <a:ext cx="98572" cy="10930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>
            <a:off x="8355055" y="3751046"/>
            <a:ext cx="98573" cy="108692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>
            <a:off x="8453628" y="3859738"/>
            <a:ext cx="98572" cy="106370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>
            <a:off x="8552200" y="3966108"/>
            <a:ext cx="98572" cy="102369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>
            <a:off x="8650772" y="4068477"/>
            <a:ext cx="98572" cy="9675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>
            <a:off x="8749344" y="4165232"/>
            <a:ext cx="98573" cy="8961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>
            <a:off x="8847917" y="4254847"/>
            <a:ext cx="98572" cy="8106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>
            <a:off x="8946489" y="4335908"/>
            <a:ext cx="98572" cy="71228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>
            <a:off x="9045061" y="4407136"/>
            <a:ext cx="98573" cy="60274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>
            <a:off x="9143634" y="4467410"/>
            <a:ext cx="98572" cy="4836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>
            <a:off x="9242206" y="4515777"/>
            <a:ext cx="98572" cy="35699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>
            <a:off x="9340778" y="4551476"/>
            <a:ext cx="98573" cy="2246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>
            <a:off x="9439351" y="4573943"/>
            <a:ext cx="98572" cy="8880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 flipV="1">
            <a:off x="9537923" y="4577978"/>
            <a:ext cx="98572" cy="484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 flipV="1">
            <a:off x="9636495" y="4559483"/>
            <a:ext cx="98573" cy="1849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 flipV="1">
            <a:off x="9735068" y="4527630"/>
            <a:ext cx="98572" cy="31853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 flipV="1">
            <a:off x="9833640" y="4482922"/>
            <a:ext cx="98572" cy="44708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 flipV="1">
            <a:off x="9932212" y="4426063"/>
            <a:ext cx="98573" cy="56859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 flipV="1">
            <a:off x="10030785" y="4357950"/>
            <a:ext cx="98572" cy="68113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 flipV="1">
            <a:off x="10129357" y="4279657"/>
            <a:ext cx="98572" cy="78293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 flipV="1">
            <a:off x="10227929" y="4192419"/>
            <a:ext cx="98573" cy="87238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 flipV="1">
            <a:off x="10326502" y="4097612"/>
            <a:ext cx="98572" cy="9480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 flipV="1">
            <a:off x="10425074" y="3996731"/>
            <a:ext cx="98572" cy="10088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 flipV="1">
            <a:off x="10523646" y="3891367"/>
            <a:ext cx="98573" cy="105364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 flipV="1">
            <a:off x="10622219" y="3783182"/>
            <a:ext cx="98572" cy="10818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 flipV="1">
            <a:off x="10720791" y="3673881"/>
            <a:ext cx="98572" cy="10930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or 108"/>
          <p:cNvCxnSpPr/>
          <p:nvPr/>
        </p:nvCxnSpPr>
        <p:spPr>
          <a:xfrm flipV="1">
            <a:off x="10819363" y="3565189"/>
            <a:ext cx="98573" cy="108692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Connector 109"/>
          <p:cNvCxnSpPr/>
          <p:nvPr/>
        </p:nvCxnSpPr>
        <p:spPr>
          <a:xfrm>
            <a:off x="6638544" y="2587752"/>
            <a:ext cx="0" cy="2286000"/>
          </a:xfrm>
          <a:prstGeom prst="line">
            <a:avLst/>
          </a:prstGeom>
          <a:ln w="4064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1" name="TextBox 110"/>
          <p:cNvSpPr txBox="1"/>
          <p:nvPr/>
        </p:nvSpPr>
        <p:spPr>
          <a:xfrm>
            <a:off x="914400" y="5330952"/>
            <a:ext cx="5760720" cy="4937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2300" b="1">
                <a:solidFill>
                  <a:srgbClr val="262626"/>
                </a:solidFill>
                <a:latin typeface="Alibaba PuHuiTi 3.0 115 Black"/>
              </a:defRPr>
            </a:pPr>
            <a:r>
              <a:t>▶ 由教室浏览器播放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7726679" y="5330952"/>
            <a:ext cx="3108960" cy="4937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t>时间继续向右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如果只能记录有限个数字，应该记录哪些时刻？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914400" y="3483864"/>
            <a:ext cx="10058400" cy="0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005840" y="1956816"/>
            <a:ext cx="0" cy="3063239"/>
          </a:xfrm>
          <a:prstGeom prst="line">
            <a:avLst/>
          </a:prstGeom>
          <a:ln w="1651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033271" y="1645920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0">
                <a:solidFill>
                  <a:srgbClr val="808080"/>
                </a:solidFill>
                <a:latin typeface="Alibaba PuHuiTi 3.0 55 Regular"/>
              </a:defRPr>
            </a:pPr>
            <a:r>
              <a:t>振幅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3602736"/>
            <a:ext cx="8229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0">
                <a:solidFill>
                  <a:srgbClr val="808080"/>
                </a:solidFill>
                <a:latin typeface="Alibaba PuHuiTi 3.0 55 Regular"/>
              </a:defRPr>
            </a:pPr>
            <a:r>
              <a:t>时间</a:t>
            </a:r>
          </a:p>
        </p:txBody>
      </p:sp>
      <p:cxnSp>
        <p:nvCxnSpPr>
          <p:cNvPr id="9" name="Connector 8"/>
          <p:cNvCxnSpPr/>
          <p:nvPr/>
        </p:nvCxnSpPr>
        <p:spPr>
          <a:xfrm flipV="1">
            <a:off x="1069848" y="3279400"/>
            <a:ext cx="93543" cy="126739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1163391" y="3154370"/>
            <a:ext cx="93543" cy="125030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1256934" y="3032739"/>
            <a:ext cx="93543" cy="121631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1350477" y="2916147"/>
            <a:ext cx="93543" cy="116592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1444020" y="2806168"/>
            <a:ext cx="93543" cy="109979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1537563" y="2704286"/>
            <a:ext cx="93543" cy="101882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1631106" y="2611877"/>
            <a:ext cx="93543" cy="92409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1724649" y="2530188"/>
            <a:ext cx="93543" cy="81689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1818192" y="2460320"/>
            <a:ext cx="93544" cy="69868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1911736" y="2403218"/>
            <a:ext cx="93543" cy="57102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2005279" y="2359651"/>
            <a:ext cx="93543" cy="43567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2098822" y="2330208"/>
            <a:ext cx="93543" cy="29443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2192365" y="2315286"/>
            <a:ext cx="93543" cy="14922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2285908" y="2315087"/>
            <a:ext cx="93543" cy="199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2379451" y="2315087"/>
            <a:ext cx="93543" cy="14526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2472994" y="2329613"/>
            <a:ext cx="93543" cy="29054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2566537" y="2358667"/>
            <a:ext cx="93544" cy="43192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2660081" y="2401859"/>
            <a:ext cx="93543" cy="56746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2753624" y="2458605"/>
            <a:ext cx="93543" cy="69534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2847167" y="2528139"/>
            <a:ext cx="93543" cy="81384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2940710" y="2609523"/>
            <a:ext cx="93543" cy="92135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3034253" y="2701658"/>
            <a:ext cx="93543" cy="101643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3127796" y="2803301"/>
            <a:ext cx="93543" cy="109779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3221339" y="2913080"/>
            <a:ext cx="93543" cy="116434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3314882" y="3029514"/>
            <a:ext cx="93544" cy="121517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3408426" y="3151031"/>
            <a:ext cx="93543" cy="124959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3501969" y="3275990"/>
            <a:ext cx="93543" cy="126716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3595512" y="3402706"/>
            <a:ext cx="93543" cy="126763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3689055" y="3529469"/>
            <a:ext cx="93543" cy="125098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3782598" y="3654567"/>
            <a:ext cx="93543" cy="121745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3876141" y="3776312"/>
            <a:ext cx="93543" cy="116749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3969684" y="3893061"/>
            <a:ext cx="93543" cy="110178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4063227" y="4003239"/>
            <a:ext cx="93543" cy="102119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4156770" y="4105358"/>
            <a:ext cx="93544" cy="92682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4250314" y="4198040"/>
            <a:ext cx="93543" cy="81994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4343857" y="4280034"/>
            <a:ext cx="93543" cy="70201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4437400" y="4350235"/>
            <a:ext cx="93543" cy="57458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4530943" y="4407693"/>
            <a:ext cx="93543" cy="43941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4624486" y="4451634"/>
            <a:ext cx="93543" cy="29831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4718029" y="4481465"/>
            <a:ext cx="93543" cy="15318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4811572" y="4496783"/>
            <a:ext cx="93543" cy="598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V="1">
            <a:off x="4905115" y="4483251"/>
            <a:ext cx="93544" cy="14130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V="1">
            <a:off x="4998659" y="4454585"/>
            <a:ext cx="93543" cy="28666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V="1">
            <a:off x="5092202" y="4411768"/>
            <a:ext cx="93543" cy="42817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V="1">
            <a:off x="5185745" y="4355380"/>
            <a:ext cx="93543" cy="56388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V="1">
            <a:off x="5279288" y="4286180"/>
            <a:ext cx="93543" cy="69200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 flipV="1">
            <a:off x="5372831" y="4205102"/>
            <a:ext cx="93543" cy="81078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V="1">
            <a:off x="5466374" y="4113242"/>
            <a:ext cx="93543" cy="91860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V="1">
            <a:off x="5559917" y="4011838"/>
            <a:ext cx="93543" cy="101404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 flipV="1">
            <a:off x="5653460" y="3902260"/>
            <a:ext cx="93544" cy="109578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 flipV="1">
            <a:off x="5747004" y="3785986"/>
            <a:ext cx="93543" cy="116274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V="1">
            <a:off x="5840547" y="3664585"/>
            <a:ext cx="93543" cy="121401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V="1">
            <a:off x="5934090" y="3539697"/>
            <a:ext cx="93543" cy="124888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 flipV="1">
            <a:off x="6027633" y="3413006"/>
            <a:ext cx="93543" cy="126691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 flipV="1">
            <a:off x="6121176" y="3286222"/>
            <a:ext cx="93543" cy="126784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V="1">
            <a:off x="6214719" y="3161057"/>
            <a:ext cx="93543" cy="125165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 flipV="1">
            <a:off x="6308262" y="3039199"/>
            <a:ext cx="93543" cy="121858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 flipV="1">
            <a:off x="6401805" y="2922294"/>
            <a:ext cx="93543" cy="116905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V="1">
            <a:off x="6495348" y="2811918"/>
            <a:ext cx="93544" cy="110376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 flipV="1">
            <a:off x="6588892" y="2709563"/>
            <a:ext cx="93543" cy="102355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V="1">
            <a:off x="6682435" y="2616609"/>
            <a:ext cx="93543" cy="92954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 flipV="1">
            <a:off x="6775978" y="2534310"/>
            <a:ext cx="93543" cy="82299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 flipV="1">
            <a:off x="6869521" y="2463778"/>
            <a:ext cx="93543" cy="70532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 flipV="1">
            <a:off x="6963064" y="2405964"/>
            <a:ext cx="93543" cy="57814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 flipV="1">
            <a:off x="7056607" y="2361649"/>
            <a:ext cx="93543" cy="44315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 flipV="1">
            <a:off x="7150150" y="2331431"/>
            <a:ext cx="93543" cy="30218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 flipV="1">
            <a:off x="7243693" y="2315717"/>
            <a:ext cx="93544" cy="15714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 flipV="1">
            <a:off x="7337237" y="2314720"/>
            <a:ext cx="93543" cy="997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>
            <a:off x="7430780" y="2314720"/>
            <a:ext cx="93543" cy="13733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>
            <a:off x="7524323" y="2328453"/>
            <a:ext cx="93543" cy="28278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>
            <a:off x="7617866" y="2356731"/>
            <a:ext cx="93543" cy="42441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>
            <a:off x="7711409" y="2399172"/>
            <a:ext cx="93543" cy="56031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>
            <a:off x="7804952" y="2455203"/>
            <a:ext cx="93543" cy="68865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>
            <a:off x="7898495" y="2524068"/>
            <a:ext cx="93543" cy="80770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>
            <a:off x="7992038" y="2604838"/>
            <a:ext cx="93544" cy="91585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>
            <a:off x="8085582" y="2696423"/>
            <a:ext cx="93543" cy="101163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>
            <a:off x="8179125" y="2797586"/>
            <a:ext cx="93543" cy="109376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>
            <a:off x="8272668" y="2906962"/>
            <a:ext cx="93543" cy="116114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>
            <a:off x="8366211" y="3023076"/>
            <a:ext cx="93543" cy="121283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>
            <a:off x="8459754" y="3144359"/>
            <a:ext cx="93543" cy="124816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>
            <a:off x="8553297" y="3269175"/>
            <a:ext cx="93543" cy="126665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>
            <a:off x="8646840" y="3395840"/>
            <a:ext cx="93543" cy="126804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>
            <a:off x="8740383" y="3522644"/>
            <a:ext cx="93543" cy="125232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>
            <a:off x="8833926" y="3647876"/>
            <a:ext cx="93544" cy="121969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>
            <a:off x="8927470" y="3769845"/>
            <a:ext cx="93543" cy="117060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>
            <a:off x="9021013" y="3886905"/>
            <a:ext cx="93543" cy="110572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>
            <a:off x="9114556" y="3997477"/>
            <a:ext cx="93543" cy="102590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>
            <a:off x="9208099" y="4100067"/>
            <a:ext cx="93543" cy="93226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>
            <a:off x="9301642" y="4193293"/>
            <a:ext cx="93543" cy="82602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>
            <a:off x="9395185" y="4275895"/>
            <a:ext cx="93543" cy="70863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>
            <a:off x="9488728" y="4346758"/>
            <a:ext cx="93543" cy="58168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>
            <a:off x="9582271" y="4404926"/>
            <a:ext cx="93544" cy="44689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>
            <a:off x="9675815" y="4449615"/>
            <a:ext cx="93543" cy="30605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>
            <a:off x="9769358" y="4480220"/>
            <a:ext cx="93543" cy="16110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>
            <a:off x="9862901" y="4496330"/>
            <a:ext cx="93543" cy="1396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 flipV="1">
            <a:off x="9956444" y="4484389"/>
            <a:ext cx="93543" cy="13337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 flipV="1">
            <a:off x="10049987" y="4456501"/>
            <a:ext cx="93543" cy="27888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 flipV="1">
            <a:off x="10143530" y="4414436"/>
            <a:ext cx="93543" cy="42065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 flipV="1">
            <a:off x="10237073" y="4358763"/>
            <a:ext cx="93543" cy="55673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 flipV="1">
            <a:off x="10330616" y="4290233"/>
            <a:ext cx="93544" cy="68530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9" name="TextBox 108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请提出一个规则：怎样公平地选出一组采样时刻？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每隔相同时间，取一个幅度值。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914400" y="3483864"/>
            <a:ext cx="10058400" cy="0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005840" y="1956816"/>
            <a:ext cx="0" cy="3063239"/>
          </a:xfrm>
          <a:prstGeom prst="line">
            <a:avLst/>
          </a:prstGeom>
          <a:ln w="1651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033271" y="1645920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0">
                <a:solidFill>
                  <a:srgbClr val="808080"/>
                </a:solidFill>
                <a:latin typeface="Alibaba PuHuiTi 3.0 55 Regular"/>
              </a:defRPr>
            </a:pPr>
            <a:r>
              <a:t>振幅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3602736"/>
            <a:ext cx="8229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0">
                <a:solidFill>
                  <a:srgbClr val="808080"/>
                </a:solidFill>
                <a:latin typeface="Alibaba PuHuiTi 3.0 55 Regular"/>
              </a:defRPr>
            </a:pPr>
            <a:r>
              <a:t>时间</a:t>
            </a:r>
          </a:p>
        </p:txBody>
      </p:sp>
      <p:cxnSp>
        <p:nvCxnSpPr>
          <p:cNvPr id="9" name="Connector 8"/>
          <p:cNvCxnSpPr/>
          <p:nvPr/>
        </p:nvCxnSpPr>
        <p:spPr>
          <a:xfrm flipV="1">
            <a:off x="1069848" y="3279400"/>
            <a:ext cx="93543" cy="12673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1163391" y="3154370"/>
            <a:ext cx="93543" cy="12503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1256934" y="3032739"/>
            <a:ext cx="93543" cy="12163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1350477" y="2916147"/>
            <a:ext cx="93543" cy="11659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1444020" y="2806168"/>
            <a:ext cx="93543" cy="10997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1537563" y="2704286"/>
            <a:ext cx="93543" cy="10188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1631106" y="2611877"/>
            <a:ext cx="93543" cy="9240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1724649" y="2530188"/>
            <a:ext cx="93543" cy="8168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1818192" y="2460320"/>
            <a:ext cx="93544" cy="6986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1911736" y="2403218"/>
            <a:ext cx="93543" cy="5710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2005279" y="2359651"/>
            <a:ext cx="93543" cy="4356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2098822" y="2330208"/>
            <a:ext cx="93543" cy="2944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2192365" y="2315286"/>
            <a:ext cx="93543" cy="1492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2285908" y="2315087"/>
            <a:ext cx="93543" cy="19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2379451" y="2315087"/>
            <a:ext cx="93543" cy="1452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2472994" y="2329613"/>
            <a:ext cx="93543" cy="2905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2566537" y="2358667"/>
            <a:ext cx="93544" cy="4319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2660081" y="2401859"/>
            <a:ext cx="93543" cy="5674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2753624" y="2458605"/>
            <a:ext cx="93543" cy="6953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2847167" y="2528139"/>
            <a:ext cx="93543" cy="8138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2940710" y="2609523"/>
            <a:ext cx="93543" cy="9213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3034253" y="2701658"/>
            <a:ext cx="93543" cy="10164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3127796" y="2803301"/>
            <a:ext cx="93543" cy="10977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3221339" y="2913080"/>
            <a:ext cx="93543" cy="11643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3314882" y="3029514"/>
            <a:ext cx="93544" cy="12151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3408426" y="3151031"/>
            <a:ext cx="93543" cy="12495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3501969" y="3275990"/>
            <a:ext cx="93543" cy="12671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3595512" y="3402706"/>
            <a:ext cx="93543" cy="12676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3689055" y="3529469"/>
            <a:ext cx="93543" cy="12509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3782598" y="3654567"/>
            <a:ext cx="93543" cy="12174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3876141" y="3776312"/>
            <a:ext cx="93543" cy="11674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3969684" y="3893061"/>
            <a:ext cx="93543" cy="11017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4063227" y="4003239"/>
            <a:ext cx="93543" cy="10211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4156770" y="4105358"/>
            <a:ext cx="93544" cy="9268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4250314" y="4198040"/>
            <a:ext cx="93543" cy="8199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4343857" y="4280034"/>
            <a:ext cx="93543" cy="7020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4437400" y="4350235"/>
            <a:ext cx="93543" cy="5745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4530943" y="4407693"/>
            <a:ext cx="93543" cy="4394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4624486" y="4451634"/>
            <a:ext cx="93543" cy="2983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4718029" y="4481465"/>
            <a:ext cx="93543" cy="1531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4811572" y="4496783"/>
            <a:ext cx="93543" cy="59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V="1">
            <a:off x="4905115" y="4483251"/>
            <a:ext cx="93544" cy="1413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V="1">
            <a:off x="4998659" y="4454585"/>
            <a:ext cx="93543" cy="2866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V="1">
            <a:off x="5092202" y="4411768"/>
            <a:ext cx="93543" cy="4281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V="1">
            <a:off x="5185745" y="4355380"/>
            <a:ext cx="93543" cy="5638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V="1">
            <a:off x="5279288" y="4286180"/>
            <a:ext cx="93543" cy="6920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 flipV="1">
            <a:off x="5372831" y="4205102"/>
            <a:ext cx="93543" cy="8107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V="1">
            <a:off x="5466374" y="4113242"/>
            <a:ext cx="93543" cy="9186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V="1">
            <a:off x="5559917" y="4011838"/>
            <a:ext cx="93543" cy="10140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 flipV="1">
            <a:off x="5653460" y="3902260"/>
            <a:ext cx="93544" cy="10957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 flipV="1">
            <a:off x="5747004" y="3785986"/>
            <a:ext cx="93543" cy="11627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V="1">
            <a:off x="5840547" y="3664585"/>
            <a:ext cx="93543" cy="12140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V="1">
            <a:off x="5934090" y="3539697"/>
            <a:ext cx="93543" cy="12488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 flipV="1">
            <a:off x="6027633" y="3413006"/>
            <a:ext cx="93543" cy="12669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 flipV="1">
            <a:off x="6121176" y="3286222"/>
            <a:ext cx="93543" cy="12678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V="1">
            <a:off x="6214719" y="3161057"/>
            <a:ext cx="93543" cy="12516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 flipV="1">
            <a:off x="6308262" y="3039199"/>
            <a:ext cx="93543" cy="12185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 flipV="1">
            <a:off x="6401805" y="2922294"/>
            <a:ext cx="93543" cy="11690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V="1">
            <a:off x="6495348" y="2811918"/>
            <a:ext cx="93544" cy="11037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 flipV="1">
            <a:off x="6588892" y="2709563"/>
            <a:ext cx="93543" cy="10235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V="1">
            <a:off x="6682435" y="2616609"/>
            <a:ext cx="93543" cy="9295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 flipV="1">
            <a:off x="6775978" y="2534310"/>
            <a:ext cx="93543" cy="8229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 flipV="1">
            <a:off x="6869521" y="2463778"/>
            <a:ext cx="93543" cy="7053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 flipV="1">
            <a:off x="6963064" y="2405964"/>
            <a:ext cx="93543" cy="5781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 flipV="1">
            <a:off x="7056607" y="2361649"/>
            <a:ext cx="93543" cy="4431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 flipV="1">
            <a:off x="7150150" y="2331431"/>
            <a:ext cx="93543" cy="3021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 flipV="1">
            <a:off x="7243693" y="2315717"/>
            <a:ext cx="93544" cy="1571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 flipV="1">
            <a:off x="7337237" y="2314720"/>
            <a:ext cx="93543" cy="99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>
            <a:off x="7430780" y="2314720"/>
            <a:ext cx="93543" cy="1373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>
            <a:off x="7524323" y="2328453"/>
            <a:ext cx="93543" cy="2827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>
            <a:off x="7617866" y="2356731"/>
            <a:ext cx="93543" cy="4244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>
            <a:off x="7711409" y="2399172"/>
            <a:ext cx="93543" cy="5603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>
            <a:off x="7804952" y="2455203"/>
            <a:ext cx="93543" cy="6886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>
            <a:off x="7898495" y="2524068"/>
            <a:ext cx="93543" cy="8077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>
            <a:off x="7992038" y="2604838"/>
            <a:ext cx="93544" cy="9158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>
            <a:off x="8085582" y="2696423"/>
            <a:ext cx="93543" cy="10116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>
            <a:off x="8179125" y="2797586"/>
            <a:ext cx="93543" cy="10937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>
            <a:off x="8272668" y="2906962"/>
            <a:ext cx="93543" cy="11611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>
            <a:off x="8366211" y="3023076"/>
            <a:ext cx="93543" cy="12128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>
            <a:off x="8459754" y="3144359"/>
            <a:ext cx="93543" cy="12481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>
            <a:off x="8553297" y="3269175"/>
            <a:ext cx="93543" cy="12666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>
            <a:off x="8646840" y="3395840"/>
            <a:ext cx="93543" cy="12680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>
            <a:off x="8740383" y="3522644"/>
            <a:ext cx="93543" cy="12523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>
            <a:off x="8833926" y="3647876"/>
            <a:ext cx="93544" cy="12196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>
            <a:off x="8927470" y="3769845"/>
            <a:ext cx="93543" cy="11706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>
            <a:off x="9021013" y="3886905"/>
            <a:ext cx="93543" cy="11057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>
            <a:off x="9114556" y="3997477"/>
            <a:ext cx="93543" cy="10259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>
            <a:off x="9208099" y="4100067"/>
            <a:ext cx="93543" cy="9322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>
            <a:off x="9301642" y="4193293"/>
            <a:ext cx="93543" cy="8260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>
            <a:off x="9395185" y="4275895"/>
            <a:ext cx="93543" cy="7086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>
            <a:off x="9488728" y="4346758"/>
            <a:ext cx="93543" cy="5816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>
            <a:off x="9582271" y="4404926"/>
            <a:ext cx="93544" cy="4468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>
            <a:off x="9675815" y="4449615"/>
            <a:ext cx="93543" cy="3060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>
            <a:off x="9769358" y="4480220"/>
            <a:ext cx="93543" cy="1611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>
            <a:off x="9862901" y="4496330"/>
            <a:ext cx="93543" cy="139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 flipV="1">
            <a:off x="9956444" y="4484389"/>
            <a:ext cx="93543" cy="1333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 flipV="1">
            <a:off x="10049987" y="4456501"/>
            <a:ext cx="93543" cy="2788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 flipV="1">
            <a:off x="10143530" y="4414436"/>
            <a:ext cx="93543" cy="4206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 flipV="1">
            <a:off x="10237073" y="4358763"/>
            <a:ext cx="93543" cy="5567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 flipV="1">
            <a:off x="10330616" y="4290233"/>
            <a:ext cx="93544" cy="6853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or 108"/>
          <p:cNvCxnSpPr/>
          <p:nvPr/>
        </p:nvCxnSpPr>
        <p:spPr>
          <a:xfrm>
            <a:off x="1069848" y="1956815"/>
            <a:ext cx="0" cy="2916937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0" name="Oval 109"/>
          <p:cNvSpPr/>
          <p:nvPr/>
        </p:nvSpPr>
        <p:spPr>
          <a:xfrm>
            <a:off x="1008583" y="3344875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1" name="Connector 110"/>
          <p:cNvCxnSpPr/>
          <p:nvPr/>
        </p:nvCxnSpPr>
        <p:spPr>
          <a:xfrm>
            <a:off x="1849374" y="1956815"/>
            <a:ext cx="0" cy="2916937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2" name="Oval 111"/>
          <p:cNvSpPr/>
          <p:nvPr/>
        </p:nvSpPr>
        <p:spPr>
          <a:xfrm>
            <a:off x="1788109" y="2444270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3" name="Connector 112"/>
          <p:cNvCxnSpPr/>
          <p:nvPr/>
        </p:nvCxnSpPr>
        <p:spPr>
          <a:xfrm>
            <a:off x="2628900" y="1956815"/>
            <a:ext cx="0" cy="2916937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4" name="Oval 113"/>
          <p:cNvSpPr/>
          <p:nvPr/>
        </p:nvSpPr>
        <p:spPr>
          <a:xfrm>
            <a:off x="2567635" y="2324659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5" name="Connector 114"/>
          <p:cNvCxnSpPr/>
          <p:nvPr/>
        </p:nvCxnSpPr>
        <p:spPr>
          <a:xfrm>
            <a:off x="3408426" y="1956815"/>
            <a:ext cx="0" cy="2916937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6" name="Oval 115"/>
          <p:cNvSpPr/>
          <p:nvPr/>
        </p:nvSpPr>
        <p:spPr>
          <a:xfrm>
            <a:off x="3347161" y="3089766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7" name="Connector 116"/>
          <p:cNvCxnSpPr/>
          <p:nvPr/>
        </p:nvCxnSpPr>
        <p:spPr>
          <a:xfrm>
            <a:off x="4187952" y="1956815"/>
            <a:ext cx="0" cy="2916937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8" name="Oval 117"/>
          <p:cNvSpPr/>
          <p:nvPr/>
        </p:nvSpPr>
        <p:spPr>
          <a:xfrm>
            <a:off x="4126687" y="4076100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9" name="Connector 118"/>
          <p:cNvCxnSpPr/>
          <p:nvPr/>
        </p:nvCxnSpPr>
        <p:spPr>
          <a:xfrm>
            <a:off x="4967478" y="1956815"/>
            <a:ext cx="0" cy="2916937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0" name="Oval 119"/>
          <p:cNvSpPr/>
          <p:nvPr/>
        </p:nvSpPr>
        <p:spPr>
          <a:xfrm>
            <a:off x="4906213" y="4428325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1" name="Connector 120"/>
          <p:cNvCxnSpPr/>
          <p:nvPr/>
        </p:nvCxnSpPr>
        <p:spPr>
          <a:xfrm>
            <a:off x="5747004" y="1956815"/>
            <a:ext cx="0" cy="2916937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2" name="Oval 121"/>
          <p:cNvSpPr/>
          <p:nvPr/>
        </p:nvSpPr>
        <p:spPr>
          <a:xfrm>
            <a:off x="5685739" y="3840995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3" name="Connector 122"/>
          <p:cNvCxnSpPr/>
          <p:nvPr/>
        </p:nvCxnSpPr>
        <p:spPr>
          <a:xfrm>
            <a:off x="6526530" y="1956815"/>
            <a:ext cx="0" cy="2916937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4" name="Oval 123"/>
          <p:cNvSpPr/>
          <p:nvPr/>
        </p:nvSpPr>
        <p:spPr>
          <a:xfrm>
            <a:off x="6465265" y="2823436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5" name="Connector 124"/>
          <p:cNvCxnSpPr/>
          <p:nvPr/>
        </p:nvCxnSpPr>
        <p:spPr>
          <a:xfrm>
            <a:off x="7306056" y="1956815"/>
            <a:ext cx="0" cy="2916937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6" name="Oval 125"/>
          <p:cNvSpPr/>
          <p:nvPr/>
        </p:nvSpPr>
        <p:spPr>
          <a:xfrm>
            <a:off x="7244791" y="2258062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7" name="Connector 126"/>
          <p:cNvCxnSpPr/>
          <p:nvPr/>
        </p:nvCxnSpPr>
        <p:spPr>
          <a:xfrm>
            <a:off x="8085582" y="1956815"/>
            <a:ext cx="0" cy="2916937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8" name="Oval 127"/>
          <p:cNvSpPr/>
          <p:nvPr/>
        </p:nvSpPr>
        <p:spPr>
          <a:xfrm>
            <a:off x="8024317" y="2635158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9" name="Connector 128"/>
          <p:cNvCxnSpPr/>
          <p:nvPr/>
        </p:nvCxnSpPr>
        <p:spPr>
          <a:xfrm>
            <a:off x="8865108" y="1956815"/>
            <a:ext cx="0" cy="2916937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0" name="Oval 129"/>
          <p:cNvSpPr/>
          <p:nvPr/>
        </p:nvSpPr>
        <p:spPr>
          <a:xfrm>
            <a:off x="8803843" y="3627712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1" name="Connector 130"/>
          <p:cNvCxnSpPr/>
          <p:nvPr/>
        </p:nvCxnSpPr>
        <p:spPr>
          <a:xfrm>
            <a:off x="9644634" y="1956815"/>
            <a:ext cx="0" cy="2916937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2" name="Oval 131"/>
          <p:cNvSpPr/>
          <p:nvPr/>
        </p:nvSpPr>
        <p:spPr>
          <a:xfrm>
            <a:off x="9583369" y="4374993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TextBox 132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采样：在固定时刻取样，让时间上的记录变得离散。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演示B：把波形放大，能看见一个个采样点吗？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1499616"/>
            <a:ext cx="1042416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2400" b="1">
                <a:solidFill>
                  <a:srgbClr val="8C64E1"/>
                </a:solidFill>
                <a:latin typeface="Alibaba PuHuiTi 3.0 115 Black"/>
              </a:defRPr>
            </a:pPr>
            <a:r>
              <a:t>同一段录音：左边看整体，右边看极短的一段。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2194560"/>
            <a:ext cx="4937760" cy="4480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2400" b="1">
                <a:solidFill>
                  <a:srgbClr val="262626"/>
                </a:solidFill>
                <a:latin typeface="Alibaba PuHuiTi 3.0 115 Black"/>
              </a:defRPr>
            </a:pPr>
            <a:r>
              <a:t>整段波形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46520" y="2194560"/>
            <a:ext cx="5120640" cy="4480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2400" b="1">
                <a:solidFill>
                  <a:srgbClr val="262626"/>
                </a:solidFill>
                <a:latin typeface="Alibaba PuHuiTi 3.0 115 Black"/>
              </a:defRPr>
            </a:pPr>
            <a:r>
              <a:t>局部放大：真实样本点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804672" y="3794760"/>
            <a:ext cx="5029200" cy="0"/>
          </a:xfrm>
          <a:prstGeom prst="line">
            <a:avLst/>
          </a:prstGeom>
          <a:ln w="1778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850392" y="2889504"/>
            <a:ext cx="0" cy="1856232"/>
          </a:xfrm>
          <a:prstGeom prst="line">
            <a:avLst/>
          </a:prstGeom>
          <a:ln w="1397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804672" y="2459736"/>
            <a:ext cx="11430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700" b="0">
                <a:solidFill>
                  <a:srgbClr val="808080"/>
                </a:solidFill>
                <a:latin typeface="Alibaba PuHuiTi 3.0 55 Regular"/>
              </a:defRPr>
            </a:pPr>
            <a:r>
              <a:t>振幅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19472" y="3922776"/>
            <a:ext cx="8229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700" b="0">
                <a:solidFill>
                  <a:srgbClr val="808080"/>
                </a:solidFill>
                <a:latin typeface="Alibaba PuHuiTi 3.0 55 Regular"/>
              </a:defRPr>
            </a:pPr>
            <a:r>
              <a:t>时间</a:t>
            </a:r>
          </a:p>
        </p:txBody>
      </p:sp>
      <p:cxnSp>
        <p:nvCxnSpPr>
          <p:cNvPr id="12" name="Connector 11"/>
          <p:cNvCxnSpPr/>
          <p:nvPr/>
        </p:nvCxnSpPr>
        <p:spPr>
          <a:xfrm flipV="1">
            <a:off x="923544" y="3597279"/>
            <a:ext cx="46634" cy="8281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970178" y="3517577"/>
            <a:ext cx="46634" cy="79702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1016812" y="3442247"/>
            <a:ext cx="46635" cy="75330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1063447" y="3372475"/>
            <a:ext cx="46634" cy="69772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1110081" y="3309364"/>
            <a:ext cx="46635" cy="6311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1156716" y="3253907"/>
            <a:ext cx="46634" cy="5545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1203350" y="3206980"/>
            <a:ext cx="46634" cy="4692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1249984" y="3169323"/>
            <a:ext cx="46635" cy="3765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1296619" y="3141529"/>
            <a:ext cx="46634" cy="27794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1343253" y="3124037"/>
            <a:ext cx="46635" cy="17492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1389888" y="3117122"/>
            <a:ext cx="46634" cy="691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1436522" y="3117122"/>
            <a:ext cx="46634" cy="3772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1483156" y="3120894"/>
            <a:ext cx="46635" cy="14400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1529791" y="3135294"/>
            <a:ext cx="46634" cy="24800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1576425" y="3160094"/>
            <a:ext cx="46635" cy="34809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1623060" y="3194903"/>
            <a:ext cx="46634" cy="44269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1669694" y="3239172"/>
            <a:ext cx="46634" cy="5303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1716328" y="3292203"/>
            <a:ext cx="46635" cy="60956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1762963" y="3353159"/>
            <a:ext cx="46634" cy="6792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1809597" y="3421080"/>
            <a:ext cx="46635" cy="73814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1856232" y="3494894"/>
            <a:ext cx="46634" cy="78543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1902866" y="3573437"/>
            <a:ext cx="46634" cy="82033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1949500" y="3655470"/>
            <a:ext cx="46635" cy="84230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1996135" y="3739700"/>
            <a:ext cx="46634" cy="85099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2042769" y="3824799"/>
            <a:ext cx="46635" cy="84624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2089404" y="3909423"/>
            <a:ext cx="46634" cy="8281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2136038" y="3992240"/>
            <a:ext cx="46634" cy="79702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2182672" y="4071942"/>
            <a:ext cx="46635" cy="75330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2229307" y="4147272"/>
            <a:ext cx="46634" cy="69772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2275941" y="4217044"/>
            <a:ext cx="46635" cy="6311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2322576" y="4280155"/>
            <a:ext cx="46634" cy="5545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2369210" y="4335612"/>
            <a:ext cx="46634" cy="4692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2415844" y="4382539"/>
            <a:ext cx="46635" cy="3765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2462479" y="4420196"/>
            <a:ext cx="46634" cy="27794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2509113" y="4447990"/>
            <a:ext cx="46635" cy="17492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2555748" y="4465482"/>
            <a:ext cx="46634" cy="691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 flipV="1">
            <a:off x="2602382" y="4468625"/>
            <a:ext cx="46634" cy="3772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 flipV="1">
            <a:off x="2649016" y="4454225"/>
            <a:ext cx="46635" cy="14400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V="1">
            <a:off x="2695651" y="4429425"/>
            <a:ext cx="46634" cy="24800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V="1">
            <a:off x="2742285" y="4394616"/>
            <a:ext cx="46635" cy="34809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V="1">
            <a:off x="2788920" y="4350347"/>
            <a:ext cx="46634" cy="44269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V="1">
            <a:off x="2835554" y="4297316"/>
            <a:ext cx="46634" cy="5303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V="1">
            <a:off x="2882188" y="4236360"/>
            <a:ext cx="46635" cy="60956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 flipV="1">
            <a:off x="2928823" y="4168439"/>
            <a:ext cx="46634" cy="6792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V="1">
            <a:off x="2975457" y="4094625"/>
            <a:ext cx="46634" cy="73814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V="1">
            <a:off x="3022091" y="4016082"/>
            <a:ext cx="46635" cy="78543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 flipV="1">
            <a:off x="3068726" y="3934049"/>
            <a:ext cx="46634" cy="82033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 flipV="1">
            <a:off x="3115360" y="3849819"/>
            <a:ext cx="46635" cy="84230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V="1">
            <a:off x="3161995" y="3764720"/>
            <a:ext cx="46634" cy="85099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V="1">
            <a:off x="3208629" y="3680096"/>
            <a:ext cx="46634" cy="84624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 flipV="1">
            <a:off x="3255263" y="3597279"/>
            <a:ext cx="46635" cy="8281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 flipV="1">
            <a:off x="3301898" y="3517577"/>
            <a:ext cx="46634" cy="79702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V="1">
            <a:off x="3348532" y="3442247"/>
            <a:ext cx="46635" cy="75330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 flipV="1">
            <a:off x="3395167" y="3372475"/>
            <a:ext cx="46634" cy="69772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 flipV="1">
            <a:off x="3441801" y="3309364"/>
            <a:ext cx="46635" cy="6311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V="1">
            <a:off x="3488436" y="3253907"/>
            <a:ext cx="46634" cy="5545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 flipV="1">
            <a:off x="3535070" y="3206980"/>
            <a:ext cx="46634" cy="4692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V="1">
            <a:off x="3581704" y="3169323"/>
            <a:ext cx="46635" cy="3765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 flipV="1">
            <a:off x="3628339" y="3141529"/>
            <a:ext cx="46634" cy="27794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 flipV="1">
            <a:off x="3674973" y="3124037"/>
            <a:ext cx="46634" cy="17492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 flipV="1">
            <a:off x="3721607" y="3117122"/>
            <a:ext cx="46635" cy="691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>
            <a:off x="3768242" y="3117122"/>
            <a:ext cx="46634" cy="3772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>
            <a:off x="3814876" y="3120894"/>
            <a:ext cx="46635" cy="14400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>
            <a:off x="3861511" y="3135294"/>
            <a:ext cx="46634" cy="24800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>
            <a:off x="3908145" y="3160094"/>
            <a:ext cx="46635" cy="34809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>
            <a:off x="3954780" y="3194903"/>
            <a:ext cx="46634" cy="44269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>
            <a:off x="4001414" y="3239172"/>
            <a:ext cx="46634" cy="5303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>
            <a:off x="4048048" y="3292203"/>
            <a:ext cx="46635" cy="60956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>
            <a:off x="4094683" y="3353159"/>
            <a:ext cx="46634" cy="6792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>
            <a:off x="4141317" y="3421080"/>
            <a:ext cx="46634" cy="73814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>
            <a:off x="4187951" y="3494894"/>
            <a:ext cx="46635" cy="78543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>
            <a:off x="4234586" y="3573437"/>
            <a:ext cx="46634" cy="82033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>
            <a:off x="4281220" y="3655470"/>
            <a:ext cx="46635" cy="84230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>
            <a:off x="4327855" y="3739700"/>
            <a:ext cx="46634" cy="85099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>
            <a:off x="4374489" y="3824799"/>
            <a:ext cx="46635" cy="84624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>
            <a:off x="4421124" y="3909423"/>
            <a:ext cx="46634" cy="8281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>
            <a:off x="4467758" y="3992240"/>
            <a:ext cx="46634" cy="79702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>
            <a:off x="4514392" y="4071942"/>
            <a:ext cx="46635" cy="75330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>
            <a:off x="4561027" y="4147272"/>
            <a:ext cx="46634" cy="69772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>
            <a:off x="4607661" y="4217044"/>
            <a:ext cx="46635" cy="6311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>
            <a:off x="4654296" y="4280155"/>
            <a:ext cx="46634" cy="5545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>
            <a:off x="4700930" y="4335612"/>
            <a:ext cx="46634" cy="4692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>
            <a:off x="4747564" y="4382539"/>
            <a:ext cx="46635" cy="3765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>
            <a:off x="4794199" y="4420196"/>
            <a:ext cx="46634" cy="27794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>
            <a:off x="4840833" y="4447990"/>
            <a:ext cx="46635" cy="17492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>
            <a:off x="4887468" y="4465482"/>
            <a:ext cx="46634" cy="691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 flipV="1">
            <a:off x="4934102" y="4468625"/>
            <a:ext cx="46634" cy="3772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 flipV="1">
            <a:off x="4980736" y="4454225"/>
            <a:ext cx="46635" cy="14400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 flipV="1">
            <a:off x="5027371" y="4429425"/>
            <a:ext cx="46634" cy="24800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 flipV="1">
            <a:off x="5074005" y="4394616"/>
            <a:ext cx="46635" cy="34809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 flipV="1">
            <a:off x="5120640" y="4350347"/>
            <a:ext cx="46634" cy="44269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 flipV="1">
            <a:off x="5167274" y="4297316"/>
            <a:ext cx="46634" cy="5303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 flipV="1">
            <a:off x="5213908" y="4236360"/>
            <a:ext cx="46635" cy="60956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 flipV="1">
            <a:off x="5260543" y="4168439"/>
            <a:ext cx="46634" cy="6792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 flipV="1">
            <a:off x="5307177" y="4094625"/>
            <a:ext cx="46635" cy="73814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 flipV="1">
            <a:off x="5353812" y="4016082"/>
            <a:ext cx="46634" cy="78543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 flipV="1">
            <a:off x="5400446" y="3934049"/>
            <a:ext cx="46634" cy="82033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or 108"/>
          <p:cNvCxnSpPr/>
          <p:nvPr/>
        </p:nvCxnSpPr>
        <p:spPr>
          <a:xfrm flipV="1">
            <a:off x="5447080" y="3849819"/>
            <a:ext cx="46635" cy="84230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Connector 109"/>
          <p:cNvCxnSpPr/>
          <p:nvPr/>
        </p:nvCxnSpPr>
        <p:spPr>
          <a:xfrm flipV="1">
            <a:off x="5493715" y="3764720"/>
            <a:ext cx="46634" cy="85099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Connector 110"/>
          <p:cNvCxnSpPr/>
          <p:nvPr/>
        </p:nvCxnSpPr>
        <p:spPr>
          <a:xfrm flipV="1">
            <a:off x="5540349" y="3680096"/>
            <a:ext cx="46634" cy="84624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Connector 111"/>
          <p:cNvCxnSpPr/>
          <p:nvPr/>
        </p:nvCxnSpPr>
        <p:spPr>
          <a:xfrm>
            <a:off x="6446520" y="3794760"/>
            <a:ext cx="4892039" cy="0"/>
          </a:xfrm>
          <a:prstGeom prst="line">
            <a:avLst/>
          </a:prstGeom>
          <a:ln w="1778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Connector 112"/>
          <p:cNvCxnSpPr/>
          <p:nvPr/>
        </p:nvCxnSpPr>
        <p:spPr>
          <a:xfrm>
            <a:off x="6492240" y="2889504"/>
            <a:ext cx="0" cy="1856232"/>
          </a:xfrm>
          <a:prstGeom prst="line">
            <a:avLst/>
          </a:prstGeom>
          <a:ln w="1397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4" name="TextBox 113"/>
          <p:cNvSpPr txBox="1"/>
          <p:nvPr/>
        </p:nvSpPr>
        <p:spPr>
          <a:xfrm>
            <a:off x="6446520" y="2459736"/>
            <a:ext cx="11430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700" b="0">
                <a:solidFill>
                  <a:srgbClr val="808080"/>
                </a:solidFill>
                <a:latin typeface="Alibaba PuHuiTi 3.0 55 Regular"/>
              </a:defRPr>
            </a:pPr>
            <a:r>
              <a:t>振幅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10424159" y="3922776"/>
            <a:ext cx="8229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700" b="0">
                <a:solidFill>
                  <a:srgbClr val="808080"/>
                </a:solidFill>
                <a:latin typeface="Alibaba PuHuiTi 3.0 55 Regular"/>
              </a:defRPr>
            </a:pPr>
            <a:r>
              <a:t>时间</a:t>
            </a:r>
          </a:p>
        </p:txBody>
      </p:sp>
      <p:cxnSp>
        <p:nvCxnSpPr>
          <p:cNvPr id="116" name="Connector 115"/>
          <p:cNvCxnSpPr/>
          <p:nvPr/>
        </p:nvCxnSpPr>
        <p:spPr>
          <a:xfrm flipV="1">
            <a:off x="6565392" y="3621856"/>
            <a:ext cx="45262" cy="58240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" name="Connector 116"/>
          <p:cNvCxnSpPr/>
          <p:nvPr/>
        </p:nvCxnSpPr>
        <p:spPr>
          <a:xfrm flipV="1">
            <a:off x="6610654" y="3564953"/>
            <a:ext cx="45263" cy="56903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Connector 117"/>
          <p:cNvCxnSpPr/>
          <p:nvPr/>
        </p:nvCxnSpPr>
        <p:spPr>
          <a:xfrm flipV="1">
            <a:off x="6655917" y="3509827"/>
            <a:ext cx="45263" cy="55126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or 118"/>
          <p:cNvCxnSpPr/>
          <p:nvPr/>
        </p:nvCxnSpPr>
        <p:spPr>
          <a:xfrm flipV="1">
            <a:off x="6701180" y="3456905"/>
            <a:ext cx="45263" cy="52922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Connector 119"/>
          <p:cNvCxnSpPr/>
          <p:nvPr/>
        </p:nvCxnSpPr>
        <p:spPr>
          <a:xfrm flipV="1">
            <a:off x="6746443" y="3406595"/>
            <a:ext cx="45262" cy="50310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" name="Connector 120"/>
          <p:cNvCxnSpPr/>
          <p:nvPr/>
        </p:nvCxnSpPr>
        <p:spPr>
          <a:xfrm flipV="1">
            <a:off x="6791705" y="3359287"/>
            <a:ext cx="45263" cy="47308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" name="Connector 121"/>
          <p:cNvCxnSpPr/>
          <p:nvPr/>
        </p:nvCxnSpPr>
        <p:spPr>
          <a:xfrm flipV="1">
            <a:off x="6836968" y="3315346"/>
            <a:ext cx="45263" cy="4394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" name="Connector 122"/>
          <p:cNvCxnSpPr/>
          <p:nvPr/>
        </p:nvCxnSpPr>
        <p:spPr>
          <a:xfrm flipV="1">
            <a:off x="6882231" y="3275112"/>
            <a:ext cx="45263" cy="40234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Connector 123"/>
          <p:cNvCxnSpPr/>
          <p:nvPr/>
        </p:nvCxnSpPr>
        <p:spPr>
          <a:xfrm flipV="1">
            <a:off x="6927494" y="3238897"/>
            <a:ext cx="45263" cy="3621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Connector 124"/>
          <p:cNvCxnSpPr/>
          <p:nvPr/>
        </p:nvCxnSpPr>
        <p:spPr>
          <a:xfrm flipV="1">
            <a:off x="6972757" y="3206980"/>
            <a:ext cx="45263" cy="3191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" name="Connector 125"/>
          <p:cNvCxnSpPr/>
          <p:nvPr/>
        </p:nvCxnSpPr>
        <p:spPr>
          <a:xfrm flipV="1">
            <a:off x="7018020" y="3179608"/>
            <a:ext cx="45262" cy="27372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" name="Connector 126"/>
          <p:cNvCxnSpPr/>
          <p:nvPr/>
        </p:nvCxnSpPr>
        <p:spPr>
          <a:xfrm flipV="1">
            <a:off x="7063282" y="3156993"/>
            <a:ext cx="45263" cy="2261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" name="Connector 127"/>
          <p:cNvCxnSpPr/>
          <p:nvPr/>
        </p:nvCxnSpPr>
        <p:spPr>
          <a:xfrm flipV="1">
            <a:off x="7108545" y="3139310"/>
            <a:ext cx="45263" cy="17683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" name="Connector 128"/>
          <p:cNvCxnSpPr/>
          <p:nvPr/>
        </p:nvCxnSpPr>
        <p:spPr>
          <a:xfrm flipV="1">
            <a:off x="7153808" y="3126695"/>
            <a:ext cx="45263" cy="1261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" name="Connector 129"/>
          <p:cNvCxnSpPr/>
          <p:nvPr/>
        </p:nvCxnSpPr>
        <p:spPr>
          <a:xfrm flipV="1">
            <a:off x="7199071" y="3119246"/>
            <a:ext cx="45262" cy="7449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Connector 130"/>
          <p:cNvCxnSpPr/>
          <p:nvPr/>
        </p:nvCxnSpPr>
        <p:spPr>
          <a:xfrm flipV="1">
            <a:off x="7244333" y="3117021"/>
            <a:ext cx="45263" cy="222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Connector 131"/>
          <p:cNvCxnSpPr/>
          <p:nvPr/>
        </p:nvCxnSpPr>
        <p:spPr>
          <a:xfrm>
            <a:off x="7289596" y="3117021"/>
            <a:ext cx="45263" cy="3016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3" name="Connector 132"/>
          <p:cNvCxnSpPr/>
          <p:nvPr/>
        </p:nvCxnSpPr>
        <p:spPr>
          <a:xfrm>
            <a:off x="7334859" y="3120037"/>
            <a:ext cx="45263" cy="8233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Connector 133"/>
          <p:cNvCxnSpPr/>
          <p:nvPr/>
        </p:nvCxnSpPr>
        <p:spPr>
          <a:xfrm>
            <a:off x="7380122" y="3128270"/>
            <a:ext cx="45263" cy="1338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Connector 134"/>
          <p:cNvCxnSpPr/>
          <p:nvPr/>
        </p:nvCxnSpPr>
        <p:spPr>
          <a:xfrm>
            <a:off x="7425385" y="3141657"/>
            <a:ext cx="45263" cy="1843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Connector 135"/>
          <p:cNvCxnSpPr/>
          <p:nvPr/>
        </p:nvCxnSpPr>
        <p:spPr>
          <a:xfrm>
            <a:off x="7470648" y="3160094"/>
            <a:ext cx="45262" cy="2334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Connector 136"/>
          <p:cNvCxnSpPr/>
          <p:nvPr/>
        </p:nvCxnSpPr>
        <p:spPr>
          <a:xfrm>
            <a:off x="7515910" y="3183439"/>
            <a:ext cx="45263" cy="28072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Connector 137"/>
          <p:cNvCxnSpPr/>
          <p:nvPr/>
        </p:nvCxnSpPr>
        <p:spPr>
          <a:xfrm>
            <a:off x="7561173" y="3211511"/>
            <a:ext cx="45263" cy="32582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" name="Connector 138"/>
          <p:cNvCxnSpPr/>
          <p:nvPr/>
        </p:nvCxnSpPr>
        <p:spPr>
          <a:xfrm>
            <a:off x="7606436" y="3244093"/>
            <a:ext cx="45263" cy="3684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" name="Connector 139"/>
          <p:cNvCxnSpPr/>
          <p:nvPr/>
        </p:nvCxnSpPr>
        <p:spPr>
          <a:xfrm>
            <a:off x="7651699" y="3280934"/>
            <a:ext cx="45263" cy="40813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Connector 140"/>
          <p:cNvCxnSpPr/>
          <p:nvPr/>
        </p:nvCxnSpPr>
        <p:spPr>
          <a:xfrm>
            <a:off x="7696962" y="3321747"/>
            <a:ext cx="45262" cy="44472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2" name="Connector 141"/>
          <p:cNvCxnSpPr/>
          <p:nvPr/>
        </p:nvCxnSpPr>
        <p:spPr>
          <a:xfrm>
            <a:off x="7742224" y="3366219"/>
            <a:ext cx="45263" cy="4778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3" name="Connector 142"/>
          <p:cNvCxnSpPr/>
          <p:nvPr/>
        </p:nvCxnSpPr>
        <p:spPr>
          <a:xfrm>
            <a:off x="7787487" y="3414004"/>
            <a:ext cx="45263" cy="50730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4" name="Connector 143"/>
          <p:cNvCxnSpPr/>
          <p:nvPr/>
        </p:nvCxnSpPr>
        <p:spPr>
          <a:xfrm>
            <a:off x="7832750" y="3464734"/>
            <a:ext cx="45263" cy="5328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5" name="Connector 144"/>
          <p:cNvCxnSpPr/>
          <p:nvPr/>
        </p:nvCxnSpPr>
        <p:spPr>
          <a:xfrm>
            <a:off x="7878013" y="3518015"/>
            <a:ext cx="45262" cy="55422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6" name="Connector 145"/>
          <p:cNvCxnSpPr/>
          <p:nvPr/>
        </p:nvCxnSpPr>
        <p:spPr>
          <a:xfrm>
            <a:off x="7923275" y="3573437"/>
            <a:ext cx="45263" cy="57133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7" name="Connector 146"/>
          <p:cNvCxnSpPr/>
          <p:nvPr/>
        </p:nvCxnSpPr>
        <p:spPr>
          <a:xfrm>
            <a:off x="7968538" y="3630570"/>
            <a:ext cx="45263" cy="58403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8" name="Connector 147"/>
          <p:cNvCxnSpPr/>
          <p:nvPr/>
        </p:nvCxnSpPr>
        <p:spPr>
          <a:xfrm>
            <a:off x="8013801" y="3688973"/>
            <a:ext cx="45263" cy="59220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9" name="Connector 148"/>
          <p:cNvCxnSpPr/>
          <p:nvPr/>
        </p:nvCxnSpPr>
        <p:spPr>
          <a:xfrm>
            <a:off x="8059064" y="3748193"/>
            <a:ext cx="45263" cy="5958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0" name="Connector 149"/>
          <p:cNvCxnSpPr/>
          <p:nvPr/>
        </p:nvCxnSpPr>
        <p:spPr>
          <a:xfrm>
            <a:off x="8104327" y="3807774"/>
            <a:ext cx="45263" cy="59480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1" name="Connector 150"/>
          <p:cNvCxnSpPr/>
          <p:nvPr/>
        </p:nvCxnSpPr>
        <p:spPr>
          <a:xfrm>
            <a:off x="8149590" y="3867254"/>
            <a:ext cx="45262" cy="58920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2" name="Connector 151"/>
          <p:cNvCxnSpPr/>
          <p:nvPr/>
        </p:nvCxnSpPr>
        <p:spPr>
          <a:xfrm>
            <a:off x="8194852" y="3926174"/>
            <a:ext cx="45263" cy="57903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" name="Connector 152"/>
          <p:cNvCxnSpPr/>
          <p:nvPr/>
        </p:nvCxnSpPr>
        <p:spPr>
          <a:xfrm>
            <a:off x="8240115" y="3984077"/>
            <a:ext cx="45263" cy="56439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4" name="Connector 153"/>
          <p:cNvCxnSpPr/>
          <p:nvPr/>
        </p:nvCxnSpPr>
        <p:spPr>
          <a:xfrm>
            <a:off x="8285378" y="4040516"/>
            <a:ext cx="45263" cy="54539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5" name="Connector 154"/>
          <p:cNvCxnSpPr/>
          <p:nvPr/>
        </p:nvCxnSpPr>
        <p:spPr>
          <a:xfrm>
            <a:off x="8330641" y="4095055"/>
            <a:ext cx="45263" cy="5221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6" name="Connector 155"/>
          <p:cNvCxnSpPr/>
          <p:nvPr/>
        </p:nvCxnSpPr>
        <p:spPr>
          <a:xfrm>
            <a:off x="8375904" y="4147272"/>
            <a:ext cx="45262" cy="4949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7" name="Connector 156"/>
          <p:cNvCxnSpPr/>
          <p:nvPr/>
        </p:nvCxnSpPr>
        <p:spPr>
          <a:xfrm>
            <a:off x="8421166" y="4196763"/>
            <a:ext cx="45263" cy="46383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8" name="Connector 157"/>
          <p:cNvCxnSpPr/>
          <p:nvPr/>
        </p:nvCxnSpPr>
        <p:spPr>
          <a:xfrm>
            <a:off x="8466429" y="4243146"/>
            <a:ext cx="45263" cy="4291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9" name="Connector 158"/>
          <p:cNvCxnSpPr/>
          <p:nvPr/>
        </p:nvCxnSpPr>
        <p:spPr>
          <a:xfrm>
            <a:off x="8511692" y="4286061"/>
            <a:ext cx="45263" cy="39116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0" name="Connector 159"/>
          <p:cNvCxnSpPr/>
          <p:nvPr/>
        </p:nvCxnSpPr>
        <p:spPr>
          <a:xfrm>
            <a:off x="8556955" y="4325177"/>
            <a:ext cx="45262" cy="35014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1" name="Connector 160"/>
          <p:cNvCxnSpPr/>
          <p:nvPr/>
        </p:nvCxnSpPr>
        <p:spPr>
          <a:xfrm>
            <a:off x="8602217" y="4360191"/>
            <a:ext cx="45263" cy="30642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2" name="Connector 161"/>
          <p:cNvCxnSpPr/>
          <p:nvPr/>
        </p:nvCxnSpPr>
        <p:spPr>
          <a:xfrm>
            <a:off x="8647480" y="4390833"/>
            <a:ext cx="45263" cy="26033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3" name="Connector 162"/>
          <p:cNvCxnSpPr/>
          <p:nvPr/>
        </p:nvCxnSpPr>
        <p:spPr>
          <a:xfrm>
            <a:off x="8692743" y="4416866"/>
            <a:ext cx="45263" cy="21222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4" name="Connector 163"/>
          <p:cNvCxnSpPr/>
          <p:nvPr/>
        </p:nvCxnSpPr>
        <p:spPr>
          <a:xfrm>
            <a:off x="8738006" y="4438088"/>
            <a:ext cx="45263" cy="1624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5" name="Connector 164"/>
          <p:cNvCxnSpPr/>
          <p:nvPr/>
        </p:nvCxnSpPr>
        <p:spPr>
          <a:xfrm>
            <a:off x="8783269" y="4454335"/>
            <a:ext cx="45263" cy="1114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6" name="Connector 165"/>
          <p:cNvCxnSpPr/>
          <p:nvPr/>
        </p:nvCxnSpPr>
        <p:spPr>
          <a:xfrm>
            <a:off x="8828532" y="4465482"/>
            <a:ext cx="45262" cy="596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7" name="Connector 166"/>
          <p:cNvCxnSpPr/>
          <p:nvPr/>
        </p:nvCxnSpPr>
        <p:spPr>
          <a:xfrm>
            <a:off x="8873794" y="4471443"/>
            <a:ext cx="45263" cy="728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8" name="Connector 167"/>
          <p:cNvCxnSpPr/>
          <p:nvPr/>
        </p:nvCxnSpPr>
        <p:spPr>
          <a:xfrm flipV="1">
            <a:off x="8919057" y="4467660"/>
            <a:ext cx="45263" cy="451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9" name="Connector 168"/>
          <p:cNvCxnSpPr/>
          <p:nvPr/>
        </p:nvCxnSpPr>
        <p:spPr>
          <a:xfrm flipV="1">
            <a:off x="8964320" y="4457946"/>
            <a:ext cx="45263" cy="9714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0" name="Connector 169"/>
          <p:cNvCxnSpPr/>
          <p:nvPr/>
        </p:nvCxnSpPr>
        <p:spPr>
          <a:xfrm flipV="1">
            <a:off x="9009583" y="4443104"/>
            <a:ext cx="45263" cy="14842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1" name="Connector 170"/>
          <p:cNvCxnSpPr/>
          <p:nvPr/>
        </p:nvCxnSpPr>
        <p:spPr>
          <a:xfrm flipV="1">
            <a:off x="9054846" y="4423249"/>
            <a:ext cx="45262" cy="1985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2" name="Connector 171"/>
          <p:cNvCxnSpPr/>
          <p:nvPr/>
        </p:nvCxnSpPr>
        <p:spPr>
          <a:xfrm flipV="1">
            <a:off x="9100108" y="4398533"/>
            <a:ext cx="45263" cy="24716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3" name="Connector 172"/>
          <p:cNvCxnSpPr/>
          <p:nvPr/>
        </p:nvCxnSpPr>
        <p:spPr>
          <a:xfrm flipV="1">
            <a:off x="9145371" y="4369149"/>
            <a:ext cx="45263" cy="29384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" name="Connector 173"/>
          <p:cNvCxnSpPr/>
          <p:nvPr/>
        </p:nvCxnSpPr>
        <p:spPr>
          <a:xfrm flipV="1">
            <a:off x="9190634" y="4335323"/>
            <a:ext cx="45263" cy="33826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5" name="Connector 174"/>
          <p:cNvCxnSpPr/>
          <p:nvPr/>
        </p:nvCxnSpPr>
        <p:spPr>
          <a:xfrm flipV="1">
            <a:off x="9235897" y="4297316"/>
            <a:ext cx="45262" cy="3800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6" name="Connector 175"/>
          <p:cNvCxnSpPr/>
          <p:nvPr/>
        </p:nvCxnSpPr>
        <p:spPr>
          <a:xfrm flipV="1">
            <a:off x="9281159" y="4255424"/>
            <a:ext cx="45263" cy="41892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7" name="Connector 176"/>
          <p:cNvCxnSpPr/>
          <p:nvPr/>
        </p:nvCxnSpPr>
        <p:spPr>
          <a:xfrm flipV="1">
            <a:off x="9326422" y="4209970"/>
            <a:ext cx="45263" cy="45454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8" name="Connector 177"/>
          <p:cNvCxnSpPr/>
          <p:nvPr/>
        </p:nvCxnSpPr>
        <p:spPr>
          <a:xfrm flipV="1">
            <a:off x="9371685" y="4161304"/>
            <a:ext cx="45263" cy="48666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9" name="Connector 178"/>
          <p:cNvCxnSpPr/>
          <p:nvPr/>
        </p:nvCxnSpPr>
        <p:spPr>
          <a:xfrm flipV="1">
            <a:off x="9416948" y="4109805"/>
            <a:ext cx="45263" cy="51499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0" name="Connector 179"/>
          <p:cNvCxnSpPr/>
          <p:nvPr/>
        </p:nvCxnSpPr>
        <p:spPr>
          <a:xfrm flipV="1">
            <a:off x="9462211" y="4055869"/>
            <a:ext cx="45263" cy="53936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1" name="Connector 180"/>
          <p:cNvCxnSpPr/>
          <p:nvPr/>
        </p:nvCxnSpPr>
        <p:spPr>
          <a:xfrm flipV="1">
            <a:off x="9507474" y="3999914"/>
            <a:ext cx="45262" cy="5595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2" name="Connector 181"/>
          <p:cNvCxnSpPr/>
          <p:nvPr/>
        </p:nvCxnSpPr>
        <p:spPr>
          <a:xfrm flipV="1">
            <a:off x="9552736" y="3942373"/>
            <a:ext cx="45263" cy="5754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3" name="Connector 182"/>
          <p:cNvCxnSpPr/>
          <p:nvPr/>
        </p:nvCxnSpPr>
        <p:spPr>
          <a:xfrm flipV="1">
            <a:off x="9597999" y="3883690"/>
            <a:ext cx="45263" cy="58683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4" name="Connector 183"/>
          <p:cNvCxnSpPr/>
          <p:nvPr/>
        </p:nvCxnSpPr>
        <p:spPr>
          <a:xfrm flipV="1">
            <a:off x="9643262" y="3824319"/>
            <a:ext cx="45263" cy="5937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5" name="Connector 184"/>
          <p:cNvCxnSpPr/>
          <p:nvPr/>
        </p:nvCxnSpPr>
        <p:spPr>
          <a:xfrm flipV="1">
            <a:off x="9688525" y="3764720"/>
            <a:ext cx="45263" cy="59599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6" name="Connector 185"/>
          <p:cNvCxnSpPr/>
          <p:nvPr/>
        </p:nvCxnSpPr>
        <p:spPr>
          <a:xfrm flipV="1">
            <a:off x="9733788" y="3705353"/>
            <a:ext cx="45262" cy="5936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7" name="Connector 186"/>
          <p:cNvCxnSpPr/>
          <p:nvPr/>
        </p:nvCxnSpPr>
        <p:spPr>
          <a:xfrm flipV="1">
            <a:off x="9779050" y="3646678"/>
            <a:ext cx="45263" cy="5867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8" name="Connector 187"/>
          <p:cNvCxnSpPr/>
          <p:nvPr/>
        </p:nvCxnSpPr>
        <p:spPr>
          <a:xfrm flipV="1">
            <a:off x="9824313" y="3589148"/>
            <a:ext cx="45263" cy="57530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9" name="Connector 188"/>
          <p:cNvCxnSpPr/>
          <p:nvPr/>
        </p:nvCxnSpPr>
        <p:spPr>
          <a:xfrm flipV="1">
            <a:off x="9869576" y="3533207"/>
            <a:ext cx="45263" cy="5594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0" name="Connector 189"/>
          <p:cNvCxnSpPr/>
          <p:nvPr/>
        </p:nvCxnSpPr>
        <p:spPr>
          <a:xfrm flipV="1">
            <a:off x="9914839" y="3479289"/>
            <a:ext cx="45262" cy="53918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1" name="Connector 190"/>
          <p:cNvCxnSpPr/>
          <p:nvPr/>
        </p:nvCxnSpPr>
        <p:spPr>
          <a:xfrm flipV="1">
            <a:off x="9960101" y="3427811"/>
            <a:ext cx="45263" cy="51478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2" name="Connector 191"/>
          <p:cNvCxnSpPr/>
          <p:nvPr/>
        </p:nvCxnSpPr>
        <p:spPr>
          <a:xfrm flipV="1">
            <a:off x="10005364" y="3379170"/>
            <a:ext cx="45263" cy="4864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3" name="Connector 192"/>
          <p:cNvCxnSpPr/>
          <p:nvPr/>
        </p:nvCxnSpPr>
        <p:spPr>
          <a:xfrm flipV="1">
            <a:off x="10050627" y="3333743"/>
            <a:ext cx="45263" cy="4542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4" name="Connector 193"/>
          <p:cNvCxnSpPr/>
          <p:nvPr/>
        </p:nvCxnSpPr>
        <p:spPr>
          <a:xfrm flipV="1">
            <a:off x="10095890" y="3291881"/>
            <a:ext cx="45263" cy="41862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5" name="Connector 194"/>
          <p:cNvCxnSpPr/>
          <p:nvPr/>
        </p:nvCxnSpPr>
        <p:spPr>
          <a:xfrm flipV="1">
            <a:off x="10141153" y="3253907"/>
            <a:ext cx="45262" cy="37974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6" name="Connector 195"/>
          <p:cNvCxnSpPr/>
          <p:nvPr/>
        </p:nvCxnSpPr>
        <p:spPr>
          <a:xfrm flipV="1">
            <a:off x="10186415" y="3220116"/>
            <a:ext cx="45263" cy="3379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7" name="Connector 196"/>
          <p:cNvCxnSpPr/>
          <p:nvPr/>
        </p:nvCxnSpPr>
        <p:spPr>
          <a:xfrm flipV="1">
            <a:off x="10231678" y="3190768"/>
            <a:ext cx="45263" cy="29348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8" name="Connector 197"/>
          <p:cNvCxnSpPr/>
          <p:nvPr/>
        </p:nvCxnSpPr>
        <p:spPr>
          <a:xfrm flipV="1">
            <a:off x="10276941" y="3166091"/>
            <a:ext cx="45263" cy="2467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9" name="Connector 198"/>
          <p:cNvCxnSpPr/>
          <p:nvPr/>
        </p:nvCxnSpPr>
        <p:spPr>
          <a:xfrm flipV="1">
            <a:off x="10322204" y="3146275"/>
            <a:ext cx="45263" cy="19816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0" name="Connector 199"/>
          <p:cNvCxnSpPr/>
          <p:nvPr/>
        </p:nvCxnSpPr>
        <p:spPr>
          <a:xfrm flipV="1">
            <a:off x="10367467" y="3131474"/>
            <a:ext cx="45263" cy="1480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1" name="Connector 200"/>
          <p:cNvCxnSpPr/>
          <p:nvPr/>
        </p:nvCxnSpPr>
        <p:spPr>
          <a:xfrm flipV="1">
            <a:off x="10412730" y="3121802"/>
            <a:ext cx="45262" cy="9672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2" name="Connector 201"/>
          <p:cNvCxnSpPr/>
          <p:nvPr/>
        </p:nvCxnSpPr>
        <p:spPr>
          <a:xfrm flipV="1">
            <a:off x="10457992" y="3117333"/>
            <a:ext cx="45263" cy="4469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3" name="Connector 202"/>
          <p:cNvCxnSpPr/>
          <p:nvPr/>
        </p:nvCxnSpPr>
        <p:spPr>
          <a:xfrm>
            <a:off x="10503255" y="3117333"/>
            <a:ext cx="45263" cy="770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4" name="Connector 203"/>
          <p:cNvCxnSpPr/>
          <p:nvPr/>
        </p:nvCxnSpPr>
        <p:spPr>
          <a:xfrm>
            <a:off x="10548518" y="3118103"/>
            <a:ext cx="45263" cy="6003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5" name="Connector 204"/>
          <p:cNvCxnSpPr/>
          <p:nvPr/>
        </p:nvCxnSpPr>
        <p:spPr>
          <a:xfrm>
            <a:off x="10593781" y="3124106"/>
            <a:ext cx="45262" cy="11188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6" name="Connector 205"/>
          <p:cNvCxnSpPr/>
          <p:nvPr/>
        </p:nvCxnSpPr>
        <p:spPr>
          <a:xfrm>
            <a:off x="10639043" y="3135294"/>
            <a:ext cx="45263" cy="16288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7" name="Connector 206"/>
          <p:cNvCxnSpPr/>
          <p:nvPr/>
        </p:nvCxnSpPr>
        <p:spPr>
          <a:xfrm>
            <a:off x="10684306" y="3151582"/>
            <a:ext cx="45263" cy="21262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8" name="Connector 207"/>
          <p:cNvCxnSpPr/>
          <p:nvPr/>
        </p:nvCxnSpPr>
        <p:spPr>
          <a:xfrm>
            <a:off x="10729569" y="3172844"/>
            <a:ext cx="45263" cy="26070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9" name="Connector 208"/>
          <p:cNvCxnSpPr/>
          <p:nvPr/>
        </p:nvCxnSpPr>
        <p:spPr>
          <a:xfrm>
            <a:off x="10774832" y="3198914"/>
            <a:ext cx="45263" cy="30678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0" name="Connector 209"/>
          <p:cNvCxnSpPr/>
          <p:nvPr/>
        </p:nvCxnSpPr>
        <p:spPr>
          <a:xfrm>
            <a:off x="10820095" y="3229592"/>
            <a:ext cx="45262" cy="35049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1" name="Connector 210"/>
          <p:cNvCxnSpPr/>
          <p:nvPr/>
        </p:nvCxnSpPr>
        <p:spPr>
          <a:xfrm>
            <a:off x="10865357" y="3264641"/>
            <a:ext cx="45263" cy="39148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2" name="Connector 211"/>
          <p:cNvCxnSpPr/>
          <p:nvPr/>
        </p:nvCxnSpPr>
        <p:spPr>
          <a:xfrm>
            <a:off x="10910620" y="3303789"/>
            <a:ext cx="45263" cy="42944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3" name="Connector 212"/>
          <p:cNvCxnSpPr/>
          <p:nvPr/>
        </p:nvCxnSpPr>
        <p:spPr>
          <a:xfrm>
            <a:off x="10955883" y="3346733"/>
            <a:ext cx="45263" cy="46409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4" name="Connector 213"/>
          <p:cNvCxnSpPr/>
          <p:nvPr/>
        </p:nvCxnSpPr>
        <p:spPr>
          <a:xfrm>
            <a:off x="11001146" y="3393142"/>
            <a:ext cx="45263" cy="4951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5" name="Connector 214"/>
          <p:cNvCxnSpPr/>
          <p:nvPr/>
        </p:nvCxnSpPr>
        <p:spPr>
          <a:xfrm>
            <a:off x="11046409" y="3442657"/>
            <a:ext cx="45263" cy="5223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6" name="Oval 215"/>
          <p:cNvSpPr/>
          <p:nvPr/>
        </p:nvSpPr>
        <p:spPr>
          <a:xfrm>
            <a:off x="6507784" y="3622488"/>
            <a:ext cx="115214" cy="115214"/>
          </a:xfrm>
          <a:prstGeom prst="ellipse">
            <a:avLst/>
          </a:prstGeom>
          <a:solidFill>
            <a:srgbClr val="00B0F0"/>
          </a:solidFill>
          <a:ln w="1905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Oval 216"/>
          <p:cNvSpPr/>
          <p:nvPr/>
        </p:nvSpPr>
        <p:spPr>
          <a:xfrm>
            <a:off x="6809536" y="3271990"/>
            <a:ext cx="115214" cy="115214"/>
          </a:xfrm>
          <a:prstGeom prst="ellipse">
            <a:avLst/>
          </a:prstGeom>
          <a:solidFill>
            <a:srgbClr val="00B0F0"/>
          </a:solidFill>
          <a:ln w="1905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Oval 217"/>
          <p:cNvSpPr/>
          <p:nvPr/>
        </p:nvSpPr>
        <p:spPr>
          <a:xfrm>
            <a:off x="7111288" y="3076929"/>
            <a:ext cx="115214" cy="115214"/>
          </a:xfrm>
          <a:prstGeom prst="ellipse">
            <a:avLst/>
          </a:prstGeom>
          <a:solidFill>
            <a:srgbClr val="00B0F0"/>
          </a:solidFill>
          <a:ln w="1905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Oval 218"/>
          <p:cNvSpPr/>
          <p:nvPr/>
        </p:nvSpPr>
        <p:spPr>
          <a:xfrm>
            <a:off x="7413040" y="3102487"/>
            <a:ext cx="115214" cy="115214"/>
          </a:xfrm>
          <a:prstGeom prst="ellipse">
            <a:avLst/>
          </a:prstGeom>
          <a:solidFill>
            <a:srgbClr val="00B0F0"/>
          </a:solidFill>
          <a:ln w="1905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Oval 219"/>
          <p:cNvSpPr/>
          <p:nvPr/>
        </p:nvSpPr>
        <p:spPr>
          <a:xfrm>
            <a:off x="7714792" y="3340123"/>
            <a:ext cx="115214" cy="115214"/>
          </a:xfrm>
          <a:prstGeom prst="ellipse">
            <a:avLst/>
          </a:prstGeom>
          <a:solidFill>
            <a:srgbClr val="00B0F0"/>
          </a:solidFill>
          <a:ln w="1905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Oval 220"/>
          <p:cNvSpPr/>
          <p:nvPr/>
        </p:nvSpPr>
        <p:spPr>
          <a:xfrm>
            <a:off x="8016544" y="3710429"/>
            <a:ext cx="115214" cy="115214"/>
          </a:xfrm>
          <a:prstGeom prst="ellipse">
            <a:avLst/>
          </a:prstGeom>
          <a:solidFill>
            <a:srgbClr val="00B0F0"/>
          </a:solidFill>
          <a:ln w="1905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Oval 221"/>
          <p:cNvSpPr/>
          <p:nvPr/>
        </p:nvSpPr>
        <p:spPr>
          <a:xfrm>
            <a:off x="8318296" y="4089665"/>
            <a:ext cx="115214" cy="115214"/>
          </a:xfrm>
          <a:prstGeom prst="ellipse">
            <a:avLst/>
          </a:prstGeom>
          <a:solidFill>
            <a:srgbClr val="00B0F0"/>
          </a:solidFill>
          <a:ln w="1905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Oval 222"/>
          <p:cNvSpPr/>
          <p:nvPr/>
        </p:nvSpPr>
        <p:spPr>
          <a:xfrm>
            <a:off x="8620048" y="4351107"/>
            <a:ext cx="115214" cy="115214"/>
          </a:xfrm>
          <a:prstGeom prst="ellipse">
            <a:avLst/>
          </a:prstGeom>
          <a:solidFill>
            <a:srgbClr val="00B0F0"/>
          </a:solidFill>
          <a:ln w="1905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Oval 223"/>
          <p:cNvSpPr/>
          <p:nvPr/>
        </p:nvSpPr>
        <p:spPr>
          <a:xfrm>
            <a:off x="8921800" y="4407390"/>
            <a:ext cx="115214" cy="115214"/>
          </a:xfrm>
          <a:prstGeom prst="ellipse">
            <a:avLst/>
          </a:prstGeom>
          <a:solidFill>
            <a:srgbClr val="00B0F0"/>
          </a:solidFill>
          <a:ln w="1905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Oval 224"/>
          <p:cNvSpPr/>
          <p:nvPr/>
        </p:nvSpPr>
        <p:spPr>
          <a:xfrm>
            <a:off x="9223552" y="4239709"/>
            <a:ext cx="115214" cy="115214"/>
          </a:xfrm>
          <a:prstGeom prst="ellipse">
            <a:avLst/>
          </a:prstGeom>
          <a:solidFill>
            <a:srgbClr val="00B0F0"/>
          </a:solidFill>
          <a:ln w="1905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Oval 225"/>
          <p:cNvSpPr/>
          <p:nvPr/>
        </p:nvSpPr>
        <p:spPr>
          <a:xfrm>
            <a:off x="9525304" y="3904095"/>
            <a:ext cx="115214" cy="115214"/>
          </a:xfrm>
          <a:prstGeom prst="ellipse">
            <a:avLst/>
          </a:prstGeom>
          <a:solidFill>
            <a:srgbClr val="00B0F0"/>
          </a:solidFill>
          <a:ln w="1905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Oval 226"/>
          <p:cNvSpPr/>
          <p:nvPr/>
        </p:nvSpPr>
        <p:spPr>
          <a:xfrm>
            <a:off x="9827056" y="3512695"/>
            <a:ext cx="115214" cy="115214"/>
          </a:xfrm>
          <a:prstGeom prst="ellipse">
            <a:avLst/>
          </a:prstGeom>
          <a:solidFill>
            <a:srgbClr val="00B0F0"/>
          </a:solidFill>
          <a:ln w="1905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Oval 227"/>
          <p:cNvSpPr/>
          <p:nvPr/>
        </p:nvSpPr>
        <p:spPr>
          <a:xfrm>
            <a:off x="10128808" y="3196300"/>
            <a:ext cx="115214" cy="115214"/>
          </a:xfrm>
          <a:prstGeom prst="ellipse">
            <a:avLst/>
          </a:prstGeom>
          <a:solidFill>
            <a:srgbClr val="00B0F0"/>
          </a:solidFill>
          <a:ln w="1905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Oval 228"/>
          <p:cNvSpPr/>
          <p:nvPr/>
        </p:nvSpPr>
        <p:spPr>
          <a:xfrm>
            <a:off x="10430560" y="3060634"/>
            <a:ext cx="115214" cy="115214"/>
          </a:xfrm>
          <a:prstGeom prst="ellipse">
            <a:avLst/>
          </a:prstGeom>
          <a:solidFill>
            <a:srgbClr val="00B0F0"/>
          </a:solidFill>
          <a:ln w="1905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Oval 229"/>
          <p:cNvSpPr/>
          <p:nvPr/>
        </p:nvSpPr>
        <p:spPr>
          <a:xfrm>
            <a:off x="10732312" y="3151032"/>
            <a:ext cx="115214" cy="115214"/>
          </a:xfrm>
          <a:prstGeom prst="ellipse">
            <a:avLst/>
          </a:prstGeom>
          <a:solidFill>
            <a:srgbClr val="00B0F0"/>
          </a:solidFill>
          <a:ln w="1905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TextBox 230"/>
          <p:cNvSpPr txBox="1"/>
          <p:nvPr/>
        </p:nvSpPr>
        <p:spPr>
          <a:xfrm>
            <a:off x="877824" y="5458968"/>
            <a:ext cx="10515600" cy="6126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t>先预测：放大到足够短的时间，会出现什么？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1 Hz和2 Hz，一秒内取几个样本？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950976" y="2478024"/>
            <a:ext cx="9875520" cy="0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042416" y="1819656"/>
            <a:ext cx="0" cy="1325880"/>
          </a:xfrm>
          <a:prstGeom prst="line">
            <a:avLst/>
          </a:prstGeom>
          <a:ln w="1651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069848" y="1508760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0">
                <a:solidFill>
                  <a:srgbClr val="808080"/>
                </a:solidFill>
                <a:latin typeface="Alibaba PuHuiTi 3.0 55 Regular"/>
              </a:defRPr>
            </a:pPr>
            <a:r>
              <a:t>振幅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12096" y="2596896"/>
            <a:ext cx="8229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0">
                <a:solidFill>
                  <a:srgbClr val="808080"/>
                </a:solidFill>
                <a:latin typeface="Alibaba PuHuiTi 3.0 55 Regular"/>
              </a:defRPr>
            </a:pPr>
            <a:r>
              <a:t>时间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0976" y="1280160"/>
            <a:ext cx="98755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t>1 Hz</a:t>
            </a:r>
          </a:p>
        </p:txBody>
      </p:sp>
      <p:sp>
        <p:nvSpPr>
          <p:cNvPr id="10" name="Oval 9"/>
          <p:cNvSpPr/>
          <p:nvPr/>
        </p:nvSpPr>
        <p:spPr>
          <a:xfrm>
            <a:off x="1081735" y="2389327"/>
            <a:ext cx="122529" cy="122529"/>
          </a:xfrm>
          <a:prstGeom prst="ellipse">
            <a:avLst/>
          </a:prstGeom>
          <a:solidFill>
            <a:srgbClr val="8C64E1"/>
          </a:solidFill>
          <a:ln w="127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344875" y="1922068"/>
            <a:ext cx="122529" cy="122529"/>
          </a:xfrm>
          <a:prstGeom prst="ellipse">
            <a:avLst/>
          </a:prstGeom>
          <a:solidFill>
            <a:srgbClr val="8C64E1"/>
          </a:solidFill>
          <a:ln w="127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608015" y="2389327"/>
            <a:ext cx="122529" cy="122529"/>
          </a:xfrm>
          <a:prstGeom prst="ellipse">
            <a:avLst/>
          </a:prstGeom>
          <a:solidFill>
            <a:srgbClr val="8C64E1"/>
          </a:solidFill>
          <a:ln w="127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871155" y="2856585"/>
            <a:ext cx="122529" cy="122529"/>
          </a:xfrm>
          <a:prstGeom prst="ellipse">
            <a:avLst/>
          </a:prstGeom>
          <a:solidFill>
            <a:srgbClr val="8C64E1"/>
          </a:solidFill>
          <a:ln w="127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4" name="Connector 13"/>
          <p:cNvCxnSpPr/>
          <p:nvPr/>
        </p:nvCxnSpPr>
        <p:spPr>
          <a:xfrm>
            <a:off x="950976" y="4443983"/>
            <a:ext cx="9875520" cy="0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1042416" y="3785615"/>
            <a:ext cx="0" cy="1325880"/>
          </a:xfrm>
          <a:prstGeom prst="line">
            <a:avLst/>
          </a:prstGeom>
          <a:ln w="1651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1069848" y="3474720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0">
                <a:solidFill>
                  <a:srgbClr val="808080"/>
                </a:solidFill>
                <a:latin typeface="Alibaba PuHuiTi 3.0 55 Regular"/>
              </a:defRPr>
            </a:pPr>
            <a:r>
              <a:t>振幅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912096" y="4562855"/>
            <a:ext cx="8229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0">
                <a:solidFill>
                  <a:srgbClr val="808080"/>
                </a:solidFill>
                <a:latin typeface="Alibaba PuHuiTi 3.0 55 Regular"/>
              </a:defRPr>
            </a:pPr>
            <a:r>
              <a:t>时间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0976" y="3246120"/>
            <a:ext cx="98755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t>2 Hz</a:t>
            </a:r>
          </a:p>
        </p:txBody>
      </p:sp>
      <p:sp>
        <p:nvSpPr>
          <p:cNvPr id="19" name="Oval 18"/>
          <p:cNvSpPr/>
          <p:nvPr/>
        </p:nvSpPr>
        <p:spPr>
          <a:xfrm>
            <a:off x="1081735" y="4355287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213305" y="4024885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3344875" y="3888028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4476445" y="4024885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608015" y="4355287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739585" y="4685688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7871155" y="4822545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002725" y="4685688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7240" y="5806440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采样率：每秒采集多少个样本，单位为Hz。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提高采样率，改变的是时间轴上的什么？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1005840" y="2432304"/>
            <a:ext cx="9747504" cy="0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097280" y="1737360"/>
            <a:ext cx="0" cy="1399032"/>
          </a:xfrm>
          <a:prstGeom prst="line">
            <a:avLst/>
          </a:prstGeom>
          <a:ln w="1651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124712" y="1426464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0">
                <a:solidFill>
                  <a:srgbClr val="808080"/>
                </a:solidFill>
                <a:latin typeface="Alibaba PuHuiTi 3.0 55 Regular"/>
              </a:defRPr>
            </a:pPr>
            <a:r>
              <a:t>振幅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38944" y="2551176"/>
            <a:ext cx="8229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0">
                <a:solidFill>
                  <a:srgbClr val="808080"/>
                </a:solidFill>
                <a:latin typeface="Alibaba PuHuiTi 3.0 55 Regular"/>
              </a:defRPr>
            </a:pPr>
            <a:r>
              <a:t>时间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1197864"/>
            <a:ext cx="9747504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t>采样点较少</a:t>
            </a:r>
          </a:p>
        </p:txBody>
      </p:sp>
      <p:cxnSp>
        <p:nvCxnSpPr>
          <p:cNvPr id="10" name="Connector 9"/>
          <p:cNvCxnSpPr/>
          <p:nvPr/>
        </p:nvCxnSpPr>
        <p:spPr>
          <a:xfrm flipV="1">
            <a:off x="1124712" y="2358641"/>
            <a:ext cx="91074" cy="5994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1215786" y="2299460"/>
            <a:ext cx="91074" cy="5918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1306860" y="2241802"/>
            <a:ext cx="91074" cy="5765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1397934" y="2186403"/>
            <a:ext cx="91074" cy="5539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1489008" y="2133970"/>
            <a:ext cx="91075" cy="5243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1580083" y="2085174"/>
            <a:ext cx="91074" cy="4879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1671157" y="2040638"/>
            <a:ext cx="91074" cy="4453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1762231" y="2000931"/>
            <a:ext cx="91074" cy="3970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1853305" y="1966561"/>
            <a:ext cx="91075" cy="3437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1944380" y="1937966"/>
            <a:ext cx="91074" cy="2859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2035454" y="1915513"/>
            <a:ext cx="91074" cy="2245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2126528" y="1899487"/>
            <a:ext cx="91074" cy="1602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2217602" y="1890094"/>
            <a:ext cx="91075" cy="939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2308677" y="1887454"/>
            <a:ext cx="91074" cy="264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2399751" y="1887454"/>
            <a:ext cx="91074" cy="414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2490825" y="1891601"/>
            <a:ext cx="91074" cy="1088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2581899" y="1902481"/>
            <a:ext cx="91075" cy="1747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2672974" y="1919956"/>
            <a:ext cx="91074" cy="2384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2764048" y="1943801"/>
            <a:ext cx="91074" cy="2991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2855122" y="1973714"/>
            <a:ext cx="91074" cy="3559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2946196" y="2009310"/>
            <a:ext cx="91075" cy="4082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3037271" y="2050136"/>
            <a:ext cx="91074" cy="4553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3128345" y="2095670"/>
            <a:ext cx="91074" cy="4966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3219419" y="2145330"/>
            <a:ext cx="91074" cy="5315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3310493" y="2198482"/>
            <a:ext cx="91075" cy="5596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3401568" y="2254445"/>
            <a:ext cx="91074" cy="5806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3492642" y="2312507"/>
            <a:ext cx="91074" cy="5941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3583716" y="2371923"/>
            <a:ext cx="91074" cy="6001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3674790" y="2431936"/>
            <a:ext cx="91074" cy="5984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3765864" y="2491778"/>
            <a:ext cx="91075" cy="5890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3856939" y="2550685"/>
            <a:ext cx="91074" cy="5722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3948013" y="2607905"/>
            <a:ext cx="91074" cy="5480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4039087" y="2662705"/>
            <a:ext cx="91074" cy="5168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4130161" y="2714386"/>
            <a:ext cx="91075" cy="4790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4221236" y="2762287"/>
            <a:ext cx="91074" cy="4351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4312310" y="2805797"/>
            <a:ext cx="91074" cy="3856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4403384" y="2844360"/>
            <a:ext cx="91074" cy="3312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4494458" y="2877482"/>
            <a:ext cx="91075" cy="2725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4585533" y="2904741"/>
            <a:ext cx="91074" cy="2104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4676607" y="2925788"/>
            <a:ext cx="91074" cy="1456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4767681" y="2940354"/>
            <a:ext cx="91074" cy="789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4858755" y="2948253"/>
            <a:ext cx="91075" cy="113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V="1">
            <a:off x="4949830" y="2943735"/>
            <a:ext cx="91074" cy="565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V="1">
            <a:off x="5040904" y="2931374"/>
            <a:ext cx="91074" cy="1236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V="1">
            <a:off x="5131978" y="2912461"/>
            <a:ext cx="91074" cy="1891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 flipV="1">
            <a:off x="5223052" y="2887239"/>
            <a:ext cx="91075" cy="2522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V="1">
            <a:off x="5314127" y="2856027"/>
            <a:ext cx="91074" cy="3121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V="1">
            <a:off x="5405201" y="2819227"/>
            <a:ext cx="91074" cy="3680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 flipV="1">
            <a:off x="5496275" y="2777307"/>
            <a:ext cx="91074" cy="4192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 flipV="1">
            <a:off x="5587349" y="2730804"/>
            <a:ext cx="91075" cy="4650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V="1">
            <a:off x="5678424" y="2680312"/>
            <a:ext cx="91074" cy="5049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V="1">
            <a:off x="5769498" y="2626475"/>
            <a:ext cx="91074" cy="5383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 flipV="1">
            <a:off x="5860572" y="2569983"/>
            <a:ext cx="91074" cy="5649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 flipV="1">
            <a:off x="5951646" y="2511555"/>
            <a:ext cx="91074" cy="5842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V="1">
            <a:off x="6042720" y="2451940"/>
            <a:ext cx="91075" cy="5961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 flipV="1">
            <a:off x="6133795" y="2391899"/>
            <a:ext cx="91074" cy="6004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 flipV="1">
            <a:off x="6224869" y="2332199"/>
            <a:ext cx="91074" cy="5970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V="1">
            <a:off x="6315943" y="2273602"/>
            <a:ext cx="91074" cy="5859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 flipV="1">
            <a:off x="6407017" y="2216858"/>
            <a:ext cx="91075" cy="5674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V="1">
            <a:off x="6498092" y="2162692"/>
            <a:ext cx="91074" cy="5416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 flipV="1">
            <a:off x="6589166" y="2111795"/>
            <a:ext cx="91074" cy="5089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 flipV="1">
            <a:off x="6680240" y="2064819"/>
            <a:ext cx="91074" cy="4697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 flipV="1">
            <a:off x="6771314" y="2022362"/>
            <a:ext cx="91075" cy="4245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 flipV="1">
            <a:off x="6862389" y="1984969"/>
            <a:ext cx="91074" cy="3739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 flipV="1">
            <a:off x="6953463" y="1953115"/>
            <a:ext cx="91074" cy="3185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 flipV="1">
            <a:off x="7044537" y="1927210"/>
            <a:ext cx="91074" cy="2590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 flipV="1">
            <a:off x="7135611" y="1907582"/>
            <a:ext cx="91075" cy="1962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 flipV="1">
            <a:off x="7226686" y="1894485"/>
            <a:ext cx="91074" cy="1309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 flipV="1">
            <a:off x="7317760" y="1888083"/>
            <a:ext cx="91074" cy="640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>
            <a:off x="7408834" y="1888083"/>
            <a:ext cx="91074" cy="37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>
            <a:off x="7499908" y="1888461"/>
            <a:ext cx="91075" cy="715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>
            <a:off x="7590983" y="1895612"/>
            <a:ext cx="91074" cy="1383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>
            <a:off x="7682057" y="1909445"/>
            <a:ext cx="91074" cy="2033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>
            <a:off x="7773131" y="1929783"/>
            <a:ext cx="91074" cy="2658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>
            <a:off x="7864205" y="1956368"/>
            <a:ext cx="91075" cy="3249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>
            <a:off x="7955280" y="1988858"/>
            <a:ext cx="91074" cy="3798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>
            <a:off x="8046354" y="2026839"/>
            <a:ext cx="91074" cy="4298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>
            <a:off x="8137428" y="2069826"/>
            <a:ext cx="91074" cy="4744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>
            <a:off x="8228502" y="2117268"/>
            <a:ext cx="91074" cy="5129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>
            <a:off x="8319576" y="2168561"/>
            <a:ext cx="91075" cy="5448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>
            <a:off x="8410651" y="2223049"/>
            <a:ext cx="91074" cy="5698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>
            <a:off x="8501725" y="2280035"/>
            <a:ext cx="91074" cy="5875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>
            <a:off x="8592799" y="2338791"/>
            <a:ext cx="91074" cy="5977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>
            <a:off x="8683873" y="2398567"/>
            <a:ext cx="91075" cy="6003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>
            <a:off x="8774948" y="2458599"/>
            <a:ext cx="91074" cy="5952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>
            <a:off x="8866022" y="2518120"/>
            <a:ext cx="91074" cy="5824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>
            <a:off x="8957096" y="2576369"/>
            <a:ext cx="91074" cy="5623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>
            <a:off x="9048170" y="2632601"/>
            <a:ext cx="91075" cy="5349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>
            <a:off x="9139245" y="2686100"/>
            <a:ext cx="91074" cy="5008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>
            <a:off x="9230319" y="2736180"/>
            <a:ext cx="91074" cy="4602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>
            <a:off x="9321393" y="2782202"/>
            <a:ext cx="91074" cy="4137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>
            <a:off x="9412467" y="2823578"/>
            <a:ext cx="91075" cy="3620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>
            <a:off x="9503542" y="2859779"/>
            <a:ext cx="91074" cy="3056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>
            <a:off x="9594616" y="2890343"/>
            <a:ext cx="91074" cy="2453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>
            <a:off x="9685690" y="2914880"/>
            <a:ext cx="91074" cy="1819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>
            <a:off x="9776764" y="2933075"/>
            <a:ext cx="91075" cy="1162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>
            <a:off x="9867839" y="2944696"/>
            <a:ext cx="91074" cy="489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 flipV="1">
            <a:off x="9958913" y="2947709"/>
            <a:ext cx="91074" cy="188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 flipV="1">
            <a:off x="10049987" y="2939062"/>
            <a:ext cx="91074" cy="864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or 108"/>
          <p:cNvCxnSpPr/>
          <p:nvPr/>
        </p:nvCxnSpPr>
        <p:spPr>
          <a:xfrm flipV="1">
            <a:off x="10141061" y="2923765"/>
            <a:ext cx="91075" cy="1529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0" name="Oval 109"/>
          <p:cNvSpPr/>
          <p:nvPr/>
        </p:nvSpPr>
        <p:spPr>
          <a:xfrm>
            <a:off x="1063447" y="2357323"/>
            <a:ext cx="122529" cy="122529"/>
          </a:xfrm>
          <a:prstGeom prst="ellipse">
            <a:avLst/>
          </a:prstGeom>
          <a:solidFill>
            <a:srgbClr val="8C64E1"/>
          </a:solidFill>
          <a:ln w="127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Oval 110"/>
          <p:cNvSpPr/>
          <p:nvPr/>
        </p:nvSpPr>
        <p:spPr>
          <a:xfrm>
            <a:off x="2201875" y="1832687"/>
            <a:ext cx="122529" cy="122529"/>
          </a:xfrm>
          <a:prstGeom prst="ellipse">
            <a:avLst/>
          </a:prstGeom>
          <a:solidFill>
            <a:srgbClr val="8C64E1"/>
          </a:solidFill>
          <a:ln w="127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Oval 111"/>
          <p:cNvSpPr/>
          <p:nvPr/>
        </p:nvSpPr>
        <p:spPr>
          <a:xfrm>
            <a:off x="3340303" y="2193181"/>
            <a:ext cx="122529" cy="122529"/>
          </a:xfrm>
          <a:prstGeom prst="ellipse">
            <a:avLst/>
          </a:prstGeom>
          <a:solidFill>
            <a:srgbClr val="8C64E1"/>
          </a:solidFill>
          <a:ln w="127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Oval 112"/>
          <p:cNvSpPr/>
          <p:nvPr/>
        </p:nvSpPr>
        <p:spPr>
          <a:xfrm>
            <a:off x="4478731" y="2830603"/>
            <a:ext cx="122529" cy="122529"/>
          </a:xfrm>
          <a:prstGeom prst="ellipse">
            <a:avLst/>
          </a:prstGeom>
          <a:solidFill>
            <a:srgbClr val="8C64E1"/>
          </a:solidFill>
          <a:ln w="127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Oval 113"/>
          <p:cNvSpPr/>
          <p:nvPr/>
        </p:nvSpPr>
        <p:spPr>
          <a:xfrm>
            <a:off x="5617159" y="2669540"/>
            <a:ext cx="122529" cy="122529"/>
          </a:xfrm>
          <a:prstGeom prst="ellipse">
            <a:avLst/>
          </a:prstGeom>
          <a:solidFill>
            <a:srgbClr val="8C64E1"/>
          </a:solidFill>
          <a:ln w="127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Oval 114"/>
          <p:cNvSpPr/>
          <p:nvPr/>
        </p:nvSpPr>
        <p:spPr>
          <a:xfrm>
            <a:off x="6755587" y="1981725"/>
            <a:ext cx="122529" cy="122529"/>
          </a:xfrm>
          <a:prstGeom prst="ellipse">
            <a:avLst/>
          </a:prstGeom>
          <a:solidFill>
            <a:srgbClr val="8C64E1"/>
          </a:solidFill>
          <a:ln w="127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Oval 115"/>
          <p:cNvSpPr/>
          <p:nvPr/>
        </p:nvSpPr>
        <p:spPr>
          <a:xfrm>
            <a:off x="7894015" y="1927593"/>
            <a:ext cx="122529" cy="122529"/>
          </a:xfrm>
          <a:prstGeom prst="ellipse">
            <a:avLst/>
          </a:prstGeom>
          <a:solidFill>
            <a:srgbClr val="8C64E1"/>
          </a:solidFill>
          <a:ln w="127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Oval 116"/>
          <p:cNvSpPr/>
          <p:nvPr/>
        </p:nvSpPr>
        <p:spPr>
          <a:xfrm>
            <a:off x="9032443" y="2598471"/>
            <a:ext cx="122529" cy="122529"/>
          </a:xfrm>
          <a:prstGeom prst="ellipse">
            <a:avLst/>
          </a:prstGeom>
          <a:solidFill>
            <a:srgbClr val="8C64E1"/>
          </a:solidFill>
          <a:ln w="127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8" name="Connector 117"/>
          <p:cNvCxnSpPr/>
          <p:nvPr/>
        </p:nvCxnSpPr>
        <p:spPr>
          <a:xfrm>
            <a:off x="1005840" y="4535424"/>
            <a:ext cx="9747504" cy="0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or 118"/>
          <p:cNvCxnSpPr/>
          <p:nvPr/>
        </p:nvCxnSpPr>
        <p:spPr>
          <a:xfrm>
            <a:off x="1097280" y="3840480"/>
            <a:ext cx="0" cy="1399032"/>
          </a:xfrm>
          <a:prstGeom prst="line">
            <a:avLst/>
          </a:prstGeom>
          <a:ln w="1651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0" name="TextBox 119"/>
          <p:cNvSpPr txBox="1"/>
          <p:nvPr/>
        </p:nvSpPr>
        <p:spPr>
          <a:xfrm>
            <a:off x="1124712" y="3529584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0">
                <a:solidFill>
                  <a:srgbClr val="808080"/>
                </a:solidFill>
                <a:latin typeface="Alibaba PuHuiTi 3.0 55 Regular"/>
              </a:defRPr>
            </a:pPr>
            <a:r>
              <a:t>振幅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9838944" y="4654296"/>
            <a:ext cx="8229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0">
                <a:solidFill>
                  <a:srgbClr val="808080"/>
                </a:solidFill>
                <a:latin typeface="Alibaba PuHuiTi 3.0 55 Regular"/>
              </a:defRPr>
            </a:pPr>
            <a:r>
              <a:t>时间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1005840" y="3300984"/>
            <a:ext cx="9747504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t>采样点较多</a:t>
            </a:r>
          </a:p>
        </p:txBody>
      </p:sp>
      <p:cxnSp>
        <p:nvCxnSpPr>
          <p:cNvPr id="123" name="Connector 122"/>
          <p:cNvCxnSpPr/>
          <p:nvPr/>
        </p:nvCxnSpPr>
        <p:spPr>
          <a:xfrm flipV="1">
            <a:off x="1124712" y="4461761"/>
            <a:ext cx="91074" cy="5994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Connector 123"/>
          <p:cNvCxnSpPr/>
          <p:nvPr/>
        </p:nvCxnSpPr>
        <p:spPr>
          <a:xfrm flipV="1">
            <a:off x="1215786" y="4402580"/>
            <a:ext cx="91074" cy="5918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Connector 124"/>
          <p:cNvCxnSpPr/>
          <p:nvPr/>
        </p:nvCxnSpPr>
        <p:spPr>
          <a:xfrm flipV="1">
            <a:off x="1306860" y="4344922"/>
            <a:ext cx="91074" cy="5765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" name="Connector 125"/>
          <p:cNvCxnSpPr/>
          <p:nvPr/>
        </p:nvCxnSpPr>
        <p:spPr>
          <a:xfrm flipV="1">
            <a:off x="1397934" y="4289523"/>
            <a:ext cx="91074" cy="5539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" name="Connector 126"/>
          <p:cNvCxnSpPr/>
          <p:nvPr/>
        </p:nvCxnSpPr>
        <p:spPr>
          <a:xfrm flipV="1">
            <a:off x="1489008" y="4237090"/>
            <a:ext cx="91075" cy="5243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" name="Connector 127"/>
          <p:cNvCxnSpPr/>
          <p:nvPr/>
        </p:nvCxnSpPr>
        <p:spPr>
          <a:xfrm flipV="1">
            <a:off x="1580083" y="4188294"/>
            <a:ext cx="91074" cy="4879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" name="Connector 128"/>
          <p:cNvCxnSpPr/>
          <p:nvPr/>
        </p:nvCxnSpPr>
        <p:spPr>
          <a:xfrm flipV="1">
            <a:off x="1671157" y="4143758"/>
            <a:ext cx="91074" cy="4453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" name="Connector 129"/>
          <p:cNvCxnSpPr/>
          <p:nvPr/>
        </p:nvCxnSpPr>
        <p:spPr>
          <a:xfrm flipV="1">
            <a:off x="1762231" y="4104051"/>
            <a:ext cx="91074" cy="3970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Connector 130"/>
          <p:cNvCxnSpPr/>
          <p:nvPr/>
        </p:nvCxnSpPr>
        <p:spPr>
          <a:xfrm flipV="1">
            <a:off x="1853305" y="4069681"/>
            <a:ext cx="91075" cy="3437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Connector 131"/>
          <p:cNvCxnSpPr/>
          <p:nvPr/>
        </p:nvCxnSpPr>
        <p:spPr>
          <a:xfrm flipV="1">
            <a:off x="1944380" y="4041086"/>
            <a:ext cx="91074" cy="2859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3" name="Connector 132"/>
          <p:cNvCxnSpPr/>
          <p:nvPr/>
        </p:nvCxnSpPr>
        <p:spPr>
          <a:xfrm flipV="1">
            <a:off x="2035454" y="4018633"/>
            <a:ext cx="91074" cy="2245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Connector 133"/>
          <p:cNvCxnSpPr/>
          <p:nvPr/>
        </p:nvCxnSpPr>
        <p:spPr>
          <a:xfrm flipV="1">
            <a:off x="2126528" y="4002607"/>
            <a:ext cx="91074" cy="1602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Connector 134"/>
          <p:cNvCxnSpPr/>
          <p:nvPr/>
        </p:nvCxnSpPr>
        <p:spPr>
          <a:xfrm flipV="1">
            <a:off x="2217602" y="3993214"/>
            <a:ext cx="91075" cy="939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Connector 135"/>
          <p:cNvCxnSpPr/>
          <p:nvPr/>
        </p:nvCxnSpPr>
        <p:spPr>
          <a:xfrm flipV="1">
            <a:off x="2308677" y="3990574"/>
            <a:ext cx="91074" cy="264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Connector 136"/>
          <p:cNvCxnSpPr/>
          <p:nvPr/>
        </p:nvCxnSpPr>
        <p:spPr>
          <a:xfrm>
            <a:off x="2399751" y="3990574"/>
            <a:ext cx="91074" cy="414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Connector 137"/>
          <p:cNvCxnSpPr/>
          <p:nvPr/>
        </p:nvCxnSpPr>
        <p:spPr>
          <a:xfrm>
            <a:off x="2490825" y="3994721"/>
            <a:ext cx="91074" cy="1088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" name="Connector 138"/>
          <p:cNvCxnSpPr/>
          <p:nvPr/>
        </p:nvCxnSpPr>
        <p:spPr>
          <a:xfrm>
            <a:off x="2581899" y="4005601"/>
            <a:ext cx="91075" cy="1747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" name="Connector 139"/>
          <p:cNvCxnSpPr/>
          <p:nvPr/>
        </p:nvCxnSpPr>
        <p:spPr>
          <a:xfrm>
            <a:off x="2672974" y="4023076"/>
            <a:ext cx="91074" cy="2384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Connector 140"/>
          <p:cNvCxnSpPr/>
          <p:nvPr/>
        </p:nvCxnSpPr>
        <p:spPr>
          <a:xfrm>
            <a:off x="2764048" y="4046921"/>
            <a:ext cx="91074" cy="2991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2" name="Connector 141"/>
          <p:cNvCxnSpPr/>
          <p:nvPr/>
        </p:nvCxnSpPr>
        <p:spPr>
          <a:xfrm>
            <a:off x="2855122" y="4076834"/>
            <a:ext cx="91074" cy="3559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3" name="Connector 142"/>
          <p:cNvCxnSpPr/>
          <p:nvPr/>
        </p:nvCxnSpPr>
        <p:spPr>
          <a:xfrm>
            <a:off x="2946196" y="4112430"/>
            <a:ext cx="91075" cy="4082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4" name="Connector 143"/>
          <p:cNvCxnSpPr/>
          <p:nvPr/>
        </p:nvCxnSpPr>
        <p:spPr>
          <a:xfrm>
            <a:off x="3037271" y="4153256"/>
            <a:ext cx="91074" cy="4553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5" name="Connector 144"/>
          <p:cNvCxnSpPr/>
          <p:nvPr/>
        </p:nvCxnSpPr>
        <p:spPr>
          <a:xfrm>
            <a:off x="3128345" y="4198790"/>
            <a:ext cx="91074" cy="4966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6" name="Connector 145"/>
          <p:cNvCxnSpPr/>
          <p:nvPr/>
        </p:nvCxnSpPr>
        <p:spPr>
          <a:xfrm>
            <a:off x="3219419" y="4248450"/>
            <a:ext cx="91074" cy="5315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7" name="Connector 146"/>
          <p:cNvCxnSpPr/>
          <p:nvPr/>
        </p:nvCxnSpPr>
        <p:spPr>
          <a:xfrm>
            <a:off x="3310493" y="4301602"/>
            <a:ext cx="91075" cy="5596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8" name="Connector 147"/>
          <p:cNvCxnSpPr/>
          <p:nvPr/>
        </p:nvCxnSpPr>
        <p:spPr>
          <a:xfrm>
            <a:off x="3401568" y="4357565"/>
            <a:ext cx="91074" cy="5806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9" name="Connector 148"/>
          <p:cNvCxnSpPr/>
          <p:nvPr/>
        </p:nvCxnSpPr>
        <p:spPr>
          <a:xfrm>
            <a:off x="3492642" y="4415627"/>
            <a:ext cx="91074" cy="5941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0" name="Connector 149"/>
          <p:cNvCxnSpPr/>
          <p:nvPr/>
        </p:nvCxnSpPr>
        <p:spPr>
          <a:xfrm>
            <a:off x="3583716" y="4475043"/>
            <a:ext cx="91074" cy="6001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1" name="Connector 150"/>
          <p:cNvCxnSpPr/>
          <p:nvPr/>
        </p:nvCxnSpPr>
        <p:spPr>
          <a:xfrm>
            <a:off x="3674790" y="4535056"/>
            <a:ext cx="91074" cy="5984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2" name="Connector 151"/>
          <p:cNvCxnSpPr/>
          <p:nvPr/>
        </p:nvCxnSpPr>
        <p:spPr>
          <a:xfrm>
            <a:off x="3765864" y="4594898"/>
            <a:ext cx="91075" cy="5890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" name="Connector 152"/>
          <p:cNvCxnSpPr/>
          <p:nvPr/>
        </p:nvCxnSpPr>
        <p:spPr>
          <a:xfrm>
            <a:off x="3856939" y="4653805"/>
            <a:ext cx="91074" cy="5722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4" name="Connector 153"/>
          <p:cNvCxnSpPr/>
          <p:nvPr/>
        </p:nvCxnSpPr>
        <p:spPr>
          <a:xfrm>
            <a:off x="3948013" y="4711025"/>
            <a:ext cx="91074" cy="5480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5" name="Connector 154"/>
          <p:cNvCxnSpPr/>
          <p:nvPr/>
        </p:nvCxnSpPr>
        <p:spPr>
          <a:xfrm>
            <a:off x="4039087" y="4765825"/>
            <a:ext cx="91074" cy="5168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6" name="Connector 155"/>
          <p:cNvCxnSpPr/>
          <p:nvPr/>
        </p:nvCxnSpPr>
        <p:spPr>
          <a:xfrm>
            <a:off x="4130161" y="4817506"/>
            <a:ext cx="91075" cy="4790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7" name="Connector 156"/>
          <p:cNvCxnSpPr/>
          <p:nvPr/>
        </p:nvCxnSpPr>
        <p:spPr>
          <a:xfrm>
            <a:off x="4221236" y="4865407"/>
            <a:ext cx="91074" cy="4351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8" name="Connector 157"/>
          <p:cNvCxnSpPr/>
          <p:nvPr/>
        </p:nvCxnSpPr>
        <p:spPr>
          <a:xfrm>
            <a:off x="4312310" y="4908917"/>
            <a:ext cx="91074" cy="3856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9" name="Connector 158"/>
          <p:cNvCxnSpPr/>
          <p:nvPr/>
        </p:nvCxnSpPr>
        <p:spPr>
          <a:xfrm>
            <a:off x="4403384" y="4947480"/>
            <a:ext cx="91074" cy="3312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0" name="Connector 159"/>
          <p:cNvCxnSpPr/>
          <p:nvPr/>
        </p:nvCxnSpPr>
        <p:spPr>
          <a:xfrm>
            <a:off x="4494458" y="4980602"/>
            <a:ext cx="91075" cy="2725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1" name="Connector 160"/>
          <p:cNvCxnSpPr/>
          <p:nvPr/>
        </p:nvCxnSpPr>
        <p:spPr>
          <a:xfrm>
            <a:off x="4585533" y="5007861"/>
            <a:ext cx="91074" cy="2104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2" name="Connector 161"/>
          <p:cNvCxnSpPr/>
          <p:nvPr/>
        </p:nvCxnSpPr>
        <p:spPr>
          <a:xfrm>
            <a:off x="4676607" y="5028908"/>
            <a:ext cx="91074" cy="1456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3" name="Connector 162"/>
          <p:cNvCxnSpPr/>
          <p:nvPr/>
        </p:nvCxnSpPr>
        <p:spPr>
          <a:xfrm>
            <a:off x="4767681" y="5043474"/>
            <a:ext cx="91074" cy="789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4" name="Connector 163"/>
          <p:cNvCxnSpPr/>
          <p:nvPr/>
        </p:nvCxnSpPr>
        <p:spPr>
          <a:xfrm>
            <a:off x="4858755" y="5051373"/>
            <a:ext cx="91075" cy="113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5" name="Connector 164"/>
          <p:cNvCxnSpPr/>
          <p:nvPr/>
        </p:nvCxnSpPr>
        <p:spPr>
          <a:xfrm flipV="1">
            <a:off x="4949830" y="5046855"/>
            <a:ext cx="91074" cy="565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6" name="Connector 165"/>
          <p:cNvCxnSpPr/>
          <p:nvPr/>
        </p:nvCxnSpPr>
        <p:spPr>
          <a:xfrm flipV="1">
            <a:off x="5040904" y="5034494"/>
            <a:ext cx="91074" cy="1236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7" name="Connector 166"/>
          <p:cNvCxnSpPr/>
          <p:nvPr/>
        </p:nvCxnSpPr>
        <p:spPr>
          <a:xfrm flipV="1">
            <a:off x="5131978" y="5015581"/>
            <a:ext cx="91074" cy="1891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8" name="Connector 167"/>
          <p:cNvCxnSpPr/>
          <p:nvPr/>
        </p:nvCxnSpPr>
        <p:spPr>
          <a:xfrm flipV="1">
            <a:off x="5223052" y="4990359"/>
            <a:ext cx="91075" cy="2522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9" name="Connector 168"/>
          <p:cNvCxnSpPr/>
          <p:nvPr/>
        </p:nvCxnSpPr>
        <p:spPr>
          <a:xfrm flipV="1">
            <a:off x="5314127" y="4959147"/>
            <a:ext cx="91074" cy="3121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0" name="Connector 169"/>
          <p:cNvCxnSpPr/>
          <p:nvPr/>
        </p:nvCxnSpPr>
        <p:spPr>
          <a:xfrm flipV="1">
            <a:off x="5405201" y="4922347"/>
            <a:ext cx="91074" cy="3680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1" name="Connector 170"/>
          <p:cNvCxnSpPr/>
          <p:nvPr/>
        </p:nvCxnSpPr>
        <p:spPr>
          <a:xfrm flipV="1">
            <a:off x="5496275" y="4880427"/>
            <a:ext cx="91074" cy="4192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2" name="Connector 171"/>
          <p:cNvCxnSpPr/>
          <p:nvPr/>
        </p:nvCxnSpPr>
        <p:spPr>
          <a:xfrm flipV="1">
            <a:off x="5587349" y="4833924"/>
            <a:ext cx="91075" cy="4650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3" name="Connector 172"/>
          <p:cNvCxnSpPr/>
          <p:nvPr/>
        </p:nvCxnSpPr>
        <p:spPr>
          <a:xfrm flipV="1">
            <a:off x="5678424" y="4783432"/>
            <a:ext cx="91074" cy="5049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" name="Connector 173"/>
          <p:cNvCxnSpPr/>
          <p:nvPr/>
        </p:nvCxnSpPr>
        <p:spPr>
          <a:xfrm flipV="1">
            <a:off x="5769498" y="4729595"/>
            <a:ext cx="91074" cy="5383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5" name="Connector 174"/>
          <p:cNvCxnSpPr/>
          <p:nvPr/>
        </p:nvCxnSpPr>
        <p:spPr>
          <a:xfrm flipV="1">
            <a:off x="5860572" y="4673103"/>
            <a:ext cx="91074" cy="5649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6" name="Connector 175"/>
          <p:cNvCxnSpPr/>
          <p:nvPr/>
        </p:nvCxnSpPr>
        <p:spPr>
          <a:xfrm flipV="1">
            <a:off x="5951646" y="4614675"/>
            <a:ext cx="91074" cy="5842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7" name="Connector 176"/>
          <p:cNvCxnSpPr/>
          <p:nvPr/>
        </p:nvCxnSpPr>
        <p:spPr>
          <a:xfrm flipV="1">
            <a:off x="6042720" y="4555060"/>
            <a:ext cx="91075" cy="5961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8" name="Connector 177"/>
          <p:cNvCxnSpPr/>
          <p:nvPr/>
        </p:nvCxnSpPr>
        <p:spPr>
          <a:xfrm flipV="1">
            <a:off x="6133795" y="4495019"/>
            <a:ext cx="91074" cy="6004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9" name="Connector 178"/>
          <p:cNvCxnSpPr/>
          <p:nvPr/>
        </p:nvCxnSpPr>
        <p:spPr>
          <a:xfrm flipV="1">
            <a:off x="6224869" y="4435319"/>
            <a:ext cx="91074" cy="5970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0" name="Connector 179"/>
          <p:cNvCxnSpPr/>
          <p:nvPr/>
        </p:nvCxnSpPr>
        <p:spPr>
          <a:xfrm flipV="1">
            <a:off x="6315943" y="4376722"/>
            <a:ext cx="91074" cy="5859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1" name="Connector 180"/>
          <p:cNvCxnSpPr/>
          <p:nvPr/>
        </p:nvCxnSpPr>
        <p:spPr>
          <a:xfrm flipV="1">
            <a:off x="6407017" y="4319978"/>
            <a:ext cx="91075" cy="5674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2" name="Connector 181"/>
          <p:cNvCxnSpPr/>
          <p:nvPr/>
        </p:nvCxnSpPr>
        <p:spPr>
          <a:xfrm flipV="1">
            <a:off x="6498092" y="4265812"/>
            <a:ext cx="91074" cy="5416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3" name="Connector 182"/>
          <p:cNvCxnSpPr/>
          <p:nvPr/>
        </p:nvCxnSpPr>
        <p:spPr>
          <a:xfrm flipV="1">
            <a:off x="6589166" y="4214915"/>
            <a:ext cx="91074" cy="5089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4" name="Connector 183"/>
          <p:cNvCxnSpPr/>
          <p:nvPr/>
        </p:nvCxnSpPr>
        <p:spPr>
          <a:xfrm flipV="1">
            <a:off x="6680240" y="4167939"/>
            <a:ext cx="91074" cy="4697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5" name="Connector 184"/>
          <p:cNvCxnSpPr/>
          <p:nvPr/>
        </p:nvCxnSpPr>
        <p:spPr>
          <a:xfrm flipV="1">
            <a:off x="6771314" y="4125482"/>
            <a:ext cx="91075" cy="4245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6" name="Connector 185"/>
          <p:cNvCxnSpPr/>
          <p:nvPr/>
        </p:nvCxnSpPr>
        <p:spPr>
          <a:xfrm flipV="1">
            <a:off x="6862389" y="4088089"/>
            <a:ext cx="91074" cy="3739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7" name="Connector 186"/>
          <p:cNvCxnSpPr/>
          <p:nvPr/>
        </p:nvCxnSpPr>
        <p:spPr>
          <a:xfrm flipV="1">
            <a:off x="6953463" y="4056235"/>
            <a:ext cx="91074" cy="3185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8" name="Connector 187"/>
          <p:cNvCxnSpPr/>
          <p:nvPr/>
        </p:nvCxnSpPr>
        <p:spPr>
          <a:xfrm flipV="1">
            <a:off x="7044537" y="4030330"/>
            <a:ext cx="91074" cy="2590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9" name="Connector 188"/>
          <p:cNvCxnSpPr/>
          <p:nvPr/>
        </p:nvCxnSpPr>
        <p:spPr>
          <a:xfrm flipV="1">
            <a:off x="7135611" y="4010702"/>
            <a:ext cx="91075" cy="1962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0" name="Connector 189"/>
          <p:cNvCxnSpPr/>
          <p:nvPr/>
        </p:nvCxnSpPr>
        <p:spPr>
          <a:xfrm flipV="1">
            <a:off x="7226686" y="3997605"/>
            <a:ext cx="91074" cy="1309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1" name="Connector 190"/>
          <p:cNvCxnSpPr/>
          <p:nvPr/>
        </p:nvCxnSpPr>
        <p:spPr>
          <a:xfrm flipV="1">
            <a:off x="7317760" y="3991203"/>
            <a:ext cx="91074" cy="640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2" name="Connector 191"/>
          <p:cNvCxnSpPr/>
          <p:nvPr/>
        </p:nvCxnSpPr>
        <p:spPr>
          <a:xfrm>
            <a:off x="7408834" y="3991203"/>
            <a:ext cx="91074" cy="37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3" name="Connector 192"/>
          <p:cNvCxnSpPr/>
          <p:nvPr/>
        </p:nvCxnSpPr>
        <p:spPr>
          <a:xfrm>
            <a:off x="7499908" y="3991581"/>
            <a:ext cx="91075" cy="715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4" name="Connector 193"/>
          <p:cNvCxnSpPr/>
          <p:nvPr/>
        </p:nvCxnSpPr>
        <p:spPr>
          <a:xfrm>
            <a:off x="7590983" y="3998732"/>
            <a:ext cx="91074" cy="1383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5" name="Connector 194"/>
          <p:cNvCxnSpPr/>
          <p:nvPr/>
        </p:nvCxnSpPr>
        <p:spPr>
          <a:xfrm>
            <a:off x="7682057" y="4012565"/>
            <a:ext cx="91074" cy="2033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6" name="Connector 195"/>
          <p:cNvCxnSpPr/>
          <p:nvPr/>
        </p:nvCxnSpPr>
        <p:spPr>
          <a:xfrm>
            <a:off x="7773131" y="4032903"/>
            <a:ext cx="91074" cy="2658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7" name="Connector 196"/>
          <p:cNvCxnSpPr/>
          <p:nvPr/>
        </p:nvCxnSpPr>
        <p:spPr>
          <a:xfrm>
            <a:off x="7864205" y="4059488"/>
            <a:ext cx="91075" cy="3249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8" name="Connector 197"/>
          <p:cNvCxnSpPr/>
          <p:nvPr/>
        </p:nvCxnSpPr>
        <p:spPr>
          <a:xfrm>
            <a:off x="7955280" y="4091978"/>
            <a:ext cx="91074" cy="3798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9" name="Connector 198"/>
          <p:cNvCxnSpPr/>
          <p:nvPr/>
        </p:nvCxnSpPr>
        <p:spPr>
          <a:xfrm>
            <a:off x="8046354" y="4129959"/>
            <a:ext cx="91074" cy="4298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0" name="Connector 199"/>
          <p:cNvCxnSpPr/>
          <p:nvPr/>
        </p:nvCxnSpPr>
        <p:spPr>
          <a:xfrm>
            <a:off x="8137428" y="4172946"/>
            <a:ext cx="91074" cy="4744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1" name="Connector 200"/>
          <p:cNvCxnSpPr/>
          <p:nvPr/>
        </p:nvCxnSpPr>
        <p:spPr>
          <a:xfrm>
            <a:off x="8228502" y="4220388"/>
            <a:ext cx="91074" cy="5129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2" name="Connector 201"/>
          <p:cNvCxnSpPr/>
          <p:nvPr/>
        </p:nvCxnSpPr>
        <p:spPr>
          <a:xfrm>
            <a:off x="8319576" y="4271681"/>
            <a:ext cx="91075" cy="5448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3" name="Connector 202"/>
          <p:cNvCxnSpPr/>
          <p:nvPr/>
        </p:nvCxnSpPr>
        <p:spPr>
          <a:xfrm>
            <a:off x="8410651" y="4326169"/>
            <a:ext cx="91074" cy="5698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4" name="Connector 203"/>
          <p:cNvCxnSpPr/>
          <p:nvPr/>
        </p:nvCxnSpPr>
        <p:spPr>
          <a:xfrm>
            <a:off x="8501725" y="4383155"/>
            <a:ext cx="91074" cy="5875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5" name="Connector 204"/>
          <p:cNvCxnSpPr/>
          <p:nvPr/>
        </p:nvCxnSpPr>
        <p:spPr>
          <a:xfrm>
            <a:off x="8592799" y="4441911"/>
            <a:ext cx="91074" cy="5977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6" name="Connector 205"/>
          <p:cNvCxnSpPr/>
          <p:nvPr/>
        </p:nvCxnSpPr>
        <p:spPr>
          <a:xfrm>
            <a:off x="8683873" y="4501687"/>
            <a:ext cx="91075" cy="6003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7" name="Connector 206"/>
          <p:cNvCxnSpPr/>
          <p:nvPr/>
        </p:nvCxnSpPr>
        <p:spPr>
          <a:xfrm>
            <a:off x="8774948" y="4561719"/>
            <a:ext cx="91074" cy="5952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8" name="Connector 207"/>
          <p:cNvCxnSpPr/>
          <p:nvPr/>
        </p:nvCxnSpPr>
        <p:spPr>
          <a:xfrm>
            <a:off x="8866022" y="4621240"/>
            <a:ext cx="91074" cy="5824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9" name="Connector 208"/>
          <p:cNvCxnSpPr/>
          <p:nvPr/>
        </p:nvCxnSpPr>
        <p:spPr>
          <a:xfrm>
            <a:off x="8957096" y="4679489"/>
            <a:ext cx="91074" cy="5623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0" name="Connector 209"/>
          <p:cNvCxnSpPr/>
          <p:nvPr/>
        </p:nvCxnSpPr>
        <p:spPr>
          <a:xfrm>
            <a:off x="9048170" y="4735721"/>
            <a:ext cx="91075" cy="5349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1" name="Connector 210"/>
          <p:cNvCxnSpPr/>
          <p:nvPr/>
        </p:nvCxnSpPr>
        <p:spPr>
          <a:xfrm>
            <a:off x="9139245" y="4789220"/>
            <a:ext cx="91074" cy="5008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2" name="Connector 211"/>
          <p:cNvCxnSpPr/>
          <p:nvPr/>
        </p:nvCxnSpPr>
        <p:spPr>
          <a:xfrm>
            <a:off x="9230319" y="4839300"/>
            <a:ext cx="91074" cy="4602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3" name="Connector 212"/>
          <p:cNvCxnSpPr/>
          <p:nvPr/>
        </p:nvCxnSpPr>
        <p:spPr>
          <a:xfrm>
            <a:off x="9321393" y="4885322"/>
            <a:ext cx="91074" cy="4137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4" name="Connector 213"/>
          <p:cNvCxnSpPr/>
          <p:nvPr/>
        </p:nvCxnSpPr>
        <p:spPr>
          <a:xfrm>
            <a:off x="9412467" y="4926698"/>
            <a:ext cx="91075" cy="3620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5" name="Connector 214"/>
          <p:cNvCxnSpPr/>
          <p:nvPr/>
        </p:nvCxnSpPr>
        <p:spPr>
          <a:xfrm>
            <a:off x="9503542" y="4962899"/>
            <a:ext cx="91074" cy="3056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6" name="Connector 215"/>
          <p:cNvCxnSpPr/>
          <p:nvPr/>
        </p:nvCxnSpPr>
        <p:spPr>
          <a:xfrm>
            <a:off x="9594616" y="4993463"/>
            <a:ext cx="91074" cy="2453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7" name="Connector 216"/>
          <p:cNvCxnSpPr/>
          <p:nvPr/>
        </p:nvCxnSpPr>
        <p:spPr>
          <a:xfrm>
            <a:off x="9685690" y="5018000"/>
            <a:ext cx="91074" cy="1819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8" name="Connector 217"/>
          <p:cNvCxnSpPr/>
          <p:nvPr/>
        </p:nvCxnSpPr>
        <p:spPr>
          <a:xfrm>
            <a:off x="9776764" y="5036195"/>
            <a:ext cx="91075" cy="1162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9" name="Connector 218"/>
          <p:cNvCxnSpPr/>
          <p:nvPr/>
        </p:nvCxnSpPr>
        <p:spPr>
          <a:xfrm>
            <a:off x="9867839" y="5047816"/>
            <a:ext cx="91074" cy="489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0" name="Connector 219"/>
          <p:cNvCxnSpPr/>
          <p:nvPr/>
        </p:nvCxnSpPr>
        <p:spPr>
          <a:xfrm flipV="1">
            <a:off x="9958913" y="5050829"/>
            <a:ext cx="91074" cy="188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1" name="Connector 220"/>
          <p:cNvCxnSpPr/>
          <p:nvPr/>
        </p:nvCxnSpPr>
        <p:spPr>
          <a:xfrm flipV="1">
            <a:off x="10049987" y="5042182"/>
            <a:ext cx="91074" cy="864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2" name="Connector 221"/>
          <p:cNvCxnSpPr/>
          <p:nvPr/>
        </p:nvCxnSpPr>
        <p:spPr>
          <a:xfrm flipV="1">
            <a:off x="10141061" y="5026885"/>
            <a:ext cx="91075" cy="1529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3" name="Oval 222"/>
          <p:cNvSpPr/>
          <p:nvPr/>
        </p:nvSpPr>
        <p:spPr>
          <a:xfrm>
            <a:off x="1063447" y="4460443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Oval 223"/>
          <p:cNvSpPr/>
          <p:nvPr/>
        </p:nvSpPr>
        <p:spPr>
          <a:xfrm>
            <a:off x="1518818" y="4175825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Oval 224"/>
          <p:cNvSpPr/>
          <p:nvPr/>
        </p:nvSpPr>
        <p:spPr>
          <a:xfrm>
            <a:off x="1974189" y="3979821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Oval 225"/>
          <p:cNvSpPr/>
          <p:nvPr/>
        </p:nvSpPr>
        <p:spPr>
          <a:xfrm>
            <a:off x="2429560" y="3933456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Oval 226"/>
          <p:cNvSpPr/>
          <p:nvPr/>
        </p:nvSpPr>
        <p:spPr>
          <a:xfrm>
            <a:off x="2884932" y="4051165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Oval 227"/>
          <p:cNvSpPr/>
          <p:nvPr/>
        </p:nvSpPr>
        <p:spPr>
          <a:xfrm>
            <a:off x="3340303" y="4296301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Oval 228"/>
          <p:cNvSpPr/>
          <p:nvPr/>
        </p:nvSpPr>
        <p:spPr>
          <a:xfrm>
            <a:off x="3795674" y="4592541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Oval 229"/>
          <p:cNvSpPr/>
          <p:nvPr/>
        </p:nvSpPr>
        <p:spPr>
          <a:xfrm>
            <a:off x="4251045" y="4847653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Oval 230"/>
          <p:cNvSpPr/>
          <p:nvPr/>
        </p:nvSpPr>
        <p:spPr>
          <a:xfrm>
            <a:off x="4706416" y="4982209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Oval 231"/>
          <p:cNvSpPr/>
          <p:nvPr/>
        </p:nvSpPr>
        <p:spPr>
          <a:xfrm>
            <a:off x="5161788" y="4954317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Oval 232"/>
          <p:cNvSpPr/>
          <p:nvPr/>
        </p:nvSpPr>
        <p:spPr>
          <a:xfrm>
            <a:off x="5617159" y="4772660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Oval 233"/>
          <p:cNvSpPr/>
          <p:nvPr/>
        </p:nvSpPr>
        <p:spPr>
          <a:xfrm>
            <a:off x="6072530" y="4493795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Oval 234"/>
          <p:cNvSpPr/>
          <p:nvPr/>
        </p:nvSpPr>
        <p:spPr>
          <a:xfrm>
            <a:off x="6527901" y="4204547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Oval 235"/>
          <p:cNvSpPr/>
          <p:nvPr/>
        </p:nvSpPr>
        <p:spPr>
          <a:xfrm>
            <a:off x="6983272" y="3994971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Oval 236"/>
          <p:cNvSpPr/>
          <p:nvPr/>
        </p:nvSpPr>
        <p:spPr>
          <a:xfrm>
            <a:off x="7438644" y="3930316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Oval 237"/>
          <p:cNvSpPr/>
          <p:nvPr/>
        </p:nvSpPr>
        <p:spPr>
          <a:xfrm>
            <a:off x="7894015" y="4030713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Oval 238"/>
          <p:cNvSpPr/>
          <p:nvPr/>
        </p:nvSpPr>
        <p:spPr>
          <a:xfrm>
            <a:off x="8349386" y="4264904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Oval 239"/>
          <p:cNvSpPr/>
          <p:nvPr/>
        </p:nvSpPr>
        <p:spPr>
          <a:xfrm>
            <a:off x="8804757" y="4559975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Oval 240"/>
          <p:cNvSpPr/>
          <p:nvPr/>
        </p:nvSpPr>
        <p:spPr>
          <a:xfrm>
            <a:off x="9260128" y="4824057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Oval 241"/>
          <p:cNvSpPr/>
          <p:nvPr/>
        </p:nvSpPr>
        <p:spPr>
          <a:xfrm>
            <a:off x="9715500" y="4974930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TextBox 242"/>
          <p:cNvSpPr txBox="1"/>
          <p:nvPr/>
        </p:nvSpPr>
        <p:spPr>
          <a:xfrm>
            <a:off x="777240" y="5961888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每秒记录的次数变多；数据量也会随之增加。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采样点的值，可能是3.71这样的数。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868680" y="3346704"/>
            <a:ext cx="10149839" cy="0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960120" y="1956816"/>
            <a:ext cx="0" cy="2788920"/>
          </a:xfrm>
          <a:prstGeom prst="line">
            <a:avLst/>
          </a:prstGeom>
          <a:ln w="1651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87552" y="1645920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0">
                <a:solidFill>
                  <a:srgbClr val="808080"/>
                </a:solidFill>
                <a:latin typeface="Alibaba PuHuiTi 3.0 55 Regular"/>
              </a:defRPr>
            </a:pPr>
            <a:r>
              <a:t>振幅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104119" y="3465576"/>
            <a:ext cx="8229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0">
                <a:solidFill>
                  <a:srgbClr val="808080"/>
                </a:solidFill>
                <a:latin typeface="Alibaba PuHuiTi 3.0 55 Regular"/>
              </a:defRPr>
            </a:pPr>
            <a:r>
              <a:t>时间</a:t>
            </a:r>
          </a:p>
        </p:txBody>
      </p:sp>
      <p:cxnSp>
        <p:nvCxnSpPr>
          <p:cNvPr id="9" name="Connector 8"/>
          <p:cNvCxnSpPr/>
          <p:nvPr/>
        </p:nvCxnSpPr>
        <p:spPr>
          <a:xfrm flipV="1">
            <a:off x="1005840" y="3235877"/>
            <a:ext cx="93451" cy="9711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1099291" y="3139629"/>
            <a:ext cx="93452" cy="9624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1192743" y="3045096"/>
            <a:ext cx="93452" cy="9453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1286195" y="2953120"/>
            <a:ext cx="93451" cy="9197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1379646" y="2864515"/>
            <a:ext cx="93452" cy="8860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1473098" y="2780068"/>
            <a:ext cx="93452" cy="8444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1566550" y="2700528"/>
            <a:ext cx="93451" cy="7954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1660001" y="2626603"/>
            <a:ext cx="93452" cy="7392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1753453" y="2558948"/>
            <a:ext cx="93452" cy="6765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1846905" y="2498163"/>
            <a:ext cx="93451" cy="6078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1940356" y="2444787"/>
            <a:ext cx="93452" cy="5337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2033808" y="2399296"/>
            <a:ext cx="93452" cy="4549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2127260" y="2362092"/>
            <a:ext cx="93451" cy="3720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2220711" y="2333506"/>
            <a:ext cx="93452" cy="2858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2314163" y="2313792"/>
            <a:ext cx="93452" cy="1971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2407615" y="2303123"/>
            <a:ext cx="93451" cy="1066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2501066" y="2301596"/>
            <a:ext cx="93452" cy="152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2594518" y="2301596"/>
            <a:ext cx="93452" cy="762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2687970" y="2309224"/>
            <a:ext cx="93451" cy="1671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2781421" y="2325939"/>
            <a:ext cx="93452" cy="2565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2874873" y="2351592"/>
            <a:ext cx="93452" cy="3436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2968325" y="2385956"/>
            <a:ext cx="93451" cy="4277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3061776" y="2428726"/>
            <a:ext cx="93452" cy="5079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3155228" y="2479523"/>
            <a:ext cx="93452" cy="5837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3248680" y="2537895"/>
            <a:ext cx="93452" cy="6542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3342132" y="2603324"/>
            <a:ext cx="93451" cy="7190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3435583" y="2675229"/>
            <a:ext cx="93452" cy="7774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3529035" y="2752973"/>
            <a:ext cx="93452" cy="8289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3622487" y="2835866"/>
            <a:ext cx="93451" cy="8730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3715938" y="2923170"/>
            <a:ext cx="93452" cy="9094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3809390" y="3014113"/>
            <a:ext cx="93452" cy="9377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3902842" y="3107885"/>
            <a:ext cx="93451" cy="9577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3996293" y="3203656"/>
            <a:ext cx="93452" cy="9691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4089745" y="3300575"/>
            <a:ext cx="93452" cy="9720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4183197" y="3397781"/>
            <a:ext cx="93451" cy="9663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4276648" y="3494412"/>
            <a:ext cx="93452" cy="9519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4370100" y="3589611"/>
            <a:ext cx="93452" cy="9292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4463552" y="3682531"/>
            <a:ext cx="93451" cy="8981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4557003" y="3772349"/>
            <a:ext cx="93452" cy="8591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4650455" y="3858268"/>
            <a:ext cx="93452" cy="8125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4743907" y="3939523"/>
            <a:ext cx="93451" cy="7587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4837358" y="4015395"/>
            <a:ext cx="93452" cy="6981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4930810" y="4085211"/>
            <a:ext cx="93452" cy="6313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5024262" y="4148349"/>
            <a:ext cx="93451" cy="5590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5117713" y="4204250"/>
            <a:ext cx="93452" cy="4816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5211165" y="4252417"/>
            <a:ext cx="93452" cy="4000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5304617" y="4292424"/>
            <a:ext cx="93451" cy="3149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5398068" y="4323915"/>
            <a:ext cx="93452" cy="2269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5491520" y="4346610"/>
            <a:ext cx="93452" cy="1369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5584972" y="4360308"/>
            <a:ext cx="93452" cy="458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 flipV="1">
            <a:off x="5678424" y="4360308"/>
            <a:ext cx="93451" cy="458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V="1">
            <a:off x="5771875" y="4346610"/>
            <a:ext cx="93452" cy="1369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V="1">
            <a:off x="5865327" y="4323915"/>
            <a:ext cx="93452" cy="2269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 flipV="1">
            <a:off x="5958779" y="4292424"/>
            <a:ext cx="93451" cy="3149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 flipV="1">
            <a:off x="6052230" y="4252417"/>
            <a:ext cx="93452" cy="4000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V="1">
            <a:off x="6145682" y="4204250"/>
            <a:ext cx="93452" cy="4816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 flipV="1">
            <a:off x="6239134" y="4148349"/>
            <a:ext cx="93451" cy="5590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 flipV="1">
            <a:off x="6332585" y="4085211"/>
            <a:ext cx="93452" cy="6313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V="1">
            <a:off x="6426037" y="4015395"/>
            <a:ext cx="93452" cy="6981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 flipV="1">
            <a:off x="6519489" y="3939523"/>
            <a:ext cx="93451" cy="7587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V="1">
            <a:off x="6612940" y="3858268"/>
            <a:ext cx="93452" cy="8125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 flipV="1">
            <a:off x="6706392" y="3772349"/>
            <a:ext cx="93452" cy="8591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 flipV="1">
            <a:off x="6799844" y="3682531"/>
            <a:ext cx="93451" cy="8981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 flipV="1">
            <a:off x="6893295" y="3589611"/>
            <a:ext cx="93452" cy="9292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 flipV="1">
            <a:off x="6986747" y="3494412"/>
            <a:ext cx="93452" cy="9519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 flipV="1">
            <a:off x="7080199" y="3397781"/>
            <a:ext cx="93451" cy="9663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 flipV="1">
            <a:off x="7173650" y="3300575"/>
            <a:ext cx="93452" cy="9720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 flipV="1">
            <a:off x="7267102" y="3203656"/>
            <a:ext cx="93452" cy="9691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 flipV="1">
            <a:off x="7360554" y="3107885"/>
            <a:ext cx="93451" cy="9577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 flipV="1">
            <a:off x="7454005" y="3014113"/>
            <a:ext cx="93452" cy="9377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 flipV="1">
            <a:off x="7547457" y="2923170"/>
            <a:ext cx="93452" cy="9094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 flipV="1">
            <a:off x="7640909" y="2835866"/>
            <a:ext cx="93451" cy="8730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 flipV="1">
            <a:off x="7734360" y="2752973"/>
            <a:ext cx="93452" cy="8289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 flipV="1">
            <a:off x="7827812" y="2675229"/>
            <a:ext cx="93452" cy="7774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 flipV="1">
            <a:off x="7921264" y="2603324"/>
            <a:ext cx="93452" cy="7190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 flipV="1">
            <a:off x="8014716" y="2537895"/>
            <a:ext cx="93451" cy="6542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 flipV="1">
            <a:off x="8108167" y="2479523"/>
            <a:ext cx="93452" cy="5837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 flipV="1">
            <a:off x="8201619" y="2428726"/>
            <a:ext cx="93452" cy="5079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 flipV="1">
            <a:off x="8295071" y="2385956"/>
            <a:ext cx="93451" cy="4277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 flipV="1">
            <a:off x="8388522" y="2351592"/>
            <a:ext cx="93452" cy="3436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 flipV="1">
            <a:off x="8481974" y="2325939"/>
            <a:ext cx="93452" cy="2565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 flipV="1">
            <a:off x="8575426" y="2309224"/>
            <a:ext cx="93451" cy="1671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 flipV="1">
            <a:off x="8668877" y="2301596"/>
            <a:ext cx="93452" cy="762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>
            <a:off x="8762329" y="2301596"/>
            <a:ext cx="93452" cy="152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>
            <a:off x="8855781" y="2303123"/>
            <a:ext cx="93451" cy="1066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>
            <a:off x="8949232" y="2313792"/>
            <a:ext cx="93452" cy="1971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>
            <a:off x="9042684" y="2333506"/>
            <a:ext cx="93452" cy="2858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>
            <a:off x="9136136" y="2362092"/>
            <a:ext cx="93451" cy="3720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>
            <a:off x="9229587" y="2399296"/>
            <a:ext cx="93452" cy="4549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>
            <a:off x="9323039" y="2444787"/>
            <a:ext cx="93452" cy="5337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>
            <a:off x="9416491" y="2498163"/>
            <a:ext cx="93451" cy="6078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>
            <a:off x="9509942" y="2558948"/>
            <a:ext cx="93452" cy="6765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>
            <a:off x="9603394" y="2626603"/>
            <a:ext cx="93452" cy="7392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>
            <a:off x="9696846" y="2700528"/>
            <a:ext cx="93451" cy="7954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>
            <a:off x="9790297" y="2780068"/>
            <a:ext cx="93452" cy="8444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>
            <a:off x="9883749" y="2864515"/>
            <a:ext cx="93452" cy="8860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>
            <a:off x="9977201" y="2953120"/>
            <a:ext cx="93451" cy="9197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>
            <a:off x="10070652" y="3045096"/>
            <a:ext cx="93452" cy="9453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>
            <a:off x="10164104" y="3139629"/>
            <a:ext cx="93452" cy="9624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>
            <a:off x="10257556" y="3235877"/>
            <a:ext cx="93452" cy="9711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9" name="Oval 108"/>
          <p:cNvSpPr/>
          <p:nvPr/>
        </p:nvSpPr>
        <p:spPr>
          <a:xfrm>
            <a:off x="944575" y="3271723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Oval 109"/>
          <p:cNvSpPr/>
          <p:nvPr/>
        </p:nvSpPr>
        <p:spPr>
          <a:xfrm>
            <a:off x="1879091" y="2436898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Oval 110"/>
          <p:cNvSpPr/>
          <p:nvPr/>
        </p:nvSpPr>
        <p:spPr>
          <a:xfrm>
            <a:off x="2813608" y="2290327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Oval 111"/>
          <p:cNvSpPr/>
          <p:nvPr/>
        </p:nvSpPr>
        <p:spPr>
          <a:xfrm>
            <a:off x="3748125" y="2952848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Oval 112"/>
          <p:cNvSpPr/>
          <p:nvPr/>
        </p:nvSpPr>
        <p:spPr>
          <a:xfrm>
            <a:off x="4682642" y="3878259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Oval 113"/>
          <p:cNvSpPr/>
          <p:nvPr/>
        </p:nvSpPr>
        <p:spPr>
          <a:xfrm>
            <a:off x="5617159" y="4303623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Oval 114"/>
          <p:cNvSpPr/>
          <p:nvPr/>
        </p:nvSpPr>
        <p:spPr>
          <a:xfrm>
            <a:off x="6551676" y="3878259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Oval 115"/>
          <p:cNvSpPr/>
          <p:nvPr/>
        </p:nvSpPr>
        <p:spPr>
          <a:xfrm>
            <a:off x="7486192" y="2952848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Oval 116"/>
          <p:cNvSpPr/>
          <p:nvPr/>
        </p:nvSpPr>
        <p:spPr>
          <a:xfrm>
            <a:off x="8420709" y="2290327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Oval 117"/>
          <p:cNvSpPr/>
          <p:nvPr/>
        </p:nvSpPr>
        <p:spPr>
          <a:xfrm>
            <a:off x="9355226" y="2436898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Oval 118"/>
          <p:cNvSpPr/>
          <p:nvPr/>
        </p:nvSpPr>
        <p:spPr>
          <a:xfrm>
            <a:off x="3690518" y="2895241"/>
            <a:ext cx="237744" cy="237744"/>
          </a:xfrm>
          <a:prstGeom prst="ellipse">
            <a:avLst/>
          </a:prstGeom>
          <a:solidFill>
            <a:srgbClr val="FFFFFF"/>
          </a:solidFill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3973982" y="2611777"/>
            <a:ext cx="2880360" cy="4846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某个样本：3.71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新问题：如果只允许8个振幅等级，怎么记录这些值？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把振幅划分成0～7，共几个等级？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1600200" y="5394960"/>
            <a:ext cx="8001000" cy="0"/>
          </a:xfrm>
          <a:prstGeom prst="line">
            <a:avLst/>
          </a:prstGeom>
          <a:ln w="3175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813816" y="5230368"/>
            <a:ext cx="5943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8C64E1"/>
                </a:solidFill>
                <a:latin typeface="Alibaba PuHuiTi 3.0 115 Black"/>
              </a:defRPr>
            </a:pPr>
            <a:r>
              <a:rPr sz="2300" b="1">
                <a:solidFill>
                  <a:srgbClr val="6251B1"/>
                </a:solidFill>
                <a:latin typeface="Alibaba PuHuiTi 3.0 115 Black"/>
              </a:rPr>
              <a:t>0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600200" y="4910328"/>
            <a:ext cx="8001000" cy="0"/>
          </a:xfrm>
          <a:prstGeom prst="line">
            <a:avLst/>
          </a:prstGeom>
          <a:ln w="3175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813816" y="4745736"/>
            <a:ext cx="5943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8C64E1"/>
                </a:solidFill>
                <a:latin typeface="Alibaba PuHuiTi 3.0 115 Black"/>
              </a:defRPr>
            </a:pPr>
            <a:r>
              <a:rPr sz="2300" b="1">
                <a:solidFill>
                  <a:srgbClr val="6251B1"/>
                </a:solidFill>
                <a:latin typeface="Alibaba PuHuiTi 3.0 115 Black"/>
              </a:rPr>
              <a:t>1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600200" y="4425696"/>
            <a:ext cx="8001000" cy="0"/>
          </a:xfrm>
          <a:prstGeom prst="line">
            <a:avLst/>
          </a:prstGeom>
          <a:ln w="3175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813816" y="4261104"/>
            <a:ext cx="5943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8C64E1"/>
                </a:solidFill>
                <a:latin typeface="Alibaba PuHuiTi 3.0 115 Black"/>
              </a:defRPr>
            </a:pPr>
            <a:r>
              <a:rPr sz="2300" b="1">
                <a:solidFill>
                  <a:srgbClr val="6251B1"/>
                </a:solidFill>
                <a:latin typeface="Alibaba PuHuiTi 3.0 115 Black"/>
              </a:rPr>
              <a:t>2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600200" y="3941064"/>
            <a:ext cx="8001000" cy="0"/>
          </a:xfrm>
          <a:prstGeom prst="line">
            <a:avLst/>
          </a:prstGeom>
          <a:ln w="3175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813816" y="3776472"/>
            <a:ext cx="5943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8C64E1"/>
                </a:solidFill>
                <a:latin typeface="Alibaba PuHuiTi 3.0 115 Black"/>
              </a:defRPr>
            </a:pPr>
            <a:r>
              <a:rPr sz="2300" b="1">
                <a:solidFill>
                  <a:srgbClr val="6251B1"/>
                </a:solidFill>
                <a:latin typeface="Alibaba PuHuiTi 3.0 115 Black"/>
              </a:rPr>
              <a:t>3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600200" y="3456432"/>
            <a:ext cx="8001000" cy="0"/>
          </a:xfrm>
          <a:prstGeom prst="line">
            <a:avLst/>
          </a:prstGeom>
          <a:ln w="3175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813816" y="3291840"/>
            <a:ext cx="5943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8C64E1"/>
                </a:solidFill>
                <a:latin typeface="Alibaba PuHuiTi 3.0 115 Black"/>
              </a:defRPr>
            </a:pPr>
            <a:r>
              <a:rPr sz="2300" b="1">
                <a:solidFill>
                  <a:srgbClr val="6251B1"/>
                </a:solidFill>
                <a:latin typeface="Alibaba PuHuiTi 3.0 115 Black"/>
              </a:rPr>
              <a:t>4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1600200" y="2971800"/>
            <a:ext cx="8001000" cy="0"/>
          </a:xfrm>
          <a:prstGeom prst="line">
            <a:avLst/>
          </a:prstGeom>
          <a:ln w="3175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813816" y="2807208"/>
            <a:ext cx="5943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8C64E1"/>
                </a:solidFill>
                <a:latin typeface="Alibaba PuHuiTi 3.0 115 Black"/>
              </a:defRPr>
            </a:pPr>
            <a:r>
              <a:rPr sz="2300" b="1">
                <a:solidFill>
                  <a:srgbClr val="6251B1"/>
                </a:solidFill>
                <a:latin typeface="Alibaba PuHuiTi 3.0 115 Black"/>
              </a:rPr>
              <a:t>5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600200" y="2487168"/>
            <a:ext cx="8001000" cy="0"/>
          </a:xfrm>
          <a:prstGeom prst="line">
            <a:avLst/>
          </a:prstGeom>
          <a:ln w="3175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813816" y="2322576"/>
            <a:ext cx="5943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8C64E1"/>
                </a:solidFill>
                <a:latin typeface="Alibaba PuHuiTi 3.0 115 Black"/>
              </a:defRPr>
            </a:pPr>
            <a:r>
              <a:rPr sz="2300" b="1">
                <a:solidFill>
                  <a:srgbClr val="6251B1"/>
                </a:solidFill>
                <a:latin typeface="Alibaba PuHuiTi 3.0 115 Black"/>
              </a:rPr>
              <a:t>6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1600200" y="2002536"/>
            <a:ext cx="8001000" cy="0"/>
          </a:xfrm>
          <a:prstGeom prst="line">
            <a:avLst/>
          </a:prstGeom>
          <a:ln w="3175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813816" y="1837944"/>
            <a:ext cx="5943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8C64E1"/>
                </a:solidFill>
                <a:latin typeface="Alibaba PuHuiTi 3.0 115 Black"/>
              </a:defRPr>
            </a:pPr>
            <a:r>
              <a:rPr sz="2300" b="1">
                <a:solidFill>
                  <a:srgbClr val="6251B1"/>
                </a:solidFill>
                <a:latin typeface="Alibaba PuHuiTi 3.0 115 Black"/>
              </a:rPr>
              <a:t>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0也是一个等级，所以一共有8个等级。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8076" y="585216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defRPr b="1" sz="3500">
                <a:solidFill>
                  <a:srgbClr val="262626"/>
                </a:solidFill>
                <a:latin typeface="Alibaba PuHuiTi 3.0 115 Black"/>
              </a:defRPr>
            </a:pPr>
            <a:r>
              <a:t>3.71 应记为等级3，还是等级4？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45920"/>
            <a:ext cx="10515600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t>输入范围 [0,8) 分成8段：每一段对应一个等级。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905256" y="2907792"/>
            <a:ext cx="1234439" cy="658368"/>
          </a:xfrm>
          <a:prstGeom prst="rect">
            <a:avLst/>
          </a:prstGeom>
          <a:solidFill>
            <a:srgbClr val="FFFFFF"/>
          </a:solidFill>
          <a:ln w="15240">
            <a:solidFill>
              <a:srgbClr val="E2DE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2980944"/>
            <a:ext cx="1234439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300" b="1">
                <a:solidFill>
                  <a:srgbClr val="262626"/>
                </a:solidFill>
                <a:latin typeface="Alibaba PuHuiTi 3.0 115 Black"/>
              </a:defRPr>
            </a:pPr>
            <a:r>
              <a:t>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2104" y="3703320"/>
            <a:ext cx="320040" cy="3017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1500" b="0">
                <a:solidFill>
                  <a:srgbClr val="262626"/>
                </a:solidFill>
                <a:latin typeface="Alibaba PuHuiTi 3.0 55 Regular"/>
              </a:defRPr>
            </a:pPr>
            <a:r>
              <a:t>0</a:t>
            </a:r>
          </a:p>
        </p:txBody>
      </p:sp>
      <p:sp>
        <p:nvSpPr>
          <p:cNvPr id="9" name="Rectangle 8"/>
          <p:cNvSpPr/>
          <p:nvPr/>
        </p:nvSpPr>
        <p:spPr>
          <a:xfrm>
            <a:off x="2176272" y="2907792"/>
            <a:ext cx="1234439" cy="658368"/>
          </a:xfrm>
          <a:prstGeom prst="rect">
            <a:avLst/>
          </a:prstGeom>
          <a:solidFill>
            <a:srgbClr val="FFFFFF"/>
          </a:solidFill>
          <a:ln w="15240">
            <a:solidFill>
              <a:srgbClr val="E2DE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176272" y="2980944"/>
            <a:ext cx="1234439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300" b="1">
                <a:solidFill>
                  <a:srgbClr val="262626"/>
                </a:solidFill>
                <a:latin typeface="Alibaba PuHuiTi 3.0 115 Black"/>
              </a:defRPr>
            </a:pPr>
            <a: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03120" y="3703320"/>
            <a:ext cx="320040" cy="3017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1500" b="0">
                <a:solidFill>
                  <a:srgbClr val="262626"/>
                </a:solidFill>
                <a:latin typeface="Alibaba PuHuiTi 3.0 55 Regular"/>
              </a:defRPr>
            </a:pPr>
            <a:r>
              <a:t>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447287" y="2907792"/>
            <a:ext cx="1234439" cy="658368"/>
          </a:xfrm>
          <a:prstGeom prst="rect">
            <a:avLst/>
          </a:prstGeom>
          <a:solidFill>
            <a:srgbClr val="FFFFFF"/>
          </a:solidFill>
          <a:ln w="15240">
            <a:solidFill>
              <a:srgbClr val="E2DE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47287" y="2980944"/>
            <a:ext cx="1234439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300" b="1">
                <a:solidFill>
                  <a:srgbClr val="262626"/>
                </a:solidFill>
                <a:latin typeface="Alibaba PuHuiTi 3.0 115 Black"/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74135" y="3703320"/>
            <a:ext cx="320040" cy="3017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1500" b="0">
                <a:solidFill>
                  <a:srgbClr val="262626"/>
                </a:solidFill>
                <a:latin typeface="Alibaba PuHuiTi 3.0 55 Regular"/>
              </a:defRPr>
            </a:pPr>
            <a:r>
              <a:t>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718304" y="2907792"/>
            <a:ext cx="1234439" cy="658368"/>
          </a:xfrm>
          <a:prstGeom prst="rect">
            <a:avLst/>
          </a:prstGeom>
          <a:solidFill>
            <a:srgbClr val="EFE9FF"/>
          </a:solidFill>
          <a:ln w="381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18304" y="2980944"/>
            <a:ext cx="1234439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45152" y="3703320"/>
            <a:ext cx="320040" cy="3017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1500" b="0">
                <a:solidFill>
                  <a:srgbClr val="262626"/>
                </a:solidFill>
                <a:latin typeface="Alibaba PuHuiTi 3.0 55 Regular"/>
              </a:defRPr>
            </a:pPr>
            <a:r>
              <a:t>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89320" y="2907792"/>
            <a:ext cx="1234439" cy="658368"/>
          </a:xfrm>
          <a:prstGeom prst="rect">
            <a:avLst/>
          </a:prstGeom>
          <a:solidFill>
            <a:srgbClr val="FFFFFF"/>
          </a:solidFill>
          <a:ln w="15240">
            <a:solidFill>
              <a:srgbClr val="E2DE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89320" y="2980944"/>
            <a:ext cx="1234439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300" b="1">
                <a:solidFill>
                  <a:srgbClr val="262626"/>
                </a:solidFill>
                <a:latin typeface="Alibaba PuHuiTi 3.0 115 Black"/>
              </a:defRPr>
            </a:pPr>
            <a: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16168" y="3703320"/>
            <a:ext cx="320040" cy="3017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1500" b="0">
                <a:solidFill>
                  <a:srgbClr val="262626"/>
                </a:solidFill>
                <a:latin typeface="Alibaba PuHuiTi 3.0 55 Regular"/>
              </a:defRPr>
            </a:pPr>
            <a:r>
              <a:t>4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260336" y="2907792"/>
            <a:ext cx="1234439" cy="658368"/>
          </a:xfrm>
          <a:prstGeom prst="rect">
            <a:avLst/>
          </a:prstGeom>
          <a:solidFill>
            <a:srgbClr val="FFFFFF"/>
          </a:solidFill>
          <a:ln w="15240">
            <a:solidFill>
              <a:srgbClr val="E2DE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260336" y="2980944"/>
            <a:ext cx="1234439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300" b="1">
                <a:solidFill>
                  <a:srgbClr val="262626"/>
                </a:solidFill>
                <a:latin typeface="Alibaba PuHuiTi 3.0 115 Black"/>
              </a:defRPr>
            </a:pPr>
            <a: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87183" y="3703320"/>
            <a:ext cx="320040" cy="3017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1500" b="0">
                <a:solidFill>
                  <a:srgbClr val="262626"/>
                </a:solidFill>
                <a:latin typeface="Alibaba PuHuiTi 3.0 55 Regular"/>
              </a:defRPr>
            </a:pPr>
            <a:r>
              <a:t>5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531352" y="2907792"/>
            <a:ext cx="1234439" cy="658368"/>
          </a:xfrm>
          <a:prstGeom prst="rect">
            <a:avLst/>
          </a:prstGeom>
          <a:solidFill>
            <a:srgbClr val="FFFFFF"/>
          </a:solidFill>
          <a:ln w="15240">
            <a:solidFill>
              <a:srgbClr val="E2DE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531352" y="2980944"/>
            <a:ext cx="1234439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300" b="1">
                <a:solidFill>
                  <a:srgbClr val="262626"/>
                </a:solidFill>
                <a:latin typeface="Alibaba PuHuiTi 3.0 115 Black"/>
              </a:defRPr>
            </a:pPr>
            <a:r>
              <a:t>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58200" y="3703320"/>
            <a:ext cx="320040" cy="3017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1500" b="0">
                <a:solidFill>
                  <a:srgbClr val="262626"/>
                </a:solidFill>
                <a:latin typeface="Alibaba PuHuiTi 3.0 55 Regular"/>
              </a:defRPr>
            </a:pPr>
            <a:r>
              <a:t>6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802367" y="2907792"/>
            <a:ext cx="1234439" cy="658368"/>
          </a:xfrm>
          <a:prstGeom prst="rect">
            <a:avLst/>
          </a:prstGeom>
          <a:solidFill>
            <a:srgbClr val="FFFFFF"/>
          </a:solidFill>
          <a:ln w="15240">
            <a:solidFill>
              <a:srgbClr val="E2DE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802367" y="2980944"/>
            <a:ext cx="1234439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300" b="1">
                <a:solidFill>
                  <a:srgbClr val="262626"/>
                </a:solidFill>
                <a:latin typeface="Alibaba PuHuiTi 3.0 115 Black"/>
              </a:defRPr>
            </a:pPr>
            <a:r>
              <a:t>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729215" y="3703320"/>
            <a:ext cx="320040" cy="3017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1500" b="0">
                <a:solidFill>
                  <a:srgbClr val="262626"/>
                </a:solidFill>
                <a:latin typeface="Alibaba PuHuiTi 3.0 55 Regular"/>
              </a:defRPr>
            </a:pPr>
            <a:r>
              <a:t>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91088" y="3703320"/>
            <a:ext cx="411480" cy="3017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1500" b="0">
                <a:solidFill>
                  <a:srgbClr val="262626"/>
                </a:solidFill>
                <a:latin typeface="Alibaba PuHuiTi 3.0 55 Regular"/>
              </a:defRPr>
            </a:pPr>
            <a:r>
              <a:t>8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5620725" y="2468880"/>
            <a:ext cx="0" cy="420624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Oval 31"/>
          <p:cNvSpPr/>
          <p:nvPr/>
        </p:nvSpPr>
        <p:spPr>
          <a:xfrm>
            <a:off x="5552145" y="2382012"/>
            <a:ext cx="137160" cy="13716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200101" y="1938528"/>
            <a:ext cx="932688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300" b="1">
                <a:solidFill>
                  <a:srgbClr val="FF0000"/>
                </a:solidFill>
                <a:latin typeface="Alibaba PuHuiTi 3.0 115 Black"/>
              </a:defRPr>
            </a:pPr>
            <a:r>
              <a:t>3.71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86968" y="4343400"/>
            <a:ext cx="10241280" cy="6766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2600" b="1">
                <a:solidFill>
                  <a:srgbClr val="8C64E1"/>
                </a:solidFill>
                <a:latin typeface="Alibaba PuHuiTi 3.0 115 Black"/>
              </a:defRPr>
            </a:pPr>
            <a:r>
              <a:t>红点落在哪一段？请先独立判断等级编号。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86384" y="5852160"/>
            <a:ext cx="1069848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1700" b="0">
                <a:solidFill>
                  <a:srgbClr val="8C64E1"/>
                </a:solidFill>
                <a:latin typeface="Alibaba PuHuiTi 3.0 55 Regular"/>
              </a:defRPr>
            </a:pPr>
            <a:r>
              <a:t>先只预测，不公布答案；翻页再验证区间规则。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量化：把每个样本归入一个代表值。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1901952" y="5257800"/>
            <a:ext cx="7059168" cy="0"/>
          </a:xfrm>
          <a:prstGeom prst="line">
            <a:avLst/>
          </a:prstGeom>
          <a:ln w="1905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078992" y="5093208"/>
            <a:ext cx="6400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8C64E1"/>
                </a:solidFill>
                <a:latin typeface="Alibaba PuHuiTi 3.0 115 Black"/>
              </a:defRPr>
            </a:pPr>
            <a:r>
              <a:t>0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901952" y="4800600"/>
            <a:ext cx="7059168" cy="0"/>
          </a:xfrm>
          <a:prstGeom prst="line">
            <a:avLst/>
          </a:prstGeom>
          <a:ln w="1905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1078992" y="4636008"/>
            <a:ext cx="6400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8C64E1"/>
                </a:solidFill>
                <a:latin typeface="Alibaba PuHuiTi 3.0 115 Black"/>
              </a:defRPr>
            </a:pPr>
            <a:r>
              <a:t>1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901952" y="4343400"/>
            <a:ext cx="7059168" cy="0"/>
          </a:xfrm>
          <a:prstGeom prst="line">
            <a:avLst/>
          </a:prstGeom>
          <a:ln w="1905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078992" y="4178808"/>
            <a:ext cx="6400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8C64E1"/>
                </a:solidFill>
                <a:latin typeface="Alibaba PuHuiTi 3.0 115 Black"/>
              </a:defRPr>
            </a:pPr>
            <a:r>
              <a:t>2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901952" y="3886200"/>
            <a:ext cx="7059168" cy="0"/>
          </a:xfrm>
          <a:prstGeom prst="line">
            <a:avLst/>
          </a:prstGeom>
          <a:ln w="1905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1078992" y="3721608"/>
            <a:ext cx="6400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8C64E1"/>
                </a:solidFill>
                <a:latin typeface="Alibaba PuHuiTi 3.0 115 Black"/>
              </a:defRPr>
            </a:pPr>
            <a:r>
              <a:t>3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901952" y="3429000"/>
            <a:ext cx="7059168" cy="0"/>
          </a:xfrm>
          <a:prstGeom prst="line">
            <a:avLst/>
          </a:prstGeom>
          <a:ln w="1905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1078992" y="3264408"/>
            <a:ext cx="6400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8C64E1"/>
                </a:solidFill>
                <a:latin typeface="Alibaba PuHuiTi 3.0 115 Black"/>
              </a:defRPr>
            </a:pPr>
            <a:r>
              <a:t>4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1901952" y="2971800"/>
            <a:ext cx="7059168" cy="0"/>
          </a:xfrm>
          <a:prstGeom prst="line">
            <a:avLst/>
          </a:prstGeom>
          <a:ln w="1905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1078992" y="2807208"/>
            <a:ext cx="6400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8C64E1"/>
                </a:solidFill>
                <a:latin typeface="Alibaba PuHuiTi 3.0 115 Black"/>
              </a:defRPr>
            </a:pPr>
            <a:r>
              <a:t>5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901952" y="2514600"/>
            <a:ext cx="7059168" cy="0"/>
          </a:xfrm>
          <a:prstGeom prst="line">
            <a:avLst/>
          </a:prstGeom>
          <a:ln w="1905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1078992" y="2350008"/>
            <a:ext cx="6400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8C64E1"/>
                </a:solidFill>
                <a:latin typeface="Alibaba PuHuiTi 3.0 115 Black"/>
              </a:defRPr>
            </a:pPr>
            <a:r>
              <a:t>6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1901952" y="2057400"/>
            <a:ext cx="7059168" cy="0"/>
          </a:xfrm>
          <a:prstGeom prst="line">
            <a:avLst/>
          </a:prstGeom>
          <a:ln w="1905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1078992" y="1892807"/>
            <a:ext cx="6400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8C64E1"/>
                </a:solidFill>
                <a:latin typeface="Alibaba PuHuiTi 3.0 115 Black"/>
              </a:defRPr>
            </a:pPr>
            <a:r>
              <a:t>7</a:t>
            </a:r>
          </a:p>
        </p:txBody>
      </p:sp>
      <p:sp>
        <p:nvSpPr>
          <p:cNvPr id="21" name="Oval 20"/>
          <p:cNvSpPr/>
          <p:nvPr/>
        </p:nvSpPr>
        <p:spPr>
          <a:xfrm>
            <a:off x="5577840" y="3474720"/>
            <a:ext cx="173736" cy="173736"/>
          </a:xfrm>
          <a:prstGeom prst="ellipse">
            <a:avLst/>
          </a:prstGeom>
          <a:solidFill>
            <a:srgbClr val="FFFFFF"/>
          </a:solidFill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577840" y="3799332"/>
            <a:ext cx="173736" cy="173736"/>
          </a:xfrm>
          <a:prstGeom prst="ellipse">
            <a:avLst/>
          </a:prstGeom>
          <a:solidFill>
            <a:srgbClr val="00B0F0"/>
          </a:solidFill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3" name="Connector 22"/>
          <p:cNvCxnSpPr/>
          <p:nvPr/>
        </p:nvCxnSpPr>
        <p:spPr>
          <a:xfrm>
            <a:off x="5669280" y="3662172"/>
            <a:ext cx="0" cy="123443"/>
          </a:xfrm>
          <a:prstGeom prst="line">
            <a:avLst/>
          </a:prstGeom>
          <a:ln w="3429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6080760" y="3150108"/>
            <a:ext cx="2743200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100" b="1">
                <a:solidFill>
                  <a:srgbClr val="262626"/>
                </a:solidFill>
                <a:latin typeface="Alibaba PuHuiTi 3.0 115 Black"/>
              </a:defRPr>
            </a:pPr>
            <a:r>
              <a:t>原值 3.71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80760" y="3922776"/>
            <a:ext cx="2286000" cy="4297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100" b="1">
                <a:solidFill>
                  <a:srgbClr val="8C64E1"/>
                </a:solidFill>
                <a:latin typeface="Alibaba PuHuiTi 3.0 115 Black"/>
              </a:defRPr>
            </a:pPr>
            <a:r>
              <a:t>等级 L3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量化：用有限个等级来近似表示样本的振幅。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0120" y="5394960"/>
            <a:ext cx="101498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defRPr b="1" sz="1800">
                <a:solidFill>
                  <a:srgbClr val="8C64E1"/>
                </a:solidFill>
                <a:latin typeface="Alibaba PuHuiTi 3.0 115 Black"/>
              </a:defRPr>
            </a:pPr>
            <a:r>
              <a:t>规则：[3,4) → L3；区间代表值可取 3.5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同一个声音的10个样本，怎样依次编码？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847088"/>
            <a:ext cx="182880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8C64E1"/>
                </a:solidFill>
                <a:latin typeface="Alibaba PuHuiTi 3.0 115 Black"/>
              </a:defRPr>
            </a:pPr>
            <a:r>
              <a:t>采样顺序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816352"/>
            <a:ext cx="182880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8C64E1"/>
                </a:solidFill>
                <a:latin typeface="Alibaba PuHuiTi 3.0 115 Black"/>
              </a:defRPr>
            </a:pPr>
            <a:r>
              <a:t>量化等级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3776472"/>
            <a:ext cx="182880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8C64E1"/>
                </a:solidFill>
                <a:latin typeface="Alibaba PuHuiTi 3.0 115 Black"/>
              </a:defRPr>
            </a:pPr>
            <a:r>
              <a:t>3 bit码字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88336" y="1856231"/>
            <a:ext cx="73152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800" b="0">
                <a:solidFill>
                  <a:srgbClr val="808080"/>
                </a:solidFill>
                <a:latin typeface="Alibaba PuHuiTi 3.0 55 Regular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88336" y="2807208"/>
            <a:ext cx="73152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88336" y="3776472"/>
            <a:ext cx="73152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00B0F0"/>
                </a:solidFill>
                <a:latin typeface="Alibaba PuHuiTi 3.0 115 Black"/>
              </a:defRPr>
            </a:pPr>
            <a:r>
              <a:t>011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044952" y="2249424"/>
            <a:ext cx="0" cy="466344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3044952" y="3191256"/>
            <a:ext cx="0" cy="493776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3547872" y="1856231"/>
            <a:ext cx="73152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800" b="0">
                <a:solidFill>
                  <a:srgbClr val="808080"/>
                </a:solidFill>
                <a:latin typeface="Alibaba PuHuiTi 3.0 55 Regular"/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47872" y="2807208"/>
            <a:ext cx="73152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47872" y="3776472"/>
            <a:ext cx="73152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00B0F0"/>
                </a:solidFill>
                <a:latin typeface="Alibaba PuHuiTi 3.0 115 Black"/>
              </a:defRPr>
            </a:pPr>
            <a:r>
              <a:t>101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904487" y="2249424"/>
            <a:ext cx="0" cy="466344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3904487" y="3191256"/>
            <a:ext cx="0" cy="493776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4407408" y="1856231"/>
            <a:ext cx="73152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800" b="0">
                <a:solidFill>
                  <a:srgbClr val="808080"/>
                </a:solidFill>
                <a:latin typeface="Alibaba PuHuiTi 3.0 55 Regular"/>
              </a:defRPr>
            </a:pPr>
            <a: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07408" y="2807208"/>
            <a:ext cx="73152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t>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07408" y="3776472"/>
            <a:ext cx="73152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00B0F0"/>
                </a:solidFill>
                <a:latin typeface="Alibaba PuHuiTi 3.0 115 Black"/>
              </a:defRPr>
            </a:pPr>
            <a:r>
              <a:t>111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4764024" y="2249424"/>
            <a:ext cx="0" cy="466344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4764024" y="3191256"/>
            <a:ext cx="0" cy="493776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5266944" y="1856231"/>
            <a:ext cx="73152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800" b="0">
                <a:solidFill>
                  <a:srgbClr val="808080"/>
                </a:solidFill>
                <a:latin typeface="Alibaba PuHuiTi 3.0 55 Regular"/>
              </a:defRPr>
            </a:pPr>
            <a: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66944" y="2807208"/>
            <a:ext cx="73152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t>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66944" y="3776472"/>
            <a:ext cx="73152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00B0F0"/>
                </a:solidFill>
                <a:latin typeface="Alibaba PuHuiTi 3.0 115 Black"/>
              </a:defRPr>
            </a:pPr>
            <a:r>
              <a:t>110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5623559" y="2249424"/>
            <a:ext cx="0" cy="466344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5623559" y="3191256"/>
            <a:ext cx="0" cy="493776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6126479" y="1856231"/>
            <a:ext cx="73152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800" b="0">
                <a:solidFill>
                  <a:srgbClr val="808080"/>
                </a:solidFill>
                <a:latin typeface="Alibaba PuHuiTi 3.0 55 Regular"/>
              </a:defRPr>
            </a:pPr>
            <a: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26479" y="2807208"/>
            <a:ext cx="73152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26479" y="3776472"/>
            <a:ext cx="73152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00B0F0"/>
                </a:solidFill>
                <a:latin typeface="Alibaba PuHuiTi 3.0 115 Black"/>
              </a:defRPr>
            </a:pPr>
            <a:r>
              <a:t>100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6483095" y="2249424"/>
            <a:ext cx="0" cy="466344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6483095" y="3191256"/>
            <a:ext cx="0" cy="493776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6986015" y="1856231"/>
            <a:ext cx="73152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800" b="0">
                <a:solidFill>
                  <a:srgbClr val="808080"/>
                </a:solidFill>
                <a:latin typeface="Alibaba PuHuiTi 3.0 55 Regular"/>
              </a:defRPr>
            </a:pPr>
            <a:r>
              <a:t>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86015" y="2807208"/>
            <a:ext cx="73152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t>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86015" y="3776472"/>
            <a:ext cx="73152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00B0F0"/>
                </a:solidFill>
                <a:latin typeface="Alibaba PuHuiTi 3.0 115 Black"/>
              </a:defRPr>
            </a:pPr>
            <a:r>
              <a:t>010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7342631" y="2249424"/>
            <a:ext cx="0" cy="466344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7342631" y="3191256"/>
            <a:ext cx="0" cy="493776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7845552" y="1856231"/>
            <a:ext cx="73152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800" b="0">
                <a:solidFill>
                  <a:srgbClr val="808080"/>
                </a:solidFill>
                <a:latin typeface="Alibaba PuHuiTi 3.0 55 Regular"/>
              </a:defRPr>
            </a:pPr>
            <a:r>
              <a:t>7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845552" y="2807208"/>
            <a:ext cx="73152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t>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845552" y="3776472"/>
            <a:ext cx="73152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00B0F0"/>
                </a:solidFill>
                <a:latin typeface="Alibaba PuHuiTi 3.0 115 Black"/>
              </a:defRPr>
            </a:pPr>
            <a:r>
              <a:t>000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8202168" y="2249424"/>
            <a:ext cx="0" cy="466344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8202168" y="3191256"/>
            <a:ext cx="0" cy="493776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8705088" y="1856231"/>
            <a:ext cx="73152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800" b="0">
                <a:solidFill>
                  <a:srgbClr val="808080"/>
                </a:solidFill>
                <a:latin typeface="Alibaba PuHuiTi 3.0 55 Regular"/>
              </a:defRPr>
            </a:pPr>
            <a:r>
              <a:t>8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705088" y="2807208"/>
            <a:ext cx="73152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t>1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705088" y="3776472"/>
            <a:ext cx="73152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00B0F0"/>
                </a:solidFill>
                <a:latin typeface="Alibaba PuHuiTi 3.0 115 Black"/>
              </a:defRPr>
            </a:pPr>
            <a:r>
              <a:t>001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9061704" y="2249424"/>
            <a:ext cx="0" cy="466344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9061704" y="3191256"/>
            <a:ext cx="0" cy="493776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9564624" y="1856231"/>
            <a:ext cx="73152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800" b="0">
                <a:solidFill>
                  <a:srgbClr val="808080"/>
                </a:solidFill>
                <a:latin typeface="Alibaba PuHuiTi 3.0 55 Regular"/>
              </a:defRPr>
            </a:pPr>
            <a:r>
              <a:t>9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564624" y="2807208"/>
            <a:ext cx="73152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t>3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564624" y="3776472"/>
            <a:ext cx="73152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00B0F0"/>
                </a:solidFill>
                <a:latin typeface="Alibaba PuHuiTi 3.0 115 Black"/>
              </a:defRPr>
            </a:pPr>
            <a:r>
              <a:t>011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9921240" y="2249424"/>
            <a:ext cx="0" cy="466344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9921240" y="3191256"/>
            <a:ext cx="0" cy="493776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TextBox 52"/>
          <p:cNvSpPr txBox="1"/>
          <p:nvPr/>
        </p:nvSpPr>
        <p:spPr>
          <a:xfrm>
            <a:off x="10424159" y="1856231"/>
            <a:ext cx="73152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800" b="0">
                <a:solidFill>
                  <a:srgbClr val="808080"/>
                </a:solidFill>
                <a:latin typeface="Alibaba PuHuiTi 3.0 55 Regular"/>
              </a:defRPr>
            </a:pPr>
            <a:r>
              <a:t>10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424159" y="2807208"/>
            <a:ext cx="73152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t>4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424159" y="3776472"/>
            <a:ext cx="73152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00B0F0"/>
                </a:solidFill>
                <a:latin typeface="Alibaba PuHuiTi 3.0 115 Black"/>
              </a:defRPr>
            </a:pPr>
            <a:r>
              <a:t>100</a:t>
            </a:r>
          </a:p>
        </p:txBody>
      </p:sp>
      <p:cxnSp>
        <p:nvCxnSpPr>
          <p:cNvPr id="56" name="Connector 55"/>
          <p:cNvCxnSpPr/>
          <p:nvPr/>
        </p:nvCxnSpPr>
        <p:spPr>
          <a:xfrm>
            <a:off x="10780776" y="2249424"/>
            <a:ext cx="0" cy="466344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10780776" y="3191256"/>
            <a:ext cx="0" cy="493776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TextBox 57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采样决定“什么时候记录”，量化决定“记录哪个等级”，编码决定“用哪些bit表示”。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8076" y="585216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defRPr b="1" sz="3500">
                <a:solidFill>
                  <a:srgbClr val="262626"/>
                </a:solidFill>
                <a:latin typeface="Alibaba PuHuiTi 3.0 115 Black"/>
              </a:defRPr>
            </a:pPr>
            <a:r>
              <a:t>3.71 为什么写成 011，而不是 100？</a:t>
            </a:r>
          </a:p>
        </p:txBody>
      </p:sp>
      <p:sp>
        <p:nvSpPr>
          <p:cNvPr id="5" name="Rectangle 4"/>
          <p:cNvSpPr/>
          <p:nvPr/>
        </p:nvSpPr>
        <p:spPr>
          <a:xfrm>
            <a:off x="749808" y="2249424"/>
            <a:ext cx="2432304" cy="1636776"/>
          </a:xfrm>
          <a:prstGeom prst="rect">
            <a:avLst/>
          </a:prstGeom>
          <a:solidFill>
            <a:srgbClr val="FFFFFF"/>
          </a:solidFill>
          <a:ln w="1905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7" y="2441448"/>
            <a:ext cx="2267712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b="0" sz="2100">
                <a:solidFill>
                  <a:srgbClr val="8C64E1"/>
                </a:solidFill>
                <a:latin typeface="Alibaba PuHuiTi 3.0 55 Regular"/>
              </a:defRPr>
            </a:pPr>
            <a:r>
              <a:t>采样原值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7" y="2980944"/>
            <a:ext cx="2267712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b="1" sz="3100">
                <a:solidFill>
                  <a:srgbClr val="262626"/>
                </a:solidFill>
                <a:latin typeface="Alibaba PuHuiTi 3.0 115 Black"/>
              </a:defRPr>
            </a:pPr>
            <a:r>
              <a:t>3.71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236976" y="3063240"/>
            <a:ext cx="329184" cy="0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3630168" y="2249424"/>
            <a:ext cx="2432304" cy="1636776"/>
          </a:xfrm>
          <a:prstGeom prst="rect">
            <a:avLst/>
          </a:prstGeom>
          <a:solidFill>
            <a:srgbClr val="FFFFFF"/>
          </a:solidFill>
          <a:ln w="1905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21607" y="2441448"/>
            <a:ext cx="2267712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b="0" sz="2100">
                <a:solidFill>
                  <a:srgbClr val="8C64E1"/>
                </a:solidFill>
                <a:latin typeface="Alibaba PuHuiTi 3.0 55 Regular"/>
              </a:defRPr>
            </a:pPr>
            <a:r>
              <a:t>输入范围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21607" y="2980944"/>
            <a:ext cx="2267712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b="1" sz="3100">
                <a:solidFill>
                  <a:srgbClr val="262626"/>
                </a:solidFill>
                <a:latin typeface="Alibaba PuHuiTi 3.0 115 Black"/>
              </a:defRPr>
            </a:pPr>
            <a:r>
              <a:t>[3,4)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117336" y="3063240"/>
            <a:ext cx="329184" cy="0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6510528" y="2249424"/>
            <a:ext cx="2432304" cy="1636776"/>
          </a:xfrm>
          <a:prstGeom prst="rect">
            <a:avLst/>
          </a:prstGeom>
          <a:solidFill>
            <a:srgbClr val="FFFFFF"/>
          </a:solidFill>
          <a:ln w="1905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01968" y="2441448"/>
            <a:ext cx="2267712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b="0" sz="2100">
                <a:solidFill>
                  <a:srgbClr val="8C64E1"/>
                </a:solidFill>
                <a:latin typeface="Alibaba PuHuiTi 3.0 55 Regular"/>
              </a:defRPr>
            </a:pPr>
            <a:r>
              <a:t>量化等级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01968" y="2980944"/>
            <a:ext cx="2267712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b="1" sz="3100">
                <a:solidFill>
                  <a:srgbClr val="262626"/>
                </a:solidFill>
                <a:latin typeface="Alibaba PuHuiTi 3.0 115 Black"/>
              </a:defRPr>
            </a:pPr>
            <a:r>
              <a:t>L3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8997696" y="3063240"/>
            <a:ext cx="329184" cy="0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9390888" y="2249424"/>
            <a:ext cx="2432304" cy="1636776"/>
          </a:xfrm>
          <a:prstGeom prst="rect">
            <a:avLst/>
          </a:prstGeom>
          <a:solidFill>
            <a:srgbClr val="F3EFFF"/>
          </a:solidFill>
          <a:ln w="1905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482328" y="2441448"/>
            <a:ext cx="2267712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b="0" sz="2100">
                <a:solidFill>
                  <a:srgbClr val="8C64E1"/>
                </a:solidFill>
                <a:latin typeface="Alibaba PuHuiTi 3.0 55 Regular"/>
              </a:defRPr>
            </a:pPr>
            <a:r>
              <a:t>3 bit码字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82328" y="2980944"/>
            <a:ext cx="2267712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b="1" sz="3100">
                <a:solidFill>
                  <a:srgbClr val="8C64E1"/>
                </a:solidFill>
                <a:latin typeface="Alibaba PuHuiTi 3.0 115 Black"/>
              </a:defRPr>
            </a:pPr>
            <a:r>
              <a:t>011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6384" y="4663440"/>
            <a:ext cx="1065276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defRPr b="1" sz="2400">
                <a:solidFill>
                  <a:srgbClr val="262626"/>
                </a:solidFill>
                <a:latin typeface="Alibaba PuHuiTi 3.0 115 Black"/>
              </a:defRPr>
            </a:pPr>
            <a:r>
              <a:t>规则：按输入范围确定等级，再用固定长度的0和1记录等级编号。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5528" y="5824728"/>
            <a:ext cx="1033272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defRPr b="0" sz="2100">
                <a:solidFill>
                  <a:srgbClr val="8C64E1"/>
                </a:solidFill>
                <a:latin typeface="Alibaba PuHuiTi 3.0 55 Regular"/>
              </a:defRPr>
            </a:pPr>
            <a:r>
              <a:t>验证：输入值4.15对应的码字是什么？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一个样本需要几个二进制位？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2104" y="1682496"/>
            <a:ext cx="6583680" cy="7040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100" b="1">
                <a:solidFill>
                  <a:srgbClr val="8C64E1"/>
                </a:solidFill>
                <a:latin typeface="Alibaba PuHuiTi 3.0 115 Black"/>
              </a:defRPr>
            </a:pPr>
            <a:r>
              <a:t>8个等级 = 2³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2724912"/>
            <a:ext cx="2267712" cy="667512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87552" y="2843784"/>
            <a:ext cx="2121408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t>0 → 000</a:t>
            </a:r>
          </a:p>
        </p:txBody>
      </p:sp>
      <p:sp>
        <p:nvSpPr>
          <p:cNvPr id="8" name="Rectangle 7"/>
          <p:cNvSpPr/>
          <p:nvPr/>
        </p:nvSpPr>
        <p:spPr>
          <a:xfrm>
            <a:off x="3703320" y="2724912"/>
            <a:ext cx="2267712" cy="667512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76472" y="2843784"/>
            <a:ext cx="2121408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t>1 → 001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92240" y="2724912"/>
            <a:ext cx="2267712" cy="667512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65392" y="2843784"/>
            <a:ext cx="2121408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t>2 → 010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281159" y="2724912"/>
            <a:ext cx="2267712" cy="667512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54311" y="2843784"/>
            <a:ext cx="2121408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t>3 → 011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14400" y="3913632"/>
            <a:ext cx="2267712" cy="667512"/>
          </a:xfrm>
          <a:prstGeom prst="rect">
            <a:avLst/>
          </a:prstGeom>
          <a:noFill/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87552" y="4032504"/>
            <a:ext cx="2121408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00B0F0"/>
                </a:solidFill>
                <a:latin typeface="Alibaba PuHuiTi 3.0 115 Black"/>
              </a:defRPr>
            </a:pPr>
            <a:r>
              <a:t>4 → 100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703320" y="3913632"/>
            <a:ext cx="2267712" cy="667512"/>
          </a:xfrm>
          <a:prstGeom prst="rect">
            <a:avLst/>
          </a:prstGeom>
          <a:noFill/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76472" y="4032504"/>
            <a:ext cx="2121408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00B0F0"/>
                </a:solidFill>
                <a:latin typeface="Alibaba PuHuiTi 3.0 115 Black"/>
              </a:defRPr>
            </a:pPr>
            <a:r>
              <a:t>5 → 101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92240" y="3913632"/>
            <a:ext cx="2267712" cy="667512"/>
          </a:xfrm>
          <a:prstGeom prst="rect">
            <a:avLst/>
          </a:prstGeom>
          <a:noFill/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65392" y="4032504"/>
            <a:ext cx="2121408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00B0F0"/>
                </a:solidFill>
                <a:latin typeface="Alibaba PuHuiTi 3.0 115 Black"/>
              </a:defRPr>
            </a:pPr>
            <a:r>
              <a:t>6 → 110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281159" y="3913632"/>
            <a:ext cx="2267712" cy="667512"/>
          </a:xfrm>
          <a:prstGeom prst="rect">
            <a:avLst/>
          </a:prstGeom>
          <a:noFill/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54311" y="4032504"/>
            <a:ext cx="2121408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00B0F0"/>
                </a:solidFill>
                <a:latin typeface="Alibaba PuHuiTi 3.0 115 Black"/>
              </a:defRPr>
            </a:pPr>
            <a:r>
              <a:t>7 → 111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3 bit可以写出8种不同的编码：000～111。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把量化等级分得更细，会发生什么？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755648"/>
            <a:ext cx="4343400" cy="5120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600" b="1">
                <a:solidFill>
                  <a:srgbClr val="8C64E1"/>
                </a:solidFill>
                <a:latin typeface="Alibaba PuHuiTi 3.0 115 Black"/>
              </a:defRPr>
            </a:pPr>
            <a:r>
              <a:t>3 bit → 8级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371600" y="5230368"/>
            <a:ext cx="4069080" cy="0"/>
          </a:xfrm>
          <a:prstGeom prst="line">
            <a:avLst/>
          </a:prstGeom>
          <a:ln w="203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371600" y="4828031"/>
            <a:ext cx="4069080" cy="0"/>
          </a:xfrm>
          <a:prstGeom prst="line">
            <a:avLst/>
          </a:prstGeom>
          <a:ln w="2032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1371600" y="4425696"/>
            <a:ext cx="4069080" cy="0"/>
          </a:xfrm>
          <a:prstGeom prst="line">
            <a:avLst/>
          </a:prstGeom>
          <a:ln w="203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371600" y="4023359"/>
            <a:ext cx="4069080" cy="0"/>
          </a:xfrm>
          <a:prstGeom prst="line">
            <a:avLst/>
          </a:prstGeom>
          <a:ln w="2032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1371600" y="3621024"/>
            <a:ext cx="4069080" cy="0"/>
          </a:xfrm>
          <a:prstGeom prst="line">
            <a:avLst/>
          </a:prstGeom>
          <a:ln w="203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1371600" y="3218687"/>
            <a:ext cx="4069080" cy="0"/>
          </a:xfrm>
          <a:prstGeom prst="line">
            <a:avLst/>
          </a:prstGeom>
          <a:ln w="2032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1371600" y="2816351"/>
            <a:ext cx="4069080" cy="0"/>
          </a:xfrm>
          <a:prstGeom prst="line">
            <a:avLst/>
          </a:prstGeom>
          <a:ln w="203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1371600" y="2414015"/>
            <a:ext cx="4069080" cy="0"/>
          </a:xfrm>
          <a:prstGeom prst="line">
            <a:avLst/>
          </a:prstGeom>
          <a:ln w="2032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1371600" y="5486400"/>
            <a:ext cx="4114800" cy="4480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0">
                <a:solidFill>
                  <a:srgbClr val="262626"/>
                </a:solidFill>
                <a:latin typeface="Alibaba PuHuiTi 3.0 55 Regular"/>
              </a:defRPr>
            </a:pPr>
            <a:r>
              <a:t>可选代表值更密集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0" y="1755648"/>
            <a:ext cx="4343400" cy="5120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600" b="1">
                <a:solidFill>
                  <a:srgbClr val="00B0F0"/>
                </a:solidFill>
                <a:latin typeface="Alibaba PuHuiTi 3.0 115 Black"/>
              </a:defRPr>
            </a:pPr>
            <a:r>
              <a:t>4 bit → 16级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858000" y="5230368"/>
            <a:ext cx="4069080" cy="0"/>
          </a:xfrm>
          <a:prstGeom prst="line">
            <a:avLst/>
          </a:prstGeom>
          <a:ln w="2032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6858000" y="5042611"/>
            <a:ext cx="4069080" cy="0"/>
          </a:xfrm>
          <a:prstGeom prst="line">
            <a:avLst/>
          </a:prstGeom>
          <a:ln w="2032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6858000" y="4854854"/>
            <a:ext cx="4069080" cy="0"/>
          </a:xfrm>
          <a:prstGeom prst="line">
            <a:avLst/>
          </a:prstGeom>
          <a:ln w="2032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6858000" y="4667097"/>
            <a:ext cx="4069080" cy="0"/>
          </a:xfrm>
          <a:prstGeom prst="line">
            <a:avLst/>
          </a:prstGeom>
          <a:ln w="2032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6858000" y="4479340"/>
            <a:ext cx="4069080" cy="0"/>
          </a:xfrm>
          <a:prstGeom prst="line">
            <a:avLst/>
          </a:prstGeom>
          <a:ln w="2032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6858000" y="4291584"/>
            <a:ext cx="4069080" cy="0"/>
          </a:xfrm>
          <a:prstGeom prst="line">
            <a:avLst/>
          </a:prstGeom>
          <a:ln w="2032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6858000" y="4103827"/>
            <a:ext cx="4069080" cy="0"/>
          </a:xfrm>
          <a:prstGeom prst="line">
            <a:avLst/>
          </a:prstGeom>
          <a:ln w="2032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6858000" y="3916070"/>
            <a:ext cx="4069080" cy="0"/>
          </a:xfrm>
          <a:prstGeom prst="line">
            <a:avLst/>
          </a:prstGeom>
          <a:ln w="2032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6858000" y="3728313"/>
            <a:ext cx="4069080" cy="0"/>
          </a:xfrm>
          <a:prstGeom prst="line">
            <a:avLst/>
          </a:prstGeom>
          <a:ln w="2032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6858000" y="3540556"/>
            <a:ext cx="4069080" cy="0"/>
          </a:xfrm>
          <a:prstGeom prst="line">
            <a:avLst/>
          </a:prstGeom>
          <a:ln w="2032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6858000" y="3352800"/>
            <a:ext cx="4069080" cy="0"/>
          </a:xfrm>
          <a:prstGeom prst="line">
            <a:avLst/>
          </a:prstGeom>
          <a:ln w="2032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6858000" y="3165043"/>
            <a:ext cx="4069080" cy="0"/>
          </a:xfrm>
          <a:prstGeom prst="line">
            <a:avLst/>
          </a:prstGeom>
          <a:ln w="2032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6858000" y="2977286"/>
            <a:ext cx="4069080" cy="0"/>
          </a:xfrm>
          <a:prstGeom prst="line">
            <a:avLst/>
          </a:prstGeom>
          <a:ln w="2032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6858000" y="2789529"/>
            <a:ext cx="4069080" cy="0"/>
          </a:xfrm>
          <a:prstGeom prst="line">
            <a:avLst/>
          </a:prstGeom>
          <a:ln w="2032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6858000" y="2601772"/>
            <a:ext cx="4069080" cy="0"/>
          </a:xfrm>
          <a:prstGeom prst="line">
            <a:avLst/>
          </a:prstGeom>
          <a:ln w="2032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6858000" y="2414015"/>
            <a:ext cx="4069080" cy="0"/>
          </a:xfrm>
          <a:prstGeom prst="line">
            <a:avLst/>
          </a:prstGeom>
          <a:ln w="2032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6858000" y="5486400"/>
            <a:ext cx="4114800" cy="4480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0">
                <a:solidFill>
                  <a:srgbClr val="262626"/>
                </a:solidFill>
                <a:latin typeface="Alibaba PuHuiTi 3.0 55 Regular"/>
              </a:defRPr>
            </a:pPr>
            <a:r>
              <a:t>可选代表值更密集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不要混淆：采样率和量化位数。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969264" y="3291840"/>
            <a:ext cx="9784080" cy="0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060704" y="1956816"/>
            <a:ext cx="0" cy="2679191"/>
          </a:xfrm>
          <a:prstGeom prst="line">
            <a:avLst/>
          </a:prstGeom>
          <a:ln w="1651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088136" y="1645920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0">
                <a:solidFill>
                  <a:srgbClr val="808080"/>
                </a:solidFill>
                <a:latin typeface="Alibaba PuHuiTi 3.0 55 Regular"/>
              </a:defRPr>
            </a:pPr>
            <a:r>
              <a:t>振幅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38944" y="3410712"/>
            <a:ext cx="8229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0">
                <a:solidFill>
                  <a:srgbClr val="808080"/>
                </a:solidFill>
                <a:latin typeface="Alibaba PuHuiTi 3.0 55 Regular"/>
              </a:defRPr>
            </a:pPr>
            <a:r>
              <a:t>时间</a:t>
            </a:r>
          </a:p>
        </p:txBody>
      </p:sp>
      <p:cxnSp>
        <p:nvCxnSpPr>
          <p:cNvPr id="9" name="Connector 8"/>
          <p:cNvCxnSpPr/>
          <p:nvPr/>
        </p:nvCxnSpPr>
        <p:spPr>
          <a:xfrm flipV="1">
            <a:off x="1106424" y="3153678"/>
            <a:ext cx="91440" cy="110730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1197864" y="3044364"/>
            <a:ext cx="91440" cy="109314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1289304" y="2937861"/>
            <a:ext cx="91440" cy="106503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1380744" y="2835531"/>
            <a:ext cx="91440" cy="102330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1472184" y="2738680"/>
            <a:ext cx="91440" cy="96851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1563624" y="2648547"/>
            <a:ext cx="91440" cy="90133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1655064" y="2566283"/>
            <a:ext cx="91440" cy="82264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1746504" y="2492940"/>
            <a:ext cx="91439" cy="73343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1837943" y="2429453"/>
            <a:ext cx="91441" cy="63487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1929384" y="2376635"/>
            <a:ext cx="91440" cy="52818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2020824" y="2335161"/>
            <a:ext cx="91440" cy="41474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2112264" y="2305560"/>
            <a:ext cx="91440" cy="29601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2203704" y="2288210"/>
            <a:ext cx="91440" cy="17350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2295144" y="2283334"/>
            <a:ext cx="91440" cy="4876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2386584" y="2283334"/>
            <a:ext cx="91440" cy="7659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2478024" y="2290993"/>
            <a:ext cx="91440" cy="20097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2569464" y="2311090"/>
            <a:ext cx="91440" cy="32278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2660904" y="2343368"/>
            <a:ext cx="91440" cy="44046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2752344" y="2387414"/>
            <a:ext cx="91440" cy="55252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2843784" y="2442666"/>
            <a:ext cx="91440" cy="65752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2935224" y="2508418"/>
            <a:ext cx="91440" cy="75411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3026664" y="2583829"/>
            <a:ext cx="91440" cy="84107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3118104" y="2667936"/>
            <a:ext cx="91440" cy="91729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3209544" y="2759665"/>
            <a:ext cx="91440" cy="98177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3300984" y="2857842"/>
            <a:ext cx="91440" cy="103373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3392424" y="2961215"/>
            <a:ext cx="91440" cy="107247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3483864" y="3068462"/>
            <a:ext cx="91440" cy="109750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3575304" y="3178212"/>
            <a:ext cx="91440" cy="110852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3666744" y="3289064"/>
            <a:ext cx="91439" cy="110537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3758183" y="3399601"/>
            <a:ext cx="91441" cy="108809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3849624" y="3508410"/>
            <a:ext cx="91440" cy="105691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3941064" y="3614101"/>
            <a:ext cx="91440" cy="101224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4032504" y="3715325"/>
            <a:ext cx="91440" cy="95462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4123944" y="3810787"/>
            <a:ext cx="91440" cy="88480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4215384" y="3899267"/>
            <a:ext cx="91440" cy="80369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4306824" y="3979636"/>
            <a:ext cx="91440" cy="71230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4398264" y="4050866"/>
            <a:ext cx="91440" cy="61181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4489704" y="4112047"/>
            <a:ext cx="91440" cy="50350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4581144" y="4162397"/>
            <a:ext cx="91440" cy="38877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4672584" y="4201274"/>
            <a:ext cx="91440" cy="26906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4764024" y="4228180"/>
            <a:ext cx="91440" cy="14591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4855464" y="4242771"/>
            <a:ext cx="91440" cy="2091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V="1">
            <a:off x="4946904" y="4234424"/>
            <a:ext cx="91440" cy="10438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V="1">
            <a:off x="5038344" y="4211593"/>
            <a:ext cx="91440" cy="22831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V="1">
            <a:off x="5129784" y="4176659"/>
            <a:ext cx="91440" cy="34934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V="1">
            <a:off x="5221224" y="4130069"/>
            <a:ext cx="91440" cy="46590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 flipV="1">
            <a:off x="5312664" y="4072417"/>
            <a:ext cx="91439" cy="57652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V="1">
            <a:off x="5404103" y="4004442"/>
            <a:ext cx="91441" cy="67975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V="1">
            <a:off x="5495544" y="3927011"/>
            <a:ext cx="91440" cy="77431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 flipV="1">
            <a:off x="5586984" y="3841114"/>
            <a:ext cx="91440" cy="85897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 flipV="1">
            <a:off x="5678424" y="3747848"/>
            <a:ext cx="91440" cy="93266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V="1">
            <a:off x="5769864" y="3648404"/>
            <a:ext cx="91440" cy="99444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V="1">
            <a:off x="5861304" y="3544054"/>
            <a:ext cx="91440" cy="104350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 flipV="1">
            <a:off x="5952744" y="3436132"/>
            <a:ext cx="91440" cy="107922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 flipV="1">
            <a:off x="6044184" y="3326014"/>
            <a:ext cx="91440" cy="110118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V="1">
            <a:off x="6135624" y="3215110"/>
            <a:ext cx="91440" cy="110904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 flipV="1">
            <a:off x="6227064" y="3104836"/>
            <a:ext cx="91439" cy="110274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 flipV="1">
            <a:off x="6318503" y="2996600"/>
            <a:ext cx="91441" cy="108236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V="1">
            <a:off x="6409944" y="2891787"/>
            <a:ext cx="91439" cy="104813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 flipV="1">
            <a:off x="6501383" y="2791734"/>
            <a:ext cx="91441" cy="100053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V="1">
            <a:off x="6592824" y="2697721"/>
            <a:ext cx="91440" cy="94013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 flipV="1">
            <a:off x="6684264" y="2610949"/>
            <a:ext cx="91440" cy="86772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 flipV="1">
            <a:off x="6775704" y="2532526"/>
            <a:ext cx="91440" cy="78423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 flipV="1">
            <a:off x="6867144" y="2463455"/>
            <a:ext cx="91440" cy="69071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 flipV="1">
            <a:off x="6958584" y="2404618"/>
            <a:ext cx="91440" cy="58837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 flipV="1">
            <a:off x="7050024" y="2356767"/>
            <a:ext cx="91440" cy="47851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 flipV="1">
            <a:off x="7141464" y="2320513"/>
            <a:ext cx="91440" cy="36254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 flipV="1">
            <a:off x="7232904" y="2296319"/>
            <a:ext cx="91440" cy="24194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 flipV="1">
            <a:off x="7324344" y="2284496"/>
            <a:ext cx="91439" cy="11823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>
            <a:off x="7415783" y="2284496"/>
            <a:ext cx="91441" cy="696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>
            <a:off x="7507224" y="2285192"/>
            <a:ext cx="91439" cy="13209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>
            <a:off x="7598663" y="2298401"/>
            <a:ext cx="91441" cy="25552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>
            <a:off x="7690104" y="2323953"/>
            <a:ext cx="91440" cy="37568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>
            <a:off x="7781544" y="2361521"/>
            <a:ext cx="91439" cy="49105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>
            <a:off x="7872983" y="2410626"/>
            <a:ext cx="91441" cy="60014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>
            <a:off x="7964424" y="2470640"/>
            <a:ext cx="91439" cy="70156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>
            <a:off x="8055863" y="2540796"/>
            <a:ext cx="91441" cy="79402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>
            <a:off x="8147304" y="2620198"/>
            <a:ext cx="91440" cy="87633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>
            <a:off x="8238744" y="2707831"/>
            <a:ext cx="91439" cy="94745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>
            <a:off x="8330183" y="2802576"/>
            <a:ext cx="91441" cy="100646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>
            <a:off x="8421624" y="2903222"/>
            <a:ext cx="91440" cy="105261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>
            <a:off x="8513064" y="3008483"/>
            <a:ext cx="91440" cy="108530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>
            <a:off x="8604504" y="3117013"/>
            <a:ext cx="91439" cy="110415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>
            <a:off x="8695943" y="3227428"/>
            <a:ext cx="91441" cy="110886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>
            <a:off x="8787384" y="3338314"/>
            <a:ext cx="91440" cy="109943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>
            <a:off x="8878824" y="3448257"/>
            <a:ext cx="91439" cy="107593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>
            <a:off x="8970263" y="3555850"/>
            <a:ext cx="91441" cy="103870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>
            <a:off x="9061704" y="3659720"/>
            <a:ext cx="91440" cy="98818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>
            <a:off x="9153144" y="3758538"/>
            <a:ext cx="91440" cy="92505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>
            <a:off x="9244584" y="3851043"/>
            <a:ext cx="91440" cy="85009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>
            <a:off x="9336024" y="3936052"/>
            <a:ext cx="91439" cy="76427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>
            <a:off x="9427463" y="4012479"/>
            <a:ext cx="91441" cy="66869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>
            <a:off x="9518904" y="4079348"/>
            <a:ext cx="91440" cy="56456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>
            <a:off x="9610344" y="4135804"/>
            <a:ext cx="91440" cy="45321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>
            <a:off x="9701784" y="4181125"/>
            <a:ext cx="91440" cy="33609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>
            <a:off x="9793224" y="4214734"/>
            <a:ext cx="91439" cy="21466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>
            <a:off x="9884663" y="4236200"/>
            <a:ext cx="91441" cy="9049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 flipV="1">
            <a:off x="9976104" y="4241765"/>
            <a:ext cx="91440" cy="3484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 flipV="1">
            <a:off x="10067544" y="4225793"/>
            <a:ext cx="91440" cy="15972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 flipV="1">
            <a:off x="10158984" y="4197538"/>
            <a:ext cx="91440" cy="28255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9" name="Oval 108"/>
          <p:cNvSpPr/>
          <p:nvPr/>
        </p:nvSpPr>
        <p:spPr>
          <a:xfrm>
            <a:off x="1045159" y="3203143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Oval 109"/>
          <p:cNvSpPr/>
          <p:nvPr/>
        </p:nvSpPr>
        <p:spPr>
          <a:xfrm>
            <a:off x="1748543" y="2453233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Oval 110"/>
          <p:cNvSpPr/>
          <p:nvPr/>
        </p:nvSpPr>
        <p:spPr>
          <a:xfrm>
            <a:off x="2451928" y="2235996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Oval 111"/>
          <p:cNvSpPr/>
          <p:nvPr/>
        </p:nvSpPr>
        <p:spPr>
          <a:xfrm>
            <a:off x="3155313" y="2705738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Oval 112"/>
          <p:cNvSpPr/>
          <p:nvPr/>
        </p:nvSpPr>
        <p:spPr>
          <a:xfrm>
            <a:off x="3858697" y="3528794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Oval 113"/>
          <p:cNvSpPr/>
          <p:nvPr/>
        </p:nvSpPr>
        <p:spPr>
          <a:xfrm>
            <a:off x="4562082" y="4120535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Oval 114"/>
          <p:cNvSpPr/>
          <p:nvPr/>
        </p:nvSpPr>
        <p:spPr>
          <a:xfrm>
            <a:off x="5265466" y="4060637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Oval 115"/>
          <p:cNvSpPr/>
          <p:nvPr/>
        </p:nvSpPr>
        <p:spPr>
          <a:xfrm>
            <a:off x="5968851" y="3391648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Oval 116"/>
          <p:cNvSpPr/>
          <p:nvPr/>
        </p:nvSpPr>
        <p:spPr>
          <a:xfrm>
            <a:off x="6672236" y="2588760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Oval 117"/>
          <p:cNvSpPr/>
          <p:nvPr/>
        </p:nvSpPr>
        <p:spPr>
          <a:xfrm>
            <a:off x="7375620" y="2222278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Oval 118"/>
          <p:cNvSpPr/>
          <p:nvPr/>
        </p:nvSpPr>
        <p:spPr>
          <a:xfrm>
            <a:off x="8079005" y="2552519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Oval 119"/>
          <p:cNvSpPr/>
          <p:nvPr/>
        </p:nvSpPr>
        <p:spPr>
          <a:xfrm>
            <a:off x="8782389" y="3344908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Oval 120"/>
          <p:cNvSpPr/>
          <p:nvPr/>
        </p:nvSpPr>
        <p:spPr>
          <a:xfrm>
            <a:off x="9485774" y="4036599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2" name="Connector 121"/>
          <p:cNvCxnSpPr/>
          <p:nvPr/>
        </p:nvCxnSpPr>
        <p:spPr>
          <a:xfrm>
            <a:off x="4023360" y="4754880"/>
            <a:ext cx="3200400" cy="0"/>
          </a:xfrm>
          <a:prstGeom prst="line">
            <a:avLst/>
          </a:prstGeom>
          <a:ln w="508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3" name="TextBox 122"/>
          <p:cNvSpPr txBox="1"/>
          <p:nvPr/>
        </p:nvSpPr>
        <p:spPr>
          <a:xfrm>
            <a:off x="3657600" y="5038344"/>
            <a:ext cx="420624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00B0F0"/>
                </a:solidFill>
                <a:latin typeface="Alibaba PuHuiTi 3.0 115 Black"/>
              </a:defRPr>
            </a:pPr>
            <a:r>
              <a:t>采样率：时间方向</a:t>
            </a:r>
          </a:p>
        </p:txBody>
      </p:sp>
      <p:cxnSp>
        <p:nvCxnSpPr>
          <p:cNvPr id="124" name="Connector 123"/>
          <p:cNvCxnSpPr/>
          <p:nvPr/>
        </p:nvCxnSpPr>
        <p:spPr>
          <a:xfrm>
            <a:off x="10625328" y="2103120"/>
            <a:ext cx="0" cy="2395728"/>
          </a:xfrm>
          <a:prstGeom prst="line">
            <a:avLst/>
          </a:prstGeom>
          <a:ln w="508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5" name="TextBox 124"/>
          <p:cNvSpPr txBox="1"/>
          <p:nvPr/>
        </p:nvSpPr>
        <p:spPr>
          <a:xfrm>
            <a:off x="9098280" y="1874519"/>
            <a:ext cx="2103120" cy="104241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t>量化位数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t>幅度方向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演示C：3 bit变4 bit，横向的点会变多吗？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591056"/>
            <a:ext cx="51206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2400" b="1">
                <a:solidFill>
                  <a:srgbClr val="8C64E1"/>
                </a:solidFill>
                <a:latin typeface="Alibaba PuHuiTi 3.0 115 Black"/>
              </a:defRPr>
            </a:pPr>
            <a:r>
              <a:t>采样率：横向有多少次记录？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91072" y="1591056"/>
            <a:ext cx="53035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2400" b="1">
                <a:solidFill>
                  <a:srgbClr val="00B0F0"/>
                </a:solidFill>
                <a:latin typeface="Alibaba PuHuiTi 3.0 115 Black"/>
              </a:defRPr>
            </a:pPr>
            <a:r>
              <a:t>量化位数：纵向有多少等级？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932688" y="4297680"/>
            <a:ext cx="4553712" cy="0"/>
          </a:xfrm>
          <a:prstGeom prst="line">
            <a:avLst/>
          </a:prstGeom>
          <a:ln w="1651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932688" y="2240280"/>
            <a:ext cx="0" cy="2194560"/>
          </a:xfrm>
          <a:prstGeom prst="line">
            <a:avLst/>
          </a:prstGeom>
          <a:ln w="1651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V="1">
            <a:off x="969264" y="3145084"/>
            <a:ext cx="52712" cy="59888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1021976" y="3085791"/>
            <a:ext cx="52712" cy="59293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1074688" y="3027685"/>
            <a:ext cx="52713" cy="58106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1127401" y="2971343"/>
            <a:ext cx="52712" cy="56342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1180113" y="2917325"/>
            <a:ext cx="52713" cy="54018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1232826" y="2866170"/>
            <a:ext cx="52712" cy="51155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1285538" y="2818386"/>
            <a:ext cx="52713" cy="47784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1338251" y="2774448"/>
            <a:ext cx="52712" cy="43938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1390963" y="2734794"/>
            <a:ext cx="52713" cy="39654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1443676" y="2699818"/>
            <a:ext cx="52712" cy="34976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1496388" y="2669869"/>
            <a:ext cx="52713" cy="29949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1549101" y="2645244"/>
            <a:ext cx="52712" cy="24625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1601813" y="2626188"/>
            <a:ext cx="52713" cy="19056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1654526" y="2612892"/>
            <a:ext cx="52712" cy="13296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1707238" y="2605487"/>
            <a:ext cx="52713" cy="7405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1759951" y="2604046"/>
            <a:ext cx="52712" cy="1441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1812663" y="2604046"/>
            <a:ext cx="52713" cy="4539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1865376" y="2608585"/>
            <a:ext cx="52712" cy="10473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1918088" y="2619058"/>
            <a:ext cx="52712" cy="16303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1970800" y="2635361"/>
            <a:ext cx="52713" cy="21971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2023513" y="2657332"/>
            <a:ext cx="52712" cy="27419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2076225" y="2684751"/>
            <a:ext cx="52713" cy="32596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2128938" y="2717347"/>
            <a:ext cx="52712" cy="37448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2181650" y="2754795"/>
            <a:ext cx="52713" cy="41927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2234363" y="2796722"/>
            <a:ext cx="52712" cy="45990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2287075" y="2842712"/>
            <a:ext cx="52713" cy="49594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2339788" y="2892306"/>
            <a:ext cx="52712" cy="52705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2392500" y="2945011"/>
            <a:ext cx="52713" cy="55291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2445213" y="3000302"/>
            <a:ext cx="52712" cy="57328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2497925" y="3057630"/>
            <a:ext cx="52713" cy="58795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2550638" y="3116425"/>
            <a:ext cx="52712" cy="59675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2603350" y="3176100"/>
            <a:ext cx="52713" cy="59962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2656063" y="3236062"/>
            <a:ext cx="52712" cy="59653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2708775" y="3295715"/>
            <a:ext cx="52713" cy="58751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2761488" y="3354466"/>
            <a:ext cx="52712" cy="57262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2814200" y="3411728"/>
            <a:ext cx="52712" cy="55206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2866912" y="3466934"/>
            <a:ext cx="52713" cy="52599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2919625" y="3519533"/>
            <a:ext cx="52712" cy="49469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2972337" y="3569002"/>
            <a:ext cx="52713" cy="45847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3025050" y="3614849"/>
            <a:ext cx="52712" cy="41768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3077762" y="3656617"/>
            <a:ext cx="52713" cy="37275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3130475" y="3693892"/>
            <a:ext cx="52712" cy="32409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3183187" y="3726301"/>
            <a:ext cx="52713" cy="27223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3235900" y="3753524"/>
            <a:ext cx="52712" cy="21764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3288612" y="3775288"/>
            <a:ext cx="52713" cy="16090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3341325" y="3791378"/>
            <a:ext cx="52712" cy="10254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3394037" y="3801632"/>
            <a:ext cx="52713" cy="4318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V="1">
            <a:off x="3446750" y="3804288"/>
            <a:ext cx="52712" cy="1662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V="1">
            <a:off x="3499462" y="3796663"/>
            <a:ext cx="52713" cy="7625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 flipV="1">
            <a:off x="3552175" y="3783150"/>
            <a:ext cx="52712" cy="13513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 flipV="1">
            <a:off x="3604887" y="3763885"/>
            <a:ext cx="52713" cy="19265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V="1">
            <a:off x="3657600" y="3739058"/>
            <a:ext cx="52712" cy="24827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V="1">
            <a:off x="3710312" y="3708917"/>
            <a:ext cx="52712" cy="30141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 flipV="1">
            <a:off x="3763024" y="3673761"/>
            <a:ext cx="52713" cy="35156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 flipV="1">
            <a:off x="3815737" y="3633942"/>
            <a:ext cx="52712" cy="39819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V="1">
            <a:off x="3868449" y="3589853"/>
            <a:ext cx="52713" cy="44089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 flipV="1">
            <a:off x="3921162" y="3541935"/>
            <a:ext cx="52712" cy="47918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 flipV="1">
            <a:off x="3973874" y="3490665"/>
            <a:ext cx="52713" cy="51270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V="1">
            <a:off x="4026587" y="3436551"/>
            <a:ext cx="52712" cy="54114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 flipV="1">
            <a:off x="4079299" y="3380134"/>
            <a:ext cx="52713" cy="56417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V="1">
            <a:off x="4132012" y="3321973"/>
            <a:ext cx="52712" cy="58161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 flipV="1">
            <a:off x="4184724" y="3262648"/>
            <a:ext cx="52713" cy="59325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 flipV="1">
            <a:off x="4237437" y="3202750"/>
            <a:ext cx="52712" cy="59898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 flipV="1">
            <a:off x="4290149" y="3142873"/>
            <a:ext cx="52713" cy="59877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 flipV="1">
            <a:off x="4342862" y="3083615"/>
            <a:ext cx="52712" cy="59258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 flipV="1">
            <a:off x="4395574" y="3025564"/>
            <a:ext cx="52713" cy="58051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 flipV="1">
            <a:off x="4448287" y="2969298"/>
            <a:ext cx="52712" cy="56266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 flipV="1">
            <a:off x="4500999" y="2915377"/>
            <a:ext cx="52713" cy="53921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 flipV="1">
            <a:off x="4553712" y="2864337"/>
            <a:ext cx="52712" cy="51040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 flipV="1">
            <a:off x="4606424" y="2816687"/>
            <a:ext cx="52712" cy="47650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 flipV="1">
            <a:off x="4659136" y="2772900"/>
            <a:ext cx="52713" cy="43787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 flipV="1">
            <a:off x="4711849" y="2733413"/>
            <a:ext cx="52712" cy="39487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 flipV="1">
            <a:off x="4764561" y="2698618"/>
            <a:ext cx="52713" cy="34795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 flipV="1">
            <a:off x="4817274" y="2668860"/>
            <a:ext cx="52712" cy="29758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 flipV="1">
            <a:off x="4869986" y="2644438"/>
            <a:ext cx="52713" cy="24422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 flipV="1">
            <a:off x="4922699" y="2625592"/>
            <a:ext cx="52712" cy="18846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 flipV="1">
            <a:off x="4975411" y="2612512"/>
            <a:ext cx="52713" cy="13080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 flipV="1">
            <a:off x="5028124" y="2605327"/>
            <a:ext cx="52712" cy="7185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 flipV="1">
            <a:off x="5080836" y="2604108"/>
            <a:ext cx="52713" cy="1219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>
            <a:off x="5133549" y="2604108"/>
            <a:ext cx="52712" cy="4760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>
            <a:off x="5186261" y="2608868"/>
            <a:ext cx="52713" cy="10691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>
            <a:off x="5238974" y="2619559"/>
            <a:ext cx="52712" cy="16516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>
            <a:off x="5291686" y="2636075"/>
            <a:ext cx="52713" cy="22176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>
            <a:off x="5344399" y="2658251"/>
            <a:ext cx="52712" cy="27617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>
            <a:off x="5397111" y="2685868"/>
            <a:ext cx="52713" cy="32782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>
            <a:off x="6528816" y="4297680"/>
            <a:ext cx="4553712" cy="0"/>
          </a:xfrm>
          <a:prstGeom prst="line">
            <a:avLst/>
          </a:prstGeom>
          <a:ln w="1651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>
            <a:off x="6528816" y="2240280"/>
            <a:ext cx="0" cy="2194560"/>
          </a:xfrm>
          <a:prstGeom prst="line">
            <a:avLst/>
          </a:prstGeom>
          <a:ln w="1651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 flipV="1">
            <a:off x="6565392" y="3145084"/>
            <a:ext cx="52712" cy="59888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 flipV="1">
            <a:off x="6618104" y="3085791"/>
            <a:ext cx="52712" cy="59293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 flipV="1">
            <a:off x="6670816" y="3027685"/>
            <a:ext cx="52713" cy="58106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 flipV="1">
            <a:off x="6723529" y="2971343"/>
            <a:ext cx="52712" cy="56342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 flipV="1">
            <a:off x="6776241" y="2917325"/>
            <a:ext cx="52713" cy="54018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 flipV="1">
            <a:off x="6828954" y="2866170"/>
            <a:ext cx="52712" cy="51155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 flipV="1">
            <a:off x="6881666" y="2818386"/>
            <a:ext cx="52713" cy="47784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 flipV="1">
            <a:off x="6934379" y="2774448"/>
            <a:ext cx="52712" cy="43938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 flipV="1">
            <a:off x="6987091" y="2734794"/>
            <a:ext cx="52713" cy="39654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 flipV="1">
            <a:off x="7039804" y="2699818"/>
            <a:ext cx="52712" cy="34976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 flipV="1">
            <a:off x="7092516" y="2669869"/>
            <a:ext cx="52713" cy="29949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 flipV="1">
            <a:off x="7145229" y="2645244"/>
            <a:ext cx="52712" cy="24625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 flipV="1">
            <a:off x="7197941" y="2626188"/>
            <a:ext cx="52713" cy="19056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or 108"/>
          <p:cNvCxnSpPr/>
          <p:nvPr/>
        </p:nvCxnSpPr>
        <p:spPr>
          <a:xfrm flipV="1">
            <a:off x="7250654" y="2612892"/>
            <a:ext cx="52712" cy="13296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Connector 109"/>
          <p:cNvCxnSpPr/>
          <p:nvPr/>
        </p:nvCxnSpPr>
        <p:spPr>
          <a:xfrm flipV="1">
            <a:off x="7303366" y="2605487"/>
            <a:ext cx="52713" cy="7405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Connector 110"/>
          <p:cNvCxnSpPr/>
          <p:nvPr/>
        </p:nvCxnSpPr>
        <p:spPr>
          <a:xfrm flipV="1">
            <a:off x="7356079" y="2604046"/>
            <a:ext cx="52712" cy="1441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Connector 111"/>
          <p:cNvCxnSpPr/>
          <p:nvPr/>
        </p:nvCxnSpPr>
        <p:spPr>
          <a:xfrm>
            <a:off x="7408791" y="2604046"/>
            <a:ext cx="52713" cy="4539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Connector 112"/>
          <p:cNvCxnSpPr/>
          <p:nvPr/>
        </p:nvCxnSpPr>
        <p:spPr>
          <a:xfrm>
            <a:off x="7461504" y="2608585"/>
            <a:ext cx="52712" cy="10473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Connector 113"/>
          <p:cNvCxnSpPr/>
          <p:nvPr/>
        </p:nvCxnSpPr>
        <p:spPr>
          <a:xfrm>
            <a:off x="7514216" y="2619058"/>
            <a:ext cx="52712" cy="16303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Connector 114"/>
          <p:cNvCxnSpPr/>
          <p:nvPr/>
        </p:nvCxnSpPr>
        <p:spPr>
          <a:xfrm>
            <a:off x="7566928" y="2635361"/>
            <a:ext cx="52713" cy="21971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Connector 115"/>
          <p:cNvCxnSpPr/>
          <p:nvPr/>
        </p:nvCxnSpPr>
        <p:spPr>
          <a:xfrm>
            <a:off x="7619641" y="2657332"/>
            <a:ext cx="52712" cy="27419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" name="Connector 116"/>
          <p:cNvCxnSpPr/>
          <p:nvPr/>
        </p:nvCxnSpPr>
        <p:spPr>
          <a:xfrm>
            <a:off x="7672353" y="2684751"/>
            <a:ext cx="52713" cy="32596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Connector 117"/>
          <p:cNvCxnSpPr/>
          <p:nvPr/>
        </p:nvCxnSpPr>
        <p:spPr>
          <a:xfrm>
            <a:off x="7725066" y="2717347"/>
            <a:ext cx="52712" cy="37448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or 118"/>
          <p:cNvCxnSpPr/>
          <p:nvPr/>
        </p:nvCxnSpPr>
        <p:spPr>
          <a:xfrm>
            <a:off x="7777778" y="2754795"/>
            <a:ext cx="52713" cy="41927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Connector 119"/>
          <p:cNvCxnSpPr/>
          <p:nvPr/>
        </p:nvCxnSpPr>
        <p:spPr>
          <a:xfrm>
            <a:off x="7830491" y="2796722"/>
            <a:ext cx="52712" cy="45990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" name="Connector 120"/>
          <p:cNvCxnSpPr/>
          <p:nvPr/>
        </p:nvCxnSpPr>
        <p:spPr>
          <a:xfrm>
            <a:off x="7883203" y="2842712"/>
            <a:ext cx="52713" cy="49594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" name="Connector 121"/>
          <p:cNvCxnSpPr/>
          <p:nvPr/>
        </p:nvCxnSpPr>
        <p:spPr>
          <a:xfrm>
            <a:off x="7935916" y="2892306"/>
            <a:ext cx="52712" cy="52705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" name="Connector 122"/>
          <p:cNvCxnSpPr/>
          <p:nvPr/>
        </p:nvCxnSpPr>
        <p:spPr>
          <a:xfrm>
            <a:off x="7988628" y="2945011"/>
            <a:ext cx="52713" cy="55291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Connector 123"/>
          <p:cNvCxnSpPr/>
          <p:nvPr/>
        </p:nvCxnSpPr>
        <p:spPr>
          <a:xfrm>
            <a:off x="8041341" y="3000302"/>
            <a:ext cx="52712" cy="57328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Connector 124"/>
          <p:cNvCxnSpPr/>
          <p:nvPr/>
        </p:nvCxnSpPr>
        <p:spPr>
          <a:xfrm>
            <a:off x="8094053" y="3057630"/>
            <a:ext cx="52713" cy="58795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" name="Connector 125"/>
          <p:cNvCxnSpPr/>
          <p:nvPr/>
        </p:nvCxnSpPr>
        <p:spPr>
          <a:xfrm>
            <a:off x="8146766" y="3116425"/>
            <a:ext cx="52712" cy="59675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" name="Connector 126"/>
          <p:cNvCxnSpPr/>
          <p:nvPr/>
        </p:nvCxnSpPr>
        <p:spPr>
          <a:xfrm>
            <a:off x="8199478" y="3176100"/>
            <a:ext cx="52713" cy="59962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" name="Connector 127"/>
          <p:cNvCxnSpPr/>
          <p:nvPr/>
        </p:nvCxnSpPr>
        <p:spPr>
          <a:xfrm>
            <a:off x="8252191" y="3236062"/>
            <a:ext cx="52712" cy="59653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" name="Connector 128"/>
          <p:cNvCxnSpPr/>
          <p:nvPr/>
        </p:nvCxnSpPr>
        <p:spPr>
          <a:xfrm>
            <a:off x="8304903" y="3295715"/>
            <a:ext cx="52713" cy="58751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" name="Connector 129"/>
          <p:cNvCxnSpPr/>
          <p:nvPr/>
        </p:nvCxnSpPr>
        <p:spPr>
          <a:xfrm>
            <a:off x="8357616" y="3354466"/>
            <a:ext cx="52712" cy="57262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Connector 130"/>
          <p:cNvCxnSpPr/>
          <p:nvPr/>
        </p:nvCxnSpPr>
        <p:spPr>
          <a:xfrm>
            <a:off x="8410328" y="3411728"/>
            <a:ext cx="52712" cy="55206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Connector 131"/>
          <p:cNvCxnSpPr/>
          <p:nvPr/>
        </p:nvCxnSpPr>
        <p:spPr>
          <a:xfrm>
            <a:off x="8463040" y="3466934"/>
            <a:ext cx="52713" cy="52599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3" name="Connector 132"/>
          <p:cNvCxnSpPr/>
          <p:nvPr/>
        </p:nvCxnSpPr>
        <p:spPr>
          <a:xfrm>
            <a:off x="8515753" y="3519533"/>
            <a:ext cx="52712" cy="49469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Connector 133"/>
          <p:cNvCxnSpPr/>
          <p:nvPr/>
        </p:nvCxnSpPr>
        <p:spPr>
          <a:xfrm>
            <a:off x="8568465" y="3569002"/>
            <a:ext cx="52713" cy="45847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Connector 134"/>
          <p:cNvCxnSpPr/>
          <p:nvPr/>
        </p:nvCxnSpPr>
        <p:spPr>
          <a:xfrm>
            <a:off x="8621178" y="3614849"/>
            <a:ext cx="52712" cy="41768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Connector 135"/>
          <p:cNvCxnSpPr/>
          <p:nvPr/>
        </p:nvCxnSpPr>
        <p:spPr>
          <a:xfrm>
            <a:off x="8673890" y="3656617"/>
            <a:ext cx="52713" cy="37275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Connector 136"/>
          <p:cNvCxnSpPr/>
          <p:nvPr/>
        </p:nvCxnSpPr>
        <p:spPr>
          <a:xfrm>
            <a:off x="8726603" y="3693892"/>
            <a:ext cx="52712" cy="32409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Connector 137"/>
          <p:cNvCxnSpPr/>
          <p:nvPr/>
        </p:nvCxnSpPr>
        <p:spPr>
          <a:xfrm>
            <a:off x="8779315" y="3726301"/>
            <a:ext cx="52713" cy="27223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" name="Connector 138"/>
          <p:cNvCxnSpPr/>
          <p:nvPr/>
        </p:nvCxnSpPr>
        <p:spPr>
          <a:xfrm>
            <a:off x="8832028" y="3753524"/>
            <a:ext cx="52712" cy="21764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" name="Connector 139"/>
          <p:cNvCxnSpPr/>
          <p:nvPr/>
        </p:nvCxnSpPr>
        <p:spPr>
          <a:xfrm>
            <a:off x="8884740" y="3775288"/>
            <a:ext cx="52713" cy="16090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Connector 140"/>
          <p:cNvCxnSpPr/>
          <p:nvPr/>
        </p:nvCxnSpPr>
        <p:spPr>
          <a:xfrm>
            <a:off x="8937453" y="3791378"/>
            <a:ext cx="52712" cy="10254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2" name="Connector 141"/>
          <p:cNvCxnSpPr/>
          <p:nvPr/>
        </p:nvCxnSpPr>
        <p:spPr>
          <a:xfrm>
            <a:off x="8990165" y="3801632"/>
            <a:ext cx="52713" cy="4318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3" name="Connector 142"/>
          <p:cNvCxnSpPr/>
          <p:nvPr/>
        </p:nvCxnSpPr>
        <p:spPr>
          <a:xfrm flipV="1">
            <a:off x="9042878" y="3804288"/>
            <a:ext cx="52712" cy="1662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4" name="Connector 143"/>
          <p:cNvCxnSpPr/>
          <p:nvPr/>
        </p:nvCxnSpPr>
        <p:spPr>
          <a:xfrm flipV="1">
            <a:off x="9095590" y="3796663"/>
            <a:ext cx="52713" cy="7625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5" name="Connector 144"/>
          <p:cNvCxnSpPr/>
          <p:nvPr/>
        </p:nvCxnSpPr>
        <p:spPr>
          <a:xfrm flipV="1">
            <a:off x="9148303" y="3783150"/>
            <a:ext cx="52712" cy="13513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6" name="Connector 145"/>
          <p:cNvCxnSpPr/>
          <p:nvPr/>
        </p:nvCxnSpPr>
        <p:spPr>
          <a:xfrm flipV="1">
            <a:off x="9201015" y="3763885"/>
            <a:ext cx="52713" cy="19265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7" name="Connector 146"/>
          <p:cNvCxnSpPr/>
          <p:nvPr/>
        </p:nvCxnSpPr>
        <p:spPr>
          <a:xfrm flipV="1">
            <a:off x="9253728" y="3739058"/>
            <a:ext cx="52712" cy="24827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8" name="Connector 147"/>
          <p:cNvCxnSpPr/>
          <p:nvPr/>
        </p:nvCxnSpPr>
        <p:spPr>
          <a:xfrm flipV="1">
            <a:off x="9306440" y="3708917"/>
            <a:ext cx="52712" cy="30141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9" name="Connector 148"/>
          <p:cNvCxnSpPr/>
          <p:nvPr/>
        </p:nvCxnSpPr>
        <p:spPr>
          <a:xfrm flipV="1">
            <a:off x="9359152" y="3673761"/>
            <a:ext cx="52713" cy="35156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0" name="Connector 149"/>
          <p:cNvCxnSpPr/>
          <p:nvPr/>
        </p:nvCxnSpPr>
        <p:spPr>
          <a:xfrm flipV="1">
            <a:off x="9411865" y="3633942"/>
            <a:ext cx="52712" cy="39819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1" name="Connector 150"/>
          <p:cNvCxnSpPr/>
          <p:nvPr/>
        </p:nvCxnSpPr>
        <p:spPr>
          <a:xfrm flipV="1">
            <a:off x="9464577" y="3589853"/>
            <a:ext cx="52713" cy="44089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2" name="Connector 151"/>
          <p:cNvCxnSpPr/>
          <p:nvPr/>
        </p:nvCxnSpPr>
        <p:spPr>
          <a:xfrm flipV="1">
            <a:off x="9517290" y="3541935"/>
            <a:ext cx="52712" cy="47918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" name="Connector 152"/>
          <p:cNvCxnSpPr/>
          <p:nvPr/>
        </p:nvCxnSpPr>
        <p:spPr>
          <a:xfrm flipV="1">
            <a:off x="9570002" y="3490665"/>
            <a:ext cx="52713" cy="51270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4" name="Connector 153"/>
          <p:cNvCxnSpPr/>
          <p:nvPr/>
        </p:nvCxnSpPr>
        <p:spPr>
          <a:xfrm flipV="1">
            <a:off x="9622715" y="3436551"/>
            <a:ext cx="52712" cy="54114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5" name="Connector 154"/>
          <p:cNvCxnSpPr/>
          <p:nvPr/>
        </p:nvCxnSpPr>
        <p:spPr>
          <a:xfrm flipV="1">
            <a:off x="9675427" y="3380134"/>
            <a:ext cx="52713" cy="56417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6" name="Connector 155"/>
          <p:cNvCxnSpPr/>
          <p:nvPr/>
        </p:nvCxnSpPr>
        <p:spPr>
          <a:xfrm flipV="1">
            <a:off x="9728140" y="3321973"/>
            <a:ext cx="52712" cy="58161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7" name="Connector 156"/>
          <p:cNvCxnSpPr/>
          <p:nvPr/>
        </p:nvCxnSpPr>
        <p:spPr>
          <a:xfrm flipV="1">
            <a:off x="9780852" y="3262648"/>
            <a:ext cx="52713" cy="59325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8" name="Connector 157"/>
          <p:cNvCxnSpPr/>
          <p:nvPr/>
        </p:nvCxnSpPr>
        <p:spPr>
          <a:xfrm flipV="1">
            <a:off x="9833565" y="3202750"/>
            <a:ext cx="52712" cy="59898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9" name="Connector 158"/>
          <p:cNvCxnSpPr/>
          <p:nvPr/>
        </p:nvCxnSpPr>
        <p:spPr>
          <a:xfrm flipV="1">
            <a:off x="9886277" y="3142873"/>
            <a:ext cx="52713" cy="59877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0" name="Connector 159"/>
          <p:cNvCxnSpPr/>
          <p:nvPr/>
        </p:nvCxnSpPr>
        <p:spPr>
          <a:xfrm flipV="1">
            <a:off x="9938990" y="3083615"/>
            <a:ext cx="52712" cy="59258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1" name="Connector 160"/>
          <p:cNvCxnSpPr/>
          <p:nvPr/>
        </p:nvCxnSpPr>
        <p:spPr>
          <a:xfrm flipV="1">
            <a:off x="9991702" y="3025564"/>
            <a:ext cx="52713" cy="58051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2" name="Connector 161"/>
          <p:cNvCxnSpPr/>
          <p:nvPr/>
        </p:nvCxnSpPr>
        <p:spPr>
          <a:xfrm flipV="1">
            <a:off x="10044415" y="2969298"/>
            <a:ext cx="52712" cy="56266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3" name="Connector 162"/>
          <p:cNvCxnSpPr/>
          <p:nvPr/>
        </p:nvCxnSpPr>
        <p:spPr>
          <a:xfrm flipV="1">
            <a:off x="10097127" y="2915377"/>
            <a:ext cx="52713" cy="53921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4" name="Connector 163"/>
          <p:cNvCxnSpPr/>
          <p:nvPr/>
        </p:nvCxnSpPr>
        <p:spPr>
          <a:xfrm flipV="1">
            <a:off x="10149840" y="2864337"/>
            <a:ext cx="52712" cy="51040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5" name="Connector 164"/>
          <p:cNvCxnSpPr/>
          <p:nvPr/>
        </p:nvCxnSpPr>
        <p:spPr>
          <a:xfrm flipV="1">
            <a:off x="10202552" y="2816687"/>
            <a:ext cx="52712" cy="47650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6" name="Connector 165"/>
          <p:cNvCxnSpPr/>
          <p:nvPr/>
        </p:nvCxnSpPr>
        <p:spPr>
          <a:xfrm flipV="1">
            <a:off x="10255264" y="2772900"/>
            <a:ext cx="52713" cy="43787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7" name="Connector 166"/>
          <p:cNvCxnSpPr/>
          <p:nvPr/>
        </p:nvCxnSpPr>
        <p:spPr>
          <a:xfrm flipV="1">
            <a:off x="10307977" y="2733413"/>
            <a:ext cx="52712" cy="39487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8" name="Connector 167"/>
          <p:cNvCxnSpPr/>
          <p:nvPr/>
        </p:nvCxnSpPr>
        <p:spPr>
          <a:xfrm flipV="1">
            <a:off x="10360689" y="2698618"/>
            <a:ext cx="52713" cy="34795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9" name="Connector 168"/>
          <p:cNvCxnSpPr/>
          <p:nvPr/>
        </p:nvCxnSpPr>
        <p:spPr>
          <a:xfrm flipV="1">
            <a:off x="10413402" y="2668860"/>
            <a:ext cx="52712" cy="29758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0" name="Connector 169"/>
          <p:cNvCxnSpPr/>
          <p:nvPr/>
        </p:nvCxnSpPr>
        <p:spPr>
          <a:xfrm flipV="1">
            <a:off x="10466114" y="2644438"/>
            <a:ext cx="52713" cy="24422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1" name="Connector 170"/>
          <p:cNvCxnSpPr/>
          <p:nvPr/>
        </p:nvCxnSpPr>
        <p:spPr>
          <a:xfrm flipV="1">
            <a:off x="10518827" y="2625592"/>
            <a:ext cx="52712" cy="18846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2" name="Connector 171"/>
          <p:cNvCxnSpPr/>
          <p:nvPr/>
        </p:nvCxnSpPr>
        <p:spPr>
          <a:xfrm flipV="1">
            <a:off x="10571539" y="2612512"/>
            <a:ext cx="52713" cy="13080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3" name="Connector 172"/>
          <p:cNvCxnSpPr/>
          <p:nvPr/>
        </p:nvCxnSpPr>
        <p:spPr>
          <a:xfrm flipV="1">
            <a:off x="10624252" y="2605327"/>
            <a:ext cx="52712" cy="7185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" name="Connector 173"/>
          <p:cNvCxnSpPr/>
          <p:nvPr/>
        </p:nvCxnSpPr>
        <p:spPr>
          <a:xfrm flipV="1">
            <a:off x="10676964" y="2604108"/>
            <a:ext cx="52713" cy="1219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5" name="Connector 174"/>
          <p:cNvCxnSpPr/>
          <p:nvPr/>
        </p:nvCxnSpPr>
        <p:spPr>
          <a:xfrm>
            <a:off x="10729677" y="2604108"/>
            <a:ext cx="52712" cy="4760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6" name="Connector 175"/>
          <p:cNvCxnSpPr/>
          <p:nvPr/>
        </p:nvCxnSpPr>
        <p:spPr>
          <a:xfrm>
            <a:off x="10782389" y="2608868"/>
            <a:ext cx="52713" cy="10691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7" name="Connector 176"/>
          <p:cNvCxnSpPr/>
          <p:nvPr/>
        </p:nvCxnSpPr>
        <p:spPr>
          <a:xfrm>
            <a:off x="10835102" y="2619559"/>
            <a:ext cx="52712" cy="16516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8" name="Connector 177"/>
          <p:cNvCxnSpPr/>
          <p:nvPr/>
        </p:nvCxnSpPr>
        <p:spPr>
          <a:xfrm>
            <a:off x="10887814" y="2636075"/>
            <a:ext cx="52713" cy="22176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9" name="Connector 178"/>
          <p:cNvCxnSpPr/>
          <p:nvPr/>
        </p:nvCxnSpPr>
        <p:spPr>
          <a:xfrm>
            <a:off x="10940527" y="2658251"/>
            <a:ext cx="52712" cy="27617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0" name="Connector 179"/>
          <p:cNvCxnSpPr/>
          <p:nvPr/>
        </p:nvCxnSpPr>
        <p:spPr>
          <a:xfrm>
            <a:off x="10993239" y="2685868"/>
            <a:ext cx="52713" cy="32782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1" name="Oval 180"/>
          <p:cNvSpPr/>
          <p:nvPr/>
        </p:nvSpPr>
        <p:spPr>
          <a:xfrm>
            <a:off x="905256" y="3140964"/>
            <a:ext cx="128016" cy="128016"/>
          </a:xfrm>
          <a:prstGeom prst="ellipse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Oval 181"/>
          <p:cNvSpPr/>
          <p:nvPr/>
        </p:nvSpPr>
        <p:spPr>
          <a:xfrm>
            <a:off x="1353312" y="2690052"/>
            <a:ext cx="128016" cy="128016"/>
          </a:xfrm>
          <a:prstGeom prst="ellipse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Oval 182"/>
          <p:cNvSpPr/>
          <p:nvPr/>
        </p:nvSpPr>
        <p:spPr>
          <a:xfrm>
            <a:off x="1801368" y="2544577"/>
            <a:ext cx="128016" cy="128016"/>
          </a:xfrm>
          <a:prstGeom prst="ellipse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Oval 183"/>
          <p:cNvSpPr/>
          <p:nvPr/>
        </p:nvSpPr>
        <p:spPr>
          <a:xfrm>
            <a:off x="2249424" y="2803080"/>
            <a:ext cx="128016" cy="128016"/>
          </a:xfrm>
          <a:prstGeom prst="ellipse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Oval 184"/>
          <p:cNvSpPr/>
          <p:nvPr/>
        </p:nvSpPr>
        <p:spPr>
          <a:xfrm>
            <a:off x="2697480" y="3290458"/>
            <a:ext cx="128016" cy="128016"/>
          </a:xfrm>
          <a:prstGeom prst="ellipse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Oval 185"/>
          <p:cNvSpPr/>
          <p:nvPr/>
        </p:nvSpPr>
        <p:spPr>
          <a:xfrm>
            <a:off x="3145536" y="3676571"/>
            <a:ext cx="128016" cy="128016"/>
          </a:xfrm>
          <a:prstGeom prst="ellipse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Oval 186"/>
          <p:cNvSpPr/>
          <p:nvPr/>
        </p:nvSpPr>
        <p:spPr>
          <a:xfrm>
            <a:off x="3593592" y="3699877"/>
            <a:ext cx="128016" cy="128016"/>
          </a:xfrm>
          <a:prstGeom prst="ellipse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Oval 187"/>
          <p:cNvSpPr/>
          <p:nvPr/>
        </p:nvSpPr>
        <p:spPr>
          <a:xfrm>
            <a:off x="4041648" y="3344588"/>
            <a:ext cx="128016" cy="128016"/>
          </a:xfrm>
          <a:prstGeom prst="ellipse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Oval 188"/>
          <p:cNvSpPr/>
          <p:nvPr/>
        </p:nvSpPr>
        <p:spPr>
          <a:xfrm>
            <a:off x="4489704" y="2851369"/>
            <a:ext cx="128016" cy="128016"/>
          </a:xfrm>
          <a:prstGeom prst="ellipse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Oval 189"/>
          <p:cNvSpPr/>
          <p:nvPr/>
        </p:nvSpPr>
        <p:spPr>
          <a:xfrm>
            <a:off x="4937760" y="2554314"/>
            <a:ext cx="128016" cy="128016"/>
          </a:xfrm>
          <a:prstGeom prst="ellipse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Oval 190"/>
          <p:cNvSpPr/>
          <p:nvPr/>
        </p:nvSpPr>
        <p:spPr>
          <a:xfrm>
            <a:off x="5385816" y="2654642"/>
            <a:ext cx="128016" cy="128016"/>
          </a:xfrm>
          <a:prstGeom prst="ellipse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92" name="Connector 191"/>
          <p:cNvCxnSpPr/>
          <p:nvPr/>
        </p:nvCxnSpPr>
        <p:spPr>
          <a:xfrm>
            <a:off x="6537960" y="2331720"/>
            <a:ext cx="4544568" cy="0"/>
          </a:xfrm>
          <a:prstGeom prst="line">
            <a:avLst/>
          </a:prstGeom>
          <a:ln w="1905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3" name="Connector 192"/>
          <p:cNvCxnSpPr/>
          <p:nvPr/>
        </p:nvCxnSpPr>
        <p:spPr>
          <a:xfrm>
            <a:off x="6537960" y="2578608"/>
            <a:ext cx="4544568" cy="0"/>
          </a:xfrm>
          <a:prstGeom prst="line">
            <a:avLst/>
          </a:prstGeom>
          <a:ln w="1905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4" name="Connector 193"/>
          <p:cNvCxnSpPr/>
          <p:nvPr/>
        </p:nvCxnSpPr>
        <p:spPr>
          <a:xfrm>
            <a:off x="6537960" y="2825496"/>
            <a:ext cx="4544568" cy="0"/>
          </a:xfrm>
          <a:prstGeom prst="line">
            <a:avLst/>
          </a:prstGeom>
          <a:ln w="1905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5" name="Connector 194"/>
          <p:cNvCxnSpPr/>
          <p:nvPr/>
        </p:nvCxnSpPr>
        <p:spPr>
          <a:xfrm>
            <a:off x="6537960" y="3072384"/>
            <a:ext cx="4544568" cy="0"/>
          </a:xfrm>
          <a:prstGeom prst="line">
            <a:avLst/>
          </a:prstGeom>
          <a:ln w="1905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6" name="Connector 195"/>
          <p:cNvCxnSpPr/>
          <p:nvPr/>
        </p:nvCxnSpPr>
        <p:spPr>
          <a:xfrm>
            <a:off x="6537960" y="3319272"/>
            <a:ext cx="4544568" cy="0"/>
          </a:xfrm>
          <a:prstGeom prst="line">
            <a:avLst/>
          </a:prstGeom>
          <a:ln w="1905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7" name="Connector 196"/>
          <p:cNvCxnSpPr/>
          <p:nvPr/>
        </p:nvCxnSpPr>
        <p:spPr>
          <a:xfrm>
            <a:off x="6537960" y="3566160"/>
            <a:ext cx="4544568" cy="0"/>
          </a:xfrm>
          <a:prstGeom prst="line">
            <a:avLst/>
          </a:prstGeom>
          <a:ln w="1905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8" name="Connector 197"/>
          <p:cNvCxnSpPr/>
          <p:nvPr/>
        </p:nvCxnSpPr>
        <p:spPr>
          <a:xfrm>
            <a:off x="6537960" y="3813048"/>
            <a:ext cx="4544568" cy="0"/>
          </a:xfrm>
          <a:prstGeom prst="line">
            <a:avLst/>
          </a:prstGeom>
          <a:ln w="1905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9" name="Connector 198"/>
          <p:cNvCxnSpPr/>
          <p:nvPr/>
        </p:nvCxnSpPr>
        <p:spPr>
          <a:xfrm>
            <a:off x="6537960" y="4059935"/>
            <a:ext cx="4544568" cy="0"/>
          </a:xfrm>
          <a:prstGeom prst="line">
            <a:avLst/>
          </a:prstGeom>
          <a:ln w="1905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0" name="TextBox 199"/>
          <p:cNvSpPr txBox="1"/>
          <p:nvPr/>
        </p:nvSpPr>
        <p:spPr>
          <a:xfrm>
            <a:off x="868680" y="4864608"/>
            <a:ext cx="498348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2100" b="1">
                <a:solidFill>
                  <a:srgbClr val="8C64E1"/>
                </a:solidFill>
                <a:latin typeface="Alibaba PuHuiTi 3.0 115 Black"/>
              </a:defRPr>
            </a:pPr>
            <a:r>
              <a:t>时间位置变密：样本个数变化</a:t>
            </a:r>
          </a:p>
        </p:txBody>
      </p:sp>
      <p:sp>
        <p:nvSpPr>
          <p:cNvPr id="201" name="TextBox 200"/>
          <p:cNvSpPr txBox="1"/>
          <p:nvPr/>
        </p:nvSpPr>
        <p:spPr>
          <a:xfrm>
            <a:off x="6428232" y="4864608"/>
            <a:ext cx="4828032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2100" b="1">
                <a:solidFill>
                  <a:srgbClr val="00B0F0"/>
                </a:solidFill>
                <a:latin typeface="Alibaba PuHuiTi 3.0 115 Black"/>
              </a:defRPr>
            </a:pPr>
            <a:r>
              <a:t>代表值变密：每点存储位数变化</a:t>
            </a:r>
          </a:p>
        </p:txBody>
      </p:sp>
      <p:sp>
        <p:nvSpPr>
          <p:cNvPr id="202" name="TextBox 201"/>
          <p:cNvSpPr txBox="1"/>
          <p:nvPr/>
        </p:nvSpPr>
        <p:spPr>
          <a:xfrm>
            <a:off x="786384" y="5852160"/>
            <a:ext cx="1069848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1700" b="0">
                <a:solidFill>
                  <a:srgbClr val="8C64E1"/>
                </a:solidFill>
                <a:latin typeface="Alibaba PuHuiTi 3.0 55 Regular"/>
              </a:defRPr>
            </a:pPr>
            <a:r>
              <a:t>重要区别：位数变大，不等于同一时间里采样次数变多。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采样更多、等级更密，就一定听得更好吗？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94560"/>
            <a:ext cx="4206240" cy="7040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000" b="1">
                <a:solidFill>
                  <a:srgbClr val="8C64E1"/>
                </a:solidFill>
                <a:latin typeface="Alibaba PuHuiTi 3.0 115 Black"/>
              </a:defRPr>
            </a:pPr>
            <a:r>
              <a:t>采样率 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990088"/>
            <a:ext cx="43891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t>每秒样本更多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92240" y="2194560"/>
            <a:ext cx="4297680" cy="7040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000" b="1">
                <a:solidFill>
                  <a:srgbClr val="00B0F0"/>
                </a:solidFill>
                <a:latin typeface="Alibaba PuHuiTi 3.0 115 Black"/>
              </a:defRPr>
            </a:pPr>
            <a:r>
              <a:t>量化位数 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0" y="2990088"/>
            <a:ext cx="45720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t>每样本可选等级更多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3816" y="5230368"/>
            <a:ext cx="996696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t>通常能提高记录的精细程度，但音质不会无限提高。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3 bit是教学模型，真实录音常见16 bit。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905256" y="2066543"/>
            <a:ext cx="4709160" cy="667512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78408" y="2185415"/>
            <a:ext cx="4562856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600" b="1">
                <a:solidFill>
                  <a:srgbClr val="8C64E1"/>
                </a:solidFill>
                <a:latin typeface="Alibaba PuHuiTi 3.0 115 Black"/>
              </a:defRPr>
            </a:pPr>
            <a:r>
              <a:t>课堂模型：3 bit</a:t>
            </a:r>
          </a:p>
        </p:txBody>
      </p:sp>
      <p:sp>
        <p:nvSpPr>
          <p:cNvPr id="7" name="Rectangle 6"/>
          <p:cNvSpPr/>
          <p:nvPr/>
        </p:nvSpPr>
        <p:spPr>
          <a:xfrm>
            <a:off x="6528816" y="2066543"/>
            <a:ext cx="4626864" cy="667512"/>
          </a:xfrm>
          <a:prstGeom prst="rect">
            <a:avLst/>
          </a:prstGeom>
          <a:noFill/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01968" y="2185415"/>
            <a:ext cx="4480559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600" b="1">
                <a:solidFill>
                  <a:srgbClr val="00B0F0"/>
                </a:solidFill>
                <a:latin typeface="Alibaba PuHuiTi 3.0 115 Black"/>
              </a:defRPr>
            </a:pPr>
            <a:r>
              <a:t>PCM例子：16 bit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5840" y="3429000"/>
            <a:ext cx="384048" cy="411480"/>
          </a:xfrm>
          <a:prstGeom prst="rect">
            <a:avLst/>
          </a:prstGeom>
          <a:solidFill>
            <a:srgbClr val="FFFFFF"/>
          </a:solidFill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3461004"/>
            <a:ext cx="228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1">
                <a:solidFill>
                  <a:srgbClr val="262626"/>
                </a:solidFill>
                <a:latin typeface="Alibaba PuHuiTi 3.0 115 Black"/>
              </a:defRPr>
            </a:pPr>
            <a:r>
              <a:t>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490472" y="3429000"/>
            <a:ext cx="384048" cy="411480"/>
          </a:xfrm>
          <a:prstGeom prst="rect">
            <a:avLst/>
          </a:prstGeom>
          <a:solidFill>
            <a:srgbClr val="FFFFFF"/>
          </a:solidFill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581912" y="3461004"/>
            <a:ext cx="228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1">
                <a:solidFill>
                  <a:srgbClr val="262626"/>
                </a:solidFill>
                <a:latin typeface="Alibaba PuHuiTi 3.0 115 Black"/>
              </a:defRPr>
            </a:pPr>
            <a:r>
              <a:t>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975104" y="3429000"/>
            <a:ext cx="384048" cy="411480"/>
          </a:xfrm>
          <a:prstGeom prst="rect">
            <a:avLst/>
          </a:prstGeom>
          <a:solidFill>
            <a:srgbClr val="FFFFFF"/>
          </a:solidFill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066544" y="3461004"/>
            <a:ext cx="228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1">
                <a:solidFill>
                  <a:srgbClr val="262626"/>
                </a:solidFill>
                <a:latin typeface="Alibaba PuHuiTi 3.0 115 Black"/>
              </a:defRPr>
            </a:pPr>
            <a:r>
              <a:t>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611112" y="3429000"/>
            <a:ext cx="384048" cy="411480"/>
          </a:xfrm>
          <a:prstGeom prst="rect">
            <a:avLst/>
          </a:prstGeom>
          <a:solidFill>
            <a:srgbClr val="FFFFFF"/>
          </a:solidFill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702552" y="3461004"/>
            <a:ext cx="228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1">
                <a:solidFill>
                  <a:srgbClr val="262626"/>
                </a:solidFill>
                <a:latin typeface="Alibaba PuHuiTi 3.0 115 Black"/>
              </a:defRPr>
            </a:pPr>
            <a:r>
              <a:t>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095744" y="3429000"/>
            <a:ext cx="384048" cy="411480"/>
          </a:xfrm>
          <a:prstGeom prst="rect">
            <a:avLst/>
          </a:prstGeom>
          <a:solidFill>
            <a:srgbClr val="FFFFFF"/>
          </a:solidFill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87184" y="3461004"/>
            <a:ext cx="228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1">
                <a:solidFill>
                  <a:srgbClr val="262626"/>
                </a:solidFill>
                <a:latin typeface="Alibaba PuHuiTi 3.0 115 Black"/>
              </a:defRPr>
            </a:pPr>
            <a:r>
              <a:t>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580376" y="3429000"/>
            <a:ext cx="384048" cy="411480"/>
          </a:xfrm>
          <a:prstGeom prst="rect">
            <a:avLst/>
          </a:prstGeom>
          <a:solidFill>
            <a:srgbClr val="FFFFFF"/>
          </a:solidFill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671816" y="3461004"/>
            <a:ext cx="228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1">
                <a:solidFill>
                  <a:srgbClr val="262626"/>
                </a:solidFill>
                <a:latin typeface="Alibaba PuHuiTi 3.0 115 Black"/>
              </a:defRPr>
            </a:pPr>
            <a:r>
              <a:t>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65008" y="3429000"/>
            <a:ext cx="384048" cy="411480"/>
          </a:xfrm>
          <a:prstGeom prst="rect">
            <a:avLst/>
          </a:prstGeom>
          <a:solidFill>
            <a:srgbClr val="FFFFFF"/>
          </a:solidFill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56448" y="3461004"/>
            <a:ext cx="228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1">
                <a:solidFill>
                  <a:srgbClr val="262626"/>
                </a:solidFill>
                <a:latin typeface="Alibaba PuHuiTi 3.0 115 Black"/>
              </a:defRPr>
            </a:pPr>
            <a:r>
              <a:t>1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549640" y="3429000"/>
            <a:ext cx="384048" cy="411480"/>
          </a:xfrm>
          <a:prstGeom prst="rect">
            <a:avLst/>
          </a:prstGeom>
          <a:solidFill>
            <a:srgbClr val="FFFFFF"/>
          </a:solidFill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641080" y="3461004"/>
            <a:ext cx="228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1">
                <a:solidFill>
                  <a:srgbClr val="262626"/>
                </a:solidFill>
                <a:latin typeface="Alibaba PuHuiTi 3.0 115 Black"/>
              </a:defRPr>
            </a:pPr>
            <a:r>
              <a:t>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034272" y="3429000"/>
            <a:ext cx="384048" cy="411480"/>
          </a:xfrm>
          <a:prstGeom prst="rect">
            <a:avLst/>
          </a:prstGeom>
          <a:solidFill>
            <a:srgbClr val="FFFFFF"/>
          </a:solidFill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25712" y="3461004"/>
            <a:ext cx="228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1">
                <a:solidFill>
                  <a:srgbClr val="262626"/>
                </a:solidFill>
                <a:latin typeface="Alibaba PuHuiTi 3.0 115 Black"/>
              </a:defRPr>
            </a:pPr>
            <a:r>
              <a:t>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518904" y="3429000"/>
            <a:ext cx="384048" cy="411480"/>
          </a:xfrm>
          <a:prstGeom prst="rect">
            <a:avLst/>
          </a:prstGeom>
          <a:solidFill>
            <a:srgbClr val="FFFFFF"/>
          </a:solidFill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610344" y="3461004"/>
            <a:ext cx="228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1">
                <a:solidFill>
                  <a:srgbClr val="262626"/>
                </a:solidFill>
                <a:latin typeface="Alibaba PuHuiTi 3.0 115 Black"/>
              </a:defRPr>
            </a:pPr>
            <a:r>
              <a:t>1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0003536" y="3429000"/>
            <a:ext cx="384048" cy="411480"/>
          </a:xfrm>
          <a:prstGeom prst="rect">
            <a:avLst/>
          </a:prstGeom>
          <a:solidFill>
            <a:srgbClr val="FFFFFF"/>
          </a:solidFill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094976" y="3461004"/>
            <a:ext cx="228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1">
                <a:solidFill>
                  <a:srgbClr val="262626"/>
                </a:solidFill>
                <a:latin typeface="Alibaba PuHuiTi 3.0 115 Black"/>
              </a:defRPr>
            </a:pPr>
            <a:r>
              <a:t>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611112" y="4014215"/>
            <a:ext cx="384048" cy="411480"/>
          </a:xfrm>
          <a:prstGeom prst="rect">
            <a:avLst/>
          </a:prstGeom>
          <a:solidFill>
            <a:srgbClr val="FFFFFF"/>
          </a:solidFill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702552" y="4046220"/>
            <a:ext cx="228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1">
                <a:solidFill>
                  <a:srgbClr val="262626"/>
                </a:solidFill>
                <a:latin typeface="Alibaba PuHuiTi 3.0 115 Black"/>
              </a:defRPr>
            </a:pPr>
            <a:r>
              <a:t>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095744" y="4014215"/>
            <a:ext cx="384048" cy="411480"/>
          </a:xfrm>
          <a:prstGeom prst="rect">
            <a:avLst/>
          </a:prstGeom>
          <a:solidFill>
            <a:srgbClr val="FFFFFF"/>
          </a:solidFill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187184" y="4046220"/>
            <a:ext cx="228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1">
                <a:solidFill>
                  <a:srgbClr val="262626"/>
                </a:solidFill>
                <a:latin typeface="Alibaba PuHuiTi 3.0 115 Black"/>
              </a:defRPr>
            </a:pPr>
            <a:r>
              <a:t>1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580376" y="4014215"/>
            <a:ext cx="384048" cy="411480"/>
          </a:xfrm>
          <a:prstGeom prst="rect">
            <a:avLst/>
          </a:prstGeom>
          <a:solidFill>
            <a:srgbClr val="FFFFFF"/>
          </a:solidFill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671816" y="4046220"/>
            <a:ext cx="228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1">
                <a:solidFill>
                  <a:srgbClr val="262626"/>
                </a:solidFill>
                <a:latin typeface="Alibaba PuHuiTi 3.0 115 Black"/>
              </a:defRPr>
            </a:pPr>
            <a:r>
              <a:t>0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065008" y="4014215"/>
            <a:ext cx="384048" cy="411480"/>
          </a:xfrm>
          <a:prstGeom prst="rect">
            <a:avLst/>
          </a:prstGeom>
          <a:solidFill>
            <a:srgbClr val="FFFFFF"/>
          </a:solidFill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156448" y="4046220"/>
            <a:ext cx="228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1">
                <a:solidFill>
                  <a:srgbClr val="262626"/>
                </a:solidFill>
                <a:latin typeface="Alibaba PuHuiTi 3.0 115 Black"/>
              </a:defRPr>
            </a:pPr>
            <a:r>
              <a:t>0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549640" y="4014215"/>
            <a:ext cx="384048" cy="411480"/>
          </a:xfrm>
          <a:prstGeom prst="rect">
            <a:avLst/>
          </a:prstGeom>
          <a:solidFill>
            <a:srgbClr val="FFFFFF"/>
          </a:solidFill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641080" y="4046220"/>
            <a:ext cx="228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1">
                <a:solidFill>
                  <a:srgbClr val="262626"/>
                </a:solidFill>
                <a:latin typeface="Alibaba PuHuiTi 3.0 115 Black"/>
              </a:defRPr>
            </a:pPr>
            <a:r>
              <a:t>1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034272" y="4014215"/>
            <a:ext cx="384048" cy="411480"/>
          </a:xfrm>
          <a:prstGeom prst="rect">
            <a:avLst/>
          </a:prstGeom>
          <a:solidFill>
            <a:srgbClr val="FFFFFF"/>
          </a:solidFill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125712" y="4046220"/>
            <a:ext cx="228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1">
                <a:solidFill>
                  <a:srgbClr val="262626"/>
                </a:solidFill>
                <a:latin typeface="Alibaba PuHuiTi 3.0 115 Black"/>
              </a:defRPr>
            </a:pPr>
            <a:r>
              <a:t>0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518904" y="4014215"/>
            <a:ext cx="384048" cy="411480"/>
          </a:xfrm>
          <a:prstGeom prst="rect">
            <a:avLst/>
          </a:prstGeom>
          <a:solidFill>
            <a:srgbClr val="FFFFFF"/>
          </a:solidFill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610344" y="4046220"/>
            <a:ext cx="228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1">
                <a:solidFill>
                  <a:srgbClr val="262626"/>
                </a:solidFill>
                <a:latin typeface="Alibaba PuHuiTi 3.0 115 Black"/>
              </a:defRPr>
            </a:pPr>
            <a:r>
              <a:t>0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0003536" y="4014215"/>
            <a:ext cx="384048" cy="411480"/>
          </a:xfrm>
          <a:prstGeom prst="rect">
            <a:avLst/>
          </a:prstGeom>
          <a:solidFill>
            <a:srgbClr val="FFFFFF"/>
          </a:solidFill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0094976" y="4046220"/>
            <a:ext cx="228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1">
                <a:solidFill>
                  <a:srgbClr val="262626"/>
                </a:solidFill>
                <a:latin typeface="Alibaba PuHuiTi 3.0 115 Black"/>
              </a:defRPr>
            </a:pPr>
            <a:r>
              <a:t>1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位数越多，一份未压缩样本数据所占的空间也越大。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PCM样本和WAV文件，是一回事吗？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2176272"/>
            <a:ext cx="2898648" cy="1371600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52144" y="2569464"/>
            <a:ext cx="24688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500" b="1">
                <a:solidFill>
                  <a:srgbClr val="8C64E1"/>
                </a:solidFill>
                <a:latin typeface="Alibaba PuHuiTi 3.0 115 Black"/>
              </a:defRPr>
            </a:pPr>
            <a:r>
              <a:t>WAV文件头</a:t>
            </a:r>
          </a:p>
        </p:txBody>
      </p:sp>
      <p:sp>
        <p:nvSpPr>
          <p:cNvPr id="7" name="Rectangle 6"/>
          <p:cNvSpPr/>
          <p:nvPr/>
        </p:nvSpPr>
        <p:spPr>
          <a:xfrm>
            <a:off x="3986784" y="2176272"/>
            <a:ext cx="7059168" cy="1371600"/>
          </a:xfrm>
          <a:prstGeom prst="rect">
            <a:avLst/>
          </a:prstGeom>
          <a:noFill/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34840" y="2569464"/>
            <a:ext cx="6272784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500" b="1">
                <a:solidFill>
                  <a:srgbClr val="00B0F0"/>
                </a:solidFill>
                <a:latin typeface="Alibaba PuHuiTi 3.0 115 Black"/>
              </a:defRPr>
            </a:pPr>
            <a:r>
              <a:t>PCM：一个个数字样本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3941063"/>
            <a:ext cx="3657600" cy="9509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0">
                <a:solidFill>
                  <a:srgbClr val="262626"/>
                </a:solidFill>
                <a:latin typeface="Alibaba PuHuiTi 3.0 55 Regular"/>
              </a:defRPr>
            </a:pPr>
            <a:r>
              <a:t>采样率、声道等说明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33087" y="3950208"/>
            <a:ext cx="6858000" cy="9509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200" b="0">
                <a:solidFill>
                  <a:srgbClr val="262626"/>
                </a:solidFill>
                <a:latin typeface="Alibaba PuHuiTi 3.0 55 Regular"/>
              </a:defRPr>
            </a:pPr>
            <a:r>
              <a:t>例如：0010 1101 0110 …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编码 ≠ 压缩；WAV常保存未压缩PCM，但并非只有这一种情况。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播放时：数字样本怎样重新变成声音？</a:t>
            </a:r>
          </a:p>
        </p:txBody>
      </p:sp>
      <p:sp>
        <p:nvSpPr>
          <p:cNvPr id="5" name="Rectangle 4"/>
          <p:cNvSpPr/>
          <p:nvPr/>
        </p:nvSpPr>
        <p:spPr>
          <a:xfrm>
            <a:off x="704088" y="2258568"/>
            <a:ext cx="2404872" cy="667512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2377440"/>
            <a:ext cx="2258568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t>数字样本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182112" y="2596896"/>
            <a:ext cx="356616" cy="0"/>
          </a:xfrm>
          <a:prstGeom prst="line">
            <a:avLst/>
          </a:prstGeom>
          <a:ln w="381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3630168" y="2258568"/>
            <a:ext cx="2404872" cy="667512"/>
          </a:xfrm>
          <a:prstGeom prst="rect">
            <a:avLst/>
          </a:prstGeom>
          <a:noFill/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03320" y="2377440"/>
            <a:ext cx="2258568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00B0F0"/>
                </a:solidFill>
                <a:latin typeface="Alibaba PuHuiTi 3.0 115 Black"/>
              </a:defRPr>
            </a:pPr>
            <a:r>
              <a:t>DAC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108192" y="2596896"/>
            <a:ext cx="356616" cy="0"/>
          </a:xfrm>
          <a:prstGeom prst="line">
            <a:avLst/>
          </a:prstGeom>
          <a:ln w="381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6556248" y="2258568"/>
            <a:ext cx="2404872" cy="667512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29400" y="2377440"/>
            <a:ext cx="2258568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t>连续电信号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9034272" y="2596896"/>
            <a:ext cx="356616" cy="0"/>
          </a:xfrm>
          <a:prstGeom prst="line">
            <a:avLst/>
          </a:prstGeom>
          <a:ln w="381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9482328" y="2258568"/>
            <a:ext cx="2404872" cy="667512"/>
          </a:xfrm>
          <a:prstGeom prst="rect">
            <a:avLst/>
          </a:prstGeom>
          <a:noFill/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555480" y="2377440"/>
            <a:ext cx="2258568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00B0F0"/>
                </a:solidFill>
                <a:latin typeface="Alibaba PuHuiTi 3.0 115 Black"/>
              </a:defRPr>
            </a:pPr>
            <a:r>
              <a:t>扬声器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4846320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录音是模拟 → 数字；播放是数字 → 模拟。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声音数据量为什么与四个参数有关？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83664"/>
            <a:ext cx="493776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600" b="1">
                <a:solidFill>
                  <a:srgbClr val="8C64E1"/>
                </a:solidFill>
                <a:latin typeface="Alibaba PuHuiTi 3.0 115 Black"/>
              </a:defRPr>
            </a:pPr>
            <a:r>
              <a:t>采样率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468880"/>
            <a:ext cx="4937760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100" b="0">
                <a:solidFill>
                  <a:srgbClr val="262626"/>
                </a:solidFill>
                <a:latin typeface="Alibaba PuHuiTi 3.0 55 Regular"/>
              </a:defRPr>
            </a:pPr>
            <a:r>
              <a:t>每秒几个样本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64224" y="1883664"/>
            <a:ext cx="493776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600" b="1">
                <a:solidFill>
                  <a:srgbClr val="00B0F0"/>
                </a:solidFill>
                <a:latin typeface="Alibaba PuHuiTi 3.0 115 Black"/>
              </a:defRPr>
            </a:pPr>
            <a:r>
              <a:t>量化位数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64224" y="2468880"/>
            <a:ext cx="4937760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100" b="0">
                <a:solidFill>
                  <a:srgbClr val="262626"/>
                </a:solidFill>
                <a:latin typeface="Alibaba PuHuiTi 3.0 55 Regular"/>
              </a:defRPr>
            </a:pPr>
            <a:r>
              <a:t>每样本多少bit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511296"/>
            <a:ext cx="493776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600" b="1">
                <a:solidFill>
                  <a:srgbClr val="8C64E1"/>
                </a:solidFill>
                <a:latin typeface="Alibaba PuHuiTi 3.0 115 Black"/>
              </a:defRPr>
            </a:pPr>
            <a:r>
              <a:t>声道数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096511"/>
            <a:ext cx="4937760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100" b="0">
                <a:solidFill>
                  <a:srgbClr val="262626"/>
                </a:solidFill>
                <a:latin typeface="Alibaba PuHuiTi 3.0 55 Regular"/>
              </a:defRPr>
            </a:pPr>
            <a:r>
              <a:t>同一时刻几路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64224" y="3511296"/>
            <a:ext cx="493776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600" b="1">
                <a:solidFill>
                  <a:srgbClr val="00B0F0"/>
                </a:solidFill>
                <a:latin typeface="Alibaba PuHuiTi 3.0 115 Black"/>
              </a:defRPr>
            </a:pPr>
            <a:r>
              <a:t>时长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64224" y="4096511"/>
            <a:ext cx="4937760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100" b="0">
                <a:solidFill>
                  <a:srgbClr val="262626"/>
                </a:solidFill>
                <a:latin typeface="Alibaba PuHuiTi 3.0 55 Regular"/>
              </a:defRPr>
            </a:pPr>
            <a:r>
              <a:t>持续多少秒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先数样本，再数bit，最后换算成Byte。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737360"/>
            <a:ext cx="107899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500" b="1">
                <a:solidFill>
                  <a:srgbClr val="262626"/>
                </a:solidFill>
                <a:latin typeface="Alibaba PuHuiTi 3.0 115 Black"/>
              </a:defRPr>
            </a:pPr>
            <a:r>
              <a:t>2 样本/秒 × 4 秒 × 1 声道 = 8 个样本</a:t>
            </a:r>
          </a:p>
        </p:txBody>
      </p:sp>
      <p:sp>
        <p:nvSpPr>
          <p:cNvPr id="6" name="Rectangle 5"/>
          <p:cNvSpPr/>
          <p:nvPr/>
        </p:nvSpPr>
        <p:spPr>
          <a:xfrm>
            <a:off x="941832" y="2761488"/>
            <a:ext cx="1024128" cy="768096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60704" y="2999232"/>
            <a:ext cx="896112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800" b="1">
                <a:solidFill>
                  <a:srgbClr val="8C64E1"/>
                </a:solidFill>
                <a:latin typeface="Alibaba PuHuiTi 3.0 115 Black"/>
              </a:defRPr>
            </a:pPr>
            <a:r>
              <a:t>3 bit</a:t>
            </a:r>
          </a:p>
        </p:txBody>
      </p:sp>
      <p:sp>
        <p:nvSpPr>
          <p:cNvPr id="8" name="Rectangle 7"/>
          <p:cNvSpPr/>
          <p:nvPr/>
        </p:nvSpPr>
        <p:spPr>
          <a:xfrm>
            <a:off x="2231136" y="2761488"/>
            <a:ext cx="1024128" cy="768096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350008" y="2999232"/>
            <a:ext cx="896112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800" b="1">
                <a:solidFill>
                  <a:srgbClr val="8C64E1"/>
                </a:solidFill>
                <a:latin typeface="Alibaba PuHuiTi 3.0 115 Black"/>
              </a:defRPr>
            </a:pPr>
            <a:r>
              <a:t>3 bit</a:t>
            </a:r>
          </a:p>
        </p:txBody>
      </p:sp>
      <p:sp>
        <p:nvSpPr>
          <p:cNvPr id="10" name="Rectangle 9"/>
          <p:cNvSpPr/>
          <p:nvPr/>
        </p:nvSpPr>
        <p:spPr>
          <a:xfrm>
            <a:off x="3520439" y="2761488"/>
            <a:ext cx="1024128" cy="768096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39311" y="2999232"/>
            <a:ext cx="896112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800" b="1">
                <a:solidFill>
                  <a:srgbClr val="8C64E1"/>
                </a:solidFill>
                <a:latin typeface="Alibaba PuHuiTi 3.0 115 Black"/>
              </a:defRPr>
            </a:pPr>
            <a:r>
              <a:t>3 bit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809744" y="2761488"/>
            <a:ext cx="1024128" cy="768096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928616" y="2999232"/>
            <a:ext cx="896112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800" b="1">
                <a:solidFill>
                  <a:srgbClr val="8C64E1"/>
                </a:solidFill>
                <a:latin typeface="Alibaba PuHuiTi 3.0 115 Black"/>
              </a:defRPr>
            </a:pPr>
            <a:r>
              <a:t>3 bit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99048" y="2761488"/>
            <a:ext cx="1024128" cy="768096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0" y="2999232"/>
            <a:ext cx="896112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800" b="1">
                <a:solidFill>
                  <a:srgbClr val="8C64E1"/>
                </a:solidFill>
                <a:latin typeface="Alibaba PuHuiTi 3.0 115 Black"/>
              </a:defRPr>
            </a:pPr>
            <a:r>
              <a:t>3 bit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88352" y="2761488"/>
            <a:ext cx="1024128" cy="768096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07224" y="2999232"/>
            <a:ext cx="896112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800" b="1">
                <a:solidFill>
                  <a:srgbClr val="8C64E1"/>
                </a:solidFill>
                <a:latin typeface="Alibaba PuHuiTi 3.0 115 Black"/>
              </a:defRPr>
            </a:pPr>
            <a:r>
              <a:t>3 bit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677655" y="2761488"/>
            <a:ext cx="1024128" cy="768096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796528" y="2999232"/>
            <a:ext cx="896112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800" b="1">
                <a:solidFill>
                  <a:srgbClr val="8C64E1"/>
                </a:solidFill>
                <a:latin typeface="Alibaba PuHuiTi 3.0 115 Black"/>
              </a:defRPr>
            </a:pPr>
            <a:r>
              <a:t>3 bit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966959" y="2761488"/>
            <a:ext cx="1024128" cy="768096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085832" y="2999232"/>
            <a:ext cx="896112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800" b="1">
                <a:solidFill>
                  <a:srgbClr val="8C64E1"/>
                </a:solidFill>
                <a:latin typeface="Alibaba PuHuiTi 3.0 115 Black"/>
              </a:defRPr>
            </a:pPr>
            <a:r>
              <a:t>3 bit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2104" y="4389120"/>
            <a:ext cx="10698480" cy="5852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700" b="1">
                <a:solidFill>
                  <a:srgbClr val="00B0F0"/>
                </a:solidFill>
                <a:latin typeface="Alibaba PuHuiTi 3.0 115 Black"/>
              </a:defRPr>
            </a:pPr>
            <a:r>
              <a:t>8 个样本 × 3 bit = 24 bit = 3 Byte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不同声道要各自记录样本；声道数翻倍，未压缩样本数据量也翻倍。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未压缩PCM数据量公式，从哪里来？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591056"/>
            <a:ext cx="1069848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2500" b="1">
                <a:solidFill>
                  <a:srgbClr val="8C64E1"/>
                </a:solidFill>
                <a:latin typeface="Alibaba PuHuiTi 3.0 115 Black"/>
              </a:defRPr>
            </a:pPr>
            <a:r>
              <a:t>数据量（Byte） = 采样率 × 时长 × 声道数 × 位数 ÷ 8</a:t>
            </a:r>
          </a:p>
        </p:txBody>
      </p:sp>
      <p:sp>
        <p:nvSpPr>
          <p:cNvPr id="6" name="Rectangle 5"/>
          <p:cNvSpPr/>
          <p:nvPr/>
        </p:nvSpPr>
        <p:spPr>
          <a:xfrm>
            <a:off x="868680" y="2734056"/>
            <a:ext cx="2514600" cy="1408176"/>
          </a:xfrm>
          <a:prstGeom prst="rect">
            <a:avLst/>
          </a:prstGeom>
          <a:solidFill>
            <a:srgbClr val="F8F6FE"/>
          </a:solidFill>
          <a:ln w="1778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87552" y="2898648"/>
            <a:ext cx="2286000" cy="3931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t>采样率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" y="3419856"/>
            <a:ext cx="2359152" cy="4480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1600" b="0">
                <a:solidFill>
                  <a:srgbClr val="262626"/>
                </a:solidFill>
                <a:latin typeface="Alibaba PuHuiTi 3.0 55 Regular"/>
              </a:defRPr>
            </a:pPr>
            <a:r>
              <a:t>每秒几个样本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19856" y="3072384"/>
            <a:ext cx="274320" cy="3931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100" b="1">
                <a:solidFill>
                  <a:srgbClr val="8C64E1"/>
                </a:solidFill>
                <a:latin typeface="Alibaba PuHuiTi 3.0 115 Black"/>
              </a:defRPr>
            </a:pPr>
            <a:r>
              <a:t>×</a:t>
            </a:r>
          </a:p>
        </p:txBody>
      </p:sp>
      <p:sp>
        <p:nvSpPr>
          <p:cNvPr id="10" name="Rectangle 9"/>
          <p:cNvSpPr/>
          <p:nvPr/>
        </p:nvSpPr>
        <p:spPr>
          <a:xfrm>
            <a:off x="3767328" y="2734056"/>
            <a:ext cx="2514600" cy="1408176"/>
          </a:xfrm>
          <a:prstGeom prst="rect">
            <a:avLst/>
          </a:prstGeom>
          <a:solidFill>
            <a:srgbClr val="F8F6FE"/>
          </a:solidFill>
          <a:ln w="1778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86200" y="2898648"/>
            <a:ext cx="2286000" cy="3931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t>时长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9624" y="3419856"/>
            <a:ext cx="2359152" cy="4480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1600" b="0">
                <a:solidFill>
                  <a:srgbClr val="262626"/>
                </a:solidFill>
                <a:latin typeface="Alibaba PuHuiTi 3.0 55 Regular"/>
              </a:defRPr>
            </a:pPr>
            <a:r>
              <a:t>采多少秒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18504" y="3072384"/>
            <a:ext cx="274320" cy="3931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100" b="1">
                <a:solidFill>
                  <a:srgbClr val="8C64E1"/>
                </a:solidFill>
                <a:latin typeface="Alibaba PuHuiTi 3.0 115 Black"/>
              </a:defRPr>
            </a:pPr>
            <a:r>
              <a:t>×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665976" y="2734056"/>
            <a:ext cx="2514600" cy="1408176"/>
          </a:xfrm>
          <a:prstGeom prst="rect">
            <a:avLst/>
          </a:prstGeom>
          <a:solidFill>
            <a:srgbClr val="F8F6FE"/>
          </a:solidFill>
          <a:ln w="1778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84848" y="2898648"/>
            <a:ext cx="2286000" cy="3931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t>声道数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48272" y="3419856"/>
            <a:ext cx="2359152" cy="4480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1600" b="0">
                <a:solidFill>
                  <a:srgbClr val="262626"/>
                </a:solidFill>
                <a:latin typeface="Alibaba PuHuiTi 3.0 55 Regular"/>
              </a:defRPr>
            </a:pPr>
            <a:r>
              <a:t>同时记录几路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17152" y="3072384"/>
            <a:ext cx="274320" cy="3931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100" b="1">
                <a:solidFill>
                  <a:srgbClr val="8C64E1"/>
                </a:solidFill>
                <a:latin typeface="Alibaba PuHuiTi 3.0 115 Black"/>
              </a:defRPr>
            </a:pPr>
            <a:r>
              <a:t>×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564624" y="2734056"/>
            <a:ext cx="2514600" cy="1408176"/>
          </a:xfrm>
          <a:prstGeom prst="rect">
            <a:avLst/>
          </a:prstGeom>
          <a:solidFill>
            <a:srgbClr val="F8F6FE"/>
          </a:solidFill>
          <a:ln w="1778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83496" y="2898648"/>
            <a:ext cx="2286000" cy="3931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t>量化位数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46919" y="3419856"/>
            <a:ext cx="2359152" cy="4480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1600" b="0">
                <a:solidFill>
                  <a:srgbClr val="262626"/>
                </a:solidFill>
                <a:latin typeface="Alibaba PuHuiTi 3.0 55 Regular"/>
              </a:defRPr>
            </a:pPr>
            <a:r>
              <a:t>每个样本多少bit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932688" y="4599432"/>
            <a:ext cx="10076688" cy="0"/>
          </a:xfrm>
          <a:prstGeom prst="line">
            <a:avLst/>
          </a:prstGeom>
          <a:ln w="19050">
            <a:solidFill>
              <a:srgbClr val="E2DE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859536" y="4919472"/>
            <a:ext cx="1065276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2000" b="1">
                <a:solidFill>
                  <a:srgbClr val="262626"/>
                </a:solidFill>
                <a:latin typeface="Alibaba PuHuiTi 3.0 115 Black"/>
              </a:defRPr>
            </a:pPr>
            <a:r>
              <a:t>前3项相乘 → 样本总数；再乘bit/样本 → bit；最后÷8 → Byte。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6384" y="5852160"/>
            <a:ext cx="1069848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1700" b="0">
                <a:solidFill>
                  <a:srgbClr val="8C64E1"/>
                </a:solidFill>
                <a:latin typeface="Alibaba PuHuiTi 3.0 55 Regular"/>
              </a:defRPr>
            </a:pPr>
            <a:r>
              <a:t>单位检验：Hz×s×声道×bit÷8，最终为什么得到Byte？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练习题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1691640"/>
            <a:ext cx="10652760" cy="3035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采样率 16,000 Hz，8 bit，双声道，录制5秒。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未压缩PCM样本数据共有多少 Byte？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22960" y="4919472"/>
            <a:ext cx="10259568" cy="0"/>
          </a:xfrm>
          <a:prstGeom prst="line">
            <a:avLst/>
          </a:prstGeom>
          <a:ln w="254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832104" y="5166360"/>
            <a:ext cx="10332720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t>先标出每个数字的含义。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5010912"/>
            <a:ext cx="10661904" cy="1261872"/>
          </a:xfrm>
          <a:prstGeom prst="rect">
            <a:avLst/>
          </a:prstGeom>
          <a:solidFill>
            <a:srgbClr val="F6F3FF"/>
          </a:solidFill>
          <a:ln w="8890">
            <a:solidFill>
              <a:srgbClr val="E0DD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5010912"/>
            <a:ext cx="68580" cy="1261872"/>
          </a:xfrm>
          <a:prstGeom prst="rect">
            <a:avLst/>
          </a:prstGeom>
          <a:solidFill>
            <a:srgbClr val="6251B1"/>
          </a:solidFill>
          <a:ln w="8890">
            <a:solidFill>
              <a:srgbClr val="6251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练习题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1691640"/>
            <a:ext cx="10652760" cy="3035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采样率 16,000 Hz，8 bit，双声道，录制5秒。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未压缩PCM样本数据共有多少 Byte？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22960" y="4919472"/>
            <a:ext cx="10259568" cy="0"/>
          </a:xfrm>
          <a:prstGeom prst="line">
            <a:avLst/>
          </a:prstGeom>
          <a:ln w="254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005840" y="5111496"/>
            <a:ext cx="10241280" cy="521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rPr b="1" sz="2600">
                <a:solidFill>
                  <a:srgbClr val="8C64E1"/>
                </a:solidFill>
                <a:latin typeface="Alibaba PuHuiTi 3.0 115 Black"/>
              </a:rPr>
              <a:t>答案：160,000 Byte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5660136"/>
            <a:ext cx="10241280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0">
                <a:solidFill>
                  <a:srgbClr val="262626"/>
                </a:solidFill>
                <a:latin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</a:rPr>
              <a:t>16,000 × 8 × 2 × 5 ÷ 8 = 160,000 Byte。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本节课你能解释三件事吗？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1783080"/>
            <a:ext cx="10789920" cy="4480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400" b="1">
                <a:solidFill>
                  <a:srgbClr val="8C64E1"/>
                </a:solidFill>
                <a:latin typeface="Alibaba PuHuiTi 3.0 115 Black"/>
              </a:defRPr>
            </a:pPr>
            <a:r>
              <a:t>① 声音怎么进入电脑？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2350008"/>
            <a:ext cx="1051560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100" b="0">
                <a:solidFill>
                  <a:srgbClr val="262626"/>
                </a:solidFill>
                <a:latin typeface="Alibaba PuHuiTi 3.0 55 Regular"/>
              </a:defRPr>
            </a:pPr>
            <a:r>
              <a:t>麦克风 → ADC → 数字数据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" y="3081528"/>
            <a:ext cx="10789920" cy="4480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400" b="1">
                <a:solidFill>
                  <a:srgbClr val="8C64E1"/>
                </a:solidFill>
                <a:latin typeface="Alibaba PuHuiTi 3.0 115 Black"/>
              </a:defRPr>
            </a:pPr>
            <a:r>
              <a:t>② 采样和量化有什么不同？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3648456"/>
            <a:ext cx="1051560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100" b="0">
                <a:solidFill>
                  <a:srgbClr val="262626"/>
                </a:solidFill>
                <a:latin typeface="Alibaba PuHuiTi 3.0 55 Regular"/>
              </a:defRPr>
            </a:pPr>
            <a:r>
              <a:t>前者定时刻，后者定代表值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4379976"/>
            <a:ext cx="10789920" cy="4480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400" b="1">
                <a:solidFill>
                  <a:srgbClr val="8C64E1"/>
                </a:solidFill>
                <a:latin typeface="Alibaba PuHuiTi 3.0 115 Black"/>
              </a:defRPr>
            </a:pPr>
            <a:r>
              <a:t>③ PCM为什么有大小差别？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4946904"/>
            <a:ext cx="1051560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100" b="0">
                <a:solidFill>
                  <a:srgbClr val="262626"/>
                </a:solidFill>
                <a:latin typeface="Alibaba PuHuiTi 3.0 55 Regular"/>
              </a:defRPr>
            </a:pPr>
            <a:r>
              <a:t>样本数 × 每样本bit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94944" y="1993392"/>
            <a:ext cx="10881360" cy="12070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5000" b="1">
                <a:solidFill>
                  <a:srgbClr val="262626"/>
                </a:solidFill>
                <a:latin typeface="Alibaba PuHuiTi 3.0 115 Black"/>
              </a:defRPr>
            </a:pPr>
            <a:r>
              <a:t>为什么文件还需要压缩？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2376" y="3730752"/>
            <a:ext cx="1069848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900" b="0">
                <a:solidFill>
                  <a:srgbClr val="808080"/>
                </a:solidFill>
                <a:latin typeface="Alibaba PuHuiTi 3.0 55 Regular"/>
              </a:defRPr>
            </a:pPr>
            <a:r>
              <a:t>第二课时｜音频、视频编码与数据压缩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先回忆：这四个数字，分别是什么意思？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9536" y="1828800"/>
            <a:ext cx="4956048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000" b="1">
                <a:solidFill>
                  <a:srgbClr val="8C64E1"/>
                </a:solidFill>
                <a:latin typeface="Alibaba PuHuiTi 3.0 115 Black"/>
              </a:defRPr>
            </a:pPr>
            <a:r>
              <a:t>48,000 Hz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9536" y="2551176"/>
            <a:ext cx="4956048" cy="521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200" b="0">
                <a:solidFill>
                  <a:srgbClr val="262626"/>
                </a:solidFill>
                <a:latin typeface="Alibaba PuHuiTi 3.0 55 Regular"/>
              </a:defRPr>
            </a:pPr>
            <a:r>
              <a:t>每秒取样次数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55664" y="1828800"/>
            <a:ext cx="4956048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000" b="1">
                <a:solidFill>
                  <a:srgbClr val="00B0F0"/>
                </a:solidFill>
                <a:latin typeface="Alibaba PuHuiTi 3.0 115 Black"/>
              </a:defRPr>
            </a:pPr>
            <a:r>
              <a:t>16 bit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55664" y="2551176"/>
            <a:ext cx="4956048" cy="521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200" b="0">
                <a:solidFill>
                  <a:srgbClr val="262626"/>
                </a:solidFill>
                <a:latin typeface="Alibaba PuHuiTi 3.0 55 Regular"/>
              </a:defRPr>
            </a:pPr>
            <a:r>
              <a:t>每样本的位数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" y="3566160"/>
            <a:ext cx="4956048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000" b="1">
                <a:solidFill>
                  <a:srgbClr val="8C64E1"/>
                </a:solidFill>
                <a:latin typeface="Alibaba PuHuiTi 3.0 115 Black"/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4288536"/>
            <a:ext cx="4956048" cy="521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200" b="0">
                <a:solidFill>
                  <a:srgbClr val="262626"/>
                </a:solidFill>
                <a:latin typeface="Alibaba PuHuiTi 3.0 55 Regular"/>
              </a:defRPr>
            </a:pPr>
            <a:r>
              <a:t>左右两个声道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55664" y="3566160"/>
            <a:ext cx="4956048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000" b="1">
                <a:solidFill>
                  <a:srgbClr val="00B0F0"/>
                </a:solidFill>
                <a:latin typeface="Alibaba PuHuiTi 3.0 115 Black"/>
              </a:defRPr>
            </a:pPr>
            <a:r>
              <a:t>60 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55664" y="4288536"/>
            <a:ext cx="4956048" cy="521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200" b="0">
                <a:solidFill>
                  <a:srgbClr val="262626"/>
                </a:solidFill>
                <a:latin typeface="Alibaba PuHuiTi 3.0 55 Regular"/>
              </a:defRPr>
            </a:pPr>
            <a:r>
              <a:t>音频持续时间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提醒：1 MB（按1024²换算）在严格单位写法中应称MiB。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练习题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1691640"/>
            <a:ext cx="10652760" cy="3035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1分钟未压缩PCM音频：48,000 Hz、16 bit、双声道。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样本数据量约多少MiB？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22960" y="4919472"/>
            <a:ext cx="10259568" cy="0"/>
          </a:xfrm>
          <a:prstGeom prst="line">
            <a:avLst/>
          </a:prstGeom>
          <a:ln w="254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832104" y="5166360"/>
            <a:ext cx="10332720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t>先列式，再做单位换算。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5010912"/>
            <a:ext cx="10661904" cy="1261872"/>
          </a:xfrm>
          <a:prstGeom prst="rect">
            <a:avLst/>
          </a:prstGeom>
          <a:solidFill>
            <a:srgbClr val="F6F3FF"/>
          </a:solidFill>
          <a:ln w="8890">
            <a:solidFill>
              <a:srgbClr val="E0DD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5010912"/>
            <a:ext cx="68580" cy="1261872"/>
          </a:xfrm>
          <a:prstGeom prst="rect">
            <a:avLst/>
          </a:prstGeom>
          <a:solidFill>
            <a:srgbClr val="6251B1"/>
          </a:solidFill>
          <a:ln w="8890">
            <a:solidFill>
              <a:srgbClr val="6251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练习题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1691640"/>
            <a:ext cx="10652760" cy="3035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1分钟未压缩PCM音频：48,000 Hz、16 bit、双声道。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样本数据量约多少MiB？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22960" y="4919472"/>
            <a:ext cx="10259568" cy="0"/>
          </a:xfrm>
          <a:prstGeom prst="line">
            <a:avLst/>
          </a:prstGeom>
          <a:ln w="254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005840" y="5111496"/>
            <a:ext cx="10241280" cy="521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rPr b="1" sz="2600">
                <a:solidFill>
                  <a:srgbClr val="8C64E1"/>
                </a:solidFill>
                <a:latin typeface="Alibaba PuHuiTi 3.0 115 Black"/>
              </a:rPr>
              <a:t>答案：约10.99 MiB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5660136"/>
            <a:ext cx="10241280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0">
                <a:solidFill>
                  <a:srgbClr val="262626"/>
                </a:solidFill>
                <a:latin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</a:rPr>
              <a:t>48,000×16×2×60÷8=11,520,000 B；÷1024²≈10.99 MiB。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练习题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1691640"/>
            <a:ext cx="10652760" cy="3035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给5分钟的诗朗诵加入一条等时长背景音乐音轨。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如果导出时仍为44.1 kHz、16 bit、双声道PCM，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数据量会翻倍吗？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22960" y="4919472"/>
            <a:ext cx="10259568" cy="0"/>
          </a:xfrm>
          <a:prstGeom prst="line">
            <a:avLst/>
          </a:prstGeom>
          <a:ln w="254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832104" y="5166360"/>
            <a:ext cx="10332720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t>先投票：翻倍 / 不变 / 说不清。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两个看似有道理的答案，你支持哪一个？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080760" y="1627632"/>
            <a:ext cx="0" cy="3776472"/>
          </a:xfrm>
          <a:prstGeom prst="line">
            <a:avLst/>
          </a:prstGeom>
          <a:ln w="254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822960" y="1737360"/>
            <a:ext cx="5074920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800" b="1">
                <a:solidFill>
                  <a:srgbClr val="8C64E1"/>
                </a:solidFill>
                <a:latin typeface="Alibaba PuHuiTi 3.0 115 Black"/>
              </a:defRPr>
            </a:pPr>
            <a:r>
              <a:t>观点 A：不变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55664" y="1737360"/>
            <a:ext cx="4754880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800" b="1">
                <a:solidFill>
                  <a:srgbClr val="00B0F0"/>
                </a:solidFill>
                <a:latin typeface="Alibaba PuHuiTi 3.0 115 Black"/>
              </a:defRPr>
            </a:pPr>
            <a:r>
              <a:t>观点 B：翻倍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743200"/>
            <a:ext cx="5010912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t>采样率没变，位数没变，时长没变，输出的声道数也没变。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55664" y="2743200"/>
            <a:ext cx="4873752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t>录音里多了一份音乐，是不是就需要多一份音频数据？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争论的关键：编辑时的“音轨”，是不是导出时的“声道”？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音轨是编辑时的层，声道是输出时的通道。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8" y="1664208"/>
            <a:ext cx="47548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2500" b="1">
                <a:solidFill>
                  <a:srgbClr val="8C64E1"/>
                </a:solidFill>
                <a:latin typeface="Alibaba PuHuiTi 3.0 115 Black"/>
              </a:defRPr>
            </a:pPr>
            <a:r>
              <a:t>编辑工程：两条音轨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02552" y="1664208"/>
            <a:ext cx="47548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2500" b="1">
                <a:solidFill>
                  <a:srgbClr val="00B0F0"/>
                </a:solidFill>
                <a:latin typeface="Alibaba PuHuiTi 3.0 115 Black"/>
              </a:defRPr>
            </a:pPr>
            <a:r>
              <a:t>混音导出：两个声道</a:t>
            </a:r>
          </a:p>
        </p:txBody>
      </p:sp>
      <p:sp>
        <p:nvSpPr>
          <p:cNvPr id="7" name="Rectangle 6"/>
          <p:cNvSpPr/>
          <p:nvPr/>
        </p:nvSpPr>
        <p:spPr>
          <a:xfrm>
            <a:off x="859536" y="2487168"/>
            <a:ext cx="4480560" cy="786384"/>
          </a:xfrm>
          <a:prstGeom prst="rect">
            <a:avLst/>
          </a:prstGeom>
          <a:solidFill>
            <a:srgbClr val="FFFFFF"/>
          </a:solidFill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9264" y="2633472"/>
            <a:ext cx="237744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1600" b="1">
                <a:solidFill>
                  <a:srgbClr val="8C64E1"/>
                </a:solidFill>
                <a:latin typeface="Alibaba PuHuiTi 3.0 115 Black"/>
              </a:defRPr>
            </a:pPr>
            <a:r>
              <a:t>音轨1：诗朗诵</a:t>
            </a:r>
          </a:p>
        </p:txBody>
      </p:sp>
      <p:cxnSp>
        <p:nvCxnSpPr>
          <p:cNvPr id="9" name="Connector 8"/>
          <p:cNvCxnSpPr/>
          <p:nvPr/>
        </p:nvCxnSpPr>
        <p:spPr>
          <a:xfrm flipV="1">
            <a:off x="3319272" y="2820093"/>
            <a:ext cx="21838" cy="37407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3341110" y="2783862"/>
            <a:ext cx="21838" cy="36231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3362948" y="2749941"/>
            <a:ext cx="21838" cy="33921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3384786" y="2719398"/>
            <a:ext cx="21838" cy="30543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3406624" y="2693189"/>
            <a:ext cx="21838" cy="26209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3428462" y="2672138"/>
            <a:ext cx="21838" cy="21051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3450300" y="2656906"/>
            <a:ext cx="21838" cy="15232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3472138" y="2647971"/>
            <a:ext cx="21838" cy="8935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3493976" y="2645613"/>
            <a:ext cx="21838" cy="2358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3515814" y="2645613"/>
            <a:ext cx="21838" cy="4293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3537652" y="2649906"/>
            <a:ext cx="21838" cy="10810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3559490" y="2660716"/>
            <a:ext cx="21838" cy="16987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3581328" y="2677703"/>
            <a:ext cx="21838" cy="22631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3603166" y="2700334"/>
            <a:ext cx="21838" cy="27565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3625004" y="2727899"/>
            <a:ext cx="21838" cy="31633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3646842" y="2759532"/>
            <a:ext cx="21838" cy="34708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3668680" y="2794240"/>
            <a:ext cx="21838" cy="36694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3690518" y="2830934"/>
            <a:ext cx="21838" cy="37528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3712356" y="2868462"/>
            <a:ext cx="21838" cy="37184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3734194" y="2905646"/>
            <a:ext cx="21838" cy="35673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3756032" y="2941319"/>
            <a:ext cx="21838" cy="33041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3777870" y="2974360"/>
            <a:ext cx="21838" cy="29373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3799708" y="3003733"/>
            <a:ext cx="21838" cy="24782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3821546" y="3028515"/>
            <a:ext cx="21838" cy="19415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3843384" y="3047930"/>
            <a:ext cx="21838" cy="13436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3865222" y="3061366"/>
            <a:ext cx="21838" cy="7037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3887060" y="3068403"/>
            <a:ext cx="21838" cy="416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V="1">
            <a:off x="3908898" y="3062602"/>
            <a:ext cx="21838" cy="6217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V="1">
            <a:off x="3930736" y="3049947"/>
            <a:ext cx="21838" cy="12655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V="1">
            <a:off x="3952574" y="3031250"/>
            <a:ext cx="21838" cy="18697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V="1">
            <a:off x="3974412" y="3007099"/>
            <a:ext cx="21838" cy="24151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V="1">
            <a:off x="3996250" y="2978252"/>
            <a:ext cx="21838" cy="28847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V="1">
            <a:off x="4018088" y="2945615"/>
            <a:ext cx="21838" cy="32637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V="1">
            <a:off x="4039926" y="2910211"/>
            <a:ext cx="21838" cy="35404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 flipV="1">
            <a:off x="4061764" y="2873153"/>
            <a:ext cx="21838" cy="37058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V="1">
            <a:off x="4083602" y="2835604"/>
            <a:ext cx="21838" cy="37549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V="1">
            <a:off x="4105440" y="2798741"/>
            <a:ext cx="21838" cy="36863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V="1">
            <a:off x="4127278" y="2763724"/>
            <a:ext cx="21838" cy="35017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 flipV="1">
            <a:off x="4149116" y="2731650"/>
            <a:ext cx="21838" cy="32074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 flipV="1">
            <a:off x="4170954" y="2703526"/>
            <a:ext cx="21838" cy="28124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 flipV="1">
            <a:off x="4192792" y="2680236"/>
            <a:ext cx="21838" cy="23290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V="1">
            <a:off x="4214630" y="2662510"/>
            <a:ext cx="21838" cy="17726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V="1">
            <a:off x="4236468" y="2650906"/>
            <a:ext cx="21839" cy="11604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V="1">
            <a:off x="4258307" y="2645786"/>
            <a:ext cx="21838" cy="5120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4280145" y="2645786"/>
            <a:ext cx="21838" cy="1527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4301983" y="2647313"/>
            <a:ext cx="21838" cy="8124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4323821" y="2655437"/>
            <a:ext cx="21838" cy="14467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4345659" y="2669904"/>
            <a:ext cx="21838" cy="20356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4367497" y="2690260"/>
            <a:ext cx="21838" cy="25606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4389335" y="2715866"/>
            <a:ext cx="21838" cy="30052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4411173" y="2745918"/>
            <a:ext cx="21838" cy="33555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4433011" y="2779473"/>
            <a:ext cx="21838" cy="36003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>
            <a:off x="4454849" y="2815476"/>
            <a:ext cx="21838" cy="37324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4476687" y="2852800"/>
            <a:ext cx="21838" cy="37470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>
            <a:off x="4498525" y="2890270"/>
            <a:ext cx="21838" cy="36442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>
            <a:off x="4520363" y="2926712"/>
            <a:ext cx="21838" cy="34269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>
            <a:off x="4542201" y="2960981"/>
            <a:ext cx="21838" cy="31021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>
            <a:off x="4564039" y="2992002"/>
            <a:ext cx="21838" cy="26799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>
            <a:off x="4585877" y="3018801"/>
            <a:ext cx="21838" cy="21735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>
            <a:off x="4607715" y="3040536"/>
            <a:ext cx="21838" cy="15990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>
            <a:off x="4629553" y="3056526"/>
            <a:ext cx="21838" cy="9741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>
            <a:off x="4651391" y="3066267"/>
            <a:ext cx="21838" cy="3189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 flipV="1">
            <a:off x="4673229" y="3065991"/>
            <a:ext cx="21838" cy="3465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 flipV="1">
            <a:off x="4695067" y="3055981"/>
            <a:ext cx="21838" cy="10010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 flipV="1">
            <a:off x="4716905" y="3039741"/>
            <a:ext cx="21838" cy="16240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 flipV="1">
            <a:off x="4738743" y="3017780"/>
            <a:ext cx="21838" cy="21961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 flipV="1">
            <a:off x="4760581" y="2990787"/>
            <a:ext cx="21838" cy="26993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 flipV="1">
            <a:off x="4782419" y="2959611"/>
            <a:ext cx="21838" cy="31176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 flipV="1">
            <a:off x="4804257" y="2925229"/>
            <a:ext cx="21838" cy="34382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 flipV="1">
            <a:off x="4826095" y="2888721"/>
            <a:ext cx="21838" cy="36508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 flipV="1">
            <a:off x="4847933" y="2851233"/>
            <a:ext cx="21838" cy="37488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 flipV="1">
            <a:off x="4869771" y="2813942"/>
            <a:ext cx="21838" cy="37291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 flipV="1">
            <a:off x="4891609" y="2778018"/>
            <a:ext cx="21838" cy="35924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 flipV="1">
            <a:off x="4913447" y="2744589"/>
            <a:ext cx="21838" cy="33429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 flipV="1">
            <a:off x="4935285" y="2714704"/>
            <a:ext cx="21838" cy="29885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 flipV="1">
            <a:off x="4957123" y="2689302"/>
            <a:ext cx="21838" cy="25402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 flipV="1">
            <a:off x="4978961" y="2669180"/>
            <a:ext cx="21838" cy="20122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 flipV="1">
            <a:off x="5000799" y="2654969"/>
            <a:ext cx="21838" cy="14211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 flipV="1">
            <a:off x="5022637" y="2647116"/>
            <a:ext cx="21838" cy="7853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 flipV="1">
            <a:off x="5044475" y="2645867"/>
            <a:ext cx="21838" cy="1249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>
            <a:off x="5066313" y="2645867"/>
            <a:ext cx="21838" cy="5395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>
            <a:off x="5088151" y="2651262"/>
            <a:ext cx="21838" cy="11868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>
            <a:off x="5109989" y="2663130"/>
            <a:ext cx="21838" cy="17970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>
            <a:off x="5131827" y="2681100"/>
            <a:ext cx="21838" cy="23507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>
            <a:off x="5153665" y="2704607"/>
            <a:ext cx="21839" cy="28307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4" name="Rectangle 93"/>
          <p:cNvSpPr/>
          <p:nvPr/>
        </p:nvSpPr>
        <p:spPr>
          <a:xfrm>
            <a:off x="859536" y="3502152"/>
            <a:ext cx="4480560" cy="786384"/>
          </a:xfrm>
          <a:prstGeom prst="rect">
            <a:avLst/>
          </a:prstGeom>
          <a:solidFill>
            <a:srgbClr val="FFFFFF"/>
          </a:solidFill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969264" y="3648456"/>
            <a:ext cx="237744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1600" b="1">
                <a:solidFill>
                  <a:srgbClr val="00B0F0"/>
                </a:solidFill>
                <a:latin typeface="Alibaba PuHuiTi 3.0 115 Black"/>
              </a:defRPr>
            </a:pPr>
            <a:r>
              <a:t>音轨2：背景音乐</a:t>
            </a:r>
          </a:p>
        </p:txBody>
      </p:sp>
      <p:cxnSp>
        <p:nvCxnSpPr>
          <p:cNvPr id="96" name="Connector 95"/>
          <p:cNvCxnSpPr/>
          <p:nvPr/>
        </p:nvCxnSpPr>
        <p:spPr>
          <a:xfrm flipV="1">
            <a:off x="3319272" y="3740210"/>
            <a:ext cx="21838" cy="12593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 flipV="1">
            <a:off x="3341110" y="3728340"/>
            <a:ext cx="21838" cy="11870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 flipV="1">
            <a:off x="3362948" y="3717257"/>
            <a:ext cx="21838" cy="11083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 flipV="1">
            <a:off x="3384786" y="3707022"/>
            <a:ext cx="21838" cy="10235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 flipV="1">
            <a:off x="3406624" y="3697690"/>
            <a:ext cx="21838" cy="9332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 flipV="1">
            <a:off x="3428462" y="3689314"/>
            <a:ext cx="21838" cy="8376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 flipV="1">
            <a:off x="3450300" y="3681937"/>
            <a:ext cx="21838" cy="7377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 flipV="1">
            <a:off x="3472138" y="3675601"/>
            <a:ext cx="21838" cy="6336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 flipV="1">
            <a:off x="3493976" y="3670341"/>
            <a:ext cx="21838" cy="5260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 flipV="1">
            <a:off x="3515814" y="3666185"/>
            <a:ext cx="21838" cy="4156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 flipV="1">
            <a:off x="3537652" y="3663155"/>
            <a:ext cx="21838" cy="3030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 flipV="1">
            <a:off x="3559490" y="3661269"/>
            <a:ext cx="21838" cy="1886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 flipV="1">
            <a:off x="3581328" y="3660536"/>
            <a:ext cx="21838" cy="733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or 108"/>
          <p:cNvCxnSpPr/>
          <p:nvPr/>
        </p:nvCxnSpPr>
        <p:spPr>
          <a:xfrm>
            <a:off x="3603166" y="3660536"/>
            <a:ext cx="21838" cy="425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Connector 109"/>
          <p:cNvCxnSpPr/>
          <p:nvPr/>
        </p:nvCxnSpPr>
        <p:spPr>
          <a:xfrm>
            <a:off x="3625004" y="3660961"/>
            <a:ext cx="21838" cy="1580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Connector 110"/>
          <p:cNvCxnSpPr/>
          <p:nvPr/>
        </p:nvCxnSpPr>
        <p:spPr>
          <a:xfrm>
            <a:off x="3646842" y="3662541"/>
            <a:ext cx="21838" cy="2726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Connector 111"/>
          <p:cNvCxnSpPr/>
          <p:nvPr/>
        </p:nvCxnSpPr>
        <p:spPr>
          <a:xfrm>
            <a:off x="3668680" y="3665267"/>
            <a:ext cx="21838" cy="3859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Connector 112"/>
          <p:cNvCxnSpPr/>
          <p:nvPr/>
        </p:nvCxnSpPr>
        <p:spPr>
          <a:xfrm>
            <a:off x="3690518" y="3669126"/>
            <a:ext cx="21838" cy="4969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Connector 113"/>
          <p:cNvCxnSpPr/>
          <p:nvPr/>
        </p:nvCxnSpPr>
        <p:spPr>
          <a:xfrm>
            <a:off x="3712356" y="3674095"/>
            <a:ext cx="21838" cy="6053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Connector 114"/>
          <p:cNvCxnSpPr/>
          <p:nvPr/>
        </p:nvCxnSpPr>
        <p:spPr>
          <a:xfrm>
            <a:off x="3734194" y="3680148"/>
            <a:ext cx="21838" cy="7103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Connector 115"/>
          <p:cNvCxnSpPr/>
          <p:nvPr/>
        </p:nvCxnSpPr>
        <p:spPr>
          <a:xfrm>
            <a:off x="3756032" y="3687251"/>
            <a:ext cx="21838" cy="8114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" name="Connector 116"/>
          <p:cNvCxnSpPr/>
          <p:nvPr/>
        </p:nvCxnSpPr>
        <p:spPr>
          <a:xfrm>
            <a:off x="3777870" y="3695365"/>
            <a:ext cx="21838" cy="9083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Connector 117"/>
          <p:cNvCxnSpPr/>
          <p:nvPr/>
        </p:nvCxnSpPr>
        <p:spPr>
          <a:xfrm>
            <a:off x="3799708" y="3704448"/>
            <a:ext cx="21838" cy="9999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or 118"/>
          <p:cNvCxnSpPr/>
          <p:nvPr/>
        </p:nvCxnSpPr>
        <p:spPr>
          <a:xfrm>
            <a:off x="3821546" y="3714447"/>
            <a:ext cx="21838" cy="10863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Connector 119"/>
          <p:cNvCxnSpPr/>
          <p:nvPr/>
        </p:nvCxnSpPr>
        <p:spPr>
          <a:xfrm>
            <a:off x="3843384" y="3725310"/>
            <a:ext cx="21838" cy="11667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" name="Connector 120"/>
          <p:cNvCxnSpPr/>
          <p:nvPr/>
        </p:nvCxnSpPr>
        <p:spPr>
          <a:xfrm>
            <a:off x="3865222" y="3736977"/>
            <a:ext cx="21838" cy="12407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" name="Connector 121"/>
          <p:cNvCxnSpPr/>
          <p:nvPr/>
        </p:nvCxnSpPr>
        <p:spPr>
          <a:xfrm>
            <a:off x="3887060" y="3749384"/>
            <a:ext cx="21838" cy="13079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" name="Connector 122"/>
          <p:cNvCxnSpPr/>
          <p:nvPr/>
        </p:nvCxnSpPr>
        <p:spPr>
          <a:xfrm>
            <a:off x="3908898" y="3762463"/>
            <a:ext cx="21838" cy="13681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Connector 123"/>
          <p:cNvCxnSpPr/>
          <p:nvPr/>
        </p:nvCxnSpPr>
        <p:spPr>
          <a:xfrm>
            <a:off x="3930736" y="3776144"/>
            <a:ext cx="21838" cy="14206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Connector 124"/>
          <p:cNvCxnSpPr/>
          <p:nvPr/>
        </p:nvCxnSpPr>
        <p:spPr>
          <a:xfrm>
            <a:off x="3952574" y="3790350"/>
            <a:ext cx="21838" cy="14655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" name="Connector 125"/>
          <p:cNvCxnSpPr/>
          <p:nvPr/>
        </p:nvCxnSpPr>
        <p:spPr>
          <a:xfrm>
            <a:off x="3974412" y="3805005"/>
            <a:ext cx="21838" cy="15023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" name="Connector 126"/>
          <p:cNvCxnSpPr/>
          <p:nvPr/>
        </p:nvCxnSpPr>
        <p:spPr>
          <a:xfrm>
            <a:off x="3996250" y="3820028"/>
            <a:ext cx="21838" cy="15310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" name="Connector 127"/>
          <p:cNvCxnSpPr/>
          <p:nvPr/>
        </p:nvCxnSpPr>
        <p:spPr>
          <a:xfrm>
            <a:off x="4018088" y="3835338"/>
            <a:ext cx="21838" cy="15513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" name="Connector 128"/>
          <p:cNvCxnSpPr/>
          <p:nvPr/>
        </p:nvCxnSpPr>
        <p:spPr>
          <a:xfrm>
            <a:off x="4039926" y="3850851"/>
            <a:ext cx="21838" cy="15631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" name="Connector 129"/>
          <p:cNvCxnSpPr/>
          <p:nvPr/>
        </p:nvCxnSpPr>
        <p:spPr>
          <a:xfrm>
            <a:off x="4061764" y="3866482"/>
            <a:ext cx="21838" cy="15664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Connector 130"/>
          <p:cNvCxnSpPr/>
          <p:nvPr/>
        </p:nvCxnSpPr>
        <p:spPr>
          <a:xfrm>
            <a:off x="4083602" y="3882146"/>
            <a:ext cx="21838" cy="15611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Connector 131"/>
          <p:cNvCxnSpPr/>
          <p:nvPr/>
        </p:nvCxnSpPr>
        <p:spPr>
          <a:xfrm>
            <a:off x="4105440" y="3897757"/>
            <a:ext cx="21838" cy="15473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3" name="Connector 132"/>
          <p:cNvCxnSpPr/>
          <p:nvPr/>
        </p:nvCxnSpPr>
        <p:spPr>
          <a:xfrm>
            <a:off x="4127278" y="3913230"/>
            <a:ext cx="21838" cy="15250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Connector 133"/>
          <p:cNvCxnSpPr/>
          <p:nvPr/>
        </p:nvCxnSpPr>
        <p:spPr>
          <a:xfrm>
            <a:off x="4149116" y="3928480"/>
            <a:ext cx="21838" cy="14945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Connector 134"/>
          <p:cNvCxnSpPr/>
          <p:nvPr/>
        </p:nvCxnSpPr>
        <p:spPr>
          <a:xfrm>
            <a:off x="4170954" y="3943425"/>
            <a:ext cx="21838" cy="14557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Connector 135"/>
          <p:cNvCxnSpPr/>
          <p:nvPr/>
        </p:nvCxnSpPr>
        <p:spPr>
          <a:xfrm>
            <a:off x="4192792" y="3957982"/>
            <a:ext cx="21838" cy="14090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Connector 136"/>
          <p:cNvCxnSpPr/>
          <p:nvPr/>
        </p:nvCxnSpPr>
        <p:spPr>
          <a:xfrm>
            <a:off x="4214630" y="3972072"/>
            <a:ext cx="21838" cy="13546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Connector 137"/>
          <p:cNvCxnSpPr/>
          <p:nvPr/>
        </p:nvCxnSpPr>
        <p:spPr>
          <a:xfrm>
            <a:off x="4236468" y="3985618"/>
            <a:ext cx="21839" cy="12928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" name="Connector 138"/>
          <p:cNvCxnSpPr/>
          <p:nvPr/>
        </p:nvCxnSpPr>
        <p:spPr>
          <a:xfrm>
            <a:off x="4258307" y="3998546"/>
            <a:ext cx="21838" cy="12240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" name="Connector 139"/>
          <p:cNvCxnSpPr/>
          <p:nvPr/>
        </p:nvCxnSpPr>
        <p:spPr>
          <a:xfrm>
            <a:off x="4280145" y="4010786"/>
            <a:ext cx="21838" cy="11485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Connector 140"/>
          <p:cNvCxnSpPr/>
          <p:nvPr/>
        </p:nvCxnSpPr>
        <p:spPr>
          <a:xfrm>
            <a:off x="4301983" y="4022271"/>
            <a:ext cx="21838" cy="10666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2" name="Connector 141"/>
          <p:cNvCxnSpPr/>
          <p:nvPr/>
        </p:nvCxnSpPr>
        <p:spPr>
          <a:xfrm>
            <a:off x="4323821" y="4032937"/>
            <a:ext cx="21838" cy="9790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3" name="Connector 142"/>
          <p:cNvCxnSpPr/>
          <p:nvPr/>
        </p:nvCxnSpPr>
        <p:spPr>
          <a:xfrm>
            <a:off x="4345659" y="4042727"/>
            <a:ext cx="21838" cy="8860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4" name="Connector 143"/>
          <p:cNvCxnSpPr/>
          <p:nvPr/>
        </p:nvCxnSpPr>
        <p:spPr>
          <a:xfrm>
            <a:off x="4367497" y="4051587"/>
            <a:ext cx="21838" cy="7882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5" name="Connector 144"/>
          <p:cNvCxnSpPr/>
          <p:nvPr/>
        </p:nvCxnSpPr>
        <p:spPr>
          <a:xfrm>
            <a:off x="4389335" y="4059469"/>
            <a:ext cx="21838" cy="6861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6" name="Connector 145"/>
          <p:cNvCxnSpPr/>
          <p:nvPr/>
        </p:nvCxnSpPr>
        <p:spPr>
          <a:xfrm>
            <a:off x="4411173" y="4066330"/>
            <a:ext cx="21838" cy="5802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7" name="Connector 146"/>
          <p:cNvCxnSpPr/>
          <p:nvPr/>
        </p:nvCxnSpPr>
        <p:spPr>
          <a:xfrm>
            <a:off x="4433011" y="4072132"/>
            <a:ext cx="21838" cy="4712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8" name="Connector 147"/>
          <p:cNvCxnSpPr/>
          <p:nvPr/>
        </p:nvCxnSpPr>
        <p:spPr>
          <a:xfrm>
            <a:off x="4454849" y="4076844"/>
            <a:ext cx="21838" cy="3595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9" name="Connector 148"/>
          <p:cNvCxnSpPr/>
          <p:nvPr/>
        </p:nvCxnSpPr>
        <p:spPr>
          <a:xfrm>
            <a:off x="4476687" y="4080439"/>
            <a:ext cx="21838" cy="2460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0" name="Connector 149"/>
          <p:cNvCxnSpPr/>
          <p:nvPr/>
        </p:nvCxnSpPr>
        <p:spPr>
          <a:xfrm>
            <a:off x="4498525" y="4082899"/>
            <a:ext cx="21838" cy="1310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1" name="Connector 150"/>
          <p:cNvCxnSpPr/>
          <p:nvPr/>
        </p:nvCxnSpPr>
        <p:spPr>
          <a:xfrm>
            <a:off x="4520363" y="4084209"/>
            <a:ext cx="21838" cy="154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2" name="Connector 151"/>
          <p:cNvCxnSpPr/>
          <p:nvPr/>
        </p:nvCxnSpPr>
        <p:spPr>
          <a:xfrm flipV="1">
            <a:off x="4542201" y="4083360"/>
            <a:ext cx="21838" cy="1003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" name="Connector 152"/>
          <p:cNvCxnSpPr/>
          <p:nvPr/>
        </p:nvCxnSpPr>
        <p:spPr>
          <a:xfrm flipV="1">
            <a:off x="4564039" y="4081206"/>
            <a:ext cx="21838" cy="2154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4" name="Connector 153"/>
          <p:cNvCxnSpPr/>
          <p:nvPr/>
        </p:nvCxnSpPr>
        <p:spPr>
          <a:xfrm flipV="1">
            <a:off x="4585877" y="4077911"/>
            <a:ext cx="21838" cy="3295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5" name="Connector 154"/>
          <p:cNvCxnSpPr/>
          <p:nvPr/>
        </p:nvCxnSpPr>
        <p:spPr>
          <a:xfrm flipV="1">
            <a:off x="4607715" y="4073494"/>
            <a:ext cx="21838" cy="4417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6" name="Connector 155"/>
          <p:cNvCxnSpPr/>
          <p:nvPr/>
        </p:nvCxnSpPr>
        <p:spPr>
          <a:xfrm flipV="1">
            <a:off x="4629553" y="4067979"/>
            <a:ext cx="21838" cy="5515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7" name="Connector 156"/>
          <p:cNvCxnSpPr/>
          <p:nvPr/>
        </p:nvCxnSpPr>
        <p:spPr>
          <a:xfrm flipV="1">
            <a:off x="4651391" y="4061397"/>
            <a:ext cx="21838" cy="6582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8" name="Connector 157"/>
          <p:cNvCxnSpPr/>
          <p:nvPr/>
        </p:nvCxnSpPr>
        <p:spPr>
          <a:xfrm flipV="1">
            <a:off x="4673229" y="4053783"/>
            <a:ext cx="21838" cy="7614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9" name="Connector 158"/>
          <p:cNvCxnSpPr/>
          <p:nvPr/>
        </p:nvCxnSpPr>
        <p:spPr>
          <a:xfrm flipV="1">
            <a:off x="4695067" y="4045178"/>
            <a:ext cx="21838" cy="8605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0" name="Connector 159"/>
          <p:cNvCxnSpPr/>
          <p:nvPr/>
        </p:nvCxnSpPr>
        <p:spPr>
          <a:xfrm flipV="1">
            <a:off x="4716905" y="4035631"/>
            <a:ext cx="21838" cy="9547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1" name="Connector 160"/>
          <p:cNvCxnSpPr/>
          <p:nvPr/>
        </p:nvCxnSpPr>
        <p:spPr>
          <a:xfrm flipV="1">
            <a:off x="4738743" y="4025192"/>
            <a:ext cx="21838" cy="10439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2" name="Connector 161"/>
          <p:cNvCxnSpPr/>
          <p:nvPr/>
        </p:nvCxnSpPr>
        <p:spPr>
          <a:xfrm flipV="1">
            <a:off x="4760581" y="4013920"/>
            <a:ext cx="21838" cy="11272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3" name="Connector 162"/>
          <p:cNvCxnSpPr/>
          <p:nvPr/>
        </p:nvCxnSpPr>
        <p:spPr>
          <a:xfrm flipV="1">
            <a:off x="4782419" y="4001875"/>
            <a:ext cx="21838" cy="12045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4" name="Connector 163"/>
          <p:cNvCxnSpPr/>
          <p:nvPr/>
        </p:nvCxnSpPr>
        <p:spPr>
          <a:xfrm flipV="1">
            <a:off x="4804257" y="3989123"/>
            <a:ext cx="21838" cy="12752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5" name="Connector 164"/>
          <p:cNvCxnSpPr/>
          <p:nvPr/>
        </p:nvCxnSpPr>
        <p:spPr>
          <a:xfrm flipV="1">
            <a:off x="4826095" y="3975734"/>
            <a:ext cx="21838" cy="13389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6" name="Connector 165"/>
          <p:cNvCxnSpPr/>
          <p:nvPr/>
        </p:nvCxnSpPr>
        <p:spPr>
          <a:xfrm flipV="1">
            <a:off x="4847933" y="3961781"/>
            <a:ext cx="21838" cy="13953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7" name="Connector 166"/>
          <p:cNvCxnSpPr/>
          <p:nvPr/>
        </p:nvCxnSpPr>
        <p:spPr>
          <a:xfrm flipV="1">
            <a:off x="4869771" y="3947341"/>
            <a:ext cx="21838" cy="14440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8" name="Connector 167"/>
          <p:cNvCxnSpPr/>
          <p:nvPr/>
        </p:nvCxnSpPr>
        <p:spPr>
          <a:xfrm flipV="1">
            <a:off x="4891609" y="3932491"/>
            <a:ext cx="21838" cy="14850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9" name="Connector 168"/>
          <p:cNvCxnSpPr/>
          <p:nvPr/>
        </p:nvCxnSpPr>
        <p:spPr>
          <a:xfrm flipV="1">
            <a:off x="4913447" y="3917314"/>
            <a:ext cx="21838" cy="15177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0" name="Connector 169"/>
          <p:cNvCxnSpPr/>
          <p:nvPr/>
        </p:nvCxnSpPr>
        <p:spPr>
          <a:xfrm flipV="1">
            <a:off x="4935285" y="3901892"/>
            <a:ext cx="21838" cy="15422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1" name="Connector 170"/>
          <p:cNvCxnSpPr/>
          <p:nvPr/>
        </p:nvCxnSpPr>
        <p:spPr>
          <a:xfrm flipV="1">
            <a:off x="4957123" y="3886310"/>
            <a:ext cx="21838" cy="15582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2" name="Connector 171"/>
          <p:cNvCxnSpPr/>
          <p:nvPr/>
        </p:nvCxnSpPr>
        <p:spPr>
          <a:xfrm flipV="1">
            <a:off x="4978961" y="3870652"/>
            <a:ext cx="21838" cy="15658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3" name="Connector 172"/>
          <p:cNvCxnSpPr/>
          <p:nvPr/>
        </p:nvCxnSpPr>
        <p:spPr>
          <a:xfrm flipV="1">
            <a:off x="5000799" y="3855004"/>
            <a:ext cx="21838" cy="15648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" name="Connector 173"/>
          <p:cNvCxnSpPr/>
          <p:nvPr/>
        </p:nvCxnSpPr>
        <p:spPr>
          <a:xfrm flipV="1">
            <a:off x="5022637" y="3839451"/>
            <a:ext cx="21838" cy="15553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5" name="Connector 174"/>
          <p:cNvCxnSpPr/>
          <p:nvPr/>
        </p:nvCxnSpPr>
        <p:spPr>
          <a:xfrm flipV="1">
            <a:off x="5044475" y="3824079"/>
            <a:ext cx="21838" cy="15372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6" name="Connector 175"/>
          <p:cNvCxnSpPr/>
          <p:nvPr/>
        </p:nvCxnSpPr>
        <p:spPr>
          <a:xfrm flipV="1">
            <a:off x="5066313" y="3808971"/>
            <a:ext cx="21838" cy="15108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7" name="Connector 176"/>
          <p:cNvCxnSpPr/>
          <p:nvPr/>
        </p:nvCxnSpPr>
        <p:spPr>
          <a:xfrm flipV="1">
            <a:off x="5088151" y="3794210"/>
            <a:ext cx="21838" cy="14761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8" name="Connector 177"/>
          <p:cNvCxnSpPr/>
          <p:nvPr/>
        </p:nvCxnSpPr>
        <p:spPr>
          <a:xfrm flipV="1">
            <a:off x="5109989" y="3779877"/>
            <a:ext cx="21838" cy="14333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9" name="Connector 178"/>
          <p:cNvCxnSpPr/>
          <p:nvPr/>
        </p:nvCxnSpPr>
        <p:spPr>
          <a:xfrm flipV="1">
            <a:off x="5131827" y="3766049"/>
            <a:ext cx="21838" cy="13828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0" name="Connector 179"/>
          <p:cNvCxnSpPr/>
          <p:nvPr/>
        </p:nvCxnSpPr>
        <p:spPr>
          <a:xfrm flipV="1">
            <a:off x="5153665" y="3752803"/>
            <a:ext cx="21839" cy="13246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1" name="Connector 180"/>
          <p:cNvCxnSpPr/>
          <p:nvPr/>
        </p:nvCxnSpPr>
        <p:spPr>
          <a:xfrm>
            <a:off x="5504688" y="3218688"/>
            <a:ext cx="941832" cy="0"/>
          </a:xfrm>
          <a:prstGeom prst="line">
            <a:avLst/>
          </a:prstGeom>
          <a:ln w="381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2" name="TextBox 181"/>
          <p:cNvSpPr txBox="1"/>
          <p:nvPr/>
        </p:nvSpPr>
        <p:spPr>
          <a:xfrm>
            <a:off x="5532120" y="2761488"/>
            <a:ext cx="896112" cy="3931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1800" b="1">
                <a:solidFill>
                  <a:srgbClr val="8C64E1"/>
                </a:solidFill>
                <a:latin typeface="Alibaba PuHuiTi 3.0 115 Black"/>
              </a:defRPr>
            </a:pPr>
            <a:r>
              <a:t>混合</a:t>
            </a:r>
          </a:p>
        </p:txBody>
      </p:sp>
      <p:sp>
        <p:nvSpPr>
          <p:cNvPr id="183" name="Rectangle 182"/>
          <p:cNvSpPr/>
          <p:nvPr/>
        </p:nvSpPr>
        <p:spPr>
          <a:xfrm>
            <a:off x="6638544" y="2487168"/>
            <a:ext cx="4572000" cy="786384"/>
          </a:xfrm>
          <a:prstGeom prst="rect">
            <a:avLst/>
          </a:prstGeom>
          <a:solidFill>
            <a:srgbClr val="FFFFFF"/>
          </a:solidFill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TextBox 183"/>
          <p:cNvSpPr txBox="1"/>
          <p:nvPr/>
        </p:nvSpPr>
        <p:spPr>
          <a:xfrm>
            <a:off x="6766560" y="2633472"/>
            <a:ext cx="1399032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1600" b="1">
                <a:solidFill>
                  <a:srgbClr val="00B0F0"/>
                </a:solidFill>
                <a:latin typeface="Alibaba PuHuiTi 3.0 115 Black"/>
              </a:defRPr>
            </a:pPr>
            <a:r>
              <a:t>左声道 L</a:t>
            </a:r>
          </a:p>
        </p:txBody>
      </p:sp>
      <p:cxnSp>
        <p:nvCxnSpPr>
          <p:cNvPr id="185" name="Connector 184"/>
          <p:cNvCxnSpPr/>
          <p:nvPr/>
        </p:nvCxnSpPr>
        <p:spPr>
          <a:xfrm flipV="1">
            <a:off x="8311896" y="2829380"/>
            <a:ext cx="32488" cy="28120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6" name="Connector 185"/>
          <p:cNvCxnSpPr/>
          <p:nvPr/>
        </p:nvCxnSpPr>
        <p:spPr>
          <a:xfrm flipV="1">
            <a:off x="8344384" y="2801758"/>
            <a:ext cx="32488" cy="27622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7" name="Connector 186"/>
          <p:cNvCxnSpPr/>
          <p:nvPr/>
        </p:nvCxnSpPr>
        <p:spPr>
          <a:xfrm flipV="1">
            <a:off x="8376872" y="2775122"/>
            <a:ext cx="32488" cy="26636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8" name="Connector 187"/>
          <p:cNvCxnSpPr/>
          <p:nvPr/>
        </p:nvCxnSpPr>
        <p:spPr>
          <a:xfrm flipV="1">
            <a:off x="8409360" y="2749941"/>
            <a:ext cx="32488" cy="25181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9" name="Connector 188"/>
          <p:cNvCxnSpPr/>
          <p:nvPr/>
        </p:nvCxnSpPr>
        <p:spPr>
          <a:xfrm flipV="1">
            <a:off x="8441848" y="2726662"/>
            <a:ext cx="32488" cy="23279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0" name="Connector 189"/>
          <p:cNvCxnSpPr/>
          <p:nvPr/>
        </p:nvCxnSpPr>
        <p:spPr>
          <a:xfrm flipV="1">
            <a:off x="8474336" y="2705696"/>
            <a:ext cx="32488" cy="20966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1" name="Connector 190"/>
          <p:cNvCxnSpPr/>
          <p:nvPr/>
        </p:nvCxnSpPr>
        <p:spPr>
          <a:xfrm flipV="1">
            <a:off x="8506824" y="2687414"/>
            <a:ext cx="32488" cy="18282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2" name="Connector 191"/>
          <p:cNvCxnSpPr/>
          <p:nvPr/>
        </p:nvCxnSpPr>
        <p:spPr>
          <a:xfrm flipV="1">
            <a:off x="8539312" y="2672138"/>
            <a:ext cx="32488" cy="15276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3" name="Connector 192"/>
          <p:cNvCxnSpPr/>
          <p:nvPr/>
        </p:nvCxnSpPr>
        <p:spPr>
          <a:xfrm flipV="1">
            <a:off x="8571800" y="2660139"/>
            <a:ext cx="32488" cy="11999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4" name="Connector 193"/>
          <p:cNvCxnSpPr/>
          <p:nvPr/>
        </p:nvCxnSpPr>
        <p:spPr>
          <a:xfrm flipV="1">
            <a:off x="8604288" y="2651629"/>
            <a:ext cx="32488" cy="8510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5" name="Connector 194"/>
          <p:cNvCxnSpPr/>
          <p:nvPr/>
        </p:nvCxnSpPr>
        <p:spPr>
          <a:xfrm flipV="1">
            <a:off x="8636776" y="2646758"/>
            <a:ext cx="32489" cy="4871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6" name="Connector 195"/>
          <p:cNvCxnSpPr/>
          <p:nvPr/>
        </p:nvCxnSpPr>
        <p:spPr>
          <a:xfrm flipV="1">
            <a:off x="8669265" y="2645613"/>
            <a:ext cx="32488" cy="1145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7" name="Connector 196"/>
          <p:cNvCxnSpPr/>
          <p:nvPr/>
        </p:nvCxnSpPr>
        <p:spPr>
          <a:xfrm>
            <a:off x="8701753" y="2645613"/>
            <a:ext cx="32488" cy="2600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8" name="Connector 197"/>
          <p:cNvCxnSpPr/>
          <p:nvPr/>
        </p:nvCxnSpPr>
        <p:spPr>
          <a:xfrm>
            <a:off x="8734241" y="2648213"/>
            <a:ext cx="32488" cy="6300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9" name="Connector 198"/>
          <p:cNvCxnSpPr/>
          <p:nvPr/>
        </p:nvCxnSpPr>
        <p:spPr>
          <a:xfrm>
            <a:off x="8766729" y="2654513"/>
            <a:ext cx="32488" cy="9888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0" name="Connector 199"/>
          <p:cNvCxnSpPr/>
          <p:nvPr/>
        </p:nvCxnSpPr>
        <p:spPr>
          <a:xfrm>
            <a:off x="8799217" y="2664401"/>
            <a:ext cx="32488" cy="13302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1" name="Connector 200"/>
          <p:cNvCxnSpPr/>
          <p:nvPr/>
        </p:nvCxnSpPr>
        <p:spPr>
          <a:xfrm>
            <a:off x="8831705" y="2677703"/>
            <a:ext cx="32488" cy="16480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2" name="Connector 201"/>
          <p:cNvCxnSpPr/>
          <p:nvPr/>
        </p:nvCxnSpPr>
        <p:spPr>
          <a:xfrm>
            <a:off x="8864193" y="2694183"/>
            <a:ext cx="32488" cy="19367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3" name="Connector 202"/>
          <p:cNvCxnSpPr/>
          <p:nvPr/>
        </p:nvCxnSpPr>
        <p:spPr>
          <a:xfrm>
            <a:off x="8896681" y="2713550"/>
            <a:ext cx="32488" cy="21912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4" name="Connector 203"/>
          <p:cNvCxnSpPr/>
          <p:nvPr/>
        </p:nvCxnSpPr>
        <p:spPr>
          <a:xfrm>
            <a:off x="8929169" y="2735462"/>
            <a:ext cx="32488" cy="24070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5" name="Connector 204"/>
          <p:cNvCxnSpPr/>
          <p:nvPr/>
        </p:nvCxnSpPr>
        <p:spPr>
          <a:xfrm>
            <a:off x="8961657" y="2759532"/>
            <a:ext cx="32488" cy="25801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6" name="Connector 205"/>
          <p:cNvCxnSpPr/>
          <p:nvPr/>
        </p:nvCxnSpPr>
        <p:spPr>
          <a:xfrm>
            <a:off x="8994145" y="2785333"/>
            <a:ext cx="32489" cy="27077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7" name="Connector 206"/>
          <p:cNvCxnSpPr/>
          <p:nvPr/>
        </p:nvCxnSpPr>
        <p:spPr>
          <a:xfrm>
            <a:off x="9026634" y="2812410"/>
            <a:ext cx="32488" cy="27874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8" name="Connector 207"/>
          <p:cNvCxnSpPr/>
          <p:nvPr/>
        </p:nvCxnSpPr>
        <p:spPr>
          <a:xfrm>
            <a:off x="9059122" y="2840284"/>
            <a:ext cx="32488" cy="28178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9" name="Connector 208"/>
          <p:cNvCxnSpPr/>
          <p:nvPr/>
        </p:nvCxnSpPr>
        <p:spPr>
          <a:xfrm>
            <a:off x="9091610" y="2868462"/>
            <a:ext cx="32488" cy="27985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0" name="Connector 209"/>
          <p:cNvCxnSpPr/>
          <p:nvPr/>
        </p:nvCxnSpPr>
        <p:spPr>
          <a:xfrm>
            <a:off x="9124098" y="2896447"/>
            <a:ext cx="32488" cy="27296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1" name="Connector 210"/>
          <p:cNvCxnSpPr/>
          <p:nvPr/>
        </p:nvCxnSpPr>
        <p:spPr>
          <a:xfrm>
            <a:off x="9156586" y="2923743"/>
            <a:ext cx="32488" cy="26125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2" name="Connector 211"/>
          <p:cNvCxnSpPr/>
          <p:nvPr/>
        </p:nvCxnSpPr>
        <p:spPr>
          <a:xfrm>
            <a:off x="9189074" y="2949868"/>
            <a:ext cx="32488" cy="24492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3" name="Connector 212"/>
          <p:cNvCxnSpPr/>
          <p:nvPr/>
        </p:nvCxnSpPr>
        <p:spPr>
          <a:xfrm>
            <a:off x="9221562" y="2974360"/>
            <a:ext cx="32488" cy="22426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4" name="Connector 213"/>
          <p:cNvCxnSpPr/>
          <p:nvPr/>
        </p:nvCxnSpPr>
        <p:spPr>
          <a:xfrm>
            <a:off x="9254050" y="2996786"/>
            <a:ext cx="32488" cy="19964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5" name="Connector 214"/>
          <p:cNvCxnSpPr/>
          <p:nvPr/>
        </p:nvCxnSpPr>
        <p:spPr>
          <a:xfrm>
            <a:off x="9286538" y="3016750"/>
            <a:ext cx="32488" cy="17149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6" name="Connector 215"/>
          <p:cNvCxnSpPr/>
          <p:nvPr/>
        </p:nvCxnSpPr>
        <p:spPr>
          <a:xfrm>
            <a:off x="9319026" y="3033899"/>
            <a:ext cx="32489" cy="14031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7" name="Connector 216"/>
          <p:cNvCxnSpPr/>
          <p:nvPr/>
        </p:nvCxnSpPr>
        <p:spPr>
          <a:xfrm>
            <a:off x="9351515" y="3047930"/>
            <a:ext cx="32488" cy="10664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8" name="Connector 217"/>
          <p:cNvCxnSpPr/>
          <p:nvPr/>
        </p:nvCxnSpPr>
        <p:spPr>
          <a:xfrm>
            <a:off x="9384003" y="3058594"/>
            <a:ext cx="32488" cy="7109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9" name="Connector 218"/>
          <p:cNvCxnSpPr/>
          <p:nvPr/>
        </p:nvCxnSpPr>
        <p:spPr>
          <a:xfrm>
            <a:off x="9416491" y="3065703"/>
            <a:ext cx="32488" cy="3429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0" name="Connector 219"/>
          <p:cNvCxnSpPr/>
          <p:nvPr/>
        </p:nvCxnSpPr>
        <p:spPr>
          <a:xfrm flipV="1">
            <a:off x="9448979" y="3068819"/>
            <a:ext cx="32488" cy="313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1" name="Connector 220"/>
          <p:cNvCxnSpPr/>
          <p:nvPr/>
        </p:nvCxnSpPr>
        <p:spPr>
          <a:xfrm flipV="1">
            <a:off x="9481467" y="3064771"/>
            <a:ext cx="32488" cy="4048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2" name="Connector 221"/>
          <p:cNvCxnSpPr/>
          <p:nvPr/>
        </p:nvCxnSpPr>
        <p:spPr>
          <a:xfrm flipV="1">
            <a:off x="9513955" y="3057059"/>
            <a:ext cx="32488" cy="7712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3" name="Connector 222"/>
          <p:cNvCxnSpPr/>
          <p:nvPr/>
        </p:nvCxnSpPr>
        <p:spPr>
          <a:xfrm flipV="1">
            <a:off x="9546443" y="3045819"/>
            <a:ext cx="32488" cy="11240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4" name="Connector 223"/>
          <p:cNvCxnSpPr/>
          <p:nvPr/>
        </p:nvCxnSpPr>
        <p:spPr>
          <a:xfrm flipV="1">
            <a:off x="9578931" y="3031250"/>
            <a:ext cx="32488" cy="14569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5" name="Connector 224"/>
          <p:cNvCxnSpPr/>
          <p:nvPr/>
        </p:nvCxnSpPr>
        <p:spPr>
          <a:xfrm flipV="1">
            <a:off x="9611419" y="3013609"/>
            <a:ext cx="32488" cy="17641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6" name="Connector 225"/>
          <p:cNvCxnSpPr/>
          <p:nvPr/>
        </p:nvCxnSpPr>
        <p:spPr>
          <a:xfrm flipV="1">
            <a:off x="9643907" y="2993209"/>
            <a:ext cx="32488" cy="20400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7" name="Connector 226"/>
          <p:cNvCxnSpPr/>
          <p:nvPr/>
        </p:nvCxnSpPr>
        <p:spPr>
          <a:xfrm flipV="1">
            <a:off x="9676395" y="2970410"/>
            <a:ext cx="32489" cy="22799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8" name="Connector 227"/>
          <p:cNvCxnSpPr/>
          <p:nvPr/>
        </p:nvCxnSpPr>
        <p:spPr>
          <a:xfrm flipV="1">
            <a:off x="9708884" y="2945615"/>
            <a:ext cx="32488" cy="24795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9" name="Connector 228"/>
          <p:cNvCxnSpPr/>
          <p:nvPr/>
        </p:nvCxnSpPr>
        <p:spPr>
          <a:xfrm flipV="1">
            <a:off x="9741372" y="2919262"/>
            <a:ext cx="32488" cy="26353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0" name="Connector 229"/>
          <p:cNvCxnSpPr/>
          <p:nvPr/>
        </p:nvCxnSpPr>
        <p:spPr>
          <a:xfrm flipV="1">
            <a:off x="9773860" y="2891817"/>
            <a:ext cx="32488" cy="27445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1" name="Connector 230"/>
          <p:cNvCxnSpPr/>
          <p:nvPr/>
        </p:nvCxnSpPr>
        <p:spPr>
          <a:xfrm flipV="1">
            <a:off x="9806348" y="2863766"/>
            <a:ext cx="32488" cy="28051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2" name="Connector 231"/>
          <p:cNvCxnSpPr/>
          <p:nvPr/>
        </p:nvCxnSpPr>
        <p:spPr>
          <a:xfrm flipV="1">
            <a:off x="9838836" y="2835604"/>
            <a:ext cx="32488" cy="28162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3" name="Connector 232"/>
          <p:cNvCxnSpPr/>
          <p:nvPr/>
        </p:nvCxnSpPr>
        <p:spPr>
          <a:xfrm flipV="1">
            <a:off x="9871324" y="2807828"/>
            <a:ext cx="32488" cy="27776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4" name="Connector 233"/>
          <p:cNvCxnSpPr/>
          <p:nvPr/>
        </p:nvCxnSpPr>
        <p:spPr>
          <a:xfrm flipV="1">
            <a:off x="9903812" y="2780931"/>
            <a:ext cx="32488" cy="26897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5" name="Connector 234"/>
          <p:cNvCxnSpPr/>
          <p:nvPr/>
        </p:nvCxnSpPr>
        <p:spPr>
          <a:xfrm flipV="1">
            <a:off x="9936300" y="2755388"/>
            <a:ext cx="32488" cy="25543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6" name="Connector 235"/>
          <p:cNvCxnSpPr/>
          <p:nvPr/>
        </p:nvCxnSpPr>
        <p:spPr>
          <a:xfrm flipV="1">
            <a:off x="9968788" y="2731650"/>
            <a:ext cx="32488" cy="23738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7" name="Connector 236"/>
          <p:cNvCxnSpPr/>
          <p:nvPr/>
        </p:nvCxnSpPr>
        <p:spPr>
          <a:xfrm flipV="1">
            <a:off x="10001276" y="2710136"/>
            <a:ext cx="32488" cy="21514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8" name="Connector 237"/>
          <p:cNvCxnSpPr/>
          <p:nvPr/>
        </p:nvCxnSpPr>
        <p:spPr>
          <a:xfrm flipV="1">
            <a:off x="10033764" y="2691227"/>
            <a:ext cx="32489" cy="18909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9" name="Connector 238"/>
          <p:cNvCxnSpPr/>
          <p:nvPr/>
        </p:nvCxnSpPr>
        <p:spPr>
          <a:xfrm flipV="1">
            <a:off x="10066253" y="2675258"/>
            <a:ext cx="32488" cy="15969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0" name="Connector 239"/>
          <p:cNvCxnSpPr/>
          <p:nvPr/>
        </p:nvCxnSpPr>
        <p:spPr>
          <a:xfrm flipV="1">
            <a:off x="10098741" y="2662510"/>
            <a:ext cx="32488" cy="12748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1" name="Connector 240"/>
          <p:cNvCxnSpPr/>
          <p:nvPr/>
        </p:nvCxnSpPr>
        <p:spPr>
          <a:xfrm flipV="1">
            <a:off x="10131229" y="2653210"/>
            <a:ext cx="32488" cy="9300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2" name="Connector 241"/>
          <p:cNvCxnSpPr/>
          <p:nvPr/>
        </p:nvCxnSpPr>
        <p:spPr>
          <a:xfrm flipV="1">
            <a:off x="10163717" y="2647520"/>
            <a:ext cx="32488" cy="5690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3" name="Connector 242"/>
          <p:cNvCxnSpPr/>
          <p:nvPr/>
        </p:nvCxnSpPr>
        <p:spPr>
          <a:xfrm flipV="1">
            <a:off x="10196205" y="2645543"/>
            <a:ext cx="32488" cy="1977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4" name="Connector 243"/>
          <p:cNvCxnSpPr/>
          <p:nvPr/>
        </p:nvCxnSpPr>
        <p:spPr>
          <a:xfrm>
            <a:off x="10228693" y="2645543"/>
            <a:ext cx="32488" cy="1770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5" name="Connector 244"/>
          <p:cNvCxnSpPr/>
          <p:nvPr/>
        </p:nvCxnSpPr>
        <p:spPr>
          <a:xfrm>
            <a:off x="10261181" y="2647313"/>
            <a:ext cx="32488" cy="5485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6" name="Connector 245"/>
          <p:cNvCxnSpPr/>
          <p:nvPr/>
        </p:nvCxnSpPr>
        <p:spPr>
          <a:xfrm>
            <a:off x="10293669" y="2652798"/>
            <a:ext cx="32488" cy="9104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7" name="Connector 246"/>
          <p:cNvCxnSpPr/>
          <p:nvPr/>
        </p:nvCxnSpPr>
        <p:spPr>
          <a:xfrm>
            <a:off x="10326157" y="2661902"/>
            <a:ext cx="32488" cy="12561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8" name="Connector 247"/>
          <p:cNvCxnSpPr/>
          <p:nvPr/>
        </p:nvCxnSpPr>
        <p:spPr>
          <a:xfrm>
            <a:off x="10358645" y="2674463"/>
            <a:ext cx="32489" cy="15797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9" name="Connector 248"/>
          <p:cNvCxnSpPr/>
          <p:nvPr/>
        </p:nvCxnSpPr>
        <p:spPr>
          <a:xfrm>
            <a:off x="10391134" y="2690260"/>
            <a:ext cx="32488" cy="18754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0" name="Connector 249"/>
          <p:cNvCxnSpPr/>
          <p:nvPr/>
        </p:nvCxnSpPr>
        <p:spPr>
          <a:xfrm>
            <a:off x="10423622" y="2709014"/>
            <a:ext cx="32488" cy="21378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1" name="Connector 250"/>
          <p:cNvCxnSpPr/>
          <p:nvPr/>
        </p:nvCxnSpPr>
        <p:spPr>
          <a:xfrm>
            <a:off x="10456110" y="2730392"/>
            <a:ext cx="32488" cy="23626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2" name="Connector 251"/>
          <p:cNvCxnSpPr/>
          <p:nvPr/>
        </p:nvCxnSpPr>
        <p:spPr>
          <a:xfrm>
            <a:off x="10488598" y="2754018"/>
            <a:ext cx="32488" cy="25455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3" name="Connector 252"/>
          <p:cNvCxnSpPr/>
          <p:nvPr/>
        </p:nvCxnSpPr>
        <p:spPr>
          <a:xfrm>
            <a:off x="10521086" y="2779473"/>
            <a:ext cx="32488" cy="26834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4" name="Connector 253"/>
          <p:cNvCxnSpPr/>
          <p:nvPr/>
        </p:nvCxnSpPr>
        <p:spPr>
          <a:xfrm>
            <a:off x="10553574" y="2806307"/>
            <a:ext cx="32488" cy="27739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5" name="Connector 254"/>
          <p:cNvCxnSpPr/>
          <p:nvPr/>
        </p:nvCxnSpPr>
        <p:spPr>
          <a:xfrm>
            <a:off x="10586062" y="2834046"/>
            <a:ext cx="32488" cy="28153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6" name="Connector 255"/>
          <p:cNvCxnSpPr/>
          <p:nvPr/>
        </p:nvCxnSpPr>
        <p:spPr>
          <a:xfrm>
            <a:off x="10618550" y="2862199"/>
            <a:ext cx="32488" cy="28071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7" name="Connector 256"/>
          <p:cNvCxnSpPr/>
          <p:nvPr/>
        </p:nvCxnSpPr>
        <p:spPr>
          <a:xfrm>
            <a:off x="10651038" y="2890270"/>
            <a:ext cx="32488" cy="27491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8" name="Connector 257"/>
          <p:cNvCxnSpPr/>
          <p:nvPr/>
        </p:nvCxnSpPr>
        <p:spPr>
          <a:xfrm>
            <a:off x="10683526" y="2917761"/>
            <a:ext cx="32488" cy="26426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9" name="Connector 258"/>
          <p:cNvCxnSpPr/>
          <p:nvPr/>
        </p:nvCxnSpPr>
        <p:spPr>
          <a:xfrm>
            <a:off x="10716014" y="2944187"/>
            <a:ext cx="32489" cy="24894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0" name="Connector 259"/>
          <p:cNvCxnSpPr/>
          <p:nvPr/>
        </p:nvCxnSpPr>
        <p:spPr>
          <a:xfrm>
            <a:off x="10748503" y="2969081"/>
            <a:ext cx="32488" cy="22921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1" name="Connector 260"/>
          <p:cNvCxnSpPr/>
          <p:nvPr/>
        </p:nvCxnSpPr>
        <p:spPr>
          <a:xfrm>
            <a:off x="10780991" y="2992002"/>
            <a:ext cx="32488" cy="20543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2" name="Connector 261"/>
          <p:cNvCxnSpPr/>
          <p:nvPr/>
        </p:nvCxnSpPr>
        <p:spPr>
          <a:xfrm>
            <a:off x="10813479" y="3012545"/>
            <a:ext cx="32488" cy="17803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3" name="Connector 262"/>
          <p:cNvCxnSpPr/>
          <p:nvPr/>
        </p:nvCxnSpPr>
        <p:spPr>
          <a:xfrm>
            <a:off x="10845967" y="3030348"/>
            <a:ext cx="32488" cy="14747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4" name="Connector 263"/>
          <p:cNvCxnSpPr/>
          <p:nvPr/>
        </p:nvCxnSpPr>
        <p:spPr>
          <a:xfrm>
            <a:off x="10878455" y="3045095"/>
            <a:ext cx="32488" cy="11431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5" name="Connector 264"/>
          <p:cNvCxnSpPr/>
          <p:nvPr/>
        </p:nvCxnSpPr>
        <p:spPr>
          <a:xfrm>
            <a:off x="10910943" y="3056526"/>
            <a:ext cx="32488" cy="7912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6" name="Connector 265"/>
          <p:cNvCxnSpPr/>
          <p:nvPr/>
        </p:nvCxnSpPr>
        <p:spPr>
          <a:xfrm>
            <a:off x="10943431" y="3064438"/>
            <a:ext cx="32488" cy="4254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7" name="Connector 266"/>
          <p:cNvCxnSpPr/>
          <p:nvPr/>
        </p:nvCxnSpPr>
        <p:spPr>
          <a:xfrm>
            <a:off x="10975919" y="3068692"/>
            <a:ext cx="32488" cy="521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8" name="Connector 267"/>
          <p:cNvCxnSpPr/>
          <p:nvPr/>
        </p:nvCxnSpPr>
        <p:spPr>
          <a:xfrm flipV="1">
            <a:off x="11008407" y="3065991"/>
            <a:ext cx="32488" cy="3222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9" name="Connector 268"/>
          <p:cNvCxnSpPr/>
          <p:nvPr/>
        </p:nvCxnSpPr>
        <p:spPr>
          <a:xfrm flipV="1">
            <a:off x="11040895" y="3059083"/>
            <a:ext cx="32489" cy="6908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0" name="Rectangle 269"/>
          <p:cNvSpPr/>
          <p:nvPr/>
        </p:nvSpPr>
        <p:spPr>
          <a:xfrm>
            <a:off x="6638544" y="3502152"/>
            <a:ext cx="4572000" cy="786384"/>
          </a:xfrm>
          <a:prstGeom prst="rect">
            <a:avLst/>
          </a:prstGeom>
          <a:solidFill>
            <a:srgbClr val="FFFFFF"/>
          </a:solidFill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1" name="TextBox 270"/>
          <p:cNvSpPr txBox="1"/>
          <p:nvPr/>
        </p:nvSpPr>
        <p:spPr>
          <a:xfrm>
            <a:off x="6766560" y="3648456"/>
            <a:ext cx="1399032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1600" b="1">
                <a:solidFill>
                  <a:srgbClr val="00B0F0"/>
                </a:solidFill>
                <a:latin typeface="Alibaba PuHuiTi 3.0 115 Black"/>
              </a:defRPr>
            </a:pPr>
            <a:r>
              <a:t>右声道 R</a:t>
            </a:r>
          </a:p>
        </p:txBody>
      </p:sp>
      <p:cxnSp>
        <p:nvCxnSpPr>
          <p:cNvPr id="272" name="Connector 271"/>
          <p:cNvCxnSpPr/>
          <p:nvPr/>
        </p:nvCxnSpPr>
        <p:spPr>
          <a:xfrm flipV="1">
            <a:off x="8311896" y="3747087"/>
            <a:ext cx="32488" cy="23778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3" name="Connector 272"/>
          <p:cNvCxnSpPr/>
          <p:nvPr/>
        </p:nvCxnSpPr>
        <p:spPr>
          <a:xfrm flipV="1">
            <a:off x="8344384" y="3725525"/>
            <a:ext cx="32488" cy="21562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4" name="Connector 273"/>
          <p:cNvCxnSpPr/>
          <p:nvPr/>
        </p:nvCxnSpPr>
        <p:spPr>
          <a:xfrm flipV="1">
            <a:off x="8376872" y="3706561"/>
            <a:ext cx="32488" cy="18964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5" name="Connector 274"/>
          <p:cNvCxnSpPr/>
          <p:nvPr/>
        </p:nvCxnSpPr>
        <p:spPr>
          <a:xfrm flipV="1">
            <a:off x="8409360" y="3690530"/>
            <a:ext cx="32488" cy="16031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6" name="Connector 275"/>
          <p:cNvCxnSpPr/>
          <p:nvPr/>
        </p:nvCxnSpPr>
        <p:spPr>
          <a:xfrm flipV="1">
            <a:off x="8441848" y="3677716"/>
            <a:ext cx="32488" cy="12814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7" name="Connector 276"/>
          <p:cNvCxnSpPr/>
          <p:nvPr/>
        </p:nvCxnSpPr>
        <p:spPr>
          <a:xfrm flipV="1">
            <a:off x="8474336" y="3668344"/>
            <a:ext cx="32488" cy="9372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8" name="Connector 277"/>
          <p:cNvCxnSpPr/>
          <p:nvPr/>
        </p:nvCxnSpPr>
        <p:spPr>
          <a:xfrm flipV="1">
            <a:off x="8506824" y="3662582"/>
            <a:ext cx="32488" cy="5762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9" name="Connector 278"/>
          <p:cNvCxnSpPr/>
          <p:nvPr/>
        </p:nvCxnSpPr>
        <p:spPr>
          <a:xfrm flipV="1">
            <a:off x="8539312" y="3660530"/>
            <a:ext cx="32488" cy="2052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0" name="Connector 279"/>
          <p:cNvCxnSpPr/>
          <p:nvPr/>
        </p:nvCxnSpPr>
        <p:spPr>
          <a:xfrm>
            <a:off x="8571800" y="3660530"/>
            <a:ext cx="32488" cy="1695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1" name="Connector 280"/>
          <p:cNvCxnSpPr/>
          <p:nvPr/>
        </p:nvCxnSpPr>
        <p:spPr>
          <a:xfrm>
            <a:off x="8604288" y="3662225"/>
            <a:ext cx="32488" cy="5411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2" name="Connector 281"/>
          <p:cNvCxnSpPr/>
          <p:nvPr/>
        </p:nvCxnSpPr>
        <p:spPr>
          <a:xfrm>
            <a:off x="8636776" y="3667636"/>
            <a:ext cx="32489" cy="9033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3" name="Connector 282"/>
          <p:cNvCxnSpPr/>
          <p:nvPr/>
        </p:nvCxnSpPr>
        <p:spPr>
          <a:xfrm>
            <a:off x="8669265" y="3676669"/>
            <a:ext cx="32488" cy="12495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4" name="Connector 283"/>
          <p:cNvCxnSpPr/>
          <p:nvPr/>
        </p:nvCxnSpPr>
        <p:spPr>
          <a:xfrm>
            <a:off x="8701753" y="3689164"/>
            <a:ext cx="32488" cy="15735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5" name="Connector 284"/>
          <p:cNvCxnSpPr/>
          <p:nvPr/>
        </p:nvCxnSpPr>
        <p:spPr>
          <a:xfrm>
            <a:off x="8734241" y="3704899"/>
            <a:ext cx="32488" cy="18698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6" name="Connector 285"/>
          <p:cNvCxnSpPr/>
          <p:nvPr/>
        </p:nvCxnSpPr>
        <p:spPr>
          <a:xfrm>
            <a:off x="8766729" y="3723597"/>
            <a:ext cx="32488" cy="21329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7" name="Connector 286"/>
          <p:cNvCxnSpPr/>
          <p:nvPr/>
        </p:nvCxnSpPr>
        <p:spPr>
          <a:xfrm>
            <a:off x="8799217" y="3744926"/>
            <a:ext cx="32488" cy="23585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8" name="Connector 287"/>
          <p:cNvCxnSpPr/>
          <p:nvPr/>
        </p:nvCxnSpPr>
        <p:spPr>
          <a:xfrm>
            <a:off x="8831705" y="3768511"/>
            <a:ext cx="32488" cy="25423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9" name="Connector 288"/>
          <p:cNvCxnSpPr/>
          <p:nvPr/>
        </p:nvCxnSpPr>
        <p:spPr>
          <a:xfrm>
            <a:off x="8864193" y="3793934"/>
            <a:ext cx="32488" cy="26811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0" name="Connector 289"/>
          <p:cNvCxnSpPr/>
          <p:nvPr/>
        </p:nvCxnSpPr>
        <p:spPr>
          <a:xfrm>
            <a:off x="8896681" y="3820745"/>
            <a:ext cx="32488" cy="27726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1" name="Connector 290"/>
          <p:cNvCxnSpPr/>
          <p:nvPr/>
        </p:nvCxnSpPr>
        <p:spPr>
          <a:xfrm>
            <a:off x="8929169" y="3848471"/>
            <a:ext cx="32488" cy="28150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2" name="Connector 291"/>
          <p:cNvCxnSpPr/>
          <p:nvPr/>
        </p:nvCxnSpPr>
        <p:spPr>
          <a:xfrm>
            <a:off x="8961657" y="3876621"/>
            <a:ext cx="32488" cy="28077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3" name="Connector 292"/>
          <p:cNvCxnSpPr/>
          <p:nvPr/>
        </p:nvCxnSpPr>
        <p:spPr>
          <a:xfrm>
            <a:off x="8994145" y="3904698"/>
            <a:ext cx="32489" cy="27508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4" name="Connector 293"/>
          <p:cNvCxnSpPr/>
          <p:nvPr/>
        </p:nvCxnSpPr>
        <p:spPr>
          <a:xfrm>
            <a:off x="9026634" y="3932206"/>
            <a:ext cx="32488" cy="26452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5" name="Connector 294"/>
          <p:cNvCxnSpPr/>
          <p:nvPr/>
        </p:nvCxnSpPr>
        <p:spPr>
          <a:xfrm>
            <a:off x="9059122" y="3958658"/>
            <a:ext cx="32488" cy="24928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6" name="Connector 295"/>
          <p:cNvCxnSpPr/>
          <p:nvPr/>
        </p:nvCxnSpPr>
        <p:spPr>
          <a:xfrm>
            <a:off x="9091610" y="3983586"/>
            <a:ext cx="32488" cy="22965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7" name="Connector 296"/>
          <p:cNvCxnSpPr/>
          <p:nvPr/>
        </p:nvCxnSpPr>
        <p:spPr>
          <a:xfrm>
            <a:off x="9124098" y="4006551"/>
            <a:ext cx="32488" cy="20594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8" name="Connector 297"/>
          <p:cNvCxnSpPr/>
          <p:nvPr/>
        </p:nvCxnSpPr>
        <p:spPr>
          <a:xfrm>
            <a:off x="9156586" y="4027145"/>
            <a:ext cx="32488" cy="17861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9" name="Connector 298"/>
          <p:cNvCxnSpPr/>
          <p:nvPr/>
        </p:nvCxnSpPr>
        <p:spPr>
          <a:xfrm>
            <a:off x="9189074" y="4045006"/>
            <a:ext cx="32488" cy="14810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" name="Connector 299"/>
          <p:cNvCxnSpPr/>
          <p:nvPr/>
        </p:nvCxnSpPr>
        <p:spPr>
          <a:xfrm>
            <a:off x="9221562" y="4059816"/>
            <a:ext cx="32488" cy="11499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1" name="Connector 300"/>
          <p:cNvCxnSpPr/>
          <p:nvPr/>
        </p:nvCxnSpPr>
        <p:spPr>
          <a:xfrm>
            <a:off x="9254050" y="4071315"/>
            <a:ext cx="32488" cy="7984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2" name="Connector 301"/>
          <p:cNvCxnSpPr/>
          <p:nvPr/>
        </p:nvCxnSpPr>
        <p:spPr>
          <a:xfrm>
            <a:off x="9286538" y="4079299"/>
            <a:ext cx="32488" cy="4329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3" name="Connector 302"/>
          <p:cNvCxnSpPr/>
          <p:nvPr/>
        </p:nvCxnSpPr>
        <p:spPr>
          <a:xfrm>
            <a:off x="9319026" y="4083628"/>
            <a:ext cx="32489" cy="595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4" name="Connector 303"/>
          <p:cNvCxnSpPr/>
          <p:nvPr/>
        </p:nvCxnSpPr>
        <p:spPr>
          <a:xfrm flipV="1">
            <a:off x="9351515" y="4081076"/>
            <a:ext cx="32488" cy="3147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5" name="Connector 304"/>
          <p:cNvCxnSpPr/>
          <p:nvPr/>
        </p:nvCxnSpPr>
        <p:spPr>
          <a:xfrm flipV="1">
            <a:off x="9384003" y="4074241"/>
            <a:ext cx="32488" cy="6835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6" name="Connector 305"/>
          <p:cNvCxnSpPr/>
          <p:nvPr/>
        </p:nvCxnSpPr>
        <p:spPr>
          <a:xfrm flipV="1">
            <a:off x="9416491" y="4063839"/>
            <a:ext cx="32488" cy="10402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7" name="Connector 306"/>
          <p:cNvCxnSpPr/>
          <p:nvPr/>
        </p:nvCxnSpPr>
        <p:spPr>
          <a:xfrm flipV="1">
            <a:off x="9448979" y="4050055"/>
            <a:ext cx="32488" cy="13784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8" name="Connector 307"/>
          <p:cNvCxnSpPr/>
          <p:nvPr/>
        </p:nvCxnSpPr>
        <p:spPr>
          <a:xfrm flipV="1">
            <a:off x="9481467" y="4033131"/>
            <a:ext cx="32488" cy="16924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9" name="Connector 308"/>
          <p:cNvCxnSpPr/>
          <p:nvPr/>
        </p:nvCxnSpPr>
        <p:spPr>
          <a:xfrm flipV="1">
            <a:off x="9513955" y="4013368"/>
            <a:ext cx="32488" cy="19763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0" name="Connector 309"/>
          <p:cNvCxnSpPr/>
          <p:nvPr/>
        </p:nvCxnSpPr>
        <p:spPr>
          <a:xfrm flipV="1">
            <a:off x="9546443" y="3991115"/>
            <a:ext cx="32488" cy="22253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1" name="Connector 310"/>
          <p:cNvCxnSpPr/>
          <p:nvPr/>
        </p:nvCxnSpPr>
        <p:spPr>
          <a:xfrm flipV="1">
            <a:off x="9578931" y="3966764"/>
            <a:ext cx="32488" cy="24351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2" name="Connector 311"/>
          <p:cNvCxnSpPr/>
          <p:nvPr/>
        </p:nvCxnSpPr>
        <p:spPr>
          <a:xfrm flipV="1">
            <a:off x="9611419" y="3940746"/>
            <a:ext cx="32488" cy="26018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3" name="Connector 312"/>
          <p:cNvCxnSpPr/>
          <p:nvPr/>
        </p:nvCxnSpPr>
        <p:spPr>
          <a:xfrm flipV="1">
            <a:off x="9643907" y="3913522"/>
            <a:ext cx="32488" cy="27224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4" name="Connector 313"/>
          <p:cNvCxnSpPr/>
          <p:nvPr/>
        </p:nvCxnSpPr>
        <p:spPr>
          <a:xfrm flipV="1">
            <a:off x="9676395" y="3885572"/>
            <a:ext cx="32489" cy="27950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5" name="Connector 314"/>
          <p:cNvCxnSpPr/>
          <p:nvPr/>
        </p:nvCxnSpPr>
        <p:spPr>
          <a:xfrm flipV="1">
            <a:off x="9708884" y="3857391"/>
            <a:ext cx="32488" cy="28181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6" name="Connector 315"/>
          <p:cNvCxnSpPr/>
          <p:nvPr/>
        </p:nvCxnSpPr>
        <p:spPr>
          <a:xfrm flipV="1">
            <a:off x="9741372" y="3829477"/>
            <a:ext cx="32488" cy="27914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7" name="Connector 316"/>
          <p:cNvCxnSpPr/>
          <p:nvPr/>
        </p:nvCxnSpPr>
        <p:spPr>
          <a:xfrm flipV="1">
            <a:off x="9773860" y="3802323"/>
            <a:ext cx="32488" cy="27154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8" name="Connector 317"/>
          <p:cNvCxnSpPr/>
          <p:nvPr/>
        </p:nvCxnSpPr>
        <p:spPr>
          <a:xfrm flipV="1">
            <a:off x="9806348" y="3776409"/>
            <a:ext cx="32488" cy="25914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9" name="Connector 318"/>
          <p:cNvCxnSpPr/>
          <p:nvPr/>
        </p:nvCxnSpPr>
        <p:spPr>
          <a:xfrm flipV="1">
            <a:off x="9838836" y="3752194"/>
            <a:ext cx="32488" cy="24215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0" name="Connector 319"/>
          <p:cNvCxnSpPr/>
          <p:nvPr/>
        </p:nvCxnSpPr>
        <p:spPr>
          <a:xfrm flipV="1">
            <a:off x="9871324" y="3730105"/>
            <a:ext cx="32488" cy="22089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1" name="Connector 320"/>
          <p:cNvCxnSpPr/>
          <p:nvPr/>
        </p:nvCxnSpPr>
        <p:spPr>
          <a:xfrm flipV="1">
            <a:off x="9903812" y="3710533"/>
            <a:ext cx="32488" cy="19572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2" name="Connector 321"/>
          <p:cNvCxnSpPr/>
          <p:nvPr/>
        </p:nvCxnSpPr>
        <p:spPr>
          <a:xfrm flipV="1">
            <a:off x="9936300" y="3693824"/>
            <a:ext cx="32488" cy="16709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3" name="Connector 322"/>
          <p:cNvCxnSpPr/>
          <p:nvPr/>
        </p:nvCxnSpPr>
        <p:spPr>
          <a:xfrm flipV="1">
            <a:off x="9968788" y="3680273"/>
            <a:ext cx="32488" cy="13551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4" name="Connector 323"/>
          <p:cNvCxnSpPr/>
          <p:nvPr/>
        </p:nvCxnSpPr>
        <p:spPr>
          <a:xfrm flipV="1">
            <a:off x="10001276" y="3670120"/>
            <a:ext cx="32488" cy="10153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5" name="Connector 324"/>
          <p:cNvCxnSpPr/>
          <p:nvPr/>
        </p:nvCxnSpPr>
        <p:spPr>
          <a:xfrm flipV="1">
            <a:off x="10033764" y="3663544"/>
            <a:ext cx="32489" cy="6576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6" name="Connector 325"/>
          <p:cNvCxnSpPr/>
          <p:nvPr/>
        </p:nvCxnSpPr>
        <p:spPr>
          <a:xfrm flipV="1">
            <a:off x="10066253" y="3660662"/>
            <a:ext cx="32488" cy="2882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7" name="Connector 326"/>
          <p:cNvCxnSpPr/>
          <p:nvPr/>
        </p:nvCxnSpPr>
        <p:spPr>
          <a:xfrm>
            <a:off x="10098741" y="3660662"/>
            <a:ext cx="32488" cy="863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8" name="Connector 327"/>
          <p:cNvCxnSpPr/>
          <p:nvPr/>
        </p:nvCxnSpPr>
        <p:spPr>
          <a:xfrm>
            <a:off x="10131229" y="3661525"/>
            <a:ext cx="32488" cy="4592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9" name="Connector 328"/>
          <p:cNvCxnSpPr/>
          <p:nvPr/>
        </p:nvCxnSpPr>
        <p:spPr>
          <a:xfrm>
            <a:off x="10163717" y="3666117"/>
            <a:ext cx="32488" cy="8239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0" name="Connector 329"/>
          <p:cNvCxnSpPr/>
          <p:nvPr/>
        </p:nvCxnSpPr>
        <p:spPr>
          <a:xfrm>
            <a:off x="10196205" y="3674356"/>
            <a:ext cx="32488" cy="11743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1" name="Connector 330"/>
          <p:cNvCxnSpPr/>
          <p:nvPr/>
        </p:nvCxnSpPr>
        <p:spPr>
          <a:xfrm>
            <a:off x="10228693" y="3686099"/>
            <a:ext cx="32488" cy="15037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2" name="Connector 331"/>
          <p:cNvCxnSpPr/>
          <p:nvPr/>
        </p:nvCxnSpPr>
        <p:spPr>
          <a:xfrm>
            <a:off x="10261181" y="3701136"/>
            <a:ext cx="32488" cy="18066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3" name="Connector 332"/>
          <p:cNvCxnSpPr/>
          <p:nvPr/>
        </p:nvCxnSpPr>
        <p:spPr>
          <a:xfrm>
            <a:off x="10293669" y="3719202"/>
            <a:ext cx="32488" cy="20776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4" name="Connector 333"/>
          <p:cNvCxnSpPr/>
          <p:nvPr/>
        </p:nvCxnSpPr>
        <p:spPr>
          <a:xfrm>
            <a:off x="10326157" y="3739978"/>
            <a:ext cx="32488" cy="23118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5" name="Connector 334"/>
          <p:cNvCxnSpPr/>
          <p:nvPr/>
        </p:nvCxnSpPr>
        <p:spPr>
          <a:xfrm>
            <a:off x="10358645" y="3763096"/>
            <a:ext cx="32489" cy="25052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6" name="Connector 335"/>
          <p:cNvCxnSpPr/>
          <p:nvPr/>
        </p:nvCxnSpPr>
        <p:spPr>
          <a:xfrm>
            <a:off x="10391134" y="3788148"/>
            <a:ext cx="32488" cy="26543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7" name="Connector 336"/>
          <p:cNvCxnSpPr/>
          <p:nvPr/>
        </p:nvCxnSpPr>
        <p:spPr>
          <a:xfrm>
            <a:off x="10423622" y="3814691"/>
            <a:ext cx="32488" cy="27564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8" name="Connector 337"/>
          <p:cNvCxnSpPr/>
          <p:nvPr/>
        </p:nvCxnSpPr>
        <p:spPr>
          <a:xfrm>
            <a:off x="10456110" y="3842255"/>
            <a:ext cx="32488" cy="28099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9" name="Connector 338"/>
          <p:cNvCxnSpPr/>
          <p:nvPr/>
        </p:nvCxnSpPr>
        <p:spPr>
          <a:xfrm>
            <a:off x="10488598" y="3870354"/>
            <a:ext cx="32488" cy="28137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0" name="Connector 339"/>
          <p:cNvCxnSpPr/>
          <p:nvPr/>
        </p:nvCxnSpPr>
        <p:spPr>
          <a:xfrm>
            <a:off x="10521086" y="3898491"/>
            <a:ext cx="32488" cy="27676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1" name="Connector 340"/>
          <p:cNvCxnSpPr/>
          <p:nvPr/>
        </p:nvCxnSpPr>
        <p:spPr>
          <a:xfrm>
            <a:off x="10553574" y="3926167"/>
            <a:ext cx="32488" cy="26728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2" name="Connector 341"/>
          <p:cNvCxnSpPr/>
          <p:nvPr/>
        </p:nvCxnSpPr>
        <p:spPr>
          <a:xfrm>
            <a:off x="10586062" y="3952895"/>
            <a:ext cx="32488" cy="25306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3" name="Connector 342"/>
          <p:cNvCxnSpPr/>
          <p:nvPr/>
        </p:nvCxnSpPr>
        <p:spPr>
          <a:xfrm>
            <a:off x="10618550" y="3978201"/>
            <a:ext cx="32488" cy="23438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4" name="Connector 343"/>
          <p:cNvCxnSpPr/>
          <p:nvPr/>
        </p:nvCxnSpPr>
        <p:spPr>
          <a:xfrm>
            <a:off x="10651038" y="4001639"/>
            <a:ext cx="32488" cy="21154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5" name="Connector 344"/>
          <p:cNvCxnSpPr/>
          <p:nvPr/>
        </p:nvCxnSpPr>
        <p:spPr>
          <a:xfrm>
            <a:off x="10683526" y="4022793"/>
            <a:ext cx="32488" cy="18497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6" name="Connector 345"/>
          <p:cNvCxnSpPr/>
          <p:nvPr/>
        </p:nvCxnSpPr>
        <p:spPr>
          <a:xfrm>
            <a:off x="10716014" y="4041290"/>
            <a:ext cx="32489" cy="15513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7" name="Connector 346"/>
          <p:cNvCxnSpPr/>
          <p:nvPr/>
        </p:nvCxnSpPr>
        <p:spPr>
          <a:xfrm>
            <a:off x="10748503" y="4056803"/>
            <a:ext cx="32488" cy="12254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8" name="Connector 347"/>
          <p:cNvCxnSpPr/>
          <p:nvPr/>
        </p:nvCxnSpPr>
        <p:spPr>
          <a:xfrm>
            <a:off x="10780991" y="4069057"/>
            <a:ext cx="32488" cy="8780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9" name="Connector 348"/>
          <p:cNvCxnSpPr/>
          <p:nvPr/>
        </p:nvCxnSpPr>
        <p:spPr>
          <a:xfrm>
            <a:off x="10813479" y="4077837"/>
            <a:ext cx="32488" cy="5150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0" name="Connector 349"/>
          <p:cNvCxnSpPr/>
          <p:nvPr/>
        </p:nvCxnSpPr>
        <p:spPr>
          <a:xfrm>
            <a:off x="10845967" y="4082987"/>
            <a:ext cx="32488" cy="1428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1" name="Connector 350"/>
          <p:cNvCxnSpPr/>
          <p:nvPr/>
        </p:nvCxnSpPr>
        <p:spPr>
          <a:xfrm flipV="1">
            <a:off x="10878455" y="4082097"/>
            <a:ext cx="32488" cy="2318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2" name="Connector 351"/>
          <p:cNvCxnSpPr/>
          <p:nvPr/>
        </p:nvCxnSpPr>
        <p:spPr>
          <a:xfrm flipV="1">
            <a:off x="10910943" y="4076073"/>
            <a:ext cx="32488" cy="6024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3" name="Connector 352"/>
          <p:cNvCxnSpPr/>
          <p:nvPr/>
        </p:nvCxnSpPr>
        <p:spPr>
          <a:xfrm flipV="1">
            <a:off x="10943431" y="4066450"/>
            <a:ext cx="32488" cy="9623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4" name="Connector 353"/>
          <p:cNvCxnSpPr/>
          <p:nvPr/>
        </p:nvCxnSpPr>
        <p:spPr>
          <a:xfrm flipV="1">
            <a:off x="10975919" y="4053399"/>
            <a:ext cx="32488" cy="13051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5" name="Connector 354"/>
          <p:cNvCxnSpPr/>
          <p:nvPr/>
        </p:nvCxnSpPr>
        <p:spPr>
          <a:xfrm flipV="1">
            <a:off x="11008407" y="4037149"/>
            <a:ext cx="32488" cy="16250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6" name="Connector 355"/>
          <p:cNvCxnSpPr/>
          <p:nvPr/>
        </p:nvCxnSpPr>
        <p:spPr>
          <a:xfrm flipV="1">
            <a:off x="11040895" y="4017988"/>
            <a:ext cx="32489" cy="19161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7" name="TextBox 356"/>
          <p:cNvSpPr txBox="1"/>
          <p:nvPr/>
        </p:nvSpPr>
        <p:spPr>
          <a:xfrm>
            <a:off x="786384" y="5852160"/>
            <a:ext cx="1069848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1700" b="0">
                <a:solidFill>
                  <a:srgbClr val="8C64E1"/>
                </a:solidFill>
                <a:latin typeface="Alibaba PuHuiTi 3.0 55 Regular"/>
              </a:defRPr>
            </a:pPr>
            <a:r>
              <a:t>两条编辑音轨可以混合成两路输出；决定PCM数据量的是输出声道数。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5010912"/>
            <a:ext cx="10661904" cy="1261872"/>
          </a:xfrm>
          <a:prstGeom prst="rect">
            <a:avLst/>
          </a:prstGeom>
          <a:solidFill>
            <a:srgbClr val="F6F3FF"/>
          </a:solidFill>
          <a:ln w="8890">
            <a:solidFill>
              <a:srgbClr val="E0DD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5010912"/>
            <a:ext cx="68580" cy="1261872"/>
          </a:xfrm>
          <a:prstGeom prst="rect">
            <a:avLst/>
          </a:prstGeom>
          <a:solidFill>
            <a:srgbClr val="6251B1"/>
          </a:solidFill>
          <a:ln w="8890">
            <a:solidFill>
              <a:srgbClr val="6251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练习题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1691640"/>
            <a:ext cx="10652760" cy="3035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给5分钟的诗朗诵加入一条等时长背景音乐音轨。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如果导出时仍为44.1 kHz、16 bit、双声道PCM，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数据量会翻倍吗？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22960" y="4919472"/>
            <a:ext cx="10259568" cy="0"/>
          </a:xfrm>
          <a:prstGeom prst="line">
            <a:avLst/>
          </a:prstGeom>
          <a:ln w="254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005840" y="5111496"/>
            <a:ext cx="10241280" cy="521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rPr b="1" sz="2600">
                <a:solidFill>
                  <a:srgbClr val="8C64E1"/>
                </a:solidFill>
                <a:latin typeface="Alibaba PuHuiTi 3.0 115 Black"/>
              </a:rPr>
              <a:t>答案：未压缩样本数据量不变。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5660136"/>
            <a:ext cx="10241280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0">
                <a:solidFill>
                  <a:srgbClr val="262626"/>
                </a:solidFill>
                <a:latin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</a:rPr>
              <a:t>内容变了，但采样率、位数、声道数、时长均未变。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迁移：把双声道改成单声道，会怎样？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" y="2185416"/>
            <a:ext cx="49377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700" b="1">
                <a:solidFill>
                  <a:srgbClr val="8C64E1"/>
                </a:solidFill>
                <a:latin typeface="Alibaba PuHuiTi 3.0 115 Black"/>
              </a:defRPr>
            </a:pPr>
            <a:r>
              <a:t>双声道：2路数据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01384" y="2185416"/>
            <a:ext cx="49377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700" b="1">
                <a:solidFill>
                  <a:srgbClr val="00B0F0"/>
                </a:solidFill>
                <a:latin typeface="Alibaba PuHuiTi 3.0 115 Black"/>
              </a:defRPr>
            </a:pPr>
            <a:r>
              <a:t>单声道：1路数据</a:t>
            </a:r>
          </a:p>
        </p:txBody>
      </p:sp>
      <p:sp>
        <p:nvSpPr>
          <p:cNvPr id="7" name="Rectangle 6"/>
          <p:cNvSpPr/>
          <p:nvPr/>
        </p:nvSpPr>
        <p:spPr>
          <a:xfrm>
            <a:off x="1115568" y="3145536"/>
            <a:ext cx="3694176" cy="411480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15568" y="3721608"/>
            <a:ext cx="3694176" cy="411480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729984" y="3438144"/>
            <a:ext cx="3694176" cy="411480"/>
          </a:xfrm>
          <a:prstGeom prst="rect">
            <a:avLst/>
          </a:prstGeom>
          <a:noFill/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未压缩PCM：声道数变成一半，样本数据量也变成一半。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图像采样与声音采样，哪里相同？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这两种编码都有“选择样本”和“用有限数字表达样本”的过程。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8952" y="1600200"/>
            <a:ext cx="2130552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400" b="1">
                <a:solidFill>
                  <a:srgbClr val="6251B1"/>
                </a:solidFill>
                <a:latin typeface="Alibaba PuHuiTi 3.0 115 Black"/>
              </a:defRPr>
            </a:pPr>
            <a:r>
              <a:t>比较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27248" y="1600200"/>
            <a:ext cx="3822191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600" b="1">
                <a:solidFill>
                  <a:srgbClr val="6251B1"/>
                </a:solidFill>
                <a:latin typeface="Alibaba PuHuiTi 3.0 115 Black"/>
              </a:defRPr>
            </a:pPr>
            <a:r>
              <a:t>图像：空间采样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79208" y="1600200"/>
            <a:ext cx="3968496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600" b="1">
                <a:solidFill>
                  <a:srgbClr val="00B0F0"/>
                </a:solidFill>
                <a:latin typeface="Alibaba PuHuiTi 3.0 115 Black"/>
              </a:defRPr>
            </a:pPr>
            <a:r>
              <a:t>声音：时间采样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68096" y="2322576"/>
            <a:ext cx="10488168" cy="0"/>
          </a:xfrm>
          <a:prstGeom prst="line">
            <a:avLst/>
          </a:prstGeom>
          <a:ln w="15240">
            <a:solidFill>
              <a:srgbClr val="E0DD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777240" y="2478024"/>
            <a:ext cx="2267712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6251B1"/>
                </a:solidFill>
                <a:latin typeface="Alibaba PuHuiTi 3.0 115 Black"/>
              </a:defRPr>
            </a:pPr>
            <a:r>
              <a:t>① 取样位置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136392" y="2478024"/>
            <a:ext cx="3767328" cy="7040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0">
                <a:solidFill>
                  <a:srgbClr val="262626"/>
                </a:solidFill>
                <a:latin typeface="Alibaba PuHuiTi 3.0 55 Regular"/>
              </a:defRPr>
            </a:pPr>
            <a:r>
              <a:t>二维：行×列的像素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88352" y="2478024"/>
            <a:ext cx="3977639" cy="7040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0">
                <a:solidFill>
                  <a:srgbClr val="262626"/>
                </a:solidFill>
                <a:latin typeface="Alibaba PuHuiTi 3.0 55 Regular"/>
              </a:defRPr>
            </a:pPr>
            <a:r>
              <a:t>一维：时间点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68096" y="3419856"/>
            <a:ext cx="10488168" cy="0"/>
          </a:xfrm>
          <a:prstGeom prst="line">
            <a:avLst/>
          </a:prstGeom>
          <a:ln w="15240">
            <a:solidFill>
              <a:srgbClr val="E0DD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777240" y="3575304"/>
            <a:ext cx="2267712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6251B1"/>
                </a:solidFill>
                <a:latin typeface="Alibaba PuHuiTi 3.0 115 Black"/>
              </a:defRPr>
            </a:pPr>
            <a:r>
              <a:t>② 记录什么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36392" y="3575304"/>
            <a:ext cx="3767328" cy="7040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0">
                <a:solidFill>
                  <a:srgbClr val="262626"/>
                </a:solidFill>
                <a:latin typeface="Alibaba PuHuiTi 3.0 55 Regular"/>
              </a:defRPr>
            </a:pPr>
            <a:r>
              <a:t>像素颜色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88352" y="3575304"/>
            <a:ext cx="3977639" cy="7040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0">
                <a:solidFill>
                  <a:srgbClr val="262626"/>
                </a:solidFill>
                <a:latin typeface="Alibaba PuHuiTi 3.0 55 Regular"/>
              </a:defRPr>
            </a:pPr>
            <a:r>
              <a:t>信号幅度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768096" y="4517136"/>
            <a:ext cx="10488168" cy="0"/>
          </a:xfrm>
          <a:prstGeom prst="line">
            <a:avLst/>
          </a:prstGeom>
          <a:ln w="15240">
            <a:solidFill>
              <a:srgbClr val="E0DD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777240" y="4672583"/>
            <a:ext cx="2267712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6251B1"/>
                </a:solidFill>
                <a:latin typeface="Alibaba PuHuiTi 3.0 115 Black"/>
              </a:defRPr>
            </a:pPr>
            <a:r>
              <a:t>③ 数据量怎么算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136392" y="4672583"/>
            <a:ext cx="3767328" cy="7040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0">
                <a:solidFill>
                  <a:srgbClr val="262626"/>
                </a:solidFill>
                <a:latin typeface="Alibaba PuHuiTi 3.0 55 Regular"/>
              </a:defRPr>
            </a:pPr>
            <a:r>
              <a:t>像素数 × 每像素位数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88352" y="4672583"/>
            <a:ext cx="3977639" cy="7040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0">
                <a:solidFill>
                  <a:srgbClr val="262626"/>
                </a:solidFill>
                <a:latin typeface="Alibaba PuHuiTi 3.0 55 Regular"/>
              </a:defRPr>
            </a:pPr>
            <a:r>
              <a:t>样本数 × 每样本位数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一张张图片连续变化，就能让我们看到运动。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1609344"/>
            <a:ext cx="10570464" cy="52120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2400" b="1">
                <a:solidFill>
                  <a:srgbClr val="8C64E1"/>
                </a:solidFill>
                <a:latin typeface="Alibaba PuHuiTi 3.0 115 Black"/>
              </a:defRPr>
            </a:pPr>
            <a:r>
              <a:t>同一个球，在5个连续时刻的位置变化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331720"/>
            <a:ext cx="1874519" cy="2075688"/>
          </a:xfrm>
          <a:prstGeom prst="rect">
            <a:avLst/>
          </a:prstGeom>
          <a:solidFill>
            <a:srgbClr val="FFFFFF"/>
          </a:solidFill>
          <a:ln w="19050">
            <a:solidFill>
              <a:srgbClr val="E2DE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>
            <a:off x="868680" y="3904487"/>
            <a:ext cx="1600200" cy="0"/>
          </a:xfrm>
          <a:prstGeom prst="line">
            <a:avLst/>
          </a:prstGeom>
          <a:ln w="16510">
            <a:solidFill>
              <a:srgbClr val="E2DE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Oval 7"/>
          <p:cNvSpPr/>
          <p:nvPr/>
        </p:nvSpPr>
        <p:spPr>
          <a:xfrm>
            <a:off x="841248" y="3191256"/>
            <a:ext cx="329184" cy="329184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4526280"/>
            <a:ext cx="1874519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1900" b="1">
                <a:solidFill>
                  <a:srgbClr val="262626"/>
                </a:solidFill>
                <a:latin typeface="Alibaba PuHuiTi 3.0 115 Black"/>
              </a:defRPr>
            </a:pPr>
            <a:r>
              <a:t>第1帧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96896" y="3154680"/>
            <a:ext cx="356616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971800" y="2331720"/>
            <a:ext cx="1874519" cy="2075688"/>
          </a:xfrm>
          <a:prstGeom prst="rect">
            <a:avLst/>
          </a:prstGeom>
          <a:solidFill>
            <a:srgbClr val="FFFFFF"/>
          </a:solidFill>
          <a:ln w="19050">
            <a:solidFill>
              <a:srgbClr val="E2DE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" name="Connector 11"/>
          <p:cNvCxnSpPr/>
          <p:nvPr/>
        </p:nvCxnSpPr>
        <p:spPr>
          <a:xfrm>
            <a:off x="3108960" y="3904487"/>
            <a:ext cx="1600200" cy="0"/>
          </a:xfrm>
          <a:prstGeom prst="line">
            <a:avLst/>
          </a:prstGeom>
          <a:ln w="16510">
            <a:solidFill>
              <a:srgbClr val="E2DE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3392423" y="3191256"/>
            <a:ext cx="329184" cy="329184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971800" y="4526280"/>
            <a:ext cx="1874519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1900" b="1">
                <a:solidFill>
                  <a:srgbClr val="262626"/>
                </a:solidFill>
                <a:latin typeface="Alibaba PuHuiTi 3.0 115 Black"/>
              </a:defRPr>
            </a:pPr>
            <a:r>
              <a:t>第2帧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37176" y="3154680"/>
            <a:ext cx="356616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t>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212080" y="2331720"/>
            <a:ext cx="1874519" cy="2075688"/>
          </a:xfrm>
          <a:prstGeom prst="rect">
            <a:avLst/>
          </a:prstGeom>
          <a:solidFill>
            <a:srgbClr val="FFFFFF"/>
          </a:solidFill>
          <a:ln w="19050">
            <a:solidFill>
              <a:srgbClr val="E2DE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5349240" y="3904487"/>
            <a:ext cx="1600200" cy="0"/>
          </a:xfrm>
          <a:prstGeom prst="line">
            <a:avLst/>
          </a:prstGeom>
          <a:ln w="16510">
            <a:solidFill>
              <a:srgbClr val="E2DE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Oval 17"/>
          <p:cNvSpPr/>
          <p:nvPr/>
        </p:nvSpPr>
        <p:spPr>
          <a:xfrm>
            <a:off x="5943600" y="3191256"/>
            <a:ext cx="329184" cy="329184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212080" y="4526280"/>
            <a:ext cx="1874519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1900" b="1">
                <a:solidFill>
                  <a:srgbClr val="262626"/>
                </a:solidFill>
                <a:latin typeface="Alibaba PuHuiTi 3.0 115 Black"/>
              </a:defRPr>
            </a:pPr>
            <a:r>
              <a:t>第3帧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77456" y="3154680"/>
            <a:ext cx="356616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t>→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452360" y="2331720"/>
            <a:ext cx="1874519" cy="2075688"/>
          </a:xfrm>
          <a:prstGeom prst="rect">
            <a:avLst/>
          </a:prstGeom>
          <a:solidFill>
            <a:srgbClr val="FFFFFF"/>
          </a:solidFill>
          <a:ln w="19050">
            <a:solidFill>
              <a:srgbClr val="E2DE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2" name="Connector 21"/>
          <p:cNvCxnSpPr/>
          <p:nvPr/>
        </p:nvCxnSpPr>
        <p:spPr>
          <a:xfrm>
            <a:off x="7589520" y="3904487"/>
            <a:ext cx="1600200" cy="0"/>
          </a:xfrm>
          <a:prstGeom prst="line">
            <a:avLst/>
          </a:prstGeom>
          <a:ln w="16510">
            <a:solidFill>
              <a:srgbClr val="E2DE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Oval 22"/>
          <p:cNvSpPr/>
          <p:nvPr/>
        </p:nvSpPr>
        <p:spPr>
          <a:xfrm>
            <a:off x="8494776" y="3191256"/>
            <a:ext cx="329184" cy="329184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52360" y="4526280"/>
            <a:ext cx="1874519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1900" b="1">
                <a:solidFill>
                  <a:srgbClr val="262626"/>
                </a:solidFill>
                <a:latin typeface="Alibaba PuHuiTi 3.0 115 Black"/>
              </a:defRPr>
            </a:pPr>
            <a:r>
              <a:t>第4帧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17736" y="3154680"/>
            <a:ext cx="356616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692640" y="2331720"/>
            <a:ext cx="1874519" cy="2075688"/>
          </a:xfrm>
          <a:prstGeom prst="rect">
            <a:avLst/>
          </a:prstGeom>
          <a:solidFill>
            <a:srgbClr val="FFFFFF"/>
          </a:solidFill>
          <a:ln w="19050">
            <a:solidFill>
              <a:srgbClr val="E2DE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7" name="Connector 26"/>
          <p:cNvCxnSpPr/>
          <p:nvPr/>
        </p:nvCxnSpPr>
        <p:spPr>
          <a:xfrm>
            <a:off x="9829800" y="3904487"/>
            <a:ext cx="1600200" cy="0"/>
          </a:xfrm>
          <a:prstGeom prst="line">
            <a:avLst/>
          </a:prstGeom>
          <a:ln w="16510">
            <a:solidFill>
              <a:srgbClr val="E2DE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Oval 27"/>
          <p:cNvSpPr/>
          <p:nvPr/>
        </p:nvSpPr>
        <p:spPr>
          <a:xfrm>
            <a:off x="11045952" y="3191256"/>
            <a:ext cx="329184" cy="329184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692640" y="4526280"/>
            <a:ext cx="1874519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1900" b="1">
                <a:solidFill>
                  <a:srgbClr val="262626"/>
                </a:solidFill>
                <a:latin typeface="Alibaba PuHuiTi 3.0 115 Black"/>
              </a:defRPr>
            </a:pPr>
            <a:r>
              <a:t>第5帧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1248" y="5166360"/>
            <a:ext cx="103327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位置逐帧变化（背景和球的大小不变）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86384" y="5852160"/>
            <a:ext cx="1069848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1700" b="0">
                <a:solidFill>
                  <a:srgbClr val="8C64E1"/>
                </a:solidFill>
                <a:latin typeface="Alibaba PuHuiTi 3.0 55 Regular"/>
              </a:defRPr>
            </a:pPr>
            <a:r>
              <a:t>25 fps = 每秒显示25帧；“帧”不是声道，也不是采样位数。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10分钟、每秒25帧，要保存多少张画面？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8096" y="2048256"/>
            <a:ext cx="1078992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700" b="1">
                <a:solidFill>
                  <a:srgbClr val="262626"/>
                </a:solidFill>
                <a:latin typeface="Alibaba PuHuiTi 3.0 115 Black"/>
              </a:defRPr>
            </a:pPr>
            <a:r>
              <a:t>25帧/秒 × 60秒/分钟 × 10分钟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3264408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4200" b="1">
                <a:solidFill>
                  <a:srgbClr val="8C64E1"/>
                </a:solidFill>
                <a:latin typeface="Alibaba PuHuiTi 3.0 115 Black"/>
              </a:defRPr>
            </a:pPr>
            <a:r>
              <a:t>= 15,000 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4910328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无压缩视频 = 单帧图像数据量 × 总帧数。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练习题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1691640"/>
            <a:ext cx="10652760" cy="3035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10分钟的无声视频：480×320像素，24 bit/像素，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帧率25 fps。假设逐帧未压缩存储，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总数据量约多少GiB？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22960" y="4919472"/>
            <a:ext cx="10259568" cy="0"/>
          </a:xfrm>
          <a:prstGeom prst="line">
            <a:avLst/>
          </a:prstGeom>
          <a:ln w="254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832104" y="5166360"/>
            <a:ext cx="10332720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t>先算每帧，再算总帧数。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5010912"/>
            <a:ext cx="10661904" cy="1261872"/>
          </a:xfrm>
          <a:prstGeom prst="rect">
            <a:avLst/>
          </a:prstGeom>
          <a:solidFill>
            <a:srgbClr val="F6F3FF"/>
          </a:solidFill>
          <a:ln w="8890">
            <a:solidFill>
              <a:srgbClr val="E0DD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5010912"/>
            <a:ext cx="68580" cy="1261872"/>
          </a:xfrm>
          <a:prstGeom prst="rect">
            <a:avLst/>
          </a:prstGeom>
          <a:solidFill>
            <a:srgbClr val="6251B1"/>
          </a:solidFill>
          <a:ln w="8890">
            <a:solidFill>
              <a:srgbClr val="6251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练习题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1691640"/>
            <a:ext cx="10652760" cy="3035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10分钟的无声视频：480×320像素，24 bit/像素，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帧率25 fps。假设逐帧未压缩存储，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总数据量约多少GiB？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22960" y="4919472"/>
            <a:ext cx="10259568" cy="0"/>
          </a:xfrm>
          <a:prstGeom prst="line">
            <a:avLst/>
          </a:prstGeom>
          <a:ln w="254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005840" y="5111496"/>
            <a:ext cx="10241280" cy="521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rPr b="1" sz="2600">
                <a:solidFill>
                  <a:srgbClr val="8C64E1"/>
                </a:solidFill>
                <a:latin typeface="Alibaba PuHuiTi 3.0 115 Black"/>
              </a:rPr>
              <a:t>答案：约6.44 GiB。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5660136"/>
            <a:ext cx="10241280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0">
                <a:solidFill>
                  <a:srgbClr val="262626"/>
                </a:solidFill>
                <a:latin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</a:rPr>
              <a:t>480×320×24÷8×25×600 = 6,912,000,000 B；÷1024³≈6.44 GiB。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可是我们看的10分钟视频，为什么远没有6.44 GiB？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1892807"/>
            <a:ext cx="1078992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8C64E1"/>
                </a:solidFill>
                <a:latin typeface="Alibaba PuHuiTi 3.0 115 Black"/>
              </a:defRPr>
            </a:pPr>
            <a:r>
              <a:t>刚才的计算错了吗？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300984"/>
            <a:ext cx="1069848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800" b="0">
                <a:solidFill>
                  <a:srgbClr val="262626"/>
                </a:solidFill>
                <a:latin typeface="Alibaba PuHuiTi 3.0 55 Regular"/>
              </a:defRPr>
            </a:pPr>
            <a:r>
              <a:t>如果公式没错，实际文件为什么可能小得多？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请提出至少一种可以检验的解释。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因为我们算的是“逐帧未压缩数据量”。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832104" y="2267712"/>
            <a:ext cx="4590288" cy="667512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5256" y="2386584"/>
            <a:ext cx="4443983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rPr sz="2500" b="1">
                <a:solidFill>
                  <a:srgbClr val="6251B1"/>
                </a:solidFill>
                <a:latin typeface="Alibaba PuHuiTi 3.0 115 Black"/>
              </a:rPr>
              <a:t>未压缩图像帧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513832" y="2606040"/>
            <a:ext cx="987552" cy="0"/>
          </a:xfrm>
          <a:prstGeom prst="line">
            <a:avLst/>
          </a:prstGeom>
          <a:ln w="381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6574536" y="2267712"/>
            <a:ext cx="4663440" cy="667512"/>
          </a:xfrm>
          <a:prstGeom prst="rect">
            <a:avLst/>
          </a:prstGeom>
          <a:noFill/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47688" y="2386584"/>
            <a:ext cx="4517136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00B0F0"/>
                </a:solidFill>
                <a:latin typeface="Alibaba PuHuiTi 3.0 115 Black"/>
              </a:defRPr>
            </a:pPr>
            <a:r>
              <a:rPr sz="2500" b="1">
                <a:solidFill>
                  <a:srgbClr val="6251B1"/>
                </a:solidFill>
                <a:latin typeface="Alibaba PuHuiTi 3.0 115 Black"/>
              </a:rPr>
              <a:t>重新编码后的视频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3712463"/>
            <a:ext cx="4599432" cy="10789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100" b="0">
                <a:solidFill>
                  <a:srgbClr val="262626"/>
                </a:solidFill>
                <a:latin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</a:rPr>
              <a:t>每一帧都要保存完整的原始像素数据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01968" y="3712463"/>
            <a:ext cx="4681728" cy="10789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100" b="0">
                <a:solidFill>
                  <a:srgbClr val="262626"/>
                </a:solidFill>
                <a:latin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</a:rPr>
              <a:t>利用帧间相似和更有效的编码，数据可能显著减小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数据量计算仍正确，它描述的是题设中的“未压缩”情况。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为什么要压缩？先想两种真实需求。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080760" y="1627632"/>
            <a:ext cx="0" cy="3776472"/>
          </a:xfrm>
          <a:prstGeom prst="line">
            <a:avLst/>
          </a:prstGeom>
          <a:ln w="254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822960" y="1737360"/>
            <a:ext cx="5074920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800" b="1">
                <a:solidFill>
                  <a:srgbClr val="8C64E1"/>
                </a:solidFill>
                <a:latin typeface="Alibaba PuHuiTi 3.0 115 Black"/>
              </a:defRPr>
            </a:pPr>
            <a:r>
              <a:t>节省存储空间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55664" y="1737360"/>
            <a:ext cx="4754880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800" b="1">
                <a:solidFill>
                  <a:srgbClr val="00B0F0"/>
                </a:solidFill>
                <a:latin typeface="Alibaba PuHuiTi 3.0 115 Black"/>
              </a:defRPr>
            </a:pPr>
            <a:r>
              <a:t>方便网络传输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743200"/>
            <a:ext cx="5010912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t>同样容量的手机或硬盘，可以保存更多数据。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55664" y="2743200"/>
            <a:ext cx="4873752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t>需要传输的数据更少，通常能更快下载或播放。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压缩的两个目的：节省空间、提高传输效率。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“中国”重复100次，有没有更简短的写法？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1975104"/>
            <a:ext cx="10789920" cy="10789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000" b="1">
                <a:solidFill>
                  <a:srgbClr val="262626"/>
                </a:solidFill>
                <a:latin typeface="Alibaba PuHuiTi 3.0 115 Black"/>
              </a:defRPr>
            </a:pPr>
            <a:r>
              <a:t>中国中国中国中国中国中国……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291840" y="3685032"/>
            <a:ext cx="3154680" cy="0"/>
          </a:xfrm>
          <a:prstGeom prst="line">
            <a:avLst/>
          </a:prstGeom>
          <a:ln w="381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803136" y="3310128"/>
            <a:ext cx="4297680" cy="10241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300" b="1">
                <a:solidFill>
                  <a:srgbClr val="8C64E1"/>
                </a:solidFill>
                <a:latin typeface="Alibaba PuHuiTi 3.0 115 Black"/>
              </a:defRPr>
            </a:pPr>
            <a:r>
              <a:t>“中国” × 100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在不改变内容的前提下，用规则和次数来表示重复部分。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为什么重复内容更容易压缩？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080760" y="1627632"/>
            <a:ext cx="0" cy="3776472"/>
          </a:xfrm>
          <a:prstGeom prst="line">
            <a:avLst/>
          </a:prstGeom>
          <a:ln w="254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822960" y="1737360"/>
            <a:ext cx="5074920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800" b="1">
                <a:solidFill>
                  <a:srgbClr val="8C64E1"/>
                </a:solidFill>
                <a:latin typeface="Alibaba PuHuiTi 3.0 115 Black"/>
              </a:defRPr>
            </a:pPr>
            <a:r>
              <a:t>高度重复的内容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55664" y="1737360"/>
            <a:ext cx="4754880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800" b="1">
                <a:solidFill>
                  <a:srgbClr val="00B0F0"/>
                </a:solidFill>
                <a:latin typeface="Alibaba PuHuiTi 3.0 115 Black"/>
              </a:defRPr>
            </a:pPr>
            <a:r>
              <a:t>变化复杂的内容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743200"/>
            <a:ext cx="5010912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t>AAAAAAAAAA…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</a:p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t>容易用简短规则表示。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55664" y="2743200"/>
            <a:ext cx="4873752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t>AX3Q9P8F2…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</a:p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t>难以找到同样简短的规则。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冗余越多，使用合适的算法时，通常越容易压缩。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预测：两份都是1000 Byte，压缩后谁更小？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8" y="2002536"/>
            <a:ext cx="4882896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700" b="1">
                <a:solidFill>
                  <a:srgbClr val="8C64E1"/>
                </a:solidFill>
                <a:latin typeface="Alibaba PuHuiTi 3.0 115 Black"/>
              </a:defRPr>
            </a:pPr>
            <a:r>
              <a:t>文件A：1000个“A”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19088" y="2002536"/>
            <a:ext cx="4828032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600" b="1">
                <a:solidFill>
                  <a:srgbClr val="00B0F0"/>
                </a:solidFill>
                <a:latin typeface="Alibaba PuHuiTi 3.0 115 Black"/>
              </a:defRPr>
            </a:pPr>
            <a:r>
              <a:t>文件B：1000个随机字节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" y="3337560"/>
            <a:ext cx="10515600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400" b="0">
                <a:solidFill>
                  <a:srgbClr val="262626"/>
                </a:solidFill>
                <a:latin typeface="Alibaba PuHuiTi 3.0 55 Regular"/>
              </a:defRPr>
            </a:pPr>
            <a:r>
              <a:t>原始大小相同，都等于1000 Byte。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5065776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请预测：压缩后 A、B 谁更小？能够完整恢复吗？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8076" y="585216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defRPr b="1" sz="3500">
                <a:solidFill>
                  <a:srgbClr val="262626"/>
                </a:solidFill>
                <a:latin typeface="Alibaba PuHuiTi 3.0 115 Black"/>
              </a:defRPr>
            </a:pPr>
            <a:r>
              <a:t>演示D：同样1000 Byte，压缩后真的不同吗？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27632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defRPr b="1" sz="2600">
                <a:solidFill>
                  <a:srgbClr val="262626"/>
                </a:solidFill>
                <a:latin typeface="Alibaba PuHuiTi 3.0 115 Black"/>
              </a:defRPr>
            </a:pPr>
            <a:r>
              <a:t>同样是 1000 Byte：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587752"/>
            <a:ext cx="5102352" cy="1261872"/>
          </a:xfrm>
          <a:prstGeom prst="rect">
            <a:avLst/>
          </a:prstGeom>
          <a:noFill/>
          <a:ln w="1905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14984" y="2798064"/>
            <a:ext cx="1353312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defRPr b="1" sz="2300">
                <a:solidFill>
                  <a:srgbClr val="8C64E1"/>
                </a:solidFill>
                <a:latin typeface="Alibaba PuHuiTi 3.0 115 Black"/>
              </a:defRPr>
            </a:pPr>
            <a:r>
              <a:t>文件 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40864" y="2798064"/>
            <a:ext cx="3273552" cy="52120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defRPr b="0" sz="1900">
                <a:solidFill>
                  <a:srgbClr val="262626"/>
                </a:solidFill>
                <a:latin typeface="Alibaba PuHuiTi 3.0 55 Regular"/>
              </a:defRPr>
            </a:pPr>
            <a:r>
              <a:t>1000个重复的字节“A”</a:t>
            </a:r>
          </a:p>
        </p:txBody>
      </p:sp>
      <p:sp>
        <p:nvSpPr>
          <p:cNvPr id="9" name="Rectangle 8"/>
          <p:cNvSpPr/>
          <p:nvPr/>
        </p:nvSpPr>
        <p:spPr>
          <a:xfrm>
            <a:off x="6629400" y="2587752"/>
            <a:ext cx="5102352" cy="1261872"/>
          </a:xfrm>
          <a:prstGeom prst="rect">
            <a:avLst/>
          </a:prstGeom>
          <a:noFill/>
          <a:ln w="1905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21424" y="2798064"/>
            <a:ext cx="1353312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defRPr b="1" sz="2300">
                <a:solidFill>
                  <a:srgbClr val="00B0F0"/>
                </a:solidFill>
                <a:latin typeface="Alibaba PuHuiTi 3.0 115 Black"/>
              </a:defRPr>
            </a:pPr>
            <a:r>
              <a:t>文件 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47304" y="2798064"/>
            <a:ext cx="3273552" cy="52120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defRPr b="0" sz="1900">
                <a:solidFill>
                  <a:srgbClr val="262626"/>
                </a:solidFill>
                <a:latin typeface="Alibaba PuHuiTi 3.0 55 Regular"/>
              </a:defRPr>
            </a:pPr>
            <a:r>
              <a:t>1000个随机变化的字节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" y="4315968"/>
            <a:ext cx="10625328" cy="8503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defRPr b="1" sz="2400">
                <a:solidFill>
                  <a:srgbClr val="8C64E1"/>
                </a:solidFill>
                <a:latin typeface="Alibaba PuHuiTi 3.0 115 Black"/>
              </a:defRPr>
            </a:pPr>
            <a:r>
              <a:t>① 先预测 → ② 运行Notebook的zlib压缩 → ③ 比较结果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" y="5559552"/>
            <a:ext cx="10515600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defRPr b="0" sz="2100">
                <a:solidFill>
                  <a:srgbClr val="262626"/>
                </a:solidFill>
                <a:latin typeface="Alibaba PuHuiTi 3.0 55 Regular"/>
              </a:defRPr>
            </a:pPr>
            <a:r>
              <a:t>可追问：压缩后的文件有没有可能比原来更大？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实验验证：为什么同样大小的文件效果不同？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080760" y="1627632"/>
            <a:ext cx="0" cy="3776472"/>
          </a:xfrm>
          <a:prstGeom prst="line">
            <a:avLst/>
          </a:prstGeom>
          <a:ln w="254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822960" y="1737360"/>
            <a:ext cx="5074920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800" b="1">
                <a:solidFill>
                  <a:srgbClr val="8C64E1"/>
                </a:solidFill>
                <a:latin typeface="Alibaba PuHuiTi 3.0 115 Black"/>
              </a:defRPr>
            </a:pPr>
            <a:r>
              <a:t>A：重复的内容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55664" y="1737360"/>
            <a:ext cx="4754880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800" b="1">
                <a:solidFill>
                  <a:srgbClr val="00B0F0"/>
                </a:solidFill>
                <a:latin typeface="Alibaba PuHuiTi 3.0 115 Black"/>
              </a:defRPr>
            </a:pPr>
            <a:r>
              <a:t>B：复杂的内容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743200"/>
            <a:ext cx="5010912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t>原始大小：1000 Byte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t>压缩后：17 Byte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55664" y="2743200"/>
            <a:ext cx="4873752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t>原始大小：1000 Byte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t>压缩后：1011 Byte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两者解压后都能一字节不差地还原：这就是无损压缩。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压缩到底改变了什么？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3816" y="1837943"/>
            <a:ext cx="106984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900" b="1">
                <a:solidFill>
                  <a:srgbClr val="262626"/>
                </a:solidFill>
                <a:latin typeface="Alibaba PuHuiTi 3.0 115 Black"/>
              </a:defRPr>
            </a:pPr>
            <a:r>
              <a:t>数据本身在计算机中仍是0和1。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2104" y="2999232"/>
            <a:ext cx="10698480" cy="12161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700" b="1">
                <a:solidFill>
                  <a:srgbClr val="8C64E1"/>
                </a:solidFill>
                <a:latin typeface="Alibaba PuHuiTi 3.0 115 Black"/>
              </a:defRPr>
            </a:pPr>
            <a:r>
              <a:t>压缩：用更少的比特，重新表示相同或近似相同的内容。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方法有很多，今天重点研究能不能完整还原。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两种压缩：怎样区分“无损”和“有损”？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080760" y="1627632"/>
            <a:ext cx="0" cy="3776472"/>
          </a:xfrm>
          <a:prstGeom prst="line">
            <a:avLst/>
          </a:prstGeom>
          <a:ln w="254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822960" y="1737360"/>
            <a:ext cx="5074920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800" b="1">
                <a:solidFill>
                  <a:srgbClr val="8C64E1"/>
                </a:solidFill>
                <a:latin typeface="Alibaba PuHuiTi 3.0 115 Black"/>
              </a:defRPr>
            </a:pPr>
            <a:r>
              <a:t>无损压缩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55664" y="1737360"/>
            <a:ext cx="4754880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800" b="1">
                <a:solidFill>
                  <a:srgbClr val="00B0F0"/>
                </a:solidFill>
                <a:latin typeface="Alibaba PuHuiTi 3.0 115 Black"/>
              </a:defRPr>
            </a:pPr>
            <a:r>
              <a:t>有损压缩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743200"/>
            <a:ext cx="5010912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t>还原以后，与原始数据完全一致。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</a:p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t>适合：文档、程序、精确备份。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55664" y="2743200"/>
            <a:ext cx="4873752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t>还原以后，无法与原始数据完全一致。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</a:p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t>适合：可接受部分失真的音视频。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判断标准：解码/解压后，能否完整得到原始数据？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ZIP、MP3、WAV、MP4，它们属于同一类吗？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65376"/>
            <a:ext cx="4846320" cy="5120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700" b="1">
                <a:solidFill>
                  <a:srgbClr val="8C64E1"/>
                </a:solidFill>
                <a:latin typeface="Alibaba PuHuiTi 3.0 115 Black"/>
              </a:defRPr>
            </a:pPr>
            <a:r>
              <a:rPr sz="3000" b="1">
                <a:solidFill>
                  <a:srgbClr val="6251B1"/>
                </a:solidFill>
                <a:latin typeface="Alibaba PuHuiTi 3.0 115 Black"/>
              </a:rPr>
              <a:t>ZIP / RAR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441448"/>
            <a:ext cx="4873752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100" b="0">
                <a:solidFill>
                  <a:srgbClr val="262626"/>
                </a:solidFill>
                <a:latin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</a:rPr>
              <a:t>通常为无损归档格式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865376"/>
            <a:ext cx="4846320" cy="5120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700" b="1">
                <a:solidFill>
                  <a:srgbClr val="00B0F0"/>
                </a:solidFill>
                <a:latin typeface="Alibaba PuHuiTi 3.0 115 Black"/>
              </a:defRPr>
            </a:pPr>
            <a:r>
              <a:rPr sz="3000" b="1">
                <a:solidFill>
                  <a:srgbClr val="00B0F0"/>
                </a:solidFill>
                <a:latin typeface="Alibaba PuHuiTi 3.0 115 Black"/>
              </a:rPr>
              <a:t>MP3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2441448"/>
            <a:ext cx="4873752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100" b="0">
                <a:solidFill>
                  <a:srgbClr val="262626"/>
                </a:solidFill>
                <a:latin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</a:rPr>
              <a:t>常见有损音频编码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502152"/>
            <a:ext cx="4846320" cy="5120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700" b="1">
                <a:solidFill>
                  <a:srgbClr val="8C64E1"/>
                </a:solidFill>
                <a:latin typeface="Alibaba PuHuiTi 3.0 115 Black"/>
              </a:defRPr>
            </a:pPr>
            <a:r>
              <a:rPr sz="3000" b="1">
                <a:solidFill>
                  <a:srgbClr val="6251B1"/>
                </a:solidFill>
                <a:latin typeface="Alibaba PuHuiTi 3.0 115 Black"/>
              </a:rPr>
              <a:t>WAV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078224"/>
            <a:ext cx="4873752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100" b="0">
                <a:solidFill>
                  <a:srgbClr val="262626"/>
                </a:solidFill>
                <a:latin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</a:rPr>
              <a:t>容器；常见未压缩PCM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3502152"/>
            <a:ext cx="4846320" cy="5120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700" b="1">
                <a:solidFill>
                  <a:srgbClr val="00B0F0"/>
                </a:solidFill>
                <a:latin typeface="Alibaba PuHuiTi 3.0 115 Black"/>
              </a:defRPr>
            </a:pPr>
            <a:r>
              <a:rPr sz="3000" b="1">
                <a:solidFill>
                  <a:srgbClr val="00B0F0"/>
                </a:solidFill>
                <a:latin typeface="Alibaba PuHuiTi 3.0 115 Black"/>
              </a:rPr>
              <a:t>MP4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4078224"/>
            <a:ext cx="4873752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100" b="0">
                <a:solidFill>
                  <a:srgbClr val="262626"/>
                </a:solidFill>
                <a:latin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</a:rPr>
              <a:t>容器；常装有损视频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格式名和压缩方法不总是一回事。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三幅相同大小的图，谁通常最容易无损压缩？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1581912"/>
            <a:ext cx="1069848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2400" b="1">
                <a:solidFill>
                  <a:srgbClr val="262626"/>
                </a:solidFill>
                <a:latin typeface="Alibaba PuHuiTi 3.0 115 Black"/>
              </a:defRPr>
            </a:pPr>
            <a:r>
              <a:t>三幅图具有相同的宽、高与位深。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786384" y="2176272"/>
            <a:ext cx="3310128" cy="2688336"/>
          </a:xfrm>
          <a:prstGeom prst="rect">
            <a:avLst/>
          </a:prstGeom>
          <a:solidFill>
            <a:srgbClr val="5399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86384" y="4983480"/>
            <a:ext cx="3310128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100" b="1">
                <a:solidFill>
                  <a:srgbClr val="8C64E1"/>
                </a:solidFill>
                <a:latin typeface="Alibaba PuHuiTi 3.0 115 Black"/>
              </a:defRPr>
            </a:pPr>
            <a:r>
              <a:t>A：纯色</a:t>
            </a:r>
          </a:p>
        </p:txBody>
      </p:sp>
      <p:sp>
        <p:nvSpPr>
          <p:cNvPr id="8" name="Rectangle 7"/>
          <p:cNvSpPr/>
          <p:nvPr/>
        </p:nvSpPr>
        <p:spPr>
          <a:xfrm>
            <a:off x="4498848" y="2176272"/>
            <a:ext cx="417423" cy="451713"/>
          </a:xfrm>
          <a:prstGeom prst="rect">
            <a:avLst/>
          </a:prstGeom>
          <a:solidFill>
            <a:srgbClr val="BAD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498848" y="2624328"/>
            <a:ext cx="417423" cy="451713"/>
          </a:xfrm>
          <a:prstGeom prst="rect">
            <a:avLst/>
          </a:prstGeom>
          <a:solidFill>
            <a:srgbClr val="BAD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98848" y="3072384"/>
            <a:ext cx="417423" cy="451713"/>
          </a:xfrm>
          <a:prstGeom prst="rect">
            <a:avLst/>
          </a:prstGeom>
          <a:solidFill>
            <a:srgbClr val="4C9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98848" y="3520439"/>
            <a:ext cx="417423" cy="451713"/>
          </a:xfrm>
          <a:prstGeom prst="rect">
            <a:avLst/>
          </a:prstGeom>
          <a:solidFill>
            <a:srgbClr val="4C9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98848" y="3968496"/>
            <a:ext cx="417423" cy="451713"/>
          </a:xfrm>
          <a:prstGeom prst="rect">
            <a:avLst/>
          </a:prstGeom>
          <a:solidFill>
            <a:srgbClr val="BAD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98848" y="4416552"/>
            <a:ext cx="417423" cy="451713"/>
          </a:xfrm>
          <a:prstGeom prst="rect">
            <a:avLst/>
          </a:prstGeom>
          <a:solidFill>
            <a:srgbClr val="BAD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912614" y="2176272"/>
            <a:ext cx="417423" cy="451713"/>
          </a:xfrm>
          <a:prstGeom prst="rect">
            <a:avLst/>
          </a:prstGeom>
          <a:solidFill>
            <a:srgbClr val="BAD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912614" y="2624328"/>
            <a:ext cx="417423" cy="451713"/>
          </a:xfrm>
          <a:prstGeom prst="rect">
            <a:avLst/>
          </a:prstGeom>
          <a:solidFill>
            <a:srgbClr val="BAD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912614" y="3072384"/>
            <a:ext cx="417423" cy="451713"/>
          </a:xfrm>
          <a:prstGeom prst="rect">
            <a:avLst/>
          </a:prstGeom>
          <a:solidFill>
            <a:srgbClr val="4C9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912614" y="3520439"/>
            <a:ext cx="417423" cy="451713"/>
          </a:xfrm>
          <a:prstGeom prst="rect">
            <a:avLst/>
          </a:prstGeom>
          <a:solidFill>
            <a:srgbClr val="4C9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912614" y="3968496"/>
            <a:ext cx="417423" cy="451713"/>
          </a:xfrm>
          <a:prstGeom prst="rect">
            <a:avLst/>
          </a:prstGeom>
          <a:solidFill>
            <a:srgbClr val="BAD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912614" y="4416552"/>
            <a:ext cx="417423" cy="451713"/>
          </a:xfrm>
          <a:prstGeom prst="rect">
            <a:avLst/>
          </a:prstGeom>
          <a:solidFill>
            <a:srgbClr val="BAD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326380" y="2176272"/>
            <a:ext cx="417423" cy="451713"/>
          </a:xfrm>
          <a:prstGeom prst="rect">
            <a:avLst/>
          </a:prstGeom>
          <a:solidFill>
            <a:srgbClr val="4C9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326380" y="2624328"/>
            <a:ext cx="417423" cy="451713"/>
          </a:xfrm>
          <a:prstGeom prst="rect">
            <a:avLst/>
          </a:prstGeom>
          <a:solidFill>
            <a:srgbClr val="4C9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326380" y="3072384"/>
            <a:ext cx="417423" cy="451713"/>
          </a:xfrm>
          <a:prstGeom prst="rect">
            <a:avLst/>
          </a:prstGeom>
          <a:solidFill>
            <a:srgbClr val="BAD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326380" y="3520439"/>
            <a:ext cx="417423" cy="451713"/>
          </a:xfrm>
          <a:prstGeom prst="rect">
            <a:avLst/>
          </a:prstGeom>
          <a:solidFill>
            <a:srgbClr val="BAD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326380" y="3968496"/>
            <a:ext cx="417423" cy="451713"/>
          </a:xfrm>
          <a:prstGeom prst="rect">
            <a:avLst/>
          </a:prstGeom>
          <a:solidFill>
            <a:srgbClr val="4C9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326380" y="4416552"/>
            <a:ext cx="417423" cy="451713"/>
          </a:xfrm>
          <a:prstGeom prst="rect">
            <a:avLst/>
          </a:prstGeom>
          <a:solidFill>
            <a:srgbClr val="4C9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740146" y="2176272"/>
            <a:ext cx="417423" cy="451713"/>
          </a:xfrm>
          <a:prstGeom prst="rect">
            <a:avLst/>
          </a:prstGeom>
          <a:solidFill>
            <a:srgbClr val="4C9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740146" y="2624328"/>
            <a:ext cx="417423" cy="451713"/>
          </a:xfrm>
          <a:prstGeom prst="rect">
            <a:avLst/>
          </a:prstGeom>
          <a:solidFill>
            <a:srgbClr val="4C9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740146" y="3072384"/>
            <a:ext cx="417423" cy="451713"/>
          </a:xfrm>
          <a:prstGeom prst="rect">
            <a:avLst/>
          </a:prstGeom>
          <a:solidFill>
            <a:srgbClr val="BAD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740146" y="3520439"/>
            <a:ext cx="417423" cy="451713"/>
          </a:xfrm>
          <a:prstGeom prst="rect">
            <a:avLst/>
          </a:prstGeom>
          <a:solidFill>
            <a:srgbClr val="BAD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740146" y="3968496"/>
            <a:ext cx="417423" cy="451713"/>
          </a:xfrm>
          <a:prstGeom prst="rect">
            <a:avLst/>
          </a:prstGeom>
          <a:solidFill>
            <a:srgbClr val="4C9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740146" y="4416552"/>
            <a:ext cx="417423" cy="451713"/>
          </a:xfrm>
          <a:prstGeom prst="rect">
            <a:avLst/>
          </a:prstGeom>
          <a:solidFill>
            <a:srgbClr val="4C9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153912" y="2176272"/>
            <a:ext cx="417423" cy="451713"/>
          </a:xfrm>
          <a:prstGeom prst="rect">
            <a:avLst/>
          </a:prstGeom>
          <a:solidFill>
            <a:srgbClr val="BAD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153912" y="2624328"/>
            <a:ext cx="417423" cy="451713"/>
          </a:xfrm>
          <a:prstGeom prst="rect">
            <a:avLst/>
          </a:prstGeom>
          <a:solidFill>
            <a:srgbClr val="BAD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153912" y="3072384"/>
            <a:ext cx="417423" cy="451713"/>
          </a:xfrm>
          <a:prstGeom prst="rect">
            <a:avLst/>
          </a:prstGeom>
          <a:solidFill>
            <a:srgbClr val="4C9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153912" y="3520439"/>
            <a:ext cx="417423" cy="451713"/>
          </a:xfrm>
          <a:prstGeom prst="rect">
            <a:avLst/>
          </a:prstGeom>
          <a:solidFill>
            <a:srgbClr val="4C9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153912" y="3968496"/>
            <a:ext cx="417423" cy="451713"/>
          </a:xfrm>
          <a:prstGeom prst="rect">
            <a:avLst/>
          </a:prstGeom>
          <a:solidFill>
            <a:srgbClr val="BAD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153912" y="4416552"/>
            <a:ext cx="417423" cy="451713"/>
          </a:xfrm>
          <a:prstGeom prst="rect">
            <a:avLst/>
          </a:prstGeom>
          <a:solidFill>
            <a:srgbClr val="BAD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567678" y="2176272"/>
            <a:ext cx="417423" cy="451713"/>
          </a:xfrm>
          <a:prstGeom prst="rect">
            <a:avLst/>
          </a:prstGeom>
          <a:solidFill>
            <a:srgbClr val="BAD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567678" y="2624328"/>
            <a:ext cx="417423" cy="451713"/>
          </a:xfrm>
          <a:prstGeom prst="rect">
            <a:avLst/>
          </a:prstGeom>
          <a:solidFill>
            <a:srgbClr val="BAD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567678" y="3072384"/>
            <a:ext cx="417423" cy="451713"/>
          </a:xfrm>
          <a:prstGeom prst="rect">
            <a:avLst/>
          </a:prstGeom>
          <a:solidFill>
            <a:srgbClr val="4C9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567678" y="3520439"/>
            <a:ext cx="417423" cy="451713"/>
          </a:xfrm>
          <a:prstGeom prst="rect">
            <a:avLst/>
          </a:prstGeom>
          <a:solidFill>
            <a:srgbClr val="4C9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567678" y="3968496"/>
            <a:ext cx="417423" cy="451713"/>
          </a:xfrm>
          <a:prstGeom prst="rect">
            <a:avLst/>
          </a:prstGeom>
          <a:solidFill>
            <a:srgbClr val="BAD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567678" y="4416552"/>
            <a:ext cx="417423" cy="451713"/>
          </a:xfrm>
          <a:prstGeom prst="rect">
            <a:avLst/>
          </a:prstGeom>
          <a:solidFill>
            <a:srgbClr val="BAD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981444" y="2176272"/>
            <a:ext cx="417423" cy="451713"/>
          </a:xfrm>
          <a:prstGeom prst="rect">
            <a:avLst/>
          </a:prstGeom>
          <a:solidFill>
            <a:srgbClr val="4C9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981444" y="2624328"/>
            <a:ext cx="417423" cy="451713"/>
          </a:xfrm>
          <a:prstGeom prst="rect">
            <a:avLst/>
          </a:prstGeom>
          <a:solidFill>
            <a:srgbClr val="4C9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981444" y="3072384"/>
            <a:ext cx="417423" cy="451713"/>
          </a:xfrm>
          <a:prstGeom prst="rect">
            <a:avLst/>
          </a:prstGeom>
          <a:solidFill>
            <a:srgbClr val="BAD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981444" y="3520439"/>
            <a:ext cx="417423" cy="451713"/>
          </a:xfrm>
          <a:prstGeom prst="rect">
            <a:avLst/>
          </a:prstGeom>
          <a:solidFill>
            <a:srgbClr val="BAD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981444" y="3968496"/>
            <a:ext cx="417423" cy="451713"/>
          </a:xfrm>
          <a:prstGeom prst="rect">
            <a:avLst/>
          </a:prstGeom>
          <a:solidFill>
            <a:srgbClr val="4C9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6981444" y="4416552"/>
            <a:ext cx="417423" cy="451713"/>
          </a:xfrm>
          <a:prstGeom prst="rect">
            <a:avLst/>
          </a:prstGeom>
          <a:solidFill>
            <a:srgbClr val="4C9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7395210" y="2176272"/>
            <a:ext cx="417423" cy="451713"/>
          </a:xfrm>
          <a:prstGeom prst="rect">
            <a:avLst/>
          </a:prstGeom>
          <a:solidFill>
            <a:srgbClr val="4C9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7395210" y="2624328"/>
            <a:ext cx="417423" cy="451713"/>
          </a:xfrm>
          <a:prstGeom prst="rect">
            <a:avLst/>
          </a:prstGeom>
          <a:solidFill>
            <a:srgbClr val="4C9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7395210" y="3072384"/>
            <a:ext cx="417423" cy="451713"/>
          </a:xfrm>
          <a:prstGeom prst="rect">
            <a:avLst/>
          </a:prstGeom>
          <a:solidFill>
            <a:srgbClr val="BAD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7395210" y="3520439"/>
            <a:ext cx="417423" cy="451713"/>
          </a:xfrm>
          <a:prstGeom prst="rect">
            <a:avLst/>
          </a:prstGeom>
          <a:solidFill>
            <a:srgbClr val="BAD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7395210" y="3968496"/>
            <a:ext cx="417423" cy="451713"/>
          </a:xfrm>
          <a:prstGeom prst="rect">
            <a:avLst/>
          </a:prstGeom>
          <a:solidFill>
            <a:srgbClr val="4C9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7395210" y="4416552"/>
            <a:ext cx="417423" cy="451713"/>
          </a:xfrm>
          <a:prstGeom prst="rect">
            <a:avLst/>
          </a:prstGeom>
          <a:solidFill>
            <a:srgbClr val="4C9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498848" y="4983480"/>
            <a:ext cx="3310128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100" b="1">
                <a:solidFill>
                  <a:srgbClr val="00B0F0"/>
                </a:solidFill>
                <a:latin typeface="Alibaba PuHuiTi 3.0 115 Black"/>
              </a:defRPr>
            </a:pPr>
            <a:r>
              <a:t>B：规律色块</a:t>
            </a:r>
          </a:p>
        </p:txBody>
      </p:sp>
      <p:sp>
        <p:nvSpPr>
          <p:cNvPr id="57" name="Rectangle 56"/>
          <p:cNvSpPr/>
          <p:nvPr/>
        </p:nvSpPr>
        <p:spPr>
          <a:xfrm>
            <a:off x="8211311" y="2176272"/>
            <a:ext cx="145237" cy="156667"/>
          </a:xfrm>
          <a:prstGeom prst="rect">
            <a:avLst/>
          </a:prstGeom>
          <a:solidFill>
            <a:srgbClr val="2F4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8211311" y="2325623"/>
            <a:ext cx="145237" cy="156667"/>
          </a:xfrm>
          <a:prstGeom prst="rect">
            <a:avLst/>
          </a:prstGeom>
          <a:solidFill>
            <a:srgbClr val="825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8211311" y="2474976"/>
            <a:ext cx="145237" cy="156667"/>
          </a:xfrm>
          <a:prstGeom prst="rect">
            <a:avLst/>
          </a:prstGeom>
          <a:solidFill>
            <a:srgbClr val="8153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8211311" y="2624328"/>
            <a:ext cx="145237" cy="156667"/>
          </a:xfrm>
          <a:prstGeom prst="rect">
            <a:avLst/>
          </a:prstGeom>
          <a:solidFill>
            <a:srgbClr val="80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8211311" y="2773680"/>
            <a:ext cx="145237" cy="156667"/>
          </a:xfrm>
          <a:prstGeom prst="rect">
            <a:avLst/>
          </a:prstGeom>
          <a:solidFill>
            <a:srgbClr val="7ECC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8211311" y="2923031"/>
            <a:ext cx="145237" cy="156667"/>
          </a:xfrm>
          <a:prstGeom prst="rect">
            <a:avLst/>
          </a:prstGeom>
          <a:solidFill>
            <a:srgbClr val="7DC0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8211311" y="3072384"/>
            <a:ext cx="145237" cy="156667"/>
          </a:xfrm>
          <a:prstGeom prst="rect">
            <a:avLst/>
          </a:prstGeom>
          <a:solidFill>
            <a:srgbClr val="7CB4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8211311" y="3221736"/>
            <a:ext cx="145237" cy="156667"/>
          </a:xfrm>
          <a:prstGeom prst="rect">
            <a:avLst/>
          </a:prstGeom>
          <a:solidFill>
            <a:srgbClr val="7AA8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8211311" y="3371088"/>
            <a:ext cx="145237" cy="156667"/>
          </a:xfrm>
          <a:prstGeom prst="rect">
            <a:avLst/>
          </a:prstGeom>
          <a:solidFill>
            <a:srgbClr val="799C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8211311" y="3520439"/>
            <a:ext cx="145237" cy="156667"/>
          </a:xfrm>
          <a:prstGeom prst="rect">
            <a:avLst/>
          </a:prstGeom>
          <a:solidFill>
            <a:srgbClr val="7890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8211311" y="3669792"/>
            <a:ext cx="145237" cy="156667"/>
          </a:xfrm>
          <a:prstGeom prst="rect">
            <a:avLst/>
          </a:prstGeom>
          <a:solidFill>
            <a:srgbClr val="7684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8211311" y="3819143"/>
            <a:ext cx="145237" cy="156667"/>
          </a:xfrm>
          <a:prstGeom prst="rect">
            <a:avLst/>
          </a:prstGeom>
          <a:solidFill>
            <a:srgbClr val="7578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8211311" y="3968496"/>
            <a:ext cx="145237" cy="156667"/>
          </a:xfrm>
          <a:prstGeom prst="rect">
            <a:avLst/>
          </a:prstGeom>
          <a:solidFill>
            <a:srgbClr val="746C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8211311" y="4117847"/>
            <a:ext cx="145237" cy="156667"/>
          </a:xfrm>
          <a:prstGeom prst="rect">
            <a:avLst/>
          </a:prstGeom>
          <a:solidFill>
            <a:srgbClr val="7260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8211311" y="4267199"/>
            <a:ext cx="145237" cy="156667"/>
          </a:xfrm>
          <a:prstGeom prst="rect">
            <a:avLst/>
          </a:prstGeom>
          <a:solidFill>
            <a:srgbClr val="7154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8211311" y="4416552"/>
            <a:ext cx="145237" cy="156667"/>
          </a:xfrm>
          <a:prstGeom prst="rect">
            <a:avLst/>
          </a:prstGeom>
          <a:solidFill>
            <a:srgbClr val="704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8211311" y="4565904"/>
            <a:ext cx="145237" cy="156667"/>
          </a:xfrm>
          <a:prstGeom prst="rect">
            <a:avLst/>
          </a:prstGeom>
          <a:solidFill>
            <a:srgbClr val="6ECD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8211311" y="4715256"/>
            <a:ext cx="145237" cy="156667"/>
          </a:xfrm>
          <a:prstGeom prst="rect">
            <a:avLst/>
          </a:prstGeom>
          <a:solidFill>
            <a:srgbClr val="6DC1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8349233" y="2176272"/>
            <a:ext cx="145237" cy="156667"/>
          </a:xfrm>
          <a:prstGeom prst="rect">
            <a:avLst/>
          </a:prstGeom>
          <a:solidFill>
            <a:srgbClr val="5AAA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8349233" y="2325623"/>
            <a:ext cx="145237" cy="156667"/>
          </a:xfrm>
          <a:prstGeom prst="rect">
            <a:avLst/>
          </a:prstGeom>
          <a:solidFill>
            <a:srgbClr val="799F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8349233" y="2474976"/>
            <a:ext cx="145237" cy="156667"/>
          </a:xfrm>
          <a:prstGeom prst="rect">
            <a:avLst/>
          </a:prstGeom>
          <a:solidFill>
            <a:srgbClr val="436C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8349233" y="2624328"/>
            <a:ext cx="145237" cy="156667"/>
          </a:xfrm>
          <a:prstGeom prst="rect">
            <a:avLst/>
          </a:prstGeom>
          <a:solidFill>
            <a:srgbClr val="626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8349233" y="2773680"/>
            <a:ext cx="145237" cy="156667"/>
          </a:xfrm>
          <a:prstGeom prst="rect">
            <a:avLst/>
          </a:prstGeom>
          <a:solidFill>
            <a:srgbClr val="8156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8349233" y="2923031"/>
            <a:ext cx="145237" cy="156667"/>
          </a:xfrm>
          <a:prstGeom prst="rect">
            <a:avLst/>
          </a:prstGeom>
          <a:solidFill>
            <a:srgbClr val="4BB4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8349233" y="3072384"/>
            <a:ext cx="145237" cy="156667"/>
          </a:xfrm>
          <a:prstGeom prst="rect">
            <a:avLst/>
          </a:prstGeom>
          <a:solidFill>
            <a:srgbClr val="6AA9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8349233" y="3221736"/>
            <a:ext cx="145237" cy="156667"/>
          </a:xfrm>
          <a:prstGeom prst="rect">
            <a:avLst/>
          </a:prstGeom>
          <a:solidFill>
            <a:srgbClr val="347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8349233" y="3371088"/>
            <a:ext cx="145237" cy="156667"/>
          </a:xfrm>
          <a:prstGeom prst="rect">
            <a:avLst/>
          </a:prstGeom>
          <a:solidFill>
            <a:srgbClr val="536B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8349233" y="3520439"/>
            <a:ext cx="145237" cy="156667"/>
          </a:xfrm>
          <a:prstGeom prst="rect">
            <a:avLst/>
          </a:prstGeom>
          <a:solidFill>
            <a:srgbClr val="7260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8349233" y="3669792"/>
            <a:ext cx="145237" cy="156667"/>
          </a:xfrm>
          <a:prstGeom prst="rect">
            <a:avLst/>
          </a:prstGeom>
          <a:solidFill>
            <a:srgbClr val="3CB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8349233" y="3819143"/>
            <a:ext cx="145237" cy="156667"/>
          </a:xfrm>
          <a:prstGeom prst="rect">
            <a:avLst/>
          </a:prstGeom>
          <a:solidFill>
            <a:srgbClr val="5BB3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8349233" y="3968496"/>
            <a:ext cx="145237" cy="156667"/>
          </a:xfrm>
          <a:prstGeom prst="rect">
            <a:avLst/>
          </a:prstGeom>
          <a:solidFill>
            <a:srgbClr val="7AA8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8349233" y="4117847"/>
            <a:ext cx="145237" cy="156667"/>
          </a:xfrm>
          <a:prstGeom prst="rect">
            <a:avLst/>
          </a:prstGeom>
          <a:solidFill>
            <a:srgbClr val="4475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8349233" y="4267199"/>
            <a:ext cx="145237" cy="156667"/>
          </a:xfrm>
          <a:prstGeom prst="rect">
            <a:avLst/>
          </a:prstGeom>
          <a:solidFill>
            <a:srgbClr val="636A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8349233" y="4416552"/>
            <a:ext cx="145237" cy="156667"/>
          </a:xfrm>
          <a:prstGeom prst="rect">
            <a:avLst/>
          </a:prstGeom>
          <a:solidFill>
            <a:srgbClr val="825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8349233" y="4565904"/>
            <a:ext cx="145237" cy="156667"/>
          </a:xfrm>
          <a:prstGeom prst="rect">
            <a:avLst/>
          </a:prstGeom>
          <a:solidFill>
            <a:srgbClr val="4CBD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8349233" y="4715256"/>
            <a:ext cx="145237" cy="156667"/>
          </a:xfrm>
          <a:prstGeom prst="rect">
            <a:avLst/>
          </a:prstGeom>
          <a:solidFill>
            <a:srgbClr val="6BB2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8487155" y="2176272"/>
            <a:ext cx="145237" cy="156667"/>
          </a:xfrm>
          <a:prstGeom prst="rect">
            <a:avLst/>
          </a:prstGeom>
          <a:solidFill>
            <a:srgbClr val="3158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8487155" y="2325623"/>
            <a:ext cx="145237" cy="156667"/>
          </a:xfrm>
          <a:prstGeom prst="rect">
            <a:avLst/>
          </a:prstGeom>
          <a:solidFill>
            <a:srgbClr val="704E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8487155" y="2474976"/>
            <a:ext cx="145237" cy="156667"/>
          </a:xfrm>
          <a:prstGeom prst="rect">
            <a:avLst/>
          </a:prstGeom>
          <a:solidFill>
            <a:srgbClr val="5BAD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8487155" y="2624328"/>
            <a:ext cx="145237" cy="156667"/>
          </a:xfrm>
          <a:prstGeom prst="rect">
            <a:avLst/>
          </a:prstGeom>
          <a:solidFill>
            <a:srgbClr val="457B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8487155" y="2773680"/>
            <a:ext cx="145237" cy="156667"/>
          </a:xfrm>
          <a:prstGeom prst="rect">
            <a:avLst/>
          </a:prstGeom>
          <a:solidFill>
            <a:srgbClr val="2F49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8487155" y="2923031"/>
            <a:ext cx="145237" cy="156667"/>
          </a:xfrm>
          <a:prstGeom prst="rect">
            <a:avLst/>
          </a:prstGeom>
          <a:solidFill>
            <a:srgbClr val="6FD0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8487155" y="3072384"/>
            <a:ext cx="145237" cy="156667"/>
          </a:xfrm>
          <a:prstGeom prst="rect">
            <a:avLst/>
          </a:prstGeom>
          <a:solidFill>
            <a:srgbClr val="599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8487155" y="3221736"/>
            <a:ext cx="145237" cy="156667"/>
          </a:xfrm>
          <a:prstGeom prst="rect">
            <a:avLst/>
          </a:prstGeom>
          <a:solidFill>
            <a:srgbClr val="436C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8487155" y="3371088"/>
            <a:ext cx="145237" cy="156667"/>
          </a:xfrm>
          <a:prstGeom prst="rect">
            <a:avLst/>
          </a:prstGeom>
          <a:solidFill>
            <a:srgbClr val="8362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8487155" y="3520439"/>
            <a:ext cx="145237" cy="156667"/>
          </a:xfrm>
          <a:prstGeom prst="rect">
            <a:avLst/>
          </a:prstGeom>
          <a:solidFill>
            <a:srgbClr val="6DC1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8487155" y="3669792"/>
            <a:ext cx="145237" cy="156667"/>
          </a:xfrm>
          <a:prstGeom prst="rect">
            <a:avLst/>
          </a:prstGeom>
          <a:solidFill>
            <a:srgbClr val="578F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8487155" y="3819143"/>
            <a:ext cx="145237" cy="156667"/>
          </a:xfrm>
          <a:prstGeom prst="rect">
            <a:avLst/>
          </a:prstGeom>
          <a:solidFill>
            <a:srgbClr val="425D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8487155" y="3968496"/>
            <a:ext cx="145237" cy="156667"/>
          </a:xfrm>
          <a:prstGeom prst="rect">
            <a:avLst/>
          </a:prstGeom>
          <a:solidFill>
            <a:srgbClr val="8153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8487155" y="4117847"/>
            <a:ext cx="145237" cy="156667"/>
          </a:xfrm>
          <a:prstGeom prst="rect">
            <a:avLst/>
          </a:prstGeom>
          <a:solidFill>
            <a:srgbClr val="6BB2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8487155" y="4267199"/>
            <a:ext cx="145237" cy="156667"/>
          </a:xfrm>
          <a:prstGeom prst="rect">
            <a:avLst/>
          </a:prstGeom>
          <a:solidFill>
            <a:srgbClr val="5680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8487155" y="4416552"/>
            <a:ext cx="145237" cy="156667"/>
          </a:xfrm>
          <a:prstGeom prst="rect">
            <a:avLst/>
          </a:prstGeom>
          <a:solidFill>
            <a:srgbClr val="404E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8487155" y="4565904"/>
            <a:ext cx="145237" cy="156667"/>
          </a:xfrm>
          <a:prstGeom prst="rect">
            <a:avLst/>
          </a:prstGeom>
          <a:solidFill>
            <a:srgbClr val="7F44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8487155" y="4715256"/>
            <a:ext cx="145237" cy="156667"/>
          </a:xfrm>
          <a:prstGeom prst="rect">
            <a:avLst/>
          </a:prstGeom>
          <a:solidFill>
            <a:srgbClr val="6AA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8625078" y="2176272"/>
            <a:ext cx="145237" cy="156667"/>
          </a:xfrm>
          <a:prstGeom prst="rect">
            <a:avLst/>
          </a:prstGeom>
          <a:solidFill>
            <a:srgbClr val="5DBF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8625078" y="2325623"/>
            <a:ext cx="145237" cy="156667"/>
          </a:xfrm>
          <a:prstGeom prst="rect">
            <a:avLst/>
          </a:prstGeom>
          <a:solidFill>
            <a:srgbClr val="678E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8625078" y="2474976"/>
            <a:ext cx="145237" cy="156667"/>
          </a:xfrm>
          <a:prstGeom prst="rect">
            <a:avLst/>
          </a:prstGeom>
          <a:solidFill>
            <a:srgbClr val="725D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8625078" y="2624328"/>
            <a:ext cx="145237" cy="156667"/>
          </a:xfrm>
          <a:prstGeom prst="rect">
            <a:avLst/>
          </a:prstGeom>
          <a:solidFill>
            <a:srgbClr val="7DBD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8625078" y="2773680"/>
            <a:ext cx="145237" cy="156667"/>
          </a:xfrm>
          <a:prstGeom prst="rect">
            <a:avLst/>
          </a:prstGeom>
          <a:solidFill>
            <a:srgbClr val="3264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8625078" y="2923031"/>
            <a:ext cx="145237" cy="156667"/>
          </a:xfrm>
          <a:prstGeom prst="rect">
            <a:avLst/>
          </a:prstGeom>
          <a:solidFill>
            <a:srgbClr val="3DC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8625078" y="3072384"/>
            <a:ext cx="145237" cy="156667"/>
          </a:xfrm>
          <a:prstGeom prst="rect">
            <a:avLst/>
          </a:prstGeom>
          <a:solidFill>
            <a:srgbClr val="4893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Rectangle 117"/>
          <p:cNvSpPr/>
          <p:nvPr/>
        </p:nvSpPr>
        <p:spPr>
          <a:xfrm>
            <a:off x="8625078" y="3221736"/>
            <a:ext cx="145237" cy="156667"/>
          </a:xfrm>
          <a:prstGeom prst="rect">
            <a:avLst/>
          </a:prstGeom>
          <a:solidFill>
            <a:srgbClr val="5262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Rectangle 118"/>
          <p:cNvSpPr/>
          <p:nvPr/>
        </p:nvSpPr>
        <p:spPr>
          <a:xfrm>
            <a:off x="8625078" y="3371088"/>
            <a:ext cx="145237" cy="156667"/>
          </a:xfrm>
          <a:prstGeom prst="rect">
            <a:avLst/>
          </a:prstGeom>
          <a:solidFill>
            <a:srgbClr val="5DC2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Rectangle 119"/>
          <p:cNvSpPr/>
          <p:nvPr/>
        </p:nvSpPr>
        <p:spPr>
          <a:xfrm>
            <a:off x="8625078" y="3520439"/>
            <a:ext cx="145237" cy="156667"/>
          </a:xfrm>
          <a:prstGeom prst="rect">
            <a:avLst/>
          </a:prstGeom>
          <a:solidFill>
            <a:srgbClr val="6891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Rectangle 120"/>
          <p:cNvSpPr/>
          <p:nvPr/>
        </p:nvSpPr>
        <p:spPr>
          <a:xfrm>
            <a:off x="8625078" y="3669792"/>
            <a:ext cx="145237" cy="156667"/>
          </a:xfrm>
          <a:prstGeom prst="rect">
            <a:avLst/>
          </a:prstGeom>
          <a:solidFill>
            <a:srgbClr val="7260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Rectangle 121"/>
          <p:cNvSpPr/>
          <p:nvPr/>
        </p:nvSpPr>
        <p:spPr>
          <a:xfrm>
            <a:off x="8625078" y="3819143"/>
            <a:ext cx="145237" cy="156667"/>
          </a:xfrm>
          <a:prstGeom prst="rect">
            <a:avLst/>
          </a:prstGeom>
          <a:solidFill>
            <a:srgbClr val="7DC0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Rectangle 122"/>
          <p:cNvSpPr/>
          <p:nvPr/>
        </p:nvSpPr>
        <p:spPr>
          <a:xfrm>
            <a:off x="8625078" y="3968496"/>
            <a:ext cx="145237" cy="156667"/>
          </a:xfrm>
          <a:prstGeom prst="rect">
            <a:avLst/>
          </a:prstGeom>
          <a:solidFill>
            <a:srgbClr val="3367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Rectangle 123"/>
          <p:cNvSpPr/>
          <p:nvPr/>
        </p:nvSpPr>
        <p:spPr>
          <a:xfrm>
            <a:off x="8625078" y="4117847"/>
            <a:ext cx="145237" cy="156667"/>
          </a:xfrm>
          <a:prstGeom prst="rect">
            <a:avLst/>
          </a:prstGeom>
          <a:solidFill>
            <a:srgbClr val="3DC7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Rectangle 124"/>
          <p:cNvSpPr/>
          <p:nvPr/>
        </p:nvSpPr>
        <p:spPr>
          <a:xfrm>
            <a:off x="8625078" y="4267199"/>
            <a:ext cx="145237" cy="156667"/>
          </a:xfrm>
          <a:prstGeom prst="rect">
            <a:avLst/>
          </a:prstGeom>
          <a:solidFill>
            <a:srgbClr val="4896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Rectangle 125"/>
          <p:cNvSpPr/>
          <p:nvPr/>
        </p:nvSpPr>
        <p:spPr>
          <a:xfrm>
            <a:off x="8625078" y="4416552"/>
            <a:ext cx="145237" cy="156667"/>
          </a:xfrm>
          <a:prstGeom prst="rect">
            <a:avLst/>
          </a:prstGeom>
          <a:solidFill>
            <a:srgbClr val="5365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Rectangle 126"/>
          <p:cNvSpPr/>
          <p:nvPr/>
        </p:nvSpPr>
        <p:spPr>
          <a:xfrm>
            <a:off x="8625078" y="4565904"/>
            <a:ext cx="145237" cy="156667"/>
          </a:xfrm>
          <a:prstGeom prst="rect">
            <a:avLst/>
          </a:prstGeom>
          <a:solidFill>
            <a:srgbClr val="5DC5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Rectangle 127"/>
          <p:cNvSpPr/>
          <p:nvPr/>
        </p:nvSpPr>
        <p:spPr>
          <a:xfrm>
            <a:off x="8625078" y="4715256"/>
            <a:ext cx="145237" cy="156667"/>
          </a:xfrm>
          <a:prstGeom prst="rect">
            <a:avLst/>
          </a:prstGeom>
          <a:solidFill>
            <a:srgbClr val="6894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Rectangle 128"/>
          <p:cNvSpPr/>
          <p:nvPr/>
        </p:nvSpPr>
        <p:spPr>
          <a:xfrm>
            <a:off x="8762999" y="2176272"/>
            <a:ext cx="145237" cy="156667"/>
          </a:xfrm>
          <a:prstGeom prst="rect">
            <a:avLst/>
          </a:prstGeom>
          <a:solidFill>
            <a:srgbClr val="336D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Rectangle 129"/>
          <p:cNvSpPr/>
          <p:nvPr/>
        </p:nvSpPr>
        <p:spPr>
          <a:xfrm>
            <a:off x="8762999" y="2325623"/>
            <a:ext cx="145237" cy="156667"/>
          </a:xfrm>
          <a:prstGeom prst="rect">
            <a:avLst/>
          </a:prstGeom>
          <a:solidFill>
            <a:srgbClr val="5ECE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Rectangle 130"/>
          <p:cNvSpPr/>
          <p:nvPr/>
        </p:nvSpPr>
        <p:spPr>
          <a:xfrm>
            <a:off x="8762999" y="2474976"/>
            <a:ext cx="145237" cy="156667"/>
          </a:xfrm>
          <a:prstGeom prst="rect">
            <a:avLst/>
          </a:prstGeom>
          <a:solidFill>
            <a:srgbClr val="347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Rectangle 131"/>
          <p:cNvSpPr/>
          <p:nvPr/>
        </p:nvSpPr>
        <p:spPr>
          <a:xfrm>
            <a:off x="8762999" y="2624328"/>
            <a:ext cx="145237" cy="156667"/>
          </a:xfrm>
          <a:prstGeom prst="rect">
            <a:avLst/>
          </a:prstGeom>
          <a:solidFill>
            <a:srgbClr val="5F4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Rectangle 132"/>
          <p:cNvSpPr/>
          <p:nvPr/>
        </p:nvSpPr>
        <p:spPr>
          <a:xfrm>
            <a:off x="8762999" y="2773680"/>
            <a:ext cx="145237" cy="156667"/>
          </a:xfrm>
          <a:prstGeom prst="rect">
            <a:avLst/>
          </a:prstGeom>
          <a:solidFill>
            <a:srgbClr val="357F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Rectangle 133"/>
          <p:cNvSpPr/>
          <p:nvPr/>
        </p:nvSpPr>
        <p:spPr>
          <a:xfrm>
            <a:off x="8762999" y="2923031"/>
            <a:ext cx="145237" cy="156667"/>
          </a:xfrm>
          <a:prstGeom prst="rect">
            <a:avLst/>
          </a:prstGeom>
          <a:solidFill>
            <a:srgbClr val="604F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Rectangle 134"/>
          <p:cNvSpPr/>
          <p:nvPr/>
        </p:nvSpPr>
        <p:spPr>
          <a:xfrm>
            <a:off x="8762999" y="3072384"/>
            <a:ext cx="145237" cy="156667"/>
          </a:xfrm>
          <a:prstGeom prst="rect">
            <a:avLst/>
          </a:prstGeom>
          <a:solidFill>
            <a:srgbClr val="3688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Rectangle 135"/>
          <p:cNvSpPr/>
          <p:nvPr/>
        </p:nvSpPr>
        <p:spPr>
          <a:xfrm>
            <a:off x="8762999" y="3221736"/>
            <a:ext cx="145237" cy="156667"/>
          </a:xfrm>
          <a:prstGeom prst="rect">
            <a:avLst/>
          </a:prstGeom>
          <a:solidFill>
            <a:srgbClr val="6158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Rectangle 136"/>
          <p:cNvSpPr/>
          <p:nvPr/>
        </p:nvSpPr>
        <p:spPr>
          <a:xfrm>
            <a:off x="8762999" y="3371088"/>
            <a:ext cx="145237" cy="156667"/>
          </a:xfrm>
          <a:prstGeom prst="rect">
            <a:avLst/>
          </a:prstGeom>
          <a:solidFill>
            <a:srgbClr val="3791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Rectangle 137"/>
          <p:cNvSpPr/>
          <p:nvPr/>
        </p:nvSpPr>
        <p:spPr>
          <a:xfrm>
            <a:off x="8762999" y="3520439"/>
            <a:ext cx="145237" cy="156667"/>
          </a:xfrm>
          <a:prstGeom prst="rect">
            <a:avLst/>
          </a:prstGeom>
          <a:solidFill>
            <a:srgbClr val="626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Rectangle 138"/>
          <p:cNvSpPr/>
          <p:nvPr/>
        </p:nvSpPr>
        <p:spPr>
          <a:xfrm>
            <a:off x="8762999" y="3669792"/>
            <a:ext cx="145237" cy="156667"/>
          </a:xfrm>
          <a:prstGeom prst="rect">
            <a:avLst/>
          </a:prstGeom>
          <a:solidFill>
            <a:srgbClr val="389A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Rectangle 139"/>
          <p:cNvSpPr/>
          <p:nvPr/>
        </p:nvSpPr>
        <p:spPr>
          <a:xfrm>
            <a:off x="8762999" y="3819143"/>
            <a:ext cx="145237" cy="156667"/>
          </a:xfrm>
          <a:prstGeom prst="rect">
            <a:avLst/>
          </a:prstGeom>
          <a:solidFill>
            <a:srgbClr val="636A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Rectangle 140"/>
          <p:cNvSpPr/>
          <p:nvPr/>
        </p:nvSpPr>
        <p:spPr>
          <a:xfrm>
            <a:off x="8762999" y="3968496"/>
            <a:ext cx="145237" cy="156667"/>
          </a:xfrm>
          <a:prstGeom prst="rect">
            <a:avLst/>
          </a:prstGeom>
          <a:solidFill>
            <a:srgbClr val="39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Rectangle 141"/>
          <p:cNvSpPr/>
          <p:nvPr/>
        </p:nvSpPr>
        <p:spPr>
          <a:xfrm>
            <a:off x="8762999" y="4117847"/>
            <a:ext cx="145237" cy="156667"/>
          </a:xfrm>
          <a:prstGeom prst="rect">
            <a:avLst/>
          </a:prstGeom>
          <a:solidFill>
            <a:srgbClr val="6473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Rectangle 142"/>
          <p:cNvSpPr/>
          <p:nvPr/>
        </p:nvSpPr>
        <p:spPr>
          <a:xfrm>
            <a:off x="8762999" y="4267199"/>
            <a:ext cx="145237" cy="156667"/>
          </a:xfrm>
          <a:prstGeom prst="rect">
            <a:avLst/>
          </a:prstGeom>
          <a:solidFill>
            <a:srgbClr val="3AAC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Rectangle 143"/>
          <p:cNvSpPr/>
          <p:nvPr/>
        </p:nvSpPr>
        <p:spPr>
          <a:xfrm>
            <a:off x="8762999" y="4416552"/>
            <a:ext cx="145237" cy="156667"/>
          </a:xfrm>
          <a:prstGeom prst="rect">
            <a:avLst/>
          </a:prstGeom>
          <a:solidFill>
            <a:srgbClr val="657C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Rectangle 144"/>
          <p:cNvSpPr/>
          <p:nvPr/>
        </p:nvSpPr>
        <p:spPr>
          <a:xfrm>
            <a:off x="8762999" y="4565904"/>
            <a:ext cx="145237" cy="156667"/>
          </a:xfrm>
          <a:prstGeom prst="rect">
            <a:avLst/>
          </a:prstGeom>
          <a:solidFill>
            <a:srgbClr val="3BB5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Rectangle 145"/>
          <p:cNvSpPr/>
          <p:nvPr/>
        </p:nvSpPr>
        <p:spPr>
          <a:xfrm>
            <a:off x="8762999" y="4715256"/>
            <a:ext cx="145237" cy="156667"/>
          </a:xfrm>
          <a:prstGeom prst="rect">
            <a:avLst/>
          </a:prstGeom>
          <a:solidFill>
            <a:srgbClr val="6685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Rectangle 146"/>
          <p:cNvSpPr/>
          <p:nvPr/>
        </p:nvSpPr>
        <p:spPr>
          <a:xfrm>
            <a:off x="8900921" y="2176272"/>
            <a:ext cx="145237" cy="156667"/>
          </a:xfrm>
          <a:prstGeom prst="rect">
            <a:avLst/>
          </a:prstGeom>
          <a:solidFill>
            <a:srgbClr val="5F43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Rectangle 147"/>
          <p:cNvSpPr/>
          <p:nvPr/>
        </p:nvSpPr>
        <p:spPr>
          <a:xfrm>
            <a:off x="8900921" y="2325623"/>
            <a:ext cx="145237" cy="156667"/>
          </a:xfrm>
          <a:prstGeom prst="rect">
            <a:avLst/>
          </a:prstGeom>
          <a:solidFill>
            <a:srgbClr val="557D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Rectangle 148"/>
          <p:cNvSpPr/>
          <p:nvPr/>
        </p:nvSpPr>
        <p:spPr>
          <a:xfrm>
            <a:off x="8900921" y="2474976"/>
            <a:ext cx="145237" cy="156667"/>
          </a:xfrm>
          <a:prstGeom prst="rect">
            <a:avLst/>
          </a:prstGeom>
          <a:solidFill>
            <a:srgbClr val="4CB7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Rectangle 149"/>
          <p:cNvSpPr/>
          <p:nvPr/>
        </p:nvSpPr>
        <p:spPr>
          <a:xfrm>
            <a:off x="8900921" y="2624328"/>
            <a:ext cx="145237" cy="156667"/>
          </a:xfrm>
          <a:prstGeom prst="rect">
            <a:avLst/>
          </a:prstGeom>
          <a:solidFill>
            <a:srgbClr val="4260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Rectangle 150"/>
          <p:cNvSpPr/>
          <p:nvPr/>
        </p:nvSpPr>
        <p:spPr>
          <a:xfrm>
            <a:off x="8900921" y="2773680"/>
            <a:ext cx="145237" cy="156667"/>
          </a:xfrm>
          <a:prstGeom prst="rect">
            <a:avLst/>
          </a:prstGeom>
          <a:solidFill>
            <a:srgbClr val="389A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Rectangle 151"/>
          <p:cNvSpPr/>
          <p:nvPr/>
        </p:nvSpPr>
        <p:spPr>
          <a:xfrm>
            <a:off x="8900921" y="2923031"/>
            <a:ext cx="145237" cy="156667"/>
          </a:xfrm>
          <a:prstGeom prst="rect">
            <a:avLst/>
          </a:prstGeom>
          <a:solidFill>
            <a:srgbClr val="2F4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Rectangle 152"/>
          <p:cNvSpPr/>
          <p:nvPr/>
        </p:nvSpPr>
        <p:spPr>
          <a:xfrm>
            <a:off x="8900921" y="3072384"/>
            <a:ext cx="145237" cy="156667"/>
          </a:xfrm>
          <a:prstGeom prst="rect">
            <a:avLst/>
          </a:prstGeom>
          <a:solidFill>
            <a:srgbClr val="7AA5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Rectangle 153"/>
          <p:cNvSpPr/>
          <p:nvPr/>
        </p:nvSpPr>
        <p:spPr>
          <a:xfrm>
            <a:off x="8900921" y="3221736"/>
            <a:ext cx="145237" cy="156667"/>
          </a:xfrm>
          <a:prstGeom prst="rect">
            <a:avLst/>
          </a:prstGeom>
          <a:solidFill>
            <a:srgbClr val="704E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Rectangle 154"/>
          <p:cNvSpPr/>
          <p:nvPr/>
        </p:nvSpPr>
        <p:spPr>
          <a:xfrm>
            <a:off x="8900921" y="3371088"/>
            <a:ext cx="145237" cy="156667"/>
          </a:xfrm>
          <a:prstGeom prst="rect">
            <a:avLst/>
          </a:prstGeom>
          <a:solidFill>
            <a:srgbClr val="67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Rectangle 155"/>
          <p:cNvSpPr/>
          <p:nvPr/>
        </p:nvSpPr>
        <p:spPr>
          <a:xfrm>
            <a:off x="8900921" y="3520439"/>
            <a:ext cx="145237" cy="156667"/>
          </a:xfrm>
          <a:prstGeom prst="rect">
            <a:avLst/>
          </a:prstGeom>
          <a:solidFill>
            <a:srgbClr val="5DC2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Rectangle 156"/>
          <p:cNvSpPr/>
          <p:nvPr/>
        </p:nvSpPr>
        <p:spPr>
          <a:xfrm>
            <a:off x="8900921" y="3669792"/>
            <a:ext cx="145237" cy="156667"/>
          </a:xfrm>
          <a:prstGeom prst="rect">
            <a:avLst/>
          </a:prstGeom>
          <a:solidFill>
            <a:srgbClr val="536B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Rectangle 157"/>
          <p:cNvSpPr/>
          <p:nvPr/>
        </p:nvSpPr>
        <p:spPr>
          <a:xfrm>
            <a:off x="8900921" y="3819143"/>
            <a:ext cx="145237" cy="156667"/>
          </a:xfrm>
          <a:prstGeom prst="rect">
            <a:avLst/>
          </a:prstGeom>
          <a:solidFill>
            <a:srgbClr val="4AA5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Rectangle 158"/>
          <p:cNvSpPr/>
          <p:nvPr/>
        </p:nvSpPr>
        <p:spPr>
          <a:xfrm>
            <a:off x="8900921" y="3968496"/>
            <a:ext cx="145237" cy="156667"/>
          </a:xfrm>
          <a:prstGeom prst="rect">
            <a:avLst/>
          </a:prstGeom>
          <a:solidFill>
            <a:srgbClr val="404E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Rectangle 159"/>
          <p:cNvSpPr/>
          <p:nvPr/>
        </p:nvSpPr>
        <p:spPr>
          <a:xfrm>
            <a:off x="8900921" y="4117847"/>
            <a:ext cx="145237" cy="156667"/>
          </a:xfrm>
          <a:prstGeom prst="rect">
            <a:avLst/>
          </a:prstGeom>
          <a:solidFill>
            <a:srgbClr val="3688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Rectangle 160"/>
          <p:cNvSpPr/>
          <p:nvPr/>
        </p:nvSpPr>
        <p:spPr>
          <a:xfrm>
            <a:off x="8900921" y="4267199"/>
            <a:ext cx="145237" cy="156667"/>
          </a:xfrm>
          <a:prstGeom prst="rect">
            <a:avLst/>
          </a:prstGeom>
          <a:solidFill>
            <a:srgbClr val="8259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Rectangle 161"/>
          <p:cNvSpPr/>
          <p:nvPr/>
        </p:nvSpPr>
        <p:spPr>
          <a:xfrm>
            <a:off x="8900921" y="4416552"/>
            <a:ext cx="145237" cy="156667"/>
          </a:xfrm>
          <a:prstGeom prst="rect">
            <a:avLst/>
          </a:prstGeom>
          <a:solidFill>
            <a:srgbClr val="7893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Rectangle 162"/>
          <p:cNvSpPr/>
          <p:nvPr/>
        </p:nvSpPr>
        <p:spPr>
          <a:xfrm>
            <a:off x="8900921" y="4565904"/>
            <a:ext cx="145237" cy="156667"/>
          </a:xfrm>
          <a:prstGeom prst="rect">
            <a:avLst/>
          </a:prstGeom>
          <a:solidFill>
            <a:srgbClr val="6ECD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Rectangle 163"/>
          <p:cNvSpPr/>
          <p:nvPr/>
        </p:nvSpPr>
        <p:spPr>
          <a:xfrm>
            <a:off x="8900921" y="4715256"/>
            <a:ext cx="145237" cy="156667"/>
          </a:xfrm>
          <a:prstGeom prst="rect">
            <a:avLst/>
          </a:prstGeom>
          <a:solidFill>
            <a:srgbClr val="657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Rectangle 164"/>
          <p:cNvSpPr/>
          <p:nvPr/>
        </p:nvSpPr>
        <p:spPr>
          <a:xfrm>
            <a:off x="9038843" y="2176272"/>
            <a:ext cx="145237" cy="156667"/>
          </a:xfrm>
          <a:prstGeom prst="rect">
            <a:avLst/>
          </a:prstGeom>
          <a:solidFill>
            <a:srgbClr val="3682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Rectangle 165"/>
          <p:cNvSpPr/>
          <p:nvPr/>
        </p:nvSpPr>
        <p:spPr>
          <a:xfrm>
            <a:off x="9038843" y="2325623"/>
            <a:ext cx="145237" cy="156667"/>
          </a:xfrm>
          <a:prstGeom prst="rect">
            <a:avLst/>
          </a:prstGeom>
          <a:solidFill>
            <a:srgbClr val="4CBD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Rectangle 166"/>
          <p:cNvSpPr/>
          <p:nvPr/>
        </p:nvSpPr>
        <p:spPr>
          <a:xfrm>
            <a:off x="9038843" y="2474976"/>
            <a:ext cx="145237" cy="156667"/>
          </a:xfrm>
          <a:prstGeom prst="rect">
            <a:avLst/>
          </a:prstGeom>
          <a:solidFill>
            <a:srgbClr val="6367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Rectangle 167"/>
          <p:cNvSpPr/>
          <p:nvPr/>
        </p:nvSpPr>
        <p:spPr>
          <a:xfrm>
            <a:off x="9038843" y="2624328"/>
            <a:ext cx="145237" cy="156667"/>
          </a:xfrm>
          <a:prstGeom prst="rect">
            <a:avLst/>
          </a:prstGeom>
          <a:solidFill>
            <a:srgbClr val="7AA2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Rectangle 168"/>
          <p:cNvSpPr/>
          <p:nvPr/>
        </p:nvSpPr>
        <p:spPr>
          <a:xfrm>
            <a:off x="9038843" y="2773680"/>
            <a:ext cx="145237" cy="156667"/>
          </a:xfrm>
          <a:prstGeom prst="rect">
            <a:avLst/>
          </a:prstGeom>
          <a:solidFill>
            <a:srgbClr val="3BB5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Rectangle 169"/>
          <p:cNvSpPr/>
          <p:nvPr/>
        </p:nvSpPr>
        <p:spPr>
          <a:xfrm>
            <a:off x="9038843" y="2923031"/>
            <a:ext cx="145237" cy="156667"/>
          </a:xfrm>
          <a:prstGeom prst="rect">
            <a:avLst/>
          </a:prstGeom>
          <a:solidFill>
            <a:srgbClr val="525F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Rectangle 170"/>
          <p:cNvSpPr/>
          <p:nvPr/>
        </p:nvSpPr>
        <p:spPr>
          <a:xfrm>
            <a:off x="9038843" y="3072384"/>
            <a:ext cx="145237" cy="156667"/>
          </a:xfrm>
          <a:prstGeom prst="rect">
            <a:avLst/>
          </a:prstGeom>
          <a:solidFill>
            <a:srgbClr val="699A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Rectangle 171"/>
          <p:cNvSpPr/>
          <p:nvPr/>
        </p:nvSpPr>
        <p:spPr>
          <a:xfrm>
            <a:off x="9038843" y="3221736"/>
            <a:ext cx="145237" cy="156667"/>
          </a:xfrm>
          <a:prstGeom prst="rect">
            <a:avLst/>
          </a:prstGeom>
          <a:solidFill>
            <a:srgbClr val="7F44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Rectangle 172"/>
          <p:cNvSpPr/>
          <p:nvPr/>
        </p:nvSpPr>
        <p:spPr>
          <a:xfrm>
            <a:off x="9038843" y="3371088"/>
            <a:ext cx="145237" cy="156667"/>
          </a:xfrm>
          <a:prstGeom prst="rect">
            <a:avLst/>
          </a:prstGeom>
          <a:solidFill>
            <a:srgbClr val="4157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Rectangle 173"/>
          <p:cNvSpPr/>
          <p:nvPr/>
        </p:nvSpPr>
        <p:spPr>
          <a:xfrm>
            <a:off x="9038843" y="3520439"/>
            <a:ext cx="145237" cy="156667"/>
          </a:xfrm>
          <a:prstGeom prst="rect">
            <a:avLst/>
          </a:prstGeom>
          <a:solidFill>
            <a:srgbClr val="589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Rectangle 174"/>
          <p:cNvSpPr/>
          <p:nvPr/>
        </p:nvSpPr>
        <p:spPr>
          <a:xfrm>
            <a:off x="9038843" y="3669792"/>
            <a:ext cx="145237" cy="156667"/>
          </a:xfrm>
          <a:prstGeom prst="rect">
            <a:avLst/>
          </a:prstGeom>
          <a:solidFill>
            <a:srgbClr val="6ECD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Rectangle 175"/>
          <p:cNvSpPr/>
          <p:nvPr/>
        </p:nvSpPr>
        <p:spPr>
          <a:xfrm>
            <a:off x="9038843" y="3819143"/>
            <a:ext cx="145237" cy="156667"/>
          </a:xfrm>
          <a:prstGeom prst="rect">
            <a:avLst/>
          </a:prstGeom>
          <a:solidFill>
            <a:srgbClr val="304F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Rectangle 176"/>
          <p:cNvSpPr/>
          <p:nvPr/>
        </p:nvSpPr>
        <p:spPr>
          <a:xfrm>
            <a:off x="9038843" y="3968496"/>
            <a:ext cx="145237" cy="156667"/>
          </a:xfrm>
          <a:prstGeom prst="rect">
            <a:avLst/>
          </a:prstGeom>
          <a:solidFill>
            <a:srgbClr val="478A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Rectangle 177"/>
          <p:cNvSpPr/>
          <p:nvPr/>
        </p:nvSpPr>
        <p:spPr>
          <a:xfrm>
            <a:off x="9038843" y="4117847"/>
            <a:ext cx="145237" cy="156667"/>
          </a:xfrm>
          <a:prstGeom prst="rect">
            <a:avLst/>
          </a:prstGeom>
          <a:solidFill>
            <a:srgbClr val="5DC5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Rectangle 178"/>
          <p:cNvSpPr/>
          <p:nvPr/>
        </p:nvSpPr>
        <p:spPr>
          <a:xfrm>
            <a:off x="9038843" y="4267199"/>
            <a:ext cx="145237" cy="156667"/>
          </a:xfrm>
          <a:prstGeom prst="rect">
            <a:avLst/>
          </a:prstGeom>
          <a:solidFill>
            <a:srgbClr val="746F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Rectangle 179"/>
          <p:cNvSpPr/>
          <p:nvPr/>
        </p:nvSpPr>
        <p:spPr>
          <a:xfrm>
            <a:off x="9038843" y="4416552"/>
            <a:ext cx="145237" cy="156667"/>
          </a:xfrm>
          <a:prstGeom prst="rect">
            <a:avLst/>
          </a:prstGeom>
          <a:solidFill>
            <a:srgbClr val="3682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Rectangle 180"/>
          <p:cNvSpPr/>
          <p:nvPr/>
        </p:nvSpPr>
        <p:spPr>
          <a:xfrm>
            <a:off x="9038843" y="4565904"/>
            <a:ext cx="145237" cy="156667"/>
          </a:xfrm>
          <a:prstGeom prst="rect">
            <a:avLst/>
          </a:prstGeom>
          <a:solidFill>
            <a:srgbClr val="4CBD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Rectangle 181"/>
          <p:cNvSpPr/>
          <p:nvPr/>
        </p:nvSpPr>
        <p:spPr>
          <a:xfrm>
            <a:off x="9038843" y="4715256"/>
            <a:ext cx="145237" cy="156667"/>
          </a:xfrm>
          <a:prstGeom prst="rect">
            <a:avLst/>
          </a:prstGeom>
          <a:solidFill>
            <a:srgbClr val="6367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Rectangle 182"/>
          <p:cNvSpPr/>
          <p:nvPr/>
        </p:nvSpPr>
        <p:spPr>
          <a:xfrm>
            <a:off x="9176766" y="2176272"/>
            <a:ext cx="145237" cy="156667"/>
          </a:xfrm>
          <a:prstGeom prst="rect">
            <a:avLst/>
          </a:prstGeom>
          <a:solidFill>
            <a:srgbClr val="6158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Rectangle 183"/>
          <p:cNvSpPr/>
          <p:nvPr/>
        </p:nvSpPr>
        <p:spPr>
          <a:xfrm>
            <a:off x="9176766" y="2325623"/>
            <a:ext cx="145237" cy="156667"/>
          </a:xfrm>
          <a:prstGeom prst="rect">
            <a:avLst/>
          </a:prstGeom>
          <a:solidFill>
            <a:srgbClr val="436C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Rectangle 184"/>
          <p:cNvSpPr/>
          <p:nvPr/>
        </p:nvSpPr>
        <p:spPr>
          <a:xfrm>
            <a:off x="9176766" y="2474976"/>
            <a:ext cx="145237" cy="156667"/>
          </a:xfrm>
          <a:prstGeom prst="rect">
            <a:avLst/>
          </a:prstGeom>
          <a:solidFill>
            <a:srgbClr val="7AA8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Rectangle 185"/>
          <p:cNvSpPr/>
          <p:nvPr/>
        </p:nvSpPr>
        <p:spPr>
          <a:xfrm>
            <a:off x="9176766" y="2624328"/>
            <a:ext cx="145237" cy="156667"/>
          </a:xfrm>
          <a:prstGeom prst="rect">
            <a:avLst/>
          </a:prstGeom>
          <a:solidFill>
            <a:srgbClr val="5CBC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Rectangle 186"/>
          <p:cNvSpPr/>
          <p:nvPr/>
        </p:nvSpPr>
        <p:spPr>
          <a:xfrm>
            <a:off x="9176766" y="2773680"/>
            <a:ext cx="145237" cy="156667"/>
          </a:xfrm>
          <a:prstGeom prst="rect">
            <a:avLst/>
          </a:prstGeom>
          <a:solidFill>
            <a:srgbClr val="3ED0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Rectangle 187"/>
          <p:cNvSpPr/>
          <p:nvPr/>
        </p:nvSpPr>
        <p:spPr>
          <a:xfrm>
            <a:off x="9176766" y="2923031"/>
            <a:ext cx="145237" cy="156667"/>
          </a:xfrm>
          <a:prstGeom prst="rect">
            <a:avLst/>
          </a:prstGeom>
          <a:solidFill>
            <a:srgbClr val="757B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Rectangle 188"/>
          <p:cNvSpPr/>
          <p:nvPr/>
        </p:nvSpPr>
        <p:spPr>
          <a:xfrm>
            <a:off x="9176766" y="3072384"/>
            <a:ext cx="145237" cy="156667"/>
          </a:xfrm>
          <a:prstGeom prst="rect">
            <a:avLst/>
          </a:prstGeom>
          <a:solidFill>
            <a:srgbClr val="578F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Rectangle 189"/>
          <p:cNvSpPr/>
          <p:nvPr/>
        </p:nvSpPr>
        <p:spPr>
          <a:xfrm>
            <a:off x="9176766" y="3221736"/>
            <a:ext cx="145237" cy="156667"/>
          </a:xfrm>
          <a:prstGeom prst="rect">
            <a:avLst/>
          </a:prstGeom>
          <a:solidFill>
            <a:srgbClr val="39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Rectangle 190"/>
          <p:cNvSpPr/>
          <p:nvPr/>
        </p:nvSpPr>
        <p:spPr>
          <a:xfrm>
            <a:off x="9176766" y="3371088"/>
            <a:ext cx="145237" cy="156667"/>
          </a:xfrm>
          <a:prstGeom prst="rect">
            <a:avLst/>
          </a:prstGeom>
          <a:solidFill>
            <a:srgbClr val="704E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Rectangle 191"/>
          <p:cNvSpPr/>
          <p:nvPr/>
        </p:nvSpPr>
        <p:spPr>
          <a:xfrm>
            <a:off x="9176766" y="3520439"/>
            <a:ext cx="145237" cy="156667"/>
          </a:xfrm>
          <a:prstGeom prst="rect">
            <a:avLst/>
          </a:prstGeom>
          <a:solidFill>
            <a:srgbClr val="5262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Rectangle 192"/>
          <p:cNvSpPr/>
          <p:nvPr/>
        </p:nvSpPr>
        <p:spPr>
          <a:xfrm>
            <a:off x="9176766" y="3669792"/>
            <a:ext cx="145237" cy="156667"/>
          </a:xfrm>
          <a:prstGeom prst="rect">
            <a:avLst/>
          </a:prstGeom>
          <a:solidFill>
            <a:srgbClr val="347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Rectangle 193"/>
          <p:cNvSpPr/>
          <p:nvPr/>
        </p:nvSpPr>
        <p:spPr>
          <a:xfrm>
            <a:off x="9176766" y="3819143"/>
            <a:ext cx="145237" cy="156667"/>
          </a:xfrm>
          <a:prstGeom prst="rect">
            <a:avLst/>
          </a:prstGeom>
          <a:solidFill>
            <a:srgbClr val="6BB2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Rectangle 194"/>
          <p:cNvSpPr/>
          <p:nvPr/>
        </p:nvSpPr>
        <p:spPr>
          <a:xfrm>
            <a:off x="9176766" y="3968496"/>
            <a:ext cx="145237" cy="156667"/>
          </a:xfrm>
          <a:prstGeom prst="rect">
            <a:avLst/>
          </a:prstGeom>
          <a:solidFill>
            <a:srgbClr val="4DC6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Rectangle 195"/>
          <p:cNvSpPr/>
          <p:nvPr/>
        </p:nvSpPr>
        <p:spPr>
          <a:xfrm>
            <a:off x="9176766" y="4117847"/>
            <a:ext cx="145237" cy="156667"/>
          </a:xfrm>
          <a:prstGeom prst="rect">
            <a:avLst/>
          </a:prstGeom>
          <a:solidFill>
            <a:srgbClr val="2F49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Rectangle 196"/>
          <p:cNvSpPr/>
          <p:nvPr/>
        </p:nvSpPr>
        <p:spPr>
          <a:xfrm>
            <a:off x="9176766" y="4267199"/>
            <a:ext cx="145237" cy="156667"/>
          </a:xfrm>
          <a:prstGeom prst="rect">
            <a:avLst/>
          </a:prstGeom>
          <a:solidFill>
            <a:srgbClr val="6685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Rectangle 197"/>
          <p:cNvSpPr/>
          <p:nvPr/>
        </p:nvSpPr>
        <p:spPr>
          <a:xfrm>
            <a:off x="9176766" y="4416552"/>
            <a:ext cx="145237" cy="156667"/>
          </a:xfrm>
          <a:prstGeom prst="rect">
            <a:avLst/>
          </a:prstGeom>
          <a:solidFill>
            <a:srgbClr val="4899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Rectangle 198"/>
          <p:cNvSpPr/>
          <p:nvPr/>
        </p:nvSpPr>
        <p:spPr>
          <a:xfrm>
            <a:off x="9176766" y="4565904"/>
            <a:ext cx="145237" cy="156667"/>
          </a:xfrm>
          <a:prstGeom prst="rect">
            <a:avLst/>
          </a:prstGeom>
          <a:solidFill>
            <a:srgbClr val="7F44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Rectangle 199"/>
          <p:cNvSpPr/>
          <p:nvPr/>
        </p:nvSpPr>
        <p:spPr>
          <a:xfrm>
            <a:off x="9176766" y="4715256"/>
            <a:ext cx="145237" cy="156667"/>
          </a:xfrm>
          <a:prstGeom prst="rect">
            <a:avLst/>
          </a:prstGeom>
          <a:solidFill>
            <a:srgbClr val="6158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Rectangle 200"/>
          <p:cNvSpPr/>
          <p:nvPr/>
        </p:nvSpPr>
        <p:spPr>
          <a:xfrm>
            <a:off x="9314688" y="2176272"/>
            <a:ext cx="145237" cy="156667"/>
          </a:xfrm>
          <a:prstGeom prst="rect">
            <a:avLst/>
          </a:prstGeom>
          <a:solidFill>
            <a:srgbClr val="3897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Rectangle 201"/>
          <p:cNvSpPr/>
          <p:nvPr/>
        </p:nvSpPr>
        <p:spPr>
          <a:xfrm>
            <a:off x="9314688" y="2325623"/>
            <a:ext cx="145237" cy="156667"/>
          </a:xfrm>
          <a:prstGeom prst="rect">
            <a:avLst/>
          </a:prstGeom>
          <a:solidFill>
            <a:srgbClr val="3AAC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Rectangle 202"/>
          <p:cNvSpPr/>
          <p:nvPr/>
        </p:nvSpPr>
        <p:spPr>
          <a:xfrm>
            <a:off x="9314688" y="2474976"/>
            <a:ext cx="145237" cy="156667"/>
          </a:xfrm>
          <a:prstGeom prst="rect">
            <a:avLst/>
          </a:prstGeom>
          <a:solidFill>
            <a:srgbClr val="3DC1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Rectangle 203"/>
          <p:cNvSpPr/>
          <p:nvPr/>
        </p:nvSpPr>
        <p:spPr>
          <a:xfrm>
            <a:off x="9314688" y="2624328"/>
            <a:ext cx="145237" cy="156667"/>
          </a:xfrm>
          <a:prstGeom prst="rect">
            <a:avLst/>
          </a:prstGeom>
          <a:solidFill>
            <a:srgbClr val="3F45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Rectangle 204"/>
          <p:cNvSpPr/>
          <p:nvPr/>
        </p:nvSpPr>
        <p:spPr>
          <a:xfrm>
            <a:off x="9314688" y="2773680"/>
            <a:ext cx="145237" cy="156667"/>
          </a:xfrm>
          <a:prstGeom prst="rect">
            <a:avLst/>
          </a:prstGeom>
          <a:solidFill>
            <a:srgbClr val="415A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Rectangle 205"/>
          <p:cNvSpPr/>
          <p:nvPr/>
        </p:nvSpPr>
        <p:spPr>
          <a:xfrm>
            <a:off x="9314688" y="2923031"/>
            <a:ext cx="145237" cy="156667"/>
          </a:xfrm>
          <a:prstGeom prst="rect">
            <a:avLst/>
          </a:prstGeom>
          <a:solidFill>
            <a:srgbClr val="446F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Rectangle 206"/>
          <p:cNvSpPr/>
          <p:nvPr/>
        </p:nvSpPr>
        <p:spPr>
          <a:xfrm>
            <a:off x="9314688" y="3072384"/>
            <a:ext cx="145237" cy="156667"/>
          </a:xfrm>
          <a:prstGeom prst="rect">
            <a:avLst/>
          </a:prstGeom>
          <a:solidFill>
            <a:srgbClr val="4684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Rectangle 207"/>
          <p:cNvSpPr/>
          <p:nvPr/>
        </p:nvSpPr>
        <p:spPr>
          <a:xfrm>
            <a:off x="9314688" y="3221736"/>
            <a:ext cx="145237" cy="156667"/>
          </a:xfrm>
          <a:prstGeom prst="rect">
            <a:avLst/>
          </a:prstGeom>
          <a:solidFill>
            <a:srgbClr val="4899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Rectangle 208"/>
          <p:cNvSpPr/>
          <p:nvPr/>
        </p:nvSpPr>
        <p:spPr>
          <a:xfrm>
            <a:off x="9314688" y="3371088"/>
            <a:ext cx="145237" cy="156667"/>
          </a:xfrm>
          <a:prstGeom prst="rect">
            <a:avLst/>
          </a:prstGeom>
          <a:solidFill>
            <a:srgbClr val="4BAE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Rectangle 209"/>
          <p:cNvSpPr/>
          <p:nvPr/>
        </p:nvSpPr>
        <p:spPr>
          <a:xfrm>
            <a:off x="9314688" y="3520439"/>
            <a:ext cx="145237" cy="156667"/>
          </a:xfrm>
          <a:prstGeom prst="rect">
            <a:avLst/>
          </a:prstGeom>
          <a:solidFill>
            <a:srgbClr val="4DC3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Rectangle 210"/>
          <p:cNvSpPr/>
          <p:nvPr/>
        </p:nvSpPr>
        <p:spPr>
          <a:xfrm>
            <a:off x="9314688" y="3669792"/>
            <a:ext cx="145237" cy="156667"/>
          </a:xfrm>
          <a:prstGeom prst="rect">
            <a:avLst/>
          </a:prstGeom>
          <a:solidFill>
            <a:srgbClr val="4F47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Rectangle 211"/>
          <p:cNvSpPr/>
          <p:nvPr/>
        </p:nvSpPr>
        <p:spPr>
          <a:xfrm>
            <a:off x="9314688" y="3819143"/>
            <a:ext cx="145237" cy="156667"/>
          </a:xfrm>
          <a:prstGeom prst="rect">
            <a:avLst/>
          </a:prstGeom>
          <a:solidFill>
            <a:srgbClr val="525C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Rectangle 212"/>
          <p:cNvSpPr/>
          <p:nvPr/>
        </p:nvSpPr>
        <p:spPr>
          <a:xfrm>
            <a:off x="9314688" y="3968496"/>
            <a:ext cx="145237" cy="156667"/>
          </a:xfrm>
          <a:prstGeom prst="rect">
            <a:avLst/>
          </a:prstGeom>
          <a:solidFill>
            <a:srgbClr val="5471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Rectangle 213"/>
          <p:cNvSpPr/>
          <p:nvPr/>
        </p:nvSpPr>
        <p:spPr>
          <a:xfrm>
            <a:off x="9314688" y="4117847"/>
            <a:ext cx="145237" cy="156667"/>
          </a:xfrm>
          <a:prstGeom prst="rect">
            <a:avLst/>
          </a:prstGeom>
          <a:solidFill>
            <a:srgbClr val="568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Rectangle 214"/>
          <p:cNvSpPr/>
          <p:nvPr/>
        </p:nvSpPr>
        <p:spPr>
          <a:xfrm>
            <a:off x="9314688" y="4267199"/>
            <a:ext cx="145237" cy="156667"/>
          </a:xfrm>
          <a:prstGeom prst="rect">
            <a:avLst/>
          </a:prstGeom>
          <a:solidFill>
            <a:srgbClr val="599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Rectangle 215"/>
          <p:cNvSpPr/>
          <p:nvPr/>
        </p:nvSpPr>
        <p:spPr>
          <a:xfrm>
            <a:off x="9314688" y="4416552"/>
            <a:ext cx="145237" cy="156667"/>
          </a:xfrm>
          <a:prstGeom prst="rect">
            <a:avLst/>
          </a:prstGeom>
          <a:solidFill>
            <a:srgbClr val="5BB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Rectangle 216"/>
          <p:cNvSpPr/>
          <p:nvPr/>
        </p:nvSpPr>
        <p:spPr>
          <a:xfrm>
            <a:off x="9314688" y="4565904"/>
            <a:ext cx="145237" cy="156667"/>
          </a:xfrm>
          <a:prstGeom prst="rect">
            <a:avLst/>
          </a:prstGeom>
          <a:solidFill>
            <a:srgbClr val="5DC5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Rectangle 217"/>
          <p:cNvSpPr/>
          <p:nvPr/>
        </p:nvSpPr>
        <p:spPr>
          <a:xfrm>
            <a:off x="9314688" y="4715256"/>
            <a:ext cx="145237" cy="156667"/>
          </a:xfrm>
          <a:prstGeom prst="rect">
            <a:avLst/>
          </a:prstGeom>
          <a:solidFill>
            <a:srgbClr val="6049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Rectangle 218"/>
          <p:cNvSpPr/>
          <p:nvPr/>
        </p:nvSpPr>
        <p:spPr>
          <a:xfrm>
            <a:off x="9452609" y="2176272"/>
            <a:ext cx="145237" cy="156667"/>
          </a:xfrm>
          <a:prstGeom prst="rect">
            <a:avLst/>
          </a:prstGeom>
          <a:solidFill>
            <a:srgbClr val="646D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Rectangle 219"/>
          <p:cNvSpPr/>
          <p:nvPr/>
        </p:nvSpPr>
        <p:spPr>
          <a:xfrm>
            <a:off x="9452609" y="2325623"/>
            <a:ext cx="145237" cy="156667"/>
          </a:xfrm>
          <a:prstGeom prst="rect">
            <a:avLst/>
          </a:prstGeom>
          <a:solidFill>
            <a:srgbClr val="315B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Rectangle 220"/>
          <p:cNvSpPr/>
          <p:nvPr/>
        </p:nvSpPr>
        <p:spPr>
          <a:xfrm>
            <a:off x="9452609" y="2474976"/>
            <a:ext cx="145237" cy="156667"/>
          </a:xfrm>
          <a:prstGeom prst="rect">
            <a:avLst/>
          </a:prstGeom>
          <a:solidFill>
            <a:srgbClr val="5471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Rectangle 221"/>
          <p:cNvSpPr/>
          <p:nvPr/>
        </p:nvSpPr>
        <p:spPr>
          <a:xfrm>
            <a:off x="9452609" y="2624328"/>
            <a:ext cx="145237" cy="156667"/>
          </a:xfrm>
          <a:prstGeom prst="rect">
            <a:avLst/>
          </a:prstGeom>
          <a:solidFill>
            <a:srgbClr val="778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Rectangle 222"/>
          <p:cNvSpPr/>
          <p:nvPr/>
        </p:nvSpPr>
        <p:spPr>
          <a:xfrm>
            <a:off x="9452609" y="2773680"/>
            <a:ext cx="145237" cy="156667"/>
          </a:xfrm>
          <a:prstGeom prst="rect">
            <a:avLst/>
          </a:prstGeom>
          <a:solidFill>
            <a:srgbClr val="4475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Rectangle 223"/>
          <p:cNvSpPr/>
          <p:nvPr/>
        </p:nvSpPr>
        <p:spPr>
          <a:xfrm>
            <a:off x="9452609" y="2923031"/>
            <a:ext cx="145237" cy="156667"/>
          </a:xfrm>
          <a:prstGeom prst="rect">
            <a:avLst/>
          </a:prstGeom>
          <a:solidFill>
            <a:srgbClr val="678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Rectangle 224"/>
          <p:cNvSpPr/>
          <p:nvPr/>
        </p:nvSpPr>
        <p:spPr>
          <a:xfrm>
            <a:off x="9452609" y="3072384"/>
            <a:ext cx="145237" cy="156667"/>
          </a:xfrm>
          <a:prstGeom prst="rect">
            <a:avLst/>
          </a:prstGeom>
          <a:solidFill>
            <a:srgbClr val="3579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Rectangle 225"/>
          <p:cNvSpPr/>
          <p:nvPr/>
        </p:nvSpPr>
        <p:spPr>
          <a:xfrm>
            <a:off x="9452609" y="3221736"/>
            <a:ext cx="145237" cy="156667"/>
          </a:xfrm>
          <a:prstGeom prst="rect">
            <a:avLst/>
          </a:prstGeom>
          <a:solidFill>
            <a:srgbClr val="578F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Rectangle 226"/>
          <p:cNvSpPr/>
          <p:nvPr/>
        </p:nvSpPr>
        <p:spPr>
          <a:xfrm>
            <a:off x="9452609" y="3371088"/>
            <a:ext cx="145237" cy="156667"/>
          </a:xfrm>
          <a:prstGeom prst="rect">
            <a:avLst/>
          </a:prstGeom>
          <a:solidFill>
            <a:srgbClr val="7AA5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Rectangle 227"/>
          <p:cNvSpPr/>
          <p:nvPr/>
        </p:nvSpPr>
        <p:spPr>
          <a:xfrm>
            <a:off x="9452609" y="3520439"/>
            <a:ext cx="145237" cy="156667"/>
          </a:xfrm>
          <a:prstGeom prst="rect">
            <a:avLst/>
          </a:prstGeom>
          <a:solidFill>
            <a:srgbClr val="4893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Rectangle 228"/>
          <p:cNvSpPr/>
          <p:nvPr/>
        </p:nvSpPr>
        <p:spPr>
          <a:xfrm>
            <a:off x="9452609" y="3669792"/>
            <a:ext cx="145237" cy="156667"/>
          </a:xfrm>
          <a:prstGeom prst="rect">
            <a:avLst/>
          </a:prstGeom>
          <a:solidFill>
            <a:srgbClr val="6AA9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Rectangle 229"/>
          <p:cNvSpPr/>
          <p:nvPr/>
        </p:nvSpPr>
        <p:spPr>
          <a:xfrm>
            <a:off x="9452609" y="3819143"/>
            <a:ext cx="145237" cy="156667"/>
          </a:xfrm>
          <a:prstGeom prst="rect">
            <a:avLst/>
          </a:prstGeom>
          <a:solidFill>
            <a:srgbClr val="3897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Rectangle 230"/>
          <p:cNvSpPr/>
          <p:nvPr/>
        </p:nvSpPr>
        <p:spPr>
          <a:xfrm>
            <a:off x="9452609" y="3968496"/>
            <a:ext cx="145237" cy="156667"/>
          </a:xfrm>
          <a:prstGeom prst="rect">
            <a:avLst/>
          </a:prstGeom>
          <a:solidFill>
            <a:srgbClr val="5BAD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Rectangle 231"/>
          <p:cNvSpPr/>
          <p:nvPr/>
        </p:nvSpPr>
        <p:spPr>
          <a:xfrm>
            <a:off x="9452609" y="4117847"/>
            <a:ext cx="145237" cy="156667"/>
          </a:xfrm>
          <a:prstGeom prst="rect">
            <a:avLst/>
          </a:prstGeom>
          <a:solidFill>
            <a:srgbClr val="7DC3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Rectangle 232"/>
          <p:cNvSpPr/>
          <p:nvPr/>
        </p:nvSpPr>
        <p:spPr>
          <a:xfrm>
            <a:off x="9452609" y="4267199"/>
            <a:ext cx="145237" cy="156667"/>
          </a:xfrm>
          <a:prstGeom prst="rect">
            <a:avLst/>
          </a:prstGeom>
          <a:solidFill>
            <a:srgbClr val="4BB1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Rectangle 233"/>
          <p:cNvSpPr/>
          <p:nvPr/>
        </p:nvSpPr>
        <p:spPr>
          <a:xfrm>
            <a:off x="9452609" y="4416552"/>
            <a:ext cx="145237" cy="156667"/>
          </a:xfrm>
          <a:prstGeom prst="rect">
            <a:avLst/>
          </a:prstGeom>
          <a:solidFill>
            <a:srgbClr val="6EC7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Rectangle 234"/>
          <p:cNvSpPr/>
          <p:nvPr/>
        </p:nvSpPr>
        <p:spPr>
          <a:xfrm>
            <a:off x="9452609" y="4565904"/>
            <a:ext cx="145237" cy="156667"/>
          </a:xfrm>
          <a:prstGeom prst="rect">
            <a:avLst/>
          </a:prstGeom>
          <a:solidFill>
            <a:srgbClr val="3BB5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Rectangle 235"/>
          <p:cNvSpPr/>
          <p:nvPr/>
        </p:nvSpPr>
        <p:spPr>
          <a:xfrm>
            <a:off x="9452609" y="4715256"/>
            <a:ext cx="145237" cy="156667"/>
          </a:xfrm>
          <a:prstGeom prst="rect">
            <a:avLst/>
          </a:prstGeom>
          <a:solidFill>
            <a:srgbClr val="5ECB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Rectangle 236"/>
          <p:cNvSpPr/>
          <p:nvPr/>
        </p:nvSpPr>
        <p:spPr>
          <a:xfrm>
            <a:off x="9590531" y="2176272"/>
            <a:ext cx="145237" cy="156667"/>
          </a:xfrm>
          <a:prstGeom prst="rect">
            <a:avLst/>
          </a:prstGeom>
          <a:solidFill>
            <a:srgbClr val="3AAC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Rectangle 237"/>
          <p:cNvSpPr/>
          <p:nvPr/>
        </p:nvSpPr>
        <p:spPr>
          <a:xfrm>
            <a:off x="9590531" y="2325623"/>
            <a:ext cx="145237" cy="156667"/>
          </a:xfrm>
          <a:prstGeom prst="rect">
            <a:avLst/>
          </a:prstGeom>
          <a:solidFill>
            <a:srgbClr val="7DC3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Rectangle 238"/>
          <p:cNvSpPr/>
          <p:nvPr/>
        </p:nvSpPr>
        <p:spPr>
          <a:xfrm>
            <a:off x="9590531" y="2474976"/>
            <a:ext cx="145237" cy="156667"/>
          </a:xfrm>
          <a:prstGeom prst="rect">
            <a:avLst/>
          </a:prstGeom>
          <a:solidFill>
            <a:srgbClr val="6BB2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Rectangle 239"/>
          <p:cNvSpPr/>
          <p:nvPr/>
        </p:nvSpPr>
        <p:spPr>
          <a:xfrm>
            <a:off x="9590531" y="2624328"/>
            <a:ext cx="145237" cy="156667"/>
          </a:xfrm>
          <a:prstGeom prst="rect">
            <a:avLst/>
          </a:prstGeom>
          <a:solidFill>
            <a:srgbClr val="59A1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Rectangle 240"/>
          <p:cNvSpPr/>
          <p:nvPr/>
        </p:nvSpPr>
        <p:spPr>
          <a:xfrm>
            <a:off x="9590531" y="2773680"/>
            <a:ext cx="145237" cy="156667"/>
          </a:xfrm>
          <a:prstGeom prst="rect">
            <a:avLst/>
          </a:prstGeom>
          <a:solidFill>
            <a:srgbClr val="4790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Rectangle 241"/>
          <p:cNvSpPr/>
          <p:nvPr/>
        </p:nvSpPr>
        <p:spPr>
          <a:xfrm>
            <a:off x="9590531" y="2923031"/>
            <a:ext cx="145237" cy="156667"/>
          </a:xfrm>
          <a:prstGeom prst="rect">
            <a:avLst/>
          </a:prstGeom>
          <a:solidFill>
            <a:srgbClr val="357F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Rectangle 242"/>
          <p:cNvSpPr/>
          <p:nvPr/>
        </p:nvSpPr>
        <p:spPr>
          <a:xfrm>
            <a:off x="9590531" y="3072384"/>
            <a:ext cx="145237" cy="156667"/>
          </a:xfrm>
          <a:prstGeom prst="rect">
            <a:avLst/>
          </a:prstGeom>
          <a:solidFill>
            <a:srgbClr val="7896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" name="Rectangle 243"/>
          <p:cNvSpPr/>
          <p:nvPr/>
        </p:nvSpPr>
        <p:spPr>
          <a:xfrm>
            <a:off x="9590531" y="3221736"/>
            <a:ext cx="145237" cy="156667"/>
          </a:xfrm>
          <a:prstGeom prst="rect">
            <a:avLst/>
          </a:prstGeom>
          <a:solidFill>
            <a:srgbClr val="6685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" name="Rectangle 244"/>
          <p:cNvSpPr/>
          <p:nvPr/>
        </p:nvSpPr>
        <p:spPr>
          <a:xfrm>
            <a:off x="9590531" y="3371088"/>
            <a:ext cx="145237" cy="156667"/>
          </a:xfrm>
          <a:prstGeom prst="rect">
            <a:avLst/>
          </a:prstGeom>
          <a:solidFill>
            <a:srgbClr val="5474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Rectangle 245"/>
          <p:cNvSpPr/>
          <p:nvPr/>
        </p:nvSpPr>
        <p:spPr>
          <a:xfrm>
            <a:off x="9590531" y="3520439"/>
            <a:ext cx="145237" cy="156667"/>
          </a:xfrm>
          <a:prstGeom prst="rect">
            <a:avLst/>
          </a:prstGeom>
          <a:solidFill>
            <a:srgbClr val="4263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" name="Rectangle 246"/>
          <p:cNvSpPr/>
          <p:nvPr/>
        </p:nvSpPr>
        <p:spPr>
          <a:xfrm>
            <a:off x="9590531" y="3669792"/>
            <a:ext cx="145237" cy="156667"/>
          </a:xfrm>
          <a:prstGeom prst="rect">
            <a:avLst/>
          </a:prstGeom>
          <a:solidFill>
            <a:srgbClr val="3052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" name="Rectangle 247"/>
          <p:cNvSpPr/>
          <p:nvPr/>
        </p:nvSpPr>
        <p:spPr>
          <a:xfrm>
            <a:off x="9590531" y="3819143"/>
            <a:ext cx="145237" cy="156667"/>
          </a:xfrm>
          <a:prstGeom prst="rect">
            <a:avLst/>
          </a:prstGeom>
          <a:solidFill>
            <a:srgbClr val="7369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" name="Rectangle 248"/>
          <p:cNvSpPr/>
          <p:nvPr/>
        </p:nvSpPr>
        <p:spPr>
          <a:xfrm>
            <a:off x="9590531" y="3968496"/>
            <a:ext cx="145237" cy="156667"/>
          </a:xfrm>
          <a:prstGeom prst="rect">
            <a:avLst/>
          </a:prstGeom>
          <a:solidFill>
            <a:srgbClr val="6158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" name="Rectangle 249"/>
          <p:cNvSpPr/>
          <p:nvPr/>
        </p:nvSpPr>
        <p:spPr>
          <a:xfrm>
            <a:off x="9590531" y="4117847"/>
            <a:ext cx="145237" cy="156667"/>
          </a:xfrm>
          <a:prstGeom prst="rect">
            <a:avLst/>
          </a:prstGeom>
          <a:solidFill>
            <a:srgbClr val="4F47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1" name="Rectangle 250"/>
          <p:cNvSpPr/>
          <p:nvPr/>
        </p:nvSpPr>
        <p:spPr>
          <a:xfrm>
            <a:off x="9590531" y="4267199"/>
            <a:ext cx="145237" cy="156667"/>
          </a:xfrm>
          <a:prstGeom prst="rect">
            <a:avLst/>
          </a:prstGeom>
          <a:solidFill>
            <a:srgbClr val="3DC7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2" name="Rectangle 251"/>
          <p:cNvSpPr/>
          <p:nvPr/>
        </p:nvSpPr>
        <p:spPr>
          <a:xfrm>
            <a:off x="9590531" y="4416552"/>
            <a:ext cx="145237" cy="156667"/>
          </a:xfrm>
          <a:prstGeom prst="rect">
            <a:avLst/>
          </a:prstGeom>
          <a:solidFill>
            <a:srgbClr val="804D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3" name="Rectangle 252"/>
          <p:cNvSpPr/>
          <p:nvPr/>
        </p:nvSpPr>
        <p:spPr>
          <a:xfrm>
            <a:off x="9590531" y="4565904"/>
            <a:ext cx="145237" cy="156667"/>
          </a:xfrm>
          <a:prstGeom prst="rect">
            <a:avLst/>
          </a:prstGeom>
          <a:solidFill>
            <a:srgbClr val="6ECD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4" name="Rectangle 253"/>
          <p:cNvSpPr/>
          <p:nvPr/>
        </p:nvSpPr>
        <p:spPr>
          <a:xfrm>
            <a:off x="9590531" y="4715256"/>
            <a:ext cx="145237" cy="156667"/>
          </a:xfrm>
          <a:prstGeom prst="rect">
            <a:avLst/>
          </a:prstGeom>
          <a:solidFill>
            <a:srgbClr val="5CBC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5" name="Rectangle 254"/>
          <p:cNvSpPr/>
          <p:nvPr/>
        </p:nvSpPr>
        <p:spPr>
          <a:xfrm>
            <a:off x="9728453" y="2176272"/>
            <a:ext cx="145237" cy="156667"/>
          </a:xfrm>
          <a:prstGeom prst="rect">
            <a:avLst/>
          </a:prstGeom>
          <a:solidFill>
            <a:srgbClr val="6682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6" name="Rectangle 255"/>
          <p:cNvSpPr/>
          <p:nvPr/>
        </p:nvSpPr>
        <p:spPr>
          <a:xfrm>
            <a:off x="9728453" y="2325623"/>
            <a:ext cx="145237" cy="156667"/>
          </a:xfrm>
          <a:prstGeom prst="rect">
            <a:avLst/>
          </a:prstGeom>
          <a:solidFill>
            <a:srgbClr val="7472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7" name="Rectangle 256"/>
          <p:cNvSpPr/>
          <p:nvPr/>
        </p:nvSpPr>
        <p:spPr>
          <a:xfrm>
            <a:off x="9728453" y="2474976"/>
            <a:ext cx="145237" cy="156667"/>
          </a:xfrm>
          <a:prstGeom prst="rect">
            <a:avLst/>
          </a:prstGeom>
          <a:solidFill>
            <a:srgbClr val="8362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8" name="Rectangle 257"/>
          <p:cNvSpPr/>
          <p:nvPr/>
        </p:nvSpPr>
        <p:spPr>
          <a:xfrm>
            <a:off x="9728453" y="2624328"/>
            <a:ext cx="145237" cy="156667"/>
          </a:xfrm>
          <a:prstGeom prst="rect">
            <a:avLst/>
          </a:prstGeom>
          <a:solidFill>
            <a:srgbClr val="3CB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9" name="Rectangle 258"/>
          <p:cNvSpPr/>
          <p:nvPr/>
        </p:nvSpPr>
        <p:spPr>
          <a:xfrm>
            <a:off x="9728453" y="2773680"/>
            <a:ext cx="145237" cy="156667"/>
          </a:xfrm>
          <a:prstGeom prst="rect">
            <a:avLst/>
          </a:prstGeom>
          <a:solidFill>
            <a:srgbClr val="4AAB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0" name="Rectangle 259"/>
          <p:cNvSpPr/>
          <p:nvPr/>
        </p:nvSpPr>
        <p:spPr>
          <a:xfrm>
            <a:off x="9728453" y="2923031"/>
            <a:ext cx="145237" cy="156667"/>
          </a:xfrm>
          <a:prstGeom prst="rect">
            <a:avLst/>
          </a:prstGeom>
          <a:solidFill>
            <a:srgbClr val="599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1" name="Rectangle 260"/>
          <p:cNvSpPr/>
          <p:nvPr/>
        </p:nvSpPr>
        <p:spPr>
          <a:xfrm>
            <a:off x="9728453" y="3072384"/>
            <a:ext cx="145237" cy="156667"/>
          </a:xfrm>
          <a:prstGeom prst="rect">
            <a:avLst/>
          </a:prstGeom>
          <a:solidFill>
            <a:srgbClr val="678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2" name="Rectangle 261"/>
          <p:cNvSpPr/>
          <p:nvPr/>
        </p:nvSpPr>
        <p:spPr>
          <a:xfrm>
            <a:off x="9728453" y="3221736"/>
            <a:ext cx="145237" cy="156667"/>
          </a:xfrm>
          <a:prstGeom prst="rect">
            <a:avLst/>
          </a:prstGeom>
          <a:solidFill>
            <a:srgbClr val="757B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3" name="Rectangle 262"/>
          <p:cNvSpPr/>
          <p:nvPr/>
        </p:nvSpPr>
        <p:spPr>
          <a:xfrm>
            <a:off x="9728453" y="3371088"/>
            <a:ext cx="145237" cy="156667"/>
          </a:xfrm>
          <a:prstGeom prst="rect">
            <a:avLst/>
          </a:prstGeom>
          <a:solidFill>
            <a:srgbClr val="2F4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4" name="Rectangle 263"/>
          <p:cNvSpPr/>
          <p:nvPr/>
        </p:nvSpPr>
        <p:spPr>
          <a:xfrm>
            <a:off x="9728453" y="3520439"/>
            <a:ext cx="145237" cy="156667"/>
          </a:xfrm>
          <a:prstGeom prst="rect">
            <a:avLst/>
          </a:prstGeom>
          <a:solidFill>
            <a:srgbClr val="3DC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5" name="Rectangle 264"/>
          <p:cNvSpPr/>
          <p:nvPr/>
        </p:nvSpPr>
        <p:spPr>
          <a:xfrm>
            <a:off x="9728453" y="3669792"/>
            <a:ext cx="145237" cy="156667"/>
          </a:xfrm>
          <a:prstGeom prst="rect">
            <a:avLst/>
          </a:prstGeom>
          <a:solidFill>
            <a:srgbClr val="4BB4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6" name="Rectangle 265"/>
          <p:cNvSpPr/>
          <p:nvPr/>
        </p:nvSpPr>
        <p:spPr>
          <a:xfrm>
            <a:off x="9728453" y="3819143"/>
            <a:ext cx="145237" cy="156667"/>
          </a:xfrm>
          <a:prstGeom prst="rect">
            <a:avLst/>
          </a:prstGeom>
          <a:solidFill>
            <a:srgbClr val="5AA4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7" name="Rectangle 266"/>
          <p:cNvSpPr/>
          <p:nvPr/>
        </p:nvSpPr>
        <p:spPr>
          <a:xfrm>
            <a:off x="9728453" y="3968496"/>
            <a:ext cx="145237" cy="156667"/>
          </a:xfrm>
          <a:prstGeom prst="rect">
            <a:avLst/>
          </a:prstGeom>
          <a:solidFill>
            <a:srgbClr val="6894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8" name="Rectangle 267"/>
          <p:cNvSpPr/>
          <p:nvPr/>
        </p:nvSpPr>
        <p:spPr>
          <a:xfrm>
            <a:off x="9728453" y="4117847"/>
            <a:ext cx="145237" cy="156667"/>
          </a:xfrm>
          <a:prstGeom prst="rect">
            <a:avLst/>
          </a:prstGeom>
          <a:solidFill>
            <a:srgbClr val="7684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9" name="Rectangle 268"/>
          <p:cNvSpPr/>
          <p:nvPr/>
        </p:nvSpPr>
        <p:spPr>
          <a:xfrm>
            <a:off x="9728453" y="4267199"/>
            <a:ext cx="145237" cy="156667"/>
          </a:xfrm>
          <a:prstGeom prst="rect">
            <a:avLst/>
          </a:prstGeom>
          <a:solidFill>
            <a:srgbClr val="304C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0" name="Rectangle 269"/>
          <p:cNvSpPr/>
          <p:nvPr/>
        </p:nvSpPr>
        <p:spPr>
          <a:xfrm>
            <a:off x="9728453" y="4416552"/>
            <a:ext cx="145237" cy="156667"/>
          </a:xfrm>
          <a:prstGeom prst="rect">
            <a:avLst/>
          </a:prstGeom>
          <a:solidFill>
            <a:srgbClr val="3ECD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1" name="Rectangle 270"/>
          <p:cNvSpPr/>
          <p:nvPr/>
        </p:nvSpPr>
        <p:spPr>
          <a:xfrm>
            <a:off x="9728453" y="4565904"/>
            <a:ext cx="145237" cy="156667"/>
          </a:xfrm>
          <a:prstGeom prst="rect">
            <a:avLst/>
          </a:prstGeom>
          <a:solidFill>
            <a:srgbClr val="4CBD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2" name="Rectangle 271"/>
          <p:cNvSpPr/>
          <p:nvPr/>
        </p:nvSpPr>
        <p:spPr>
          <a:xfrm>
            <a:off x="9728453" y="4715256"/>
            <a:ext cx="145237" cy="156667"/>
          </a:xfrm>
          <a:prstGeom prst="rect">
            <a:avLst/>
          </a:prstGeom>
          <a:solidFill>
            <a:srgbClr val="5BAD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3" name="Rectangle 272"/>
          <p:cNvSpPr/>
          <p:nvPr/>
        </p:nvSpPr>
        <p:spPr>
          <a:xfrm>
            <a:off x="9866376" y="2176272"/>
            <a:ext cx="145237" cy="156667"/>
          </a:xfrm>
          <a:prstGeom prst="rect">
            <a:avLst/>
          </a:prstGeom>
          <a:solidFill>
            <a:srgbClr val="3DC1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4" name="Rectangle 273"/>
          <p:cNvSpPr/>
          <p:nvPr/>
        </p:nvSpPr>
        <p:spPr>
          <a:xfrm>
            <a:off x="9866376" y="2325623"/>
            <a:ext cx="145237" cy="156667"/>
          </a:xfrm>
          <a:prstGeom prst="rect">
            <a:avLst/>
          </a:prstGeom>
          <a:solidFill>
            <a:srgbClr val="6BB2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5" name="Rectangle 274"/>
          <p:cNvSpPr/>
          <p:nvPr/>
        </p:nvSpPr>
        <p:spPr>
          <a:xfrm>
            <a:off x="9866376" y="2474976"/>
            <a:ext cx="145237" cy="156667"/>
          </a:xfrm>
          <a:prstGeom prst="rect">
            <a:avLst/>
          </a:prstGeom>
          <a:solidFill>
            <a:srgbClr val="457B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6" name="Rectangle 275"/>
          <p:cNvSpPr/>
          <p:nvPr/>
        </p:nvSpPr>
        <p:spPr>
          <a:xfrm>
            <a:off x="9866376" y="2624328"/>
            <a:ext cx="145237" cy="156667"/>
          </a:xfrm>
          <a:prstGeom prst="rect">
            <a:avLst/>
          </a:prstGeom>
          <a:solidFill>
            <a:srgbClr val="746C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7" name="Rectangle 276"/>
          <p:cNvSpPr/>
          <p:nvPr/>
        </p:nvSpPr>
        <p:spPr>
          <a:xfrm>
            <a:off x="9866376" y="2773680"/>
            <a:ext cx="145237" cy="156667"/>
          </a:xfrm>
          <a:prstGeom prst="rect">
            <a:avLst/>
          </a:prstGeom>
          <a:solidFill>
            <a:srgbClr val="4DC6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8" name="Rectangle 277"/>
          <p:cNvSpPr/>
          <p:nvPr/>
        </p:nvSpPr>
        <p:spPr>
          <a:xfrm>
            <a:off x="9866376" y="2923031"/>
            <a:ext cx="145237" cy="156667"/>
          </a:xfrm>
          <a:prstGeom prst="rect">
            <a:avLst/>
          </a:prstGeom>
          <a:solidFill>
            <a:srgbClr val="7CB7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9" name="Rectangle 278"/>
          <p:cNvSpPr/>
          <p:nvPr/>
        </p:nvSpPr>
        <p:spPr>
          <a:xfrm>
            <a:off x="9866376" y="3072384"/>
            <a:ext cx="145237" cy="156667"/>
          </a:xfrm>
          <a:prstGeom prst="rect">
            <a:avLst/>
          </a:prstGeom>
          <a:solidFill>
            <a:srgbClr val="5680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0" name="Rectangle 279"/>
          <p:cNvSpPr/>
          <p:nvPr/>
        </p:nvSpPr>
        <p:spPr>
          <a:xfrm>
            <a:off x="9866376" y="3221736"/>
            <a:ext cx="145237" cy="156667"/>
          </a:xfrm>
          <a:prstGeom prst="rect">
            <a:avLst/>
          </a:prstGeom>
          <a:solidFill>
            <a:srgbClr val="2F49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1" name="Rectangle 280"/>
          <p:cNvSpPr/>
          <p:nvPr/>
        </p:nvSpPr>
        <p:spPr>
          <a:xfrm>
            <a:off x="9866376" y="3371088"/>
            <a:ext cx="145237" cy="156667"/>
          </a:xfrm>
          <a:prstGeom prst="rect">
            <a:avLst/>
          </a:prstGeom>
          <a:solidFill>
            <a:srgbClr val="5ECB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2" name="Rectangle 281"/>
          <p:cNvSpPr/>
          <p:nvPr/>
        </p:nvSpPr>
        <p:spPr>
          <a:xfrm>
            <a:off x="9866376" y="3520439"/>
            <a:ext cx="145237" cy="156667"/>
          </a:xfrm>
          <a:prstGeom prst="rect">
            <a:avLst/>
          </a:prstGeom>
          <a:solidFill>
            <a:srgbClr val="3894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3" name="Rectangle 282"/>
          <p:cNvSpPr/>
          <p:nvPr/>
        </p:nvSpPr>
        <p:spPr>
          <a:xfrm>
            <a:off x="9866376" y="3669792"/>
            <a:ext cx="145237" cy="156667"/>
          </a:xfrm>
          <a:prstGeom prst="rect">
            <a:avLst/>
          </a:prstGeom>
          <a:solidFill>
            <a:srgbClr val="6685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4" name="Rectangle 283"/>
          <p:cNvSpPr/>
          <p:nvPr/>
        </p:nvSpPr>
        <p:spPr>
          <a:xfrm>
            <a:off x="9866376" y="3819143"/>
            <a:ext cx="145237" cy="156667"/>
          </a:xfrm>
          <a:prstGeom prst="rect">
            <a:avLst/>
          </a:prstGeom>
          <a:solidFill>
            <a:srgbClr val="404E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5" name="Rectangle 284"/>
          <p:cNvSpPr/>
          <p:nvPr/>
        </p:nvSpPr>
        <p:spPr>
          <a:xfrm>
            <a:off x="9866376" y="3968496"/>
            <a:ext cx="145237" cy="156667"/>
          </a:xfrm>
          <a:prstGeom prst="rect">
            <a:avLst/>
          </a:prstGeom>
          <a:solidFill>
            <a:srgbClr val="6FD0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6" name="Rectangle 285"/>
          <p:cNvSpPr/>
          <p:nvPr/>
        </p:nvSpPr>
        <p:spPr>
          <a:xfrm>
            <a:off x="9866376" y="4117847"/>
            <a:ext cx="145237" cy="156667"/>
          </a:xfrm>
          <a:prstGeom prst="rect">
            <a:avLst/>
          </a:prstGeom>
          <a:solidFill>
            <a:srgbClr val="4899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7" name="Rectangle 286"/>
          <p:cNvSpPr/>
          <p:nvPr/>
        </p:nvSpPr>
        <p:spPr>
          <a:xfrm>
            <a:off x="9866376" y="4267199"/>
            <a:ext cx="145237" cy="156667"/>
          </a:xfrm>
          <a:prstGeom prst="rect">
            <a:avLst/>
          </a:prstGeom>
          <a:solidFill>
            <a:srgbClr val="778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8" name="Rectangle 287"/>
          <p:cNvSpPr/>
          <p:nvPr/>
        </p:nvSpPr>
        <p:spPr>
          <a:xfrm>
            <a:off x="9866376" y="4416552"/>
            <a:ext cx="145237" cy="156667"/>
          </a:xfrm>
          <a:prstGeom prst="rect">
            <a:avLst/>
          </a:prstGeom>
          <a:solidFill>
            <a:srgbClr val="5153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9" name="Rectangle 288"/>
          <p:cNvSpPr/>
          <p:nvPr/>
        </p:nvSpPr>
        <p:spPr>
          <a:xfrm>
            <a:off x="9866376" y="4565904"/>
            <a:ext cx="145237" cy="156667"/>
          </a:xfrm>
          <a:prstGeom prst="rect">
            <a:avLst/>
          </a:prstGeom>
          <a:solidFill>
            <a:srgbClr val="7F44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0" name="Rectangle 289"/>
          <p:cNvSpPr/>
          <p:nvPr/>
        </p:nvSpPr>
        <p:spPr>
          <a:xfrm>
            <a:off x="9866376" y="4715256"/>
            <a:ext cx="145237" cy="156667"/>
          </a:xfrm>
          <a:prstGeom prst="rect">
            <a:avLst/>
          </a:prstGeom>
          <a:solidFill>
            <a:srgbClr val="599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1" name="Rectangle 290"/>
          <p:cNvSpPr/>
          <p:nvPr/>
        </p:nvSpPr>
        <p:spPr>
          <a:xfrm>
            <a:off x="10004297" y="2176272"/>
            <a:ext cx="145237" cy="156667"/>
          </a:xfrm>
          <a:prstGeom prst="rect">
            <a:avLst/>
          </a:prstGeom>
          <a:solidFill>
            <a:srgbClr val="6897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2" name="Rectangle 291"/>
          <p:cNvSpPr/>
          <p:nvPr/>
        </p:nvSpPr>
        <p:spPr>
          <a:xfrm>
            <a:off x="10004297" y="2325623"/>
            <a:ext cx="145237" cy="156667"/>
          </a:xfrm>
          <a:prstGeom prst="rect">
            <a:avLst/>
          </a:prstGeom>
          <a:solidFill>
            <a:srgbClr val="626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3" name="Rectangle 292"/>
          <p:cNvSpPr/>
          <p:nvPr/>
        </p:nvSpPr>
        <p:spPr>
          <a:xfrm>
            <a:off x="10004297" y="2474976"/>
            <a:ext cx="145237" cy="156667"/>
          </a:xfrm>
          <a:prstGeom prst="rect">
            <a:avLst/>
          </a:prstGeom>
          <a:solidFill>
            <a:srgbClr val="5CBC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4" name="Rectangle 293"/>
          <p:cNvSpPr/>
          <p:nvPr/>
        </p:nvSpPr>
        <p:spPr>
          <a:xfrm>
            <a:off x="10004297" y="2624328"/>
            <a:ext cx="145237" cy="156667"/>
          </a:xfrm>
          <a:prstGeom prst="rect">
            <a:avLst/>
          </a:prstGeom>
          <a:solidFill>
            <a:srgbClr val="568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5" name="Rectangle 294"/>
          <p:cNvSpPr/>
          <p:nvPr/>
        </p:nvSpPr>
        <p:spPr>
          <a:xfrm>
            <a:off x="10004297" y="2773680"/>
            <a:ext cx="145237" cy="156667"/>
          </a:xfrm>
          <a:prstGeom prst="rect">
            <a:avLst/>
          </a:prstGeom>
          <a:solidFill>
            <a:srgbClr val="5050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6" name="Rectangle 295"/>
          <p:cNvSpPr/>
          <p:nvPr/>
        </p:nvSpPr>
        <p:spPr>
          <a:xfrm>
            <a:off x="10004297" y="2923031"/>
            <a:ext cx="145237" cy="156667"/>
          </a:xfrm>
          <a:prstGeom prst="rect">
            <a:avLst/>
          </a:prstGeom>
          <a:solidFill>
            <a:srgbClr val="4AAB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7" name="Rectangle 296"/>
          <p:cNvSpPr/>
          <p:nvPr/>
        </p:nvSpPr>
        <p:spPr>
          <a:xfrm>
            <a:off x="10004297" y="3072384"/>
            <a:ext cx="145237" cy="156667"/>
          </a:xfrm>
          <a:prstGeom prst="rect">
            <a:avLst/>
          </a:prstGeom>
          <a:solidFill>
            <a:srgbClr val="4475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8" name="Rectangle 297"/>
          <p:cNvSpPr/>
          <p:nvPr/>
        </p:nvSpPr>
        <p:spPr>
          <a:xfrm>
            <a:off x="10004297" y="3221736"/>
            <a:ext cx="145237" cy="156667"/>
          </a:xfrm>
          <a:prstGeom prst="rect">
            <a:avLst/>
          </a:prstGeom>
          <a:solidFill>
            <a:srgbClr val="3ED0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9" name="Rectangle 298"/>
          <p:cNvSpPr/>
          <p:nvPr/>
        </p:nvSpPr>
        <p:spPr>
          <a:xfrm>
            <a:off x="10004297" y="3371088"/>
            <a:ext cx="145237" cy="156667"/>
          </a:xfrm>
          <a:prstGeom prst="rect">
            <a:avLst/>
          </a:prstGeom>
          <a:solidFill>
            <a:srgbClr val="389A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" name="Rectangle 299"/>
          <p:cNvSpPr/>
          <p:nvPr/>
        </p:nvSpPr>
        <p:spPr>
          <a:xfrm>
            <a:off x="10004297" y="3520439"/>
            <a:ext cx="145237" cy="156667"/>
          </a:xfrm>
          <a:prstGeom prst="rect">
            <a:avLst/>
          </a:prstGeom>
          <a:solidFill>
            <a:srgbClr val="3264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1" name="Rectangle 300"/>
          <p:cNvSpPr/>
          <p:nvPr/>
        </p:nvSpPr>
        <p:spPr>
          <a:xfrm>
            <a:off x="10004297" y="3669792"/>
            <a:ext cx="145237" cy="156667"/>
          </a:xfrm>
          <a:prstGeom prst="rect">
            <a:avLst/>
          </a:prstGeom>
          <a:solidFill>
            <a:srgbClr val="8156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2" name="Rectangle 301"/>
          <p:cNvSpPr/>
          <p:nvPr/>
        </p:nvSpPr>
        <p:spPr>
          <a:xfrm>
            <a:off x="10004297" y="3819143"/>
            <a:ext cx="145237" cy="156667"/>
          </a:xfrm>
          <a:prstGeom prst="rect">
            <a:avLst/>
          </a:prstGeom>
          <a:solidFill>
            <a:srgbClr val="7BB1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3" name="Rectangle 302"/>
          <p:cNvSpPr/>
          <p:nvPr/>
        </p:nvSpPr>
        <p:spPr>
          <a:xfrm>
            <a:off x="10004297" y="3968496"/>
            <a:ext cx="145237" cy="156667"/>
          </a:xfrm>
          <a:prstGeom prst="rect">
            <a:avLst/>
          </a:prstGeom>
          <a:solidFill>
            <a:srgbClr val="757B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4" name="Rectangle 303"/>
          <p:cNvSpPr/>
          <p:nvPr/>
        </p:nvSpPr>
        <p:spPr>
          <a:xfrm>
            <a:off x="10004297" y="4117847"/>
            <a:ext cx="145237" cy="156667"/>
          </a:xfrm>
          <a:prstGeom prst="rect">
            <a:avLst/>
          </a:prstGeom>
          <a:solidFill>
            <a:srgbClr val="6F45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5" name="Rectangle 304"/>
          <p:cNvSpPr/>
          <p:nvPr/>
        </p:nvSpPr>
        <p:spPr>
          <a:xfrm>
            <a:off x="10004297" y="4267199"/>
            <a:ext cx="145237" cy="156667"/>
          </a:xfrm>
          <a:prstGeom prst="rect">
            <a:avLst/>
          </a:prstGeom>
          <a:solidFill>
            <a:srgbClr val="69A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6" name="Rectangle 305"/>
          <p:cNvSpPr/>
          <p:nvPr/>
        </p:nvSpPr>
        <p:spPr>
          <a:xfrm>
            <a:off x="10004297" y="4416552"/>
            <a:ext cx="145237" cy="156667"/>
          </a:xfrm>
          <a:prstGeom prst="rect">
            <a:avLst/>
          </a:prstGeom>
          <a:solidFill>
            <a:srgbClr val="636A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7" name="Rectangle 306"/>
          <p:cNvSpPr/>
          <p:nvPr/>
        </p:nvSpPr>
        <p:spPr>
          <a:xfrm>
            <a:off x="10004297" y="4565904"/>
            <a:ext cx="145237" cy="156667"/>
          </a:xfrm>
          <a:prstGeom prst="rect">
            <a:avLst/>
          </a:prstGeom>
          <a:solidFill>
            <a:srgbClr val="5DC5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8" name="Rectangle 307"/>
          <p:cNvSpPr/>
          <p:nvPr/>
        </p:nvSpPr>
        <p:spPr>
          <a:xfrm>
            <a:off x="10004297" y="4715256"/>
            <a:ext cx="145237" cy="156667"/>
          </a:xfrm>
          <a:prstGeom prst="rect">
            <a:avLst/>
          </a:prstGeom>
          <a:solidFill>
            <a:srgbClr val="578F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9" name="Rectangle 308"/>
          <p:cNvSpPr/>
          <p:nvPr/>
        </p:nvSpPr>
        <p:spPr>
          <a:xfrm>
            <a:off x="10142219" y="2176272"/>
            <a:ext cx="145237" cy="156667"/>
          </a:xfrm>
          <a:prstGeom prst="rect">
            <a:avLst/>
          </a:prstGeom>
          <a:solidFill>
            <a:srgbClr val="3F45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0" name="Rectangle 309"/>
          <p:cNvSpPr/>
          <p:nvPr/>
        </p:nvSpPr>
        <p:spPr>
          <a:xfrm>
            <a:off x="10142219" y="2325623"/>
            <a:ext cx="145237" cy="156667"/>
          </a:xfrm>
          <a:prstGeom prst="rect">
            <a:avLst/>
          </a:prstGeom>
          <a:solidFill>
            <a:srgbClr val="59A1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1" name="Rectangle 310"/>
          <p:cNvSpPr/>
          <p:nvPr/>
        </p:nvSpPr>
        <p:spPr>
          <a:xfrm>
            <a:off x="10142219" y="2474976"/>
            <a:ext cx="145237" cy="156667"/>
          </a:xfrm>
          <a:prstGeom prst="rect">
            <a:avLst/>
          </a:prstGeom>
          <a:solidFill>
            <a:srgbClr val="746C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2" name="Rectangle 311"/>
          <p:cNvSpPr/>
          <p:nvPr/>
        </p:nvSpPr>
        <p:spPr>
          <a:xfrm>
            <a:off x="10142219" y="2624328"/>
            <a:ext cx="145237" cy="156667"/>
          </a:xfrm>
          <a:prstGeom prst="rect">
            <a:avLst/>
          </a:prstGeom>
          <a:solidFill>
            <a:srgbClr val="39A0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3" name="Rectangle 312"/>
          <p:cNvSpPr/>
          <p:nvPr/>
        </p:nvSpPr>
        <p:spPr>
          <a:xfrm>
            <a:off x="10142219" y="2773680"/>
            <a:ext cx="145237" cy="156667"/>
          </a:xfrm>
          <a:prstGeom prst="rect">
            <a:avLst/>
          </a:prstGeom>
          <a:solidFill>
            <a:srgbClr val="536B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4" name="Rectangle 313"/>
          <p:cNvSpPr/>
          <p:nvPr/>
        </p:nvSpPr>
        <p:spPr>
          <a:xfrm>
            <a:off x="10142219" y="2923031"/>
            <a:ext cx="145237" cy="156667"/>
          </a:xfrm>
          <a:prstGeom prst="rect">
            <a:avLst/>
          </a:prstGeom>
          <a:solidFill>
            <a:srgbClr val="6EC7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5" name="Rectangle 314"/>
          <p:cNvSpPr/>
          <p:nvPr/>
        </p:nvSpPr>
        <p:spPr>
          <a:xfrm>
            <a:off x="10142219" y="3072384"/>
            <a:ext cx="145237" cy="156667"/>
          </a:xfrm>
          <a:prstGeom prst="rect">
            <a:avLst/>
          </a:prstGeom>
          <a:solidFill>
            <a:srgbClr val="336A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6" name="Rectangle 315"/>
          <p:cNvSpPr/>
          <p:nvPr/>
        </p:nvSpPr>
        <p:spPr>
          <a:xfrm>
            <a:off x="10142219" y="3221736"/>
            <a:ext cx="145237" cy="156667"/>
          </a:xfrm>
          <a:prstGeom prst="rect">
            <a:avLst/>
          </a:prstGeom>
          <a:solidFill>
            <a:srgbClr val="4DC6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7" name="Rectangle 316"/>
          <p:cNvSpPr/>
          <p:nvPr/>
        </p:nvSpPr>
        <p:spPr>
          <a:xfrm>
            <a:off x="10142219" y="3371088"/>
            <a:ext cx="145237" cy="156667"/>
          </a:xfrm>
          <a:prstGeom prst="rect">
            <a:avLst/>
          </a:prstGeom>
          <a:solidFill>
            <a:srgbClr val="6891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8" name="Rectangle 317"/>
          <p:cNvSpPr/>
          <p:nvPr/>
        </p:nvSpPr>
        <p:spPr>
          <a:xfrm>
            <a:off x="10142219" y="3520439"/>
            <a:ext cx="145237" cy="156667"/>
          </a:xfrm>
          <a:prstGeom prst="rect">
            <a:avLst/>
          </a:prstGeom>
          <a:solidFill>
            <a:srgbClr val="825C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9" name="Rectangle 318"/>
          <p:cNvSpPr/>
          <p:nvPr/>
        </p:nvSpPr>
        <p:spPr>
          <a:xfrm>
            <a:off x="10142219" y="3669792"/>
            <a:ext cx="145237" cy="156667"/>
          </a:xfrm>
          <a:prstGeom prst="rect">
            <a:avLst/>
          </a:prstGeom>
          <a:solidFill>
            <a:srgbClr val="4790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0" name="Rectangle 319"/>
          <p:cNvSpPr/>
          <p:nvPr/>
        </p:nvSpPr>
        <p:spPr>
          <a:xfrm>
            <a:off x="10142219" y="3819143"/>
            <a:ext cx="145237" cy="156667"/>
          </a:xfrm>
          <a:prstGeom prst="rect">
            <a:avLst/>
          </a:prstGeom>
          <a:solidFill>
            <a:srgbClr val="625B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1" name="Rectangle 320"/>
          <p:cNvSpPr/>
          <p:nvPr/>
        </p:nvSpPr>
        <p:spPr>
          <a:xfrm>
            <a:off x="10142219" y="3968496"/>
            <a:ext cx="145237" cy="156667"/>
          </a:xfrm>
          <a:prstGeom prst="rect">
            <a:avLst/>
          </a:prstGeom>
          <a:solidFill>
            <a:srgbClr val="7CB7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2" name="Rectangle 321"/>
          <p:cNvSpPr/>
          <p:nvPr/>
        </p:nvSpPr>
        <p:spPr>
          <a:xfrm>
            <a:off x="10142219" y="4117847"/>
            <a:ext cx="145237" cy="156667"/>
          </a:xfrm>
          <a:prstGeom prst="rect">
            <a:avLst/>
          </a:prstGeom>
          <a:solidFill>
            <a:srgbClr val="415A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3" name="Rectangle 322"/>
          <p:cNvSpPr/>
          <p:nvPr/>
        </p:nvSpPr>
        <p:spPr>
          <a:xfrm>
            <a:off x="10142219" y="4267199"/>
            <a:ext cx="145237" cy="156667"/>
          </a:xfrm>
          <a:prstGeom prst="rect">
            <a:avLst/>
          </a:prstGeom>
          <a:solidFill>
            <a:srgbClr val="5CB6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4" name="Rectangle 323"/>
          <p:cNvSpPr/>
          <p:nvPr/>
        </p:nvSpPr>
        <p:spPr>
          <a:xfrm>
            <a:off x="10142219" y="4416552"/>
            <a:ext cx="145237" cy="156667"/>
          </a:xfrm>
          <a:prstGeom prst="rect">
            <a:avLst/>
          </a:prstGeom>
          <a:solidFill>
            <a:srgbClr val="7681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5" name="Rectangle 324"/>
          <p:cNvSpPr/>
          <p:nvPr/>
        </p:nvSpPr>
        <p:spPr>
          <a:xfrm>
            <a:off x="10142219" y="4565904"/>
            <a:ext cx="145237" cy="156667"/>
          </a:xfrm>
          <a:prstGeom prst="rect">
            <a:avLst/>
          </a:prstGeom>
          <a:solidFill>
            <a:srgbClr val="3BB5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6" name="Rectangle 325"/>
          <p:cNvSpPr/>
          <p:nvPr/>
        </p:nvSpPr>
        <p:spPr>
          <a:xfrm>
            <a:off x="10142219" y="4715256"/>
            <a:ext cx="145237" cy="156667"/>
          </a:xfrm>
          <a:prstGeom prst="rect">
            <a:avLst/>
          </a:prstGeom>
          <a:solidFill>
            <a:srgbClr val="5680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7" name="Rectangle 326"/>
          <p:cNvSpPr/>
          <p:nvPr/>
        </p:nvSpPr>
        <p:spPr>
          <a:xfrm>
            <a:off x="10280142" y="2176272"/>
            <a:ext cx="145237" cy="156667"/>
          </a:xfrm>
          <a:prstGeom prst="rect">
            <a:avLst/>
          </a:prstGeom>
          <a:solidFill>
            <a:srgbClr val="6BAC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8" name="Rectangle 327"/>
          <p:cNvSpPr/>
          <p:nvPr/>
        </p:nvSpPr>
        <p:spPr>
          <a:xfrm>
            <a:off x="10280142" y="2325623"/>
            <a:ext cx="145237" cy="156667"/>
          </a:xfrm>
          <a:prstGeom prst="rect">
            <a:avLst/>
          </a:prstGeom>
          <a:solidFill>
            <a:srgbClr val="5050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9" name="Rectangle 328"/>
          <p:cNvSpPr/>
          <p:nvPr/>
        </p:nvSpPr>
        <p:spPr>
          <a:xfrm>
            <a:off x="10280142" y="2474976"/>
            <a:ext cx="145237" cy="156667"/>
          </a:xfrm>
          <a:prstGeom prst="rect">
            <a:avLst/>
          </a:prstGeom>
          <a:solidFill>
            <a:srgbClr val="3685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0" name="Rectangle 329"/>
          <p:cNvSpPr/>
          <p:nvPr/>
        </p:nvSpPr>
        <p:spPr>
          <a:xfrm>
            <a:off x="10280142" y="2624328"/>
            <a:ext cx="145237" cy="156667"/>
          </a:xfrm>
          <a:prstGeom prst="rect">
            <a:avLst/>
          </a:prstGeom>
          <a:solidFill>
            <a:srgbClr val="7151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1" name="Rectangle 330"/>
          <p:cNvSpPr/>
          <p:nvPr/>
        </p:nvSpPr>
        <p:spPr>
          <a:xfrm>
            <a:off x="10280142" y="2773680"/>
            <a:ext cx="145237" cy="156667"/>
          </a:xfrm>
          <a:prstGeom prst="rect">
            <a:avLst/>
          </a:prstGeom>
          <a:solidFill>
            <a:srgbClr val="568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2" name="Rectangle 331"/>
          <p:cNvSpPr/>
          <p:nvPr/>
        </p:nvSpPr>
        <p:spPr>
          <a:xfrm>
            <a:off x="10280142" y="2923031"/>
            <a:ext cx="145237" cy="156667"/>
          </a:xfrm>
          <a:prstGeom prst="rect">
            <a:avLst/>
          </a:prstGeom>
          <a:solidFill>
            <a:srgbClr val="3CB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3" name="Rectangle 332"/>
          <p:cNvSpPr/>
          <p:nvPr/>
        </p:nvSpPr>
        <p:spPr>
          <a:xfrm>
            <a:off x="10280142" y="3072384"/>
            <a:ext cx="145237" cy="156667"/>
          </a:xfrm>
          <a:prstGeom prst="rect">
            <a:avLst/>
          </a:prstGeom>
          <a:solidFill>
            <a:srgbClr val="778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4" name="Rectangle 333"/>
          <p:cNvSpPr/>
          <p:nvPr/>
        </p:nvSpPr>
        <p:spPr>
          <a:xfrm>
            <a:off x="10280142" y="3221736"/>
            <a:ext cx="145237" cy="156667"/>
          </a:xfrm>
          <a:prstGeom prst="rect">
            <a:avLst/>
          </a:prstGeom>
          <a:solidFill>
            <a:srgbClr val="5CBC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5" name="Rectangle 334"/>
          <p:cNvSpPr/>
          <p:nvPr/>
        </p:nvSpPr>
        <p:spPr>
          <a:xfrm>
            <a:off x="10280142" y="3371088"/>
            <a:ext cx="145237" cy="156667"/>
          </a:xfrm>
          <a:prstGeom prst="rect">
            <a:avLst/>
          </a:prstGeom>
          <a:solidFill>
            <a:srgbClr val="4260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6" name="Rectangle 335"/>
          <p:cNvSpPr/>
          <p:nvPr/>
        </p:nvSpPr>
        <p:spPr>
          <a:xfrm>
            <a:off x="10280142" y="3520439"/>
            <a:ext cx="145237" cy="156667"/>
          </a:xfrm>
          <a:prstGeom prst="rect">
            <a:avLst/>
          </a:prstGeom>
          <a:solidFill>
            <a:srgbClr val="7DBD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7" name="Rectangle 336"/>
          <p:cNvSpPr/>
          <p:nvPr/>
        </p:nvSpPr>
        <p:spPr>
          <a:xfrm>
            <a:off x="10280142" y="3669792"/>
            <a:ext cx="145237" cy="156667"/>
          </a:xfrm>
          <a:prstGeom prst="rect">
            <a:avLst/>
          </a:prstGeom>
          <a:solidFill>
            <a:srgbClr val="626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8" name="Rectangle 337"/>
          <p:cNvSpPr/>
          <p:nvPr/>
        </p:nvSpPr>
        <p:spPr>
          <a:xfrm>
            <a:off x="10280142" y="3819143"/>
            <a:ext cx="145237" cy="156667"/>
          </a:xfrm>
          <a:prstGeom prst="rect">
            <a:avLst/>
          </a:prstGeom>
          <a:solidFill>
            <a:srgbClr val="4896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9" name="Rectangle 338"/>
          <p:cNvSpPr/>
          <p:nvPr/>
        </p:nvSpPr>
        <p:spPr>
          <a:xfrm>
            <a:off x="10280142" y="3968496"/>
            <a:ext cx="145237" cy="156667"/>
          </a:xfrm>
          <a:prstGeom prst="rect">
            <a:avLst/>
          </a:prstGeom>
          <a:solidFill>
            <a:srgbClr val="8362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0" name="Rectangle 339"/>
          <p:cNvSpPr/>
          <p:nvPr/>
        </p:nvSpPr>
        <p:spPr>
          <a:xfrm>
            <a:off x="10280142" y="4117847"/>
            <a:ext cx="145237" cy="156667"/>
          </a:xfrm>
          <a:prstGeom prst="rect">
            <a:avLst/>
          </a:prstGeom>
          <a:solidFill>
            <a:srgbClr val="6897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1" name="Rectangle 340"/>
          <p:cNvSpPr/>
          <p:nvPr/>
        </p:nvSpPr>
        <p:spPr>
          <a:xfrm>
            <a:off x="10280142" y="4267199"/>
            <a:ext cx="145237" cy="156667"/>
          </a:xfrm>
          <a:prstGeom prst="rect">
            <a:avLst/>
          </a:prstGeom>
          <a:solidFill>
            <a:srgbClr val="4ECC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2" name="Rectangle 341"/>
          <p:cNvSpPr/>
          <p:nvPr/>
        </p:nvSpPr>
        <p:spPr>
          <a:xfrm>
            <a:off x="10280142" y="4416552"/>
            <a:ext cx="145237" cy="156667"/>
          </a:xfrm>
          <a:prstGeom prst="rect">
            <a:avLst/>
          </a:prstGeom>
          <a:solidFill>
            <a:srgbClr val="347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3" name="Rectangle 342"/>
          <p:cNvSpPr/>
          <p:nvPr/>
        </p:nvSpPr>
        <p:spPr>
          <a:xfrm>
            <a:off x="10280142" y="4565904"/>
            <a:ext cx="145237" cy="156667"/>
          </a:xfrm>
          <a:prstGeom prst="rect">
            <a:avLst/>
          </a:prstGeom>
          <a:solidFill>
            <a:srgbClr val="6ECD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4" name="Rectangle 343"/>
          <p:cNvSpPr/>
          <p:nvPr/>
        </p:nvSpPr>
        <p:spPr>
          <a:xfrm>
            <a:off x="10280142" y="4715256"/>
            <a:ext cx="145237" cy="156667"/>
          </a:xfrm>
          <a:prstGeom prst="rect">
            <a:avLst/>
          </a:prstGeom>
          <a:solidFill>
            <a:srgbClr val="5471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5" name="Rectangle 344"/>
          <p:cNvSpPr/>
          <p:nvPr/>
        </p:nvSpPr>
        <p:spPr>
          <a:xfrm>
            <a:off x="10418064" y="2176272"/>
            <a:ext cx="145237" cy="156667"/>
          </a:xfrm>
          <a:prstGeom prst="rect">
            <a:avLst/>
          </a:prstGeom>
          <a:solidFill>
            <a:srgbClr val="415A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6" name="Rectangle 345"/>
          <p:cNvSpPr/>
          <p:nvPr/>
        </p:nvSpPr>
        <p:spPr>
          <a:xfrm>
            <a:off x="10418064" y="2325623"/>
            <a:ext cx="145237" cy="156667"/>
          </a:xfrm>
          <a:prstGeom prst="rect">
            <a:avLst/>
          </a:prstGeom>
          <a:solidFill>
            <a:srgbClr val="4790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7" name="Rectangle 346"/>
          <p:cNvSpPr/>
          <p:nvPr/>
        </p:nvSpPr>
        <p:spPr>
          <a:xfrm>
            <a:off x="10418064" y="2474976"/>
            <a:ext cx="145237" cy="156667"/>
          </a:xfrm>
          <a:prstGeom prst="rect">
            <a:avLst/>
          </a:prstGeom>
          <a:solidFill>
            <a:srgbClr val="4DC6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8" name="Rectangle 347"/>
          <p:cNvSpPr/>
          <p:nvPr/>
        </p:nvSpPr>
        <p:spPr>
          <a:xfrm>
            <a:off x="10418064" y="2624328"/>
            <a:ext cx="145237" cy="156667"/>
          </a:xfrm>
          <a:prstGeom prst="rect">
            <a:avLst/>
          </a:prstGeom>
          <a:solidFill>
            <a:srgbClr val="536B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9" name="Rectangle 348"/>
          <p:cNvSpPr/>
          <p:nvPr/>
        </p:nvSpPr>
        <p:spPr>
          <a:xfrm>
            <a:off x="10418064" y="2773680"/>
            <a:ext cx="145237" cy="156667"/>
          </a:xfrm>
          <a:prstGeom prst="rect">
            <a:avLst/>
          </a:prstGeom>
          <a:solidFill>
            <a:srgbClr val="59A1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0" name="Rectangle 349"/>
          <p:cNvSpPr/>
          <p:nvPr/>
        </p:nvSpPr>
        <p:spPr>
          <a:xfrm>
            <a:off x="10418064" y="2923031"/>
            <a:ext cx="145237" cy="156667"/>
          </a:xfrm>
          <a:prstGeom prst="rect">
            <a:avLst/>
          </a:prstGeom>
          <a:solidFill>
            <a:srgbClr val="5F4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1" name="Rectangle 350"/>
          <p:cNvSpPr/>
          <p:nvPr/>
        </p:nvSpPr>
        <p:spPr>
          <a:xfrm>
            <a:off x="10418064" y="3072384"/>
            <a:ext cx="145237" cy="156667"/>
          </a:xfrm>
          <a:prstGeom prst="rect">
            <a:avLst/>
          </a:prstGeom>
          <a:solidFill>
            <a:srgbClr val="657C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2" name="Rectangle 351"/>
          <p:cNvSpPr/>
          <p:nvPr/>
        </p:nvSpPr>
        <p:spPr>
          <a:xfrm>
            <a:off x="10418064" y="3221736"/>
            <a:ext cx="145237" cy="156667"/>
          </a:xfrm>
          <a:prstGeom prst="rect">
            <a:avLst/>
          </a:prstGeom>
          <a:solidFill>
            <a:srgbClr val="6BB2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3" name="Rectangle 352"/>
          <p:cNvSpPr/>
          <p:nvPr/>
        </p:nvSpPr>
        <p:spPr>
          <a:xfrm>
            <a:off x="10418064" y="3371088"/>
            <a:ext cx="145237" cy="156667"/>
          </a:xfrm>
          <a:prstGeom prst="rect">
            <a:avLst/>
          </a:prstGeom>
          <a:solidFill>
            <a:srgbClr val="7157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4" name="Rectangle 353"/>
          <p:cNvSpPr/>
          <p:nvPr/>
        </p:nvSpPr>
        <p:spPr>
          <a:xfrm>
            <a:off x="10418064" y="3520439"/>
            <a:ext cx="145237" cy="156667"/>
          </a:xfrm>
          <a:prstGeom prst="rect">
            <a:avLst/>
          </a:prstGeom>
          <a:solidFill>
            <a:srgbClr val="778D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5" name="Rectangle 354"/>
          <p:cNvSpPr/>
          <p:nvPr/>
        </p:nvSpPr>
        <p:spPr>
          <a:xfrm>
            <a:off x="10418064" y="3669792"/>
            <a:ext cx="145237" cy="156667"/>
          </a:xfrm>
          <a:prstGeom prst="rect">
            <a:avLst/>
          </a:prstGeom>
          <a:solidFill>
            <a:srgbClr val="7DC3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6" name="Rectangle 355"/>
          <p:cNvSpPr/>
          <p:nvPr/>
        </p:nvSpPr>
        <p:spPr>
          <a:xfrm>
            <a:off x="10418064" y="3819143"/>
            <a:ext cx="145237" cy="156667"/>
          </a:xfrm>
          <a:prstGeom prst="rect">
            <a:avLst/>
          </a:prstGeom>
          <a:solidFill>
            <a:srgbClr val="8368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7" name="Rectangle 356"/>
          <p:cNvSpPr/>
          <p:nvPr/>
        </p:nvSpPr>
        <p:spPr>
          <a:xfrm>
            <a:off x="10418064" y="3968496"/>
            <a:ext cx="145237" cy="156667"/>
          </a:xfrm>
          <a:prstGeom prst="rect">
            <a:avLst/>
          </a:prstGeom>
          <a:solidFill>
            <a:srgbClr val="347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8" name="Rectangle 357"/>
          <p:cNvSpPr/>
          <p:nvPr/>
        </p:nvSpPr>
        <p:spPr>
          <a:xfrm>
            <a:off x="10418064" y="4117847"/>
            <a:ext cx="145237" cy="156667"/>
          </a:xfrm>
          <a:prstGeom prst="rect">
            <a:avLst/>
          </a:prstGeom>
          <a:solidFill>
            <a:srgbClr val="3AAC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9" name="Rectangle 358"/>
          <p:cNvSpPr/>
          <p:nvPr/>
        </p:nvSpPr>
        <p:spPr>
          <a:xfrm>
            <a:off x="10418064" y="4267199"/>
            <a:ext cx="145237" cy="156667"/>
          </a:xfrm>
          <a:prstGeom prst="rect">
            <a:avLst/>
          </a:prstGeom>
          <a:solidFill>
            <a:srgbClr val="4051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0" name="Rectangle 359"/>
          <p:cNvSpPr/>
          <p:nvPr/>
        </p:nvSpPr>
        <p:spPr>
          <a:xfrm>
            <a:off x="10418064" y="4416552"/>
            <a:ext cx="145237" cy="156667"/>
          </a:xfrm>
          <a:prstGeom prst="rect">
            <a:avLst/>
          </a:prstGeom>
          <a:solidFill>
            <a:srgbClr val="4687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1" name="Rectangle 360"/>
          <p:cNvSpPr/>
          <p:nvPr/>
        </p:nvSpPr>
        <p:spPr>
          <a:xfrm>
            <a:off x="10418064" y="4565904"/>
            <a:ext cx="145237" cy="156667"/>
          </a:xfrm>
          <a:prstGeom prst="rect">
            <a:avLst/>
          </a:prstGeom>
          <a:solidFill>
            <a:srgbClr val="4CBD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2" name="Rectangle 361"/>
          <p:cNvSpPr/>
          <p:nvPr/>
        </p:nvSpPr>
        <p:spPr>
          <a:xfrm>
            <a:off x="10418064" y="4715256"/>
            <a:ext cx="145237" cy="156667"/>
          </a:xfrm>
          <a:prstGeom prst="rect">
            <a:avLst/>
          </a:prstGeom>
          <a:solidFill>
            <a:srgbClr val="5262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3" name="Rectangle 362"/>
          <p:cNvSpPr/>
          <p:nvPr/>
        </p:nvSpPr>
        <p:spPr>
          <a:xfrm>
            <a:off x="10555985" y="2176272"/>
            <a:ext cx="145237" cy="156667"/>
          </a:xfrm>
          <a:prstGeom prst="rect">
            <a:avLst/>
          </a:prstGeom>
          <a:solidFill>
            <a:srgbClr val="6DC1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4" name="Rectangle 363"/>
          <p:cNvSpPr/>
          <p:nvPr/>
        </p:nvSpPr>
        <p:spPr>
          <a:xfrm>
            <a:off x="10555985" y="2325623"/>
            <a:ext cx="145237" cy="156667"/>
          </a:xfrm>
          <a:prstGeom prst="rect">
            <a:avLst/>
          </a:prstGeom>
          <a:solidFill>
            <a:srgbClr val="3ED0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5" name="Rectangle 364"/>
          <p:cNvSpPr/>
          <p:nvPr/>
        </p:nvSpPr>
        <p:spPr>
          <a:xfrm>
            <a:off x="10555985" y="2474976"/>
            <a:ext cx="145237" cy="156667"/>
          </a:xfrm>
          <a:prstGeom prst="rect">
            <a:avLst/>
          </a:prstGeom>
          <a:solidFill>
            <a:srgbClr val="657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6" name="Rectangle 365"/>
          <p:cNvSpPr/>
          <p:nvPr/>
        </p:nvSpPr>
        <p:spPr>
          <a:xfrm>
            <a:off x="10555985" y="2624328"/>
            <a:ext cx="145237" cy="156667"/>
          </a:xfrm>
          <a:prstGeom prst="rect">
            <a:avLst/>
          </a:prstGeom>
          <a:solidFill>
            <a:srgbClr val="3685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7" name="Rectangle 366"/>
          <p:cNvSpPr/>
          <p:nvPr/>
        </p:nvSpPr>
        <p:spPr>
          <a:xfrm>
            <a:off x="10555985" y="2773680"/>
            <a:ext cx="145237" cy="156667"/>
          </a:xfrm>
          <a:prstGeom prst="rect">
            <a:avLst/>
          </a:prstGeom>
          <a:solidFill>
            <a:srgbClr val="5CBC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8" name="Rectangle 367"/>
          <p:cNvSpPr/>
          <p:nvPr/>
        </p:nvSpPr>
        <p:spPr>
          <a:xfrm>
            <a:off x="10555985" y="2923031"/>
            <a:ext cx="145237" cy="156667"/>
          </a:xfrm>
          <a:prstGeom prst="rect">
            <a:avLst/>
          </a:prstGeom>
          <a:solidFill>
            <a:srgbClr val="8362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9" name="Rectangle 368"/>
          <p:cNvSpPr/>
          <p:nvPr/>
        </p:nvSpPr>
        <p:spPr>
          <a:xfrm>
            <a:off x="10555985" y="3072384"/>
            <a:ext cx="145237" cy="156667"/>
          </a:xfrm>
          <a:prstGeom prst="rect">
            <a:avLst/>
          </a:prstGeom>
          <a:solidFill>
            <a:srgbClr val="5471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0" name="Rectangle 369"/>
          <p:cNvSpPr/>
          <p:nvPr/>
        </p:nvSpPr>
        <p:spPr>
          <a:xfrm>
            <a:off x="10555985" y="3221736"/>
            <a:ext cx="145237" cy="156667"/>
          </a:xfrm>
          <a:prstGeom prst="rect">
            <a:avLst/>
          </a:prstGeom>
          <a:solidFill>
            <a:srgbClr val="7AA8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1" name="Rectangle 370"/>
          <p:cNvSpPr/>
          <p:nvPr/>
        </p:nvSpPr>
        <p:spPr>
          <a:xfrm>
            <a:off x="10555985" y="3371088"/>
            <a:ext cx="145237" cy="156667"/>
          </a:xfrm>
          <a:prstGeom prst="rect">
            <a:avLst/>
          </a:prstGeom>
          <a:solidFill>
            <a:srgbClr val="4CB7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2" name="Rectangle 371"/>
          <p:cNvSpPr/>
          <p:nvPr/>
        </p:nvSpPr>
        <p:spPr>
          <a:xfrm>
            <a:off x="10555985" y="3520439"/>
            <a:ext cx="145237" cy="156667"/>
          </a:xfrm>
          <a:prstGeom prst="rect">
            <a:avLst/>
          </a:prstGeom>
          <a:solidFill>
            <a:srgbClr val="725D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3" name="Rectangle 372"/>
          <p:cNvSpPr/>
          <p:nvPr/>
        </p:nvSpPr>
        <p:spPr>
          <a:xfrm>
            <a:off x="10555985" y="3669792"/>
            <a:ext cx="145237" cy="156667"/>
          </a:xfrm>
          <a:prstGeom prst="rect">
            <a:avLst/>
          </a:prstGeom>
          <a:solidFill>
            <a:srgbClr val="436C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4" name="Rectangle 373"/>
          <p:cNvSpPr/>
          <p:nvPr/>
        </p:nvSpPr>
        <p:spPr>
          <a:xfrm>
            <a:off x="10555985" y="3819143"/>
            <a:ext cx="145237" cy="156667"/>
          </a:xfrm>
          <a:prstGeom prst="rect">
            <a:avLst/>
          </a:prstGeom>
          <a:solidFill>
            <a:srgbClr val="6AA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5" name="Rectangle 374"/>
          <p:cNvSpPr/>
          <p:nvPr/>
        </p:nvSpPr>
        <p:spPr>
          <a:xfrm>
            <a:off x="10555985" y="3968496"/>
            <a:ext cx="145237" cy="156667"/>
          </a:xfrm>
          <a:prstGeom prst="rect">
            <a:avLst/>
          </a:prstGeom>
          <a:solidFill>
            <a:srgbClr val="3BB2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6" name="Rectangle 375"/>
          <p:cNvSpPr/>
          <p:nvPr/>
        </p:nvSpPr>
        <p:spPr>
          <a:xfrm>
            <a:off x="10555985" y="4117847"/>
            <a:ext cx="145237" cy="156667"/>
          </a:xfrm>
          <a:prstGeom prst="rect">
            <a:avLst/>
          </a:prstGeom>
          <a:solidFill>
            <a:srgbClr val="6158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7" name="Rectangle 376"/>
          <p:cNvSpPr/>
          <p:nvPr/>
        </p:nvSpPr>
        <p:spPr>
          <a:xfrm>
            <a:off x="10555985" y="4267199"/>
            <a:ext cx="145237" cy="156667"/>
          </a:xfrm>
          <a:prstGeom prst="rect">
            <a:avLst/>
          </a:prstGeom>
          <a:solidFill>
            <a:srgbClr val="3367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8" name="Rectangle 377"/>
          <p:cNvSpPr/>
          <p:nvPr/>
        </p:nvSpPr>
        <p:spPr>
          <a:xfrm>
            <a:off x="10555985" y="4416552"/>
            <a:ext cx="145237" cy="156667"/>
          </a:xfrm>
          <a:prstGeom prst="rect">
            <a:avLst/>
          </a:prstGeom>
          <a:solidFill>
            <a:srgbClr val="599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9" name="Rectangle 378"/>
          <p:cNvSpPr/>
          <p:nvPr/>
        </p:nvSpPr>
        <p:spPr>
          <a:xfrm>
            <a:off x="10555985" y="4565904"/>
            <a:ext cx="145237" cy="156667"/>
          </a:xfrm>
          <a:prstGeom prst="rect">
            <a:avLst/>
          </a:prstGeom>
          <a:solidFill>
            <a:srgbClr val="7F44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0" name="Rectangle 379"/>
          <p:cNvSpPr/>
          <p:nvPr/>
        </p:nvSpPr>
        <p:spPr>
          <a:xfrm>
            <a:off x="10555985" y="4715256"/>
            <a:ext cx="145237" cy="156667"/>
          </a:xfrm>
          <a:prstGeom prst="rect">
            <a:avLst/>
          </a:prstGeom>
          <a:solidFill>
            <a:srgbClr val="5153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1" name="Rectangle 380"/>
          <p:cNvSpPr/>
          <p:nvPr/>
        </p:nvSpPr>
        <p:spPr>
          <a:xfrm>
            <a:off x="10693907" y="2176272"/>
            <a:ext cx="145237" cy="156667"/>
          </a:xfrm>
          <a:prstGeom prst="rect">
            <a:avLst/>
          </a:prstGeom>
          <a:solidFill>
            <a:srgbClr val="446F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2" name="Rectangle 381"/>
          <p:cNvSpPr/>
          <p:nvPr/>
        </p:nvSpPr>
        <p:spPr>
          <a:xfrm>
            <a:off x="10693907" y="2325623"/>
            <a:ext cx="145237" cy="156667"/>
          </a:xfrm>
          <a:prstGeom prst="rect">
            <a:avLst/>
          </a:prstGeom>
          <a:solidFill>
            <a:srgbClr val="357F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3" name="Rectangle 382"/>
          <p:cNvSpPr/>
          <p:nvPr/>
        </p:nvSpPr>
        <p:spPr>
          <a:xfrm>
            <a:off x="10693907" y="2474976"/>
            <a:ext cx="145237" cy="156667"/>
          </a:xfrm>
          <a:prstGeom prst="rect">
            <a:avLst/>
          </a:prstGeom>
          <a:solidFill>
            <a:srgbClr val="7CB7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4" name="Rectangle 383"/>
          <p:cNvSpPr/>
          <p:nvPr/>
        </p:nvSpPr>
        <p:spPr>
          <a:xfrm>
            <a:off x="10693907" y="2624328"/>
            <a:ext cx="145237" cy="156667"/>
          </a:xfrm>
          <a:prstGeom prst="rect">
            <a:avLst/>
          </a:prstGeom>
          <a:solidFill>
            <a:srgbClr val="6EC7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5" name="Rectangle 384"/>
          <p:cNvSpPr/>
          <p:nvPr/>
        </p:nvSpPr>
        <p:spPr>
          <a:xfrm>
            <a:off x="10693907" y="2773680"/>
            <a:ext cx="145237" cy="156667"/>
          </a:xfrm>
          <a:prstGeom prst="rect">
            <a:avLst/>
          </a:prstGeom>
          <a:solidFill>
            <a:srgbClr val="5F4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6" name="Rectangle 385"/>
          <p:cNvSpPr/>
          <p:nvPr/>
        </p:nvSpPr>
        <p:spPr>
          <a:xfrm>
            <a:off x="10693907" y="2923031"/>
            <a:ext cx="145237" cy="156667"/>
          </a:xfrm>
          <a:prstGeom prst="rect">
            <a:avLst/>
          </a:prstGeom>
          <a:solidFill>
            <a:srgbClr val="5156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7" name="Rectangle 386"/>
          <p:cNvSpPr/>
          <p:nvPr/>
        </p:nvSpPr>
        <p:spPr>
          <a:xfrm>
            <a:off x="10693907" y="3072384"/>
            <a:ext cx="145237" cy="156667"/>
          </a:xfrm>
          <a:prstGeom prst="rect">
            <a:avLst/>
          </a:prstGeom>
          <a:solidFill>
            <a:srgbClr val="4366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8" name="Rectangle 387"/>
          <p:cNvSpPr/>
          <p:nvPr/>
        </p:nvSpPr>
        <p:spPr>
          <a:xfrm>
            <a:off x="10693907" y="3221736"/>
            <a:ext cx="145237" cy="156667"/>
          </a:xfrm>
          <a:prstGeom prst="rect">
            <a:avLst/>
          </a:prstGeom>
          <a:solidFill>
            <a:srgbClr val="347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9" name="Rectangle 388"/>
          <p:cNvSpPr/>
          <p:nvPr/>
        </p:nvSpPr>
        <p:spPr>
          <a:xfrm>
            <a:off x="10693907" y="3371088"/>
            <a:ext cx="145237" cy="156667"/>
          </a:xfrm>
          <a:prstGeom prst="rect">
            <a:avLst/>
          </a:prstGeom>
          <a:solidFill>
            <a:srgbClr val="7BAE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0" name="Rectangle 389"/>
          <p:cNvSpPr/>
          <p:nvPr/>
        </p:nvSpPr>
        <p:spPr>
          <a:xfrm>
            <a:off x="10693907" y="3520439"/>
            <a:ext cx="145237" cy="156667"/>
          </a:xfrm>
          <a:prstGeom prst="rect">
            <a:avLst/>
          </a:prstGeom>
          <a:solidFill>
            <a:srgbClr val="6DBE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1" name="Rectangle 390"/>
          <p:cNvSpPr/>
          <p:nvPr/>
        </p:nvSpPr>
        <p:spPr>
          <a:xfrm>
            <a:off x="10693907" y="3669792"/>
            <a:ext cx="145237" cy="156667"/>
          </a:xfrm>
          <a:prstGeom prst="rect">
            <a:avLst/>
          </a:prstGeom>
          <a:solidFill>
            <a:srgbClr val="5ECE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2" name="Rectangle 391"/>
          <p:cNvSpPr/>
          <p:nvPr/>
        </p:nvSpPr>
        <p:spPr>
          <a:xfrm>
            <a:off x="10693907" y="3819143"/>
            <a:ext cx="145237" cy="156667"/>
          </a:xfrm>
          <a:prstGeom prst="rect">
            <a:avLst/>
          </a:prstGeom>
          <a:solidFill>
            <a:srgbClr val="504D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3" name="Rectangle 392"/>
          <p:cNvSpPr/>
          <p:nvPr/>
        </p:nvSpPr>
        <p:spPr>
          <a:xfrm>
            <a:off x="10693907" y="3968496"/>
            <a:ext cx="145237" cy="156667"/>
          </a:xfrm>
          <a:prstGeom prst="rect">
            <a:avLst/>
          </a:prstGeom>
          <a:solidFill>
            <a:srgbClr val="425D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4" name="Rectangle 393"/>
          <p:cNvSpPr/>
          <p:nvPr/>
        </p:nvSpPr>
        <p:spPr>
          <a:xfrm>
            <a:off x="10693907" y="4117847"/>
            <a:ext cx="145237" cy="156667"/>
          </a:xfrm>
          <a:prstGeom prst="rect">
            <a:avLst/>
          </a:prstGeom>
          <a:solidFill>
            <a:srgbClr val="336D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5" name="Rectangle 394"/>
          <p:cNvSpPr/>
          <p:nvPr/>
        </p:nvSpPr>
        <p:spPr>
          <a:xfrm>
            <a:off x="10693907" y="4267199"/>
            <a:ext cx="145237" cy="156667"/>
          </a:xfrm>
          <a:prstGeom prst="rect">
            <a:avLst/>
          </a:prstGeom>
          <a:solidFill>
            <a:srgbClr val="7AA5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6" name="Rectangle 395"/>
          <p:cNvSpPr/>
          <p:nvPr/>
        </p:nvSpPr>
        <p:spPr>
          <a:xfrm>
            <a:off x="10693907" y="4416552"/>
            <a:ext cx="145237" cy="156667"/>
          </a:xfrm>
          <a:prstGeom prst="rect">
            <a:avLst/>
          </a:prstGeom>
          <a:solidFill>
            <a:srgbClr val="6CB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7" name="Rectangle 396"/>
          <p:cNvSpPr/>
          <p:nvPr/>
        </p:nvSpPr>
        <p:spPr>
          <a:xfrm>
            <a:off x="10693907" y="4565904"/>
            <a:ext cx="145237" cy="156667"/>
          </a:xfrm>
          <a:prstGeom prst="rect">
            <a:avLst/>
          </a:prstGeom>
          <a:solidFill>
            <a:srgbClr val="5DC5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8" name="Rectangle 397"/>
          <p:cNvSpPr/>
          <p:nvPr/>
        </p:nvSpPr>
        <p:spPr>
          <a:xfrm>
            <a:off x="10693907" y="4715256"/>
            <a:ext cx="145237" cy="156667"/>
          </a:xfrm>
          <a:prstGeom prst="rect">
            <a:avLst/>
          </a:prstGeom>
          <a:solidFill>
            <a:srgbClr val="4F4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9" name="Rectangle 398"/>
          <p:cNvSpPr/>
          <p:nvPr/>
        </p:nvSpPr>
        <p:spPr>
          <a:xfrm>
            <a:off x="10831829" y="2176272"/>
            <a:ext cx="145237" cy="156667"/>
          </a:xfrm>
          <a:prstGeom prst="rect">
            <a:avLst/>
          </a:prstGeom>
          <a:solidFill>
            <a:srgbClr val="6F45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0" name="Rectangle 399"/>
          <p:cNvSpPr/>
          <p:nvPr/>
        </p:nvSpPr>
        <p:spPr>
          <a:xfrm>
            <a:off x="10831829" y="2325623"/>
            <a:ext cx="145237" cy="156667"/>
          </a:xfrm>
          <a:prstGeom prst="rect">
            <a:avLst/>
          </a:prstGeom>
          <a:solidFill>
            <a:srgbClr val="8156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1" name="Rectangle 400"/>
          <p:cNvSpPr/>
          <p:nvPr/>
        </p:nvSpPr>
        <p:spPr>
          <a:xfrm>
            <a:off x="10831829" y="2474976"/>
            <a:ext cx="145237" cy="156667"/>
          </a:xfrm>
          <a:prstGeom prst="rect">
            <a:avLst/>
          </a:prstGeom>
          <a:solidFill>
            <a:srgbClr val="3ED0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2" name="Rectangle 401"/>
          <p:cNvSpPr/>
          <p:nvPr/>
        </p:nvSpPr>
        <p:spPr>
          <a:xfrm>
            <a:off x="10831829" y="2624328"/>
            <a:ext cx="145237" cy="156667"/>
          </a:xfrm>
          <a:prstGeom prst="rect">
            <a:avLst/>
          </a:prstGeom>
          <a:solidFill>
            <a:srgbClr val="5050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3" name="Rectangle 402"/>
          <p:cNvSpPr/>
          <p:nvPr/>
        </p:nvSpPr>
        <p:spPr>
          <a:xfrm>
            <a:off x="10831829" y="2773680"/>
            <a:ext cx="145237" cy="156667"/>
          </a:xfrm>
          <a:prstGeom prst="rect">
            <a:avLst/>
          </a:prstGeom>
          <a:solidFill>
            <a:srgbClr val="626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4" name="Rectangle 403"/>
          <p:cNvSpPr/>
          <p:nvPr/>
        </p:nvSpPr>
        <p:spPr>
          <a:xfrm>
            <a:off x="10831829" y="2923031"/>
            <a:ext cx="145237" cy="156667"/>
          </a:xfrm>
          <a:prstGeom prst="rect">
            <a:avLst/>
          </a:prstGeom>
          <a:solidFill>
            <a:srgbClr val="7472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5" name="Rectangle 404"/>
          <p:cNvSpPr/>
          <p:nvPr/>
        </p:nvSpPr>
        <p:spPr>
          <a:xfrm>
            <a:off x="10831829" y="3072384"/>
            <a:ext cx="145237" cy="156667"/>
          </a:xfrm>
          <a:prstGeom prst="rect">
            <a:avLst/>
          </a:prstGeom>
          <a:solidFill>
            <a:srgbClr val="315B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6" name="Rectangle 405"/>
          <p:cNvSpPr/>
          <p:nvPr/>
        </p:nvSpPr>
        <p:spPr>
          <a:xfrm>
            <a:off x="10831829" y="3221736"/>
            <a:ext cx="145237" cy="156667"/>
          </a:xfrm>
          <a:prstGeom prst="rect">
            <a:avLst/>
          </a:prstGeom>
          <a:solidFill>
            <a:srgbClr val="436C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7" name="Rectangle 406"/>
          <p:cNvSpPr/>
          <p:nvPr/>
        </p:nvSpPr>
        <p:spPr>
          <a:xfrm>
            <a:off x="10831829" y="3371088"/>
            <a:ext cx="145237" cy="156667"/>
          </a:xfrm>
          <a:prstGeom prst="rect">
            <a:avLst/>
          </a:prstGeom>
          <a:solidFill>
            <a:srgbClr val="557D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8" name="Rectangle 407"/>
          <p:cNvSpPr/>
          <p:nvPr/>
        </p:nvSpPr>
        <p:spPr>
          <a:xfrm>
            <a:off x="10831829" y="3520439"/>
            <a:ext cx="145237" cy="156667"/>
          </a:xfrm>
          <a:prstGeom prst="rect">
            <a:avLst/>
          </a:prstGeom>
          <a:solidFill>
            <a:srgbClr val="678E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9" name="Rectangle 408"/>
          <p:cNvSpPr/>
          <p:nvPr/>
        </p:nvSpPr>
        <p:spPr>
          <a:xfrm>
            <a:off x="10831829" y="3669792"/>
            <a:ext cx="145237" cy="156667"/>
          </a:xfrm>
          <a:prstGeom prst="rect">
            <a:avLst/>
          </a:prstGeom>
          <a:solidFill>
            <a:srgbClr val="799F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0" name="Rectangle 409"/>
          <p:cNvSpPr/>
          <p:nvPr/>
        </p:nvSpPr>
        <p:spPr>
          <a:xfrm>
            <a:off x="10831829" y="3819143"/>
            <a:ext cx="145237" cy="156667"/>
          </a:xfrm>
          <a:prstGeom prst="rect">
            <a:avLst/>
          </a:prstGeom>
          <a:solidFill>
            <a:srgbClr val="3688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1" name="Rectangle 410"/>
          <p:cNvSpPr/>
          <p:nvPr/>
        </p:nvSpPr>
        <p:spPr>
          <a:xfrm>
            <a:off x="10831829" y="3968496"/>
            <a:ext cx="145237" cy="156667"/>
          </a:xfrm>
          <a:prstGeom prst="rect">
            <a:avLst/>
          </a:prstGeom>
          <a:solidFill>
            <a:srgbClr val="4899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2" name="Rectangle 411"/>
          <p:cNvSpPr/>
          <p:nvPr/>
        </p:nvSpPr>
        <p:spPr>
          <a:xfrm>
            <a:off x="10831829" y="4117847"/>
            <a:ext cx="145237" cy="156667"/>
          </a:xfrm>
          <a:prstGeom prst="rect">
            <a:avLst/>
          </a:prstGeom>
          <a:solidFill>
            <a:srgbClr val="5AAA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3" name="Rectangle 412"/>
          <p:cNvSpPr/>
          <p:nvPr/>
        </p:nvSpPr>
        <p:spPr>
          <a:xfrm>
            <a:off x="10831829" y="4267199"/>
            <a:ext cx="145237" cy="156667"/>
          </a:xfrm>
          <a:prstGeom prst="rect">
            <a:avLst/>
          </a:prstGeom>
          <a:solidFill>
            <a:srgbClr val="6CBB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4" name="Rectangle 413"/>
          <p:cNvSpPr/>
          <p:nvPr/>
        </p:nvSpPr>
        <p:spPr>
          <a:xfrm>
            <a:off x="10831829" y="4416552"/>
            <a:ext cx="145237" cy="156667"/>
          </a:xfrm>
          <a:prstGeom prst="rect">
            <a:avLst/>
          </a:prstGeom>
          <a:solidFill>
            <a:srgbClr val="7ECC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5" name="Rectangle 414"/>
          <p:cNvSpPr/>
          <p:nvPr/>
        </p:nvSpPr>
        <p:spPr>
          <a:xfrm>
            <a:off x="10831829" y="4565904"/>
            <a:ext cx="145237" cy="156667"/>
          </a:xfrm>
          <a:prstGeom prst="rect">
            <a:avLst/>
          </a:prstGeom>
          <a:solidFill>
            <a:srgbClr val="3BB5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6" name="Rectangle 415"/>
          <p:cNvSpPr/>
          <p:nvPr/>
        </p:nvSpPr>
        <p:spPr>
          <a:xfrm>
            <a:off x="10831829" y="4715256"/>
            <a:ext cx="145237" cy="156667"/>
          </a:xfrm>
          <a:prstGeom prst="rect">
            <a:avLst/>
          </a:prstGeom>
          <a:solidFill>
            <a:srgbClr val="4DC6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7" name="Rectangle 416"/>
          <p:cNvSpPr/>
          <p:nvPr/>
        </p:nvSpPr>
        <p:spPr>
          <a:xfrm>
            <a:off x="10969752" y="2176272"/>
            <a:ext cx="145237" cy="156667"/>
          </a:xfrm>
          <a:prstGeom prst="rect">
            <a:avLst/>
          </a:prstGeom>
          <a:solidFill>
            <a:srgbClr val="4684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8" name="Rectangle 417"/>
          <p:cNvSpPr/>
          <p:nvPr/>
        </p:nvSpPr>
        <p:spPr>
          <a:xfrm>
            <a:off x="10969752" y="2325623"/>
            <a:ext cx="145237" cy="156667"/>
          </a:xfrm>
          <a:prstGeom prst="rect">
            <a:avLst/>
          </a:prstGeom>
          <a:solidFill>
            <a:srgbClr val="7896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9" name="Rectangle 418"/>
          <p:cNvSpPr/>
          <p:nvPr/>
        </p:nvSpPr>
        <p:spPr>
          <a:xfrm>
            <a:off x="10969752" y="2474976"/>
            <a:ext cx="145237" cy="156667"/>
          </a:xfrm>
          <a:prstGeom prst="rect">
            <a:avLst/>
          </a:prstGeom>
          <a:solidFill>
            <a:srgbClr val="5680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0" name="Rectangle 419"/>
          <p:cNvSpPr/>
          <p:nvPr/>
        </p:nvSpPr>
        <p:spPr>
          <a:xfrm>
            <a:off x="10969752" y="2624328"/>
            <a:ext cx="145237" cy="156667"/>
          </a:xfrm>
          <a:prstGeom prst="rect">
            <a:avLst/>
          </a:prstGeom>
          <a:solidFill>
            <a:srgbClr val="336A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1" name="Rectangle 420"/>
          <p:cNvSpPr/>
          <p:nvPr/>
        </p:nvSpPr>
        <p:spPr>
          <a:xfrm>
            <a:off x="10969752" y="2773680"/>
            <a:ext cx="145237" cy="156667"/>
          </a:xfrm>
          <a:prstGeom prst="rect">
            <a:avLst/>
          </a:prstGeom>
          <a:solidFill>
            <a:srgbClr val="657C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2" name="Rectangle 421"/>
          <p:cNvSpPr/>
          <p:nvPr/>
        </p:nvSpPr>
        <p:spPr>
          <a:xfrm>
            <a:off x="10969752" y="2923031"/>
            <a:ext cx="145237" cy="156667"/>
          </a:xfrm>
          <a:prstGeom prst="rect">
            <a:avLst/>
          </a:prstGeom>
          <a:solidFill>
            <a:srgbClr val="4366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3" name="Rectangle 422"/>
          <p:cNvSpPr/>
          <p:nvPr/>
        </p:nvSpPr>
        <p:spPr>
          <a:xfrm>
            <a:off x="10969752" y="3072384"/>
            <a:ext cx="145237" cy="156667"/>
          </a:xfrm>
          <a:prstGeom prst="rect">
            <a:avLst/>
          </a:prstGeom>
          <a:solidFill>
            <a:srgbClr val="7578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4" name="Rectangle 423"/>
          <p:cNvSpPr/>
          <p:nvPr/>
        </p:nvSpPr>
        <p:spPr>
          <a:xfrm>
            <a:off x="10969752" y="3221736"/>
            <a:ext cx="145237" cy="156667"/>
          </a:xfrm>
          <a:prstGeom prst="rect">
            <a:avLst/>
          </a:prstGeom>
          <a:solidFill>
            <a:srgbClr val="5262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5" name="Rectangle 424"/>
          <p:cNvSpPr/>
          <p:nvPr/>
        </p:nvSpPr>
        <p:spPr>
          <a:xfrm>
            <a:off x="10969752" y="3371088"/>
            <a:ext cx="145237" cy="156667"/>
          </a:xfrm>
          <a:prstGeom prst="rect">
            <a:avLst/>
          </a:prstGeom>
          <a:solidFill>
            <a:srgbClr val="304C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6" name="Rectangle 425"/>
          <p:cNvSpPr/>
          <p:nvPr/>
        </p:nvSpPr>
        <p:spPr>
          <a:xfrm>
            <a:off x="10969752" y="3520439"/>
            <a:ext cx="145237" cy="156667"/>
          </a:xfrm>
          <a:prstGeom prst="rect">
            <a:avLst/>
          </a:prstGeom>
          <a:solidFill>
            <a:srgbClr val="625E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7" name="Rectangle 426"/>
          <p:cNvSpPr/>
          <p:nvPr/>
        </p:nvSpPr>
        <p:spPr>
          <a:xfrm>
            <a:off x="10969752" y="3669792"/>
            <a:ext cx="145237" cy="156667"/>
          </a:xfrm>
          <a:prstGeom prst="rect">
            <a:avLst/>
          </a:prstGeom>
          <a:solidFill>
            <a:srgbClr val="3F48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8" name="Rectangle 427"/>
          <p:cNvSpPr/>
          <p:nvPr/>
        </p:nvSpPr>
        <p:spPr>
          <a:xfrm>
            <a:off x="10969752" y="3819143"/>
            <a:ext cx="145237" cy="156667"/>
          </a:xfrm>
          <a:prstGeom prst="rect">
            <a:avLst/>
          </a:prstGeom>
          <a:solidFill>
            <a:srgbClr val="725A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9" name="Rectangle 428"/>
          <p:cNvSpPr/>
          <p:nvPr/>
        </p:nvSpPr>
        <p:spPr>
          <a:xfrm>
            <a:off x="10969752" y="3968496"/>
            <a:ext cx="145237" cy="156667"/>
          </a:xfrm>
          <a:prstGeom prst="rect">
            <a:avLst/>
          </a:prstGeom>
          <a:solidFill>
            <a:srgbClr val="4F4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0" name="Rectangle 429"/>
          <p:cNvSpPr/>
          <p:nvPr/>
        </p:nvSpPr>
        <p:spPr>
          <a:xfrm>
            <a:off x="10969752" y="4117847"/>
            <a:ext cx="145237" cy="156667"/>
          </a:xfrm>
          <a:prstGeom prst="rect">
            <a:avLst/>
          </a:prstGeom>
          <a:solidFill>
            <a:srgbClr val="8156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1" name="Rectangle 430"/>
          <p:cNvSpPr/>
          <p:nvPr/>
        </p:nvSpPr>
        <p:spPr>
          <a:xfrm>
            <a:off x="10969752" y="4267199"/>
            <a:ext cx="145237" cy="156667"/>
          </a:xfrm>
          <a:prstGeom prst="rect">
            <a:avLst/>
          </a:prstGeom>
          <a:solidFill>
            <a:srgbClr val="5FD1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2" name="Rectangle 431"/>
          <p:cNvSpPr/>
          <p:nvPr/>
        </p:nvSpPr>
        <p:spPr>
          <a:xfrm>
            <a:off x="10969752" y="4416552"/>
            <a:ext cx="145237" cy="156667"/>
          </a:xfrm>
          <a:prstGeom prst="rect">
            <a:avLst/>
          </a:prstGeom>
          <a:solidFill>
            <a:srgbClr val="3CB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3" name="Rectangle 432"/>
          <p:cNvSpPr/>
          <p:nvPr/>
        </p:nvSpPr>
        <p:spPr>
          <a:xfrm>
            <a:off x="10969752" y="4565904"/>
            <a:ext cx="145237" cy="156667"/>
          </a:xfrm>
          <a:prstGeom prst="rect">
            <a:avLst/>
          </a:prstGeom>
          <a:solidFill>
            <a:srgbClr val="6ECD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4" name="Rectangle 433"/>
          <p:cNvSpPr/>
          <p:nvPr/>
        </p:nvSpPr>
        <p:spPr>
          <a:xfrm>
            <a:off x="10969752" y="4715256"/>
            <a:ext cx="145237" cy="156667"/>
          </a:xfrm>
          <a:prstGeom prst="rect">
            <a:avLst/>
          </a:prstGeom>
          <a:solidFill>
            <a:srgbClr val="4CB7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5" name="Rectangle 434"/>
          <p:cNvSpPr/>
          <p:nvPr/>
        </p:nvSpPr>
        <p:spPr>
          <a:xfrm>
            <a:off x="11107674" y="2176272"/>
            <a:ext cx="145237" cy="156667"/>
          </a:xfrm>
          <a:prstGeom prst="rect">
            <a:avLst/>
          </a:prstGeom>
          <a:solidFill>
            <a:srgbClr val="725A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6" name="Rectangle 435"/>
          <p:cNvSpPr/>
          <p:nvPr/>
        </p:nvSpPr>
        <p:spPr>
          <a:xfrm>
            <a:off x="11107674" y="2325623"/>
            <a:ext cx="145237" cy="156667"/>
          </a:xfrm>
          <a:prstGeom prst="rect">
            <a:avLst/>
          </a:prstGeom>
          <a:solidFill>
            <a:srgbClr val="6F45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7" name="Rectangle 436"/>
          <p:cNvSpPr/>
          <p:nvPr/>
        </p:nvSpPr>
        <p:spPr>
          <a:xfrm>
            <a:off x="11107674" y="2474976"/>
            <a:ext cx="145237" cy="156667"/>
          </a:xfrm>
          <a:prstGeom prst="rect">
            <a:avLst/>
          </a:prstGeom>
          <a:solidFill>
            <a:srgbClr val="6DC1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8" name="Rectangle 437"/>
          <p:cNvSpPr/>
          <p:nvPr/>
        </p:nvSpPr>
        <p:spPr>
          <a:xfrm>
            <a:off x="11107674" y="2624328"/>
            <a:ext cx="145237" cy="156667"/>
          </a:xfrm>
          <a:prstGeom prst="rect">
            <a:avLst/>
          </a:prstGeom>
          <a:solidFill>
            <a:srgbClr val="6BAC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9" name="Rectangle 438"/>
          <p:cNvSpPr/>
          <p:nvPr/>
        </p:nvSpPr>
        <p:spPr>
          <a:xfrm>
            <a:off x="11107674" y="2773680"/>
            <a:ext cx="145237" cy="156667"/>
          </a:xfrm>
          <a:prstGeom prst="rect">
            <a:avLst/>
          </a:prstGeom>
          <a:solidFill>
            <a:srgbClr val="6897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0" name="Rectangle 439"/>
          <p:cNvSpPr/>
          <p:nvPr/>
        </p:nvSpPr>
        <p:spPr>
          <a:xfrm>
            <a:off x="11107674" y="2923031"/>
            <a:ext cx="145237" cy="156667"/>
          </a:xfrm>
          <a:prstGeom prst="rect">
            <a:avLst/>
          </a:prstGeom>
          <a:solidFill>
            <a:srgbClr val="6682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1" name="Rectangle 440"/>
          <p:cNvSpPr/>
          <p:nvPr/>
        </p:nvSpPr>
        <p:spPr>
          <a:xfrm>
            <a:off x="11107674" y="3072384"/>
            <a:ext cx="145237" cy="156667"/>
          </a:xfrm>
          <a:prstGeom prst="rect">
            <a:avLst/>
          </a:prstGeom>
          <a:solidFill>
            <a:srgbClr val="646D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2" name="Rectangle 441"/>
          <p:cNvSpPr/>
          <p:nvPr/>
        </p:nvSpPr>
        <p:spPr>
          <a:xfrm>
            <a:off x="11107674" y="3221736"/>
            <a:ext cx="145237" cy="156667"/>
          </a:xfrm>
          <a:prstGeom prst="rect">
            <a:avLst/>
          </a:prstGeom>
          <a:solidFill>
            <a:srgbClr val="6158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3" name="Rectangle 442"/>
          <p:cNvSpPr/>
          <p:nvPr/>
        </p:nvSpPr>
        <p:spPr>
          <a:xfrm>
            <a:off x="11107674" y="3371088"/>
            <a:ext cx="145237" cy="156667"/>
          </a:xfrm>
          <a:prstGeom prst="rect">
            <a:avLst/>
          </a:prstGeom>
          <a:solidFill>
            <a:srgbClr val="5F43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4" name="Rectangle 443"/>
          <p:cNvSpPr/>
          <p:nvPr/>
        </p:nvSpPr>
        <p:spPr>
          <a:xfrm>
            <a:off x="11107674" y="3520439"/>
            <a:ext cx="145237" cy="156667"/>
          </a:xfrm>
          <a:prstGeom prst="rect">
            <a:avLst/>
          </a:prstGeom>
          <a:solidFill>
            <a:srgbClr val="5DBF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5" name="Rectangle 444"/>
          <p:cNvSpPr/>
          <p:nvPr/>
        </p:nvSpPr>
        <p:spPr>
          <a:xfrm>
            <a:off x="11107674" y="3669792"/>
            <a:ext cx="145237" cy="156667"/>
          </a:xfrm>
          <a:prstGeom prst="rect">
            <a:avLst/>
          </a:prstGeom>
          <a:solidFill>
            <a:srgbClr val="5AAA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6" name="Rectangle 445"/>
          <p:cNvSpPr/>
          <p:nvPr/>
        </p:nvSpPr>
        <p:spPr>
          <a:xfrm>
            <a:off x="11107674" y="3819143"/>
            <a:ext cx="145237" cy="156667"/>
          </a:xfrm>
          <a:prstGeom prst="rect">
            <a:avLst/>
          </a:prstGeom>
          <a:solidFill>
            <a:srgbClr val="5895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7" name="Rectangle 446"/>
          <p:cNvSpPr/>
          <p:nvPr/>
        </p:nvSpPr>
        <p:spPr>
          <a:xfrm>
            <a:off x="11107674" y="3968496"/>
            <a:ext cx="145237" cy="156667"/>
          </a:xfrm>
          <a:prstGeom prst="rect">
            <a:avLst/>
          </a:prstGeom>
          <a:solidFill>
            <a:srgbClr val="5680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8" name="Rectangle 447"/>
          <p:cNvSpPr/>
          <p:nvPr/>
        </p:nvSpPr>
        <p:spPr>
          <a:xfrm>
            <a:off x="11107674" y="4117847"/>
            <a:ext cx="145237" cy="156667"/>
          </a:xfrm>
          <a:prstGeom prst="rect">
            <a:avLst/>
          </a:prstGeom>
          <a:solidFill>
            <a:srgbClr val="536B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9" name="Rectangle 448"/>
          <p:cNvSpPr/>
          <p:nvPr/>
        </p:nvSpPr>
        <p:spPr>
          <a:xfrm>
            <a:off x="11107674" y="4267199"/>
            <a:ext cx="145237" cy="156667"/>
          </a:xfrm>
          <a:prstGeom prst="rect">
            <a:avLst/>
          </a:prstGeom>
          <a:solidFill>
            <a:srgbClr val="5156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0" name="Rectangle 449"/>
          <p:cNvSpPr/>
          <p:nvPr/>
        </p:nvSpPr>
        <p:spPr>
          <a:xfrm>
            <a:off x="11107674" y="4416552"/>
            <a:ext cx="145237" cy="156667"/>
          </a:xfrm>
          <a:prstGeom prst="rect">
            <a:avLst/>
          </a:prstGeom>
          <a:solidFill>
            <a:srgbClr val="4FD2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1" name="Rectangle 450"/>
          <p:cNvSpPr/>
          <p:nvPr/>
        </p:nvSpPr>
        <p:spPr>
          <a:xfrm>
            <a:off x="11107674" y="4565904"/>
            <a:ext cx="145237" cy="156667"/>
          </a:xfrm>
          <a:prstGeom prst="rect">
            <a:avLst/>
          </a:prstGeom>
          <a:solidFill>
            <a:srgbClr val="4CBD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2" name="Rectangle 451"/>
          <p:cNvSpPr/>
          <p:nvPr/>
        </p:nvSpPr>
        <p:spPr>
          <a:xfrm>
            <a:off x="11107674" y="4715256"/>
            <a:ext cx="145237" cy="156667"/>
          </a:xfrm>
          <a:prstGeom prst="rect">
            <a:avLst/>
          </a:prstGeom>
          <a:solidFill>
            <a:srgbClr val="4AA8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3" name="Rectangle 452"/>
          <p:cNvSpPr/>
          <p:nvPr/>
        </p:nvSpPr>
        <p:spPr>
          <a:xfrm>
            <a:off x="11245595" y="2176272"/>
            <a:ext cx="145237" cy="156667"/>
          </a:xfrm>
          <a:prstGeom prst="rect">
            <a:avLst/>
          </a:prstGeom>
          <a:solidFill>
            <a:srgbClr val="4899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4" name="Rectangle 453"/>
          <p:cNvSpPr/>
          <p:nvPr/>
        </p:nvSpPr>
        <p:spPr>
          <a:xfrm>
            <a:off x="11245595" y="2325623"/>
            <a:ext cx="145237" cy="156667"/>
          </a:xfrm>
          <a:prstGeom prst="rect">
            <a:avLst/>
          </a:prstGeom>
          <a:solidFill>
            <a:srgbClr val="6685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5" name="Rectangle 454"/>
          <p:cNvSpPr/>
          <p:nvPr/>
        </p:nvSpPr>
        <p:spPr>
          <a:xfrm>
            <a:off x="11245595" y="2474976"/>
            <a:ext cx="145237" cy="156667"/>
          </a:xfrm>
          <a:prstGeom prst="rect">
            <a:avLst/>
          </a:prstGeom>
          <a:solidFill>
            <a:srgbClr val="2F49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6" name="Rectangle 455"/>
          <p:cNvSpPr/>
          <p:nvPr/>
        </p:nvSpPr>
        <p:spPr>
          <a:xfrm>
            <a:off x="11245595" y="2624328"/>
            <a:ext cx="145237" cy="156667"/>
          </a:xfrm>
          <a:prstGeom prst="rect">
            <a:avLst/>
          </a:prstGeom>
          <a:solidFill>
            <a:srgbClr val="4DC6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7" name="Rectangle 456"/>
          <p:cNvSpPr/>
          <p:nvPr/>
        </p:nvSpPr>
        <p:spPr>
          <a:xfrm>
            <a:off x="11245595" y="2773680"/>
            <a:ext cx="145237" cy="156667"/>
          </a:xfrm>
          <a:prstGeom prst="rect">
            <a:avLst/>
          </a:prstGeom>
          <a:solidFill>
            <a:srgbClr val="6BB2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8" name="Rectangle 457"/>
          <p:cNvSpPr/>
          <p:nvPr/>
        </p:nvSpPr>
        <p:spPr>
          <a:xfrm>
            <a:off x="11245595" y="2923031"/>
            <a:ext cx="145237" cy="156667"/>
          </a:xfrm>
          <a:prstGeom prst="rect">
            <a:avLst/>
          </a:prstGeom>
          <a:solidFill>
            <a:srgbClr val="347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9" name="Rectangle 458"/>
          <p:cNvSpPr/>
          <p:nvPr/>
        </p:nvSpPr>
        <p:spPr>
          <a:xfrm>
            <a:off x="11245595" y="3072384"/>
            <a:ext cx="145237" cy="156667"/>
          </a:xfrm>
          <a:prstGeom prst="rect">
            <a:avLst/>
          </a:prstGeom>
          <a:solidFill>
            <a:srgbClr val="5262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0" name="Rectangle 459"/>
          <p:cNvSpPr/>
          <p:nvPr/>
        </p:nvSpPr>
        <p:spPr>
          <a:xfrm>
            <a:off x="11245595" y="3221736"/>
            <a:ext cx="145237" cy="156667"/>
          </a:xfrm>
          <a:prstGeom prst="rect">
            <a:avLst/>
          </a:prstGeom>
          <a:solidFill>
            <a:srgbClr val="704E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1" name="Rectangle 460"/>
          <p:cNvSpPr/>
          <p:nvPr/>
        </p:nvSpPr>
        <p:spPr>
          <a:xfrm>
            <a:off x="11245595" y="3371088"/>
            <a:ext cx="145237" cy="156667"/>
          </a:xfrm>
          <a:prstGeom prst="rect">
            <a:avLst/>
          </a:prstGeom>
          <a:solidFill>
            <a:srgbClr val="39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2" name="Rectangle 461"/>
          <p:cNvSpPr/>
          <p:nvPr/>
        </p:nvSpPr>
        <p:spPr>
          <a:xfrm>
            <a:off x="11245595" y="3520439"/>
            <a:ext cx="145237" cy="156667"/>
          </a:xfrm>
          <a:prstGeom prst="rect">
            <a:avLst/>
          </a:prstGeom>
          <a:solidFill>
            <a:srgbClr val="578F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3" name="Rectangle 462"/>
          <p:cNvSpPr/>
          <p:nvPr/>
        </p:nvSpPr>
        <p:spPr>
          <a:xfrm>
            <a:off x="11245595" y="3669792"/>
            <a:ext cx="145237" cy="156667"/>
          </a:xfrm>
          <a:prstGeom prst="rect">
            <a:avLst/>
          </a:prstGeom>
          <a:solidFill>
            <a:srgbClr val="757B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4" name="Rectangle 463"/>
          <p:cNvSpPr/>
          <p:nvPr/>
        </p:nvSpPr>
        <p:spPr>
          <a:xfrm>
            <a:off x="11245595" y="3819143"/>
            <a:ext cx="145237" cy="156667"/>
          </a:xfrm>
          <a:prstGeom prst="rect">
            <a:avLst/>
          </a:prstGeom>
          <a:solidFill>
            <a:srgbClr val="3ED0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5" name="Rectangle 464"/>
          <p:cNvSpPr/>
          <p:nvPr/>
        </p:nvSpPr>
        <p:spPr>
          <a:xfrm>
            <a:off x="11245595" y="3968496"/>
            <a:ext cx="145237" cy="156667"/>
          </a:xfrm>
          <a:prstGeom prst="rect">
            <a:avLst/>
          </a:prstGeom>
          <a:solidFill>
            <a:srgbClr val="5CBC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6" name="Rectangle 465"/>
          <p:cNvSpPr/>
          <p:nvPr/>
        </p:nvSpPr>
        <p:spPr>
          <a:xfrm>
            <a:off x="11245595" y="4117847"/>
            <a:ext cx="145237" cy="156667"/>
          </a:xfrm>
          <a:prstGeom prst="rect">
            <a:avLst/>
          </a:prstGeom>
          <a:solidFill>
            <a:srgbClr val="7AA8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7" name="Rectangle 466"/>
          <p:cNvSpPr/>
          <p:nvPr/>
        </p:nvSpPr>
        <p:spPr>
          <a:xfrm>
            <a:off x="11245595" y="4267199"/>
            <a:ext cx="145237" cy="156667"/>
          </a:xfrm>
          <a:prstGeom prst="rect">
            <a:avLst/>
          </a:prstGeom>
          <a:solidFill>
            <a:srgbClr val="436C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8" name="Rectangle 467"/>
          <p:cNvSpPr/>
          <p:nvPr/>
        </p:nvSpPr>
        <p:spPr>
          <a:xfrm>
            <a:off x="11245595" y="4416552"/>
            <a:ext cx="145237" cy="156667"/>
          </a:xfrm>
          <a:prstGeom prst="rect">
            <a:avLst/>
          </a:prstGeom>
          <a:solidFill>
            <a:srgbClr val="6158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9" name="Rectangle 468"/>
          <p:cNvSpPr/>
          <p:nvPr/>
        </p:nvSpPr>
        <p:spPr>
          <a:xfrm>
            <a:off x="11245595" y="4565904"/>
            <a:ext cx="145237" cy="156667"/>
          </a:xfrm>
          <a:prstGeom prst="rect">
            <a:avLst/>
          </a:prstGeom>
          <a:solidFill>
            <a:srgbClr val="7F44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0" name="Rectangle 469"/>
          <p:cNvSpPr/>
          <p:nvPr/>
        </p:nvSpPr>
        <p:spPr>
          <a:xfrm>
            <a:off x="11245595" y="4715256"/>
            <a:ext cx="145237" cy="156667"/>
          </a:xfrm>
          <a:prstGeom prst="rect">
            <a:avLst/>
          </a:prstGeom>
          <a:solidFill>
            <a:srgbClr val="4899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1" name="Rectangle 470"/>
          <p:cNvSpPr/>
          <p:nvPr/>
        </p:nvSpPr>
        <p:spPr>
          <a:xfrm>
            <a:off x="11383517" y="2176272"/>
            <a:ext cx="145237" cy="156667"/>
          </a:xfrm>
          <a:prstGeom prst="rect">
            <a:avLst/>
          </a:prstGeom>
          <a:solidFill>
            <a:srgbClr val="746F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2" name="Rectangle 471"/>
          <p:cNvSpPr/>
          <p:nvPr/>
        </p:nvSpPr>
        <p:spPr>
          <a:xfrm>
            <a:off x="11383517" y="2325623"/>
            <a:ext cx="145237" cy="156667"/>
          </a:xfrm>
          <a:prstGeom prst="rect">
            <a:avLst/>
          </a:prstGeom>
          <a:solidFill>
            <a:srgbClr val="5DC5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3" name="Rectangle 472"/>
          <p:cNvSpPr/>
          <p:nvPr/>
        </p:nvSpPr>
        <p:spPr>
          <a:xfrm>
            <a:off x="11383517" y="2474976"/>
            <a:ext cx="145237" cy="156667"/>
          </a:xfrm>
          <a:prstGeom prst="rect">
            <a:avLst/>
          </a:prstGeom>
          <a:solidFill>
            <a:srgbClr val="478A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4" name="Rectangle 473"/>
          <p:cNvSpPr/>
          <p:nvPr/>
        </p:nvSpPr>
        <p:spPr>
          <a:xfrm>
            <a:off x="11383517" y="2624328"/>
            <a:ext cx="145237" cy="156667"/>
          </a:xfrm>
          <a:prstGeom prst="rect">
            <a:avLst/>
          </a:prstGeom>
          <a:solidFill>
            <a:srgbClr val="304F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5" name="Rectangle 474"/>
          <p:cNvSpPr/>
          <p:nvPr/>
        </p:nvSpPr>
        <p:spPr>
          <a:xfrm>
            <a:off x="11383517" y="2773680"/>
            <a:ext cx="145237" cy="156667"/>
          </a:xfrm>
          <a:prstGeom prst="rect">
            <a:avLst/>
          </a:prstGeom>
          <a:solidFill>
            <a:srgbClr val="6ECD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6" name="Rectangle 475"/>
          <p:cNvSpPr/>
          <p:nvPr/>
        </p:nvSpPr>
        <p:spPr>
          <a:xfrm>
            <a:off x="11383517" y="2923031"/>
            <a:ext cx="145237" cy="156667"/>
          </a:xfrm>
          <a:prstGeom prst="rect">
            <a:avLst/>
          </a:prstGeom>
          <a:solidFill>
            <a:srgbClr val="589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7" name="Rectangle 476"/>
          <p:cNvSpPr/>
          <p:nvPr/>
        </p:nvSpPr>
        <p:spPr>
          <a:xfrm>
            <a:off x="11383517" y="3072384"/>
            <a:ext cx="145237" cy="156667"/>
          </a:xfrm>
          <a:prstGeom prst="rect">
            <a:avLst/>
          </a:prstGeom>
          <a:solidFill>
            <a:srgbClr val="4157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8" name="Rectangle 477"/>
          <p:cNvSpPr/>
          <p:nvPr/>
        </p:nvSpPr>
        <p:spPr>
          <a:xfrm>
            <a:off x="11383517" y="3221736"/>
            <a:ext cx="145237" cy="156667"/>
          </a:xfrm>
          <a:prstGeom prst="rect">
            <a:avLst/>
          </a:prstGeom>
          <a:solidFill>
            <a:srgbClr val="7F44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9" name="Rectangle 478"/>
          <p:cNvSpPr/>
          <p:nvPr/>
        </p:nvSpPr>
        <p:spPr>
          <a:xfrm>
            <a:off x="11383517" y="3371088"/>
            <a:ext cx="145237" cy="156667"/>
          </a:xfrm>
          <a:prstGeom prst="rect">
            <a:avLst/>
          </a:prstGeom>
          <a:solidFill>
            <a:srgbClr val="699A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0" name="Rectangle 479"/>
          <p:cNvSpPr/>
          <p:nvPr/>
        </p:nvSpPr>
        <p:spPr>
          <a:xfrm>
            <a:off x="11383517" y="3520439"/>
            <a:ext cx="145237" cy="156667"/>
          </a:xfrm>
          <a:prstGeom prst="rect">
            <a:avLst/>
          </a:prstGeom>
          <a:solidFill>
            <a:srgbClr val="525F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1" name="Rectangle 480"/>
          <p:cNvSpPr/>
          <p:nvPr/>
        </p:nvSpPr>
        <p:spPr>
          <a:xfrm>
            <a:off x="11383517" y="3669792"/>
            <a:ext cx="145237" cy="156667"/>
          </a:xfrm>
          <a:prstGeom prst="rect">
            <a:avLst/>
          </a:prstGeom>
          <a:solidFill>
            <a:srgbClr val="3BB5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2" name="Rectangle 481"/>
          <p:cNvSpPr/>
          <p:nvPr/>
        </p:nvSpPr>
        <p:spPr>
          <a:xfrm>
            <a:off x="11383517" y="3819143"/>
            <a:ext cx="145237" cy="156667"/>
          </a:xfrm>
          <a:prstGeom prst="rect">
            <a:avLst/>
          </a:prstGeom>
          <a:solidFill>
            <a:srgbClr val="7AA2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3" name="Rectangle 482"/>
          <p:cNvSpPr/>
          <p:nvPr/>
        </p:nvSpPr>
        <p:spPr>
          <a:xfrm>
            <a:off x="11383517" y="3968496"/>
            <a:ext cx="145237" cy="156667"/>
          </a:xfrm>
          <a:prstGeom prst="rect">
            <a:avLst/>
          </a:prstGeom>
          <a:solidFill>
            <a:srgbClr val="6367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4" name="Rectangle 483"/>
          <p:cNvSpPr/>
          <p:nvPr/>
        </p:nvSpPr>
        <p:spPr>
          <a:xfrm>
            <a:off x="11383517" y="4117847"/>
            <a:ext cx="145237" cy="156667"/>
          </a:xfrm>
          <a:prstGeom prst="rect">
            <a:avLst/>
          </a:prstGeom>
          <a:solidFill>
            <a:srgbClr val="4CBD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5" name="Rectangle 484"/>
          <p:cNvSpPr/>
          <p:nvPr/>
        </p:nvSpPr>
        <p:spPr>
          <a:xfrm>
            <a:off x="11383517" y="4267199"/>
            <a:ext cx="145237" cy="156667"/>
          </a:xfrm>
          <a:prstGeom prst="rect">
            <a:avLst/>
          </a:prstGeom>
          <a:solidFill>
            <a:srgbClr val="3682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6" name="Rectangle 485"/>
          <p:cNvSpPr/>
          <p:nvPr/>
        </p:nvSpPr>
        <p:spPr>
          <a:xfrm>
            <a:off x="11383517" y="4416552"/>
            <a:ext cx="145237" cy="156667"/>
          </a:xfrm>
          <a:prstGeom prst="rect">
            <a:avLst/>
          </a:prstGeom>
          <a:solidFill>
            <a:srgbClr val="746F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7" name="Rectangle 486"/>
          <p:cNvSpPr/>
          <p:nvPr/>
        </p:nvSpPr>
        <p:spPr>
          <a:xfrm>
            <a:off x="11383517" y="4565904"/>
            <a:ext cx="145237" cy="156667"/>
          </a:xfrm>
          <a:prstGeom prst="rect">
            <a:avLst/>
          </a:prstGeom>
          <a:solidFill>
            <a:srgbClr val="5DC5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8" name="Rectangle 487"/>
          <p:cNvSpPr/>
          <p:nvPr/>
        </p:nvSpPr>
        <p:spPr>
          <a:xfrm>
            <a:off x="11383517" y="4715256"/>
            <a:ext cx="145237" cy="156667"/>
          </a:xfrm>
          <a:prstGeom prst="rect">
            <a:avLst/>
          </a:prstGeom>
          <a:solidFill>
            <a:srgbClr val="478A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9" name="TextBox 488"/>
          <p:cNvSpPr txBox="1"/>
          <p:nvPr/>
        </p:nvSpPr>
        <p:spPr>
          <a:xfrm>
            <a:off x="8211311" y="4983480"/>
            <a:ext cx="3310128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100" b="1">
                <a:solidFill>
                  <a:srgbClr val="6251B1"/>
                </a:solidFill>
                <a:latin typeface="Alibaba PuHuiTi 3.0 115 Black"/>
              </a:defRPr>
            </a:pPr>
            <a:r>
              <a:t>C：复杂变化</a:t>
            </a:r>
          </a:p>
        </p:txBody>
      </p:sp>
      <p:sp>
        <p:nvSpPr>
          <p:cNvPr id="490" name="TextBox 489"/>
          <p:cNvSpPr txBox="1"/>
          <p:nvPr/>
        </p:nvSpPr>
        <p:spPr>
          <a:xfrm>
            <a:off x="786384" y="5852160"/>
            <a:ext cx="1069848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1700" b="0">
                <a:solidFill>
                  <a:srgbClr val="8C64E1"/>
                </a:solidFill>
                <a:latin typeface="Alibaba PuHuiTi 3.0 55 Regular"/>
              </a:defRPr>
            </a:pPr>
            <a:r>
              <a:t>如果只允许无损压缩，哪张图最容易用更短的规则完整表示？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练习题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1691640"/>
            <a:ext cx="10652760" cy="3035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A纯色、B规则色块、C复杂花纹，尺寸与位深相同。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分别用相同无损方法压缩，谁通常最小？为什么？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22960" y="4919472"/>
            <a:ext cx="10259568" cy="0"/>
          </a:xfrm>
          <a:prstGeom prst="line">
            <a:avLst/>
          </a:prstGeom>
          <a:ln w="254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832104" y="5166360"/>
            <a:ext cx="10332720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t>不仅选择，还要解释“重复”和“规律”。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5010912"/>
            <a:ext cx="10661904" cy="1261872"/>
          </a:xfrm>
          <a:prstGeom prst="rect">
            <a:avLst/>
          </a:prstGeom>
          <a:solidFill>
            <a:srgbClr val="F6F3FF"/>
          </a:solidFill>
          <a:ln w="8890">
            <a:solidFill>
              <a:srgbClr val="E0DD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5010912"/>
            <a:ext cx="68580" cy="1261872"/>
          </a:xfrm>
          <a:prstGeom prst="rect">
            <a:avLst/>
          </a:prstGeom>
          <a:solidFill>
            <a:srgbClr val="6251B1"/>
          </a:solidFill>
          <a:ln w="8890">
            <a:solidFill>
              <a:srgbClr val="6251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练习题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1691640"/>
            <a:ext cx="10652760" cy="3035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A纯色、B规则色块、C复杂花纹，尺寸与位深相同。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分别用相同无损方法压缩，谁通常最小？为什么？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22960" y="4919472"/>
            <a:ext cx="10259568" cy="0"/>
          </a:xfrm>
          <a:prstGeom prst="line">
            <a:avLst/>
          </a:prstGeom>
          <a:ln w="254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005840" y="5111496"/>
            <a:ext cx="10241280" cy="521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rPr b="1" sz="2600">
                <a:solidFill>
                  <a:srgbClr val="8C64E1"/>
                </a:solidFill>
                <a:latin typeface="Alibaba PuHuiTi 3.0 115 Black"/>
              </a:rPr>
              <a:t>答案：A通常最小。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5660136"/>
            <a:ext cx="10241280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0">
                <a:solidFill>
                  <a:srgbClr val="262626"/>
                </a:solidFill>
                <a:latin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</a:rPr>
              <a:t>纯色图像的重复与规律性最强，一般更容易用简短规则表示。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同一张图：BMP与JPG有什么不同？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" y="1947672"/>
            <a:ext cx="5047488" cy="2761488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45936" y="1947672"/>
            <a:ext cx="5047488" cy="276148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32104" y="4892040"/>
            <a:ext cx="4983480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同源原图（无损保存示意）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91656" y="4892040"/>
            <a:ext cx="4956048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2000" b="1">
                <a:solidFill>
                  <a:srgbClr val="00B0F0"/>
                </a:solidFill>
                <a:latin typeface="Alibaba PuHuiTi 3.0 115 Black"/>
              </a:defRPr>
            </a:pPr>
            <a:r>
              <a:t>同一图像：低质量JPEG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" y="5852160"/>
            <a:ext cx="1069848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1700" b="0">
                <a:solidFill>
                  <a:srgbClr val="8C64E1"/>
                </a:solidFill>
                <a:latin typeface="Alibaba PuHuiTi 3.0 55 Regular"/>
              </a:defRPr>
            </a:pPr>
            <a:r>
              <a:t>两图尺寸相同；右图仅用于观察明显压缩伪影，不代表所有JPEG质量。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已经压成MP3、JPG，再用RAR压一遍呢？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080760" y="1627632"/>
            <a:ext cx="0" cy="3776472"/>
          </a:xfrm>
          <a:prstGeom prst="line">
            <a:avLst/>
          </a:prstGeom>
          <a:ln w="254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822960" y="1737360"/>
            <a:ext cx="5074920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800" b="1">
                <a:solidFill>
                  <a:srgbClr val="8C64E1"/>
                </a:solidFill>
                <a:latin typeface="Alibaba PuHuiTi 3.0 115 Black"/>
              </a:defRPr>
            </a:pPr>
            <a:r>
              <a:t>第一次压缩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55664" y="1737360"/>
            <a:ext cx="4754880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800" b="1">
                <a:solidFill>
                  <a:srgbClr val="00B0F0"/>
                </a:solidFill>
                <a:latin typeface="Alibaba PuHuiTi 3.0 115 Black"/>
              </a:defRPr>
            </a:pPr>
            <a:r>
              <a:t>再次压缩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743200"/>
            <a:ext cx="5010912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t>有些重复或不重要的信息被更简洁地表示，文件大幅减小。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55664" y="2743200"/>
            <a:ext cx="4873752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t>可进一步利用的冗余通常较少，RAR再压往往收效不大。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注意：再次用有损编码重新保存，还可能累积质量损失。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是不是压得越小就一定越好？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080760" y="1627632"/>
            <a:ext cx="0" cy="3776472"/>
          </a:xfrm>
          <a:prstGeom prst="line">
            <a:avLst/>
          </a:prstGeom>
          <a:ln w="254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822960" y="1737360"/>
            <a:ext cx="5074920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800" b="1">
                <a:solidFill>
                  <a:srgbClr val="8C64E1"/>
                </a:solidFill>
                <a:latin typeface="Alibaba PuHuiTi 3.0 115 Black"/>
              </a:defRPr>
            </a:pPr>
            <a:r>
              <a:rPr sz="2700" b="1">
                <a:solidFill>
                  <a:srgbClr val="6251B1"/>
                </a:solidFill>
                <a:latin typeface="Alibaba PuHuiTi 3.0 115 Black"/>
              </a:rPr>
              <a:t>重要文档长期备份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55664" y="1737360"/>
            <a:ext cx="4754880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800" b="1">
                <a:solidFill>
                  <a:srgbClr val="00B0F0"/>
                </a:solidFill>
                <a:latin typeface="Alibaba PuHuiTi 3.0 115 Black"/>
              </a:defRPr>
            </a:pPr>
            <a:r>
              <a:rPr sz="2700" b="1">
                <a:solidFill>
                  <a:srgbClr val="00B0F0"/>
                </a:solidFill>
                <a:latin typeface="Alibaba PuHuiTi 3.0 115 Black"/>
              </a:rPr>
              <a:t>实时视频通话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743200"/>
            <a:ext cx="5010912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rPr sz="2300">
                <a:latin typeface="Alibaba PuHuiTi 3.0 55 Regular"/>
              </a:rPr>
              <a:t>优先考虑信息完整、能够恢复，以及可靠保存。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55664" y="2743200"/>
            <a:ext cx="4873752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rPr sz="2300">
                <a:latin typeface="Alibaba PuHuiTi 3.0 55 Regular"/>
              </a:rPr>
              <a:t>优先兼顾流畅度、延迟、声音画面质量和传输量。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选择编码与压缩方式，要看具体任务，而不是只比文件大小。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练习题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1691640"/>
            <a:ext cx="10652760" cy="3035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下列说法，哪些正确？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① 增加编辑音轨，未压缩PCM数据量必然翻倍。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② 未压缩视频逐帧保存，数据量可能很大。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③ ZIP解压后可以恢复原始文档。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22960" y="4919472"/>
            <a:ext cx="10259568" cy="0"/>
          </a:xfrm>
          <a:prstGeom prst="line">
            <a:avLst/>
          </a:prstGeom>
          <a:ln w="254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832104" y="5166360"/>
            <a:ext cx="10332720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t>逐条作答，并解释理由。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5010912"/>
            <a:ext cx="10661904" cy="1261872"/>
          </a:xfrm>
          <a:prstGeom prst="rect">
            <a:avLst/>
          </a:prstGeom>
          <a:solidFill>
            <a:srgbClr val="F6F3FF"/>
          </a:solidFill>
          <a:ln w="8890">
            <a:solidFill>
              <a:srgbClr val="E0DD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5010912"/>
            <a:ext cx="68580" cy="1261872"/>
          </a:xfrm>
          <a:prstGeom prst="rect">
            <a:avLst/>
          </a:prstGeom>
          <a:solidFill>
            <a:srgbClr val="6251B1"/>
          </a:solidFill>
          <a:ln w="8890">
            <a:solidFill>
              <a:srgbClr val="6251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练习题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1691640"/>
            <a:ext cx="10652760" cy="3035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下列说法，哪些正确？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① 增加编辑音轨，未压缩PCM数据量必然翻倍。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② 未压缩视频逐帧保存，数据量可能很大。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③ ZIP解压后可以恢复原始文档。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22960" y="4919472"/>
            <a:ext cx="10259568" cy="0"/>
          </a:xfrm>
          <a:prstGeom prst="line">
            <a:avLst/>
          </a:prstGeom>
          <a:ln w="254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005840" y="5111496"/>
            <a:ext cx="10241280" cy="521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rPr b="1" sz="2600">
                <a:solidFill>
                  <a:srgbClr val="8C64E1"/>
                </a:solidFill>
                <a:latin typeface="Alibaba PuHuiTi 3.0 115 Black"/>
              </a:rPr>
              <a:t>答案：①错；②对；③对。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5660136"/>
            <a:ext cx="10241280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0">
                <a:solidFill>
                  <a:srgbClr val="262626"/>
                </a:solidFill>
                <a:latin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</a:rPr>
              <a:t>①音轨不等于声道；②每帧的数据量相加可能很大；③ZIP为无损归档。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离开课堂前，你能解释三个为什么吗？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1828800"/>
            <a:ext cx="1088136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600" b="1">
                <a:solidFill>
                  <a:srgbClr val="8C64E1"/>
                </a:solidFill>
                <a:latin typeface="Alibaba PuHuiTi 3.0 115 Black"/>
              </a:defRPr>
            </a:pPr>
            <a:r>
              <a:t>① 声音为什么能变成一组0和1？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3063240"/>
            <a:ext cx="1088136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600" b="1">
                <a:solidFill>
                  <a:srgbClr val="00B0F0"/>
                </a:solidFill>
                <a:latin typeface="Alibaba PuHuiTi 3.0 115 Black"/>
              </a:defRPr>
            </a:pPr>
            <a:r>
              <a:t>② 小视频为什么可能算出6.44 GiB？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6384" y="4297680"/>
            <a:ext cx="1088136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600" b="1">
                <a:solidFill>
                  <a:srgbClr val="8C64E1"/>
                </a:solidFill>
                <a:latin typeface="Alibaba PuHuiTi 3.0 115 Black"/>
              </a:defRPr>
            </a:pPr>
            <a:r>
              <a:t>③ 有些文件为什么压缩后变化很小？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可选拓展：采样不足时会发生什么？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1097280" y="2468880"/>
            <a:ext cx="9509760" cy="0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188720" y="1810512"/>
            <a:ext cx="0" cy="1325880"/>
          </a:xfrm>
          <a:prstGeom prst="line">
            <a:avLst/>
          </a:prstGeom>
          <a:ln w="1651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216152" y="1499616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0">
                <a:solidFill>
                  <a:srgbClr val="808080"/>
                </a:solidFill>
                <a:latin typeface="Alibaba PuHuiTi 3.0 55 Regular"/>
              </a:defRPr>
            </a:pPr>
            <a:r>
              <a:t>振幅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92640" y="2587752"/>
            <a:ext cx="8229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0">
                <a:solidFill>
                  <a:srgbClr val="808080"/>
                </a:solidFill>
                <a:latin typeface="Alibaba PuHuiTi 3.0 55 Regular"/>
              </a:defRPr>
            </a:pPr>
            <a:r>
              <a:t>时间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1271016"/>
            <a:ext cx="950976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t>波形 A</a:t>
            </a:r>
          </a:p>
        </p:txBody>
      </p:sp>
      <p:cxnSp>
        <p:nvCxnSpPr>
          <p:cNvPr id="10" name="Connector 9"/>
          <p:cNvCxnSpPr/>
          <p:nvPr/>
        </p:nvCxnSpPr>
        <p:spPr>
          <a:xfrm flipV="1">
            <a:off x="1188720" y="2369440"/>
            <a:ext cx="87325" cy="44575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1276045" y="2325261"/>
            <a:ext cx="87325" cy="44179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1363370" y="2281869"/>
            <a:ext cx="87325" cy="43392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1450695" y="2239650"/>
            <a:ext cx="87325" cy="42219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1538020" y="2198979"/>
            <a:ext cx="87326" cy="40671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1625346" y="2160216"/>
            <a:ext cx="87325" cy="38763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1712671" y="2123706"/>
            <a:ext cx="87325" cy="36510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1799996" y="2089773"/>
            <a:ext cx="87325" cy="33933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1887321" y="2058718"/>
            <a:ext cx="87325" cy="31055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1974646" y="2030817"/>
            <a:ext cx="87326" cy="27901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2061972" y="2006317"/>
            <a:ext cx="87325" cy="24500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2149297" y="1985436"/>
            <a:ext cx="87325" cy="20881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2236622" y="1968359"/>
            <a:ext cx="87325" cy="17077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2323947" y="1955237"/>
            <a:ext cx="87325" cy="13122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2411272" y="1946188"/>
            <a:ext cx="87326" cy="9049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2498598" y="1941291"/>
            <a:ext cx="87325" cy="4897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2585923" y="1940590"/>
            <a:ext cx="87325" cy="701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2673248" y="1940590"/>
            <a:ext cx="87325" cy="3501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2760573" y="1944091"/>
            <a:ext cx="87325" cy="7673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2847898" y="1951764"/>
            <a:ext cx="87326" cy="11775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2935224" y="1963539"/>
            <a:ext cx="87325" cy="15774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3022549" y="1979313"/>
            <a:ext cx="87325" cy="19632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3109874" y="1998945"/>
            <a:ext cx="87325" cy="23316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3197199" y="2022261"/>
            <a:ext cx="87325" cy="26794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3284524" y="2049055"/>
            <a:ext cx="87326" cy="30033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3371850" y="2079088"/>
            <a:ext cx="87325" cy="33006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3459175" y="2112094"/>
            <a:ext cx="87325" cy="35686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3546500" y="2147780"/>
            <a:ext cx="87325" cy="38048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3633825" y="2185828"/>
            <a:ext cx="87325" cy="40075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3721150" y="2225903"/>
            <a:ext cx="87326" cy="41744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3808476" y="2267647"/>
            <a:ext cx="87325" cy="43043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3895801" y="2310690"/>
            <a:ext cx="87325" cy="43960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3983126" y="2354650"/>
            <a:ext cx="87325" cy="44488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4070451" y="2399138"/>
            <a:ext cx="87325" cy="44619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4157776" y="2443757"/>
            <a:ext cx="87326" cy="44355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4245102" y="2488112"/>
            <a:ext cx="87325" cy="43698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4332427" y="2531810"/>
            <a:ext cx="87325" cy="42652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4419752" y="2574462"/>
            <a:ext cx="87325" cy="41228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4507077" y="2615690"/>
            <a:ext cx="87325" cy="39438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4594402" y="2655128"/>
            <a:ext cx="87326" cy="37297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4681728" y="2692425"/>
            <a:ext cx="87325" cy="34827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4769053" y="2727252"/>
            <a:ext cx="87325" cy="32046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4856378" y="2759298"/>
            <a:ext cx="87325" cy="28982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4943703" y="2788280"/>
            <a:ext cx="87325" cy="25659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5031028" y="2813939"/>
            <a:ext cx="87326" cy="22110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5118354" y="2836049"/>
            <a:ext cx="87325" cy="18364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5205679" y="2854413"/>
            <a:ext cx="87325" cy="14454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5293004" y="2868867"/>
            <a:ext cx="87325" cy="10418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5380329" y="2879285"/>
            <a:ext cx="87325" cy="6288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5467654" y="2885573"/>
            <a:ext cx="87326" cy="2102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V="1">
            <a:off x="5554980" y="2885573"/>
            <a:ext cx="87325" cy="2102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V="1">
            <a:off x="5642305" y="2879285"/>
            <a:ext cx="87325" cy="6288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 flipV="1">
            <a:off x="5729630" y="2868867"/>
            <a:ext cx="87325" cy="10418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 flipV="1">
            <a:off x="5816955" y="2854413"/>
            <a:ext cx="87325" cy="14454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V="1">
            <a:off x="5904280" y="2836049"/>
            <a:ext cx="87326" cy="18364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 flipV="1">
            <a:off x="5991606" y="2813939"/>
            <a:ext cx="87325" cy="22110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 flipV="1">
            <a:off x="6078931" y="2788280"/>
            <a:ext cx="87325" cy="25659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V="1">
            <a:off x="6166256" y="2759298"/>
            <a:ext cx="87325" cy="28982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 flipV="1">
            <a:off x="6253581" y="2727252"/>
            <a:ext cx="87325" cy="32046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V="1">
            <a:off x="6340906" y="2692425"/>
            <a:ext cx="87326" cy="34827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 flipV="1">
            <a:off x="6428232" y="2655128"/>
            <a:ext cx="87325" cy="37297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 flipV="1">
            <a:off x="6515557" y="2615690"/>
            <a:ext cx="87325" cy="39438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 flipV="1">
            <a:off x="6602882" y="2574462"/>
            <a:ext cx="87325" cy="41228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 flipV="1">
            <a:off x="6690207" y="2531810"/>
            <a:ext cx="87325" cy="42652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 flipV="1">
            <a:off x="6777532" y="2488112"/>
            <a:ext cx="87326" cy="43698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 flipV="1">
            <a:off x="6864858" y="2443757"/>
            <a:ext cx="87325" cy="44355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 flipV="1">
            <a:off x="6952183" y="2399138"/>
            <a:ext cx="87325" cy="44619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 flipV="1">
            <a:off x="7039508" y="2354650"/>
            <a:ext cx="87325" cy="44488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 flipV="1">
            <a:off x="7126833" y="2310690"/>
            <a:ext cx="87325" cy="43960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 flipV="1">
            <a:off x="7214158" y="2267647"/>
            <a:ext cx="87326" cy="43043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 flipV="1">
            <a:off x="7301484" y="2225903"/>
            <a:ext cx="87325" cy="41744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 flipV="1">
            <a:off x="7388809" y="2185828"/>
            <a:ext cx="87325" cy="40075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 flipV="1">
            <a:off x="7476134" y="2147780"/>
            <a:ext cx="87325" cy="38048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 flipV="1">
            <a:off x="7563459" y="2112094"/>
            <a:ext cx="87325" cy="35686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 flipV="1">
            <a:off x="7650784" y="2079088"/>
            <a:ext cx="87326" cy="33006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 flipV="1">
            <a:off x="7738110" y="2049055"/>
            <a:ext cx="87325" cy="30033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 flipV="1">
            <a:off x="7825435" y="2022261"/>
            <a:ext cx="87325" cy="26794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 flipV="1">
            <a:off x="7912760" y="1998945"/>
            <a:ext cx="87325" cy="23316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 flipV="1">
            <a:off x="8000085" y="1979313"/>
            <a:ext cx="87325" cy="19632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 flipV="1">
            <a:off x="8087410" y="1963539"/>
            <a:ext cx="87326" cy="15774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 flipV="1">
            <a:off x="8174736" y="1951764"/>
            <a:ext cx="87325" cy="11775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 flipV="1">
            <a:off x="8262061" y="1944091"/>
            <a:ext cx="87325" cy="7673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 flipV="1">
            <a:off x="8349386" y="1940590"/>
            <a:ext cx="87325" cy="3501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>
            <a:off x="8436711" y="1940590"/>
            <a:ext cx="87325" cy="701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>
            <a:off x="8524036" y="1941291"/>
            <a:ext cx="87326" cy="4897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>
            <a:off x="8611362" y="1946188"/>
            <a:ext cx="87325" cy="9049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>
            <a:off x="8698687" y="1955237"/>
            <a:ext cx="87325" cy="13122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>
            <a:off x="8786012" y="1968359"/>
            <a:ext cx="87325" cy="17077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>
            <a:off x="8873337" y="1985436"/>
            <a:ext cx="87325" cy="20881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>
            <a:off x="8960662" y="2006317"/>
            <a:ext cx="87326" cy="24500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>
            <a:off x="9047988" y="2030817"/>
            <a:ext cx="87325" cy="27901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>
            <a:off x="9135313" y="2058718"/>
            <a:ext cx="87325" cy="31055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>
            <a:off x="9222638" y="2089773"/>
            <a:ext cx="87325" cy="33933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>
            <a:off x="9309963" y="2123706"/>
            <a:ext cx="87325" cy="36510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>
            <a:off x="9397288" y="2160216"/>
            <a:ext cx="87326" cy="38763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>
            <a:off x="9484614" y="2198979"/>
            <a:ext cx="87325" cy="40671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>
            <a:off x="9571939" y="2239650"/>
            <a:ext cx="87325" cy="42219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>
            <a:off x="9659264" y="2281869"/>
            <a:ext cx="87325" cy="43392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>
            <a:off x="9746589" y="2325261"/>
            <a:ext cx="87325" cy="44179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or 108"/>
          <p:cNvCxnSpPr/>
          <p:nvPr/>
        </p:nvCxnSpPr>
        <p:spPr>
          <a:xfrm>
            <a:off x="9833914" y="2369440"/>
            <a:ext cx="87326" cy="44575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Connector 109"/>
          <p:cNvCxnSpPr/>
          <p:nvPr/>
        </p:nvCxnSpPr>
        <p:spPr>
          <a:xfrm>
            <a:off x="1097280" y="4425696"/>
            <a:ext cx="9509760" cy="0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Connector 110"/>
          <p:cNvCxnSpPr/>
          <p:nvPr/>
        </p:nvCxnSpPr>
        <p:spPr>
          <a:xfrm>
            <a:off x="1188720" y="3767328"/>
            <a:ext cx="0" cy="1325879"/>
          </a:xfrm>
          <a:prstGeom prst="line">
            <a:avLst/>
          </a:prstGeom>
          <a:ln w="1651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2" name="TextBox 111"/>
          <p:cNvSpPr txBox="1"/>
          <p:nvPr/>
        </p:nvSpPr>
        <p:spPr>
          <a:xfrm>
            <a:off x="1216152" y="3456432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0">
                <a:solidFill>
                  <a:srgbClr val="808080"/>
                </a:solidFill>
                <a:latin typeface="Alibaba PuHuiTi 3.0 55 Regular"/>
              </a:defRPr>
            </a:pPr>
            <a:r>
              <a:t>振幅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9692640" y="4544568"/>
            <a:ext cx="8229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0">
                <a:solidFill>
                  <a:srgbClr val="808080"/>
                </a:solidFill>
                <a:latin typeface="Alibaba PuHuiTi 3.0 55 Regular"/>
              </a:defRPr>
            </a:pPr>
            <a:r>
              <a:t>时间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1097280" y="3227832"/>
            <a:ext cx="950976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t>波形 B</a:t>
            </a:r>
          </a:p>
        </p:txBody>
      </p:sp>
      <p:cxnSp>
        <p:nvCxnSpPr>
          <p:cNvPr id="115" name="Connector 114"/>
          <p:cNvCxnSpPr/>
          <p:nvPr/>
        </p:nvCxnSpPr>
        <p:spPr>
          <a:xfrm flipV="1">
            <a:off x="1188720" y="4267506"/>
            <a:ext cx="87325" cy="103326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Connector 115"/>
          <p:cNvCxnSpPr/>
          <p:nvPr/>
        </p:nvCxnSpPr>
        <p:spPr>
          <a:xfrm flipV="1">
            <a:off x="1276045" y="4169157"/>
            <a:ext cx="87325" cy="98349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" name="Connector 116"/>
          <p:cNvCxnSpPr/>
          <p:nvPr/>
        </p:nvCxnSpPr>
        <p:spPr>
          <a:xfrm flipV="1">
            <a:off x="1363370" y="4080522"/>
            <a:ext cx="87325" cy="88635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Connector 117"/>
          <p:cNvCxnSpPr/>
          <p:nvPr/>
        </p:nvCxnSpPr>
        <p:spPr>
          <a:xfrm flipV="1">
            <a:off x="1450695" y="4005871"/>
            <a:ext cx="87325" cy="74651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or 118"/>
          <p:cNvCxnSpPr/>
          <p:nvPr/>
        </p:nvCxnSpPr>
        <p:spPr>
          <a:xfrm flipV="1">
            <a:off x="1538020" y="3948798"/>
            <a:ext cx="87326" cy="57073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Connector 119"/>
          <p:cNvCxnSpPr/>
          <p:nvPr/>
        </p:nvCxnSpPr>
        <p:spPr>
          <a:xfrm flipV="1">
            <a:off x="1625346" y="3912053"/>
            <a:ext cx="87325" cy="36745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" name="Connector 120"/>
          <p:cNvCxnSpPr/>
          <p:nvPr/>
        </p:nvCxnSpPr>
        <p:spPr>
          <a:xfrm flipV="1">
            <a:off x="1712671" y="3897406"/>
            <a:ext cx="87325" cy="14647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" name="Connector 121"/>
          <p:cNvCxnSpPr/>
          <p:nvPr/>
        </p:nvCxnSpPr>
        <p:spPr>
          <a:xfrm>
            <a:off x="1799996" y="3897406"/>
            <a:ext cx="87325" cy="8156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" name="Connector 122"/>
          <p:cNvCxnSpPr/>
          <p:nvPr/>
        </p:nvCxnSpPr>
        <p:spPr>
          <a:xfrm>
            <a:off x="1887321" y="3905562"/>
            <a:ext cx="87325" cy="30567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Connector 123"/>
          <p:cNvCxnSpPr/>
          <p:nvPr/>
        </p:nvCxnSpPr>
        <p:spPr>
          <a:xfrm>
            <a:off x="1974646" y="3936129"/>
            <a:ext cx="87326" cy="51504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Connector 124"/>
          <p:cNvCxnSpPr/>
          <p:nvPr/>
        </p:nvCxnSpPr>
        <p:spPr>
          <a:xfrm>
            <a:off x="2061972" y="3987633"/>
            <a:ext cx="87325" cy="69962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" name="Connector 125"/>
          <p:cNvCxnSpPr/>
          <p:nvPr/>
        </p:nvCxnSpPr>
        <p:spPr>
          <a:xfrm>
            <a:off x="2149297" y="4057595"/>
            <a:ext cx="87325" cy="85049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" name="Connector 126"/>
          <p:cNvCxnSpPr/>
          <p:nvPr/>
        </p:nvCxnSpPr>
        <p:spPr>
          <a:xfrm>
            <a:off x="2236622" y="4142644"/>
            <a:ext cx="87325" cy="96041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" name="Connector 127"/>
          <p:cNvCxnSpPr/>
          <p:nvPr/>
        </p:nvCxnSpPr>
        <p:spPr>
          <a:xfrm>
            <a:off x="2323947" y="4238685"/>
            <a:ext cx="87325" cy="102405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" name="Connector 128"/>
          <p:cNvCxnSpPr/>
          <p:nvPr/>
        </p:nvCxnSpPr>
        <p:spPr>
          <a:xfrm>
            <a:off x="2411272" y="4341090"/>
            <a:ext cx="87326" cy="103838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" name="Connector 129"/>
          <p:cNvCxnSpPr/>
          <p:nvPr/>
        </p:nvCxnSpPr>
        <p:spPr>
          <a:xfrm>
            <a:off x="2498598" y="4444928"/>
            <a:ext cx="87325" cy="100269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Connector 130"/>
          <p:cNvCxnSpPr/>
          <p:nvPr/>
        </p:nvCxnSpPr>
        <p:spPr>
          <a:xfrm>
            <a:off x="2585923" y="4545197"/>
            <a:ext cx="87325" cy="91870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Connector 131"/>
          <p:cNvCxnSpPr/>
          <p:nvPr/>
        </p:nvCxnSpPr>
        <p:spPr>
          <a:xfrm>
            <a:off x="2673248" y="4637067"/>
            <a:ext cx="87325" cy="79047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3" name="Connector 132"/>
          <p:cNvCxnSpPr/>
          <p:nvPr/>
        </p:nvCxnSpPr>
        <p:spPr>
          <a:xfrm>
            <a:off x="2760573" y="4716114"/>
            <a:ext cx="87325" cy="62416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Connector 133"/>
          <p:cNvCxnSpPr/>
          <p:nvPr/>
        </p:nvCxnSpPr>
        <p:spPr>
          <a:xfrm>
            <a:off x="2847898" y="4778530"/>
            <a:ext cx="87326" cy="42778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Connector 134"/>
          <p:cNvCxnSpPr/>
          <p:nvPr/>
        </p:nvCxnSpPr>
        <p:spPr>
          <a:xfrm>
            <a:off x="2935224" y="4821308"/>
            <a:ext cx="87325" cy="21081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Connector 135"/>
          <p:cNvCxnSpPr/>
          <p:nvPr/>
        </p:nvCxnSpPr>
        <p:spPr>
          <a:xfrm flipV="1">
            <a:off x="3022549" y="4840756"/>
            <a:ext cx="87325" cy="1633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Connector 136"/>
          <p:cNvCxnSpPr/>
          <p:nvPr/>
        </p:nvCxnSpPr>
        <p:spPr>
          <a:xfrm flipV="1">
            <a:off x="3109874" y="4816488"/>
            <a:ext cx="87325" cy="24268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Connector 137"/>
          <p:cNvCxnSpPr/>
          <p:nvPr/>
        </p:nvCxnSpPr>
        <p:spPr>
          <a:xfrm flipV="1">
            <a:off x="3197199" y="4770755"/>
            <a:ext cx="87325" cy="45733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" name="Connector 138"/>
          <p:cNvCxnSpPr/>
          <p:nvPr/>
        </p:nvCxnSpPr>
        <p:spPr>
          <a:xfrm flipV="1">
            <a:off x="3284524" y="4705759"/>
            <a:ext cx="87326" cy="64996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" name="Connector 139"/>
          <p:cNvCxnSpPr/>
          <p:nvPr/>
        </p:nvCxnSpPr>
        <p:spPr>
          <a:xfrm flipV="1">
            <a:off x="3371850" y="4624631"/>
            <a:ext cx="87325" cy="81128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Connector 140"/>
          <p:cNvCxnSpPr/>
          <p:nvPr/>
        </p:nvCxnSpPr>
        <p:spPr>
          <a:xfrm flipV="1">
            <a:off x="3459175" y="4531278"/>
            <a:ext cx="87325" cy="93353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2" name="Connector 141"/>
          <p:cNvCxnSpPr/>
          <p:nvPr/>
        </p:nvCxnSpPr>
        <p:spPr>
          <a:xfrm flipV="1">
            <a:off x="3546500" y="4430197"/>
            <a:ext cx="87325" cy="101081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3" name="Connector 142"/>
          <p:cNvCxnSpPr/>
          <p:nvPr/>
        </p:nvCxnSpPr>
        <p:spPr>
          <a:xfrm flipV="1">
            <a:off x="3633825" y="4326256"/>
            <a:ext cx="87325" cy="103941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4" name="Connector 143"/>
          <p:cNvCxnSpPr/>
          <p:nvPr/>
        </p:nvCxnSpPr>
        <p:spPr>
          <a:xfrm flipV="1">
            <a:off x="3721150" y="4224463"/>
            <a:ext cx="87326" cy="101793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5" name="Connector 144"/>
          <p:cNvCxnSpPr/>
          <p:nvPr/>
        </p:nvCxnSpPr>
        <p:spPr>
          <a:xfrm flipV="1">
            <a:off x="3808476" y="4129719"/>
            <a:ext cx="87325" cy="94744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6" name="Connector 145"/>
          <p:cNvCxnSpPr/>
          <p:nvPr/>
        </p:nvCxnSpPr>
        <p:spPr>
          <a:xfrm flipV="1">
            <a:off x="3895801" y="4046589"/>
            <a:ext cx="87325" cy="83130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7" name="Connector 146"/>
          <p:cNvCxnSpPr/>
          <p:nvPr/>
        </p:nvCxnSpPr>
        <p:spPr>
          <a:xfrm flipV="1">
            <a:off x="3983126" y="3979077"/>
            <a:ext cx="87325" cy="67512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8" name="Connector 147"/>
          <p:cNvCxnSpPr/>
          <p:nvPr/>
        </p:nvCxnSpPr>
        <p:spPr>
          <a:xfrm flipV="1">
            <a:off x="4070451" y="3930434"/>
            <a:ext cx="87325" cy="48643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9" name="Connector 148"/>
          <p:cNvCxnSpPr/>
          <p:nvPr/>
        </p:nvCxnSpPr>
        <p:spPr>
          <a:xfrm flipV="1">
            <a:off x="4157776" y="3903004"/>
            <a:ext cx="87326" cy="27430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0" name="Connector 149"/>
          <p:cNvCxnSpPr/>
          <p:nvPr/>
        </p:nvCxnSpPr>
        <p:spPr>
          <a:xfrm flipV="1">
            <a:off x="4245102" y="3898107"/>
            <a:ext cx="87325" cy="4897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1" name="Connector 150"/>
          <p:cNvCxnSpPr/>
          <p:nvPr/>
        </p:nvCxnSpPr>
        <p:spPr>
          <a:xfrm>
            <a:off x="4332427" y="3898107"/>
            <a:ext cx="87325" cy="17873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2" name="Connector 151"/>
          <p:cNvCxnSpPr/>
          <p:nvPr/>
        </p:nvCxnSpPr>
        <p:spPr>
          <a:xfrm>
            <a:off x="4419752" y="3915980"/>
            <a:ext cx="87325" cy="39781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" name="Connector 152"/>
          <p:cNvCxnSpPr/>
          <p:nvPr/>
        </p:nvCxnSpPr>
        <p:spPr>
          <a:xfrm>
            <a:off x="4507077" y="3955761"/>
            <a:ext cx="87325" cy="59773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4" name="Connector 153"/>
          <p:cNvCxnSpPr/>
          <p:nvPr/>
        </p:nvCxnSpPr>
        <p:spPr>
          <a:xfrm>
            <a:off x="4594402" y="4015534"/>
            <a:ext cx="87326" cy="76888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5" name="Connector 154"/>
          <p:cNvCxnSpPr/>
          <p:nvPr/>
        </p:nvCxnSpPr>
        <p:spPr>
          <a:xfrm>
            <a:off x="4681728" y="4092422"/>
            <a:ext cx="87325" cy="90297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6" name="Connector 155"/>
          <p:cNvCxnSpPr/>
          <p:nvPr/>
        </p:nvCxnSpPr>
        <p:spPr>
          <a:xfrm>
            <a:off x="4769053" y="4182719"/>
            <a:ext cx="87325" cy="99358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7" name="Connector 156"/>
          <p:cNvCxnSpPr/>
          <p:nvPr/>
        </p:nvCxnSpPr>
        <p:spPr>
          <a:xfrm>
            <a:off x="4856378" y="4282077"/>
            <a:ext cx="87325" cy="103632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8" name="Connector 157"/>
          <p:cNvCxnSpPr/>
          <p:nvPr/>
        </p:nvCxnSpPr>
        <p:spPr>
          <a:xfrm>
            <a:off x="4943703" y="4385709"/>
            <a:ext cx="87325" cy="102917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9" name="Connector 158"/>
          <p:cNvCxnSpPr/>
          <p:nvPr/>
        </p:nvCxnSpPr>
        <p:spPr>
          <a:xfrm>
            <a:off x="5031028" y="4488626"/>
            <a:ext cx="87326" cy="97242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0" name="Connector 159"/>
          <p:cNvCxnSpPr/>
          <p:nvPr/>
        </p:nvCxnSpPr>
        <p:spPr>
          <a:xfrm>
            <a:off x="5118354" y="4585868"/>
            <a:ext cx="87325" cy="86885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1" name="Connector 160"/>
          <p:cNvCxnSpPr/>
          <p:nvPr/>
        </p:nvCxnSpPr>
        <p:spPr>
          <a:xfrm>
            <a:off x="5205679" y="4672753"/>
            <a:ext cx="87325" cy="72343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2" name="Connector 161"/>
          <p:cNvCxnSpPr/>
          <p:nvPr/>
        </p:nvCxnSpPr>
        <p:spPr>
          <a:xfrm>
            <a:off x="5293004" y="4745096"/>
            <a:ext cx="87325" cy="54315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3" name="Connector 162"/>
          <p:cNvCxnSpPr/>
          <p:nvPr/>
        </p:nvCxnSpPr>
        <p:spPr>
          <a:xfrm>
            <a:off x="5380329" y="4799411"/>
            <a:ext cx="87325" cy="33672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4" name="Connector 163"/>
          <p:cNvCxnSpPr/>
          <p:nvPr/>
        </p:nvCxnSpPr>
        <p:spPr>
          <a:xfrm>
            <a:off x="5467654" y="4833083"/>
            <a:ext cx="87326" cy="11408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5" name="Connector 164"/>
          <p:cNvCxnSpPr/>
          <p:nvPr/>
        </p:nvCxnSpPr>
        <p:spPr>
          <a:xfrm flipV="1">
            <a:off x="5554980" y="4833083"/>
            <a:ext cx="87325" cy="11408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6" name="Connector 165"/>
          <p:cNvCxnSpPr/>
          <p:nvPr/>
        </p:nvCxnSpPr>
        <p:spPr>
          <a:xfrm flipV="1">
            <a:off x="5642305" y="4799411"/>
            <a:ext cx="87325" cy="33672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7" name="Connector 166"/>
          <p:cNvCxnSpPr/>
          <p:nvPr/>
        </p:nvCxnSpPr>
        <p:spPr>
          <a:xfrm flipV="1">
            <a:off x="5729630" y="4745096"/>
            <a:ext cx="87325" cy="54315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8" name="Connector 167"/>
          <p:cNvCxnSpPr/>
          <p:nvPr/>
        </p:nvCxnSpPr>
        <p:spPr>
          <a:xfrm flipV="1">
            <a:off x="5816955" y="4672753"/>
            <a:ext cx="87325" cy="72343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9" name="Connector 168"/>
          <p:cNvCxnSpPr/>
          <p:nvPr/>
        </p:nvCxnSpPr>
        <p:spPr>
          <a:xfrm flipV="1">
            <a:off x="5904280" y="4585868"/>
            <a:ext cx="87326" cy="86885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0" name="Connector 169"/>
          <p:cNvCxnSpPr/>
          <p:nvPr/>
        </p:nvCxnSpPr>
        <p:spPr>
          <a:xfrm flipV="1">
            <a:off x="5991606" y="4488626"/>
            <a:ext cx="87325" cy="97242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1" name="Connector 170"/>
          <p:cNvCxnSpPr/>
          <p:nvPr/>
        </p:nvCxnSpPr>
        <p:spPr>
          <a:xfrm flipV="1">
            <a:off x="6078931" y="4385709"/>
            <a:ext cx="87325" cy="102917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2" name="Connector 171"/>
          <p:cNvCxnSpPr/>
          <p:nvPr/>
        </p:nvCxnSpPr>
        <p:spPr>
          <a:xfrm flipV="1">
            <a:off x="6166256" y="4282077"/>
            <a:ext cx="87325" cy="103632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3" name="Connector 172"/>
          <p:cNvCxnSpPr/>
          <p:nvPr/>
        </p:nvCxnSpPr>
        <p:spPr>
          <a:xfrm flipV="1">
            <a:off x="6253581" y="4182719"/>
            <a:ext cx="87325" cy="99358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" name="Connector 173"/>
          <p:cNvCxnSpPr/>
          <p:nvPr/>
        </p:nvCxnSpPr>
        <p:spPr>
          <a:xfrm flipV="1">
            <a:off x="6340906" y="4092422"/>
            <a:ext cx="87326" cy="90297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5" name="Connector 174"/>
          <p:cNvCxnSpPr/>
          <p:nvPr/>
        </p:nvCxnSpPr>
        <p:spPr>
          <a:xfrm flipV="1">
            <a:off x="6428232" y="4015534"/>
            <a:ext cx="87325" cy="76888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6" name="Connector 175"/>
          <p:cNvCxnSpPr/>
          <p:nvPr/>
        </p:nvCxnSpPr>
        <p:spPr>
          <a:xfrm flipV="1">
            <a:off x="6515557" y="3955761"/>
            <a:ext cx="87325" cy="59773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7" name="Connector 176"/>
          <p:cNvCxnSpPr/>
          <p:nvPr/>
        </p:nvCxnSpPr>
        <p:spPr>
          <a:xfrm flipV="1">
            <a:off x="6602882" y="3915980"/>
            <a:ext cx="87325" cy="39781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8" name="Connector 177"/>
          <p:cNvCxnSpPr/>
          <p:nvPr/>
        </p:nvCxnSpPr>
        <p:spPr>
          <a:xfrm flipV="1">
            <a:off x="6690207" y="3898107"/>
            <a:ext cx="87325" cy="17873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9" name="Connector 178"/>
          <p:cNvCxnSpPr/>
          <p:nvPr/>
        </p:nvCxnSpPr>
        <p:spPr>
          <a:xfrm>
            <a:off x="6777532" y="3898107"/>
            <a:ext cx="87326" cy="4897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0" name="Connector 179"/>
          <p:cNvCxnSpPr/>
          <p:nvPr/>
        </p:nvCxnSpPr>
        <p:spPr>
          <a:xfrm>
            <a:off x="6864858" y="3903004"/>
            <a:ext cx="87325" cy="27430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1" name="Connector 180"/>
          <p:cNvCxnSpPr/>
          <p:nvPr/>
        </p:nvCxnSpPr>
        <p:spPr>
          <a:xfrm>
            <a:off x="6952183" y="3930434"/>
            <a:ext cx="87325" cy="48643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2" name="Connector 181"/>
          <p:cNvCxnSpPr/>
          <p:nvPr/>
        </p:nvCxnSpPr>
        <p:spPr>
          <a:xfrm>
            <a:off x="7039508" y="3979077"/>
            <a:ext cx="87325" cy="67512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3" name="Connector 182"/>
          <p:cNvCxnSpPr/>
          <p:nvPr/>
        </p:nvCxnSpPr>
        <p:spPr>
          <a:xfrm>
            <a:off x="7126833" y="4046589"/>
            <a:ext cx="87325" cy="83130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4" name="Connector 183"/>
          <p:cNvCxnSpPr/>
          <p:nvPr/>
        </p:nvCxnSpPr>
        <p:spPr>
          <a:xfrm>
            <a:off x="7214158" y="4129719"/>
            <a:ext cx="87326" cy="94744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5" name="Connector 184"/>
          <p:cNvCxnSpPr/>
          <p:nvPr/>
        </p:nvCxnSpPr>
        <p:spPr>
          <a:xfrm>
            <a:off x="7301484" y="4224463"/>
            <a:ext cx="87325" cy="101793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6" name="Connector 185"/>
          <p:cNvCxnSpPr/>
          <p:nvPr/>
        </p:nvCxnSpPr>
        <p:spPr>
          <a:xfrm>
            <a:off x="7388809" y="4326256"/>
            <a:ext cx="87325" cy="103941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7" name="Connector 186"/>
          <p:cNvCxnSpPr/>
          <p:nvPr/>
        </p:nvCxnSpPr>
        <p:spPr>
          <a:xfrm>
            <a:off x="7476134" y="4430197"/>
            <a:ext cx="87325" cy="101081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8" name="Connector 187"/>
          <p:cNvCxnSpPr/>
          <p:nvPr/>
        </p:nvCxnSpPr>
        <p:spPr>
          <a:xfrm>
            <a:off x="7563459" y="4531278"/>
            <a:ext cx="87325" cy="93353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9" name="Connector 188"/>
          <p:cNvCxnSpPr/>
          <p:nvPr/>
        </p:nvCxnSpPr>
        <p:spPr>
          <a:xfrm>
            <a:off x="7650784" y="4624631"/>
            <a:ext cx="87326" cy="81128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0" name="Connector 189"/>
          <p:cNvCxnSpPr/>
          <p:nvPr/>
        </p:nvCxnSpPr>
        <p:spPr>
          <a:xfrm>
            <a:off x="7738110" y="4705759"/>
            <a:ext cx="87325" cy="64996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1" name="Connector 190"/>
          <p:cNvCxnSpPr/>
          <p:nvPr/>
        </p:nvCxnSpPr>
        <p:spPr>
          <a:xfrm>
            <a:off x="7825435" y="4770755"/>
            <a:ext cx="87325" cy="45733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2" name="Connector 191"/>
          <p:cNvCxnSpPr/>
          <p:nvPr/>
        </p:nvCxnSpPr>
        <p:spPr>
          <a:xfrm>
            <a:off x="7912760" y="4816488"/>
            <a:ext cx="87325" cy="24268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3" name="Connector 192"/>
          <p:cNvCxnSpPr/>
          <p:nvPr/>
        </p:nvCxnSpPr>
        <p:spPr>
          <a:xfrm>
            <a:off x="8000085" y="4840756"/>
            <a:ext cx="87325" cy="1633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4" name="Connector 193"/>
          <p:cNvCxnSpPr/>
          <p:nvPr/>
        </p:nvCxnSpPr>
        <p:spPr>
          <a:xfrm flipV="1">
            <a:off x="8087410" y="4821308"/>
            <a:ext cx="87326" cy="21081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5" name="Connector 194"/>
          <p:cNvCxnSpPr/>
          <p:nvPr/>
        </p:nvCxnSpPr>
        <p:spPr>
          <a:xfrm flipV="1">
            <a:off x="8174736" y="4778530"/>
            <a:ext cx="87325" cy="42778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6" name="Connector 195"/>
          <p:cNvCxnSpPr/>
          <p:nvPr/>
        </p:nvCxnSpPr>
        <p:spPr>
          <a:xfrm flipV="1">
            <a:off x="8262061" y="4716114"/>
            <a:ext cx="87325" cy="62416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7" name="Connector 196"/>
          <p:cNvCxnSpPr/>
          <p:nvPr/>
        </p:nvCxnSpPr>
        <p:spPr>
          <a:xfrm flipV="1">
            <a:off x="8349386" y="4637067"/>
            <a:ext cx="87325" cy="79047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8" name="Connector 197"/>
          <p:cNvCxnSpPr/>
          <p:nvPr/>
        </p:nvCxnSpPr>
        <p:spPr>
          <a:xfrm flipV="1">
            <a:off x="8436711" y="4545197"/>
            <a:ext cx="87325" cy="91870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9" name="Connector 198"/>
          <p:cNvCxnSpPr/>
          <p:nvPr/>
        </p:nvCxnSpPr>
        <p:spPr>
          <a:xfrm flipV="1">
            <a:off x="8524036" y="4444928"/>
            <a:ext cx="87326" cy="100269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0" name="Connector 199"/>
          <p:cNvCxnSpPr/>
          <p:nvPr/>
        </p:nvCxnSpPr>
        <p:spPr>
          <a:xfrm flipV="1">
            <a:off x="8611362" y="4341090"/>
            <a:ext cx="87325" cy="103838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1" name="Connector 200"/>
          <p:cNvCxnSpPr/>
          <p:nvPr/>
        </p:nvCxnSpPr>
        <p:spPr>
          <a:xfrm flipV="1">
            <a:off x="8698687" y="4238685"/>
            <a:ext cx="87325" cy="102405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2" name="Connector 201"/>
          <p:cNvCxnSpPr/>
          <p:nvPr/>
        </p:nvCxnSpPr>
        <p:spPr>
          <a:xfrm flipV="1">
            <a:off x="8786012" y="4142644"/>
            <a:ext cx="87325" cy="96041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3" name="Connector 202"/>
          <p:cNvCxnSpPr/>
          <p:nvPr/>
        </p:nvCxnSpPr>
        <p:spPr>
          <a:xfrm flipV="1">
            <a:off x="8873337" y="4057595"/>
            <a:ext cx="87325" cy="85049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4" name="Connector 203"/>
          <p:cNvCxnSpPr/>
          <p:nvPr/>
        </p:nvCxnSpPr>
        <p:spPr>
          <a:xfrm flipV="1">
            <a:off x="8960662" y="3987633"/>
            <a:ext cx="87326" cy="69962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5" name="Connector 204"/>
          <p:cNvCxnSpPr/>
          <p:nvPr/>
        </p:nvCxnSpPr>
        <p:spPr>
          <a:xfrm flipV="1">
            <a:off x="9047988" y="3936129"/>
            <a:ext cx="87325" cy="51504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6" name="Connector 205"/>
          <p:cNvCxnSpPr/>
          <p:nvPr/>
        </p:nvCxnSpPr>
        <p:spPr>
          <a:xfrm flipV="1">
            <a:off x="9135313" y="3905562"/>
            <a:ext cx="87325" cy="30567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7" name="Connector 206"/>
          <p:cNvCxnSpPr/>
          <p:nvPr/>
        </p:nvCxnSpPr>
        <p:spPr>
          <a:xfrm flipV="1">
            <a:off x="9222638" y="3897406"/>
            <a:ext cx="87325" cy="8156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8" name="Connector 207"/>
          <p:cNvCxnSpPr/>
          <p:nvPr/>
        </p:nvCxnSpPr>
        <p:spPr>
          <a:xfrm>
            <a:off x="9309963" y="3897406"/>
            <a:ext cx="87325" cy="14647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9" name="Connector 208"/>
          <p:cNvCxnSpPr/>
          <p:nvPr/>
        </p:nvCxnSpPr>
        <p:spPr>
          <a:xfrm>
            <a:off x="9397288" y="3912053"/>
            <a:ext cx="87326" cy="36745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0" name="Connector 209"/>
          <p:cNvCxnSpPr/>
          <p:nvPr/>
        </p:nvCxnSpPr>
        <p:spPr>
          <a:xfrm>
            <a:off x="9484614" y="3948798"/>
            <a:ext cx="87325" cy="57073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1" name="Connector 210"/>
          <p:cNvCxnSpPr/>
          <p:nvPr/>
        </p:nvCxnSpPr>
        <p:spPr>
          <a:xfrm>
            <a:off x="9571939" y="4005871"/>
            <a:ext cx="87325" cy="74651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2" name="Connector 211"/>
          <p:cNvCxnSpPr/>
          <p:nvPr/>
        </p:nvCxnSpPr>
        <p:spPr>
          <a:xfrm>
            <a:off x="9659264" y="4080522"/>
            <a:ext cx="87325" cy="88635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3" name="Connector 212"/>
          <p:cNvCxnSpPr/>
          <p:nvPr/>
        </p:nvCxnSpPr>
        <p:spPr>
          <a:xfrm>
            <a:off x="9746589" y="4169157"/>
            <a:ext cx="87325" cy="98349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4" name="Connector 213"/>
          <p:cNvCxnSpPr/>
          <p:nvPr/>
        </p:nvCxnSpPr>
        <p:spPr>
          <a:xfrm>
            <a:off x="9833914" y="4267506"/>
            <a:ext cx="87326" cy="103326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5" name="TextBox 214"/>
          <p:cNvSpPr txBox="1"/>
          <p:nvPr/>
        </p:nvSpPr>
        <p:spPr>
          <a:xfrm>
            <a:off x="777240" y="5843016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拓展问题：少量离散样本，是否足以唯一确定连续信号？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可选拓展：编码和压缩不是同一件事。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080760" y="1627632"/>
            <a:ext cx="0" cy="3776472"/>
          </a:xfrm>
          <a:prstGeom prst="line">
            <a:avLst/>
          </a:prstGeom>
          <a:ln w="254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822960" y="1737360"/>
            <a:ext cx="5074920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800" b="1">
                <a:solidFill>
                  <a:srgbClr val="8C64E1"/>
                </a:solidFill>
                <a:latin typeface="Alibaba PuHuiTi 3.0 115 Black"/>
              </a:defRPr>
            </a:pPr>
            <a:r>
              <a:t>声音编码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55664" y="1737360"/>
            <a:ext cx="4754880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800" b="1">
                <a:solidFill>
                  <a:srgbClr val="00B0F0"/>
                </a:solidFill>
                <a:latin typeface="Alibaba PuHuiTi 3.0 115 Black"/>
              </a:defRPr>
            </a:pPr>
            <a:r>
              <a:t>数据压缩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743200"/>
            <a:ext cx="5010912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t>让连续声音能够用数字样本记录；也包括后续数据表示。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55664" y="2743200"/>
            <a:ext cx="4873752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t>用更少的比特表达相同或近似相同的信息。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数字化、容器封装、压缩，是相关但不同的概念。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声音编码与数据压缩 · 视觉迭代v8.3.2</dc:title>
  <dc:subject>高中信息科技：声音数字化与数据压缩</dc:subject>
  <dc:creator/>
  <cp:keywords>采样,量化,编码,PCM,声道,音轨,数据压缩,冗余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
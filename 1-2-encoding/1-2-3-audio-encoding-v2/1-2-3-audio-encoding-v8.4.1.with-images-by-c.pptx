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364" r:id="rId6"/>
    <p:sldId id="365" r:id="rId7"/>
    <p:sldId id="258" r:id="rId8"/>
    <p:sldId id="259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66" r:id="rId29"/>
    <p:sldId id="284" r:id="rId30"/>
    <p:sldId id="367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368" r:id="rId39"/>
    <p:sldId id="294" r:id="rId40"/>
    <p:sldId id="295" r:id="rId41"/>
    <p:sldId id="296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69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</p:sldIdLst>
  <p:sldSz cx="1219136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1" Type="http://schemas.openxmlformats.org/officeDocument/2006/relationships/tableStyles" Target="tableStyles.xml"/><Relationship Id="rId110" Type="http://schemas.openxmlformats.org/officeDocument/2006/relationships/viewProps" Target="viewProps.xml"/><Relationship Id="rId11" Type="http://schemas.openxmlformats.org/officeDocument/2006/relationships/slide" Target="slides/slide8.xml"/><Relationship Id="rId109" Type="http://schemas.openxmlformats.org/officeDocument/2006/relationships/presProps" Target="presProps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libaba PuHuiTi 3.0 55 Regular" panose="00020600040101010101" charset="-122"/>
        <a:ea typeface="Alibaba PuHuiTi 3.0 55 Regular" panose="00020600040101010101" charset="-122"/>
        <a:cs typeface="Alibaba PuHuiTi 3.0 55 Regular" panose="0002060004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声音怎样变成0和1？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我们会编码文字、图像，那声音呢？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【设计意图】回忆旧知识：字符编码记录符号，图像编码记录像素。请学生预测：自然声音没有像素，计算机怎么办？指向本课总问题，不求答对。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【教师可以这样讲】大家想一想，我们能把一个汉字或一张图片保存进电脑。那么正在说话的声音是不是也能保存？它与图像的最大区别在哪里？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【预判回答与追问】有人会说只要“录下来”就行；追问“录下来”在计算机里究竟记录什么？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【本页收束】收束到核心问题：原来连续的声音如何变成数字。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先请学生复述文字和图片怎样编码，再让学生预测麦克风后是什么、计算机需要什么。教师不预告完整三步。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[图片用途] 手机图只提供录音情境，不展示ADC答案。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[`assets/smartphone.svg`](assets/smartphone.svg) | 智能手机 | [OpenMoji / 1F4F1](https://github.com/hfg-gmuend/openmoji/blob/master/color/svg/1F4F1.svg)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声音和电脑里的音频文件，是同一种量吗？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声音和电脑里的音频文件，是同一种量吗？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【设计意图】先让学生表态：声波在时间上连续变化；文件保存的是离散数字。问麦克风前后，哪一阶段发生改变？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【教师可以这样讲】请先判断：空气中的声音和电脑里的音频文件，是不是同一种东西？举一个理由。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【预判回答与追问】“电脑播放出来还是声音，所以是模拟量”是可能的误解；分清存储形式和播放后的物理振动。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【本页收束】声音属于物理模拟信号；数字文件以离散的数据保存音频。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对比模拟声波与文件中的数字，问连续变化的声音如何变成离散数据；先让学生说两者有何不同。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先让学生观察两图，自己说出波形与离散记录的区别。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声音首先是什么？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声音首先是什么？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【教师讲述／组织】从实录1的振动声源、空气传播与耳膜经验出发。问：我们说话时什么振动？声音怎样到耳朵？要学生识别声音是物理现象。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【v8.1视觉引导】视觉依据是生成的“音叉—声压疏密变化—麦克风”图；为了投影清晰采用可缩放矢量绘制。它不是声波沿正弦路径传播的图。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[视觉改进提示] 提示学生辨认：振动产生声波，麦克风把声压变化转换成连续变化的电信号；此示意的波阵面不是传播轨迹。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麦克风把声波变成什么？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麦克风把声波变成什么？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【设计意图】承接实录1：猜需要哪些设备。麦克风将声压变化转为连续电信号；此时仍是模拟信号。不要说麦克风直接保存WAV。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【教师可以这样讲】请观察这条流程。麦克风是不是已经把声波变成0和1了？请指出转换前后各是什么。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【预判回答与追问】学生可能认为麦克风就是“录音机”。追问：麦克风输出的电压能否在每个时刻连续变化？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【本页收束】麦克风把声压变化变成模拟电信号，数字化还没有完成。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麦克风负责把声压变化变成连续电信号；先预测“是数字还是模拟？”学生说出依据。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波阵面而非传播路径。麦克风不是二进制编码器。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[图片用途] 用麦克风插画标明接收设备；转换关系由原生图解释。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[`assets/microphone-studio.svg`](assets/microphone-studio.svg) | 录音麦克风 | [OpenMoji / 1F399](https://github.com/hfg-gmuend/openmoji/blob/master/color/svg/1F399.svg)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连续电信号，怎样变成数字？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连续电信号，怎样变成数字？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【设计意图】先问：谁来把模拟电信号转换成0和1？鼓励学生猜CPU、麦克风等。展示声卡音频接口或画流程，以ADC为答案。设备可集成在主板或外置。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【教师可以这样讲】如果麦克风输出还是连续电信号，计算机怎样读懂它？需要什么设备？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【预判回答与追问】学生可能猜CPU，先认可其计算作用，再追问哪个音频部件把模拟信号变成离散样本。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【本页收束】声卡中的ADC完成模数转换。无需记电子线路结构。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声卡ADC把模拟信号变为数字数据；不要求硬件电路细节，用前后变化解释。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把录音过程和播放过程接起来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【教师讲述／组织】追问：存进去的0和1，为什么还能从扬声器变回声音？给出DAC作为反向转换，重点是两个方向的理解；不要展开电路。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按录音顺序走一遍，再反向说播放顺序，确认DAC与ADC的作用不同。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两条平行流程对应录音与播放。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演示A：听声音，波形上的红线如何移动？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BASE-09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打开远程JupyterLab Notebook 01，在Windows浏览器播放声音，问红线向右是不是声波向右传播；让学生说横轴是时间。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[Demo操作] 先收预测，再切换原Demo A观察播放光标。静态红线仅示意播放位置，截图未给时间刻度，不据此读秒。软件例图与Notebook是不同音频，不能直接比较幅度或样本。若20秒无法运行，指着横向时间轴解释光标位置；没有实测扬声器。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[`assets/audacity-spectrogram-waveform.png`](assets/audacity-spectrogram-waveform.png) | 波形图 | [Audacity Manual](https://github.com/audacity/audacity-manual/blob/master/manual/m/images/6/6b/spectrogramview_waveform_display.png)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只能记录有限个数字，选哪些时刻？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【设计意图】先在波形上让学生指出选取若干时刻的方法，预测“隔一段时间取一个值”；不要急着宣布定义。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【教师可以这样讲】现在只允许保存若干个数字，你会在哪些时刻记录这条曲线？让同桌先各提出一条规则。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【预判回答与追问】有人会只选最高点和最低点。追问：如果换一段波形，这个规则是否容易统一实现？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【本页收束】用固定时间间隔连续记录，形成采样时刻。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请学生先在波形上建议记录时刻，再比较哪种规则稳定；引出等时间间隔采样。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每隔相同时间，取一个幅度值。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【设计意图】保留前页坐标与波形，叠加等间隔采样点。追问：采样之后还保留每个时刻的原始值吗？概括“时间上离散”。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【教师可以这样讲】我们按固定时间间隔记录了12个点。灰色曲线不再直接保存，每个点有自己的时间和值。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【预判回答与追问】学生可能把连点线当作新的连续信号。追问：文件实际存的是曲线，还是这些点对应的数字？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【本页收束】采样的结果是时间上离散的一组样本。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先观察时间刻度和蓝色点，教师追问记录的是什么量，说明在指定时刻记录幅度。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【v8.1视觉引导】加强波形曲线投影对比；灰色线为信号示意，离散点是取样时刻的记录。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演示B：放大波形，会看见采样点吗？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演示B：放大波形，会看见采样点吗？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打开Notebook 02，把波形从100毫秒放大到4毫秒，点击蓝色样本，读出实际时间和幅度；区分极值概览和真实采样点。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[数学证据] 同一0.72sin(10πt+0.3)，右图确为左图[0.30,0.50]的放大；纵轴不变。50 Hz教学采样模型，j=15..25，共11个点；封闭观察窗含两端，不等同0.2秒新产生11个样本。非Notebook实录。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1 Hz和2 Hz，一秒内取几个样本？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1 Hz和2 Hz，一秒内取几个样本？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【设计意图】先让学生预测1 Hz、2 Hz分别表示每秒几个点；同一时间范围，不同点数。讲采样率=单位时间样本数，间隔Δt=1/fs。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【教师可以这样讲】预测：1 Hz每秒几个点？2 Hz每秒几个点？都记录4秒，两个例子的样本数分别是多少？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【预判回答与追问】注意“赫兹”还可表示声音本身频率；本页说的是“采样的次数”。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【本页收束】采样率是每秒采样数；更密意味着相邻采样时刻间隔更短。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【v7回扣】演示切换到本页后，要求学生解释采样率和每秒样本数之间的关系。Notebook中的4毫秒局部窗口只是观察尺度。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1Hz=每秒1个记录点；2Hz=每秒2个。这里用于放大理解，绝非实际音频录制建议。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[计数条件] 统一使用[0,1)，含0不含1。1 Hz时刻0；2 Hz时刻0、0.5。下一秒的1不重复计入本秒。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提高采样率，改变的是时间轴上的什么？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提高采样率，改变的是时间轴上的什么？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【教师讲述／组织】同一波形、同一个时长，采样点由少到多。先比较时间方向的点密度，不谈“采样后连线就完全恢复”。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上下保持同一条曲线不变，只改变时间方向的样本密度，让学生辨认控制变量。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【v8.1视觉引导】加强波形曲线投影对比；灰色线为信号示意，离散点是取样时刻的记录。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[控制变量] 同一sin(4πt+0.3)示意信号，在[0,1)分别按8 Hz和20 Hz记录。采样时刻j/Hz，左闭右开，共8和20个样本。只比较记录间隔和数量，不把示意图当作实录音质证据。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采样点的值，可能是3.71这样的数。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【设计意图】实录2第二步：采样点的振幅可在连续范围取值，设备却计划使用有限等级。让学生意识到有第二个问题尚未解决。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【教师可以这样讲】假设某个时刻取得3.71这样的振幅值。如果设备只准记录8个整数等级，会怎么办？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【预判回答与追问】学生可能直接回答“四舍五入”，要追问必须先规定可用的代表值与映射规则。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【本页收束】量化解决幅度的离散化，下一页构建0到7的教学模型。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 Demo C预告】现在只解决了采样时刻；纵向幅度可能是任意连续值，需要量化，稍后用实验台在同一坐标中比较。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讨论3.71这样的幅度怎样用有限个等级近似记录，不让量化等同四舍五入。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【v8.1视觉引导】加强波形曲线投影对比；灰色线为信号示意，离散点是取样时刻的记录。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把振幅划分成0～7，共几个等级？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把振幅划分成0～7，共几个等级？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【设计意图】坚持实录2的首个量化模型：等级从0数到7含0，共八级。提醒这里是教学简化例，真实PCM可正可负。让学生先自己数等级。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【教师可以这样讲】请同学数一数，从0到7一共几个数字。0算不算一个等级？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【预判回答与追问】最容易出现7级的误答。让学生逐个数：0、1、2、3、4、5、6、7。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【本页收束】共8个等级。这里是简化模型，并非真实声压只有非负值。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讲授0~7是等级编号；不要把取样数、幅度值、等级编号混为一谈，先让学生预测。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【v8.1视觉引导】加深0至7的八条量化等级线，先数清等级再引入3 bit。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3.71 应记为等级3，还是等级4？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3.71 应记为等级3，还是等级4？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BASE-17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先显示0~7八级，学生预测3.71是3或4。暂停50秒让学生说出推理规则。再用下页指定的分区规则解决分歧；勿预先提示答案。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让学生先预测，再到下一页验证[3,4)的区间归属。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量化：用有限代表值近似样本</a:t>
            </a:r>
          </a:p>
          <a:p>
            <a:r>
              <a:t>[内部编号] V81-18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  <a:p>
            <a:br/>
            <a:r>
              <a:t>[图示条件]</a:t>
            </a:r>
            <a:br/>
            <a:r>
              <a:t>横坐标表示输入幅度，区间[3,4)归为L3；以中点3.5近似3.71。等级编号3不是幅度代表值3.5。Demo C使用另一个幅度范围，不混用数值。</a:t>
            </a:r>
          </a:p>
          <a:p/>
          <a:p>
            <a:r>
              <a:t>【视觉说明】区间[3,4)对应L3，代表值为3.5，绝对差为0.21；这是本例量化误差，不是所有量化算法必然的结果。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同一个声音的10个样本，怎样依次编码？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q19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10个样本，怎样依次编码？</a:t>
            </a:r>
          </a:p>
          <a:p>
            <a:r>
              <a:t>[内部编号] V81-19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  <a:p>
            <a:br/>
            <a:r>
              <a:t>[观察顺序]</a:t>
            </a:r>
            <a:br/>
            <a:r>
              <a:t>先只看红框内的第一个样本：顺序1，量化等级3，等长码字011。让学生沿列互读，再看其余九列；不是把3bit当作幅度值。</a:t>
            </a:r>
          </a:p>
          <a:p/>
          <a:p>
            <a:r>
              <a:t>【视觉说明】先看整行十组数据，再聚焦第一个样本，教师问三位码字如何由等级编号得到，不把它误看为样本数量。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3.71 为什么写成 011，而不是 100？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逐步指着四个框引导：输入原值3.71，属于区间[3,4)，所以等级编号是3；把3写成三位等长码字011。反例4.15属于L4，码字100。本例幅度[0,8)，Demo C用[-1,1]，逻辑完全相同。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一个样本需要几个二进制位？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一个样本需要几个二进制位？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【设计意图】出选择：8个等级需要2位、3位还是8位？请学生复习2的n次方。按最简单映射列出对应表，避免一次上来10个样本。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【教师可以这样讲】刚才有8级，若只有两个二进制位可以表示多少种不同情况？三个呢？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【预判回答与追问】让学生亲自枚举00、01、10、11，然后观察000到111共有八种。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【本页收束】2^3=8，所以这八个等级可以用3 bit表示。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该比较图与Notebook 03采用不同示例幅度范围，但都是先采样、划区间、记录等级；先建立3bit=8级再操作。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把量化等级分得更细，会发生什么？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把量化等级分得更细，会发生什么？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【教师讲述／组织】引入实录2的尺子类比：原本分米刻度与厘米刻度，刻度更细通常误差更小。与采样率的时间密度作区分。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十个样本的表先只聚焦第一列：样本编号、量化等级、3bit码字逐一对应，再请学生解释其它样本。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【v8.1视觉引导】码字行放大并统一青色；先指出第1列，再读完全部10个样本。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[计算] 3 bit：Δ=1，3.71归入[3,4)，代表值3.5，误差0.21。4 bit：Δ=0.5，归入[3.5,4)，等级L7，代表值3.75，误差0.04。输入、范围、采样时刻相同。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不要混淆：采样率和量化位数。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【设计意图】学生两两互问：采样率改变什么方向？量化位数改变什么方向？画时间与幅度两个方向的粗箭头，对照两种概念。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【教师可以这样讲】请指出采样率与量化位数分别控制这张图的哪个方向。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【预判回答与追问】如学生认为量化位数决定点的多少，重新回看每一秒有几个采样时刻。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【本页收束】采样率决定时间方向的密度，量化位数决定幅度方向的精细程度。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对比3bit与4bit的等级数，先让学生预测会不会增加样本点个数；解释是纵向可选值更密。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演示C：3 bit变4 bit，样本会变多吗？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演示C：3bit变4bit，样本点会变多吗？</a:t>
            </a:r>
          </a:p>
          <a:p>
            <a:r>
              <a:t>[内部编号] V81-24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【视觉说明】采样时刻相同，改变量化位数，横向样本点数量不变；更密集的是纵向可选择的代表值。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采样更多、等级更密，就一定听得更好吗？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采样更多、等级更密，就一定听得更好吗？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【v7实验台回扣】在实验台选择3 bit，点击一个点，要求学生报出等级编号和3 bit码字。注意实验台使用[-1,1]输入范围；本页0～7演示是另一种简化尺度，编码原理相同。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纠正“设置越高听觉效果必然越好”的绝对化说法，讨论保真能力与具体条件。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3 bit是教学模型，真实录音常见16 bit。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【教师讲述／组织】避免从课堂3位例子跳到真实16位时困惑。说明用3位为了看清规律，不是说实际音乐普遍使用3位。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播放时：数字样本怎样重新变成声音？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【设计意图】回扣开场录音/播放闭环：读PCM样本→转换为连续电信号→推动扬声器振动；波形经过重建，不是简单用折线连接采样点。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【教师可以这样讲】复盘完整流程：数字文件里的样本为什么还能被扬声器播放成声音？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【预判回答与追问】不要讲成简单把点连成折线。输出经过数模转换及适当的信号处理。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【本页收束】录音是ADC，播放是DAC，音频数字化形成闭环。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沿数字样本→DAC→扬声器→声音完成录放闭环，不在主线要求复述滤波细节。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声音数据量为什么与四个参数有关？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q29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声音数据量为什么与四个参数有关？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BASE-29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【教师讲述／组织】从实录2由学生提出因素：越长录音越大，每秒越多点越大，每个点越多bit越大，左右两路各记录一次。请先预测四项，不马上展示公式。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先让学生自己说PCM数据量四个因素，而不是直接背公式。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先数样本，再数bit，最后换算成Byte。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【设计意图】用小模型实推：每秒2个样本×4秒×1声道=8个样本，每样本3bit共24bit=3Byte。用8个小方块表示样本，而不是一上来给公式。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【教师可以这样讲】请口算每秒2个样本，录4秒，一路声道，共得到多少个样本？每个3位，要几个bit？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【预判回答与追问】学生可能直接乘完得到24 Byte。请指着八个框数，再从bit换到Byte。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【本页收束】8个样本、每个3bit，共24bit，等于3Byte。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让学生数8个样本，每个3bit共24bit，除8得到3Byte，单位帮助理解公式。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[位宽边界] 此处3 bit是紧密按bit打包的教学模型，8个样本共24 bit，即3 Byte，不包含任何文件结构。真实PCM容量使用实际存储位宽，不用较低的有效量化精度替代存储位宽。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未压缩PCM数据量公式，从哪里来？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未压缩PCM数据量公式，从哪里来？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【设计意图】不要把数据量公式当背诵口令。请学生逐个解释每一项代表哪个物理意义。单位：Hz、bit、秒；/8得到字节。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【教师可以这样讲】我们刚才为什么要把四个因素相乘？请逐一说出公式的单位和意义。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【预判回答与追问】常见错误：1 kHz写成1024 Hz；bit和Byte混用；忘记把分钟换成秒。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【本页收束】会用公式之前先能解释公式。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为什么结果是Byte要÷8？把四因素分别对应实际样本数量与每样本bit数。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从样本总数开始推导数据量，解释每个乘数的单位。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[公式条件] 固定存储位宽、未压缩PCM样本payload；Hz按每声道每秒样本计。含全部声道，bit÷8换算Byte。不包含WAV头或其他块；完整文件不能统一假设只有44 Byte开销。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【教师讲述／组织】问题页。给学生独立列式。若学生写16×8×2×5，追问16kHz应等于多少Hz。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独立列式后再揭示；提问哪一个乘数是双声道、为什么还要除以8。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【教师讲述／组织】答案页。问：如果双声道改成单声道，结果会怎样？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答案160000 Byte。让学生先说思路，再对照上一页原位置的题干与下方答案。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本节课你能解释三件事吗？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学生总结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先给学生30秒独立整理，再请三人逐问解释并引用刚才的图或计算。此页只呈现问题，不公布总结。听完后再逐页揭示知识树。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[教师参考，仅总结后使用]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【教师讲述／组织】第一课时退出评价。随机请学生说出完整录音链；指一个点说采样与量化区别；算一条小PCM数据量。没掌握则下节开头再复习，不拖到所有附录。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【v7时间控制】本课新增的三个演示分别约2、3、5分钟，应替换原有重复的静态口头描述；并非在原45分钟上增加10分钟。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前1个分支；不提前口述尚未建立的节点。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前2个分支；不提前口述尚未建立的节点。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前3个分支；不提前口述尚未建立的节点。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为什么文件还需要压缩？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【教师讲述／组织】第二课时导入。说明第一节学的是数字化与PCM数据量，第二节学数据量计算、音轨和声道、视频数据量冲突及压缩。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先回忆：这四个数字，分别是什么意思？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q36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先回忆：这四个数字，分别是什么意思？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【教师讲述／组织】实录3起手计算前，先让学生能解释参数。分组对答48,000Hz、16bit、2声道、60秒。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先只看48000、16、2、60，要求学生用自己的话说明每个参数是什么。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【教师讲述／组织】问题页。复现实录3的DVD参数题，强调对参数意义的解释，而不只是按键计算。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先从PCM字节数算起，再转换MiB；强调1024²与1000²换算不同。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【教师讲述／组织】答案页。实录转写常写10.98MB，这是截断近似；按四舍五入保留两位应10.99 MiB。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约10.99 MiB；验证11520000 B/1048576。不把带少量文件头的WAV大小当作PCM样本大小。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BASE-39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【设计意图】问题页。先让学生预测。这是实录3较长的认知冲突案例，不要马上公布答案。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【教师可以这样讲】再次提问：多加了一条背景音乐音轨，新的未压缩PCM文件一定比原文件大吗？请先投票并说明依据。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【预判回答与追问】真实课堂里学生曾将音轨误认为声道；暂不判断两种观点谁对。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【本页收束】下一页让两种解释并存，定位分歧。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投票多一条编辑音轨容量是否翻倍；不同学生给出理由，暂不揭示正确答案。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两个看似有道理的答案，你支持哪一个？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【设计意图】把实录中两位学生的理由换一种说法重现。引导学生指出分歧其实在“音轨和声道是不是一回事”。仍不公布答案。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【教师可以这样讲】有人支持不变，有人支持翻倍。注意我们的目标不是投票决定真理，而是检验关键假设。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【预判回答与追问】追问：增加的是“编辑音轨”，还是“导出声道”？哪个出现在容量公式里？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【本页收束】到图示页验证音轨与声道不同。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两种观点的矛盾来自把编辑音轨当作输出声道。追问最后导出文件是几声道。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编辑音轨与输出声道，有什么不同？</a:t>
            </a:r>
          </a:p>
          <a:p>
            <a:r>
              <a:t>[内部编号] V81-41</a:t>
            </a:r>
          </a:p>
          <a:p>
            <a:r>
              <a:t>[阶段] 证据／解释</a:t>
            </a:r>
          </a:p>
          <a:p>
            <a:r>
              <a:t>[教师逐字稿]</a:t>
            </a:r>
          </a:p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编辑音轨和输出声道，有什么不同？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【设计意图】直观图示：两条音轨经混音成为两个输出声道，注意不是左右各有一条编辑音轨。解释可单声道或双声道输出。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【教师可以这样讲】请指向编辑左边两行，它们是两条音轨；再指向右边的L/R，这才是导出的两路声道。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【预判回答与追问】如果学生说“左音轨变左声道”，让他想一想人声与伴奏是否都能同时从左右扬声器传出。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【本页收束】混合不会自动增加声道数，保持四参数则未压缩样本数据量不变。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先看两条轨，再揭示混音之后仍可输出L/R两路数据。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波形为区别音轨与输出通道的示意图，不是混音运算曲线。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[教师逐字稿补充] 先在左侧数编辑音轨：有两个独立的音轨控制区。上轨为单声道，下轨为立体声，所以共有三条波形。再看右侧模型，两份输入可以混入L、R两路输出；不是把诗朗诵固定送左、音乐固定送右。容量按导出参数计算，截图不证明本题工程真的导出过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[模型] 两输出均示意sin(4πt)+0.5sin(10πt)，仅说明混合；未模拟声像、增益和削波。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[`assets/audacity-multitrack-mixing.png`](assets/audacity-multitrack-mixing.png) | 混音前的多个音轨 | [Audacity Manual](https://github.com/audacity/audacity-manual/blob/master/manual/m/images/f/fb/tracks_for_mixing.png)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【教师讲述／组织】答案页。让学生回看第一个预测，承认纠正了哪一个概念。提醒不同格式和压缩参数会影响最终文件大小。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回到初始投票，解释四个PCM参数保持不变，因此样本数据量不变。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迁移：把双声道改成单声道，会怎样？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迁移：把双声道改成单声道，会怎样？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【教师讲述／组织】让学生应用四因素公式。声道数2→1，其他不变，PCM样本数据量减半。音轨增减并不直接决定总量。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迁移：把立体声变成单声道，其他参数相同，PCM样本数据量减半。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图像采样与声音采样，哪里相同？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图像采样与声音采样，哪里相同？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【教师讲述／组织】实录3转向视频前回顾图像和声音：图像在空间二维网格采样，声音在时间轴取值；量化都用有限等级记录。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【v8.1视觉引导】重新排列三条对照，文字达到22pt，学生先指出“位置”不同，再比较数据量结构。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一张张图片连续变化，就能让我们看到运动。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【设计意图】借鉴实录3翻页小人的经验。每一帧呈现同一圆的位置改变。问学生：视频需保存几个画面？帧率如何描述？不用严格视觉暂留时间阈值。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【教师可以这样讲】五张小图中蓝点位置发生变化，连续播放后我们会感到它在运动。你生活里见过翻页动画吗？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【预判回答与追问】不要把“视觉暂留0.024秒”当成唯一且固定的生理阈值。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【本页收束】视频可以用连续图像帧与帧率的概念来理解。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五帧是同一个运动小球在五个时刻的状态。帧率25fps是每秒25帧，不应解释为人眼严格生理阈值。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球在每一帧的位置不同，同样场景取不同时间画面；fps是每秒帧数。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【v8.1视觉引导】让学生比较同一小球相对于各帧相同参考线的位置，从第一帧到第五帧明显向右变化。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控制变量只有球的位置；动画效果来自连续帧的顺序。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10分钟、每秒25帧，要保存多少张画面？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q46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10分钟、每秒25帧，要保存多少张画面？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【教师讲述／组织】从学生已经理解的“视频是连续图像”计算总帧数。先让学生口算25×60×10=15000帧。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【设计意图】问题页。来源实录3。不要把帧率误认为采样率，一帧是一张完整图。给3分钟列式，计算可用计算器。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【教师可以这样讲】先算一帧480×320像素，需要多少bit和Byte；再乘上25帧/秒和600秒。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【预判回答与追问】学生可能只乘25或只乘10。追问十分钟共有多少秒、多少帧？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【本页收束】未压缩视频等于单帧数据量乘总帧数。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10分钟无声逐帧未压缩视频，先算单帧字节，再算15000帧，单位换算为GiB。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【教师讲述／组织】答案页。把公式拆成两段并让学生自己解释。按十进制GB约6.912 GB。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答案约6.44GiB，检验帧数、bit转Byte以及B转GiB三步。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10分钟视频，为什么远小于6.44 GiB？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BASE-49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【设计意图】核心认知冲突，不要预先写“因为压缩”。问：是不是算错？为什么在线短视频能很快播放？给学生发言时间。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【教师可以这样讲】请你对照刚刚算出的6.44 GiB。我们手机里十分钟的视频，为什么通常远小于它？难道计算公式错了？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【预判回答与追问】学生可能回答分辨率不同、格式不同、压缩了。记录这几种可能，指出公式中的题设是未压缩逐帧存储。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【本页收束】这是第二课时核心认知冲突，直到下一页再揭示压缩。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先让学生用自己看视频的经验提出文件比估算小的解释，借助冲突引出编码压缩。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因为我们算的是“逐帧未压缩数据量”。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实际压缩技术还包括多种预测与表示方式；本课只要求理解重复规律允许节省比特，不学习具体codec算法。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【v8.1视觉引导】将关键概念和对照放大；不能将视频压缩简化为“直接删除几帧”。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为什么要压缩？先想两种真实需求。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为什么要压缩？先想两种真实需求。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【教师讲述／组织】实录3行李箱类比：整理行李节约空间；通过网络分享文件缩短传输时间。学生可以自举例，不要说压缩必然提升感知画质。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“中国”重复100次，有没有更简短的写法？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“中国”重复100次，有没有更简短的写法？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【设计意图】实录3的经典冗余案例。向学生展示短短的“（中国）×100”与重复文字。说明这仅是启发性的编码例子，不代表真实RAR算法。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【教师可以这样讲】两种写法能不能表示相同文字？“中国”重复一百次与“中国×100”，哪种通常更省符号？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【预判回答与追问】提醒这只是解释冗余的教学模型，不是真实RAR编码的说明。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【本页收束】规律、重复让人有机会用更短的规则表达同一内容。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中国重复100次只用“字词×次数”表达是思想模型，不代表RAR或zlib唯一工作机制。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为什么重复内容更容易压缩？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为什么重复内容更容易压缩？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【教师讲述／组织】把“冗余”与重复的内容联系：A有规律，B无规律，但原长度相同。实际压缩算法实现不同，因此“通常更易”而非必然。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重复多往往可用更短的规则表示，但实际压缩要看数据及算法。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预测：两份都是1000 Byte，压缩后谁更小？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【设计意图】可以用Python标准库zlib演示，代码放Notes。生成1000个A与1000个伪随机字节（固定seed），比较同一无损压缩方法所得字节数并检验完全还原。先预测再运行。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【教师可以这样讲】两个数据各1000Byte：一个全是A，一个随机变化。请预测谁压缩后更小，以及能否恢复原数据。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【预判回答与追问】学生可能认为所有文件都会变小。下一页结果显示随机数据在容器开销下甚至略微变大。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【本页收束】测试无损压缩的冗余利用，而不是展示具体算法。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 Demo D】先预测两份原始都是1000 Byte的文件哪一个被压得更小，再运行 notebooks/04_压缩前先预测.ipynb。Python zlib在Mac执行，Windows浏览器只展示结果，不依赖音频或py5。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A和B均1000Byte，学生先预测谁更省空间、B是否可能压完更大。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演示D：同样1000 Byte，压缩后真的不同吗？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实验验证：为什么同样大小的文件效果不同？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【设计意图】演示代码（Windows课堂pt环境，Python标准库即可）：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import zlib, random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a=b"A"*1000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r=random.Random(2026)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b=bytes(r.randrange(256) for _ in range(1000))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for name,x in [("A",a),("B",b)]: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 packed=zlib.compress(x)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    print(name,len(x),len(packed),zlib.decompress(packed)==x)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本次固定随机种子得到A=17 Byte，B=1011 Byte。学生关注重复和冗余；算法细节不展开。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【教师可以这样讲】运行标准库实验或直接展示结果：重复内容1000Byte压后17Byte，随机内容1000Byte压后1011Byte。为什么会这样？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【预判回答与追问】别把高熵文件变大误判为程序出错：压缩文件自身有格式开销。检查两者解压完全一致。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【本页收束】这是无损压缩，且压缩效果取决于可利用的规律与编码方式。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17Byte与1011Byte是采用Python标准库zlib、固定随机种子的这一次课堂实验结果。数值取决于内容与算法，不是普遍常数；B数据因格式开销而可能变大。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压缩到底改变了什么？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压缩到底改变了什么？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【教师讲述／组织】实录3解释重新编码：数据压缩主要是改变表示方式，无损靠高效编码，允许有损时还可舍弃部分信息。目的与实质分开讲。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归纳数据压缩是更高效的表示；要不要完整恢复决定无损与有损路径。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两种压缩：怎样区分“无损”和“有损”？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两种压缩：怎样区分“无损”和“有损”？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【设计意图】先提出是否可以还原原始信息，再定义无损有损。注意有损不一定人类完全无感，有时肉眼肉耳可觉察明显差异。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【教师可以这样讲】请判断：压缩后解开，能不能100%恢复原始字节？把这个问题作为分类标准。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【预判回答与追问】有损不等于“损坏文件”；它在可接受的前提下放弃部分原始信息。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【本页收束】无损可完全恢复，有损则不能恢复到原数据完全一致。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判别方法：是否能够完全恢复原字节，不用文件后缀或大小作为唯一标准。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ZIP、MP3、WAV、MP4，它们属于同一类吗？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q59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ZIP、MP3、WAV、MP4，它们属于同一类吗？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BASE-59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ZIP/RAR属于无损归档，MP3是有损音频编码，WAV和MP4属于容器（MP4常装有损编码视频）。文件后缀与编码算法不是完全同一层级。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【v8.1视觉引导】大字号提示学生区分归档格式、压缩编码与文件容器；颜色是视觉分组而非“都同一类”。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三幅相同大小的图，谁通常最容易无损压缩？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【设计意图】实录3三种图像案例。画同尺寸位图：纯色、规则色块、较复杂花纹（不是声称真实风景照片）。首先预测排序，再归纳冗余。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【教师可以这样讲】这三幅图显示的是相同大小、相同位深的像素网格，哪张最容易找到重复的规律？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【预判回答与追问】强调“通常”和“对合适的算法而言”，避免将图像颜色多少当作绝对压缩决定因素。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【本页收束】纯色数据具有明显规律，适合无损压缩；比较结论再迁移到实际图像。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三图尺寸和位深一致，让学生预测哪个更规律，判断无损压缩的可能差异。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相同尺寸和色彩模式；内容结构不同。冗余与压缩算法共同决定结果。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BASE-61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【教师讲述／组织】问题页。此题迁移文字实验到图像。先解释冗余，再揭示。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练习答案不能只选A，要解释重复和规律性带来更多可利用冗余。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BASE-62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【教师讲述／组织】答案页。强调不是一切文件和算法都绝对如此。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答案中的“通常”必须保留，不同压缩方案有例外。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同一张图：BMP与JPG有什么不同？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同一张图：BMP与JPG有什么不同？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BASE-63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BMP这里只指未压缩实例，JPG通常有损；文件大小还取决于参数和内容。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[视觉优化] 同一640×350 RGB程序生成图像以quality=3编码JPEG；有损差异随参数改变。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已经压成MP3、JPG，再用RAR压一遍呢？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已经压成MP3、JPG，再用RAR压一遍呢？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已经是MP3/JPG，用RAR压缩通常收益有限，再次有损编码还可能降低质量。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是不是压得越小就一定越好？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先看两种任务。请分别说出“绝不能丢什么”和“可以权衡什么”，停顿20秒。听理由后再揭示两种取舍；不要在此页宣布一种通用最佳方式。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[`assets/video-camera.svg`](assets/video-camera.svg) | 摄像机 | [OpenMoji / 1F4F9](https://github.com/hfg-gmuend/openmoji/blob/master/color/svg/1F4F9.svg)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[`assets/folder.svg`](assets/folder.svg) | 文件夹 | [OpenMoji / 1F4C1](https://github.com/hfg-gmuend/openmoji/blob/master/color/svg/1F4C1.svg)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是不是压得越小就一定越好？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【设计意图】实录3结尾的情境决策：长期备份要完整可还原；实时通话要平衡延迟和质量。用对比培养信息社会责任意识，不只追求压缩比。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【教师可以这样讲】某个班级要长期备份源代码，另一个班级要用手机实时视频通话。两种场景需要的编码选择一样吗？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【预判回答与追问】引导学生考虑完整性、质量、延迟与存储，不要只说压缩得越小越好。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【本页收束】算法与压缩方法要与任务目标匹配。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文档备份要求完整，视频通话权衡时延/带宽/质量，反对越小必然越好。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【v8.1视觉引导】两组场景对比加大；让学生按完整性、带宽、延迟、质量权衡。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[图片用途] 文件夹和摄像机只表示两种任务。先请学生按任务说明哪些条件不能牺牲，再揭示对应取舍。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[图片来源]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[`assets/video-camera.svg`](assets/video-camera.svg) | 摄像机 | [OpenMoji / 1F4F9](https://github.com/hfg-gmuend/openmoji/blob/master/color/svg/1F4F9.svg)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| [`assets/folder.svg`](assets/folder.svg) | 文件夹 | [OpenMoji / 1F4C1](https://github.com/hfg-gmuend/openmoji/blob/master/color/svg/1F4C1.svg) |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[核验日期] 2026-10-14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独立作答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【教师讲述／组织】问题页。综合三种理解：音轨声道、原始视频大小、无损还原。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请学生独立判断三句话，指明每句对应的模型或证据。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练习题 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BASE-67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【教师讲述／组织】答案页。不接受只给三个对错而不给依据的回答。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先让学生口头解释，再展示①错②对③对，强化数据量与ZIP的两种知识。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【v8.1视觉引导】题干完全保留原位置，仅答案区浅紫底原位揭示；注意先等待学生回应再翻页。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离开课堂前，你能解释三个为什么吗？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BASE-68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独立退出评估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先收每位学生的三个书面解释，给约2分钟。不能只收志愿者回答。收齐后请学生引用证据概括两课时关系，再更新知识树。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[教师参考，仅收取后使用]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【教师讲述／组织】出口评价：任选一个问题让学生用自己的话解释。重点检查概念因果：数字化、视频容量、压缩选择。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退出条检查解释能力而非术语背诵；答不出则回到图示逐步重建。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tree4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前4个分支；不提前口述尚未建立的节点。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tree5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前5个分支；不提前口述尚未建立的节点。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把证据连接起来：数据怎样表示？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tree6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知识树更新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先请学生用刚才的证据总结新增关系，其他同学补充理由。收到概括后再揭示红框，并说明它和先前节点怎样连接；旧节点保持可见。本次只增加一个分支。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[当前已建立] 前6个分支；不提前口述尚未建立的节点。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可选拓展：采样不足时会发生什么？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q69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提问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先请每位学生独立预测或写出方法，停顿约15～20秒。请两人比较理由，暂不确认哪一个答案正确。学生作答后再翻页，用下一页的图或数据核对。先观察当前给出的条件，不提前讲后页的结论。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可选拓展：采样不足时会发生什么？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BASE-69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可选拓展：不是45分钟主线必讲内容，有时间且学生已完成必要理解才展示。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[数学证据] cos(2πt)与cos(6πt)在t=0、0.5、1上均为[1,-1,1]。封闭观察窗包含两端，与原件BASE-13（本副本第20页）的[0,1)计数目的不同。这里只证明此组三点不足以唯一确定连续波形，不给出通用采样定理的推导。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[问题] 可选拓展：编码与压缩有何区别？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[内部编号] BASE-70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[阶段] 证据／解释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[教师逐字稿]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【反馈】先听学生如何解释，再决定是否揭示结论；注意控制本页停留时间。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/>
          <a:p>
            <a:r>
              <a:rPr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可选拓展：不是45分钟主线必讲内容，有时间且学生已完成必要理解才展示。</a:t>
            </a:r>
            <a:endParaRPr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Alibaba PuHuiTi 3.0 55 Regular" panose="00020600040101010101" charset="-122"/>
          <a:ea typeface="Alibaba PuHuiTi 3.0 55 Regular" panose="00020600040101010101" charset="-122"/>
          <a:cs typeface="Alibaba PuHuiTi 3.0 55 Regular" panose="0002060004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核心问题：手机为什么可以把正在说的话保存成文件？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4840" y="3032125"/>
            <a:ext cx="3336290" cy="25031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声音和电脑里的音频文件，是同一种量吗？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声音首先是什么？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1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声音首先是什么？</a:t>
            </a:r>
          </a:p>
        </p:txBody>
      </p:sp>
      <p:pic>
        <p:nvPicPr>
          <p:cNvPr id="5" name="codex-p3-"/>
          <p:cNvPicPr>
            <a:picLocks noChangeAspect="1"/>
          </p:cNvPicPr>
          <p:nvPr/>
        </p:nvPicPr>
        <p:blipFill>
          <a:blip r:embed="rId1"/>
          <a:srcRect t="11111" b="5556"/>
          <a:stretch>
            <a:fillRect/>
          </a:stretch>
        </p:blipFill>
        <p:spPr>
          <a:xfrm>
            <a:off x="1676400" y="2343150"/>
            <a:ext cx="9144000" cy="3429000"/>
          </a:xfrm>
          <a:prstGeom prst="rect">
            <a:avLst/>
          </a:prstGeom>
        </p:spPr>
      </p:pic>
      <p:sp>
        <p:nvSpPr>
          <p:cNvPr id="6" name="codex-p3-image-caption"/>
          <p:cNvSpPr>
            <a:spLocks noGrp="1"/>
          </p:cNvSpPr>
          <p:nvPr/>
        </p:nvSpPr>
        <p:spPr>
          <a:xfrm>
            <a:off x="2000250" y="16954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振动声源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3-image-caption"/>
          <p:cNvSpPr>
            <a:spLocks noGrp="1"/>
          </p:cNvSpPr>
          <p:nvPr/>
        </p:nvSpPr>
        <p:spPr>
          <a:xfrm>
            <a:off x="4752975" y="16954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空气中的声压扰动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3-image-caption"/>
          <p:cNvSpPr>
            <a:spLocks noGrp="1"/>
          </p:cNvSpPr>
          <p:nvPr/>
        </p:nvSpPr>
        <p:spPr>
          <a:xfrm>
            <a:off x="8667750" y="1695450"/>
            <a:ext cx="29146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麦克风接收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codex-p3-image-caption"/>
          <p:cNvSpPr>
            <a:spLocks noGrp="1"/>
          </p:cNvSpPr>
          <p:nvPr/>
        </p:nvSpPr>
        <p:spPr>
          <a:xfrm>
            <a:off x="609600" y="588645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声压扰动向外传播；圆弧仅作波阵面示意。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麦克风把声波变成什么？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麦克风完成“声压变化 → 电信号”；将模拟信号数字化由ADC完成。</a:t>
            </a:r>
          </a:p>
        </p:txBody>
      </p:sp>
      <p:pic>
        <p:nvPicPr>
          <p:cNvPr id="113" name="codex-p5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650" y="2428875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连续电信号，怎样变成数字？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codex-p9-image-caption"/>
          <p:cNvSpPr>
            <a:spLocks noGrp="1"/>
          </p:cNvSpPr>
          <p:nvPr/>
        </p:nvSpPr>
        <p:spPr>
          <a:xfrm>
            <a:off x="609600" y="16764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先预测：红色光标向右，表示声音向右传播吗？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pic>
        <p:nvPicPr>
          <p:cNvPr id="6" name="codex-p9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762262"/>
            <a:ext cx="9677400" cy="2423136"/>
          </a:xfrm>
          <a:prstGeom prst="rect">
            <a:avLst/>
          </a:prstGeom>
        </p:spPr>
      </p:pic>
      <p:sp>
        <p:nvSpPr>
          <p:cNvPr id="7" name="codex-p9-playback-cursor"/>
          <p:cNvSpPr>
            <a:spLocks noGrp="1"/>
          </p:cNvSpPr>
          <p:nvPr/>
        </p:nvSpPr>
        <p:spPr>
          <a:xfrm>
            <a:off x="7858125" y="2809875"/>
            <a:ext cx="9525" cy="2381250"/>
          </a:xfrm>
          <a:custGeom>
            <a:avLst/>
            <a:gdLst/>
            <a:ahLst/>
            <a:cxnLst/>
            <a:pathLst>
              <a:path w="9525" h="2381250">
                <a:moveTo>
                  <a:pt x="0" y="0"/>
                </a:moveTo>
                <a:lnTo>
                  <a:pt x="0" y="2381250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</p:sp>
      <p:sp>
        <p:nvSpPr>
          <p:cNvPr id="8" name="codex-p9-image-caption"/>
          <p:cNvSpPr>
            <a:spLocks noGrp="1"/>
          </p:cNvSpPr>
          <p:nvPr/>
        </p:nvSpPr>
        <p:spPr>
          <a:xfrm>
            <a:off x="609600" y="2286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波形显示（Audacity示例）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9-image-caption"/>
          <p:cNvSpPr>
            <a:spLocks noGrp="1"/>
          </p:cNvSpPr>
          <p:nvPr/>
        </p:nvSpPr>
        <p:spPr>
          <a:xfrm>
            <a:off x="8096250" y="5334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横向是时间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9-image-caption"/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请观察：播放继续时，光标位置怎样变化？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只能记录有限个数字，选哪些时刻？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648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演示B：放大波形，会看见采样点吗？</a:t>
            </a:r>
          </a:p>
        </p:txBody>
      </p:sp>
      <p:sp>
        <p:nvSpPr>
          <p:cNvPr id="5" name="codex-q12-image-caption"/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同一段示意信号：左侧全段，右侧放大红框。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演示B：放大波形，会看见采样点吗？</a:t>
            </a:r>
          </a:p>
        </p:txBody>
      </p:sp>
      <p:sp>
        <p:nvSpPr>
          <p:cNvPr id="5" name="codex-p12-image-caption"/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同一段示意信号：左侧全段，右侧放大红框。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p12-image-caption"/>
          <p:cNvSpPr>
            <a:spLocks noGrp="1"/>
          </p:cNvSpPr>
          <p:nvPr/>
        </p:nvSpPr>
        <p:spPr>
          <a:xfrm>
            <a:off x="609600" y="235267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整体：0～1 s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12-image-caption"/>
          <p:cNvSpPr>
            <a:spLocks noGrp="1"/>
          </p:cNvSpPr>
          <p:nvPr/>
        </p:nvSpPr>
        <p:spPr>
          <a:xfrm>
            <a:off x="6724650" y="235267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局部：0.30～0.50 s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12-relationship"/>
          <p:cNvSpPr>
            <a:spLocks noGrp="1"/>
          </p:cNvSpPr>
          <p:nvPr/>
        </p:nvSpPr>
        <p:spPr>
          <a:xfrm>
            <a:off x="1066800" y="4095750"/>
            <a:ext cx="4095750" cy="9525"/>
          </a:xfrm>
          <a:custGeom>
            <a:avLst/>
            <a:gdLst/>
            <a:ahLst/>
            <a:cxnLst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9" name="codex-p12-relationship"/>
          <p:cNvSpPr>
            <a:spLocks noGrp="1"/>
          </p:cNvSpPr>
          <p:nvPr/>
        </p:nvSpPr>
        <p:spPr>
          <a:xfrm>
            <a:off x="1066800" y="2971800"/>
            <a:ext cx="9525" cy="2247900"/>
          </a:xfrm>
          <a:custGeom>
            <a:avLst/>
            <a:gdLst/>
            <a:ahLst/>
            <a:cxnLst/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0" name="codex-p12-signal"/>
          <p:cNvSpPr>
            <a:spLocks noGrp="1"/>
          </p:cNvSpPr>
          <p:nvPr/>
        </p:nvSpPr>
        <p:spPr>
          <a:xfrm>
            <a:off x="1066800" y="3341446"/>
            <a:ext cx="4095750" cy="1508609"/>
          </a:xfrm>
          <a:custGeom>
            <a:avLst/>
            <a:gdLst/>
            <a:ahLst/>
            <a:cxnLst/>
            <a:pathLst>
              <a:path w="4095750" h="1508609">
                <a:moveTo>
                  <a:pt x="0" y="531370"/>
                </a:moveTo>
                <a:lnTo>
                  <a:pt x="20479" y="421374"/>
                </a:lnTo>
                <a:lnTo>
                  <a:pt x="40957" y="319577"/>
                </a:lnTo>
                <a:lnTo>
                  <a:pt x="61436" y="228483"/>
                </a:lnTo>
                <a:lnTo>
                  <a:pt x="81915" y="150338"/>
                </a:lnTo>
                <a:lnTo>
                  <a:pt x="102394" y="87063"/>
                </a:lnTo>
                <a:lnTo>
                  <a:pt x="122873" y="40219"/>
                </a:lnTo>
                <a:lnTo>
                  <a:pt x="143351" y="10958"/>
                </a:lnTo>
                <a:lnTo>
                  <a:pt x="163830" y="0"/>
                </a:lnTo>
                <a:lnTo>
                  <a:pt x="184309" y="7616"/>
                </a:lnTo>
                <a:lnTo>
                  <a:pt x="204788" y="33618"/>
                </a:lnTo>
                <a:lnTo>
                  <a:pt x="225266" y="77365"/>
                </a:lnTo>
                <a:lnTo>
                  <a:pt x="245745" y="137781"/>
                </a:lnTo>
                <a:lnTo>
                  <a:pt x="266224" y="213378"/>
                </a:lnTo>
                <a:lnTo>
                  <a:pt x="286702" y="302294"/>
                </a:lnTo>
                <a:lnTo>
                  <a:pt x="307181" y="402340"/>
                </a:lnTo>
                <a:lnTo>
                  <a:pt x="327660" y="511053"/>
                </a:lnTo>
                <a:lnTo>
                  <a:pt x="348139" y="625756"/>
                </a:lnTo>
                <a:lnTo>
                  <a:pt x="368617" y="743623"/>
                </a:lnTo>
                <a:lnTo>
                  <a:pt x="389096" y="861754"/>
                </a:lnTo>
                <a:lnTo>
                  <a:pt x="409575" y="977239"/>
                </a:lnTo>
                <a:lnTo>
                  <a:pt x="430054" y="1087234"/>
                </a:lnTo>
                <a:lnTo>
                  <a:pt x="450533" y="1189032"/>
                </a:lnTo>
                <a:lnTo>
                  <a:pt x="471011" y="1280125"/>
                </a:lnTo>
                <a:lnTo>
                  <a:pt x="491490" y="1358271"/>
                </a:lnTo>
                <a:lnTo>
                  <a:pt x="511969" y="1421545"/>
                </a:lnTo>
                <a:lnTo>
                  <a:pt x="532448" y="1468390"/>
                </a:lnTo>
                <a:lnTo>
                  <a:pt x="552926" y="1497651"/>
                </a:lnTo>
                <a:lnTo>
                  <a:pt x="573405" y="1508609"/>
                </a:lnTo>
                <a:lnTo>
                  <a:pt x="593884" y="1500993"/>
                </a:lnTo>
                <a:lnTo>
                  <a:pt x="614363" y="1474991"/>
                </a:lnTo>
                <a:lnTo>
                  <a:pt x="634841" y="1431244"/>
                </a:lnTo>
                <a:lnTo>
                  <a:pt x="655320" y="1370828"/>
                </a:lnTo>
                <a:lnTo>
                  <a:pt x="675799" y="1295231"/>
                </a:lnTo>
                <a:lnTo>
                  <a:pt x="696278" y="1206315"/>
                </a:lnTo>
                <a:lnTo>
                  <a:pt x="716756" y="1106268"/>
                </a:lnTo>
                <a:lnTo>
                  <a:pt x="737235" y="997556"/>
                </a:lnTo>
                <a:lnTo>
                  <a:pt x="757714" y="882853"/>
                </a:lnTo>
                <a:lnTo>
                  <a:pt x="778192" y="764985"/>
                </a:lnTo>
                <a:lnTo>
                  <a:pt x="798671" y="646855"/>
                </a:lnTo>
                <a:lnTo>
                  <a:pt x="819150" y="531370"/>
                </a:lnTo>
                <a:lnTo>
                  <a:pt x="839629" y="421374"/>
                </a:lnTo>
                <a:lnTo>
                  <a:pt x="860108" y="319577"/>
                </a:lnTo>
                <a:lnTo>
                  <a:pt x="880586" y="228483"/>
                </a:lnTo>
                <a:lnTo>
                  <a:pt x="901065" y="150338"/>
                </a:lnTo>
                <a:lnTo>
                  <a:pt x="921544" y="87063"/>
                </a:lnTo>
                <a:lnTo>
                  <a:pt x="942023" y="40219"/>
                </a:lnTo>
                <a:lnTo>
                  <a:pt x="962501" y="10958"/>
                </a:lnTo>
                <a:lnTo>
                  <a:pt x="982980" y="0"/>
                </a:lnTo>
                <a:lnTo>
                  <a:pt x="1003459" y="7616"/>
                </a:lnTo>
                <a:lnTo>
                  <a:pt x="1023938" y="33618"/>
                </a:lnTo>
                <a:lnTo>
                  <a:pt x="1044416" y="77365"/>
                </a:lnTo>
                <a:lnTo>
                  <a:pt x="1064895" y="137781"/>
                </a:lnTo>
                <a:lnTo>
                  <a:pt x="1085374" y="213378"/>
                </a:lnTo>
                <a:lnTo>
                  <a:pt x="1105853" y="302294"/>
                </a:lnTo>
                <a:lnTo>
                  <a:pt x="1126331" y="402340"/>
                </a:lnTo>
                <a:lnTo>
                  <a:pt x="1146810" y="511053"/>
                </a:lnTo>
                <a:lnTo>
                  <a:pt x="1167289" y="625756"/>
                </a:lnTo>
                <a:lnTo>
                  <a:pt x="1187768" y="743623"/>
                </a:lnTo>
                <a:lnTo>
                  <a:pt x="1208246" y="861754"/>
                </a:lnTo>
                <a:lnTo>
                  <a:pt x="1228725" y="977239"/>
                </a:lnTo>
                <a:lnTo>
                  <a:pt x="1249204" y="1087234"/>
                </a:lnTo>
                <a:lnTo>
                  <a:pt x="1269683" y="1189032"/>
                </a:lnTo>
                <a:lnTo>
                  <a:pt x="1290161" y="1280125"/>
                </a:lnTo>
                <a:lnTo>
                  <a:pt x="1310640" y="1358271"/>
                </a:lnTo>
                <a:lnTo>
                  <a:pt x="1331119" y="1421545"/>
                </a:lnTo>
                <a:lnTo>
                  <a:pt x="1351598" y="1468390"/>
                </a:lnTo>
                <a:lnTo>
                  <a:pt x="1372076" y="1497651"/>
                </a:lnTo>
                <a:lnTo>
                  <a:pt x="1392555" y="1508609"/>
                </a:lnTo>
                <a:lnTo>
                  <a:pt x="1413034" y="1500993"/>
                </a:lnTo>
                <a:lnTo>
                  <a:pt x="1433513" y="1474991"/>
                </a:lnTo>
                <a:lnTo>
                  <a:pt x="1453991" y="1431244"/>
                </a:lnTo>
                <a:lnTo>
                  <a:pt x="1474470" y="1370828"/>
                </a:lnTo>
                <a:lnTo>
                  <a:pt x="1494949" y="1295231"/>
                </a:lnTo>
                <a:lnTo>
                  <a:pt x="1515428" y="1206315"/>
                </a:lnTo>
                <a:lnTo>
                  <a:pt x="1535906" y="1106268"/>
                </a:lnTo>
                <a:lnTo>
                  <a:pt x="1556385" y="997556"/>
                </a:lnTo>
                <a:lnTo>
                  <a:pt x="1576864" y="882853"/>
                </a:lnTo>
                <a:lnTo>
                  <a:pt x="1597343" y="764985"/>
                </a:lnTo>
                <a:lnTo>
                  <a:pt x="1617821" y="646855"/>
                </a:lnTo>
                <a:lnTo>
                  <a:pt x="1638300" y="531370"/>
                </a:lnTo>
                <a:lnTo>
                  <a:pt x="1658779" y="421374"/>
                </a:lnTo>
                <a:lnTo>
                  <a:pt x="1679258" y="319577"/>
                </a:lnTo>
                <a:lnTo>
                  <a:pt x="1699736" y="228483"/>
                </a:lnTo>
                <a:lnTo>
                  <a:pt x="1720215" y="150338"/>
                </a:lnTo>
                <a:lnTo>
                  <a:pt x="1740694" y="87063"/>
                </a:lnTo>
                <a:lnTo>
                  <a:pt x="1761172" y="40219"/>
                </a:lnTo>
                <a:lnTo>
                  <a:pt x="1781651" y="10958"/>
                </a:lnTo>
                <a:lnTo>
                  <a:pt x="1802130" y="0"/>
                </a:lnTo>
                <a:lnTo>
                  <a:pt x="1822609" y="7616"/>
                </a:lnTo>
                <a:lnTo>
                  <a:pt x="1843088" y="33618"/>
                </a:lnTo>
                <a:lnTo>
                  <a:pt x="1863566" y="77365"/>
                </a:lnTo>
                <a:lnTo>
                  <a:pt x="1884045" y="137781"/>
                </a:lnTo>
                <a:lnTo>
                  <a:pt x="1904524" y="213378"/>
                </a:lnTo>
                <a:lnTo>
                  <a:pt x="1925003" y="302294"/>
                </a:lnTo>
                <a:lnTo>
                  <a:pt x="1945481" y="402340"/>
                </a:lnTo>
                <a:lnTo>
                  <a:pt x="1965960" y="511053"/>
                </a:lnTo>
                <a:lnTo>
                  <a:pt x="1986439" y="625756"/>
                </a:lnTo>
                <a:lnTo>
                  <a:pt x="2006918" y="743623"/>
                </a:lnTo>
                <a:lnTo>
                  <a:pt x="2027396" y="861754"/>
                </a:lnTo>
                <a:lnTo>
                  <a:pt x="2047875" y="977239"/>
                </a:lnTo>
                <a:lnTo>
                  <a:pt x="2068354" y="1087234"/>
                </a:lnTo>
                <a:lnTo>
                  <a:pt x="2088833" y="1189032"/>
                </a:lnTo>
                <a:lnTo>
                  <a:pt x="2109311" y="1280125"/>
                </a:lnTo>
                <a:lnTo>
                  <a:pt x="2129790" y="1358271"/>
                </a:lnTo>
                <a:lnTo>
                  <a:pt x="2150269" y="1421545"/>
                </a:lnTo>
                <a:lnTo>
                  <a:pt x="2170748" y="1468390"/>
                </a:lnTo>
                <a:lnTo>
                  <a:pt x="2191226" y="1497651"/>
                </a:lnTo>
                <a:lnTo>
                  <a:pt x="2211705" y="1508609"/>
                </a:lnTo>
                <a:lnTo>
                  <a:pt x="2232184" y="1500993"/>
                </a:lnTo>
                <a:lnTo>
                  <a:pt x="2252663" y="1474991"/>
                </a:lnTo>
                <a:lnTo>
                  <a:pt x="2273141" y="1431244"/>
                </a:lnTo>
                <a:lnTo>
                  <a:pt x="2293620" y="1370828"/>
                </a:lnTo>
                <a:lnTo>
                  <a:pt x="2314099" y="1295231"/>
                </a:lnTo>
                <a:lnTo>
                  <a:pt x="2334578" y="1206315"/>
                </a:lnTo>
                <a:lnTo>
                  <a:pt x="2355056" y="1106268"/>
                </a:lnTo>
                <a:lnTo>
                  <a:pt x="2375535" y="997556"/>
                </a:lnTo>
                <a:lnTo>
                  <a:pt x="2396014" y="882853"/>
                </a:lnTo>
                <a:lnTo>
                  <a:pt x="2416493" y="764985"/>
                </a:lnTo>
                <a:lnTo>
                  <a:pt x="2436971" y="646855"/>
                </a:lnTo>
                <a:lnTo>
                  <a:pt x="2457450" y="531370"/>
                </a:lnTo>
                <a:lnTo>
                  <a:pt x="2477929" y="421374"/>
                </a:lnTo>
                <a:lnTo>
                  <a:pt x="2498408" y="319577"/>
                </a:lnTo>
                <a:lnTo>
                  <a:pt x="2518886" y="228483"/>
                </a:lnTo>
                <a:lnTo>
                  <a:pt x="2539365" y="150338"/>
                </a:lnTo>
                <a:lnTo>
                  <a:pt x="2559844" y="87063"/>
                </a:lnTo>
                <a:lnTo>
                  <a:pt x="2580323" y="40219"/>
                </a:lnTo>
                <a:lnTo>
                  <a:pt x="2600801" y="10958"/>
                </a:lnTo>
                <a:lnTo>
                  <a:pt x="2621280" y="0"/>
                </a:lnTo>
                <a:lnTo>
                  <a:pt x="2641759" y="7616"/>
                </a:lnTo>
                <a:lnTo>
                  <a:pt x="2662238" y="33618"/>
                </a:lnTo>
                <a:lnTo>
                  <a:pt x="2682716" y="77365"/>
                </a:lnTo>
                <a:lnTo>
                  <a:pt x="2703195" y="137781"/>
                </a:lnTo>
                <a:lnTo>
                  <a:pt x="2723674" y="213378"/>
                </a:lnTo>
                <a:lnTo>
                  <a:pt x="2744153" y="302294"/>
                </a:lnTo>
                <a:lnTo>
                  <a:pt x="2764631" y="402340"/>
                </a:lnTo>
                <a:lnTo>
                  <a:pt x="2785110" y="511053"/>
                </a:lnTo>
                <a:lnTo>
                  <a:pt x="2805589" y="625756"/>
                </a:lnTo>
                <a:lnTo>
                  <a:pt x="2826068" y="743623"/>
                </a:lnTo>
                <a:lnTo>
                  <a:pt x="2846546" y="861754"/>
                </a:lnTo>
                <a:lnTo>
                  <a:pt x="2867025" y="977239"/>
                </a:lnTo>
                <a:lnTo>
                  <a:pt x="2887504" y="1087234"/>
                </a:lnTo>
                <a:lnTo>
                  <a:pt x="2907983" y="1189032"/>
                </a:lnTo>
                <a:lnTo>
                  <a:pt x="2928461" y="1280125"/>
                </a:lnTo>
                <a:lnTo>
                  <a:pt x="2948940" y="1358271"/>
                </a:lnTo>
                <a:lnTo>
                  <a:pt x="2969419" y="1421545"/>
                </a:lnTo>
                <a:lnTo>
                  <a:pt x="2989898" y="1468390"/>
                </a:lnTo>
                <a:lnTo>
                  <a:pt x="3010376" y="1497651"/>
                </a:lnTo>
                <a:lnTo>
                  <a:pt x="3030855" y="1508609"/>
                </a:lnTo>
                <a:lnTo>
                  <a:pt x="3051334" y="1500993"/>
                </a:lnTo>
                <a:lnTo>
                  <a:pt x="3071813" y="1474991"/>
                </a:lnTo>
                <a:lnTo>
                  <a:pt x="3092291" y="1431244"/>
                </a:lnTo>
                <a:lnTo>
                  <a:pt x="3112770" y="1370828"/>
                </a:lnTo>
                <a:lnTo>
                  <a:pt x="3133249" y="1295231"/>
                </a:lnTo>
                <a:lnTo>
                  <a:pt x="3153728" y="1206315"/>
                </a:lnTo>
                <a:lnTo>
                  <a:pt x="3174206" y="1106268"/>
                </a:lnTo>
                <a:lnTo>
                  <a:pt x="3194685" y="997556"/>
                </a:lnTo>
                <a:lnTo>
                  <a:pt x="3215164" y="882853"/>
                </a:lnTo>
                <a:lnTo>
                  <a:pt x="3235643" y="764985"/>
                </a:lnTo>
                <a:lnTo>
                  <a:pt x="3256121" y="646855"/>
                </a:lnTo>
                <a:lnTo>
                  <a:pt x="3276600" y="531370"/>
                </a:lnTo>
                <a:lnTo>
                  <a:pt x="3297079" y="421374"/>
                </a:lnTo>
                <a:lnTo>
                  <a:pt x="3317558" y="319577"/>
                </a:lnTo>
                <a:lnTo>
                  <a:pt x="3338036" y="228483"/>
                </a:lnTo>
                <a:lnTo>
                  <a:pt x="3358515" y="150338"/>
                </a:lnTo>
                <a:lnTo>
                  <a:pt x="3378994" y="87063"/>
                </a:lnTo>
                <a:lnTo>
                  <a:pt x="3399473" y="40219"/>
                </a:lnTo>
                <a:lnTo>
                  <a:pt x="3419951" y="10958"/>
                </a:lnTo>
                <a:lnTo>
                  <a:pt x="3440430" y="0"/>
                </a:lnTo>
                <a:lnTo>
                  <a:pt x="3460909" y="7616"/>
                </a:lnTo>
                <a:lnTo>
                  <a:pt x="3481388" y="33618"/>
                </a:lnTo>
                <a:lnTo>
                  <a:pt x="3501866" y="77365"/>
                </a:lnTo>
                <a:lnTo>
                  <a:pt x="3522345" y="137781"/>
                </a:lnTo>
                <a:lnTo>
                  <a:pt x="3542824" y="213378"/>
                </a:lnTo>
                <a:lnTo>
                  <a:pt x="3563303" y="302294"/>
                </a:lnTo>
                <a:lnTo>
                  <a:pt x="3583781" y="402340"/>
                </a:lnTo>
                <a:lnTo>
                  <a:pt x="3604260" y="511053"/>
                </a:lnTo>
                <a:lnTo>
                  <a:pt x="3624739" y="625756"/>
                </a:lnTo>
                <a:lnTo>
                  <a:pt x="3645218" y="743623"/>
                </a:lnTo>
                <a:lnTo>
                  <a:pt x="3665696" y="861754"/>
                </a:lnTo>
                <a:lnTo>
                  <a:pt x="3686175" y="977239"/>
                </a:lnTo>
                <a:lnTo>
                  <a:pt x="3706654" y="1087234"/>
                </a:lnTo>
                <a:lnTo>
                  <a:pt x="3727133" y="1189032"/>
                </a:lnTo>
                <a:lnTo>
                  <a:pt x="3747611" y="1280125"/>
                </a:lnTo>
                <a:lnTo>
                  <a:pt x="3768090" y="1358271"/>
                </a:lnTo>
                <a:lnTo>
                  <a:pt x="3788569" y="1421545"/>
                </a:lnTo>
                <a:lnTo>
                  <a:pt x="3809048" y="1468390"/>
                </a:lnTo>
                <a:lnTo>
                  <a:pt x="3829526" y="1497651"/>
                </a:lnTo>
                <a:lnTo>
                  <a:pt x="3850005" y="1508609"/>
                </a:lnTo>
                <a:lnTo>
                  <a:pt x="3870484" y="1500993"/>
                </a:lnTo>
                <a:lnTo>
                  <a:pt x="3890963" y="1474991"/>
                </a:lnTo>
                <a:lnTo>
                  <a:pt x="3911441" y="1431244"/>
                </a:lnTo>
                <a:lnTo>
                  <a:pt x="3931920" y="1370828"/>
                </a:lnTo>
                <a:lnTo>
                  <a:pt x="3952399" y="1295231"/>
                </a:lnTo>
                <a:lnTo>
                  <a:pt x="3972878" y="1206315"/>
                </a:lnTo>
                <a:lnTo>
                  <a:pt x="3993356" y="1106268"/>
                </a:lnTo>
                <a:lnTo>
                  <a:pt x="4013835" y="997556"/>
                </a:lnTo>
                <a:lnTo>
                  <a:pt x="4034314" y="882853"/>
                </a:lnTo>
                <a:lnTo>
                  <a:pt x="4054793" y="764985"/>
                </a:lnTo>
                <a:lnTo>
                  <a:pt x="4075271" y="646855"/>
                </a:lnTo>
                <a:lnTo>
                  <a:pt x="4095750" y="53137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1" name="codex-p12-image-caption"/>
          <p:cNvSpPr>
            <a:spLocks noGrp="1"/>
          </p:cNvSpPr>
          <p:nvPr/>
        </p:nvSpPr>
        <p:spPr>
          <a:xfrm>
            <a:off x="80010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codex-p12-image-caption"/>
          <p:cNvSpPr>
            <a:spLocks noGrp="1"/>
          </p:cNvSpPr>
          <p:nvPr/>
        </p:nvSpPr>
        <p:spPr>
          <a:xfrm>
            <a:off x="483870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codex-p12-image-caption"/>
          <p:cNvSpPr>
            <a:spLocks noGrp="1"/>
          </p:cNvSpPr>
          <p:nvPr/>
        </p:nvSpPr>
        <p:spPr>
          <a:xfrm>
            <a:off x="3686175" y="55626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 /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p12-image-caption"/>
          <p:cNvSpPr>
            <a:spLocks noGrp="1"/>
          </p:cNvSpPr>
          <p:nvPr/>
        </p:nvSpPr>
        <p:spPr>
          <a:xfrm>
            <a:off x="638175" y="28670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幅度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codex-p12-relationship"/>
          <p:cNvSpPr>
            <a:spLocks noGrp="1"/>
          </p:cNvSpPr>
          <p:nvPr/>
        </p:nvSpPr>
        <p:spPr>
          <a:xfrm>
            <a:off x="7143750" y="4095750"/>
            <a:ext cx="4095750" cy="9525"/>
          </a:xfrm>
          <a:custGeom>
            <a:avLst/>
            <a:gdLst/>
            <a:ahLst/>
            <a:cxnLst/>
            <a:pathLst>
              <a:path w="4095750" h="9525">
                <a:moveTo>
                  <a:pt x="0" y="0"/>
                </a:moveTo>
                <a:lnTo>
                  <a:pt x="40957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6" name="codex-p12-relationship"/>
          <p:cNvSpPr>
            <a:spLocks noGrp="1"/>
          </p:cNvSpPr>
          <p:nvPr/>
        </p:nvSpPr>
        <p:spPr>
          <a:xfrm>
            <a:off x="7143750" y="2971800"/>
            <a:ext cx="9525" cy="2247900"/>
          </a:xfrm>
          <a:custGeom>
            <a:avLst/>
            <a:gdLst/>
            <a:ahLst/>
            <a:cxnLst/>
            <a:pathLst>
              <a:path w="9525" h="2247900">
                <a:moveTo>
                  <a:pt x="0" y="0"/>
                </a:moveTo>
                <a:lnTo>
                  <a:pt x="0" y="22479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7" name="codex-p12-signal"/>
          <p:cNvSpPr>
            <a:spLocks noGrp="1"/>
          </p:cNvSpPr>
          <p:nvPr/>
        </p:nvSpPr>
        <p:spPr>
          <a:xfrm>
            <a:off x="7143750" y="3341446"/>
            <a:ext cx="4095750" cy="1508609"/>
          </a:xfrm>
          <a:custGeom>
            <a:avLst/>
            <a:gdLst/>
            <a:ahLst/>
            <a:cxnLst/>
            <a:pathLst>
              <a:path w="4095750" h="1508609">
                <a:moveTo>
                  <a:pt x="0" y="977239"/>
                </a:moveTo>
                <a:lnTo>
                  <a:pt x="20479" y="999766"/>
                </a:lnTo>
                <a:lnTo>
                  <a:pt x="40957" y="1022051"/>
                </a:lnTo>
                <a:lnTo>
                  <a:pt x="61436" y="1044072"/>
                </a:lnTo>
                <a:lnTo>
                  <a:pt x="81915" y="1065807"/>
                </a:lnTo>
                <a:lnTo>
                  <a:pt x="102394" y="1087234"/>
                </a:lnTo>
                <a:lnTo>
                  <a:pt x="122872" y="1108333"/>
                </a:lnTo>
                <a:lnTo>
                  <a:pt x="143351" y="1129083"/>
                </a:lnTo>
                <a:lnTo>
                  <a:pt x="163830" y="1149463"/>
                </a:lnTo>
                <a:lnTo>
                  <a:pt x="184309" y="1169452"/>
                </a:lnTo>
                <a:lnTo>
                  <a:pt x="204788" y="1189032"/>
                </a:lnTo>
                <a:lnTo>
                  <a:pt x="225266" y="1208183"/>
                </a:lnTo>
                <a:lnTo>
                  <a:pt x="245745" y="1226886"/>
                </a:lnTo>
                <a:lnTo>
                  <a:pt x="266224" y="1245123"/>
                </a:lnTo>
                <a:lnTo>
                  <a:pt x="286703" y="1262875"/>
                </a:lnTo>
                <a:lnTo>
                  <a:pt x="307181" y="1280125"/>
                </a:lnTo>
                <a:lnTo>
                  <a:pt x="327660" y="1296857"/>
                </a:lnTo>
                <a:lnTo>
                  <a:pt x="348139" y="1313053"/>
                </a:lnTo>
                <a:lnTo>
                  <a:pt x="368618" y="1328697"/>
                </a:lnTo>
                <a:lnTo>
                  <a:pt x="389096" y="1343775"/>
                </a:lnTo>
                <a:lnTo>
                  <a:pt x="409575" y="1358271"/>
                </a:lnTo>
                <a:lnTo>
                  <a:pt x="430054" y="1372171"/>
                </a:lnTo>
                <a:lnTo>
                  <a:pt x="450532" y="1385461"/>
                </a:lnTo>
                <a:lnTo>
                  <a:pt x="471011" y="1398129"/>
                </a:lnTo>
                <a:lnTo>
                  <a:pt x="491490" y="1410161"/>
                </a:lnTo>
                <a:lnTo>
                  <a:pt x="511969" y="1421545"/>
                </a:lnTo>
                <a:lnTo>
                  <a:pt x="532447" y="1432272"/>
                </a:lnTo>
                <a:lnTo>
                  <a:pt x="552926" y="1442329"/>
                </a:lnTo>
                <a:lnTo>
                  <a:pt x="573405" y="1451707"/>
                </a:lnTo>
                <a:lnTo>
                  <a:pt x="593884" y="1460397"/>
                </a:lnTo>
                <a:lnTo>
                  <a:pt x="614363" y="1468390"/>
                </a:lnTo>
                <a:lnTo>
                  <a:pt x="634841" y="1475678"/>
                </a:lnTo>
                <a:lnTo>
                  <a:pt x="655320" y="1482255"/>
                </a:lnTo>
                <a:lnTo>
                  <a:pt x="675799" y="1488113"/>
                </a:lnTo>
                <a:lnTo>
                  <a:pt x="696278" y="1493247"/>
                </a:lnTo>
                <a:lnTo>
                  <a:pt x="716756" y="1497651"/>
                </a:lnTo>
                <a:lnTo>
                  <a:pt x="737235" y="1501322"/>
                </a:lnTo>
                <a:lnTo>
                  <a:pt x="757714" y="1504256"/>
                </a:lnTo>
                <a:lnTo>
                  <a:pt x="778193" y="1506450"/>
                </a:lnTo>
                <a:lnTo>
                  <a:pt x="798671" y="1507901"/>
                </a:lnTo>
                <a:lnTo>
                  <a:pt x="819150" y="1508609"/>
                </a:lnTo>
                <a:lnTo>
                  <a:pt x="839629" y="1508572"/>
                </a:lnTo>
                <a:lnTo>
                  <a:pt x="860107" y="1507791"/>
                </a:lnTo>
                <a:lnTo>
                  <a:pt x="880586" y="1506266"/>
                </a:lnTo>
                <a:lnTo>
                  <a:pt x="901065" y="1504000"/>
                </a:lnTo>
                <a:lnTo>
                  <a:pt x="921544" y="1500993"/>
                </a:lnTo>
                <a:lnTo>
                  <a:pt x="942022" y="1497249"/>
                </a:lnTo>
                <a:lnTo>
                  <a:pt x="962501" y="1492773"/>
                </a:lnTo>
                <a:lnTo>
                  <a:pt x="982980" y="1487567"/>
                </a:lnTo>
                <a:lnTo>
                  <a:pt x="1003459" y="1481638"/>
                </a:lnTo>
                <a:lnTo>
                  <a:pt x="1023938" y="1474991"/>
                </a:lnTo>
                <a:lnTo>
                  <a:pt x="1044416" y="1467633"/>
                </a:lnTo>
                <a:lnTo>
                  <a:pt x="1064895" y="1459571"/>
                </a:lnTo>
                <a:lnTo>
                  <a:pt x="1085374" y="1450813"/>
                </a:lnTo>
                <a:lnTo>
                  <a:pt x="1105853" y="1441367"/>
                </a:lnTo>
                <a:lnTo>
                  <a:pt x="1126331" y="1431244"/>
                </a:lnTo>
                <a:lnTo>
                  <a:pt x="1146810" y="1420452"/>
                </a:lnTo>
                <a:lnTo>
                  <a:pt x="1167289" y="1409003"/>
                </a:lnTo>
                <a:lnTo>
                  <a:pt x="1187768" y="1396908"/>
                </a:lnTo>
                <a:lnTo>
                  <a:pt x="1208246" y="1384179"/>
                </a:lnTo>
                <a:lnTo>
                  <a:pt x="1228725" y="1370828"/>
                </a:lnTo>
                <a:lnTo>
                  <a:pt x="1249204" y="1356868"/>
                </a:lnTo>
                <a:lnTo>
                  <a:pt x="1269682" y="1342314"/>
                </a:lnTo>
                <a:lnTo>
                  <a:pt x="1290161" y="1327180"/>
                </a:lnTo>
                <a:lnTo>
                  <a:pt x="1310640" y="1311480"/>
                </a:lnTo>
                <a:lnTo>
                  <a:pt x="1331119" y="1295231"/>
                </a:lnTo>
                <a:lnTo>
                  <a:pt x="1351597" y="1278447"/>
                </a:lnTo>
                <a:lnTo>
                  <a:pt x="1372076" y="1261147"/>
                </a:lnTo>
                <a:lnTo>
                  <a:pt x="1392555" y="1243346"/>
                </a:lnTo>
                <a:lnTo>
                  <a:pt x="1413034" y="1225063"/>
                </a:lnTo>
                <a:lnTo>
                  <a:pt x="1433513" y="1206315"/>
                </a:lnTo>
                <a:lnTo>
                  <a:pt x="1453991" y="1187120"/>
                </a:lnTo>
                <a:lnTo>
                  <a:pt x="1474470" y="1167499"/>
                </a:lnTo>
                <a:lnTo>
                  <a:pt x="1494949" y="1147470"/>
                </a:lnTo>
                <a:lnTo>
                  <a:pt x="1515428" y="1127053"/>
                </a:lnTo>
                <a:lnTo>
                  <a:pt x="1535906" y="1106268"/>
                </a:lnTo>
                <a:lnTo>
                  <a:pt x="1556385" y="1085136"/>
                </a:lnTo>
                <a:lnTo>
                  <a:pt x="1576864" y="1063677"/>
                </a:lnTo>
                <a:lnTo>
                  <a:pt x="1597343" y="1041913"/>
                </a:lnTo>
                <a:lnTo>
                  <a:pt x="1617821" y="1019866"/>
                </a:lnTo>
                <a:lnTo>
                  <a:pt x="1638300" y="997556"/>
                </a:lnTo>
                <a:lnTo>
                  <a:pt x="1658779" y="975006"/>
                </a:lnTo>
                <a:lnTo>
                  <a:pt x="1679257" y="952238"/>
                </a:lnTo>
                <a:lnTo>
                  <a:pt x="1699736" y="929275"/>
                </a:lnTo>
                <a:lnTo>
                  <a:pt x="1720215" y="906139"/>
                </a:lnTo>
                <a:lnTo>
                  <a:pt x="1740694" y="882853"/>
                </a:lnTo>
                <a:lnTo>
                  <a:pt x="1761172" y="859441"/>
                </a:lnTo>
                <a:lnTo>
                  <a:pt x="1781651" y="835924"/>
                </a:lnTo>
                <a:lnTo>
                  <a:pt x="1802130" y="812328"/>
                </a:lnTo>
                <a:lnTo>
                  <a:pt x="1822609" y="788673"/>
                </a:lnTo>
                <a:lnTo>
                  <a:pt x="1843088" y="764985"/>
                </a:lnTo>
                <a:lnTo>
                  <a:pt x="1863566" y="741287"/>
                </a:lnTo>
                <a:lnTo>
                  <a:pt x="1884045" y="717601"/>
                </a:lnTo>
                <a:lnTo>
                  <a:pt x="1904524" y="693952"/>
                </a:lnTo>
                <a:lnTo>
                  <a:pt x="1925003" y="670362"/>
                </a:lnTo>
                <a:lnTo>
                  <a:pt x="1945481" y="646855"/>
                </a:lnTo>
                <a:lnTo>
                  <a:pt x="1965960" y="623454"/>
                </a:lnTo>
                <a:lnTo>
                  <a:pt x="1986439" y="600182"/>
                </a:lnTo>
                <a:lnTo>
                  <a:pt x="2006918" y="577062"/>
                </a:lnTo>
                <a:lnTo>
                  <a:pt x="2027396" y="554117"/>
                </a:lnTo>
                <a:lnTo>
                  <a:pt x="2047875" y="531370"/>
                </a:lnTo>
                <a:lnTo>
                  <a:pt x="2068354" y="508843"/>
                </a:lnTo>
                <a:lnTo>
                  <a:pt x="2088832" y="486557"/>
                </a:lnTo>
                <a:lnTo>
                  <a:pt x="2109311" y="464537"/>
                </a:lnTo>
                <a:lnTo>
                  <a:pt x="2129790" y="442802"/>
                </a:lnTo>
                <a:lnTo>
                  <a:pt x="2150269" y="421374"/>
                </a:lnTo>
                <a:lnTo>
                  <a:pt x="2170748" y="400275"/>
                </a:lnTo>
                <a:lnTo>
                  <a:pt x="2191226" y="379526"/>
                </a:lnTo>
                <a:lnTo>
                  <a:pt x="2211705" y="359146"/>
                </a:lnTo>
                <a:lnTo>
                  <a:pt x="2232184" y="339157"/>
                </a:lnTo>
                <a:lnTo>
                  <a:pt x="2252663" y="319577"/>
                </a:lnTo>
                <a:lnTo>
                  <a:pt x="2273141" y="300426"/>
                </a:lnTo>
                <a:lnTo>
                  <a:pt x="2293620" y="281723"/>
                </a:lnTo>
                <a:lnTo>
                  <a:pt x="2314099" y="263486"/>
                </a:lnTo>
                <a:lnTo>
                  <a:pt x="2334578" y="245734"/>
                </a:lnTo>
                <a:lnTo>
                  <a:pt x="2355056" y="228483"/>
                </a:lnTo>
                <a:lnTo>
                  <a:pt x="2375535" y="211752"/>
                </a:lnTo>
                <a:lnTo>
                  <a:pt x="2396014" y="195556"/>
                </a:lnTo>
                <a:lnTo>
                  <a:pt x="2416493" y="179911"/>
                </a:lnTo>
                <a:lnTo>
                  <a:pt x="2436971" y="164834"/>
                </a:lnTo>
                <a:lnTo>
                  <a:pt x="2457450" y="150338"/>
                </a:lnTo>
                <a:lnTo>
                  <a:pt x="2477929" y="136438"/>
                </a:lnTo>
                <a:lnTo>
                  <a:pt x="2498407" y="123147"/>
                </a:lnTo>
                <a:lnTo>
                  <a:pt x="2518886" y="110480"/>
                </a:lnTo>
                <a:lnTo>
                  <a:pt x="2539365" y="98448"/>
                </a:lnTo>
                <a:lnTo>
                  <a:pt x="2559844" y="87063"/>
                </a:lnTo>
                <a:lnTo>
                  <a:pt x="2580323" y="76337"/>
                </a:lnTo>
                <a:lnTo>
                  <a:pt x="2600801" y="66280"/>
                </a:lnTo>
                <a:lnTo>
                  <a:pt x="2621280" y="56902"/>
                </a:lnTo>
                <a:lnTo>
                  <a:pt x="2641759" y="48212"/>
                </a:lnTo>
                <a:lnTo>
                  <a:pt x="2662238" y="40219"/>
                </a:lnTo>
                <a:lnTo>
                  <a:pt x="2682716" y="32931"/>
                </a:lnTo>
                <a:lnTo>
                  <a:pt x="2703195" y="26354"/>
                </a:lnTo>
                <a:lnTo>
                  <a:pt x="2723674" y="20496"/>
                </a:lnTo>
                <a:lnTo>
                  <a:pt x="2744152" y="15362"/>
                </a:lnTo>
                <a:lnTo>
                  <a:pt x="2764631" y="10958"/>
                </a:lnTo>
                <a:lnTo>
                  <a:pt x="2785110" y="7287"/>
                </a:lnTo>
                <a:lnTo>
                  <a:pt x="2805589" y="4353"/>
                </a:lnTo>
                <a:lnTo>
                  <a:pt x="2826068" y="2159"/>
                </a:lnTo>
                <a:lnTo>
                  <a:pt x="2846546" y="708"/>
                </a:lnTo>
                <a:lnTo>
                  <a:pt x="2867025" y="0"/>
                </a:lnTo>
                <a:lnTo>
                  <a:pt x="2887504" y="37"/>
                </a:lnTo>
                <a:lnTo>
                  <a:pt x="2907982" y="818"/>
                </a:lnTo>
                <a:lnTo>
                  <a:pt x="2928461" y="2342"/>
                </a:lnTo>
                <a:lnTo>
                  <a:pt x="2948940" y="4609"/>
                </a:lnTo>
                <a:lnTo>
                  <a:pt x="2969419" y="7616"/>
                </a:lnTo>
                <a:lnTo>
                  <a:pt x="2989898" y="11359"/>
                </a:lnTo>
                <a:lnTo>
                  <a:pt x="3010376" y="15836"/>
                </a:lnTo>
                <a:lnTo>
                  <a:pt x="3030855" y="21042"/>
                </a:lnTo>
                <a:lnTo>
                  <a:pt x="3051334" y="26971"/>
                </a:lnTo>
                <a:lnTo>
                  <a:pt x="3071813" y="33618"/>
                </a:lnTo>
                <a:lnTo>
                  <a:pt x="3092291" y="40976"/>
                </a:lnTo>
                <a:lnTo>
                  <a:pt x="3112770" y="49038"/>
                </a:lnTo>
                <a:lnTo>
                  <a:pt x="3133249" y="57796"/>
                </a:lnTo>
                <a:lnTo>
                  <a:pt x="3153727" y="67242"/>
                </a:lnTo>
                <a:lnTo>
                  <a:pt x="3174206" y="77365"/>
                </a:lnTo>
                <a:lnTo>
                  <a:pt x="3194685" y="88157"/>
                </a:lnTo>
                <a:lnTo>
                  <a:pt x="3215164" y="99606"/>
                </a:lnTo>
                <a:lnTo>
                  <a:pt x="3235643" y="111701"/>
                </a:lnTo>
                <a:lnTo>
                  <a:pt x="3256121" y="124430"/>
                </a:lnTo>
                <a:lnTo>
                  <a:pt x="3276600" y="137781"/>
                </a:lnTo>
                <a:lnTo>
                  <a:pt x="3297079" y="151740"/>
                </a:lnTo>
                <a:lnTo>
                  <a:pt x="3317557" y="166294"/>
                </a:lnTo>
                <a:lnTo>
                  <a:pt x="3338036" y="181429"/>
                </a:lnTo>
                <a:lnTo>
                  <a:pt x="3358515" y="197128"/>
                </a:lnTo>
                <a:lnTo>
                  <a:pt x="3378994" y="213378"/>
                </a:lnTo>
                <a:lnTo>
                  <a:pt x="3399473" y="230161"/>
                </a:lnTo>
                <a:lnTo>
                  <a:pt x="3419951" y="247462"/>
                </a:lnTo>
                <a:lnTo>
                  <a:pt x="3440430" y="265263"/>
                </a:lnTo>
                <a:lnTo>
                  <a:pt x="3460909" y="283546"/>
                </a:lnTo>
                <a:lnTo>
                  <a:pt x="3481388" y="302294"/>
                </a:lnTo>
                <a:lnTo>
                  <a:pt x="3501866" y="321488"/>
                </a:lnTo>
                <a:lnTo>
                  <a:pt x="3522345" y="341110"/>
                </a:lnTo>
                <a:lnTo>
                  <a:pt x="3542824" y="361139"/>
                </a:lnTo>
                <a:lnTo>
                  <a:pt x="3563302" y="381556"/>
                </a:lnTo>
                <a:lnTo>
                  <a:pt x="3583781" y="402340"/>
                </a:lnTo>
                <a:lnTo>
                  <a:pt x="3604260" y="423473"/>
                </a:lnTo>
                <a:lnTo>
                  <a:pt x="3624739" y="444931"/>
                </a:lnTo>
                <a:lnTo>
                  <a:pt x="3645218" y="466695"/>
                </a:lnTo>
                <a:lnTo>
                  <a:pt x="3665696" y="488743"/>
                </a:lnTo>
                <a:lnTo>
                  <a:pt x="3686175" y="511053"/>
                </a:lnTo>
                <a:lnTo>
                  <a:pt x="3706654" y="533603"/>
                </a:lnTo>
                <a:lnTo>
                  <a:pt x="3727132" y="556371"/>
                </a:lnTo>
                <a:lnTo>
                  <a:pt x="3747611" y="579334"/>
                </a:lnTo>
                <a:lnTo>
                  <a:pt x="3768090" y="602470"/>
                </a:lnTo>
                <a:lnTo>
                  <a:pt x="3788569" y="625756"/>
                </a:lnTo>
                <a:lnTo>
                  <a:pt x="3809048" y="649168"/>
                </a:lnTo>
                <a:lnTo>
                  <a:pt x="3829526" y="672684"/>
                </a:lnTo>
                <a:lnTo>
                  <a:pt x="3850005" y="696281"/>
                </a:lnTo>
                <a:lnTo>
                  <a:pt x="3870484" y="719935"/>
                </a:lnTo>
                <a:lnTo>
                  <a:pt x="3890963" y="743623"/>
                </a:lnTo>
                <a:lnTo>
                  <a:pt x="3911441" y="767322"/>
                </a:lnTo>
                <a:lnTo>
                  <a:pt x="3931920" y="791008"/>
                </a:lnTo>
                <a:lnTo>
                  <a:pt x="3952399" y="814657"/>
                </a:lnTo>
                <a:lnTo>
                  <a:pt x="3972877" y="838247"/>
                </a:lnTo>
                <a:lnTo>
                  <a:pt x="3993356" y="861754"/>
                </a:lnTo>
                <a:lnTo>
                  <a:pt x="4013835" y="885155"/>
                </a:lnTo>
                <a:lnTo>
                  <a:pt x="4034314" y="908427"/>
                </a:lnTo>
                <a:lnTo>
                  <a:pt x="4054793" y="931547"/>
                </a:lnTo>
                <a:lnTo>
                  <a:pt x="4075271" y="954492"/>
                </a:lnTo>
                <a:lnTo>
                  <a:pt x="4095750" y="977239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p12-image-caption"/>
          <p:cNvSpPr>
            <a:spLocks noGrp="1"/>
          </p:cNvSpPr>
          <p:nvPr/>
        </p:nvSpPr>
        <p:spPr>
          <a:xfrm>
            <a:off x="687705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0.30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9" name="codex-p12-image-caption"/>
          <p:cNvSpPr>
            <a:spLocks noGrp="1"/>
          </p:cNvSpPr>
          <p:nvPr/>
        </p:nvSpPr>
        <p:spPr>
          <a:xfrm>
            <a:off x="10915650" y="5248275"/>
            <a:ext cx="857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0.50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0" name="codex-p12-image-caption"/>
          <p:cNvSpPr>
            <a:spLocks noGrp="1"/>
          </p:cNvSpPr>
          <p:nvPr/>
        </p:nvSpPr>
        <p:spPr>
          <a:xfrm>
            <a:off x="9763125" y="556260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 /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codex-p12-image-caption"/>
          <p:cNvSpPr>
            <a:spLocks noGrp="1"/>
          </p:cNvSpPr>
          <p:nvPr/>
        </p:nvSpPr>
        <p:spPr>
          <a:xfrm>
            <a:off x="6715125" y="2867025"/>
            <a:ext cx="95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幅度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codex-p12-selected-time-window"/>
          <p:cNvSpPr>
            <a:spLocks noGrp="1"/>
          </p:cNvSpPr>
          <p:nvPr/>
        </p:nvSpPr>
        <p:spPr>
          <a:xfrm>
            <a:off x="2295525" y="3019425"/>
            <a:ext cx="819150" cy="2171700"/>
          </a:xfrm>
          <a:prstGeom prst="rect">
            <a:avLst/>
          </a:prstGeom>
          <a:noFill/>
          <a:ln w="23813">
            <a:solidFill>
              <a:srgbClr val="FF0000"/>
            </a:solidFill>
          </a:ln>
        </p:spPr>
      </p:sp>
      <p:sp>
        <p:nvSpPr>
          <p:cNvPr id="23" name="codex-p12-zoom-point-15"/>
          <p:cNvSpPr>
            <a:spLocks noGrp="1"/>
          </p:cNvSpPr>
          <p:nvPr/>
        </p:nvSpPr>
        <p:spPr>
          <a:xfrm>
            <a:off x="7096125" y="427106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4" name="codex-p12-zoom-point-16"/>
          <p:cNvSpPr>
            <a:spLocks noGrp="1"/>
          </p:cNvSpPr>
          <p:nvPr/>
        </p:nvSpPr>
        <p:spPr>
          <a:xfrm>
            <a:off x="7505700" y="4652092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5" name="codex-p12-zoom-point-17"/>
          <p:cNvSpPr>
            <a:spLocks noGrp="1"/>
          </p:cNvSpPr>
          <p:nvPr/>
        </p:nvSpPr>
        <p:spPr>
          <a:xfrm>
            <a:off x="7915275" y="4802429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6" name="codex-p12-zoom-point-18"/>
          <p:cNvSpPr>
            <a:spLocks noGrp="1"/>
          </p:cNvSpPr>
          <p:nvPr/>
        </p:nvSpPr>
        <p:spPr>
          <a:xfrm>
            <a:off x="8324850" y="4664648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7" name="codex-p12-zoom-point-19"/>
          <p:cNvSpPr>
            <a:spLocks noGrp="1"/>
          </p:cNvSpPr>
          <p:nvPr/>
        </p:nvSpPr>
        <p:spPr>
          <a:xfrm>
            <a:off x="8734425" y="4291376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8" name="codex-p12-zoom-point-20"/>
          <p:cNvSpPr>
            <a:spLocks noGrp="1"/>
          </p:cNvSpPr>
          <p:nvPr/>
        </p:nvSpPr>
        <p:spPr>
          <a:xfrm>
            <a:off x="9144000" y="382519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29" name="codex-p12-zoom-point-21"/>
          <p:cNvSpPr>
            <a:spLocks noGrp="1"/>
          </p:cNvSpPr>
          <p:nvPr/>
        </p:nvSpPr>
        <p:spPr>
          <a:xfrm>
            <a:off x="9553575" y="3444158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0" name="codex-p12-zoom-point-22"/>
          <p:cNvSpPr>
            <a:spLocks noGrp="1"/>
          </p:cNvSpPr>
          <p:nvPr/>
        </p:nvSpPr>
        <p:spPr>
          <a:xfrm>
            <a:off x="9963150" y="3293821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1" name="codex-p12-zoom-point-23"/>
          <p:cNvSpPr>
            <a:spLocks noGrp="1"/>
          </p:cNvSpPr>
          <p:nvPr/>
        </p:nvSpPr>
        <p:spPr>
          <a:xfrm>
            <a:off x="10372725" y="3431602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2" name="codex-p12-zoom-point-24"/>
          <p:cNvSpPr>
            <a:spLocks noGrp="1"/>
          </p:cNvSpPr>
          <p:nvPr/>
        </p:nvSpPr>
        <p:spPr>
          <a:xfrm>
            <a:off x="10782300" y="3804874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  <p:sp>
        <p:nvSpPr>
          <p:cNvPr id="33" name="codex-p12-zoom-point-25"/>
          <p:cNvSpPr>
            <a:spLocks noGrp="1"/>
          </p:cNvSpPr>
          <p:nvPr/>
        </p:nvSpPr>
        <p:spPr>
          <a:xfrm>
            <a:off x="11191875" y="4271060"/>
            <a:ext cx="95250" cy="95250"/>
          </a:xfrm>
          <a:prstGeom prst="ellipse">
            <a:avLst/>
          </a:prstGeom>
          <a:solidFill>
            <a:srgbClr val="00B0F0"/>
          </a:solidFill>
          <a:ln w="0"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1 Hz和2 Hz，一秒内取几个样本？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1 Hz和2 Hz，一秒内取几个样本？</a:t>
            </a:r>
          </a:p>
        </p:txBody>
      </p:sp>
      <p:sp>
        <p:nvSpPr>
          <p:cNvPr id="5" name="codex-p13-image-caption"/>
          <p:cNvSpPr>
            <a:spLocks noGrp="1"/>
          </p:cNvSpPr>
          <p:nvPr/>
        </p:nvSpPr>
        <p:spPr>
          <a:xfrm>
            <a:off x="609600" y="164782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比较同一秒 [0,1)：右端1 s不重复计入。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codex-p13-image-caption"/>
          <p:cNvSpPr>
            <a:spLocks noGrp="1"/>
          </p:cNvSpPr>
          <p:nvPr/>
        </p:nvSpPr>
        <p:spPr>
          <a:xfrm>
            <a:off x="609600" y="5825871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采样率在数记录次数：1 Hz取1次，2 Hz取2次。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rate-1"/>
          <p:cNvSpPr>
            <a:spLocks noGrp="1"/>
          </p:cNvSpPr>
          <p:nvPr/>
        </p:nvSpPr>
        <p:spPr>
          <a:xfrm>
            <a:off x="609600" y="2457450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 Hz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" name="time-axis-1"/>
          <p:cNvSpPr>
            <a:spLocks noGrp="1"/>
          </p:cNvSpPr>
          <p:nvPr/>
        </p:nvSpPr>
        <p:spPr>
          <a:xfrm>
            <a:off x="2238375" y="2643188"/>
            <a:ext cx="8001000" cy="9525"/>
          </a:xfrm>
          <a:custGeom>
            <a:avLst/>
            <a:gdLst/>
            <a:ahLst/>
            <a:cxnLst/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/>
          <a:ln w="11430">
            <a:solidFill>
              <a:srgbClr val="808080"/>
            </a:solidFill>
          </a:ln>
        </p:spPr>
      </p:sp>
      <p:sp>
        <p:nvSpPr>
          <p:cNvPr id="24" name="same-signal-1"/>
          <p:cNvSpPr>
            <a:spLocks noGrp="1"/>
          </p:cNvSpPr>
          <p:nvPr/>
        </p:nvSpPr>
        <p:spPr>
          <a:xfrm>
            <a:off x="2238375" y="2367916"/>
            <a:ext cx="8001000" cy="550544"/>
          </a:xfrm>
          <a:custGeom>
            <a:avLst/>
            <a:gdLst/>
            <a:ahLst/>
            <a:cxnLst/>
            <a:pathLst>
              <a:path w="8001000" h="550544">
                <a:moveTo>
                  <a:pt x="0" y="168076"/>
                </a:moveTo>
                <a:lnTo>
                  <a:pt x="53340" y="157553"/>
                </a:lnTo>
                <a:lnTo>
                  <a:pt x="106680" y="147236"/>
                </a:lnTo>
                <a:lnTo>
                  <a:pt x="160020" y="137144"/>
                </a:lnTo>
                <a:lnTo>
                  <a:pt x="213360" y="127294"/>
                </a:lnTo>
                <a:lnTo>
                  <a:pt x="266700" y="117704"/>
                </a:lnTo>
                <a:lnTo>
                  <a:pt x="320040" y="108390"/>
                </a:lnTo>
                <a:lnTo>
                  <a:pt x="373380" y="99369"/>
                </a:lnTo>
                <a:lnTo>
                  <a:pt x="426720" y="90657"/>
                </a:lnTo>
                <a:lnTo>
                  <a:pt x="480060" y="82268"/>
                </a:lnTo>
                <a:lnTo>
                  <a:pt x="533400" y="74218"/>
                </a:lnTo>
                <a:lnTo>
                  <a:pt x="586740" y="66521"/>
                </a:lnTo>
                <a:lnTo>
                  <a:pt x="640080" y="59190"/>
                </a:lnTo>
                <a:lnTo>
                  <a:pt x="693420" y="52238"/>
                </a:lnTo>
                <a:lnTo>
                  <a:pt x="746760" y="45678"/>
                </a:lnTo>
                <a:lnTo>
                  <a:pt x="800100" y="39520"/>
                </a:lnTo>
                <a:lnTo>
                  <a:pt x="853440" y="33775"/>
                </a:lnTo>
                <a:lnTo>
                  <a:pt x="906780" y="28455"/>
                </a:lnTo>
                <a:lnTo>
                  <a:pt x="960120" y="23567"/>
                </a:lnTo>
                <a:lnTo>
                  <a:pt x="1013460" y="19121"/>
                </a:lnTo>
                <a:lnTo>
                  <a:pt x="1066800" y="15125"/>
                </a:lnTo>
                <a:lnTo>
                  <a:pt x="1120140" y="11584"/>
                </a:lnTo>
                <a:lnTo>
                  <a:pt x="1173480" y="8507"/>
                </a:lnTo>
                <a:lnTo>
                  <a:pt x="1226820" y="5897"/>
                </a:lnTo>
                <a:lnTo>
                  <a:pt x="1280160" y="3760"/>
                </a:lnTo>
                <a:lnTo>
                  <a:pt x="1333500" y="2099"/>
                </a:lnTo>
                <a:lnTo>
                  <a:pt x="1386840" y="918"/>
                </a:lnTo>
                <a:lnTo>
                  <a:pt x="1440180" y="218"/>
                </a:lnTo>
                <a:lnTo>
                  <a:pt x="1493520" y="0"/>
                </a:lnTo>
                <a:lnTo>
                  <a:pt x="1546860" y="265"/>
                </a:lnTo>
                <a:lnTo>
                  <a:pt x="1600200" y="1013"/>
                </a:lnTo>
                <a:lnTo>
                  <a:pt x="1653540" y="2242"/>
                </a:lnTo>
                <a:lnTo>
                  <a:pt x="1706880" y="3950"/>
                </a:lnTo>
                <a:lnTo>
                  <a:pt x="1760220" y="6134"/>
                </a:lnTo>
                <a:lnTo>
                  <a:pt x="1813560" y="8790"/>
                </a:lnTo>
                <a:lnTo>
                  <a:pt x="1866900" y="11913"/>
                </a:lnTo>
                <a:lnTo>
                  <a:pt x="1920240" y="15499"/>
                </a:lnTo>
                <a:lnTo>
                  <a:pt x="1973580" y="19540"/>
                </a:lnTo>
                <a:lnTo>
                  <a:pt x="2026920" y="24030"/>
                </a:lnTo>
                <a:lnTo>
                  <a:pt x="2080260" y="28960"/>
                </a:lnTo>
                <a:lnTo>
                  <a:pt x="2133600" y="34323"/>
                </a:lnTo>
                <a:lnTo>
                  <a:pt x="2186940" y="40109"/>
                </a:lnTo>
                <a:lnTo>
                  <a:pt x="2240280" y="46307"/>
                </a:lnTo>
                <a:lnTo>
                  <a:pt x="2293620" y="52906"/>
                </a:lnTo>
                <a:lnTo>
                  <a:pt x="2346960" y="59896"/>
                </a:lnTo>
                <a:lnTo>
                  <a:pt x="2400300" y="67264"/>
                </a:lnTo>
                <a:lnTo>
                  <a:pt x="2453640" y="74996"/>
                </a:lnTo>
                <a:lnTo>
                  <a:pt x="2506980" y="83080"/>
                </a:lnTo>
                <a:lnTo>
                  <a:pt x="2560320" y="91501"/>
                </a:lnTo>
                <a:lnTo>
                  <a:pt x="2613660" y="100245"/>
                </a:lnTo>
                <a:lnTo>
                  <a:pt x="2667000" y="109296"/>
                </a:lnTo>
                <a:lnTo>
                  <a:pt x="2720340" y="118637"/>
                </a:lnTo>
                <a:lnTo>
                  <a:pt x="2773680" y="128254"/>
                </a:lnTo>
                <a:lnTo>
                  <a:pt x="2827020" y="138128"/>
                </a:lnTo>
                <a:lnTo>
                  <a:pt x="2880360" y="148243"/>
                </a:lnTo>
                <a:lnTo>
                  <a:pt x="2933700" y="158581"/>
                </a:lnTo>
                <a:lnTo>
                  <a:pt x="2987040" y="169124"/>
                </a:lnTo>
                <a:lnTo>
                  <a:pt x="3040380" y="179853"/>
                </a:lnTo>
                <a:lnTo>
                  <a:pt x="3093720" y="190749"/>
                </a:lnTo>
                <a:lnTo>
                  <a:pt x="3147060" y="201793"/>
                </a:lnTo>
                <a:lnTo>
                  <a:pt x="3200400" y="212967"/>
                </a:lnTo>
                <a:lnTo>
                  <a:pt x="3253740" y="224249"/>
                </a:lnTo>
                <a:lnTo>
                  <a:pt x="3307080" y="235622"/>
                </a:lnTo>
                <a:lnTo>
                  <a:pt x="3360420" y="247063"/>
                </a:lnTo>
                <a:lnTo>
                  <a:pt x="3413760" y="258555"/>
                </a:lnTo>
                <a:lnTo>
                  <a:pt x="3467100" y="270075"/>
                </a:lnTo>
                <a:lnTo>
                  <a:pt x="3520440" y="281605"/>
                </a:lnTo>
                <a:lnTo>
                  <a:pt x="3573780" y="293124"/>
                </a:lnTo>
                <a:lnTo>
                  <a:pt x="3627120" y="304611"/>
                </a:lnTo>
                <a:lnTo>
                  <a:pt x="3680460" y="316047"/>
                </a:lnTo>
                <a:lnTo>
                  <a:pt x="3733800" y="327411"/>
                </a:lnTo>
                <a:lnTo>
                  <a:pt x="3787140" y="338684"/>
                </a:lnTo>
                <a:lnTo>
                  <a:pt x="3840480" y="349845"/>
                </a:lnTo>
                <a:lnTo>
                  <a:pt x="3893820" y="360876"/>
                </a:lnTo>
                <a:lnTo>
                  <a:pt x="3947160" y="371757"/>
                </a:lnTo>
                <a:lnTo>
                  <a:pt x="4000500" y="382468"/>
                </a:lnTo>
                <a:lnTo>
                  <a:pt x="4053840" y="392991"/>
                </a:lnTo>
                <a:lnTo>
                  <a:pt x="4107180" y="403308"/>
                </a:lnTo>
                <a:lnTo>
                  <a:pt x="4160520" y="413400"/>
                </a:lnTo>
                <a:lnTo>
                  <a:pt x="4213860" y="423250"/>
                </a:lnTo>
                <a:lnTo>
                  <a:pt x="4267200" y="432840"/>
                </a:lnTo>
                <a:lnTo>
                  <a:pt x="4320540" y="442154"/>
                </a:lnTo>
                <a:lnTo>
                  <a:pt x="4373880" y="451175"/>
                </a:lnTo>
                <a:lnTo>
                  <a:pt x="4427220" y="459887"/>
                </a:lnTo>
                <a:lnTo>
                  <a:pt x="4480560" y="468276"/>
                </a:lnTo>
                <a:lnTo>
                  <a:pt x="4533900" y="476326"/>
                </a:lnTo>
                <a:lnTo>
                  <a:pt x="4587240" y="484023"/>
                </a:lnTo>
                <a:lnTo>
                  <a:pt x="4640580" y="491354"/>
                </a:lnTo>
                <a:lnTo>
                  <a:pt x="4693920" y="498306"/>
                </a:lnTo>
                <a:lnTo>
                  <a:pt x="4747260" y="504866"/>
                </a:lnTo>
                <a:lnTo>
                  <a:pt x="4800600" y="511024"/>
                </a:lnTo>
                <a:lnTo>
                  <a:pt x="4853940" y="516768"/>
                </a:lnTo>
                <a:lnTo>
                  <a:pt x="4907280" y="522089"/>
                </a:lnTo>
                <a:lnTo>
                  <a:pt x="4960620" y="526977"/>
                </a:lnTo>
                <a:lnTo>
                  <a:pt x="5013960" y="531423"/>
                </a:lnTo>
                <a:lnTo>
                  <a:pt x="5067300" y="535419"/>
                </a:lnTo>
                <a:lnTo>
                  <a:pt x="5120640" y="538959"/>
                </a:lnTo>
                <a:lnTo>
                  <a:pt x="5173980" y="542037"/>
                </a:lnTo>
                <a:lnTo>
                  <a:pt x="5227320" y="544647"/>
                </a:lnTo>
                <a:lnTo>
                  <a:pt x="5280660" y="546784"/>
                </a:lnTo>
                <a:lnTo>
                  <a:pt x="5334000" y="548444"/>
                </a:lnTo>
                <a:lnTo>
                  <a:pt x="5387340" y="549626"/>
                </a:lnTo>
                <a:lnTo>
                  <a:pt x="5440680" y="550326"/>
                </a:lnTo>
                <a:lnTo>
                  <a:pt x="5494020" y="550544"/>
                </a:lnTo>
                <a:lnTo>
                  <a:pt x="5547360" y="550279"/>
                </a:lnTo>
                <a:lnTo>
                  <a:pt x="5600700" y="549531"/>
                </a:lnTo>
                <a:lnTo>
                  <a:pt x="5654040" y="548302"/>
                </a:lnTo>
                <a:lnTo>
                  <a:pt x="5707380" y="546594"/>
                </a:lnTo>
                <a:lnTo>
                  <a:pt x="5760720" y="544410"/>
                </a:lnTo>
                <a:lnTo>
                  <a:pt x="5814060" y="541754"/>
                </a:lnTo>
                <a:lnTo>
                  <a:pt x="5867400" y="538631"/>
                </a:lnTo>
                <a:lnTo>
                  <a:pt x="5920740" y="535045"/>
                </a:lnTo>
                <a:lnTo>
                  <a:pt x="5974080" y="531004"/>
                </a:lnTo>
                <a:lnTo>
                  <a:pt x="6027420" y="526514"/>
                </a:lnTo>
                <a:lnTo>
                  <a:pt x="6080760" y="521583"/>
                </a:lnTo>
                <a:lnTo>
                  <a:pt x="6134100" y="516221"/>
                </a:lnTo>
                <a:lnTo>
                  <a:pt x="6187440" y="510435"/>
                </a:lnTo>
                <a:lnTo>
                  <a:pt x="6240780" y="504237"/>
                </a:lnTo>
                <a:lnTo>
                  <a:pt x="6294120" y="497637"/>
                </a:lnTo>
                <a:lnTo>
                  <a:pt x="6347460" y="490648"/>
                </a:lnTo>
                <a:lnTo>
                  <a:pt x="6400800" y="483280"/>
                </a:lnTo>
                <a:lnTo>
                  <a:pt x="6454140" y="475547"/>
                </a:lnTo>
                <a:lnTo>
                  <a:pt x="6507480" y="467463"/>
                </a:lnTo>
                <a:lnTo>
                  <a:pt x="6560820" y="459042"/>
                </a:lnTo>
                <a:lnTo>
                  <a:pt x="6614160" y="450299"/>
                </a:lnTo>
                <a:lnTo>
                  <a:pt x="6667500" y="441248"/>
                </a:lnTo>
                <a:lnTo>
                  <a:pt x="6720840" y="431907"/>
                </a:lnTo>
                <a:lnTo>
                  <a:pt x="6774180" y="422290"/>
                </a:lnTo>
                <a:lnTo>
                  <a:pt x="6827520" y="412416"/>
                </a:lnTo>
                <a:lnTo>
                  <a:pt x="6880860" y="402301"/>
                </a:lnTo>
                <a:lnTo>
                  <a:pt x="6934200" y="391963"/>
                </a:lnTo>
                <a:lnTo>
                  <a:pt x="6987540" y="381420"/>
                </a:lnTo>
                <a:lnTo>
                  <a:pt x="7040880" y="370691"/>
                </a:lnTo>
                <a:lnTo>
                  <a:pt x="7094220" y="359795"/>
                </a:lnTo>
                <a:lnTo>
                  <a:pt x="7147560" y="348751"/>
                </a:lnTo>
                <a:lnTo>
                  <a:pt x="7200900" y="337577"/>
                </a:lnTo>
                <a:lnTo>
                  <a:pt x="7254240" y="326294"/>
                </a:lnTo>
                <a:lnTo>
                  <a:pt x="7307580" y="314922"/>
                </a:lnTo>
                <a:lnTo>
                  <a:pt x="7360920" y="303480"/>
                </a:lnTo>
                <a:lnTo>
                  <a:pt x="7414260" y="291989"/>
                </a:lnTo>
                <a:lnTo>
                  <a:pt x="7467600" y="280468"/>
                </a:lnTo>
                <a:lnTo>
                  <a:pt x="7520940" y="268939"/>
                </a:lnTo>
                <a:lnTo>
                  <a:pt x="7574280" y="257420"/>
                </a:lnTo>
                <a:lnTo>
                  <a:pt x="7627620" y="245933"/>
                </a:lnTo>
                <a:lnTo>
                  <a:pt x="7680960" y="234497"/>
                </a:lnTo>
                <a:lnTo>
                  <a:pt x="7734300" y="223133"/>
                </a:lnTo>
                <a:lnTo>
                  <a:pt x="7787640" y="211860"/>
                </a:lnTo>
                <a:lnTo>
                  <a:pt x="7840980" y="200698"/>
                </a:lnTo>
                <a:lnTo>
                  <a:pt x="7894320" y="189668"/>
                </a:lnTo>
                <a:lnTo>
                  <a:pt x="7947660" y="178787"/>
                </a:lnTo>
                <a:lnTo>
                  <a:pt x="8001000" y="168076"/>
                </a:lnTo>
              </a:path>
            </a:pathLst>
          </a:custGeom>
          <a:noFill/>
          <a:ln w="17145">
            <a:solidFill>
              <a:srgbClr val="808080"/>
            </a:solidFill>
          </a:ln>
        </p:spPr>
      </p:sp>
      <p:sp>
        <p:nvSpPr>
          <p:cNvPr id="25" name="tick-1-0"/>
          <p:cNvSpPr>
            <a:spLocks noGrp="1"/>
          </p:cNvSpPr>
          <p:nvPr/>
        </p:nvSpPr>
        <p:spPr>
          <a:xfrm>
            <a:off x="2238375" y="30861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26" name="time-1-0"/>
          <p:cNvSpPr>
            <a:spLocks noGrp="1"/>
          </p:cNvSpPr>
          <p:nvPr/>
        </p:nvSpPr>
        <p:spPr>
          <a:xfrm>
            <a:off x="1952625" y="32099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" name="tick-1-0.5"/>
          <p:cNvSpPr>
            <a:spLocks noGrp="1"/>
          </p:cNvSpPr>
          <p:nvPr/>
        </p:nvSpPr>
        <p:spPr>
          <a:xfrm>
            <a:off x="6238875" y="30861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28" name="time-1-0.5"/>
          <p:cNvSpPr>
            <a:spLocks noGrp="1"/>
          </p:cNvSpPr>
          <p:nvPr/>
        </p:nvSpPr>
        <p:spPr>
          <a:xfrm>
            <a:off x="5953125" y="32099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0.5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9" name="tick-1-1"/>
          <p:cNvSpPr>
            <a:spLocks noGrp="1"/>
          </p:cNvSpPr>
          <p:nvPr/>
        </p:nvSpPr>
        <p:spPr>
          <a:xfrm>
            <a:off x="10239375" y="30861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0" name="time-1-1"/>
          <p:cNvSpPr>
            <a:spLocks noGrp="1"/>
          </p:cNvSpPr>
          <p:nvPr/>
        </p:nvSpPr>
        <p:spPr>
          <a:xfrm>
            <a:off x="9953625" y="32099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1" name="sample-stem-1-0"/>
          <p:cNvSpPr>
            <a:spLocks noGrp="1"/>
          </p:cNvSpPr>
          <p:nvPr/>
        </p:nvSpPr>
        <p:spPr>
          <a:xfrm>
            <a:off x="2238375" y="2535991"/>
            <a:ext cx="9525" cy="107196"/>
          </a:xfrm>
          <a:custGeom>
            <a:avLst/>
            <a:gdLst/>
            <a:ahLst/>
            <a:cxnLst/>
            <a:pathLst>
              <a:path w="9525" h="107196">
                <a:moveTo>
                  <a:pt x="0" y="107196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D7D7DE"/>
            </a:solidFill>
          </a:ln>
        </p:spPr>
      </p:sp>
      <p:sp>
        <p:nvSpPr>
          <p:cNvPr id="32" name="sample-1-0"/>
          <p:cNvSpPr>
            <a:spLocks noGrp="1"/>
          </p:cNvSpPr>
          <p:nvPr/>
        </p:nvSpPr>
        <p:spPr>
          <a:xfrm>
            <a:off x="2171700" y="2469316"/>
            <a:ext cx="133350" cy="133350"/>
          </a:xfrm>
          <a:prstGeom prst="ellipse">
            <a:avLst/>
          </a:prstGeom>
          <a:solidFill>
            <a:srgbClr val="8C64E1"/>
          </a:solidFill>
          <a:ln w="0">
            <a:solidFill>
              <a:srgbClr val="8C64E1"/>
            </a:solidFill>
          </a:ln>
        </p:spPr>
      </p:sp>
      <p:sp>
        <p:nvSpPr>
          <p:cNvPr id="33" name="time-unit-1"/>
          <p:cNvSpPr>
            <a:spLocks noGrp="1"/>
          </p:cNvSpPr>
          <p:nvPr/>
        </p:nvSpPr>
        <p:spPr>
          <a:xfrm>
            <a:off x="10363200" y="29432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 / s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4" name="rate-2"/>
          <p:cNvSpPr>
            <a:spLocks noGrp="1"/>
          </p:cNvSpPr>
          <p:nvPr/>
        </p:nvSpPr>
        <p:spPr>
          <a:xfrm>
            <a:off x="609600" y="4171950"/>
            <a:ext cx="1428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 Hz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5" name="time-axis-2"/>
          <p:cNvSpPr>
            <a:spLocks noGrp="1"/>
          </p:cNvSpPr>
          <p:nvPr/>
        </p:nvSpPr>
        <p:spPr>
          <a:xfrm>
            <a:off x="2238375" y="4357688"/>
            <a:ext cx="8001000" cy="9525"/>
          </a:xfrm>
          <a:custGeom>
            <a:avLst/>
            <a:gdLst/>
            <a:ahLst/>
            <a:cxnLst/>
            <a:pathLst>
              <a:path w="8001000" h="9525">
                <a:moveTo>
                  <a:pt x="0" y="0"/>
                </a:moveTo>
                <a:lnTo>
                  <a:pt x="8001000" y="0"/>
                </a:lnTo>
              </a:path>
            </a:pathLst>
          </a:custGeom>
          <a:noFill/>
          <a:ln w="11430">
            <a:solidFill>
              <a:srgbClr val="808080"/>
            </a:solidFill>
          </a:ln>
        </p:spPr>
      </p:sp>
      <p:sp>
        <p:nvSpPr>
          <p:cNvPr id="36" name="same-signal-2"/>
          <p:cNvSpPr>
            <a:spLocks noGrp="1"/>
          </p:cNvSpPr>
          <p:nvPr/>
        </p:nvSpPr>
        <p:spPr>
          <a:xfrm>
            <a:off x="2238375" y="4082416"/>
            <a:ext cx="8001000" cy="550544"/>
          </a:xfrm>
          <a:custGeom>
            <a:avLst/>
            <a:gdLst/>
            <a:ahLst/>
            <a:cxnLst/>
            <a:pathLst>
              <a:path w="8001000" h="550544">
                <a:moveTo>
                  <a:pt x="0" y="168076"/>
                </a:moveTo>
                <a:lnTo>
                  <a:pt x="53340" y="157553"/>
                </a:lnTo>
                <a:lnTo>
                  <a:pt x="106680" y="147236"/>
                </a:lnTo>
                <a:lnTo>
                  <a:pt x="160020" y="137144"/>
                </a:lnTo>
                <a:lnTo>
                  <a:pt x="213360" y="127294"/>
                </a:lnTo>
                <a:lnTo>
                  <a:pt x="266700" y="117704"/>
                </a:lnTo>
                <a:lnTo>
                  <a:pt x="320040" y="108390"/>
                </a:lnTo>
                <a:lnTo>
                  <a:pt x="373380" y="99369"/>
                </a:lnTo>
                <a:lnTo>
                  <a:pt x="426720" y="90657"/>
                </a:lnTo>
                <a:lnTo>
                  <a:pt x="480060" y="82268"/>
                </a:lnTo>
                <a:lnTo>
                  <a:pt x="533400" y="74218"/>
                </a:lnTo>
                <a:lnTo>
                  <a:pt x="586740" y="66521"/>
                </a:lnTo>
                <a:lnTo>
                  <a:pt x="640080" y="59190"/>
                </a:lnTo>
                <a:lnTo>
                  <a:pt x="693420" y="52238"/>
                </a:lnTo>
                <a:lnTo>
                  <a:pt x="746760" y="45678"/>
                </a:lnTo>
                <a:lnTo>
                  <a:pt x="800100" y="39520"/>
                </a:lnTo>
                <a:lnTo>
                  <a:pt x="853440" y="33775"/>
                </a:lnTo>
                <a:lnTo>
                  <a:pt x="906780" y="28455"/>
                </a:lnTo>
                <a:lnTo>
                  <a:pt x="960120" y="23567"/>
                </a:lnTo>
                <a:lnTo>
                  <a:pt x="1013460" y="19121"/>
                </a:lnTo>
                <a:lnTo>
                  <a:pt x="1066800" y="15125"/>
                </a:lnTo>
                <a:lnTo>
                  <a:pt x="1120140" y="11584"/>
                </a:lnTo>
                <a:lnTo>
                  <a:pt x="1173480" y="8507"/>
                </a:lnTo>
                <a:lnTo>
                  <a:pt x="1226820" y="5897"/>
                </a:lnTo>
                <a:lnTo>
                  <a:pt x="1280160" y="3760"/>
                </a:lnTo>
                <a:lnTo>
                  <a:pt x="1333500" y="2099"/>
                </a:lnTo>
                <a:lnTo>
                  <a:pt x="1386840" y="918"/>
                </a:lnTo>
                <a:lnTo>
                  <a:pt x="1440180" y="218"/>
                </a:lnTo>
                <a:lnTo>
                  <a:pt x="1493520" y="0"/>
                </a:lnTo>
                <a:lnTo>
                  <a:pt x="1546860" y="265"/>
                </a:lnTo>
                <a:lnTo>
                  <a:pt x="1600200" y="1013"/>
                </a:lnTo>
                <a:lnTo>
                  <a:pt x="1653540" y="2242"/>
                </a:lnTo>
                <a:lnTo>
                  <a:pt x="1706880" y="3950"/>
                </a:lnTo>
                <a:lnTo>
                  <a:pt x="1760220" y="6134"/>
                </a:lnTo>
                <a:lnTo>
                  <a:pt x="1813560" y="8790"/>
                </a:lnTo>
                <a:lnTo>
                  <a:pt x="1866900" y="11913"/>
                </a:lnTo>
                <a:lnTo>
                  <a:pt x="1920240" y="15499"/>
                </a:lnTo>
                <a:lnTo>
                  <a:pt x="1973580" y="19540"/>
                </a:lnTo>
                <a:lnTo>
                  <a:pt x="2026920" y="24030"/>
                </a:lnTo>
                <a:lnTo>
                  <a:pt x="2080260" y="28960"/>
                </a:lnTo>
                <a:lnTo>
                  <a:pt x="2133600" y="34323"/>
                </a:lnTo>
                <a:lnTo>
                  <a:pt x="2186940" y="40109"/>
                </a:lnTo>
                <a:lnTo>
                  <a:pt x="2240280" y="46307"/>
                </a:lnTo>
                <a:lnTo>
                  <a:pt x="2293620" y="52906"/>
                </a:lnTo>
                <a:lnTo>
                  <a:pt x="2346960" y="59896"/>
                </a:lnTo>
                <a:lnTo>
                  <a:pt x="2400300" y="67264"/>
                </a:lnTo>
                <a:lnTo>
                  <a:pt x="2453640" y="74996"/>
                </a:lnTo>
                <a:lnTo>
                  <a:pt x="2506980" y="83080"/>
                </a:lnTo>
                <a:lnTo>
                  <a:pt x="2560320" y="91501"/>
                </a:lnTo>
                <a:lnTo>
                  <a:pt x="2613660" y="100245"/>
                </a:lnTo>
                <a:lnTo>
                  <a:pt x="2667000" y="109296"/>
                </a:lnTo>
                <a:lnTo>
                  <a:pt x="2720340" y="118637"/>
                </a:lnTo>
                <a:lnTo>
                  <a:pt x="2773680" y="128254"/>
                </a:lnTo>
                <a:lnTo>
                  <a:pt x="2827020" y="138128"/>
                </a:lnTo>
                <a:lnTo>
                  <a:pt x="2880360" y="148243"/>
                </a:lnTo>
                <a:lnTo>
                  <a:pt x="2933700" y="158581"/>
                </a:lnTo>
                <a:lnTo>
                  <a:pt x="2987040" y="169124"/>
                </a:lnTo>
                <a:lnTo>
                  <a:pt x="3040380" y="179853"/>
                </a:lnTo>
                <a:lnTo>
                  <a:pt x="3093720" y="190749"/>
                </a:lnTo>
                <a:lnTo>
                  <a:pt x="3147060" y="201793"/>
                </a:lnTo>
                <a:lnTo>
                  <a:pt x="3200400" y="212967"/>
                </a:lnTo>
                <a:lnTo>
                  <a:pt x="3253740" y="224249"/>
                </a:lnTo>
                <a:lnTo>
                  <a:pt x="3307080" y="235622"/>
                </a:lnTo>
                <a:lnTo>
                  <a:pt x="3360420" y="247063"/>
                </a:lnTo>
                <a:lnTo>
                  <a:pt x="3413760" y="258555"/>
                </a:lnTo>
                <a:lnTo>
                  <a:pt x="3467100" y="270075"/>
                </a:lnTo>
                <a:lnTo>
                  <a:pt x="3520440" y="281605"/>
                </a:lnTo>
                <a:lnTo>
                  <a:pt x="3573780" y="293124"/>
                </a:lnTo>
                <a:lnTo>
                  <a:pt x="3627120" y="304611"/>
                </a:lnTo>
                <a:lnTo>
                  <a:pt x="3680460" y="316047"/>
                </a:lnTo>
                <a:lnTo>
                  <a:pt x="3733800" y="327411"/>
                </a:lnTo>
                <a:lnTo>
                  <a:pt x="3787140" y="338684"/>
                </a:lnTo>
                <a:lnTo>
                  <a:pt x="3840480" y="349845"/>
                </a:lnTo>
                <a:lnTo>
                  <a:pt x="3893820" y="360876"/>
                </a:lnTo>
                <a:lnTo>
                  <a:pt x="3947160" y="371757"/>
                </a:lnTo>
                <a:lnTo>
                  <a:pt x="4000500" y="382468"/>
                </a:lnTo>
                <a:lnTo>
                  <a:pt x="4053840" y="392991"/>
                </a:lnTo>
                <a:lnTo>
                  <a:pt x="4107180" y="403308"/>
                </a:lnTo>
                <a:lnTo>
                  <a:pt x="4160520" y="413400"/>
                </a:lnTo>
                <a:lnTo>
                  <a:pt x="4213860" y="423250"/>
                </a:lnTo>
                <a:lnTo>
                  <a:pt x="4267200" y="432840"/>
                </a:lnTo>
                <a:lnTo>
                  <a:pt x="4320540" y="442154"/>
                </a:lnTo>
                <a:lnTo>
                  <a:pt x="4373880" y="451175"/>
                </a:lnTo>
                <a:lnTo>
                  <a:pt x="4427220" y="459887"/>
                </a:lnTo>
                <a:lnTo>
                  <a:pt x="4480560" y="468276"/>
                </a:lnTo>
                <a:lnTo>
                  <a:pt x="4533900" y="476326"/>
                </a:lnTo>
                <a:lnTo>
                  <a:pt x="4587240" y="484023"/>
                </a:lnTo>
                <a:lnTo>
                  <a:pt x="4640580" y="491354"/>
                </a:lnTo>
                <a:lnTo>
                  <a:pt x="4693920" y="498306"/>
                </a:lnTo>
                <a:lnTo>
                  <a:pt x="4747260" y="504866"/>
                </a:lnTo>
                <a:lnTo>
                  <a:pt x="4800600" y="511024"/>
                </a:lnTo>
                <a:lnTo>
                  <a:pt x="4853940" y="516768"/>
                </a:lnTo>
                <a:lnTo>
                  <a:pt x="4907280" y="522089"/>
                </a:lnTo>
                <a:lnTo>
                  <a:pt x="4960620" y="526977"/>
                </a:lnTo>
                <a:lnTo>
                  <a:pt x="5013960" y="531423"/>
                </a:lnTo>
                <a:lnTo>
                  <a:pt x="5067300" y="535419"/>
                </a:lnTo>
                <a:lnTo>
                  <a:pt x="5120640" y="538959"/>
                </a:lnTo>
                <a:lnTo>
                  <a:pt x="5173980" y="542037"/>
                </a:lnTo>
                <a:lnTo>
                  <a:pt x="5227320" y="544647"/>
                </a:lnTo>
                <a:lnTo>
                  <a:pt x="5280660" y="546784"/>
                </a:lnTo>
                <a:lnTo>
                  <a:pt x="5334000" y="548444"/>
                </a:lnTo>
                <a:lnTo>
                  <a:pt x="5387340" y="549626"/>
                </a:lnTo>
                <a:lnTo>
                  <a:pt x="5440680" y="550326"/>
                </a:lnTo>
                <a:lnTo>
                  <a:pt x="5494020" y="550544"/>
                </a:lnTo>
                <a:lnTo>
                  <a:pt x="5547360" y="550279"/>
                </a:lnTo>
                <a:lnTo>
                  <a:pt x="5600700" y="549531"/>
                </a:lnTo>
                <a:lnTo>
                  <a:pt x="5654040" y="548302"/>
                </a:lnTo>
                <a:lnTo>
                  <a:pt x="5707380" y="546594"/>
                </a:lnTo>
                <a:lnTo>
                  <a:pt x="5760720" y="544410"/>
                </a:lnTo>
                <a:lnTo>
                  <a:pt x="5814060" y="541754"/>
                </a:lnTo>
                <a:lnTo>
                  <a:pt x="5867400" y="538631"/>
                </a:lnTo>
                <a:lnTo>
                  <a:pt x="5920740" y="535045"/>
                </a:lnTo>
                <a:lnTo>
                  <a:pt x="5974080" y="531004"/>
                </a:lnTo>
                <a:lnTo>
                  <a:pt x="6027420" y="526514"/>
                </a:lnTo>
                <a:lnTo>
                  <a:pt x="6080760" y="521583"/>
                </a:lnTo>
                <a:lnTo>
                  <a:pt x="6134100" y="516221"/>
                </a:lnTo>
                <a:lnTo>
                  <a:pt x="6187440" y="510435"/>
                </a:lnTo>
                <a:lnTo>
                  <a:pt x="6240780" y="504237"/>
                </a:lnTo>
                <a:lnTo>
                  <a:pt x="6294120" y="497637"/>
                </a:lnTo>
                <a:lnTo>
                  <a:pt x="6347460" y="490648"/>
                </a:lnTo>
                <a:lnTo>
                  <a:pt x="6400800" y="483280"/>
                </a:lnTo>
                <a:lnTo>
                  <a:pt x="6454140" y="475547"/>
                </a:lnTo>
                <a:lnTo>
                  <a:pt x="6507480" y="467463"/>
                </a:lnTo>
                <a:lnTo>
                  <a:pt x="6560820" y="459042"/>
                </a:lnTo>
                <a:lnTo>
                  <a:pt x="6614160" y="450299"/>
                </a:lnTo>
                <a:lnTo>
                  <a:pt x="6667500" y="441248"/>
                </a:lnTo>
                <a:lnTo>
                  <a:pt x="6720840" y="431907"/>
                </a:lnTo>
                <a:lnTo>
                  <a:pt x="6774180" y="422290"/>
                </a:lnTo>
                <a:lnTo>
                  <a:pt x="6827520" y="412416"/>
                </a:lnTo>
                <a:lnTo>
                  <a:pt x="6880860" y="402301"/>
                </a:lnTo>
                <a:lnTo>
                  <a:pt x="6934200" y="391963"/>
                </a:lnTo>
                <a:lnTo>
                  <a:pt x="6987540" y="381420"/>
                </a:lnTo>
                <a:lnTo>
                  <a:pt x="7040880" y="370691"/>
                </a:lnTo>
                <a:lnTo>
                  <a:pt x="7094220" y="359795"/>
                </a:lnTo>
                <a:lnTo>
                  <a:pt x="7147560" y="348751"/>
                </a:lnTo>
                <a:lnTo>
                  <a:pt x="7200900" y="337577"/>
                </a:lnTo>
                <a:lnTo>
                  <a:pt x="7254240" y="326294"/>
                </a:lnTo>
                <a:lnTo>
                  <a:pt x="7307580" y="314922"/>
                </a:lnTo>
                <a:lnTo>
                  <a:pt x="7360920" y="303480"/>
                </a:lnTo>
                <a:lnTo>
                  <a:pt x="7414260" y="291989"/>
                </a:lnTo>
                <a:lnTo>
                  <a:pt x="7467600" y="280468"/>
                </a:lnTo>
                <a:lnTo>
                  <a:pt x="7520940" y="268939"/>
                </a:lnTo>
                <a:lnTo>
                  <a:pt x="7574280" y="257420"/>
                </a:lnTo>
                <a:lnTo>
                  <a:pt x="7627620" y="245933"/>
                </a:lnTo>
                <a:lnTo>
                  <a:pt x="7680960" y="234497"/>
                </a:lnTo>
                <a:lnTo>
                  <a:pt x="7734300" y="223133"/>
                </a:lnTo>
                <a:lnTo>
                  <a:pt x="7787640" y="211860"/>
                </a:lnTo>
                <a:lnTo>
                  <a:pt x="7840980" y="200698"/>
                </a:lnTo>
                <a:lnTo>
                  <a:pt x="7894320" y="189668"/>
                </a:lnTo>
                <a:lnTo>
                  <a:pt x="7947660" y="178787"/>
                </a:lnTo>
                <a:lnTo>
                  <a:pt x="8001000" y="168076"/>
                </a:lnTo>
              </a:path>
            </a:pathLst>
          </a:custGeom>
          <a:noFill/>
          <a:ln w="17145">
            <a:solidFill>
              <a:srgbClr val="808080"/>
            </a:solidFill>
          </a:ln>
        </p:spPr>
      </p:sp>
      <p:sp>
        <p:nvSpPr>
          <p:cNvPr id="37" name="tick-2-0"/>
          <p:cNvSpPr>
            <a:spLocks noGrp="1"/>
          </p:cNvSpPr>
          <p:nvPr/>
        </p:nvSpPr>
        <p:spPr>
          <a:xfrm>
            <a:off x="2238375" y="48006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8" name="time-2-0"/>
          <p:cNvSpPr>
            <a:spLocks noGrp="1"/>
          </p:cNvSpPr>
          <p:nvPr/>
        </p:nvSpPr>
        <p:spPr>
          <a:xfrm>
            <a:off x="1952625" y="49244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9" name="tick-2-0.5"/>
          <p:cNvSpPr>
            <a:spLocks noGrp="1"/>
          </p:cNvSpPr>
          <p:nvPr/>
        </p:nvSpPr>
        <p:spPr>
          <a:xfrm>
            <a:off x="6238875" y="48006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40" name="time-2-0.5"/>
          <p:cNvSpPr>
            <a:spLocks noGrp="1"/>
          </p:cNvSpPr>
          <p:nvPr/>
        </p:nvSpPr>
        <p:spPr>
          <a:xfrm>
            <a:off x="5953125" y="49244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0.5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1" name="tick-2-1"/>
          <p:cNvSpPr>
            <a:spLocks noGrp="1"/>
          </p:cNvSpPr>
          <p:nvPr/>
        </p:nvSpPr>
        <p:spPr>
          <a:xfrm>
            <a:off x="10239375" y="4800600"/>
            <a:ext cx="9525" cy="57150"/>
          </a:xfrm>
          <a:custGeom>
            <a:avLst/>
            <a:gdLst/>
            <a:ahLst/>
            <a:cxnLst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42" name="time-2-1"/>
          <p:cNvSpPr>
            <a:spLocks noGrp="1"/>
          </p:cNvSpPr>
          <p:nvPr/>
        </p:nvSpPr>
        <p:spPr>
          <a:xfrm>
            <a:off x="9953625" y="492442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3" name="sample-stem-2-0"/>
          <p:cNvSpPr>
            <a:spLocks noGrp="1"/>
          </p:cNvSpPr>
          <p:nvPr/>
        </p:nvSpPr>
        <p:spPr>
          <a:xfrm>
            <a:off x="2238375" y="4250491"/>
            <a:ext cx="9525" cy="107196"/>
          </a:xfrm>
          <a:custGeom>
            <a:avLst/>
            <a:gdLst/>
            <a:ahLst/>
            <a:cxnLst/>
            <a:pathLst>
              <a:path w="9525" h="107196">
                <a:moveTo>
                  <a:pt x="0" y="107196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D7D7DE"/>
            </a:solidFill>
          </a:ln>
        </p:spPr>
      </p:sp>
      <p:sp>
        <p:nvSpPr>
          <p:cNvPr id="44" name="sample-2-0"/>
          <p:cNvSpPr>
            <a:spLocks noGrp="1"/>
          </p:cNvSpPr>
          <p:nvPr/>
        </p:nvSpPr>
        <p:spPr>
          <a:xfrm>
            <a:off x="2171700" y="4183816"/>
            <a:ext cx="133350" cy="133350"/>
          </a:xfrm>
          <a:prstGeom prst="ellipse">
            <a:avLst/>
          </a:prstGeom>
          <a:solidFill>
            <a:srgbClr val="00B0F0"/>
          </a:solidFill>
          <a:ln w="0">
            <a:solidFill>
              <a:srgbClr val="00B0F0"/>
            </a:solidFill>
          </a:ln>
        </p:spPr>
      </p:sp>
      <p:sp>
        <p:nvSpPr>
          <p:cNvPr id="45" name="sample-stem-2-1"/>
          <p:cNvSpPr>
            <a:spLocks noGrp="1"/>
          </p:cNvSpPr>
          <p:nvPr/>
        </p:nvSpPr>
        <p:spPr>
          <a:xfrm>
            <a:off x="6238875" y="4357688"/>
            <a:ext cx="9525" cy="107196"/>
          </a:xfrm>
          <a:custGeom>
            <a:avLst/>
            <a:gdLst/>
            <a:ahLst/>
            <a:cxnLst/>
            <a:pathLst>
              <a:path w="9525" h="107196">
                <a:moveTo>
                  <a:pt x="0" y="0"/>
                </a:moveTo>
                <a:lnTo>
                  <a:pt x="0" y="107196"/>
                </a:lnTo>
              </a:path>
            </a:pathLst>
          </a:custGeom>
          <a:noFill/>
          <a:ln w="10478">
            <a:solidFill>
              <a:srgbClr val="D7D7DE"/>
            </a:solidFill>
          </a:ln>
        </p:spPr>
      </p:sp>
      <p:sp>
        <p:nvSpPr>
          <p:cNvPr id="46" name="sample-2-1"/>
          <p:cNvSpPr>
            <a:spLocks noGrp="1"/>
          </p:cNvSpPr>
          <p:nvPr/>
        </p:nvSpPr>
        <p:spPr>
          <a:xfrm>
            <a:off x="6172200" y="4398209"/>
            <a:ext cx="133350" cy="133350"/>
          </a:xfrm>
          <a:prstGeom prst="ellipse">
            <a:avLst/>
          </a:prstGeom>
          <a:solidFill>
            <a:srgbClr val="00B0F0"/>
          </a:solidFill>
          <a:ln w="0">
            <a:solidFill>
              <a:srgbClr val="00B0F0"/>
            </a:solidFill>
          </a:ln>
        </p:spPr>
      </p:sp>
      <p:sp>
        <p:nvSpPr>
          <p:cNvPr id="47" name="time-unit-2"/>
          <p:cNvSpPr>
            <a:spLocks noGrp="1"/>
          </p:cNvSpPr>
          <p:nvPr/>
        </p:nvSpPr>
        <p:spPr>
          <a:xfrm>
            <a:off x="10363200" y="4657725"/>
            <a:ext cx="1238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 / s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8" name="TextBox 32"/>
          <p:cNvSpPr txBox="1"/>
          <p:nvPr/>
        </p:nvSpPr>
        <p:spPr>
          <a:xfrm>
            <a:off x="8577072" y="2221992"/>
            <a:ext cx="29626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</a:defRPr>
            </a:pPr>
            <a:r>
              <a:t>在1秒内：1个采样点</a:t>
            </a:r>
          </a:p>
        </p:txBody>
      </p:sp>
      <p:sp>
        <p:nvSpPr>
          <p:cNvPr id="49" name="TextBox 33"/>
          <p:cNvSpPr txBox="1"/>
          <p:nvPr/>
        </p:nvSpPr>
        <p:spPr>
          <a:xfrm>
            <a:off x="8577072" y="3813048"/>
            <a:ext cx="2962656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07C9B"/>
                </a:solidFill>
                <a:latin typeface="Alibaba PuHuiTi 3.0 115 Black" panose="00020600040101010101" charset="-122"/>
              </a:defRPr>
            </a:pPr>
            <a:r>
              <a:t>在1秒内：2个采样点</a:t>
            </a:r>
          </a:p>
        </p:txBody>
      </p:sp>
      <p:sp>
        <p:nvSpPr>
          <p:cNvPr id="50" name="text"/>
          <p:cNvSpPr>
            <a:spLocks noGrp="1"/>
          </p:cNvSpPr>
          <p:nvPr/>
        </p:nvSpPr>
        <p:spPr>
          <a:xfrm>
            <a:off x="609600" y="623697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采样率：每秒、每声道采集的样本数。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提高采样率，改变的是时间轴上的什么？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提高采样率，改变的是时间轴上的什么？</a:t>
            </a:r>
          </a:p>
        </p:txBody>
      </p:sp>
      <p:sp>
        <p:nvSpPr>
          <p:cNvPr id="5" name="codex-p14-image-caption"/>
          <p:cNvSpPr>
            <a:spLocks noGrp="1"/>
          </p:cNvSpPr>
          <p:nvPr/>
        </p:nvSpPr>
        <p:spPr>
          <a:xfrm>
            <a:off x="609600" y="1647825"/>
            <a:ext cx="109728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比较同一秒 [0,1)：输入、存储位宽和声道数不变。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5" name="Connector 4"/>
          <p:cNvSpPr>
            <a:spLocks noGrp="1"/>
          </p:cNvSpPr>
          <p:nvPr/>
        </p:nvSpPr>
        <p:spPr>
          <a:xfrm>
            <a:off x="1005840" y="33162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6" name="Connector 5"/>
          <p:cNvSpPr>
            <a:spLocks noGrp="1"/>
          </p:cNvSpPr>
          <p:nvPr/>
        </p:nvSpPr>
        <p:spPr>
          <a:xfrm>
            <a:off x="1097280" y="26212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7" name="TextBox 8"/>
          <p:cNvSpPr>
            <a:spLocks noGrp="1"/>
          </p:cNvSpPr>
          <p:nvPr/>
        </p:nvSpPr>
        <p:spPr>
          <a:xfrm>
            <a:off x="1005840" y="2081784"/>
            <a:ext cx="9747504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采样点较少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8" name="Connector 9"/>
          <p:cNvSpPr>
            <a:spLocks noGrp="1"/>
          </p:cNvSpPr>
          <p:nvPr/>
        </p:nvSpPr>
        <p:spPr>
          <a:xfrm flipV="1">
            <a:off x="1124712" y="324256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9" name="Connector 10"/>
          <p:cNvSpPr>
            <a:spLocks noGrp="1"/>
          </p:cNvSpPr>
          <p:nvPr/>
        </p:nvSpPr>
        <p:spPr>
          <a:xfrm flipV="1">
            <a:off x="1215786" y="318338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0" name="Connector 11"/>
          <p:cNvSpPr>
            <a:spLocks noGrp="1"/>
          </p:cNvSpPr>
          <p:nvPr/>
        </p:nvSpPr>
        <p:spPr>
          <a:xfrm flipV="1">
            <a:off x="1306860" y="312572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1" name="Connector 12"/>
          <p:cNvSpPr>
            <a:spLocks noGrp="1"/>
          </p:cNvSpPr>
          <p:nvPr/>
        </p:nvSpPr>
        <p:spPr>
          <a:xfrm flipV="1">
            <a:off x="1397934" y="307032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2" name="Connector 13"/>
          <p:cNvSpPr>
            <a:spLocks noGrp="1"/>
          </p:cNvSpPr>
          <p:nvPr/>
        </p:nvSpPr>
        <p:spPr>
          <a:xfrm flipV="1">
            <a:off x="1489008" y="301789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3" name="Connector 14"/>
          <p:cNvSpPr>
            <a:spLocks noGrp="1"/>
          </p:cNvSpPr>
          <p:nvPr/>
        </p:nvSpPr>
        <p:spPr>
          <a:xfrm flipV="1">
            <a:off x="1580083" y="296909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4" name="Connector 15"/>
          <p:cNvSpPr>
            <a:spLocks noGrp="1"/>
          </p:cNvSpPr>
          <p:nvPr/>
        </p:nvSpPr>
        <p:spPr>
          <a:xfrm flipV="1">
            <a:off x="1671157" y="292455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5" name="Connector 16"/>
          <p:cNvSpPr>
            <a:spLocks noGrp="1"/>
          </p:cNvSpPr>
          <p:nvPr/>
        </p:nvSpPr>
        <p:spPr>
          <a:xfrm flipV="1">
            <a:off x="1762231" y="288485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6" name="Connector 17"/>
          <p:cNvSpPr>
            <a:spLocks noGrp="1"/>
          </p:cNvSpPr>
          <p:nvPr/>
        </p:nvSpPr>
        <p:spPr>
          <a:xfrm flipV="1">
            <a:off x="1853305" y="285048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7" name="Connector 18"/>
          <p:cNvSpPr>
            <a:spLocks noGrp="1"/>
          </p:cNvSpPr>
          <p:nvPr/>
        </p:nvSpPr>
        <p:spPr>
          <a:xfrm flipV="1">
            <a:off x="1944380" y="282188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8" name="Connector 19"/>
          <p:cNvSpPr>
            <a:spLocks noGrp="1"/>
          </p:cNvSpPr>
          <p:nvPr/>
        </p:nvSpPr>
        <p:spPr>
          <a:xfrm flipV="1">
            <a:off x="2035454" y="279943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9" name="Connector 20"/>
          <p:cNvSpPr>
            <a:spLocks noGrp="1"/>
          </p:cNvSpPr>
          <p:nvPr/>
        </p:nvSpPr>
        <p:spPr>
          <a:xfrm flipV="1">
            <a:off x="2126528" y="278340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0" name="Connector 21"/>
          <p:cNvSpPr>
            <a:spLocks noGrp="1"/>
          </p:cNvSpPr>
          <p:nvPr/>
        </p:nvSpPr>
        <p:spPr>
          <a:xfrm flipV="1">
            <a:off x="2217602" y="277401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1" name="Connector 22"/>
          <p:cNvSpPr>
            <a:spLocks noGrp="1"/>
          </p:cNvSpPr>
          <p:nvPr/>
        </p:nvSpPr>
        <p:spPr>
          <a:xfrm flipV="1">
            <a:off x="2308677" y="277137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2" name="Connector 23"/>
          <p:cNvSpPr>
            <a:spLocks noGrp="1"/>
          </p:cNvSpPr>
          <p:nvPr/>
        </p:nvSpPr>
        <p:spPr>
          <a:xfrm>
            <a:off x="2399751" y="277137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3" name="Connector 24"/>
          <p:cNvSpPr>
            <a:spLocks noGrp="1"/>
          </p:cNvSpPr>
          <p:nvPr/>
        </p:nvSpPr>
        <p:spPr>
          <a:xfrm>
            <a:off x="2490825" y="277552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4" name="Connector 25"/>
          <p:cNvSpPr>
            <a:spLocks noGrp="1"/>
          </p:cNvSpPr>
          <p:nvPr/>
        </p:nvSpPr>
        <p:spPr>
          <a:xfrm>
            <a:off x="2581899" y="278640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5" name="Connector 26"/>
          <p:cNvSpPr>
            <a:spLocks noGrp="1"/>
          </p:cNvSpPr>
          <p:nvPr/>
        </p:nvSpPr>
        <p:spPr>
          <a:xfrm>
            <a:off x="2672974" y="280387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6" name="Connector 27"/>
          <p:cNvSpPr>
            <a:spLocks noGrp="1"/>
          </p:cNvSpPr>
          <p:nvPr/>
        </p:nvSpPr>
        <p:spPr>
          <a:xfrm>
            <a:off x="2764048" y="282772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7" name="Connector 28"/>
          <p:cNvSpPr>
            <a:spLocks noGrp="1"/>
          </p:cNvSpPr>
          <p:nvPr/>
        </p:nvSpPr>
        <p:spPr>
          <a:xfrm>
            <a:off x="2855122" y="285763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8" name="Connector 29"/>
          <p:cNvSpPr>
            <a:spLocks noGrp="1"/>
          </p:cNvSpPr>
          <p:nvPr/>
        </p:nvSpPr>
        <p:spPr>
          <a:xfrm>
            <a:off x="2946196" y="289323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69" name="Connector 30"/>
          <p:cNvSpPr>
            <a:spLocks noGrp="1"/>
          </p:cNvSpPr>
          <p:nvPr/>
        </p:nvSpPr>
        <p:spPr>
          <a:xfrm>
            <a:off x="3037271" y="293405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0" name="Connector 31"/>
          <p:cNvSpPr>
            <a:spLocks noGrp="1"/>
          </p:cNvSpPr>
          <p:nvPr/>
        </p:nvSpPr>
        <p:spPr>
          <a:xfrm>
            <a:off x="3128345" y="297959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1" name="Connector 32"/>
          <p:cNvSpPr>
            <a:spLocks noGrp="1"/>
          </p:cNvSpPr>
          <p:nvPr/>
        </p:nvSpPr>
        <p:spPr>
          <a:xfrm>
            <a:off x="3219419" y="302925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2" name="Connector 33"/>
          <p:cNvSpPr>
            <a:spLocks noGrp="1"/>
          </p:cNvSpPr>
          <p:nvPr/>
        </p:nvSpPr>
        <p:spPr>
          <a:xfrm>
            <a:off x="3310493" y="308240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3" name="Connector 34"/>
          <p:cNvSpPr>
            <a:spLocks noGrp="1"/>
          </p:cNvSpPr>
          <p:nvPr/>
        </p:nvSpPr>
        <p:spPr>
          <a:xfrm>
            <a:off x="3401568" y="313836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4" name="Connector 35"/>
          <p:cNvSpPr>
            <a:spLocks noGrp="1"/>
          </p:cNvSpPr>
          <p:nvPr/>
        </p:nvSpPr>
        <p:spPr>
          <a:xfrm>
            <a:off x="3492642" y="319642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5" name="Connector 36"/>
          <p:cNvSpPr>
            <a:spLocks noGrp="1"/>
          </p:cNvSpPr>
          <p:nvPr/>
        </p:nvSpPr>
        <p:spPr>
          <a:xfrm>
            <a:off x="3583716" y="325584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6" name="Connector 37"/>
          <p:cNvSpPr>
            <a:spLocks noGrp="1"/>
          </p:cNvSpPr>
          <p:nvPr/>
        </p:nvSpPr>
        <p:spPr>
          <a:xfrm>
            <a:off x="3674790" y="331585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7" name="Connector 38"/>
          <p:cNvSpPr>
            <a:spLocks noGrp="1"/>
          </p:cNvSpPr>
          <p:nvPr/>
        </p:nvSpPr>
        <p:spPr>
          <a:xfrm>
            <a:off x="3765864" y="337569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8" name="Connector 39"/>
          <p:cNvSpPr>
            <a:spLocks noGrp="1"/>
          </p:cNvSpPr>
          <p:nvPr/>
        </p:nvSpPr>
        <p:spPr>
          <a:xfrm>
            <a:off x="3856939" y="343460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79" name="Connector 40"/>
          <p:cNvSpPr>
            <a:spLocks noGrp="1"/>
          </p:cNvSpPr>
          <p:nvPr/>
        </p:nvSpPr>
        <p:spPr>
          <a:xfrm>
            <a:off x="3948013" y="349182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0" name="Connector 41"/>
          <p:cNvSpPr>
            <a:spLocks noGrp="1"/>
          </p:cNvSpPr>
          <p:nvPr/>
        </p:nvSpPr>
        <p:spPr>
          <a:xfrm>
            <a:off x="4039087" y="354662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1" name="Connector 42"/>
          <p:cNvSpPr>
            <a:spLocks noGrp="1"/>
          </p:cNvSpPr>
          <p:nvPr/>
        </p:nvSpPr>
        <p:spPr>
          <a:xfrm>
            <a:off x="4130161" y="359830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2" name="Connector 43"/>
          <p:cNvSpPr>
            <a:spLocks noGrp="1"/>
          </p:cNvSpPr>
          <p:nvPr/>
        </p:nvSpPr>
        <p:spPr>
          <a:xfrm>
            <a:off x="4221236" y="364620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3" name="Connector 44"/>
          <p:cNvSpPr>
            <a:spLocks noGrp="1"/>
          </p:cNvSpPr>
          <p:nvPr/>
        </p:nvSpPr>
        <p:spPr>
          <a:xfrm>
            <a:off x="4312310" y="368971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4" name="Connector 45"/>
          <p:cNvSpPr>
            <a:spLocks noGrp="1"/>
          </p:cNvSpPr>
          <p:nvPr/>
        </p:nvSpPr>
        <p:spPr>
          <a:xfrm>
            <a:off x="4403384" y="372828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5" name="Connector 46"/>
          <p:cNvSpPr>
            <a:spLocks noGrp="1"/>
          </p:cNvSpPr>
          <p:nvPr/>
        </p:nvSpPr>
        <p:spPr>
          <a:xfrm>
            <a:off x="4494458" y="376140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6" name="Connector 47"/>
          <p:cNvSpPr>
            <a:spLocks noGrp="1"/>
          </p:cNvSpPr>
          <p:nvPr/>
        </p:nvSpPr>
        <p:spPr>
          <a:xfrm>
            <a:off x="4585533" y="378866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7" name="Connector 48"/>
          <p:cNvSpPr>
            <a:spLocks noGrp="1"/>
          </p:cNvSpPr>
          <p:nvPr/>
        </p:nvSpPr>
        <p:spPr>
          <a:xfrm>
            <a:off x="4676607" y="380970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8" name="Connector 49"/>
          <p:cNvSpPr>
            <a:spLocks noGrp="1"/>
          </p:cNvSpPr>
          <p:nvPr/>
        </p:nvSpPr>
        <p:spPr>
          <a:xfrm>
            <a:off x="4767681" y="382427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9" name="Connector 50"/>
          <p:cNvSpPr>
            <a:spLocks noGrp="1"/>
          </p:cNvSpPr>
          <p:nvPr/>
        </p:nvSpPr>
        <p:spPr>
          <a:xfrm>
            <a:off x="4858755" y="383217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0" name="Connector 51"/>
          <p:cNvSpPr>
            <a:spLocks noGrp="1"/>
          </p:cNvSpPr>
          <p:nvPr/>
        </p:nvSpPr>
        <p:spPr>
          <a:xfrm flipV="1">
            <a:off x="4949830" y="382765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1" name="Connector 52"/>
          <p:cNvSpPr>
            <a:spLocks noGrp="1"/>
          </p:cNvSpPr>
          <p:nvPr/>
        </p:nvSpPr>
        <p:spPr>
          <a:xfrm flipV="1">
            <a:off x="5040904" y="381529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2" name="Connector 53"/>
          <p:cNvSpPr>
            <a:spLocks noGrp="1"/>
          </p:cNvSpPr>
          <p:nvPr/>
        </p:nvSpPr>
        <p:spPr>
          <a:xfrm flipV="1">
            <a:off x="5131978" y="379638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3" name="Connector 54"/>
          <p:cNvSpPr>
            <a:spLocks noGrp="1"/>
          </p:cNvSpPr>
          <p:nvPr/>
        </p:nvSpPr>
        <p:spPr>
          <a:xfrm flipV="1">
            <a:off x="5223052" y="377115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4" name="Connector 55"/>
          <p:cNvSpPr>
            <a:spLocks noGrp="1"/>
          </p:cNvSpPr>
          <p:nvPr/>
        </p:nvSpPr>
        <p:spPr>
          <a:xfrm flipV="1">
            <a:off x="5314127" y="373994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5" name="Connector 56"/>
          <p:cNvSpPr>
            <a:spLocks noGrp="1"/>
          </p:cNvSpPr>
          <p:nvPr/>
        </p:nvSpPr>
        <p:spPr>
          <a:xfrm flipV="1">
            <a:off x="5405201" y="370314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6" name="Connector 57"/>
          <p:cNvSpPr>
            <a:spLocks noGrp="1"/>
          </p:cNvSpPr>
          <p:nvPr/>
        </p:nvSpPr>
        <p:spPr>
          <a:xfrm flipV="1">
            <a:off x="5496275" y="366122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7" name="Connector 58"/>
          <p:cNvSpPr>
            <a:spLocks noGrp="1"/>
          </p:cNvSpPr>
          <p:nvPr/>
        </p:nvSpPr>
        <p:spPr>
          <a:xfrm flipV="1">
            <a:off x="5587349" y="361472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8" name="Connector 59"/>
          <p:cNvSpPr>
            <a:spLocks noGrp="1"/>
          </p:cNvSpPr>
          <p:nvPr/>
        </p:nvSpPr>
        <p:spPr>
          <a:xfrm flipV="1">
            <a:off x="5678424" y="356423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9" name="Connector 60"/>
          <p:cNvSpPr>
            <a:spLocks noGrp="1"/>
          </p:cNvSpPr>
          <p:nvPr/>
        </p:nvSpPr>
        <p:spPr>
          <a:xfrm flipV="1">
            <a:off x="5769498" y="351039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0" name="Connector 61"/>
          <p:cNvSpPr>
            <a:spLocks noGrp="1"/>
          </p:cNvSpPr>
          <p:nvPr/>
        </p:nvSpPr>
        <p:spPr>
          <a:xfrm flipV="1">
            <a:off x="5860572" y="345390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1" name="Connector 62"/>
          <p:cNvSpPr>
            <a:spLocks noGrp="1"/>
          </p:cNvSpPr>
          <p:nvPr/>
        </p:nvSpPr>
        <p:spPr>
          <a:xfrm flipV="1">
            <a:off x="5951646" y="339547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2" name="Connector 63"/>
          <p:cNvSpPr>
            <a:spLocks noGrp="1"/>
          </p:cNvSpPr>
          <p:nvPr/>
        </p:nvSpPr>
        <p:spPr>
          <a:xfrm flipV="1">
            <a:off x="6042720" y="333586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3" name="Connector 64"/>
          <p:cNvSpPr>
            <a:spLocks noGrp="1"/>
          </p:cNvSpPr>
          <p:nvPr/>
        </p:nvSpPr>
        <p:spPr>
          <a:xfrm flipV="1">
            <a:off x="6133795" y="327581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4" name="Connector 65"/>
          <p:cNvSpPr>
            <a:spLocks noGrp="1"/>
          </p:cNvSpPr>
          <p:nvPr/>
        </p:nvSpPr>
        <p:spPr>
          <a:xfrm flipV="1">
            <a:off x="6224869" y="321611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5" name="Connector 66"/>
          <p:cNvSpPr>
            <a:spLocks noGrp="1"/>
          </p:cNvSpPr>
          <p:nvPr/>
        </p:nvSpPr>
        <p:spPr>
          <a:xfrm flipV="1">
            <a:off x="6315943" y="315752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6" name="Connector 67"/>
          <p:cNvSpPr>
            <a:spLocks noGrp="1"/>
          </p:cNvSpPr>
          <p:nvPr/>
        </p:nvSpPr>
        <p:spPr>
          <a:xfrm flipV="1">
            <a:off x="6407017" y="310077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7" name="Connector 68"/>
          <p:cNvSpPr>
            <a:spLocks noGrp="1"/>
          </p:cNvSpPr>
          <p:nvPr/>
        </p:nvSpPr>
        <p:spPr>
          <a:xfrm flipV="1">
            <a:off x="6498092" y="304661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8" name="Connector 69"/>
          <p:cNvSpPr>
            <a:spLocks noGrp="1"/>
          </p:cNvSpPr>
          <p:nvPr/>
        </p:nvSpPr>
        <p:spPr>
          <a:xfrm flipV="1">
            <a:off x="6589166" y="299571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9" name="Connector 70"/>
          <p:cNvSpPr>
            <a:spLocks noGrp="1"/>
          </p:cNvSpPr>
          <p:nvPr/>
        </p:nvSpPr>
        <p:spPr>
          <a:xfrm flipV="1">
            <a:off x="6680240" y="294873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0" name="Connector 71"/>
          <p:cNvSpPr>
            <a:spLocks noGrp="1"/>
          </p:cNvSpPr>
          <p:nvPr/>
        </p:nvSpPr>
        <p:spPr>
          <a:xfrm flipV="1">
            <a:off x="6771314" y="290628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1" name="Connector 72"/>
          <p:cNvSpPr>
            <a:spLocks noGrp="1"/>
          </p:cNvSpPr>
          <p:nvPr/>
        </p:nvSpPr>
        <p:spPr>
          <a:xfrm flipV="1">
            <a:off x="6862389" y="286888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2" name="Connector 73"/>
          <p:cNvSpPr>
            <a:spLocks noGrp="1"/>
          </p:cNvSpPr>
          <p:nvPr/>
        </p:nvSpPr>
        <p:spPr>
          <a:xfrm flipV="1">
            <a:off x="6953463" y="283703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3" name="Connector 74"/>
          <p:cNvSpPr>
            <a:spLocks noGrp="1"/>
          </p:cNvSpPr>
          <p:nvPr/>
        </p:nvSpPr>
        <p:spPr>
          <a:xfrm flipV="1">
            <a:off x="7044537" y="281113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4" name="Connector 75"/>
          <p:cNvSpPr>
            <a:spLocks noGrp="1"/>
          </p:cNvSpPr>
          <p:nvPr/>
        </p:nvSpPr>
        <p:spPr>
          <a:xfrm flipV="1">
            <a:off x="7135611" y="279150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5" name="Connector 76"/>
          <p:cNvSpPr>
            <a:spLocks noGrp="1"/>
          </p:cNvSpPr>
          <p:nvPr/>
        </p:nvSpPr>
        <p:spPr>
          <a:xfrm flipV="1">
            <a:off x="7226686" y="277840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6" name="Connector 77"/>
          <p:cNvSpPr>
            <a:spLocks noGrp="1"/>
          </p:cNvSpPr>
          <p:nvPr/>
        </p:nvSpPr>
        <p:spPr>
          <a:xfrm flipV="1">
            <a:off x="7317760" y="277200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7" name="Connector 78"/>
          <p:cNvSpPr>
            <a:spLocks noGrp="1"/>
          </p:cNvSpPr>
          <p:nvPr/>
        </p:nvSpPr>
        <p:spPr>
          <a:xfrm>
            <a:off x="7408834" y="277200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8" name="Connector 79"/>
          <p:cNvSpPr>
            <a:spLocks noGrp="1"/>
          </p:cNvSpPr>
          <p:nvPr/>
        </p:nvSpPr>
        <p:spPr>
          <a:xfrm>
            <a:off x="7499908" y="277238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9" name="Connector 80"/>
          <p:cNvSpPr>
            <a:spLocks noGrp="1"/>
          </p:cNvSpPr>
          <p:nvPr/>
        </p:nvSpPr>
        <p:spPr>
          <a:xfrm>
            <a:off x="7590983" y="277953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0" name="Connector 81"/>
          <p:cNvSpPr>
            <a:spLocks noGrp="1"/>
          </p:cNvSpPr>
          <p:nvPr/>
        </p:nvSpPr>
        <p:spPr>
          <a:xfrm>
            <a:off x="7682057" y="279336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1" name="Connector 82"/>
          <p:cNvSpPr>
            <a:spLocks noGrp="1"/>
          </p:cNvSpPr>
          <p:nvPr/>
        </p:nvSpPr>
        <p:spPr>
          <a:xfrm>
            <a:off x="7773131" y="281370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2" name="Connector 83"/>
          <p:cNvSpPr>
            <a:spLocks noGrp="1"/>
          </p:cNvSpPr>
          <p:nvPr/>
        </p:nvSpPr>
        <p:spPr>
          <a:xfrm>
            <a:off x="7864205" y="284028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3" name="Connector 84"/>
          <p:cNvSpPr>
            <a:spLocks noGrp="1"/>
          </p:cNvSpPr>
          <p:nvPr/>
        </p:nvSpPr>
        <p:spPr>
          <a:xfrm>
            <a:off x="7955280" y="287277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4" name="Connector 85"/>
          <p:cNvSpPr>
            <a:spLocks noGrp="1"/>
          </p:cNvSpPr>
          <p:nvPr/>
        </p:nvSpPr>
        <p:spPr>
          <a:xfrm>
            <a:off x="8046354" y="291075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5" name="Connector 86"/>
          <p:cNvSpPr>
            <a:spLocks noGrp="1"/>
          </p:cNvSpPr>
          <p:nvPr/>
        </p:nvSpPr>
        <p:spPr>
          <a:xfrm>
            <a:off x="8137428" y="295374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6" name="Connector 87"/>
          <p:cNvSpPr>
            <a:spLocks noGrp="1"/>
          </p:cNvSpPr>
          <p:nvPr/>
        </p:nvSpPr>
        <p:spPr>
          <a:xfrm>
            <a:off x="8228502" y="300118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7" name="Connector 88"/>
          <p:cNvSpPr>
            <a:spLocks noGrp="1"/>
          </p:cNvSpPr>
          <p:nvPr/>
        </p:nvSpPr>
        <p:spPr>
          <a:xfrm>
            <a:off x="8319576" y="305248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8" name="Connector 89"/>
          <p:cNvSpPr>
            <a:spLocks noGrp="1"/>
          </p:cNvSpPr>
          <p:nvPr/>
        </p:nvSpPr>
        <p:spPr>
          <a:xfrm>
            <a:off x="8410651" y="310696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9" name="Connector 90"/>
          <p:cNvSpPr>
            <a:spLocks noGrp="1"/>
          </p:cNvSpPr>
          <p:nvPr/>
        </p:nvSpPr>
        <p:spPr>
          <a:xfrm>
            <a:off x="8501725" y="316395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0" name="Connector 91"/>
          <p:cNvSpPr>
            <a:spLocks noGrp="1"/>
          </p:cNvSpPr>
          <p:nvPr/>
        </p:nvSpPr>
        <p:spPr>
          <a:xfrm>
            <a:off x="8592799" y="322271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1" name="Connector 92"/>
          <p:cNvSpPr>
            <a:spLocks noGrp="1"/>
          </p:cNvSpPr>
          <p:nvPr/>
        </p:nvSpPr>
        <p:spPr>
          <a:xfrm>
            <a:off x="8683873" y="328248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2" name="Connector 93"/>
          <p:cNvSpPr>
            <a:spLocks noGrp="1"/>
          </p:cNvSpPr>
          <p:nvPr/>
        </p:nvSpPr>
        <p:spPr>
          <a:xfrm>
            <a:off x="8774948" y="334251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3" name="Connector 94"/>
          <p:cNvSpPr>
            <a:spLocks noGrp="1"/>
          </p:cNvSpPr>
          <p:nvPr/>
        </p:nvSpPr>
        <p:spPr>
          <a:xfrm>
            <a:off x="8866022" y="340204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4" name="Connector 95"/>
          <p:cNvSpPr>
            <a:spLocks noGrp="1"/>
          </p:cNvSpPr>
          <p:nvPr/>
        </p:nvSpPr>
        <p:spPr>
          <a:xfrm>
            <a:off x="8957096" y="346028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5" name="Connector 96"/>
          <p:cNvSpPr>
            <a:spLocks noGrp="1"/>
          </p:cNvSpPr>
          <p:nvPr/>
        </p:nvSpPr>
        <p:spPr>
          <a:xfrm>
            <a:off x="9048170" y="351652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6" name="Connector 97"/>
          <p:cNvSpPr>
            <a:spLocks noGrp="1"/>
          </p:cNvSpPr>
          <p:nvPr/>
        </p:nvSpPr>
        <p:spPr>
          <a:xfrm>
            <a:off x="9139245" y="357002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7" name="Connector 98"/>
          <p:cNvSpPr>
            <a:spLocks noGrp="1"/>
          </p:cNvSpPr>
          <p:nvPr/>
        </p:nvSpPr>
        <p:spPr>
          <a:xfrm>
            <a:off x="9230319" y="362010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8" name="Connector 99"/>
          <p:cNvSpPr>
            <a:spLocks noGrp="1"/>
          </p:cNvSpPr>
          <p:nvPr/>
        </p:nvSpPr>
        <p:spPr>
          <a:xfrm>
            <a:off x="9321393" y="366612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9" name="Connector 100"/>
          <p:cNvSpPr>
            <a:spLocks noGrp="1"/>
          </p:cNvSpPr>
          <p:nvPr/>
        </p:nvSpPr>
        <p:spPr>
          <a:xfrm>
            <a:off x="9412467" y="370749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0" name="Connector 101"/>
          <p:cNvSpPr>
            <a:spLocks noGrp="1"/>
          </p:cNvSpPr>
          <p:nvPr/>
        </p:nvSpPr>
        <p:spPr>
          <a:xfrm>
            <a:off x="9503542" y="374369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1" name="Connector 102"/>
          <p:cNvSpPr>
            <a:spLocks noGrp="1"/>
          </p:cNvSpPr>
          <p:nvPr/>
        </p:nvSpPr>
        <p:spPr>
          <a:xfrm>
            <a:off x="9594616" y="377426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2" name="Connector 103"/>
          <p:cNvSpPr>
            <a:spLocks noGrp="1"/>
          </p:cNvSpPr>
          <p:nvPr/>
        </p:nvSpPr>
        <p:spPr>
          <a:xfrm>
            <a:off x="9685690" y="379880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3" name="Connector 104"/>
          <p:cNvSpPr>
            <a:spLocks noGrp="1"/>
          </p:cNvSpPr>
          <p:nvPr/>
        </p:nvSpPr>
        <p:spPr>
          <a:xfrm>
            <a:off x="9776764" y="381699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4" name="Connector 105"/>
          <p:cNvSpPr>
            <a:spLocks noGrp="1"/>
          </p:cNvSpPr>
          <p:nvPr/>
        </p:nvSpPr>
        <p:spPr>
          <a:xfrm>
            <a:off x="9867839" y="382861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5" name="Connector 106"/>
          <p:cNvSpPr>
            <a:spLocks noGrp="1"/>
          </p:cNvSpPr>
          <p:nvPr/>
        </p:nvSpPr>
        <p:spPr>
          <a:xfrm flipV="1">
            <a:off x="9958913" y="383162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6" name="Connector 107"/>
          <p:cNvSpPr>
            <a:spLocks noGrp="1"/>
          </p:cNvSpPr>
          <p:nvPr/>
        </p:nvSpPr>
        <p:spPr>
          <a:xfrm flipV="1">
            <a:off x="10049987" y="382298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7" name="Connector 108"/>
          <p:cNvSpPr>
            <a:spLocks noGrp="1"/>
          </p:cNvSpPr>
          <p:nvPr/>
        </p:nvSpPr>
        <p:spPr>
          <a:xfrm flipV="1">
            <a:off x="10141061" y="380768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8" name="Oval 147"/>
          <p:cNvSpPr>
            <a:spLocks noGrp="1"/>
          </p:cNvSpPr>
          <p:nvPr/>
        </p:nvSpPr>
        <p:spPr>
          <a:xfrm>
            <a:off x="1063447" y="324124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9" name="Oval 148"/>
          <p:cNvSpPr>
            <a:spLocks noGrp="1"/>
          </p:cNvSpPr>
          <p:nvPr/>
        </p:nvSpPr>
        <p:spPr>
          <a:xfrm>
            <a:off x="2201875" y="271660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0" name="Oval 149"/>
          <p:cNvSpPr>
            <a:spLocks noGrp="1"/>
          </p:cNvSpPr>
          <p:nvPr/>
        </p:nvSpPr>
        <p:spPr>
          <a:xfrm>
            <a:off x="3340303" y="307710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1" name="Oval 150"/>
          <p:cNvSpPr>
            <a:spLocks noGrp="1"/>
          </p:cNvSpPr>
          <p:nvPr/>
        </p:nvSpPr>
        <p:spPr>
          <a:xfrm>
            <a:off x="4478731" y="37145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2" name="Oval 151"/>
          <p:cNvSpPr>
            <a:spLocks noGrp="1"/>
          </p:cNvSpPr>
          <p:nvPr/>
        </p:nvSpPr>
        <p:spPr>
          <a:xfrm>
            <a:off x="5617159" y="355346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3" name="Oval 152"/>
          <p:cNvSpPr>
            <a:spLocks noGrp="1"/>
          </p:cNvSpPr>
          <p:nvPr/>
        </p:nvSpPr>
        <p:spPr>
          <a:xfrm>
            <a:off x="6755587" y="286564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4" name="Oval 153"/>
          <p:cNvSpPr>
            <a:spLocks noGrp="1"/>
          </p:cNvSpPr>
          <p:nvPr/>
        </p:nvSpPr>
        <p:spPr>
          <a:xfrm>
            <a:off x="7894015" y="281151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5" name="Oval 154"/>
          <p:cNvSpPr>
            <a:spLocks noGrp="1"/>
          </p:cNvSpPr>
          <p:nvPr/>
        </p:nvSpPr>
        <p:spPr>
          <a:xfrm>
            <a:off x="9032443" y="348239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6" name="Connector 117"/>
          <p:cNvSpPr>
            <a:spLocks noGrp="1"/>
          </p:cNvSpPr>
          <p:nvPr/>
        </p:nvSpPr>
        <p:spPr>
          <a:xfrm>
            <a:off x="1005840" y="541934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7" name="Connector 118"/>
          <p:cNvSpPr>
            <a:spLocks noGrp="1"/>
          </p:cNvSpPr>
          <p:nvPr/>
        </p:nvSpPr>
        <p:spPr>
          <a:xfrm>
            <a:off x="1097280" y="472440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8" name="TextBox 121"/>
          <p:cNvSpPr>
            <a:spLocks noGrp="1"/>
          </p:cNvSpPr>
          <p:nvPr/>
        </p:nvSpPr>
        <p:spPr>
          <a:xfrm>
            <a:off x="1005840" y="4184904"/>
            <a:ext cx="9747504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采样点较多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9" name="Connector 122"/>
          <p:cNvSpPr>
            <a:spLocks noGrp="1"/>
          </p:cNvSpPr>
          <p:nvPr/>
        </p:nvSpPr>
        <p:spPr>
          <a:xfrm flipV="1">
            <a:off x="1124712" y="534568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0" name="Connector 123"/>
          <p:cNvSpPr>
            <a:spLocks noGrp="1"/>
          </p:cNvSpPr>
          <p:nvPr/>
        </p:nvSpPr>
        <p:spPr>
          <a:xfrm flipV="1">
            <a:off x="1215786" y="528650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1" name="Connector 124"/>
          <p:cNvSpPr>
            <a:spLocks noGrp="1"/>
          </p:cNvSpPr>
          <p:nvPr/>
        </p:nvSpPr>
        <p:spPr>
          <a:xfrm flipV="1">
            <a:off x="1306860" y="522884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2" name="Connector 125"/>
          <p:cNvSpPr>
            <a:spLocks noGrp="1"/>
          </p:cNvSpPr>
          <p:nvPr/>
        </p:nvSpPr>
        <p:spPr>
          <a:xfrm flipV="1">
            <a:off x="1397934" y="517344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3" name="Connector 126"/>
          <p:cNvSpPr>
            <a:spLocks noGrp="1"/>
          </p:cNvSpPr>
          <p:nvPr/>
        </p:nvSpPr>
        <p:spPr>
          <a:xfrm flipV="1">
            <a:off x="1489008" y="512101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4" name="Connector 127"/>
          <p:cNvSpPr>
            <a:spLocks noGrp="1"/>
          </p:cNvSpPr>
          <p:nvPr/>
        </p:nvSpPr>
        <p:spPr>
          <a:xfrm flipV="1">
            <a:off x="1580083" y="507221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5" name="Connector 128"/>
          <p:cNvSpPr>
            <a:spLocks noGrp="1"/>
          </p:cNvSpPr>
          <p:nvPr/>
        </p:nvSpPr>
        <p:spPr>
          <a:xfrm flipV="1">
            <a:off x="1671157" y="502767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6" name="Connector 129"/>
          <p:cNvSpPr>
            <a:spLocks noGrp="1"/>
          </p:cNvSpPr>
          <p:nvPr/>
        </p:nvSpPr>
        <p:spPr>
          <a:xfrm flipV="1">
            <a:off x="1762231" y="498797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7" name="Connector 130"/>
          <p:cNvSpPr>
            <a:spLocks noGrp="1"/>
          </p:cNvSpPr>
          <p:nvPr/>
        </p:nvSpPr>
        <p:spPr>
          <a:xfrm flipV="1">
            <a:off x="1853305" y="495360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8" name="Connector 131"/>
          <p:cNvSpPr>
            <a:spLocks noGrp="1"/>
          </p:cNvSpPr>
          <p:nvPr/>
        </p:nvSpPr>
        <p:spPr>
          <a:xfrm flipV="1">
            <a:off x="1944380" y="492500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69" name="Connector 132"/>
          <p:cNvSpPr>
            <a:spLocks noGrp="1"/>
          </p:cNvSpPr>
          <p:nvPr/>
        </p:nvSpPr>
        <p:spPr>
          <a:xfrm flipV="1">
            <a:off x="2035454" y="490255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0" name="Connector 133"/>
          <p:cNvSpPr>
            <a:spLocks noGrp="1"/>
          </p:cNvSpPr>
          <p:nvPr/>
        </p:nvSpPr>
        <p:spPr>
          <a:xfrm flipV="1">
            <a:off x="2126528" y="488652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1" name="Connector 134"/>
          <p:cNvSpPr>
            <a:spLocks noGrp="1"/>
          </p:cNvSpPr>
          <p:nvPr/>
        </p:nvSpPr>
        <p:spPr>
          <a:xfrm flipV="1">
            <a:off x="2217602" y="487713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2" name="Connector 135"/>
          <p:cNvSpPr>
            <a:spLocks noGrp="1"/>
          </p:cNvSpPr>
          <p:nvPr/>
        </p:nvSpPr>
        <p:spPr>
          <a:xfrm flipV="1">
            <a:off x="2308677" y="487449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3" name="Connector 136"/>
          <p:cNvSpPr>
            <a:spLocks noGrp="1"/>
          </p:cNvSpPr>
          <p:nvPr/>
        </p:nvSpPr>
        <p:spPr>
          <a:xfrm>
            <a:off x="2399751" y="487449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4" name="Connector 137"/>
          <p:cNvSpPr>
            <a:spLocks noGrp="1"/>
          </p:cNvSpPr>
          <p:nvPr/>
        </p:nvSpPr>
        <p:spPr>
          <a:xfrm>
            <a:off x="2490825" y="487864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5" name="Connector 138"/>
          <p:cNvSpPr>
            <a:spLocks noGrp="1"/>
          </p:cNvSpPr>
          <p:nvPr/>
        </p:nvSpPr>
        <p:spPr>
          <a:xfrm>
            <a:off x="2581899" y="488952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6" name="Connector 139"/>
          <p:cNvSpPr>
            <a:spLocks noGrp="1"/>
          </p:cNvSpPr>
          <p:nvPr/>
        </p:nvSpPr>
        <p:spPr>
          <a:xfrm>
            <a:off x="2672974" y="490699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7" name="Connector 140"/>
          <p:cNvSpPr>
            <a:spLocks noGrp="1"/>
          </p:cNvSpPr>
          <p:nvPr/>
        </p:nvSpPr>
        <p:spPr>
          <a:xfrm>
            <a:off x="2764048" y="493084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8" name="Connector 141"/>
          <p:cNvSpPr>
            <a:spLocks noGrp="1"/>
          </p:cNvSpPr>
          <p:nvPr/>
        </p:nvSpPr>
        <p:spPr>
          <a:xfrm>
            <a:off x="2855122" y="496075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9" name="Connector 142"/>
          <p:cNvSpPr>
            <a:spLocks noGrp="1"/>
          </p:cNvSpPr>
          <p:nvPr/>
        </p:nvSpPr>
        <p:spPr>
          <a:xfrm>
            <a:off x="2946196" y="499635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0" name="Connector 143"/>
          <p:cNvSpPr>
            <a:spLocks noGrp="1"/>
          </p:cNvSpPr>
          <p:nvPr/>
        </p:nvSpPr>
        <p:spPr>
          <a:xfrm>
            <a:off x="3037271" y="503717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1" name="Connector 144"/>
          <p:cNvSpPr>
            <a:spLocks noGrp="1"/>
          </p:cNvSpPr>
          <p:nvPr/>
        </p:nvSpPr>
        <p:spPr>
          <a:xfrm>
            <a:off x="3128345" y="508271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2" name="Connector 145"/>
          <p:cNvSpPr>
            <a:spLocks noGrp="1"/>
          </p:cNvSpPr>
          <p:nvPr/>
        </p:nvSpPr>
        <p:spPr>
          <a:xfrm>
            <a:off x="3219419" y="513237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3" name="Connector 146"/>
          <p:cNvSpPr>
            <a:spLocks noGrp="1"/>
          </p:cNvSpPr>
          <p:nvPr/>
        </p:nvSpPr>
        <p:spPr>
          <a:xfrm>
            <a:off x="3310493" y="518552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4" name="Connector 147"/>
          <p:cNvSpPr>
            <a:spLocks noGrp="1"/>
          </p:cNvSpPr>
          <p:nvPr/>
        </p:nvSpPr>
        <p:spPr>
          <a:xfrm>
            <a:off x="3401568" y="524148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5" name="Connector 148"/>
          <p:cNvSpPr>
            <a:spLocks noGrp="1"/>
          </p:cNvSpPr>
          <p:nvPr/>
        </p:nvSpPr>
        <p:spPr>
          <a:xfrm>
            <a:off x="3492642" y="529954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6" name="Connector 149"/>
          <p:cNvSpPr>
            <a:spLocks noGrp="1"/>
          </p:cNvSpPr>
          <p:nvPr/>
        </p:nvSpPr>
        <p:spPr>
          <a:xfrm>
            <a:off x="3583716" y="535896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7" name="Connector 150"/>
          <p:cNvSpPr>
            <a:spLocks noGrp="1"/>
          </p:cNvSpPr>
          <p:nvPr/>
        </p:nvSpPr>
        <p:spPr>
          <a:xfrm>
            <a:off x="3674790" y="541897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8" name="Connector 151"/>
          <p:cNvSpPr>
            <a:spLocks noGrp="1"/>
          </p:cNvSpPr>
          <p:nvPr/>
        </p:nvSpPr>
        <p:spPr>
          <a:xfrm>
            <a:off x="3765864" y="547881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9" name="Connector 152"/>
          <p:cNvSpPr>
            <a:spLocks noGrp="1"/>
          </p:cNvSpPr>
          <p:nvPr/>
        </p:nvSpPr>
        <p:spPr>
          <a:xfrm>
            <a:off x="3856939" y="553772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0" name="Connector 153"/>
          <p:cNvSpPr>
            <a:spLocks noGrp="1"/>
          </p:cNvSpPr>
          <p:nvPr/>
        </p:nvSpPr>
        <p:spPr>
          <a:xfrm>
            <a:off x="3948013" y="559494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1" name="Connector 154"/>
          <p:cNvSpPr>
            <a:spLocks noGrp="1"/>
          </p:cNvSpPr>
          <p:nvPr/>
        </p:nvSpPr>
        <p:spPr>
          <a:xfrm>
            <a:off x="4039087" y="564974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2" name="Connector 155"/>
          <p:cNvSpPr>
            <a:spLocks noGrp="1"/>
          </p:cNvSpPr>
          <p:nvPr/>
        </p:nvSpPr>
        <p:spPr>
          <a:xfrm>
            <a:off x="4130161" y="570142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3" name="Connector 156"/>
          <p:cNvSpPr>
            <a:spLocks noGrp="1"/>
          </p:cNvSpPr>
          <p:nvPr/>
        </p:nvSpPr>
        <p:spPr>
          <a:xfrm>
            <a:off x="4221236" y="574932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4" name="Connector 157"/>
          <p:cNvSpPr>
            <a:spLocks noGrp="1"/>
          </p:cNvSpPr>
          <p:nvPr/>
        </p:nvSpPr>
        <p:spPr>
          <a:xfrm>
            <a:off x="4312310" y="579283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5" name="Connector 158"/>
          <p:cNvSpPr>
            <a:spLocks noGrp="1"/>
          </p:cNvSpPr>
          <p:nvPr/>
        </p:nvSpPr>
        <p:spPr>
          <a:xfrm>
            <a:off x="4403384" y="583140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6" name="Connector 159"/>
          <p:cNvSpPr>
            <a:spLocks noGrp="1"/>
          </p:cNvSpPr>
          <p:nvPr/>
        </p:nvSpPr>
        <p:spPr>
          <a:xfrm>
            <a:off x="4494458" y="586452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7" name="Connector 160"/>
          <p:cNvSpPr>
            <a:spLocks noGrp="1"/>
          </p:cNvSpPr>
          <p:nvPr/>
        </p:nvSpPr>
        <p:spPr>
          <a:xfrm>
            <a:off x="4585533" y="589178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8" name="Connector 161"/>
          <p:cNvSpPr>
            <a:spLocks noGrp="1"/>
          </p:cNvSpPr>
          <p:nvPr/>
        </p:nvSpPr>
        <p:spPr>
          <a:xfrm>
            <a:off x="4676607" y="591282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99" name="Connector 162"/>
          <p:cNvSpPr>
            <a:spLocks noGrp="1"/>
          </p:cNvSpPr>
          <p:nvPr/>
        </p:nvSpPr>
        <p:spPr>
          <a:xfrm>
            <a:off x="4767681" y="592739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0" name="Connector 163"/>
          <p:cNvSpPr>
            <a:spLocks noGrp="1"/>
          </p:cNvSpPr>
          <p:nvPr/>
        </p:nvSpPr>
        <p:spPr>
          <a:xfrm>
            <a:off x="4858755" y="593529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1" name="Connector 164"/>
          <p:cNvSpPr>
            <a:spLocks noGrp="1"/>
          </p:cNvSpPr>
          <p:nvPr/>
        </p:nvSpPr>
        <p:spPr>
          <a:xfrm flipV="1">
            <a:off x="4949830" y="593077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2" name="Connector 165"/>
          <p:cNvSpPr>
            <a:spLocks noGrp="1"/>
          </p:cNvSpPr>
          <p:nvPr/>
        </p:nvSpPr>
        <p:spPr>
          <a:xfrm flipV="1">
            <a:off x="5040904" y="591841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3" name="Connector 166"/>
          <p:cNvSpPr>
            <a:spLocks noGrp="1"/>
          </p:cNvSpPr>
          <p:nvPr/>
        </p:nvSpPr>
        <p:spPr>
          <a:xfrm flipV="1">
            <a:off x="5131978" y="589950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4" name="Connector 167"/>
          <p:cNvSpPr>
            <a:spLocks noGrp="1"/>
          </p:cNvSpPr>
          <p:nvPr/>
        </p:nvSpPr>
        <p:spPr>
          <a:xfrm flipV="1">
            <a:off x="5223052" y="587427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5" name="Connector 168"/>
          <p:cNvSpPr>
            <a:spLocks noGrp="1"/>
          </p:cNvSpPr>
          <p:nvPr/>
        </p:nvSpPr>
        <p:spPr>
          <a:xfrm flipV="1">
            <a:off x="5314127" y="584306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6" name="Connector 169"/>
          <p:cNvSpPr>
            <a:spLocks noGrp="1"/>
          </p:cNvSpPr>
          <p:nvPr/>
        </p:nvSpPr>
        <p:spPr>
          <a:xfrm flipV="1">
            <a:off x="5405201" y="580626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7" name="Connector 170"/>
          <p:cNvSpPr>
            <a:spLocks noGrp="1"/>
          </p:cNvSpPr>
          <p:nvPr/>
        </p:nvSpPr>
        <p:spPr>
          <a:xfrm flipV="1">
            <a:off x="5496275" y="576434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8" name="Connector 171"/>
          <p:cNvSpPr>
            <a:spLocks noGrp="1"/>
          </p:cNvSpPr>
          <p:nvPr/>
        </p:nvSpPr>
        <p:spPr>
          <a:xfrm flipV="1">
            <a:off x="5587349" y="571784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09" name="Connector 172"/>
          <p:cNvSpPr>
            <a:spLocks noGrp="1"/>
          </p:cNvSpPr>
          <p:nvPr/>
        </p:nvSpPr>
        <p:spPr>
          <a:xfrm flipV="1">
            <a:off x="5678424" y="566735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0" name="Connector 173"/>
          <p:cNvSpPr>
            <a:spLocks noGrp="1"/>
          </p:cNvSpPr>
          <p:nvPr/>
        </p:nvSpPr>
        <p:spPr>
          <a:xfrm flipV="1">
            <a:off x="5769498" y="561351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1" name="Connector 174"/>
          <p:cNvSpPr>
            <a:spLocks noGrp="1"/>
          </p:cNvSpPr>
          <p:nvPr/>
        </p:nvSpPr>
        <p:spPr>
          <a:xfrm flipV="1">
            <a:off x="5860572" y="555702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2" name="Connector 175"/>
          <p:cNvSpPr>
            <a:spLocks noGrp="1"/>
          </p:cNvSpPr>
          <p:nvPr/>
        </p:nvSpPr>
        <p:spPr>
          <a:xfrm flipV="1">
            <a:off x="5951646" y="549859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3" name="Connector 176"/>
          <p:cNvSpPr>
            <a:spLocks noGrp="1"/>
          </p:cNvSpPr>
          <p:nvPr/>
        </p:nvSpPr>
        <p:spPr>
          <a:xfrm flipV="1">
            <a:off x="6042720" y="543898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4" name="Connector 177"/>
          <p:cNvSpPr>
            <a:spLocks noGrp="1"/>
          </p:cNvSpPr>
          <p:nvPr/>
        </p:nvSpPr>
        <p:spPr>
          <a:xfrm flipV="1">
            <a:off x="6133795" y="537893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5" name="Connector 178"/>
          <p:cNvSpPr>
            <a:spLocks noGrp="1"/>
          </p:cNvSpPr>
          <p:nvPr/>
        </p:nvSpPr>
        <p:spPr>
          <a:xfrm flipV="1">
            <a:off x="6224869" y="531923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6" name="Connector 179"/>
          <p:cNvSpPr>
            <a:spLocks noGrp="1"/>
          </p:cNvSpPr>
          <p:nvPr/>
        </p:nvSpPr>
        <p:spPr>
          <a:xfrm flipV="1">
            <a:off x="6315943" y="526064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7" name="Connector 180"/>
          <p:cNvSpPr>
            <a:spLocks noGrp="1"/>
          </p:cNvSpPr>
          <p:nvPr/>
        </p:nvSpPr>
        <p:spPr>
          <a:xfrm flipV="1">
            <a:off x="6407017" y="520389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8" name="Connector 181"/>
          <p:cNvSpPr>
            <a:spLocks noGrp="1"/>
          </p:cNvSpPr>
          <p:nvPr/>
        </p:nvSpPr>
        <p:spPr>
          <a:xfrm flipV="1">
            <a:off x="6498092" y="514973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19" name="Connector 182"/>
          <p:cNvSpPr>
            <a:spLocks noGrp="1"/>
          </p:cNvSpPr>
          <p:nvPr/>
        </p:nvSpPr>
        <p:spPr>
          <a:xfrm flipV="1">
            <a:off x="6589166" y="509883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0" name="Connector 183"/>
          <p:cNvSpPr>
            <a:spLocks noGrp="1"/>
          </p:cNvSpPr>
          <p:nvPr/>
        </p:nvSpPr>
        <p:spPr>
          <a:xfrm flipV="1">
            <a:off x="6680240" y="505185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1" name="Connector 184"/>
          <p:cNvSpPr>
            <a:spLocks noGrp="1"/>
          </p:cNvSpPr>
          <p:nvPr/>
        </p:nvSpPr>
        <p:spPr>
          <a:xfrm flipV="1">
            <a:off x="6771314" y="500940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2" name="Connector 185"/>
          <p:cNvSpPr>
            <a:spLocks noGrp="1"/>
          </p:cNvSpPr>
          <p:nvPr/>
        </p:nvSpPr>
        <p:spPr>
          <a:xfrm flipV="1">
            <a:off x="6862389" y="497200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3" name="Connector 186"/>
          <p:cNvSpPr>
            <a:spLocks noGrp="1"/>
          </p:cNvSpPr>
          <p:nvPr/>
        </p:nvSpPr>
        <p:spPr>
          <a:xfrm flipV="1">
            <a:off x="6953463" y="494015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4" name="Connector 187"/>
          <p:cNvSpPr>
            <a:spLocks noGrp="1"/>
          </p:cNvSpPr>
          <p:nvPr/>
        </p:nvSpPr>
        <p:spPr>
          <a:xfrm flipV="1">
            <a:off x="7044537" y="491425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5" name="Connector 188"/>
          <p:cNvSpPr>
            <a:spLocks noGrp="1"/>
          </p:cNvSpPr>
          <p:nvPr/>
        </p:nvSpPr>
        <p:spPr>
          <a:xfrm flipV="1">
            <a:off x="7135611" y="489462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6" name="Connector 189"/>
          <p:cNvSpPr>
            <a:spLocks noGrp="1"/>
          </p:cNvSpPr>
          <p:nvPr/>
        </p:nvSpPr>
        <p:spPr>
          <a:xfrm flipV="1">
            <a:off x="7226686" y="488152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7" name="Connector 190"/>
          <p:cNvSpPr>
            <a:spLocks noGrp="1"/>
          </p:cNvSpPr>
          <p:nvPr/>
        </p:nvSpPr>
        <p:spPr>
          <a:xfrm flipV="1">
            <a:off x="7317760" y="487512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8" name="Connector 191"/>
          <p:cNvSpPr>
            <a:spLocks noGrp="1"/>
          </p:cNvSpPr>
          <p:nvPr/>
        </p:nvSpPr>
        <p:spPr>
          <a:xfrm>
            <a:off x="7408834" y="487512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9" name="Connector 192"/>
          <p:cNvSpPr>
            <a:spLocks noGrp="1"/>
          </p:cNvSpPr>
          <p:nvPr/>
        </p:nvSpPr>
        <p:spPr>
          <a:xfrm>
            <a:off x="7499908" y="487550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0" name="Connector 193"/>
          <p:cNvSpPr>
            <a:spLocks noGrp="1"/>
          </p:cNvSpPr>
          <p:nvPr/>
        </p:nvSpPr>
        <p:spPr>
          <a:xfrm>
            <a:off x="7590983" y="488265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1" name="Connector 194"/>
          <p:cNvSpPr>
            <a:spLocks noGrp="1"/>
          </p:cNvSpPr>
          <p:nvPr/>
        </p:nvSpPr>
        <p:spPr>
          <a:xfrm>
            <a:off x="7682057" y="489648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2" name="Connector 195"/>
          <p:cNvSpPr>
            <a:spLocks noGrp="1"/>
          </p:cNvSpPr>
          <p:nvPr/>
        </p:nvSpPr>
        <p:spPr>
          <a:xfrm>
            <a:off x="7773131" y="491682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3" name="Connector 196"/>
          <p:cNvSpPr>
            <a:spLocks noGrp="1"/>
          </p:cNvSpPr>
          <p:nvPr/>
        </p:nvSpPr>
        <p:spPr>
          <a:xfrm>
            <a:off x="7864205" y="494340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4" name="Connector 197"/>
          <p:cNvSpPr>
            <a:spLocks noGrp="1"/>
          </p:cNvSpPr>
          <p:nvPr/>
        </p:nvSpPr>
        <p:spPr>
          <a:xfrm>
            <a:off x="7955280" y="497589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5" name="Connector 198"/>
          <p:cNvSpPr>
            <a:spLocks noGrp="1"/>
          </p:cNvSpPr>
          <p:nvPr/>
        </p:nvSpPr>
        <p:spPr>
          <a:xfrm>
            <a:off x="8046354" y="501387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6" name="Connector 199"/>
          <p:cNvSpPr>
            <a:spLocks noGrp="1"/>
          </p:cNvSpPr>
          <p:nvPr/>
        </p:nvSpPr>
        <p:spPr>
          <a:xfrm>
            <a:off x="8137428" y="505686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7" name="Connector 200"/>
          <p:cNvSpPr>
            <a:spLocks noGrp="1"/>
          </p:cNvSpPr>
          <p:nvPr/>
        </p:nvSpPr>
        <p:spPr>
          <a:xfrm>
            <a:off x="8228502" y="510430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8" name="Connector 201"/>
          <p:cNvSpPr>
            <a:spLocks noGrp="1"/>
          </p:cNvSpPr>
          <p:nvPr/>
        </p:nvSpPr>
        <p:spPr>
          <a:xfrm>
            <a:off x="8319576" y="515560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9" name="Connector 202"/>
          <p:cNvSpPr>
            <a:spLocks noGrp="1"/>
          </p:cNvSpPr>
          <p:nvPr/>
        </p:nvSpPr>
        <p:spPr>
          <a:xfrm>
            <a:off x="8410651" y="521008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0" name="Connector 203"/>
          <p:cNvSpPr>
            <a:spLocks noGrp="1"/>
          </p:cNvSpPr>
          <p:nvPr/>
        </p:nvSpPr>
        <p:spPr>
          <a:xfrm>
            <a:off x="8501725" y="526707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1" name="Connector 204"/>
          <p:cNvSpPr>
            <a:spLocks noGrp="1"/>
          </p:cNvSpPr>
          <p:nvPr/>
        </p:nvSpPr>
        <p:spPr>
          <a:xfrm>
            <a:off x="8592799" y="532583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2" name="Connector 205"/>
          <p:cNvSpPr>
            <a:spLocks noGrp="1"/>
          </p:cNvSpPr>
          <p:nvPr/>
        </p:nvSpPr>
        <p:spPr>
          <a:xfrm>
            <a:off x="8683873" y="538560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3" name="Connector 206"/>
          <p:cNvSpPr>
            <a:spLocks noGrp="1"/>
          </p:cNvSpPr>
          <p:nvPr/>
        </p:nvSpPr>
        <p:spPr>
          <a:xfrm>
            <a:off x="8774948" y="544563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4" name="Connector 207"/>
          <p:cNvSpPr>
            <a:spLocks noGrp="1"/>
          </p:cNvSpPr>
          <p:nvPr/>
        </p:nvSpPr>
        <p:spPr>
          <a:xfrm>
            <a:off x="8866022" y="550516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5" name="Connector 208"/>
          <p:cNvSpPr>
            <a:spLocks noGrp="1"/>
          </p:cNvSpPr>
          <p:nvPr/>
        </p:nvSpPr>
        <p:spPr>
          <a:xfrm>
            <a:off x="8957096" y="556340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6" name="Connector 209"/>
          <p:cNvSpPr>
            <a:spLocks noGrp="1"/>
          </p:cNvSpPr>
          <p:nvPr/>
        </p:nvSpPr>
        <p:spPr>
          <a:xfrm>
            <a:off x="9048170" y="561964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7" name="Connector 210"/>
          <p:cNvSpPr>
            <a:spLocks noGrp="1"/>
          </p:cNvSpPr>
          <p:nvPr/>
        </p:nvSpPr>
        <p:spPr>
          <a:xfrm>
            <a:off x="9139245" y="567314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8" name="Connector 211"/>
          <p:cNvSpPr>
            <a:spLocks noGrp="1"/>
          </p:cNvSpPr>
          <p:nvPr/>
        </p:nvSpPr>
        <p:spPr>
          <a:xfrm>
            <a:off x="9230319" y="572322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9" name="Connector 212"/>
          <p:cNvSpPr>
            <a:spLocks noGrp="1"/>
          </p:cNvSpPr>
          <p:nvPr/>
        </p:nvSpPr>
        <p:spPr>
          <a:xfrm>
            <a:off x="9321393" y="576924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0" name="Connector 213"/>
          <p:cNvSpPr>
            <a:spLocks noGrp="1"/>
          </p:cNvSpPr>
          <p:nvPr/>
        </p:nvSpPr>
        <p:spPr>
          <a:xfrm>
            <a:off x="9412467" y="581061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1" name="Connector 214"/>
          <p:cNvSpPr>
            <a:spLocks noGrp="1"/>
          </p:cNvSpPr>
          <p:nvPr/>
        </p:nvSpPr>
        <p:spPr>
          <a:xfrm>
            <a:off x="9503542" y="584681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2" name="Connector 215"/>
          <p:cNvSpPr>
            <a:spLocks noGrp="1"/>
          </p:cNvSpPr>
          <p:nvPr/>
        </p:nvSpPr>
        <p:spPr>
          <a:xfrm>
            <a:off x="9594616" y="587738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3" name="Connector 216"/>
          <p:cNvSpPr>
            <a:spLocks noGrp="1"/>
          </p:cNvSpPr>
          <p:nvPr/>
        </p:nvSpPr>
        <p:spPr>
          <a:xfrm>
            <a:off x="9685690" y="590192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4" name="Connector 217"/>
          <p:cNvSpPr>
            <a:spLocks noGrp="1"/>
          </p:cNvSpPr>
          <p:nvPr/>
        </p:nvSpPr>
        <p:spPr>
          <a:xfrm>
            <a:off x="9776764" y="592011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5" name="Connector 218"/>
          <p:cNvSpPr>
            <a:spLocks noGrp="1"/>
          </p:cNvSpPr>
          <p:nvPr/>
        </p:nvSpPr>
        <p:spPr>
          <a:xfrm>
            <a:off x="9867839" y="593173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6" name="Connector 219"/>
          <p:cNvSpPr>
            <a:spLocks noGrp="1"/>
          </p:cNvSpPr>
          <p:nvPr/>
        </p:nvSpPr>
        <p:spPr>
          <a:xfrm flipV="1">
            <a:off x="9958913" y="593474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7" name="Connector 220"/>
          <p:cNvSpPr>
            <a:spLocks noGrp="1"/>
          </p:cNvSpPr>
          <p:nvPr/>
        </p:nvSpPr>
        <p:spPr>
          <a:xfrm flipV="1">
            <a:off x="10049987" y="592610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8" name="Connector 221"/>
          <p:cNvSpPr>
            <a:spLocks noGrp="1"/>
          </p:cNvSpPr>
          <p:nvPr/>
        </p:nvSpPr>
        <p:spPr>
          <a:xfrm flipV="1">
            <a:off x="10141061" y="591080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9" name="Oval 258"/>
          <p:cNvSpPr>
            <a:spLocks noGrp="1"/>
          </p:cNvSpPr>
          <p:nvPr/>
        </p:nvSpPr>
        <p:spPr>
          <a:xfrm>
            <a:off x="1063447" y="534436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0" name="Oval 259"/>
          <p:cNvSpPr>
            <a:spLocks noGrp="1"/>
          </p:cNvSpPr>
          <p:nvPr/>
        </p:nvSpPr>
        <p:spPr>
          <a:xfrm>
            <a:off x="1518818" y="50597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1" name="Oval 260"/>
          <p:cNvSpPr>
            <a:spLocks noGrp="1"/>
          </p:cNvSpPr>
          <p:nvPr/>
        </p:nvSpPr>
        <p:spPr>
          <a:xfrm>
            <a:off x="1974189" y="48637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2" name="Oval 261"/>
          <p:cNvSpPr>
            <a:spLocks noGrp="1"/>
          </p:cNvSpPr>
          <p:nvPr/>
        </p:nvSpPr>
        <p:spPr>
          <a:xfrm>
            <a:off x="2429560" y="481737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3" name="Oval 262"/>
          <p:cNvSpPr>
            <a:spLocks noGrp="1"/>
          </p:cNvSpPr>
          <p:nvPr/>
        </p:nvSpPr>
        <p:spPr>
          <a:xfrm>
            <a:off x="2884932" y="49350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4" name="Oval 263"/>
          <p:cNvSpPr>
            <a:spLocks noGrp="1"/>
          </p:cNvSpPr>
          <p:nvPr/>
        </p:nvSpPr>
        <p:spPr>
          <a:xfrm>
            <a:off x="3340303" y="51802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5" name="Oval 264"/>
          <p:cNvSpPr>
            <a:spLocks noGrp="1"/>
          </p:cNvSpPr>
          <p:nvPr/>
        </p:nvSpPr>
        <p:spPr>
          <a:xfrm>
            <a:off x="3795674" y="547646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6" name="Oval 265"/>
          <p:cNvSpPr>
            <a:spLocks noGrp="1"/>
          </p:cNvSpPr>
          <p:nvPr/>
        </p:nvSpPr>
        <p:spPr>
          <a:xfrm>
            <a:off x="4251045" y="573157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7" name="Oval 266"/>
          <p:cNvSpPr>
            <a:spLocks noGrp="1"/>
          </p:cNvSpPr>
          <p:nvPr/>
        </p:nvSpPr>
        <p:spPr>
          <a:xfrm>
            <a:off x="4706416" y="586612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8" name="Oval 267"/>
          <p:cNvSpPr>
            <a:spLocks noGrp="1"/>
          </p:cNvSpPr>
          <p:nvPr/>
        </p:nvSpPr>
        <p:spPr>
          <a:xfrm>
            <a:off x="5161788" y="58382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69" name="Oval 268"/>
          <p:cNvSpPr>
            <a:spLocks noGrp="1"/>
          </p:cNvSpPr>
          <p:nvPr/>
        </p:nvSpPr>
        <p:spPr>
          <a:xfrm>
            <a:off x="5617159" y="565658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0" name="Oval 269"/>
          <p:cNvSpPr>
            <a:spLocks noGrp="1"/>
          </p:cNvSpPr>
          <p:nvPr/>
        </p:nvSpPr>
        <p:spPr>
          <a:xfrm>
            <a:off x="6072530" y="537771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1" name="Oval 270"/>
          <p:cNvSpPr>
            <a:spLocks noGrp="1"/>
          </p:cNvSpPr>
          <p:nvPr/>
        </p:nvSpPr>
        <p:spPr>
          <a:xfrm>
            <a:off x="6527901" y="508846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2" name="Oval 271"/>
          <p:cNvSpPr>
            <a:spLocks noGrp="1"/>
          </p:cNvSpPr>
          <p:nvPr/>
        </p:nvSpPr>
        <p:spPr>
          <a:xfrm>
            <a:off x="6983272" y="487889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3" name="Oval 272"/>
          <p:cNvSpPr>
            <a:spLocks noGrp="1"/>
          </p:cNvSpPr>
          <p:nvPr/>
        </p:nvSpPr>
        <p:spPr>
          <a:xfrm>
            <a:off x="7438644" y="48142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4" name="Oval 273"/>
          <p:cNvSpPr>
            <a:spLocks noGrp="1"/>
          </p:cNvSpPr>
          <p:nvPr/>
        </p:nvSpPr>
        <p:spPr>
          <a:xfrm>
            <a:off x="7894015" y="49146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5" name="Oval 274"/>
          <p:cNvSpPr>
            <a:spLocks noGrp="1"/>
          </p:cNvSpPr>
          <p:nvPr/>
        </p:nvSpPr>
        <p:spPr>
          <a:xfrm>
            <a:off x="8349386" y="514882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6" name="Oval 275"/>
          <p:cNvSpPr>
            <a:spLocks noGrp="1"/>
          </p:cNvSpPr>
          <p:nvPr/>
        </p:nvSpPr>
        <p:spPr>
          <a:xfrm>
            <a:off x="8804757" y="54438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7" name="Oval 276"/>
          <p:cNvSpPr>
            <a:spLocks noGrp="1"/>
          </p:cNvSpPr>
          <p:nvPr/>
        </p:nvSpPr>
        <p:spPr>
          <a:xfrm>
            <a:off x="9260128" y="570797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8" name="Oval 277"/>
          <p:cNvSpPr>
            <a:spLocks noGrp="1"/>
          </p:cNvSpPr>
          <p:nvPr/>
        </p:nvSpPr>
        <p:spPr>
          <a:xfrm>
            <a:off x="9715500" y="585885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9" name="TextBox 242"/>
          <p:cNvSpPr>
            <a:spLocks noGrp="1"/>
          </p:cNvSpPr>
          <p:nvPr/>
        </p:nvSpPr>
        <p:spPr>
          <a:xfrm>
            <a:off x="777240" y="6317488"/>
            <a:ext cx="10789920" cy="335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每秒记录的次数变多；数据量也会随之增加。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0" name="TextBox 6"/>
          <p:cNvSpPr>
            <a:spLocks noGrp="1"/>
          </p:cNvSpPr>
          <p:nvPr/>
        </p:nvSpPr>
        <p:spPr>
          <a:xfrm>
            <a:off x="609600" y="2741295"/>
            <a:ext cx="47625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振幅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1" name="TextBox 119"/>
          <p:cNvSpPr>
            <a:spLocks noGrp="1"/>
          </p:cNvSpPr>
          <p:nvPr/>
        </p:nvSpPr>
        <p:spPr>
          <a:xfrm>
            <a:off x="609600" y="4827270"/>
            <a:ext cx="476250" cy="3048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振幅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2" name="TextBox 7"/>
          <p:cNvSpPr>
            <a:spLocks noGrp="1"/>
          </p:cNvSpPr>
          <p:nvPr/>
        </p:nvSpPr>
        <p:spPr>
          <a:xfrm>
            <a:off x="9838944" y="3435096"/>
            <a:ext cx="822960" cy="243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3" name="TextBox 120"/>
          <p:cNvSpPr>
            <a:spLocks noGrp="1"/>
          </p:cNvSpPr>
          <p:nvPr/>
        </p:nvSpPr>
        <p:spPr>
          <a:xfrm>
            <a:off x="9838944" y="5538216"/>
            <a:ext cx="822960" cy="243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时间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把振幅划分成0～7，共几个等级？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把振幅划分成0～7，共几个等级？</a:t>
            </a:r>
          </a:p>
        </p:txBody>
      </p:sp>
      <p:sp>
        <p:nvSpPr>
          <p:cNvPr id="22" name="Connector 4"/>
          <p:cNvSpPr>
            <a:spLocks noGrp="1"/>
          </p:cNvSpPr>
          <p:nvPr/>
        </p:nvSpPr>
        <p:spPr>
          <a:xfrm>
            <a:off x="1600200" y="5394960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" name="TextBox 5"/>
          <p:cNvSpPr>
            <a:spLocks noGrp="1"/>
          </p:cNvSpPr>
          <p:nvPr/>
        </p:nvSpPr>
        <p:spPr>
          <a:xfrm>
            <a:off x="813816" y="5230368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4" name="Connector 6"/>
          <p:cNvSpPr>
            <a:spLocks noGrp="1"/>
          </p:cNvSpPr>
          <p:nvPr/>
        </p:nvSpPr>
        <p:spPr>
          <a:xfrm>
            <a:off x="1600200" y="4910328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5" name="TextBox 7"/>
          <p:cNvSpPr>
            <a:spLocks noGrp="1"/>
          </p:cNvSpPr>
          <p:nvPr/>
        </p:nvSpPr>
        <p:spPr>
          <a:xfrm>
            <a:off x="813816" y="4745736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Connector 8"/>
          <p:cNvSpPr>
            <a:spLocks noGrp="1"/>
          </p:cNvSpPr>
          <p:nvPr/>
        </p:nvSpPr>
        <p:spPr>
          <a:xfrm>
            <a:off x="1600200" y="4425696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TextBox 9"/>
          <p:cNvSpPr>
            <a:spLocks noGrp="1"/>
          </p:cNvSpPr>
          <p:nvPr/>
        </p:nvSpPr>
        <p:spPr>
          <a:xfrm>
            <a:off x="813816" y="4261104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8" name="Connector 10"/>
          <p:cNvSpPr>
            <a:spLocks noGrp="1"/>
          </p:cNvSpPr>
          <p:nvPr/>
        </p:nvSpPr>
        <p:spPr>
          <a:xfrm>
            <a:off x="1600200" y="3941064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TextBox 11"/>
          <p:cNvSpPr>
            <a:spLocks noGrp="1"/>
          </p:cNvSpPr>
          <p:nvPr/>
        </p:nvSpPr>
        <p:spPr>
          <a:xfrm>
            <a:off x="813816" y="3776472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Connector 12"/>
          <p:cNvSpPr>
            <a:spLocks noGrp="1"/>
          </p:cNvSpPr>
          <p:nvPr/>
        </p:nvSpPr>
        <p:spPr>
          <a:xfrm>
            <a:off x="1600200" y="3456432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1" name="TextBox 13"/>
          <p:cNvSpPr>
            <a:spLocks noGrp="1"/>
          </p:cNvSpPr>
          <p:nvPr/>
        </p:nvSpPr>
        <p:spPr>
          <a:xfrm>
            <a:off x="813816" y="3291840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2" name="Connector 14"/>
          <p:cNvSpPr>
            <a:spLocks noGrp="1"/>
          </p:cNvSpPr>
          <p:nvPr/>
        </p:nvSpPr>
        <p:spPr>
          <a:xfrm>
            <a:off x="1600200" y="2971800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TextBox 15"/>
          <p:cNvSpPr>
            <a:spLocks noGrp="1"/>
          </p:cNvSpPr>
          <p:nvPr/>
        </p:nvSpPr>
        <p:spPr>
          <a:xfrm>
            <a:off x="813816" y="2807208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Connector 16"/>
          <p:cNvSpPr>
            <a:spLocks noGrp="1"/>
          </p:cNvSpPr>
          <p:nvPr/>
        </p:nvSpPr>
        <p:spPr>
          <a:xfrm>
            <a:off x="1600200" y="2487168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" name="TextBox 17"/>
          <p:cNvSpPr>
            <a:spLocks noGrp="1"/>
          </p:cNvSpPr>
          <p:nvPr/>
        </p:nvSpPr>
        <p:spPr>
          <a:xfrm>
            <a:off x="813816" y="2322576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Connector 18"/>
          <p:cNvSpPr>
            <a:spLocks noGrp="1"/>
          </p:cNvSpPr>
          <p:nvPr/>
        </p:nvSpPr>
        <p:spPr>
          <a:xfrm>
            <a:off x="1600200" y="2002536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TextBox 19"/>
          <p:cNvSpPr>
            <a:spLocks noGrp="1"/>
          </p:cNvSpPr>
          <p:nvPr/>
        </p:nvSpPr>
        <p:spPr>
          <a:xfrm>
            <a:off x="813816" y="1837944"/>
            <a:ext cx="59436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</a:t>
            </a:r>
            <a:endParaRPr sz="19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8" name="TextBox 20"/>
          <p:cNvSpPr>
            <a:spLocks noGrp="1"/>
          </p:cNvSpPr>
          <p:nvPr/>
        </p:nvSpPr>
        <p:spPr>
          <a:xfrm>
            <a:off x="777240" y="5879592"/>
            <a:ext cx="10789920" cy="335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0也是一个等级，所以一共有8个等级。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784080" y="2523744"/>
            <a:ext cx="1591056" cy="2103120"/>
          </a:xfrm>
          <a:prstGeom prst="rect">
            <a:avLst/>
          </a:prstGeom>
          <a:solidFill>
            <a:srgbClr val="F6F3FF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22"/>
          <p:cNvSpPr txBox="1"/>
          <p:nvPr/>
        </p:nvSpPr>
        <p:spPr>
          <a:xfrm>
            <a:off x="9939528" y="2807208"/>
            <a:ext cx="1261872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</a:defRPr>
            </a:pPr>
            <a:r>
              <a:t>L0–L7</a:t>
            </a:r>
          </a:p>
        </p:txBody>
      </p:sp>
      <p:sp>
        <p:nvSpPr>
          <p:cNvPr id="41" name="TextBox 23"/>
          <p:cNvSpPr txBox="1"/>
          <p:nvPr/>
        </p:nvSpPr>
        <p:spPr>
          <a:xfrm>
            <a:off x="9939528" y="3611880"/>
            <a:ext cx="126187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</a:defRPr>
            </a:pPr>
            <a:r>
              <a:t>共 8 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3.71 应记为等级3，还是等级4？</a:t>
            </a:r>
          </a:p>
        </p:txBody>
      </p:sp>
      <p:sp>
        <p:nvSpPr>
          <p:cNvPr id="5" name="codex-q17-image-caption"/>
          <p:cNvSpPr>
            <a:spLocks noGrp="1"/>
          </p:cNvSpPr>
          <p:nvPr/>
        </p:nvSpPr>
        <p:spPr>
          <a:xfrm>
            <a:off x="609600" y="171450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范围 [0,8) 分成8段。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区间 [n,n+1) 的编号为n（n=0～7）。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3.71 应记为等级3，还是等级4？</a:t>
            </a:r>
          </a:p>
        </p:txBody>
      </p:sp>
      <p:sp>
        <p:nvSpPr>
          <p:cNvPr id="5" name="codex-p17-image-caption"/>
          <p:cNvSpPr>
            <a:spLocks noGrp="1"/>
          </p:cNvSpPr>
          <p:nvPr/>
        </p:nvSpPr>
        <p:spPr>
          <a:xfrm>
            <a:off x="609600" y="1714500"/>
            <a:ext cx="109728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范围 [0,8) 分成8段。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区间 [n,n+1) 的编号为n（n=0～7）。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p17-evidence-boundary"/>
          <p:cNvSpPr>
            <a:spLocks noGrp="1"/>
          </p:cNvSpPr>
          <p:nvPr/>
        </p:nvSpPr>
        <p:spPr>
          <a:xfrm>
            <a:off x="10668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7" name="codex-p17-image-caption"/>
          <p:cNvSpPr>
            <a:spLocks noGrp="1"/>
          </p:cNvSpPr>
          <p:nvPr/>
        </p:nvSpPr>
        <p:spPr>
          <a:xfrm>
            <a:off x="14763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17-image-caption"/>
          <p:cNvSpPr>
            <a:spLocks noGrp="1"/>
          </p:cNvSpPr>
          <p:nvPr/>
        </p:nvSpPr>
        <p:spPr>
          <a:xfrm>
            <a:off x="9239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17-evidence-boundary"/>
          <p:cNvSpPr>
            <a:spLocks noGrp="1"/>
          </p:cNvSpPr>
          <p:nvPr/>
        </p:nvSpPr>
        <p:spPr>
          <a:xfrm>
            <a:off x="23241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0" name="codex-p17-image-caption"/>
          <p:cNvSpPr>
            <a:spLocks noGrp="1"/>
          </p:cNvSpPr>
          <p:nvPr/>
        </p:nvSpPr>
        <p:spPr>
          <a:xfrm>
            <a:off x="27336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codex-p17-image-caption"/>
          <p:cNvSpPr>
            <a:spLocks noGrp="1"/>
          </p:cNvSpPr>
          <p:nvPr/>
        </p:nvSpPr>
        <p:spPr>
          <a:xfrm>
            <a:off x="21812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codex-p17-evidence-boundary"/>
          <p:cNvSpPr>
            <a:spLocks noGrp="1"/>
          </p:cNvSpPr>
          <p:nvPr/>
        </p:nvSpPr>
        <p:spPr>
          <a:xfrm>
            <a:off x="35814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3" name="codex-p17-image-caption"/>
          <p:cNvSpPr>
            <a:spLocks noGrp="1"/>
          </p:cNvSpPr>
          <p:nvPr/>
        </p:nvSpPr>
        <p:spPr>
          <a:xfrm>
            <a:off x="39909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codex-p17-image-caption"/>
          <p:cNvSpPr>
            <a:spLocks noGrp="1"/>
          </p:cNvSpPr>
          <p:nvPr/>
        </p:nvSpPr>
        <p:spPr>
          <a:xfrm>
            <a:off x="34385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5" name="codex-p17-evidence-boundary"/>
          <p:cNvSpPr>
            <a:spLocks noGrp="1"/>
          </p:cNvSpPr>
          <p:nvPr/>
        </p:nvSpPr>
        <p:spPr>
          <a:xfrm>
            <a:off x="4838700" y="3648075"/>
            <a:ext cx="1257300" cy="904875"/>
          </a:xfrm>
          <a:prstGeom prst="rect">
            <a:avLst/>
          </a:prstGeom>
          <a:noFill/>
          <a:ln w="28575">
            <a:solidFill>
              <a:srgbClr val="8C64E1"/>
            </a:solidFill>
          </a:ln>
        </p:spPr>
      </p:sp>
      <p:sp>
        <p:nvSpPr>
          <p:cNvPr id="16" name="codex-p17-image-caption"/>
          <p:cNvSpPr>
            <a:spLocks noGrp="1"/>
          </p:cNvSpPr>
          <p:nvPr/>
        </p:nvSpPr>
        <p:spPr>
          <a:xfrm>
            <a:off x="52482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7" name="codex-p17-image-caption"/>
          <p:cNvSpPr>
            <a:spLocks noGrp="1"/>
          </p:cNvSpPr>
          <p:nvPr/>
        </p:nvSpPr>
        <p:spPr>
          <a:xfrm>
            <a:off x="46958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codex-p17-evidence-boundary"/>
          <p:cNvSpPr>
            <a:spLocks noGrp="1"/>
          </p:cNvSpPr>
          <p:nvPr/>
        </p:nvSpPr>
        <p:spPr>
          <a:xfrm>
            <a:off x="60960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9" name="codex-p17-image-caption"/>
          <p:cNvSpPr>
            <a:spLocks noGrp="1"/>
          </p:cNvSpPr>
          <p:nvPr/>
        </p:nvSpPr>
        <p:spPr>
          <a:xfrm>
            <a:off x="65055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codex-p17-image-caption"/>
          <p:cNvSpPr>
            <a:spLocks noGrp="1"/>
          </p:cNvSpPr>
          <p:nvPr/>
        </p:nvSpPr>
        <p:spPr>
          <a:xfrm>
            <a:off x="59531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codex-p17-evidence-boundary"/>
          <p:cNvSpPr>
            <a:spLocks noGrp="1"/>
          </p:cNvSpPr>
          <p:nvPr/>
        </p:nvSpPr>
        <p:spPr>
          <a:xfrm>
            <a:off x="73533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2" name="codex-p17-image-caption"/>
          <p:cNvSpPr>
            <a:spLocks noGrp="1"/>
          </p:cNvSpPr>
          <p:nvPr/>
        </p:nvSpPr>
        <p:spPr>
          <a:xfrm>
            <a:off x="77628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3" name="codex-p17-image-caption"/>
          <p:cNvSpPr>
            <a:spLocks noGrp="1"/>
          </p:cNvSpPr>
          <p:nvPr/>
        </p:nvSpPr>
        <p:spPr>
          <a:xfrm>
            <a:off x="72104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5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codex-p17-evidence-boundary"/>
          <p:cNvSpPr>
            <a:spLocks noGrp="1"/>
          </p:cNvSpPr>
          <p:nvPr/>
        </p:nvSpPr>
        <p:spPr>
          <a:xfrm>
            <a:off x="86106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5" name="codex-p17-image-caption"/>
          <p:cNvSpPr>
            <a:spLocks noGrp="1"/>
          </p:cNvSpPr>
          <p:nvPr/>
        </p:nvSpPr>
        <p:spPr>
          <a:xfrm>
            <a:off x="90201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codex-p17-image-caption"/>
          <p:cNvSpPr>
            <a:spLocks noGrp="1"/>
          </p:cNvSpPr>
          <p:nvPr/>
        </p:nvSpPr>
        <p:spPr>
          <a:xfrm>
            <a:off x="84677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6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" name="codex-p17-evidence-boundary"/>
          <p:cNvSpPr>
            <a:spLocks noGrp="1"/>
          </p:cNvSpPr>
          <p:nvPr/>
        </p:nvSpPr>
        <p:spPr>
          <a:xfrm>
            <a:off x="9867900" y="3648075"/>
            <a:ext cx="1257300" cy="904875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8" name="codex-p17-image-caption"/>
          <p:cNvSpPr>
            <a:spLocks noGrp="1"/>
          </p:cNvSpPr>
          <p:nvPr/>
        </p:nvSpPr>
        <p:spPr>
          <a:xfrm>
            <a:off x="10277475" y="3886200"/>
            <a:ext cx="571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9" name="codex-p17-image-caption"/>
          <p:cNvSpPr>
            <a:spLocks noGrp="1"/>
          </p:cNvSpPr>
          <p:nvPr/>
        </p:nvSpPr>
        <p:spPr>
          <a:xfrm>
            <a:off x="97250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7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0" name="codex-p17-image-caption"/>
          <p:cNvSpPr>
            <a:spLocks noGrp="1"/>
          </p:cNvSpPr>
          <p:nvPr/>
        </p:nvSpPr>
        <p:spPr>
          <a:xfrm>
            <a:off x="10982325" y="461962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1" name="codex-p17-input-3.71"/>
          <p:cNvSpPr>
            <a:spLocks noGrp="1"/>
          </p:cNvSpPr>
          <p:nvPr/>
        </p:nvSpPr>
        <p:spPr>
          <a:xfrm>
            <a:off x="5683758" y="3248025"/>
            <a:ext cx="95250" cy="95250"/>
          </a:xfrm>
          <a:prstGeom prst="ellipse">
            <a:avLst/>
          </a:prstGeom>
          <a:solidFill>
            <a:srgbClr val="FF0000"/>
          </a:solidFill>
          <a:ln w="0">
            <a:noFill/>
          </a:ln>
        </p:spPr>
      </p:sp>
      <p:sp>
        <p:nvSpPr>
          <p:cNvPr id="32" name="codex-p17-relationship"/>
          <p:cNvSpPr>
            <a:spLocks noGrp="1"/>
          </p:cNvSpPr>
          <p:nvPr/>
        </p:nvSpPr>
        <p:spPr>
          <a:xfrm>
            <a:off x="5731383" y="3343275"/>
            <a:ext cx="9525" cy="266700"/>
          </a:xfrm>
          <a:custGeom>
            <a:avLst/>
            <a:gdLst/>
            <a:ahLst/>
            <a:cxnLst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FF0000"/>
            </a:solidFill>
          </a:ln>
        </p:spPr>
      </p:sp>
      <p:sp>
        <p:nvSpPr>
          <p:cNvPr id="33" name="codex-p17-image-caption"/>
          <p:cNvSpPr>
            <a:spLocks noGrp="1"/>
          </p:cNvSpPr>
          <p:nvPr/>
        </p:nvSpPr>
        <p:spPr>
          <a:xfrm>
            <a:off x="5331333" y="2743200"/>
            <a:ext cx="1333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3.71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codex-p17-image-caption"/>
          <p:cNvSpPr>
            <a:spLocks noGrp="1"/>
          </p:cNvSpPr>
          <p:nvPr/>
        </p:nvSpPr>
        <p:spPr>
          <a:xfrm>
            <a:off x="609600" y="5730621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3.71落在 [3,4)，所以等级编号是3。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op-rail"/>
          <p:cNvSpPr>
            <a:spLocks noGrp="1"/>
          </p:cNvSpPr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bottom-rail"/>
          <p:cNvSpPr>
            <a:spLocks noGrp="1"/>
          </p:cNvSpPr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question-title"/>
          <p:cNvSpPr>
            <a:spLocks noGrp="1"/>
          </p:cNvSpPr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量化：用有限代表值近似样本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609600" y="15811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范围 [0,8)；按 [n,n+1) 分档。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quant-bin-0"/>
          <p:cNvSpPr>
            <a:spLocks noGrp="1"/>
          </p:cNvSpPr>
          <p:nvPr/>
        </p:nvSpPr>
        <p:spPr>
          <a:xfrm>
            <a:off x="1524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7" name="quant-grade-0"/>
          <p:cNvSpPr>
            <a:spLocks noGrp="1"/>
          </p:cNvSpPr>
          <p:nvPr/>
        </p:nvSpPr>
        <p:spPr>
          <a:xfrm>
            <a:off x="1524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L0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quant-bin-1"/>
          <p:cNvSpPr>
            <a:spLocks noGrp="1"/>
          </p:cNvSpPr>
          <p:nvPr/>
        </p:nvSpPr>
        <p:spPr>
          <a:xfrm>
            <a:off x="2667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9" name="quant-grade-1"/>
          <p:cNvSpPr>
            <a:spLocks noGrp="1"/>
          </p:cNvSpPr>
          <p:nvPr/>
        </p:nvSpPr>
        <p:spPr>
          <a:xfrm>
            <a:off x="2667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L1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quant-bin-2"/>
          <p:cNvSpPr>
            <a:spLocks noGrp="1"/>
          </p:cNvSpPr>
          <p:nvPr/>
        </p:nvSpPr>
        <p:spPr>
          <a:xfrm>
            <a:off x="3810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1" name="quant-grade-2"/>
          <p:cNvSpPr>
            <a:spLocks noGrp="1"/>
          </p:cNvSpPr>
          <p:nvPr/>
        </p:nvSpPr>
        <p:spPr>
          <a:xfrm>
            <a:off x="3810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L2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quant-bin-3"/>
          <p:cNvSpPr>
            <a:spLocks noGrp="1"/>
          </p:cNvSpPr>
          <p:nvPr/>
        </p:nvSpPr>
        <p:spPr>
          <a:xfrm>
            <a:off x="4953000" y="2714625"/>
            <a:ext cx="1143000" cy="9715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3" name="quant-grade-3"/>
          <p:cNvSpPr>
            <a:spLocks noGrp="1"/>
          </p:cNvSpPr>
          <p:nvPr/>
        </p:nvSpPr>
        <p:spPr>
          <a:xfrm>
            <a:off x="4953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buNone/>
              <a:defRPr sz="2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L3</a:t>
            </a:r>
            <a:endParaRPr sz="21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4" name="quant-bin-4"/>
          <p:cNvSpPr>
            <a:spLocks noGrp="1"/>
          </p:cNvSpPr>
          <p:nvPr/>
        </p:nvSpPr>
        <p:spPr>
          <a:xfrm>
            <a:off x="6096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5" name="quant-grade-4"/>
          <p:cNvSpPr>
            <a:spLocks noGrp="1"/>
          </p:cNvSpPr>
          <p:nvPr/>
        </p:nvSpPr>
        <p:spPr>
          <a:xfrm>
            <a:off x="6096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L4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6" name="quant-bin-5"/>
          <p:cNvSpPr>
            <a:spLocks noGrp="1"/>
          </p:cNvSpPr>
          <p:nvPr/>
        </p:nvSpPr>
        <p:spPr>
          <a:xfrm>
            <a:off x="7239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7" name="quant-grade-5"/>
          <p:cNvSpPr>
            <a:spLocks noGrp="1"/>
          </p:cNvSpPr>
          <p:nvPr/>
        </p:nvSpPr>
        <p:spPr>
          <a:xfrm>
            <a:off x="7239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L5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quant-bin-6"/>
          <p:cNvSpPr>
            <a:spLocks noGrp="1"/>
          </p:cNvSpPr>
          <p:nvPr/>
        </p:nvSpPr>
        <p:spPr>
          <a:xfrm>
            <a:off x="8382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19" name="quant-grade-6"/>
          <p:cNvSpPr>
            <a:spLocks noGrp="1"/>
          </p:cNvSpPr>
          <p:nvPr/>
        </p:nvSpPr>
        <p:spPr>
          <a:xfrm>
            <a:off x="8382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L6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0" name="quant-bin-7"/>
          <p:cNvSpPr>
            <a:spLocks noGrp="1"/>
          </p:cNvSpPr>
          <p:nvPr/>
        </p:nvSpPr>
        <p:spPr>
          <a:xfrm>
            <a:off x="9525000" y="2714625"/>
            <a:ext cx="1143000" cy="971550"/>
          </a:xfrm>
          <a:prstGeom prst="rect">
            <a:avLst/>
          </a:prstGeom>
          <a:noFill/>
          <a:ln w="9525">
            <a:solidFill>
              <a:srgbClr val="D7D7DE"/>
            </a:solidFill>
          </a:ln>
        </p:spPr>
      </p:sp>
      <p:sp>
        <p:nvSpPr>
          <p:cNvPr id="21" name="quant-grade-7"/>
          <p:cNvSpPr>
            <a:spLocks noGrp="1"/>
          </p:cNvSpPr>
          <p:nvPr/>
        </p:nvSpPr>
        <p:spPr>
          <a:xfrm>
            <a:off x="9525000" y="3876675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1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L7</a:t>
            </a:r>
            <a:endParaRPr sz="21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quant-boundary-0"/>
          <p:cNvSpPr>
            <a:spLocks noGrp="1"/>
          </p:cNvSpPr>
          <p:nvPr/>
        </p:nvSpPr>
        <p:spPr>
          <a:xfrm>
            <a:off x="1238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3" name="quant-boundary-1"/>
          <p:cNvSpPr>
            <a:spLocks noGrp="1"/>
          </p:cNvSpPr>
          <p:nvPr/>
        </p:nvSpPr>
        <p:spPr>
          <a:xfrm>
            <a:off x="2381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quant-boundary-2"/>
          <p:cNvSpPr>
            <a:spLocks noGrp="1"/>
          </p:cNvSpPr>
          <p:nvPr/>
        </p:nvSpPr>
        <p:spPr>
          <a:xfrm>
            <a:off x="3524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5" name="quant-boundary-3"/>
          <p:cNvSpPr>
            <a:spLocks noGrp="1"/>
          </p:cNvSpPr>
          <p:nvPr/>
        </p:nvSpPr>
        <p:spPr>
          <a:xfrm>
            <a:off x="4667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quant-boundary-4"/>
          <p:cNvSpPr>
            <a:spLocks noGrp="1"/>
          </p:cNvSpPr>
          <p:nvPr/>
        </p:nvSpPr>
        <p:spPr>
          <a:xfrm>
            <a:off x="5810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7" name="quant-boundary-5"/>
          <p:cNvSpPr>
            <a:spLocks noGrp="1"/>
          </p:cNvSpPr>
          <p:nvPr/>
        </p:nvSpPr>
        <p:spPr>
          <a:xfrm>
            <a:off x="6953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5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8" name="quant-boundary-6"/>
          <p:cNvSpPr>
            <a:spLocks noGrp="1"/>
          </p:cNvSpPr>
          <p:nvPr/>
        </p:nvSpPr>
        <p:spPr>
          <a:xfrm>
            <a:off x="8096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6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9" name="quant-boundary-7"/>
          <p:cNvSpPr>
            <a:spLocks noGrp="1"/>
          </p:cNvSpPr>
          <p:nvPr/>
        </p:nvSpPr>
        <p:spPr>
          <a:xfrm>
            <a:off x="9239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7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0" name="quant-boundary-8"/>
          <p:cNvSpPr>
            <a:spLocks noGrp="1"/>
          </p:cNvSpPr>
          <p:nvPr/>
        </p:nvSpPr>
        <p:spPr>
          <a:xfrm>
            <a:off x="10382250" y="2333625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1" name="raw-3.71"/>
          <p:cNvSpPr>
            <a:spLocks noGrp="1"/>
          </p:cNvSpPr>
          <p:nvPr/>
        </p:nvSpPr>
        <p:spPr>
          <a:xfrm>
            <a:off x="5693093" y="2986088"/>
            <a:ext cx="142875" cy="14287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</p:spPr>
      </p:sp>
      <p:sp>
        <p:nvSpPr>
          <p:cNvPr id="32" name="raw-label-guide"/>
          <p:cNvSpPr>
            <a:spLocks noGrp="1"/>
          </p:cNvSpPr>
          <p:nvPr/>
        </p:nvSpPr>
        <p:spPr>
          <a:xfrm>
            <a:off x="5764530" y="2190750"/>
            <a:ext cx="9525" cy="838200"/>
          </a:xfrm>
          <a:custGeom>
            <a:avLst/>
            <a:gdLst/>
            <a:ahLst/>
            <a:cxnLst/>
            <a:pathLst>
              <a:path w="9525" h="838200">
                <a:moveTo>
                  <a:pt x="0" y="8382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FF0000"/>
            </a:solidFill>
          </a:ln>
        </p:spPr>
      </p:sp>
      <p:sp>
        <p:nvSpPr>
          <p:cNvPr id="33" name="raw-value-label"/>
          <p:cNvSpPr>
            <a:spLocks noGrp="1"/>
          </p:cNvSpPr>
          <p:nvPr/>
        </p:nvSpPr>
        <p:spPr>
          <a:xfrm>
            <a:off x="5907405" y="1990725"/>
            <a:ext cx="2286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原值 3.71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4" name="representative-3.5"/>
          <p:cNvSpPr>
            <a:spLocks noGrp="1"/>
          </p:cNvSpPr>
          <p:nvPr/>
        </p:nvSpPr>
        <p:spPr>
          <a:xfrm>
            <a:off x="5453063" y="3405188"/>
            <a:ext cx="142875" cy="142875"/>
          </a:xfrm>
          <a:prstGeom prst="ellipse">
            <a:avLst/>
          </a:prstGeom>
          <a:solidFill>
            <a:srgbClr val="00B0F0"/>
          </a:solidFill>
          <a:ln w="0">
            <a:solidFill>
              <a:srgbClr val="00B0F0"/>
            </a:solidFill>
          </a:ln>
        </p:spPr>
      </p:sp>
      <p:sp>
        <p:nvSpPr>
          <p:cNvPr id="35" name="representative-guide"/>
          <p:cNvSpPr>
            <a:spLocks noGrp="1"/>
          </p:cNvSpPr>
          <p:nvPr/>
        </p:nvSpPr>
        <p:spPr>
          <a:xfrm>
            <a:off x="5524500" y="3524250"/>
            <a:ext cx="9525" cy="171450"/>
          </a:xfrm>
          <a:custGeom>
            <a:avLst/>
            <a:gdLst/>
            <a:ahLst/>
            <a:cxnLst/>
            <a:pathLst>
              <a:path w="9525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/>
          <a:ln w="12383">
            <a:solidFill>
              <a:srgbClr val="007C9B"/>
            </a:solidFill>
          </a:ln>
        </p:spPr>
      </p:sp>
      <p:sp>
        <p:nvSpPr>
          <p:cNvPr id="36" name="quant-mapping"/>
          <p:cNvSpPr>
            <a:spLocks noGrp="1"/>
          </p:cNvSpPr>
          <p:nvPr/>
        </p:nvSpPr>
        <p:spPr>
          <a:xfrm>
            <a:off x="3048000" y="4724400"/>
            <a:ext cx="7239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buNone/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等级编号 L3；对应代表值 3.5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7" name="text"/>
          <p:cNvSpPr>
            <a:spLocks noGrp="1"/>
          </p:cNvSpPr>
          <p:nvPr/>
        </p:nvSpPr>
        <p:spPr>
          <a:xfrm>
            <a:off x="609600" y="58102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编号表示哪一档；代表值用于近似原幅度。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8" name="representative-label"/>
          <p:cNvSpPr>
            <a:spLocks noGrp="1"/>
          </p:cNvSpPr>
          <p:nvPr/>
        </p:nvSpPr>
        <p:spPr>
          <a:xfrm>
            <a:off x="6219825" y="3295650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defRPr sz="22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代表值 3.5</a:t>
            </a:r>
            <a:endParaRPr sz="2200" b="0">
              <a:solidFill>
                <a:srgbClr val="007C9B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9" name="representative-label-leader"/>
          <p:cNvSpPr>
            <a:spLocks noGrp="1"/>
          </p:cNvSpPr>
          <p:nvPr/>
        </p:nvSpPr>
        <p:spPr>
          <a:xfrm>
            <a:off x="5610225" y="3476625"/>
            <a:ext cx="476250" cy="9525"/>
          </a:xfrm>
          <a:custGeom>
            <a:avLst/>
            <a:gdLst/>
            <a:ahLst/>
            <a:cxnLst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1430">
            <a:solidFill>
              <a:srgbClr val="007C9B"/>
            </a:solidFill>
          </a:ln>
        </p:spPr>
      </p:sp>
      <p:sp>
        <p:nvSpPr>
          <p:cNvPr id="40" name="TextBox 39"/>
          <p:cNvSpPr txBox="1"/>
          <p:nvPr/>
        </p:nvSpPr>
        <p:spPr>
          <a:xfrm>
            <a:off x="7589520" y="5468112"/>
            <a:ext cx="3877056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 panose="00020600040101010101" charset="-122"/>
              </a:defRPr>
            </a:pPr>
            <a:r>
              <a:t>原值3.71 → 代表值3.50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量化等级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</a:t>
            </a:r>
          </a:p>
        </p:txBody>
      </p:sp>
      <p:sp>
        <p:nvSpPr>
          <p:cNvPr id="55" name="codex-q19-image-caption"/>
          <p:cNvSpPr>
            <a:spLocks noGrp="1"/>
          </p:cNvSpPr>
          <p:nvPr/>
        </p:nvSpPr>
        <p:spPr>
          <a:xfrm>
            <a:off x="609600" y="4981575"/>
            <a:ext cx="109728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沿采样顺序，用3 bit写出各等级的码字。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op-rail"/>
          <p:cNvSpPr>
            <a:spLocks noGrp="1"/>
          </p:cNvSpPr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bottom-rail"/>
          <p:cNvSpPr>
            <a:spLocks noGrp="1"/>
          </p:cNvSpPr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13232" y="1847088"/>
            <a:ext cx="18288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采样顺序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13232" y="2816352"/>
            <a:ext cx="18288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量化等级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13232" y="3776472"/>
            <a:ext cx="18288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bit码字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2688336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2688336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2688336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011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1" name="Connector 10"/>
          <p:cNvSpPr>
            <a:spLocks noGrp="1"/>
          </p:cNvSpPr>
          <p:nvPr/>
        </p:nv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" name="Connector 11"/>
          <p:cNvSpPr>
            <a:spLocks noGrp="1"/>
          </p:cNvSpPr>
          <p:nvPr/>
        </p:nv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" name="TextBox 12"/>
          <p:cNvSpPr>
            <a:spLocks noGrp="1"/>
          </p:cNvSpPr>
          <p:nvPr/>
        </p:nvSpPr>
        <p:spPr>
          <a:xfrm>
            <a:off x="3547872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2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3547872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5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3547872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101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nnector 15"/>
          <p:cNvSpPr>
            <a:spLocks noGrp="1"/>
          </p:cNvSpPr>
          <p:nvPr/>
        </p:nv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7" name="Connector 16"/>
          <p:cNvSpPr>
            <a:spLocks noGrp="1"/>
          </p:cNvSpPr>
          <p:nvPr/>
        </p:nv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TextBox 17"/>
          <p:cNvSpPr>
            <a:spLocks noGrp="1"/>
          </p:cNvSpPr>
          <p:nvPr/>
        </p:nvSpPr>
        <p:spPr>
          <a:xfrm>
            <a:off x="4407408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3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407408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7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4407408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111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1" name="Connector 20"/>
          <p:cNvSpPr>
            <a:spLocks noGrp="1"/>
          </p:cNvSpPr>
          <p:nvPr/>
        </p:nv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2" name="Connector 21"/>
          <p:cNvSpPr>
            <a:spLocks noGrp="1"/>
          </p:cNvSpPr>
          <p:nvPr/>
        </p:nv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3" name="TextBox 22"/>
          <p:cNvSpPr>
            <a:spLocks noGrp="1"/>
          </p:cNvSpPr>
          <p:nvPr/>
        </p:nvSpPr>
        <p:spPr>
          <a:xfrm>
            <a:off x="5266944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5266944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6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5266944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110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6" name="Connector 25"/>
          <p:cNvSpPr>
            <a:spLocks noGrp="1"/>
          </p:cNvSpPr>
          <p:nvPr/>
        </p:nv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Connector 26"/>
          <p:cNvSpPr>
            <a:spLocks noGrp="1"/>
          </p:cNvSpPr>
          <p:nvPr/>
        </p:nv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8" name="TextBox 27"/>
          <p:cNvSpPr>
            <a:spLocks noGrp="1"/>
          </p:cNvSpPr>
          <p:nvPr/>
        </p:nvSpPr>
        <p:spPr>
          <a:xfrm>
            <a:off x="6126479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5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9" name="TextBox 28"/>
          <p:cNvSpPr>
            <a:spLocks noGrp="1"/>
          </p:cNvSpPr>
          <p:nvPr/>
        </p:nvSpPr>
        <p:spPr>
          <a:xfrm>
            <a:off x="6126479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6126479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100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1" name="Connector 30"/>
          <p:cNvSpPr>
            <a:spLocks noGrp="1"/>
          </p:cNvSpPr>
          <p:nvPr/>
        </p:nv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2" name="Connector 31"/>
          <p:cNvSpPr>
            <a:spLocks noGrp="1"/>
          </p:cNvSpPr>
          <p:nvPr/>
        </p:nv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TextBox 32"/>
          <p:cNvSpPr>
            <a:spLocks noGrp="1"/>
          </p:cNvSpPr>
          <p:nvPr/>
        </p:nvSpPr>
        <p:spPr>
          <a:xfrm>
            <a:off x="6986015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6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6986015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2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6986015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010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36" name="Connector 35"/>
          <p:cNvSpPr>
            <a:spLocks noGrp="1"/>
          </p:cNvSpPr>
          <p:nvPr/>
        </p:nv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Connector 36"/>
          <p:cNvSpPr>
            <a:spLocks noGrp="1"/>
          </p:cNvSpPr>
          <p:nvPr/>
        </p:nv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8" name="TextBox 37"/>
          <p:cNvSpPr>
            <a:spLocks noGrp="1"/>
          </p:cNvSpPr>
          <p:nvPr/>
        </p:nvSpPr>
        <p:spPr>
          <a:xfrm>
            <a:off x="7845552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7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7845552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7845552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000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1" name="Connector 40"/>
          <p:cNvSpPr>
            <a:spLocks noGrp="1"/>
          </p:cNvSpPr>
          <p:nvPr/>
        </p:nv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2" name="Connector 41"/>
          <p:cNvSpPr>
            <a:spLocks noGrp="1"/>
          </p:cNvSpPr>
          <p:nvPr/>
        </p:nv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3" name="TextBox 42"/>
          <p:cNvSpPr>
            <a:spLocks noGrp="1"/>
          </p:cNvSpPr>
          <p:nvPr/>
        </p:nvSpPr>
        <p:spPr>
          <a:xfrm>
            <a:off x="8705088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8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4" name="TextBox 43"/>
          <p:cNvSpPr>
            <a:spLocks noGrp="1"/>
          </p:cNvSpPr>
          <p:nvPr/>
        </p:nvSpPr>
        <p:spPr>
          <a:xfrm>
            <a:off x="8705088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8705088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001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46" name="Connector 45"/>
          <p:cNvSpPr>
            <a:spLocks noGrp="1"/>
          </p:cNvSpPr>
          <p:nvPr/>
        </p:nv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7" name="Connector 46"/>
          <p:cNvSpPr>
            <a:spLocks noGrp="1"/>
          </p:cNvSpPr>
          <p:nvPr/>
        </p:nv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TextBox 47"/>
          <p:cNvSpPr>
            <a:spLocks noGrp="1"/>
          </p:cNvSpPr>
          <p:nvPr/>
        </p:nvSpPr>
        <p:spPr>
          <a:xfrm>
            <a:off x="9564624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9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49" name="TextBox 48"/>
          <p:cNvSpPr>
            <a:spLocks noGrp="1"/>
          </p:cNvSpPr>
          <p:nvPr/>
        </p:nvSpPr>
        <p:spPr>
          <a:xfrm>
            <a:off x="9564624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9564624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011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1" name="Connector 50"/>
          <p:cNvSpPr>
            <a:spLocks noGrp="1"/>
          </p:cNvSpPr>
          <p:nvPr/>
        </p:nv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2" name="Connector 51"/>
          <p:cNvSpPr>
            <a:spLocks noGrp="1"/>
          </p:cNvSpPr>
          <p:nvPr/>
        </p:nv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3" name="TextBox 52"/>
          <p:cNvSpPr>
            <a:spLocks noGrp="1"/>
          </p:cNvSpPr>
          <p:nvPr/>
        </p:nvSpPr>
        <p:spPr>
          <a:xfrm>
            <a:off x="10424159" y="1856231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10</a:t>
            </a:r>
            <a:endParaRPr sz="1800" b="0">
              <a:solidFill>
                <a:srgbClr val="808080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4" name="TextBox 53"/>
          <p:cNvSpPr>
            <a:spLocks noGrp="1"/>
          </p:cNvSpPr>
          <p:nvPr/>
        </p:nvSpPr>
        <p:spPr>
          <a:xfrm>
            <a:off x="10424159" y="2807208"/>
            <a:ext cx="731520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</a:t>
            </a:r>
            <a:endParaRPr sz="23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5" name="TextBox 54"/>
          <p:cNvSpPr>
            <a:spLocks noGrp="1"/>
          </p:cNvSpPr>
          <p:nvPr/>
        </p:nvSpPr>
        <p:spPr>
          <a:xfrm>
            <a:off x="10424159" y="3776472"/>
            <a:ext cx="731520" cy="289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spcBef>
                <a:spcPts val="0"/>
              </a:spcBef>
              <a:spcAft>
                <a:spcPts val="200"/>
              </a:spcAft>
              <a:buNone/>
              <a:def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19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100</a:t>
            </a:r>
            <a:endParaRPr sz="19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6" name="Connector 55"/>
          <p:cNvSpPr>
            <a:spLocks noGrp="1"/>
          </p:cNvSpPr>
          <p:nvPr/>
        </p:nv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7" name="Connector 56"/>
          <p:cNvSpPr>
            <a:spLocks noGrp="1"/>
          </p:cNvSpPr>
          <p:nvPr/>
        </p:nv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8" name="TextBox 57"/>
          <p:cNvSpPr>
            <a:spLocks noGrp="1"/>
          </p:cNvSpPr>
          <p:nvPr/>
        </p:nvSpPr>
        <p:spPr>
          <a:xfrm>
            <a:off x="777240" y="5879592"/>
            <a:ext cx="10789920" cy="335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采样决定“什么时候记录”，量化决定“记录哪个等级”，编码决定“用哪些bit表示”。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9" name="first-sample-focus"/>
          <p:cNvSpPr>
            <a:spLocks noGrp="1"/>
          </p:cNvSpPr>
          <p:nvPr/>
        </p:nvSpPr>
        <p:spPr>
          <a:xfrm>
            <a:off x="2771775" y="1704975"/>
            <a:ext cx="638175" cy="2466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60" name="Rectangle 59"/>
          <p:cNvSpPr/>
          <p:nvPr/>
        </p:nvSpPr>
        <p:spPr>
          <a:xfrm>
            <a:off x="2779776" y="4745736"/>
            <a:ext cx="6638544" cy="905256"/>
          </a:xfrm>
          <a:prstGeom prst="rect">
            <a:avLst/>
          </a:prstGeom>
          <a:solidFill>
            <a:srgbClr val="F6F3FF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4937760"/>
            <a:ext cx="64008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</a:defRPr>
            </a:pPr>
            <a:r>
              <a:t>样本1：等级 L3 → 3 bit码字 011</a:t>
            </a:r>
          </a:p>
        </p:txBody>
      </p:sp>
      <p:sp>
        <p:nvSpPr>
          <p:cNvPr id="62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同一个声音的10个样本，怎样依次编码？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1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1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1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1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3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15584"/>
            <a:ext cx="103327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1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8个等级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8个等级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bit可以写出8种不同的编码：000～111。</a:t>
            </a:r>
          </a:p>
        </p:txBody>
      </p:sp>
      <p:sp>
        <p:nvSpPr>
          <p:cNvPr id="23" name="codex-reveal21-image-caption"/>
          <p:cNvSpPr>
            <a:spLocks noGrp="1"/>
          </p:cNvSpPr>
          <p:nvPr/>
        </p:nvSpPr>
        <p:spPr>
          <a:xfrm>
            <a:off x="3381375" y="1682496"/>
            <a:ext cx="8096250" cy="70408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= 2³，所以至少需要3 bit</a:t>
            </a:r>
            <a:endParaRPr sz="3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把量化等级分得更细，会发生什么？</a:t>
            </a:r>
          </a:p>
        </p:txBody>
      </p:sp>
      <p:sp>
        <p:nvSpPr>
          <p:cNvPr id="5" name="codex-q22-image-caption"/>
          <p:cNvSpPr>
            <a:spLocks noGrp="1"/>
          </p:cNvSpPr>
          <p:nvPr/>
        </p:nvSpPr>
        <p:spPr>
          <a:xfrm>
            <a:off x="609600" y="17049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同一输入3.71；范围 [0,8)，每档中点作代表值。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q22-image-caption"/>
          <p:cNvSpPr>
            <a:spLocks noGrp="1"/>
          </p:cNvSpPr>
          <p:nvPr/>
        </p:nvSpPr>
        <p:spPr>
          <a:xfrm>
            <a:off x="95250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bit：8个等级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q22-image-caption"/>
          <p:cNvSpPr>
            <a:spLocks noGrp="1"/>
          </p:cNvSpPr>
          <p:nvPr/>
        </p:nvSpPr>
        <p:spPr>
          <a:xfrm>
            <a:off x="676275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 bit：16个等级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把量化等级分得更细，会发生什么？</a:t>
            </a:r>
          </a:p>
        </p:txBody>
      </p:sp>
      <p:sp>
        <p:nvSpPr>
          <p:cNvPr id="5" name="codex-p22-image-caption"/>
          <p:cNvSpPr>
            <a:spLocks noGrp="1"/>
          </p:cNvSpPr>
          <p:nvPr/>
        </p:nvSpPr>
        <p:spPr>
          <a:xfrm>
            <a:off x="609600" y="17049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同一输入3.71；范围 [0,8)，每档中点作代表值。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p22-image-caption"/>
          <p:cNvSpPr>
            <a:spLocks noGrp="1"/>
          </p:cNvSpPr>
          <p:nvPr/>
        </p:nvSpPr>
        <p:spPr>
          <a:xfrm>
            <a:off x="95250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bit：8个等级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22-image-caption"/>
          <p:cNvSpPr>
            <a:spLocks noGrp="1"/>
          </p:cNvSpPr>
          <p:nvPr/>
        </p:nvSpPr>
        <p:spPr>
          <a:xfrm>
            <a:off x="6762750" y="25146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 bit：16个等级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22-representative-8-0"/>
          <p:cNvSpPr>
            <a:spLocks noGrp="1"/>
          </p:cNvSpPr>
          <p:nvPr/>
        </p:nvSpPr>
        <p:spPr>
          <a:xfrm>
            <a:off x="952500" y="4866680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9" name="codex-p22-representative-8-1"/>
          <p:cNvSpPr>
            <a:spLocks noGrp="1"/>
          </p:cNvSpPr>
          <p:nvPr/>
        </p:nvSpPr>
        <p:spPr>
          <a:xfrm>
            <a:off x="952500" y="4636889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0" name="codex-p22-representative-8-2"/>
          <p:cNvSpPr>
            <a:spLocks noGrp="1"/>
          </p:cNvSpPr>
          <p:nvPr/>
        </p:nvSpPr>
        <p:spPr>
          <a:xfrm>
            <a:off x="952500" y="4407098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1" name="codex-p22-representative-8-3"/>
          <p:cNvSpPr>
            <a:spLocks noGrp="1"/>
          </p:cNvSpPr>
          <p:nvPr/>
        </p:nvSpPr>
        <p:spPr>
          <a:xfrm>
            <a:off x="952500" y="4177308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2" name="codex-p22-representative-8-4"/>
          <p:cNvSpPr>
            <a:spLocks noGrp="1"/>
          </p:cNvSpPr>
          <p:nvPr/>
        </p:nvSpPr>
        <p:spPr>
          <a:xfrm>
            <a:off x="952500" y="3947517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3" name="codex-p22-representative-8-5"/>
          <p:cNvSpPr>
            <a:spLocks noGrp="1"/>
          </p:cNvSpPr>
          <p:nvPr/>
        </p:nvSpPr>
        <p:spPr>
          <a:xfrm>
            <a:off x="952500" y="3717727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4" name="codex-p22-representative-8-6"/>
          <p:cNvSpPr>
            <a:spLocks noGrp="1"/>
          </p:cNvSpPr>
          <p:nvPr/>
        </p:nvSpPr>
        <p:spPr>
          <a:xfrm>
            <a:off x="952500" y="3487936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5" name="codex-p22-representative-8-7"/>
          <p:cNvSpPr>
            <a:spLocks noGrp="1"/>
          </p:cNvSpPr>
          <p:nvPr/>
        </p:nvSpPr>
        <p:spPr>
          <a:xfrm>
            <a:off x="952500" y="3258145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8C64E1"/>
            </a:solidFill>
          </a:ln>
        </p:spPr>
      </p:sp>
      <p:sp>
        <p:nvSpPr>
          <p:cNvPr id="16" name="codex-p22-image-caption"/>
          <p:cNvSpPr>
            <a:spLocks noGrp="1"/>
          </p:cNvSpPr>
          <p:nvPr/>
        </p:nvSpPr>
        <p:spPr>
          <a:xfrm>
            <a:off x="952500" y="52768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所在区间 [3,4)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p22-image-caption"/>
          <p:cNvSpPr>
            <a:spLocks noGrp="1"/>
          </p:cNvSpPr>
          <p:nvPr/>
        </p:nvSpPr>
        <p:spPr>
          <a:xfrm>
            <a:off x="952500" y="5778246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代表值3.5；误差0.21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8" name="codex-p22-representative-16-0"/>
          <p:cNvSpPr>
            <a:spLocks noGrp="1"/>
          </p:cNvSpPr>
          <p:nvPr/>
        </p:nvSpPr>
        <p:spPr>
          <a:xfrm>
            <a:off x="6762750" y="4924127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19" name="codex-p22-representative-16-1"/>
          <p:cNvSpPr>
            <a:spLocks noGrp="1"/>
          </p:cNvSpPr>
          <p:nvPr/>
        </p:nvSpPr>
        <p:spPr>
          <a:xfrm>
            <a:off x="6762750" y="4809232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0" name="codex-p22-representative-16-2"/>
          <p:cNvSpPr>
            <a:spLocks noGrp="1"/>
          </p:cNvSpPr>
          <p:nvPr/>
        </p:nvSpPr>
        <p:spPr>
          <a:xfrm>
            <a:off x="6762750" y="4694337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1" name="codex-p22-representative-16-3"/>
          <p:cNvSpPr>
            <a:spLocks noGrp="1"/>
          </p:cNvSpPr>
          <p:nvPr/>
        </p:nvSpPr>
        <p:spPr>
          <a:xfrm>
            <a:off x="6762750" y="4579441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2" name="codex-p22-representative-16-4"/>
          <p:cNvSpPr>
            <a:spLocks noGrp="1"/>
          </p:cNvSpPr>
          <p:nvPr/>
        </p:nvSpPr>
        <p:spPr>
          <a:xfrm>
            <a:off x="6762750" y="4464546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3" name="codex-p22-representative-16-5"/>
          <p:cNvSpPr>
            <a:spLocks noGrp="1"/>
          </p:cNvSpPr>
          <p:nvPr/>
        </p:nvSpPr>
        <p:spPr>
          <a:xfrm>
            <a:off x="6762750" y="4349651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4" name="codex-p22-representative-16-6"/>
          <p:cNvSpPr>
            <a:spLocks noGrp="1"/>
          </p:cNvSpPr>
          <p:nvPr/>
        </p:nvSpPr>
        <p:spPr>
          <a:xfrm>
            <a:off x="6762750" y="4234755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5" name="codex-p22-representative-16-7"/>
          <p:cNvSpPr>
            <a:spLocks noGrp="1"/>
          </p:cNvSpPr>
          <p:nvPr/>
        </p:nvSpPr>
        <p:spPr>
          <a:xfrm>
            <a:off x="6762750" y="4119860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6" name="codex-p22-representative-16-8"/>
          <p:cNvSpPr>
            <a:spLocks noGrp="1"/>
          </p:cNvSpPr>
          <p:nvPr/>
        </p:nvSpPr>
        <p:spPr>
          <a:xfrm>
            <a:off x="6762750" y="4004965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7" name="codex-p22-representative-16-9"/>
          <p:cNvSpPr>
            <a:spLocks noGrp="1"/>
          </p:cNvSpPr>
          <p:nvPr/>
        </p:nvSpPr>
        <p:spPr>
          <a:xfrm>
            <a:off x="6762750" y="3890070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8" name="codex-p22-representative-16-10"/>
          <p:cNvSpPr>
            <a:spLocks noGrp="1"/>
          </p:cNvSpPr>
          <p:nvPr/>
        </p:nvSpPr>
        <p:spPr>
          <a:xfrm>
            <a:off x="6762750" y="3775174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29" name="codex-p22-representative-16-11"/>
          <p:cNvSpPr>
            <a:spLocks noGrp="1"/>
          </p:cNvSpPr>
          <p:nvPr/>
        </p:nvSpPr>
        <p:spPr>
          <a:xfrm>
            <a:off x="6762750" y="3660279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0" name="codex-p22-representative-16-12"/>
          <p:cNvSpPr>
            <a:spLocks noGrp="1"/>
          </p:cNvSpPr>
          <p:nvPr/>
        </p:nvSpPr>
        <p:spPr>
          <a:xfrm>
            <a:off x="6762750" y="3545384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1" name="codex-p22-representative-16-13"/>
          <p:cNvSpPr>
            <a:spLocks noGrp="1"/>
          </p:cNvSpPr>
          <p:nvPr/>
        </p:nvSpPr>
        <p:spPr>
          <a:xfrm>
            <a:off x="6762750" y="3430488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2" name="codex-p22-representative-16-14"/>
          <p:cNvSpPr>
            <a:spLocks noGrp="1"/>
          </p:cNvSpPr>
          <p:nvPr/>
        </p:nvSpPr>
        <p:spPr>
          <a:xfrm>
            <a:off x="6762750" y="3315593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3" name="codex-p22-representative-16-15"/>
          <p:cNvSpPr>
            <a:spLocks noGrp="1"/>
          </p:cNvSpPr>
          <p:nvPr/>
        </p:nvSpPr>
        <p:spPr>
          <a:xfrm>
            <a:off x="6762750" y="3200698"/>
            <a:ext cx="4286250" cy="9525"/>
          </a:xfrm>
          <a:custGeom>
            <a:avLst/>
            <a:gdLst/>
            <a:ahLst/>
            <a:cxnLst/>
            <a:pathLst>
              <a:path w="4286250" h="9525">
                <a:moveTo>
                  <a:pt x="0" y="0"/>
                </a:moveTo>
                <a:lnTo>
                  <a:pt x="4286250" y="0"/>
                </a:lnTo>
              </a:path>
            </a:pathLst>
          </a:custGeom>
          <a:noFill/>
          <a:ln w="14288">
            <a:solidFill>
              <a:srgbClr val="00B0F0"/>
            </a:solidFill>
          </a:ln>
        </p:spPr>
      </p:sp>
      <p:sp>
        <p:nvSpPr>
          <p:cNvPr id="34" name="codex-p22-image-caption"/>
          <p:cNvSpPr>
            <a:spLocks noGrp="1"/>
          </p:cNvSpPr>
          <p:nvPr/>
        </p:nvSpPr>
        <p:spPr>
          <a:xfrm>
            <a:off x="6762750" y="527685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所在区间 [3.5,4)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35" name="codex-p22-image-caption"/>
          <p:cNvSpPr>
            <a:spLocks noGrp="1"/>
          </p:cNvSpPr>
          <p:nvPr/>
        </p:nvSpPr>
        <p:spPr>
          <a:xfrm>
            <a:off x="6762750" y="5778246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代表值3.75；误差0.04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609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演示C：3 bit变4 bit，样本会变多吗？</a:t>
            </a:r>
          </a:p>
        </p:txBody>
      </p:sp>
      <p:sp>
        <p:nvSpPr>
          <p:cNvPr id="5" name="codex-q24-image-caption"/>
          <p:cNvSpPr>
            <a:spLocks noGrp="1"/>
          </p:cNvSpPr>
          <p:nvPr/>
        </p:nvSpPr>
        <p:spPr>
          <a:xfrm>
            <a:off x="609600" y="1666875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输入、采样率和时长不变，只将3 bit改为4 bit。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op-rail"/>
          <p:cNvSpPr>
            <a:spLocks noGrp="1"/>
          </p:cNvSpPr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bottom-rail"/>
          <p:cNvSpPr>
            <a:spLocks noGrp="1"/>
          </p:cNvSpPr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question-title"/>
          <p:cNvSpPr>
            <a:spLocks noGrp="1"/>
          </p:cNvSpPr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Aft>
                <a:spcPts val="300"/>
              </a:spcAft>
              <a:buNone/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演示C：3bit变4bit，样本点会变多吗？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832104" y="1536192"/>
            <a:ext cx="1042416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Aft>
                <a:spcPts val="300"/>
              </a:spcAft>
              <a:buNone/>
              <a:def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5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保持采样时刻不变，只改变量化位数。</a:t>
            </a:r>
            <a:endParaRPr sz="25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832104" y="2578608"/>
            <a:ext cx="27432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Aft>
                <a:spcPts val="3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3 bit：8个等级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nnector 6"/>
          <p:cNvSpPr>
            <a:spLocks noGrp="1"/>
          </p:cNvSpPr>
          <p:nvPr/>
        </p:nv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8" name="Connector 7"/>
          <p:cNvSpPr>
            <a:spLocks noGrp="1"/>
          </p:cNvSpPr>
          <p:nvPr/>
        </p:nv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9" name="Connector 8"/>
          <p:cNvSpPr>
            <a:spLocks noGrp="1"/>
          </p:cNvSpPr>
          <p:nvPr/>
        </p:nv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0" name="Connector 9"/>
          <p:cNvSpPr>
            <a:spLocks noGrp="1"/>
          </p:cNvSpPr>
          <p:nvPr/>
        </p:nv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1" name="Connector 10"/>
          <p:cNvSpPr>
            <a:spLocks noGrp="1"/>
          </p:cNvSpPr>
          <p:nvPr/>
        </p:nv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2" name="Connector 11"/>
          <p:cNvSpPr>
            <a:spLocks noGrp="1"/>
          </p:cNvSpPr>
          <p:nvPr/>
        </p:nv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3" name="Connector 12"/>
          <p:cNvSpPr>
            <a:spLocks noGrp="1"/>
          </p:cNvSpPr>
          <p:nvPr/>
        </p:nv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4" name="Connector 13"/>
          <p:cNvSpPr>
            <a:spLocks noGrp="1"/>
          </p:cNvSpPr>
          <p:nvPr/>
        </p:nv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5" name="Oval 14"/>
          <p:cNvSpPr>
            <a:spLocks noGrp="1"/>
          </p:cNvSpPr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6" name="Oval 15"/>
          <p:cNvSpPr>
            <a:spLocks noGrp="1"/>
          </p:cNvSpPr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7" name="Oval 16"/>
          <p:cNvSpPr>
            <a:spLocks noGrp="1"/>
          </p:cNvSpPr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8" name="Oval 17"/>
          <p:cNvSpPr>
            <a:spLocks noGrp="1"/>
          </p:cNvSpPr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9" name="Oval 18"/>
          <p:cNvSpPr>
            <a:spLocks noGrp="1"/>
          </p:cNvSpPr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0" name="Oval 19"/>
          <p:cNvSpPr>
            <a:spLocks noGrp="1"/>
          </p:cNvSpPr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Oval 20"/>
          <p:cNvSpPr>
            <a:spLocks noGrp="1"/>
          </p:cNvSpPr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2" name="Oval 21"/>
          <p:cNvSpPr>
            <a:spLocks noGrp="1"/>
          </p:cNvSpPr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3" name="Oval 22"/>
          <p:cNvSpPr>
            <a:spLocks noGrp="1"/>
          </p:cNvSpPr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4" name="TextBox 23"/>
          <p:cNvSpPr>
            <a:spLocks noGrp="1"/>
          </p:cNvSpPr>
          <p:nvPr/>
        </p:nvSpPr>
        <p:spPr>
          <a:xfrm>
            <a:off x="832104" y="4343400"/>
            <a:ext cx="274320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Aft>
                <a:spcPts val="300"/>
              </a:spcAft>
              <a:buNone/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4 bit：16个等级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" name="Connector 24"/>
          <p:cNvSpPr>
            <a:spLocks noGrp="1"/>
          </p:cNvSpPr>
          <p:nvPr/>
        </p:nv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6" name="Connector 25"/>
          <p:cNvSpPr>
            <a:spLocks noGrp="1"/>
          </p:cNvSpPr>
          <p:nvPr/>
        </p:nv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7" name="Connector 26"/>
          <p:cNvSpPr>
            <a:spLocks noGrp="1"/>
          </p:cNvSpPr>
          <p:nvPr/>
        </p:nv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8" name="Connector 27"/>
          <p:cNvSpPr>
            <a:spLocks noGrp="1"/>
          </p:cNvSpPr>
          <p:nvPr/>
        </p:nv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9" name="Connector 28"/>
          <p:cNvSpPr>
            <a:spLocks noGrp="1"/>
          </p:cNvSpPr>
          <p:nvPr/>
        </p:nv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0" name="Connector 29"/>
          <p:cNvSpPr>
            <a:spLocks noGrp="1"/>
          </p:cNvSpPr>
          <p:nvPr/>
        </p:nv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1" name="Connector 30"/>
          <p:cNvSpPr>
            <a:spLocks noGrp="1"/>
          </p:cNvSpPr>
          <p:nvPr/>
        </p:nv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2" name="Connector 31"/>
          <p:cNvSpPr>
            <a:spLocks noGrp="1"/>
          </p:cNvSpPr>
          <p:nvPr/>
        </p:nv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3" name="Connector 32"/>
          <p:cNvSpPr>
            <a:spLocks noGrp="1"/>
          </p:cNvSpPr>
          <p:nvPr/>
        </p:nv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4" name="Connector 33"/>
          <p:cNvSpPr>
            <a:spLocks noGrp="1"/>
          </p:cNvSpPr>
          <p:nvPr/>
        </p:nv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" name="Connector 34"/>
          <p:cNvSpPr>
            <a:spLocks noGrp="1"/>
          </p:cNvSpPr>
          <p:nvPr/>
        </p:nv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6" name="Connector 35"/>
          <p:cNvSpPr>
            <a:spLocks noGrp="1"/>
          </p:cNvSpPr>
          <p:nvPr/>
        </p:nv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7" name="Connector 36"/>
          <p:cNvSpPr>
            <a:spLocks noGrp="1"/>
          </p:cNvSpPr>
          <p:nvPr/>
        </p:nv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8" name="Connector 37"/>
          <p:cNvSpPr>
            <a:spLocks noGrp="1"/>
          </p:cNvSpPr>
          <p:nvPr/>
        </p:nv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9" name="Connector 38"/>
          <p:cNvSpPr>
            <a:spLocks noGrp="1"/>
          </p:cNvSpPr>
          <p:nvPr/>
        </p:nv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0" name="Connector 39"/>
          <p:cNvSpPr>
            <a:spLocks noGrp="1"/>
          </p:cNvSpPr>
          <p:nvPr/>
        </p:nv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1" name="Oval 40"/>
          <p:cNvSpPr>
            <a:spLocks noGrp="1"/>
          </p:cNvSpPr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2" name="Oval 41"/>
          <p:cNvSpPr>
            <a:spLocks noGrp="1"/>
          </p:cNvSpPr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3" name="Oval 42"/>
          <p:cNvSpPr>
            <a:spLocks noGrp="1"/>
          </p:cNvSpPr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4" name="Oval 43"/>
          <p:cNvSpPr>
            <a:spLocks noGrp="1"/>
          </p:cNvSpPr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5" name="Oval 44"/>
          <p:cNvSpPr>
            <a:spLocks noGrp="1"/>
          </p:cNvSpPr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6" name="Oval 45"/>
          <p:cNvSpPr>
            <a:spLocks noGrp="1"/>
          </p:cNvSpPr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7" name="Oval 46"/>
          <p:cNvSpPr>
            <a:spLocks noGrp="1"/>
          </p:cNvSpPr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Oval 47"/>
          <p:cNvSpPr>
            <a:spLocks noGrp="1"/>
          </p:cNvSpPr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9" name="Oval 48"/>
          <p:cNvSpPr>
            <a:spLocks noGrp="1"/>
          </p:cNvSpPr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TextBox 49"/>
          <p:cNvSpPr>
            <a:spLocks noGrp="1"/>
          </p:cNvSpPr>
          <p:nvPr/>
        </p:nvSpPr>
        <p:spPr>
          <a:xfrm>
            <a:off x="950976" y="6007608"/>
            <a:ext cx="10424160" cy="3352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spcAft>
                <a:spcPts val="300"/>
              </a:spcAft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灰点的时间位置不变；变化的是纵向可选等级。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965960" y="5522976"/>
            <a:ext cx="83210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</a:defRPr>
            </a:pPr>
            <a:r>
              <a:t>横向：采样时刻不变；纵向：等级从8级增至16级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采样更多、等级更密，就一定听得更好吗？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510" y="2066290"/>
            <a:ext cx="4709160" cy="100203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9070" y="2066290"/>
            <a:ext cx="4626610" cy="100203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PCM</a:t>
            </a:r>
            <a:r>
              <a:rPr lang="zh-CN"/>
              <a:t>音频</a:t>
            </a:r>
            <a:r>
              <a:t>例子：</a:t>
            </a:r>
            <a:br/>
            <a:r>
              <a:rPr lang="zh-CN"/>
              <a:t>用</a:t>
            </a:r>
            <a:r>
              <a:t>16 bit</a:t>
            </a:r>
            <a:r>
              <a:rPr lang="zh-CN"/>
              <a:t>编码每个</a:t>
            </a:r>
            <a:r>
              <a:rPr lang="zh-CN"/>
              <a:t>采样点</a:t>
            </a:r>
            <a:endParaRPr lang="zh-CN"/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510" y="4578731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>
                <a:solidFill>
                  <a:schemeClr val="tx1"/>
                </a:solidFill>
              </a:rPr>
              <a:t>位数越多，一份未压缩样本数据所占的空间也越大。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8" name="TextBox 7"/>
          <p:cNvSpPr txBox="1"/>
          <p:nvPr/>
        </p:nvSpPr>
        <p:spPr>
          <a:xfrm>
            <a:off x="901065" y="5107305"/>
            <a:ext cx="10254615" cy="4025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PCM</a:t>
            </a:r>
            <a:r>
              <a:rPr lang="en-US"/>
              <a:t>（Pluse Code </a:t>
            </a:r>
            <a:r>
              <a:rPr lang="en-US"/>
              <a:t>Modulation）</a:t>
            </a:r>
            <a:endParaRPr lang="en-US"/>
          </a:p>
          <a:p>
            <a:pPr algn="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altLang="en-US"/>
              <a:t>脉冲编码</a:t>
            </a:r>
            <a:r>
              <a:rPr lang="zh-CN" altLang="en-US"/>
              <a:t>调制</a:t>
            </a:r>
            <a:endParaRPr lang="zh-CN" altLang="en-US"/>
          </a:p>
          <a:p>
            <a:pPr algn="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lang="zh-CN" altLang="en-US"/>
              <a:t>一种将模拟声音信号转换为数字数据的基本方法</a:t>
            </a:r>
            <a:br>
              <a:rPr lang="zh-CN" altLang="en-US"/>
            </a:br>
            <a:r>
              <a:rPr lang="en-US" altLang="en-US"/>
              <a:t>PCM</a:t>
            </a:r>
            <a:r>
              <a:rPr lang="zh-CN" altLang="en-US"/>
              <a:t>通常指未进行数据压缩的数字音频样本表示方式</a:t>
            </a: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codex-p28-evidence-boundary"/>
          <p:cNvSpPr>
            <a:spLocks noGrp="1"/>
          </p:cNvSpPr>
          <p:nvPr/>
        </p:nvSpPr>
        <p:spPr>
          <a:xfrm>
            <a:off x="609600" y="2581275"/>
            <a:ext cx="2362200" cy="8191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6" name="codex-p28-image-caption"/>
          <p:cNvSpPr>
            <a:spLocks noGrp="1"/>
          </p:cNvSpPr>
          <p:nvPr/>
        </p:nvSpPr>
        <p:spPr>
          <a:xfrm>
            <a:off x="7429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数字样本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28-playback-flow"/>
          <p:cNvSpPr>
            <a:spLocks noGrp="1"/>
          </p:cNvSpPr>
          <p:nvPr/>
        </p:nvSpPr>
        <p:spPr>
          <a:xfrm>
            <a:off x="30480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8" name="codex-p28-evidence-boundary"/>
          <p:cNvSpPr>
            <a:spLocks noGrp="1"/>
          </p:cNvSpPr>
          <p:nvPr/>
        </p:nvSpPr>
        <p:spPr>
          <a:xfrm>
            <a:off x="3429000" y="2581275"/>
            <a:ext cx="2362200" cy="8191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9" name="codex-p28-image-caption"/>
          <p:cNvSpPr>
            <a:spLocks noGrp="1"/>
          </p:cNvSpPr>
          <p:nvPr/>
        </p:nvSpPr>
        <p:spPr>
          <a:xfrm>
            <a:off x="35623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DAC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p28-playback-flow"/>
          <p:cNvSpPr>
            <a:spLocks noGrp="1"/>
          </p:cNvSpPr>
          <p:nvPr/>
        </p:nvSpPr>
        <p:spPr>
          <a:xfrm>
            <a:off x="58674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1" name="codex-p28-evidence-boundary"/>
          <p:cNvSpPr>
            <a:spLocks noGrp="1"/>
          </p:cNvSpPr>
          <p:nvPr/>
        </p:nvSpPr>
        <p:spPr>
          <a:xfrm>
            <a:off x="6248400" y="2581275"/>
            <a:ext cx="2362200" cy="8191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2" name="codex-p28-image-caption"/>
          <p:cNvSpPr>
            <a:spLocks noGrp="1"/>
          </p:cNvSpPr>
          <p:nvPr/>
        </p:nvSpPr>
        <p:spPr>
          <a:xfrm>
            <a:off x="63817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连续电信号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p28-playback-flow"/>
          <p:cNvSpPr>
            <a:spLocks noGrp="1"/>
          </p:cNvSpPr>
          <p:nvPr/>
        </p:nvSpPr>
        <p:spPr>
          <a:xfrm>
            <a:off x="8686800" y="2886075"/>
            <a:ext cx="304800" cy="20955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4" name="codex-p28-evidence-boundary"/>
          <p:cNvSpPr>
            <a:spLocks noGrp="1"/>
          </p:cNvSpPr>
          <p:nvPr/>
        </p:nvSpPr>
        <p:spPr>
          <a:xfrm>
            <a:off x="9067800" y="2581275"/>
            <a:ext cx="2362200" cy="8191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5" name="codex-p28-image-caption"/>
          <p:cNvSpPr>
            <a:spLocks noGrp="1"/>
          </p:cNvSpPr>
          <p:nvPr/>
        </p:nvSpPr>
        <p:spPr>
          <a:xfrm>
            <a:off x="9201150" y="2790825"/>
            <a:ext cx="21240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扬声器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p28-image-caption"/>
          <p:cNvSpPr>
            <a:spLocks noGrp="1"/>
          </p:cNvSpPr>
          <p:nvPr/>
        </p:nvSpPr>
        <p:spPr>
          <a:xfrm>
            <a:off x="609600" y="5038725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播放将数字样本转换为电信号，再让扬声器产生声波。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pic>
        <p:nvPicPr>
          <p:cNvPr id="17" name="searched-images/speaker-high.svg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546" y="3612642"/>
            <a:ext cx="1426464" cy="1426464"/>
          </a:xfrm>
          <a:prstGeom prst="rect">
            <a:avLst/>
          </a:prstGeom>
        </p:spPr>
      </p:pic>
      <p:sp>
        <p:nvSpPr>
          <p:cNvPr id="18" name="TextBox 15"/>
          <p:cNvSpPr>
            <a:spLocks noGrp="1"/>
          </p:cNvSpPr>
          <p:nvPr/>
        </p:nvSpPr>
        <p:spPr>
          <a:xfrm>
            <a:off x="608330" y="5546725"/>
            <a:ext cx="10789920" cy="335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录音是模拟 → 数字；播放是数字 → 模拟。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存储位宽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声道数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时长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存储位宽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未压缩PCM数据量公式，从哪里来？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未压缩PCM数据量公式，从哪里来？</a:t>
            </a:r>
          </a:p>
        </p:txBody>
      </p:sp>
      <p:sp>
        <p:nvSpPr>
          <p:cNvPr id="5" name="codex-p31-image-caption"/>
          <p:cNvSpPr>
            <a:spLocks noGrp="1"/>
          </p:cNvSpPr>
          <p:nvPr/>
        </p:nvSpPr>
        <p:spPr>
          <a:xfrm>
            <a:off x="609600" y="1666875"/>
            <a:ext cx="109728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PCM样本数据量（Byte）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= 采样率 × 时长 × 声道数 × 存储位宽 ÷ 8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p31-evidence-boundary"/>
          <p:cNvSpPr>
            <a:spLocks noGrp="1"/>
          </p:cNvSpPr>
          <p:nvPr/>
        </p:nvSpPr>
        <p:spPr>
          <a:xfrm>
            <a:off x="6096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7" name="codex-p31-image-caption"/>
          <p:cNvSpPr>
            <a:spLocks noGrp="1"/>
          </p:cNvSpPr>
          <p:nvPr/>
        </p:nvSpPr>
        <p:spPr>
          <a:xfrm>
            <a:off x="7620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采样率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31-image-caption"/>
          <p:cNvSpPr>
            <a:spLocks noGrp="1"/>
          </p:cNvSpPr>
          <p:nvPr/>
        </p:nvSpPr>
        <p:spPr>
          <a:xfrm>
            <a:off x="7620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样本 / 秒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31-image-caption"/>
          <p:cNvSpPr>
            <a:spLocks noGrp="1"/>
          </p:cNvSpPr>
          <p:nvPr/>
        </p:nvSpPr>
        <p:spPr>
          <a:xfrm>
            <a:off x="30575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×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31-evidence-boundary"/>
          <p:cNvSpPr>
            <a:spLocks noGrp="1"/>
          </p:cNvSpPr>
          <p:nvPr/>
        </p:nvSpPr>
        <p:spPr>
          <a:xfrm>
            <a:off x="33528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1" name="codex-p31-image-caption"/>
          <p:cNvSpPr>
            <a:spLocks noGrp="1"/>
          </p:cNvSpPr>
          <p:nvPr/>
        </p:nvSpPr>
        <p:spPr>
          <a:xfrm>
            <a:off x="35052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时长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2" name="codex-p31-image-caption"/>
          <p:cNvSpPr>
            <a:spLocks noGrp="1"/>
          </p:cNvSpPr>
          <p:nvPr/>
        </p:nvSpPr>
        <p:spPr>
          <a:xfrm>
            <a:off x="35052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秒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codex-p31-image-caption"/>
          <p:cNvSpPr>
            <a:spLocks noGrp="1"/>
          </p:cNvSpPr>
          <p:nvPr/>
        </p:nvSpPr>
        <p:spPr>
          <a:xfrm>
            <a:off x="58007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×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p31-evidence-boundary"/>
          <p:cNvSpPr>
            <a:spLocks noGrp="1"/>
          </p:cNvSpPr>
          <p:nvPr/>
        </p:nvSpPr>
        <p:spPr>
          <a:xfrm>
            <a:off x="6096000" y="3228975"/>
            <a:ext cx="2362200" cy="116205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5" name="codex-p31-image-caption"/>
          <p:cNvSpPr>
            <a:spLocks noGrp="1"/>
          </p:cNvSpPr>
          <p:nvPr/>
        </p:nvSpPr>
        <p:spPr>
          <a:xfrm>
            <a:off x="62484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声道数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p31-image-caption"/>
          <p:cNvSpPr>
            <a:spLocks noGrp="1"/>
          </p:cNvSpPr>
          <p:nvPr/>
        </p:nvSpPr>
        <p:spPr>
          <a:xfrm>
            <a:off x="62484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每时刻几路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p31-image-caption"/>
          <p:cNvSpPr>
            <a:spLocks noGrp="1"/>
          </p:cNvSpPr>
          <p:nvPr/>
        </p:nvSpPr>
        <p:spPr>
          <a:xfrm>
            <a:off x="8543925" y="3571875"/>
            <a:ext cx="40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×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8" name="codex-p31-evidence-boundary"/>
          <p:cNvSpPr>
            <a:spLocks noGrp="1"/>
          </p:cNvSpPr>
          <p:nvPr/>
        </p:nvSpPr>
        <p:spPr>
          <a:xfrm>
            <a:off x="8839200" y="3228975"/>
            <a:ext cx="2362200" cy="116205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9" name="codex-p31-image-caption"/>
          <p:cNvSpPr>
            <a:spLocks noGrp="1"/>
          </p:cNvSpPr>
          <p:nvPr/>
        </p:nvSpPr>
        <p:spPr>
          <a:xfrm>
            <a:off x="8991600" y="3400425"/>
            <a:ext cx="2095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存储位宽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codex-p31-image-caption"/>
          <p:cNvSpPr>
            <a:spLocks noGrp="1"/>
          </p:cNvSpPr>
          <p:nvPr/>
        </p:nvSpPr>
        <p:spPr>
          <a:xfrm>
            <a:off x="8991600" y="3895725"/>
            <a:ext cx="2095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bit / 样本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1" name="codex-p31-image-caption"/>
          <p:cNvSpPr>
            <a:spLocks noGrp="1"/>
          </p:cNvSpPr>
          <p:nvPr/>
        </p:nvSpPr>
        <p:spPr>
          <a:xfrm>
            <a:off x="609600" y="481012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前三项相乘，得到所有声道的样本总数。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2" name="codex-p31-image-caption"/>
          <p:cNvSpPr>
            <a:spLocks noGrp="1"/>
          </p:cNvSpPr>
          <p:nvPr/>
        </p:nvSpPr>
        <p:spPr>
          <a:xfrm>
            <a:off x="609600" y="5324475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再乘存储bit/样本，最后按8 bit = 1 Byte换算。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3" name="codex-p31-image-caption"/>
          <p:cNvSpPr>
            <a:spLocks noGrp="1"/>
          </p:cNvSpPr>
          <p:nvPr/>
        </p:nvSpPr>
        <p:spPr>
          <a:xfrm>
            <a:off x="609600" y="58102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固定存储位宽的未压缩PCM；不含文件头等结构。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答案：160,000 Byte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16,000 × 8 × 2 × 5 ÷ 8 = 160,000 Byte。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声音怎么进入电脑？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② 采样和量化有什么不同？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③ PCM为什么有大小差别？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1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1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1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1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1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1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1-tree-new-focus"/>
          <p:cNvSpPr>
            <a:spLocks noGrp="1"/>
          </p:cNvSpPr>
          <p:nvPr/>
        </p:nvSpPr>
        <p:spPr>
          <a:xfrm>
            <a:off x="3667125" y="16764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2" name="codex-tree1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2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2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2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2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2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2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2-tree-edge-1"/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2-tree-node-1"/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数字化与表示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tree2-tree-description-1"/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采样定时刻；量化定代表值；码字表示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tree2-tree-new-focus"/>
          <p:cNvSpPr>
            <a:spLocks noGrp="1"/>
          </p:cNvSpPr>
          <p:nvPr/>
        </p:nvSpPr>
        <p:spPr>
          <a:xfrm>
            <a:off x="3667125" y="23717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5" name="codex-tree2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3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3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3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3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3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3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3-tree-edge-1"/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3-tree-node-1"/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数字化与表示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tree3-tree-description-1"/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采样定时刻；量化定代表值；码字表示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tree3-tree-edge-2"/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3-tree-node-2"/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PCM样本数据量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tree3-tree-description-2"/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 × 时长 × 声道数 × 存储位宽 ÷ 8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tree3-tree-new-focus"/>
          <p:cNvSpPr>
            <a:spLocks noGrp="1"/>
          </p:cNvSpPr>
          <p:nvPr/>
        </p:nvSpPr>
        <p:spPr>
          <a:xfrm>
            <a:off x="3667125" y="306705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8" name="codex-tree3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6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48,000 Hz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16 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60 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单位换算：1 MiB = 1024² Byte；1 MB = 1,000,000 Byte。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答案：约10.99 MiB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48,000×16×2×60÷8=11,520,000 B；÷1024²≈10.99 MiB。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op-rail"/>
          <p:cNvSpPr>
            <a:spLocks noGrp="1"/>
          </p:cNvSpPr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bottom-rail"/>
          <p:cNvSpPr>
            <a:spLocks noGrp="1"/>
          </p:cNvSpPr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question-title"/>
          <p:cNvSpPr>
            <a:spLocks noGrp="1"/>
          </p:cNvSpPr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>
            <a:defPPr algn="l"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spcBef>
                <a:spcPts val="0"/>
              </a:spcBef>
              <a:spcAft>
                <a:spcPts val="200"/>
              </a:spcAft>
              <a:buNone/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编辑音轨</a:t>
            </a:r>
            <a:r>
              <a:rPr lang="zh-CN"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和</a:t>
            </a:r>
            <a:r>
              <a: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输出声道，有什么不同？</a:t>
            </a:r>
            <a:endParaRPr sz="36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5" name="text"/>
          <p:cNvSpPr>
            <a:spLocks noGrp="1"/>
          </p:cNvSpPr>
          <p:nvPr/>
        </p:nvSpPr>
        <p:spPr>
          <a:xfrm>
            <a:off x="609600" y="1581150"/>
            <a:ext cx="4095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编辑时：两条音轨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text"/>
          <p:cNvSpPr>
            <a:spLocks noGrp="1"/>
          </p:cNvSpPr>
          <p:nvPr/>
        </p:nvSpPr>
        <p:spPr>
          <a:xfrm>
            <a:off x="7905750" y="1581150"/>
            <a:ext cx="36766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输出时：两个声道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track-0"/>
          <p:cNvSpPr>
            <a:spLocks noGrp="1"/>
          </p:cNvSpPr>
          <p:nvPr/>
        </p:nvSpPr>
        <p:spPr>
          <a:xfrm>
            <a:off x="609600" y="2619375"/>
            <a:ext cx="3476625" cy="723900"/>
          </a:xfrm>
          <a:prstGeom prst="rect">
            <a:avLst/>
          </a:prstGeom>
          <a:noFill/>
          <a:ln w="14288">
            <a:solidFill>
              <a:srgbClr val="8C64E1"/>
            </a:solidFill>
          </a:ln>
        </p:spPr>
      </p:sp>
      <p:sp>
        <p:nvSpPr>
          <p:cNvPr id="8" name="track-label-0"/>
          <p:cNvSpPr>
            <a:spLocks noGrp="1"/>
          </p:cNvSpPr>
          <p:nvPr/>
        </p:nvSpPr>
        <p:spPr>
          <a:xfrm>
            <a:off x="790575" y="2809875"/>
            <a:ext cx="3095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音轨1：诗朗诵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rack-1"/>
          <p:cNvSpPr>
            <a:spLocks noGrp="1"/>
          </p:cNvSpPr>
          <p:nvPr/>
        </p:nvSpPr>
        <p:spPr>
          <a:xfrm>
            <a:off x="609600" y="4143375"/>
            <a:ext cx="3476625" cy="723900"/>
          </a:xfrm>
          <a:prstGeom prst="rect">
            <a:avLst/>
          </a:prstGeom>
          <a:noFill/>
          <a:ln w="14288">
            <a:solidFill>
              <a:srgbClr val="8C64E1"/>
            </a:solidFill>
          </a:ln>
        </p:spPr>
      </p:sp>
      <p:sp>
        <p:nvSpPr>
          <p:cNvPr id="10" name="track-label-1"/>
          <p:cNvSpPr>
            <a:spLocks noGrp="1"/>
          </p:cNvSpPr>
          <p:nvPr/>
        </p:nvSpPr>
        <p:spPr>
          <a:xfrm>
            <a:off x="790575" y="4333875"/>
            <a:ext cx="30956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音轨2：背景音乐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mix-operation"/>
          <p:cNvSpPr>
            <a:spLocks noGrp="1"/>
          </p:cNvSpPr>
          <p:nvPr/>
        </p:nvSpPr>
        <p:spPr>
          <a:xfrm>
            <a:off x="5105400" y="3362325"/>
            <a:ext cx="1981200" cy="723900"/>
          </a:xfrm>
          <a:prstGeom prst="rect">
            <a:avLst/>
          </a:prstGeom>
          <a:noFill/>
          <a:ln w="14288">
            <a:solidFill>
              <a:srgbClr val="8C64E1"/>
            </a:solidFill>
          </a:ln>
        </p:spPr>
      </p:sp>
      <p:sp>
        <p:nvSpPr>
          <p:cNvPr id="12" name="mix-label"/>
          <p:cNvSpPr>
            <a:spLocks noGrp="1"/>
          </p:cNvSpPr>
          <p:nvPr/>
        </p:nvSpPr>
        <p:spPr>
          <a:xfrm>
            <a:off x="5248275" y="3552825"/>
            <a:ext cx="16954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ctr"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ctr">
              <a:buNone/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混音导出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output-0"/>
          <p:cNvSpPr>
            <a:spLocks noGrp="1"/>
          </p:cNvSpPr>
          <p:nvPr/>
        </p:nvSpPr>
        <p:spPr>
          <a:xfrm>
            <a:off x="8096250" y="2619375"/>
            <a:ext cx="3486150" cy="723900"/>
          </a:xfrm>
          <a:prstGeom prst="rect">
            <a:avLst/>
          </a:prstGeom>
          <a:noFill/>
          <a:ln w="14288">
            <a:solidFill>
              <a:srgbClr val="00B0F0"/>
            </a:solidFill>
          </a:ln>
        </p:spPr>
      </p:sp>
      <p:sp>
        <p:nvSpPr>
          <p:cNvPr id="14" name="output-label-0"/>
          <p:cNvSpPr>
            <a:spLocks noGrp="1"/>
          </p:cNvSpPr>
          <p:nvPr/>
        </p:nvSpPr>
        <p:spPr>
          <a:xfrm>
            <a:off x="8258175" y="2809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左声道 L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5" name="split-0"/>
          <p:cNvSpPr>
            <a:spLocks noGrp="1"/>
          </p:cNvSpPr>
          <p:nvPr/>
        </p:nvSpPr>
        <p:spPr>
          <a:xfrm>
            <a:off x="7086600" y="3724275"/>
            <a:ext cx="609600" cy="9525"/>
          </a:xfrm>
          <a:custGeom>
            <a:avLst/>
            <a:gdLst/>
            <a:ahLst/>
            <a:cxnLst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6" name="split-branch-0"/>
          <p:cNvSpPr>
            <a:spLocks noGrp="1"/>
          </p:cNvSpPr>
          <p:nvPr/>
        </p:nvSpPr>
        <p:spPr>
          <a:xfrm>
            <a:off x="7696200" y="2981325"/>
            <a:ext cx="9525" cy="742950"/>
          </a:xfrm>
          <a:custGeom>
            <a:avLst/>
            <a:gdLst/>
            <a:ahLst/>
            <a:cxnLst/>
            <a:pathLst>
              <a:path w="9525" h="742950">
                <a:moveTo>
                  <a:pt x="0" y="7429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7" name="mapping-arrow"/>
          <p:cNvSpPr>
            <a:spLocks noGrp="1"/>
          </p:cNvSpPr>
          <p:nvPr/>
        </p:nvSpPr>
        <p:spPr>
          <a:xfrm>
            <a:off x="7705725" y="2886075"/>
            <a:ext cx="323850" cy="19050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18" name="output-1"/>
          <p:cNvSpPr>
            <a:spLocks noGrp="1"/>
          </p:cNvSpPr>
          <p:nvPr/>
        </p:nvSpPr>
        <p:spPr>
          <a:xfrm>
            <a:off x="8096250" y="4143375"/>
            <a:ext cx="3486150" cy="723900"/>
          </a:xfrm>
          <a:prstGeom prst="rect">
            <a:avLst/>
          </a:prstGeom>
          <a:noFill/>
          <a:ln w="14288">
            <a:solidFill>
              <a:srgbClr val="00B0F0"/>
            </a:solidFill>
          </a:ln>
        </p:spPr>
      </p:sp>
      <p:sp>
        <p:nvSpPr>
          <p:cNvPr id="19" name="output-label-1"/>
          <p:cNvSpPr>
            <a:spLocks noGrp="1"/>
          </p:cNvSpPr>
          <p:nvPr/>
        </p:nvSpPr>
        <p:spPr>
          <a:xfrm>
            <a:off x="8258175" y="4333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 algn="l">
              <a:buNone/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右声道 R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split-1"/>
          <p:cNvSpPr>
            <a:spLocks noGrp="1"/>
          </p:cNvSpPr>
          <p:nvPr/>
        </p:nvSpPr>
        <p:spPr>
          <a:xfrm>
            <a:off x="7086600" y="3724275"/>
            <a:ext cx="609600" cy="9525"/>
          </a:xfrm>
          <a:custGeom>
            <a:avLst/>
            <a:gdLst/>
            <a:ahLst/>
            <a:cxnLst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split-branch-1"/>
          <p:cNvSpPr>
            <a:spLocks noGrp="1"/>
          </p:cNvSpPr>
          <p:nvPr/>
        </p:nvSpPr>
        <p:spPr>
          <a:xfrm>
            <a:off x="7696200" y="3724275"/>
            <a:ext cx="9525" cy="781050"/>
          </a:xfrm>
          <a:custGeom>
            <a:avLst/>
            <a:gdLst/>
            <a:ahLst/>
            <a:cxnLst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2" name="mapping-arrow"/>
          <p:cNvSpPr>
            <a:spLocks noGrp="1"/>
          </p:cNvSpPr>
          <p:nvPr/>
        </p:nvSpPr>
        <p:spPr>
          <a:xfrm>
            <a:off x="7705725" y="4410075"/>
            <a:ext cx="323850" cy="19050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23" name="merge-upper"/>
          <p:cNvSpPr>
            <a:spLocks noGrp="1"/>
          </p:cNvSpPr>
          <p:nvPr/>
        </p:nvSpPr>
        <p:spPr>
          <a:xfrm>
            <a:off x="4086225" y="2981325"/>
            <a:ext cx="581025" cy="9525"/>
          </a:xfrm>
          <a:custGeom>
            <a:avLst/>
            <a:gdLst/>
            <a:ahLst/>
            <a:cxnLst/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4" name="merge-lower"/>
          <p:cNvSpPr>
            <a:spLocks noGrp="1"/>
          </p:cNvSpPr>
          <p:nvPr/>
        </p:nvSpPr>
        <p:spPr>
          <a:xfrm>
            <a:off x="4086225" y="4505325"/>
            <a:ext cx="581025" cy="9525"/>
          </a:xfrm>
          <a:custGeom>
            <a:avLst/>
            <a:gdLst/>
            <a:ahLst/>
            <a:cxnLst/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5" name="merge-branch"/>
          <p:cNvSpPr>
            <a:spLocks noGrp="1"/>
          </p:cNvSpPr>
          <p:nvPr/>
        </p:nvSpPr>
        <p:spPr>
          <a:xfrm>
            <a:off x="4667250" y="2981325"/>
            <a:ext cx="9525" cy="1524000"/>
          </a:xfrm>
          <a:custGeom>
            <a:avLst/>
            <a:gdLst/>
            <a:ahLst/>
            <a:cxnLst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6" name="mapping-arrow"/>
          <p:cNvSpPr>
            <a:spLocks noGrp="1"/>
          </p:cNvSpPr>
          <p:nvPr/>
        </p:nvSpPr>
        <p:spPr>
          <a:xfrm>
            <a:off x="4667250" y="3629025"/>
            <a:ext cx="381000" cy="190500"/>
          </a:xfrm>
          <a:prstGeom prst="rightArrow">
            <a:avLst/>
          </a:prstGeom>
          <a:solidFill>
            <a:srgbClr val="8C64E1"/>
          </a:solidFill>
          <a:ln w="0">
            <a:noFill/>
          </a:ln>
        </p:spPr>
      </p:sp>
      <p:sp>
        <p:nvSpPr>
          <p:cNvPr id="27" name="text"/>
          <p:cNvSpPr>
            <a:spLocks noGrp="1"/>
          </p:cNvSpPr>
          <p:nvPr/>
        </p:nvSpPr>
        <p:spPr>
          <a:xfrm>
            <a:off x="609600" y="5810250"/>
            <a:ext cx="10972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 algn="l">
              <a:buNone/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两条音轨共同参与混音；输出仍可为 L、R 两路。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编辑音轨和输出声道，有什么不同？</a:t>
            </a:r>
          </a:p>
        </p:txBody>
      </p:sp>
      <p:sp>
        <p:nvSpPr>
          <p:cNvPr id="5" name="codex-p41-image-caption"/>
          <p:cNvSpPr>
            <a:spLocks noGrp="1"/>
          </p:cNvSpPr>
          <p:nvPr/>
        </p:nvSpPr>
        <p:spPr>
          <a:xfrm>
            <a:off x="609600" y="176212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编辑工程：2条音轨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p41-image-caption"/>
          <p:cNvSpPr>
            <a:spLocks noGrp="1"/>
          </p:cNvSpPr>
          <p:nvPr/>
        </p:nvSpPr>
        <p:spPr>
          <a:xfrm>
            <a:off x="6800850" y="17621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模型：导出2个声道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pic>
        <p:nvPicPr>
          <p:cNvPr id="7" name="codex-p41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762250"/>
            <a:ext cx="5715000" cy="2080018"/>
          </a:xfrm>
          <a:prstGeom prst="rect">
            <a:avLst/>
          </a:prstGeom>
        </p:spPr>
      </p:pic>
      <p:sp>
        <p:nvSpPr>
          <p:cNvPr id="8" name="codex-p41-image-caption"/>
          <p:cNvSpPr>
            <a:spLocks noGrp="1"/>
          </p:cNvSpPr>
          <p:nvPr/>
        </p:nvSpPr>
        <p:spPr>
          <a:xfrm>
            <a:off x="609600" y="2257425"/>
            <a:ext cx="57721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看左侧两个独立控制区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41-track-control-focus"/>
          <p:cNvSpPr>
            <a:spLocks noGrp="1"/>
          </p:cNvSpPr>
          <p:nvPr/>
        </p:nvSpPr>
        <p:spPr>
          <a:xfrm>
            <a:off x="609600" y="2762250"/>
            <a:ext cx="1019175" cy="2080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10" name="codex-p41-image-caption"/>
          <p:cNvSpPr>
            <a:spLocks noGrp="1"/>
          </p:cNvSpPr>
          <p:nvPr/>
        </p:nvSpPr>
        <p:spPr>
          <a:xfrm>
            <a:off x="609600" y="5019675"/>
            <a:ext cx="577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此例：1条单声道音轨 + 1条立体声音轨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p41-mixing-operation"/>
          <p:cNvSpPr>
            <a:spLocks noGrp="1"/>
          </p:cNvSpPr>
          <p:nvPr/>
        </p:nvSpPr>
        <p:spPr>
          <a:xfrm>
            <a:off x="7029450" y="2752725"/>
            <a:ext cx="1190625" cy="151447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2" name="codex-p41-image-caption"/>
          <p:cNvSpPr>
            <a:spLocks noGrp="1"/>
          </p:cNvSpPr>
          <p:nvPr/>
        </p:nvSpPr>
        <p:spPr>
          <a:xfrm>
            <a:off x="7191375" y="329565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混音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p41-relationship"/>
          <p:cNvSpPr>
            <a:spLocks noGrp="1"/>
          </p:cNvSpPr>
          <p:nvPr/>
        </p:nvSpPr>
        <p:spPr>
          <a:xfrm>
            <a:off x="6400800" y="2895600"/>
            <a:ext cx="609600" cy="285750"/>
          </a:xfrm>
          <a:custGeom>
            <a:avLst/>
            <a:gdLst/>
            <a:ahLst/>
            <a:cxnLst/>
            <a:pathLst>
              <a:path w="609600" h="285750">
                <a:moveTo>
                  <a:pt x="0" y="0"/>
                </a:moveTo>
                <a:lnTo>
                  <a:pt x="609600" y="2857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4" name="codex-p41-relationship"/>
          <p:cNvSpPr>
            <a:spLocks noGrp="1"/>
          </p:cNvSpPr>
          <p:nvPr/>
        </p:nvSpPr>
        <p:spPr>
          <a:xfrm>
            <a:off x="6400800" y="3800475"/>
            <a:ext cx="609600" cy="304800"/>
          </a:xfrm>
          <a:custGeom>
            <a:avLst/>
            <a:gdLst/>
            <a:ahLst/>
            <a:cxnLst/>
            <a:pathLst>
              <a:path w="609600" h="304800">
                <a:moveTo>
                  <a:pt x="0" y="30480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007C9B"/>
            </a:solidFill>
          </a:ln>
        </p:spPr>
      </p:sp>
      <p:sp>
        <p:nvSpPr>
          <p:cNvPr id="15" name="codex-p41-relationship"/>
          <p:cNvSpPr>
            <a:spLocks noGrp="1"/>
          </p:cNvSpPr>
          <p:nvPr/>
        </p:nvSpPr>
        <p:spPr>
          <a:xfrm>
            <a:off x="8220075" y="3505200"/>
            <a:ext cx="342900" cy="9525"/>
          </a:xfrm>
          <a:custGeom>
            <a:avLst/>
            <a:gdLst/>
            <a:ahLst/>
            <a:cxnLst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6" name="codex-p41-relationship"/>
          <p:cNvSpPr>
            <a:spLocks noGrp="1"/>
          </p:cNvSpPr>
          <p:nvPr/>
        </p:nvSpPr>
        <p:spPr>
          <a:xfrm>
            <a:off x="8562975" y="2905125"/>
            <a:ext cx="9525" cy="1266825"/>
          </a:xfrm>
          <a:custGeom>
            <a:avLst/>
            <a:gdLst/>
            <a:ahLst/>
            <a:cxnLst/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7" name="codex-p41-relationship"/>
          <p:cNvSpPr>
            <a:spLocks noGrp="1"/>
          </p:cNvSpPr>
          <p:nvPr/>
        </p:nvSpPr>
        <p:spPr>
          <a:xfrm>
            <a:off x="8562975" y="2905125"/>
            <a:ext cx="247650" cy="9525"/>
          </a:xfrm>
          <a:custGeom>
            <a:avLst/>
            <a:gdLst/>
            <a:ahLst/>
            <a:cxnLst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p41-relationship"/>
          <p:cNvSpPr>
            <a:spLocks noGrp="1"/>
          </p:cNvSpPr>
          <p:nvPr/>
        </p:nvSpPr>
        <p:spPr>
          <a:xfrm>
            <a:off x="8562975" y="4171950"/>
            <a:ext cx="247650" cy="9525"/>
          </a:xfrm>
          <a:custGeom>
            <a:avLst/>
            <a:gdLst/>
            <a:ahLst/>
            <a:cxnLst/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9" name="codex-p41-image-caption"/>
          <p:cNvSpPr>
            <a:spLocks noGrp="1"/>
          </p:cNvSpPr>
          <p:nvPr/>
        </p:nvSpPr>
        <p:spPr>
          <a:xfrm>
            <a:off x="8724900" y="244792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L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0" name="codex-p41-mixed-output-0"/>
          <p:cNvSpPr>
            <a:spLocks noGrp="1"/>
          </p:cNvSpPr>
          <p:nvPr/>
        </p:nvSpPr>
        <p:spPr>
          <a:xfrm>
            <a:off x="9039225" y="2627411"/>
            <a:ext cx="2333625" cy="555428"/>
          </a:xfrm>
          <a:custGeom>
            <a:avLst/>
            <a:gdLst/>
            <a:ahLst/>
            <a:cxnLst/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41-image-caption"/>
          <p:cNvSpPr>
            <a:spLocks noGrp="1"/>
          </p:cNvSpPr>
          <p:nvPr/>
        </p:nvSpPr>
        <p:spPr>
          <a:xfrm>
            <a:off x="8724900" y="37147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R</a:t>
            </a:r>
            <a:endParaRPr sz="22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codex-p41-mixed-output-1"/>
          <p:cNvSpPr>
            <a:spLocks noGrp="1"/>
          </p:cNvSpPr>
          <p:nvPr/>
        </p:nvSpPr>
        <p:spPr>
          <a:xfrm>
            <a:off x="9039225" y="3894236"/>
            <a:ext cx="2333625" cy="555428"/>
          </a:xfrm>
          <a:custGeom>
            <a:avLst/>
            <a:gdLst/>
            <a:ahLst/>
            <a:cxnLst/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3" name="codex-p41-image-caption"/>
          <p:cNvSpPr>
            <a:spLocks noGrp="1"/>
          </p:cNvSpPr>
          <p:nvPr/>
        </p:nvSpPr>
        <p:spPr>
          <a:xfrm>
            <a:off x="6800850" y="5019675"/>
            <a:ext cx="4762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L、R都可包含两条音轨的内容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4" name="codex-p41-image-caption"/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FF0000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容量由导出的声道数决定</a:t>
            </a: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；编辑工程的音轨数另行统计。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答案：未压缩样本数据量不变。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内容变了，但采样率、位数、声道数、时长均未变。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codex-q43-image-caption"/>
          <p:cNvSpPr>
            <a:spLocks noGrp="1"/>
          </p:cNvSpPr>
          <p:nvPr/>
        </p:nvSpPr>
        <p:spPr>
          <a:xfrm>
            <a:off x="609600" y="16478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同一录音：采样率、存储位宽和时长不变。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只将双声道改为单声道。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codex-p43-image-caption"/>
          <p:cNvSpPr>
            <a:spLocks noGrp="1"/>
          </p:cNvSpPr>
          <p:nvPr/>
        </p:nvSpPr>
        <p:spPr>
          <a:xfrm>
            <a:off x="609600" y="164782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同一录音：采样率、存储位宽和时长不变。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只将双声道改为单声道。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p43-image-caption"/>
          <p:cNvSpPr>
            <a:spLocks noGrp="1"/>
          </p:cNvSpPr>
          <p:nvPr/>
        </p:nvSpPr>
        <p:spPr>
          <a:xfrm>
            <a:off x="609600" y="2962275"/>
            <a:ext cx="5257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双声道：2路</a:t>
            </a:r>
            <a:endParaRPr sz="24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43-image-caption"/>
          <p:cNvSpPr>
            <a:spLocks noGrp="1"/>
          </p:cNvSpPr>
          <p:nvPr/>
        </p:nvSpPr>
        <p:spPr>
          <a:xfrm>
            <a:off x="6724650" y="2962275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单声道：1路</a:t>
            </a:r>
            <a:endParaRPr sz="2400" b="1">
              <a:solidFill>
                <a:srgbClr val="007C9B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43-evidence-boundary"/>
          <p:cNvSpPr>
            <a:spLocks noGrp="1"/>
          </p:cNvSpPr>
          <p:nvPr/>
        </p:nvSpPr>
        <p:spPr>
          <a:xfrm>
            <a:off x="609600" y="3781425"/>
            <a:ext cx="4857750" cy="50482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9" name="codex-p43-evidence-boundary"/>
          <p:cNvSpPr>
            <a:spLocks noGrp="1"/>
          </p:cNvSpPr>
          <p:nvPr/>
        </p:nvSpPr>
        <p:spPr>
          <a:xfrm>
            <a:off x="609600" y="4524375"/>
            <a:ext cx="4857750" cy="50482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0" name="codex-p43-evidence-boundary"/>
          <p:cNvSpPr>
            <a:spLocks noGrp="1"/>
          </p:cNvSpPr>
          <p:nvPr/>
        </p:nvSpPr>
        <p:spPr>
          <a:xfrm>
            <a:off x="6724650" y="4152900"/>
            <a:ext cx="4857750" cy="50482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</p:sp>
      <p:sp>
        <p:nvSpPr>
          <p:cNvPr id="11" name="codex-p43-image-caption"/>
          <p:cNvSpPr>
            <a:spLocks noGrp="1"/>
          </p:cNvSpPr>
          <p:nvPr/>
        </p:nvSpPr>
        <p:spPr>
          <a:xfrm>
            <a:off x="609600" y="5778246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固定宽度PCM：输出声道数减半，样本数据量随之减半。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图像采样与声音采样，哪里相同？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10分钟、每秒25帧，要保存多少张画面？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答案：约6.44 GiB。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480×320×24÷8×25×600 = 6,912,000,000 B；÷1024³≈6.44 GiB。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10分钟视频，为什么远小于6.44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未压缩图像帧</a:t>
            </a:r>
            <a:endParaRPr sz="25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5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重新编码后的视频</a:t>
            </a:r>
            <a:endParaRPr sz="25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每一帧都要保存完整的原始像素数据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利用帧间相似和更有效的编码，数据可能显著减小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为什么要压缩？先想两种真实需求。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“中国”重复100次，有没有更简短的写法？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为什么重复内容更容易压缩？</a:t>
            </a:r>
          </a:p>
        </p:txBody>
      </p:sp>
      <p:sp>
        <p:nvSpPr>
          <p:cNvPr id="5" name="codex-q53-image-caption"/>
          <p:cNvSpPr>
            <a:spLocks noGrp="1"/>
          </p:cNvSpPr>
          <p:nvPr/>
        </p:nvSpPr>
        <p:spPr>
          <a:xfrm>
            <a:off x="609600" y="1762125"/>
            <a:ext cx="5257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高度重复的内容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q53-image-caption"/>
          <p:cNvSpPr>
            <a:spLocks noGrp="1"/>
          </p:cNvSpPr>
          <p:nvPr/>
        </p:nvSpPr>
        <p:spPr>
          <a:xfrm>
            <a:off x="6724650" y="176212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变化复杂的内容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q53-image-caption"/>
          <p:cNvSpPr>
            <a:spLocks noGrp="1"/>
          </p:cNvSpPr>
          <p:nvPr/>
        </p:nvSpPr>
        <p:spPr>
          <a:xfrm>
            <a:off x="609600" y="2743200"/>
            <a:ext cx="5257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AAAAAAAAAA…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codex-q53-image-caption"/>
          <p:cNvSpPr>
            <a:spLocks noGrp="1"/>
          </p:cNvSpPr>
          <p:nvPr/>
        </p:nvSpPr>
        <p:spPr>
          <a:xfrm>
            <a:off x="6724650" y="274320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AX3Q9P8F2…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为什么重复内容更容易压缩？</a:t>
            </a:r>
          </a:p>
        </p:txBody>
      </p:sp>
      <p:sp>
        <p:nvSpPr>
          <p:cNvPr id="5" name="codex-p53-image-caption"/>
          <p:cNvSpPr>
            <a:spLocks noGrp="1"/>
          </p:cNvSpPr>
          <p:nvPr/>
        </p:nvSpPr>
        <p:spPr>
          <a:xfrm>
            <a:off x="609600" y="1762125"/>
            <a:ext cx="5257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高度重复的内容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p53-image-caption"/>
          <p:cNvSpPr>
            <a:spLocks noGrp="1"/>
          </p:cNvSpPr>
          <p:nvPr/>
        </p:nvSpPr>
        <p:spPr>
          <a:xfrm>
            <a:off x="6724650" y="1762125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变化复杂的内容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53-image-caption"/>
          <p:cNvSpPr>
            <a:spLocks noGrp="1"/>
          </p:cNvSpPr>
          <p:nvPr/>
        </p:nvSpPr>
        <p:spPr>
          <a:xfrm>
            <a:off x="609600" y="2743200"/>
            <a:ext cx="5257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AAAAAAAAAA…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codex-p53-image-caption"/>
          <p:cNvSpPr>
            <a:spLocks noGrp="1"/>
          </p:cNvSpPr>
          <p:nvPr/>
        </p:nvSpPr>
        <p:spPr>
          <a:xfrm>
            <a:off x="6724650" y="2743200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AX3Q9P8F2…</a:t>
            </a:r>
            <a:endParaRPr sz="24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53-image-caption"/>
          <p:cNvSpPr>
            <a:spLocks noGrp="1"/>
          </p:cNvSpPr>
          <p:nvPr/>
        </p:nvSpPr>
        <p:spPr>
          <a:xfrm>
            <a:off x="609600" y="4171950"/>
            <a:ext cx="5257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能用重复次数简短地表达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53-image-caption"/>
          <p:cNvSpPr>
            <a:spLocks noGrp="1"/>
          </p:cNvSpPr>
          <p:nvPr/>
        </p:nvSpPr>
        <p:spPr>
          <a:xfrm>
            <a:off x="6724650" y="4171950"/>
            <a:ext cx="4857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通常需要更多信息描述变化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p53-image-caption"/>
          <p:cNvSpPr>
            <a:spLocks noGrp="1"/>
          </p:cNvSpPr>
          <p:nvPr/>
        </p:nvSpPr>
        <p:spPr>
          <a:xfrm>
            <a:off x="609600" y="5778246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压缩效果取决于内容和算法；不能仅根据原始文件大小判断。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3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4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压缩到底改变了什么？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两种压缩：怎样区分“无损”和“有损”？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两种压缩：怎样区分“无损”和“有损”？</a:t>
            </a:r>
          </a:p>
        </p:txBody>
      </p:sp>
      <p:sp>
        <p:nvSpPr>
          <p:cNvPr id="5" name="codex-p58-relationship"/>
          <p:cNvSpPr>
            <a:spLocks noGrp="1"/>
          </p:cNvSpPr>
          <p:nvPr/>
        </p:nvSpPr>
        <p:spPr>
          <a:xfrm>
            <a:off x="6076950" y="1628775"/>
            <a:ext cx="9525" cy="3771900"/>
          </a:xfrm>
          <a:custGeom>
            <a:avLst/>
            <a:gdLst/>
            <a:ahLst/>
            <a:cxnLst/>
            <a:pathLst>
              <a:path w="9525" h="3771900">
                <a:moveTo>
                  <a:pt x="0" y="0"/>
                </a:moveTo>
                <a:lnTo>
                  <a:pt x="0" y="3771900"/>
                </a:lnTo>
              </a:path>
            </a:pathLst>
          </a:custGeom>
          <a:noFill/>
          <a:ln w="19050">
            <a:solidFill>
              <a:srgbClr val="D7D7DE"/>
            </a:solidFill>
          </a:ln>
        </p:spPr>
      </p:sp>
      <p:sp>
        <p:nvSpPr>
          <p:cNvPr id="6" name="codex-p58-image-caption"/>
          <p:cNvSpPr>
            <a:spLocks noGrp="1"/>
          </p:cNvSpPr>
          <p:nvPr/>
        </p:nvSpPr>
        <p:spPr>
          <a:xfrm>
            <a:off x="819150" y="1733550"/>
            <a:ext cx="5076825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8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无损压缩</a:t>
            </a:r>
            <a:endParaRPr sz="2800" b="0">
              <a:solidFill>
                <a:srgbClr val="8C64E1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codex-p58-image-caption"/>
          <p:cNvSpPr>
            <a:spLocks noGrp="1"/>
          </p:cNvSpPr>
          <p:nvPr/>
        </p:nvSpPr>
        <p:spPr>
          <a:xfrm>
            <a:off x="6457950" y="1733550"/>
            <a:ext cx="4857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8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800" b="0">
                <a:solidFill>
                  <a:srgbClr val="007C9B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有损压缩</a:t>
            </a:r>
            <a:endParaRPr sz="2800" b="0">
              <a:solidFill>
                <a:srgbClr val="007C9B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codex-p58-image-caption"/>
          <p:cNvSpPr>
            <a:spLocks noGrp="1"/>
          </p:cNvSpPr>
          <p:nvPr/>
        </p:nvSpPr>
        <p:spPr>
          <a:xfrm>
            <a:off x="819150" y="2743200"/>
            <a:ext cx="5076825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还原以后，与原始数据完全一致。</a:t>
            </a:r>
            <a:endParaRPr sz="23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endParaRPr sz="2300"/>
          </a:p>
          <a:p>
            <a: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适合：文档、程序、精确备份。</a:t>
            </a:r>
            <a:endParaRPr sz="23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codex-p58-image-caption"/>
          <p:cNvSpPr>
            <a:spLocks noGrp="1"/>
          </p:cNvSpPr>
          <p:nvPr/>
        </p:nvSpPr>
        <p:spPr>
          <a:xfrm>
            <a:off x="6457950" y="2743200"/>
            <a:ext cx="512445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还原以后，不能完全恢复原始数据。</a:t>
            </a:r>
            <a:endParaRPr sz="23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  <a:p>
            <a:endParaRPr sz="2300"/>
          </a:p>
          <a:p>
            <a:pPr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适合：可接受部分失真的音视频。</a:t>
            </a:r>
            <a:endParaRPr sz="23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58-image-caption"/>
          <p:cNvSpPr>
            <a:spLocks noGrp="1"/>
          </p:cNvSpPr>
          <p:nvPr/>
        </p:nvSpPr>
        <p:spPr>
          <a:xfrm>
            <a:off x="781050" y="5810250"/>
            <a:ext cx="107918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判断标准：解码/解压后，能否完整得到原始数据？</a:t>
            </a:r>
            <a:endParaRPr sz="20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ZIP / RAR</a:t>
            </a:r>
            <a:endParaRPr sz="30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MP3</a:t>
            </a:r>
            <a:endParaRPr sz="3000" b="1">
              <a:solidFill>
                <a:srgbClr val="007C9B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WAV</a:t>
            </a:r>
            <a:endParaRPr sz="30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MP4</a:t>
            </a:r>
            <a:endParaRPr sz="3000" b="1">
              <a:solidFill>
                <a:srgbClr val="007C9B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ZIP / RAR</a:t>
            </a:r>
            <a:endParaRPr sz="30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通常为无损归档格式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MP3</a:t>
            </a:r>
            <a:endParaRPr sz="3000" b="1">
              <a:solidFill>
                <a:srgbClr val="007C9B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常见有损音频编码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WAV</a:t>
            </a:r>
            <a:endParaRPr sz="3000" b="1">
              <a:solidFill>
                <a:srgbClr val="6251B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容器；常见未压缩PCM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3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MP4</a:t>
            </a:r>
            <a:endParaRPr sz="3000" b="1">
              <a:solidFill>
                <a:srgbClr val="007C9B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容器；常装有损视频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答案：A通常最小。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纯色图像的重复与规律性最强，一般更容易用简短规则表示。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已经压成MP3、JPG，再用RAR压一遍呢？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是不是压得越小就一定越好？</a:t>
            </a:r>
          </a:p>
        </p:txBody>
      </p:sp>
      <p:pic>
        <p:nvPicPr>
          <p:cNvPr id="5" name="codex-q65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q65-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q65-image-caption"/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重要文档长期备份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q65-image-caption"/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实时视频通话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是不是压得越小就一定越好？</a:t>
            </a:r>
          </a:p>
        </p:txBody>
      </p:sp>
      <p:pic>
        <p:nvPicPr>
          <p:cNvPr id="5" name="codex-p65-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p65-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p65-image-caption"/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重要文档长期备份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8" name="codex-p65-image-caption"/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4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实时视频通话</a:t>
            </a:r>
            <a:endParaRPr sz="24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9" name="codex-p65-image-caption"/>
          <p:cNvSpPr>
            <a:spLocks noGrp="1"/>
          </p:cNvSpPr>
          <p:nvPr/>
        </p:nvSpPr>
        <p:spPr>
          <a:xfrm>
            <a:off x="609600" y="4924425"/>
            <a:ext cx="5257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优先完整恢复、可靠保存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65-image-caption"/>
          <p:cNvSpPr>
            <a:spLocks noGrp="1"/>
          </p:cNvSpPr>
          <p:nvPr/>
        </p:nvSpPr>
        <p:spPr>
          <a:xfrm>
            <a:off x="6724650" y="4924425"/>
            <a:ext cx="4857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兼顾质量、延迟与传输量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p65-image-caption"/>
          <p:cNvSpPr>
            <a:spLocks noGrp="1"/>
          </p:cNvSpPr>
          <p:nvPr/>
        </p:nvSpPr>
        <p:spPr>
          <a:xfrm>
            <a:off x="609600" y="5797296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选择依据是任务要求，文件大小只是其中一个条件。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答案：①错；②对；③对。</a:t>
            </a:r>
            <a:endParaRPr sz="2600" b="1">
              <a:solidFill>
                <a:srgbClr val="8C64E1"/>
              </a:solidFill>
              <a:latin typeface="Alibaba PuHuiTi 3.0 115 Black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650992"/>
            <a:ext cx="10241280" cy="6035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①音轨不等于声道；②每帧的数据量相加可能很大；③ZIP为无损归档。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4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4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4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4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4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4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4-tree-edge-1"/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4-tree-node-1"/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数字化与表示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tree4-tree-description-1"/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采样定时刻；量化定代表值；码字表示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tree4-tree-edge-2"/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4-tree-node-2"/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PCM样本数据量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tree4-tree-description-2"/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 × 时长 × 声道数 × 存储位宽 ÷ 8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tree4-tree-edge-3"/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4-tree-node-3"/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逐帧未压缩视频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codex-tree4-tree-description-3"/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单帧像素数据量 × 总帧数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0" name="codex-tree4-tree-new-focus"/>
          <p:cNvSpPr>
            <a:spLocks noGrp="1"/>
          </p:cNvSpPr>
          <p:nvPr/>
        </p:nvSpPr>
        <p:spPr>
          <a:xfrm>
            <a:off x="3667125" y="376237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1" name="codex-tree4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5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5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5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5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5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5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5-tree-edge-1"/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5-tree-node-1"/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数字化与表示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tree5-tree-description-1"/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采样定时刻；量化定代表值；码字表示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tree5-tree-edge-2"/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5-tree-node-2"/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PCM样本数据量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tree5-tree-description-2"/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 × 时长 × 声道数 × 存储位宽 ÷ 8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tree5-tree-edge-3"/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5-tree-node-3"/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逐帧未压缩视频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codex-tree5-tree-description-3"/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单帧像素数据量 × 总帧数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0" name="codex-tree5-tree-edge-4"/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5-tree-node-4"/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压缩的目的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codex-tree5-tree-description-4"/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节省空间；减少传输数据量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3" name="codex-tree5-tree-new-focus"/>
          <p:cNvSpPr>
            <a:spLocks noGrp="1"/>
          </p:cNvSpPr>
          <p:nvPr/>
        </p:nvSpPr>
        <p:spPr>
          <a:xfrm>
            <a:off x="3667125" y="4457700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4" name="codex-tree5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把证据连接起来：数据怎样表示？</a:t>
            </a:r>
          </a:p>
        </p:txBody>
      </p:sp>
      <p:sp>
        <p:nvSpPr>
          <p:cNvPr id="5" name="codex-tree6-tree-root"/>
          <p:cNvSpPr>
            <a:spLocks noGrp="1"/>
          </p:cNvSpPr>
          <p:nvPr/>
        </p:nvSpPr>
        <p:spPr>
          <a:xfrm>
            <a:off x="609600" y="1762125"/>
            <a:ext cx="2286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7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数据的表示</a:t>
            </a:r>
            <a:endParaRPr sz="27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6" name="codex-tree6-tree-root-edge"/>
          <p:cNvSpPr>
            <a:spLocks noGrp="1"/>
          </p:cNvSpPr>
          <p:nvPr/>
        </p:nvSpPr>
        <p:spPr>
          <a:xfrm>
            <a:off x="2914650" y="1981200"/>
            <a:ext cx="466725" cy="9525"/>
          </a:xfrm>
          <a:custGeom>
            <a:avLst/>
            <a:gdLst/>
            <a:ahLst/>
            <a:cxnLst/>
            <a:pathLst>
              <a:path w="466725" h="9525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7" name="codex-tree6-tree-spine"/>
          <p:cNvSpPr>
            <a:spLocks noGrp="1"/>
          </p:cNvSpPr>
          <p:nvPr/>
        </p:nvSpPr>
        <p:spPr>
          <a:xfrm>
            <a:off x="3381375" y="1981200"/>
            <a:ext cx="9525" cy="3800475"/>
          </a:xfrm>
          <a:custGeom>
            <a:avLst/>
            <a:gdLst/>
            <a:ahLst/>
            <a:cxnLst/>
            <a:pathLst>
              <a:path w="9525" h="3800475">
                <a:moveTo>
                  <a:pt x="0" y="0"/>
                </a:moveTo>
                <a:lnTo>
                  <a:pt x="0" y="380047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8" name="codex-tree6-tree-edge-0"/>
          <p:cNvSpPr>
            <a:spLocks noGrp="1"/>
          </p:cNvSpPr>
          <p:nvPr/>
        </p:nvSpPr>
        <p:spPr>
          <a:xfrm>
            <a:off x="3381375" y="19907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9" name="codex-tree6-tree-node-0"/>
          <p:cNvSpPr>
            <a:spLocks noGrp="1"/>
          </p:cNvSpPr>
          <p:nvPr/>
        </p:nvSpPr>
        <p:spPr>
          <a:xfrm>
            <a:off x="3752850" y="17621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录音与播放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0" name="codex-tree6-tree-description-0"/>
          <p:cNvSpPr>
            <a:spLocks noGrp="1"/>
          </p:cNvSpPr>
          <p:nvPr/>
        </p:nvSpPr>
        <p:spPr>
          <a:xfrm>
            <a:off x="6772275" y="17621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麦克风 / ADC；DAC / 扬声器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1" name="codex-tree6-tree-edge-1"/>
          <p:cNvSpPr>
            <a:spLocks noGrp="1"/>
          </p:cNvSpPr>
          <p:nvPr/>
        </p:nvSpPr>
        <p:spPr>
          <a:xfrm>
            <a:off x="3381375" y="26860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tree6-tree-node-1"/>
          <p:cNvSpPr>
            <a:spLocks noGrp="1"/>
          </p:cNvSpPr>
          <p:nvPr/>
        </p:nvSpPr>
        <p:spPr>
          <a:xfrm>
            <a:off x="3752850" y="24574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数字化与表示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3" name="codex-tree6-tree-description-1"/>
          <p:cNvSpPr>
            <a:spLocks noGrp="1"/>
          </p:cNvSpPr>
          <p:nvPr/>
        </p:nvSpPr>
        <p:spPr>
          <a:xfrm>
            <a:off x="6772275" y="24574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采样定时刻；量化定代表值；码字表示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tree6-tree-edge-2"/>
          <p:cNvSpPr>
            <a:spLocks noGrp="1"/>
          </p:cNvSpPr>
          <p:nvPr/>
        </p:nvSpPr>
        <p:spPr>
          <a:xfrm>
            <a:off x="3381375" y="338137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tree6-tree-node-2"/>
          <p:cNvSpPr>
            <a:spLocks noGrp="1"/>
          </p:cNvSpPr>
          <p:nvPr/>
        </p:nvSpPr>
        <p:spPr>
          <a:xfrm>
            <a:off x="3752850" y="31527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PCM样本数据量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tree6-tree-description-2"/>
          <p:cNvSpPr>
            <a:spLocks noGrp="1"/>
          </p:cNvSpPr>
          <p:nvPr/>
        </p:nvSpPr>
        <p:spPr>
          <a:xfrm>
            <a:off x="6772275" y="315277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采样率 × 时长 × 声道数 × 存储位宽 ÷ 8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7" name="codex-tree6-tree-edge-3"/>
          <p:cNvSpPr>
            <a:spLocks noGrp="1"/>
          </p:cNvSpPr>
          <p:nvPr/>
        </p:nvSpPr>
        <p:spPr>
          <a:xfrm>
            <a:off x="3381375" y="407670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8" name="codex-tree6-tree-node-3"/>
          <p:cNvSpPr>
            <a:spLocks noGrp="1"/>
          </p:cNvSpPr>
          <p:nvPr/>
        </p:nvSpPr>
        <p:spPr>
          <a:xfrm>
            <a:off x="3752850" y="384810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逐帧未压缩视频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9" name="codex-tree6-tree-description-3"/>
          <p:cNvSpPr>
            <a:spLocks noGrp="1"/>
          </p:cNvSpPr>
          <p:nvPr/>
        </p:nvSpPr>
        <p:spPr>
          <a:xfrm>
            <a:off x="6772275" y="384810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单帧像素数据量 × 总帧数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0" name="codex-tree6-tree-edge-4"/>
          <p:cNvSpPr>
            <a:spLocks noGrp="1"/>
          </p:cNvSpPr>
          <p:nvPr/>
        </p:nvSpPr>
        <p:spPr>
          <a:xfrm>
            <a:off x="3381375" y="4772025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1" name="codex-tree6-tree-node-4"/>
          <p:cNvSpPr>
            <a:spLocks noGrp="1"/>
          </p:cNvSpPr>
          <p:nvPr/>
        </p:nvSpPr>
        <p:spPr>
          <a:xfrm>
            <a:off x="3752850" y="454342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压缩的目的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2" name="codex-tree6-tree-description-4"/>
          <p:cNvSpPr>
            <a:spLocks noGrp="1"/>
          </p:cNvSpPr>
          <p:nvPr/>
        </p:nvSpPr>
        <p:spPr>
          <a:xfrm>
            <a:off x="6772275" y="4543425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节省空间；减少传输数据量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3" name="codex-tree6-tree-edge-5"/>
          <p:cNvSpPr>
            <a:spLocks noGrp="1"/>
          </p:cNvSpPr>
          <p:nvPr/>
        </p:nvSpPr>
        <p:spPr>
          <a:xfrm>
            <a:off x="3381375" y="5467350"/>
            <a:ext cx="266700" cy="9525"/>
          </a:xfrm>
          <a:custGeom>
            <a:avLst/>
            <a:gdLst/>
            <a:ahLst/>
            <a:cxnLst/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24" name="codex-tree6-tree-node-5"/>
          <p:cNvSpPr>
            <a:spLocks noGrp="1"/>
          </p:cNvSpPr>
          <p:nvPr/>
        </p:nvSpPr>
        <p:spPr>
          <a:xfrm>
            <a:off x="3752850" y="52387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压缩的恢复标准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25" name="codex-tree6-tree-description-5"/>
          <p:cNvSpPr>
            <a:spLocks noGrp="1"/>
          </p:cNvSpPr>
          <p:nvPr/>
        </p:nvSpPr>
        <p:spPr>
          <a:xfrm>
            <a:off x="6772275" y="5238750"/>
            <a:ext cx="46863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无损：逐字节一致；有损：允许损失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26" name="codex-tree6-tree-new-focus"/>
          <p:cNvSpPr>
            <a:spLocks noGrp="1"/>
          </p:cNvSpPr>
          <p:nvPr/>
        </p:nvSpPr>
        <p:spPr>
          <a:xfrm>
            <a:off x="3667125" y="5153025"/>
            <a:ext cx="7915275" cy="6286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</p:sp>
      <p:sp>
        <p:nvSpPr>
          <p:cNvPr id="27" name="codex-tree6-tree-focus-label"/>
          <p:cNvSpPr>
            <a:spLocks noGrp="1"/>
          </p:cNvSpPr>
          <p:nvPr/>
        </p:nvSpPr>
        <p:spPr>
          <a:xfrm>
            <a:off x="609600" y="5810250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本次新增</a:t>
            </a:r>
            <a:endParaRPr sz="2200" b="1">
              <a:solidFill>
                <a:srgbClr val="8C64E1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可选拓展：采样不足时会发生什么？</a:t>
            </a:r>
          </a:p>
        </p:txBody>
      </p:sp>
      <p:sp>
        <p:nvSpPr>
          <p:cNvPr id="5" name="codex-q69-image-caption"/>
          <p:cNvSpPr>
            <a:spLocks noGrp="1"/>
          </p:cNvSpPr>
          <p:nvPr/>
        </p:nvSpPr>
        <p:spPr>
          <a:xfrm>
            <a:off x="609600" y="17145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三个样本：时刻0、0.5、1 s，幅度1、−1、1。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q69-image-caption"/>
          <p:cNvSpPr>
            <a:spLocks noGrp="1"/>
          </p:cNvSpPr>
          <p:nvPr/>
        </p:nvSpPr>
        <p:spPr>
          <a:xfrm>
            <a:off x="609600" y="2724150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波形A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q69-relationship"/>
          <p:cNvSpPr>
            <a:spLocks noGrp="1"/>
          </p:cNvSpPr>
          <p:nvPr/>
        </p:nvSpPr>
        <p:spPr>
          <a:xfrm>
            <a:off x="2667000" y="3295650"/>
            <a:ext cx="8477250" cy="9525"/>
          </a:xfrm>
          <a:custGeom>
            <a:avLst/>
            <a:gdLst/>
            <a:ahLst/>
            <a:cxnLst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q69-same-alias-point-0-0"/>
          <p:cNvSpPr>
            <a:spLocks noGrp="1"/>
          </p:cNvSpPr>
          <p:nvPr/>
        </p:nvSpPr>
        <p:spPr>
          <a:xfrm>
            <a:off x="2771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9" name="codex-q69-image-caption"/>
          <p:cNvSpPr>
            <a:spLocks noGrp="1"/>
          </p:cNvSpPr>
          <p:nvPr/>
        </p:nvSpPr>
        <p:spPr>
          <a:xfrm>
            <a:off x="2571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q69-same-alias-point-0-1"/>
          <p:cNvSpPr>
            <a:spLocks noGrp="1"/>
          </p:cNvSpPr>
          <p:nvPr/>
        </p:nvSpPr>
        <p:spPr>
          <a:xfrm>
            <a:off x="6772275" y="386715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1" name="codex-q69-image-caption"/>
          <p:cNvSpPr>
            <a:spLocks noGrp="1"/>
          </p:cNvSpPr>
          <p:nvPr/>
        </p:nvSpPr>
        <p:spPr>
          <a:xfrm>
            <a:off x="65722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0.5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codex-q69-same-alias-point-0-2"/>
          <p:cNvSpPr>
            <a:spLocks noGrp="1"/>
          </p:cNvSpPr>
          <p:nvPr/>
        </p:nvSpPr>
        <p:spPr>
          <a:xfrm>
            <a:off x="10772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3" name="codex-q69-image-caption"/>
          <p:cNvSpPr>
            <a:spLocks noGrp="1"/>
          </p:cNvSpPr>
          <p:nvPr/>
        </p:nvSpPr>
        <p:spPr>
          <a:xfrm>
            <a:off x="10572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可选拓展：采样不足时会发生什么？</a:t>
            </a:r>
          </a:p>
        </p:txBody>
      </p:sp>
      <p:sp>
        <p:nvSpPr>
          <p:cNvPr id="5" name="codex-p69-image-caption"/>
          <p:cNvSpPr>
            <a:spLocks noGrp="1"/>
          </p:cNvSpPr>
          <p:nvPr/>
        </p:nvSpPr>
        <p:spPr>
          <a:xfrm>
            <a:off x="609600" y="1714500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三个样本：时刻0、0.5、1 s，幅度1、−1、1。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6" name="codex-p69-image-caption"/>
          <p:cNvSpPr>
            <a:spLocks noGrp="1"/>
          </p:cNvSpPr>
          <p:nvPr/>
        </p:nvSpPr>
        <p:spPr>
          <a:xfrm>
            <a:off x="609600" y="2724150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波形A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7" name="codex-p69-relationship"/>
          <p:cNvSpPr>
            <a:spLocks noGrp="1"/>
          </p:cNvSpPr>
          <p:nvPr/>
        </p:nvSpPr>
        <p:spPr>
          <a:xfrm>
            <a:off x="2667000" y="3295650"/>
            <a:ext cx="8477250" cy="9525"/>
          </a:xfrm>
          <a:custGeom>
            <a:avLst/>
            <a:gdLst/>
            <a:ahLst/>
            <a:cxnLst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8" name="codex-p69-same-alias-point-0-0"/>
          <p:cNvSpPr>
            <a:spLocks noGrp="1"/>
          </p:cNvSpPr>
          <p:nvPr/>
        </p:nvSpPr>
        <p:spPr>
          <a:xfrm>
            <a:off x="2771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9" name="codex-p69-image-caption"/>
          <p:cNvSpPr>
            <a:spLocks noGrp="1"/>
          </p:cNvSpPr>
          <p:nvPr/>
        </p:nvSpPr>
        <p:spPr>
          <a:xfrm>
            <a:off x="2571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0" name="codex-p69-same-alias-point-0-1"/>
          <p:cNvSpPr>
            <a:spLocks noGrp="1"/>
          </p:cNvSpPr>
          <p:nvPr/>
        </p:nvSpPr>
        <p:spPr>
          <a:xfrm>
            <a:off x="6772275" y="386715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1" name="codex-p69-image-caption"/>
          <p:cNvSpPr>
            <a:spLocks noGrp="1"/>
          </p:cNvSpPr>
          <p:nvPr/>
        </p:nvSpPr>
        <p:spPr>
          <a:xfrm>
            <a:off x="65722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0.5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2" name="codex-p69-same-alias-point-0-2"/>
          <p:cNvSpPr>
            <a:spLocks noGrp="1"/>
          </p:cNvSpPr>
          <p:nvPr/>
        </p:nvSpPr>
        <p:spPr>
          <a:xfrm>
            <a:off x="10772775" y="2628900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3" name="codex-p69-image-caption"/>
          <p:cNvSpPr>
            <a:spLocks noGrp="1"/>
          </p:cNvSpPr>
          <p:nvPr/>
        </p:nvSpPr>
        <p:spPr>
          <a:xfrm>
            <a:off x="10572750" y="4029075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18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1 s</a:t>
            </a:r>
            <a:endParaRPr sz="18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  <p:sp>
        <p:nvSpPr>
          <p:cNvPr id="14" name="codex-p69-signal"/>
          <p:cNvSpPr>
            <a:spLocks noGrp="1"/>
          </p:cNvSpPr>
          <p:nvPr/>
        </p:nvSpPr>
        <p:spPr>
          <a:xfrm>
            <a:off x="2819400" y="2676525"/>
            <a:ext cx="8001000" cy="1238250"/>
          </a:xfrm>
          <a:custGeom>
            <a:avLst/>
            <a:gdLst/>
            <a:ahLst/>
            <a:cxnLst/>
            <a:pathLst>
              <a:path w="8001000" h="1238250">
                <a:moveTo>
                  <a:pt x="0" y="0"/>
                </a:moveTo>
                <a:lnTo>
                  <a:pt x="33338" y="212"/>
                </a:lnTo>
                <a:lnTo>
                  <a:pt x="66675" y="848"/>
                </a:lnTo>
                <a:lnTo>
                  <a:pt x="100013" y="1909"/>
                </a:lnTo>
                <a:lnTo>
                  <a:pt x="133350" y="3392"/>
                </a:lnTo>
                <a:lnTo>
                  <a:pt x="166688" y="5297"/>
                </a:lnTo>
                <a:lnTo>
                  <a:pt x="200025" y="7622"/>
                </a:lnTo>
                <a:lnTo>
                  <a:pt x="233363" y="10367"/>
                </a:lnTo>
                <a:lnTo>
                  <a:pt x="266700" y="13529"/>
                </a:lnTo>
                <a:lnTo>
                  <a:pt x="300038" y="17106"/>
                </a:lnTo>
                <a:lnTo>
                  <a:pt x="333375" y="21096"/>
                </a:lnTo>
                <a:lnTo>
                  <a:pt x="366713" y="25496"/>
                </a:lnTo>
                <a:lnTo>
                  <a:pt x="400050" y="30302"/>
                </a:lnTo>
                <a:lnTo>
                  <a:pt x="433388" y="35512"/>
                </a:lnTo>
                <a:lnTo>
                  <a:pt x="466725" y="41122"/>
                </a:lnTo>
                <a:lnTo>
                  <a:pt x="500063" y="47128"/>
                </a:lnTo>
                <a:lnTo>
                  <a:pt x="533400" y="53526"/>
                </a:lnTo>
                <a:lnTo>
                  <a:pt x="566738" y="60312"/>
                </a:lnTo>
                <a:lnTo>
                  <a:pt x="600075" y="67481"/>
                </a:lnTo>
                <a:lnTo>
                  <a:pt x="633413" y="75027"/>
                </a:lnTo>
                <a:lnTo>
                  <a:pt x="666750" y="82947"/>
                </a:lnTo>
                <a:lnTo>
                  <a:pt x="700088" y="91234"/>
                </a:lnTo>
                <a:lnTo>
                  <a:pt x="733425" y="99883"/>
                </a:lnTo>
                <a:lnTo>
                  <a:pt x="766763" y="108888"/>
                </a:lnTo>
                <a:lnTo>
                  <a:pt x="800100" y="118242"/>
                </a:lnTo>
                <a:lnTo>
                  <a:pt x="833438" y="127940"/>
                </a:lnTo>
                <a:lnTo>
                  <a:pt x="866775" y="137975"/>
                </a:lnTo>
                <a:lnTo>
                  <a:pt x="900113" y="148339"/>
                </a:lnTo>
                <a:lnTo>
                  <a:pt x="933450" y="159025"/>
                </a:lnTo>
                <a:lnTo>
                  <a:pt x="966788" y="170028"/>
                </a:lnTo>
                <a:lnTo>
                  <a:pt x="1000125" y="181338"/>
                </a:lnTo>
                <a:lnTo>
                  <a:pt x="1033463" y="192947"/>
                </a:lnTo>
                <a:lnTo>
                  <a:pt x="1066800" y="204850"/>
                </a:lnTo>
                <a:lnTo>
                  <a:pt x="1100138" y="217035"/>
                </a:lnTo>
                <a:lnTo>
                  <a:pt x="1133475" y="229497"/>
                </a:lnTo>
                <a:lnTo>
                  <a:pt x="1166813" y="242226"/>
                </a:lnTo>
                <a:lnTo>
                  <a:pt x="1200150" y="255212"/>
                </a:lnTo>
                <a:lnTo>
                  <a:pt x="1233488" y="268449"/>
                </a:lnTo>
                <a:lnTo>
                  <a:pt x="1266825" y="281925"/>
                </a:lnTo>
                <a:lnTo>
                  <a:pt x="1300163" y="295633"/>
                </a:lnTo>
                <a:lnTo>
                  <a:pt x="1333500" y="309563"/>
                </a:lnTo>
                <a:lnTo>
                  <a:pt x="1366838" y="323704"/>
                </a:lnTo>
                <a:lnTo>
                  <a:pt x="1400175" y="338048"/>
                </a:lnTo>
                <a:lnTo>
                  <a:pt x="1433513" y="352585"/>
                </a:lnTo>
                <a:lnTo>
                  <a:pt x="1466850" y="367304"/>
                </a:lnTo>
                <a:lnTo>
                  <a:pt x="1500188" y="382196"/>
                </a:lnTo>
                <a:lnTo>
                  <a:pt x="1533525" y="397250"/>
                </a:lnTo>
                <a:lnTo>
                  <a:pt x="1566863" y="412457"/>
                </a:lnTo>
                <a:lnTo>
                  <a:pt x="1600200" y="427805"/>
                </a:lnTo>
                <a:lnTo>
                  <a:pt x="1633538" y="443284"/>
                </a:lnTo>
                <a:lnTo>
                  <a:pt x="1666875" y="458884"/>
                </a:lnTo>
                <a:lnTo>
                  <a:pt x="1700213" y="474593"/>
                </a:lnTo>
                <a:lnTo>
                  <a:pt x="1733550" y="490402"/>
                </a:lnTo>
                <a:lnTo>
                  <a:pt x="1766888" y="506298"/>
                </a:lnTo>
                <a:lnTo>
                  <a:pt x="1800225" y="522273"/>
                </a:lnTo>
                <a:lnTo>
                  <a:pt x="1833563" y="538313"/>
                </a:lnTo>
                <a:lnTo>
                  <a:pt x="1866900" y="554409"/>
                </a:lnTo>
                <a:lnTo>
                  <a:pt x="1900238" y="570549"/>
                </a:lnTo>
                <a:lnTo>
                  <a:pt x="1933575" y="586723"/>
                </a:lnTo>
                <a:lnTo>
                  <a:pt x="1966913" y="602918"/>
                </a:lnTo>
                <a:lnTo>
                  <a:pt x="2000250" y="619125"/>
                </a:lnTo>
                <a:lnTo>
                  <a:pt x="2033588" y="635332"/>
                </a:lnTo>
                <a:lnTo>
                  <a:pt x="2066925" y="651527"/>
                </a:lnTo>
                <a:lnTo>
                  <a:pt x="2100263" y="667701"/>
                </a:lnTo>
                <a:lnTo>
                  <a:pt x="2133600" y="683841"/>
                </a:lnTo>
                <a:lnTo>
                  <a:pt x="2166938" y="699937"/>
                </a:lnTo>
                <a:lnTo>
                  <a:pt x="2200275" y="715977"/>
                </a:lnTo>
                <a:lnTo>
                  <a:pt x="2233613" y="731952"/>
                </a:lnTo>
                <a:lnTo>
                  <a:pt x="2266950" y="747848"/>
                </a:lnTo>
                <a:lnTo>
                  <a:pt x="2300288" y="763657"/>
                </a:lnTo>
                <a:lnTo>
                  <a:pt x="2333625" y="779366"/>
                </a:lnTo>
                <a:lnTo>
                  <a:pt x="2366963" y="794966"/>
                </a:lnTo>
                <a:lnTo>
                  <a:pt x="2400300" y="810445"/>
                </a:lnTo>
                <a:lnTo>
                  <a:pt x="2433638" y="825793"/>
                </a:lnTo>
                <a:lnTo>
                  <a:pt x="2466975" y="841000"/>
                </a:lnTo>
                <a:lnTo>
                  <a:pt x="2500313" y="856054"/>
                </a:lnTo>
                <a:lnTo>
                  <a:pt x="2533650" y="870946"/>
                </a:lnTo>
                <a:lnTo>
                  <a:pt x="2566988" y="885665"/>
                </a:lnTo>
                <a:lnTo>
                  <a:pt x="2600325" y="900202"/>
                </a:lnTo>
                <a:lnTo>
                  <a:pt x="2633663" y="914546"/>
                </a:lnTo>
                <a:lnTo>
                  <a:pt x="2667000" y="928688"/>
                </a:lnTo>
                <a:lnTo>
                  <a:pt x="2700338" y="942617"/>
                </a:lnTo>
                <a:lnTo>
                  <a:pt x="2733675" y="956325"/>
                </a:lnTo>
                <a:lnTo>
                  <a:pt x="2767013" y="969801"/>
                </a:lnTo>
                <a:lnTo>
                  <a:pt x="2800350" y="983038"/>
                </a:lnTo>
                <a:lnTo>
                  <a:pt x="2833688" y="996024"/>
                </a:lnTo>
                <a:lnTo>
                  <a:pt x="2867025" y="1008753"/>
                </a:lnTo>
                <a:lnTo>
                  <a:pt x="2900363" y="1021215"/>
                </a:lnTo>
                <a:lnTo>
                  <a:pt x="2933700" y="1033400"/>
                </a:lnTo>
                <a:lnTo>
                  <a:pt x="2967038" y="1045303"/>
                </a:lnTo>
                <a:lnTo>
                  <a:pt x="3000375" y="1056912"/>
                </a:lnTo>
                <a:lnTo>
                  <a:pt x="3033713" y="1068222"/>
                </a:lnTo>
                <a:lnTo>
                  <a:pt x="3067050" y="1079225"/>
                </a:lnTo>
                <a:lnTo>
                  <a:pt x="3100388" y="1089911"/>
                </a:lnTo>
                <a:lnTo>
                  <a:pt x="3133725" y="1100275"/>
                </a:lnTo>
                <a:lnTo>
                  <a:pt x="3167063" y="1110310"/>
                </a:lnTo>
                <a:lnTo>
                  <a:pt x="3200400" y="1120008"/>
                </a:lnTo>
                <a:lnTo>
                  <a:pt x="3233738" y="1129362"/>
                </a:lnTo>
                <a:lnTo>
                  <a:pt x="3267075" y="1138367"/>
                </a:lnTo>
                <a:lnTo>
                  <a:pt x="3300413" y="1147016"/>
                </a:lnTo>
                <a:lnTo>
                  <a:pt x="3333750" y="1155303"/>
                </a:lnTo>
                <a:lnTo>
                  <a:pt x="3367088" y="1163223"/>
                </a:lnTo>
                <a:lnTo>
                  <a:pt x="3400425" y="1170769"/>
                </a:lnTo>
                <a:lnTo>
                  <a:pt x="3433763" y="1177938"/>
                </a:lnTo>
                <a:lnTo>
                  <a:pt x="3467100" y="1184724"/>
                </a:lnTo>
                <a:lnTo>
                  <a:pt x="3500438" y="1191122"/>
                </a:lnTo>
                <a:lnTo>
                  <a:pt x="3533775" y="1197128"/>
                </a:lnTo>
                <a:lnTo>
                  <a:pt x="3567113" y="1202738"/>
                </a:lnTo>
                <a:lnTo>
                  <a:pt x="3600450" y="1207948"/>
                </a:lnTo>
                <a:lnTo>
                  <a:pt x="3633788" y="1212754"/>
                </a:lnTo>
                <a:lnTo>
                  <a:pt x="3667125" y="1217154"/>
                </a:lnTo>
                <a:lnTo>
                  <a:pt x="3700463" y="1221144"/>
                </a:lnTo>
                <a:lnTo>
                  <a:pt x="3733800" y="1224721"/>
                </a:lnTo>
                <a:lnTo>
                  <a:pt x="3767138" y="1227883"/>
                </a:lnTo>
                <a:lnTo>
                  <a:pt x="3800475" y="1230628"/>
                </a:lnTo>
                <a:lnTo>
                  <a:pt x="3833813" y="1232953"/>
                </a:lnTo>
                <a:lnTo>
                  <a:pt x="3867150" y="1234858"/>
                </a:lnTo>
                <a:lnTo>
                  <a:pt x="3900488" y="1236341"/>
                </a:lnTo>
                <a:lnTo>
                  <a:pt x="3933825" y="1237402"/>
                </a:lnTo>
                <a:lnTo>
                  <a:pt x="3967163" y="1238038"/>
                </a:lnTo>
                <a:lnTo>
                  <a:pt x="4000500" y="1238250"/>
                </a:lnTo>
                <a:lnTo>
                  <a:pt x="4033838" y="1238038"/>
                </a:lnTo>
                <a:lnTo>
                  <a:pt x="4067175" y="1237402"/>
                </a:lnTo>
                <a:lnTo>
                  <a:pt x="4100513" y="1236341"/>
                </a:lnTo>
                <a:lnTo>
                  <a:pt x="4133850" y="1234858"/>
                </a:lnTo>
                <a:lnTo>
                  <a:pt x="4167188" y="1232953"/>
                </a:lnTo>
                <a:lnTo>
                  <a:pt x="4200525" y="1230628"/>
                </a:lnTo>
                <a:lnTo>
                  <a:pt x="4233863" y="1227883"/>
                </a:lnTo>
                <a:lnTo>
                  <a:pt x="4267200" y="1224721"/>
                </a:lnTo>
                <a:lnTo>
                  <a:pt x="4300538" y="1221144"/>
                </a:lnTo>
                <a:lnTo>
                  <a:pt x="4333875" y="1217154"/>
                </a:lnTo>
                <a:lnTo>
                  <a:pt x="4367213" y="1212754"/>
                </a:lnTo>
                <a:lnTo>
                  <a:pt x="4400550" y="1207948"/>
                </a:lnTo>
                <a:lnTo>
                  <a:pt x="4433888" y="1202738"/>
                </a:lnTo>
                <a:lnTo>
                  <a:pt x="4467225" y="1197128"/>
                </a:lnTo>
                <a:lnTo>
                  <a:pt x="4500563" y="1191122"/>
                </a:lnTo>
                <a:lnTo>
                  <a:pt x="4533900" y="1184724"/>
                </a:lnTo>
                <a:lnTo>
                  <a:pt x="4567238" y="1177938"/>
                </a:lnTo>
                <a:lnTo>
                  <a:pt x="4600575" y="1170769"/>
                </a:lnTo>
                <a:lnTo>
                  <a:pt x="4633913" y="1163223"/>
                </a:lnTo>
                <a:lnTo>
                  <a:pt x="4667250" y="1155303"/>
                </a:lnTo>
                <a:lnTo>
                  <a:pt x="4700588" y="1147016"/>
                </a:lnTo>
                <a:lnTo>
                  <a:pt x="4733925" y="1138367"/>
                </a:lnTo>
                <a:lnTo>
                  <a:pt x="4767263" y="1129362"/>
                </a:lnTo>
                <a:lnTo>
                  <a:pt x="4800600" y="1120008"/>
                </a:lnTo>
                <a:lnTo>
                  <a:pt x="4833938" y="1110310"/>
                </a:lnTo>
                <a:lnTo>
                  <a:pt x="4867275" y="1100275"/>
                </a:lnTo>
                <a:lnTo>
                  <a:pt x="4900613" y="1089911"/>
                </a:lnTo>
                <a:lnTo>
                  <a:pt x="4933950" y="1079225"/>
                </a:lnTo>
                <a:lnTo>
                  <a:pt x="4967288" y="1068222"/>
                </a:lnTo>
                <a:lnTo>
                  <a:pt x="5000625" y="1056912"/>
                </a:lnTo>
                <a:lnTo>
                  <a:pt x="5033963" y="1045303"/>
                </a:lnTo>
                <a:lnTo>
                  <a:pt x="5067300" y="1033400"/>
                </a:lnTo>
                <a:lnTo>
                  <a:pt x="5100638" y="1021215"/>
                </a:lnTo>
                <a:lnTo>
                  <a:pt x="5133975" y="1008753"/>
                </a:lnTo>
                <a:lnTo>
                  <a:pt x="5167313" y="996024"/>
                </a:lnTo>
                <a:lnTo>
                  <a:pt x="5200650" y="983038"/>
                </a:lnTo>
                <a:lnTo>
                  <a:pt x="5233988" y="969801"/>
                </a:lnTo>
                <a:lnTo>
                  <a:pt x="5267325" y="956325"/>
                </a:lnTo>
                <a:lnTo>
                  <a:pt x="5300663" y="942617"/>
                </a:lnTo>
                <a:lnTo>
                  <a:pt x="5334000" y="928688"/>
                </a:lnTo>
                <a:lnTo>
                  <a:pt x="5367338" y="914546"/>
                </a:lnTo>
                <a:lnTo>
                  <a:pt x="5400675" y="900202"/>
                </a:lnTo>
                <a:lnTo>
                  <a:pt x="5434013" y="885665"/>
                </a:lnTo>
                <a:lnTo>
                  <a:pt x="5467350" y="870946"/>
                </a:lnTo>
                <a:lnTo>
                  <a:pt x="5500688" y="856054"/>
                </a:lnTo>
                <a:lnTo>
                  <a:pt x="5534025" y="841000"/>
                </a:lnTo>
                <a:lnTo>
                  <a:pt x="5567363" y="825793"/>
                </a:lnTo>
                <a:lnTo>
                  <a:pt x="5600700" y="810445"/>
                </a:lnTo>
                <a:lnTo>
                  <a:pt x="5634038" y="794966"/>
                </a:lnTo>
                <a:lnTo>
                  <a:pt x="5667375" y="779366"/>
                </a:lnTo>
                <a:lnTo>
                  <a:pt x="5700713" y="763657"/>
                </a:lnTo>
                <a:lnTo>
                  <a:pt x="5734050" y="747848"/>
                </a:lnTo>
                <a:lnTo>
                  <a:pt x="5767388" y="731952"/>
                </a:lnTo>
                <a:lnTo>
                  <a:pt x="5800725" y="715977"/>
                </a:lnTo>
                <a:lnTo>
                  <a:pt x="5834063" y="699937"/>
                </a:lnTo>
                <a:lnTo>
                  <a:pt x="5867400" y="683841"/>
                </a:lnTo>
                <a:lnTo>
                  <a:pt x="5900738" y="667701"/>
                </a:lnTo>
                <a:lnTo>
                  <a:pt x="5934075" y="651527"/>
                </a:lnTo>
                <a:lnTo>
                  <a:pt x="5967413" y="635332"/>
                </a:lnTo>
                <a:lnTo>
                  <a:pt x="6000750" y="619125"/>
                </a:lnTo>
                <a:lnTo>
                  <a:pt x="6034088" y="602918"/>
                </a:lnTo>
                <a:lnTo>
                  <a:pt x="6067425" y="586723"/>
                </a:lnTo>
                <a:lnTo>
                  <a:pt x="6100763" y="570549"/>
                </a:lnTo>
                <a:lnTo>
                  <a:pt x="6134100" y="554409"/>
                </a:lnTo>
                <a:lnTo>
                  <a:pt x="6167438" y="538313"/>
                </a:lnTo>
                <a:lnTo>
                  <a:pt x="6200775" y="522273"/>
                </a:lnTo>
                <a:lnTo>
                  <a:pt x="6234113" y="506298"/>
                </a:lnTo>
                <a:lnTo>
                  <a:pt x="6267450" y="490402"/>
                </a:lnTo>
                <a:lnTo>
                  <a:pt x="6300788" y="474593"/>
                </a:lnTo>
                <a:lnTo>
                  <a:pt x="6334125" y="458884"/>
                </a:lnTo>
                <a:lnTo>
                  <a:pt x="6367463" y="443284"/>
                </a:lnTo>
                <a:lnTo>
                  <a:pt x="6400800" y="427805"/>
                </a:lnTo>
                <a:lnTo>
                  <a:pt x="6434138" y="412457"/>
                </a:lnTo>
                <a:lnTo>
                  <a:pt x="6467475" y="397250"/>
                </a:lnTo>
                <a:lnTo>
                  <a:pt x="6500813" y="382196"/>
                </a:lnTo>
                <a:lnTo>
                  <a:pt x="6534150" y="367304"/>
                </a:lnTo>
                <a:lnTo>
                  <a:pt x="6567488" y="352585"/>
                </a:lnTo>
                <a:lnTo>
                  <a:pt x="6600825" y="338048"/>
                </a:lnTo>
                <a:lnTo>
                  <a:pt x="6634163" y="323704"/>
                </a:lnTo>
                <a:lnTo>
                  <a:pt x="6667500" y="309563"/>
                </a:lnTo>
                <a:lnTo>
                  <a:pt x="6700838" y="295633"/>
                </a:lnTo>
                <a:lnTo>
                  <a:pt x="6734175" y="281925"/>
                </a:lnTo>
                <a:lnTo>
                  <a:pt x="6767513" y="268449"/>
                </a:lnTo>
                <a:lnTo>
                  <a:pt x="6800850" y="255212"/>
                </a:lnTo>
                <a:lnTo>
                  <a:pt x="6834188" y="242226"/>
                </a:lnTo>
                <a:lnTo>
                  <a:pt x="6867525" y="229497"/>
                </a:lnTo>
                <a:lnTo>
                  <a:pt x="6900863" y="217035"/>
                </a:lnTo>
                <a:lnTo>
                  <a:pt x="6934200" y="204850"/>
                </a:lnTo>
                <a:lnTo>
                  <a:pt x="6967538" y="192947"/>
                </a:lnTo>
                <a:lnTo>
                  <a:pt x="7000875" y="181338"/>
                </a:lnTo>
                <a:lnTo>
                  <a:pt x="7034213" y="170028"/>
                </a:lnTo>
                <a:lnTo>
                  <a:pt x="7067550" y="159025"/>
                </a:lnTo>
                <a:lnTo>
                  <a:pt x="7100888" y="148339"/>
                </a:lnTo>
                <a:lnTo>
                  <a:pt x="7134225" y="137975"/>
                </a:lnTo>
                <a:lnTo>
                  <a:pt x="7167563" y="127940"/>
                </a:lnTo>
                <a:lnTo>
                  <a:pt x="7200900" y="118242"/>
                </a:lnTo>
                <a:lnTo>
                  <a:pt x="7234238" y="108888"/>
                </a:lnTo>
                <a:lnTo>
                  <a:pt x="7267575" y="99883"/>
                </a:lnTo>
                <a:lnTo>
                  <a:pt x="7300913" y="91234"/>
                </a:lnTo>
                <a:lnTo>
                  <a:pt x="7334250" y="82947"/>
                </a:lnTo>
                <a:lnTo>
                  <a:pt x="7367588" y="75027"/>
                </a:lnTo>
                <a:lnTo>
                  <a:pt x="7400925" y="67481"/>
                </a:lnTo>
                <a:lnTo>
                  <a:pt x="7434263" y="60312"/>
                </a:lnTo>
                <a:lnTo>
                  <a:pt x="7467600" y="53526"/>
                </a:lnTo>
                <a:lnTo>
                  <a:pt x="7500938" y="47128"/>
                </a:lnTo>
                <a:lnTo>
                  <a:pt x="7534275" y="41122"/>
                </a:lnTo>
                <a:lnTo>
                  <a:pt x="7567613" y="35512"/>
                </a:lnTo>
                <a:lnTo>
                  <a:pt x="7600950" y="30302"/>
                </a:lnTo>
                <a:lnTo>
                  <a:pt x="7634288" y="25496"/>
                </a:lnTo>
                <a:lnTo>
                  <a:pt x="7667625" y="21096"/>
                </a:lnTo>
                <a:lnTo>
                  <a:pt x="7700963" y="17106"/>
                </a:lnTo>
                <a:lnTo>
                  <a:pt x="7734300" y="13529"/>
                </a:lnTo>
                <a:lnTo>
                  <a:pt x="7767638" y="10367"/>
                </a:lnTo>
                <a:lnTo>
                  <a:pt x="7800975" y="7622"/>
                </a:lnTo>
                <a:lnTo>
                  <a:pt x="7834313" y="5297"/>
                </a:lnTo>
                <a:lnTo>
                  <a:pt x="7867650" y="3392"/>
                </a:lnTo>
                <a:lnTo>
                  <a:pt x="7900988" y="1909"/>
                </a:lnTo>
                <a:lnTo>
                  <a:pt x="7934325" y="848"/>
                </a:lnTo>
                <a:lnTo>
                  <a:pt x="7967663" y="212"/>
                </a:lnTo>
                <a:lnTo>
                  <a:pt x="80010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p69-image-caption"/>
          <p:cNvSpPr>
            <a:spLocks noGrp="1"/>
          </p:cNvSpPr>
          <p:nvPr/>
        </p:nvSpPr>
        <p:spPr>
          <a:xfrm>
            <a:off x="609600" y="4524375"/>
            <a:ext cx="19050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rPr sz="22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rPr>
              <a:t>波形B</a:t>
            </a:r>
            <a:endParaRPr sz="2200" b="1">
              <a:solidFill>
                <a:srgbClr val="262626"/>
              </a:solidFill>
              <a:latin typeface="Alibaba PuHuiTi 3.0 115 Black" panose="00020600040101010101" charset="-122"/>
              <a:ea typeface="Alibaba PuHuiTi 3.0 115 Black" panose="00020600040101010101" charset="-122"/>
              <a:cs typeface="Alibaba PuHuiTi 3.0 115 Black" panose="00020600040101010101" charset="-122"/>
            </a:endParaRPr>
          </a:p>
        </p:txBody>
      </p:sp>
      <p:sp>
        <p:nvSpPr>
          <p:cNvPr id="16" name="codex-p69-relationship"/>
          <p:cNvSpPr>
            <a:spLocks noGrp="1"/>
          </p:cNvSpPr>
          <p:nvPr/>
        </p:nvSpPr>
        <p:spPr>
          <a:xfrm>
            <a:off x="2667000" y="5095875"/>
            <a:ext cx="8477250" cy="9525"/>
          </a:xfrm>
          <a:custGeom>
            <a:avLst/>
            <a:gdLst/>
            <a:ahLst/>
            <a:cxnLst/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7" name="codex-p69-same-alias-point-1-0"/>
          <p:cNvSpPr>
            <a:spLocks noGrp="1"/>
          </p:cNvSpPr>
          <p:nvPr/>
        </p:nvSpPr>
        <p:spPr>
          <a:xfrm>
            <a:off x="2771775" y="442912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8" name="codex-p69-same-alias-point-1-1"/>
          <p:cNvSpPr>
            <a:spLocks noGrp="1"/>
          </p:cNvSpPr>
          <p:nvPr/>
        </p:nvSpPr>
        <p:spPr>
          <a:xfrm>
            <a:off x="6772275" y="566737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19" name="codex-p69-same-alias-point-1-2"/>
          <p:cNvSpPr>
            <a:spLocks noGrp="1"/>
          </p:cNvSpPr>
          <p:nvPr/>
        </p:nvSpPr>
        <p:spPr>
          <a:xfrm>
            <a:off x="10772775" y="4429125"/>
            <a:ext cx="95250" cy="95250"/>
          </a:xfrm>
          <a:prstGeom prst="ellipse">
            <a:avLst/>
          </a:prstGeom>
          <a:solidFill>
            <a:srgbClr val="262626"/>
          </a:solidFill>
          <a:ln w="0">
            <a:noFill/>
          </a:ln>
        </p:spPr>
      </p:sp>
      <p:sp>
        <p:nvSpPr>
          <p:cNvPr id="20" name="codex-p69-signal"/>
          <p:cNvSpPr>
            <a:spLocks noGrp="1"/>
          </p:cNvSpPr>
          <p:nvPr/>
        </p:nvSpPr>
        <p:spPr>
          <a:xfrm>
            <a:off x="2819400" y="4476750"/>
            <a:ext cx="8001000" cy="1238250"/>
          </a:xfrm>
          <a:custGeom>
            <a:avLst/>
            <a:gdLst/>
            <a:ahLst/>
            <a:cxnLst/>
            <a:pathLst>
              <a:path w="8001000" h="1238250">
                <a:moveTo>
                  <a:pt x="0" y="0"/>
                </a:moveTo>
                <a:lnTo>
                  <a:pt x="33338" y="1909"/>
                </a:lnTo>
                <a:lnTo>
                  <a:pt x="66675" y="7622"/>
                </a:lnTo>
                <a:lnTo>
                  <a:pt x="100013" y="17106"/>
                </a:lnTo>
                <a:lnTo>
                  <a:pt x="133350" y="30302"/>
                </a:lnTo>
                <a:lnTo>
                  <a:pt x="166688" y="47128"/>
                </a:lnTo>
                <a:lnTo>
                  <a:pt x="200025" y="67481"/>
                </a:lnTo>
                <a:lnTo>
                  <a:pt x="233363" y="91234"/>
                </a:lnTo>
                <a:lnTo>
                  <a:pt x="266700" y="118242"/>
                </a:lnTo>
                <a:lnTo>
                  <a:pt x="300038" y="148339"/>
                </a:lnTo>
                <a:lnTo>
                  <a:pt x="333375" y="181338"/>
                </a:lnTo>
                <a:lnTo>
                  <a:pt x="366713" y="217035"/>
                </a:lnTo>
                <a:lnTo>
                  <a:pt x="400050" y="255212"/>
                </a:lnTo>
                <a:lnTo>
                  <a:pt x="433388" y="295633"/>
                </a:lnTo>
                <a:lnTo>
                  <a:pt x="466725" y="338048"/>
                </a:lnTo>
                <a:lnTo>
                  <a:pt x="500063" y="382196"/>
                </a:lnTo>
                <a:lnTo>
                  <a:pt x="533400" y="427805"/>
                </a:lnTo>
                <a:lnTo>
                  <a:pt x="566738" y="474593"/>
                </a:lnTo>
                <a:lnTo>
                  <a:pt x="600075" y="522273"/>
                </a:lnTo>
                <a:lnTo>
                  <a:pt x="633413" y="570549"/>
                </a:lnTo>
                <a:lnTo>
                  <a:pt x="666750" y="619125"/>
                </a:lnTo>
                <a:lnTo>
                  <a:pt x="700088" y="667701"/>
                </a:lnTo>
                <a:lnTo>
                  <a:pt x="733425" y="715977"/>
                </a:lnTo>
                <a:lnTo>
                  <a:pt x="766763" y="763657"/>
                </a:lnTo>
                <a:lnTo>
                  <a:pt x="800100" y="810445"/>
                </a:lnTo>
                <a:lnTo>
                  <a:pt x="833438" y="856054"/>
                </a:lnTo>
                <a:lnTo>
                  <a:pt x="866775" y="900202"/>
                </a:lnTo>
                <a:lnTo>
                  <a:pt x="900113" y="942617"/>
                </a:lnTo>
                <a:lnTo>
                  <a:pt x="933450" y="983038"/>
                </a:lnTo>
                <a:lnTo>
                  <a:pt x="966788" y="1021215"/>
                </a:lnTo>
                <a:lnTo>
                  <a:pt x="1000125" y="1056912"/>
                </a:lnTo>
                <a:lnTo>
                  <a:pt x="1033463" y="1089911"/>
                </a:lnTo>
                <a:lnTo>
                  <a:pt x="1066800" y="1120008"/>
                </a:lnTo>
                <a:lnTo>
                  <a:pt x="1100138" y="1147016"/>
                </a:lnTo>
                <a:lnTo>
                  <a:pt x="1133475" y="1170769"/>
                </a:lnTo>
                <a:lnTo>
                  <a:pt x="1166813" y="1191122"/>
                </a:lnTo>
                <a:lnTo>
                  <a:pt x="1200150" y="1207948"/>
                </a:lnTo>
                <a:lnTo>
                  <a:pt x="1233488" y="1221144"/>
                </a:lnTo>
                <a:lnTo>
                  <a:pt x="1266825" y="1230628"/>
                </a:lnTo>
                <a:lnTo>
                  <a:pt x="1300163" y="1236341"/>
                </a:lnTo>
                <a:lnTo>
                  <a:pt x="1333500" y="1238250"/>
                </a:lnTo>
                <a:lnTo>
                  <a:pt x="1366838" y="1236341"/>
                </a:lnTo>
                <a:lnTo>
                  <a:pt x="1400175" y="1230628"/>
                </a:lnTo>
                <a:lnTo>
                  <a:pt x="1433513" y="1221144"/>
                </a:lnTo>
                <a:lnTo>
                  <a:pt x="1466850" y="1207948"/>
                </a:lnTo>
                <a:lnTo>
                  <a:pt x="1500188" y="1191122"/>
                </a:lnTo>
                <a:lnTo>
                  <a:pt x="1533525" y="1170769"/>
                </a:lnTo>
                <a:lnTo>
                  <a:pt x="1566863" y="1147016"/>
                </a:lnTo>
                <a:lnTo>
                  <a:pt x="1600200" y="1120008"/>
                </a:lnTo>
                <a:lnTo>
                  <a:pt x="1633538" y="1089911"/>
                </a:lnTo>
                <a:lnTo>
                  <a:pt x="1666875" y="1056912"/>
                </a:lnTo>
                <a:lnTo>
                  <a:pt x="1700213" y="1021215"/>
                </a:lnTo>
                <a:lnTo>
                  <a:pt x="1733550" y="983038"/>
                </a:lnTo>
                <a:lnTo>
                  <a:pt x="1766888" y="942617"/>
                </a:lnTo>
                <a:lnTo>
                  <a:pt x="1800225" y="900202"/>
                </a:lnTo>
                <a:lnTo>
                  <a:pt x="1833563" y="856054"/>
                </a:lnTo>
                <a:lnTo>
                  <a:pt x="1866900" y="810445"/>
                </a:lnTo>
                <a:lnTo>
                  <a:pt x="1900238" y="763657"/>
                </a:lnTo>
                <a:lnTo>
                  <a:pt x="1933575" y="715977"/>
                </a:lnTo>
                <a:lnTo>
                  <a:pt x="1966913" y="667701"/>
                </a:lnTo>
                <a:lnTo>
                  <a:pt x="2000250" y="619125"/>
                </a:lnTo>
                <a:lnTo>
                  <a:pt x="2033588" y="570549"/>
                </a:lnTo>
                <a:lnTo>
                  <a:pt x="2066925" y="522273"/>
                </a:lnTo>
                <a:lnTo>
                  <a:pt x="2100263" y="474593"/>
                </a:lnTo>
                <a:lnTo>
                  <a:pt x="2133600" y="427805"/>
                </a:lnTo>
                <a:lnTo>
                  <a:pt x="2166938" y="382196"/>
                </a:lnTo>
                <a:lnTo>
                  <a:pt x="2200275" y="338048"/>
                </a:lnTo>
                <a:lnTo>
                  <a:pt x="2233613" y="295633"/>
                </a:lnTo>
                <a:lnTo>
                  <a:pt x="2266950" y="255212"/>
                </a:lnTo>
                <a:lnTo>
                  <a:pt x="2300288" y="217035"/>
                </a:lnTo>
                <a:lnTo>
                  <a:pt x="2333625" y="181338"/>
                </a:lnTo>
                <a:lnTo>
                  <a:pt x="2366963" y="148339"/>
                </a:lnTo>
                <a:lnTo>
                  <a:pt x="2400300" y="118242"/>
                </a:lnTo>
                <a:lnTo>
                  <a:pt x="2433638" y="91234"/>
                </a:lnTo>
                <a:lnTo>
                  <a:pt x="2466975" y="67481"/>
                </a:lnTo>
                <a:lnTo>
                  <a:pt x="2500313" y="47128"/>
                </a:lnTo>
                <a:lnTo>
                  <a:pt x="2533650" y="30302"/>
                </a:lnTo>
                <a:lnTo>
                  <a:pt x="2566988" y="17106"/>
                </a:lnTo>
                <a:lnTo>
                  <a:pt x="2600325" y="7622"/>
                </a:lnTo>
                <a:lnTo>
                  <a:pt x="2633663" y="1909"/>
                </a:lnTo>
                <a:lnTo>
                  <a:pt x="2667000" y="0"/>
                </a:lnTo>
                <a:lnTo>
                  <a:pt x="2700338" y="1909"/>
                </a:lnTo>
                <a:lnTo>
                  <a:pt x="2733675" y="7622"/>
                </a:lnTo>
                <a:lnTo>
                  <a:pt x="2767013" y="17106"/>
                </a:lnTo>
                <a:lnTo>
                  <a:pt x="2800350" y="30302"/>
                </a:lnTo>
                <a:lnTo>
                  <a:pt x="2833688" y="47128"/>
                </a:lnTo>
                <a:lnTo>
                  <a:pt x="2867025" y="67481"/>
                </a:lnTo>
                <a:lnTo>
                  <a:pt x="2900363" y="91234"/>
                </a:lnTo>
                <a:lnTo>
                  <a:pt x="2933700" y="118242"/>
                </a:lnTo>
                <a:lnTo>
                  <a:pt x="2967038" y="148339"/>
                </a:lnTo>
                <a:lnTo>
                  <a:pt x="3000375" y="181338"/>
                </a:lnTo>
                <a:lnTo>
                  <a:pt x="3033713" y="217035"/>
                </a:lnTo>
                <a:lnTo>
                  <a:pt x="3067050" y="255212"/>
                </a:lnTo>
                <a:lnTo>
                  <a:pt x="3100388" y="295633"/>
                </a:lnTo>
                <a:lnTo>
                  <a:pt x="3133725" y="338048"/>
                </a:lnTo>
                <a:lnTo>
                  <a:pt x="3167063" y="382196"/>
                </a:lnTo>
                <a:lnTo>
                  <a:pt x="3200400" y="427805"/>
                </a:lnTo>
                <a:lnTo>
                  <a:pt x="3233738" y="474593"/>
                </a:lnTo>
                <a:lnTo>
                  <a:pt x="3267075" y="522273"/>
                </a:lnTo>
                <a:lnTo>
                  <a:pt x="3300413" y="570549"/>
                </a:lnTo>
                <a:lnTo>
                  <a:pt x="3333750" y="619125"/>
                </a:lnTo>
                <a:lnTo>
                  <a:pt x="3367088" y="667701"/>
                </a:lnTo>
                <a:lnTo>
                  <a:pt x="3400425" y="715977"/>
                </a:lnTo>
                <a:lnTo>
                  <a:pt x="3433763" y="763657"/>
                </a:lnTo>
                <a:lnTo>
                  <a:pt x="3467100" y="810445"/>
                </a:lnTo>
                <a:lnTo>
                  <a:pt x="3500438" y="856054"/>
                </a:lnTo>
                <a:lnTo>
                  <a:pt x="3533775" y="900202"/>
                </a:lnTo>
                <a:lnTo>
                  <a:pt x="3567113" y="942617"/>
                </a:lnTo>
                <a:lnTo>
                  <a:pt x="3600450" y="983038"/>
                </a:lnTo>
                <a:lnTo>
                  <a:pt x="3633788" y="1021215"/>
                </a:lnTo>
                <a:lnTo>
                  <a:pt x="3667125" y="1056912"/>
                </a:lnTo>
                <a:lnTo>
                  <a:pt x="3700463" y="1089911"/>
                </a:lnTo>
                <a:lnTo>
                  <a:pt x="3733800" y="1120008"/>
                </a:lnTo>
                <a:lnTo>
                  <a:pt x="3767138" y="1147016"/>
                </a:lnTo>
                <a:lnTo>
                  <a:pt x="3800475" y="1170769"/>
                </a:lnTo>
                <a:lnTo>
                  <a:pt x="3833813" y="1191122"/>
                </a:lnTo>
                <a:lnTo>
                  <a:pt x="3867150" y="1207948"/>
                </a:lnTo>
                <a:lnTo>
                  <a:pt x="3900488" y="1221144"/>
                </a:lnTo>
                <a:lnTo>
                  <a:pt x="3933825" y="1230628"/>
                </a:lnTo>
                <a:lnTo>
                  <a:pt x="3967163" y="1236341"/>
                </a:lnTo>
                <a:lnTo>
                  <a:pt x="4000500" y="1238250"/>
                </a:lnTo>
                <a:lnTo>
                  <a:pt x="4033838" y="1236341"/>
                </a:lnTo>
                <a:lnTo>
                  <a:pt x="4067175" y="1230628"/>
                </a:lnTo>
                <a:lnTo>
                  <a:pt x="4100513" y="1221144"/>
                </a:lnTo>
                <a:lnTo>
                  <a:pt x="4133850" y="1207948"/>
                </a:lnTo>
                <a:lnTo>
                  <a:pt x="4167188" y="1191122"/>
                </a:lnTo>
                <a:lnTo>
                  <a:pt x="4200525" y="1170769"/>
                </a:lnTo>
                <a:lnTo>
                  <a:pt x="4233863" y="1147016"/>
                </a:lnTo>
                <a:lnTo>
                  <a:pt x="4267200" y="1120008"/>
                </a:lnTo>
                <a:lnTo>
                  <a:pt x="4300538" y="1089911"/>
                </a:lnTo>
                <a:lnTo>
                  <a:pt x="4333875" y="1056912"/>
                </a:lnTo>
                <a:lnTo>
                  <a:pt x="4367213" y="1021215"/>
                </a:lnTo>
                <a:lnTo>
                  <a:pt x="4400550" y="983038"/>
                </a:lnTo>
                <a:lnTo>
                  <a:pt x="4433888" y="942617"/>
                </a:lnTo>
                <a:lnTo>
                  <a:pt x="4467225" y="900202"/>
                </a:lnTo>
                <a:lnTo>
                  <a:pt x="4500563" y="856054"/>
                </a:lnTo>
                <a:lnTo>
                  <a:pt x="4533900" y="810445"/>
                </a:lnTo>
                <a:lnTo>
                  <a:pt x="4567238" y="763657"/>
                </a:lnTo>
                <a:lnTo>
                  <a:pt x="4600575" y="715977"/>
                </a:lnTo>
                <a:lnTo>
                  <a:pt x="4633913" y="667701"/>
                </a:lnTo>
                <a:lnTo>
                  <a:pt x="4667250" y="619125"/>
                </a:lnTo>
                <a:lnTo>
                  <a:pt x="4700588" y="570549"/>
                </a:lnTo>
                <a:lnTo>
                  <a:pt x="4733925" y="522273"/>
                </a:lnTo>
                <a:lnTo>
                  <a:pt x="4767263" y="474593"/>
                </a:lnTo>
                <a:lnTo>
                  <a:pt x="4800600" y="427805"/>
                </a:lnTo>
                <a:lnTo>
                  <a:pt x="4833938" y="382196"/>
                </a:lnTo>
                <a:lnTo>
                  <a:pt x="4867275" y="338048"/>
                </a:lnTo>
                <a:lnTo>
                  <a:pt x="4900613" y="295633"/>
                </a:lnTo>
                <a:lnTo>
                  <a:pt x="4933950" y="255212"/>
                </a:lnTo>
                <a:lnTo>
                  <a:pt x="4967288" y="217035"/>
                </a:lnTo>
                <a:lnTo>
                  <a:pt x="5000625" y="181338"/>
                </a:lnTo>
                <a:lnTo>
                  <a:pt x="5033963" y="148339"/>
                </a:lnTo>
                <a:lnTo>
                  <a:pt x="5067300" y="118242"/>
                </a:lnTo>
                <a:lnTo>
                  <a:pt x="5100638" y="91234"/>
                </a:lnTo>
                <a:lnTo>
                  <a:pt x="5133975" y="67481"/>
                </a:lnTo>
                <a:lnTo>
                  <a:pt x="5167313" y="47128"/>
                </a:lnTo>
                <a:lnTo>
                  <a:pt x="5200650" y="30302"/>
                </a:lnTo>
                <a:lnTo>
                  <a:pt x="5233988" y="17106"/>
                </a:lnTo>
                <a:lnTo>
                  <a:pt x="5267325" y="7622"/>
                </a:lnTo>
                <a:lnTo>
                  <a:pt x="5300663" y="1909"/>
                </a:lnTo>
                <a:lnTo>
                  <a:pt x="5334000" y="0"/>
                </a:lnTo>
                <a:lnTo>
                  <a:pt x="5367338" y="1909"/>
                </a:lnTo>
                <a:lnTo>
                  <a:pt x="5400675" y="7622"/>
                </a:lnTo>
                <a:lnTo>
                  <a:pt x="5434013" y="17106"/>
                </a:lnTo>
                <a:lnTo>
                  <a:pt x="5467350" y="30302"/>
                </a:lnTo>
                <a:lnTo>
                  <a:pt x="5500688" y="47128"/>
                </a:lnTo>
                <a:lnTo>
                  <a:pt x="5534025" y="67481"/>
                </a:lnTo>
                <a:lnTo>
                  <a:pt x="5567363" y="91234"/>
                </a:lnTo>
                <a:lnTo>
                  <a:pt x="5600700" y="118242"/>
                </a:lnTo>
                <a:lnTo>
                  <a:pt x="5634038" y="148339"/>
                </a:lnTo>
                <a:lnTo>
                  <a:pt x="5667375" y="181338"/>
                </a:lnTo>
                <a:lnTo>
                  <a:pt x="5700713" y="217035"/>
                </a:lnTo>
                <a:lnTo>
                  <a:pt x="5734050" y="255212"/>
                </a:lnTo>
                <a:lnTo>
                  <a:pt x="5767388" y="295633"/>
                </a:lnTo>
                <a:lnTo>
                  <a:pt x="5800725" y="338048"/>
                </a:lnTo>
                <a:lnTo>
                  <a:pt x="5834063" y="382196"/>
                </a:lnTo>
                <a:lnTo>
                  <a:pt x="5867400" y="427805"/>
                </a:lnTo>
                <a:lnTo>
                  <a:pt x="5900738" y="474593"/>
                </a:lnTo>
                <a:lnTo>
                  <a:pt x="5934075" y="522273"/>
                </a:lnTo>
                <a:lnTo>
                  <a:pt x="5967413" y="570549"/>
                </a:lnTo>
                <a:lnTo>
                  <a:pt x="6000750" y="619125"/>
                </a:lnTo>
                <a:lnTo>
                  <a:pt x="6034088" y="667701"/>
                </a:lnTo>
                <a:lnTo>
                  <a:pt x="6067425" y="715977"/>
                </a:lnTo>
                <a:lnTo>
                  <a:pt x="6100763" y="763657"/>
                </a:lnTo>
                <a:lnTo>
                  <a:pt x="6134100" y="810445"/>
                </a:lnTo>
                <a:lnTo>
                  <a:pt x="6167438" y="856054"/>
                </a:lnTo>
                <a:lnTo>
                  <a:pt x="6200775" y="900202"/>
                </a:lnTo>
                <a:lnTo>
                  <a:pt x="6234113" y="942617"/>
                </a:lnTo>
                <a:lnTo>
                  <a:pt x="6267450" y="983038"/>
                </a:lnTo>
                <a:lnTo>
                  <a:pt x="6300788" y="1021215"/>
                </a:lnTo>
                <a:lnTo>
                  <a:pt x="6334125" y="1056912"/>
                </a:lnTo>
                <a:lnTo>
                  <a:pt x="6367463" y="1089911"/>
                </a:lnTo>
                <a:lnTo>
                  <a:pt x="6400800" y="1120008"/>
                </a:lnTo>
                <a:lnTo>
                  <a:pt x="6434138" y="1147016"/>
                </a:lnTo>
                <a:lnTo>
                  <a:pt x="6467475" y="1170769"/>
                </a:lnTo>
                <a:lnTo>
                  <a:pt x="6500813" y="1191122"/>
                </a:lnTo>
                <a:lnTo>
                  <a:pt x="6534150" y="1207948"/>
                </a:lnTo>
                <a:lnTo>
                  <a:pt x="6567488" y="1221144"/>
                </a:lnTo>
                <a:lnTo>
                  <a:pt x="6600825" y="1230628"/>
                </a:lnTo>
                <a:lnTo>
                  <a:pt x="6634163" y="1236341"/>
                </a:lnTo>
                <a:lnTo>
                  <a:pt x="6667500" y="1238250"/>
                </a:lnTo>
                <a:lnTo>
                  <a:pt x="6700838" y="1236341"/>
                </a:lnTo>
                <a:lnTo>
                  <a:pt x="6734175" y="1230628"/>
                </a:lnTo>
                <a:lnTo>
                  <a:pt x="6767513" y="1221144"/>
                </a:lnTo>
                <a:lnTo>
                  <a:pt x="6800850" y="1207948"/>
                </a:lnTo>
                <a:lnTo>
                  <a:pt x="6834188" y="1191122"/>
                </a:lnTo>
                <a:lnTo>
                  <a:pt x="6867525" y="1170769"/>
                </a:lnTo>
                <a:lnTo>
                  <a:pt x="6900863" y="1147016"/>
                </a:lnTo>
                <a:lnTo>
                  <a:pt x="6934200" y="1120008"/>
                </a:lnTo>
                <a:lnTo>
                  <a:pt x="6967538" y="1089911"/>
                </a:lnTo>
                <a:lnTo>
                  <a:pt x="7000875" y="1056912"/>
                </a:lnTo>
                <a:lnTo>
                  <a:pt x="7034213" y="1021215"/>
                </a:lnTo>
                <a:lnTo>
                  <a:pt x="7067550" y="983038"/>
                </a:lnTo>
                <a:lnTo>
                  <a:pt x="7100888" y="942617"/>
                </a:lnTo>
                <a:lnTo>
                  <a:pt x="7134225" y="900202"/>
                </a:lnTo>
                <a:lnTo>
                  <a:pt x="7167563" y="856054"/>
                </a:lnTo>
                <a:lnTo>
                  <a:pt x="7200900" y="810445"/>
                </a:lnTo>
                <a:lnTo>
                  <a:pt x="7234238" y="763657"/>
                </a:lnTo>
                <a:lnTo>
                  <a:pt x="7267575" y="715977"/>
                </a:lnTo>
                <a:lnTo>
                  <a:pt x="7300913" y="667701"/>
                </a:lnTo>
                <a:lnTo>
                  <a:pt x="7334250" y="619125"/>
                </a:lnTo>
                <a:lnTo>
                  <a:pt x="7367588" y="570549"/>
                </a:lnTo>
                <a:lnTo>
                  <a:pt x="7400925" y="522273"/>
                </a:lnTo>
                <a:lnTo>
                  <a:pt x="7434263" y="474593"/>
                </a:lnTo>
                <a:lnTo>
                  <a:pt x="7467600" y="427805"/>
                </a:lnTo>
                <a:lnTo>
                  <a:pt x="7500938" y="382196"/>
                </a:lnTo>
                <a:lnTo>
                  <a:pt x="7534275" y="338048"/>
                </a:lnTo>
                <a:lnTo>
                  <a:pt x="7567613" y="295633"/>
                </a:lnTo>
                <a:lnTo>
                  <a:pt x="7600950" y="255212"/>
                </a:lnTo>
                <a:lnTo>
                  <a:pt x="7634288" y="217035"/>
                </a:lnTo>
                <a:lnTo>
                  <a:pt x="7667625" y="181338"/>
                </a:lnTo>
                <a:lnTo>
                  <a:pt x="7700963" y="148339"/>
                </a:lnTo>
                <a:lnTo>
                  <a:pt x="7734300" y="118242"/>
                </a:lnTo>
                <a:lnTo>
                  <a:pt x="7767638" y="91234"/>
                </a:lnTo>
                <a:lnTo>
                  <a:pt x="7800975" y="67481"/>
                </a:lnTo>
                <a:lnTo>
                  <a:pt x="7834313" y="47128"/>
                </a:lnTo>
                <a:lnTo>
                  <a:pt x="7867650" y="30302"/>
                </a:lnTo>
                <a:lnTo>
                  <a:pt x="7900988" y="17106"/>
                </a:lnTo>
                <a:lnTo>
                  <a:pt x="7934325" y="7622"/>
                </a:lnTo>
                <a:lnTo>
                  <a:pt x="7967663" y="1909"/>
                </a:lnTo>
                <a:lnTo>
                  <a:pt x="8001000" y="0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69-image-caption"/>
          <p:cNvSpPr>
            <a:spLocks noGrp="1"/>
          </p:cNvSpPr>
          <p:nvPr/>
        </p:nvSpPr>
        <p:spPr>
          <a:xfrm>
            <a:off x="609600" y="5816346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rPr sz="22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rPr>
              <a:t>仅凭这三个点，不能唯一确定中间的连续变化。</a:t>
            </a:r>
            <a:endParaRPr sz="2200" b="0">
              <a:solidFill>
                <a:srgbClr val="262626"/>
              </a:solidFill>
              <a:latin typeface="Alibaba PuHuiTi 3.0 55 Regular" panose="00020600040101010101" charset="-122"/>
              <a:ea typeface="Alibaba PuHuiTi 3.0 55 Regular" panose="00020600040101010101" charset="-122"/>
              <a:cs typeface="Alibaba PuHuiTi 3.0 55 Regular" panose="00020600040101010101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91695" cy="101600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608076"/>
            <a:ext cx="10972800" cy="7048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600" b="1">
                <a:solidFill>
                  <a:srgbClr val="262626"/>
                </a:solidFill>
                <a:latin typeface="Alibaba PuHuiTi 3.0 115 Black" panose="00020600040101010101" charset="-122"/>
                <a:ea typeface="Alibaba PuHuiTi 3.0 115 Black" panose="00020600040101010101" charset="-122"/>
                <a:cs typeface="Alibaba PuHuiTi 3.0 115 Black" panose="00020600040101010101" charset="-122"/>
              </a:defRPr>
            </a:pPr>
            <a:r>
              <a:t>可选拓展：编码与压缩有何区别？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7C9B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97296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 panose="00020600040101010101" charset="-122"/>
                <a:ea typeface="Alibaba PuHuiTi 3.0 55 Regular" panose="00020600040101010101" charset="-122"/>
                <a:cs typeface="Alibaba PuHuiTi 3.0 55 Regular" panose="00020600040101010101" charset="-122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libaba PuHuiTi 3.0 55 Regular"/>
        <a:ea typeface="Alibaba PuHuiTi 3.0 55 Regular"/>
        <a:cs typeface="Alibaba PuHuiTi 3.0 55 Regular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7650</Words>
  <Application>WPS Presentation</Application>
  <PresentationFormat>On-screen Show (4:3)</PresentationFormat>
  <Paragraphs>1390</Paragraphs>
  <Slides>105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105</vt:i4>
      </vt:variant>
    </vt:vector>
  </HeadingPairs>
  <TitlesOfParts>
    <vt:vector size="118" baseType="lpstr">
      <vt:lpstr>Arial</vt:lpstr>
      <vt:lpstr>SimSun</vt:lpstr>
      <vt:lpstr>Wingdings</vt:lpstr>
      <vt:lpstr>Alibaba PuHuiTi 3.0 55 Regular</vt:lpstr>
      <vt:lpstr>Arial</vt:lpstr>
      <vt:lpstr>Alibaba PuHuiTi 3.0 115 Black</vt:lpstr>
      <vt:lpstr>Microsoft YaHei</vt:lpstr>
      <vt:lpstr>方正雅意黑 GB18030L2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</dc:title>
  <dc:creator/>
  <cp:keywords>采样,量化,编码,PCM,声道,音轨,数据压缩,冗余</cp:keywords>
  <dc:description>generated using python-pptx</dc:description>
  <dc:subject>高中信息科技：声音数字化与数据压缩</dc:subject>
  <cp:lastModifiedBy>Peter Ran</cp:lastModifiedBy>
  <cp:revision>4</cp:revision>
  <dcterms:created xsi:type="dcterms:W3CDTF">2026-10-14T01:39:29Z</dcterms:created>
  <dcterms:modified xsi:type="dcterms:W3CDTF">2026-10-14T01:39:29Z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1033-12.1.28492.28492</vt:lpwstr>
  </property>
  <property fmtid="{D5CDD505-2E9C-101B-9397-08002B2CF9AE}" pid="3" name="ICV">
    <vt:lpwstr>7876ED572BA830A3EEDBCE6AC4DCB050_42</vt:lpwstr>
  </property>
</Properties>
</file>
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2.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5.svg" ContentType="image/svg+xml"/>
  <Override PartName="/ppt/media/image47.svg" ContentType="image/svg+xml"/>
  <Override PartName="/ppt/media/image48.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3"/>
  </p:handoutMasterIdLst>
  <p:sldIdLst>
    <p:sldId id="262" r:id="rId3"/>
    <p:sldId id="271" r:id="rId5"/>
    <p:sldId id="272" r:id="rId6"/>
    <p:sldId id="273" r:id="rId7"/>
    <p:sldId id="274" r:id="rId8"/>
    <p:sldId id="275" r:id="rId9"/>
    <p:sldId id="276" r:id="rId10"/>
    <p:sldId id="277" r:id="rId11"/>
    <p:sldId id="279" r:id="rId12"/>
    <p:sldId id="280" r:id="rId13"/>
    <p:sldId id="281" r:id="rId14"/>
    <p:sldId id="282" r:id="rId15"/>
    <p:sldId id="283" r:id="rId16"/>
    <p:sldId id="284" r:id="rId17"/>
    <p:sldId id="287" r:id="rId18"/>
    <p:sldId id="289" r:id="rId19"/>
    <p:sldId id="290" r:id="rId20"/>
    <p:sldId id="291" r:id="rId21"/>
    <p:sldId id="286" r:id="rId22"/>
    <p:sldId id="285" r:id="rId23"/>
    <p:sldId id="293" r:id="rId24"/>
    <p:sldId id="294" r:id="rId25"/>
    <p:sldId id="295" r:id="rId26"/>
    <p:sldId id="296" r:id="rId27"/>
    <p:sldId id="297" r:id="rId28"/>
    <p:sldId id="298" r:id="rId29"/>
    <p:sldId id="299" r:id="rId30"/>
    <p:sldId id="300" r:id="rId31"/>
    <p:sldId id="301" r:id="rId32"/>
  </p:sldIdLst>
  <p:sldSz cx="12192000" cy="6858000"/>
  <p:notesSz cx="6858000" cy="9144000"/>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2d11ba6-b4d0-48ac-8aeb-0e480cc409a2}">
          <p14:sldIdLst>
            <p14:sldId id="262"/>
            <p14:sldId id="271"/>
            <p14:sldId id="272"/>
            <p14:sldId id="273"/>
            <p14:sldId id="274"/>
            <p14:sldId id="275"/>
            <p14:sldId id="276"/>
            <p14:sldId id="277"/>
            <p14:sldId id="279"/>
            <p14:sldId id="280"/>
            <p14:sldId id="281"/>
            <p14:sldId id="282"/>
            <p14:sldId id="283"/>
            <p14:sldId id="284"/>
            <p14:sldId id="287"/>
            <p14:sldId id="289"/>
            <p14:sldId id="290"/>
            <p14:sldId id="291"/>
            <p14:sldId id="286"/>
            <p14:sldId id="285"/>
            <p14:sldId id="293"/>
            <p14:sldId id="294"/>
            <p14:sldId id="295"/>
            <p14:sldId id="296"/>
            <p14:sldId id="297"/>
            <p14:sldId id="298"/>
            <p14:sldId id="299"/>
            <p14:sldId id="300"/>
            <p14:sldId id="301"/>
          </p14:sldIdLst>
        </p14:section>
        <p14:section name="appendix" id="{b3662d03-3e70-40e6-872c-dc766a3636c9}">
          <p14:sldIdLst/>
        </p14:section>
      </p14:sectionLst>
    </p:ext>
    <p:ext uri="{EFAFB233-063F-42B5-8137-9DF3F51BA10A}">
      <p15:sldGuideLst xmlns:p15="http://schemas.microsoft.com/office/powerpoint/2012/main">
        <p15:guide id="2" pos="3838" userDrawn="1">
          <p15:clr>
            <a:srgbClr val="A4A3A4"/>
          </p15:clr>
        </p15:guide>
        <p15:guide id="3" orient="horz" pos="1610" userDrawn="1">
          <p15:clr>
            <a:srgbClr val="A4A3A4"/>
          </p15:clr>
        </p15:guide>
        <p15:guide id="4" orient="horz" pos="2674" userDrawn="1">
          <p15:clr>
            <a:srgbClr val="A4A3A4"/>
          </p15:clr>
        </p15:guide>
        <p15:guide id="5" orient="horz" pos="21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C64E1"/>
    <a:srgbClr val="FFFFFF"/>
    <a:srgbClr val="6251B1"/>
    <a:srgbClr val="47475D"/>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CD59E38-F5E1-4D73-BE46-D8D288EA628F}" styleName="表样式 1 25">
    <a:wholeTbl>
      <a:tcTxStyle>
        <a:fontRef idx="none">
          <a:schemeClr val="tx1"/>
        </a:fontRef>
      </a:tcTxStyle>
      <a:tcStyle>
        <a:tcBdr>
          <a:left>
            <a:ln w="9525" cmpd="sng">
              <a:solidFill>
                <a:schemeClr val="dk1"/>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solidFill>
              <a:prstDash val="solid"/>
            </a:ln>
          </a:bottom>
          <a:insideH>
            <a:ln w="9525" cmpd="sng">
              <a:solidFill>
                <a:schemeClr val="dk1">
                  <a:lumMod val="34000"/>
                  <a:lumOff val="66000"/>
                </a:schemeClr>
              </a:solidFill>
              <a:prstDash val="solid"/>
            </a:ln>
          </a:insideH>
          <a:insideV>
            <a:ln w="9525" cmpd="sng">
              <a:solidFill>
                <a:schemeClr val="dk1">
                  <a:lumMod val="34000"/>
                  <a:lumOff val="66000"/>
                </a:schemeClr>
              </a:solidFill>
              <a:prstDash val="solid"/>
            </a:ln>
          </a:insideV>
        </a:tcBdr>
        <a:fill>
          <a:solidFill>
            <a:schemeClr val="bg1">
              <a:alpha val="0"/>
            </a:schemeClr>
          </a:solidFill>
        </a:fill>
      </a:tcStyle>
    </a:wholeTbl>
    <a:band2H>
      <a:tcTxStyle>
        <a:fontRef idx="none">
          <a:schemeClr val="tx1"/>
        </a:fontRef>
      </a:tcTxStyle>
      <a:tcStyle>
        <a:tcBdr/>
        <a:fill>
          <a:solidFill>
            <a:schemeClr val="dk1">
              <a:alpha val="25000"/>
              <a:lumMod val="40000"/>
              <a:lumOff val="60000"/>
            </a:schemeClr>
          </a:solidFill>
        </a:fill>
      </a:tcStyle>
    </a:band2H>
    <a:band1V>
      <a:tcStyle>
        <a:tcBdr>
          <a:left>
            <a:ln w="9525" cmpd="sng">
              <a:solidFill>
                <a:schemeClr val="dk1"/>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solidFill>
              <a:prstDash val="solid"/>
            </a:ln>
          </a:bottom>
          <a:insideH>
            <a:ln w="9525" cmpd="sng">
              <a:solidFill>
                <a:schemeClr val="dk1">
                  <a:lumMod val="40000"/>
                  <a:lumOff val="60000"/>
                </a:schemeClr>
              </a:solidFill>
              <a:prstDash val="solid"/>
            </a:ln>
          </a:insideH>
          <a:insideV>
            <a:ln w="9525" cmpd="sng">
              <a:solidFill>
                <a:schemeClr val="dk1">
                  <a:lumMod val="40000"/>
                  <a:lumOff val="60000"/>
                </a:schemeClr>
              </a:solidFill>
              <a:prstDash val="solid"/>
            </a:ln>
          </a:insideV>
        </a:tcBdr>
        <a:fill>
          <a:solidFill>
            <a:schemeClr val="dk1">
              <a:alpha val="25000"/>
              <a:lumMod val="40000"/>
              <a:lumOff val="60000"/>
            </a:schemeClr>
          </a:solidFill>
        </a:fill>
      </a:tcStyle>
    </a:band1V>
    <a:band2V>
      <a:tcStyle>
        <a:tcBdr>
          <a:left>
            <a:ln w="9525" cmpd="sng">
              <a:solidFill>
                <a:schemeClr val="dk1">
                  <a:lumMod val="40000"/>
                  <a:lumOff val="60000"/>
                </a:schemeClr>
              </a:solidFill>
              <a:prstDash val="solid"/>
            </a:ln>
          </a:left>
          <a:right>
            <a:ln w="9525" cmpd="sng">
              <a:solidFill>
                <a:schemeClr val="dk1">
                  <a:lumMod val="40000"/>
                  <a:lumOff val="60000"/>
                </a:schemeClr>
              </a:solidFill>
              <a:prstDash val="solid"/>
            </a:ln>
          </a:right>
          <a:top>
            <a:ln w="9525" cmpd="sng">
              <a:solidFill>
                <a:schemeClr val="dk1"/>
              </a:solidFill>
              <a:prstDash val="solid"/>
            </a:ln>
          </a:top>
          <a:bottom>
            <a:ln w="9525" cmpd="sng">
              <a:solidFill>
                <a:schemeClr val="dk1"/>
              </a:solidFill>
              <a:prstDash val="solid"/>
            </a:ln>
          </a:bottom>
          <a:insideH>
            <a:ln w="9525" cmpd="sng">
              <a:solidFill>
                <a:schemeClr val="dk1">
                  <a:lumMod val="40000"/>
                  <a:lumOff val="60000"/>
                </a:schemeClr>
              </a:solidFill>
              <a:prstDash val="solid"/>
            </a:ln>
          </a:insideH>
          <a:insideV>
            <a:ln>
              <a:noFill/>
            </a:ln>
          </a:insideV>
        </a:tcBdr>
        <a:fill>
          <a:solidFill>
            <a:schemeClr val="bg1">
              <a:alpha val="0"/>
            </a:schemeClr>
          </a:solidFill>
        </a:fill>
      </a:tcStyle>
    </a:band2V>
    <a:lastCol>
      <a:tcTxStyle b="on">
        <a:fontRef idx="none">
          <a:schemeClr val="tx1"/>
        </a:fontRef>
      </a:tcTxStyle>
      <a:tcStyle>
        <a:tcBdr>
          <a:left>
            <a:ln w="9525" cmpd="sng">
              <a:solidFill>
                <a:schemeClr val="dk1">
                  <a:lumMod val="34000"/>
                  <a:lumOff val="66000"/>
                </a:schemeClr>
              </a:solidFill>
              <a:prstDash val="solid"/>
            </a:ln>
          </a:left>
          <a:right>
            <a:ln w="9525" cmpd="sng">
              <a:solidFill>
                <a:schemeClr val="dk1"/>
              </a:solidFill>
              <a:prstDash val="solid"/>
            </a:ln>
          </a:right>
          <a:top>
            <a:ln w="9525" cmpd="sng">
              <a:solidFill>
                <a:schemeClr val="dk1">
                  <a:lumMod val="34000"/>
                  <a:lumOff val="66000"/>
                </a:schemeClr>
              </a:solidFill>
              <a:prstDash val="solid"/>
            </a:ln>
          </a:top>
          <a:bottom>
            <a:ln w="9525" cmpd="sng">
              <a:solidFill>
                <a:schemeClr val="dk1"/>
              </a:solidFill>
              <a:prstDash val="solid"/>
            </a:ln>
          </a:bottom>
          <a:insideH>
            <a:ln w="9525" cmpd="sng">
              <a:solidFill>
                <a:schemeClr val="dk1">
                  <a:lumMod val="34000"/>
                  <a:lumOff val="66000"/>
                </a:schemeClr>
              </a:solidFill>
              <a:prstDash val="solid"/>
            </a:ln>
          </a:insideH>
          <a:insideV>
            <a:ln>
              <a:noFill/>
            </a:ln>
          </a:insideV>
        </a:tcBdr>
        <a:fill>
          <a:solidFill>
            <a:schemeClr val="bg1">
              <a:alpha val="0"/>
            </a:schemeClr>
          </a:solidFill>
        </a:fill>
      </a:tcStyle>
    </a:lastCol>
    <a:firstCol>
      <a:tcTxStyle b="on">
        <a:fontRef idx="none">
          <a:schemeClr val="tx1"/>
        </a:fontRef>
      </a:tcTxStyle>
      <a:tcStyle>
        <a:tcBdr>
          <a:left>
            <a:ln w="9525" cmpd="sng">
              <a:solidFill>
                <a:schemeClr val="dk1"/>
              </a:solidFill>
              <a:prstDash val="solid"/>
            </a:ln>
          </a:left>
          <a:right>
            <a:ln w="9525" cmpd="sng">
              <a:solidFill>
                <a:schemeClr val="dk1">
                  <a:lumMod val="34000"/>
                  <a:lumOff val="66000"/>
                </a:schemeClr>
              </a:solidFill>
              <a:prstDash val="solid"/>
            </a:ln>
          </a:right>
          <a:top>
            <a:ln w="9525" cmpd="sng">
              <a:solidFill>
                <a:schemeClr val="dk1">
                  <a:lumMod val="34000"/>
                  <a:lumOff val="66000"/>
                </a:schemeClr>
              </a:solidFill>
              <a:prstDash val="solid"/>
            </a:ln>
          </a:top>
          <a:bottom>
            <a:ln w="9525" cmpd="sng">
              <a:solidFill>
                <a:schemeClr val="dk1"/>
              </a:solidFill>
              <a:prstDash val="solid"/>
            </a:ln>
          </a:bottom>
          <a:insideH>
            <a:ln w="9525" cmpd="sng">
              <a:solidFill>
                <a:schemeClr val="dk1">
                  <a:lumMod val="34000"/>
                  <a:lumOff val="66000"/>
                </a:schemeClr>
              </a:solidFill>
              <a:prstDash val="solid"/>
            </a:ln>
          </a:insideH>
          <a:insideV>
            <a:ln>
              <a:noFill/>
            </a:ln>
          </a:insideV>
        </a:tcBdr>
        <a:fill>
          <a:solidFill>
            <a:schemeClr val="bg1">
              <a:alpha val="0"/>
            </a:schemeClr>
          </a:solidFill>
        </a:fill>
      </a:tcStyle>
    </a:firstCol>
    <a:lastRow>
      <a:tcTxStyle b="on">
        <a:fontRef idx="none">
          <a:schemeClr val="tx1"/>
        </a:fontRef>
      </a:tcTxStyle>
      <a:tcStyle>
        <a:tcBdr>
          <a:left>
            <a:ln w="9525" cmpd="sng">
              <a:solidFill>
                <a:schemeClr val="dk1"/>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solidFill>
              <a:prstDash val="solid"/>
            </a:ln>
          </a:bottom>
          <a:insideH>
            <a:ln>
              <a:noFill/>
            </a:ln>
          </a:insideH>
          <a:insideV>
            <a:ln>
              <a:noFill/>
            </a:ln>
          </a:insideV>
        </a:tcBdr>
        <a:fill>
          <a:solidFill>
            <a:schemeClr val="bg1">
              <a:alpha val="0"/>
            </a:schemeClr>
          </a:solidFill>
        </a:fill>
      </a:tcStyle>
    </a:lastRow>
    <a:seCell>
      <a:tcStyle>
        <a:tcBdr>
          <a:left>
            <a:ln>
              <a:noFill/>
            </a:ln>
          </a:left>
          <a:right>
            <a:ln w="9525" cmpd="sng">
              <a:solidFill>
                <a:schemeClr val="dk1"/>
              </a:solidFill>
              <a:prstDash val="solid"/>
            </a:ln>
          </a:right>
          <a:top>
            <a:ln w="9525" cmpd="sng">
              <a:solidFill>
                <a:schemeClr val="dk1"/>
              </a:solidFill>
              <a:prstDash val="solid"/>
            </a:ln>
          </a:top>
          <a:bottom>
            <a:ln w="9525" cmpd="sng">
              <a:solidFill>
                <a:schemeClr val="dk1"/>
              </a:solidFill>
              <a:prstDash val="solid"/>
            </a:ln>
          </a:bottom>
          <a:insideH>
            <a:ln>
              <a:noFill/>
            </a:ln>
          </a:insideH>
          <a:insideV>
            <a:ln>
              <a:noFill/>
            </a:ln>
          </a:insideV>
        </a:tcBdr>
        <a:fill>
          <a:solidFill>
            <a:schemeClr val="bg1">
              <a:alpha val="0"/>
            </a:schemeClr>
          </a:solidFill>
        </a:fill>
      </a:tcStyle>
    </a:seCell>
    <a:swCell>
      <a:tcTxStyle b="on">
        <a:fontRef idx="none">
          <a:schemeClr val="dk1"/>
        </a:fontRef>
      </a:tcTxStyle>
      <a:tcStyle>
        <a:tcBdr>
          <a:left>
            <a:ln w="9525" cmpd="sng">
              <a:solidFill>
                <a:schemeClr val="dk1"/>
              </a:solidFill>
              <a:prstDash val="solid"/>
            </a:ln>
          </a:left>
          <a:right>
            <a:ln>
              <a:noFill/>
            </a:ln>
          </a:right>
          <a:top>
            <a:ln w="9525" cmpd="sng">
              <a:solidFill>
                <a:schemeClr val="dk1"/>
              </a:solidFill>
              <a:prstDash val="solid"/>
            </a:ln>
          </a:top>
          <a:bottom>
            <a:ln w="9525" cmpd="sng">
              <a:solidFill>
                <a:schemeClr val="dk1"/>
              </a:solidFill>
              <a:prstDash val="solid"/>
            </a:ln>
          </a:bottom>
          <a:insideH>
            <a:ln>
              <a:noFill/>
            </a:ln>
          </a:insideH>
          <a:insideV>
            <a:ln>
              <a:noFill/>
            </a:ln>
          </a:insideV>
        </a:tcBdr>
        <a:fill>
          <a:solidFill>
            <a:schemeClr val="bg1">
              <a:alpha val="0"/>
            </a:schemeClr>
          </a:solidFill>
        </a:fill>
      </a:tcStyle>
    </a:swCell>
    <a:firstRow>
      <a:tcTxStyle b="on">
        <a:fontRef idx="none">
          <a:schemeClr val="tx1"/>
        </a:fontRef>
      </a:tcTxStyle>
      <a:tcStyle>
        <a:tcBdr>
          <a:left>
            <a:ln w="9525" cmpd="sng">
              <a:solidFill>
                <a:schemeClr val="dk1"/>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lumMod val="34000"/>
                  <a:lumOff val="66000"/>
                </a:schemeClr>
              </a:solidFill>
              <a:prstDash val="solid"/>
            </a:ln>
          </a:bottom>
          <a:insideH>
            <a:ln>
              <a:noFill/>
            </a:ln>
          </a:insideH>
          <a:insideV>
            <a:ln w="9525" cmpd="sng">
              <a:solidFill>
                <a:schemeClr val="dk1">
                  <a:alpha val="20000"/>
                  <a:lumMod val="35000"/>
                  <a:lumOff val="65000"/>
                </a:schemeClr>
              </a:solidFill>
              <a:prstDash val="solid"/>
            </a:ln>
          </a:insideV>
        </a:tcBdr>
        <a:fill>
          <a:solidFill>
            <a:schemeClr val="dk1">
              <a:alpha val="50000"/>
              <a:lumMod val="40000"/>
              <a:lumOff val="6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pos="3838"/>
        <p:guide orient="horz" pos="1610"/>
        <p:guide orient="horz" pos="2674"/>
        <p:guide orient="horz" pos="213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7" Type="http://schemas.openxmlformats.org/officeDocument/2006/relationships/tags" Target="tags/tag170.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handoutMaster" Target="handoutMasters/handoutMaster1.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a:p>
            <a:endParaRPr lang="en-US" altLang="en-US"/>
          </a:p>
          <a:p>
            <a:r>
              <a:rPr lang="zh-CN" altLang="en-US"/>
              <a:t>来自</a:t>
            </a:r>
            <a:r>
              <a:rPr lang="en-US" altLang="zh-CN"/>
              <a:t> </a:t>
            </a:r>
            <a:r>
              <a:rPr lang="zh-CN" altLang="en-US"/>
              <a:t>教育技术庄老师</a:t>
            </a:r>
            <a:endParaRPr lang="en-US" altLang="en-US"/>
          </a:p>
          <a:p>
            <a:endParaRPr lang="en-US" altLang="en-US"/>
          </a:p>
          <a:p>
            <a:r>
              <a:rPr lang="en-US" altLang="en-US"/>
              <a:t>---</a:t>
            </a:r>
            <a:endParaRPr lang="en-US" altLang="en-US"/>
          </a:p>
          <a:p>
            <a:endParaRPr lang="en-US" altLang="en-US"/>
          </a:p>
          <a:p>
            <a:r>
              <a:rPr lang="en-US" altLang="en-US"/>
              <a:t>https://gemini.google.com/app/9789d8256767d650</a:t>
            </a:r>
            <a:endParaRPr lang="en-US" altLang="en-US"/>
          </a:p>
          <a:p>
            <a:r>
              <a:rPr lang="en-US" altLang="en-US">
                <a:sym typeface="+mn-ea"/>
              </a:rPr>
              <a:t>(khan academy)</a:t>
            </a:r>
            <a:endParaRPr lang="en-US" altLang="en-US"/>
          </a:p>
          <a:p>
            <a:pPr marL="171450" indent="-171450">
              <a:buFont typeface="Arial" panose="020B0604020202090204" pitchFamily="34" charset="0"/>
              <a:buChar char="•"/>
            </a:pPr>
            <a:r>
              <a:rPr lang="en-US"/>
              <a:t>why analog is useful? </a:t>
            </a:r>
            <a:endParaRPr lang="en-US"/>
          </a:p>
          <a:p>
            <a:pPr marL="628650" lvl="1" indent="-171450">
              <a:buFont typeface="Arial" panose="020B0604020202090204" pitchFamily="34" charset="0"/>
              <a:buChar char="•"/>
            </a:pPr>
            <a:r>
              <a:rPr lang="en-US"/>
              <a:t>analog vs. digital signals </a:t>
            </a:r>
            <a:r>
              <a:rPr lang="en-US" altLang="en-US"/>
              <a:t>https://www.youtube.com/watch?v=PEYdn56pdcQ </a:t>
            </a:r>
            <a:endParaRPr lang="en-US" altLang="en-US"/>
          </a:p>
          <a:p>
            <a:pPr marL="171450" lvl="0" indent="-171450">
              <a:buFont typeface="Arial" panose="020B0604020202090204" pitchFamily="34" charset="0"/>
              <a:buChar char="•"/>
            </a:pPr>
            <a:r>
              <a:rPr lang="en-US" altLang="en-US"/>
              <a:t>digital and analog information</a:t>
            </a:r>
            <a:endParaRPr lang="en-US" altLang="en-US"/>
          </a:p>
          <a:p>
            <a:pPr marL="628650" lvl="1" indent="-171450">
              <a:buFont typeface="Arial" panose="020B0604020202090204" pitchFamily="34" charset="0"/>
              <a:buChar char="•"/>
            </a:pPr>
            <a:r>
              <a:rPr lang="en-US" altLang="en-US"/>
              <a:t>https://www.youtube.com/watch?v=oSZNQ1LZjHg#:~:text=Keep%20going!%20Check%20out%20the%20next%20lesson,information%20and%20how%20digital%20information%20is%20created.</a:t>
            </a:r>
            <a:endParaRPr lang="en-US" altLang="en-US"/>
          </a:p>
          <a:p>
            <a:pPr marL="171450" lvl="0" indent="-171450">
              <a:buFont typeface="Arial" panose="020B0604020202090204" pitchFamily="34" charset="0"/>
              <a:buChar char="•"/>
            </a:pPr>
            <a:r>
              <a:rPr lang="en-US" altLang="en-US"/>
              <a:t>material (very good logic)</a:t>
            </a:r>
            <a:endParaRPr lang="en-US" altLang="en-US"/>
          </a:p>
          <a:p>
            <a:pPr marL="628650" lvl="1" indent="-171450">
              <a:buFont typeface="Arial" panose="020B0604020202090204" pitchFamily="34" charset="0"/>
              <a:buChar char="•"/>
            </a:pPr>
            <a:r>
              <a:rPr lang="en-US" altLang="en-US"/>
              <a:t>https://www.khanacademy.org/computing/computers-and-internet/xcae6f4a7ff015e7d:digital-information/xcae6f4a7ff015e7d:representing-analog-data-in-binary/a/converting-analog-data-to-binary#:~:text=If%20you%20zoom%20into%20one%20part%20of,senses%20and%20convert%20it%20into%20digital%20data%3F</a:t>
            </a:r>
            <a:endParaRPr lang="en-US" altLang="en-US"/>
          </a:p>
          <a:p>
            <a:endParaRPr lang="en-US" altLang="en-US"/>
          </a:p>
          <a:p>
            <a:r>
              <a:rPr lang="en-US" altLang="en-US"/>
              <a:t>---</a:t>
            </a:r>
            <a:endParaRPr lang="en-US" altLang="en-US"/>
          </a:p>
          <a:p>
            <a:endParaRPr lang="en-US" altLang="en-US"/>
          </a:p>
          <a:p>
            <a:r>
              <a:rPr lang="zh-CN" altLang="en-US"/>
              <a:t>二</a:t>
            </a:r>
            <a:r>
              <a:rPr lang="en-US" altLang="zh-CN"/>
              <a:t>. </a:t>
            </a:r>
            <a:r>
              <a:rPr lang="zh-CN" altLang="en-US"/>
              <a:t>数字化</a:t>
            </a:r>
            <a:endParaRPr lang="zh-CN" altLang="en-US"/>
          </a:p>
          <a:p>
            <a:endParaRPr lang="zh-CN" altLang="en-US"/>
          </a:p>
          <a:p>
            <a:r>
              <a:rPr lang="en-US" altLang="zh-CN"/>
              <a:t>1. </a:t>
            </a:r>
            <a:r>
              <a:rPr lang="zh-CN" altLang="en-US"/>
              <a:t>模拟信号和数字信号</a:t>
            </a:r>
            <a:endParaRPr lang="en-US" altLang="en-US"/>
          </a:p>
          <a:p>
            <a:pPr marL="171450" indent="-171450">
              <a:buFont typeface="Arial" panose="020B0604020202090204" pitchFamily="34" charset="0"/>
              <a:buChar char="•"/>
            </a:pPr>
            <a:r>
              <a:rPr lang="zh-CN" altLang="en-US"/>
              <a:t>数字技术</a:t>
            </a:r>
            <a:r>
              <a:rPr lang="en-US" altLang="zh-CN"/>
              <a:t>？</a:t>
            </a:r>
            <a:endParaRPr lang="en-US" altLang="zh-CN"/>
          </a:p>
          <a:p>
            <a:pPr marL="171450" indent="-171450">
              <a:buFont typeface="Arial" panose="020B0604020202090204" pitchFamily="34" charset="0"/>
              <a:buChar char="•"/>
            </a:pPr>
            <a:r>
              <a:rPr lang="zh-CN" altLang="en-US"/>
              <a:t>数字博物馆</a:t>
            </a:r>
            <a:r>
              <a:rPr lang="en-US" altLang="zh-CN"/>
              <a:t> - </a:t>
            </a:r>
            <a:r>
              <a:rPr lang="zh-CN" altLang="en-US"/>
              <a:t>蒙娜丽莎</a:t>
            </a:r>
            <a:r>
              <a:rPr lang="en-US" altLang="zh-CN"/>
              <a:t>（</a:t>
            </a:r>
            <a:r>
              <a:rPr lang="zh-CN" altLang="en-US"/>
              <a:t>场景</a:t>
            </a:r>
            <a:r>
              <a:rPr lang="en-US" altLang="zh-CN"/>
              <a:t>） -- </a:t>
            </a:r>
            <a:r>
              <a:rPr lang="zh-CN" altLang="en-US"/>
              <a:t>美图</a:t>
            </a:r>
            <a:r>
              <a:rPr lang="en-US" altLang="zh-CN"/>
              <a:t>：</a:t>
            </a:r>
            <a:r>
              <a:rPr lang="zh-CN" altLang="en-US"/>
              <a:t>吸引注意力</a:t>
            </a:r>
            <a:endParaRPr lang="en-US" altLang="zh-CN"/>
          </a:p>
          <a:p>
            <a:pPr marL="171450" indent="-171450">
              <a:buFont typeface="Arial" panose="020B0604020202090204" pitchFamily="34" charset="0"/>
              <a:buChar char="•"/>
            </a:pPr>
            <a:r>
              <a:rPr lang="zh-CN" altLang="en-US"/>
              <a:t>数字化</a:t>
            </a:r>
            <a:r>
              <a:rPr lang="en-US" altLang="zh-CN"/>
              <a:t>？</a:t>
            </a:r>
            <a:r>
              <a:rPr lang="zh-CN" altLang="en-US"/>
              <a:t>二进制数</a:t>
            </a:r>
            <a:endParaRPr lang="zh-CN" altLang="en-US"/>
          </a:p>
          <a:p>
            <a:pPr marL="171450" indent="-171450">
              <a:buFont typeface="Arial" panose="020B0604020202090204" pitchFamily="34" charset="0"/>
              <a:buChar char="•"/>
            </a:pPr>
            <a:r>
              <a:rPr lang="zh-CN" altLang="en-US"/>
              <a:t>模拟量和数字量都是对某一个物理量的反映与表达</a:t>
            </a:r>
            <a:endParaRPr lang="zh-CN" altLang="en-US"/>
          </a:p>
          <a:p>
            <a:pPr marL="628650" lvl="1" indent="-171450">
              <a:buFont typeface="Arial" panose="020B0604020202090204" pitchFamily="34" charset="0"/>
              <a:buChar char="•"/>
            </a:pPr>
            <a:r>
              <a:rPr lang="zh-CN" altLang="en-US"/>
              <a:t>主要区别</a:t>
            </a:r>
            <a:r>
              <a:rPr lang="en-US" altLang="zh-CN"/>
              <a:t>：</a:t>
            </a:r>
            <a:r>
              <a:rPr lang="zh-CN" altLang="en-US"/>
              <a:t>连续</a:t>
            </a:r>
            <a:r>
              <a:rPr lang="en-US" altLang="zh-CN"/>
              <a:t> </a:t>
            </a:r>
            <a:r>
              <a:rPr lang="zh-CN" altLang="en-US"/>
              <a:t>和</a:t>
            </a:r>
            <a:r>
              <a:rPr lang="en-US" altLang="zh-CN"/>
              <a:t> </a:t>
            </a:r>
            <a:r>
              <a:rPr lang="zh-CN" altLang="en-US"/>
              <a:t>离散</a:t>
            </a:r>
            <a:endParaRPr lang="zh-CN" altLang="en-US"/>
          </a:p>
          <a:p>
            <a:pPr marL="171450" lvl="0" indent="-171450">
              <a:buFont typeface="Arial" panose="020B0604020202090204" pitchFamily="34" charset="0"/>
              <a:buChar char="•"/>
            </a:pPr>
            <a:r>
              <a:rPr lang="zh-CN" altLang="en-US"/>
              <a:t>在电子设备中</a:t>
            </a:r>
            <a:r>
              <a:rPr lang="en-US" altLang="zh-CN"/>
              <a:t>，</a:t>
            </a:r>
            <a:r>
              <a:rPr lang="zh-CN" altLang="en-US"/>
              <a:t>模拟量通常以模拟信号的形式进行传递</a:t>
            </a:r>
            <a:r>
              <a:rPr lang="en-US" altLang="zh-CN"/>
              <a:t>，</a:t>
            </a:r>
            <a:r>
              <a:rPr lang="zh-CN" altLang="en-US"/>
              <a:t>数字量则以数字信号的形式进行传递</a:t>
            </a:r>
            <a:r>
              <a:rPr lang="en-US" altLang="zh-CN"/>
              <a:t>。</a:t>
            </a:r>
            <a:endParaRPr lang="en-US" altLang="zh-CN"/>
          </a:p>
          <a:p>
            <a:pPr marL="628650" lvl="1" indent="-171450">
              <a:buFont typeface="Arial" panose="020B0604020202090204" pitchFamily="34" charset="0"/>
              <a:buChar char="•"/>
            </a:pPr>
            <a:r>
              <a:rPr lang="zh-CN" altLang="en-US"/>
              <a:t>在一定条件下</a:t>
            </a:r>
            <a:r>
              <a:rPr lang="en-US" altLang="zh-CN"/>
              <a:t>，</a:t>
            </a:r>
            <a:r>
              <a:rPr lang="zh-CN" altLang="en-US"/>
              <a:t>模拟信号和数字信号可以相互转换</a:t>
            </a:r>
            <a:r>
              <a:rPr lang="en-US" altLang="zh-CN"/>
              <a:t>。</a:t>
            </a:r>
            <a:endParaRPr lang="en-US" altLang="zh-CN"/>
          </a:p>
          <a:p>
            <a:pPr marL="1085850" lvl="2" indent="-171450">
              <a:buFont typeface="Arial" panose="020B0604020202090204" pitchFamily="34" charset="0"/>
              <a:buChar char="•"/>
            </a:pPr>
            <a:r>
              <a:rPr lang="zh-CN" altLang="en-US"/>
              <a:t>什么条件下</a:t>
            </a:r>
            <a:r>
              <a:rPr lang="en-US" altLang="zh-CN"/>
              <a:t>，</a:t>
            </a:r>
            <a:r>
              <a:rPr lang="zh-CN" altLang="en-US"/>
              <a:t>不能转换</a:t>
            </a:r>
            <a:r>
              <a:rPr lang="en-US" altLang="zh-CN"/>
              <a:t>？</a:t>
            </a:r>
            <a:endParaRPr lang="en-US" altLang="zh-CN"/>
          </a:p>
          <a:p>
            <a:pPr marL="171450" lvl="0" indent="-171450">
              <a:buFont typeface="Arial" panose="020B0604020202090204" pitchFamily="34" charset="0"/>
              <a:buChar char="•"/>
            </a:pPr>
            <a:r>
              <a:rPr lang="zh-CN" altLang="en-US"/>
              <a:t>声音的数字化</a:t>
            </a:r>
            <a:endParaRPr lang="zh-CN" altLang="en-US"/>
          </a:p>
          <a:p>
            <a:pPr marL="628650" lvl="1" indent="-171450">
              <a:buFont typeface="Arial" panose="020B0604020202090204" pitchFamily="34" charset="0"/>
              <a:buChar char="•"/>
            </a:pPr>
            <a:r>
              <a:rPr lang="zh-CN" altLang="en-US"/>
              <a:t>麦克风能够将声波的振动转化为电信号</a:t>
            </a:r>
            <a:r>
              <a:rPr lang="en-US" altLang="zh-CN"/>
              <a:t>，</a:t>
            </a:r>
            <a:r>
              <a:rPr lang="zh-CN" altLang="en-US"/>
              <a:t>这是一种模拟信号</a:t>
            </a:r>
            <a:r>
              <a:rPr lang="en-US" altLang="zh-CN"/>
              <a:t>，</a:t>
            </a:r>
            <a:r>
              <a:rPr lang="zh-CN" altLang="en-US"/>
              <a:t>再经过模数转换设备</a:t>
            </a:r>
            <a:r>
              <a:rPr lang="en-US" altLang="zh-CN"/>
              <a:t>（</a:t>
            </a:r>
            <a:r>
              <a:rPr lang="zh-CN" altLang="en-US"/>
              <a:t>如声卡等</a:t>
            </a:r>
            <a:r>
              <a:rPr lang="en-US" altLang="zh-CN"/>
              <a:t>）</a:t>
            </a:r>
            <a:r>
              <a:rPr lang="zh-CN" altLang="en-US"/>
              <a:t>的处理后</a:t>
            </a:r>
            <a:r>
              <a:rPr lang="en-US" altLang="zh-CN"/>
              <a:t>，</a:t>
            </a:r>
            <a:r>
              <a:rPr lang="zh-CN" altLang="en-US"/>
              <a:t>可以转换成计算机内部能够处理的数字信号</a:t>
            </a:r>
            <a:r>
              <a:rPr lang="en-US" altLang="zh-CN"/>
              <a:t>。</a:t>
            </a:r>
            <a:endParaRPr lang="zh-CN" altLang="en-US"/>
          </a:p>
          <a:p>
            <a:pPr marL="628650" lvl="1" indent="-171450">
              <a:buFont typeface="Arial" panose="020B0604020202090204" pitchFamily="34" charset="0"/>
              <a:buChar char="•"/>
            </a:pPr>
            <a:endParaRPr lang="en-US" altLang="en-US"/>
          </a:p>
          <a:p>
            <a:r>
              <a:rPr lang="en-US" altLang="en-US"/>
              <a:t>2. </a:t>
            </a:r>
            <a:r>
              <a:rPr lang="zh-CN" altLang="en-US"/>
              <a:t>模拟信号的数字化过程</a:t>
            </a:r>
            <a:endParaRPr lang="zh-CN" altLang="en-US"/>
          </a:p>
          <a:p>
            <a:pPr marL="171450" indent="-171450">
              <a:buFont typeface="Arial" panose="020B0604020202090204" pitchFamily="34" charset="0"/>
              <a:buChar char="•"/>
            </a:pPr>
            <a:r>
              <a:rPr lang="zh-CN" altLang="en-US"/>
              <a:t>在计算机领域</a:t>
            </a:r>
            <a:r>
              <a:rPr lang="en-US" altLang="zh-CN"/>
              <a:t>，</a:t>
            </a:r>
            <a:r>
              <a:rPr lang="zh-CN" altLang="en-US"/>
              <a:t>数字化是指将复杂多样的信息表示为计算机可以处理的二进制代码的过程</a:t>
            </a:r>
            <a:r>
              <a:rPr lang="en-US" altLang="zh-CN"/>
              <a:t>。</a:t>
            </a:r>
            <a:endParaRPr lang="en-US" altLang="en-US"/>
          </a:p>
          <a:p>
            <a:endParaRPr lang="en-US" altLang="en-US"/>
          </a:p>
          <a:p>
            <a:endParaRPr lang="en-US" altLang="en-US"/>
          </a:p>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zh-CN" altLang="en-US">
                <a:latin typeface="Alibaba PuHuiTi 3.0 55 Regular" panose="00020600040101010101" charset="-122"/>
                <a:ea typeface="Alibaba PuHuiTi 3.0 55 Regular" panose="00020600040101010101" charset="-122"/>
                <a:sym typeface="+mn-ea"/>
              </a:rPr>
              <a:t>怎样组装才体积更小</a:t>
            </a:r>
            <a:r>
              <a:rPr lang="en-US" altLang="zh-CN">
                <a:latin typeface="Alibaba PuHuiTi 3.0 55 Regular" panose="00020600040101010101" charset="-122"/>
                <a:ea typeface="Alibaba PuHuiTi 3.0 55 Regular" panose="00020600040101010101" charset="-122"/>
                <a:sym typeface="+mn-ea"/>
              </a:rPr>
              <a:t>、</a:t>
            </a:r>
            <a:r>
              <a:rPr lang="zh-CN" altLang="en-US">
                <a:latin typeface="Alibaba PuHuiTi 3.0 55 Regular" panose="00020600040101010101" charset="-122"/>
                <a:ea typeface="Alibaba PuHuiTi 3.0 55 Regular" panose="00020600040101010101" charset="-122"/>
                <a:sym typeface="+mn-ea"/>
              </a:rPr>
              <a:t>更合理</a:t>
            </a:r>
            <a:r>
              <a:rPr lang="en-US" altLang="zh-CN">
                <a:latin typeface="Alibaba PuHuiTi 3.0 55 Regular" panose="00020600040101010101" charset="-122"/>
                <a:ea typeface="Alibaba PuHuiTi 3.0 55 Regular" panose="00020600040101010101" charset="-122"/>
                <a:sym typeface="+mn-ea"/>
              </a:rPr>
              <a:t>？</a:t>
            </a:r>
            <a:endParaRPr lang="en-US" altLang="zh-CN">
              <a:latin typeface="Alibaba PuHuiTi 3.0 55 Regular" panose="00020600040101010101" charset="-122"/>
              <a:ea typeface="Alibaba PuHuiTi 3.0 55 Regular" panose="00020600040101010101" charset="-122"/>
              <a:sym typeface="+mn-ea"/>
            </a:endParaRPr>
          </a:p>
          <a:p>
            <a:r>
              <a:rPr lang="zh-CN" altLang="en-US"/>
              <a:t>不同的格式就可以代表不同的组装方式</a:t>
            </a:r>
            <a:r>
              <a:rPr lang="en-US" altLang="zh-CN"/>
              <a:t>，</a:t>
            </a:r>
            <a:r>
              <a:rPr lang="zh-CN" altLang="en-US"/>
              <a:t>依据不同的编码方式分成不同的音频文件类型</a:t>
            </a:r>
            <a:r>
              <a:rPr lang="en-US" altLang="zh-CN"/>
              <a:t>。</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48260"/>
            <a:ext cx="9799200" cy="2570400"/>
          </a:xfrm>
        </p:spPr>
        <p:txBody>
          <a:bodyPr lIns="90000" tIns="46800" rIns="90000" bIns="46800" anchor="b" anchorCtr="0">
            <a:noAutofit/>
          </a:bodyPr>
          <a:lstStyle>
            <a:lvl1pPr algn="ctr">
              <a:defRPr sz="6000" b="1">
                <a:ln w="12700">
                  <a:noFill/>
                </a:ln>
                <a:solidFill>
                  <a:schemeClr val="tx1"/>
                </a:solidFill>
                <a:latin typeface="Alibaba PuHuiTi 3.0 115 Black" panose="00020600040101010101" charset="-122"/>
                <a:ea typeface="Alibaba PuHuiTi 3.0 115 Black" panose="00020600040101010101" charset="-122"/>
              </a:defRPr>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80" y="2736215"/>
            <a:ext cx="9799320" cy="711200"/>
          </a:xfrm>
        </p:spPr>
        <p:txBody>
          <a:bodyPr lIns="90000" tIns="46800" rIns="90000" bIns="46800">
            <a:normAutofit/>
          </a:bodyPr>
          <a:lstStyle>
            <a:lvl1pPr marL="0" indent="0" algn="ctr">
              <a:lnSpc>
                <a:spcPct val="110000"/>
              </a:lnSpc>
              <a:buNone/>
              <a:defRPr sz="3700" spc="200">
                <a:solidFill>
                  <a:schemeClr val="tx1">
                    <a:lumMod val="50000"/>
                    <a:lumOff val="50000"/>
                  </a:schemeClr>
                </a:solidFill>
                <a:latin typeface="Alibaba PuHuiTi 3.0 55 Regular" panose="00020600040101010101" charset="-122"/>
                <a:ea typeface="Alibaba PuHuiTi 3.0 55 Regular" panose="00020600040101010101"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8" name="日期占位符 3"/>
          <p:cNvSpPr>
            <a:spLocks noGrp="1"/>
          </p:cNvSpPr>
          <p:nvPr>
            <p:ph type="dt" sz="half" idx="2"/>
            <p:custDataLst>
              <p:tags r:id="rId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libaba PuHuiTi 3.0 35 Thin" panose="00020600040101010101" charset="-122"/>
                <a:ea typeface="Alibaba PuHuiTi 3.0 35 Thin" panose="00020600040101010101" charset="-122"/>
              </a:defRPr>
            </a:lvl1pPr>
          </a:lstStyle>
          <a:p>
            <a:fld id="{760FBDFE-C587-4B4C-A407-44438C67B59E}" type="datetimeFigureOut">
              <a:rPr lang="zh-CN" altLang="en-US" smtClean="0"/>
            </a:fld>
            <a:endParaRPr lang="zh-CN" altLang="en-US"/>
          </a:p>
        </p:txBody>
      </p:sp>
      <p:sp>
        <p:nvSpPr>
          <p:cNvPr id="9" name="页脚占位符 4"/>
          <p:cNvSpPr>
            <a:spLocks noGrp="1"/>
          </p:cNvSpPr>
          <p:nvPr>
            <p:ph type="ftr" sz="quarter" idx="3"/>
            <p:custDataLst>
              <p:tags r:id="rId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libaba PuHuiTi 3.0 35 Thin" panose="00020600040101010101" charset="-122"/>
                <a:ea typeface="Alibaba PuHuiTi 3.0 35 Thin" panose="00020600040101010101" charset="-122"/>
              </a:defRPr>
            </a:lvl1pPr>
          </a:lstStyle>
          <a:p>
            <a:endParaRPr lang="zh-CN" altLang="en-US" dirty="0"/>
          </a:p>
        </p:txBody>
      </p:sp>
      <p:sp>
        <p:nvSpPr>
          <p:cNvPr id="10" name="灯片编号占位符 5"/>
          <p:cNvSpPr>
            <a:spLocks noGrp="1"/>
          </p:cNvSpPr>
          <p:nvPr>
            <p:ph type="sldNum" sz="quarter" idx="4"/>
            <p:custDataLst>
              <p:tags r:id="rId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libaba PuHuiTi 3.0 35 Thin" panose="00020600040101010101" charset="-122"/>
                <a:ea typeface="Alibaba PuHuiTi 3.0 35 Thin" panose="00020600040101010101"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04000"/>
            <a:ext cx="5342400" cy="4140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04000"/>
            <a:ext cx="5342400" cy="4140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397600"/>
            <a:ext cx="9799200" cy="11052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5040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libaba PuHuiTi 3.0 35 Thin" panose="00020600040101010101" charset="-122"/>
                <a:ea typeface="Alibaba PuHuiTi 3.0 35 Thin" panose="00020600040101010101"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libaba PuHuiTi 3.0 35 Thin" panose="00020600040101010101" charset="-122"/>
                <a:ea typeface="Alibaba PuHuiTi 3.0 35 Thin" panose="00020600040101010101"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libaba PuHuiTi 3.0 35 Thin" panose="00020600040101010101" charset="-122"/>
                <a:ea typeface="Alibaba PuHuiTi 3.0 35 Thin" panose="00020600040101010101" charset="-122"/>
              </a:defRPr>
            </a:lvl1pPr>
          </a:lstStyle>
          <a:p>
            <a:fld id="{49AE70B2-8BF9-45C0-BB95-33D1B9D3A854}" type="slidenum">
              <a:rPr lang="zh-CN" altLang="en-US" smtClean="0"/>
            </a:fld>
            <a:endParaRPr lang="zh-CN" altLang="en-US" dirty="0"/>
          </a:p>
        </p:txBody>
      </p:sp>
      <p:cxnSp>
        <p:nvCxnSpPr>
          <p:cNvPr id="21" name="Straight Connector 20"/>
          <p:cNvCxnSpPr/>
          <p:nvPr userDrawn="1"/>
        </p:nvCxnSpPr>
        <p:spPr>
          <a:xfrm>
            <a:off x="-34925" y="43815"/>
            <a:ext cx="12226925" cy="0"/>
          </a:xfrm>
          <a:prstGeom prst="line">
            <a:avLst/>
          </a:prstGeom>
          <a:ln w="101600" cap="flat">
            <a:solidFill>
              <a:srgbClr val="6251B1"/>
            </a:solidFill>
            <a:prstDash val="solid"/>
            <a:tailEnd type="none"/>
          </a:ln>
        </p:spPr>
        <p:style>
          <a:lnRef idx="2">
            <a:schemeClr val="accent1"/>
          </a:lnRef>
          <a:fillRef idx="0">
            <a:srgbClr val="FFFFFF"/>
          </a:fillRef>
          <a:effectRef idx="0">
            <a:srgbClr val="FFFFFF"/>
          </a:effectRef>
          <a:fontRef idx="minor">
            <a:schemeClr val="tx1"/>
          </a:fontRef>
        </p:style>
      </p:cxnSp>
      <p:cxnSp>
        <p:nvCxnSpPr>
          <p:cNvPr id="23" name="Straight Connector 22"/>
          <p:cNvCxnSpPr/>
          <p:nvPr userDrawn="1"/>
        </p:nvCxnSpPr>
        <p:spPr>
          <a:xfrm>
            <a:off x="-3175" y="6812280"/>
            <a:ext cx="12195175" cy="0"/>
          </a:xfrm>
          <a:prstGeom prst="line">
            <a:avLst/>
          </a:prstGeom>
          <a:ln w="101600" cap="flat">
            <a:solidFill>
              <a:srgbClr val="6251B1"/>
            </a:solidFill>
          </a:ln>
        </p:spPr>
        <p:style>
          <a:lnRef idx="2">
            <a:schemeClr val="accent1"/>
          </a:lnRef>
          <a:fillRef idx="0">
            <a:srgbClr val="FFFFFF"/>
          </a:fillRef>
          <a:effectRef idx="0">
            <a:srgbClr val="FFFFFF"/>
          </a:effectRef>
          <a:fontRef idx="minor">
            <a:schemeClr val="tx1"/>
          </a:fontRef>
        </p:style>
      </p:cxn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libaba PuHuiTi 3.0 115 Black" panose="00020600040101010101" charset="-122"/>
          <a:ea typeface="Alibaba PuHuiTi 3.0 115 Black" panose="00020600040101010101"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Alibaba PuHuiTi 3.0 55 Regular" panose="00020600040101010101" charset="-122"/>
          <a:ea typeface="Alibaba PuHuiTi 3.0 55 Regular" panose="00020600040101010101"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libaba PuHuiTi 3.0 55 Regular" panose="00020600040101010101" charset="-122"/>
          <a:ea typeface="Alibaba PuHuiTi 3.0 55 Regular" panose="00020600040101010101"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Alibaba PuHuiTi 3.0 55 Regular" panose="00020600040101010101" charset="-122"/>
          <a:ea typeface="Alibaba PuHuiTi 3.0 55 Regular" panose="00020600040101010101"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libaba PuHuiTi 3.0 55 Regular" panose="00020600040101010101" charset="-122"/>
          <a:ea typeface="Alibaba PuHuiTi 3.0 55 Regular" panose="00020600040101010101"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Alibaba PuHuiTi 3.0 55 Regular" panose="00020600040101010101" charset="-122"/>
          <a:ea typeface="Alibaba PuHuiTi 3.0 55 Regular" panose="00020600040101010101"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69.xml"/><Relationship Id="rId7" Type="http://schemas.openxmlformats.org/officeDocument/2006/relationships/image" Target="../media/image4.svg"/><Relationship Id="rId6" Type="http://schemas.openxmlformats.org/officeDocument/2006/relationships/image" Target="../media/image3.png"/><Relationship Id="rId5" Type="http://schemas.openxmlformats.org/officeDocument/2006/relationships/tags" Target="../tags/tag68.xml"/><Relationship Id="rId4" Type="http://schemas.openxmlformats.org/officeDocument/2006/relationships/image" Target="../media/image2.svg"/><Relationship Id="rId3" Type="http://schemas.openxmlformats.org/officeDocument/2006/relationships/image" Target="../media/image1.png"/><Relationship Id="rId2" Type="http://schemas.openxmlformats.org/officeDocument/2006/relationships/tags" Target="../tags/tag67.xml"/><Relationship Id="rId13" Type="http://schemas.openxmlformats.org/officeDocument/2006/relationships/slideLayout" Target="../slideLayouts/slideLayout2.xml"/><Relationship Id="rId12" Type="http://schemas.openxmlformats.org/officeDocument/2006/relationships/tags" Target="../tags/tag71.xml"/><Relationship Id="rId11" Type="http://schemas.openxmlformats.org/officeDocument/2006/relationships/tags" Target="../tags/tag70.xml"/><Relationship Id="rId10" Type="http://schemas.openxmlformats.org/officeDocument/2006/relationships/image" Target="../media/image6.svg"/><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tags" Target="../tags/tag73.xml"/><Relationship Id="rId1" Type="http://schemas.openxmlformats.org/officeDocument/2006/relationships/tags" Target="../tags/tag72.xml"/></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2.xml"/><Relationship Id="rId5" Type="http://schemas.openxmlformats.org/officeDocument/2006/relationships/tags" Target="../tags/tag76.xml"/><Relationship Id="rId4" Type="http://schemas.openxmlformats.org/officeDocument/2006/relationships/image" Target="../media/image8.svg"/><Relationship Id="rId3" Type="http://schemas.openxmlformats.org/officeDocument/2006/relationships/image" Target="../media/image7.png"/><Relationship Id="rId2" Type="http://schemas.openxmlformats.org/officeDocument/2006/relationships/tags" Target="../tags/tag75.xml"/><Relationship Id="rId1" Type="http://schemas.openxmlformats.org/officeDocument/2006/relationships/tags" Target="../tags/tag74.xml"/></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2.xml"/><Relationship Id="rId5" Type="http://schemas.openxmlformats.org/officeDocument/2006/relationships/tags" Target="../tags/tag79.xml"/><Relationship Id="rId4" Type="http://schemas.openxmlformats.org/officeDocument/2006/relationships/image" Target="../media/image10.svg"/><Relationship Id="rId3" Type="http://schemas.openxmlformats.org/officeDocument/2006/relationships/image" Target="../media/image9.png"/><Relationship Id="rId2" Type="http://schemas.openxmlformats.org/officeDocument/2006/relationships/tags" Target="../tags/tag78.xml"/><Relationship Id="rId1" Type="http://schemas.openxmlformats.org/officeDocument/2006/relationships/tags" Target="../tags/tag77.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tags" Target="../tags/tag81.xml"/><Relationship Id="rId1" Type="http://schemas.openxmlformats.org/officeDocument/2006/relationships/tags" Target="../tags/tag80.xml"/></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2.xml"/><Relationship Id="rId5" Type="http://schemas.openxmlformats.org/officeDocument/2006/relationships/tags" Target="../tags/tag84.xml"/><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tags" Target="../tags/tag83.xml"/><Relationship Id="rId1" Type="http://schemas.openxmlformats.org/officeDocument/2006/relationships/tags" Target="../tags/tag82.xml"/></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2.xml"/><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tags" Target="../tags/tag88.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tags" Target="../tags/tag91.xml"/></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2.xml"/><Relationship Id="rId5" Type="http://schemas.openxmlformats.org/officeDocument/2006/relationships/tags" Target="../tags/tag97.xml"/><Relationship Id="rId4" Type="http://schemas.openxmlformats.org/officeDocument/2006/relationships/image" Target="../media/image10.svg"/><Relationship Id="rId3" Type="http://schemas.openxmlformats.org/officeDocument/2006/relationships/image" Target="../media/image13.png"/><Relationship Id="rId2" Type="http://schemas.openxmlformats.org/officeDocument/2006/relationships/tags" Target="../tags/tag96.xml"/><Relationship Id="rId1" Type="http://schemas.openxmlformats.org/officeDocument/2006/relationships/tags" Target="../tags/tag95.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tags" Target="../tags/tag99.xml"/><Relationship Id="rId1" Type="http://schemas.openxmlformats.org/officeDocument/2006/relationships/tags" Target="../tags/tag98.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tags" Target="../tags/tag101.xml"/><Relationship Id="rId1" Type="http://schemas.openxmlformats.org/officeDocument/2006/relationships/tags" Target="../tags/tag100.xml"/></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2.xml"/><Relationship Id="rId5" Type="http://schemas.openxmlformats.org/officeDocument/2006/relationships/tags" Target="../tags/tag104.xml"/><Relationship Id="rId4" Type="http://schemas.openxmlformats.org/officeDocument/2006/relationships/image" Target="../media/image10.svg"/><Relationship Id="rId3" Type="http://schemas.openxmlformats.org/officeDocument/2006/relationships/image" Target="../media/image13.png"/><Relationship Id="rId2" Type="http://schemas.openxmlformats.org/officeDocument/2006/relationships/tags" Target="../tags/tag103.xml"/><Relationship Id="rId1" Type="http://schemas.openxmlformats.org/officeDocument/2006/relationships/tags" Target="../tags/tag102.xml"/></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2.xml"/><Relationship Id="rId5" Type="http://schemas.openxmlformats.org/officeDocument/2006/relationships/tags" Target="../tags/tag107.xml"/><Relationship Id="rId4" Type="http://schemas.openxmlformats.org/officeDocument/2006/relationships/image" Target="../media/image15.svg"/><Relationship Id="rId3" Type="http://schemas.openxmlformats.org/officeDocument/2006/relationships/image" Target="../media/image14.png"/><Relationship Id="rId2" Type="http://schemas.openxmlformats.org/officeDocument/2006/relationships/tags" Target="../tags/tag106.xml"/><Relationship Id="rId1" Type="http://schemas.openxmlformats.org/officeDocument/2006/relationships/tags" Target="../tags/tag105.xml"/></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2.xml"/><Relationship Id="rId5" Type="http://schemas.openxmlformats.org/officeDocument/2006/relationships/tags" Target="../tags/tag110.xml"/><Relationship Id="rId4" Type="http://schemas.openxmlformats.org/officeDocument/2006/relationships/image" Target="../media/image16.svg"/><Relationship Id="rId3" Type="http://schemas.openxmlformats.org/officeDocument/2006/relationships/image" Target="../media/image14.png"/><Relationship Id="rId2" Type="http://schemas.openxmlformats.org/officeDocument/2006/relationships/tags" Target="../tags/tag109.xml"/><Relationship Id="rId1" Type="http://schemas.openxmlformats.org/officeDocument/2006/relationships/tags" Target="../tags/tag108.xml"/></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slideLayout" Target="../slideLayouts/slideLayout2.xml"/><Relationship Id="rId5" Type="http://schemas.openxmlformats.org/officeDocument/2006/relationships/tags" Target="../tags/tag113.xml"/><Relationship Id="rId4" Type="http://schemas.openxmlformats.org/officeDocument/2006/relationships/image" Target="../media/image17.svg"/><Relationship Id="rId3" Type="http://schemas.openxmlformats.org/officeDocument/2006/relationships/image" Target="../media/image14.png"/><Relationship Id="rId2" Type="http://schemas.openxmlformats.org/officeDocument/2006/relationships/tags" Target="../tags/tag112.xml"/><Relationship Id="rId1" Type="http://schemas.openxmlformats.org/officeDocument/2006/relationships/tags" Target="../tags/tag111.xml"/></Relationships>
</file>

<file path=ppt/slides/_rels/slide18.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slideLayout" Target="../slideLayouts/slideLayout2.xml"/><Relationship Id="rId5" Type="http://schemas.openxmlformats.org/officeDocument/2006/relationships/tags" Target="../tags/tag116.xml"/><Relationship Id="rId4" Type="http://schemas.openxmlformats.org/officeDocument/2006/relationships/image" Target="../media/image18.svg"/><Relationship Id="rId3" Type="http://schemas.openxmlformats.org/officeDocument/2006/relationships/image" Target="../media/image14.png"/><Relationship Id="rId2" Type="http://schemas.openxmlformats.org/officeDocument/2006/relationships/tags" Target="../tags/tag115.xml"/><Relationship Id="rId1" Type="http://schemas.openxmlformats.org/officeDocument/2006/relationships/tags" Target="../tags/tag114.xml"/></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18.xml"/><Relationship Id="rId6" Type="http://schemas.openxmlformats.org/officeDocument/2006/relationships/slideLayout" Target="../slideLayouts/slideLayout2.xml"/><Relationship Id="rId5" Type="http://schemas.openxmlformats.org/officeDocument/2006/relationships/tags" Target="../tags/tag119.xml"/><Relationship Id="rId4" Type="http://schemas.openxmlformats.org/officeDocument/2006/relationships/image" Target="../media/image15.svg"/><Relationship Id="rId3" Type="http://schemas.openxmlformats.org/officeDocument/2006/relationships/image" Target="../media/image14.png"/><Relationship Id="rId2" Type="http://schemas.openxmlformats.org/officeDocument/2006/relationships/tags" Target="../tags/tag118.xml"/><Relationship Id="rId1" Type="http://schemas.openxmlformats.org/officeDocument/2006/relationships/tags" Target="../tags/tag117.xml"/></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2.xml"/><Relationship Id="rId5" Type="http://schemas.openxmlformats.org/officeDocument/2006/relationships/tags" Target="../tags/tag122.xml"/><Relationship Id="rId4" Type="http://schemas.openxmlformats.org/officeDocument/2006/relationships/image" Target="../media/image15.svg"/><Relationship Id="rId3" Type="http://schemas.openxmlformats.org/officeDocument/2006/relationships/image" Target="../media/image14.png"/><Relationship Id="rId2" Type="http://schemas.openxmlformats.org/officeDocument/2006/relationships/tags" Target="../tags/tag121.xml"/><Relationship Id="rId1" Type="http://schemas.openxmlformats.org/officeDocument/2006/relationships/tags" Target="../tags/tag120.xml"/></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tags" Target="../tags/tag124.xml"/><Relationship Id="rId1" Type="http://schemas.openxmlformats.org/officeDocument/2006/relationships/tags" Target="../tags/tag123.xml"/></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28.xml"/><Relationship Id="rId3" Type="http://schemas.openxmlformats.org/officeDocument/2006/relationships/tags" Target="../tags/tag127.xml"/><Relationship Id="rId2" Type="http://schemas.openxmlformats.org/officeDocument/2006/relationships/tags" Target="../tags/tag126.xml"/><Relationship Id="rId1" Type="http://schemas.openxmlformats.org/officeDocument/2006/relationships/tags" Target="../tags/tag125.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33.xml"/><Relationship Id="rId4" Type="http://schemas.openxmlformats.org/officeDocument/2006/relationships/tags" Target="../tags/tag132.xml"/><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s>
</file>

<file path=ppt/slides/_rels/slide24.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tags" Target="../tags/tag137.xml"/><Relationship Id="rId7" Type="http://schemas.openxmlformats.org/officeDocument/2006/relationships/image" Target="../media/image4.svg"/><Relationship Id="rId6" Type="http://schemas.openxmlformats.org/officeDocument/2006/relationships/image" Target="../media/image20.png"/><Relationship Id="rId5" Type="http://schemas.openxmlformats.org/officeDocument/2006/relationships/tags" Target="../tags/tag136.xml"/><Relationship Id="rId4" Type="http://schemas.openxmlformats.org/officeDocument/2006/relationships/image" Target="../media/image2.svg"/><Relationship Id="rId3" Type="http://schemas.openxmlformats.org/officeDocument/2006/relationships/image" Target="../media/image19.png"/><Relationship Id="rId2" Type="http://schemas.openxmlformats.org/officeDocument/2006/relationships/tags" Target="../tags/tag135.xml"/><Relationship Id="rId13" Type="http://schemas.openxmlformats.org/officeDocument/2006/relationships/slideLayout" Target="../slideLayouts/slideLayout2.xml"/><Relationship Id="rId12" Type="http://schemas.openxmlformats.org/officeDocument/2006/relationships/tags" Target="../tags/tag139.xml"/><Relationship Id="rId11" Type="http://schemas.openxmlformats.org/officeDocument/2006/relationships/tags" Target="../tags/tag138.xml"/><Relationship Id="rId10" Type="http://schemas.openxmlformats.org/officeDocument/2006/relationships/image" Target="../media/image6.svg"/><Relationship Id="rId1" Type="http://schemas.openxmlformats.org/officeDocument/2006/relationships/tags" Target="../tags/tag134.xml"/></Relationships>
</file>

<file path=ppt/slides/_rels/slide25.xml.rels><?xml version="1.0" encoding="UTF-8" standalone="yes"?>
<Relationships xmlns="http://schemas.openxmlformats.org/package/2006/relationships"><Relationship Id="rId9" Type="http://schemas.openxmlformats.org/officeDocument/2006/relationships/image" Target="../media/image26.png"/><Relationship Id="rId8" Type="http://schemas.openxmlformats.org/officeDocument/2006/relationships/tags" Target="../tags/tag143.xml"/><Relationship Id="rId7" Type="http://schemas.openxmlformats.org/officeDocument/2006/relationships/image" Target="../media/image25.svg"/><Relationship Id="rId6" Type="http://schemas.openxmlformats.org/officeDocument/2006/relationships/image" Target="../media/image24.png"/><Relationship Id="rId5" Type="http://schemas.openxmlformats.org/officeDocument/2006/relationships/tags" Target="../tags/tag142.xml"/><Relationship Id="rId4" Type="http://schemas.openxmlformats.org/officeDocument/2006/relationships/image" Target="../media/image23.svg"/><Relationship Id="rId3" Type="http://schemas.openxmlformats.org/officeDocument/2006/relationships/image" Target="../media/image22.png"/><Relationship Id="rId2" Type="http://schemas.openxmlformats.org/officeDocument/2006/relationships/tags" Target="../tags/tag141.xml"/><Relationship Id="rId13" Type="http://schemas.openxmlformats.org/officeDocument/2006/relationships/notesSlide" Target="../notesSlides/notesSlide21.xml"/><Relationship Id="rId12" Type="http://schemas.openxmlformats.org/officeDocument/2006/relationships/slideLayout" Target="../slideLayouts/slideLayout2.xml"/><Relationship Id="rId11" Type="http://schemas.openxmlformats.org/officeDocument/2006/relationships/tags" Target="../tags/tag144.xml"/><Relationship Id="rId10" Type="http://schemas.openxmlformats.org/officeDocument/2006/relationships/image" Target="../media/image27.svg"/><Relationship Id="rId1" Type="http://schemas.openxmlformats.org/officeDocument/2006/relationships/tags" Target="../tags/tag140.xml"/></Relationships>
</file>

<file path=ppt/slides/_rels/slide26.xml.rels><?xml version="1.0" encoding="UTF-8" standalone="yes"?>
<Relationships xmlns="http://schemas.openxmlformats.org/package/2006/relationships"><Relationship Id="rId9" Type="http://schemas.openxmlformats.org/officeDocument/2006/relationships/image" Target="../media/image32.png"/><Relationship Id="rId8" Type="http://schemas.openxmlformats.org/officeDocument/2006/relationships/tags" Target="../tags/tag148.xml"/><Relationship Id="rId7" Type="http://schemas.openxmlformats.org/officeDocument/2006/relationships/image" Target="../media/image31.svg"/><Relationship Id="rId6" Type="http://schemas.openxmlformats.org/officeDocument/2006/relationships/image" Target="../media/image30.png"/><Relationship Id="rId5" Type="http://schemas.openxmlformats.org/officeDocument/2006/relationships/tags" Target="../tags/tag147.xml"/><Relationship Id="rId4" Type="http://schemas.openxmlformats.org/officeDocument/2006/relationships/image" Target="../media/image29.svg"/><Relationship Id="rId3" Type="http://schemas.openxmlformats.org/officeDocument/2006/relationships/image" Target="../media/image28.png"/><Relationship Id="rId2" Type="http://schemas.openxmlformats.org/officeDocument/2006/relationships/tags" Target="../tags/tag146.xml"/><Relationship Id="rId15" Type="http://schemas.openxmlformats.org/officeDocument/2006/relationships/slideLayout" Target="../slideLayouts/slideLayout2.xml"/><Relationship Id="rId14" Type="http://schemas.openxmlformats.org/officeDocument/2006/relationships/tags" Target="../tags/tag150.xml"/><Relationship Id="rId13" Type="http://schemas.openxmlformats.org/officeDocument/2006/relationships/image" Target="../media/image35.svg"/><Relationship Id="rId12" Type="http://schemas.openxmlformats.org/officeDocument/2006/relationships/image" Target="../media/image34.png"/><Relationship Id="rId11" Type="http://schemas.openxmlformats.org/officeDocument/2006/relationships/tags" Target="../tags/tag149.xml"/><Relationship Id="rId10" Type="http://schemas.openxmlformats.org/officeDocument/2006/relationships/image" Target="../media/image33.svg"/><Relationship Id="rId1" Type="http://schemas.openxmlformats.org/officeDocument/2006/relationships/tags" Target="../tags/tag145.xml"/></Relationships>
</file>

<file path=ppt/slides/_rels/slide27.xml.rels><?xml version="1.0" encoding="UTF-8" standalone="yes"?>
<Relationships xmlns="http://schemas.openxmlformats.org/package/2006/relationships"><Relationship Id="rId9" Type="http://schemas.openxmlformats.org/officeDocument/2006/relationships/image" Target="../media/image39.png"/><Relationship Id="rId8" Type="http://schemas.openxmlformats.org/officeDocument/2006/relationships/tags" Target="../tags/tag154.xml"/><Relationship Id="rId7" Type="http://schemas.openxmlformats.org/officeDocument/2006/relationships/image" Target="../media/image38.svg"/><Relationship Id="rId6" Type="http://schemas.openxmlformats.org/officeDocument/2006/relationships/image" Target="../media/image30.png"/><Relationship Id="rId5" Type="http://schemas.openxmlformats.org/officeDocument/2006/relationships/tags" Target="../tags/tag153.xml"/><Relationship Id="rId4" Type="http://schemas.openxmlformats.org/officeDocument/2006/relationships/image" Target="../media/image37.svg"/><Relationship Id="rId3" Type="http://schemas.openxmlformats.org/officeDocument/2006/relationships/image" Target="../media/image36.png"/><Relationship Id="rId2" Type="http://schemas.openxmlformats.org/officeDocument/2006/relationships/tags" Target="../tags/tag152.xml"/><Relationship Id="rId15" Type="http://schemas.openxmlformats.org/officeDocument/2006/relationships/slideLayout" Target="../slideLayouts/slideLayout2.xml"/><Relationship Id="rId14" Type="http://schemas.openxmlformats.org/officeDocument/2006/relationships/tags" Target="../tags/tag156.xml"/><Relationship Id="rId13" Type="http://schemas.openxmlformats.org/officeDocument/2006/relationships/image" Target="../media/image42.svg"/><Relationship Id="rId12" Type="http://schemas.openxmlformats.org/officeDocument/2006/relationships/image" Target="../media/image41.png"/><Relationship Id="rId11" Type="http://schemas.openxmlformats.org/officeDocument/2006/relationships/tags" Target="../tags/tag155.xml"/><Relationship Id="rId10" Type="http://schemas.openxmlformats.org/officeDocument/2006/relationships/image" Target="../media/image40.svg"/><Relationship Id="rId1" Type="http://schemas.openxmlformats.org/officeDocument/2006/relationships/tags" Target="../tags/tag151.xml"/></Relationships>
</file>

<file path=ppt/slides/_rels/slide28.xml.rels><?xml version="1.0" encoding="UTF-8" standalone="yes"?>
<Relationships xmlns="http://schemas.openxmlformats.org/package/2006/relationships"><Relationship Id="rId9" Type="http://schemas.openxmlformats.org/officeDocument/2006/relationships/image" Target="../media/image46.png"/><Relationship Id="rId8" Type="http://schemas.openxmlformats.org/officeDocument/2006/relationships/tags" Target="../tags/tag160.xml"/><Relationship Id="rId7" Type="http://schemas.openxmlformats.org/officeDocument/2006/relationships/image" Target="../media/image45.svg"/><Relationship Id="rId6" Type="http://schemas.openxmlformats.org/officeDocument/2006/relationships/image" Target="../media/image30.png"/><Relationship Id="rId5" Type="http://schemas.openxmlformats.org/officeDocument/2006/relationships/tags" Target="../tags/tag159.xml"/><Relationship Id="rId4" Type="http://schemas.openxmlformats.org/officeDocument/2006/relationships/image" Target="../media/image44.svg"/><Relationship Id="rId3" Type="http://schemas.openxmlformats.org/officeDocument/2006/relationships/image" Target="../media/image43.png"/><Relationship Id="rId2" Type="http://schemas.openxmlformats.org/officeDocument/2006/relationships/tags" Target="../tags/tag158.xml"/><Relationship Id="rId15" Type="http://schemas.openxmlformats.org/officeDocument/2006/relationships/slideLayout" Target="../slideLayouts/slideLayout2.xml"/><Relationship Id="rId14" Type="http://schemas.openxmlformats.org/officeDocument/2006/relationships/tags" Target="../tags/tag162.xml"/><Relationship Id="rId13" Type="http://schemas.openxmlformats.org/officeDocument/2006/relationships/image" Target="../media/image48.svg"/><Relationship Id="rId12" Type="http://schemas.openxmlformats.org/officeDocument/2006/relationships/image" Target="../media/image41.png"/><Relationship Id="rId11" Type="http://schemas.openxmlformats.org/officeDocument/2006/relationships/tags" Target="../tags/tag161.xml"/><Relationship Id="rId10" Type="http://schemas.openxmlformats.org/officeDocument/2006/relationships/image" Target="../media/image47.svg"/><Relationship Id="rId1" Type="http://schemas.openxmlformats.org/officeDocument/2006/relationships/tags" Target="../tags/tag157.xml"/></Relationships>
</file>

<file path=ppt/slides/_rels/slide29.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169.xml"/><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tags" Target="../tags/tag166.xml"/><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tags" Target="../tags/tag1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custDataLst>
              <p:tags r:id="rId1"/>
            </p:custDataLst>
          </p:nvPr>
        </p:nvSpPr>
        <p:spPr/>
        <p:txBody>
          <a:bodyPr/>
          <a:p>
            <a:r>
              <a:rPr lang="zh-CN" altLang="en-US">
                <a:sym typeface="+mn-ea"/>
              </a:rPr>
              <a:t>声音的</a:t>
            </a:r>
            <a:r>
              <a:rPr lang="zh-CN" altLang="en-US">
                <a:solidFill>
                  <a:srgbClr val="8C64E1"/>
                </a:solidFill>
                <a:sym typeface="+mn-ea"/>
              </a:rPr>
              <a:t>数字化</a:t>
            </a:r>
            <a:endParaRPr lang="zh-CN" altLang="en-US">
              <a:solidFill>
                <a:srgbClr val="8C64E1"/>
              </a:solidFill>
              <a:sym typeface="+mn-ea"/>
            </a:endParaRPr>
          </a:p>
        </p:txBody>
      </p:sp>
      <p:sp>
        <p:nvSpPr>
          <p:cNvPr id="5" name="Subtitle 4"/>
          <p:cNvSpPr>
            <a:spLocks noGrp="1"/>
          </p:cNvSpPr>
          <p:nvPr>
            <p:ph type="subTitle" idx="1"/>
            <p:custDataLst>
              <p:tags r:id="rId2"/>
            </p:custDataLst>
          </p:nvPr>
        </p:nvSpPr>
        <p:spPr/>
        <p:txBody>
          <a:bodyPr>
            <a:normAutofit lnSpcReduction="20000"/>
          </a:bodyPr>
          <a:p>
            <a:r>
              <a:rPr lang="en-US">
                <a:solidFill>
                  <a:schemeClr val="bg2">
                    <a:lumMod val="50000"/>
                  </a:schemeClr>
                </a:solidFill>
                <a:sym typeface="+mn-ea"/>
              </a:rPr>
              <a:t>&lt;insights&gt;</a:t>
            </a:r>
            <a:endParaRPr lang="en-US">
              <a:solidFill>
                <a:schemeClr val="bg2">
                  <a:lumMod val="50000"/>
                </a:schemeClr>
              </a:solidFill>
              <a:sym typeface="+mn-ea"/>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a:bodyPr>
          <a:p>
            <a:r>
              <a:rPr lang="zh-CN" altLang="en-US"/>
              <a:t>怎样才能把声音（模拟信号</a:t>
            </a:r>
            <a:r>
              <a:rPr lang="en-US" altLang="zh-CN"/>
              <a:t>）</a:t>
            </a:r>
            <a:r>
              <a:rPr lang="zh-CN" altLang="en-US"/>
              <a:t>是转成数字信号</a:t>
            </a:r>
            <a:r>
              <a:rPr lang="en-US"/>
              <a:t>？</a:t>
            </a:r>
            <a:endParaRPr lang="en-US"/>
          </a:p>
        </p:txBody>
      </p:sp>
      <p:cxnSp>
        <p:nvCxnSpPr>
          <p:cNvPr id="57" name="Straight Connector 56"/>
          <p:cNvCxnSpPr/>
          <p:nvPr/>
        </p:nvCxnSpPr>
        <p:spPr>
          <a:xfrm>
            <a:off x="1525270" y="2207895"/>
            <a:ext cx="0" cy="274320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sp>
        <p:nvSpPr>
          <p:cNvPr id="4" name="Text Box 3"/>
          <p:cNvSpPr txBox="1"/>
          <p:nvPr/>
        </p:nvSpPr>
        <p:spPr>
          <a:xfrm>
            <a:off x="616585" y="2207895"/>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振幅</a:t>
            </a:r>
            <a:endParaRPr lang="zh-CN" altLang="en-US" sz="2200">
              <a:latin typeface="Alibaba PuHuiTi 3.0 55 Regular" panose="00020600040101010101" charset="-122"/>
              <a:ea typeface="Alibaba PuHuiTi 3.0 55 Regular" panose="00020600040101010101" charset="-122"/>
            </a:endParaRPr>
          </a:p>
        </p:txBody>
      </p:sp>
      <p:sp>
        <p:nvSpPr>
          <p:cNvPr id="6" name="Freeform 5"/>
          <p:cNvSpPr/>
          <p:nvPr/>
        </p:nvSpPr>
        <p:spPr>
          <a:xfrm>
            <a:off x="1740535" y="2938780"/>
            <a:ext cx="2518410" cy="1645285"/>
          </a:xfrm>
          <a:custGeom>
            <a:avLst/>
            <a:gdLst>
              <a:gd name="connisteX0" fmla="*/ 0 w 2518410"/>
              <a:gd name="connsiteY0" fmla="*/ 1645002 h 1645002"/>
              <a:gd name="connisteX1" fmla="*/ 25400 w 2518410"/>
              <a:gd name="connsiteY1" fmla="*/ 1519907 h 1645002"/>
              <a:gd name="connisteX2" fmla="*/ 142240 w 2518410"/>
              <a:gd name="connsiteY2" fmla="*/ 1328137 h 1645002"/>
              <a:gd name="connisteX3" fmla="*/ 225425 w 2518410"/>
              <a:gd name="connsiteY3" fmla="*/ 1178277 h 1645002"/>
              <a:gd name="connisteX4" fmla="*/ 275590 w 2518410"/>
              <a:gd name="connsiteY4" fmla="*/ 1077947 h 1645002"/>
              <a:gd name="connisteX5" fmla="*/ 325120 w 2518410"/>
              <a:gd name="connsiteY5" fmla="*/ 978252 h 1645002"/>
              <a:gd name="connisteX6" fmla="*/ 358775 w 2518410"/>
              <a:gd name="connsiteY6" fmla="*/ 877922 h 1645002"/>
              <a:gd name="connisteX7" fmla="*/ 383540 w 2518410"/>
              <a:gd name="connsiteY7" fmla="*/ 811247 h 1645002"/>
              <a:gd name="connisteX8" fmla="*/ 400685 w 2518410"/>
              <a:gd name="connsiteY8" fmla="*/ 728062 h 1645002"/>
              <a:gd name="connisteX9" fmla="*/ 441960 w 2518410"/>
              <a:gd name="connsiteY9" fmla="*/ 611222 h 1645002"/>
              <a:gd name="connisteX10" fmla="*/ 459105 w 2518410"/>
              <a:gd name="connsiteY10" fmla="*/ 544547 h 1645002"/>
              <a:gd name="connisteX11" fmla="*/ 492125 w 2518410"/>
              <a:gd name="connsiteY11" fmla="*/ 419452 h 1645002"/>
              <a:gd name="connisteX12" fmla="*/ 525780 w 2518410"/>
              <a:gd name="connsiteY12" fmla="*/ 310867 h 1645002"/>
              <a:gd name="connisteX13" fmla="*/ 550545 w 2518410"/>
              <a:gd name="connsiteY13" fmla="*/ 227682 h 1645002"/>
              <a:gd name="connisteX14" fmla="*/ 567055 w 2518410"/>
              <a:gd name="connsiteY14" fmla="*/ 161007 h 1645002"/>
              <a:gd name="connisteX15" fmla="*/ 584200 w 2518410"/>
              <a:gd name="connsiteY15" fmla="*/ 94332 h 1645002"/>
              <a:gd name="connisteX16" fmla="*/ 625475 w 2518410"/>
              <a:gd name="connsiteY16" fmla="*/ 27657 h 1645002"/>
              <a:gd name="connisteX17" fmla="*/ 692150 w 2518410"/>
              <a:gd name="connsiteY17" fmla="*/ 10512 h 1645002"/>
              <a:gd name="connisteX18" fmla="*/ 784225 w 2518410"/>
              <a:gd name="connsiteY18" fmla="*/ 2257 h 1645002"/>
              <a:gd name="connisteX19" fmla="*/ 859155 w 2518410"/>
              <a:gd name="connsiteY19" fmla="*/ 2257 h 1645002"/>
              <a:gd name="connisteX20" fmla="*/ 925830 w 2518410"/>
              <a:gd name="connsiteY20" fmla="*/ 2257 h 1645002"/>
              <a:gd name="connisteX21" fmla="*/ 1000760 w 2518410"/>
              <a:gd name="connsiteY21" fmla="*/ 27657 h 1645002"/>
              <a:gd name="connisteX22" fmla="*/ 1067435 w 2518410"/>
              <a:gd name="connsiteY22" fmla="*/ 77187 h 1645002"/>
              <a:gd name="connisteX23" fmla="*/ 1125855 w 2518410"/>
              <a:gd name="connsiteY23" fmla="*/ 152752 h 1645002"/>
              <a:gd name="connisteX24" fmla="*/ 1176020 w 2518410"/>
              <a:gd name="connsiteY24" fmla="*/ 235937 h 1645002"/>
              <a:gd name="connisteX25" fmla="*/ 1217930 w 2518410"/>
              <a:gd name="connsiteY25" fmla="*/ 302612 h 1645002"/>
              <a:gd name="connisteX26" fmla="*/ 1242695 w 2518410"/>
              <a:gd name="connsiteY26" fmla="*/ 369287 h 1645002"/>
              <a:gd name="connisteX27" fmla="*/ 1276350 w 2518410"/>
              <a:gd name="connsiteY27" fmla="*/ 435962 h 1645002"/>
              <a:gd name="connisteX28" fmla="*/ 1309370 w 2518410"/>
              <a:gd name="connsiteY28" fmla="*/ 502637 h 1645002"/>
              <a:gd name="connisteX29" fmla="*/ 1351280 w 2518410"/>
              <a:gd name="connsiteY29" fmla="*/ 594712 h 1645002"/>
              <a:gd name="connisteX30" fmla="*/ 1384300 w 2518410"/>
              <a:gd name="connsiteY30" fmla="*/ 686152 h 1645002"/>
              <a:gd name="connisteX31" fmla="*/ 1417955 w 2518410"/>
              <a:gd name="connsiteY31" fmla="*/ 769972 h 1645002"/>
              <a:gd name="connisteX32" fmla="*/ 1450975 w 2518410"/>
              <a:gd name="connsiteY32" fmla="*/ 844902 h 1645002"/>
              <a:gd name="connisteX33" fmla="*/ 1476375 w 2518410"/>
              <a:gd name="connsiteY33" fmla="*/ 911577 h 1645002"/>
              <a:gd name="connisteX34" fmla="*/ 1501140 w 2518410"/>
              <a:gd name="connsiteY34" fmla="*/ 1003017 h 1645002"/>
              <a:gd name="connisteX35" fmla="*/ 1526540 w 2518410"/>
              <a:gd name="connsiteY35" fmla="*/ 1077947 h 1645002"/>
              <a:gd name="connisteX36" fmla="*/ 1551305 w 2518410"/>
              <a:gd name="connsiteY36" fmla="*/ 1153512 h 1645002"/>
              <a:gd name="connisteX37" fmla="*/ 1601470 w 2518410"/>
              <a:gd name="connsiteY37" fmla="*/ 1220187 h 1645002"/>
              <a:gd name="connisteX38" fmla="*/ 1676400 w 2518410"/>
              <a:gd name="connsiteY38" fmla="*/ 1269717 h 1645002"/>
              <a:gd name="connisteX39" fmla="*/ 1743075 w 2518410"/>
              <a:gd name="connsiteY39" fmla="*/ 1319882 h 1645002"/>
              <a:gd name="connisteX40" fmla="*/ 1809750 w 2518410"/>
              <a:gd name="connsiteY40" fmla="*/ 1353537 h 1645002"/>
              <a:gd name="connisteX41" fmla="*/ 1876425 w 2518410"/>
              <a:gd name="connsiteY41" fmla="*/ 1386557 h 1645002"/>
              <a:gd name="connisteX42" fmla="*/ 1951355 w 2518410"/>
              <a:gd name="connsiteY42" fmla="*/ 1411957 h 1645002"/>
              <a:gd name="connisteX43" fmla="*/ 2035175 w 2518410"/>
              <a:gd name="connsiteY43" fmla="*/ 1436722 h 1645002"/>
              <a:gd name="connisteX44" fmla="*/ 2110105 w 2518410"/>
              <a:gd name="connsiteY44" fmla="*/ 1453232 h 1645002"/>
              <a:gd name="connisteX45" fmla="*/ 2185035 w 2518410"/>
              <a:gd name="connsiteY45" fmla="*/ 1453232 h 1645002"/>
              <a:gd name="connisteX46" fmla="*/ 2251710 w 2518410"/>
              <a:gd name="connsiteY46" fmla="*/ 1444977 h 1645002"/>
              <a:gd name="connisteX47" fmla="*/ 2301875 w 2518410"/>
              <a:gd name="connsiteY47" fmla="*/ 1378302 h 1645002"/>
              <a:gd name="connisteX48" fmla="*/ 2343785 w 2518410"/>
              <a:gd name="connsiteY48" fmla="*/ 1311627 h 1645002"/>
              <a:gd name="connisteX49" fmla="*/ 2368550 w 2518410"/>
              <a:gd name="connsiteY49" fmla="*/ 1236697 h 1645002"/>
              <a:gd name="connisteX50" fmla="*/ 2402205 w 2518410"/>
              <a:gd name="connsiteY50" fmla="*/ 1161767 h 1645002"/>
              <a:gd name="connisteX51" fmla="*/ 2426970 w 2518410"/>
              <a:gd name="connsiteY51" fmla="*/ 1086837 h 1645002"/>
              <a:gd name="connisteX52" fmla="*/ 2468880 w 2518410"/>
              <a:gd name="connsiteY52" fmla="*/ 1019527 h 1645002"/>
              <a:gd name="connisteX53" fmla="*/ 2518410 w 2518410"/>
              <a:gd name="connsiteY53" fmla="*/ 944597 h 164500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Lst>
            <a:rect l="l" t="t" r="r" b="b"/>
            <a:pathLst>
              <a:path w="2518410" h="1645003">
                <a:moveTo>
                  <a:pt x="0" y="1645003"/>
                </a:moveTo>
                <a:cubicBezTo>
                  <a:pt x="2540" y="1624048"/>
                  <a:pt x="-3175" y="1583408"/>
                  <a:pt x="25400" y="1519908"/>
                </a:cubicBezTo>
                <a:cubicBezTo>
                  <a:pt x="53975" y="1456408"/>
                  <a:pt x="102235" y="1396718"/>
                  <a:pt x="142240" y="1328138"/>
                </a:cubicBezTo>
                <a:cubicBezTo>
                  <a:pt x="182245" y="1259558"/>
                  <a:pt x="198755" y="1228443"/>
                  <a:pt x="225425" y="1178278"/>
                </a:cubicBezTo>
                <a:cubicBezTo>
                  <a:pt x="252095" y="1128113"/>
                  <a:pt x="255905" y="1117953"/>
                  <a:pt x="275590" y="1077948"/>
                </a:cubicBezTo>
                <a:cubicBezTo>
                  <a:pt x="295275" y="1037943"/>
                  <a:pt x="308610" y="1018258"/>
                  <a:pt x="325120" y="978253"/>
                </a:cubicBezTo>
                <a:cubicBezTo>
                  <a:pt x="341630" y="938248"/>
                  <a:pt x="347345" y="911578"/>
                  <a:pt x="358775" y="877923"/>
                </a:cubicBezTo>
                <a:cubicBezTo>
                  <a:pt x="370205" y="844268"/>
                  <a:pt x="375285" y="841093"/>
                  <a:pt x="383540" y="811248"/>
                </a:cubicBezTo>
                <a:cubicBezTo>
                  <a:pt x="391795" y="781403"/>
                  <a:pt x="389255" y="768068"/>
                  <a:pt x="400685" y="728063"/>
                </a:cubicBezTo>
                <a:cubicBezTo>
                  <a:pt x="412115" y="688058"/>
                  <a:pt x="430530" y="648053"/>
                  <a:pt x="441960" y="611223"/>
                </a:cubicBezTo>
                <a:cubicBezTo>
                  <a:pt x="453390" y="574393"/>
                  <a:pt x="448945" y="582648"/>
                  <a:pt x="459105" y="544548"/>
                </a:cubicBezTo>
                <a:cubicBezTo>
                  <a:pt x="469265" y="506448"/>
                  <a:pt x="478790" y="466443"/>
                  <a:pt x="492125" y="419453"/>
                </a:cubicBezTo>
                <a:cubicBezTo>
                  <a:pt x="505460" y="372463"/>
                  <a:pt x="514350" y="348968"/>
                  <a:pt x="525780" y="310868"/>
                </a:cubicBezTo>
                <a:cubicBezTo>
                  <a:pt x="537210" y="272768"/>
                  <a:pt x="542290" y="257528"/>
                  <a:pt x="550545" y="227683"/>
                </a:cubicBezTo>
                <a:cubicBezTo>
                  <a:pt x="558800" y="197838"/>
                  <a:pt x="560070" y="187678"/>
                  <a:pt x="567055" y="161008"/>
                </a:cubicBezTo>
                <a:cubicBezTo>
                  <a:pt x="574040" y="134338"/>
                  <a:pt x="572770" y="121003"/>
                  <a:pt x="584200" y="94333"/>
                </a:cubicBezTo>
                <a:cubicBezTo>
                  <a:pt x="595630" y="67663"/>
                  <a:pt x="603885" y="44168"/>
                  <a:pt x="625475" y="27658"/>
                </a:cubicBezTo>
                <a:cubicBezTo>
                  <a:pt x="647065" y="11148"/>
                  <a:pt x="660400" y="15593"/>
                  <a:pt x="692150" y="10513"/>
                </a:cubicBezTo>
                <a:cubicBezTo>
                  <a:pt x="723900" y="5433"/>
                  <a:pt x="750570" y="4163"/>
                  <a:pt x="784225" y="2258"/>
                </a:cubicBezTo>
                <a:cubicBezTo>
                  <a:pt x="817880" y="353"/>
                  <a:pt x="830580" y="2258"/>
                  <a:pt x="859155" y="2258"/>
                </a:cubicBezTo>
                <a:cubicBezTo>
                  <a:pt x="887730" y="2258"/>
                  <a:pt x="897255" y="-2822"/>
                  <a:pt x="925830" y="2258"/>
                </a:cubicBezTo>
                <a:cubicBezTo>
                  <a:pt x="954405" y="7338"/>
                  <a:pt x="972185" y="12418"/>
                  <a:pt x="1000760" y="27658"/>
                </a:cubicBezTo>
                <a:cubicBezTo>
                  <a:pt x="1029335" y="42898"/>
                  <a:pt x="1042670" y="52423"/>
                  <a:pt x="1067435" y="77188"/>
                </a:cubicBezTo>
                <a:cubicBezTo>
                  <a:pt x="1092200" y="101953"/>
                  <a:pt x="1104265" y="121003"/>
                  <a:pt x="1125855" y="152753"/>
                </a:cubicBezTo>
                <a:cubicBezTo>
                  <a:pt x="1147445" y="184503"/>
                  <a:pt x="1157605" y="206093"/>
                  <a:pt x="1176020" y="235938"/>
                </a:cubicBezTo>
                <a:cubicBezTo>
                  <a:pt x="1194435" y="265783"/>
                  <a:pt x="1204595" y="275943"/>
                  <a:pt x="1217930" y="302613"/>
                </a:cubicBezTo>
                <a:cubicBezTo>
                  <a:pt x="1231265" y="329283"/>
                  <a:pt x="1231265" y="342618"/>
                  <a:pt x="1242695" y="369288"/>
                </a:cubicBezTo>
                <a:cubicBezTo>
                  <a:pt x="1254125" y="395958"/>
                  <a:pt x="1263015" y="409293"/>
                  <a:pt x="1276350" y="435963"/>
                </a:cubicBezTo>
                <a:cubicBezTo>
                  <a:pt x="1289685" y="462633"/>
                  <a:pt x="1294130" y="470888"/>
                  <a:pt x="1309370" y="502638"/>
                </a:cubicBezTo>
                <a:cubicBezTo>
                  <a:pt x="1324610" y="534388"/>
                  <a:pt x="1336040" y="557883"/>
                  <a:pt x="1351280" y="594713"/>
                </a:cubicBezTo>
                <a:cubicBezTo>
                  <a:pt x="1366520" y="631543"/>
                  <a:pt x="1370965" y="651228"/>
                  <a:pt x="1384300" y="686153"/>
                </a:cubicBezTo>
                <a:cubicBezTo>
                  <a:pt x="1397635" y="721078"/>
                  <a:pt x="1404620" y="738223"/>
                  <a:pt x="1417955" y="769973"/>
                </a:cubicBezTo>
                <a:cubicBezTo>
                  <a:pt x="1431290" y="801723"/>
                  <a:pt x="1439545" y="816328"/>
                  <a:pt x="1450975" y="844903"/>
                </a:cubicBezTo>
                <a:cubicBezTo>
                  <a:pt x="1462405" y="873478"/>
                  <a:pt x="1466215" y="879828"/>
                  <a:pt x="1476375" y="911578"/>
                </a:cubicBezTo>
                <a:cubicBezTo>
                  <a:pt x="1486535" y="943328"/>
                  <a:pt x="1490980" y="969998"/>
                  <a:pt x="1501140" y="1003018"/>
                </a:cubicBezTo>
                <a:cubicBezTo>
                  <a:pt x="1511300" y="1036038"/>
                  <a:pt x="1516380" y="1048103"/>
                  <a:pt x="1526540" y="1077948"/>
                </a:cubicBezTo>
                <a:cubicBezTo>
                  <a:pt x="1536700" y="1107793"/>
                  <a:pt x="1536065" y="1124938"/>
                  <a:pt x="1551305" y="1153513"/>
                </a:cubicBezTo>
                <a:cubicBezTo>
                  <a:pt x="1566545" y="1182088"/>
                  <a:pt x="1576705" y="1196693"/>
                  <a:pt x="1601470" y="1220188"/>
                </a:cubicBezTo>
                <a:cubicBezTo>
                  <a:pt x="1626235" y="1243683"/>
                  <a:pt x="1647825" y="1250033"/>
                  <a:pt x="1676400" y="1269718"/>
                </a:cubicBezTo>
                <a:cubicBezTo>
                  <a:pt x="1704975" y="1289403"/>
                  <a:pt x="1716405" y="1303373"/>
                  <a:pt x="1743075" y="1319883"/>
                </a:cubicBezTo>
                <a:cubicBezTo>
                  <a:pt x="1769745" y="1336393"/>
                  <a:pt x="1783080" y="1340203"/>
                  <a:pt x="1809750" y="1353538"/>
                </a:cubicBezTo>
                <a:cubicBezTo>
                  <a:pt x="1836420" y="1366873"/>
                  <a:pt x="1847850" y="1375128"/>
                  <a:pt x="1876425" y="1386558"/>
                </a:cubicBezTo>
                <a:cubicBezTo>
                  <a:pt x="1905000" y="1397988"/>
                  <a:pt x="1919605" y="1401798"/>
                  <a:pt x="1951355" y="1411958"/>
                </a:cubicBezTo>
                <a:cubicBezTo>
                  <a:pt x="1983105" y="1422118"/>
                  <a:pt x="2003425" y="1428468"/>
                  <a:pt x="2035175" y="1436723"/>
                </a:cubicBezTo>
                <a:cubicBezTo>
                  <a:pt x="2066925" y="1444978"/>
                  <a:pt x="2080260" y="1450058"/>
                  <a:pt x="2110105" y="1453233"/>
                </a:cubicBezTo>
                <a:cubicBezTo>
                  <a:pt x="2139950" y="1456408"/>
                  <a:pt x="2156460" y="1455138"/>
                  <a:pt x="2185035" y="1453233"/>
                </a:cubicBezTo>
                <a:cubicBezTo>
                  <a:pt x="2213610" y="1451328"/>
                  <a:pt x="2228215" y="1460218"/>
                  <a:pt x="2251710" y="1444978"/>
                </a:cubicBezTo>
                <a:cubicBezTo>
                  <a:pt x="2275205" y="1429738"/>
                  <a:pt x="2283460" y="1404973"/>
                  <a:pt x="2301875" y="1378303"/>
                </a:cubicBezTo>
                <a:cubicBezTo>
                  <a:pt x="2320290" y="1351633"/>
                  <a:pt x="2330450" y="1340203"/>
                  <a:pt x="2343785" y="1311628"/>
                </a:cubicBezTo>
                <a:cubicBezTo>
                  <a:pt x="2357120" y="1283053"/>
                  <a:pt x="2357120" y="1266543"/>
                  <a:pt x="2368550" y="1236698"/>
                </a:cubicBezTo>
                <a:cubicBezTo>
                  <a:pt x="2379980" y="1206853"/>
                  <a:pt x="2390775" y="1191613"/>
                  <a:pt x="2402205" y="1161768"/>
                </a:cubicBezTo>
                <a:cubicBezTo>
                  <a:pt x="2413635" y="1131923"/>
                  <a:pt x="2413635" y="1115413"/>
                  <a:pt x="2426970" y="1086838"/>
                </a:cubicBezTo>
                <a:cubicBezTo>
                  <a:pt x="2440305" y="1058263"/>
                  <a:pt x="2450465" y="1048103"/>
                  <a:pt x="2468880" y="1019528"/>
                </a:cubicBezTo>
                <a:cubicBezTo>
                  <a:pt x="2487295" y="990953"/>
                  <a:pt x="2509520" y="957933"/>
                  <a:pt x="2518410" y="944598"/>
                </a:cubicBezTo>
              </a:path>
            </a:pathLst>
          </a:custGeom>
          <a:noFill/>
          <a:ln w="38100">
            <a:solidFill>
              <a:schemeClr val="tx1"/>
            </a:solidFill>
          </a:ln>
        </p:spPr>
        <p:txBody>
          <a:bodyPr vert="horz" lIns="90000" tIns="46800" rIns="90000" bIns="46800" rtlCol="0" anchor="ctr" anchorCtr="0">
            <a:noAutofit/>
          </a:bodyPr>
          <a:p>
            <a:endParaRPr lang="zh-CN" altLang="en-US" sz="2445">
              <a:solidFill>
                <a:schemeClr val="tx1"/>
              </a:solidFill>
            </a:endParaRPr>
          </a:p>
        </p:txBody>
      </p:sp>
      <p:grpSp>
        <p:nvGrpSpPr>
          <p:cNvPr id="12" name="Group 11"/>
          <p:cNvGrpSpPr/>
          <p:nvPr/>
        </p:nvGrpSpPr>
        <p:grpSpPr>
          <a:xfrm>
            <a:off x="6976110" y="3011805"/>
            <a:ext cx="2621280" cy="1706880"/>
            <a:chOff x="10986" y="4743"/>
            <a:chExt cx="4128" cy="2688"/>
          </a:xfrm>
        </p:grpSpPr>
        <p:pic>
          <p:nvPicPr>
            <p:cNvPr id="8" name="Picture 7" descr="计算机水平"/>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12426" y="4743"/>
              <a:ext cx="2688" cy="2688"/>
            </a:xfrm>
            <a:prstGeom prst="rect">
              <a:avLst/>
            </a:prstGeom>
          </p:spPr>
        </p:pic>
        <p:pic>
          <p:nvPicPr>
            <p:cNvPr id="9" name="Picture 8" descr="手机"/>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10986" y="5796"/>
              <a:ext cx="1440" cy="1440"/>
            </a:xfrm>
            <a:prstGeom prst="rect">
              <a:avLst/>
            </a:prstGeom>
          </p:spPr>
        </p:pic>
        <p:pic>
          <p:nvPicPr>
            <p:cNvPr id="10" name="Picture 9" descr="声音"/>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tretch>
              <a:fillRect/>
            </a:stretch>
          </p:blipFill>
          <p:spPr>
            <a:xfrm>
              <a:off x="11544" y="6354"/>
              <a:ext cx="325" cy="325"/>
            </a:xfrm>
            <a:prstGeom prst="rect">
              <a:avLst/>
            </a:prstGeom>
          </p:spPr>
        </p:pic>
        <p:pic>
          <p:nvPicPr>
            <p:cNvPr id="11" name="Picture 10" descr="声音"/>
            <p:cNvPicPr>
              <a:picLocks noChangeAspect="1"/>
            </p:cNvPicPr>
            <p:nvPr>
              <p:custDataLst>
                <p:tags r:id="rId11"/>
              </p:custDataLst>
            </p:nvPr>
          </p:nvPicPr>
          <p:blipFill>
            <a:blip r:embed="rId9">
              <a:extLst>
                <a:ext uri="{96DAC541-7B7A-43D3-8B79-37D633B846F1}">
                  <asvg:svgBlip xmlns:asvg="http://schemas.microsoft.com/office/drawing/2016/SVG/main" r:embed="rId10"/>
                </a:ext>
              </a:extLst>
            </a:blip>
            <a:stretch>
              <a:fillRect/>
            </a:stretch>
          </p:blipFill>
          <p:spPr>
            <a:xfrm>
              <a:off x="13608" y="5556"/>
              <a:ext cx="325" cy="325"/>
            </a:xfrm>
            <a:prstGeom prst="rect">
              <a:avLst/>
            </a:prstGeom>
          </p:spPr>
        </p:pic>
      </p:grpSp>
      <p:sp>
        <p:nvSpPr>
          <p:cNvPr id="65" name="Right Arrow 64"/>
          <p:cNvSpPr/>
          <p:nvPr/>
        </p:nvSpPr>
        <p:spPr>
          <a:xfrm>
            <a:off x="5157470" y="3528060"/>
            <a:ext cx="1067435" cy="755650"/>
          </a:xfrm>
          <a:prstGeom prst="rightArrow">
            <a:avLst/>
          </a:prstGeom>
          <a:solidFill>
            <a:schemeClr val="bg2">
              <a:lumMod val="5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Text Box 13"/>
          <p:cNvSpPr txBox="1"/>
          <p:nvPr/>
        </p:nvSpPr>
        <p:spPr>
          <a:xfrm>
            <a:off x="691515" y="1313815"/>
            <a:ext cx="2547620" cy="429895"/>
          </a:xfrm>
          <a:prstGeom prst="rect">
            <a:avLst/>
          </a:prstGeom>
          <a:noFill/>
        </p:spPr>
        <p:txBody>
          <a:bodyPr wrap="square" rtlCol="0">
            <a:spAutoFit/>
          </a:bodyPr>
          <a:p>
            <a:r>
              <a:rPr lang="en-US" altLang="zh-CN" sz="2200">
                <a:latin typeface="Alibaba PuHuiTi 3.0 55 Regular" panose="00020600040101010101" charset="-122"/>
                <a:ea typeface="Alibaba PuHuiTi 3.0 55 Regular" panose="00020600040101010101" charset="-122"/>
              </a:rPr>
              <a:t>1. </a:t>
            </a:r>
            <a:r>
              <a:rPr lang="zh-CN" altLang="en-US" sz="2200">
                <a:latin typeface="Alibaba PuHuiTi 3.0 55 Regular" panose="00020600040101010101" charset="-122"/>
                <a:ea typeface="Alibaba PuHuiTi 3.0 55 Regular" panose="00020600040101010101" charset="-122"/>
              </a:rPr>
              <a:t>采样</a:t>
            </a:r>
            <a:r>
              <a:rPr lang="en-US" altLang="zh-CN" sz="2200">
                <a:latin typeface="Alibaba PuHuiTi 3.0 55 Regular" panose="00020600040101010101" charset="-122"/>
                <a:ea typeface="Alibaba PuHuiTi 3.0 55 Regular" panose="00020600040101010101" charset="-122"/>
              </a:rPr>
              <a:t> </a:t>
            </a:r>
            <a:r>
              <a:rPr lang="en-US" altLang="zh-CN" sz="2200">
                <a:latin typeface="Alibaba PuHuiTi 3.0 55 Regular" panose="00020600040101010101" charset="-122"/>
                <a:ea typeface="Alibaba PuHuiTi 3.0 55 Regular" panose="00020600040101010101" charset="-122"/>
              </a:rPr>
              <a:t>Sampling</a:t>
            </a:r>
            <a:endParaRPr lang="en-US" altLang="zh-CN" sz="2200">
              <a:latin typeface="Alibaba PuHuiTi 3.0 55 Regular" panose="00020600040101010101" charset="-122"/>
              <a:ea typeface="Alibaba PuHuiTi 3.0 55 Regular" panose="00020600040101010101" charset="-122"/>
            </a:endParaRPr>
          </a:p>
        </p:txBody>
      </p:sp>
      <p:sp>
        <p:nvSpPr>
          <p:cNvPr id="17" name="Text Box 16"/>
          <p:cNvSpPr txBox="1"/>
          <p:nvPr/>
        </p:nvSpPr>
        <p:spPr>
          <a:xfrm>
            <a:off x="3860165" y="1313815"/>
            <a:ext cx="3038475" cy="429895"/>
          </a:xfrm>
          <a:prstGeom prst="rect">
            <a:avLst/>
          </a:prstGeom>
          <a:noFill/>
        </p:spPr>
        <p:txBody>
          <a:bodyPr wrap="square" rtlCol="0">
            <a:spAutoFit/>
          </a:bodyPr>
          <a:p>
            <a:r>
              <a:rPr lang="en-US" altLang="zh-CN" sz="2200">
                <a:latin typeface="Alibaba PuHuiTi 3.0 55 Regular" panose="00020600040101010101" charset="-122"/>
                <a:ea typeface="Alibaba PuHuiTi 3.0 55 Regular" panose="00020600040101010101" charset="-122"/>
              </a:rPr>
              <a:t>2. </a:t>
            </a:r>
            <a:r>
              <a:rPr lang="zh-CN" altLang="en-US" sz="2200">
                <a:latin typeface="Alibaba PuHuiTi 3.0 55 Regular" panose="00020600040101010101" charset="-122"/>
                <a:ea typeface="Alibaba PuHuiTi 3.0 55 Regular" panose="00020600040101010101" charset="-122"/>
              </a:rPr>
              <a:t>量化</a:t>
            </a:r>
            <a:r>
              <a:rPr lang="en-US" altLang="zh-CN" sz="2200">
                <a:latin typeface="Alibaba PuHuiTi 3.0 55 Regular" panose="00020600040101010101" charset="-122"/>
                <a:ea typeface="Alibaba PuHuiTi 3.0 55 Regular" panose="00020600040101010101" charset="-122"/>
              </a:rPr>
              <a:t> </a:t>
            </a:r>
            <a:r>
              <a:rPr lang="en-US" altLang="zh-CN" sz="2200">
                <a:latin typeface="Alibaba PuHuiTi 3.0 55 Regular" panose="00020600040101010101" charset="-122"/>
                <a:ea typeface="Alibaba PuHuiTi 3.0 55 Regular" panose="00020600040101010101" charset="-122"/>
              </a:rPr>
              <a:t>Quantization</a:t>
            </a:r>
            <a:endParaRPr lang="en-US" altLang="zh-CN" sz="2200">
              <a:latin typeface="Alibaba PuHuiTi 3.0 55 Regular" panose="00020600040101010101" charset="-122"/>
              <a:ea typeface="Alibaba PuHuiTi 3.0 55 Regular" panose="00020600040101010101" charset="-122"/>
            </a:endParaRPr>
          </a:p>
        </p:txBody>
      </p:sp>
      <p:sp>
        <p:nvSpPr>
          <p:cNvPr id="18" name="Text Box 17"/>
          <p:cNvSpPr txBox="1"/>
          <p:nvPr/>
        </p:nvSpPr>
        <p:spPr>
          <a:xfrm>
            <a:off x="7519670" y="1313815"/>
            <a:ext cx="3822065" cy="429895"/>
          </a:xfrm>
          <a:prstGeom prst="rect">
            <a:avLst/>
          </a:prstGeom>
          <a:noFill/>
        </p:spPr>
        <p:txBody>
          <a:bodyPr wrap="square" rtlCol="0">
            <a:spAutoFit/>
          </a:bodyPr>
          <a:p>
            <a:r>
              <a:rPr lang="en-US" altLang="zh-CN" sz="2200">
                <a:latin typeface="Alibaba PuHuiTi 3.0 55 Regular" panose="00020600040101010101" charset="-122"/>
                <a:ea typeface="Alibaba PuHuiTi 3.0 55 Regular" panose="00020600040101010101" charset="-122"/>
              </a:rPr>
              <a:t>3. </a:t>
            </a:r>
            <a:r>
              <a:rPr lang="zh-CN" altLang="en-US" sz="2200">
                <a:latin typeface="Alibaba PuHuiTi 3.0 55 Regular" panose="00020600040101010101" charset="-122"/>
                <a:ea typeface="Alibaba PuHuiTi 3.0 55 Regular" panose="00020600040101010101" charset="-122"/>
              </a:rPr>
              <a:t>编码</a:t>
            </a:r>
            <a:r>
              <a:rPr lang="en-US" altLang="zh-CN" sz="2200">
                <a:latin typeface="Alibaba PuHuiTi 3.0 55 Regular" panose="00020600040101010101" charset="-122"/>
                <a:ea typeface="Alibaba PuHuiTi 3.0 55 Regular" panose="00020600040101010101" charset="-122"/>
              </a:rPr>
              <a:t> </a:t>
            </a:r>
            <a:r>
              <a:rPr lang="en-US" altLang="zh-CN" sz="2200">
                <a:latin typeface="Alibaba PuHuiTi 3.0 55 Regular" panose="00020600040101010101" charset="-122"/>
                <a:ea typeface="Alibaba PuHuiTi 3.0 55 Regular" panose="00020600040101010101" charset="-122"/>
              </a:rPr>
              <a:t>Encoding</a:t>
            </a:r>
            <a:endParaRPr lang="en-US" altLang="zh-CN" sz="2200">
              <a:latin typeface="Alibaba PuHuiTi 3.0 55 Regular" panose="00020600040101010101" charset="-122"/>
              <a:ea typeface="Alibaba PuHuiTi 3.0 55 Regular" panose="00020600040101010101" charset="-122"/>
            </a:endParaRPr>
          </a:p>
        </p:txBody>
      </p:sp>
      <p:cxnSp>
        <p:nvCxnSpPr>
          <p:cNvPr id="19" name="Straight Connector 18"/>
          <p:cNvCxnSpPr/>
          <p:nvPr/>
        </p:nvCxnSpPr>
        <p:spPr>
          <a:xfrm flipH="1">
            <a:off x="3202305" y="1528445"/>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cxnSp>
        <p:nvCxnSpPr>
          <p:cNvPr id="20" name="Straight Connector 19"/>
          <p:cNvCxnSpPr/>
          <p:nvPr/>
        </p:nvCxnSpPr>
        <p:spPr>
          <a:xfrm flipH="1">
            <a:off x="6861810" y="1528445"/>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cxnSp>
        <p:nvCxnSpPr>
          <p:cNvPr id="24" name="Straight Connector 23"/>
          <p:cNvCxnSpPr/>
          <p:nvPr/>
        </p:nvCxnSpPr>
        <p:spPr>
          <a:xfrm flipH="1">
            <a:off x="1524000" y="4959350"/>
            <a:ext cx="312737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25" name="Text Box 24"/>
          <p:cNvSpPr txBox="1"/>
          <p:nvPr/>
        </p:nvSpPr>
        <p:spPr>
          <a:xfrm>
            <a:off x="4388485" y="5029200"/>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26" name="Text Box 25"/>
          <p:cNvSpPr txBox="1"/>
          <p:nvPr/>
        </p:nvSpPr>
        <p:spPr>
          <a:xfrm>
            <a:off x="1682115" y="5029200"/>
            <a:ext cx="296926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Tree>
    <p:custDataLst>
      <p:tags r:id="rId1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14" grpId="0"/>
      <p:bldP spid="17" grpId="0"/>
      <p:bldP spid="1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 name="Group 25"/>
          <p:cNvGrpSpPr/>
          <p:nvPr/>
        </p:nvGrpSpPr>
        <p:grpSpPr>
          <a:xfrm>
            <a:off x="1851660" y="4180840"/>
            <a:ext cx="96520" cy="812800"/>
            <a:chOff x="2916" y="6584"/>
            <a:chExt cx="152" cy="1280"/>
          </a:xfrm>
        </p:grpSpPr>
        <p:sp>
          <p:nvSpPr>
            <p:cNvPr id="69" name="Oval 68"/>
            <p:cNvSpPr/>
            <p:nvPr/>
          </p:nvSpPr>
          <p:spPr>
            <a:xfrm>
              <a:off x="2916" y="6584"/>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71" name="Straight Connector 70"/>
            <p:cNvCxnSpPr/>
            <p:nvPr/>
          </p:nvCxnSpPr>
          <p:spPr>
            <a:xfrm>
              <a:off x="2992" y="6700"/>
              <a:ext cx="0" cy="116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grpSp>
      <p:cxnSp>
        <p:nvCxnSpPr>
          <p:cNvPr id="29" name="Straight Connector 28"/>
          <p:cNvCxnSpPr/>
          <p:nvPr/>
        </p:nvCxnSpPr>
        <p:spPr>
          <a:xfrm>
            <a:off x="2461895" y="2935605"/>
            <a:ext cx="0" cy="200787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2" name="Straight Connector 31"/>
          <p:cNvCxnSpPr>
            <a:stCxn id="31" idx="4"/>
          </p:cNvCxnSpPr>
          <p:nvPr/>
        </p:nvCxnSpPr>
        <p:spPr>
          <a:xfrm>
            <a:off x="3023870" y="3432175"/>
            <a:ext cx="0" cy="151955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5" name="Straight Connector 34"/>
          <p:cNvCxnSpPr/>
          <p:nvPr/>
        </p:nvCxnSpPr>
        <p:spPr>
          <a:xfrm>
            <a:off x="3585845" y="4324350"/>
            <a:ext cx="0" cy="67056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8" name="Straight Connector 37"/>
          <p:cNvCxnSpPr>
            <a:stCxn id="37" idx="4"/>
          </p:cNvCxnSpPr>
          <p:nvPr/>
        </p:nvCxnSpPr>
        <p:spPr>
          <a:xfrm>
            <a:off x="4147820" y="4163695"/>
            <a:ext cx="0" cy="83121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2" name="Title 1"/>
          <p:cNvSpPr>
            <a:spLocks noGrp="1"/>
          </p:cNvSpPr>
          <p:nvPr>
            <p:ph type="title"/>
            <p:custDataLst>
              <p:tags r:id="rId1"/>
            </p:custDataLst>
          </p:nvPr>
        </p:nvSpPr>
        <p:spPr/>
        <p:txBody>
          <a:bodyPr>
            <a:normAutofit/>
          </a:bodyPr>
          <a:p>
            <a:r>
              <a:rPr lang="zh-CN" altLang="en-US"/>
              <a:t>怎样才能把声音（模拟信号</a:t>
            </a:r>
            <a:r>
              <a:rPr lang="en-US" altLang="zh-CN"/>
              <a:t>）</a:t>
            </a:r>
            <a:r>
              <a:rPr lang="zh-CN" altLang="en-US"/>
              <a:t>是转成数字信号</a:t>
            </a:r>
            <a:r>
              <a:rPr lang="en-US"/>
              <a:t>？</a:t>
            </a:r>
            <a:endParaRPr lang="en-US"/>
          </a:p>
        </p:txBody>
      </p:sp>
      <p:cxnSp>
        <p:nvCxnSpPr>
          <p:cNvPr id="57" name="Straight Connector 56"/>
          <p:cNvCxnSpPr/>
          <p:nvPr/>
        </p:nvCxnSpPr>
        <p:spPr>
          <a:xfrm>
            <a:off x="1525270" y="2207895"/>
            <a:ext cx="0" cy="274320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21" name="Straight Connector 20"/>
          <p:cNvCxnSpPr/>
          <p:nvPr/>
        </p:nvCxnSpPr>
        <p:spPr>
          <a:xfrm flipH="1">
            <a:off x="1524000" y="4959350"/>
            <a:ext cx="312737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4" name="Text Box 3"/>
          <p:cNvSpPr txBox="1"/>
          <p:nvPr/>
        </p:nvSpPr>
        <p:spPr>
          <a:xfrm>
            <a:off x="616585" y="2207895"/>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振幅</a:t>
            </a:r>
            <a:endParaRPr lang="zh-CN" altLang="en-US" sz="2200">
              <a:latin typeface="Alibaba PuHuiTi 3.0 55 Regular" panose="00020600040101010101" charset="-122"/>
              <a:ea typeface="Alibaba PuHuiTi 3.0 55 Regular" panose="00020600040101010101" charset="-122"/>
            </a:endParaRPr>
          </a:p>
        </p:txBody>
      </p:sp>
      <p:sp>
        <p:nvSpPr>
          <p:cNvPr id="5" name="Text Box 4"/>
          <p:cNvSpPr txBox="1"/>
          <p:nvPr/>
        </p:nvSpPr>
        <p:spPr>
          <a:xfrm>
            <a:off x="4388485" y="5029200"/>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6" name="Freeform 5"/>
          <p:cNvSpPr/>
          <p:nvPr/>
        </p:nvSpPr>
        <p:spPr>
          <a:xfrm>
            <a:off x="1740535" y="2938780"/>
            <a:ext cx="2518410" cy="1645285"/>
          </a:xfrm>
          <a:custGeom>
            <a:avLst/>
            <a:gdLst>
              <a:gd name="connisteX0" fmla="*/ 0 w 2518410"/>
              <a:gd name="connsiteY0" fmla="*/ 1645002 h 1645002"/>
              <a:gd name="connisteX1" fmla="*/ 25400 w 2518410"/>
              <a:gd name="connsiteY1" fmla="*/ 1519907 h 1645002"/>
              <a:gd name="connisteX2" fmla="*/ 142240 w 2518410"/>
              <a:gd name="connsiteY2" fmla="*/ 1328137 h 1645002"/>
              <a:gd name="connisteX3" fmla="*/ 225425 w 2518410"/>
              <a:gd name="connsiteY3" fmla="*/ 1178277 h 1645002"/>
              <a:gd name="connisteX4" fmla="*/ 275590 w 2518410"/>
              <a:gd name="connsiteY4" fmla="*/ 1077947 h 1645002"/>
              <a:gd name="connisteX5" fmla="*/ 325120 w 2518410"/>
              <a:gd name="connsiteY5" fmla="*/ 978252 h 1645002"/>
              <a:gd name="connisteX6" fmla="*/ 358775 w 2518410"/>
              <a:gd name="connsiteY6" fmla="*/ 877922 h 1645002"/>
              <a:gd name="connisteX7" fmla="*/ 383540 w 2518410"/>
              <a:gd name="connsiteY7" fmla="*/ 811247 h 1645002"/>
              <a:gd name="connisteX8" fmla="*/ 400685 w 2518410"/>
              <a:gd name="connsiteY8" fmla="*/ 728062 h 1645002"/>
              <a:gd name="connisteX9" fmla="*/ 441960 w 2518410"/>
              <a:gd name="connsiteY9" fmla="*/ 611222 h 1645002"/>
              <a:gd name="connisteX10" fmla="*/ 459105 w 2518410"/>
              <a:gd name="connsiteY10" fmla="*/ 544547 h 1645002"/>
              <a:gd name="connisteX11" fmla="*/ 492125 w 2518410"/>
              <a:gd name="connsiteY11" fmla="*/ 419452 h 1645002"/>
              <a:gd name="connisteX12" fmla="*/ 525780 w 2518410"/>
              <a:gd name="connsiteY12" fmla="*/ 310867 h 1645002"/>
              <a:gd name="connisteX13" fmla="*/ 550545 w 2518410"/>
              <a:gd name="connsiteY13" fmla="*/ 227682 h 1645002"/>
              <a:gd name="connisteX14" fmla="*/ 567055 w 2518410"/>
              <a:gd name="connsiteY14" fmla="*/ 161007 h 1645002"/>
              <a:gd name="connisteX15" fmla="*/ 584200 w 2518410"/>
              <a:gd name="connsiteY15" fmla="*/ 94332 h 1645002"/>
              <a:gd name="connisteX16" fmla="*/ 625475 w 2518410"/>
              <a:gd name="connsiteY16" fmla="*/ 27657 h 1645002"/>
              <a:gd name="connisteX17" fmla="*/ 692150 w 2518410"/>
              <a:gd name="connsiteY17" fmla="*/ 10512 h 1645002"/>
              <a:gd name="connisteX18" fmla="*/ 784225 w 2518410"/>
              <a:gd name="connsiteY18" fmla="*/ 2257 h 1645002"/>
              <a:gd name="connisteX19" fmla="*/ 859155 w 2518410"/>
              <a:gd name="connsiteY19" fmla="*/ 2257 h 1645002"/>
              <a:gd name="connisteX20" fmla="*/ 925830 w 2518410"/>
              <a:gd name="connsiteY20" fmla="*/ 2257 h 1645002"/>
              <a:gd name="connisteX21" fmla="*/ 1000760 w 2518410"/>
              <a:gd name="connsiteY21" fmla="*/ 27657 h 1645002"/>
              <a:gd name="connisteX22" fmla="*/ 1067435 w 2518410"/>
              <a:gd name="connsiteY22" fmla="*/ 77187 h 1645002"/>
              <a:gd name="connisteX23" fmla="*/ 1125855 w 2518410"/>
              <a:gd name="connsiteY23" fmla="*/ 152752 h 1645002"/>
              <a:gd name="connisteX24" fmla="*/ 1176020 w 2518410"/>
              <a:gd name="connsiteY24" fmla="*/ 235937 h 1645002"/>
              <a:gd name="connisteX25" fmla="*/ 1217930 w 2518410"/>
              <a:gd name="connsiteY25" fmla="*/ 302612 h 1645002"/>
              <a:gd name="connisteX26" fmla="*/ 1242695 w 2518410"/>
              <a:gd name="connsiteY26" fmla="*/ 369287 h 1645002"/>
              <a:gd name="connisteX27" fmla="*/ 1276350 w 2518410"/>
              <a:gd name="connsiteY27" fmla="*/ 435962 h 1645002"/>
              <a:gd name="connisteX28" fmla="*/ 1309370 w 2518410"/>
              <a:gd name="connsiteY28" fmla="*/ 502637 h 1645002"/>
              <a:gd name="connisteX29" fmla="*/ 1351280 w 2518410"/>
              <a:gd name="connsiteY29" fmla="*/ 594712 h 1645002"/>
              <a:gd name="connisteX30" fmla="*/ 1384300 w 2518410"/>
              <a:gd name="connsiteY30" fmla="*/ 686152 h 1645002"/>
              <a:gd name="connisteX31" fmla="*/ 1417955 w 2518410"/>
              <a:gd name="connsiteY31" fmla="*/ 769972 h 1645002"/>
              <a:gd name="connisteX32" fmla="*/ 1450975 w 2518410"/>
              <a:gd name="connsiteY32" fmla="*/ 844902 h 1645002"/>
              <a:gd name="connisteX33" fmla="*/ 1476375 w 2518410"/>
              <a:gd name="connsiteY33" fmla="*/ 911577 h 1645002"/>
              <a:gd name="connisteX34" fmla="*/ 1501140 w 2518410"/>
              <a:gd name="connsiteY34" fmla="*/ 1003017 h 1645002"/>
              <a:gd name="connisteX35" fmla="*/ 1526540 w 2518410"/>
              <a:gd name="connsiteY35" fmla="*/ 1077947 h 1645002"/>
              <a:gd name="connisteX36" fmla="*/ 1551305 w 2518410"/>
              <a:gd name="connsiteY36" fmla="*/ 1153512 h 1645002"/>
              <a:gd name="connisteX37" fmla="*/ 1601470 w 2518410"/>
              <a:gd name="connsiteY37" fmla="*/ 1220187 h 1645002"/>
              <a:gd name="connisteX38" fmla="*/ 1676400 w 2518410"/>
              <a:gd name="connsiteY38" fmla="*/ 1269717 h 1645002"/>
              <a:gd name="connisteX39" fmla="*/ 1743075 w 2518410"/>
              <a:gd name="connsiteY39" fmla="*/ 1319882 h 1645002"/>
              <a:gd name="connisteX40" fmla="*/ 1809750 w 2518410"/>
              <a:gd name="connsiteY40" fmla="*/ 1353537 h 1645002"/>
              <a:gd name="connisteX41" fmla="*/ 1876425 w 2518410"/>
              <a:gd name="connsiteY41" fmla="*/ 1386557 h 1645002"/>
              <a:gd name="connisteX42" fmla="*/ 1951355 w 2518410"/>
              <a:gd name="connsiteY42" fmla="*/ 1411957 h 1645002"/>
              <a:gd name="connisteX43" fmla="*/ 2035175 w 2518410"/>
              <a:gd name="connsiteY43" fmla="*/ 1436722 h 1645002"/>
              <a:gd name="connisteX44" fmla="*/ 2110105 w 2518410"/>
              <a:gd name="connsiteY44" fmla="*/ 1453232 h 1645002"/>
              <a:gd name="connisteX45" fmla="*/ 2185035 w 2518410"/>
              <a:gd name="connsiteY45" fmla="*/ 1453232 h 1645002"/>
              <a:gd name="connisteX46" fmla="*/ 2251710 w 2518410"/>
              <a:gd name="connsiteY46" fmla="*/ 1444977 h 1645002"/>
              <a:gd name="connisteX47" fmla="*/ 2301875 w 2518410"/>
              <a:gd name="connsiteY47" fmla="*/ 1378302 h 1645002"/>
              <a:gd name="connisteX48" fmla="*/ 2343785 w 2518410"/>
              <a:gd name="connsiteY48" fmla="*/ 1311627 h 1645002"/>
              <a:gd name="connisteX49" fmla="*/ 2368550 w 2518410"/>
              <a:gd name="connsiteY49" fmla="*/ 1236697 h 1645002"/>
              <a:gd name="connisteX50" fmla="*/ 2402205 w 2518410"/>
              <a:gd name="connsiteY50" fmla="*/ 1161767 h 1645002"/>
              <a:gd name="connisteX51" fmla="*/ 2426970 w 2518410"/>
              <a:gd name="connsiteY51" fmla="*/ 1086837 h 1645002"/>
              <a:gd name="connisteX52" fmla="*/ 2468880 w 2518410"/>
              <a:gd name="connsiteY52" fmla="*/ 1019527 h 1645002"/>
              <a:gd name="connisteX53" fmla="*/ 2518410 w 2518410"/>
              <a:gd name="connsiteY53" fmla="*/ 944597 h 164500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Lst>
            <a:rect l="l" t="t" r="r" b="b"/>
            <a:pathLst>
              <a:path w="2518410" h="1645003">
                <a:moveTo>
                  <a:pt x="0" y="1645003"/>
                </a:moveTo>
                <a:cubicBezTo>
                  <a:pt x="2540" y="1624048"/>
                  <a:pt x="-3175" y="1583408"/>
                  <a:pt x="25400" y="1519908"/>
                </a:cubicBezTo>
                <a:cubicBezTo>
                  <a:pt x="53975" y="1456408"/>
                  <a:pt x="102235" y="1396718"/>
                  <a:pt x="142240" y="1328138"/>
                </a:cubicBezTo>
                <a:cubicBezTo>
                  <a:pt x="182245" y="1259558"/>
                  <a:pt x="198755" y="1228443"/>
                  <a:pt x="225425" y="1178278"/>
                </a:cubicBezTo>
                <a:cubicBezTo>
                  <a:pt x="252095" y="1128113"/>
                  <a:pt x="255905" y="1117953"/>
                  <a:pt x="275590" y="1077948"/>
                </a:cubicBezTo>
                <a:cubicBezTo>
                  <a:pt x="295275" y="1037943"/>
                  <a:pt x="308610" y="1018258"/>
                  <a:pt x="325120" y="978253"/>
                </a:cubicBezTo>
                <a:cubicBezTo>
                  <a:pt x="341630" y="938248"/>
                  <a:pt x="347345" y="911578"/>
                  <a:pt x="358775" y="877923"/>
                </a:cubicBezTo>
                <a:cubicBezTo>
                  <a:pt x="370205" y="844268"/>
                  <a:pt x="375285" y="841093"/>
                  <a:pt x="383540" y="811248"/>
                </a:cubicBezTo>
                <a:cubicBezTo>
                  <a:pt x="391795" y="781403"/>
                  <a:pt x="389255" y="768068"/>
                  <a:pt x="400685" y="728063"/>
                </a:cubicBezTo>
                <a:cubicBezTo>
                  <a:pt x="412115" y="688058"/>
                  <a:pt x="430530" y="648053"/>
                  <a:pt x="441960" y="611223"/>
                </a:cubicBezTo>
                <a:cubicBezTo>
                  <a:pt x="453390" y="574393"/>
                  <a:pt x="448945" y="582648"/>
                  <a:pt x="459105" y="544548"/>
                </a:cubicBezTo>
                <a:cubicBezTo>
                  <a:pt x="469265" y="506448"/>
                  <a:pt x="478790" y="466443"/>
                  <a:pt x="492125" y="419453"/>
                </a:cubicBezTo>
                <a:cubicBezTo>
                  <a:pt x="505460" y="372463"/>
                  <a:pt x="514350" y="348968"/>
                  <a:pt x="525780" y="310868"/>
                </a:cubicBezTo>
                <a:cubicBezTo>
                  <a:pt x="537210" y="272768"/>
                  <a:pt x="542290" y="257528"/>
                  <a:pt x="550545" y="227683"/>
                </a:cubicBezTo>
                <a:cubicBezTo>
                  <a:pt x="558800" y="197838"/>
                  <a:pt x="560070" y="187678"/>
                  <a:pt x="567055" y="161008"/>
                </a:cubicBezTo>
                <a:cubicBezTo>
                  <a:pt x="574040" y="134338"/>
                  <a:pt x="572770" y="121003"/>
                  <a:pt x="584200" y="94333"/>
                </a:cubicBezTo>
                <a:cubicBezTo>
                  <a:pt x="595630" y="67663"/>
                  <a:pt x="603885" y="44168"/>
                  <a:pt x="625475" y="27658"/>
                </a:cubicBezTo>
                <a:cubicBezTo>
                  <a:pt x="647065" y="11148"/>
                  <a:pt x="660400" y="15593"/>
                  <a:pt x="692150" y="10513"/>
                </a:cubicBezTo>
                <a:cubicBezTo>
                  <a:pt x="723900" y="5433"/>
                  <a:pt x="750570" y="4163"/>
                  <a:pt x="784225" y="2258"/>
                </a:cubicBezTo>
                <a:cubicBezTo>
                  <a:pt x="817880" y="353"/>
                  <a:pt x="830580" y="2258"/>
                  <a:pt x="859155" y="2258"/>
                </a:cubicBezTo>
                <a:cubicBezTo>
                  <a:pt x="887730" y="2258"/>
                  <a:pt x="897255" y="-2822"/>
                  <a:pt x="925830" y="2258"/>
                </a:cubicBezTo>
                <a:cubicBezTo>
                  <a:pt x="954405" y="7338"/>
                  <a:pt x="972185" y="12418"/>
                  <a:pt x="1000760" y="27658"/>
                </a:cubicBezTo>
                <a:cubicBezTo>
                  <a:pt x="1029335" y="42898"/>
                  <a:pt x="1042670" y="52423"/>
                  <a:pt x="1067435" y="77188"/>
                </a:cubicBezTo>
                <a:cubicBezTo>
                  <a:pt x="1092200" y="101953"/>
                  <a:pt x="1104265" y="121003"/>
                  <a:pt x="1125855" y="152753"/>
                </a:cubicBezTo>
                <a:cubicBezTo>
                  <a:pt x="1147445" y="184503"/>
                  <a:pt x="1157605" y="206093"/>
                  <a:pt x="1176020" y="235938"/>
                </a:cubicBezTo>
                <a:cubicBezTo>
                  <a:pt x="1194435" y="265783"/>
                  <a:pt x="1204595" y="275943"/>
                  <a:pt x="1217930" y="302613"/>
                </a:cubicBezTo>
                <a:cubicBezTo>
                  <a:pt x="1231265" y="329283"/>
                  <a:pt x="1231265" y="342618"/>
                  <a:pt x="1242695" y="369288"/>
                </a:cubicBezTo>
                <a:cubicBezTo>
                  <a:pt x="1254125" y="395958"/>
                  <a:pt x="1263015" y="409293"/>
                  <a:pt x="1276350" y="435963"/>
                </a:cubicBezTo>
                <a:cubicBezTo>
                  <a:pt x="1289685" y="462633"/>
                  <a:pt x="1294130" y="470888"/>
                  <a:pt x="1309370" y="502638"/>
                </a:cubicBezTo>
                <a:cubicBezTo>
                  <a:pt x="1324610" y="534388"/>
                  <a:pt x="1336040" y="557883"/>
                  <a:pt x="1351280" y="594713"/>
                </a:cubicBezTo>
                <a:cubicBezTo>
                  <a:pt x="1366520" y="631543"/>
                  <a:pt x="1370965" y="651228"/>
                  <a:pt x="1384300" y="686153"/>
                </a:cubicBezTo>
                <a:cubicBezTo>
                  <a:pt x="1397635" y="721078"/>
                  <a:pt x="1404620" y="738223"/>
                  <a:pt x="1417955" y="769973"/>
                </a:cubicBezTo>
                <a:cubicBezTo>
                  <a:pt x="1431290" y="801723"/>
                  <a:pt x="1439545" y="816328"/>
                  <a:pt x="1450975" y="844903"/>
                </a:cubicBezTo>
                <a:cubicBezTo>
                  <a:pt x="1462405" y="873478"/>
                  <a:pt x="1466215" y="879828"/>
                  <a:pt x="1476375" y="911578"/>
                </a:cubicBezTo>
                <a:cubicBezTo>
                  <a:pt x="1486535" y="943328"/>
                  <a:pt x="1490980" y="969998"/>
                  <a:pt x="1501140" y="1003018"/>
                </a:cubicBezTo>
                <a:cubicBezTo>
                  <a:pt x="1511300" y="1036038"/>
                  <a:pt x="1516380" y="1048103"/>
                  <a:pt x="1526540" y="1077948"/>
                </a:cubicBezTo>
                <a:cubicBezTo>
                  <a:pt x="1536700" y="1107793"/>
                  <a:pt x="1536065" y="1124938"/>
                  <a:pt x="1551305" y="1153513"/>
                </a:cubicBezTo>
                <a:cubicBezTo>
                  <a:pt x="1566545" y="1182088"/>
                  <a:pt x="1576705" y="1196693"/>
                  <a:pt x="1601470" y="1220188"/>
                </a:cubicBezTo>
                <a:cubicBezTo>
                  <a:pt x="1626235" y="1243683"/>
                  <a:pt x="1647825" y="1250033"/>
                  <a:pt x="1676400" y="1269718"/>
                </a:cubicBezTo>
                <a:cubicBezTo>
                  <a:pt x="1704975" y="1289403"/>
                  <a:pt x="1716405" y="1303373"/>
                  <a:pt x="1743075" y="1319883"/>
                </a:cubicBezTo>
                <a:cubicBezTo>
                  <a:pt x="1769745" y="1336393"/>
                  <a:pt x="1783080" y="1340203"/>
                  <a:pt x="1809750" y="1353538"/>
                </a:cubicBezTo>
                <a:cubicBezTo>
                  <a:pt x="1836420" y="1366873"/>
                  <a:pt x="1847850" y="1375128"/>
                  <a:pt x="1876425" y="1386558"/>
                </a:cubicBezTo>
                <a:cubicBezTo>
                  <a:pt x="1905000" y="1397988"/>
                  <a:pt x="1919605" y="1401798"/>
                  <a:pt x="1951355" y="1411958"/>
                </a:cubicBezTo>
                <a:cubicBezTo>
                  <a:pt x="1983105" y="1422118"/>
                  <a:pt x="2003425" y="1428468"/>
                  <a:pt x="2035175" y="1436723"/>
                </a:cubicBezTo>
                <a:cubicBezTo>
                  <a:pt x="2066925" y="1444978"/>
                  <a:pt x="2080260" y="1450058"/>
                  <a:pt x="2110105" y="1453233"/>
                </a:cubicBezTo>
                <a:cubicBezTo>
                  <a:pt x="2139950" y="1456408"/>
                  <a:pt x="2156460" y="1455138"/>
                  <a:pt x="2185035" y="1453233"/>
                </a:cubicBezTo>
                <a:cubicBezTo>
                  <a:pt x="2213610" y="1451328"/>
                  <a:pt x="2228215" y="1460218"/>
                  <a:pt x="2251710" y="1444978"/>
                </a:cubicBezTo>
                <a:cubicBezTo>
                  <a:pt x="2275205" y="1429738"/>
                  <a:pt x="2283460" y="1404973"/>
                  <a:pt x="2301875" y="1378303"/>
                </a:cubicBezTo>
                <a:cubicBezTo>
                  <a:pt x="2320290" y="1351633"/>
                  <a:pt x="2330450" y="1340203"/>
                  <a:pt x="2343785" y="1311628"/>
                </a:cubicBezTo>
                <a:cubicBezTo>
                  <a:pt x="2357120" y="1283053"/>
                  <a:pt x="2357120" y="1266543"/>
                  <a:pt x="2368550" y="1236698"/>
                </a:cubicBezTo>
                <a:cubicBezTo>
                  <a:pt x="2379980" y="1206853"/>
                  <a:pt x="2390775" y="1191613"/>
                  <a:pt x="2402205" y="1161768"/>
                </a:cubicBezTo>
                <a:cubicBezTo>
                  <a:pt x="2413635" y="1131923"/>
                  <a:pt x="2413635" y="1115413"/>
                  <a:pt x="2426970" y="1086838"/>
                </a:cubicBezTo>
                <a:cubicBezTo>
                  <a:pt x="2440305" y="1058263"/>
                  <a:pt x="2450465" y="1048103"/>
                  <a:pt x="2468880" y="1019528"/>
                </a:cubicBezTo>
                <a:cubicBezTo>
                  <a:pt x="2487295" y="990953"/>
                  <a:pt x="2509520" y="957933"/>
                  <a:pt x="2518410" y="944598"/>
                </a:cubicBezTo>
              </a:path>
            </a:pathLst>
          </a:custGeom>
          <a:noFill/>
          <a:ln w="38100">
            <a:solidFill>
              <a:schemeClr val="tx1"/>
            </a:solidFill>
          </a:ln>
        </p:spPr>
        <p:txBody>
          <a:bodyPr vert="horz" lIns="90000" tIns="46800" rIns="90000" bIns="46800" rtlCol="0" anchor="ctr" anchorCtr="0">
            <a:noAutofit/>
          </a:bodyPr>
          <a:p>
            <a:endParaRPr lang="zh-CN" altLang="en-US" sz="2445">
              <a:solidFill>
                <a:schemeClr val="tx1"/>
              </a:solidFill>
            </a:endParaRPr>
          </a:p>
        </p:txBody>
      </p:sp>
      <p:sp>
        <p:nvSpPr>
          <p:cNvPr id="7" name="Text Box 6"/>
          <p:cNvSpPr txBox="1"/>
          <p:nvPr/>
        </p:nvSpPr>
        <p:spPr>
          <a:xfrm>
            <a:off x="1682115" y="5029200"/>
            <a:ext cx="296926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14" name="Text Box 13"/>
          <p:cNvSpPr txBox="1"/>
          <p:nvPr/>
        </p:nvSpPr>
        <p:spPr>
          <a:xfrm>
            <a:off x="691515" y="1313815"/>
            <a:ext cx="2547620" cy="429895"/>
          </a:xfrm>
          <a:prstGeom prst="rect">
            <a:avLst/>
          </a:prstGeom>
          <a:noFill/>
        </p:spPr>
        <p:txBody>
          <a:bodyPr wrap="square" rtlCol="0">
            <a:noAutofit/>
          </a:bodyPr>
          <a:p>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1. </a:t>
            </a:r>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采样</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 Sampling</a:t>
            </a:r>
            <a:endParaRPr lang="en-US" altLang="zh-CN" sz="2200" b="1">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17" name="Text Box 16"/>
          <p:cNvSpPr txBox="1"/>
          <p:nvPr/>
        </p:nvSpPr>
        <p:spPr>
          <a:xfrm>
            <a:off x="3860165" y="1313815"/>
            <a:ext cx="3038475" cy="429895"/>
          </a:xfrm>
          <a:prstGeom prst="rect">
            <a:avLst/>
          </a:prstGeom>
          <a:noFill/>
        </p:spPr>
        <p:txBody>
          <a:bodyPr wrap="square" rtlCol="0">
            <a:spAutoFit/>
          </a:bodyPr>
          <a:p>
            <a:r>
              <a:rPr lang="en-US" altLang="zh-CN" sz="2200">
                <a:latin typeface="Alibaba PuHuiTi 3.0 55 Regular" panose="00020600040101010101" charset="-122"/>
                <a:ea typeface="Alibaba PuHuiTi 3.0 55 Regular" panose="00020600040101010101" charset="-122"/>
              </a:rPr>
              <a:t>2. </a:t>
            </a:r>
            <a:r>
              <a:rPr lang="zh-CN" altLang="en-US" sz="2200">
                <a:latin typeface="Alibaba PuHuiTi 3.0 55 Regular" panose="00020600040101010101" charset="-122"/>
                <a:ea typeface="Alibaba PuHuiTi 3.0 55 Regular" panose="00020600040101010101" charset="-122"/>
              </a:rPr>
              <a:t>量化</a:t>
            </a:r>
            <a:r>
              <a:rPr lang="en-US" altLang="zh-CN" sz="2200">
                <a:latin typeface="Alibaba PuHuiTi 3.0 55 Regular" panose="00020600040101010101" charset="-122"/>
                <a:ea typeface="Alibaba PuHuiTi 3.0 55 Regular" panose="00020600040101010101" charset="-122"/>
              </a:rPr>
              <a:t> </a:t>
            </a:r>
            <a:r>
              <a:rPr lang="en-US" altLang="zh-CN" sz="2200">
                <a:latin typeface="Alibaba PuHuiTi 3.0 55 Regular" panose="00020600040101010101" charset="-122"/>
                <a:ea typeface="Alibaba PuHuiTi 3.0 55 Regular" panose="00020600040101010101" charset="-122"/>
              </a:rPr>
              <a:t>Quantization</a:t>
            </a:r>
            <a:endParaRPr lang="en-US" altLang="zh-CN" sz="2200">
              <a:latin typeface="Alibaba PuHuiTi 3.0 55 Regular" panose="00020600040101010101" charset="-122"/>
              <a:ea typeface="Alibaba PuHuiTi 3.0 55 Regular" panose="00020600040101010101" charset="-122"/>
            </a:endParaRPr>
          </a:p>
        </p:txBody>
      </p:sp>
      <p:sp>
        <p:nvSpPr>
          <p:cNvPr id="18" name="Text Box 17"/>
          <p:cNvSpPr txBox="1"/>
          <p:nvPr/>
        </p:nvSpPr>
        <p:spPr>
          <a:xfrm>
            <a:off x="7519670" y="1313815"/>
            <a:ext cx="3822065" cy="429895"/>
          </a:xfrm>
          <a:prstGeom prst="rect">
            <a:avLst/>
          </a:prstGeom>
          <a:noFill/>
        </p:spPr>
        <p:txBody>
          <a:bodyPr wrap="square" rtlCol="0">
            <a:spAutoFit/>
          </a:bodyPr>
          <a:p>
            <a:r>
              <a:rPr lang="en-US" altLang="zh-CN" sz="2200">
                <a:latin typeface="Alibaba PuHuiTi 3.0 55 Regular" panose="00020600040101010101" charset="-122"/>
                <a:ea typeface="Alibaba PuHuiTi 3.0 55 Regular" panose="00020600040101010101" charset="-122"/>
              </a:rPr>
              <a:t>3. </a:t>
            </a:r>
            <a:r>
              <a:rPr lang="zh-CN" altLang="en-US" sz="2200">
                <a:latin typeface="Alibaba PuHuiTi 3.0 55 Regular" panose="00020600040101010101" charset="-122"/>
                <a:ea typeface="Alibaba PuHuiTi 3.0 55 Regular" panose="00020600040101010101" charset="-122"/>
              </a:rPr>
              <a:t>编码</a:t>
            </a:r>
            <a:r>
              <a:rPr lang="en-US" altLang="zh-CN" sz="2200">
                <a:latin typeface="Alibaba PuHuiTi 3.0 55 Regular" panose="00020600040101010101" charset="-122"/>
                <a:ea typeface="Alibaba PuHuiTi 3.0 55 Regular" panose="00020600040101010101" charset="-122"/>
              </a:rPr>
              <a:t> </a:t>
            </a:r>
            <a:r>
              <a:rPr lang="en-US" altLang="zh-CN" sz="2200">
                <a:latin typeface="Alibaba PuHuiTi 3.0 55 Regular" panose="00020600040101010101" charset="-122"/>
                <a:ea typeface="Alibaba PuHuiTi 3.0 55 Regular" panose="00020600040101010101" charset="-122"/>
              </a:rPr>
              <a:t>Encoding</a:t>
            </a:r>
            <a:endParaRPr lang="en-US" altLang="zh-CN" sz="2200">
              <a:latin typeface="Alibaba PuHuiTi 3.0 55 Regular" panose="00020600040101010101" charset="-122"/>
              <a:ea typeface="Alibaba PuHuiTi 3.0 55 Regular" panose="00020600040101010101" charset="-122"/>
            </a:endParaRPr>
          </a:p>
        </p:txBody>
      </p:sp>
      <p:cxnSp>
        <p:nvCxnSpPr>
          <p:cNvPr id="19" name="Straight Connector 18"/>
          <p:cNvCxnSpPr/>
          <p:nvPr/>
        </p:nvCxnSpPr>
        <p:spPr>
          <a:xfrm flipH="1">
            <a:off x="3202305" y="1528445"/>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cxnSp>
        <p:nvCxnSpPr>
          <p:cNvPr id="20" name="Straight Connector 19"/>
          <p:cNvCxnSpPr/>
          <p:nvPr/>
        </p:nvCxnSpPr>
        <p:spPr>
          <a:xfrm flipH="1">
            <a:off x="6861810" y="1528445"/>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3" name="Text Box 2"/>
          <p:cNvSpPr txBox="1"/>
          <p:nvPr/>
        </p:nvSpPr>
        <p:spPr>
          <a:xfrm>
            <a:off x="5276215" y="3249930"/>
            <a:ext cx="4640580" cy="429895"/>
          </a:xfrm>
          <a:prstGeom prst="rect">
            <a:avLst/>
          </a:prstGeom>
          <a:noFill/>
        </p:spPr>
        <p:txBody>
          <a:bodyPr wrap="square" rtlCol="0">
            <a:noAutofit/>
          </a:bodyPr>
          <a:p>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采样</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：1</a:t>
            </a:r>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秒内测多少次声音模拟的值</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a:t>
            </a:r>
            <a:endParaRPr lang="en-US" altLang="zh-CN" sz="2200" b="1">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23" name="Text Box 22"/>
          <p:cNvSpPr txBox="1"/>
          <p:nvPr/>
        </p:nvSpPr>
        <p:spPr>
          <a:xfrm>
            <a:off x="1731010" y="37839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28" name="Oval 27"/>
          <p:cNvSpPr/>
          <p:nvPr/>
        </p:nvSpPr>
        <p:spPr>
          <a:xfrm>
            <a:off x="2413635" y="288607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1" name="Oval 30"/>
          <p:cNvSpPr/>
          <p:nvPr/>
        </p:nvSpPr>
        <p:spPr>
          <a:xfrm>
            <a:off x="2975610" y="333565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4" name="Oval 33"/>
          <p:cNvSpPr/>
          <p:nvPr/>
        </p:nvSpPr>
        <p:spPr>
          <a:xfrm>
            <a:off x="3537585" y="425005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7" name="Oval 36"/>
          <p:cNvSpPr/>
          <p:nvPr/>
        </p:nvSpPr>
        <p:spPr>
          <a:xfrm>
            <a:off x="4099560" y="406717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9" name="Text Box 38"/>
          <p:cNvSpPr txBox="1"/>
          <p:nvPr/>
        </p:nvSpPr>
        <p:spPr>
          <a:xfrm>
            <a:off x="2342515" y="256222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40" name="Text Box 39"/>
          <p:cNvSpPr txBox="1"/>
          <p:nvPr/>
        </p:nvSpPr>
        <p:spPr>
          <a:xfrm>
            <a:off x="2901315" y="297688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41" name="Text Box 40"/>
          <p:cNvSpPr txBox="1"/>
          <p:nvPr/>
        </p:nvSpPr>
        <p:spPr>
          <a:xfrm>
            <a:off x="3442970" y="396748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4</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42" name="Text Box 41"/>
          <p:cNvSpPr txBox="1"/>
          <p:nvPr/>
        </p:nvSpPr>
        <p:spPr>
          <a:xfrm>
            <a:off x="3957955" y="367982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5</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43" name="Straight Connector 42"/>
          <p:cNvCxnSpPr>
            <a:endCxn id="28" idx="3"/>
          </p:cNvCxnSpPr>
          <p:nvPr/>
        </p:nvCxnSpPr>
        <p:spPr>
          <a:xfrm flipV="1">
            <a:off x="1899920" y="2968625"/>
            <a:ext cx="527685" cy="12509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44" name="Straight Connector 43"/>
          <p:cNvCxnSpPr/>
          <p:nvPr/>
        </p:nvCxnSpPr>
        <p:spPr>
          <a:xfrm flipH="1" flipV="1">
            <a:off x="2478405" y="2959100"/>
            <a:ext cx="531495" cy="40513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46" name="Straight Connector 45"/>
          <p:cNvCxnSpPr>
            <a:stCxn id="34" idx="5"/>
          </p:cNvCxnSpPr>
          <p:nvPr/>
        </p:nvCxnSpPr>
        <p:spPr>
          <a:xfrm flipH="1" flipV="1">
            <a:off x="3023870" y="3378835"/>
            <a:ext cx="596265" cy="95377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47" name="Straight Connector 46"/>
          <p:cNvCxnSpPr>
            <a:stCxn id="37" idx="3"/>
          </p:cNvCxnSpPr>
          <p:nvPr/>
        </p:nvCxnSpPr>
        <p:spPr>
          <a:xfrm flipH="1">
            <a:off x="3565525" y="4149725"/>
            <a:ext cx="548005" cy="13525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49" name="Text Box 48"/>
          <p:cNvSpPr txBox="1"/>
          <p:nvPr/>
        </p:nvSpPr>
        <p:spPr>
          <a:xfrm>
            <a:off x="6223635" y="3972560"/>
            <a:ext cx="2968625" cy="429895"/>
          </a:xfrm>
          <a:prstGeom prst="rect">
            <a:avLst/>
          </a:prstGeom>
          <a:noFill/>
        </p:spPr>
        <p:txBody>
          <a:bodyPr wrap="square" rtlCol="0">
            <a:noAutofit/>
          </a:bodyPr>
          <a:p>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确定用</a:t>
            </a:r>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多少个采样点</a:t>
            </a:r>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表示连续变化的波形</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a:t>
            </a:r>
            <a:endParaRPr lang="en-US" altLang="zh-CN" sz="2200" b="1">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50" name="Text Box 49"/>
          <p:cNvSpPr txBox="1"/>
          <p:nvPr/>
        </p:nvSpPr>
        <p:spPr>
          <a:xfrm>
            <a:off x="5276215" y="3938905"/>
            <a:ext cx="1019175" cy="429895"/>
          </a:xfrm>
          <a:prstGeom prst="rect">
            <a:avLst/>
          </a:prstGeom>
          <a:noFill/>
        </p:spPr>
        <p:txBody>
          <a:bodyPr wrap="square" rtlCol="0">
            <a:noAutofit/>
          </a:bodyPr>
          <a:p>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采样</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 </a:t>
            </a:r>
            <a:r>
              <a:rPr lang="en-US" sz="2200" b="1">
                <a:latin typeface="Alibaba PuHuiTi 3.0 85 Bold" panose="00020600040101010101" charset="-122"/>
                <a:ea typeface="Alibaba PuHuiTi 3.0 85 Bold" panose="00020600040101010101" charset="-122"/>
                <a:cs typeface="Alibaba PuHuiTi 3.0 85 Bold" panose="00020600040101010101" charset="-122"/>
              </a:rPr>
              <a:t>=</a:t>
            </a:r>
            <a:endParaRPr lang="en-US" sz="2200" b="1">
              <a:latin typeface="Alibaba PuHuiTi 3.0 85 Bold" panose="00020600040101010101" charset="-122"/>
              <a:ea typeface="Alibaba PuHuiTi 3.0 85 Bold" panose="00020600040101010101" charset="-122"/>
              <a:cs typeface="Alibaba PuHuiTi 3.0 85 Bold" panose="00020600040101010101"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1" grpId="0" animBg="1"/>
      <p:bldP spid="34" grpId="0" animBg="1"/>
      <p:bldP spid="37" grpId="0" animBg="1"/>
      <p:bldP spid="23" grpId="0"/>
      <p:bldP spid="39" grpId="0"/>
      <p:bldP spid="40" grpId="0"/>
      <p:bldP spid="41" grpId="0"/>
      <p:bldP spid="42" grpId="0"/>
      <p:bldP spid="49" grpId="0"/>
      <p:bldP spid="5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 name="Group 25"/>
          <p:cNvGrpSpPr/>
          <p:nvPr/>
        </p:nvGrpSpPr>
        <p:grpSpPr>
          <a:xfrm>
            <a:off x="1851660" y="4180840"/>
            <a:ext cx="96520" cy="812800"/>
            <a:chOff x="2916" y="6584"/>
            <a:chExt cx="152" cy="1280"/>
          </a:xfrm>
        </p:grpSpPr>
        <p:sp>
          <p:nvSpPr>
            <p:cNvPr id="69" name="Oval 68"/>
            <p:cNvSpPr/>
            <p:nvPr/>
          </p:nvSpPr>
          <p:spPr>
            <a:xfrm>
              <a:off x="2916" y="6584"/>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71" name="Straight Connector 70"/>
            <p:cNvCxnSpPr/>
            <p:nvPr/>
          </p:nvCxnSpPr>
          <p:spPr>
            <a:xfrm>
              <a:off x="2992" y="6700"/>
              <a:ext cx="0" cy="116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grpSp>
      <p:cxnSp>
        <p:nvCxnSpPr>
          <p:cNvPr id="29" name="Straight Connector 28"/>
          <p:cNvCxnSpPr/>
          <p:nvPr/>
        </p:nvCxnSpPr>
        <p:spPr>
          <a:xfrm>
            <a:off x="2461895" y="2935605"/>
            <a:ext cx="0" cy="200787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2" name="Straight Connector 31"/>
          <p:cNvCxnSpPr>
            <a:stCxn id="31" idx="4"/>
          </p:cNvCxnSpPr>
          <p:nvPr/>
        </p:nvCxnSpPr>
        <p:spPr>
          <a:xfrm>
            <a:off x="3023870" y="3432175"/>
            <a:ext cx="0" cy="151955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5" name="Straight Connector 34"/>
          <p:cNvCxnSpPr/>
          <p:nvPr/>
        </p:nvCxnSpPr>
        <p:spPr>
          <a:xfrm>
            <a:off x="3585845" y="4324350"/>
            <a:ext cx="0" cy="67056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8" name="Straight Connector 37"/>
          <p:cNvCxnSpPr>
            <a:stCxn id="37" idx="4"/>
          </p:cNvCxnSpPr>
          <p:nvPr/>
        </p:nvCxnSpPr>
        <p:spPr>
          <a:xfrm>
            <a:off x="4147820" y="4163695"/>
            <a:ext cx="0" cy="83121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2" name="Title 1"/>
          <p:cNvSpPr>
            <a:spLocks noGrp="1"/>
          </p:cNvSpPr>
          <p:nvPr>
            <p:ph type="title"/>
            <p:custDataLst>
              <p:tags r:id="rId1"/>
            </p:custDataLst>
          </p:nvPr>
        </p:nvSpPr>
        <p:spPr/>
        <p:txBody>
          <a:bodyPr>
            <a:normAutofit/>
          </a:bodyPr>
          <a:p>
            <a:r>
              <a:rPr lang="zh-CN" altLang="en-US"/>
              <a:t>怎样才能把声音（模拟信号</a:t>
            </a:r>
            <a:r>
              <a:rPr lang="en-US" altLang="zh-CN"/>
              <a:t>）</a:t>
            </a:r>
            <a:r>
              <a:rPr lang="zh-CN" altLang="en-US"/>
              <a:t>是转成数字信号</a:t>
            </a:r>
            <a:r>
              <a:rPr lang="en-US"/>
              <a:t>？</a:t>
            </a:r>
            <a:endParaRPr lang="en-US"/>
          </a:p>
        </p:txBody>
      </p:sp>
      <p:cxnSp>
        <p:nvCxnSpPr>
          <p:cNvPr id="57" name="Straight Connector 56"/>
          <p:cNvCxnSpPr/>
          <p:nvPr/>
        </p:nvCxnSpPr>
        <p:spPr>
          <a:xfrm>
            <a:off x="1525270" y="2207895"/>
            <a:ext cx="0" cy="274320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21" name="Straight Connector 20"/>
          <p:cNvCxnSpPr/>
          <p:nvPr/>
        </p:nvCxnSpPr>
        <p:spPr>
          <a:xfrm flipH="1">
            <a:off x="1524000" y="4959350"/>
            <a:ext cx="312737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4" name="Text Box 3"/>
          <p:cNvSpPr txBox="1"/>
          <p:nvPr/>
        </p:nvSpPr>
        <p:spPr>
          <a:xfrm>
            <a:off x="616585" y="2207895"/>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振幅</a:t>
            </a:r>
            <a:endParaRPr lang="zh-CN" altLang="en-US" sz="2200">
              <a:latin typeface="Alibaba PuHuiTi 3.0 55 Regular" panose="00020600040101010101" charset="-122"/>
              <a:ea typeface="Alibaba PuHuiTi 3.0 55 Regular" panose="00020600040101010101" charset="-122"/>
            </a:endParaRPr>
          </a:p>
        </p:txBody>
      </p:sp>
      <p:sp>
        <p:nvSpPr>
          <p:cNvPr id="5" name="Text Box 4"/>
          <p:cNvSpPr txBox="1"/>
          <p:nvPr/>
        </p:nvSpPr>
        <p:spPr>
          <a:xfrm>
            <a:off x="4388485" y="5029200"/>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6" name="Freeform 5"/>
          <p:cNvSpPr/>
          <p:nvPr/>
        </p:nvSpPr>
        <p:spPr>
          <a:xfrm>
            <a:off x="1740535" y="2938780"/>
            <a:ext cx="2518410" cy="1645285"/>
          </a:xfrm>
          <a:custGeom>
            <a:avLst/>
            <a:gdLst>
              <a:gd name="connisteX0" fmla="*/ 0 w 2518410"/>
              <a:gd name="connsiteY0" fmla="*/ 1645002 h 1645002"/>
              <a:gd name="connisteX1" fmla="*/ 25400 w 2518410"/>
              <a:gd name="connsiteY1" fmla="*/ 1519907 h 1645002"/>
              <a:gd name="connisteX2" fmla="*/ 142240 w 2518410"/>
              <a:gd name="connsiteY2" fmla="*/ 1328137 h 1645002"/>
              <a:gd name="connisteX3" fmla="*/ 225425 w 2518410"/>
              <a:gd name="connsiteY3" fmla="*/ 1178277 h 1645002"/>
              <a:gd name="connisteX4" fmla="*/ 275590 w 2518410"/>
              <a:gd name="connsiteY4" fmla="*/ 1077947 h 1645002"/>
              <a:gd name="connisteX5" fmla="*/ 325120 w 2518410"/>
              <a:gd name="connsiteY5" fmla="*/ 978252 h 1645002"/>
              <a:gd name="connisteX6" fmla="*/ 358775 w 2518410"/>
              <a:gd name="connsiteY6" fmla="*/ 877922 h 1645002"/>
              <a:gd name="connisteX7" fmla="*/ 383540 w 2518410"/>
              <a:gd name="connsiteY7" fmla="*/ 811247 h 1645002"/>
              <a:gd name="connisteX8" fmla="*/ 400685 w 2518410"/>
              <a:gd name="connsiteY8" fmla="*/ 728062 h 1645002"/>
              <a:gd name="connisteX9" fmla="*/ 441960 w 2518410"/>
              <a:gd name="connsiteY9" fmla="*/ 611222 h 1645002"/>
              <a:gd name="connisteX10" fmla="*/ 459105 w 2518410"/>
              <a:gd name="connsiteY10" fmla="*/ 544547 h 1645002"/>
              <a:gd name="connisteX11" fmla="*/ 492125 w 2518410"/>
              <a:gd name="connsiteY11" fmla="*/ 419452 h 1645002"/>
              <a:gd name="connisteX12" fmla="*/ 525780 w 2518410"/>
              <a:gd name="connsiteY12" fmla="*/ 310867 h 1645002"/>
              <a:gd name="connisteX13" fmla="*/ 550545 w 2518410"/>
              <a:gd name="connsiteY13" fmla="*/ 227682 h 1645002"/>
              <a:gd name="connisteX14" fmla="*/ 567055 w 2518410"/>
              <a:gd name="connsiteY14" fmla="*/ 161007 h 1645002"/>
              <a:gd name="connisteX15" fmla="*/ 584200 w 2518410"/>
              <a:gd name="connsiteY15" fmla="*/ 94332 h 1645002"/>
              <a:gd name="connisteX16" fmla="*/ 625475 w 2518410"/>
              <a:gd name="connsiteY16" fmla="*/ 27657 h 1645002"/>
              <a:gd name="connisteX17" fmla="*/ 692150 w 2518410"/>
              <a:gd name="connsiteY17" fmla="*/ 10512 h 1645002"/>
              <a:gd name="connisteX18" fmla="*/ 784225 w 2518410"/>
              <a:gd name="connsiteY18" fmla="*/ 2257 h 1645002"/>
              <a:gd name="connisteX19" fmla="*/ 859155 w 2518410"/>
              <a:gd name="connsiteY19" fmla="*/ 2257 h 1645002"/>
              <a:gd name="connisteX20" fmla="*/ 925830 w 2518410"/>
              <a:gd name="connsiteY20" fmla="*/ 2257 h 1645002"/>
              <a:gd name="connisteX21" fmla="*/ 1000760 w 2518410"/>
              <a:gd name="connsiteY21" fmla="*/ 27657 h 1645002"/>
              <a:gd name="connisteX22" fmla="*/ 1067435 w 2518410"/>
              <a:gd name="connsiteY22" fmla="*/ 77187 h 1645002"/>
              <a:gd name="connisteX23" fmla="*/ 1125855 w 2518410"/>
              <a:gd name="connsiteY23" fmla="*/ 152752 h 1645002"/>
              <a:gd name="connisteX24" fmla="*/ 1176020 w 2518410"/>
              <a:gd name="connsiteY24" fmla="*/ 235937 h 1645002"/>
              <a:gd name="connisteX25" fmla="*/ 1217930 w 2518410"/>
              <a:gd name="connsiteY25" fmla="*/ 302612 h 1645002"/>
              <a:gd name="connisteX26" fmla="*/ 1242695 w 2518410"/>
              <a:gd name="connsiteY26" fmla="*/ 369287 h 1645002"/>
              <a:gd name="connisteX27" fmla="*/ 1276350 w 2518410"/>
              <a:gd name="connsiteY27" fmla="*/ 435962 h 1645002"/>
              <a:gd name="connisteX28" fmla="*/ 1309370 w 2518410"/>
              <a:gd name="connsiteY28" fmla="*/ 502637 h 1645002"/>
              <a:gd name="connisteX29" fmla="*/ 1351280 w 2518410"/>
              <a:gd name="connsiteY29" fmla="*/ 594712 h 1645002"/>
              <a:gd name="connisteX30" fmla="*/ 1384300 w 2518410"/>
              <a:gd name="connsiteY30" fmla="*/ 686152 h 1645002"/>
              <a:gd name="connisteX31" fmla="*/ 1417955 w 2518410"/>
              <a:gd name="connsiteY31" fmla="*/ 769972 h 1645002"/>
              <a:gd name="connisteX32" fmla="*/ 1450975 w 2518410"/>
              <a:gd name="connsiteY32" fmla="*/ 844902 h 1645002"/>
              <a:gd name="connisteX33" fmla="*/ 1476375 w 2518410"/>
              <a:gd name="connsiteY33" fmla="*/ 911577 h 1645002"/>
              <a:gd name="connisteX34" fmla="*/ 1501140 w 2518410"/>
              <a:gd name="connsiteY34" fmla="*/ 1003017 h 1645002"/>
              <a:gd name="connisteX35" fmla="*/ 1526540 w 2518410"/>
              <a:gd name="connsiteY35" fmla="*/ 1077947 h 1645002"/>
              <a:gd name="connisteX36" fmla="*/ 1551305 w 2518410"/>
              <a:gd name="connsiteY36" fmla="*/ 1153512 h 1645002"/>
              <a:gd name="connisteX37" fmla="*/ 1601470 w 2518410"/>
              <a:gd name="connsiteY37" fmla="*/ 1220187 h 1645002"/>
              <a:gd name="connisteX38" fmla="*/ 1676400 w 2518410"/>
              <a:gd name="connsiteY38" fmla="*/ 1269717 h 1645002"/>
              <a:gd name="connisteX39" fmla="*/ 1743075 w 2518410"/>
              <a:gd name="connsiteY39" fmla="*/ 1319882 h 1645002"/>
              <a:gd name="connisteX40" fmla="*/ 1809750 w 2518410"/>
              <a:gd name="connsiteY40" fmla="*/ 1353537 h 1645002"/>
              <a:gd name="connisteX41" fmla="*/ 1876425 w 2518410"/>
              <a:gd name="connsiteY41" fmla="*/ 1386557 h 1645002"/>
              <a:gd name="connisteX42" fmla="*/ 1951355 w 2518410"/>
              <a:gd name="connsiteY42" fmla="*/ 1411957 h 1645002"/>
              <a:gd name="connisteX43" fmla="*/ 2035175 w 2518410"/>
              <a:gd name="connsiteY43" fmla="*/ 1436722 h 1645002"/>
              <a:gd name="connisteX44" fmla="*/ 2110105 w 2518410"/>
              <a:gd name="connsiteY44" fmla="*/ 1453232 h 1645002"/>
              <a:gd name="connisteX45" fmla="*/ 2185035 w 2518410"/>
              <a:gd name="connsiteY45" fmla="*/ 1453232 h 1645002"/>
              <a:gd name="connisteX46" fmla="*/ 2251710 w 2518410"/>
              <a:gd name="connsiteY46" fmla="*/ 1444977 h 1645002"/>
              <a:gd name="connisteX47" fmla="*/ 2301875 w 2518410"/>
              <a:gd name="connsiteY47" fmla="*/ 1378302 h 1645002"/>
              <a:gd name="connisteX48" fmla="*/ 2343785 w 2518410"/>
              <a:gd name="connsiteY48" fmla="*/ 1311627 h 1645002"/>
              <a:gd name="connisteX49" fmla="*/ 2368550 w 2518410"/>
              <a:gd name="connsiteY49" fmla="*/ 1236697 h 1645002"/>
              <a:gd name="connisteX50" fmla="*/ 2402205 w 2518410"/>
              <a:gd name="connsiteY50" fmla="*/ 1161767 h 1645002"/>
              <a:gd name="connisteX51" fmla="*/ 2426970 w 2518410"/>
              <a:gd name="connsiteY51" fmla="*/ 1086837 h 1645002"/>
              <a:gd name="connisteX52" fmla="*/ 2468880 w 2518410"/>
              <a:gd name="connsiteY52" fmla="*/ 1019527 h 1645002"/>
              <a:gd name="connisteX53" fmla="*/ 2518410 w 2518410"/>
              <a:gd name="connsiteY53" fmla="*/ 944597 h 164500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Lst>
            <a:rect l="l" t="t" r="r" b="b"/>
            <a:pathLst>
              <a:path w="2518410" h="1645003">
                <a:moveTo>
                  <a:pt x="0" y="1645003"/>
                </a:moveTo>
                <a:cubicBezTo>
                  <a:pt x="2540" y="1624048"/>
                  <a:pt x="-3175" y="1583408"/>
                  <a:pt x="25400" y="1519908"/>
                </a:cubicBezTo>
                <a:cubicBezTo>
                  <a:pt x="53975" y="1456408"/>
                  <a:pt x="102235" y="1396718"/>
                  <a:pt x="142240" y="1328138"/>
                </a:cubicBezTo>
                <a:cubicBezTo>
                  <a:pt x="182245" y="1259558"/>
                  <a:pt x="198755" y="1228443"/>
                  <a:pt x="225425" y="1178278"/>
                </a:cubicBezTo>
                <a:cubicBezTo>
                  <a:pt x="252095" y="1128113"/>
                  <a:pt x="255905" y="1117953"/>
                  <a:pt x="275590" y="1077948"/>
                </a:cubicBezTo>
                <a:cubicBezTo>
                  <a:pt x="295275" y="1037943"/>
                  <a:pt x="308610" y="1018258"/>
                  <a:pt x="325120" y="978253"/>
                </a:cubicBezTo>
                <a:cubicBezTo>
                  <a:pt x="341630" y="938248"/>
                  <a:pt x="347345" y="911578"/>
                  <a:pt x="358775" y="877923"/>
                </a:cubicBezTo>
                <a:cubicBezTo>
                  <a:pt x="370205" y="844268"/>
                  <a:pt x="375285" y="841093"/>
                  <a:pt x="383540" y="811248"/>
                </a:cubicBezTo>
                <a:cubicBezTo>
                  <a:pt x="391795" y="781403"/>
                  <a:pt x="389255" y="768068"/>
                  <a:pt x="400685" y="728063"/>
                </a:cubicBezTo>
                <a:cubicBezTo>
                  <a:pt x="412115" y="688058"/>
                  <a:pt x="430530" y="648053"/>
                  <a:pt x="441960" y="611223"/>
                </a:cubicBezTo>
                <a:cubicBezTo>
                  <a:pt x="453390" y="574393"/>
                  <a:pt x="448945" y="582648"/>
                  <a:pt x="459105" y="544548"/>
                </a:cubicBezTo>
                <a:cubicBezTo>
                  <a:pt x="469265" y="506448"/>
                  <a:pt x="478790" y="466443"/>
                  <a:pt x="492125" y="419453"/>
                </a:cubicBezTo>
                <a:cubicBezTo>
                  <a:pt x="505460" y="372463"/>
                  <a:pt x="514350" y="348968"/>
                  <a:pt x="525780" y="310868"/>
                </a:cubicBezTo>
                <a:cubicBezTo>
                  <a:pt x="537210" y="272768"/>
                  <a:pt x="542290" y="257528"/>
                  <a:pt x="550545" y="227683"/>
                </a:cubicBezTo>
                <a:cubicBezTo>
                  <a:pt x="558800" y="197838"/>
                  <a:pt x="560070" y="187678"/>
                  <a:pt x="567055" y="161008"/>
                </a:cubicBezTo>
                <a:cubicBezTo>
                  <a:pt x="574040" y="134338"/>
                  <a:pt x="572770" y="121003"/>
                  <a:pt x="584200" y="94333"/>
                </a:cubicBezTo>
                <a:cubicBezTo>
                  <a:pt x="595630" y="67663"/>
                  <a:pt x="603885" y="44168"/>
                  <a:pt x="625475" y="27658"/>
                </a:cubicBezTo>
                <a:cubicBezTo>
                  <a:pt x="647065" y="11148"/>
                  <a:pt x="660400" y="15593"/>
                  <a:pt x="692150" y="10513"/>
                </a:cubicBezTo>
                <a:cubicBezTo>
                  <a:pt x="723900" y="5433"/>
                  <a:pt x="750570" y="4163"/>
                  <a:pt x="784225" y="2258"/>
                </a:cubicBezTo>
                <a:cubicBezTo>
                  <a:pt x="817880" y="353"/>
                  <a:pt x="830580" y="2258"/>
                  <a:pt x="859155" y="2258"/>
                </a:cubicBezTo>
                <a:cubicBezTo>
                  <a:pt x="887730" y="2258"/>
                  <a:pt x="897255" y="-2822"/>
                  <a:pt x="925830" y="2258"/>
                </a:cubicBezTo>
                <a:cubicBezTo>
                  <a:pt x="954405" y="7338"/>
                  <a:pt x="972185" y="12418"/>
                  <a:pt x="1000760" y="27658"/>
                </a:cubicBezTo>
                <a:cubicBezTo>
                  <a:pt x="1029335" y="42898"/>
                  <a:pt x="1042670" y="52423"/>
                  <a:pt x="1067435" y="77188"/>
                </a:cubicBezTo>
                <a:cubicBezTo>
                  <a:pt x="1092200" y="101953"/>
                  <a:pt x="1104265" y="121003"/>
                  <a:pt x="1125855" y="152753"/>
                </a:cubicBezTo>
                <a:cubicBezTo>
                  <a:pt x="1147445" y="184503"/>
                  <a:pt x="1157605" y="206093"/>
                  <a:pt x="1176020" y="235938"/>
                </a:cubicBezTo>
                <a:cubicBezTo>
                  <a:pt x="1194435" y="265783"/>
                  <a:pt x="1204595" y="275943"/>
                  <a:pt x="1217930" y="302613"/>
                </a:cubicBezTo>
                <a:cubicBezTo>
                  <a:pt x="1231265" y="329283"/>
                  <a:pt x="1231265" y="342618"/>
                  <a:pt x="1242695" y="369288"/>
                </a:cubicBezTo>
                <a:cubicBezTo>
                  <a:pt x="1254125" y="395958"/>
                  <a:pt x="1263015" y="409293"/>
                  <a:pt x="1276350" y="435963"/>
                </a:cubicBezTo>
                <a:cubicBezTo>
                  <a:pt x="1289685" y="462633"/>
                  <a:pt x="1294130" y="470888"/>
                  <a:pt x="1309370" y="502638"/>
                </a:cubicBezTo>
                <a:cubicBezTo>
                  <a:pt x="1324610" y="534388"/>
                  <a:pt x="1336040" y="557883"/>
                  <a:pt x="1351280" y="594713"/>
                </a:cubicBezTo>
                <a:cubicBezTo>
                  <a:pt x="1366520" y="631543"/>
                  <a:pt x="1370965" y="651228"/>
                  <a:pt x="1384300" y="686153"/>
                </a:cubicBezTo>
                <a:cubicBezTo>
                  <a:pt x="1397635" y="721078"/>
                  <a:pt x="1404620" y="738223"/>
                  <a:pt x="1417955" y="769973"/>
                </a:cubicBezTo>
                <a:cubicBezTo>
                  <a:pt x="1431290" y="801723"/>
                  <a:pt x="1439545" y="816328"/>
                  <a:pt x="1450975" y="844903"/>
                </a:cubicBezTo>
                <a:cubicBezTo>
                  <a:pt x="1462405" y="873478"/>
                  <a:pt x="1466215" y="879828"/>
                  <a:pt x="1476375" y="911578"/>
                </a:cubicBezTo>
                <a:cubicBezTo>
                  <a:pt x="1486535" y="943328"/>
                  <a:pt x="1490980" y="969998"/>
                  <a:pt x="1501140" y="1003018"/>
                </a:cubicBezTo>
                <a:cubicBezTo>
                  <a:pt x="1511300" y="1036038"/>
                  <a:pt x="1516380" y="1048103"/>
                  <a:pt x="1526540" y="1077948"/>
                </a:cubicBezTo>
                <a:cubicBezTo>
                  <a:pt x="1536700" y="1107793"/>
                  <a:pt x="1536065" y="1124938"/>
                  <a:pt x="1551305" y="1153513"/>
                </a:cubicBezTo>
                <a:cubicBezTo>
                  <a:pt x="1566545" y="1182088"/>
                  <a:pt x="1576705" y="1196693"/>
                  <a:pt x="1601470" y="1220188"/>
                </a:cubicBezTo>
                <a:cubicBezTo>
                  <a:pt x="1626235" y="1243683"/>
                  <a:pt x="1647825" y="1250033"/>
                  <a:pt x="1676400" y="1269718"/>
                </a:cubicBezTo>
                <a:cubicBezTo>
                  <a:pt x="1704975" y="1289403"/>
                  <a:pt x="1716405" y="1303373"/>
                  <a:pt x="1743075" y="1319883"/>
                </a:cubicBezTo>
                <a:cubicBezTo>
                  <a:pt x="1769745" y="1336393"/>
                  <a:pt x="1783080" y="1340203"/>
                  <a:pt x="1809750" y="1353538"/>
                </a:cubicBezTo>
                <a:cubicBezTo>
                  <a:pt x="1836420" y="1366873"/>
                  <a:pt x="1847850" y="1375128"/>
                  <a:pt x="1876425" y="1386558"/>
                </a:cubicBezTo>
                <a:cubicBezTo>
                  <a:pt x="1905000" y="1397988"/>
                  <a:pt x="1919605" y="1401798"/>
                  <a:pt x="1951355" y="1411958"/>
                </a:cubicBezTo>
                <a:cubicBezTo>
                  <a:pt x="1983105" y="1422118"/>
                  <a:pt x="2003425" y="1428468"/>
                  <a:pt x="2035175" y="1436723"/>
                </a:cubicBezTo>
                <a:cubicBezTo>
                  <a:pt x="2066925" y="1444978"/>
                  <a:pt x="2080260" y="1450058"/>
                  <a:pt x="2110105" y="1453233"/>
                </a:cubicBezTo>
                <a:cubicBezTo>
                  <a:pt x="2139950" y="1456408"/>
                  <a:pt x="2156460" y="1455138"/>
                  <a:pt x="2185035" y="1453233"/>
                </a:cubicBezTo>
                <a:cubicBezTo>
                  <a:pt x="2213610" y="1451328"/>
                  <a:pt x="2228215" y="1460218"/>
                  <a:pt x="2251710" y="1444978"/>
                </a:cubicBezTo>
                <a:cubicBezTo>
                  <a:pt x="2275205" y="1429738"/>
                  <a:pt x="2283460" y="1404973"/>
                  <a:pt x="2301875" y="1378303"/>
                </a:cubicBezTo>
                <a:cubicBezTo>
                  <a:pt x="2320290" y="1351633"/>
                  <a:pt x="2330450" y="1340203"/>
                  <a:pt x="2343785" y="1311628"/>
                </a:cubicBezTo>
                <a:cubicBezTo>
                  <a:pt x="2357120" y="1283053"/>
                  <a:pt x="2357120" y="1266543"/>
                  <a:pt x="2368550" y="1236698"/>
                </a:cubicBezTo>
                <a:cubicBezTo>
                  <a:pt x="2379980" y="1206853"/>
                  <a:pt x="2390775" y="1191613"/>
                  <a:pt x="2402205" y="1161768"/>
                </a:cubicBezTo>
                <a:cubicBezTo>
                  <a:pt x="2413635" y="1131923"/>
                  <a:pt x="2413635" y="1115413"/>
                  <a:pt x="2426970" y="1086838"/>
                </a:cubicBezTo>
                <a:cubicBezTo>
                  <a:pt x="2440305" y="1058263"/>
                  <a:pt x="2450465" y="1048103"/>
                  <a:pt x="2468880" y="1019528"/>
                </a:cubicBezTo>
                <a:cubicBezTo>
                  <a:pt x="2487295" y="990953"/>
                  <a:pt x="2509520" y="957933"/>
                  <a:pt x="2518410" y="944598"/>
                </a:cubicBezTo>
              </a:path>
            </a:pathLst>
          </a:custGeom>
          <a:noFill/>
          <a:ln w="38100">
            <a:solidFill>
              <a:schemeClr val="tx1"/>
            </a:solidFill>
          </a:ln>
        </p:spPr>
        <p:txBody>
          <a:bodyPr vert="horz" lIns="90000" tIns="46800" rIns="90000" bIns="46800" rtlCol="0" anchor="ctr" anchorCtr="0">
            <a:noAutofit/>
          </a:bodyPr>
          <a:p>
            <a:endParaRPr lang="zh-CN" altLang="en-US" sz="2445">
              <a:solidFill>
                <a:schemeClr val="tx1"/>
              </a:solidFill>
            </a:endParaRPr>
          </a:p>
        </p:txBody>
      </p:sp>
      <p:sp>
        <p:nvSpPr>
          <p:cNvPr id="7" name="Text Box 6"/>
          <p:cNvSpPr txBox="1"/>
          <p:nvPr/>
        </p:nvSpPr>
        <p:spPr>
          <a:xfrm>
            <a:off x="1682115" y="5029200"/>
            <a:ext cx="296926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14" name="Text Box 13"/>
          <p:cNvSpPr txBox="1"/>
          <p:nvPr/>
        </p:nvSpPr>
        <p:spPr>
          <a:xfrm>
            <a:off x="691515" y="1313815"/>
            <a:ext cx="2547620" cy="429895"/>
          </a:xfrm>
          <a:prstGeom prst="rect">
            <a:avLst/>
          </a:prstGeom>
          <a:noFill/>
        </p:spPr>
        <p:txBody>
          <a:bodyPr wrap="square" rtlCol="0">
            <a:noAutofit/>
          </a:bodyPr>
          <a:p>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1. </a:t>
            </a:r>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采样</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 Sampling</a:t>
            </a:r>
            <a:endParaRPr lang="en-US" altLang="zh-CN" sz="2200" b="1">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17" name="Text Box 16"/>
          <p:cNvSpPr txBox="1"/>
          <p:nvPr/>
        </p:nvSpPr>
        <p:spPr>
          <a:xfrm>
            <a:off x="3860165" y="1313815"/>
            <a:ext cx="3038475" cy="429895"/>
          </a:xfrm>
          <a:prstGeom prst="rect">
            <a:avLst/>
          </a:prstGeom>
          <a:noFill/>
        </p:spPr>
        <p:txBody>
          <a:bodyPr wrap="square" rtlCol="0">
            <a:spAutoFit/>
          </a:bodyPr>
          <a:p>
            <a:r>
              <a:rPr lang="en-US" altLang="zh-CN" sz="2200">
                <a:latin typeface="Alibaba PuHuiTi 3.0 55 Regular" panose="00020600040101010101" charset="-122"/>
                <a:ea typeface="Alibaba PuHuiTi 3.0 55 Regular" panose="00020600040101010101" charset="-122"/>
              </a:rPr>
              <a:t>2. </a:t>
            </a:r>
            <a:r>
              <a:rPr lang="zh-CN" altLang="en-US" sz="2200">
                <a:latin typeface="Alibaba PuHuiTi 3.0 55 Regular" panose="00020600040101010101" charset="-122"/>
                <a:ea typeface="Alibaba PuHuiTi 3.0 55 Regular" panose="00020600040101010101" charset="-122"/>
              </a:rPr>
              <a:t>量化</a:t>
            </a:r>
            <a:r>
              <a:rPr lang="en-US" altLang="zh-CN" sz="2200">
                <a:latin typeface="Alibaba PuHuiTi 3.0 55 Regular" panose="00020600040101010101" charset="-122"/>
                <a:ea typeface="Alibaba PuHuiTi 3.0 55 Regular" panose="00020600040101010101" charset="-122"/>
              </a:rPr>
              <a:t> </a:t>
            </a:r>
            <a:r>
              <a:rPr lang="en-US" altLang="zh-CN" sz="2200">
                <a:latin typeface="Alibaba PuHuiTi 3.0 55 Regular" panose="00020600040101010101" charset="-122"/>
                <a:ea typeface="Alibaba PuHuiTi 3.0 55 Regular" panose="00020600040101010101" charset="-122"/>
              </a:rPr>
              <a:t>Quantization</a:t>
            </a:r>
            <a:endParaRPr lang="en-US" altLang="zh-CN" sz="2200">
              <a:latin typeface="Alibaba PuHuiTi 3.0 55 Regular" panose="00020600040101010101" charset="-122"/>
              <a:ea typeface="Alibaba PuHuiTi 3.0 55 Regular" panose="00020600040101010101" charset="-122"/>
            </a:endParaRPr>
          </a:p>
        </p:txBody>
      </p:sp>
      <p:sp>
        <p:nvSpPr>
          <p:cNvPr id="18" name="Text Box 17"/>
          <p:cNvSpPr txBox="1"/>
          <p:nvPr/>
        </p:nvSpPr>
        <p:spPr>
          <a:xfrm>
            <a:off x="7519670" y="1313815"/>
            <a:ext cx="3822065" cy="429895"/>
          </a:xfrm>
          <a:prstGeom prst="rect">
            <a:avLst/>
          </a:prstGeom>
          <a:noFill/>
        </p:spPr>
        <p:txBody>
          <a:bodyPr wrap="square" rtlCol="0">
            <a:spAutoFit/>
          </a:bodyPr>
          <a:p>
            <a:r>
              <a:rPr lang="en-US" altLang="zh-CN" sz="2200">
                <a:latin typeface="Alibaba PuHuiTi 3.0 55 Regular" panose="00020600040101010101" charset="-122"/>
                <a:ea typeface="Alibaba PuHuiTi 3.0 55 Regular" panose="00020600040101010101" charset="-122"/>
              </a:rPr>
              <a:t>3. </a:t>
            </a:r>
            <a:r>
              <a:rPr lang="zh-CN" altLang="en-US" sz="2200">
                <a:latin typeface="Alibaba PuHuiTi 3.0 55 Regular" panose="00020600040101010101" charset="-122"/>
                <a:ea typeface="Alibaba PuHuiTi 3.0 55 Regular" panose="00020600040101010101" charset="-122"/>
              </a:rPr>
              <a:t>编码</a:t>
            </a:r>
            <a:r>
              <a:rPr lang="en-US" altLang="zh-CN" sz="2200">
                <a:latin typeface="Alibaba PuHuiTi 3.0 55 Regular" panose="00020600040101010101" charset="-122"/>
                <a:ea typeface="Alibaba PuHuiTi 3.0 55 Regular" panose="00020600040101010101" charset="-122"/>
              </a:rPr>
              <a:t> </a:t>
            </a:r>
            <a:r>
              <a:rPr lang="en-US" altLang="zh-CN" sz="2200">
                <a:latin typeface="Alibaba PuHuiTi 3.0 55 Regular" panose="00020600040101010101" charset="-122"/>
                <a:ea typeface="Alibaba PuHuiTi 3.0 55 Regular" panose="00020600040101010101" charset="-122"/>
              </a:rPr>
              <a:t>Encoding</a:t>
            </a:r>
            <a:endParaRPr lang="en-US" altLang="zh-CN" sz="2200">
              <a:latin typeface="Alibaba PuHuiTi 3.0 55 Regular" panose="00020600040101010101" charset="-122"/>
              <a:ea typeface="Alibaba PuHuiTi 3.0 55 Regular" panose="00020600040101010101" charset="-122"/>
            </a:endParaRPr>
          </a:p>
        </p:txBody>
      </p:sp>
      <p:cxnSp>
        <p:nvCxnSpPr>
          <p:cNvPr id="19" name="Straight Connector 18"/>
          <p:cNvCxnSpPr/>
          <p:nvPr/>
        </p:nvCxnSpPr>
        <p:spPr>
          <a:xfrm flipH="1">
            <a:off x="3202305" y="1528445"/>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cxnSp>
        <p:nvCxnSpPr>
          <p:cNvPr id="20" name="Straight Connector 19"/>
          <p:cNvCxnSpPr/>
          <p:nvPr/>
        </p:nvCxnSpPr>
        <p:spPr>
          <a:xfrm flipH="1">
            <a:off x="6861810" y="1528445"/>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3" name="Text Box 2"/>
          <p:cNvSpPr txBox="1"/>
          <p:nvPr/>
        </p:nvSpPr>
        <p:spPr>
          <a:xfrm>
            <a:off x="5276215" y="3249930"/>
            <a:ext cx="1002665" cy="429895"/>
          </a:xfrm>
          <a:prstGeom prst="rect">
            <a:avLst/>
          </a:prstGeom>
          <a:noFill/>
        </p:spPr>
        <p:txBody>
          <a:bodyPr wrap="square" rtlCol="0">
            <a:noAutofit/>
          </a:bodyPr>
          <a:p>
            <a:pPr algn="l"/>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思考</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a:t>
            </a:r>
            <a:endParaRPr lang="en-US" altLang="zh-CN" sz="2200" b="1">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23" name="Text Box 22"/>
          <p:cNvSpPr txBox="1"/>
          <p:nvPr/>
        </p:nvSpPr>
        <p:spPr>
          <a:xfrm>
            <a:off x="1731010" y="37839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28" name="Oval 27"/>
          <p:cNvSpPr/>
          <p:nvPr/>
        </p:nvSpPr>
        <p:spPr>
          <a:xfrm>
            <a:off x="2413635" y="288607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1" name="Oval 30"/>
          <p:cNvSpPr/>
          <p:nvPr/>
        </p:nvSpPr>
        <p:spPr>
          <a:xfrm>
            <a:off x="2975610" y="333565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4" name="Oval 33"/>
          <p:cNvSpPr/>
          <p:nvPr/>
        </p:nvSpPr>
        <p:spPr>
          <a:xfrm>
            <a:off x="3537585" y="425005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7" name="Oval 36"/>
          <p:cNvSpPr/>
          <p:nvPr/>
        </p:nvSpPr>
        <p:spPr>
          <a:xfrm>
            <a:off x="4099560" y="406717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9" name="Text Box 38"/>
          <p:cNvSpPr txBox="1"/>
          <p:nvPr/>
        </p:nvSpPr>
        <p:spPr>
          <a:xfrm>
            <a:off x="2342515" y="256222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40" name="Text Box 39"/>
          <p:cNvSpPr txBox="1"/>
          <p:nvPr/>
        </p:nvSpPr>
        <p:spPr>
          <a:xfrm>
            <a:off x="2901315" y="297688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41" name="Text Box 40"/>
          <p:cNvSpPr txBox="1"/>
          <p:nvPr/>
        </p:nvSpPr>
        <p:spPr>
          <a:xfrm>
            <a:off x="3442970" y="396748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4</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42" name="Text Box 41"/>
          <p:cNvSpPr txBox="1"/>
          <p:nvPr/>
        </p:nvSpPr>
        <p:spPr>
          <a:xfrm>
            <a:off x="3957955" y="367982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5</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43" name="Straight Connector 42"/>
          <p:cNvCxnSpPr>
            <a:endCxn id="28" idx="3"/>
          </p:cNvCxnSpPr>
          <p:nvPr/>
        </p:nvCxnSpPr>
        <p:spPr>
          <a:xfrm flipV="1">
            <a:off x="1899920" y="2968625"/>
            <a:ext cx="527685" cy="12509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44" name="Straight Connector 43"/>
          <p:cNvCxnSpPr/>
          <p:nvPr/>
        </p:nvCxnSpPr>
        <p:spPr>
          <a:xfrm flipH="1" flipV="1">
            <a:off x="2478405" y="2959100"/>
            <a:ext cx="531495" cy="40513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46" name="Straight Connector 45"/>
          <p:cNvCxnSpPr>
            <a:stCxn id="34" idx="5"/>
          </p:cNvCxnSpPr>
          <p:nvPr/>
        </p:nvCxnSpPr>
        <p:spPr>
          <a:xfrm flipH="1" flipV="1">
            <a:off x="3023870" y="3378835"/>
            <a:ext cx="596265" cy="95377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47" name="Straight Connector 46"/>
          <p:cNvCxnSpPr>
            <a:stCxn id="37" idx="3"/>
          </p:cNvCxnSpPr>
          <p:nvPr/>
        </p:nvCxnSpPr>
        <p:spPr>
          <a:xfrm flipH="1">
            <a:off x="3565525" y="4149725"/>
            <a:ext cx="548005" cy="13525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8" name="Text Box 7"/>
          <p:cNvSpPr txBox="1"/>
          <p:nvPr/>
        </p:nvSpPr>
        <p:spPr>
          <a:xfrm>
            <a:off x="6133465" y="3097530"/>
            <a:ext cx="2868930" cy="429895"/>
          </a:xfrm>
          <a:prstGeom prst="rect">
            <a:avLst/>
          </a:prstGeom>
          <a:noFill/>
        </p:spPr>
        <p:txBody>
          <a:bodyPr wrap="square" rtlCol="0">
            <a:noAutofit/>
          </a:bodyPr>
          <a:p>
            <a:pPr>
              <a:lnSpc>
                <a:spcPct val="150000"/>
              </a:lnSpc>
            </a:pPr>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采样点越多还是越少</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a:t>
            </a:r>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声音的质量越好</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a:t>
            </a:r>
            <a:endParaRPr lang="en-US" altLang="zh-CN" sz="2200" b="1">
              <a:latin typeface="Alibaba PuHuiTi 3.0 85 Bold" panose="00020600040101010101" charset="-122"/>
              <a:ea typeface="Alibaba PuHuiTi 3.0 85 Bold" panose="00020600040101010101" charset="-122"/>
              <a:cs typeface="Alibaba PuHuiTi 3.0 85 Bold" panose="00020600040101010101" charset="-122"/>
            </a:endParaRPr>
          </a:p>
        </p:txBody>
      </p:sp>
      <p:pic>
        <p:nvPicPr>
          <p:cNvPr id="9" name="Picture 8" descr="思考"/>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5422900" y="3659505"/>
            <a:ext cx="456565" cy="456565"/>
          </a:xfrm>
          <a:prstGeom prst="rect">
            <a:avLst/>
          </a:prstGeom>
        </p:spPr>
      </p:pic>
    </p:spTree>
    <p:custDataLst>
      <p:tags r:id="rId5"/>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 name="Group 25"/>
          <p:cNvGrpSpPr/>
          <p:nvPr/>
        </p:nvGrpSpPr>
        <p:grpSpPr>
          <a:xfrm>
            <a:off x="1851660" y="4180840"/>
            <a:ext cx="96520" cy="812800"/>
            <a:chOff x="2916" y="6584"/>
            <a:chExt cx="152" cy="1280"/>
          </a:xfrm>
        </p:grpSpPr>
        <p:sp>
          <p:nvSpPr>
            <p:cNvPr id="69" name="Oval 68"/>
            <p:cNvSpPr/>
            <p:nvPr/>
          </p:nvSpPr>
          <p:spPr>
            <a:xfrm>
              <a:off x="2916" y="6584"/>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71" name="Straight Connector 70"/>
            <p:cNvCxnSpPr/>
            <p:nvPr/>
          </p:nvCxnSpPr>
          <p:spPr>
            <a:xfrm>
              <a:off x="2992" y="6700"/>
              <a:ext cx="0" cy="116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grpSp>
      <p:cxnSp>
        <p:nvCxnSpPr>
          <p:cNvPr id="29" name="Straight Connector 28"/>
          <p:cNvCxnSpPr/>
          <p:nvPr/>
        </p:nvCxnSpPr>
        <p:spPr>
          <a:xfrm>
            <a:off x="2461895" y="2935605"/>
            <a:ext cx="0" cy="200787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2" name="Straight Connector 31"/>
          <p:cNvCxnSpPr>
            <a:stCxn id="31" idx="4"/>
          </p:cNvCxnSpPr>
          <p:nvPr/>
        </p:nvCxnSpPr>
        <p:spPr>
          <a:xfrm>
            <a:off x="3023870" y="3432175"/>
            <a:ext cx="0" cy="151955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5" name="Straight Connector 34"/>
          <p:cNvCxnSpPr/>
          <p:nvPr/>
        </p:nvCxnSpPr>
        <p:spPr>
          <a:xfrm>
            <a:off x="3585845" y="4324350"/>
            <a:ext cx="0" cy="67056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8" name="Straight Connector 37"/>
          <p:cNvCxnSpPr>
            <a:stCxn id="37" idx="4"/>
          </p:cNvCxnSpPr>
          <p:nvPr/>
        </p:nvCxnSpPr>
        <p:spPr>
          <a:xfrm>
            <a:off x="4147820" y="4163695"/>
            <a:ext cx="0" cy="83121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2" name="Title 1"/>
          <p:cNvSpPr>
            <a:spLocks noGrp="1"/>
          </p:cNvSpPr>
          <p:nvPr>
            <p:ph type="title"/>
            <p:custDataLst>
              <p:tags r:id="rId1"/>
            </p:custDataLst>
          </p:nvPr>
        </p:nvSpPr>
        <p:spPr/>
        <p:txBody>
          <a:bodyPr>
            <a:normAutofit/>
          </a:bodyPr>
          <a:p>
            <a:r>
              <a:rPr lang="zh-CN" altLang="en-US"/>
              <a:t>怎样才能把声音（模拟信号</a:t>
            </a:r>
            <a:r>
              <a:rPr lang="en-US" altLang="zh-CN"/>
              <a:t>）</a:t>
            </a:r>
            <a:r>
              <a:rPr lang="zh-CN" altLang="en-US"/>
              <a:t>是转成数字信号</a:t>
            </a:r>
            <a:r>
              <a:rPr lang="en-US"/>
              <a:t>？</a:t>
            </a:r>
            <a:endParaRPr lang="en-US"/>
          </a:p>
        </p:txBody>
      </p:sp>
      <p:cxnSp>
        <p:nvCxnSpPr>
          <p:cNvPr id="57" name="Straight Connector 56"/>
          <p:cNvCxnSpPr/>
          <p:nvPr/>
        </p:nvCxnSpPr>
        <p:spPr>
          <a:xfrm>
            <a:off x="1525270" y="2207895"/>
            <a:ext cx="0" cy="274320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21" name="Straight Connector 20"/>
          <p:cNvCxnSpPr/>
          <p:nvPr/>
        </p:nvCxnSpPr>
        <p:spPr>
          <a:xfrm flipH="1">
            <a:off x="1524000" y="4959350"/>
            <a:ext cx="312737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4" name="Text Box 3"/>
          <p:cNvSpPr txBox="1"/>
          <p:nvPr/>
        </p:nvSpPr>
        <p:spPr>
          <a:xfrm>
            <a:off x="616585" y="2207895"/>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振幅</a:t>
            </a:r>
            <a:endParaRPr lang="zh-CN" altLang="en-US" sz="2200">
              <a:latin typeface="Alibaba PuHuiTi 3.0 55 Regular" panose="00020600040101010101" charset="-122"/>
              <a:ea typeface="Alibaba PuHuiTi 3.0 55 Regular" panose="00020600040101010101" charset="-122"/>
            </a:endParaRPr>
          </a:p>
        </p:txBody>
      </p:sp>
      <p:sp>
        <p:nvSpPr>
          <p:cNvPr id="5" name="Text Box 4"/>
          <p:cNvSpPr txBox="1"/>
          <p:nvPr/>
        </p:nvSpPr>
        <p:spPr>
          <a:xfrm>
            <a:off x="4388485" y="5029200"/>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6" name="Freeform 5"/>
          <p:cNvSpPr/>
          <p:nvPr/>
        </p:nvSpPr>
        <p:spPr>
          <a:xfrm>
            <a:off x="1740535" y="2938780"/>
            <a:ext cx="2518410" cy="1645285"/>
          </a:xfrm>
          <a:custGeom>
            <a:avLst/>
            <a:gdLst>
              <a:gd name="connisteX0" fmla="*/ 0 w 2518410"/>
              <a:gd name="connsiteY0" fmla="*/ 1645002 h 1645002"/>
              <a:gd name="connisteX1" fmla="*/ 25400 w 2518410"/>
              <a:gd name="connsiteY1" fmla="*/ 1519907 h 1645002"/>
              <a:gd name="connisteX2" fmla="*/ 142240 w 2518410"/>
              <a:gd name="connsiteY2" fmla="*/ 1328137 h 1645002"/>
              <a:gd name="connisteX3" fmla="*/ 225425 w 2518410"/>
              <a:gd name="connsiteY3" fmla="*/ 1178277 h 1645002"/>
              <a:gd name="connisteX4" fmla="*/ 275590 w 2518410"/>
              <a:gd name="connsiteY4" fmla="*/ 1077947 h 1645002"/>
              <a:gd name="connisteX5" fmla="*/ 325120 w 2518410"/>
              <a:gd name="connsiteY5" fmla="*/ 978252 h 1645002"/>
              <a:gd name="connisteX6" fmla="*/ 358775 w 2518410"/>
              <a:gd name="connsiteY6" fmla="*/ 877922 h 1645002"/>
              <a:gd name="connisteX7" fmla="*/ 383540 w 2518410"/>
              <a:gd name="connsiteY7" fmla="*/ 811247 h 1645002"/>
              <a:gd name="connisteX8" fmla="*/ 400685 w 2518410"/>
              <a:gd name="connsiteY8" fmla="*/ 728062 h 1645002"/>
              <a:gd name="connisteX9" fmla="*/ 441960 w 2518410"/>
              <a:gd name="connsiteY9" fmla="*/ 611222 h 1645002"/>
              <a:gd name="connisteX10" fmla="*/ 459105 w 2518410"/>
              <a:gd name="connsiteY10" fmla="*/ 544547 h 1645002"/>
              <a:gd name="connisteX11" fmla="*/ 492125 w 2518410"/>
              <a:gd name="connsiteY11" fmla="*/ 419452 h 1645002"/>
              <a:gd name="connisteX12" fmla="*/ 525780 w 2518410"/>
              <a:gd name="connsiteY12" fmla="*/ 310867 h 1645002"/>
              <a:gd name="connisteX13" fmla="*/ 550545 w 2518410"/>
              <a:gd name="connsiteY13" fmla="*/ 227682 h 1645002"/>
              <a:gd name="connisteX14" fmla="*/ 567055 w 2518410"/>
              <a:gd name="connsiteY14" fmla="*/ 161007 h 1645002"/>
              <a:gd name="connisteX15" fmla="*/ 584200 w 2518410"/>
              <a:gd name="connsiteY15" fmla="*/ 94332 h 1645002"/>
              <a:gd name="connisteX16" fmla="*/ 625475 w 2518410"/>
              <a:gd name="connsiteY16" fmla="*/ 27657 h 1645002"/>
              <a:gd name="connisteX17" fmla="*/ 692150 w 2518410"/>
              <a:gd name="connsiteY17" fmla="*/ 10512 h 1645002"/>
              <a:gd name="connisteX18" fmla="*/ 784225 w 2518410"/>
              <a:gd name="connsiteY18" fmla="*/ 2257 h 1645002"/>
              <a:gd name="connisteX19" fmla="*/ 859155 w 2518410"/>
              <a:gd name="connsiteY19" fmla="*/ 2257 h 1645002"/>
              <a:gd name="connisteX20" fmla="*/ 925830 w 2518410"/>
              <a:gd name="connsiteY20" fmla="*/ 2257 h 1645002"/>
              <a:gd name="connisteX21" fmla="*/ 1000760 w 2518410"/>
              <a:gd name="connsiteY21" fmla="*/ 27657 h 1645002"/>
              <a:gd name="connisteX22" fmla="*/ 1067435 w 2518410"/>
              <a:gd name="connsiteY22" fmla="*/ 77187 h 1645002"/>
              <a:gd name="connisteX23" fmla="*/ 1125855 w 2518410"/>
              <a:gd name="connsiteY23" fmla="*/ 152752 h 1645002"/>
              <a:gd name="connisteX24" fmla="*/ 1176020 w 2518410"/>
              <a:gd name="connsiteY24" fmla="*/ 235937 h 1645002"/>
              <a:gd name="connisteX25" fmla="*/ 1217930 w 2518410"/>
              <a:gd name="connsiteY25" fmla="*/ 302612 h 1645002"/>
              <a:gd name="connisteX26" fmla="*/ 1242695 w 2518410"/>
              <a:gd name="connsiteY26" fmla="*/ 369287 h 1645002"/>
              <a:gd name="connisteX27" fmla="*/ 1276350 w 2518410"/>
              <a:gd name="connsiteY27" fmla="*/ 435962 h 1645002"/>
              <a:gd name="connisteX28" fmla="*/ 1309370 w 2518410"/>
              <a:gd name="connsiteY28" fmla="*/ 502637 h 1645002"/>
              <a:gd name="connisteX29" fmla="*/ 1351280 w 2518410"/>
              <a:gd name="connsiteY29" fmla="*/ 594712 h 1645002"/>
              <a:gd name="connisteX30" fmla="*/ 1384300 w 2518410"/>
              <a:gd name="connsiteY30" fmla="*/ 686152 h 1645002"/>
              <a:gd name="connisteX31" fmla="*/ 1417955 w 2518410"/>
              <a:gd name="connsiteY31" fmla="*/ 769972 h 1645002"/>
              <a:gd name="connisteX32" fmla="*/ 1450975 w 2518410"/>
              <a:gd name="connsiteY32" fmla="*/ 844902 h 1645002"/>
              <a:gd name="connisteX33" fmla="*/ 1476375 w 2518410"/>
              <a:gd name="connsiteY33" fmla="*/ 911577 h 1645002"/>
              <a:gd name="connisteX34" fmla="*/ 1501140 w 2518410"/>
              <a:gd name="connsiteY34" fmla="*/ 1003017 h 1645002"/>
              <a:gd name="connisteX35" fmla="*/ 1526540 w 2518410"/>
              <a:gd name="connsiteY35" fmla="*/ 1077947 h 1645002"/>
              <a:gd name="connisteX36" fmla="*/ 1551305 w 2518410"/>
              <a:gd name="connsiteY36" fmla="*/ 1153512 h 1645002"/>
              <a:gd name="connisteX37" fmla="*/ 1601470 w 2518410"/>
              <a:gd name="connsiteY37" fmla="*/ 1220187 h 1645002"/>
              <a:gd name="connisteX38" fmla="*/ 1676400 w 2518410"/>
              <a:gd name="connsiteY38" fmla="*/ 1269717 h 1645002"/>
              <a:gd name="connisteX39" fmla="*/ 1743075 w 2518410"/>
              <a:gd name="connsiteY39" fmla="*/ 1319882 h 1645002"/>
              <a:gd name="connisteX40" fmla="*/ 1809750 w 2518410"/>
              <a:gd name="connsiteY40" fmla="*/ 1353537 h 1645002"/>
              <a:gd name="connisteX41" fmla="*/ 1876425 w 2518410"/>
              <a:gd name="connsiteY41" fmla="*/ 1386557 h 1645002"/>
              <a:gd name="connisteX42" fmla="*/ 1951355 w 2518410"/>
              <a:gd name="connsiteY42" fmla="*/ 1411957 h 1645002"/>
              <a:gd name="connisteX43" fmla="*/ 2035175 w 2518410"/>
              <a:gd name="connsiteY43" fmla="*/ 1436722 h 1645002"/>
              <a:gd name="connisteX44" fmla="*/ 2110105 w 2518410"/>
              <a:gd name="connsiteY44" fmla="*/ 1453232 h 1645002"/>
              <a:gd name="connisteX45" fmla="*/ 2185035 w 2518410"/>
              <a:gd name="connsiteY45" fmla="*/ 1453232 h 1645002"/>
              <a:gd name="connisteX46" fmla="*/ 2251710 w 2518410"/>
              <a:gd name="connsiteY46" fmla="*/ 1444977 h 1645002"/>
              <a:gd name="connisteX47" fmla="*/ 2301875 w 2518410"/>
              <a:gd name="connsiteY47" fmla="*/ 1378302 h 1645002"/>
              <a:gd name="connisteX48" fmla="*/ 2343785 w 2518410"/>
              <a:gd name="connsiteY48" fmla="*/ 1311627 h 1645002"/>
              <a:gd name="connisteX49" fmla="*/ 2368550 w 2518410"/>
              <a:gd name="connsiteY49" fmla="*/ 1236697 h 1645002"/>
              <a:gd name="connisteX50" fmla="*/ 2402205 w 2518410"/>
              <a:gd name="connsiteY50" fmla="*/ 1161767 h 1645002"/>
              <a:gd name="connisteX51" fmla="*/ 2426970 w 2518410"/>
              <a:gd name="connsiteY51" fmla="*/ 1086837 h 1645002"/>
              <a:gd name="connisteX52" fmla="*/ 2468880 w 2518410"/>
              <a:gd name="connsiteY52" fmla="*/ 1019527 h 1645002"/>
              <a:gd name="connisteX53" fmla="*/ 2518410 w 2518410"/>
              <a:gd name="connsiteY53" fmla="*/ 944597 h 164500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Lst>
            <a:rect l="l" t="t" r="r" b="b"/>
            <a:pathLst>
              <a:path w="2518410" h="1645003">
                <a:moveTo>
                  <a:pt x="0" y="1645003"/>
                </a:moveTo>
                <a:cubicBezTo>
                  <a:pt x="2540" y="1624048"/>
                  <a:pt x="-3175" y="1583408"/>
                  <a:pt x="25400" y="1519908"/>
                </a:cubicBezTo>
                <a:cubicBezTo>
                  <a:pt x="53975" y="1456408"/>
                  <a:pt x="102235" y="1396718"/>
                  <a:pt x="142240" y="1328138"/>
                </a:cubicBezTo>
                <a:cubicBezTo>
                  <a:pt x="182245" y="1259558"/>
                  <a:pt x="198755" y="1228443"/>
                  <a:pt x="225425" y="1178278"/>
                </a:cubicBezTo>
                <a:cubicBezTo>
                  <a:pt x="252095" y="1128113"/>
                  <a:pt x="255905" y="1117953"/>
                  <a:pt x="275590" y="1077948"/>
                </a:cubicBezTo>
                <a:cubicBezTo>
                  <a:pt x="295275" y="1037943"/>
                  <a:pt x="308610" y="1018258"/>
                  <a:pt x="325120" y="978253"/>
                </a:cubicBezTo>
                <a:cubicBezTo>
                  <a:pt x="341630" y="938248"/>
                  <a:pt x="347345" y="911578"/>
                  <a:pt x="358775" y="877923"/>
                </a:cubicBezTo>
                <a:cubicBezTo>
                  <a:pt x="370205" y="844268"/>
                  <a:pt x="375285" y="841093"/>
                  <a:pt x="383540" y="811248"/>
                </a:cubicBezTo>
                <a:cubicBezTo>
                  <a:pt x="391795" y="781403"/>
                  <a:pt x="389255" y="768068"/>
                  <a:pt x="400685" y="728063"/>
                </a:cubicBezTo>
                <a:cubicBezTo>
                  <a:pt x="412115" y="688058"/>
                  <a:pt x="430530" y="648053"/>
                  <a:pt x="441960" y="611223"/>
                </a:cubicBezTo>
                <a:cubicBezTo>
                  <a:pt x="453390" y="574393"/>
                  <a:pt x="448945" y="582648"/>
                  <a:pt x="459105" y="544548"/>
                </a:cubicBezTo>
                <a:cubicBezTo>
                  <a:pt x="469265" y="506448"/>
                  <a:pt x="478790" y="466443"/>
                  <a:pt x="492125" y="419453"/>
                </a:cubicBezTo>
                <a:cubicBezTo>
                  <a:pt x="505460" y="372463"/>
                  <a:pt x="514350" y="348968"/>
                  <a:pt x="525780" y="310868"/>
                </a:cubicBezTo>
                <a:cubicBezTo>
                  <a:pt x="537210" y="272768"/>
                  <a:pt x="542290" y="257528"/>
                  <a:pt x="550545" y="227683"/>
                </a:cubicBezTo>
                <a:cubicBezTo>
                  <a:pt x="558800" y="197838"/>
                  <a:pt x="560070" y="187678"/>
                  <a:pt x="567055" y="161008"/>
                </a:cubicBezTo>
                <a:cubicBezTo>
                  <a:pt x="574040" y="134338"/>
                  <a:pt x="572770" y="121003"/>
                  <a:pt x="584200" y="94333"/>
                </a:cubicBezTo>
                <a:cubicBezTo>
                  <a:pt x="595630" y="67663"/>
                  <a:pt x="603885" y="44168"/>
                  <a:pt x="625475" y="27658"/>
                </a:cubicBezTo>
                <a:cubicBezTo>
                  <a:pt x="647065" y="11148"/>
                  <a:pt x="660400" y="15593"/>
                  <a:pt x="692150" y="10513"/>
                </a:cubicBezTo>
                <a:cubicBezTo>
                  <a:pt x="723900" y="5433"/>
                  <a:pt x="750570" y="4163"/>
                  <a:pt x="784225" y="2258"/>
                </a:cubicBezTo>
                <a:cubicBezTo>
                  <a:pt x="817880" y="353"/>
                  <a:pt x="830580" y="2258"/>
                  <a:pt x="859155" y="2258"/>
                </a:cubicBezTo>
                <a:cubicBezTo>
                  <a:pt x="887730" y="2258"/>
                  <a:pt x="897255" y="-2822"/>
                  <a:pt x="925830" y="2258"/>
                </a:cubicBezTo>
                <a:cubicBezTo>
                  <a:pt x="954405" y="7338"/>
                  <a:pt x="972185" y="12418"/>
                  <a:pt x="1000760" y="27658"/>
                </a:cubicBezTo>
                <a:cubicBezTo>
                  <a:pt x="1029335" y="42898"/>
                  <a:pt x="1042670" y="52423"/>
                  <a:pt x="1067435" y="77188"/>
                </a:cubicBezTo>
                <a:cubicBezTo>
                  <a:pt x="1092200" y="101953"/>
                  <a:pt x="1104265" y="121003"/>
                  <a:pt x="1125855" y="152753"/>
                </a:cubicBezTo>
                <a:cubicBezTo>
                  <a:pt x="1147445" y="184503"/>
                  <a:pt x="1157605" y="206093"/>
                  <a:pt x="1176020" y="235938"/>
                </a:cubicBezTo>
                <a:cubicBezTo>
                  <a:pt x="1194435" y="265783"/>
                  <a:pt x="1204595" y="275943"/>
                  <a:pt x="1217930" y="302613"/>
                </a:cubicBezTo>
                <a:cubicBezTo>
                  <a:pt x="1231265" y="329283"/>
                  <a:pt x="1231265" y="342618"/>
                  <a:pt x="1242695" y="369288"/>
                </a:cubicBezTo>
                <a:cubicBezTo>
                  <a:pt x="1254125" y="395958"/>
                  <a:pt x="1263015" y="409293"/>
                  <a:pt x="1276350" y="435963"/>
                </a:cubicBezTo>
                <a:cubicBezTo>
                  <a:pt x="1289685" y="462633"/>
                  <a:pt x="1294130" y="470888"/>
                  <a:pt x="1309370" y="502638"/>
                </a:cubicBezTo>
                <a:cubicBezTo>
                  <a:pt x="1324610" y="534388"/>
                  <a:pt x="1336040" y="557883"/>
                  <a:pt x="1351280" y="594713"/>
                </a:cubicBezTo>
                <a:cubicBezTo>
                  <a:pt x="1366520" y="631543"/>
                  <a:pt x="1370965" y="651228"/>
                  <a:pt x="1384300" y="686153"/>
                </a:cubicBezTo>
                <a:cubicBezTo>
                  <a:pt x="1397635" y="721078"/>
                  <a:pt x="1404620" y="738223"/>
                  <a:pt x="1417955" y="769973"/>
                </a:cubicBezTo>
                <a:cubicBezTo>
                  <a:pt x="1431290" y="801723"/>
                  <a:pt x="1439545" y="816328"/>
                  <a:pt x="1450975" y="844903"/>
                </a:cubicBezTo>
                <a:cubicBezTo>
                  <a:pt x="1462405" y="873478"/>
                  <a:pt x="1466215" y="879828"/>
                  <a:pt x="1476375" y="911578"/>
                </a:cubicBezTo>
                <a:cubicBezTo>
                  <a:pt x="1486535" y="943328"/>
                  <a:pt x="1490980" y="969998"/>
                  <a:pt x="1501140" y="1003018"/>
                </a:cubicBezTo>
                <a:cubicBezTo>
                  <a:pt x="1511300" y="1036038"/>
                  <a:pt x="1516380" y="1048103"/>
                  <a:pt x="1526540" y="1077948"/>
                </a:cubicBezTo>
                <a:cubicBezTo>
                  <a:pt x="1536700" y="1107793"/>
                  <a:pt x="1536065" y="1124938"/>
                  <a:pt x="1551305" y="1153513"/>
                </a:cubicBezTo>
                <a:cubicBezTo>
                  <a:pt x="1566545" y="1182088"/>
                  <a:pt x="1576705" y="1196693"/>
                  <a:pt x="1601470" y="1220188"/>
                </a:cubicBezTo>
                <a:cubicBezTo>
                  <a:pt x="1626235" y="1243683"/>
                  <a:pt x="1647825" y="1250033"/>
                  <a:pt x="1676400" y="1269718"/>
                </a:cubicBezTo>
                <a:cubicBezTo>
                  <a:pt x="1704975" y="1289403"/>
                  <a:pt x="1716405" y="1303373"/>
                  <a:pt x="1743075" y="1319883"/>
                </a:cubicBezTo>
                <a:cubicBezTo>
                  <a:pt x="1769745" y="1336393"/>
                  <a:pt x="1783080" y="1340203"/>
                  <a:pt x="1809750" y="1353538"/>
                </a:cubicBezTo>
                <a:cubicBezTo>
                  <a:pt x="1836420" y="1366873"/>
                  <a:pt x="1847850" y="1375128"/>
                  <a:pt x="1876425" y="1386558"/>
                </a:cubicBezTo>
                <a:cubicBezTo>
                  <a:pt x="1905000" y="1397988"/>
                  <a:pt x="1919605" y="1401798"/>
                  <a:pt x="1951355" y="1411958"/>
                </a:cubicBezTo>
                <a:cubicBezTo>
                  <a:pt x="1983105" y="1422118"/>
                  <a:pt x="2003425" y="1428468"/>
                  <a:pt x="2035175" y="1436723"/>
                </a:cubicBezTo>
                <a:cubicBezTo>
                  <a:pt x="2066925" y="1444978"/>
                  <a:pt x="2080260" y="1450058"/>
                  <a:pt x="2110105" y="1453233"/>
                </a:cubicBezTo>
                <a:cubicBezTo>
                  <a:pt x="2139950" y="1456408"/>
                  <a:pt x="2156460" y="1455138"/>
                  <a:pt x="2185035" y="1453233"/>
                </a:cubicBezTo>
                <a:cubicBezTo>
                  <a:pt x="2213610" y="1451328"/>
                  <a:pt x="2228215" y="1460218"/>
                  <a:pt x="2251710" y="1444978"/>
                </a:cubicBezTo>
                <a:cubicBezTo>
                  <a:pt x="2275205" y="1429738"/>
                  <a:pt x="2283460" y="1404973"/>
                  <a:pt x="2301875" y="1378303"/>
                </a:cubicBezTo>
                <a:cubicBezTo>
                  <a:pt x="2320290" y="1351633"/>
                  <a:pt x="2330450" y="1340203"/>
                  <a:pt x="2343785" y="1311628"/>
                </a:cubicBezTo>
                <a:cubicBezTo>
                  <a:pt x="2357120" y="1283053"/>
                  <a:pt x="2357120" y="1266543"/>
                  <a:pt x="2368550" y="1236698"/>
                </a:cubicBezTo>
                <a:cubicBezTo>
                  <a:pt x="2379980" y="1206853"/>
                  <a:pt x="2390775" y="1191613"/>
                  <a:pt x="2402205" y="1161768"/>
                </a:cubicBezTo>
                <a:cubicBezTo>
                  <a:pt x="2413635" y="1131923"/>
                  <a:pt x="2413635" y="1115413"/>
                  <a:pt x="2426970" y="1086838"/>
                </a:cubicBezTo>
                <a:cubicBezTo>
                  <a:pt x="2440305" y="1058263"/>
                  <a:pt x="2450465" y="1048103"/>
                  <a:pt x="2468880" y="1019528"/>
                </a:cubicBezTo>
                <a:cubicBezTo>
                  <a:pt x="2487295" y="990953"/>
                  <a:pt x="2509520" y="957933"/>
                  <a:pt x="2518410" y="944598"/>
                </a:cubicBezTo>
              </a:path>
            </a:pathLst>
          </a:custGeom>
          <a:noFill/>
          <a:ln w="38100">
            <a:solidFill>
              <a:schemeClr val="tx1"/>
            </a:solidFill>
          </a:ln>
        </p:spPr>
        <p:txBody>
          <a:bodyPr vert="horz" lIns="90000" tIns="46800" rIns="90000" bIns="46800" rtlCol="0" anchor="ctr" anchorCtr="0">
            <a:noAutofit/>
          </a:bodyPr>
          <a:p>
            <a:endParaRPr lang="zh-CN" altLang="en-US" sz="2445">
              <a:solidFill>
                <a:schemeClr val="tx1"/>
              </a:solidFill>
            </a:endParaRPr>
          </a:p>
        </p:txBody>
      </p:sp>
      <p:sp>
        <p:nvSpPr>
          <p:cNvPr id="7" name="Text Box 6"/>
          <p:cNvSpPr txBox="1"/>
          <p:nvPr/>
        </p:nvSpPr>
        <p:spPr>
          <a:xfrm>
            <a:off x="1682115" y="5029200"/>
            <a:ext cx="296926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14" name="Text Box 13"/>
          <p:cNvSpPr txBox="1"/>
          <p:nvPr/>
        </p:nvSpPr>
        <p:spPr>
          <a:xfrm>
            <a:off x="691515" y="1313815"/>
            <a:ext cx="2547620" cy="429895"/>
          </a:xfrm>
          <a:prstGeom prst="rect">
            <a:avLst/>
          </a:prstGeom>
          <a:noFill/>
        </p:spPr>
        <p:txBody>
          <a:bodyPr wrap="square" rtlCol="0">
            <a:noAutofit/>
          </a:bodyPr>
          <a:p>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1. </a:t>
            </a:r>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采样</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 Sampling</a:t>
            </a:r>
            <a:endParaRPr lang="en-US" altLang="zh-CN" sz="2200" b="1">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17" name="Text Box 16"/>
          <p:cNvSpPr txBox="1"/>
          <p:nvPr/>
        </p:nvSpPr>
        <p:spPr>
          <a:xfrm>
            <a:off x="3860165" y="1313815"/>
            <a:ext cx="3038475" cy="429895"/>
          </a:xfrm>
          <a:prstGeom prst="rect">
            <a:avLst/>
          </a:prstGeom>
          <a:noFill/>
        </p:spPr>
        <p:txBody>
          <a:bodyPr wrap="square" rtlCol="0">
            <a:spAutoFit/>
          </a:bodyPr>
          <a:p>
            <a:r>
              <a:rPr lang="en-US" altLang="zh-CN" sz="2200">
                <a:latin typeface="Alibaba PuHuiTi 3.0 55 Regular" panose="00020600040101010101" charset="-122"/>
                <a:ea typeface="Alibaba PuHuiTi 3.0 55 Regular" panose="00020600040101010101" charset="-122"/>
              </a:rPr>
              <a:t>2. </a:t>
            </a:r>
            <a:r>
              <a:rPr lang="zh-CN" altLang="en-US" sz="2200">
                <a:latin typeface="Alibaba PuHuiTi 3.0 55 Regular" panose="00020600040101010101" charset="-122"/>
                <a:ea typeface="Alibaba PuHuiTi 3.0 55 Regular" panose="00020600040101010101" charset="-122"/>
              </a:rPr>
              <a:t>量化</a:t>
            </a:r>
            <a:r>
              <a:rPr lang="en-US" altLang="zh-CN" sz="2200">
                <a:latin typeface="Alibaba PuHuiTi 3.0 55 Regular" panose="00020600040101010101" charset="-122"/>
                <a:ea typeface="Alibaba PuHuiTi 3.0 55 Regular" panose="00020600040101010101" charset="-122"/>
              </a:rPr>
              <a:t> </a:t>
            </a:r>
            <a:r>
              <a:rPr lang="en-US" altLang="zh-CN" sz="2200">
                <a:latin typeface="Alibaba PuHuiTi 3.0 55 Regular" panose="00020600040101010101" charset="-122"/>
                <a:ea typeface="Alibaba PuHuiTi 3.0 55 Regular" panose="00020600040101010101" charset="-122"/>
              </a:rPr>
              <a:t>Quantization</a:t>
            </a:r>
            <a:endParaRPr lang="en-US" altLang="zh-CN" sz="2200">
              <a:latin typeface="Alibaba PuHuiTi 3.0 55 Regular" panose="00020600040101010101" charset="-122"/>
              <a:ea typeface="Alibaba PuHuiTi 3.0 55 Regular" panose="00020600040101010101" charset="-122"/>
            </a:endParaRPr>
          </a:p>
        </p:txBody>
      </p:sp>
      <p:sp>
        <p:nvSpPr>
          <p:cNvPr id="18" name="Text Box 17"/>
          <p:cNvSpPr txBox="1"/>
          <p:nvPr/>
        </p:nvSpPr>
        <p:spPr>
          <a:xfrm>
            <a:off x="7519670" y="1313815"/>
            <a:ext cx="3822065" cy="429895"/>
          </a:xfrm>
          <a:prstGeom prst="rect">
            <a:avLst/>
          </a:prstGeom>
          <a:noFill/>
        </p:spPr>
        <p:txBody>
          <a:bodyPr wrap="square" rtlCol="0">
            <a:spAutoFit/>
          </a:bodyPr>
          <a:p>
            <a:r>
              <a:rPr lang="en-US" altLang="zh-CN" sz="2200">
                <a:latin typeface="Alibaba PuHuiTi 3.0 55 Regular" panose="00020600040101010101" charset="-122"/>
                <a:ea typeface="Alibaba PuHuiTi 3.0 55 Regular" panose="00020600040101010101" charset="-122"/>
              </a:rPr>
              <a:t>3. </a:t>
            </a:r>
            <a:r>
              <a:rPr lang="zh-CN" altLang="en-US" sz="2200">
                <a:latin typeface="Alibaba PuHuiTi 3.0 55 Regular" panose="00020600040101010101" charset="-122"/>
                <a:ea typeface="Alibaba PuHuiTi 3.0 55 Regular" panose="00020600040101010101" charset="-122"/>
              </a:rPr>
              <a:t>编码</a:t>
            </a:r>
            <a:r>
              <a:rPr lang="en-US" altLang="zh-CN" sz="2200">
                <a:latin typeface="Alibaba PuHuiTi 3.0 55 Regular" panose="00020600040101010101" charset="-122"/>
                <a:ea typeface="Alibaba PuHuiTi 3.0 55 Regular" panose="00020600040101010101" charset="-122"/>
              </a:rPr>
              <a:t> </a:t>
            </a:r>
            <a:r>
              <a:rPr lang="en-US" altLang="zh-CN" sz="2200">
                <a:latin typeface="Alibaba PuHuiTi 3.0 55 Regular" panose="00020600040101010101" charset="-122"/>
                <a:ea typeface="Alibaba PuHuiTi 3.0 55 Regular" panose="00020600040101010101" charset="-122"/>
              </a:rPr>
              <a:t>Encoding</a:t>
            </a:r>
            <a:endParaRPr lang="en-US" altLang="zh-CN" sz="2200">
              <a:latin typeface="Alibaba PuHuiTi 3.0 55 Regular" panose="00020600040101010101" charset="-122"/>
              <a:ea typeface="Alibaba PuHuiTi 3.0 55 Regular" panose="00020600040101010101" charset="-122"/>
            </a:endParaRPr>
          </a:p>
        </p:txBody>
      </p:sp>
      <p:cxnSp>
        <p:nvCxnSpPr>
          <p:cNvPr id="19" name="Straight Connector 18"/>
          <p:cNvCxnSpPr/>
          <p:nvPr/>
        </p:nvCxnSpPr>
        <p:spPr>
          <a:xfrm flipH="1">
            <a:off x="3202305" y="1528445"/>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cxnSp>
        <p:nvCxnSpPr>
          <p:cNvPr id="20" name="Straight Connector 19"/>
          <p:cNvCxnSpPr/>
          <p:nvPr/>
        </p:nvCxnSpPr>
        <p:spPr>
          <a:xfrm flipH="1">
            <a:off x="6861810" y="1528445"/>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3" name="Text Box 2"/>
          <p:cNvSpPr txBox="1"/>
          <p:nvPr/>
        </p:nvSpPr>
        <p:spPr>
          <a:xfrm>
            <a:off x="5276215" y="3249930"/>
            <a:ext cx="1002665" cy="429895"/>
          </a:xfrm>
          <a:prstGeom prst="rect">
            <a:avLst/>
          </a:prstGeom>
          <a:noFill/>
        </p:spPr>
        <p:txBody>
          <a:bodyPr wrap="square" rtlCol="0">
            <a:noAutofit/>
          </a:bodyPr>
          <a:p>
            <a:pPr algn="l"/>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思考</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a:t>
            </a:r>
            <a:endParaRPr lang="en-US" altLang="zh-CN" sz="2200" b="1">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23" name="Text Box 22"/>
          <p:cNvSpPr txBox="1"/>
          <p:nvPr/>
        </p:nvSpPr>
        <p:spPr>
          <a:xfrm>
            <a:off x="1731010" y="37839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28" name="Oval 27"/>
          <p:cNvSpPr/>
          <p:nvPr/>
        </p:nvSpPr>
        <p:spPr>
          <a:xfrm>
            <a:off x="2413635" y="288607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1" name="Oval 30"/>
          <p:cNvSpPr/>
          <p:nvPr/>
        </p:nvSpPr>
        <p:spPr>
          <a:xfrm>
            <a:off x="2975610" y="333565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4" name="Oval 33"/>
          <p:cNvSpPr/>
          <p:nvPr/>
        </p:nvSpPr>
        <p:spPr>
          <a:xfrm>
            <a:off x="3537585" y="425005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7" name="Oval 36"/>
          <p:cNvSpPr/>
          <p:nvPr/>
        </p:nvSpPr>
        <p:spPr>
          <a:xfrm>
            <a:off x="4099560" y="406717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9" name="Text Box 38"/>
          <p:cNvSpPr txBox="1"/>
          <p:nvPr/>
        </p:nvSpPr>
        <p:spPr>
          <a:xfrm>
            <a:off x="2342515" y="256222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40" name="Text Box 39"/>
          <p:cNvSpPr txBox="1"/>
          <p:nvPr/>
        </p:nvSpPr>
        <p:spPr>
          <a:xfrm>
            <a:off x="2901315" y="297688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41" name="Text Box 40"/>
          <p:cNvSpPr txBox="1"/>
          <p:nvPr/>
        </p:nvSpPr>
        <p:spPr>
          <a:xfrm>
            <a:off x="3442970" y="396748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4</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42" name="Text Box 41"/>
          <p:cNvSpPr txBox="1"/>
          <p:nvPr/>
        </p:nvSpPr>
        <p:spPr>
          <a:xfrm>
            <a:off x="3957955" y="367982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5</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43" name="Straight Connector 42"/>
          <p:cNvCxnSpPr>
            <a:endCxn id="28" idx="3"/>
          </p:cNvCxnSpPr>
          <p:nvPr/>
        </p:nvCxnSpPr>
        <p:spPr>
          <a:xfrm flipV="1">
            <a:off x="1899920" y="2968625"/>
            <a:ext cx="527685" cy="12509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44" name="Straight Connector 43"/>
          <p:cNvCxnSpPr/>
          <p:nvPr/>
        </p:nvCxnSpPr>
        <p:spPr>
          <a:xfrm flipH="1" flipV="1">
            <a:off x="2478405" y="2959100"/>
            <a:ext cx="531495" cy="40513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46" name="Straight Connector 45"/>
          <p:cNvCxnSpPr>
            <a:stCxn id="34" idx="5"/>
          </p:cNvCxnSpPr>
          <p:nvPr/>
        </p:nvCxnSpPr>
        <p:spPr>
          <a:xfrm flipH="1" flipV="1">
            <a:off x="3023870" y="3378835"/>
            <a:ext cx="596265" cy="95377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47" name="Straight Connector 46"/>
          <p:cNvCxnSpPr>
            <a:stCxn id="37" idx="3"/>
          </p:cNvCxnSpPr>
          <p:nvPr/>
        </p:nvCxnSpPr>
        <p:spPr>
          <a:xfrm flipH="1">
            <a:off x="3565525" y="4149725"/>
            <a:ext cx="548005" cy="13525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8" name="Text Box 7"/>
          <p:cNvSpPr txBox="1"/>
          <p:nvPr/>
        </p:nvSpPr>
        <p:spPr>
          <a:xfrm>
            <a:off x="6133465" y="3097530"/>
            <a:ext cx="3038475" cy="1083310"/>
          </a:xfrm>
          <a:prstGeom prst="rect">
            <a:avLst/>
          </a:prstGeom>
          <a:noFill/>
        </p:spPr>
        <p:txBody>
          <a:bodyPr wrap="square" rtlCol="0">
            <a:noAutofit/>
          </a:bodyPr>
          <a:p>
            <a:pPr>
              <a:lnSpc>
                <a:spcPct val="150000"/>
              </a:lnSpc>
            </a:pPr>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采样点越多还是越少</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a:t>
            </a:r>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声音的质量越好</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a:t>
            </a:r>
            <a:endParaRPr lang="en-US" altLang="zh-CN" sz="2200" b="1">
              <a:latin typeface="Alibaba PuHuiTi 3.0 85 Bold" panose="00020600040101010101" charset="-122"/>
              <a:ea typeface="Alibaba PuHuiTi 3.0 85 Bold" panose="00020600040101010101" charset="-122"/>
              <a:cs typeface="Alibaba PuHuiTi 3.0 85 Bold" panose="00020600040101010101" charset="-122"/>
            </a:endParaRPr>
          </a:p>
          <a:p>
            <a:pPr>
              <a:lnSpc>
                <a:spcPct val="150000"/>
              </a:lnSpc>
            </a:pPr>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采样点越多</a:t>
            </a:r>
            <a:r>
              <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a:t>
            </a:r>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效果越好</a:t>
            </a:r>
            <a:r>
              <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a:t>
            </a:r>
            <a:endPar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endParaRPr>
          </a:p>
        </p:txBody>
      </p:sp>
      <p:pic>
        <p:nvPicPr>
          <p:cNvPr id="9" name="Picture 8" descr="思考"/>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5422900" y="3659505"/>
            <a:ext cx="456565" cy="456565"/>
          </a:xfrm>
          <a:prstGeom prst="rect">
            <a:avLst/>
          </a:prstGeom>
        </p:spPr>
      </p:pic>
      <p:sp>
        <p:nvSpPr>
          <p:cNvPr id="11" name="Text Box 10"/>
          <p:cNvSpPr txBox="1"/>
          <p:nvPr/>
        </p:nvSpPr>
        <p:spPr>
          <a:xfrm>
            <a:off x="6172200" y="2520950"/>
            <a:ext cx="4064000" cy="914400"/>
          </a:xfrm>
          <a:prstGeom prst="rect">
            <a:avLst/>
          </a:prstGeom>
          <a:noFill/>
        </p:spPr>
        <p:txBody>
          <a:bodyPr wrap="square" rtlCol="0">
            <a:noAutofit/>
          </a:bodyPr>
          <a:p>
            <a:endParaRPr lang="en-US"/>
          </a:p>
        </p:txBody>
      </p:sp>
    </p:spTree>
    <p:custDataLst>
      <p:tags r:id="rId5"/>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 name="Group 25"/>
          <p:cNvGrpSpPr/>
          <p:nvPr/>
        </p:nvGrpSpPr>
        <p:grpSpPr>
          <a:xfrm>
            <a:off x="1851660" y="4180840"/>
            <a:ext cx="96520" cy="812800"/>
            <a:chOff x="2916" y="6584"/>
            <a:chExt cx="152" cy="1280"/>
          </a:xfrm>
        </p:grpSpPr>
        <p:sp>
          <p:nvSpPr>
            <p:cNvPr id="69" name="Oval 68"/>
            <p:cNvSpPr/>
            <p:nvPr/>
          </p:nvSpPr>
          <p:spPr>
            <a:xfrm>
              <a:off x="2916" y="6584"/>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71" name="Straight Connector 70"/>
            <p:cNvCxnSpPr/>
            <p:nvPr/>
          </p:nvCxnSpPr>
          <p:spPr>
            <a:xfrm>
              <a:off x="2992" y="6700"/>
              <a:ext cx="0" cy="116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grpSp>
      <p:cxnSp>
        <p:nvCxnSpPr>
          <p:cNvPr id="29" name="Straight Connector 28"/>
          <p:cNvCxnSpPr/>
          <p:nvPr/>
        </p:nvCxnSpPr>
        <p:spPr>
          <a:xfrm>
            <a:off x="2461895" y="2935605"/>
            <a:ext cx="0" cy="200787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2" name="Straight Connector 31"/>
          <p:cNvCxnSpPr>
            <a:stCxn id="31" idx="4"/>
          </p:cNvCxnSpPr>
          <p:nvPr/>
        </p:nvCxnSpPr>
        <p:spPr>
          <a:xfrm>
            <a:off x="3023870" y="3432175"/>
            <a:ext cx="0" cy="151955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5" name="Straight Connector 34"/>
          <p:cNvCxnSpPr/>
          <p:nvPr/>
        </p:nvCxnSpPr>
        <p:spPr>
          <a:xfrm>
            <a:off x="3585845" y="4324350"/>
            <a:ext cx="0" cy="67056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8" name="Straight Connector 37"/>
          <p:cNvCxnSpPr>
            <a:stCxn id="37" idx="4"/>
          </p:cNvCxnSpPr>
          <p:nvPr/>
        </p:nvCxnSpPr>
        <p:spPr>
          <a:xfrm>
            <a:off x="4147820" y="4163695"/>
            <a:ext cx="0" cy="83121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2" name="Title 1"/>
          <p:cNvSpPr>
            <a:spLocks noGrp="1"/>
          </p:cNvSpPr>
          <p:nvPr>
            <p:ph type="title"/>
            <p:custDataLst>
              <p:tags r:id="rId1"/>
            </p:custDataLst>
          </p:nvPr>
        </p:nvSpPr>
        <p:spPr/>
        <p:txBody>
          <a:bodyPr>
            <a:normAutofit/>
          </a:bodyPr>
          <a:p>
            <a:r>
              <a:rPr lang="zh-CN" altLang="en-US"/>
              <a:t>怎样才能把声音（模拟信号</a:t>
            </a:r>
            <a:r>
              <a:rPr lang="en-US" altLang="zh-CN"/>
              <a:t>）</a:t>
            </a:r>
            <a:r>
              <a:rPr lang="zh-CN" altLang="en-US"/>
              <a:t>是转成数字信号</a:t>
            </a:r>
            <a:r>
              <a:rPr lang="en-US"/>
              <a:t>？</a:t>
            </a:r>
            <a:endParaRPr lang="en-US"/>
          </a:p>
        </p:txBody>
      </p:sp>
      <p:cxnSp>
        <p:nvCxnSpPr>
          <p:cNvPr id="57" name="Straight Connector 56"/>
          <p:cNvCxnSpPr/>
          <p:nvPr/>
        </p:nvCxnSpPr>
        <p:spPr>
          <a:xfrm>
            <a:off x="1525270" y="2207895"/>
            <a:ext cx="0" cy="274320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21" name="Straight Connector 20"/>
          <p:cNvCxnSpPr/>
          <p:nvPr/>
        </p:nvCxnSpPr>
        <p:spPr>
          <a:xfrm flipH="1">
            <a:off x="1524000" y="4959350"/>
            <a:ext cx="312737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4" name="Text Box 3"/>
          <p:cNvSpPr txBox="1"/>
          <p:nvPr/>
        </p:nvSpPr>
        <p:spPr>
          <a:xfrm>
            <a:off x="616585" y="2207895"/>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振幅</a:t>
            </a:r>
            <a:endParaRPr lang="zh-CN" altLang="en-US" sz="2200">
              <a:latin typeface="Alibaba PuHuiTi 3.0 55 Regular" panose="00020600040101010101" charset="-122"/>
              <a:ea typeface="Alibaba PuHuiTi 3.0 55 Regular" panose="00020600040101010101" charset="-122"/>
            </a:endParaRPr>
          </a:p>
        </p:txBody>
      </p:sp>
      <p:sp>
        <p:nvSpPr>
          <p:cNvPr id="5" name="Text Box 4"/>
          <p:cNvSpPr txBox="1"/>
          <p:nvPr/>
        </p:nvSpPr>
        <p:spPr>
          <a:xfrm>
            <a:off x="4388485" y="5029200"/>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6" name="Freeform 5"/>
          <p:cNvSpPr/>
          <p:nvPr/>
        </p:nvSpPr>
        <p:spPr>
          <a:xfrm>
            <a:off x="1740535" y="2938780"/>
            <a:ext cx="2518410" cy="1645285"/>
          </a:xfrm>
          <a:custGeom>
            <a:avLst/>
            <a:gdLst>
              <a:gd name="connisteX0" fmla="*/ 0 w 2518410"/>
              <a:gd name="connsiteY0" fmla="*/ 1645002 h 1645002"/>
              <a:gd name="connisteX1" fmla="*/ 25400 w 2518410"/>
              <a:gd name="connsiteY1" fmla="*/ 1519907 h 1645002"/>
              <a:gd name="connisteX2" fmla="*/ 142240 w 2518410"/>
              <a:gd name="connsiteY2" fmla="*/ 1328137 h 1645002"/>
              <a:gd name="connisteX3" fmla="*/ 225425 w 2518410"/>
              <a:gd name="connsiteY3" fmla="*/ 1178277 h 1645002"/>
              <a:gd name="connisteX4" fmla="*/ 275590 w 2518410"/>
              <a:gd name="connsiteY4" fmla="*/ 1077947 h 1645002"/>
              <a:gd name="connisteX5" fmla="*/ 325120 w 2518410"/>
              <a:gd name="connsiteY5" fmla="*/ 978252 h 1645002"/>
              <a:gd name="connisteX6" fmla="*/ 358775 w 2518410"/>
              <a:gd name="connsiteY6" fmla="*/ 877922 h 1645002"/>
              <a:gd name="connisteX7" fmla="*/ 383540 w 2518410"/>
              <a:gd name="connsiteY7" fmla="*/ 811247 h 1645002"/>
              <a:gd name="connisteX8" fmla="*/ 400685 w 2518410"/>
              <a:gd name="connsiteY8" fmla="*/ 728062 h 1645002"/>
              <a:gd name="connisteX9" fmla="*/ 441960 w 2518410"/>
              <a:gd name="connsiteY9" fmla="*/ 611222 h 1645002"/>
              <a:gd name="connisteX10" fmla="*/ 459105 w 2518410"/>
              <a:gd name="connsiteY10" fmla="*/ 544547 h 1645002"/>
              <a:gd name="connisteX11" fmla="*/ 492125 w 2518410"/>
              <a:gd name="connsiteY11" fmla="*/ 419452 h 1645002"/>
              <a:gd name="connisteX12" fmla="*/ 525780 w 2518410"/>
              <a:gd name="connsiteY12" fmla="*/ 310867 h 1645002"/>
              <a:gd name="connisteX13" fmla="*/ 550545 w 2518410"/>
              <a:gd name="connsiteY13" fmla="*/ 227682 h 1645002"/>
              <a:gd name="connisteX14" fmla="*/ 567055 w 2518410"/>
              <a:gd name="connsiteY14" fmla="*/ 161007 h 1645002"/>
              <a:gd name="connisteX15" fmla="*/ 584200 w 2518410"/>
              <a:gd name="connsiteY15" fmla="*/ 94332 h 1645002"/>
              <a:gd name="connisteX16" fmla="*/ 625475 w 2518410"/>
              <a:gd name="connsiteY16" fmla="*/ 27657 h 1645002"/>
              <a:gd name="connisteX17" fmla="*/ 692150 w 2518410"/>
              <a:gd name="connsiteY17" fmla="*/ 10512 h 1645002"/>
              <a:gd name="connisteX18" fmla="*/ 784225 w 2518410"/>
              <a:gd name="connsiteY18" fmla="*/ 2257 h 1645002"/>
              <a:gd name="connisteX19" fmla="*/ 859155 w 2518410"/>
              <a:gd name="connsiteY19" fmla="*/ 2257 h 1645002"/>
              <a:gd name="connisteX20" fmla="*/ 925830 w 2518410"/>
              <a:gd name="connsiteY20" fmla="*/ 2257 h 1645002"/>
              <a:gd name="connisteX21" fmla="*/ 1000760 w 2518410"/>
              <a:gd name="connsiteY21" fmla="*/ 27657 h 1645002"/>
              <a:gd name="connisteX22" fmla="*/ 1067435 w 2518410"/>
              <a:gd name="connsiteY22" fmla="*/ 77187 h 1645002"/>
              <a:gd name="connisteX23" fmla="*/ 1125855 w 2518410"/>
              <a:gd name="connsiteY23" fmla="*/ 152752 h 1645002"/>
              <a:gd name="connisteX24" fmla="*/ 1176020 w 2518410"/>
              <a:gd name="connsiteY24" fmla="*/ 235937 h 1645002"/>
              <a:gd name="connisteX25" fmla="*/ 1217930 w 2518410"/>
              <a:gd name="connsiteY25" fmla="*/ 302612 h 1645002"/>
              <a:gd name="connisteX26" fmla="*/ 1242695 w 2518410"/>
              <a:gd name="connsiteY26" fmla="*/ 369287 h 1645002"/>
              <a:gd name="connisteX27" fmla="*/ 1276350 w 2518410"/>
              <a:gd name="connsiteY27" fmla="*/ 435962 h 1645002"/>
              <a:gd name="connisteX28" fmla="*/ 1309370 w 2518410"/>
              <a:gd name="connsiteY28" fmla="*/ 502637 h 1645002"/>
              <a:gd name="connisteX29" fmla="*/ 1351280 w 2518410"/>
              <a:gd name="connsiteY29" fmla="*/ 594712 h 1645002"/>
              <a:gd name="connisteX30" fmla="*/ 1384300 w 2518410"/>
              <a:gd name="connsiteY30" fmla="*/ 686152 h 1645002"/>
              <a:gd name="connisteX31" fmla="*/ 1417955 w 2518410"/>
              <a:gd name="connsiteY31" fmla="*/ 769972 h 1645002"/>
              <a:gd name="connisteX32" fmla="*/ 1450975 w 2518410"/>
              <a:gd name="connsiteY32" fmla="*/ 844902 h 1645002"/>
              <a:gd name="connisteX33" fmla="*/ 1476375 w 2518410"/>
              <a:gd name="connsiteY33" fmla="*/ 911577 h 1645002"/>
              <a:gd name="connisteX34" fmla="*/ 1501140 w 2518410"/>
              <a:gd name="connsiteY34" fmla="*/ 1003017 h 1645002"/>
              <a:gd name="connisteX35" fmla="*/ 1526540 w 2518410"/>
              <a:gd name="connsiteY35" fmla="*/ 1077947 h 1645002"/>
              <a:gd name="connisteX36" fmla="*/ 1551305 w 2518410"/>
              <a:gd name="connsiteY36" fmla="*/ 1153512 h 1645002"/>
              <a:gd name="connisteX37" fmla="*/ 1601470 w 2518410"/>
              <a:gd name="connsiteY37" fmla="*/ 1220187 h 1645002"/>
              <a:gd name="connisteX38" fmla="*/ 1676400 w 2518410"/>
              <a:gd name="connsiteY38" fmla="*/ 1269717 h 1645002"/>
              <a:gd name="connisteX39" fmla="*/ 1743075 w 2518410"/>
              <a:gd name="connsiteY39" fmla="*/ 1319882 h 1645002"/>
              <a:gd name="connisteX40" fmla="*/ 1809750 w 2518410"/>
              <a:gd name="connsiteY40" fmla="*/ 1353537 h 1645002"/>
              <a:gd name="connisteX41" fmla="*/ 1876425 w 2518410"/>
              <a:gd name="connsiteY41" fmla="*/ 1386557 h 1645002"/>
              <a:gd name="connisteX42" fmla="*/ 1951355 w 2518410"/>
              <a:gd name="connsiteY42" fmla="*/ 1411957 h 1645002"/>
              <a:gd name="connisteX43" fmla="*/ 2035175 w 2518410"/>
              <a:gd name="connsiteY43" fmla="*/ 1436722 h 1645002"/>
              <a:gd name="connisteX44" fmla="*/ 2110105 w 2518410"/>
              <a:gd name="connsiteY44" fmla="*/ 1453232 h 1645002"/>
              <a:gd name="connisteX45" fmla="*/ 2185035 w 2518410"/>
              <a:gd name="connsiteY45" fmla="*/ 1453232 h 1645002"/>
              <a:gd name="connisteX46" fmla="*/ 2251710 w 2518410"/>
              <a:gd name="connsiteY46" fmla="*/ 1444977 h 1645002"/>
              <a:gd name="connisteX47" fmla="*/ 2301875 w 2518410"/>
              <a:gd name="connsiteY47" fmla="*/ 1378302 h 1645002"/>
              <a:gd name="connisteX48" fmla="*/ 2343785 w 2518410"/>
              <a:gd name="connsiteY48" fmla="*/ 1311627 h 1645002"/>
              <a:gd name="connisteX49" fmla="*/ 2368550 w 2518410"/>
              <a:gd name="connsiteY49" fmla="*/ 1236697 h 1645002"/>
              <a:gd name="connisteX50" fmla="*/ 2402205 w 2518410"/>
              <a:gd name="connsiteY50" fmla="*/ 1161767 h 1645002"/>
              <a:gd name="connisteX51" fmla="*/ 2426970 w 2518410"/>
              <a:gd name="connsiteY51" fmla="*/ 1086837 h 1645002"/>
              <a:gd name="connisteX52" fmla="*/ 2468880 w 2518410"/>
              <a:gd name="connsiteY52" fmla="*/ 1019527 h 1645002"/>
              <a:gd name="connisteX53" fmla="*/ 2518410 w 2518410"/>
              <a:gd name="connsiteY53" fmla="*/ 944597 h 164500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Lst>
            <a:rect l="l" t="t" r="r" b="b"/>
            <a:pathLst>
              <a:path w="2518410" h="1645003">
                <a:moveTo>
                  <a:pt x="0" y="1645003"/>
                </a:moveTo>
                <a:cubicBezTo>
                  <a:pt x="2540" y="1624048"/>
                  <a:pt x="-3175" y="1583408"/>
                  <a:pt x="25400" y="1519908"/>
                </a:cubicBezTo>
                <a:cubicBezTo>
                  <a:pt x="53975" y="1456408"/>
                  <a:pt x="102235" y="1396718"/>
                  <a:pt x="142240" y="1328138"/>
                </a:cubicBezTo>
                <a:cubicBezTo>
                  <a:pt x="182245" y="1259558"/>
                  <a:pt x="198755" y="1228443"/>
                  <a:pt x="225425" y="1178278"/>
                </a:cubicBezTo>
                <a:cubicBezTo>
                  <a:pt x="252095" y="1128113"/>
                  <a:pt x="255905" y="1117953"/>
                  <a:pt x="275590" y="1077948"/>
                </a:cubicBezTo>
                <a:cubicBezTo>
                  <a:pt x="295275" y="1037943"/>
                  <a:pt x="308610" y="1018258"/>
                  <a:pt x="325120" y="978253"/>
                </a:cubicBezTo>
                <a:cubicBezTo>
                  <a:pt x="341630" y="938248"/>
                  <a:pt x="347345" y="911578"/>
                  <a:pt x="358775" y="877923"/>
                </a:cubicBezTo>
                <a:cubicBezTo>
                  <a:pt x="370205" y="844268"/>
                  <a:pt x="375285" y="841093"/>
                  <a:pt x="383540" y="811248"/>
                </a:cubicBezTo>
                <a:cubicBezTo>
                  <a:pt x="391795" y="781403"/>
                  <a:pt x="389255" y="768068"/>
                  <a:pt x="400685" y="728063"/>
                </a:cubicBezTo>
                <a:cubicBezTo>
                  <a:pt x="412115" y="688058"/>
                  <a:pt x="430530" y="648053"/>
                  <a:pt x="441960" y="611223"/>
                </a:cubicBezTo>
                <a:cubicBezTo>
                  <a:pt x="453390" y="574393"/>
                  <a:pt x="448945" y="582648"/>
                  <a:pt x="459105" y="544548"/>
                </a:cubicBezTo>
                <a:cubicBezTo>
                  <a:pt x="469265" y="506448"/>
                  <a:pt x="478790" y="466443"/>
                  <a:pt x="492125" y="419453"/>
                </a:cubicBezTo>
                <a:cubicBezTo>
                  <a:pt x="505460" y="372463"/>
                  <a:pt x="514350" y="348968"/>
                  <a:pt x="525780" y="310868"/>
                </a:cubicBezTo>
                <a:cubicBezTo>
                  <a:pt x="537210" y="272768"/>
                  <a:pt x="542290" y="257528"/>
                  <a:pt x="550545" y="227683"/>
                </a:cubicBezTo>
                <a:cubicBezTo>
                  <a:pt x="558800" y="197838"/>
                  <a:pt x="560070" y="187678"/>
                  <a:pt x="567055" y="161008"/>
                </a:cubicBezTo>
                <a:cubicBezTo>
                  <a:pt x="574040" y="134338"/>
                  <a:pt x="572770" y="121003"/>
                  <a:pt x="584200" y="94333"/>
                </a:cubicBezTo>
                <a:cubicBezTo>
                  <a:pt x="595630" y="67663"/>
                  <a:pt x="603885" y="44168"/>
                  <a:pt x="625475" y="27658"/>
                </a:cubicBezTo>
                <a:cubicBezTo>
                  <a:pt x="647065" y="11148"/>
                  <a:pt x="660400" y="15593"/>
                  <a:pt x="692150" y="10513"/>
                </a:cubicBezTo>
                <a:cubicBezTo>
                  <a:pt x="723900" y="5433"/>
                  <a:pt x="750570" y="4163"/>
                  <a:pt x="784225" y="2258"/>
                </a:cubicBezTo>
                <a:cubicBezTo>
                  <a:pt x="817880" y="353"/>
                  <a:pt x="830580" y="2258"/>
                  <a:pt x="859155" y="2258"/>
                </a:cubicBezTo>
                <a:cubicBezTo>
                  <a:pt x="887730" y="2258"/>
                  <a:pt x="897255" y="-2822"/>
                  <a:pt x="925830" y="2258"/>
                </a:cubicBezTo>
                <a:cubicBezTo>
                  <a:pt x="954405" y="7338"/>
                  <a:pt x="972185" y="12418"/>
                  <a:pt x="1000760" y="27658"/>
                </a:cubicBezTo>
                <a:cubicBezTo>
                  <a:pt x="1029335" y="42898"/>
                  <a:pt x="1042670" y="52423"/>
                  <a:pt x="1067435" y="77188"/>
                </a:cubicBezTo>
                <a:cubicBezTo>
                  <a:pt x="1092200" y="101953"/>
                  <a:pt x="1104265" y="121003"/>
                  <a:pt x="1125855" y="152753"/>
                </a:cubicBezTo>
                <a:cubicBezTo>
                  <a:pt x="1147445" y="184503"/>
                  <a:pt x="1157605" y="206093"/>
                  <a:pt x="1176020" y="235938"/>
                </a:cubicBezTo>
                <a:cubicBezTo>
                  <a:pt x="1194435" y="265783"/>
                  <a:pt x="1204595" y="275943"/>
                  <a:pt x="1217930" y="302613"/>
                </a:cubicBezTo>
                <a:cubicBezTo>
                  <a:pt x="1231265" y="329283"/>
                  <a:pt x="1231265" y="342618"/>
                  <a:pt x="1242695" y="369288"/>
                </a:cubicBezTo>
                <a:cubicBezTo>
                  <a:pt x="1254125" y="395958"/>
                  <a:pt x="1263015" y="409293"/>
                  <a:pt x="1276350" y="435963"/>
                </a:cubicBezTo>
                <a:cubicBezTo>
                  <a:pt x="1289685" y="462633"/>
                  <a:pt x="1294130" y="470888"/>
                  <a:pt x="1309370" y="502638"/>
                </a:cubicBezTo>
                <a:cubicBezTo>
                  <a:pt x="1324610" y="534388"/>
                  <a:pt x="1336040" y="557883"/>
                  <a:pt x="1351280" y="594713"/>
                </a:cubicBezTo>
                <a:cubicBezTo>
                  <a:pt x="1366520" y="631543"/>
                  <a:pt x="1370965" y="651228"/>
                  <a:pt x="1384300" y="686153"/>
                </a:cubicBezTo>
                <a:cubicBezTo>
                  <a:pt x="1397635" y="721078"/>
                  <a:pt x="1404620" y="738223"/>
                  <a:pt x="1417955" y="769973"/>
                </a:cubicBezTo>
                <a:cubicBezTo>
                  <a:pt x="1431290" y="801723"/>
                  <a:pt x="1439545" y="816328"/>
                  <a:pt x="1450975" y="844903"/>
                </a:cubicBezTo>
                <a:cubicBezTo>
                  <a:pt x="1462405" y="873478"/>
                  <a:pt x="1466215" y="879828"/>
                  <a:pt x="1476375" y="911578"/>
                </a:cubicBezTo>
                <a:cubicBezTo>
                  <a:pt x="1486535" y="943328"/>
                  <a:pt x="1490980" y="969998"/>
                  <a:pt x="1501140" y="1003018"/>
                </a:cubicBezTo>
                <a:cubicBezTo>
                  <a:pt x="1511300" y="1036038"/>
                  <a:pt x="1516380" y="1048103"/>
                  <a:pt x="1526540" y="1077948"/>
                </a:cubicBezTo>
                <a:cubicBezTo>
                  <a:pt x="1536700" y="1107793"/>
                  <a:pt x="1536065" y="1124938"/>
                  <a:pt x="1551305" y="1153513"/>
                </a:cubicBezTo>
                <a:cubicBezTo>
                  <a:pt x="1566545" y="1182088"/>
                  <a:pt x="1576705" y="1196693"/>
                  <a:pt x="1601470" y="1220188"/>
                </a:cubicBezTo>
                <a:cubicBezTo>
                  <a:pt x="1626235" y="1243683"/>
                  <a:pt x="1647825" y="1250033"/>
                  <a:pt x="1676400" y="1269718"/>
                </a:cubicBezTo>
                <a:cubicBezTo>
                  <a:pt x="1704975" y="1289403"/>
                  <a:pt x="1716405" y="1303373"/>
                  <a:pt x="1743075" y="1319883"/>
                </a:cubicBezTo>
                <a:cubicBezTo>
                  <a:pt x="1769745" y="1336393"/>
                  <a:pt x="1783080" y="1340203"/>
                  <a:pt x="1809750" y="1353538"/>
                </a:cubicBezTo>
                <a:cubicBezTo>
                  <a:pt x="1836420" y="1366873"/>
                  <a:pt x="1847850" y="1375128"/>
                  <a:pt x="1876425" y="1386558"/>
                </a:cubicBezTo>
                <a:cubicBezTo>
                  <a:pt x="1905000" y="1397988"/>
                  <a:pt x="1919605" y="1401798"/>
                  <a:pt x="1951355" y="1411958"/>
                </a:cubicBezTo>
                <a:cubicBezTo>
                  <a:pt x="1983105" y="1422118"/>
                  <a:pt x="2003425" y="1428468"/>
                  <a:pt x="2035175" y="1436723"/>
                </a:cubicBezTo>
                <a:cubicBezTo>
                  <a:pt x="2066925" y="1444978"/>
                  <a:pt x="2080260" y="1450058"/>
                  <a:pt x="2110105" y="1453233"/>
                </a:cubicBezTo>
                <a:cubicBezTo>
                  <a:pt x="2139950" y="1456408"/>
                  <a:pt x="2156460" y="1455138"/>
                  <a:pt x="2185035" y="1453233"/>
                </a:cubicBezTo>
                <a:cubicBezTo>
                  <a:pt x="2213610" y="1451328"/>
                  <a:pt x="2228215" y="1460218"/>
                  <a:pt x="2251710" y="1444978"/>
                </a:cubicBezTo>
                <a:cubicBezTo>
                  <a:pt x="2275205" y="1429738"/>
                  <a:pt x="2283460" y="1404973"/>
                  <a:pt x="2301875" y="1378303"/>
                </a:cubicBezTo>
                <a:cubicBezTo>
                  <a:pt x="2320290" y="1351633"/>
                  <a:pt x="2330450" y="1340203"/>
                  <a:pt x="2343785" y="1311628"/>
                </a:cubicBezTo>
                <a:cubicBezTo>
                  <a:pt x="2357120" y="1283053"/>
                  <a:pt x="2357120" y="1266543"/>
                  <a:pt x="2368550" y="1236698"/>
                </a:cubicBezTo>
                <a:cubicBezTo>
                  <a:pt x="2379980" y="1206853"/>
                  <a:pt x="2390775" y="1191613"/>
                  <a:pt x="2402205" y="1161768"/>
                </a:cubicBezTo>
                <a:cubicBezTo>
                  <a:pt x="2413635" y="1131923"/>
                  <a:pt x="2413635" y="1115413"/>
                  <a:pt x="2426970" y="1086838"/>
                </a:cubicBezTo>
                <a:cubicBezTo>
                  <a:pt x="2440305" y="1058263"/>
                  <a:pt x="2450465" y="1048103"/>
                  <a:pt x="2468880" y="1019528"/>
                </a:cubicBezTo>
                <a:cubicBezTo>
                  <a:pt x="2487295" y="990953"/>
                  <a:pt x="2509520" y="957933"/>
                  <a:pt x="2518410" y="944598"/>
                </a:cubicBezTo>
              </a:path>
            </a:pathLst>
          </a:custGeom>
          <a:noFill/>
          <a:ln w="38100">
            <a:solidFill>
              <a:schemeClr val="tx1"/>
            </a:solidFill>
          </a:ln>
        </p:spPr>
        <p:txBody>
          <a:bodyPr vert="horz" lIns="90000" tIns="46800" rIns="90000" bIns="46800" rtlCol="0" anchor="ctr" anchorCtr="0">
            <a:noAutofit/>
          </a:bodyPr>
          <a:p>
            <a:endParaRPr lang="zh-CN" altLang="en-US" sz="2445">
              <a:solidFill>
                <a:schemeClr val="tx1"/>
              </a:solidFill>
            </a:endParaRPr>
          </a:p>
        </p:txBody>
      </p:sp>
      <p:sp>
        <p:nvSpPr>
          <p:cNvPr id="7" name="Text Box 6"/>
          <p:cNvSpPr txBox="1"/>
          <p:nvPr/>
        </p:nvSpPr>
        <p:spPr>
          <a:xfrm>
            <a:off x="1682115" y="5029200"/>
            <a:ext cx="296926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14" name="Text Box 13"/>
          <p:cNvSpPr txBox="1"/>
          <p:nvPr/>
        </p:nvSpPr>
        <p:spPr>
          <a:xfrm>
            <a:off x="691515" y="1313815"/>
            <a:ext cx="2547620" cy="429895"/>
          </a:xfrm>
          <a:prstGeom prst="rect">
            <a:avLst/>
          </a:prstGeom>
          <a:noFill/>
        </p:spPr>
        <p:txBody>
          <a:bodyPr wrap="square" rtlCol="0">
            <a:noAutofit/>
          </a:bodyPr>
          <a:p>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1. </a:t>
            </a:r>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采样</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 Sampling</a:t>
            </a:r>
            <a:endParaRPr lang="en-US" altLang="zh-CN" sz="2200" b="1">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17" name="Text Box 16"/>
          <p:cNvSpPr txBox="1"/>
          <p:nvPr/>
        </p:nvSpPr>
        <p:spPr>
          <a:xfrm>
            <a:off x="3860165" y="1313815"/>
            <a:ext cx="3038475" cy="429895"/>
          </a:xfrm>
          <a:prstGeom prst="rect">
            <a:avLst/>
          </a:prstGeom>
          <a:noFill/>
        </p:spPr>
        <p:txBody>
          <a:bodyPr wrap="square" rtlCol="0">
            <a:spAutoFit/>
          </a:bodyPr>
          <a:p>
            <a:r>
              <a:rPr lang="en-US" altLang="zh-CN" sz="2200">
                <a:latin typeface="Alibaba PuHuiTi 3.0 55 Regular" panose="00020600040101010101" charset="-122"/>
                <a:ea typeface="Alibaba PuHuiTi 3.0 55 Regular" panose="00020600040101010101" charset="-122"/>
              </a:rPr>
              <a:t>2. </a:t>
            </a:r>
            <a:r>
              <a:rPr lang="zh-CN" altLang="en-US" sz="2200">
                <a:latin typeface="Alibaba PuHuiTi 3.0 55 Regular" panose="00020600040101010101" charset="-122"/>
                <a:ea typeface="Alibaba PuHuiTi 3.0 55 Regular" panose="00020600040101010101" charset="-122"/>
              </a:rPr>
              <a:t>量化</a:t>
            </a:r>
            <a:r>
              <a:rPr lang="en-US" altLang="zh-CN" sz="2200">
                <a:latin typeface="Alibaba PuHuiTi 3.0 55 Regular" panose="00020600040101010101" charset="-122"/>
                <a:ea typeface="Alibaba PuHuiTi 3.0 55 Regular" panose="00020600040101010101" charset="-122"/>
              </a:rPr>
              <a:t> </a:t>
            </a:r>
            <a:r>
              <a:rPr lang="en-US" altLang="zh-CN" sz="2200">
                <a:latin typeface="Alibaba PuHuiTi 3.0 55 Regular" panose="00020600040101010101" charset="-122"/>
                <a:ea typeface="Alibaba PuHuiTi 3.0 55 Regular" panose="00020600040101010101" charset="-122"/>
              </a:rPr>
              <a:t>Quantization</a:t>
            </a:r>
            <a:endParaRPr lang="en-US" altLang="zh-CN" sz="2200">
              <a:latin typeface="Alibaba PuHuiTi 3.0 55 Regular" panose="00020600040101010101" charset="-122"/>
              <a:ea typeface="Alibaba PuHuiTi 3.0 55 Regular" panose="00020600040101010101" charset="-122"/>
            </a:endParaRPr>
          </a:p>
        </p:txBody>
      </p:sp>
      <p:sp>
        <p:nvSpPr>
          <p:cNvPr id="18" name="Text Box 17"/>
          <p:cNvSpPr txBox="1"/>
          <p:nvPr/>
        </p:nvSpPr>
        <p:spPr>
          <a:xfrm>
            <a:off x="7519670" y="1313815"/>
            <a:ext cx="3822065" cy="429895"/>
          </a:xfrm>
          <a:prstGeom prst="rect">
            <a:avLst/>
          </a:prstGeom>
          <a:noFill/>
        </p:spPr>
        <p:txBody>
          <a:bodyPr wrap="square" rtlCol="0">
            <a:spAutoFit/>
          </a:bodyPr>
          <a:p>
            <a:r>
              <a:rPr lang="en-US" altLang="zh-CN" sz="2200">
                <a:latin typeface="Alibaba PuHuiTi 3.0 55 Regular" panose="00020600040101010101" charset="-122"/>
                <a:ea typeface="Alibaba PuHuiTi 3.0 55 Regular" panose="00020600040101010101" charset="-122"/>
              </a:rPr>
              <a:t>3. </a:t>
            </a:r>
            <a:r>
              <a:rPr lang="zh-CN" altLang="en-US" sz="2200">
                <a:latin typeface="Alibaba PuHuiTi 3.0 55 Regular" panose="00020600040101010101" charset="-122"/>
                <a:ea typeface="Alibaba PuHuiTi 3.0 55 Regular" panose="00020600040101010101" charset="-122"/>
              </a:rPr>
              <a:t>编码</a:t>
            </a:r>
            <a:r>
              <a:rPr lang="en-US" altLang="zh-CN" sz="2200">
                <a:latin typeface="Alibaba PuHuiTi 3.0 55 Regular" panose="00020600040101010101" charset="-122"/>
                <a:ea typeface="Alibaba PuHuiTi 3.0 55 Regular" panose="00020600040101010101" charset="-122"/>
              </a:rPr>
              <a:t> </a:t>
            </a:r>
            <a:r>
              <a:rPr lang="en-US" altLang="zh-CN" sz="2200">
                <a:latin typeface="Alibaba PuHuiTi 3.0 55 Regular" panose="00020600040101010101" charset="-122"/>
                <a:ea typeface="Alibaba PuHuiTi 3.0 55 Regular" panose="00020600040101010101" charset="-122"/>
              </a:rPr>
              <a:t>Encoding</a:t>
            </a:r>
            <a:endParaRPr lang="en-US" altLang="zh-CN" sz="2200">
              <a:latin typeface="Alibaba PuHuiTi 3.0 55 Regular" panose="00020600040101010101" charset="-122"/>
              <a:ea typeface="Alibaba PuHuiTi 3.0 55 Regular" panose="00020600040101010101" charset="-122"/>
            </a:endParaRPr>
          </a:p>
        </p:txBody>
      </p:sp>
      <p:cxnSp>
        <p:nvCxnSpPr>
          <p:cNvPr id="19" name="Straight Connector 18"/>
          <p:cNvCxnSpPr/>
          <p:nvPr/>
        </p:nvCxnSpPr>
        <p:spPr>
          <a:xfrm flipH="1">
            <a:off x="3202305" y="1528445"/>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cxnSp>
        <p:nvCxnSpPr>
          <p:cNvPr id="20" name="Straight Connector 19"/>
          <p:cNvCxnSpPr/>
          <p:nvPr/>
        </p:nvCxnSpPr>
        <p:spPr>
          <a:xfrm flipH="1">
            <a:off x="6861810" y="1528445"/>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23" name="Text Box 22"/>
          <p:cNvSpPr txBox="1"/>
          <p:nvPr/>
        </p:nvSpPr>
        <p:spPr>
          <a:xfrm>
            <a:off x="1731010" y="37839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28" name="Oval 27"/>
          <p:cNvSpPr/>
          <p:nvPr/>
        </p:nvSpPr>
        <p:spPr>
          <a:xfrm>
            <a:off x="2413635" y="288607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1" name="Oval 30"/>
          <p:cNvSpPr/>
          <p:nvPr/>
        </p:nvSpPr>
        <p:spPr>
          <a:xfrm>
            <a:off x="2975610" y="333565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4" name="Oval 33"/>
          <p:cNvSpPr/>
          <p:nvPr/>
        </p:nvSpPr>
        <p:spPr>
          <a:xfrm>
            <a:off x="3537585" y="425005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7" name="Oval 36"/>
          <p:cNvSpPr/>
          <p:nvPr/>
        </p:nvSpPr>
        <p:spPr>
          <a:xfrm>
            <a:off x="4099560" y="406717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9" name="Text Box 38"/>
          <p:cNvSpPr txBox="1"/>
          <p:nvPr/>
        </p:nvSpPr>
        <p:spPr>
          <a:xfrm>
            <a:off x="2342515" y="256222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40" name="Text Box 39"/>
          <p:cNvSpPr txBox="1"/>
          <p:nvPr/>
        </p:nvSpPr>
        <p:spPr>
          <a:xfrm>
            <a:off x="2901315" y="297688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41" name="Text Box 40"/>
          <p:cNvSpPr txBox="1"/>
          <p:nvPr/>
        </p:nvSpPr>
        <p:spPr>
          <a:xfrm>
            <a:off x="3442970" y="396748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4</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42" name="Text Box 41"/>
          <p:cNvSpPr txBox="1"/>
          <p:nvPr/>
        </p:nvSpPr>
        <p:spPr>
          <a:xfrm>
            <a:off x="3957955" y="367982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5</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43" name="Straight Connector 42"/>
          <p:cNvCxnSpPr>
            <a:endCxn id="28" idx="3"/>
          </p:cNvCxnSpPr>
          <p:nvPr/>
        </p:nvCxnSpPr>
        <p:spPr>
          <a:xfrm flipV="1">
            <a:off x="1899920" y="2968625"/>
            <a:ext cx="527685" cy="12509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44" name="Straight Connector 43"/>
          <p:cNvCxnSpPr/>
          <p:nvPr/>
        </p:nvCxnSpPr>
        <p:spPr>
          <a:xfrm flipH="1" flipV="1">
            <a:off x="2478405" y="2959100"/>
            <a:ext cx="531495" cy="40513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46" name="Straight Connector 45"/>
          <p:cNvCxnSpPr>
            <a:stCxn id="34" idx="5"/>
          </p:cNvCxnSpPr>
          <p:nvPr/>
        </p:nvCxnSpPr>
        <p:spPr>
          <a:xfrm flipH="1" flipV="1">
            <a:off x="3023870" y="3378835"/>
            <a:ext cx="596265" cy="95377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47" name="Straight Connector 46"/>
          <p:cNvCxnSpPr>
            <a:stCxn id="37" idx="3"/>
          </p:cNvCxnSpPr>
          <p:nvPr/>
        </p:nvCxnSpPr>
        <p:spPr>
          <a:xfrm flipH="1">
            <a:off x="3565525" y="4149725"/>
            <a:ext cx="548005" cy="13525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12" name="Oval 11"/>
          <p:cNvSpPr/>
          <p:nvPr/>
        </p:nvSpPr>
        <p:spPr>
          <a:xfrm>
            <a:off x="6541770" y="41808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13" name="Straight Connector 12"/>
          <p:cNvCxnSpPr/>
          <p:nvPr/>
        </p:nvCxnSpPr>
        <p:spPr>
          <a:xfrm>
            <a:off x="6590030" y="4254500"/>
            <a:ext cx="0" cy="73977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5" name="Straight Connector 14"/>
          <p:cNvCxnSpPr>
            <a:stCxn id="36" idx="31"/>
          </p:cNvCxnSpPr>
          <p:nvPr/>
        </p:nvCxnSpPr>
        <p:spPr>
          <a:xfrm flipH="1">
            <a:off x="7837805" y="3709035"/>
            <a:ext cx="10795" cy="123444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6" name="Straight Connector 15"/>
          <p:cNvCxnSpPr/>
          <p:nvPr/>
        </p:nvCxnSpPr>
        <p:spPr>
          <a:xfrm>
            <a:off x="8336915" y="4381500"/>
            <a:ext cx="0" cy="57023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2" name="Straight Connector 21"/>
          <p:cNvCxnSpPr/>
          <p:nvPr/>
        </p:nvCxnSpPr>
        <p:spPr>
          <a:xfrm>
            <a:off x="8586470" y="4431665"/>
            <a:ext cx="0" cy="56324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4" name="Straight Connector 23"/>
          <p:cNvCxnSpPr/>
          <p:nvPr/>
        </p:nvCxnSpPr>
        <p:spPr>
          <a:xfrm>
            <a:off x="8836025" y="4163695"/>
            <a:ext cx="0" cy="83121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5" name="Straight Connector 24"/>
          <p:cNvCxnSpPr/>
          <p:nvPr/>
        </p:nvCxnSpPr>
        <p:spPr>
          <a:xfrm>
            <a:off x="6215380" y="2207895"/>
            <a:ext cx="0" cy="274320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27" name="Straight Connector 26"/>
          <p:cNvCxnSpPr/>
          <p:nvPr/>
        </p:nvCxnSpPr>
        <p:spPr>
          <a:xfrm flipH="1">
            <a:off x="6214110" y="4959350"/>
            <a:ext cx="312737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30" name="Text Box 29"/>
          <p:cNvSpPr txBox="1"/>
          <p:nvPr/>
        </p:nvSpPr>
        <p:spPr>
          <a:xfrm>
            <a:off x="5306695" y="2207895"/>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振幅</a:t>
            </a:r>
            <a:endParaRPr lang="zh-CN" altLang="en-US" sz="2200">
              <a:latin typeface="Alibaba PuHuiTi 3.0 55 Regular" panose="00020600040101010101" charset="-122"/>
              <a:ea typeface="Alibaba PuHuiTi 3.0 55 Regular" panose="00020600040101010101" charset="-122"/>
            </a:endParaRPr>
          </a:p>
        </p:txBody>
      </p:sp>
      <p:sp>
        <p:nvSpPr>
          <p:cNvPr id="33" name="Text Box 32"/>
          <p:cNvSpPr txBox="1"/>
          <p:nvPr/>
        </p:nvSpPr>
        <p:spPr>
          <a:xfrm>
            <a:off x="9078595" y="5029200"/>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36" name="Freeform 35"/>
          <p:cNvSpPr/>
          <p:nvPr/>
        </p:nvSpPr>
        <p:spPr>
          <a:xfrm>
            <a:off x="6430645" y="2938780"/>
            <a:ext cx="2518410" cy="1645285"/>
          </a:xfrm>
          <a:custGeom>
            <a:avLst/>
            <a:gdLst>
              <a:gd name="connisteX0" fmla="*/ 0 w 2518410"/>
              <a:gd name="connsiteY0" fmla="*/ 1645002 h 1645002"/>
              <a:gd name="connisteX1" fmla="*/ 25400 w 2518410"/>
              <a:gd name="connsiteY1" fmla="*/ 1519907 h 1645002"/>
              <a:gd name="connisteX2" fmla="*/ 142240 w 2518410"/>
              <a:gd name="connsiteY2" fmla="*/ 1328137 h 1645002"/>
              <a:gd name="connisteX3" fmla="*/ 225425 w 2518410"/>
              <a:gd name="connsiteY3" fmla="*/ 1178277 h 1645002"/>
              <a:gd name="connisteX4" fmla="*/ 275590 w 2518410"/>
              <a:gd name="connsiteY4" fmla="*/ 1077947 h 1645002"/>
              <a:gd name="connisteX5" fmla="*/ 325120 w 2518410"/>
              <a:gd name="connsiteY5" fmla="*/ 978252 h 1645002"/>
              <a:gd name="connisteX6" fmla="*/ 358775 w 2518410"/>
              <a:gd name="connsiteY6" fmla="*/ 877922 h 1645002"/>
              <a:gd name="connisteX7" fmla="*/ 383540 w 2518410"/>
              <a:gd name="connsiteY7" fmla="*/ 811247 h 1645002"/>
              <a:gd name="connisteX8" fmla="*/ 400685 w 2518410"/>
              <a:gd name="connsiteY8" fmla="*/ 728062 h 1645002"/>
              <a:gd name="connisteX9" fmla="*/ 441960 w 2518410"/>
              <a:gd name="connsiteY9" fmla="*/ 611222 h 1645002"/>
              <a:gd name="connisteX10" fmla="*/ 459105 w 2518410"/>
              <a:gd name="connsiteY10" fmla="*/ 544547 h 1645002"/>
              <a:gd name="connisteX11" fmla="*/ 492125 w 2518410"/>
              <a:gd name="connsiteY11" fmla="*/ 419452 h 1645002"/>
              <a:gd name="connisteX12" fmla="*/ 525780 w 2518410"/>
              <a:gd name="connsiteY12" fmla="*/ 310867 h 1645002"/>
              <a:gd name="connisteX13" fmla="*/ 550545 w 2518410"/>
              <a:gd name="connsiteY13" fmla="*/ 227682 h 1645002"/>
              <a:gd name="connisteX14" fmla="*/ 567055 w 2518410"/>
              <a:gd name="connsiteY14" fmla="*/ 161007 h 1645002"/>
              <a:gd name="connisteX15" fmla="*/ 584200 w 2518410"/>
              <a:gd name="connsiteY15" fmla="*/ 94332 h 1645002"/>
              <a:gd name="connisteX16" fmla="*/ 625475 w 2518410"/>
              <a:gd name="connsiteY16" fmla="*/ 27657 h 1645002"/>
              <a:gd name="connisteX17" fmla="*/ 692150 w 2518410"/>
              <a:gd name="connsiteY17" fmla="*/ 10512 h 1645002"/>
              <a:gd name="connisteX18" fmla="*/ 784225 w 2518410"/>
              <a:gd name="connsiteY18" fmla="*/ 2257 h 1645002"/>
              <a:gd name="connisteX19" fmla="*/ 859155 w 2518410"/>
              <a:gd name="connsiteY19" fmla="*/ 2257 h 1645002"/>
              <a:gd name="connisteX20" fmla="*/ 925830 w 2518410"/>
              <a:gd name="connsiteY20" fmla="*/ 2257 h 1645002"/>
              <a:gd name="connisteX21" fmla="*/ 1000760 w 2518410"/>
              <a:gd name="connsiteY21" fmla="*/ 27657 h 1645002"/>
              <a:gd name="connisteX22" fmla="*/ 1067435 w 2518410"/>
              <a:gd name="connsiteY22" fmla="*/ 77187 h 1645002"/>
              <a:gd name="connisteX23" fmla="*/ 1125855 w 2518410"/>
              <a:gd name="connsiteY23" fmla="*/ 152752 h 1645002"/>
              <a:gd name="connisteX24" fmla="*/ 1176020 w 2518410"/>
              <a:gd name="connsiteY24" fmla="*/ 235937 h 1645002"/>
              <a:gd name="connisteX25" fmla="*/ 1217930 w 2518410"/>
              <a:gd name="connsiteY25" fmla="*/ 302612 h 1645002"/>
              <a:gd name="connisteX26" fmla="*/ 1242695 w 2518410"/>
              <a:gd name="connsiteY26" fmla="*/ 369287 h 1645002"/>
              <a:gd name="connisteX27" fmla="*/ 1276350 w 2518410"/>
              <a:gd name="connsiteY27" fmla="*/ 435962 h 1645002"/>
              <a:gd name="connisteX28" fmla="*/ 1309370 w 2518410"/>
              <a:gd name="connsiteY28" fmla="*/ 502637 h 1645002"/>
              <a:gd name="connisteX29" fmla="*/ 1351280 w 2518410"/>
              <a:gd name="connsiteY29" fmla="*/ 594712 h 1645002"/>
              <a:gd name="connisteX30" fmla="*/ 1384300 w 2518410"/>
              <a:gd name="connsiteY30" fmla="*/ 686152 h 1645002"/>
              <a:gd name="connisteX31" fmla="*/ 1417955 w 2518410"/>
              <a:gd name="connsiteY31" fmla="*/ 769972 h 1645002"/>
              <a:gd name="connisteX32" fmla="*/ 1450975 w 2518410"/>
              <a:gd name="connsiteY32" fmla="*/ 844902 h 1645002"/>
              <a:gd name="connisteX33" fmla="*/ 1476375 w 2518410"/>
              <a:gd name="connsiteY33" fmla="*/ 911577 h 1645002"/>
              <a:gd name="connisteX34" fmla="*/ 1501140 w 2518410"/>
              <a:gd name="connsiteY34" fmla="*/ 1003017 h 1645002"/>
              <a:gd name="connisteX35" fmla="*/ 1526540 w 2518410"/>
              <a:gd name="connsiteY35" fmla="*/ 1077947 h 1645002"/>
              <a:gd name="connisteX36" fmla="*/ 1551305 w 2518410"/>
              <a:gd name="connsiteY36" fmla="*/ 1153512 h 1645002"/>
              <a:gd name="connisteX37" fmla="*/ 1601470 w 2518410"/>
              <a:gd name="connsiteY37" fmla="*/ 1220187 h 1645002"/>
              <a:gd name="connisteX38" fmla="*/ 1676400 w 2518410"/>
              <a:gd name="connsiteY38" fmla="*/ 1269717 h 1645002"/>
              <a:gd name="connisteX39" fmla="*/ 1743075 w 2518410"/>
              <a:gd name="connsiteY39" fmla="*/ 1319882 h 1645002"/>
              <a:gd name="connisteX40" fmla="*/ 1809750 w 2518410"/>
              <a:gd name="connsiteY40" fmla="*/ 1353537 h 1645002"/>
              <a:gd name="connisteX41" fmla="*/ 1876425 w 2518410"/>
              <a:gd name="connsiteY41" fmla="*/ 1386557 h 1645002"/>
              <a:gd name="connisteX42" fmla="*/ 1951355 w 2518410"/>
              <a:gd name="connsiteY42" fmla="*/ 1411957 h 1645002"/>
              <a:gd name="connisteX43" fmla="*/ 2035175 w 2518410"/>
              <a:gd name="connsiteY43" fmla="*/ 1436722 h 1645002"/>
              <a:gd name="connisteX44" fmla="*/ 2110105 w 2518410"/>
              <a:gd name="connsiteY44" fmla="*/ 1453232 h 1645002"/>
              <a:gd name="connisteX45" fmla="*/ 2185035 w 2518410"/>
              <a:gd name="connsiteY45" fmla="*/ 1453232 h 1645002"/>
              <a:gd name="connisteX46" fmla="*/ 2251710 w 2518410"/>
              <a:gd name="connsiteY46" fmla="*/ 1444977 h 1645002"/>
              <a:gd name="connisteX47" fmla="*/ 2301875 w 2518410"/>
              <a:gd name="connsiteY47" fmla="*/ 1378302 h 1645002"/>
              <a:gd name="connisteX48" fmla="*/ 2343785 w 2518410"/>
              <a:gd name="connsiteY48" fmla="*/ 1311627 h 1645002"/>
              <a:gd name="connisteX49" fmla="*/ 2368550 w 2518410"/>
              <a:gd name="connsiteY49" fmla="*/ 1236697 h 1645002"/>
              <a:gd name="connisteX50" fmla="*/ 2402205 w 2518410"/>
              <a:gd name="connsiteY50" fmla="*/ 1161767 h 1645002"/>
              <a:gd name="connisteX51" fmla="*/ 2426970 w 2518410"/>
              <a:gd name="connsiteY51" fmla="*/ 1086837 h 1645002"/>
              <a:gd name="connisteX52" fmla="*/ 2468880 w 2518410"/>
              <a:gd name="connsiteY52" fmla="*/ 1019527 h 1645002"/>
              <a:gd name="connisteX53" fmla="*/ 2518410 w 2518410"/>
              <a:gd name="connsiteY53" fmla="*/ 944597 h 164500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Lst>
            <a:rect l="l" t="t" r="r" b="b"/>
            <a:pathLst>
              <a:path w="2518410" h="1645003">
                <a:moveTo>
                  <a:pt x="0" y="1645003"/>
                </a:moveTo>
                <a:cubicBezTo>
                  <a:pt x="2540" y="1624048"/>
                  <a:pt x="-3175" y="1583408"/>
                  <a:pt x="25400" y="1519908"/>
                </a:cubicBezTo>
                <a:cubicBezTo>
                  <a:pt x="53975" y="1456408"/>
                  <a:pt x="102235" y="1396718"/>
                  <a:pt x="142240" y="1328138"/>
                </a:cubicBezTo>
                <a:cubicBezTo>
                  <a:pt x="182245" y="1259558"/>
                  <a:pt x="198755" y="1228443"/>
                  <a:pt x="225425" y="1178278"/>
                </a:cubicBezTo>
                <a:cubicBezTo>
                  <a:pt x="252095" y="1128113"/>
                  <a:pt x="255905" y="1117953"/>
                  <a:pt x="275590" y="1077948"/>
                </a:cubicBezTo>
                <a:cubicBezTo>
                  <a:pt x="295275" y="1037943"/>
                  <a:pt x="308610" y="1018258"/>
                  <a:pt x="325120" y="978253"/>
                </a:cubicBezTo>
                <a:cubicBezTo>
                  <a:pt x="341630" y="938248"/>
                  <a:pt x="347345" y="911578"/>
                  <a:pt x="358775" y="877923"/>
                </a:cubicBezTo>
                <a:cubicBezTo>
                  <a:pt x="370205" y="844268"/>
                  <a:pt x="375285" y="841093"/>
                  <a:pt x="383540" y="811248"/>
                </a:cubicBezTo>
                <a:cubicBezTo>
                  <a:pt x="391795" y="781403"/>
                  <a:pt x="389255" y="768068"/>
                  <a:pt x="400685" y="728063"/>
                </a:cubicBezTo>
                <a:cubicBezTo>
                  <a:pt x="412115" y="688058"/>
                  <a:pt x="430530" y="648053"/>
                  <a:pt x="441960" y="611223"/>
                </a:cubicBezTo>
                <a:cubicBezTo>
                  <a:pt x="453390" y="574393"/>
                  <a:pt x="448945" y="582648"/>
                  <a:pt x="459105" y="544548"/>
                </a:cubicBezTo>
                <a:cubicBezTo>
                  <a:pt x="469265" y="506448"/>
                  <a:pt x="478790" y="466443"/>
                  <a:pt x="492125" y="419453"/>
                </a:cubicBezTo>
                <a:cubicBezTo>
                  <a:pt x="505460" y="372463"/>
                  <a:pt x="514350" y="348968"/>
                  <a:pt x="525780" y="310868"/>
                </a:cubicBezTo>
                <a:cubicBezTo>
                  <a:pt x="537210" y="272768"/>
                  <a:pt x="542290" y="257528"/>
                  <a:pt x="550545" y="227683"/>
                </a:cubicBezTo>
                <a:cubicBezTo>
                  <a:pt x="558800" y="197838"/>
                  <a:pt x="560070" y="187678"/>
                  <a:pt x="567055" y="161008"/>
                </a:cubicBezTo>
                <a:cubicBezTo>
                  <a:pt x="574040" y="134338"/>
                  <a:pt x="572770" y="121003"/>
                  <a:pt x="584200" y="94333"/>
                </a:cubicBezTo>
                <a:cubicBezTo>
                  <a:pt x="595630" y="67663"/>
                  <a:pt x="603885" y="44168"/>
                  <a:pt x="625475" y="27658"/>
                </a:cubicBezTo>
                <a:cubicBezTo>
                  <a:pt x="647065" y="11148"/>
                  <a:pt x="660400" y="15593"/>
                  <a:pt x="692150" y="10513"/>
                </a:cubicBezTo>
                <a:cubicBezTo>
                  <a:pt x="723900" y="5433"/>
                  <a:pt x="750570" y="4163"/>
                  <a:pt x="784225" y="2258"/>
                </a:cubicBezTo>
                <a:cubicBezTo>
                  <a:pt x="817880" y="353"/>
                  <a:pt x="830580" y="2258"/>
                  <a:pt x="859155" y="2258"/>
                </a:cubicBezTo>
                <a:cubicBezTo>
                  <a:pt x="887730" y="2258"/>
                  <a:pt x="897255" y="-2822"/>
                  <a:pt x="925830" y="2258"/>
                </a:cubicBezTo>
                <a:cubicBezTo>
                  <a:pt x="954405" y="7338"/>
                  <a:pt x="972185" y="12418"/>
                  <a:pt x="1000760" y="27658"/>
                </a:cubicBezTo>
                <a:cubicBezTo>
                  <a:pt x="1029335" y="42898"/>
                  <a:pt x="1042670" y="52423"/>
                  <a:pt x="1067435" y="77188"/>
                </a:cubicBezTo>
                <a:cubicBezTo>
                  <a:pt x="1092200" y="101953"/>
                  <a:pt x="1104265" y="121003"/>
                  <a:pt x="1125855" y="152753"/>
                </a:cubicBezTo>
                <a:cubicBezTo>
                  <a:pt x="1147445" y="184503"/>
                  <a:pt x="1157605" y="206093"/>
                  <a:pt x="1176020" y="235938"/>
                </a:cubicBezTo>
                <a:cubicBezTo>
                  <a:pt x="1194435" y="265783"/>
                  <a:pt x="1204595" y="275943"/>
                  <a:pt x="1217930" y="302613"/>
                </a:cubicBezTo>
                <a:cubicBezTo>
                  <a:pt x="1231265" y="329283"/>
                  <a:pt x="1231265" y="342618"/>
                  <a:pt x="1242695" y="369288"/>
                </a:cubicBezTo>
                <a:cubicBezTo>
                  <a:pt x="1254125" y="395958"/>
                  <a:pt x="1263015" y="409293"/>
                  <a:pt x="1276350" y="435963"/>
                </a:cubicBezTo>
                <a:cubicBezTo>
                  <a:pt x="1289685" y="462633"/>
                  <a:pt x="1294130" y="470888"/>
                  <a:pt x="1309370" y="502638"/>
                </a:cubicBezTo>
                <a:cubicBezTo>
                  <a:pt x="1324610" y="534388"/>
                  <a:pt x="1336040" y="557883"/>
                  <a:pt x="1351280" y="594713"/>
                </a:cubicBezTo>
                <a:cubicBezTo>
                  <a:pt x="1366520" y="631543"/>
                  <a:pt x="1370965" y="651228"/>
                  <a:pt x="1384300" y="686153"/>
                </a:cubicBezTo>
                <a:cubicBezTo>
                  <a:pt x="1397635" y="721078"/>
                  <a:pt x="1404620" y="738223"/>
                  <a:pt x="1417955" y="769973"/>
                </a:cubicBezTo>
                <a:cubicBezTo>
                  <a:pt x="1431290" y="801723"/>
                  <a:pt x="1439545" y="816328"/>
                  <a:pt x="1450975" y="844903"/>
                </a:cubicBezTo>
                <a:cubicBezTo>
                  <a:pt x="1462405" y="873478"/>
                  <a:pt x="1466215" y="879828"/>
                  <a:pt x="1476375" y="911578"/>
                </a:cubicBezTo>
                <a:cubicBezTo>
                  <a:pt x="1486535" y="943328"/>
                  <a:pt x="1490980" y="969998"/>
                  <a:pt x="1501140" y="1003018"/>
                </a:cubicBezTo>
                <a:cubicBezTo>
                  <a:pt x="1511300" y="1036038"/>
                  <a:pt x="1516380" y="1048103"/>
                  <a:pt x="1526540" y="1077948"/>
                </a:cubicBezTo>
                <a:cubicBezTo>
                  <a:pt x="1536700" y="1107793"/>
                  <a:pt x="1536065" y="1124938"/>
                  <a:pt x="1551305" y="1153513"/>
                </a:cubicBezTo>
                <a:cubicBezTo>
                  <a:pt x="1566545" y="1182088"/>
                  <a:pt x="1576705" y="1196693"/>
                  <a:pt x="1601470" y="1220188"/>
                </a:cubicBezTo>
                <a:cubicBezTo>
                  <a:pt x="1626235" y="1243683"/>
                  <a:pt x="1647825" y="1250033"/>
                  <a:pt x="1676400" y="1269718"/>
                </a:cubicBezTo>
                <a:cubicBezTo>
                  <a:pt x="1704975" y="1289403"/>
                  <a:pt x="1716405" y="1303373"/>
                  <a:pt x="1743075" y="1319883"/>
                </a:cubicBezTo>
                <a:cubicBezTo>
                  <a:pt x="1769745" y="1336393"/>
                  <a:pt x="1783080" y="1340203"/>
                  <a:pt x="1809750" y="1353538"/>
                </a:cubicBezTo>
                <a:cubicBezTo>
                  <a:pt x="1836420" y="1366873"/>
                  <a:pt x="1847850" y="1375128"/>
                  <a:pt x="1876425" y="1386558"/>
                </a:cubicBezTo>
                <a:cubicBezTo>
                  <a:pt x="1905000" y="1397988"/>
                  <a:pt x="1919605" y="1401798"/>
                  <a:pt x="1951355" y="1411958"/>
                </a:cubicBezTo>
                <a:cubicBezTo>
                  <a:pt x="1983105" y="1422118"/>
                  <a:pt x="2003425" y="1428468"/>
                  <a:pt x="2035175" y="1436723"/>
                </a:cubicBezTo>
                <a:cubicBezTo>
                  <a:pt x="2066925" y="1444978"/>
                  <a:pt x="2080260" y="1450058"/>
                  <a:pt x="2110105" y="1453233"/>
                </a:cubicBezTo>
                <a:cubicBezTo>
                  <a:pt x="2139950" y="1456408"/>
                  <a:pt x="2156460" y="1455138"/>
                  <a:pt x="2185035" y="1453233"/>
                </a:cubicBezTo>
                <a:cubicBezTo>
                  <a:pt x="2213610" y="1451328"/>
                  <a:pt x="2228215" y="1460218"/>
                  <a:pt x="2251710" y="1444978"/>
                </a:cubicBezTo>
                <a:cubicBezTo>
                  <a:pt x="2275205" y="1429738"/>
                  <a:pt x="2283460" y="1404973"/>
                  <a:pt x="2301875" y="1378303"/>
                </a:cubicBezTo>
                <a:cubicBezTo>
                  <a:pt x="2320290" y="1351633"/>
                  <a:pt x="2330450" y="1340203"/>
                  <a:pt x="2343785" y="1311628"/>
                </a:cubicBezTo>
                <a:cubicBezTo>
                  <a:pt x="2357120" y="1283053"/>
                  <a:pt x="2357120" y="1266543"/>
                  <a:pt x="2368550" y="1236698"/>
                </a:cubicBezTo>
                <a:cubicBezTo>
                  <a:pt x="2379980" y="1206853"/>
                  <a:pt x="2390775" y="1191613"/>
                  <a:pt x="2402205" y="1161768"/>
                </a:cubicBezTo>
                <a:cubicBezTo>
                  <a:pt x="2413635" y="1131923"/>
                  <a:pt x="2413635" y="1115413"/>
                  <a:pt x="2426970" y="1086838"/>
                </a:cubicBezTo>
                <a:cubicBezTo>
                  <a:pt x="2440305" y="1058263"/>
                  <a:pt x="2450465" y="1048103"/>
                  <a:pt x="2468880" y="1019528"/>
                </a:cubicBezTo>
                <a:cubicBezTo>
                  <a:pt x="2487295" y="990953"/>
                  <a:pt x="2509520" y="957933"/>
                  <a:pt x="2518410" y="944598"/>
                </a:cubicBezTo>
              </a:path>
            </a:pathLst>
          </a:custGeom>
          <a:noFill/>
          <a:ln w="38100">
            <a:solidFill>
              <a:schemeClr val="tx1"/>
            </a:solidFill>
          </a:ln>
        </p:spPr>
        <p:txBody>
          <a:bodyPr vert="horz" lIns="90000" tIns="46800" rIns="90000" bIns="46800" rtlCol="0" anchor="ctr" anchorCtr="0">
            <a:noAutofit/>
          </a:bodyPr>
          <a:p>
            <a:endParaRPr lang="zh-CN" altLang="en-US" sz="2445">
              <a:solidFill>
                <a:schemeClr val="tx1"/>
              </a:solidFill>
            </a:endParaRPr>
          </a:p>
        </p:txBody>
      </p:sp>
      <p:sp>
        <p:nvSpPr>
          <p:cNvPr id="45" name="Text Box 44"/>
          <p:cNvSpPr txBox="1"/>
          <p:nvPr/>
        </p:nvSpPr>
        <p:spPr>
          <a:xfrm>
            <a:off x="6372225" y="5029200"/>
            <a:ext cx="296926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48" name="Text Box 47"/>
          <p:cNvSpPr txBox="1"/>
          <p:nvPr/>
        </p:nvSpPr>
        <p:spPr>
          <a:xfrm>
            <a:off x="6400165" y="389318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49" name="Oval 48"/>
          <p:cNvSpPr/>
          <p:nvPr/>
        </p:nvSpPr>
        <p:spPr>
          <a:xfrm>
            <a:off x="7032625" y="292227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0" name="Oval 49"/>
          <p:cNvSpPr/>
          <p:nvPr/>
        </p:nvSpPr>
        <p:spPr>
          <a:xfrm>
            <a:off x="7808595" y="366712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1" name="Oval 50"/>
          <p:cNvSpPr/>
          <p:nvPr/>
        </p:nvSpPr>
        <p:spPr>
          <a:xfrm>
            <a:off x="8306435" y="428498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2" name="Oval 51"/>
          <p:cNvSpPr/>
          <p:nvPr/>
        </p:nvSpPr>
        <p:spPr>
          <a:xfrm>
            <a:off x="8789670" y="406717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4" name="Text Box 53"/>
          <p:cNvSpPr txBox="1"/>
          <p:nvPr/>
        </p:nvSpPr>
        <p:spPr>
          <a:xfrm>
            <a:off x="7591425" y="297688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5</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55" name="Text Box 54"/>
          <p:cNvSpPr txBox="1"/>
          <p:nvPr/>
        </p:nvSpPr>
        <p:spPr>
          <a:xfrm>
            <a:off x="7964170" y="393192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7</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56" name="Text Box 55"/>
          <p:cNvSpPr txBox="1"/>
          <p:nvPr/>
        </p:nvSpPr>
        <p:spPr>
          <a:xfrm>
            <a:off x="8216900" y="401320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8</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58" name="Straight Connector 57"/>
          <p:cNvCxnSpPr>
            <a:endCxn id="84" idx="3"/>
          </p:cNvCxnSpPr>
          <p:nvPr/>
        </p:nvCxnSpPr>
        <p:spPr>
          <a:xfrm flipV="1">
            <a:off x="6590030" y="3698875"/>
            <a:ext cx="199390" cy="52070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79" name="Straight Connector 78"/>
          <p:cNvCxnSpPr>
            <a:stCxn id="36" idx="8"/>
          </p:cNvCxnSpPr>
          <p:nvPr/>
        </p:nvCxnSpPr>
        <p:spPr>
          <a:xfrm>
            <a:off x="6831330" y="3667125"/>
            <a:ext cx="8255" cy="13271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0" name="Straight Connector 79"/>
          <p:cNvCxnSpPr/>
          <p:nvPr/>
        </p:nvCxnSpPr>
        <p:spPr>
          <a:xfrm>
            <a:off x="7089140" y="2966085"/>
            <a:ext cx="0" cy="202819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1" name="Straight Connector 80"/>
          <p:cNvCxnSpPr/>
          <p:nvPr/>
        </p:nvCxnSpPr>
        <p:spPr>
          <a:xfrm>
            <a:off x="7338695" y="2961640"/>
            <a:ext cx="0" cy="203263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2" name="Straight Connector 81"/>
          <p:cNvCxnSpPr>
            <a:stCxn id="54" idx="1"/>
          </p:cNvCxnSpPr>
          <p:nvPr/>
        </p:nvCxnSpPr>
        <p:spPr>
          <a:xfrm flipH="1">
            <a:off x="7588250" y="3121025"/>
            <a:ext cx="3175" cy="18732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3" name="Straight Connector 82"/>
          <p:cNvCxnSpPr/>
          <p:nvPr/>
        </p:nvCxnSpPr>
        <p:spPr>
          <a:xfrm>
            <a:off x="8087360" y="4227195"/>
            <a:ext cx="0" cy="76708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84" name="Oval 83"/>
          <p:cNvSpPr/>
          <p:nvPr/>
        </p:nvSpPr>
        <p:spPr>
          <a:xfrm>
            <a:off x="6775450" y="361632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5" name="Oval 84"/>
          <p:cNvSpPr/>
          <p:nvPr/>
        </p:nvSpPr>
        <p:spPr>
          <a:xfrm>
            <a:off x="7290435" y="289179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6" name="Oval 85"/>
          <p:cNvSpPr/>
          <p:nvPr/>
        </p:nvSpPr>
        <p:spPr>
          <a:xfrm>
            <a:off x="7556500" y="307276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7" name="Oval 86"/>
          <p:cNvSpPr/>
          <p:nvPr/>
        </p:nvSpPr>
        <p:spPr>
          <a:xfrm>
            <a:off x="8036560" y="416369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8" name="Oval 87"/>
          <p:cNvSpPr/>
          <p:nvPr/>
        </p:nvSpPr>
        <p:spPr>
          <a:xfrm>
            <a:off x="8551545" y="434657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9" name="Text Box 88"/>
          <p:cNvSpPr txBox="1"/>
          <p:nvPr/>
        </p:nvSpPr>
        <p:spPr>
          <a:xfrm>
            <a:off x="6623685" y="328549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0" name="Text Box 89"/>
          <p:cNvSpPr txBox="1"/>
          <p:nvPr/>
        </p:nvSpPr>
        <p:spPr>
          <a:xfrm>
            <a:off x="6934835" y="263652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1" name="Text Box 90"/>
          <p:cNvSpPr txBox="1"/>
          <p:nvPr/>
        </p:nvSpPr>
        <p:spPr>
          <a:xfrm>
            <a:off x="7201535" y="263398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4</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2" name="Text Box 91"/>
          <p:cNvSpPr txBox="1"/>
          <p:nvPr/>
        </p:nvSpPr>
        <p:spPr>
          <a:xfrm>
            <a:off x="7786370" y="340423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6</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3" name="Text Box 92"/>
          <p:cNvSpPr txBox="1"/>
          <p:nvPr/>
        </p:nvSpPr>
        <p:spPr>
          <a:xfrm>
            <a:off x="8463280" y="410210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9</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5" name="Text Box 94"/>
          <p:cNvSpPr txBox="1"/>
          <p:nvPr/>
        </p:nvSpPr>
        <p:spPr>
          <a:xfrm>
            <a:off x="8585200" y="3783330"/>
            <a:ext cx="43180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10</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98" name="Straight Connector 97"/>
          <p:cNvCxnSpPr>
            <a:endCxn id="49" idx="2"/>
          </p:cNvCxnSpPr>
          <p:nvPr/>
        </p:nvCxnSpPr>
        <p:spPr>
          <a:xfrm flipV="1">
            <a:off x="6839585" y="2970530"/>
            <a:ext cx="193040" cy="6965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9" name="Straight Connector 98"/>
          <p:cNvCxnSpPr>
            <a:endCxn id="91" idx="2"/>
          </p:cNvCxnSpPr>
          <p:nvPr/>
        </p:nvCxnSpPr>
        <p:spPr>
          <a:xfrm flipV="1">
            <a:off x="7082155" y="2921635"/>
            <a:ext cx="238760" cy="349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0" name="Straight Connector 99"/>
          <p:cNvCxnSpPr>
            <a:stCxn id="85" idx="5"/>
            <a:endCxn id="86" idx="2"/>
          </p:cNvCxnSpPr>
          <p:nvPr/>
        </p:nvCxnSpPr>
        <p:spPr>
          <a:xfrm>
            <a:off x="7372985" y="2974340"/>
            <a:ext cx="183515" cy="14668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1" name="Straight Connector 100"/>
          <p:cNvCxnSpPr>
            <a:stCxn id="86" idx="4"/>
            <a:endCxn id="36" idx="31"/>
          </p:cNvCxnSpPr>
          <p:nvPr/>
        </p:nvCxnSpPr>
        <p:spPr>
          <a:xfrm>
            <a:off x="7604760" y="3169285"/>
            <a:ext cx="243840" cy="5397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2" name="Straight Connector 101"/>
          <p:cNvCxnSpPr>
            <a:stCxn id="50" idx="5"/>
            <a:endCxn id="87" idx="1"/>
          </p:cNvCxnSpPr>
          <p:nvPr/>
        </p:nvCxnSpPr>
        <p:spPr>
          <a:xfrm>
            <a:off x="7891145" y="3749675"/>
            <a:ext cx="159385" cy="4279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3" name="Straight Connector 102"/>
          <p:cNvCxnSpPr>
            <a:stCxn id="87" idx="5"/>
            <a:endCxn id="51" idx="2"/>
          </p:cNvCxnSpPr>
          <p:nvPr/>
        </p:nvCxnSpPr>
        <p:spPr>
          <a:xfrm>
            <a:off x="8119110" y="4246245"/>
            <a:ext cx="187325" cy="869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4" name="Straight Connector 103"/>
          <p:cNvCxnSpPr>
            <a:stCxn id="51" idx="5"/>
            <a:endCxn id="93" idx="2"/>
          </p:cNvCxnSpPr>
          <p:nvPr/>
        </p:nvCxnSpPr>
        <p:spPr>
          <a:xfrm>
            <a:off x="8388985" y="4367530"/>
            <a:ext cx="193675" cy="222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5" name="Straight Connector 104"/>
          <p:cNvCxnSpPr>
            <a:stCxn id="88" idx="5"/>
            <a:endCxn id="52" idx="2"/>
          </p:cNvCxnSpPr>
          <p:nvPr/>
        </p:nvCxnSpPr>
        <p:spPr>
          <a:xfrm flipV="1">
            <a:off x="8634095" y="4115435"/>
            <a:ext cx="155575" cy="3136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107" name="Text Box 106"/>
          <p:cNvSpPr txBox="1"/>
          <p:nvPr/>
        </p:nvSpPr>
        <p:spPr>
          <a:xfrm>
            <a:off x="2131060" y="5549900"/>
            <a:ext cx="191262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每秒采样</a:t>
            </a:r>
            <a:r>
              <a:rPr lang="en-US" altLang="zh-CN" sz="2200">
                <a:latin typeface="Alibaba PuHuiTi 3.0 55 Regular" panose="00020600040101010101" charset="-122"/>
                <a:ea typeface="Alibaba PuHuiTi 3.0 55 Regular" panose="00020600040101010101" charset="-122"/>
              </a:rPr>
              <a:t>1</a:t>
            </a:r>
            <a:r>
              <a:rPr lang="zh-CN" altLang="en-US" sz="2200">
                <a:latin typeface="Alibaba PuHuiTi 3.0 55 Regular" panose="00020600040101010101" charset="-122"/>
                <a:ea typeface="Alibaba PuHuiTi 3.0 55 Regular" panose="00020600040101010101" charset="-122"/>
              </a:rPr>
              <a:t>次</a:t>
            </a:r>
            <a:endParaRPr lang="zh-CN" altLang="en-US" sz="2200">
              <a:latin typeface="Alibaba PuHuiTi 3.0 55 Regular" panose="00020600040101010101" charset="-122"/>
              <a:ea typeface="Alibaba PuHuiTi 3.0 55 Regular" panose="00020600040101010101" charset="-122"/>
            </a:endParaRPr>
          </a:p>
        </p:txBody>
      </p:sp>
      <p:sp>
        <p:nvSpPr>
          <p:cNvPr id="108" name="Text Box 107"/>
          <p:cNvSpPr txBox="1"/>
          <p:nvPr/>
        </p:nvSpPr>
        <p:spPr>
          <a:xfrm>
            <a:off x="6934835" y="5549900"/>
            <a:ext cx="191262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每秒采样</a:t>
            </a:r>
            <a:r>
              <a:rPr lang="en-US" altLang="zh-CN" sz="2200">
                <a:latin typeface="Alibaba PuHuiTi 3.0 55 Regular" panose="00020600040101010101" charset="-122"/>
                <a:ea typeface="Alibaba PuHuiTi 3.0 55 Regular" panose="00020600040101010101" charset="-122"/>
              </a:rPr>
              <a:t>2</a:t>
            </a:r>
            <a:r>
              <a:rPr lang="zh-CN" altLang="en-US" sz="2200">
                <a:latin typeface="Alibaba PuHuiTi 3.0 55 Regular" panose="00020600040101010101" charset="-122"/>
                <a:ea typeface="Alibaba PuHuiTi 3.0 55 Regular" panose="00020600040101010101" charset="-122"/>
              </a:rPr>
              <a:t>次</a:t>
            </a:r>
            <a:endParaRPr lang="zh-CN" altLang="en-US" sz="2200">
              <a:latin typeface="Alibaba PuHuiTi 3.0 55 Regular" panose="00020600040101010101" charset="-122"/>
              <a:ea typeface="Alibaba PuHuiTi 3.0 55 Regular" panose="00020600040101010101"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8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9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9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9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5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56"/>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93"/>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95"/>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58"/>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98"/>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99"/>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100"/>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01"/>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02"/>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03"/>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104"/>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84" grpId="0" animBg="1"/>
      <p:bldP spid="49" grpId="0" animBg="1"/>
      <p:bldP spid="85" grpId="0" animBg="1"/>
      <p:bldP spid="86" grpId="0" animBg="1"/>
      <p:bldP spid="50" grpId="0" animBg="1"/>
      <p:bldP spid="87" grpId="0" animBg="1"/>
      <p:bldP spid="51" grpId="0" animBg="1"/>
      <p:bldP spid="88" grpId="0" animBg="1"/>
      <p:bldP spid="52" grpId="0" animBg="1"/>
      <p:bldP spid="48" grpId="0"/>
      <p:bldP spid="89" grpId="0"/>
      <p:bldP spid="90" grpId="0"/>
      <p:bldP spid="91" grpId="0"/>
      <p:bldP spid="92" grpId="0"/>
      <p:bldP spid="93" grpId="0"/>
      <p:bldP spid="95" grpId="0"/>
      <p:bldP spid="54" grpId="0"/>
      <p:bldP spid="55" grpId="0"/>
      <p:bldP spid="5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 name="Group 25"/>
          <p:cNvGrpSpPr/>
          <p:nvPr/>
        </p:nvGrpSpPr>
        <p:grpSpPr>
          <a:xfrm>
            <a:off x="1851660" y="4180840"/>
            <a:ext cx="96520" cy="812800"/>
            <a:chOff x="2916" y="6584"/>
            <a:chExt cx="152" cy="1280"/>
          </a:xfrm>
        </p:grpSpPr>
        <p:sp>
          <p:nvSpPr>
            <p:cNvPr id="69" name="Oval 68"/>
            <p:cNvSpPr/>
            <p:nvPr/>
          </p:nvSpPr>
          <p:spPr>
            <a:xfrm>
              <a:off x="2916" y="6584"/>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71" name="Straight Connector 70"/>
            <p:cNvCxnSpPr/>
            <p:nvPr/>
          </p:nvCxnSpPr>
          <p:spPr>
            <a:xfrm>
              <a:off x="2992" y="6700"/>
              <a:ext cx="0" cy="116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grpSp>
      <p:cxnSp>
        <p:nvCxnSpPr>
          <p:cNvPr id="29" name="Straight Connector 28"/>
          <p:cNvCxnSpPr/>
          <p:nvPr/>
        </p:nvCxnSpPr>
        <p:spPr>
          <a:xfrm>
            <a:off x="2461895" y="2935605"/>
            <a:ext cx="0" cy="200787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2" name="Straight Connector 31"/>
          <p:cNvCxnSpPr>
            <a:stCxn id="31" idx="4"/>
          </p:cNvCxnSpPr>
          <p:nvPr/>
        </p:nvCxnSpPr>
        <p:spPr>
          <a:xfrm>
            <a:off x="3023870" y="3432175"/>
            <a:ext cx="0" cy="151955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5" name="Straight Connector 34"/>
          <p:cNvCxnSpPr/>
          <p:nvPr/>
        </p:nvCxnSpPr>
        <p:spPr>
          <a:xfrm>
            <a:off x="3585845" y="4324350"/>
            <a:ext cx="0" cy="67056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8" name="Straight Connector 37"/>
          <p:cNvCxnSpPr>
            <a:stCxn id="37" idx="4"/>
          </p:cNvCxnSpPr>
          <p:nvPr/>
        </p:nvCxnSpPr>
        <p:spPr>
          <a:xfrm>
            <a:off x="4147820" y="4163695"/>
            <a:ext cx="0" cy="83121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2" name="Title 1"/>
          <p:cNvSpPr>
            <a:spLocks noGrp="1"/>
          </p:cNvSpPr>
          <p:nvPr>
            <p:ph type="title"/>
            <p:custDataLst>
              <p:tags r:id="rId1"/>
            </p:custDataLst>
          </p:nvPr>
        </p:nvSpPr>
        <p:spPr/>
        <p:txBody>
          <a:bodyPr>
            <a:normAutofit/>
          </a:bodyPr>
          <a:p>
            <a:r>
              <a:rPr lang="zh-CN" altLang="en-US"/>
              <a:t>怎样才能把声音（模拟信号</a:t>
            </a:r>
            <a:r>
              <a:rPr lang="en-US" altLang="zh-CN"/>
              <a:t>）</a:t>
            </a:r>
            <a:r>
              <a:rPr lang="zh-CN" altLang="en-US"/>
              <a:t>是转成数字信号</a:t>
            </a:r>
            <a:r>
              <a:rPr lang="en-US"/>
              <a:t>？</a:t>
            </a:r>
            <a:endParaRPr lang="en-US"/>
          </a:p>
        </p:txBody>
      </p:sp>
      <p:cxnSp>
        <p:nvCxnSpPr>
          <p:cNvPr id="57" name="Straight Connector 56"/>
          <p:cNvCxnSpPr/>
          <p:nvPr/>
        </p:nvCxnSpPr>
        <p:spPr>
          <a:xfrm>
            <a:off x="1525270" y="2207895"/>
            <a:ext cx="0" cy="274320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21" name="Straight Connector 20"/>
          <p:cNvCxnSpPr/>
          <p:nvPr/>
        </p:nvCxnSpPr>
        <p:spPr>
          <a:xfrm flipH="1">
            <a:off x="1524000" y="4959350"/>
            <a:ext cx="312737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4" name="Text Box 3"/>
          <p:cNvSpPr txBox="1"/>
          <p:nvPr/>
        </p:nvSpPr>
        <p:spPr>
          <a:xfrm>
            <a:off x="616585" y="2207895"/>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振幅</a:t>
            </a:r>
            <a:endParaRPr lang="zh-CN" altLang="en-US" sz="2200">
              <a:latin typeface="Alibaba PuHuiTi 3.0 55 Regular" panose="00020600040101010101" charset="-122"/>
              <a:ea typeface="Alibaba PuHuiTi 3.0 55 Regular" panose="00020600040101010101" charset="-122"/>
            </a:endParaRPr>
          </a:p>
        </p:txBody>
      </p:sp>
      <p:sp>
        <p:nvSpPr>
          <p:cNvPr id="5" name="Text Box 4"/>
          <p:cNvSpPr txBox="1"/>
          <p:nvPr/>
        </p:nvSpPr>
        <p:spPr>
          <a:xfrm>
            <a:off x="4388485" y="5029200"/>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7" name="Text Box 6"/>
          <p:cNvSpPr txBox="1"/>
          <p:nvPr/>
        </p:nvSpPr>
        <p:spPr>
          <a:xfrm>
            <a:off x="1682115" y="5029200"/>
            <a:ext cx="296926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14" name="Text Box 13"/>
          <p:cNvSpPr txBox="1"/>
          <p:nvPr/>
        </p:nvSpPr>
        <p:spPr>
          <a:xfrm>
            <a:off x="691515" y="1313815"/>
            <a:ext cx="2547620" cy="429895"/>
          </a:xfrm>
          <a:prstGeom prst="rect">
            <a:avLst/>
          </a:prstGeom>
          <a:noFill/>
        </p:spPr>
        <p:txBody>
          <a:bodyPr wrap="square" rtlCol="0">
            <a:noAutofit/>
          </a:bodyPr>
          <a:p>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1. </a:t>
            </a:r>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采样</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 Sampling</a:t>
            </a:r>
            <a:endParaRPr lang="en-US" altLang="zh-CN" sz="2200" b="1">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17" name="Text Box 16"/>
          <p:cNvSpPr txBox="1"/>
          <p:nvPr/>
        </p:nvSpPr>
        <p:spPr>
          <a:xfrm>
            <a:off x="3860165" y="1313815"/>
            <a:ext cx="3038475" cy="429895"/>
          </a:xfrm>
          <a:prstGeom prst="rect">
            <a:avLst/>
          </a:prstGeom>
          <a:noFill/>
        </p:spPr>
        <p:txBody>
          <a:bodyPr wrap="square" rtlCol="0">
            <a:spAutoFit/>
          </a:bodyPr>
          <a:p>
            <a:r>
              <a:rPr lang="en-US" altLang="zh-CN" sz="2200">
                <a:latin typeface="Alibaba PuHuiTi 3.0 55 Regular" panose="00020600040101010101" charset="-122"/>
                <a:ea typeface="Alibaba PuHuiTi 3.0 55 Regular" panose="00020600040101010101" charset="-122"/>
              </a:rPr>
              <a:t>2. </a:t>
            </a:r>
            <a:r>
              <a:rPr lang="zh-CN" altLang="en-US" sz="2200">
                <a:latin typeface="Alibaba PuHuiTi 3.0 55 Regular" panose="00020600040101010101" charset="-122"/>
                <a:ea typeface="Alibaba PuHuiTi 3.0 55 Regular" panose="00020600040101010101" charset="-122"/>
              </a:rPr>
              <a:t>量化</a:t>
            </a:r>
            <a:r>
              <a:rPr lang="en-US" altLang="zh-CN" sz="2200">
                <a:latin typeface="Alibaba PuHuiTi 3.0 55 Regular" panose="00020600040101010101" charset="-122"/>
                <a:ea typeface="Alibaba PuHuiTi 3.0 55 Regular" panose="00020600040101010101" charset="-122"/>
              </a:rPr>
              <a:t> </a:t>
            </a:r>
            <a:r>
              <a:rPr lang="en-US" altLang="zh-CN" sz="2200">
                <a:latin typeface="Alibaba PuHuiTi 3.0 55 Regular" panose="00020600040101010101" charset="-122"/>
                <a:ea typeface="Alibaba PuHuiTi 3.0 55 Regular" panose="00020600040101010101" charset="-122"/>
              </a:rPr>
              <a:t>Quantization</a:t>
            </a:r>
            <a:endParaRPr lang="en-US" altLang="zh-CN" sz="2200">
              <a:latin typeface="Alibaba PuHuiTi 3.0 55 Regular" panose="00020600040101010101" charset="-122"/>
              <a:ea typeface="Alibaba PuHuiTi 3.0 55 Regular" panose="00020600040101010101" charset="-122"/>
            </a:endParaRPr>
          </a:p>
        </p:txBody>
      </p:sp>
      <p:sp>
        <p:nvSpPr>
          <p:cNvPr id="18" name="Text Box 17"/>
          <p:cNvSpPr txBox="1"/>
          <p:nvPr/>
        </p:nvSpPr>
        <p:spPr>
          <a:xfrm>
            <a:off x="7519670" y="1313815"/>
            <a:ext cx="3822065" cy="429895"/>
          </a:xfrm>
          <a:prstGeom prst="rect">
            <a:avLst/>
          </a:prstGeom>
          <a:noFill/>
        </p:spPr>
        <p:txBody>
          <a:bodyPr wrap="square" rtlCol="0">
            <a:spAutoFit/>
          </a:bodyPr>
          <a:p>
            <a:r>
              <a:rPr lang="en-US" altLang="zh-CN" sz="2200">
                <a:latin typeface="Alibaba PuHuiTi 3.0 55 Regular" panose="00020600040101010101" charset="-122"/>
                <a:ea typeface="Alibaba PuHuiTi 3.0 55 Regular" panose="00020600040101010101" charset="-122"/>
              </a:rPr>
              <a:t>3. </a:t>
            </a:r>
            <a:r>
              <a:rPr lang="zh-CN" altLang="en-US" sz="2200">
                <a:latin typeface="Alibaba PuHuiTi 3.0 55 Regular" panose="00020600040101010101" charset="-122"/>
                <a:ea typeface="Alibaba PuHuiTi 3.0 55 Regular" panose="00020600040101010101" charset="-122"/>
              </a:rPr>
              <a:t>编码</a:t>
            </a:r>
            <a:r>
              <a:rPr lang="en-US" altLang="zh-CN" sz="2200">
                <a:latin typeface="Alibaba PuHuiTi 3.0 55 Regular" panose="00020600040101010101" charset="-122"/>
                <a:ea typeface="Alibaba PuHuiTi 3.0 55 Regular" panose="00020600040101010101" charset="-122"/>
              </a:rPr>
              <a:t> </a:t>
            </a:r>
            <a:r>
              <a:rPr lang="en-US" altLang="zh-CN" sz="2200">
                <a:latin typeface="Alibaba PuHuiTi 3.0 55 Regular" panose="00020600040101010101" charset="-122"/>
                <a:ea typeface="Alibaba PuHuiTi 3.0 55 Regular" panose="00020600040101010101" charset="-122"/>
              </a:rPr>
              <a:t>Encoding</a:t>
            </a:r>
            <a:endParaRPr lang="en-US" altLang="zh-CN" sz="2200">
              <a:latin typeface="Alibaba PuHuiTi 3.0 55 Regular" panose="00020600040101010101" charset="-122"/>
              <a:ea typeface="Alibaba PuHuiTi 3.0 55 Regular" panose="00020600040101010101" charset="-122"/>
            </a:endParaRPr>
          </a:p>
        </p:txBody>
      </p:sp>
      <p:cxnSp>
        <p:nvCxnSpPr>
          <p:cNvPr id="19" name="Straight Connector 18"/>
          <p:cNvCxnSpPr/>
          <p:nvPr/>
        </p:nvCxnSpPr>
        <p:spPr>
          <a:xfrm flipH="1">
            <a:off x="3202305" y="1528445"/>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cxnSp>
        <p:nvCxnSpPr>
          <p:cNvPr id="20" name="Straight Connector 19"/>
          <p:cNvCxnSpPr/>
          <p:nvPr/>
        </p:nvCxnSpPr>
        <p:spPr>
          <a:xfrm flipH="1">
            <a:off x="6861810" y="1528445"/>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23" name="Text Box 22"/>
          <p:cNvSpPr txBox="1"/>
          <p:nvPr/>
        </p:nvSpPr>
        <p:spPr>
          <a:xfrm>
            <a:off x="1731010" y="37839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28" name="Oval 27"/>
          <p:cNvSpPr/>
          <p:nvPr/>
        </p:nvSpPr>
        <p:spPr>
          <a:xfrm>
            <a:off x="2413635" y="288607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1" name="Oval 30"/>
          <p:cNvSpPr/>
          <p:nvPr/>
        </p:nvSpPr>
        <p:spPr>
          <a:xfrm>
            <a:off x="2975610" y="333565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4" name="Oval 33"/>
          <p:cNvSpPr/>
          <p:nvPr/>
        </p:nvSpPr>
        <p:spPr>
          <a:xfrm>
            <a:off x="3537585" y="425005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7" name="Oval 36"/>
          <p:cNvSpPr/>
          <p:nvPr/>
        </p:nvSpPr>
        <p:spPr>
          <a:xfrm>
            <a:off x="4099560" y="406717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9" name="Text Box 38"/>
          <p:cNvSpPr txBox="1"/>
          <p:nvPr/>
        </p:nvSpPr>
        <p:spPr>
          <a:xfrm>
            <a:off x="2342515" y="256222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40" name="Text Box 39"/>
          <p:cNvSpPr txBox="1"/>
          <p:nvPr/>
        </p:nvSpPr>
        <p:spPr>
          <a:xfrm>
            <a:off x="2901315" y="297688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41" name="Text Box 40"/>
          <p:cNvSpPr txBox="1"/>
          <p:nvPr/>
        </p:nvSpPr>
        <p:spPr>
          <a:xfrm>
            <a:off x="3442970" y="396748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4</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42" name="Text Box 41"/>
          <p:cNvSpPr txBox="1"/>
          <p:nvPr/>
        </p:nvSpPr>
        <p:spPr>
          <a:xfrm>
            <a:off x="3957955" y="367982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5</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43" name="Straight Connector 42"/>
          <p:cNvCxnSpPr>
            <a:endCxn id="28" idx="3"/>
          </p:cNvCxnSpPr>
          <p:nvPr/>
        </p:nvCxnSpPr>
        <p:spPr>
          <a:xfrm flipV="1">
            <a:off x="1899920" y="2968625"/>
            <a:ext cx="527685" cy="12509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44" name="Straight Connector 43"/>
          <p:cNvCxnSpPr/>
          <p:nvPr/>
        </p:nvCxnSpPr>
        <p:spPr>
          <a:xfrm flipH="1" flipV="1">
            <a:off x="2478405" y="2959100"/>
            <a:ext cx="531495" cy="40513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46" name="Straight Connector 45"/>
          <p:cNvCxnSpPr>
            <a:stCxn id="34" idx="5"/>
          </p:cNvCxnSpPr>
          <p:nvPr/>
        </p:nvCxnSpPr>
        <p:spPr>
          <a:xfrm flipH="1" flipV="1">
            <a:off x="3023870" y="3378835"/>
            <a:ext cx="596265" cy="95377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47" name="Straight Connector 46"/>
          <p:cNvCxnSpPr>
            <a:stCxn id="37" idx="3"/>
          </p:cNvCxnSpPr>
          <p:nvPr/>
        </p:nvCxnSpPr>
        <p:spPr>
          <a:xfrm flipH="1">
            <a:off x="3565525" y="4149725"/>
            <a:ext cx="548005" cy="13525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12" name="Oval 11"/>
          <p:cNvSpPr/>
          <p:nvPr/>
        </p:nvSpPr>
        <p:spPr>
          <a:xfrm>
            <a:off x="6541770" y="41808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13" name="Straight Connector 12"/>
          <p:cNvCxnSpPr/>
          <p:nvPr/>
        </p:nvCxnSpPr>
        <p:spPr>
          <a:xfrm>
            <a:off x="6590030" y="4254500"/>
            <a:ext cx="0" cy="73977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5" name="Straight Connector 14"/>
          <p:cNvCxnSpPr>
            <a:stCxn id="36" idx="31"/>
          </p:cNvCxnSpPr>
          <p:nvPr/>
        </p:nvCxnSpPr>
        <p:spPr>
          <a:xfrm flipH="1">
            <a:off x="7837805" y="3709035"/>
            <a:ext cx="10795" cy="123444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6" name="Straight Connector 15"/>
          <p:cNvCxnSpPr/>
          <p:nvPr/>
        </p:nvCxnSpPr>
        <p:spPr>
          <a:xfrm>
            <a:off x="8336915" y="4381500"/>
            <a:ext cx="0" cy="57023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2" name="Straight Connector 21"/>
          <p:cNvCxnSpPr/>
          <p:nvPr/>
        </p:nvCxnSpPr>
        <p:spPr>
          <a:xfrm>
            <a:off x="8586470" y="4431665"/>
            <a:ext cx="0" cy="56324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4" name="Straight Connector 23"/>
          <p:cNvCxnSpPr/>
          <p:nvPr/>
        </p:nvCxnSpPr>
        <p:spPr>
          <a:xfrm>
            <a:off x="8836025" y="4163695"/>
            <a:ext cx="0" cy="83121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5" name="Straight Connector 24"/>
          <p:cNvCxnSpPr/>
          <p:nvPr/>
        </p:nvCxnSpPr>
        <p:spPr>
          <a:xfrm>
            <a:off x="6215380" y="2207895"/>
            <a:ext cx="0" cy="274320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27" name="Straight Connector 26"/>
          <p:cNvCxnSpPr/>
          <p:nvPr/>
        </p:nvCxnSpPr>
        <p:spPr>
          <a:xfrm flipH="1">
            <a:off x="6214110" y="4959350"/>
            <a:ext cx="312737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30" name="Text Box 29"/>
          <p:cNvSpPr txBox="1"/>
          <p:nvPr/>
        </p:nvSpPr>
        <p:spPr>
          <a:xfrm>
            <a:off x="5306695" y="2207895"/>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振幅</a:t>
            </a:r>
            <a:endParaRPr lang="zh-CN" altLang="en-US" sz="2200">
              <a:latin typeface="Alibaba PuHuiTi 3.0 55 Regular" panose="00020600040101010101" charset="-122"/>
              <a:ea typeface="Alibaba PuHuiTi 3.0 55 Regular" panose="00020600040101010101" charset="-122"/>
            </a:endParaRPr>
          </a:p>
        </p:txBody>
      </p:sp>
      <p:sp>
        <p:nvSpPr>
          <p:cNvPr id="33" name="Text Box 32"/>
          <p:cNvSpPr txBox="1"/>
          <p:nvPr/>
        </p:nvSpPr>
        <p:spPr>
          <a:xfrm>
            <a:off x="9078595" y="5029200"/>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45" name="Text Box 44"/>
          <p:cNvSpPr txBox="1"/>
          <p:nvPr/>
        </p:nvSpPr>
        <p:spPr>
          <a:xfrm>
            <a:off x="6372225" y="5029200"/>
            <a:ext cx="296926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48" name="Text Box 47"/>
          <p:cNvSpPr txBox="1"/>
          <p:nvPr/>
        </p:nvSpPr>
        <p:spPr>
          <a:xfrm>
            <a:off x="6400165" y="389318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49" name="Oval 48"/>
          <p:cNvSpPr/>
          <p:nvPr/>
        </p:nvSpPr>
        <p:spPr>
          <a:xfrm>
            <a:off x="7032625" y="292227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0" name="Oval 49"/>
          <p:cNvSpPr/>
          <p:nvPr/>
        </p:nvSpPr>
        <p:spPr>
          <a:xfrm>
            <a:off x="7808595" y="366712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1" name="Oval 50"/>
          <p:cNvSpPr/>
          <p:nvPr/>
        </p:nvSpPr>
        <p:spPr>
          <a:xfrm>
            <a:off x="8306435" y="428498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2" name="Oval 51"/>
          <p:cNvSpPr/>
          <p:nvPr/>
        </p:nvSpPr>
        <p:spPr>
          <a:xfrm>
            <a:off x="8789670" y="406717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4" name="Text Box 53"/>
          <p:cNvSpPr txBox="1"/>
          <p:nvPr/>
        </p:nvSpPr>
        <p:spPr>
          <a:xfrm>
            <a:off x="7591425" y="297688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5</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55" name="Text Box 54"/>
          <p:cNvSpPr txBox="1"/>
          <p:nvPr/>
        </p:nvSpPr>
        <p:spPr>
          <a:xfrm>
            <a:off x="7964170" y="393192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7</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56" name="Text Box 55"/>
          <p:cNvSpPr txBox="1"/>
          <p:nvPr/>
        </p:nvSpPr>
        <p:spPr>
          <a:xfrm>
            <a:off x="8216900" y="401320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8</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58" name="Straight Connector 57"/>
          <p:cNvCxnSpPr>
            <a:endCxn id="84" idx="3"/>
          </p:cNvCxnSpPr>
          <p:nvPr/>
        </p:nvCxnSpPr>
        <p:spPr>
          <a:xfrm flipV="1">
            <a:off x="6590030" y="3698875"/>
            <a:ext cx="199390" cy="52070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79" name="Straight Connector 78"/>
          <p:cNvCxnSpPr>
            <a:stCxn id="36" idx="8"/>
          </p:cNvCxnSpPr>
          <p:nvPr/>
        </p:nvCxnSpPr>
        <p:spPr>
          <a:xfrm>
            <a:off x="6831330" y="3667125"/>
            <a:ext cx="8255" cy="13271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0" name="Straight Connector 79"/>
          <p:cNvCxnSpPr/>
          <p:nvPr/>
        </p:nvCxnSpPr>
        <p:spPr>
          <a:xfrm>
            <a:off x="7089140" y="2966085"/>
            <a:ext cx="0" cy="202819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1" name="Straight Connector 80"/>
          <p:cNvCxnSpPr/>
          <p:nvPr/>
        </p:nvCxnSpPr>
        <p:spPr>
          <a:xfrm>
            <a:off x="7338695" y="2961640"/>
            <a:ext cx="0" cy="203263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2" name="Straight Connector 81"/>
          <p:cNvCxnSpPr>
            <a:stCxn id="54" idx="1"/>
          </p:cNvCxnSpPr>
          <p:nvPr/>
        </p:nvCxnSpPr>
        <p:spPr>
          <a:xfrm flipH="1">
            <a:off x="7588250" y="3121025"/>
            <a:ext cx="3175" cy="18732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3" name="Straight Connector 82"/>
          <p:cNvCxnSpPr/>
          <p:nvPr/>
        </p:nvCxnSpPr>
        <p:spPr>
          <a:xfrm>
            <a:off x="8087360" y="4227195"/>
            <a:ext cx="0" cy="76708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84" name="Oval 83"/>
          <p:cNvSpPr/>
          <p:nvPr/>
        </p:nvSpPr>
        <p:spPr>
          <a:xfrm>
            <a:off x="6775450" y="361632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5" name="Oval 84"/>
          <p:cNvSpPr/>
          <p:nvPr/>
        </p:nvSpPr>
        <p:spPr>
          <a:xfrm>
            <a:off x="7290435" y="289179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6" name="Oval 85"/>
          <p:cNvSpPr/>
          <p:nvPr/>
        </p:nvSpPr>
        <p:spPr>
          <a:xfrm>
            <a:off x="7556500" y="307276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7" name="Oval 86"/>
          <p:cNvSpPr/>
          <p:nvPr/>
        </p:nvSpPr>
        <p:spPr>
          <a:xfrm>
            <a:off x="8036560" y="416369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8" name="Oval 87"/>
          <p:cNvSpPr/>
          <p:nvPr/>
        </p:nvSpPr>
        <p:spPr>
          <a:xfrm>
            <a:off x="8551545" y="434657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9" name="Text Box 88"/>
          <p:cNvSpPr txBox="1"/>
          <p:nvPr/>
        </p:nvSpPr>
        <p:spPr>
          <a:xfrm>
            <a:off x="6623685" y="328549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0" name="Text Box 89"/>
          <p:cNvSpPr txBox="1"/>
          <p:nvPr/>
        </p:nvSpPr>
        <p:spPr>
          <a:xfrm>
            <a:off x="6934835" y="263652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1" name="Text Box 90"/>
          <p:cNvSpPr txBox="1"/>
          <p:nvPr/>
        </p:nvSpPr>
        <p:spPr>
          <a:xfrm>
            <a:off x="7201535" y="263398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4</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2" name="Text Box 91"/>
          <p:cNvSpPr txBox="1"/>
          <p:nvPr/>
        </p:nvSpPr>
        <p:spPr>
          <a:xfrm>
            <a:off x="7786370" y="340423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6</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3" name="Text Box 92"/>
          <p:cNvSpPr txBox="1"/>
          <p:nvPr/>
        </p:nvSpPr>
        <p:spPr>
          <a:xfrm>
            <a:off x="8463280" y="410210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9</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5" name="Text Box 94"/>
          <p:cNvSpPr txBox="1"/>
          <p:nvPr/>
        </p:nvSpPr>
        <p:spPr>
          <a:xfrm>
            <a:off x="8585200" y="3783330"/>
            <a:ext cx="43180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10</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98" name="Straight Connector 97"/>
          <p:cNvCxnSpPr>
            <a:endCxn id="49" idx="2"/>
          </p:cNvCxnSpPr>
          <p:nvPr/>
        </p:nvCxnSpPr>
        <p:spPr>
          <a:xfrm flipV="1">
            <a:off x="6839585" y="2970530"/>
            <a:ext cx="193040" cy="6965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9" name="Straight Connector 98"/>
          <p:cNvCxnSpPr>
            <a:endCxn id="91" idx="2"/>
          </p:cNvCxnSpPr>
          <p:nvPr/>
        </p:nvCxnSpPr>
        <p:spPr>
          <a:xfrm flipV="1">
            <a:off x="7082155" y="2921635"/>
            <a:ext cx="238760" cy="349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0" name="Straight Connector 99"/>
          <p:cNvCxnSpPr>
            <a:stCxn id="85" idx="5"/>
            <a:endCxn id="86" idx="2"/>
          </p:cNvCxnSpPr>
          <p:nvPr/>
        </p:nvCxnSpPr>
        <p:spPr>
          <a:xfrm>
            <a:off x="7372985" y="2974340"/>
            <a:ext cx="183515" cy="14668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1" name="Straight Connector 100"/>
          <p:cNvCxnSpPr>
            <a:stCxn id="86" idx="4"/>
            <a:endCxn id="36" idx="31"/>
          </p:cNvCxnSpPr>
          <p:nvPr/>
        </p:nvCxnSpPr>
        <p:spPr>
          <a:xfrm>
            <a:off x="7604760" y="3169285"/>
            <a:ext cx="243840" cy="5397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2" name="Straight Connector 101"/>
          <p:cNvCxnSpPr>
            <a:stCxn id="50" idx="5"/>
            <a:endCxn id="87" idx="1"/>
          </p:cNvCxnSpPr>
          <p:nvPr/>
        </p:nvCxnSpPr>
        <p:spPr>
          <a:xfrm>
            <a:off x="7891145" y="3749675"/>
            <a:ext cx="159385" cy="4279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3" name="Straight Connector 102"/>
          <p:cNvCxnSpPr>
            <a:stCxn id="87" idx="5"/>
            <a:endCxn id="51" idx="2"/>
          </p:cNvCxnSpPr>
          <p:nvPr/>
        </p:nvCxnSpPr>
        <p:spPr>
          <a:xfrm>
            <a:off x="8119110" y="4246245"/>
            <a:ext cx="187325" cy="869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4" name="Straight Connector 103"/>
          <p:cNvCxnSpPr>
            <a:stCxn id="51" idx="5"/>
            <a:endCxn id="93" idx="2"/>
          </p:cNvCxnSpPr>
          <p:nvPr/>
        </p:nvCxnSpPr>
        <p:spPr>
          <a:xfrm>
            <a:off x="8388985" y="4367530"/>
            <a:ext cx="193675" cy="222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5" name="Straight Connector 104"/>
          <p:cNvCxnSpPr>
            <a:stCxn id="88" idx="5"/>
            <a:endCxn id="52" idx="2"/>
          </p:cNvCxnSpPr>
          <p:nvPr/>
        </p:nvCxnSpPr>
        <p:spPr>
          <a:xfrm flipV="1">
            <a:off x="8634095" y="4115435"/>
            <a:ext cx="155575" cy="3136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107" name="Text Box 106"/>
          <p:cNvSpPr txBox="1"/>
          <p:nvPr/>
        </p:nvSpPr>
        <p:spPr>
          <a:xfrm>
            <a:off x="2131060" y="5549900"/>
            <a:ext cx="191262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每秒采样</a:t>
            </a:r>
            <a:r>
              <a:rPr lang="en-US" altLang="zh-CN" sz="2200">
                <a:latin typeface="Alibaba PuHuiTi 3.0 55 Regular" panose="00020600040101010101" charset="-122"/>
                <a:ea typeface="Alibaba PuHuiTi 3.0 55 Regular" panose="00020600040101010101" charset="-122"/>
              </a:rPr>
              <a:t>1</a:t>
            </a:r>
            <a:r>
              <a:rPr lang="zh-CN" altLang="en-US" sz="2200">
                <a:latin typeface="Alibaba PuHuiTi 3.0 55 Regular" panose="00020600040101010101" charset="-122"/>
                <a:ea typeface="Alibaba PuHuiTi 3.0 55 Regular" panose="00020600040101010101" charset="-122"/>
              </a:rPr>
              <a:t>次</a:t>
            </a:r>
            <a:endParaRPr lang="zh-CN" altLang="en-US" sz="2200">
              <a:latin typeface="Alibaba PuHuiTi 3.0 55 Regular" panose="00020600040101010101" charset="-122"/>
              <a:ea typeface="Alibaba PuHuiTi 3.0 55 Regular" panose="00020600040101010101" charset="-122"/>
            </a:endParaRPr>
          </a:p>
        </p:txBody>
      </p:sp>
      <p:sp>
        <p:nvSpPr>
          <p:cNvPr id="108" name="Text Box 107"/>
          <p:cNvSpPr txBox="1"/>
          <p:nvPr/>
        </p:nvSpPr>
        <p:spPr>
          <a:xfrm>
            <a:off x="6934835" y="5549900"/>
            <a:ext cx="191262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每秒采样</a:t>
            </a:r>
            <a:r>
              <a:rPr lang="en-US" altLang="zh-CN" sz="2200">
                <a:latin typeface="Alibaba PuHuiTi 3.0 55 Regular" panose="00020600040101010101" charset="-122"/>
                <a:ea typeface="Alibaba PuHuiTi 3.0 55 Regular" panose="00020600040101010101" charset="-122"/>
              </a:rPr>
              <a:t>2</a:t>
            </a:r>
            <a:r>
              <a:rPr lang="zh-CN" altLang="en-US" sz="2200">
                <a:latin typeface="Alibaba PuHuiTi 3.0 55 Regular" panose="00020600040101010101" charset="-122"/>
                <a:ea typeface="Alibaba PuHuiTi 3.0 55 Regular" panose="00020600040101010101" charset="-122"/>
              </a:rPr>
              <a:t>次</a:t>
            </a:r>
            <a:endParaRPr lang="zh-CN" altLang="en-US" sz="2200">
              <a:latin typeface="Alibaba PuHuiTi 3.0 55 Regular" panose="00020600040101010101" charset="-122"/>
              <a:ea typeface="Alibaba PuHuiTi 3.0 55 Regular" panose="00020600040101010101" charset="-122"/>
            </a:endParaRPr>
          </a:p>
        </p:txBody>
      </p:sp>
      <p:sp>
        <p:nvSpPr>
          <p:cNvPr id="3" name="Text Box 2"/>
          <p:cNvSpPr txBox="1"/>
          <p:nvPr/>
        </p:nvSpPr>
        <p:spPr>
          <a:xfrm>
            <a:off x="616585" y="1743710"/>
            <a:ext cx="7860030" cy="429895"/>
          </a:xfrm>
          <a:prstGeom prst="rect">
            <a:avLst/>
          </a:prstGeom>
          <a:noFill/>
        </p:spPr>
        <p:txBody>
          <a:bodyPr wrap="square" rtlCol="0">
            <a:noAutofit/>
          </a:bodyPr>
          <a:p>
            <a:r>
              <a:rPr lang="zh-CN" altLang="en-US" sz="2200">
                <a:solidFill>
                  <a:srgbClr val="FF0000"/>
                </a:solidFill>
                <a:latin typeface="Alibaba PuHuiTi 3.0 55 Regular" panose="00020600040101010101" charset="-122"/>
                <a:ea typeface="Alibaba PuHuiTi 3.0 55 Regular" panose="00020600040101010101" charset="-122"/>
              </a:rPr>
              <a:t>对比</a:t>
            </a:r>
            <a:r>
              <a:rPr lang="en-US" altLang="zh-CN" sz="2200">
                <a:solidFill>
                  <a:srgbClr val="FF0000"/>
                </a:solidFill>
                <a:latin typeface="Alibaba PuHuiTi 3.0 55 Regular" panose="00020600040101010101" charset="-122"/>
                <a:ea typeface="Alibaba PuHuiTi 3.0 55 Regular" panose="00020600040101010101" charset="-122"/>
              </a:rPr>
              <a:t>2</a:t>
            </a:r>
            <a:r>
              <a:rPr lang="zh-CN" altLang="en-US" sz="2200">
                <a:solidFill>
                  <a:srgbClr val="FF0000"/>
                </a:solidFill>
                <a:latin typeface="Alibaba PuHuiTi 3.0 55 Regular" panose="00020600040101010101" charset="-122"/>
                <a:ea typeface="Alibaba PuHuiTi 3.0 55 Regular" panose="00020600040101010101" charset="-122"/>
              </a:rPr>
              <a:t>次采样结果</a:t>
            </a:r>
            <a:r>
              <a:rPr lang="en-US" altLang="zh-CN" sz="2200">
                <a:solidFill>
                  <a:srgbClr val="FF0000"/>
                </a:solidFill>
                <a:latin typeface="Alibaba PuHuiTi 3.0 55 Regular" panose="00020600040101010101" charset="-122"/>
                <a:ea typeface="Alibaba PuHuiTi 3.0 55 Regular" panose="00020600040101010101" charset="-122"/>
              </a:rPr>
              <a:t>，</a:t>
            </a:r>
            <a:r>
              <a:rPr lang="zh-CN" altLang="en-US" sz="2200">
                <a:solidFill>
                  <a:srgbClr val="FF0000"/>
                </a:solidFill>
                <a:latin typeface="Alibaba PuHuiTi 3.0 55 Regular" panose="00020600040101010101" charset="-122"/>
                <a:ea typeface="Alibaba PuHuiTi 3.0 55 Regular" panose="00020600040101010101" charset="-122"/>
              </a:rPr>
              <a:t>哪一次采样结果更接近原来的波形</a:t>
            </a:r>
            <a:r>
              <a:rPr lang="en-US" altLang="zh-CN" sz="2200">
                <a:solidFill>
                  <a:srgbClr val="FF0000"/>
                </a:solidFill>
                <a:latin typeface="Alibaba PuHuiTi 3.0 55 Regular" panose="00020600040101010101" charset="-122"/>
                <a:ea typeface="Alibaba PuHuiTi 3.0 55 Regular" panose="00020600040101010101" charset="-122"/>
              </a:rPr>
              <a:t>？</a:t>
            </a:r>
            <a:endParaRPr lang="en-US" altLang="zh-CN" sz="2200">
              <a:solidFill>
                <a:srgbClr val="FF0000"/>
              </a:solidFill>
              <a:latin typeface="Alibaba PuHuiTi 3.0 55 Regular" panose="00020600040101010101" charset="-122"/>
              <a:ea typeface="Alibaba PuHuiTi 3.0 55 Regular" panose="00020600040101010101" charset="-122"/>
            </a:endParaRPr>
          </a:p>
        </p:txBody>
      </p:sp>
      <p:pic>
        <p:nvPicPr>
          <p:cNvPr id="9" name="Picture 8" descr="勾"/>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8261350" y="5549900"/>
            <a:ext cx="574675" cy="574675"/>
          </a:xfrm>
          <a:prstGeom prst="rect">
            <a:avLst/>
          </a:prstGeom>
        </p:spPr>
      </p:pic>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a:bodyPr>
          <a:p>
            <a:r>
              <a:rPr lang="zh-CN" altLang="en-US"/>
              <a:t>怎样才能把声音（模拟信号</a:t>
            </a:r>
            <a:r>
              <a:rPr lang="en-US" altLang="zh-CN"/>
              <a:t>）</a:t>
            </a:r>
            <a:r>
              <a:rPr lang="zh-CN" altLang="en-US"/>
              <a:t>是转成数字信号</a:t>
            </a:r>
            <a:r>
              <a:rPr lang="en-US"/>
              <a:t>？</a:t>
            </a:r>
            <a:endParaRPr lang="en-US"/>
          </a:p>
        </p:txBody>
      </p:sp>
      <p:sp>
        <p:nvSpPr>
          <p:cNvPr id="14" name="Text Box 13"/>
          <p:cNvSpPr txBox="1"/>
          <p:nvPr/>
        </p:nvSpPr>
        <p:spPr>
          <a:xfrm>
            <a:off x="691515" y="1313815"/>
            <a:ext cx="2547620" cy="429895"/>
          </a:xfrm>
          <a:prstGeom prst="rect">
            <a:avLst/>
          </a:prstGeom>
          <a:noFill/>
        </p:spPr>
        <p:txBody>
          <a:bodyPr wrap="square" rtlCol="0">
            <a:noAutofit/>
          </a:bodyPr>
          <a:p>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1. </a:t>
            </a:r>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采样</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 Sampling</a:t>
            </a:r>
            <a:endParaRPr lang="en-US" altLang="zh-CN" sz="2200" b="1">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17" name="Text Box 16"/>
          <p:cNvSpPr txBox="1"/>
          <p:nvPr/>
        </p:nvSpPr>
        <p:spPr>
          <a:xfrm>
            <a:off x="3860165" y="1313815"/>
            <a:ext cx="3038475" cy="429895"/>
          </a:xfrm>
          <a:prstGeom prst="rect">
            <a:avLst/>
          </a:prstGeom>
          <a:noFill/>
        </p:spPr>
        <p:txBody>
          <a:bodyPr wrap="square" rtlCol="0">
            <a:spAutoFit/>
          </a:bodyPr>
          <a:p>
            <a:r>
              <a:rPr lang="en-US" altLang="zh-CN" sz="2200">
                <a:latin typeface="Alibaba PuHuiTi 3.0 55 Regular" panose="00020600040101010101" charset="-122"/>
                <a:ea typeface="Alibaba PuHuiTi 3.0 55 Regular" panose="00020600040101010101" charset="-122"/>
              </a:rPr>
              <a:t>2. </a:t>
            </a:r>
            <a:r>
              <a:rPr lang="zh-CN" altLang="en-US" sz="2200">
                <a:latin typeface="Alibaba PuHuiTi 3.0 55 Regular" panose="00020600040101010101" charset="-122"/>
                <a:ea typeface="Alibaba PuHuiTi 3.0 55 Regular" panose="00020600040101010101" charset="-122"/>
              </a:rPr>
              <a:t>量化</a:t>
            </a:r>
            <a:r>
              <a:rPr lang="en-US" altLang="zh-CN" sz="2200">
                <a:latin typeface="Alibaba PuHuiTi 3.0 55 Regular" panose="00020600040101010101" charset="-122"/>
                <a:ea typeface="Alibaba PuHuiTi 3.0 55 Regular" panose="00020600040101010101" charset="-122"/>
              </a:rPr>
              <a:t> </a:t>
            </a:r>
            <a:r>
              <a:rPr lang="en-US" altLang="zh-CN" sz="2200">
                <a:latin typeface="Alibaba PuHuiTi 3.0 55 Regular" panose="00020600040101010101" charset="-122"/>
                <a:ea typeface="Alibaba PuHuiTi 3.0 55 Regular" panose="00020600040101010101" charset="-122"/>
              </a:rPr>
              <a:t>Quantization</a:t>
            </a:r>
            <a:endParaRPr lang="en-US" altLang="zh-CN" sz="2200">
              <a:latin typeface="Alibaba PuHuiTi 3.0 55 Regular" panose="00020600040101010101" charset="-122"/>
              <a:ea typeface="Alibaba PuHuiTi 3.0 55 Regular" panose="00020600040101010101" charset="-122"/>
            </a:endParaRPr>
          </a:p>
        </p:txBody>
      </p:sp>
      <p:sp>
        <p:nvSpPr>
          <p:cNvPr id="18" name="Text Box 17"/>
          <p:cNvSpPr txBox="1"/>
          <p:nvPr/>
        </p:nvSpPr>
        <p:spPr>
          <a:xfrm>
            <a:off x="7519670" y="1313815"/>
            <a:ext cx="3822065" cy="429895"/>
          </a:xfrm>
          <a:prstGeom prst="rect">
            <a:avLst/>
          </a:prstGeom>
          <a:noFill/>
        </p:spPr>
        <p:txBody>
          <a:bodyPr wrap="square" rtlCol="0">
            <a:spAutoFit/>
          </a:bodyPr>
          <a:p>
            <a:r>
              <a:rPr lang="en-US" altLang="zh-CN" sz="2200">
                <a:latin typeface="Alibaba PuHuiTi 3.0 55 Regular" panose="00020600040101010101" charset="-122"/>
                <a:ea typeface="Alibaba PuHuiTi 3.0 55 Regular" panose="00020600040101010101" charset="-122"/>
              </a:rPr>
              <a:t>3. </a:t>
            </a:r>
            <a:r>
              <a:rPr lang="zh-CN" altLang="en-US" sz="2200">
                <a:latin typeface="Alibaba PuHuiTi 3.0 55 Regular" panose="00020600040101010101" charset="-122"/>
                <a:ea typeface="Alibaba PuHuiTi 3.0 55 Regular" panose="00020600040101010101" charset="-122"/>
              </a:rPr>
              <a:t>编码</a:t>
            </a:r>
            <a:r>
              <a:rPr lang="en-US" altLang="zh-CN" sz="2200">
                <a:latin typeface="Alibaba PuHuiTi 3.0 55 Regular" panose="00020600040101010101" charset="-122"/>
                <a:ea typeface="Alibaba PuHuiTi 3.0 55 Regular" panose="00020600040101010101" charset="-122"/>
              </a:rPr>
              <a:t> </a:t>
            </a:r>
            <a:r>
              <a:rPr lang="en-US" altLang="zh-CN" sz="2200">
                <a:latin typeface="Alibaba PuHuiTi 3.0 55 Regular" panose="00020600040101010101" charset="-122"/>
                <a:ea typeface="Alibaba PuHuiTi 3.0 55 Regular" panose="00020600040101010101" charset="-122"/>
              </a:rPr>
              <a:t>Encoding</a:t>
            </a:r>
            <a:endParaRPr lang="en-US" altLang="zh-CN" sz="2200">
              <a:latin typeface="Alibaba PuHuiTi 3.0 55 Regular" panose="00020600040101010101" charset="-122"/>
              <a:ea typeface="Alibaba PuHuiTi 3.0 55 Regular" panose="00020600040101010101" charset="-122"/>
            </a:endParaRPr>
          </a:p>
        </p:txBody>
      </p:sp>
      <p:cxnSp>
        <p:nvCxnSpPr>
          <p:cNvPr id="19" name="Straight Connector 18"/>
          <p:cNvCxnSpPr/>
          <p:nvPr/>
        </p:nvCxnSpPr>
        <p:spPr>
          <a:xfrm flipH="1">
            <a:off x="3202305" y="1528445"/>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cxnSp>
        <p:nvCxnSpPr>
          <p:cNvPr id="20" name="Straight Connector 19"/>
          <p:cNvCxnSpPr/>
          <p:nvPr/>
        </p:nvCxnSpPr>
        <p:spPr>
          <a:xfrm flipH="1">
            <a:off x="6861810" y="1528445"/>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grpSp>
        <p:nvGrpSpPr>
          <p:cNvPr id="10" name="Group 9"/>
          <p:cNvGrpSpPr/>
          <p:nvPr/>
        </p:nvGrpSpPr>
        <p:grpSpPr>
          <a:xfrm>
            <a:off x="691515" y="2225040"/>
            <a:ext cx="4659630" cy="3251200"/>
            <a:chOff x="8357" y="3477"/>
            <a:chExt cx="7338" cy="5120"/>
          </a:xfrm>
        </p:grpSpPr>
        <p:sp>
          <p:nvSpPr>
            <p:cNvPr id="12" name="Oval 11"/>
            <p:cNvSpPr/>
            <p:nvPr/>
          </p:nvSpPr>
          <p:spPr>
            <a:xfrm>
              <a:off x="10302" y="6584"/>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13" name="Straight Connector 12"/>
            <p:cNvCxnSpPr/>
            <p:nvPr/>
          </p:nvCxnSpPr>
          <p:spPr>
            <a:xfrm>
              <a:off x="10378" y="6700"/>
              <a:ext cx="0" cy="116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5" name="Straight Connector 14"/>
            <p:cNvCxnSpPr>
              <a:stCxn id="36" idx="31"/>
            </p:cNvCxnSpPr>
            <p:nvPr/>
          </p:nvCxnSpPr>
          <p:spPr>
            <a:xfrm flipH="1">
              <a:off x="12343" y="5841"/>
              <a:ext cx="17" cy="1944"/>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6" name="Straight Connector 15"/>
            <p:cNvCxnSpPr/>
            <p:nvPr/>
          </p:nvCxnSpPr>
          <p:spPr>
            <a:xfrm>
              <a:off x="13129" y="6900"/>
              <a:ext cx="0" cy="898"/>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2" name="Straight Connector 21"/>
            <p:cNvCxnSpPr/>
            <p:nvPr/>
          </p:nvCxnSpPr>
          <p:spPr>
            <a:xfrm>
              <a:off x="13522" y="6979"/>
              <a:ext cx="0" cy="887"/>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4" name="Straight Connector 23"/>
            <p:cNvCxnSpPr/>
            <p:nvPr/>
          </p:nvCxnSpPr>
          <p:spPr>
            <a:xfrm>
              <a:off x="13915" y="6557"/>
              <a:ext cx="0" cy="1309"/>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5" name="Straight Connector 24"/>
            <p:cNvCxnSpPr/>
            <p:nvPr/>
          </p:nvCxnSpPr>
          <p:spPr>
            <a:xfrm>
              <a:off x="9788" y="3477"/>
              <a:ext cx="0" cy="432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27" name="Straight Connector 26"/>
            <p:cNvCxnSpPr/>
            <p:nvPr/>
          </p:nvCxnSpPr>
          <p:spPr>
            <a:xfrm flipH="1">
              <a:off x="9786" y="7810"/>
              <a:ext cx="492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30" name="Text Box 29"/>
            <p:cNvSpPr txBox="1"/>
            <p:nvPr/>
          </p:nvSpPr>
          <p:spPr>
            <a:xfrm>
              <a:off x="8357" y="3477"/>
              <a:ext cx="1398" cy="677"/>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振幅</a:t>
              </a:r>
              <a:endParaRPr lang="zh-CN" altLang="en-US" sz="2200">
                <a:latin typeface="Alibaba PuHuiTi 3.0 55 Regular" panose="00020600040101010101" charset="-122"/>
                <a:ea typeface="Alibaba PuHuiTi 3.0 55 Regular" panose="00020600040101010101" charset="-122"/>
              </a:endParaRPr>
            </a:p>
          </p:txBody>
        </p:sp>
        <p:sp>
          <p:nvSpPr>
            <p:cNvPr id="33" name="Text Box 32"/>
            <p:cNvSpPr txBox="1"/>
            <p:nvPr/>
          </p:nvSpPr>
          <p:spPr>
            <a:xfrm>
              <a:off x="14297" y="7920"/>
              <a:ext cx="1398" cy="677"/>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36" name="Freeform 35"/>
            <p:cNvSpPr/>
            <p:nvPr/>
          </p:nvSpPr>
          <p:spPr>
            <a:xfrm>
              <a:off x="10127" y="4628"/>
              <a:ext cx="3966" cy="2591"/>
            </a:xfrm>
            <a:custGeom>
              <a:avLst/>
              <a:gdLst>
                <a:gd name="connisteX0" fmla="*/ 0 w 2518410"/>
                <a:gd name="connsiteY0" fmla="*/ 1645002 h 1645002"/>
                <a:gd name="connisteX1" fmla="*/ 25400 w 2518410"/>
                <a:gd name="connsiteY1" fmla="*/ 1519907 h 1645002"/>
                <a:gd name="connisteX2" fmla="*/ 142240 w 2518410"/>
                <a:gd name="connsiteY2" fmla="*/ 1328137 h 1645002"/>
                <a:gd name="connisteX3" fmla="*/ 225425 w 2518410"/>
                <a:gd name="connsiteY3" fmla="*/ 1178277 h 1645002"/>
                <a:gd name="connisteX4" fmla="*/ 275590 w 2518410"/>
                <a:gd name="connsiteY4" fmla="*/ 1077947 h 1645002"/>
                <a:gd name="connisteX5" fmla="*/ 325120 w 2518410"/>
                <a:gd name="connsiteY5" fmla="*/ 978252 h 1645002"/>
                <a:gd name="connisteX6" fmla="*/ 358775 w 2518410"/>
                <a:gd name="connsiteY6" fmla="*/ 877922 h 1645002"/>
                <a:gd name="connisteX7" fmla="*/ 383540 w 2518410"/>
                <a:gd name="connsiteY7" fmla="*/ 811247 h 1645002"/>
                <a:gd name="connisteX8" fmla="*/ 400685 w 2518410"/>
                <a:gd name="connsiteY8" fmla="*/ 728062 h 1645002"/>
                <a:gd name="connisteX9" fmla="*/ 441960 w 2518410"/>
                <a:gd name="connsiteY9" fmla="*/ 611222 h 1645002"/>
                <a:gd name="connisteX10" fmla="*/ 459105 w 2518410"/>
                <a:gd name="connsiteY10" fmla="*/ 544547 h 1645002"/>
                <a:gd name="connisteX11" fmla="*/ 492125 w 2518410"/>
                <a:gd name="connsiteY11" fmla="*/ 419452 h 1645002"/>
                <a:gd name="connisteX12" fmla="*/ 525780 w 2518410"/>
                <a:gd name="connsiteY12" fmla="*/ 310867 h 1645002"/>
                <a:gd name="connisteX13" fmla="*/ 550545 w 2518410"/>
                <a:gd name="connsiteY13" fmla="*/ 227682 h 1645002"/>
                <a:gd name="connisteX14" fmla="*/ 567055 w 2518410"/>
                <a:gd name="connsiteY14" fmla="*/ 161007 h 1645002"/>
                <a:gd name="connisteX15" fmla="*/ 584200 w 2518410"/>
                <a:gd name="connsiteY15" fmla="*/ 94332 h 1645002"/>
                <a:gd name="connisteX16" fmla="*/ 625475 w 2518410"/>
                <a:gd name="connsiteY16" fmla="*/ 27657 h 1645002"/>
                <a:gd name="connisteX17" fmla="*/ 692150 w 2518410"/>
                <a:gd name="connsiteY17" fmla="*/ 10512 h 1645002"/>
                <a:gd name="connisteX18" fmla="*/ 784225 w 2518410"/>
                <a:gd name="connsiteY18" fmla="*/ 2257 h 1645002"/>
                <a:gd name="connisteX19" fmla="*/ 859155 w 2518410"/>
                <a:gd name="connsiteY19" fmla="*/ 2257 h 1645002"/>
                <a:gd name="connisteX20" fmla="*/ 925830 w 2518410"/>
                <a:gd name="connsiteY20" fmla="*/ 2257 h 1645002"/>
                <a:gd name="connisteX21" fmla="*/ 1000760 w 2518410"/>
                <a:gd name="connsiteY21" fmla="*/ 27657 h 1645002"/>
                <a:gd name="connisteX22" fmla="*/ 1067435 w 2518410"/>
                <a:gd name="connsiteY22" fmla="*/ 77187 h 1645002"/>
                <a:gd name="connisteX23" fmla="*/ 1125855 w 2518410"/>
                <a:gd name="connsiteY23" fmla="*/ 152752 h 1645002"/>
                <a:gd name="connisteX24" fmla="*/ 1176020 w 2518410"/>
                <a:gd name="connsiteY24" fmla="*/ 235937 h 1645002"/>
                <a:gd name="connisteX25" fmla="*/ 1217930 w 2518410"/>
                <a:gd name="connsiteY25" fmla="*/ 302612 h 1645002"/>
                <a:gd name="connisteX26" fmla="*/ 1242695 w 2518410"/>
                <a:gd name="connsiteY26" fmla="*/ 369287 h 1645002"/>
                <a:gd name="connisteX27" fmla="*/ 1276350 w 2518410"/>
                <a:gd name="connsiteY27" fmla="*/ 435962 h 1645002"/>
                <a:gd name="connisteX28" fmla="*/ 1309370 w 2518410"/>
                <a:gd name="connsiteY28" fmla="*/ 502637 h 1645002"/>
                <a:gd name="connisteX29" fmla="*/ 1351280 w 2518410"/>
                <a:gd name="connsiteY29" fmla="*/ 594712 h 1645002"/>
                <a:gd name="connisteX30" fmla="*/ 1384300 w 2518410"/>
                <a:gd name="connsiteY30" fmla="*/ 686152 h 1645002"/>
                <a:gd name="connisteX31" fmla="*/ 1417955 w 2518410"/>
                <a:gd name="connsiteY31" fmla="*/ 769972 h 1645002"/>
                <a:gd name="connisteX32" fmla="*/ 1450975 w 2518410"/>
                <a:gd name="connsiteY32" fmla="*/ 844902 h 1645002"/>
                <a:gd name="connisteX33" fmla="*/ 1476375 w 2518410"/>
                <a:gd name="connsiteY33" fmla="*/ 911577 h 1645002"/>
                <a:gd name="connisteX34" fmla="*/ 1501140 w 2518410"/>
                <a:gd name="connsiteY34" fmla="*/ 1003017 h 1645002"/>
                <a:gd name="connisteX35" fmla="*/ 1526540 w 2518410"/>
                <a:gd name="connsiteY35" fmla="*/ 1077947 h 1645002"/>
                <a:gd name="connisteX36" fmla="*/ 1551305 w 2518410"/>
                <a:gd name="connsiteY36" fmla="*/ 1153512 h 1645002"/>
                <a:gd name="connisteX37" fmla="*/ 1601470 w 2518410"/>
                <a:gd name="connsiteY37" fmla="*/ 1220187 h 1645002"/>
                <a:gd name="connisteX38" fmla="*/ 1676400 w 2518410"/>
                <a:gd name="connsiteY38" fmla="*/ 1269717 h 1645002"/>
                <a:gd name="connisteX39" fmla="*/ 1743075 w 2518410"/>
                <a:gd name="connsiteY39" fmla="*/ 1319882 h 1645002"/>
                <a:gd name="connisteX40" fmla="*/ 1809750 w 2518410"/>
                <a:gd name="connsiteY40" fmla="*/ 1353537 h 1645002"/>
                <a:gd name="connisteX41" fmla="*/ 1876425 w 2518410"/>
                <a:gd name="connsiteY41" fmla="*/ 1386557 h 1645002"/>
                <a:gd name="connisteX42" fmla="*/ 1951355 w 2518410"/>
                <a:gd name="connsiteY42" fmla="*/ 1411957 h 1645002"/>
                <a:gd name="connisteX43" fmla="*/ 2035175 w 2518410"/>
                <a:gd name="connsiteY43" fmla="*/ 1436722 h 1645002"/>
                <a:gd name="connisteX44" fmla="*/ 2110105 w 2518410"/>
                <a:gd name="connsiteY44" fmla="*/ 1453232 h 1645002"/>
                <a:gd name="connisteX45" fmla="*/ 2185035 w 2518410"/>
                <a:gd name="connsiteY45" fmla="*/ 1453232 h 1645002"/>
                <a:gd name="connisteX46" fmla="*/ 2251710 w 2518410"/>
                <a:gd name="connsiteY46" fmla="*/ 1444977 h 1645002"/>
                <a:gd name="connisteX47" fmla="*/ 2301875 w 2518410"/>
                <a:gd name="connsiteY47" fmla="*/ 1378302 h 1645002"/>
                <a:gd name="connisteX48" fmla="*/ 2343785 w 2518410"/>
                <a:gd name="connsiteY48" fmla="*/ 1311627 h 1645002"/>
                <a:gd name="connisteX49" fmla="*/ 2368550 w 2518410"/>
                <a:gd name="connsiteY49" fmla="*/ 1236697 h 1645002"/>
                <a:gd name="connisteX50" fmla="*/ 2402205 w 2518410"/>
                <a:gd name="connsiteY50" fmla="*/ 1161767 h 1645002"/>
                <a:gd name="connisteX51" fmla="*/ 2426970 w 2518410"/>
                <a:gd name="connsiteY51" fmla="*/ 1086837 h 1645002"/>
                <a:gd name="connisteX52" fmla="*/ 2468880 w 2518410"/>
                <a:gd name="connsiteY52" fmla="*/ 1019527 h 1645002"/>
                <a:gd name="connisteX53" fmla="*/ 2518410 w 2518410"/>
                <a:gd name="connsiteY53" fmla="*/ 944597 h 164500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Lst>
              <a:rect l="l" t="t" r="r" b="b"/>
              <a:pathLst>
                <a:path w="2518410" h="1645003">
                  <a:moveTo>
                    <a:pt x="0" y="1645003"/>
                  </a:moveTo>
                  <a:cubicBezTo>
                    <a:pt x="2540" y="1624048"/>
                    <a:pt x="-3175" y="1583408"/>
                    <a:pt x="25400" y="1519908"/>
                  </a:cubicBezTo>
                  <a:cubicBezTo>
                    <a:pt x="53975" y="1456408"/>
                    <a:pt x="102235" y="1396718"/>
                    <a:pt x="142240" y="1328138"/>
                  </a:cubicBezTo>
                  <a:cubicBezTo>
                    <a:pt x="182245" y="1259558"/>
                    <a:pt x="198755" y="1228443"/>
                    <a:pt x="225425" y="1178278"/>
                  </a:cubicBezTo>
                  <a:cubicBezTo>
                    <a:pt x="252095" y="1128113"/>
                    <a:pt x="255905" y="1117953"/>
                    <a:pt x="275590" y="1077948"/>
                  </a:cubicBezTo>
                  <a:cubicBezTo>
                    <a:pt x="295275" y="1037943"/>
                    <a:pt x="308610" y="1018258"/>
                    <a:pt x="325120" y="978253"/>
                  </a:cubicBezTo>
                  <a:cubicBezTo>
                    <a:pt x="341630" y="938248"/>
                    <a:pt x="347345" y="911578"/>
                    <a:pt x="358775" y="877923"/>
                  </a:cubicBezTo>
                  <a:cubicBezTo>
                    <a:pt x="370205" y="844268"/>
                    <a:pt x="375285" y="841093"/>
                    <a:pt x="383540" y="811248"/>
                  </a:cubicBezTo>
                  <a:cubicBezTo>
                    <a:pt x="391795" y="781403"/>
                    <a:pt x="389255" y="768068"/>
                    <a:pt x="400685" y="728063"/>
                  </a:cubicBezTo>
                  <a:cubicBezTo>
                    <a:pt x="412115" y="688058"/>
                    <a:pt x="430530" y="648053"/>
                    <a:pt x="441960" y="611223"/>
                  </a:cubicBezTo>
                  <a:cubicBezTo>
                    <a:pt x="453390" y="574393"/>
                    <a:pt x="448945" y="582648"/>
                    <a:pt x="459105" y="544548"/>
                  </a:cubicBezTo>
                  <a:cubicBezTo>
                    <a:pt x="469265" y="506448"/>
                    <a:pt x="478790" y="466443"/>
                    <a:pt x="492125" y="419453"/>
                  </a:cubicBezTo>
                  <a:cubicBezTo>
                    <a:pt x="505460" y="372463"/>
                    <a:pt x="514350" y="348968"/>
                    <a:pt x="525780" y="310868"/>
                  </a:cubicBezTo>
                  <a:cubicBezTo>
                    <a:pt x="537210" y="272768"/>
                    <a:pt x="542290" y="257528"/>
                    <a:pt x="550545" y="227683"/>
                  </a:cubicBezTo>
                  <a:cubicBezTo>
                    <a:pt x="558800" y="197838"/>
                    <a:pt x="560070" y="187678"/>
                    <a:pt x="567055" y="161008"/>
                  </a:cubicBezTo>
                  <a:cubicBezTo>
                    <a:pt x="574040" y="134338"/>
                    <a:pt x="572770" y="121003"/>
                    <a:pt x="584200" y="94333"/>
                  </a:cubicBezTo>
                  <a:cubicBezTo>
                    <a:pt x="595630" y="67663"/>
                    <a:pt x="603885" y="44168"/>
                    <a:pt x="625475" y="27658"/>
                  </a:cubicBezTo>
                  <a:cubicBezTo>
                    <a:pt x="647065" y="11148"/>
                    <a:pt x="660400" y="15593"/>
                    <a:pt x="692150" y="10513"/>
                  </a:cubicBezTo>
                  <a:cubicBezTo>
                    <a:pt x="723900" y="5433"/>
                    <a:pt x="750570" y="4163"/>
                    <a:pt x="784225" y="2258"/>
                  </a:cubicBezTo>
                  <a:cubicBezTo>
                    <a:pt x="817880" y="353"/>
                    <a:pt x="830580" y="2258"/>
                    <a:pt x="859155" y="2258"/>
                  </a:cubicBezTo>
                  <a:cubicBezTo>
                    <a:pt x="887730" y="2258"/>
                    <a:pt x="897255" y="-2822"/>
                    <a:pt x="925830" y="2258"/>
                  </a:cubicBezTo>
                  <a:cubicBezTo>
                    <a:pt x="954405" y="7338"/>
                    <a:pt x="972185" y="12418"/>
                    <a:pt x="1000760" y="27658"/>
                  </a:cubicBezTo>
                  <a:cubicBezTo>
                    <a:pt x="1029335" y="42898"/>
                    <a:pt x="1042670" y="52423"/>
                    <a:pt x="1067435" y="77188"/>
                  </a:cubicBezTo>
                  <a:cubicBezTo>
                    <a:pt x="1092200" y="101953"/>
                    <a:pt x="1104265" y="121003"/>
                    <a:pt x="1125855" y="152753"/>
                  </a:cubicBezTo>
                  <a:cubicBezTo>
                    <a:pt x="1147445" y="184503"/>
                    <a:pt x="1157605" y="206093"/>
                    <a:pt x="1176020" y="235938"/>
                  </a:cubicBezTo>
                  <a:cubicBezTo>
                    <a:pt x="1194435" y="265783"/>
                    <a:pt x="1204595" y="275943"/>
                    <a:pt x="1217930" y="302613"/>
                  </a:cubicBezTo>
                  <a:cubicBezTo>
                    <a:pt x="1231265" y="329283"/>
                    <a:pt x="1231265" y="342618"/>
                    <a:pt x="1242695" y="369288"/>
                  </a:cubicBezTo>
                  <a:cubicBezTo>
                    <a:pt x="1254125" y="395958"/>
                    <a:pt x="1263015" y="409293"/>
                    <a:pt x="1276350" y="435963"/>
                  </a:cubicBezTo>
                  <a:cubicBezTo>
                    <a:pt x="1289685" y="462633"/>
                    <a:pt x="1294130" y="470888"/>
                    <a:pt x="1309370" y="502638"/>
                  </a:cubicBezTo>
                  <a:cubicBezTo>
                    <a:pt x="1324610" y="534388"/>
                    <a:pt x="1336040" y="557883"/>
                    <a:pt x="1351280" y="594713"/>
                  </a:cubicBezTo>
                  <a:cubicBezTo>
                    <a:pt x="1366520" y="631543"/>
                    <a:pt x="1370965" y="651228"/>
                    <a:pt x="1384300" y="686153"/>
                  </a:cubicBezTo>
                  <a:cubicBezTo>
                    <a:pt x="1397635" y="721078"/>
                    <a:pt x="1404620" y="738223"/>
                    <a:pt x="1417955" y="769973"/>
                  </a:cubicBezTo>
                  <a:cubicBezTo>
                    <a:pt x="1431290" y="801723"/>
                    <a:pt x="1439545" y="816328"/>
                    <a:pt x="1450975" y="844903"/>
                  </a:cubicBezTo>
                  <a:cubicBezTo>
                    <a:pt x="1462405" y="873478"/>
                    <a:pt x="1466215" y="879828"/>
                    <a:pt x="1476375" y="911578"/>
                  </a:cubicBezTo>
                  <a:cubicBezTo>
                    <a:pt x="1486535" y="943328"/>
                    <a:pt x="1490980" y="969998"/>
                    <a:pt x="1501140" y="1003018"/>
                  </a:cubicBezTo>
                  <a:cubicBezTo>
                    <a:pt x="1511300" y="1036038"/>
                    <a:pt x="1516380" y="1048103"/>
                    <a:pt x="1526540" y="1077948"/>
                  </a:cubicBezTo>
                  <a:cubicBezTo>
                    <a:pt x="1536700" y="1107793"/>
                    <a:pt x="1536065" y="1124938"/>
                    <a:pt x="1551305" y="1153513"/>
                  </a:cubicBezTo>
                  <a:cubicBezTo>
                    <a:pt x="1566545" y="1182088"/>
                    <a:pt x="1576705" y="1196693"/>
                    <a:pt x="1601470" y="1220188"/>
                  </a:cubicBezTo>
                  <a:cubicBezTo>
                    <a:pt x="1626235" y="1243683"/>
                    <a:pt x="1647825" y="1250033"/>
                    <a:pt x="1676400" y="1269718"/>
                  </a:cubicBezTo>
                  <a:cubicBezTo>
                    <a:pt x="1704975" y="1289403"/>
                    <a:pt x="1716405" y="1303373"/>
                    <a:pt x="1743075" y="1319883"/>
                  </a:cubicBezTo>
                  <a:cubicBezTo>
                    <a:pt x="1769745" y="1336393"/>
                    <a:pt x="1783080" y="1340203"/>
                    <a:pt x="1809750" y="1353538"/>
                  </a:cubicBezTo>
                  <a:cubicBezTo>
                    <a:pt x="1836420" y="1366873"/>
                    <a:pt x="1847850" y="1375128"/>
                    <a:pt x="1876425" y="1386558"/>
                  </a:cubicBezTo>
                  <a:cubicBezTo>
                    <a:pt x="1905000" y="1397988"/>
                    <a:pt x="1919605" y="1401798"/>
                    <a:pt x="1951355" y="1411958"/>
                  </a:cubicBezTo>
                  <a:cubicBezTo>
                    <a:pt x="1983105" y="1422118"/>
                    <a:pt x="2003425" y="1428468"/>
                    <a:pt x="2035175" y="1436723"/>
                  </a:cubicBezTo>
                  <a:cubicBezTo>
                    <a:pt x="2066925" y="1444978"/>
                    <a:pt x="2080260" y="1450058"/>
                    <a:pt x="2110105" y="1453233"/>
                  </a:cubicBezTo>
                  <a:cubicBezTo>
                    <a:pt x="2139950" y="1456408"/>
                    <a:pt x="2156460" y="1455138"/>
                    <a:pt x="2185035" y="1453233"/>
                  </a:cubicBezTo>
                  <a:cubicBezTo>
                    <a:pt x="2213610" y="1451328"/>
                    <a:pt x="2228215" y="1460218"/>
                    <a:pt x="2251710" y="1444978"/>
                  </a:cubicBezTo>
                  <a:cubicBezTo>
                    <a:pt x="2275205" y="1429738"/>
                    <a:pt x="2283460" y="1404973"/>
                    <a:pt x="2301875" y="1378303"/>
                  </a:cubicBezTo>
                  <a:cubicBezTo>
                    <a:pt x="2320290" y="1351633"/>
                    <a:pt x="2330450" y="1340203"/>
                    <a:pt x="2343785" y="1311628"/>
                  </a:cubicBezTo>
                  <a:cubicBezTo>
                    <a:pt x="2357120" y="1283053"/>
                    <a:pt x="2357120" y="1266543"/>
                    <a:pt x="2368550" y="1236698"/>
                  </a:cubicBezTo>
                  <a:cubicBezTo>
                    <a:pt x="2379980" y="1206853"/>
                    <a:pt x="2390775" y="1191613"/>
                    <a:pt x="2402205" y="1161768"/>
                  </a:cubicBezTo>
                  <a:cubicBezTo>
                    <a:pt x="2413635" y="1131923"/>
                    <a:pt x="2413635" y="1115413"/>
                    <a:pt x="2426970" y="1086838"/>
                  </a:cubicBezTo>
                  <a:cubicBezTo>
                    <a:pt x="2440305" y="1058263"/>
                    <a:pt x="2450465" y="1048103"/>
                    <a:pt x="2468880" y="1019528"/>
                  </a:cubicBezTo>
                  <a:cubicBezTo>
                    <a:pt x="2487295" y="990953"/>
                    <a:pt x="2509520" y="957933"/>
                    <a:pt x="2518410" y="944598"/>
                  </a:cubicBezTo>
                </a:path>
              </a:pathLst>
            </a:custGeom>
            <a:noFill/>
            <a:ln w="38100">
              <a:solidFill>
                <a:schemeClr val="tx1"/>
              </a:solidFill>
            </a:ln>
          </p:spPr>
          <p:txBody>
            <a:bodyPr vert="horz" lIns="90000" tIns="46800" rIns="90000" bIns="46800" rtlCol="0" anchor="ctr" anchorCtr="0">
              <a:noAutofit/>
            </a:bodyPr>
            <a:p>
              <a:endParaRPr lang="zh-CN" altLang="en-US" sz="2445">
                <a:solidFill>
                  <a:schemeClr val="tx1"/>
                </a:solidFill>
              </a:endParaRPr>
            </a:p>
          </p:txBody>
        </p:sp>
        <p:sp>
          <p:nvSpPr>
            <p:cNvPr id="45" name="Text Box 44"/>
            <p:cNvSpPr txBox="1"/>
            <p:nvPr/>
          </p:nvSpPr>
          <p:spPr>
            <a:xfrm>
              <a:off x="10035" y="7920"/>
              <a:ext cx="4676" cy="677"/>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48" name="Text Box 47"/>
            <p:cNvSpPr txBox="1"/>
            <p:nvPr/>
          </p:nvSpPr>
          <p:spPr>
            <a:xfrm>
              <a:off x="10079" y="6131"/>
              <a:ext cx="375" cy="453"/>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8" name="Oval 7"/>
            <p:cNvSpPr/>
            <p:nvPr/>
          </p:nvSpPr>
          <p:spPr>
            <a:xfrm>
              <a:off x="11075" y="4602"/>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9" name="Oval 8"/>
            <p:cNvSpPr/>
            <p:nvPr/>
          </p:nvSpPr>
          <p:spPr>
            <a:xfrm>
              <a:off x="12297" y="5775"/>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1" name="Oval 50"/>
            <p:cNvSpPr/>
            <p:nvPr/>
          </p:nvSpPr>
          <p:spPr>
            <a:xfrm>
              <a:off x="13081" y="6748"/>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2" name="Oval 51"/>
            <p:cNvSpPr/>
            <p:nvPr/>
          </p:nvSpPr>
          <p:spPr>
            <a:xfrm>
              <a:off x="13842" y="6405"/>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4" name="Text Box 53"/>
            <p:cNvSpPr txBox="1"/>
            <p:nvPr/>
          </p:nvSpPr>
          <p:spPr>
            <a:xfrm>
              <a:off x="11955" y="4688"/>
              <a:ext cx="375" cy="453"/>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5</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55" name="Text Box 54"/>
            <p:cNvSpPr txBox="1"/>
            <p:nvPr/>
          </p:nvSpPr>
          <p:spPr>
            <a:xfrm>
              <a:off x="12542" y="6192"/>
              <a:ext cx="375" cy="453"/>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7</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56" name="Text Box 55"/>
            <p:cNvSpPr txBox="1"/>
            <p:nvPr/>
          </p:nvSpPr>
          <p:spPr>
            <a:xfrm>
              <a:off x="12940" y="6320"/>
              <a:ext cx="375" cy="453"/>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8</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58" name="Straight Connector 57"/>
            <p:cNvCxnSpPr>
              <a:endCxn id="84" idx="3"/>
            </p:cNvCxnSpPr>
            <p:nvPr/>
          </p:nvCxnSpPr>
          <p:spPr>
            <a:xfrm flipV="1">
              <a:off x="10378" y="5825"/>
              <a:ext cx="314" cy="82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79" name="Straight Connector 78"/>
            <p:cNvCxnSpPr>
              <a:stCxn id="36" idx="8"/>
            </p:cNvCxnSpPr>
            <p:nvPr/>
          </p:nvCxnSpPr>
          <p:spPr>
            <a:xfrm>
              <a:off x="10758" y="5775"/>
              <a:ext cx="13" cy="209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0" name="Straight Connector 79"/>
            <p:cNvCxnSpPr/>
            <p:nvPr/>
          </p:nvCxnSpPr>
          <p:spPr>
            <a:xfrm>
              <a:off x="11164" y="4671"/>
              <a:ext cx="0" cy="3194"/>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1" name="Straight Connector 80"/>
            <p:cNvCxnSpPr/>
            <p:nvPr/>
          </p:nvCxnSpPr>
          <p:spPr>
            <a:xfrm>
              <a:off x="11557" y="4664"/>
              <a:ext cx="0" cy="3201"/>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2" name="Straight Connector 81"/>
            <p:cNvCxnSpPr>
              <a:stCxn id="54" idx="1"/>
            </p:cNvCxnSpPr>
            <p:nvPr/>
          </p:nvCxnSpPr>
          <p:spPr>
            <a:xfrm flipH="1">
              <a:off x="11950" y="4915"/>
              <a:ext cx="5" cy="29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3" name="Straight Connector 82"/>
            <p:cNvCxnSpPr/>
            <p:nvPr/>
          </p:nvCxnSpPr>
          <p:spPr>
            <a:xfrm>
              <a:off x="12736" y="6657"/>
              <a:ext cx="0" cy="1208"/>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84" name="Oval 83"/>
            <p:cNvSpPr/>
            <p:nvPr/>
          </p:nvSpPr>
          <p:spPr>
            <a:xfrm>
              <a:off x="10670" y="5695"/>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5" name="Oval 84"/>
            <p:cNvSpPr/>
            <p:nvPr/>
          </p:nvSpPr>
          <p:spPr>
            <a:xfrm>
              <a:off x="11481" y="4554"/>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6" name="Oval 85"/>
            <p:cNvSpPr/>
            <p:nvPr/>
          </p:nvSpPr>
          <p:spPr>
            <a:xfrm>
              <a:off x="11900" y="4839"/>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7" name="Oval 86"/>
            <p:cNvSpPr/>
            <p:nvPr/>
          </p:nvSpPr>
          <p:spPr>
            <a:xfrm>
              <a:off x="12656" y="6557"/>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8" name="Oval 87"/>
            <p:cNvSpPr/>
            <p:nvPr/>
          </p:nvSpPr>
          <p:spPr>
            <a:xfrm>
              <a:off x="13467" y="6845"/>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9" name="Text Box 88"/>
            <p:cNvSpPr txBox="1"/>
            <p:nvPr/>
          </p:nvSpPr>
          <p:spPr>
            <a:xfrm>
              <a:off x="10431" y="5174"/>
              <a:ext cx="375" cy="453"/>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0" name="Text Box 89"/>
            <p:cNvSpPr txBox="1"/>
            <p:nvPr/>
          </p:nvSpPr>
          <p:spPr>
            <a:xfrm>
              <a:off x="10921" y="4152"/>
              <a:ext cx="375" cy="453"/>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1" name="Text Box 90"/>
            <p:cNvSpPr txBox="1"/>
            <p:nvPr/>
          </p:nvSpPr>
          <p:spPr>
            <a:xfrm>
              <a:off x="11341" y="4148"/>
              <a:ext cx="375" cy="453"/>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4</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2" name="Text Box 91"/>
            <p:cNvSpPr txBox="1"/>
            <p:nvPr/>
          </p:nvSpPr>
          <p:spPr>
            <a:xfrm>
              <a:off x="12262" y="5361"/>
              <a:ext cx="375" cy="453"/>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6</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3" name="Text Box 92"/>
            <p:cNvSpPr txBox="1"/>
            <p:nvPr/>
          </p:nvSpPr>
          <p:spPr>
            <a:xfrm>
              <a:off x="13328" y="6460"/>
              <a:ext cx="375" cy="453"/>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9</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5" name="Text Box 94"/>
            <p:cNvSpPr txBox="1"/>
            <p:nvPr/>
          </p:nvSpPr>
          <p:spPr>
            <a:xfrm>
              <a:off x="13520" y="5958"/>
              <a:ext cx="680" cy="453"/>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10</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98" name="Straight Connector 97"/>
            <p:cNvCxnSpPr>
              <a:endCxn id="8" idx="2"/>
            </p:cNvCxnSpPr>
            <p:nvPr/>
          </p:nvCxnSpPr>
          <p:spPr>
            <a:xfrm flipV="1">
              <a:off x="10771" y="4678"/>
              <a:ext cx="304" cy="1097"/>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9" name="Straight Connector 98"/>
            <p:cNvCxnSpPr>
              <a:endCxn id="91" idx="2"/>
            </p:cNvCxnSpPr>
            <p:nvPr/>
          </p:nvCxnSpPr>
          <p:spPr>
            <a:xfrm flipV="1">
              <a:off x="11153" y="4601"/>
              <a:ext cx="376" cy="5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0" name="Straight Connector 99"/>
            <p:cNvCxnSpPr>
              <a:stCxn id="85" idx="5"/>
              <a:endCxn id="86" idx="2"/>
            </p:cNvCxnSpPr>
            <p:nvPr/>
          </p:nvCxnSpPr>
          <p:spPr>
            <a:xfrm>
              <a:off x="11611" y="4684"/>
              <a:ext cx="289" cy="231"/>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1" name="Straight Connector 100"/>
            <p:cNvCxnSpPr>
              <a:stCxn id="86" idx="4"/>
              <a:endCxn id="36" idx="31"/>
            </p:cNvCxnSpPr>
            <p:nvPr/>
          </p:nvCxnSpPr>
          <p:spPr>
            <a:xfrm>
              <a:off x="11976" y="4991"/>
              <a:ext cx="384" cy="8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2" name="Straight Connector 101"/>
            <p:cNvCxnSpPr>
              <a:stCxn id="9" idx="5"/>
              <a:endCxn id="87" idx="1"/>
            </p:cNvCxnSpPr>
            <p:nvPr/>
          </p:nvCxnSpPr>
          <p:spPr>
            <a:xfrm>
              <a:off x="12427" y="5905"/>
              <a:ext cx="251" cy="674"/>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3" name="Straight Connector 102"/>
            <p:cNvCxnSpPr>
              <a:stCxn id="87" idx="5"/>
              <a:endCxn id="51" idx="2"/>
            </p:cNvCxnSpPr>
            <p:nvPr/>
          </p:nvCxnSpPr>
          <p:spPr>
            <a:xfrm>
              <a:off x="12786" y="6687"/>
              <a:ext cx="295" cy="137"/>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4" name="Straight Connector 103"/>
            <p:cNvCxnSpPr>
              <a:stCxn id="51" idx="5"/>
              <a:endCxn id="93" idx="2"/>
            </p:cNvCxnSpPr>
            <p:nvPr/>
          </p:nvCxnSpPr>
          <p:spPr>
            <a:xfrm>
              <a:off x="13211" y="6878"/>
              <a:ext cx="305" cy="3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5" name="Straight Connector 104"/>
            <p:cNvCxnSpPr>
              <a:stCxn id="88" idx="5"/>
              <a:endCxn id="52" idx="2"/>
            </p:cNvCxnSpPr>
            <p:nvPr/>
          </p:nvCxnSpPr>
          <p:spPr>
            <a:xfrm flipV="1">
              <a:off x="13597" y="6481"/>
              <a:ext cx="245" cy="494"/>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grpSp>
      <p:sp>
        <p:nvSpPr>
          <p:cNvPr id="11" name="Content Placeholder 10"/>
          <p:cNvSpPr>
            <a:spLocks noGrp="1"/>
          </p:cNvSpPr>
          <p:nvPr>
            <p:ph idx="1"/>
            <p:custDataLst>
              <p:tags r:id="rId2"/>
            </p:custDataLst>
          </p:nvPr>
        </p:nvSpPr>
        <p:spPr>
          <a:xfrm>
            <a:off x="4621530" y="2377440"/>
            <a:ext cx="7204710" cy="1938655"/>
          </a:xfrm>
        </p:spPr>
        <p:txBody>
          <a:bodyPr>
            <a:noAutofit/>
          </a:bodyPr>
          <a:p>
            <a:pPr marL="342900" indent="-342900">
              <a:lnSpc>
                <a:spcPct val="150000"/>
              </a:lnSpc>
              <a:buFont typeface="Arial" panose="020B0604020202090204" pitchFamily="34" charset="0"/>
              <a:buChar char="•"/>
            </a:pPr>
            <a:r>
              <a:rPr lang="zh-CN" altLang="en-US"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采样频率</a:t>
            </a:r>
            <a:r>
              <a:rPr lang="en-US" altLang="zh-CN"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a:t>
            </a:r>
            <a:r>
              <a:rPr lang="zh-CN" altLang="en-US"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每秒采样声音的次数</a:t>
            </a:r>
            <a:r>
              <a:rPr lang="en-US" altLang="zh-CN"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a:t>
            </a:r>
            <a:r>
              <a:rPr lang="zh-CN" altLang="en-US"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单位为赫兹</a:t>
            </a:r>
            <a:r>
              <a:rPr lang="en-US" altLang="zh-CN"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（Hz）</a:t>
            </a:r>
            <a:endParaRPr lang="en-US" altLang="zh-CN"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endParaRPr>
          </a:p>
          <a:p>
            <a:pPr marL="342900" indent="-342900">
              <a:lnSpc>
                <a:spcPct val="150000"/>
              </a:lnSpc>
              <a:buFont typeface="Arial" panose="020B0604020202090204" pitchFamily="34" charset="0"/>
              <a:buChar char="•"/>
            </a:pPr>
            <a:r>
              <a:rPr lang="zh-CN" altLang="en-US"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采样频率越高</a:t>
            </a:r>
            <a:r>
              <a:rPr lang="en-US" altLang="zh-CN"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a:t>
            </a:r>
            <a:r>
              <a:rPr lang="zh-CN" altLang="en-US"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声音还原度越好</a:t>
            </a:r>
            <a:r>
              <a:rPr lang="en-US" altLang="zh-CN"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a:t>
            </a:r>
            <a:r>
              <a:rPr lang="zh-CN" altLang="en-US"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同时记录的数据越多</a:t>
            </a:r>
            <a:r>
              <a:rPr lang="en-US" altLang="zh-CN"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a:t>
            </a:r>
            <a:r>
              <a:rPr lang="zh-CN" altLang="en-US"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存储容量越高</a:t>
            </a:r>
            <a:r>
              <a:rPr lang="en-US" altLang="zh-CN"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a:t>
            </a:r>
            <a:endParaRPr lang="en-US" altLang="zh-CN"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endParaRPr>
          </a:p>
          <a:p>
            <a:pPr marL="342900" indent="-342900">
              <a:lnSpc>
                <a:spcPct val="150000"/>
              </a:lnSpc>
              <a:buFont typeface="Arial" panose="020B0604020202090204" pitchFamily="34" charset="0"/>
              <a:buChar char="•"/>
            </a:pPr>
            <a:r>
              <a:rPr lang="en-US" altLang="zh-CN"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CD</a:t>
            </a:r>
            <a:r>
              <a:rPr lang="zh-CN" altLang="en-US"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音质的采样率为</a:t>
            </a:r>
            <a:r>
              <a:rPr lang="en-US" altLang="zh-CN"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44.1 kHz（</a:t>
            </a:r>
            <a:r>
              <a:rPr lang="zh-CN" altLang="en-US"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每秒</a:t>
            </a:r>
            <a:r>
              <a:rPr lang="en-US" altLang="zh-CN"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44100</a:t>
            </a:r>
            <a:r>
              <a:rPr lang="zh-CN" altLang="en-US"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次采样</a:t>
            </a:r>
            <a:r>
              <a:rPr lang="en-US" altLang="zh-CN"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a:t>
            </a:r>
            <a:endParaRPr lang="en-US" altLang="zh-CN"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a:bodyPr>
          <a:p>
            <a:r>
              <a:rPr lang="zh-CN" altLang="en-US"/>
              <a:t>怎样才能把声音（模拟信号</a:t>
            </a:r>
            <a:r>
              <a:rPr lang="en-US" altLang="zh-CN"/>
              <a:t>）</a:t>
            </a:r>
            <a:r>
              <a:rPr lang="zh-CN" altLang="en-US"/>
              <a:t>是转成数字信号</a:t>
            </a:r>
            <a:r>
              <a:rPr lang="en-US"/>
              <a:t>？</a:t>
            </a:r>
            <a:endParaRPr lang="en-US"/>
          </a:p>
        </p:txBody>
      </p:sp>
      <p:sp>
        <p:nvSpPr>
          <p:cNvPr id="14" name="Text Box 13"/>
          <p:cNvSpPr txBox="1"/>
          <p:nvPr/>
        </p:nvSpPr>
        <p:spPr>
          <a:xfrm>
            <a:off x="691515" y="1313815"/>
            <a:ext cx="2547620" cy="429895"/>
          </a:xfrm>
          <a:prstGeom prst="rect">
            <a:avLst/>
          </a:prstGeom>
          <a:noFill/>
        </p:spPr>
        <p:txBody>
          <a:bodyPr wrap="square" rtlCol="0">
            <a:noAutofit/>
          </a:bodyPr>
          <a:p>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1. </a:t>
            </a:r>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采样</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 Sampling</a:t>
            </a:r>
            <a:endParaRPr lang="en-US" altLang="zh-CN" sz="2200" b="1">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17" name="Text Box 16"/>
          <p:cNvSpPr txBox="1"/>
          <p:nvPr/>
        </p:nvSpPr>
        <p:spPr>
          <a:xfrm>
            <a:off x="3860165" y="1313815"/>
            <a:ext cx="3038475" cy="429895"/>
          </a:xfrm>
          <a:prstGeom prst="rect">
            <a:avLst/>
          </a:prstGeom>
          <a:noFill/>
        </p:spPr>
        <p:txBody>
          <a:bodyPr wrap="square" rtlCol="0">
            <a:spAutoFit/>
          </a:bodyPr>
          <a:p>
            <a:r>
              <a:rPr lang="en-US" altLang="zh-CN" sz="2200">
                <a:latin typeface="Alibaba PuHuiTi 3.0 55 Regular" panose="00020600040101010101" charset="-122"/>
                <a:ea typeface="Alibaba PuHuiTi 3.0 55 Regular" panose="00020600040101010101" charset="-122"/>
              </a:rPr>
              <a:t>2. </a:t>
            </a:r>
            <a:r>
              <a:rPr lang="zh-CN" altLang="en-US" sz="2200">
                <a:latin typeface="Alibaba PuHuiTi 3.0 55 Regular" panose="00020600040101010101" charset="-122"/>
                <a:ea typeface="Alibaba PuHuiTi 3.0 55 Regular" panose="00020600040101010101" charset="-122"/>
              </a:rPr>
              <a:t>量化</a:t>
            </a:r>
            <a:r>
              <a:rPr lang="en-US" altLang="zh-CN" sz="2200">
                <a:latin typeface="Alibaba PuHuiTi 3.0 55 Regular" panose="00020600040101010101" charset="-122"/>
                <a:ea typeface="Alibaba PuHuiTi 3.0 55 Regular" panose="00020600040101010101" charset="-122"/>
              </a:rPr>
              <a:t> </a:t>
            </a:r>
            <a:r>
              <a:rPr lang="en-US" altLang="zh-CN" sz="2200">
                <a:latin typeface="Alibaba PuHuiTi 3.0 55 Regular" panose="00020600040101010101" charset="-122"/>
                <a:ea typeface="Alibaba PuHuiTi 3.0 55 Regular" panose="00020600040101010101" charset="-122"/>
              </a:rPr>
              <a:t>Quantization</a:t>
            </a:r>
            <a:endParaRPr lang="en-US" altLang="zh-CN" sz="2200">
              <a:latin typeface="Alibaba PuHuiTi 3.0 55 Regular" panose="00020600040101010101" charset="-122"/>
              <a:ea typeface="Alibaba PuHuiTi 3.0 55 Regular" panose="00020600040101010101" charset="-122"/>
            </a:endParaRPr>
          </a:p>
        </p:txBody>
      </p:sp>
      <p:sp>
        <p:nvSpPr>
          <p:cNvPr id="18" name="Text Box 17"/>
          <p:cNvSpPr txBox="1"/>
          <p:nvPr/>
        </p:nvSpPr>
        <p:spPr>
          <a:xfrm>
            <a:off x="7519670" y="1313815"/>
            <a:ext cx="3822065" cy="429895"/>
          </a:xfrm>
          <a:prstGeom prst="rect">
            <a:avLst/>
          </a:prstGeom>
          <a:noFill/>
        </p:spPr>
        <p:txBody>
          <a:bodyPr wrap="square" rtlCol="0">
            <a:spAutoFit/>
          </a:bodyPr>
          <a:p>
            <a:r>
              <a:rPr lang="en-US" altLang="zh-CN" sz="2200">
                <a:latin typeface="Alibaba PuHuiTi 3.0 55 Regular" panose="00020600040101010101" charset="-122"/>
                <a:ea typeface="Alibaba PuHuiTi 3.0 55 Regular" panose="00020600040101010101" charset="-122"/>
              </a:rPr>
              <a:t>3. </a:t>
            </a:r>
            <a:r>
              <a:rPr lang="zh-CN" altLang="en-US" sz="2200">
                <a:latin typeface="Alibaba PuHuiTi 3.0 55 Regular" panose="00020600040101010101" charset="-122"/>
                <a:ea typeface="Alibaba PuHuiTi 3.0 55 Regular" panose="00020600040101010101" charset="-122"/>
              </a:rPr>
              <a:t>编码</a:t>
            </a:r>
            <a:r>
              <a:rPr lang="en-US" altLang="zh-CN" sz="2200">
                <a:latin typeface="Alibaba PuHuiTi 3.0 55 Regular" panose="00020600040101010101" charset="-122"/>
                <a:ea typeface="Alibaba PuHuiTi 3.0 55 Regular" panose="00020600040101010101" charset="-122"/>
              </a:rPr>
              <a:t> </a:t>
            </a:r>
            <a:r>
              <a:rPr lang="en-US" altLang="zh-CN" sz="2200">
                <a:latin typeface="Alibaba PuHuiTi 3.0 55 Regular" panose="00020600040101010101" charset="-122"/>
                <a:ea typeface="Alibaba PuHuiTi 3.0 55 Regular" panose="00020600040101010101" charset="-122"/>
              </a:rPr>
              <a:t>Encoding</a:t>
            </a:r>
            <a:endParaRPr lang="en-US" altLang="zh-CN" sz="2200">
              <a:latin typeface="Alibaba PuHuiTi 3.0 55 Regular" panose="00020600040101010101" charset="-122"/>
              <a:ea typeface="Alibaba PuHuiTi 3.0 55 Regular" panose="00020600040101010101" charset="-122"/>
            </a:endParaRPr>
          </a:p>
        </p:txBody>
      </p:sp>
      <p:cxnSp>
        <p:nvCxnSpPr>
          <p:cNvPr id="19" name="Straight Connector 18"/>
          <p:cNvCxnSpPr/>
          <p:nvPr/>
        </p:nvCxnSpPr>
        <p:spPr>
          <a:xfrm flipH="1">
            <a:off x="3202305" y="1528445"/>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cxnSp>
        <p:nvCxnSpPr>
          <p:cNvPr id="20" name="Straight Connector 19"/>
          <p:cNvCxnSpPr/>
          <p:nvPr/>
        </p:nvCxnSpPr>
        <p:spPr>
          <a:xfrm flipH="1">
            <a:off x="6861810" y="1528445"/>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grpSp>
        <p:nvGrpSpPr>
          <p:cNvPr id="10" name="Group 9"/>
          <p:cNvGrpSpPr/>
          <p:nvPr/>
        </p:nvGrpSpPr>
        <p:grpSpPr>
          <a:xfrm>
            <a:off x="691515" y="2225040"/>
            <a:ext cx="4659630" cy="3251200"/>
            <a:chOff x="8357" y="3477"/>
            <a:chExt cx="7338" cy="5120"/>
          </a:xfrm>
        </p:grpSpPr>
        <p:sp>
          <p:nvSpPr>
            <p:cNvPr id="12" name="Oval 11"/>
            <p:cNvSpPr/>
            <p:nvPr/>
          </p:nvSpPr>
          <p:spPr>
            <a:xfrm>
              <a:off x="10302" y="6584"/>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13" name="Straight Connector 12"/>
            <p:cNvCxnSpPr/>
            <p:nvPr/>
          </p:nvCxnSpPr>
          <p:spPr>
            <a:xfrm>
              <a:off x="10378" y="6700"/>
              <a:ext cx="0" cy="116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5" name="Straight Connector 14"/>
            <p:cNvCxnSpPr>
              <a:stCxn id="36" idx="31"/>
            </p:cNvCxnSpPr>
            <p:nvPr/>
          </p:nvCxnSpPr>
          <p:spPr>
            <a:xfrm flipH="1">
              <a:off x="12343" y="5841"/>
              <a:ext cx="17" cy="1944"/>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6" name="Straight Connector 15"/>
            <p:cNvCxnSpPr/>
            <p:nvPr/>
          </p:nvCxnSpPr>
          <p:spPr>
            <a:xfrm>
              <a:off x="13129" y="6900"/>
              <a:ext cx="0" cy="898"/>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2" name="Straight Connector 21"/>
            <p:cNvCxnSpPr/>
            <p:nvPr/>
          </p:nvCxnSpPr>
          <p:spPr>
            <a:xfrm>
              <a:off x="13522" y="6979"/>
              <a:ext cx="0" cy="887"/>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4" name="Straight Connector 23"/>
            <p:cNvCxnSpPr/>
            <p:nvPr/>
          </p:nvCxnSpPr>
          <p:spPr>
            <a:xfrm>
              <a:off x="13915" y="6557"/>
              <a:ext cx="0" cy="1309"/>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5" name="Straight Connector 24"/>
            <p:cNvCxnSpPr/>
            <p:nvPr/>
          </p:nvCxnSpPr>
          <p:spPr>
            <a:xfrm>
              <a:off x="9788" y="3477"/>
              <a:ext cx="0" cy="432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27" name="Straight Connector 26"/>
            <p:cNvCxnSpPr/>
            <p:nvPr/>
          </p:nvCxnSpPr>
          <p:spPr>
            <a:xfrm flipH="1">
              <a:off x="9786" y="7810"/>
              <a:ext cx="492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30" name="Text Box 29"/>
            <p:cNvSpPr txBox="1"/>
            <p:nvPr/>
          </p:nvSpPr>
          <p:spPr>
            <a:xfrm>
              <a:off x="8357" y="3477"/>
              <a:ext cx="1398" cy="677"/>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振幅</a:t>
              </a:r>
              <a:endParaRPr lang="zh-CN" altLang="en-US" sz="2200">
                <a:latin typeface="Alibaba PuHuiTi 3.0 55 Regular" panose="00020600040101010101" charset="-122"/>
                <a:ea typeface="Alibaba PuHuiTi 3.0 55 Regular" panose="00020600040101010101" charset="-122"/>
              </a:endParaRPr>
            </a:p>
          </p:txBody>
        </p:sp>
        <p:sp>
          <p:nvSpPr>
            <p:cNvPr id="33" name="Text Box 32"/>
            <p:cNvSpPr txBox="1"/>
            <p:nvPr/>
          </p:nvSpPr>
          <p:spPr>
            <a:xfrm>
              <a:off x="14297" y="7920"/>
              <a:ext cx="1398" cy="677"/>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36" name="Freeform 35"/>
            <p:cNvSpPr/>
            <p:nvPr/>
          </p:nvSpPr>
          <p:spPr>
            <a:xfrm>
              <a:off x="10127" y="4628"/>
              <a:ext cx="3966" cy="2591"/>
            </a:xfrm>
            <a:custGeom>
              <a:avLst/>
              <a:gdLst>
                <a:gd name="connisteX0" fmla="*/ 0 w 2518410"/>
                <a:gd name="connsiteY0" fmla="*/ 1645002 h 1645002"/>
                <a:gd name="connisteX1" fmla="*/ 25400 w 2518410"/>
                <a:gd name="connsiteY1" fmla="*/ 1519907 h 1645002"/>
                <a:gd name="connisteX2" fmla="*/ 142240 w 2518410"/>
                <a:gd name="connsiteY2" fmla="*/ 1328137 h 1645002"/>
                <a:gd name="connisteX3" fmla="*/ 225425 w 2518410"/>
                <a:gd name="connsiteY3" fmla="*/ 1178277 h 1645002"/>
                <a:gd name="connisteX4" fmla="*/ 275590 w 2518410"/>
                <a:gd name="connsiteY4" fmla="*/ 1077947 h 1645002"/>
                <a:gd name="connisteX5" fmla="*/ 325120 w 2518410"/>
                <a:gd name="connsiteY5" fmla="*/ 978252 h 1645002"/>
                <a:gd name="connisteX6" fmla="*/ 358775 w 2518410"/>
                <a:gd name="connsiteY6" fmla="*/ 877922 h 1645002"/>
                <a:gd name="connisteX7" fmla="*/ 383540 w 2518410"/>
                <a:gd name="connsiteY7" fmla="*/ 811247 h 1645002"/>
                <a:gd name="connisteX8" fmla="*/ 400685 w 2518410"/>
                <a:gd name="connsiteY8" fmla="*/ 728062 h 1645002"/>
                <a:gd name="connisteX9" fmla="*/ 441960 w 2518410"/>
                <a:gd name="connsiteY9" fmla="*/ 611222 h 1645002"/>
                <a:gd name="connisteX10" fmla="*/ 459105 w 2518410"/>
                <a:gd name="connsiteY10" fmla="*/ 544547 h 1645002"/>
                <a:gd name="connisteX11" fmla="*/ 492125 w 2518410"/>
                <a:gd name="connsiteY11" fmla="*/ 419452 h 1645002"/>
                <a:gd name="connisteX12" fmla="*/ 525780 w 2518410"/>
                <a:gd name="connsiteY12" fmla="*/ 310867 h 1645002"/>
                <a:gd name="connisteX13" fmla="*/ 550545 w 2518410"/>
                <a:gd name="connsiteY13" fmla="*/ 227682 h 1645002"/>
                <a:gd name="connisteX14" fmla="*/ 567055 w 2518410"/>
                <a:gd name="connsiteY14" fmla="*/ 161007 h 1645002"/>
                <a:gd name="connisteX15" fmla="*/ 584200 w 2518410"/>
                <a:gd name="connsiteY15" fmla="*/ 94332 h 1645002"/>
                <a:gd name="connisteX16" fmla="*/ 625475 w 2518410"/>
                <a:gd name="connsiteY16" fmla="*/ 27657 h 1645002"/>
                <a:gd name="connisteX17" fmla="*/ 692150 w 2518410"/>
                <a:gd name="connsiteY17" fmla="*/ 10512 h 1645002"/>
                <a:gd name="connisteX18" fmla="*/ 784225 w 2518410"/>
                <a:gd name="connsiteY18" fmla="*/ 2257 h 1645002"/>
                <a:gd name="connisteX19" fmla="*/ 859155 w 2518410"/>
                <a:gd name="connsiteY19" fmla="*/ 2257 h 1645002"/>
                <a:gd name="connisteX20" fmla="*/ 925830 w 2518410"/>
                <a:gd name="connsiteY20" fmla="*/ 2257 h 1645002"/>
                <a:gd name="connisteX21" fmla="*/ 1000760 w 2518410"/>
                <a:gd name="connsiteY21" fmla="*/ 27657 h 1645002"/>
                <a:gd name="connisteX22" fmla="*/ 1067435 w 2518410"/>
                <a:gd name="connsiteY22" fmla="*/ 77187 h 1645002"/>
                <a:gd name="connisteX23" fmla="*/ 1125855 w 2518410"/>
                <a:gd name="connsiteY23" fmla="*/ 152752 h 1645002"/>
                <a:gd name="connisteX24" fmla="*/ 1176020 w 2518410"/>
                <a:gd name="connsiteY24" fmla="*/ 235937 h 1645002"/>
                <a:gd name="connisteX25" fmla="*/ 1217930 w 2518410"/>
                <a:gd name="connsiteY25" fmla="*/ 302612 h 1645002"/>
                <a:gd name="connisteX26" fmla="*/ 1242695 w 2518410"/>
                <a:gd name="connsiteY26" fmla="*/ 369287 h 1645002"/>
                <a:gd name="connisteX27" fmla="*/ 1276350 w 2518410"/>
                <a:gd name="connsiteY27" fmla="*/ 435962 h 1645002"/>
                <a:gd name="connisteX28" fmla="*/ 1309370 w 2518410"/>
                <a:gd name="connsiteY28" fmla="*/ 502637 h 1645002"/>
                <a:gd name="connisteX29" fmla="*/ 1351280 w 2518410"/>
                <a:gd name="connsiteY29" fmla="*/ 594712 h 1645002"/>
                <a:gd name="connisteX30" fmla="*/ 1384300 w 2518410"/>
                <a:gd name="connsiteY30" fmla="*/ 686152 h 1645002"/>
                <a:gd name="connisteX31" fmla="*/ 1417955 w 2518410"/>
                <a:gd name="connsiteY31" fmla="*/ 769972 h 1645002"/>
                <a:gd name="connisteX32" fmla="*/ 1450975 w 2518410"/>
                <a:gd name="connsiteY32" fmla="*/ 844902 h 1645002"/>
                <a:gd name="connisteX33" fmla="*/ 1476375 w 2518410"/>
                <a:gd name="connsiteY33" fmla="*/ 911577 h 1645002"/>
                <a:gd name="connisteX34" fmla="*/ 1501140 w 2518410"/>
                <a:gd name="connsiteY34" fmla="*/ 1003017 h 1645002"/>
                <a:gd name="connisteX35" fmla="*/ 1526540 w 2518410"/>
                <a:gd name="connsiteY35" fmla="*/ 1077947 h 1645002"/>
                <a:gd name="connisteX36" fmla="*/ 1551305 w 2518410"/>
                <a:gd name="connsiteY36" fmla="*/ 1153512 h 1645002"/>
                <a:gd name="connisteX37" fmla="*/ 1601470 w 2518410"/>
                <a:gd name="connsiteY37" fmla="*/ 1220187 h 1645002"/>
                <a:gd name="connisteX38" fmla="*/ 1676400 w 2518410"/>
                <a:gd name="connsiteY38" fmla="*/ 1269717 h 1645002"/>
                <a:gd name="connisteX39" fmla="*/ 1743075 w 2518410"/>
                <a:gd name="connsiteY39" fmla="*/ 1319882 h 1645002"/>
                <a:gd name="connisteX40" fmla="*/ 1809750 w 2518410"/>
                <a:gd name="connsiteY40" fmla="*/ 1353537 h 1645002"/>
                <a:gd name="connisteX41" fmla="*/ 1876425 w 2518410"/>
                <a:gd name="connsiteY41" fmla="*/ 1386557 h 1645002"/>
                <a:gd name="connisteX42" fmla="*/ 1951355 w 2518410"/>
                <a:gd name="connsiteY42" fmla="*/ 1411957 h 1645002"/>
                <a:gd name="connisteX43" fmla="*/ 2035175 w 2518410"/>
                <a:gd name="connsiteY43" fmla="*/ 1436722 h 1645002"/>
                <a:gd name="connisteX44" fmla="*/ 2110105 w 2518410"/>
                <a:gd name="connsiteY44" fmla="*/ 1453232 h 1645002"/>
                <a:gd name="connisteX45" fmla="*/ 2185035 w 2518410"/>
                <a:gd name="connsiteY45" fmla="*/ 1453232 h 1645002"/>
                <a:gd name="connisteX46" fmla="*/ 2251710 w 2518410"/>
                <a:gd name="connsiteY46" fmla="*/ 1444977 h 1645002"/>
                <a:gd name="connisteX47" fmla="*/ 2301875 w 2518410"/>
                <a:gd name="connsiteY47" fmla="*/ 1378302 h 1645002"/>
                <a:gd name="connisteX48" fmla="*/ 2343785 w 2518410"/>
                <a:gd name="connsiteY48" fmla="*/ 1311627 h 1645002"/>
                <a:gd name="connisteX49" fmla="*/ 2368550 w 2518410"/>
                <a:gd name="connsiteY49" fmla="*/ 1236697 h 1645002"/>
                <a:gd name="connisteX50" fmla="*/ 2402205 w 2518410"/>
                <a:gd name="connsiteY50" fmla="*/ 1161767 h 1645002"/>
                <a:gd name="connisteX51" fmla="*/ 2426970 w 2518410"/>
                <a:gd name="connsiteY51" fmla="*/ 1086837 h 1645002"/>
                <a:gd name="connisteX52" fmla="*/ 2468880 w 2518410"/>
                <a:gd name="connsiteY52" fmla="*/ 1019527 h 1645002"/>
                <a:gd name="connisteX53" fmla="*/ 2518410 w 2518410"/>
                <a:gd name="connsiteY53" fmla="*/ 944597 h 164500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Lst>
              <a:rect l="l" t="t" r="r" b="b"/>
              <a:pathLst>
                <a:path w="2518410" h="1645003">
                  <a:moveTo>
                    <a:pt x="0" y="1645003"/>
                  </a:moveTo>
                  <a:cubicBezTo>
                    <a:pt x="2540" y="1624048"/>
                    <a:pt x="-3175" y="1583408"/>
                    <a:pt x="25400" y="1519908"/>
                  </a:cubicBezTo>
                  <a:cubicBezTo>
                    <a:pt x="53975" y="1456408"/>
                    <a:pt x="102235" y="1396718"/>
                    <a:pt x="142240" y="1328138"/>
                  </a:cubicBezTo>
                  <a:cubicBezTo>
                    <a:pt x="182245" y="1259558"/>
                    <a:pt x="198755" y="1228443"/>
                    <a:pt x="225425" y="1178278"/>
                  </a:cubicBezTo>
                  <a:cubicBezTo>
                    <a:pt x="252095" y="1128113"/>
                    <a:pt x="255905" y="1117953"/>
                    <a:pt x="275590" y="1077948"/>
                  </a:cubicBezTo>
                  <a:cubicBezTo>
                    <a:pt x="295275" y="1037943"/>
                    <a:pt x="308610" y="1018258"/>
                    <a:pt x="325120" y="978253"/>
                  </a:cubicBezTo>
                  <a:cubicBezTo>
                    <a:pt x="341630" y="938248"/>
                    <a:pt x="347345" y="911578"/>
                    <a:pt x="358775" y="877923"/>
                  </a:cubicBezTo>
                  <a:cubicBezTo>
                    <a:pt x="370205" y="844268"/>
                    <a:pt x="375285" y="841093"/>
                    <a:pt x="383540" y="811248"/>
                  </a:cubicBezTo>
                  <a:cubicBezTo>
                    <a:pt x="391795" y="781403"/>
                    <a:pt x="389255" y="768068"/>
                    <a:pt x="400685" y="728063"/>
                  </a:cubicBezTo>
                  <a:cubicBezTo>
                    <a:pt x="412115" y="688058"/>
                    <a:pt x="430530" y="648053"/>
                    <a:pt x="441960" y="611223"/>
                  </a:cubicBezTo>
                  <a:cubicBezTo>
                    <a:pt x="453390" y="574393"/>
                    <a:pt x="448945" y="582648"/>
                    <a:pt x="459105" y="544548"/>
                  </a:cubicBezTo>
                  <a:cubicBezTo>
                    <a:pt x="469265" y="506448"/>
                    <a:pt x="478790" y="466443"/>
                    <a:pt x="492125" y="419453"/>
                  </a:cubicBezTo>
                  <a:cubicBezTo>
                    <a:pt x="505460" y="372463"/>
                    <a:pt x="514350" y="348968"/>
                    <a:pt x="525780" y="310868"/>
                  </a:cubicBezTo>
                  <a:cubicBezTo>
                    <a:pt x="537210" y="272768"/>
                    <a:pt x="542290" y="257528"/>
                    <a:pt x="550545" y="227683"/>
                  </a:cubicBezTo>
                  <a:cubicBezTo>
                    <a:pt x="558800" y="197838"/>
                    <a:pt x="560070" y="187678"/>
                    <a:pt x="567055" y="161008"/>
                  </a:cubicBezTo>
                  <a:cubicBezTo>
                    <a:pt x="574040" y="134338"/>
                    <a:pt x="572770" y="121003"/>
                    <a:pt x="584200" y="94333"/>
                  </a:cubicBezTo>
                  <a:cubicBezTo>
                    <a:pt x="595630" y="67663"/>
                    <a:pt x="603885" y="44168"/>
                    <a:pt x="625475" y="27658"/>
                  </a:cubicBezTo>
                  <a:cubicBezTo>
                    <a:pt x="647065" y="11148"/>
                    <a:pt x="660400" y="15593"/>
                    <a:pt x="692150" y="10513"/>
                  </a:cubicBezTo>
                  <a:cubicBezTo>
                    <a:pt x="723900" y="5433"/>
                    <a:pt x="750570" y="4163"/>
                    <a:pt x="784225" y="2258"/>
                  </a:cubicBezTo>
                  <a:cubicBezTo>
                    <a:pt x="817880" y="353"/>
                    <a:pt x="830580" y="2258"/>
                    <a:pt x="859155" y="2258"/>
                  </a:cubicBezTo>
                  <a:cubicBezTo>
                    <a:pt x="887730" y="2258"/>
                    <a:pt x="897255" y="-2822"/>
                    <a:pt x="925830" y="2258"/>
                  </a:cubicBezTo>
                  <a:cubicBezTo>
                    <a:pt x="954405" y="7338"/>
                    <a:pt x="972185" y="12418"/>
                    <a:pt x="1000760" y="27658"/>
                  </a:cubicBezTo>
                  <a:cubicBezTo>
                    <a:pt x="1029335" y="42898"/>
                    <a:pt x="1042670" y="52423"/>
                    <a:pt x="1067435" y="77188"/>
                  </a:cubicBezTo>
                  <a:cubicBezTo>
                    <a:pt x="1092200" y="101953"/>
                    <a:pt x="1104265" y="121003"/>
                    <a:pt x="1125855" y="152753"/>
                  </a:cubicBezTo>
                  <a:cubicBezTo>
                    <a:pt x="1147445" y="184503"/>
                    <a:pt x="1157605" y="206093"/>
                    <a:pt x="1176020" y="235938"/>
                  </a:cubicBezTo>
                  <a:cubicBezTo>
                    <a:pt x="1194435" y="265783"/>
                    <a:pt x="1204595" y="275943"/>
                    <a:pt x="1217930" y="302613"/>
                  </a:cubicBezTo>
                  <a:cubicBezTo>
                    <a:pt x="1231265" y="329283"/>
                    <a:pt x="1231265" y="342618"/>
                    <a:pt x="1242695" y="369288"/>
                  </a:cubicBezTo>
                  <a:cubicBezTo>
                    <a:pt x="1254125" y="395958"/>
                    <a:pt x="1263015" y="409293"/>
                    <a:pt x="1276350" y="435963"/>
                  </a:cubicBezTo>
                  <a:cubicBezTo>
                    <a:pt x="1289685" y="462633"/>
                    <a:pt x="1294130" y="470888"/>
                    <a:pt x="1309370" y="502638"/>
                  </a:cubicBezTo>
                  <a:cubicBezTo>
                    <a:pt x="1324610" y="534388"/>
                    <a:pt x="1336040" y="557883"/>
                    <a:pt x="1351280" y="594713"/>
                  </a:cubicBezTo>
                  <a:cubicBezTo>
                    <a:pt x="1366520" y="631543"/>
                    <a:pt x="1370965" y="651228"/>
                    <a:pt x="1384300" y="686153"/>
                  </a:cubicBezTo>
                  <a:cubicBezTo>
                    <a:pt x="1397635" y="721078"/>
                    <a:pt x="1404620" y="738223"/>
                    <a:pt x="1417955" y="769973"/>
                  </a:cubicBezTo>
                  <a:cubicBezTo>
                    <a:pt x="1431290" y="801723"/>
                    <a:pt x="1439545" y="816328"/>
                    <a:pt x="1450975" y="844903"/>
                  </a:cubicBezTo>
                  <a:cubicBezTo>
                    <a:pt x="1462405" y="873478"/>
                    <a:pt x="1466215" y="879828"/>
                    <a:pt x="1476375" y="911578"/>
                  </a:cubicBezTo>
                  <a:cubicBezTo>
                    <a:pt x="1486535" y="943328"/>
                    <a:pt x="1490980" y="969998"/>
                    <a:pt x="1501140" y="1003018"/>
                  </a:cubicBezTo>
                  <a:cubicBezTo>
                    <a:pt x="1511300" y="1036038"/>
                    <a:pt x="1516380" y="1048103"/>
                    <a:pt x="1526540" y="1077948"/>
                  </a:cubicBezTo>
                  <a:cubicBezTo>
                    <a:pt x="1536700" y="1107793"/>
                    <a:pt x="1536065" y="1124938"/>
                    <a:pt x="1551305" y="1153513"/>
                  </a:cubicBezTo>
                  <a:cubicBezTo>
                    <a:pt x="1566545" y="1182088"/>
                    <a:pt x="1576705" y="1196693"/>
                    <a:pt x="1601470" y="1220188"/>
                  </a:cubicBezTo>
                  <a:cubicBezTo>
                    <a:pt x="1626235" y="1243683"/>
                    <a:pt x="1647825" y="1250033"/>
                    <a:pt x="1676400" y="1269718"/>
                  </a:cubicBezTo>
                  <a:cubicBezTo>
                    <a:pt x="1704975" y="1289403"/>
                    <a:pt x="1716405" y="1303373"/>
                    <a:pt x="1743075" y="1319883"/>
                  </a:cubicBezTo>
                  <a:cubicBezTo>
                    <a:pt x="1769745" y="1336393"/>
                    <a:pt x="1783080" y="1340203"/>
                    <a:pt x="1809750" y="1353538"/>
                  </a:cubicBezTo>
                  <a:cubicBezTo>
                    <a:pt x="1836420" y="1366873"/>
                    <a:pt x="1847850" y="1375128"/>
                    <a:pt x="1876425" y="1386558"/>
                  </a:cubicBezTo>
                  <a:cubicBezTo>
                    <a:pt x="1905000" y="1397988"/>
                    <a:pt x="1919605" y="1401798"/>
                    <a:pt x="1951355" y="1411958"/>
                  </a:cubicBezTo>
                  <a:cubicBezTo>
                    <a:pt x="1983105" y="1422118"/>
                    <a:pt x="2003425" y="1428468"/>
                    <a:pt x="2035175" y="1436723"/>
                  </a:cubicBezTo>
                  <a:cubicBezTo>
                    <a:pt x="2066925" y="1444978"/>
                    <a:pt x="2080260" y="1450058"/>
                    <a:pt x="2110105" y="1453233"/>
                  </a:cubicBezTo>
                  <a:cubicBezTo>
                    <a:pt x="2139950" y="1456408"/>
                    <a:pt x="2156460" y="1455138"/>
                    <a:pt x="2185035" y="1453233"/>
                  </a:cubicBezTo>
                  <a:cubicBezTo>
                    <a:pt x="2213610" y="1451328"/>
                    <a:pt x="2228215" y="1460218"/>
                    <a:pt x="2251710" y="1444978"/>
                  </a:cubicBezTo>
                  <a:cubicBezTo>
                    <a:pt x="2275205" y="1429738"/>
                    <a:pt x="2283460" y="1404973"/>
                    <a:pt x="2301875" y="1378303"/>
                  </a:cubicBezTo>
                  <a:cubicBezTo>
                    <a:pt x="2320290" y="1351633"/>
                    <a:pt x="2330450" y="1340203"/>
                    <a:pt x="2343785" y="1311628"/>
                  </a:cubicBezTo>
                  <a:cubicBezTo>
                    <a:pt x="2357120" y="1283053"/>
                    <a:pt x="2357120" y="1266543"/>
                    <a:pt x="2368550" y="1236698"/>
                  </a:cubicBezTo>
                  <a:cubicBezTo>
                    <a:pt x="2379980" y="1206853"/>
                    <a:pt x="2390775" y="1191613"/>
                    <a:pt x="2402205" y="1161768"/>
                  </a:cubicBezTo>
                  <a:cubicBezTo>
                    <a:pt x="2413635" y="1131923"/>
                    <a:pt x="2413635" y="1115413"/>
                    <a:pt x="2426970" y="1086838"/>
                  </a:cubicBezTo>
                  <a:cubicBezTo>
                    <a:pt x="2440305" y="1058263"/>
                    <a:pt x="2450465" y="1048103"/>
                    <a:pt x="2468880" y="1019528"/>
                  </a:cubicBezTo>
                  <a:cubicBezTo>
                    <a:pt x="2487295" y="990953"/>
                    <a:pt x="2509520" y="957933"/>
                    <a:pt x="2518410" y="944598"/>
                  </a:cubicBezTo>
                </a:path>
              </a:pathLst>
            </a:custGeom>
            <a:noFill/>
            <a:ln w="38100">
              <a:solidFill>
                <a:schemeClr val="tx1"/>
              </a:solidFill>
            </a:ln>
          </p:spPr>
          <p:txBody>
            <a:bodyPr vert="horz" lIns="90000" tIns="46800" rIns="90000" bIns="46800" rtlCol="0" anchor="ctr" anchorCtr="0">
              <a:noAutofit/>
            </a:bodyPr>
            <a:p>
              <a:endParaRPr lang="zh-CN" altLang="en-US" sz="2445">
                <a:solidFill>
                  <a:schemeClr val="tx1"/>
                </a:solidFill>
              </a:endParaRPr>
            </a:p>
          </p:txBody>
        </p:sp>
        <p:sp>
          <p:nvSpPr>
            <p:cNvPr id="45" name="Text Box 44"/>
            <p:cNvSpPr txBox="1"/>
            <p:nvPr/>
          </p:nvSpPr>
          <p:spPr>
            <a:xfrm>
              <a:off x="10035" y="7920"/>
              <a:ext cx="4676" cy="677"/>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48" name="Text Box 47"/>
            <p:cNvSpPr txBox="1"/>
            <p:nvPr/>
          </p:nvSpPr>
          <p:spPr>
            <a:xfrm>
              <a:off x="10127" y="5242"/>
              <a:ext cx="784" cy="453"/>
            </a:xfrm>
            <a:prstGeom prst="rect">
              <a:avLst/>
            </a:prstGeom>
            <a:noFill/>
          </p:spPr>
          <p:txBody>
            <a:bodyPr wrap="square" rtlCol="0">
              <a:noAutofit/>
            </a:bodyPr>
            <a:p>
              <a:r>
                <a:rPr lang="en-US" sz="1400">
                  <a:solidFill>
                    <a:schemeClr val="tx1"/>
                  </a:solidFill>
                  <a:latin typeface="Alibaba PuHuiTi 3.0 55 Regular" panose="00020600040101010101" charset="-122"/>
                  <a:ea typeface="Alibaba PuHuiTi 3.0 55 Regular" panose="00020600040101010101" charset="-122"/>
                </a:rPr>
                <a:t>1.4</a:t>
              </a:r>
              <a:endParaRPr lang="en-US" sz="1400">
                <a:solidFill>
                  <a:schemeClr val="tx1"/>
                </a:solidFill>
                <a:latin typeface="Alibaba PuHuiTi 3.0 55 Regular" panose="00020600040101010101" charset="-122"/>
                <a:ea typeface="Alibaba PuHuiTi 3.0 55 Regular" panose="00020600040101010101" charset="-122"/>
              </a:endParaRPr>
            </a:p>
          </p:txBody>
        </p:sp>
        <p:sp>
          <p:nvSpPr>
            <p:cNvPr id="8" name="Oval 7"/>
            <p:cNvSpPr/>
            <p:nvPr/>
          </p:nvSpPr>
          <p:spPr>
            <a:xfrm>
              <a:off x="11075" y="4602"/>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9" name="Oval 8"/>
            <p:cNvSpPr/>
            <p:nvPr/>
          </p:nvSpPr>
          <p:spPr>
            <a:xfrm>
              <a:off x="12297" y="5775"/>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1" name="Oval 50"/>
            <p:cNvSpPr/>
            <p:nvPr/>
          </p:nvSpPr>
          <p:spPr>
            <a:xfrm>
              <a:off x="13081" y="6748"/>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2" name="Oval 51"/>
            <p:cNvSpPr/>
            <p:nvPr/>
          </p:nvSpPr>
          <p:spPr>
            <a:xfrm>
              <a:off x="13842" y="6405"/>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58" name="Straight Connector 57"/>
            <p:cNvCxnSpPr>
              <a:endCxn id="84" idx="3"/>
            </p:cNvCxnSpPr>
            <p:nvPr/>
          </p:nvCxnSpPr>
          <p:spPr>
            <a:xfrm flipV="1">
              <a:off x="10378" y="5825"/>
              <a:ext cx="314" cy="82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79" name="Straight Connector 78"/>
            <p:cNvCxnSpPr>
              <a:stCxn id="36" idx="8"/>
            </p:cNvCxnSpPr>
            <p:nvPr/>
          </p:nvCxnSpPr>
          <p:spPr>
            <a:xfrm>
              <a:off x="10758" y="5775"/>
              <a:ext cx="13" cy="209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0" name="Straight Connector 79"/>
            <p:cNvCxnSpPr/>
            <p:nvPr/>
          </p:nvCxnSpPr>
          <p:spPr>
            <a:xfrm>
              <a:off x="11164" y="4671"/>
              <a:ext cx="0" cy="3194"/>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1" name="Straight Connector 80"/>
            <p:cNvCxnSpPr/>
            <p:nvPr/>
          </p:nvCxnSpPr>
          <p:spPr>
            <a:xfrm>
              <a:off x="11557" y="4664"/>
              <a:ext cx="0" cy="3201"/>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2" name="Straight Connector 81"/>
            <p:cNvCxnSpPr>
              <a:stCxn id="54" idx="1"/>
            </p:cNvCxnSpPr>
            <p:nvPr/>
          </p:nvCxnSpPr>
          <p:spPr>
            <a:xfrm flipH="1">
              <a:off x="11950" y="4915"/>
              <a:ext cx="5" cy="29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3" name="Straight Connector 82"/>
            <p:cNvCxnSpPr/>
            <p:nvPr/>
          </p:nvCxnSpPr>
          <p:spPr>
            <a:xfrm>
              <a:off x="12736" y="6657"/>
              <a:ext cx="0" cy="1208"/>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84" name="Oval 83"/>
            <p:cNvSpPr/>
            <p:nvPr/>
          </p:nvSpPr>
          <p:spPr>
            <a:xfrm>
              <a:off x="10670" y="5695"/>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5" name="Oval 84"/>
            <p:cNvSpPr/>
            <p:nvPr/>
          </p:nvSpPr>
          <p:spPr>
            <a:xfrm>
              <a:off x="11481" y="4554"/>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6" name="Oval 85"/>
            <p:cNvSpPr/>
            <p:nvPr/>
          </p:nvSpPr>
          <p:spPr>
            <a:xfrm>
              <a:off x="11900" y="4839"/>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7" name="Oval 86"/>
            <p:cNvSpPr/>
            <p:nvPr/>
          </p:nvSpPr>
          <p:spPr>
            <a:xfrm>
              <a:off x="12656" y="6557"/>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8" name="Oval 87"/>
            <p:cNvSpPr/>
            <p:nvPr/>
          </p:nvSpPr>
          <p:spPr>
            <a:xfrm>
              <a:off x="13467" y="6845"/>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98" name="Straight Connector 97"/>
            <p:cNvCxnSpPr>
              <a:endCxn id="8" idx="2"/>
            </p:cNvCxnSpPr>
            <p:nvPr/>
          </p:nvCxnSpPr>
          <p:spPr>
            <a:xfrm flipV="1">
              <a:off x="10771" y="4678"/>
              <a:ext cx="304" cy="1097"/>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9" name="Straight Connector 98"/>
            <p:cNvCxnSpPr>
              <a:endCxn id="91" idx="2"/>
            </p:cNvCxnSpPr>
            <p:nvPr/>
          </p:nvCxnSpPr>
          <p:spPr>
            <a:xfrm flipV="1">
              <a:off x="11153" y="4601"/>
              <a:ext cx="376" cy="5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0" name="Straight Connector 99"/>
            <p:cNvCxnSpPr>
              <a:stCxn id="85" idx="5"/>
              <a:endCxn id="86" idx="2"/>
            </p:cNvCxnSpPr>
            <p:nvPr/>
          </p:nvCxnSpPr>
          <p:spPr>
            <a:xfrm>
              <a:off x="11611" y="4684"/>
              <a:ext cx="289" cy="231"/>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1" name="Straight Connector 100"/>
            <p:cNvCxnSpPr>
              <a:stCxn id="86" idx="4"/>
              <a:endCxn id="36" idx="31"/>
            </p:cNvCxnSpPr>
            <p:nvPr/>
          </p:nvCxnSpPr>
          <p:spPr>
            <a:xfrm>
              <a:off x="11976" y="4991"/>
              <a:ext cx="384" cy="8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2" name="Straight Connector 101"/>
            <p:cNvCxnSpPr>
              <a:stCxn id="9" idx="5"/>
              <a:endCxn id="87" idx="1"/>
            </p:cNvCxnSpPr>
            <p:nvPr/>
          </p:nvCxnSpPr>
          <p:spPr>
            <a:xfrm>
              <a:off x="12427" y="5905"/>
              <a:ext cx="251" cy="674"/>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3" name="Straight Connector 102"/>
            <p:cNvCxnSpPr>
              <a:stCxn id="87" idx="5"/>
              <a:endCxn id="51" idx="2"/>
            </p:cNvCxnSpPr>
            <p:nvPr/>
          </p:nvCxnSpPr>
          <p:spPr>
            <a:xfrm>
              <a:off x="12786" y="6687"/>
              <a:ext cx="295" cy="137"/>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4" name="Straight Connector 103"/>
            <p:cNvCxnSpPr>
              <a:stCxn id="51" idx="5"/>
              <a:endCxn id="93" idx="2"/>
            </p:cNvCxnSpPr>
            <p:nvPr/>
          </p:nvCxnSpPr>
          <p:spPr>
            <a:xfrm>
              <a:off x="13211" y="6878"/>
              <a:ext cx="305" cy="3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5" name="Straight Connector 104"/>
            <p:cNvCxnSpPr>
              <a:stCxn id="88" idx="5"/>
              <a:endCxn id="52" idx="2"/>
            </p:cNvCxnSpPr>
            <p:nvPr/>
          </p:nvCxnSpPr>
          <p:spPr>
            <a:xfrm flipV="1">
              <a:off x="13597" y="6481"/>
              <a:ext cx="245" cy="494"/>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grpSp>
      <p:sp>
        <p:nvSpPr>
          <p:cNvPr id="11" name="Content Placeholder 10"/>
          <p:cNvSpPr>
            <a:spLocks noGrp="1"/>
          </p:cNvSpPr>
          <p:nvPr>
            <p:ph idx="1"/>
            <p:custDataLst>
              <p:tags r:id="rId2"/>
            </p:custDataLst>
          </p:nvPr>
        </p:nvSpPr>
        <p:spPr>
          <a:xfrm>
            <a:off x="4621530" y="2377440"/>
            <a:ext cx="7204710" cy="1938655"/>
          </a:xfrm>
        </p:spPr>
        <p:txBody>
          <a:bodyPr>
            <a:noAutofit/>
          </a:bodyPr>
          <a:p>
            <a:pPr marL="0" indent="0">
              <a:lnSpc>
                <a:spcPct val="150000"/>
              </a:lnSpc>
              <a:buFont typeface="Arial" panose="020B0604020202090204" pitchFamily="34" charset="0"/>
              <a:buNone/>
            </a:pPr>
            <a:r>
              <a:rPr lang="zh-CN" altLang="en-US"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经过采样</a:t>
            </a:r>
            <a:r>
              <a:rPr lang="en-US" altLang="zh-CN"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a:t>
            </a:r>
            <a:r>
              <a:rPr lang="zh-CN" altLang="en-US"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已经实现了近似去表示连续变化的波形</a:t>
            </a:r>
            <a:r>
              <a:rPr lang="en-US" altLang="zh-CN"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a:t>
            </a:r>
            <a:endParaRPr lang="en-US" altLang="zh-CN"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endParaRPr>
          </a:p>
          <a:p>
            <a:pPr marL="0" indent="0" algn="just">
              <a:lnSpc>
                <a:spcPct val="150000"/>
              </a:lnSpc>
              <a:buFont typeface="Arial" panose="020B0604020202090204" pitchFamily="34" charset="0"/>
              <a:buNone/>
            </a:pPr>
            <a:r>
              <a:rPr lang="zh-CN" altLang="en-US"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但取得的值依然是连续变化的</a:t>
            </a:r>
            <a:r>
              <a:rPr lang="en-US" altLang="zh-CN"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a:t>
            </a:r>
            <a:endParaRPr lang="en-US" altLang="zh-CN"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a:bodyPr>
          <a:p>
            <a:r>
              <a:rPr lang="zh-CN" altLang="en-US"/>
              <a:t>怎样才能把声音（模拟信号</a:t>
            </a:r>
            <a:r>
              <a:rPr lang="en-US" altLang="zh-CN"/>
              <a:t>）</a:t>
            </a:r>
            <a:r>
              <a:rPr lang="zh-CN" altLang="en-US"/>
              <a:t>是转成数字信号</a:t>
            </a:r>
            <a:r>
              <a:rPr lang="en-US"/>
              <a:t>？</a:t>
            </a:r>
            <a:endParaRPr lang="en-US"/>
          </a:p>
        </p:txBody>
      </p:sp>
      <p:sp>
        <p:nvSpPr>
          <p:cNvPr id="14" name="Text Box 13"/>
          <p:cNvSpPr txBox="1"/>
          <p:nvPr/>
        </p:nvSpPr>
        <p:spPr>
          <a:xfrm>
            <a:off x="691515" y="1313815"/>
            <a:ext cx="254762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cs typeface="Alibaba PuHuiTi 3.0 55 Regular" panose="00020600040101010101" charset="-122"/>
              </a:rPr>
              <a:t>1. </a:t>
            </a:r>
            <a:r>
              <a:rPr lang="zh-CN" altLang="en-US" sz="2200">
                <a:latin typeface="Alibaba PuHuiTi 3.0 55 Regular" panose="00020600040101010101" charset="-122"/>
                <a:ea typeface="Alibaba PuHuiTi 3.0 55 Regular" panose="00020600040101010101" charset="-122"/>
                <a:cs typeface="Alibaba PuHuiTi 3.0 55 Regular" panose="00020600040101010101" charset="-122"/>
              </a:rPr>
              <a:t>采样</a:t>
            </a:r>
            <a:r>
              <a:rPr lang="en-US" altLang="zh-CN" sz="2200">
                <a:latin typeface="Alibaba PuHuiTi 3.0 55 Regular" panose="00020600040101010101" charset="-122"/>
                <a:ea typeface="Alibaba PuHuiTi 3.0 55 Regular" panose="00020600040101010101" charset="-122"/>
                <a:cs typeface="Alibaba PuHuiTi 3.0 55 Regular" panose="00020600040101010101" charset="-122"/>
              </a:rPr>
              <a:t> Sampling</a:t>
            </a:r>
            <a:endParaRPr lang="en-US" altLang="zh-CN" sz="2200">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7" name="Text Box 16"/>
          <p:cNvSpPr txBox="1"/>
          <p:nvPr/>
        </p:nvSpPr>
        <p:spPr>
          <a:xfrm>
            <a:off x="3860165" y="1313815"/>
            <a:ext cx="3038475" cy="429895"/>
          </a:xfrm>
          <a:prstGeom prst="rect">
            <a:avLst/>
          </a:prstGeom>
          <a:noFill/>
        </p:spPr>
        <p:txBody>
          <a:bodyPr wrap="square" rtlCol="0">
            <a:spAutoFit/>
          </a:bodyPr>
          <a:p>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2. </a:t>
            </a:r>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量化</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 Quantization</a:t>
            </a:r>
            <a:endParaRPr lang="en-US" altLang="zh-CN" sz="2200" b="1">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18" name="Text Box 17"/>
          <p:cNvSpPr txBox="1"/>
          <p:nvPr/>
        </p:nvSpPr>
        <p:spPr>
          <a:xfrm>
            <a:off x="7519670" y="1313815"/>
            <a:ext cx="3822065" cy="429895"/>
          </a:xfrm>
          <a:prstGeom prst="rect">
            <a:avLst/>
          </a:prstGeom>
          <a:noFill/>
        </p:spPr>
        <p:txBody>
          <a:bodyPr wrap="square" rtlCol="0">
            <a:spAutoFit/>
          </a:bodyPr>
          <a:p>
            <a:r>
              <a:rPr lang="en-US" altLang="zh-CN" sz="2200">
                <a:latin typeface="Alibaba PuHuiTi 3.0 55 Regular" panose="00020600040101010101" charset="-122"/>
                <a:ea typeface="Alibaba PuHuiTi 3.0 55 Regular" panose="00020600040101010101" charset="-122"/>
              </a:rPr>
              <a:t>3. </a:t>
            </a:r>
            <a:r>
              <a:rPr lang="zh-CN" altLang="en-US" sz="2200">
                <a:latin typeface="Alibaba PuHuiTi 3.0 55 Regular" panose="00020600040101010101" charset="-122"/>
                <a:ea typeface="Alibaba PuHuiTi 3.0 55 Regular" panose="00020600040101010101" charset="-122"/>
              </a:rPr>
              <a:t>编码</a:t>
            </a:r>
            <a:r>
              <a:rPr lang="en-US" altLang="zh-CN" sz="2200">
                <a:latin typeface="Alibaba PuHuiTi 3.0 55 Regular" panose="00020600040101010101" charset="-122"/>
                <a:ea typeface="Alibaba PuHuiTi 3.0 55 Regular" panose="00020600040101010101" charset="-122"/>
              </a:rPr>
              <a:t> </a:t>
            </a:r>
            <a:r>
              <a:rPr lang="en-US" altLang="zh-CN" sz="2200">
                <a:latin typeface="Alibaba PuHuiTi 3.0 55 Regular" panose="00020600040101010101" charset="-122"/>
                <a:ea typeface="Alibaba PuHuiTi 3.0 55 Regular" panose="00020600040101010101" charset="-122"/>
              </a:rPr>
              <a:t>Encoding</a:t>
            </a:r>
            <a:endParaRPr lang="en-US" altLang="zh-CN" sz="2200">
              <a:latin typeface="Alibaba PuHuiTi 3.0 55 Regular" panose="00020600040101010101" charset="-122"/>
              <a:ea typeface="Alibaba PuHuiTi 3.0 55 Regular" panose="00020600040101010101" charset="-122"/>
            </a:endParaRPr>
          </a:p>
        </p:txBody>
      </p:sp>
      <p:cxnSp>
        <p:nvCxnSpPr>
          <p:cNvPr id="19" name="Straight Connector 18"/>
          <p:cNvCxnSpPr/>
          <p:nvPr/>
        </p:nvCxnSpPr>
        <p:spPr>
          <a:xfrm flipH="1">
            <a:off x="3202305" y="1528445"/>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cxnSp>
        <p:nvCxnSpPr>
          <p:cNvPr id="20" name="Straight Connector 19"/>
          <p:cNvCxnSpPr/>
          <p:nvPr/>
        </p:nvCxnSpPr>
        <p:spPr>
          <a:xfrm flipH="1">
            <a:off x="6861810" y="1528445"/>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12" name="Oval 11"/>
          <p:cNvSpPr/>
          <p:nvPr/>
        </p:nvSpPr>
        <p:spPr>
          <a:xfrm>
            <a:off x="1926590" y="419798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13" name="Straight Connector 12"/>
          <p:cNvCxnSpPr/>
          <p:nvPr/>
        </p:nvCxnSpPr>
        <p:spPr>
          <a:xfrm>
            <a:off x="1974850" y="4271645"/>
            <a:ext cx="0" cy="73977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5" name="Straight Connector 14"/>
          <p:cNvCxnSpPr>
            <a:stCxn id="36" idx="31"/>
          </p:cNvCxnSpPr>
          <p:nvPr/>
        </p:nvCxnSpPr>
        <p:spPr>
          <a:xfrm flipH="1">
            <a:off x="3222625" y="3726180"/>
            <a:ext cx="10795" cy="123444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6" name="Straight Connector 15"/>
          <p:cNvCxnSpPr/>
          <p:nvPr/>
        </p:nvCxnSpPr>
        <p:spPr>
          <a:xfrm>
            <a:off x="3721735" y="4398645"/>
            <a:ext cx="0" cy="57023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2" name="Straight Connector 21"/>
          <p:cNvCxnSpPr/>
          <p:nvPr/>
        </p:nvCxnSpPr>
        <p:spPr>
          <a:xfrm>
            <a:off x="3971290" y="4448810"/>
            <a:ext cx="0" cy="56324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4" name="Straight Connector 23"/>
          <p:cNvCxnSpPr/>
          <p:nvPr/>
        </p:nvCxnSpPr>
        <p:spPr>
          <a:xfrm>
            <a:off x="4220845" y="4180840"/>
            <a:ext cx="0" cy="83121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5" name="Straight Connector 24"/>
          <p:cNvCxnSpPr/>
          <p:nvPr/>
        </p:nvCxnSpPr>
        <p:spPr>
          <a:xfrm>
            <a:off x="1600200" y="2225040"/>
            <a:ext cx="0" cy="274320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27" name="Straight Connector 26"/>
          <p:cNvCxnSpPr/>
          <p:nvPr/>
        </p:nvCxnSpPr>
        <p:spPr>
          <a:xfrm flipH="1">
            <a:off x="1598930" y="4977130"/>
            <a:ext cx="312737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30" name="Text Box 29"/>
          <p:cNvSpPr txBox="1"/>
          <p:nvPr/>
        </p:nvSpPr>
        <p:spPr>
          <a:xfrm>
            <a:off x="448945" y="2225040"/>
            <a:ext cx="1130300" cy="429895"/>
          </a:xfrm>
          <a:prstGeom prst="rect">
            <a:avLst/>
          </a:prstGeom>
          <a:noFill/>
        </p:spPr>
        <p:txBody>
          <a:bodyPr wrap="square" rtlCol="0">
            <a:noAutofit/>
          </a:bodyPr>
          <a:p>
            <a:pPr algn="r"/>
            <a:r>
              <a:rPr lang="zh-CN" altLang="en-US" sz="2200">
                <a:latin typeface="Alibaba PuHuiTi 3.0 55 Regular" panose="00020600040101010101" charset="-122"/>
                <a:ea typeface="Alibaba PuHuiTi 3.0 55 Regular" panose="00020600040101010101" charset="-122"/>
              </a:rPr>
              <a:t>量化值</a:t>
            </a:r>
            <a:endParaRPr lang="zh-CN" altLang="en-US" sz="2200">
              <a:latin typeface="Alibaba PuHuiTi 3.0 55 Regular" panose="00020600040101010101" charset="-122"/>
              <a:ea typeface="Alibaba PuHuiTi 3.0 55 Regular" panose="00020600040101010101" charset="-122"/>
            </a:endParaRPr>
          </a:p>
        </p:txBody>
      </p:sp>
      <p:sp>
        <p:nvSpPr>
          <p:cNvPr id="33" name="Text Box 32"/>
          <p:cNvSpPr txBox="1"/>
          <p:nvPr/>
        </p:nvSpPr>
        <p:spPr>
          <a:xfrm>
            <a:off x="4463415" y="5046345"/>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36" name="Freeform 35"/>
          <p:cNvSpPr/>
          <p:nvPr/>
        </p:nvSpPr>
        <p:spPr>
          <a:xfrm>
            <a:off x="1815465" y="2955925"/>
            <a:ext cx="2518410" cy="1645285"/>
          </a:xfrm>
          <a:custGeom>
            <a:avLst/>
            <a:gdLst>
              <a:gd name="connisteX0" fmla="*/ 0 w 2518410"/>
              <a:gd name="connsiteY0" fmla="*/ 1645002 h 1645002"/>
              <a:gd name="connisteX1" fmla="*/ 25400 w 2518410"/>
              <a:gd name="connsiteY1" fmla="*/ 1519907 h 1645002"/>
              <a:gd name="connisteX2" fmla="*/ 142240 w 2518410"/>
              <a:gd name="connsiteY2" fmla="*/ 1328137 h 1645002"/>
              <a:gd name="connisteX3" fmla="*/ 225425 w 2518410"/>
              <a:gd name="connsiteY3" fmla="*/ 1178277 h 1645002"/>
              <a:gd name="connisteX4" fmla="*/ 275590 w 2518410"/>
              <a:gd name="connsiteY4" fmla="*/ 1077947 h 1645002"/>
              <a:gd name="connisteX5" fmla="*/ 325120 w 2518410"/>
              <a:gd name="connsiteY5" fmla="*/ 978252 h 1645002"/>
              <a:gd name="connisteX6" fmla="*/ 358775 w 2518410"/>
              <a:gd name="connsiteY6" fmla="*/ 877922 h 1645002"/>
              <a:gd name="connisteX7" fmla="*/ 383540 w 2518410"/>
              <a:gd name="connsiteY7" fmla="*/ 811247 h 1645002"/>
              <a:gd name="connisteX8" fmla="*/ 400685 w 2518410"/>
              <a:gd name="connsiteY8" fmla="*/ 728062 h 1645002"/>
              <a:gd name="connisteX9" fmla="*/ 441960 w 2518410"/>
              <a:gd name="connsiteY9" fmla="*/ 611222 h 1645002"/>
              <a:gd name="connisteX10" fmla="*/ 459105 w 2518410"/>
              <a:gd name="connsiteY10" fmla="*/ 544547 h 1645002"/>
              <a:gd name="connisteX11" fmla="*/ 492125 w 2518410"/>
              <a:gd name="connsiteY11" fmla="*/ 419452 h 1645002"/>
              <a:gd name="connisteX12" fmla="*/ 525780 w 2518410"/>
              <a:gd name="connsiteY12" fmla="*/ 310867 h 1645002"/>
              <a:gd name="connisteX13" fmla="*/ 550545 w 2518410"/>
              <a:gd name="connsiteY13" fmla="*/ 227682 h 1645002"/>
              <a:gd name="connisteX14" fmla="*/ 567055 w 2518410"/>
              <a:gd name="connsiteY14" fmla="*/ 161007 h 1645002"/>
              <a:gd name="connisteX15" fmla="*/ 584200 w 2518410"/>
              <a:gd name="connsiteY15" fmla="*/ 94332 h 1645002"/>
              <a:gd name="connisteX16" fmla="*/ 625475 w 2518410"/>
              <a:gd name="connsiteY16" fmla="*/ 27657 h 1645002"/>
              <a:gd name="connisteX17" fmla="*/ 692150 w 2518410"/>
              <a:gd name="connsiteY17" fmla="*/ 10512 h 1645002"/>
              <a:gd name="connisteX18" fmla="*/ 784225 w 2518410"/>
              <a:gd name="connsiteY18" fmla="*/ 2257 h 1645002"/>
              <a:gd name="connisteX19" fmla="*/ 859155 w 2518410"/>
              <a:gd name="connsiteY19" fmla="*/ 2257 h 1645002"/>
              <a:gd name="connisteX20" fmla="*/ 925830 w 2518410"/>
              <a:gd name="connsiteY20" fmla="*/ 2257 h 1645002"/>
              <a:gd name="connisteX21" fmla="*/ 1000760 w 2518410"/>
              <a:gd name="connsiteY21" fmla="*/ 27657 h 1645002"/>
              <a:gd name="connisteX22" fmla="*/ 1067435 w 2518410"/>
              <a:gd name="connsiteY22" fmla="*/ 77187 h 1645002"/>
              <a:gd name="connisteX23" fmla="*/ 1125855 w 2518410"/>
              <a:gd name="connsiteY23" fmla="*/ 152752 h 1645002"/>
              <a:gd name="connisteX24" fmla="*/ 1176020 w 2518410"/>
              <a:gd name="connsiteY24" fmla="*/ 235937 h 1645002"/>
              <a:gd name="connisteX25" fmla="*/ 1217930 w 2518410"/>
              <a:gd name="connsiteY25" fmla="*/ 302612 h 1645002"/>
              <a:gd name="connisteX26" fmla="*/ 1242695 w 2518410"/>
              <a:gd name="connsiteY26" fmla="*/ 369287 h 1645002"/>
              <a:gd name="connisteX27" fmla="*/ 1276350 w 2518410"/>
              <a:gd name="connsiteY27" fmla="*/ 435962 h 1645002"/>
              <a:gd name="connisteX28" fmla="*/ 1309370 w 2518410"/>
              <a:gd name="connsiteY28" fmla="*/ 502637 h 1645002"/>
              <a:gd name="connisteX29" fmla="*/ 1351280 w 2518410"/>
              <a:gd name="connsiteY29" fmla="*/ 594712 h 1645002"/>
              <a:gd name="connisteX30" fmla="*/ 1384300 w 2518410"/>
              <a:gd name="connsiteY30" fmla="*/ 686152 h 1645002"/>
              <a:gd name="connisteX31" fmla="*/ 1417955 w 2518410"/>
              <a:gd name="connsiteY31" fmla="*/ 769972 h 1645002"/>
              <a:gd name="connisteX32" fmla="*/ 1450975 w 2518410"/>
              <a:gd name="connsiteY32" fmla="*/ 844902 h 1645002"/>
              <a:gd name="connisteX33" fmla="*/ 1476375 w 2518410"/>
              <a:gd name="connsiteY33" fmla="*/ 911577 h 1645002"/>
              <a:gd name="connisteX34" fmla="*/ 1501140 w 2518410"/>
              <a:gd name="connsiteY34" fmla="*/ 1003017 h 1645002"/>
              <a:gd name="connisteX35" fmla="*/ 1526540 w 2518410"/>
              <a:gd name="connsiteY35" fmla="*/ 1077947 h 1645002"/>
              <a:gd name="connisteX36" fmla="*/ 1551305 w 2518410"/>
              <a:gd name="connsiteY36" fmla="*/ 1153512 h 1645002"/>
              <a:gd name="connisteX37" fmla="*/ 1601470 w 2518410"/>
              <a:gd name="connsiteY37" fmla="*/ 1220187 h 1645002"/>
              <a:gd name="connisteX38" fmla="*/ 1676400 w 2518410"/>
              <a:gd name="connsiteY38" fmla="*/ 1269717 h 1645002"/>
              <a:gd name="connisteX39" fmla="*/ 1743075 w 2518410"/>
              <a:gd name="connsiteY39" fmla="*/ 1319882 h 1645002"/>
              <a:gd name="connisteX40" fmla="*/ 1809750 w 2518410"/>
              <a:gd name="connsiteY40" fmla="*/ 1353537 h 1645002"/>
              <a:gd name="connisteX41" fmla="*/ 1876425 w 2518410"/>
              <a:gd name="connsiteY41" fmla="*/ 1386557 h 1645002"/>
              <a:gd name="connisteX42" fmla="*/ 1951355 w 2518410"/>
              <a:gd name="connsiteY42" fmla="*/ 1411957 h 1645002"/>
              <a:gd name="connisteX43" fmla="*/ 2035175 w 2518410"/>
              <a:gd name="connsiteY43" fmla="*/ 1436722 h 1645002"/>
              <a:gd name="connisteX44" fmla="*/ 2110105 w 2518410"/>
              <a:gd name="connsiteY44" fmla="*/ 1453232 h 1645002"/>
              <a:gd name="connisteX45" fmla="*/ 2185035 w 2518410"/>
              <a:gd name="connsiteY45" fmla="*/ 1453232 h 1645002"/>
              <a:gd name="connisteX46" fmla="*/ 2251710 w 2518410"/>
              <a:gd name="connsiteY46" fmla="*/ 1444977 h 1645002"/>
              <a:gd name="connisteX47" fmla="*/ 2301875 w 2518410"/>
              <a:gd name="connsiteY47" fmla="*/ 1378302 h 1645002"/>
              <a:gd name="connisteX48" fmla="*/ 2343785 w 2518410"/>
              <a:gd name="connsiteY48" fmla="*/ 1311627 h 1645002"/>
              <a:gd name="connisteX49" fmla="*/ 2368550 w 2518410"/>
              <a:gd name="connsiteY49" fmla="*/ 1236697 h 1645002"/>
              <a:gd name="connisteX50" fmla="*/ 2402205 w 2518410"/>
              <a:gd name="connsiteY50" fmla="*/ 1161767 h 1645002"/>
              <a:gd name="connisteX51" fmla="*/ 2426970 w 2518410"/>
              <a:gd name="connsiteY51" fmla="*/ 1086837 h 1645002"/>
              <a:gd name="connisteX52" fmla="*/ 2468880 w 2518410"/>
              <a:gd name="connsiteY52" fmla="*/ 1019527 h 1645002"/>
              <a:gd name="connisteX53" fmla="*/ 2518410 w 2518410"/>
              <a:gd name="connsiteY53" fmla="*/ 944597 h 164500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Lst>
            <a:rect l="l" t="t" r="r" b="b"/>
            <a:pathLst>
              <a:path w="2518410" h="1645003">
                <a:moveTo>
                  <a:pt x="0" y="1645003"/>
                </a:moveTo>
                <a:cubicBezTo>
                  <a:pt x="2540" y="1624048"/>
                  <a:pt x="-3175" y="1583408"/>
                  <a:pt x="25400" y="1519908"/>
                </a:cubicBezTo>
                <a:cubicBezTo>
                  <a:pt x="53975" y="1456408"/>
                  <a:pt x="102235" y="1396718"/>
                  <a:pt x="142240" y="1328138"/>
                </a:cubicBezTo>
                <a:cubicBezTo>
                  <a:pt x="182245" y="1259558"/>
                  <a:pt x="198755" y="1228443"/>
                  <a:pt x="225425" y="1178278"/>
                </a:cubicBezTo>
                <a:cubicBezTo>
                  <a:pt x="252095" y="1128113"/>
                  <a:pt x="255905" y="1117953"/>
                  <a:pt x="275590" y="1077948"/>
                </a:cubicBezTo>
                <a:cubicBezTo>
                  <a:pt x="295275" y="1037943"/>
                  <a:pt x="308610" y="1018258"/>
                  <a:pt x="325120" y="978253"/>
                </a:cubicBezTo>
                <a:cubicBezTo>
                  <a:pt x="341630" y="938248"/>
                  <a:pt x="347345" y="911578"/>
                  <a:pt x="358775" y="877923"/>
                </a:cubicBezTo>
                <a:cubicBezTo>
                  <a:pt x="370205" y="844268"/>
                  <a:pt x="375285" y="841093"/>
                  <a:pt x="383540" y="811248"/>
                </a:cubicBezTo>
                <a:cubicBezTo>
                  <a:pt x="391795" y="781403"/>
                  <a:pt x="389255" y="768068"/>
                  <a:pt x="400685" y="728063"/>
                </a:cubicBezTo>
                <a:cubicBezTo>
                  <a:pt x="412115" y="688058"/>
                  <a:pt x="430530" y="648053"/>
                  <a:pt x="441960" y="611223"/>
                </a:cubicBezTo>
                <a:cubicBezTo>
                  <a:pt x="453390" y="574393"/>
                  <a:pt x="448945" y="582648"/>
                  <a:pt x="459105" y="544548"/>
                </a:cubicBezTo>
                <a:cubicBezTo>
                  <a:pt x="469265" y="506448"/>
                  <a:pt x="478790" y="466443"/>
                  <a:pt x="492125" y="419453"/>
                </a:cubicBezTo>
                <a:cubicBezTo>
                  <a:pt x="505460" y="372463"/>
                  <a:pt x="514350" y="348968"/>
                  <a:pt x="525780" y="310868"/>
                </a:cubicBezTo>
                <a:cubicBezTo>
                  <a:pt x="537210" y="272768"/>
                  <a:pt x="542290" y="257528"/>
                  <a:pt x="550545" y="227683"/>
                </a:cubicBezTo>
                <a:cubicBezTo>
                  <a:pt x="558800" y="197838"/>
                  <a:pt x="560070" y="187678"/>
                  <a:pt x="567055" y="161008"/>
                </a:cubicBezTo>
                <a:cubicBezTo>
                  <a:pt x="574040" y="134338"/>
                  <a:pt x="572770" y="121003"/>
                  <a:pt x="584200" y="94333"/>
                </a:cubicBezTo>
                <a:cubicBezTo>
                  <a:pt x="595630" y="67663"/>
                  <a:pt x="603885" y="44168"/>
                  <a:pt x="625475" y="27658"/>
                </a:cubicBezTo>
                <a:cubicBezTo>
                  <a:pt x="647065" y="11148"/>
                  <a:pt x="660400" y="15593"/>
                  <a:pt x="692150" y="10513"/>
                </a:cubicBezTo>
                <a:cubicBezTo>
                  <a:pt x="723900" y="5433"/>
                  <a:pt x="750570" y="4163"/>
                  <a:pt x="784225" y="2258"/>
                </a:cubicBezTo>
                <a:cubicBezTo>
                  <a:pt x="817880" y="353"/>
                  <a:pt x="830580" y="2258"/>
                  <a:pt x="859155" y="2258"/>
                </a:cubicBezTo>
                <a:cubicBezTo>
                  <a:pt x="887730" y="2258"/>
                  <a:pt x="897255" y="-2822"/>
                  <a:pt x="925830" y="2258"/>
                </a:cubicBezTo>
                <a:cubicBezTo>
                  <a:pt x="954405" y="7338"/>
                  <a:pt x="972185" y="12418"/>
                  <a:pt x="1000760" y="27658"/>
                </a:cubicBezTo>
                <a:cubicBezTo>
                  <a:pt x="1029335" y="42898"/>
                  <a:pt x="1042670" y="52423"/>
                  <a:pt x="1067435" y="77188"/>
                </a:cubicBezTo>
                <a:cubicBezTo>
                  <a:pt x="1092200" y="101953"/>
                  <a:pt x="1104265" y="121003"/>
                  <a:pt x="1125855" y="152753"/>
                </a:cubicBezTo>
                <a:cubicBezTo>
                  <a:pt x="1147445" y="184503"/>
                  <a:pt x="1157605" y="206093"/>
                  <a:pt x="1176020" y="235938"/>
                </a:cubicBezTo>
                <a:cubicBezTo>
                  <a:pt x="1194435" y="265783"/>
                  <a:pt x="1204595" y="275943"/>
                  <a:pt x="1217930" y="302613"/>
                </a:cubicBezTo>
                <a:cubicBezTo>
                  <a:pt x="1231265" y="329283"/>
                  <a:pt x="1231265" y="342618"/>
                  <a:pt x="1242695" y="369288"/>
                </a:cubicBezTo>
                <a:cubicBezTo>
                  <a:pt x="1254125" y="395958"/>
                  <a:pt x="1263015" y="409293"/>
                  <a:pt x="1276350" y="435963"/>
                </a:cubicBezTo>
                <a:cubicBezTo>
                  <a:pt x="1289685" y="462633"/>
                  <a:pt x="1294130" y="470888"/>
                  <a:pt x="1309370" y="502638"/>
                </a:cubicBezTo>
                <a:cubicBezTo>
                  <a:pt x="1324610" y="534388"/>
                  <a:pt x="1336040" y="557883"/>
                  <a:pt x="1351280" y="594713"/>
                </a:cubicBezTo>
                <a:cubicBezTo>
                  <a:pt x="1366520" y="631543"/>
                  <a:pt x="1370965" y="651228"/>
                  <a:pt x="1384300" y="686153"/>
                </a:cubicBezTo>
                <a:cubicBezTo>
                  <a:pt x="1397635" y="721078"/>
                  <a:pt x="1404620" y="738223"/>
                  <a:pt x="1417955" y="769973"/>
                </a:cubicBezTo>
                <a:cubicBezTo>
                  <a:pt x="1431290" y="801723"/>
                  <a:pt x="1439545" y="816328"/>
                  <a:pt x="1450975" y="844903"/>
                </a:cubicBezTo>
                <a:cubicBezTo>
                  <a:pt x="1462405" y="873478"/>
                  <a:pt x="1466215" y="879828"/>
                  <a:pt x="1476375" y="911578"/>
                </a:cubicBezTo>
                <a:cubicBezTo>
                  <a:pt x="1486535" y="943328"/>
                  <a:pt x="1490980" y="969998"/>
                  <a:pt x="1501140" y="1003018"/>
                </a:cubicBezTo>
                <a:cubicBezTo>
                  <a:pt x="1511300" y="1036038"/>
                  <a:pt x="1516380" y="1048103"/>
                  <a:pt x="1526540" y="1077948"/>
                </a:cubicBezTo>
                <a:cubicBezTo>
                  <a:pt x="1536700" y="1107793"/>
                  <a:pt x="1536065" y="1124938"/>
                  <a:pt x="1551305" y="1153513"/>
                </a:cubicBezTo>
                <a:cubicBezTo>
                  <a:pt x="1566545" y="1182088"/>
                  <a:pt x="1576705" y="1196693"/>
                  <a:pt x="1601470" y="1220188"/>
                </a:cubicBezTo>
                <a:cubicBezTo>
                  <a:pt x="1626235" y="1243683"/>
                  <a:pt x="1647825" y="1250033"/>
                  <a:pt x="1676400" y="1269718"/>
                </a:cubicBezTo>
                <a:cubicBezTo>
                  <a:pt x="1704975" y="1289403"/>
                  <a:pt x="1716405" y="1303373"/>
                  <a:pt x="1743075" y="1319883"/>
                </a:cubicBezTo>
                <a:cubicBezTo>
                  <a:pt x="1769745" y="1336393"/>
                  <a:pt x="1783080" y="1340203"/>
                  <a:pt x="1809750" y="1353538"/>
                </a:cubicBezTo>
                <a:cubicBezTo>
                  <a:pt x="1836420" y="1366873"/>
                  <a:pt x="1847850" y="1375128"/>
                  <a:pt x="1876425" y="1386558"/>
                </a:cubicBezTo>
                <a:cubicBezTo>
                  <a:pt x="1905000" y="1397988"/>
                  <a:pt x="1919605" y="1401798"/>
                  <a:pt x="1951355" y="1411958"/>
                </a:cubicBezTo>
                <a:cubicBezTo>
                  <a:pt x="1983105" y="1422118"/>
                  <a:pt x="2003425" y="1428468"/>
                  <a:pt x="2035175" y="1436723"/>
                </a:cubicBezTo>
                <a:cubicBezTo>
                  <a:pt x="2066925" y="1444978"/>
                  <a:pt x="2080260" y="1450058"/>
                  <a:pt x="2110105" y="1453233"/>
                </a:cubicBezTo>
                <a:cubicBezTo>
                  <a:pt x="2139950" y="1456408"/>
                  <a:pt x="2156460" y="1455138"/>
                  <a:pt x="2185035" y="1453233"/>
                </a:cubicBezTo>
                <a:cubicBezTo>
                  <a:pt x="2213610" y="1451328"/>
                  <a:pt x="2228215" y="1460218"/>
                  <a:pt x="2251710" y="1444978"/>
                </a:cubicBezTo>
                <a:cubicBezTo>
                  <a:pt x="2275205" y="1429738"/>
                  <a:pt x="2283460" y="1404973"/>
                  <a:pt x="2301875" y="1378303"/>
                </a:cubicBezTo>
                <a:cubicBezTo>
                  <a:pt x="2320290" y="1351633"/>
                  <a:pt x="2330450" y="1340203"/>
                  <a:pt x="2343785" y="1311628"/>
                </a:cubicBezTo>
                <a:cubicBezTo>
                  <a:pt x="2357120" y="1283053"/>
                  <a:pt x="2357120" y="1266543"/>
                  <a:pt x="2368550" y="1236698"/>
                </a:cubicBezTo>
                <a:cubicBezTo>
                  <a:pt x="2379980" y="1206853"/>
                  <a:pt x="2390775" y="1191613"/>
                  <a:pt x="2402205" y="1161768"/>
                </a:cubicBezTo>
                <a:cubicBezTo>
                  <a:pt x="2413635" y="1131923"/>
                  <a:pt x="2413635" y="1115413"/>
                  <a:pt x="2426970" y="1086838"/>
                </a:cubicBezTo>
                <a:cubicBezTo>
                  <a:pt x="2440305" y="1058263"/>
                  <a:pt x="2450465" y="1048103"/>
                  <a:pt x="2468880" y="1019528"/>
                </a:cubicBezTo>
                <a:cubicBezTo>
                  <a:pt x="2487295" y="990953"/>
                  <a:pt x="2509520" y="957933"/>
                  <a:pt x="2518410" y="944598"/>
                </a:cubicBezTo>
              </a:path>
            </a:pathLst>
          </a:custGeom>
          <a:noFill/>
          <a:ln w="38100">
            <a:solidFill>
              <a:schemeClr val="tx1"/>
            </a:solidFill>
          </a:ln>
        </p:spPr>
        <p:txBody>
          <a:bodyPr vert="horz" lIns="90000" tIns="46800" rIns="90000" bIns="46800" rtlCol="0" anchor="ctr" anchorCtr="0">
            <a:noAutofit/>
          </a:bodyPr>
          <a:p>
            <a:endParaRPr lang="zh-CN" altLang="en-US" sz="2445">
              <a:solidFill>
                <a:schemeClr val="tx1"/>
              </a:solidFill>
            </a:endParaRPr>
          </a:p>
        </p:txBody>
      </p:sp>
      <p:sp>
        <p:nvSpPr>
          <p:cNvPr id="45" name="Text Box 44"/>
          <p:cNvSpPr txBox="1"/>
          <p:nvPr/>
        </p:nvSpPr>
        <p:spPr>
          <a:xfrm>
            <a:off x="1757045" y="5046345"/>
            <a:ext cx="296926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48" name="Text Box 47"/>
          <p:cNvSpPr txBox="1"/>
          <p:nvPr/>
        </p:nvSpPr>
        <p:spPr>
          <a:xfrm>
            <a:off x="1784985" y="391033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8" name="Oval 7"/>
          <p:cNvSpPr/>
          <p:nvPr/>
        </p:nvSpPr>
        <p:spPr>
          <a:xfrm>
            <a:off x="2417445" y="293941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9" name="Oval 8"/>
          <p:cNvSpPr/>
          <p:nvPr/>
        </p:nvSpPr>
        <p:spPr>
          <a:xfrm>
            <a:off x="3193415" y="368427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1" name="Oval 50"/>
          <p:cNvSpPr/>
          <p:nvPr/>
        </p:nvSpPr>
        <p:spPr>
          <a:xfrm>
            <a:off x="3691255" y="430212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2" name="Oval 51"/>
          <p:cNvSpPr/>
          <p:nvPr/>
        </p:nvSpPr>
        <p:spPr>
          <a:xfrm>
            <a:off x="4174490" y="408432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4" name="Text Box 53"/>
          <p:cNvSpPr txBox="1"/>
          <p:nvPr/>
        </p:nvSpPr>
        <p:spPr>
          <a:xfrm>
            <a:off x="2976245" y="299402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55" name="Text Box 54"/>
          <p:cNvSpPr txBox="1"/>
          <p:nvPr/>
        </p:nvSpPr>
        <p:spPr>
          <a:xfrm>
            <a:off x="3348990" y="39490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56" name="Text Box 55"/>
          <p:cNvSpPr txBox="1"/>
          <p:nvPr/>
        </p:nvSpPr>
        <p:spPr>
          <a:xfrm>
            <a:off x="3601720" y="40303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58" name="Straight Connector 57"/>
          <p:cNvCxnSpPr>
            <a:endCxn id="84" idx="3"/>
          </p:cNvCxnSpPr>
          <p:nvPr/>
        </p:nvCxnSpPr>
        <p:spPr>
          <a:xfrm flipV="1">
            <a:off x="1974850" y="3757295"/>
            <a:ext cx="199390" cy="52070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79" name="Straight Connector 78"/>
          <p:cNvCxnSpPr>
            <a:stCxn id="36" idx="8"/>
          </p:cNvCxnSpPr>
          <p:nvPr/>
        </p:nvCxnSpPr>
        <p:spPr>
          <a:xfrm>
            <a:off x="2216150" y="3684270"/>
            <a:ext cx="8255" cy="13271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0" name="Straight Connector 79"/>
          <p:cNvCxnSpPr/>
          <p:nvPr/>
        </p:nvCxnSpPr>
        <p:spPr>
          <a:xfrm>
            <a:off x="2473960" y="2983230"/>
            <a:ext cx="0" cy="202819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1" name="Straight Connector 80"/>
          <p:cNvCxnSpPr/>
          <p:nvPr/>
        </p:nvCxnSpPr>
        <p:spPr>
          <a:xfrm>
            <a:off x="2723515" y="2978785"/>
            <a:ext cx="0" cy="203263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2" name="Straight Connector 81"/>
          <p:cNvCxnSpPr>
            <a:stCxn id="54" idx="1"/>
          </p:cNvCxnSpPr>
          <p:nvPr/>
        </p:nvCxnSpPr>
        <p:spPr>
          <a:xfrm flipH="1">
            <a:off x="2973070" y="3138170"/>
            <a:ext cx="3175" cy="18732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3" name="Straight Connector 82"/>
          <p:cNvCxnSpPr/>
          <p:nvPr/>
        </p:nvCxnSpPr>
        <p:spPr>
          <a:xfrm>
            <a:off x="3472180" y="4244340"/>
            <a:ext cx="0" cy="76708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84" name="Oval 83"/>
          <p:cNvSpPr/>
          <p:nvPr/>
        </p:nvSpPr>
        <p:spPr>
          <a:xfrm>
            <a:off x="2160270" y="367474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5" name="Oval 84"/>
          <p:cNvSpPr/>
          <p:nvPr/>
        </p:nvSpPr>
        <p:spPr>
          <a:xfrm>
            <a:off x="2675255" y="290893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6" name="Oval 85"/>
          <p:cNvSpPr/>
          <p:nvPr/>
        </p:nvSpPr>
        <p:spPr>
          <a:xfrm>
            <a:off x="2941320" y="308991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7" name="Oval 86"/>
          <p:cNvSpPr/>
          <p:nvPr/>
        </p:nvSpPr>
        <p:spPr>
          <a:xfrm>
            <a:off x="3421380" y="41808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8" name="Oval 87"/>
          <p:cNvSpPr/>
          <p:nvPr/>
        </p:nvSpPr>
        <p:spPr>
          <a:xfrm>
            <a:off x="3936365" y="436372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9" name="Text Box 88"/>
          <p:cNvSpPr txBox="1"/>
          <p:nvPr/>
        </p:nvSpPr>
        <p:spPr>
          <a:xfrm>
            <a:off x="1942465" y="359981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0" name="Text Box 89"/>
          <p:cNvSpPr txBox="1"/>
          <p:nvPr/>
        </p:nvSpPr>
        <p:spPr>
          <a:xfrm>
            <a:off x="2319655" y="26536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1" name="Text Box 90"/>
          <p:cNvSpPr txBox="1"/>
          <p:nvPr/>
        </p:nvSpPr>
        <p:spPr>
          <a:xfrm>
            <a:off x="2586355" y="265112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2" name="Text Box 91"/>
          <p:cNvSpPr txBox="1"/>
          <p:nvPr/>
        </p:nvSpPr>
        <p:spPr>
          <a:xfrm>
            <a:off x="3171190" y="342138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3" name="Text Box 92"/>
          <p:cNvSpPr txBox="1"/>
          <p:nvPr/>
        </p:nvSpPr>
        <p:spPr>
          <a:xfrm>
            <a:off x="3848100" y="41192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5" name="Text Box 94"/>
          <p:cNvSpPr txBox="1"/>
          <p:nvPr/>
        </p:nvSpPr>
        <p:spPr>
          <a:xfrm>
            <a:off x="3970020" y="3800475"/>
            <a:ext cx="43180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98" name="Straight Connector 97"/>
          <p:cNvCxnSpPr>
            <a:endCxn id="8" idx="2"/>
          </p:cNvCxnSpPr>
          <p:nvPr/>
        </p:nvCxnSpPr>
        <p:spPr>
          <a:xfrm flipV="1">
            <a:off x="2224405" y="2987675"/>
            <a:ext cx="193040" cy="6965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9" name="Straight Connector 98"/>
          <p:cNvCxnSpPr>
            <a:endCxn id="91" idx="2"/>
          </p:cNvCxnSpPr>
          <p:nvPr/>
        </p:nvCxnSpPr>
        <p:spPr>
          <a:xfrm flipV="1">
            <a:off x="2466975" y="2938780"/>
            <a:ext cx="238760" cy="349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0" name="Straight Connector 99"/>
          <p:cNvCxnSpPr>
            <a:stCxn id="85" idx="5"/>
            <a:endCxn id="86" idx="2"/>
          </p:cNvCxnSpPr>
          <p:nvPr/>
        </p:nvCxnSpPr>
        <p:spPr>
          <a:xfrm>
            <a:off x="2757805" y="2991485"/>
            <a:ext cx="183515" cy="14668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1" name="Straight Connector 100"/>
          <p:cNvCxnSpPr>
            <a:stCxn id="86" idx="4"/>
            <a:endCxn id="36" idx="31"/>
          </p:cNvCxnSpPr>
          <p:nvPr/>
        </p:nvCxnSpPr>
        <p:spPr>
          <a:xfrm>
            <a:off x="2989580" y="3186430"/>
            <a:ext cx="243840" cy="5397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2" name="Straight Connector 101"/>
          <p:cNvCxnSpPr>
            <a:stCxn id="9" idx="5"/>
            <a:endCxn id="87" idx="1"/>
          </p:cNvCxnSpPr>
          <p:nvPr/>
        </p:nvCxnSpPr>
        <p:spPr>
          <a:xfrm>
            <a:off x="3275965" y="3766820"/>
            <a:ext cx="159385" cy="4279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3" name="Straight Connector 102"/>
          <p:cNvCxnSpPr>
            <a:stCxn id="87" idx="5"/>
            <a:endCxn id="51" idx="2"/>
          </p:cNvCxnSpPr>
          <p:nvPr/>
        </p:nvCxnSpPr>
        <p:spPr>
          <a:xfrm>
            <a:off x="3503930" y="4263390"/>
            <a:ext cx="187325" cy="869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4" name="Straight Connector 103"/>
          <p:cNvCxnSpPr>
            <a:stCxn id="51" idx="5"/>
            <a:endCxn id="93" idx="2"/>
          </p:cNvCxnSpPr>
          <p:nvPr/>
        </p:nvCxnSpPr>
        <p:spPr>
          <a:xfrm>
            <a:off x="3773805" y="4384675"/>
            <a:ext cx="193675" cy="222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5" name="Straight Connector 104"/>
          <p:cNvCxnSpPr>
            <a:stCxn id="88" idx="5"/>
            <a:endCxn id="52" idx="2"/>
          </p:cNvCxnSpPr>
          <p:nvPr/>
        </p:nvCxnSpPr>
        <p:spPr>
          <a:xfrm flipV="1">
            <a:off x="4018915" y="4132580"/>
            <a:ext cx="155575" cy="3136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4" name="Content Placeholder 3"/>
          <p:cNvSpPr>
            <a:spLocks noGrp="1"/>
          </p:cNvSpPr>
          <p:nvPr>
            <p:ph idx="1"/>
            <p:custDataLst>
              <p:tags r:id="rId2"/>
            </p:custDataLst>
          </p:nvPr>
        </p:nvSpPr>
        <p:spPr>
          <a:xfrm>
            <a:off x="4621530" y="2377440"/>
            <a:ext cx="7491730" cy="658495"/>
          </a:xfrm>
        </p:spPr>
        <p:txBody>
          <a:bodyPr>
            <a:noAutofit/>
          </a:bodyPr>
          <a:p>
            <a:pPr>
              <a:lnSpc>
                <a:spcPct val="150000"/>
              </a:lnSpc>
            </a:pPr>
            <a:r>
              <a:rPr lang="zh-CN" altLang="en-US"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量化</a:t>
            </a:r>
            <a:r>
              <a:rPr lang="en-US" altLang="zh-CN"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a:t>
            </a:r>
            <a:r>
              <a:rPr lang="zh-CN" altLang="en-US"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将采样点的值</a:t>
            </a:r>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sym typeface="+mn-ea"/>
              </a:rPr>
              <a:t>分级量化</a:t>
            </a:r>
            <a:r>
              <a:rPr lang="en-US" altLang="zh-CN"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a:t>
            </a:r>
            <a:r>
              <a:rPr lang="zh-CN" altLang="en-US"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变换为最接近的数字。</a:t>
            </a:r>
            <a:endParaRPr lang="en-US" altLang="zh-CN"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endParaRPr>
          </a:p>
        </p:txBody>
      </p:sp>
      <p:cxnSp>
        <p:nvCxnSpPr>
          <p:cNvPr id="5" name="Straight Connector 4"/>
          <p:cNvCxnSpPr/>
          <p:nvPr/>
        </p:nvCxnSpPr>
        <p:spPr>
          <a:xfrm>
            <a:off x="1616710" y="431419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21" name="Straight Connector 20"/>
          <p:cNvCxnSpPr/>
          <p:nvPr/>
        </p:nvCxnSpPr>
        <p:spPr>
          <a:xfrm>
            <a:off x="1616710" y="298831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23" name="Straight Connector 22"/>
          <p:cNvCxnSpPr/>
          <p:nvPr/>
        </p:nvCxnSpPr>
        <p:spPr>
          <a:xfrm>
            <a:off x="1616710" y="365125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26" name="Text Box 25"/>
          <p:cNvSpPr txBox="1"/>
          <p:nvPr/>
        </p:nvSpPr>
        <p:spPr>
          <a:xfrm>
            <a:off x="1226820" y="275653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3</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28" name="Text Box 27"/>
          <p:cNvSpPr txBox="1"/>
          <p:nvPr/>
        </p:nvSpPr>
        <p:spPr>
          <a:xfrm>
            <a:off x="1226820" y="339280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2</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29" name="Text Box 28"/>
          <p:cNvSpPr txBox="1"/>
          <p:nvPr/>
        </p:nvSpPr>
        <p:spPr>
          <a:xfrm>
            <a:off x="1226820" y="406209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31" name="Text Box 30"/>
          <p:cNvSpPr txBox="1"/>
          <p:nvPr/>
        </p:nvSpPr>
        <p:spPr>
          <a:xfrm>
            <a:off x="1226820" y="471487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38" name="Content Placeholder 3"/>
          <p:cNvSpPr>
            <a:spLocks noGrp="1"/>
          </p:cNvSpPr>
          <p:nvPr>
            <p:custDataLst>
              <p:tags r:id="rId3"/>
            </p:custDataLst>
          </p:nvPr>
        </p:nvSpPr>
        <p:spPr>
          <a:xfrm>
            <a:off x="5762625" y="3005455"/>
            <a:ext cx="5855335" cy="658495"/>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Alibaba PuHuiTi 3.0 55 Regular" panose="00020600040101010101" charset="-122"/>
                <a:ea typeface="Alibaba PuHuiTi 3.0 55 Regular" panose="00020600040101010101"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libaba PuHuiTi 3.0 55 Regular" panose="00020600040101010101" charset="-122"/>
                <a:ea typeface="Alibaba PuHuiTi 3.0 55 Regular" panose="00020600040101010101"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Alibaba PuHuiTi 3.0 55 Regular" panose="00020600040101010101" charset="-122"/>
                <a:ea typeface="Alibaba PuHuiTi 3.0 55 Regular" panose="00020600040101010101"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libaba PuHuiTi 3.0 55 Regular" panose="00020600040101010101" charset="-122"/>
                <a:ea typeface="Alibaba PuHuiTi 3.0 55 Regular" panose="00020600040101010101"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Alibaba PuHuiTi 3.0 55 Regular" panose="00020600040101010101" charset="-122"/>
                <a:ea typeface="Alibaba PuHuiTi 3.0 55 Regular" panose="00020600040101010101"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rPr>
              <a:t>即用有限个数近似表示原来连续变化的值。</a:t>
            </a:r>
            <a:endParaRPr lang="zh-CN" altLang="en-US" sz="22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sym typeface="+mn-ea"/>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0"/>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500"/>
                                  </p:stCondLst>
                                  <p:childTnLst>
                                    <p:set>
                                      <p:cBhvr>
                                        <p:cTn id="37" dur="1" fill="hold">
                                          <p:stCondLst>
                                            <p:cond delay="0"/>
                                          </p:stCondLst>
                                        </p:cTn>
                                        <p:tgtEl>
                                          <p:spTgt spid="91"/>
                                        </p:tgtEl>
                                        <p:attrNameLst>
                                          <p:attrName>style.visibility</p:attrName>
                                        </p:attrNameLst>
                                      </p:cBhvr>
                                      <p:to>
                                        <p:strVal val="visible"/>
                                      </p:to>
                                    </p:set>
                                  </p:childTnLst>
                                </p:cTn>
                              </p:par>
                            </p:childTnLst>
                          </p:cTn>
                        </p:par>
                        <p:par>
                          <p:cTn id="38" fill="hold">
                            <p:stCondLst>
                              <p:cond delay="500"/>
                            </p:stCondLst>
                            <p:childTnLst>
                              <p:par>
                                <p:cTn id="39" presetID="1" presetClass="entr" presetSubtype="0" fill="hold" grpId="0" nodeType="afterEffect">
                                  <p:stCondLst>
                                    <p:cond delay="500"/>
                                  </p:stCondLst>
                                  <p:childTnLst>
                                    <p:set>
                                      <p:cBhvr>
                                        <p:cTn id="40" dur="1" fill="hold">
                                          <p:stCondLst>
                                            <p:cond delay="0"/>
                                          </p:stCondLst>
                                        </p:cTn>
                                        <p:tgtEl>
                                          <p:spTgt spid="54"/>
                                        </p:tgtEl>
                                        <p:attrNameLst>
                                          <p:attrName>style.visibility</p:attrName>
                                        </p:attrNameLst>
                                      </p:cBhvr>
                                      <p:to>
                                        <p:strVal val="visible"/>
                                      </p:to>
                                    </p:set>
                                  </p:childTnLst>
                                </p:cTn>
                              </p:par>
                            </p:childTnLst>
                          </p:cTn>
                        </p:par>
                        <p:par>
                          <p:cTn id="41" fill="hold">
                            <p:stCondLst>
                              <p:cond delay="1000"/>
                            </p:stCondLst>
                            <p:childTnLst>
                              <p:par>
                                <p:cTn id="42" presetID="1" presetClass="entr" presetSubtype="0" fill="hold" grpId="0" nodeType="afterEffect">
                                  <p:stCondLst>
                                    <p:cond delay="500"/>
                                  </p:stCondLst>
                                  <p:childTnLst>
                                    <p:set>
                                      <p:cBhvr>
                                        <p:cTn id="43" dur="1" fill="hold">
                                          <p:stCondLst>
                                            <p:cond delay="0"/>
                                          </p:stCondLst>
                                        </p:cTn>
                                        <p:tgtEl>
                                          <p:spTgt spid="92"/>
                                        </p:tgtEl>
                                        <p:attrNameLst>
                                          <p:attrName>style.visibility</p:attrName>
                                        </p:attrNameLst>
                                      </p:cBhvr>
                                      <p:to>
                                        <p:strVal val="visible"/>
                                      </p:to>
                                    </p:set>
                                  </p:childTnLst>
                                </p:cTn>
                              </p:par>
                            </p:childTnLst>
                          </p:cTn>
                        </p:par>
                        <p:par>
                          <p:cTn id="44" fill="hold">
                            <p:stCondLst>
                              <p:cond delay="1500"/>
                            </p:stCondLst>
                            <p:childTnLst>
                              <p:par>
                                <p:cTn id="45" presetID="1" presetClass="entr" presetSubtype="0" fill="hold" grpId="0" nodeType="afterEffect">
                                  <p:stCondLst>
                                    <p:cond delay="500"/>
                                  </p:stCondLst>
                                  <p:childTnLst>
                                    <p:set>
                                      <p:cBhvr>
                                        <p:cTn id="46" dur="1" fill="hold">
                                          <p:stCondLst>
                                            <p:cond delay="0"/>
                                          </p:stCondLst>
                                        </p:cTn>
                                        <p:tgtEl>
                                          <p:spTgt spid="55"/>
                                        </p:tgtEl>
                                        <p:attrNameLst>
                                          <p:attrName>style.visibility</p:attrName>
                                        </p:attrNameLst>
                                      </p:cBhvr>
                                      <p:to>
                                        <p:strVal val="visible"/>
                                      </p:to>
                                    </p:set>
                                  </p:childTnLst>
                                </p:cTn>
                              </p:par>
                            </p:childTnLst>
                          </p:cTn>
                        </p:par>
                        <p:par>
                          <p:cTn id="47" fill="hold">
                            <p:stCondLst>
                              <p:cond delay="2000"/>
                            </p:stCondLst>
                            <p:childTnLst>
                              <p:par>
                                <p:cTn id="48" presetID="1" presetClass="entr" presetSubtype="0" fill="hold" grpId="0" nodeType="afterEffect">
                                  <p:stCondLst>
                                    <p:cond delay="500"/>
                                  </p:stCondLst>
                                  <p:childTnLst>
                                    <p:set>
                                      <p:cBhvr>
                                        <p:cTn id="49" dur="1" fill="hold">
                                          <p:stCondLst>
                                            <p:cond delay="0"/>
                                          </p:stCondLst>
                                        </p:cTn>
                                        <p:tgtEl>
                                          <p:spTgt spid="56"/>
                                        </p:tgtEl>
                                        <p:attrNameLst>
                                          <p:attrName>style.visibility</p:attrName>
                                        </p:attrNameLst>
                                      </p:cBhvr>
                                      <p:to>
                                        <p:strVal val="visible"/>
                                      </p:to>
                                    </p:set>
                                  </p:childTnLst>
                                </p:cTn>
                              </p:par>
                            </p:childTnLst>
                          </p:cTn>
                        </p:par>
                        <p:par>
                          <p:cTn id="50" fill="hold">
                            <p:stCondLst>
                              <p:cond delay="2500"/>
                            </p:stCondLst>
                            <p:childTnLst>
                              <p:par>
                                <p:cTn id="51" presetID="1" presetClass="entr" presetSubtype="0" fill="hold" grpId="0" nodeType="afterEffect">
                                  <p:stCondLst>
                                    <p:cond delay="500"/>
                                  </p:stCondLst>
                                  <p:childTnLst>
                                    <p:set>
                                      <p:cBhvr>
                                        <p:cTn id="52" dur="1" fill="hold">
                                          <p:stCondLst>
                                            <p:cond delay="0"/>
                                          </p:stCondLst>
                                        </p:cTn>
                                        <p:tgtEl>
                                          <p:spTgt spid="93"/>
                                        </p:tgtEl>
                                        <p:attrNameLst>
                                          <p:attrName>style.visibility</p:attrName>
                                        </p:attrNameLst>
                                      </p:cBhvr>
                                      <p:to>
                                        <p:strVal val="visible"/>
                                      </p:to>
                                    </p:set>
                                  </p:childTnLst>
                                </p:cTn>
                              </p:par>
                            </p:childTnLst>
                          </p:cTn>
                        </p:par>
                        <p:par>
                          <p:cTn id="53" fill="hold">
                            <p:stCondLst>
                              <p:cond delay="3000"/>
                            </p:stCondLst>
                            <p:childTnLst>
                              <p:par>
                                <p:cTn id="54" presetID="1" presetClass="entr" presetSubtype="0" fill="hold" grpId="0" nodeType="afterEffect">
                                  <p:stCondLst>
                                    <p:cond delay="500"/>
                                  </p:stCondLst>
                                  <p:childTnLst>
                                    <p:set>
                                      <p:cBhvr>
                                        <p:cTn id="55" dur="1" fill="hold">
                                          <p:stCondLst>
                                            <p:cond delay="0"/>
                                          </p:stCondLst>
                                        </p:cTn>
                                        <p:tgtEl>
                                          <p:spTgt spid="95"/>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26" grpId="0"/>
      <p:bldP spid="28" grpId="0"/>
      <p:bldP spid="29" grpId="0"/>
      <p:bldP spid="31" grpId="0"/>
      <p:bldP spid="48" grpId="0"/>
      <p:bldP spid="89" grpId="0"/>
      <p:bldP spid="90" grpId="0"/>
      <p:bldP spid="91" grpId="0"/>
      <p:bldP spid="54" grpId="0"/>
      <p:bldP spid="92" grpId="0"/>
      <p:bldP spid="55" grpId="0"/>
      <p:bldP spid="56" grpId="0"/>
      <p:bldP spid="93" grpId="0"/>
      <p:bldP spid="95" grpId="0"/>
      <p:bldP spid="3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a:bodyPr>
          <a:p>
            <a:r>
              <a:rPr lang="zh-CN" altLang="en-US"/>
              <a:t>怎样才能把声音（模拟信号</a:t>
            </a:r>
            <a:r>
              <a:rPr lang="en-US" altLang="zh-CN"/>
              <a:t>）</a:t>
            </a:r>
            <a:r>
              <a:rPr lang="zh-CN" altLang="en-US"/>
              <a:t>是转成数字信号</a:t>
            </a:r>
            <a:r>
              <a:rPr lang="en-US"/>
              <a:t>？</a:t>
            </a:r>
            <a:endParaRPr lang="en-US"/>
          </a:p>
        </p:txBody>
      </p:sp>
      <p:sp>
        <p:nvSpPr>
          <p:cNvPr id="14" name="Text Box 13"/>
          <p:cNvSpPr txBox="1"/>
          <p:nvPr/>
        </p:nvSpPr>
        <p:spPr>
          <a:xfrm>
            <a:off x="691515" y="1313815"/>
            <a:ext cx="254762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cs typeface="Alibaba PuHuiTi 3.0 55 Regular" panose="00020600040101010101" charset="-122"/>
              </a:rPr>
              <a:t>1. </a:t>
            </a:r>
            <a:r>
              <a:rPr lang="zh-CN" altLang="en-US" sz="2200">
                <a:latin typeface="Alibaba PuHuiTi 3.0 55 Regular" panose="00020600040101010101" charset="-122"/>
                <a:ea typeface="Alibaba PuHuiTi 3.0 55 Regular" panose="00020600040101010101" charset="-122"/>
                <a:cs typeface="Alibaba PuHuiTi 3.0 55 Regular" panose="00020600040101010101" charset="-122"/>
              </a:rPr>
              <a:t>采样</a:t>
            </a:r>
            <a:r>
              <a:rPr lang="en-US" altLang="zh-CN" sz="2200">
                <a:latin typeface="Alibaba PuHuiTi 3.0 55 Regular" panose="00020600040101010101" charset="-122"/>
                <a:ea typeface="Alibaba PuHuiTi 3.0 55 Regular" panose="00020600040101010101" charset="-122"/>
                <a:cs typeface="Alibaba PuHuiTi 3.0 55 Regular" panose="00020600040101010101" charset="-122"/>
              </a:rPr>
              <a:t> Sampling</a:t>
            </a:r>
            <a:endParaRPr lang="en-US" altLang="zh-CN" sz="2200">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7" name="Text Box 16"/>
          <p:cNvSpPr txBox="1"/>
          <p:nvPr/>
        </p:nvSpPr>
        <p:spPr>
          <a:xfrm>
            <a:off x="3860165" y="1313815"/>
            <a:ext cx="3038475" cy="429895"/>
          </a:xfrm>
          <a:prstGeom prst="rect">
            <a:avLst/>
          </a:prstGeom>
          <a:noFill/>
        </p:spPr>
        <p:txBody>
          <a:bodyPr wrap="square" rtlCol="0">
            <a:spAutoFit/>
          </a:bodyPr>
          <a:p>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2. </a:t>
            </a:r>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量化</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 Quantization</a:t>
            </a:r>
            <a:endParaRPr lang="en-US" altLang="zh-CN" sz="2200" b="1">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18" name="Text Box 17"/>
          <p:cNvSpPr txBox="1"/>
          <p:nvPr/>
        </p:nvSpPr>
        <p:spPr>
          <a:xfrm>
            <a:off x="7519670" y="1313815"/>
            <a:ext cx="3822065" cy="429895"/>
          </a:xfrm>
          <a:prstGeom prst="rect">
            <a:avLst/>
          </a:prstGeom>
          <a:noFill/>
        </p:spPr>
        <p:txBody>
          <a:bodyPr wrap="square" rtlCol="0">
            <a:spAutoFit/>
          </a:bodyPr>
          <a:p>
            <a:r>
              <a:rPr lang="en-US" altLang="zh-CN" sz="2200">
                <a:latin typeface="Alibaba PuHuiTi 3.0 55 Regular" panose="00020600040101010101" charset="-122"/>
                <a:ea typeface="Alibaba PuHuiTi 3.0 55 Regular" panose="00020600040101010101" charset="-122"/>
              </a:rPr>
              <a:t>3. </a:t>
            </a:r>
            <a:r>
              <a:rPr lang="zh-CN" altLang="en-US" sz="2200">
                <a:latin typeface="Alibaba PuHuiTi 3.0 55 Regular" panose="00020600040101010101" charset="-122"/>
                <a:ea typeface="Alibaba PuHuiTi 3.0 55 Regular" panose="00020600040101010101" charset="-122"/>
              </a:rPr>
              <a:t>编码</a:t>
            </a:r>
            <a:r>
              <a:rPr lang="en-US" altLang="zh-CN" sz="2200">
                <a:latin typeface="Alibaba PuHuiTi 3.0 55 Regular" panose="00020600040101010101" charset="-122"/>
                <a:ea typeface="Alibaba PuHuiTi 3.0 55 Regular" panose="00020600040101010101" charset="-122"/>
              </a:rPr>
              <a:t> </a:t>
            </a:r>
            <a:r>
              <a:rPr lang="en-US" altLang="zh-CN" sz="2200">
                <a:latin typeface="Alibaba PuHuiTi 3.0 55 Regular" panose="00020600040101010101" charset="-122"/>
                <a:ea typeface="Alibaba PuHuiTi 3.0 55 Regular" panose="00020600040101010101" charset="-122"/>
              </a:rPr>
              <a:t>Encoding</a:t>
            </a:r>
            <a:endParaRPr lang="en-US" altLang="zh-CN" sz="2200">
              <a:latin typeface="Alibaba PuHuiTi 3.0 55 Regular" panose="00020600040101010101" charset="-122"/>
              <a:ea typeface="Alibaba PuHuiTi 3.0 55 Regular" panose="00020600040101010101" charset="-122"/>
            </a:endParaRPr>
          </a:p>
        </p:txBody>
      </p:sp>
      <p:cxnSp>
        <p:nvCxnSpPr>
          <p:cNvPr id="19" name="Straight Connector 18"/>
          <p:cNvCxnSpPr/>
          <p:nvPr/>
        </p:nvCxnSpPr>
        <p:spPr>
          <a:xfrm flipH="1">
            <a:off x="3202305" y="1528445"/>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cxnSp>
        <p:nvCxnSpPr>
          <p:cNvPr id="20" name="Straight Connector 19"/>
          <p:cNvCxnSpPr/>
          <p:nvPr/>
        </p:nvCxnSpPr>
        <p:spPr>
          <a:xfrm flipH="1">
            <a:off x="6861810" y="1528445"/>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12" name="Oval 11"/>
          <p:cNvSpPr/>
          <p:nvPr/>
        </p:nvSpPr>
        <p:spPr>
          <a:xfrm>
            <a:off x="1926590" y="419798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13" name="Straight Connector 12"/>
          <p:cNvCxnSpPr/>
          <p:nvPr/>
        </p:nvCxnSpPr>
        <p:spPr>
          <a:xfrm>
            <a:off x="1974850" y="4271645"/>
            <a:ext cx="0" cy="73977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5" name="Straight Connector 14"/>
          <p:cNvCxnSpPr>
            <a:stCxn id="36" idx="31"/>
          </p:cNvCxnSpPr>
          <p:nvPr/>
        </p:nvCxnSpPr>
        <p:spPr>
          <a:xfrm flipH="1">
            <a:off x="3222625" y="3726180"/>
            <a:ext cx="10795" cy="123444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6" name="Straight Connector 15"/>
          <p:cNvCxnSpPr/>
          <p:nvPr/>
        </p:nvCxnSpPr>
        <p:spPr>
          <a:xfrm>
            <a:off x="3721735" y="4398645"/>
            <a:ext cx="0" cy="57023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2" name="Straight Connector 21"/>
          <p:cNvCxnSpPr/>
          <p:nvPr/>
        </p:nvCxnSpPr>
        <p:spPr>
          <a:xfrm>
            <a:off x="3971290" y="4448810"/>
            <a:ext cx="0" cy="56324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4" name="Straight Connector 23"/>
          <p:cNvCxnSpPr/>
          <p:nvPr/>
        </p:nvCxnSpPr>
        <p:spPr>
          <a:xfrm>
            <a:off x="4220845" y="4180840"/>
            <a:ext cx="0" cy="83121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5" name="Straight Connector 24"/>
          <p:cNvCxnSpPr/>
          <p:nvPr/>
        </p:nvCxnSpPr>
        <p:spPr>
          <a:xfrm>
            <a:off x="1600200" y="2225040"/>
            <a:ext cx="0" cy="274320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27" name="Straight Connector 26"/>
          <p:cNvCxnSpPr/>
          <p:nvPr/>
        </p:nvCxnSpPr>
        <p:spPr>
          <a:xfrm flipH="1">
            <a:off x="1598930" y="4977130"/>
            <a:ext cx="312737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33" name="Text Box 32"/>
          <p:cNvSpPr txBox="1"/>
          <p:nvPr/>
        </p:nvSpPr>
        <p:spPr>
          <a:xfrm>
            <a:off x="4463415" y="5046345"/>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36" name="Freeform 35"/>
          <p:cNvSpPr/>
          <p:nvPr/>
        </p:nvSpPr>
        <p:spPr>
          <a:xfrm>
            <a:off x="1815465" y="2955925"/>
            <a:ext cx="2518410" cy="1645285"/>
          </a:xfrm>
          <a:custGeom>
            <a:avLst/>
            <a:gdLst>
              <a:gd name="connisteX0" fmla="*/ 0 w 2518410"/>
              <a:gd name="connsiteY0" fmla="*/ 1645002 h 1645002"/>
              <a:gd name="connisteX1" fmla="*/ 25400 w 2518410"/>
              <a:gd name="connsiteY1" fmla="*/ 1519907 h 1645002"/>
              <a:gd name="connisteX2" fmla="*/ 142240 w 2518410"/>
              <a:gd name="connsiteY2" fmla="*/ 1328137 h 1645002"/>
              <a:gd name="connisteX3" fmla="*/ 225425 w 2518410"/>
              <a:gd name="connsiteY3" fmla="*/ 1178277 h 1645002"/>
              <a:gd name="connisteX4" fmla="*/ 275590 w 2518410"/>
              <a:gd name="connsiteY4" fmla="*/ 1077947 h 1645002"/>
              <a:gd name="connisteX5" fmla="*/ 325120 w 2518410"/>
              <a:gd name="connsiteY5" fmla="*/ 978252 h 1645002"/>
              <a:gd name="connisteX6" fmla="*/ 358775 w 2518410"/>
              <a:gd name="connsiteY6" fmla="*/ 877922 h 1645002"/>
              <a:gd name="connisteX7" fmla="*/ 383540 w 2518410"/>
              <a:gd name="connsiteY7" fmla="*/ 811247 h 1645002"/>
              <a:gd name="connisteX8" fmla="*/ 400685 w 2518410"/>
              <a:gd name="connsiteY8" fmla="*/ 728062 h 1645002"/>
              <a:gd name="connisteX9" fmla="*/ 441960 w 2518410"/>
              <a:gd name="connsiteY9" fmla="*/ 611222 h 1645002"/>
              <a:gd name="connisteX10" fmla="*/ 459105 w 2518410"/>
              <a:gd name="connsiteY10" fmla="*/ 544547 h 1645002"/>
              <a:gd name="connisteX11" fmla="*/ 492125 w 2518410"/>
              <a:gd name="connsiteY11" fmla="*/ 419452 h 1645002"/>
              <a:gd name="connisteX12" fmla="*/ 525780 w 2518410"/>
              <a:gd name="connsiteY12" fmla="*/ 310867 h 1645002"/>
              <a:gd name="connisteX13" fmla="*/ 550545 w 2518410"/>
              <a:gd name="connsiteY13" fmla="*/ 227682 h 1645002"/>
              <a:gd name="connisteX14" fmla="*/ 567055 w 2518410"/>
              <a:gd name="connsiteY14" fmla="*/ 161007 h 1645002"/>
              <a:gd name="connisteX15" fmla="*/ 584200 w 2518410"/>
              <a:gd name="connsiteY15" fmla="*/ 94332 h 1645002"/>
              <a:gd name="connisteX16" fmla="*/ 625475 w 2518410"/>
              <a:gd name="connsiteY16" fmla="*/ 27657 h 1645002"/>
              <a:gd name="connisteX17" fmla="*/ 692150 w 2518410"/>
              <a:gd name="connsiteY17" fmla="*/ 10512 h 1645002"/>
              <a:gd name="connisteX18" fmla="*/ 784225 w 2518410"/>
              <a:gd name="connsiteY18" fmla="*/ 2257 h 1645002"/>
              <a:gd name="connisteX19" fmla="*/ 859155 w 2518410"/>
              <a:gd name="connsiteY19" fmla="*/ 2257 h 1645002"/>
              <a:gd name="connisteX20" fmla="*/ 925830 w 2518410"/>
              <a:gd name="connsiteY20" fmla="*/ 2257 h 1645002"/>
              <a:gd name="connisteX21" fmla="*/ 1000760 w 2518410"/>
              <a:gd name="connsiteY21" fmla="*/ 27657 h 1645002"/>
              <a:gd name="connisteX22" fmla="*/ 1067435 w 2518410"/>
              <a:gd name="connsiteY22" fmla="*/ 77187 h 1645002"/>
              <a:gd name="connisteX23" fmla="*/ 1125855 w 2518410"/>
              <a:gd name="connsiteY23" fmla="*/ 152752 h 1645002"/>
              <a:gd name="connisteX24" fmla="*/ 1176020 w 2518410"/>
              <a:gd name="connsiteY24" fmla="*/ 235937 h 1645002"/>
              <a:gd name="connisteX25" fmla="*/ 1217930 w 2518410"/>
              <a:gd name="connsiteY25" fmla="*/ 302612 h 1645002"/>
              <a:gd name="connisteX26" fmla="*/ 1242695 w 2518410"/>
              <a:gd name="connsiteY26" fmla="*/ 369287 h 1645002"/>
              <a:gd name="connisteX27" fmla="*/ 1276350 w 2518410"/>
              <a:gd name="connsiteY27" fmla="*/ 435962 h 1645002"/>
              <a:gd name="connisteX28" fmla="*/ 1309370 w 2518410"/>
              <a:gd name="connsiteY28" fmla="*/ 502637 h 1645002"/>
              <a:gd name="connisteX29" fmla="*/ 1351280 w 2518410"/>
              <a:gd name="connsiteY29" fmla="*/ 594712 h 1645002"/>
              <a:gd name="connisteX30" fmla="*/ 1384300 w 2518410"/>
              <a:gd name="connsiteY30" fmla="*/ 686152 h 1645002"/>
              <a:gd name="connisteX31" fmla="*/ 1417955 w 2518410"/>
              <a:gd name="connsiteY31" fmla="*/ 769972 h 1645002"/>
              <a:gd name="connisteX32" fmla="*/ 1450975 w 2518410"/>
              <a:gd name="connsiteY32" fmla="*/ 844902 h 1645002"/>
              <a:gd name="connisteX33" fmla="*/ 1476375 w 2518410"/>
              <a:gd name="connsiteY33" fmla="*/ 911577 h 1645002"/>
              <a:gd name="connisteX34" fmla="*/ 1501140 w 2518410"/>
              <a:gd name="connsiteY34" fmla="*/ 1003017 h 1645002"/>
              <a:gd name="connisteX35" fmla="*/ 1526540 w 2518410"/>
              <a:gd name="connsiteY35" fmla="*/ 1077947 h 1645002"/>
              <a:gd name="connisteX36" fmla="*/ 1551305 w 2518410"/>
              <a:gd name="connsiteY36" fmla="*/ 1153512 h 1645002"/>
              <a:gd name="connisteX37" fmla="*/ 1601470 w 2518410"/>
              <a:gd name="connsiteY37" fmla="*/ 1220187 h 1645002"/>
              <a:gd name="connisteX38" fmla="*/ 1676400 w 2518410"/>
              <a:gd name="connsiteY38" fmla="*/ 1269717 h 1645002"/>
              <a:gd name="connisteX39" fmla="*/ 1743075 w 2518410"/>
              <a:gd name="connsiteY39" fmla="*/ 1319882 h 1645002"/>
              <a:gd name="connisteX40" fmla="*/ 1809750 w 2518410"/>
              <a:gd name="connsiteY40" fmla="*/ 1353537 h 1645002"/>
              <a:gd name="connisteX41" fmla="*/ 1876425 w 2518410"/>
              <a:gd name="connsiteY41" fmla="*/ 1386557 h 1645002"/>
              <a:gd name="connisteX42" fmla="*/ 1951355 w 2518410"/>
              <a:gd name="connsiteY42" fmla="*/ 1411957 h 1645002"/>
              <a:gd name="connisteX43" fmla="*/ 2035175 w 2518410"/>
              <a:gd name="connsiteY43" fmla="*/ 1436722 h 1645002"/>
              <a:gd name="connisteX44" fmla="*/ 2110105 w 2518410"/>
              <a:gd name="connsiteY44" fmla="*/ 1453232 h 1645002"/>
              <a:gd name="connisteX45" fmla="*/ 2185035 w 2518410"/>
              <a:gd name="connsiteY45" fmla="*/ 1453232 h 1645002"/>
              <a:gd name="connisteX46" fmla="*/ 2251710 w 2518410"/>
              <a:gd name="connsiteY46" fmla="*/ 1444977 h 1645002"/>
              <a:gd name="connisteX47" fmla="*/ 2301875 w 2518410"/>
              <a:gd name="connsiteY47" fmla="*/ 1378302 h 1645002"/>
              <a:gd name="connisteX48" fmla="*/ 2343785 w 2518410"/>
              <a:gd name="connsiteY48" fmla="*/ 1311627 h 1645002"/>
              <a:gd name="connisteX49" fmla="*/ 2368550 w 2518410"/>
              <a:gd name="connsiteY49" fmla="*/ 1236697 h 1645002"/>
              <a:gd name="connisteX50" fmla="*/ 2402205 w 2518410"/>
              <a:gd name="connsiteY50" fmla="*/ 1161767 h 1645002"/>
              <a:gd name="connisteX51" fmla="*/ 2426970 w 2518410"/>
              <a:gd name="connsiteY51" fmla="*/ 1086837 h 1645002"/>
              <a:gd name="connisteX52" fmla="*/ 2468880 w 2518410"/>
              <a:gd name="connsiteY52" fmla="*/ 1019527 h 1645002"/>
              <a:gd name="connisteX53" fmla="*/ 2518410 w 2518410"/>
              <a:gd name="connsiteY53" fmla="*/ 944597 h 164500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Lst>
            <a:rect l="l" t="t" r="r" b="b"/>
            <a:pathLst>
              <a:path w="2518410" h="1645003">
                <a:moveTo>
                  <a:pt x="0" y="1645003"/>
                </a:moveTo>
                <a:cubicBezTo>
                  <a:pt x="2540" y="1624048"/>
                  <a:pt x="-3175" y="1583408"/>
                  <a:pt x="25400" y="1519908"/>
                </a:cubicBezTo>
                <a:cubicBezTo>
                  <a:pt x="53975" y="1456408"/>
                  <a:pt x="102235" y="1396718"/>
                  <a:pt x="142240" y="1328138"/>
                </a:cubicBezTo>
                <a:cubicBezTo>
                  <a:pt x="182245" y="1259558"/>
                  <a:pt x="198755" y="1228443"/>
                  <a:pt x="225425" y="1178278"/>
                </a:cubicBezTo>
                <a:cubicBezTo>
                  <a:pt x="252095" y="1128113"/>
                  <a:pt x="255905" y="1117953"/>
                  <a:pt x="275590" y="1077948"/>
                </a:cubicBezTo>
                <a:cubicBezTo>
                  <a:pt x="295275" y="1037943"/>
                  <a:pt x="308610" y="1018258"/>
                  <a:pt x="325120" y="978253"/>
                </a:cubicBezTo>
                <a:cubicBezTo>
                  <a:pt x="341630" y="938248"/>
                  <a:pt x="347345" y="911578"/>
                  <a:pt x="358775" y="877923"/>
                </a:cubicBezTo>
                <a:cubicBezTo>
                  <a:pt x="370205" y="844268"/>
                  <a:pt x="375285" y="841093"/>
                  <a:pt x="383540" y="811248"/>
                </a:cubicBezTo>
                <a:cubicBezTo>
                  <a:pt x="391795" y="781403"/>
                  <a:pt x="389255" y="768068"/>
                  <a:pt x="400685" y="728063"/>
                </a:cubicBezTo>
                <a:cubicBezTo>
                  <a:pt x="412115" y="688058"/>
                  <a:pt x="430530" y="648053"/>
                  <a:pt x="441960" y="611223"/>
                </a:cubicBezTo>
                <a:cubicBezTo>
                  <a:pt x="453390" y="574393"/>
                  <a:pt x="448945" y="582648"/>
                  <a:pt x="459105" y="544548"/>
                </a:cubicBezTo>
                <a:cubicBezTo>
                  <a:pt x="469265" y="506448"/>
                  <a:pt x="478790" y="466443"/>
                  <a:pt x="492125" y="419453"/>
                </a:cubicBezTo>
                <a:cubicBezTo>
                  <a:pt x="505460" y="372463"/>
                  <a:pt x="514350" y="348968"/>
                  <a:pt x="525780" y="310868"/>
                </a:cubicBezTo>
                <a:cubicBezTo>
                  <a:pt x="537210" y="272768"/>
                  <a:pt x="542290" y="257528"/>
                  <a:pt x="550545" y="227683"/>
                </a:cubicBezTo>
                <a:cubicBezTo>
                  <a:pt x="558800" y="197838"/>
                  <a:pt x="560070" y="187678"/>
                  <a:pt x="567055" y="161008"/>
                </a:cubicBezTo>
                <a:cubicBezTo>
                  <a:pt x="574040" y="134338"/>
                  <a:pt x="572770" y="121003"/>
                  <a:pt x="584200" y="94333"/>
                </a:cubicBezTo>
                <a:cubicBezTo>
                  <a:pt x="595630" y="67663"/>
                  <a:pt x="603885" y="44168"/>
                  <a:pt x="625475" y="27658"/>
                </a:cubicBezTo>
                <a:cubicBezTo>
                  <a:pt x="647065" y="11148"/>
                  <a:pt x="660400" y="15593"/>
                  <a:pt x="692150" y="10513"/>
                </a:cubicBezTo>
                <a:cubicBezTo>
                  <a:pt x="723900" y="5433"/>
                  <a:pt x="750570" y="4163"/>
                  <a:pt x="784225" y="2258"/>
                </a:cubicBezTo>
                <a:cubicBezTo>
                  <a:pt x="817880" y="353"/>
                  <a:pt x="830580" y="2258"/>
                  <a:pt x="859155" y="2258"/>
                </a:cubicBezTo>
                <a:cubicBezTo>
                  <a:pt x="887730" y="2258"/>
                  <a:pt x="897255" y="-2822"/>
                  <a:pt x="925830" y="2258"/>
                </a:cubicBezTo>
                <a:cubicBezTo>
                  <a:pt x="954405" y="7338"/>
                  <a:pt x="972185" y="12418"/>
                  <a:pt x="1000760" y="27658"/>
                </a:cubicBezTo>
                <a:cubicBezTo>
                  <a:pt x="1029335" y="42898"/>
                  <a:pt x="1042670" y="52423"/>
                  <a:pt x="1067435" y="77188"/>
                </a:cubicBezTo>
                <a:cubicBezTo>
                  <a:pt x="1092200" y="101953"/>
                  <a:pt x="1104265" y="121003"/>
                  <a:pt x="1125855" y="152753"/>
                </a:cubicBezTo>
                <a:cubicBezTo>
                  <a:pt x="1147445" y="184503"/>
                  <a:pt x="1157605" y="206093"/>
                  <a:pt x="1176020" y="235938"/>
                </a:cubicBezTo>
                <a:cubicBezTo>
                  <a:pt x="1194435" y="265783"/>
                  <a:pt x="1204595" y="275943"/>
                  <a:pt x="1217930" y="302613"/>
                </a:cubicBezTo>
                <a:cubicBezTo>
                  <a:pt x="1231265" y="329283"/>
                  <a:pt x="1231265" y="342618"/>
                  <a:pt x="1242695" y="369288"/>
                </a:cubicBezTo>
                <a:cubicBezTo>
                  <a:pt x="1254125" y="395958"/>
                  <a:pt x="1263015" y="409293"/>
                  <a:pt x="1276350" y="435963"/>
                </a:cubicBezTo>
                <a:cubicBezTo>
                  <a:pt x="1289685" y="462633"/>
                  <a:pt x="1294130" y="470888"/>
                  <a:pt x="1309370" y="502638"/>
                </a:cubicBezTo>
                <a:cubicBezTo>
                  <a:pt x="1324610" y="534388"/>
                  <a:pt x="1336040" y="557883"/>
                  <a:pt x="1351280" y="594713"/>
                </a:cubicBezTo>
                <a:cubicBezTo>
                  <a:pt x="1366520" y="631543"/>
                  <a:pt x="1370965" y="651228"/>
                  <a:pt x="1384300" y="686153"/>
                </a:cubicBezTo>
                <a:cubicBezTo>
                  <a:pt x="1397635" y="721078"/>
                  <a:pt x="1404620" y="738223"/>
                  <a:pt x="1417955" y="769973"/>
                </a:cubicBezTo>
                <a:cubicBezTo>
                  <a:pt x="1431290" y="801723"/>
                  <a:pt x="1439545" y="816328"/>
                  <a:pt x="1450975" y="844903"/>
                </a:cubicBezTo>
                <a:cubicBezTo>
                  <a:pt x="1462405" y="873478"/>
                  <a:pt x="1466215" y="879828"/>
                  <a:pt x="1476375" y="911578"/>
                </a:cubicBezTo>
                <a:cubicBezTo>
                  <a:pt x="1486535" y="943328"/>
                  <a:pt x="1490980" y="969998"/>
                  <a:pt x="1501140" y="1003018"/>
                </a:cubicBezTo>
                <a:cubicBezTo>
                  <a:pt x="1511300" y="1036038"/>
                  <a:pt x="1516380" y="1048103"/>
                  <a:pt x="1526540" y="1077948"/>
                </a:cubicBezTo>
                <a:cubicBezTo>
                  <a:pt x="1536700" y="1107793"/>
                  <a:pt x="1536065" y="1124938"/>
                  <a:pt x="1551305" y="1153513"/>
                </a:cubicBezTo>
                <a:cubicBezTo>
                  <a:pt x="1566545" y="1182088"/>
                  <a:pt x="1576705" y="1196693"/>
                  <a:pt x="1601470" y="1220188"/>
                </a:cubicBezTo>
                <a:cubicBezTo>
                  <a:pt x="1626235" y="1243683"/>
                  <a:pt x="1647825" y="1250033"/>
                  <a:pt x="1676400" y="1269718"/>
                </a:cubicBezTo>
                <a:cubicBezTo>
                  <a:pt x="1704975" y="1289403"/>
                  <a:pt x="1716405" y="1303373"/>
                  <a:pt x="1743075" y="1319883"/>
                </a:cubicBezTo>
                <a:cubicBezTo>
                  <a:pt x="1769745" y="1336393"/>
                  <a:pt x="1783080" y="1340203"/>
                  <a:pt x="1809750" y="1353538"/>
                </a:cubicBezTo>
                <a:cubicBezTo>
                  <a:pt x="1836420" y="1366873"/>
                  <a:pt x="1847850" y="1375128"/>
                  <a:pt x="1876425" y="1386558"/>
                </a:cubicBezTo>
                <a:cubicBezTo>
                  <a:pt x="1905000" y="1397988"/>
                  <a:pt x="1919605" y="1401798"/>
                  <a:pt x="1951355" y="1411958"/>
                </a:cubicBezTo>
                <a:cubicBezTo>
                  <a:pt x="1983105" y="1422118"/>
                  <a:pt x="2003425" y="1428468"/>
                  <a:pt x="2035175" y="1436723"/>
                </a:cubicBezTo>
                <a:cubicBezTo>
                  <a:pt x="2066925" y="1444978"/>
                  <a:pt x="2080260" y="1450058"/>
                  <a:pt x="2110105" y="1453233"/>
                </a:cubicBezTo>
                <a:cubicBezTo>
                  <a:pt x="2139950" y="1456408"/>
                  <a:pt x="2156460" y="1455138"/>
                  <a:pt x="2185035" y="1453233"/>
                </a:cubicBezTo>
                <a:cubicBezTo>
                  <a:pt x="2213610" y="1451328"/>
                  <a:pt x="2228215" y="1460218"/>
                  <a:pt x="2251710" y="1444978"/>
                </a:cubicBezTo>
                <a:cubicBezTo>
                  <a:pt x="2275205" y="1429738"/>
                  <a:pt x="2283460" y="1404973"/>
                  <a:pt x="2301875" y="1378303"/>
                </a:cubicBezTo>
                <a:cubicBezTo>
                  <a:pt x="2320290" y="1351633"/>
                  <a:pt x="2330450" y="1340203"/>
                  <a:pt x="2343785" y="1311628"/>
                </a:cubicBezTo>
                <a:cubicBezTo>
                  <a:pt x="2357120" y="1283053"/>
                  <a:pt x="2357120" y="1266543"/>
                  <a:pt x="2368550" y="1236698"/>
                </a:cubicBezTo>
                <a:cubicBezTo>
                  <a:pt x="2379980" y="1206853"/>
                  <a:pt x="2390775" y="1191613"/>
                  <a:pt x="2402205" y="1161768"/>
                </a:cubicBezTo>
                <a:cubicBezTo>
                  <a:pt x="2413635" y="1131923"/>
                  <a:pt x="2413635" y="1115413"/>
                  <a:pt x="2426970" y="1086838"/>
                </a:cubicBezTo>
                <a:cubicBezTo>
                  <a:pt x="2440305" y="1058263"/>
                  <a:pt x="2450465" y="1048103"/>
                  <a:pt x="2468880" y="1019528"/>
                </a:cubicBezTo>
                <a:cubicBezTo>
                  <a:pt x="2487295" y="990953"/>
                  <a:pt x="2509520" y="957933"/>
                  <a:pt x="2518410" y="944598"/>
                </a:cubicBezTo>
              </a:path>
            </a:pathLst>
          </a:custGeom>
          <a:noFill/>
          <a:ln w="38100">
            <a:solidFill>
              <a:schemeClr val="tx1"/>
            </a:solidFill>
          </a:ln>
        </p:spPr>
        <p:txBody>
          <a:bodyPr vert="horz" lIns="90000" tIns="46800" rIns="90000" bIns="46800" rtlCol="0" anchor="ctr" anchorCtr="0">
            <a:noAutofit/>
          </a:bodyPr>
          <a:p>
            <a:endParaRPr lang="zh-CN" altLang="en-US" sz="2445">
              <a:solidFill>
                <a:schemeClr val="tx1"/>
              </a:solidFill>
            </a:endParaRPr>
          </a:p>
        </p:txBody>
      </p:sp>
      <p:sp>
        <p:nvSpPr>
          <p:cNvPr id="45" name="Text Box 44"/>
          <p:cNvSpPr txBox="1"/>
          <p:nvPr/>
        </p:nvSpPr>
        <p:spPr>
          <a:xfrm>
            <a:off x="1757045" y="5046345"/>
            <a:ext cx="296926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48" name="Text Box 47"/>
          <p:cNvSpPr txBox="1"/>
          <p:nvPr/>
        </p:nvSpPr>
        <p:spPr>
          <a:xfrm>
            <a:off x="1784985" y="391033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8" name="Oval 7"/>
          <p:cNvSpPr/>
          <p:nvPr/>
        </p:nvSpPr>
        <p:spPr>
          <a:xfrm>
            <a:off x="2417445" y="293941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9" name="Oval 8"/>
          <p:cNvSpPr/>
          <p:nvPr/>
        </p:nvSpPr>
        <p:spPr>
          <a:xfrm>
            <a:off x="3193415" y="368427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1" name="Oval 50"/>
          <p:cNvSpPr/>
          <p:nvPr/>
        </p:nvSpPr>
        <p:spPr>
          <a:xfrm>
            <a:off x="3691255" y="430212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2" name="Oval 51"/>
          <p:cNvSpPr/>
          <p:nvPr/>
        </p:nvSpPr>
        <p:spPr>
          <a:xfrm>
            <a:off x="4174490" y="408432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4" name="Text Box 53"/>
          <p:cNvSpPr txBox="1"/>
          <p:nvPr/>
        </p:nvSpPr>
        <p:spPr>
          <a:xfrm>
            <a:off x="2976245" y="299402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55" name="Text Box 54"/>
          <p:cNvSpPr txBox="1"/>
          <p:nvPr/>
        </p:nvSpPr>
        <p:spPr>
          <a:xfrm>
            <a:off x="3348990" y="39490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56" name="Text Box 55"/>
          <p:cNvSpPr txBox="1"/>
          <p:nvPr/>
        </p:nvSpPr>
        <p:spPr>
          <a:xfrm>
            <a:off x="3601720" y="40303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58" name="Straight Connector 57"/>
          <p:cNvCxnSpPr>
            <a:endCxn id="84" idx="3"/>
          </p:cNvCxnSpPr>
          <p:nvPr/>
        </p:nvCxnSpPr>
        <p:spPr>
          <a:xfrm flipV="1">
            <a:off x="1974850" y="3757295"/>
            <a:ext cx="199390" cy="52070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79" name="Straight Connector 78"/>
          <p:cNvCxnSpPr>
            <a:stCxn id="36" idx="8"/>
          </p:cNvCxnSpPr>
          <p:nvPr/>
        </p:nvCxnSpPr>
        <p:spPr>
          <a:xfrm>
            <a:off x="2216150" y="3684270"/>
            <a:ext cx="8255" cy="13271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0" name="Straight Connector 79"/>
          <p:cNvCxnSpPr/>
          <p:nvPr/>
        </p:nvCxnSpPr>
        <p:spPr>
          <a:xfrm>
            <a:off x="2473960" y="2983230"/>
            <a:ext cx="0" cy="202819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1" name="Straight Connector 80"/>
          <p:cNvCxnSpPr/>
          <p:nvPr/>
        </p:nvCxnSpPr>
        <p:spPr>
          <a:xfrm>
            <a:off x="2723515" y="2978785"/>
            <a:ext cx="0" cy="203263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2" name="Straight Connector 81"/>
          <p:cNvCxnSpPr>
            <a:stCxn id="54" idx="1"/>
          </p:cNvCxnSpPr>
          <p:nvPr/>
        </p:nvCxnSpPr>
        <p:spPr>
          <a:xfrm flipH="1">
            <a:off x="2973070" y="3138170"/>
            <a:ext cx="3175" cy="18732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3" name="Straight Connector 82"/>
          <p:cNvCxnSpPr/>
          <p:nvPr/>
        </p:nvCxnSpPr>
        <p:spPr>
          <a:xfrm>
            <a:off x="3472180" y="4244340"/>
            <a:ext cx="0" cy="76708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84" name="Oval 83"/>
          <p:cNvSpPr/>
          <p:nvPr/>
        </p:nvSpPr>
        <p:spPr>
          <a:xfrm>
            <a:off x="2160270" y="367474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5" name="Oval 84"/>
          <p:cNvSpPr/>
          <p:nvPr/>
        </p:nvSpPr>
        <p:spPr>
          <a:xfrm>
            <a:off x="2675255" y="290893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6" name="Oval 85"/>
          <p:cNvSpPr/>
          <p:nvPr/>
        </p:nvSpPr>
        <p:spPr>
          <a:xfrm>
            <a:off x="2941320" y="308991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7" name="Oval 86"/>
          <p:cNvSpPr/>
          <p:nvPr/>
        </p:nvSpPr>
        <p:spPr>
          <a:xfrm>
            <a:off x="3421380" y="41808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8" name="Oval 87"/>
          <p:cNvSpPr/>
          <p:nvPr/>
        </p:nvSpPr>
        <p:spPr>
          <a:xfrm>
            <a:off x="3936365" y="436372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9" name="Text Box 88"/>
          <p:cNvSpPr txBox="1"/>
          <p:nvPr/>
        </p:nvSpPr>
        <p:spPr>
          <a:xfrm>
            <a:off x="1942465" y="359981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0" name="Text Box 89"/>
          <p:cNvSpPr txBox="1"/>
          <p:nvPr/>
        </p:nvSpPr>
        <p:spPr>
          <a:xfrm>
            <a:off x="2319655" y="26536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1" name="Text Box 90"/>
          <p:cNvSpPr txBox="1"/>
          <p:nvPr/>
        </p:nvSpPr>
        <p:spPr>
          <a:xfrm>
            <a:off x="2586355" y="265112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2" name="Text Box 91"/>
          <p:cNvSpPr txBox="1"/>
          <p:nvPr/>
        </p:nvSpPr>
        <p:spPr>
          <a:xfrm>
            <a:off x="3171190" y="342138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3" name="Text Box 92"/>
          <p:cNvSpPr txBox="1"/>
          <p:nvPr/>
        </p:nvSpPr>
        <p:spPr>
          <a:xfrm>
            <a:off x="3848100" y="41192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5" name="Text Box 94"/>
          <p:cNvSpPr txBox="1"/>
          <p:nvPr/>
        </p:nvSpPr>
        <p:spPr>
          <a:xfrm>
            <a:off x="3970020" y="3800475"/>
            <a:ext cx="43180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98" name="Straight Connector 97"/>
          <p:cNvCxnSpPr>
            <a:endCxn id="8" idx="2"/>
          </p:cNvCxnSpPr>
          <p:nvPr/>
        </p:nvCxnSpPr>
        <p:spPr>
          <a:xfrm flipV="1">
            <a:off x="2224405" y="2987675"/>
            <a:ext cx="193040" cy="6965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9" name="Straight Connector 98"/>
          <p:cNvCxnSpPr>
            <a:endCxn id="91" idx="2"/>
          </p:cNvCxnSpPr>
          <p:nvPr/>
        </p:nvCxnSpPr>
        <p:spPr>
          <a:xfrm flipV="1">
            <a:off x="2466975" y="2938780"/>
            <a:ext cx="238760" cy="349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0" name="Straight Connector 99"/>
          <p:cNvCxnSpPr>
            <a:stCxn id="85" idx="5"/>
            <a:endCxn id="86" idx="2"/>
          </p:cNvCxnSpPr>
          <p:nvPr/>
        </p:nvCxnSpPr>
        <p:spPr>
          <a:xfrm>
            <a:off x="2757805" y="2991485"/>
            <a:ext cx="183515" cy="14668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1" name="Straight Connector 100"/>
          <p:cNvCxnSpPr>
            <a:stCxn id="86" idx="4"/>
            <a:endCxn id="36" idx="31"/>
          </p:cNvCxnSpPr>
          <p:nvPr/>
        </p:nvCxnSpPr>
        <p:spPr>
          <a:xfrm>
            <a:off x="2989580" y="3186430"/>
            <a:ext cx="243840" cy="5397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2" name="Straight Connector 101"/>
          <p:cNvCxnSpPr>
            <a:stCxn id="9" idx="5"/>
            <a:endCxn id="87" idx="1"/>
          </p:cNvCxnSpPr>
          <p:nvPr/>
        </p:nvCxnSpPr>
        <p:spPr>
          <a:xfrm>
            <a:off x="3275965" y="3766820"/>
            <a:ext cx="159385" cy="4279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3" name="Straight Connector 102"/>
          <p:cNvCxnSpPr>
            <a:stCxn id="87" idx="5"/>
            <a:endCxn id="51" idx="2"/>
          </p:cNvCxnSpPr>
          <p:nvPr/>
        </p:nvCxnSpPr>
        <p:spPr>
          <a:xfrm>
            <a:off x="3503930" y="4263390"/>
            <a:ext cx="187325" cy="869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4" name="Straight Connector 103"/>
          <p:cNvCxnSpPr>
            <a:stCxn id="51" idx="5"/>
            <a:endCxn id="93" idx="2"/>
          </p:cNvCxnSpPr>
          <p:nvPr/>
        </p:nvCxnSpPr>
        <p:spPr>
          <a:xfrm>
            <a:off x="3773805" y="4384675"/>
            <a:ext cx="193675" cy="222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5" name="Straight Connector 104"/>
          <p:cNvCxnSpPr>
            <a:stCxn id="88" idx="5"/>
            <a:endCxn id="52" idx="2"/>
          </p:cNvCxnSpPr>
          <p:nvPr/>
        </p:nvCxnSpPr>
        <p:spPr>
          <a:xfrm flipV="1">
            <a:off x="4018915" y="4132580"/>
            <a:ext cx="155575" cy="3136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5" name="Straight Connector 4"/>
          <p:cNvCxnSpPr/>
          <p:nvPr/>
        </p:nvCxnSpPr>
        <p:spPr>
          <a:xfrm>
            <a:off x="1616710" y="431419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21" name="Straight Connector 20"/>
          <p:cNvCxnSpPr/>
          <p:nvPr/>
        </p:nvCxnSpPr>
        <p:spPr>
          <a:xfrm>
            <a:off x="1616710" y="298831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23" name="Straight Connector 22"/>
          <p:cNvCxnSpPr/>
          <p:nvPr/>
        </p:nvCxnSpPr>
        <p:spPr>
          <a:xfrm>
            <a:off x="1616710" y="365125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26" name="Text Box 25"/>
          <p:cNvSpPr txBox="1"/>
          <p:nvPr/>
        </p:nvSpPr>
        <p:spPr>
          <a:xfrm>
            <a:off x="1226820" y="275653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3</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28" name="Text Box 27"/>
          <p:cNvSpPr txBox="1"/>
          <p:nvPr/>
        </p:nvSpPr>
        <p:spPr>
          <a:xfrm>
            <a:off x="1226820" y="339280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2</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29" name="Text Box 28"/>
          <p:cNvSpPr txBox="1"/>
          <p:nvPr/>
        </p:nvSpPr>
        <p:spPr>
          <a:xfrm>
            <a:off x="1226820" y="406209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31" name="Text Box 30"/>
          <p:cNvSpPr txBox="1"/>
          <p:nvPr/>
        </p:nvSpPr>
        <p:spPr>
          <a:xfrm>
            <a:off x="1226820" y="471487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6" name="Text Box 5"/>
          <p:cNvSpPr txBox="1"/>
          <p:nvPr/>
        </p:nvSpPr>
        <p:spPr>
          <a:xfrm>
            <a:off x="5276215" y="3249930"/>
            <a:ext cx="1002665" cy="429895"/>
          </a:xfrm>
          <a:prstGeom prst="rect">
            <a:avLst/>
          </a:prstGeom>
          <a:noFill/>
        </p:spPr>
        <p:txBody>
          <a:bodyPr wrap="square" rtlCol="0">
            <a:noAutofit/>
          </a:bodyPr>
          <a:p>
            <a:pPr algn="l"/>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思考</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a:t>
            </a:r>
            <a:endParaRPr lang="en-US" altLang="zh-CN" sz="2200" b="1">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7" name="Text Box 6"/>
          <p:cNvSpPr txBox="1"/>
          <p:nvPr/>
        </p:nvSpPr>
        <p:spPr>
          <a:xfrm>
            <a:off x="6133465" y="3097530"/>
            <a:ext cx="4845050" cy="1083310"/>
          </a:xfrm>
          <a:prstGeom prst="rect">
            <a:avLst/>
          </a:prstGeom>
          <a:noFill/>
        </p:spPr>
        <p:txBody>
          <a:bodyPr wrap="square" rtlCol="0">
            <a:noAutofit/>
          </a:bodyPr>
          <a:p>
            <a:pPr>
              <a:lnSpc>
                <a:spcPct val="150000"/>
              </a:lnSpc>
            </a:pPr>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分级越多</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a:t>
            </a:r>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还是越少</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a:t>
            </a:r>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质量越好</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a:t>
            </a:r>
            <a:endPar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endParaRPr>
          </a:p>
        </p:txBody>
      </p:sp>
      <p:pic>
        <p:nvPicPr>
          <p:cNvPr id="10" name="Picture 9" descr="思考"/>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5422900" y="3659505"/>
            <a:ext cx="456565" cy="456565"/>
          </a:xfrm>
          <a:prstGeom prst="rect">
            <a:avLst/>
          </a:prstGeom>
        </p:spPr>
      </p:pic>
      <p:sp>
        <p:nvSpPr>
          <p:cNvPr id="32" name="Text Box 31"/>
          <p:cNvSpPr txBox="1"/>
          <p:nvPr/>
        </p:nvSpPr>
        <p:spPr>
          <a:xfrm>
            <a:off x="6100445" y="3674745"/>
            <a:ext cx="4429125" cy="697230"/>
          </a:xfrm>
          <a:prstGeom prst="rect">
            <a:avLst/>
          </a:prstGeom>
          <a:noFill/>
        </p:spPr>
        <p:txBody>
          <a:bodyPr wrap="square" rtlCol="0">
            <a:noAutofit/>
          </a:bodyPr>
          <a:p>
            <a:pPr>
              <a:lnSpc>
                <a:spcPct val="150000"/>
              </a:lnSpc>
            </a:pPr>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分级越多</a:t>
            </a:r>
            <a:r>
              <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a:t>
            </a:r>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质量越好</a:t>
            </a:r>
            <a:r>
              <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a:t>
            </a:r>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为什么</a:t>
            </a:r>
            <a:r>
              <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a:t>
            </a:r>
            <a:endPar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34" name="Text Box 33"/>
          <p:cNvSpPr txBox="1"/>
          <p:nvPr/>
        </p:nvSpPr>
        <p:spPr>
          <a:xfrm>
            <a:off x="448945" y="2225040"/>
            <a:ext cx="1130300" cy="429895"/>
          </a:xfrm>
          <a:prstGeom prst="rect">
            <a:avLst/>
          </a:prstGeom>
          <a:noFill/>
        </p:spPr>
        <p:txBody>
          <a:bodyPr wrap="square" rtlCol="0">
            <a:noAutofit/>
          </a:bodyPr>
          <a:p>
            <a:pPr algn="r"/>
            <a:r>
              <a:rPr lang="zh-CN" altLang="en-US" sz="2200">
                <a:latin typeface="Alibaba PuHuiTi 3.0 55 Regular" panose="00020600040101010101" charset="-122"/>
                <a:ea typeface="Alibaba PuHuiTi 3.0 55 Regular" panose="00020600040101010101" charset="-122"/>
              </a:rPr>
              <a:t>量化值</a:t>
            </a:r>
            <a:endParaRPr lang="zh-CN" altLang="en-US" sz="2200">
              <a:latin typeface="Alibaba PuHuiTi 3.0 55 Regular" panose="00020600040101010101" charset="-122"/>
              <a:ea typeface="Alibaba PuHuiTi 3.0 55 Regular" panose="00020600040101010101" charset="-122"/>
            </a:endParaRPr>
          </a:p>
        </p:txBody>
      </p:sp>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a:bodyPr>
          <a:p>
            <a:r>
              <a:rPr lang="zh-CN" altLang="en-US"/>
              <a:t>怎样才能把声音（模拟信号</a:t>
            </a:r>
            <a:r>
              <a:rPr lang="en-US" altLang="zh-CN"/>
              <a:t>）</a:t>
            </a:r>
            <a:r>
              <a:rPr lang="zh-CN" altLang="en-US"/>
              <a:t>是转成数字信号</a:t>
            </a:r>
            <a:r>
              <a:rPr lang="en-US"/>
              <a:t>？</a:t>
            </a:r>
            <a:endParaRPr lang="en-US"/>
          </a:p>
        </p:txBody>
      </p:sp>
      <p:sp>
        <p:nvSpPr>
          <p:cNvPr id="14" name="Text Box 13"/>
          <p:cNvSpPr txBox="1"/>
          <p:nvPr/>
        </p:nvSpPr>
        <p:spPr>
          <a:xfrm>
            <a:off x="691515" y="1313815"/>
            <a:ext cx="254762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cs typeface="Alibaba PuHuiTi 3.0 55 Regular" panose="00020600040101010101" charset="-122"/>
              </a:rPr>
              <a:t>1. </a:t>
            </a:r>
            <a:r>
              <a:rPr lang="zh-CN" altLang="en-US" sz="2200">
                <a:latin typeface="Alibaba PuHuiTi 3.0 55 Regular" panose="00020600040101010101" charset="-122"/>
                <a:ea typeface="Alibaba PuHuiTi 3.0 55 Regular" panose="00020600040101010101" charset="-122"/>
                <a:cs typeface="Alibaba PuHuiTi 3.0 55 Regular" panose="00020600040101010101" charset="-122"/>
              </a:rPr>
              <a:t>采样</a:t>
            </a:r>
            <a:r>
              <a:rPr lang="en-US" altLang="zh-CN" sz="2200">
                <a:latin typeface="Alibaba PuHuiTi 3.0 55 Regular" panose="00020600040101010101" charset="-122"/>
                <a:ea typeface="Alibaba PuHuiTi 3.0 55 Regular" panose="00020600040101010101" charset="-122"/>
                <a:cs typeface="Alibaba PuHuiTi 3.0 55 Regular" panose="00020600040101010101" charset="-122"/>
              </a:rPr>
              <a:t> Sampling</a:t>
            </a:r>
            <a:endParaRPr lang="en-US" altLang="zh-CN" sz="2200">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7" name="Text Box 16"/>
          <p:cNvSpPr txBox="1"/>
          <p:nvPr/>
        </p:nvSpPr>
        <p:spPr>
          <a:xfrm>
            <a:off x="3860165" y="1313815"/>
            <a:ext cx="3038475" cy="429895"/>
          </a:xfrm>
          <a:prstGeom prst="rect">
            <a:avLst/>
          </a:prstGeom>
          <a:noFill/>
        </p:spPr>
        <p:txBody>
          <a:bodyPr wrap="square" rtlCol="0">
            <a:spAutoFit/>
          </a:bodyPr>
          <a:p>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2. </a:t>
            </a:r>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量化</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 Quantization</a:t>
            </a:r>
            <a:endParaRPr lang="en-US" altLang="zh-CN" sz="2200" b="1">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18" name="Text Box 17"/>
          <p:cNvSpPr txBox="1"/>
          <p:nvPr/>
        </p:nvSpPr>
        <p:spPr>
          <a:xfrm>
            <a:off x="7519670" y="1313815"/>
            <a:ext cx="3822065" cy="429895"/>
          </a:xfrm>
          <a:prstGeom prst="rect">
            <a:avLst/>
          </a:prstGeom>
          <a:noFill/>
        </p:spPr>
        <p:txBody>
          <a:bodyPr wrap="square" rtlCol="0">
            <a:spAutoFit/>
          </a:bodyPr>
          <a:p>
            <a:r>
              <a:rPr lang="en-US" altLang="zh-CN" sz="2200">
                <a:latin typeface="Alibaba PuHuiTi 3.0 55 Regular" panose="00020600040101010101" charset="-122"/>
                <a:ea typeface="Alibaba PuHuiTi 3.0 55 Regular" panose="00020600040101010101" charset="-122"/>
              </a:rPr>
              <a:t>3. </a:t>
            </a:r>
            <a:r>
              <a:rPr lang="zh-CN" altLang="en-US" sz="2200">
                <a:latin typeface="Alibaba PuHuiTi 3.0 55 Regular" panose="00020600040101010101" charset="-122"/>
                <a:ea typeface="Alibaba PuHuiTi 3.0 55 Regular" panose="00020600040101010101" charset="-122"/>
              </a:rPr>
              <a:t>编码</a:t>
            </a:r>
            <a:r>
              <a:rPr lang="en-US" altLang="zh-CN" sz="2200">
                <a:latin typeface="Alibaba PuHuiTi 3.0 55 Regular" panose="00020600040101010101" charset="-122"/>
                <a:ea typeface="Alibaba PuHuiTi 3.0 55 Regular" panose="00020600040101010101" charset="-122"/>
              </a:rPr>
              <a:t> </a:t>
            </a:r>
            <a:r>
              <a:rPr lang="en-US" altLang="zh-CN" sz="2200">
                <a:latin typeface="Alibaba PuHuiTi 3.0 55 Regular" panose="00020600040101010101" charset="-122"/>
                <a:ea typeface="Alibaba PuHuiTi 3.0 55 Regular" panose="00020600040101010101" charset="-122"/>
              </a:rPr>
              <a:t>Encoding</a:t>
            </a:r>
            <a:endParaRPr lang="en-US" altLang="zh-CN" sz="2200">
              <a:latin typeface="Alibaba PuHuiTi 3.0 55 Regular" panose="00020600040101010101" charset="-122"/>
              <a:ea typeface="Alibaba PuHuiTi 3.0 55 Regular" panose="00020600040101010101" charset="-122"/>
            </a:endParaRPr>
          </a:p>
        </p:txBody>
      </p:sp>
      <p:cxnSp>
        <p:nvCxnSpPr>
          <p:cNvPr id="19" name="Straight Connector 18"/>
          <p:cNvCxnSpPr/>
          <p:nvPr/>
        </p:nvCxnSpPr>
        <p:spPr>
          <a:xfrm flipH="1">
            <a:off x="3202305" y="1529080"/>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cxnSp>
        <p:nvCxnSpPr>
          <p:cNvPr id="20" name="Straight Connector 19"/>
          <p:cNvCxnSpPr/>
          <p:nvPr/>
        </p:nvCxnSpPr>
        <p:spPr>
          <a:xfrm flipH="1">
            <a:off x="6861810" y="1528445"/>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12" name="Oval 11"/>
          <p:cNvSpPr/>
          <p:nvPr/>
        </p:nvSpPr>
        <p:spPr>
          <a:xfrm>
            <a:off x="1926590" y="419798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13" name="Straight Connector 12"/>
          <p:cNvCxnSpPr/>
          <p:nvPr/>
        </p:nvCxnSpPr>
        <p:spPr>
          <a:xfrm>
            <a:off x="1974850" y="4271645"/>
            <a:ext cx="0" cy="73977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5" name="Straight Connector 14"/>
          <p:cNvCxnSpPr>
            <a:stCxn id="36" idx="31"/>
          </p:cNvCxnSpPr>
          <p:nvPr/>
        </p:nvCxnSpPr>
        <p:spPr>
          <a:xfrm flipH="1">
            <a:off x="3222625" y="3726180"/>
            <a:ext cx="10795" cy="123444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6" name="Straight Connector 15"/>
          <p:cNvCxnSpPr/>
          <p:nvPr/>
        </p:nvCxnSpPr>
        <p:spPr>
          <a:xfrm>
            <a:off x="3721735" y="4398645"/>
            <a:ext cx="0" cy="57023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2" name="Straight Connector 21"/>
          <p:cNvCxnSpPr/>
          <p:nvPr/>
        </p:nvCxnSpPr>
        <p:spPr>
          <a:xfrm>
            <a:off x="3971290" y="4448810"/>
            <a:ext cx="0" cy="56324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4" name="Straight Connector 23"/>
          <p:cNvCxnSpPr/>
          <p:nvPr/>
        </p:nvCxnSpPr>
        <p:spPr>
          <a:xfrm>
            <a:off x="4220845" y="4180840"/>
            <a:ext cx="0" cy="83121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5" name="Straight Connector 24"/>
          <p:cNvCxnSpPr/>
          <p:nvPr/>
        </p:nvCxnSpPr>
        <p:spPr>
          <a:xfrm>
            <a:off x="1600200" y="2225040"/>
            <a:ext cx="0" cy="274320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27" name="Straight Connector 26"/>
          <p:cNvCxnSpPr/>
          <p:nvPr/>
        </p:nvCxnSpPr>
        <p:spPr>
          <a:xfrm flipH="1">
            <a:off x="1598930" y="4977130"/>
            <a:ext cx="312737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33" name="Text Box 32"/>
          <p:cNvSpPr txBox="1"/>
          <p:nvPr/>
        </p:nvSpPr>
        <p:spPr>
          <a:xfrm>
            <a:off x="4463415" y="5046345"/>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36" name="Freeform 35"/>
          <p:cNvSpPr/>
          <p:nvPr/>
        </p:nvSpPr>
        <p:spPr>
          <a:xfrm>
            <a:off x="1815465" y="2955925"/>
            <a:ext cx="2518410" cy="1645285"/>
          </a:xfrm>
          <a:custGeom>
            <a:avLst/>
            <a:gdLst>
              <a:gd name="connisteX0" fmla="*/ 0 w 2518410"/>
              <a:gd name="connsiteY0" fmla="*/ 1645002 h 1645002"/>
              <a:gd name="connisteX1" fmla="*/ 25400 w 2518410"/>
              <a:gd name="connsiteY1" fmla="*/ 1519907 h 1645002"/>
              <a:gd name="connisteX2" fmla="*/ 142240 w 2518410"/>
              <a:gd name="connsiteY2" fmla="*/ 1328137 h 1645002"/>
              <a:gd name="connisteX3" fmla="*/ 225425 w 2518410"/>
              <a:gd name="connsiteY3" fmla="*/ 1178277 h 1645002"/>
              <a:gd name="connisteX4" fmla="*/ 275590 w 2518410"/>
              <a:gd name="connsiteY4" fmla="*/ 1077947 h 1645002"/>
              <a:gd name="connisteX5" fmla="*/ 325120 w 2518410"/>
              <a:gd name="connsiteY5" fmla="*/ 978252 h 1645002"/>
              <a:gd name="connisteX6" fmla="*/ 358775 w 2518410"/>
              <a:gd name="connsiteY6" fmla="*/ 877922 h 1645002"/>
              <a:gd name="connisteX7" fmla="*/ 383540 w 2518410"/>
              <a:gd name="connsiteY7" fmla="*/ 811247 h 1645002"/>
              <a:gd name="connisteX8" fmla="*/ 400685 w 2518410"/>
              <a:gd name="connsiteY8" fmla="*/ 728062 h 1645002"/>
              <a:gd name="connisteX9" fmla="*/ 441960 w 2518410"/>
              <a:gd name="connsiteY9" fmla="*/ 611222 h 1645002"/>
              <a:gd name="connisteX10" fmla="*/ 459105 w 2518410"/>
              <a:gd name="connsiteY10" fmla="*/ 544547 h 1645002"/>
              <a:gd name="connisteX11" fmla="*/ 492125 w 2518410"/>
              <a:gd name="connsiteY11" fmla="*/ 419452 h 1645002"/>
              <a:gd name="connisteX12" fmla="*/ 525780 w 2518410"/>
              <a:gd name="connsiteY12" fmla="*/ 310867 h 1645002"/>
              <a:gd name="connisteX13" fmla="*/ 550545 w 2518410"/>
              <a:gd name="connsiteY13" fmla="*/ 227682 h 1645002"/>
              <a:gd name="connisteX14" fmla="*/ 567055 w 2518410"/>
              <a:gd name="connsiteY14" fmla="*/ 161007 h 1645002"/>
              <a:gd name="connisteX15" fmla="*/ 584200 w 2518410"/>
              <a:gd name="connsiteY15" fmla="*/ 94332 h 1645002"/>
              <a:gd name="connisteX16" fmla="*/ 625475 w 2518410"/>
              <a:gd name="connsiteY16" fmla="*/ 27657 h 1645002"/>
              <a:gd name="connisteX17" fmla="*/ 692150 w 2518410"/>
              <a:gd name="connsiteY17" fmla="*/ 10512 h 1645002"/>
              <a:gd name="connisteX18" fmla="*/ 784225 w 2518410"/>
              <a:gd name="connsiteY18" fmla="*/ 2257 h 1645002"/>
              <a:gd name="connisteX19" fmla="*/ 859155 w 2518410"/>
              <a:gd name="connsiteY19" fmla="*/ 2257 h 1645002"/>
              <a:gd name="connisteX20" fmla="*/ 925830 w 2518410"/>
              <a:gd name="connsiteY20" fmla="*/ 2257 h 1645002"/>
              <a:gd name="connisteX21" fmla="*/ 1000760 w 2518410"/>
              <a:gd name="connsiteY21" fmla="*/ 27657 h 1645002"/>
              <a:gd name="connisteX22" fmla="*/ 1067435 w 2518410"/>
              <a:gd name="connsiteY22" fmla="*/ 77187 h 1645002"/>
              <a:gd name="connisteX23" fmla="*/ 1125855 w 2518410"/>
              <a:gd name="connsiteY23" fmla="*/ 152752 h 1645002"/>
              <a:gd name="connisteX24" fmla="*/ 1176020 w 2518410"/>
              <a:gd name="connsiteY24" fmla="*/ 235937 h 1645002"/>
              <a:gd name="connisteX25" fmla="*/ 1217930 w 2518410"/>
              <a:gd name="connsiteY25" fmla="*/ 302612 h 1645002"/>
              <a:gd name="connisteX26" fmla="*/ 1242695 w 2518410"/>
              <a:gd name="connsiteY26" fmla="*/ 369287 h 1645002"/>
              <a:gd name="connisteX27" fmla="*/ 1276350 w 2518410"/>
              <a:gd name="connsiteY27" fmla="*/ 435962 h 1645002"/>
              <a:gd name="connisteX28" fmla="*/ 1309370 w 2518410"/>
              <a:gd name="connsiteY28" fmla="*/ 502637 h 1645002"/>
              <a:gd name="connisteX29" fmla="*/ 1351280 w 2518410"/>
              <a:gd name="connsiteY29" fmla="*/ 594712 h 1645002"/>
              <a:gd name="connisteX30" fmla="*/ 1384300 w 2518410"/>
              <a:gd name="connsiteY30" fmla="*/ 686152 h 1645002"/>
              <a:gd name="connisteX31" fmla="*/ 1417955 w 2518410"/>
              <a:gd name="connsiteY31" fmla="*/ 769972 h 1645002"/>
              <a:gd name="connisteX32" fmla="*/ 1450975 w 2518410"/>
              <a:gd name="connsiteY32" fmla="*/ 844902 h 1645002"/>
              <a:gd name="connisteX33" fmla="*/ 1476375 w 2518410"/>
              <a:gd name="connsiteY33" fmla="*/ 911577 h 1645002"/>
              <a:gd name="connisteX34" fmla="*/ 1501140 w 2518410"/>
              <a:gd name="connsiteY34" fmla="*/ 1003017 h 1645002"/>
              <a:gd name="connisteX35" fmla="*/ 1526540 w 2518410"/>
              <a:gd name="connsiteY35" fmla="*/ 1077947 h 1645002"/>
              <a:gd name="connisteX36" fmla="*/ 1551305 w 2518410"/>
              <a:gd name="connsiteY36" fmla="*/ 1153512 h 1645002"/>
              <a:gd name="connisteX37" fmla="*/ 1601470 w 2518410"/>
              <a:gd name="connsiteY37" fmla="*/ 1220187 h 1645002"/>
              <a:gd name="connisteX38" fmla="*/ 1676400 w 2518410"/>
              <a:gd name="connsiteY38" fmla="*/ 1269717 h 1645002"/>
              <a:gd name="connisteX39" fmla="*/ 1743075 w 2518410"/>
              <a:gd name="connsiteY39" fmla="*/ 1319882 h 1645002"/>
              <a:gd name="connisteX40" fmla="*/ 1809750 w 2518410"/>
              <a:gd name="connsiteY40" fmla="*/ 1353537 h 1645002"/>
              <a:gd name="connisteX41" fmla="*/ 1876425 w 2518410"/>
              <a:gd name="connsiteY41" fmla="*/ 1386557 h 1645002"/>
              <a:gd name="connisteX42" fmla="*/ 1951355 w 2518410"/>
              <a:gd name="connsiteY42" fmla="*/ 1411957 h 1645002"/>
              <a:gd name="connisteX43" fmla="*/ 2035175 w 2518410"/>
              <a:gd name="connsiteY43" fmla="*/ 1436722 h 1645002"/>
              <a:gd name="connisteX44" fmla="*/ 2110105 w 2518410"/>
              <a:gd name="connsiteY44" fmla="*/ 1453232 h 1645002"/>
              <a:gd name="connisteX45" fmla="*/ 2185035 w 2518410"/>
              <a:gd name="connsiteY45" fmla="*/ 1453232 h 1645002"/>
              <a:gd name="connisteX46" fmla="*/ 2251710 w 2518410"/>
              <a:gd name="connsiteY46" fmla="*/ 1444977 h 1645002"/>
              <a:gd name="connisteX47" fmla="*/ 2301875 w 2518410"/>
              <a:gd name="connsiteY47" fmla="*/ 1378302 h 1645002"/>
              <a:gd name="connisteX48" fmla="*/ 2343785 w 2518410"/>
              <a:gd name="connsiteY48" fmla="*/ 1311627 h 1645002"/>
              <a:gd name="connisteX49" fmla="*/ 2368550 w 2518410"/>
              <a:gd name="connsiteY49" fmla="*/ 1236697 h 1645002"/>
              <a:gd name="connisteX50" fmla="*/ 2402205 w 2518410"/>
              <a:gd name="connsiteY50" fmla="*/ 1161767 h 1645002"/>
              <a:gd name="connisteX51" fmla="*/ 2426970 w 2518410"/>
              <a:gd name="connsiteY51" fmla="*/ 1086837 h 1645002"/>
              <a:gd name="connisteX52" fmla="*/ 2468880 w 2518410"/>
              <a:gd name="connsiteY52" fmla="*/ 1019527 h 1645002"/>
              <a:gd name="connisteX53" fmla="*/ 2518410 w 2518410"/>
              <a:gd name="connsiteY53" fmla="*/ 944597 h 164500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Lst>
            <a:rect l="l" t="t" r="r" b="b"/>
            <a:pathLst>
              <a:path w="2518410" h="1645003">
                <a:moveTo>
                  <a:pt x="0" y="1645003"/>
                </a:moveTo>
                <a:cubicBezTo>
                  <a:pt x="2540" y="1624048"/>
                  <a:pt x="-3175" y="1583408"/>
                  <a:pt x="25400" y="1519908"/>
                </a:cubicBezTo>
                <a:cubicBezTo>
                  <a:pt x="53975" y="1456408"/>
                  <a:pt x="102235" y="1396718"/>
                  <a:pt x="142240" y="1328138"/>
                </a:cubicBezTo>
                <a:cubicBezTo>
                  <a:pt x="182245" y="1259558"/>
                  <a:pt x="198755" y="1228443"/>
                  <a:pt x="225425" y="1178278"/>
                </a:cubicBezTo>
                <a:cubicBezTo>
                  <a:pt x="252095" y="1128113"/>
                  <a:pt x="255905" y="1117953"/>
                  <a:pt x="275590" y="1077948"/>
                </a:cubicBezTo>
                <a:cubicBezTo>
                  <a:pt x="295275" y="1037943"/>
                  <a:pt x="308610" y="1018258"/>
                  <a:pt x="325120" y="978253"/>
                </a:cubicBezTo>
                <a:cubicBezTo>
                  <a:pt x="341630" y="938248"/>
                  <a:pt x="347345" y="911578"/>
                  <a:pt x="358775" y="877923"/>
                </a:cubicBezTo>
                <a:cubicBezTo>
                  <a:pt x="370205" y="844268"/>
                  <a:pt x="375285" y="841093"/>
                  <a:pt x="383540" y="811248"/>
                </a:cubicBezTo>
                <a:cubicBezTo>
                  <a:pt x="391795" y="781403"/>
                  <a:pt x="389255" y="768068"/>
                  <a:pt x="400685" y="728063"/>
                </a:cubicBezTo>
                <a:cubicBezTo>
                  <a:pt x="412115" y="688058"/>
                  <a:pt x="430530" y="648053"/>
                  <a:pt x="441960" y="611223"/>
                </a:cubicBezTo>
                <a:cubicBezTo>
                  <a:pt x="453390" y="574393"/>
                  <a:pt x="448945" y="582648"/>
                  <a:pt x="459105" y="544548"/>
                </a:cubicBezTo>
                <a:cubicBezTo>
                  <a:pt x="469265" y="506448"/>
                  <a:pt x="478790" y="466443"/>
                  <a:pt x="492125" y="419453"/>
                </a:cubicBezTo>
                <a:cubicBezTo>
                  <a:pt x="505460" y="372463"/>
                  <a:pt x="514350" y="348968"/>
                  <a:pt x="525780" y="310868"/>
                </a:cubicBezTo>
                <a:cubicBezTo>
                  <a:pt x="537210" y="272768"/>
                  <a:pt x="542290" y="257528"/>
                  <a:pt x="550545" y="227683"/>
                </a:cubicBezTo>
                <a:cubicBezTo>
                  <a:pt x="558800" y="197838"/>
                  <a:pt x="560070" y="187678"/>
                  <a:pt x="567055" y="161008"/>
                </a:cubicBezTo>
                <a:cubicBezTo>
                  <a:pt x="574040" y="134338"/>
                  <a:pt x="572770" y="121003"/>
                  <a:pt x="584200" y="94333"/>
                </a:cubicBezTo>
                <a:cubicBezTo>
                  <a:pt x="595630" y="67663"/>
                  <a:pt x="603885" y="44168"/>
                  <a:pt x="625475" y="27658"/>
                </a:cubicBezTo>
                <a:cubicBezTo>
                  <a:pt x="647065" y="11148"/>
                  <a:pt x="660400" y="15593"/>
                  <a:pt x="692150" y="10513"/>
                </a:cubicBezTo>
                <a:cubicBezTo>
                  <a:pt x="723900" y="5433"/>
                  <a:pt x="750570" y="4163"/>
                  <a:pt x="784225" y="2258"/>
                </a:cubicBezTo>
                <a:cubicBezTo>
                  <a:pt x="817880" y="353"/>
                  <a:pt x="830580" y="2258"/>
                  <a:pt x="859155" y="2258"/>
                </a:cubicBezTo>
                <a:cubicBezTo>
                  <a:pt x="887730" y="2258"/>
                  <a:pt x="897255" y="-2822"/>
                  <a:pt x="925830" y="2258"/>
                </a:cubicBezTo>
                <a:cubicBezTo>
                  <a:pt x="954405" y="7338"/>
                  <a:pt x="972185" y="12418"/>
                  <a:pt x="1000760" y="27658"/>
                </a:cubicBezTo>
                <a:cubicBezTo>
                  <a:pt x="1029335" y="42898"/>
                  <a:pt x="1042670" y="52423"/>
                  <a:pt x="1067435" y="77188"/>
                </a:cubicBezTo>
                <a:cubicBezTo>
                  <a:pt x="1092200" y="101953"/>
                  <a:pt x="1104265" y="121003"/>
                  <a:pt x="1125855" y="152753"/>
                </a:cubicBezTo>
                <a:cubicBezTo>
                  <a:pt x="1147445" y="184503"/>
                  <a:pt x="1157605" y="206093"/>
                  <a:pt x="1176020" y="235938"/>
                </a:cubicBezTo>
                <a:cubicBezTo>
                  <a:pt x="1194435" y="265783"/>
                  <a:pt x="1204595" y="275943"/>
                  <a:pt x="1217930" y="302613"/>
                </a:cubicBezTo>
                <a:cubicBezTo>
                  <a:pt x="1231265" y="329283"/>
                  <a:pt x="1231265" y="342618"/>
                  <a:pt x="1242695" y="369288"/>
                </a:cubicBezTo>
                <a:cubicBezTo>
                  <a:pt x="1254125" y="395958"/>
                  <a:pt x="1263015" y="409293"/>
                  <a:pt x="1276350" y="435963"/>
                </a:cubicBezTo>
                <a:cubicBezTo>
                  <a:pt x="1289685" y="462633"/>
                  <a:pt x="1294130" y="470888"/>
                  <a:pt x="1309370" y="502638"/>
                </a:cubicBezTo>
                <a:cubicBezTo>
                  <a:pt x="1324610" y="534388"/>
                  <a:pt x="1336040" y="557883"/>
                  <a:pt x="1351280" y="594713"/>
                </a:cubicBezTo>
                <a:cubicBezTo>
                  <a:pt x="1366520" y="631543"/>
                  <a:pt x="1370965" y="651228"/>
                  <a:pt x="1384300" y="686153"/>
                </a:cubicBezTo>
                <a:cubicBezTo>
                  <a:pt x="1397635" y="721078"/>
                  <a:pt x="1404620" y="738223"/>
                  <a:pt x="1417955" y="769973"/>
                </a:cubicBezTo>
                <a:cubicBezTo>
                  <a:pt x="1431290" y="801723"/>
                  <a:pt x="1439545" y="816328"/>
                  <a:pt x="1450975" y="844903"/>
                </a:cubicBezTo>
                <a:cubicBezTo>
                  <a:pt x="1462405" y="873478"/>
                  <a:pt x="1466215" y="879828"/>
                  <a:pt x="1476375" y="911578"/>
                </a:cubicBezTo>
                <a:cubicBezTo>
                  <a:pt x="1486535" y="943328"/>
                  <a:pt x="1490980" y="969998"/>
                  <a:pt x="1501140" y="1003018"/>
                </a:cubicBezTo>
                <a:cubicBezTo>
                  <a:pt x="1511300" y="1036038"/>
                  <a:pt x="1516380" y="1048103"/>
                  <a:pt x="1526540" y="1077948"/>
                </a:cubicBezTo>
                <a:cubicBezTo>
                  <a:pt x="1536700" y="1107793"/>
                  <a:pt x="1536065" y="1124938"/>
                  <a:pt x="1551305" y="1153513"/>
                </a:cubicBezTo>
                <a:cubicBezTo>
                  <a:pt x="1566545" y="1182088"/>
                  <a:pt x="1576705" y="1196693"/>
                  <a:pt x="1601470" y="1220188"/>
                </a:cubicBezTo>
                <a:cubicBezTo>
                  <a:pt x="1626235" y="1243683"/>
                  <a:pt x="1647825" y="1250033"/>
                  <a:pt x="1676400" y="1269718"/>
                </a:cubicBezTo>
                <a:cubicBezTo>
                  <a:pt x="1704975" y="1289403"/>
                  <a:pt x="1716405" y="1303373"/>
                  <a:pt x="1743075" y="1319883"/>
                </a:cubicBezTo>
                <a:cubicBezTo>
                  <a:pt x="1769745" y="1336393"/>
                  <a:pt x="1783080" y="1340203"/>
                  <a:pt x="1809750" y="1353538"/>
                </a:cubicBezTo>
                <a:cubicBezTo>
                  <a:pt x="1836420" y="1366873"/>
                  <a:pt x="1847850" y="1375128"/>
                  <a:pt x="1876425" y="1386558"/>
                </a:cubicBezTo>
                <a:cubicBezTo>
                  <a:pt x="1905000" y="1397988"/>
                  <a:pt x="1919605" y="1401798"/>
                  <a:pt x="1951355" y="1411958"/>
                </a:cubicBezTo>
                <a:cubicBezTo>
                  <a:pt x="1983105" y="1422118"/>
                  <a:pt x="2003425" y="1428468"/>
                  <a:pt x="2035175" y="1436723"/>
                </a:cubicBezTo>
                <a:cubicBezTo>
                  <a:pt x="2066925" y="1444978"/>
                  <a:pt x="2080260" y="1450058"/>
                  <a:pt x="2110105" y="1453233"/>
                </a:cubicBezTo>
                <a:cubicBezTo>
                  <a:pt x="2139950" y="1456408"/>
                  <a:pt x="2156460" y="1455138"/>
                  <a:pt x="2185035" y="1453233"/>
                </a:cubicBezTo>
                <a:cubicBezTo>
                  <a:pt x="2213610" y="1451328"/>
                  <a:pt x="2228215" y="1460218"/>
                  <a:pt x="2251710" y="1444978"/>
                </a:cubicBezTo>
                <a:cubicBezTo>
                  <a:pt x="2275205" y="1429738"/>
                  <a:pt x="2283460" y="1404973"/>
                  <a:pt x="2301875" y="1378303"/>
                </a:cubicBezTo>
                <a:cubicBezTo>
                  <a:pt x="2320290" y="1351633"/>
                  <a:pt x="2330450" y="1340203"/>
                  <a:pt x="2343785" y="1311628"/>
                </a:cubicBezTo>
                <a:cubicBezTo>
                  <a:pt x="2357120" y="1283053"/>
                  <a:pt x="2357120" y="1266543"/>
                  <a:pt x="2368550" y="1236698"/>
                </a:cubicBezTo>
                <a:cubicBezTo>
                  <a:pt x="2379980" y="1206853"/>
                  <a:pt x="2390775" y="1191613"/>
                  <a:pt x="2402205" y="1161768"/>
                </a:cubicBezTo>
                <a:cubicBezTo>
                  <a:pt x="2413635" y="1131923"/>
                  <a:pt x="2413635" y="1115413"/>
                  <a:pt x="2426970" y="1086838"/>
                </a:cubicBezTo>
                <a:cubicBezTo>
                  <a:pt x="2440305" y="1058263"/>
                  <a:pt x="2450465" y="1048103"/>
                  <a:pt x="2468880" y="1019528"/>
                </a:cubicBezTo>
                <a:cubicBezTo>
                  <a:pt x="2487295" y="990953"/>
                  <a:pt x="2509520" y="957933"/>
                  <a:pt x="2518410" y="944598"/>
                </a:cubicBezTo>
              </a:path>
            </a:pathLst>
          </a:custGeom>
          <a:noFill/>
          <a:ln w="38100">
            <a:solidFill>
              <a:schemeClr val="tx1"/>
            </a:solidFill>
          </a:ln>
        </p:spPr>
        <p:txBody>
          <a:bodyPr vert="horz" lIns="90000" tIns="46800" rIns="90000" bIns="46800" rtlCol="0" anchor="ctr" anchorCtr="0">
            <a:noAutofit/>
          </a:bodyPr>
          <a:p>
            <a:endParaRPr lang="zh-CN" altLang="en-US" sz="2445">
              <a:solidFill>
                <a:schemeClr val="tx1"/>
              </a:solidFill>
            </a:endParaRPr>
          </a:p>
        </p:txBody>
      </p:sp>
      <p:sp>
        <p:nvSpPr>
          <p:cNvPr id="45" name="Text Box 44"/>
          <p:cNvSpPr txBox="1"/>
          <p:nvPr/>
        </p:nvSpPr>
        <p:spPr>
          <a:xfrm>
            <a:off x="1757045" y="5046345"/>
            <a:ext cx="296926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48" name="Text Box 47"/>
          <p:cNvSpPr txBox="1"/>
          <p:nvPr/>
        </p:nvSpPr>
        <p:spPr>
          <a:xfrm>
            <a:off x="1784985" y="391033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8" name="Oval 7"/>
          <p:cNvSpPr/>
          <p:nvPr/>
        </p:nvSpPr>
        <p:spPr>
          <a:xfrm>
            <a:off x="2417445" y="293941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9" name="Oval 8"/>
          <p:cNvSpPr/>
          <p:nvPr/>
        </p:nvSpPr>
        <p:spPr>
          <a:xfrm>
            <a:off x="3193415" y="368427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1" name="Oval 50"/>
          <p:cNvSpPr/>
          <p:nvPr/>
        </p:nvSpPr>
        <p:spPr>
          <a:xfrm>
            <a:off x="3691255" y="430212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2" name="Oval 51"/>
          <p:cNvSpPr/>
          <p:nvPr/>
        </p:nvSpPr>
        <p:spPr>
          <a:xfrm>
            <a:off x="4174490" y="408432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4" name="Text Box 53"/>
          <p:cNvSpPr txBox="1"/>
          <p:nvPr/>
        </p:nvSpPr>
        <p:spPr>
          <a:xfrm>
            <a:off x="2976245" y="299402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55" name="Text Box 54"/>
          <p:cNvSpPr txBox="1"/>
          <p:nvPr/>
        </p:nvSpPr>
        <p:spPr>
          <a:xfrm>
            <a:off x="3348990" y="39490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56" name="Text Box 55"/>
          <p:cNvSpPr txBox="1"/>
          <p:nvPr/>
        </p:nvSpPr>
        <p:spPr>
          <a:xfrm>
            <a:off x="3601720" y="40303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58" name="Straight Connector 57"/>
          <p:cNvCxnSpPr>
            <a:endCxn id="84" idx="3"/>
          </p:cNvCxnSpPr>
          <p:nvPr/>
        </p:nvCxnSpPr>
        <p:spPr>
          <a:xfrm flipV="1">
            <a:off x="1974850" y="3757295"/>
            <a:ext cx="199390" cy="52070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79" name="Straight Connector 78"/>
          <p:cNvCxnSpPr>
            <a:stCxn id="36" idx="8"/>
          </p:cNvCxnSpPr>
          <p:nvPr/>
        </p:nvCxnSpPr>
        <p:spPr>
          <a:xfrm>
            <a:off x="2216150" y="3684270"/>
            <a:ext cx="8255" cy="13271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0" name="Straight Connector 79"/>
          <p:cNvCxnSpPr/>
          <p:nvPr/>
        </p:nvCxnSpPr>
        <p:spPr>
          <a:xfrm>
            <a:off x="2473960" y="2983230"/>
            <a:ext cx="0" cy="202819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1" name="Straight Connector 80"/>
          <p:cNvCxnSpPr/>
          <p:nvPr/>
        </p:nvCxnSpPr>
        <p:spPr>
          <a:xfrm>
            <a:off x="2723515" y="2978785"/>
            <a:ext cx="0" cy="203263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2" name="Straight Connector 81"/>
          <p:cNvCxnSpPr>
            <a:stCxn id="54" idx="1"/>
          </p:cNvCxnSpPr>
          <p:nvPr/>
        </p:nvCxnSpPr>
        <p:spPr>
          <a:xfrm flipH="1">
            <a:off x="2973070" y="3138170"/>
            <a:ext cx="3175" cy="18732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3" name="Straight Connector 82"/>
          <p:cNvCxnSpPr/>
          <p:nvPr/>
        </p:nvCxnSpPr>
        <p:spPr>
          <a:xfrm>
            <a:off x="3472180" y="4244340"/>
            <a:ext cx="0" cy="76708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84" name="Oval 83"/>
          <p:cNvSpPr/>
          <p:nvPr/>
        </p:nvSpPr>
        <p:spPr>
          <a:xfrm>
            <a:off x="2160270" y="367474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5" name="Oval 84"/>
          <p:cNvSpPr/>
          <p:nvPr/>
        </p:nvSpPr>
        <p:spPr>
          <a:xfrm>
            <a:off x="2675255" y="290893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6" name="Oval 85"/>
          <p:cNvSpPr/>
          <p:nvPr/>
        </p:nvSpPr>
        <p:spPr>
          <a:xfrm>
            <a:off x="2941320" y="308991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7" name="Oval 86"/>
          <p:cNvSpPr/>
          <p:nvPr/>
        </p:nvSpPr>
        <p:spPr>
          <a:xfrm>
            <a:off x="3421380" y="41808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8" name="Oval 87"/>
          <p:cNvSpPr/>
          <p:nvPr/>
        </p:nvSpPr>
        <p:spPr>
          <a:xfrm>
            <a:off x="3936365" y="436372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9" name="Text Box 88"/>
          <p:cNvSpPr txBox="1"/>
          <p:nvPr/>
        </p:nvSpPr>
        <p:spPr>
          <a:xfrm>
            <a:off x="1942465" y="359981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0" name="Text Box 89"/>
          <p:cNvSpPr txBox="1"/>
          <p:nvPr/>
        </p:nvSpPr>
        <p:spPr>
          <a:xfrm>
            <a:off x="2319655" y="26536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1" name="Text Box 90"/>
          <p:cNvSpPr txBox="1"/>
          <p:nvPr/>
        </p:nvSpPr>
        <p:spPr>
          <a:xfrm>
            <a:off x="2586355" y="265112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2" name="Text Box 91"/>
          <p:cNvSpPr txBox="1"/>
          <p:nvPr/>
        </p:nvSpPr>
        <p:spPr>
          <a:xfrm>
            <a:off x="3171190" y="342138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3" name="Text Box 92"/>
          <p:cNvSpPr txBox="1"/>
          <p:nvPr/>
        </p:nvSpPr>
        <p:spPr>
          <a:xfrm>
            <a:off x="3848100" y="41192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5" name="Text Box 94"/>
          <p:cNvSpPr txBox="1"/>
          <p:nvPr/>
        </p:nvSpPr>
        <p:spPr>
          <a:xfrm>
            <a:off x="3970020" y="3800475"/>
            <a:ext cx="43180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98" name="Straight Connector 97"/>
          <p:cNvCxnSpPr>
            <a:endCxn id="8" idx="2"/>
          </p:cNvCxnSpPr>
          <p:nvPr/>
        </p:nvCxnSpPr>
        <p:spPr>
          <a:xfrm flipV="1">
            <a:off x="2224405" y="2987675"/>
            <a:ext cx="193040" cy="6965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9" name="Straight Connector 98"/>
          <p:cNvCxnSpPr>
            <a:endCxn id="91" idx="2"/>
          </p:cNvCxnSpPr>
          <p:nvPr/>
        </p:nvCxnSpPr>
        <p:spPr>
          <a:xfrm flipV="1">
            <a:off x="2466975" y="2938780"/>
            <a:ext cx="238760" cy="349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0" name="Straight Connector 99"/>
          <p:cNvCxnSpPr>
            <a:stCxn id="85" idx="5"/>
            <a:endCxn id="86" idx="2"/>
          </p:cNvCxnSpPr>
          <p:nvPr/>
        </p:nvCxnSpPr>
        <p:spPr>
          <a:xfrm>
            <a:off x="2757805" y="2991485"/>
            <a:ext cx="183515" cy="14668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1" name="Straight Connector 100"/>
          <p:cNvCxnSpPr>
            <a:stCxn id="86" idx="4"/>
            <a:endCxn id="36" idx="31"/>
          </p:cNvCxnSpPr>
          <p:nvPr/>
        </p:nvCxnSpPr>
        <p:spPr>
          <a:xfrm>
            <a:off x="2989580" y="3186430"/>
            <a:ext cx="243840" cy="5397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2" name="Straight Connector 101"/>
          <p:cNvCxnSpPr>
            <a:stCxn id="9" idx="5"/>
            <a:endCxn id="87" idx="1"/>
          </p:cNvCxnSpPr>
          <p:nvPr/>
        </p:nvCxnSpPr>
        <p:spPr>
          <a:xfrm>
            <a:off x="3275965" y="3766820"/>
            <a:ext cx="159385" cy="4279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3" name="Straight Connector 102"/>
          <p:cNvCxnSpPr>
            <a:stCxn id="87" idx="5"/>
            <a:endCxn id="51" idx="2"/>
          </p:cNvCxnSpPr>
          <p:nvPr/>
        </p:nvCxnSpPr>
        <p:spPr>
          <a:xfrm>
            <a:off x="3503930" y="4263390"/>
            <a:ext cx="187325" cy="869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4" name="Straight Connector 103"/>
          <p:cNvCxnSpPr>
            <a:stCxn id="51" idx="5"/>
            <a:endCxn id="93" idx="2"/>
          </p:cNvCxnSpPr>
          <p:nvPr/>
        </p:nvCxnSpPr>
        <p:spPr>
          <a:xfrm>
            <a:off x="3773805" y="4384675"/>
            <a:ext cx="193675" cy="222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5" name="Straight Connector 104"/>
          <p:cNvCxnSpPr>
            <a:stCxn id="88" idx="5"/>
            <a:endCxn id="52" idx="2"/>
          </p:cNvCxnSpPr>
          <p:nvPr/>
        </p:nvCxnSpPr>
        <p:spPr>
          <a:xfrm flipV="1">
            <a:off x="4018915" y="4132580"/>
            <a:ext cx="155575" cy="3136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5" name="Straight Connector 4"/>
          <p:cNvCxnSpPr/>
          <p:nvPr/>
        </p:nvCxnSpPr>
        <p:spPr>
          <a:xfrm>
            <a:off x="1616710" y="431419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21" name="Straight Connector 20"/>
          <p:cNvCxnSpPr/>
          <p:nvPr/>
        </p:nvCxnSpPr>
        <p:spPr>
          <a:xfrm>
            <a:off x="1616710" y="298831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23" name="Straight Connector 22"/>
          <p:cNvCxnSpPr/>
          <p:nvPr/>
        </p:nvCxnSpPr>
        <p:spPr>
          <a:xfrm>
            <a:off x="1616710" y="365125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26" name="Text Box 25"/>
          <p:cNvSpPr txBox="1"/>
          <p:nvPr/>
        </p:nvSpPr>
        <p:spPr>
          <a:xfrm>
            <a:off x="1226820" y="275653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3</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28" name="Text Box 27"/>
          <p:cNvSpPr txBox="1"/>
          <p:nvPr/>
        </p:nvSpPr>
        <p:spPr>
          <a:xfrm>
            <a:off x="1226820" y="339280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2</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29" name="Text Box 28"/>
          <p:cNvSpPr txBox="1"/>
          <p:nvPr/>
        </p:nvSpPr>
        <p:spPr>
          <a:xfrm>
            <a:off x="1226820" y="406209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31" name="Text Box 30"/>
          <p:cNvSpPr txBox="1"/>
          <p:nvPr/>
        </p:nvSpPr>
        <p:spPr>
          <a:xfrm>
            <a:off x="1226820" y="471487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3" name="Text Box 2"/>
          <p:cNvSpPr txBox="1"/>
          <p:nvPr/>
        </p:nvSpPr>
        <p:spPr>
          <a:xfrm>
            <a:off x="1835785" y="5603240"/>
            <a:ext cx="1937385"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量化等级为</a:t>
            </a:r>
            <a:r>
              <a:rPr lang="en-US" altLang="zh-CN" sz="2200">
                <a:latin typeface="Alibaba PuHuiTi 3.0 55 Regular" panose="00020600040101010101" charset="-122"/>
                <a:ea typeface="Alibaba PuHuiTi 3.0 55 Regular" panose="00020600040101010101" charset="-122"/>
              </a:rPr>
              <a:t>4</a:t>
            </a:r>
            <a:endParaRPr lang="en-US" altLang="zh-CN" sz="2200">
              <a:latin typeface="Alibaba PuHuiTi 3.0 55 Regular" panose="00020600040101010101" charset="-122"/>
              <a:ea typeface="Alibaba PuHuiTi 3.0 55 Regular" panose="00020600040101010101" charset="-122"/>
            </a:endParaRPr>
          </a:p>
        </p:txBody>
      </p:sp>
      <p:sp>
        <p:nvSpPr>
          <p:cNvPr id="4" name="Text Box 3"/>
          <p:cNvSpPr txBox="1"/>
          <p:nvPr/>
        </p:nvSpPr>
        <p:spPr>
          <a:xfrm>
            <a:off x="448945" y="2225040"/>
            <a:ext cx="1130300" cy="429895"/>
          </a:xfrm>
          <a:prstGeom prst="rect">
            <a:avLst/>
          </a:prstGeom>
          <a:noFill/>
        </p:spPr>
        <p:txBody>
          <a:bodyPr wrap="square" rtlCol="0">
            <a:noAutofit/>
          </a:bodyPr>
          <a:p>
            <a:pPr algn="r"/>
            <a:r>
              <a:rPr lang="zh-CN" altLang="en-US" sz="2200">
                <a:latin typeface="Alibaba PuHuiTi 3.0 55 Regular" panose="00020600040101010101" charset="-122"/>
                <a:ea typeface="Alibaba PuHuiTi 3.0 55 Regular" panose="00020600040101010101" charset="-122"/>
              </a:rPr>
              <a:t>量化值</a:t>
            </a:r>
            <a:endParaRPr lang="zh-CN" altLang="en-US" sz="2200">
              <a:latin typeface="Alibaba PuHuiTi 3.0 55 Regular" panose="00020600040101010101" charset="-122"/>
              <a:ea typeface="Alibaba PuHuiTi 3.0 55 Regular" panose="00020600040101010101" charset="-122"/>
            </a:endParaRPr>
          </a:p>
        </p:txBody>
      </p:sp>
      <p:sp>
        <p:nvSpPr>
          <p:cNvPr id="11" name="Oval 10"/>
          <p:cNvSpPr/>
          <p:nvPr/>
        </p:nvSpPr>
        <p:spPr>
          <a:xfrm>
            <a:off x="6818630" y="419290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34" name="Straight Connector 33"/>
          <p:cNvCxnSpPr/>
          <p:nvPr/>
        </p:nvCxnSpPr>
        <p:spPr>
          <a:xfrm>
            <a:off x="6866890" y="4266565"/>
            <a:ext cx="0" cy="73977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5" name="Straight Connector 34"/>
          <p:cNvCxnSpPr>
            <a:stCxn id="44" idx="31"/>
          </p:cNvCxnSpPr>
          <p:nvPr/>
        </p:nvCxnSpPr>
        <p:spPr>
          <a:xfrm flipH="1">
            <a:off x="8114665" y="3721100"/>
            <a:ext cx="10795" cy="123444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7" name="Straight Connector 36"/>
          <p:cNvCxnSpPr/>
          <p:nvPr/>
        </p:nvCxnSpPr>
        <p:spPr>
          <a:xfrm>
            <a:off x="8613775" y="4393565"/>
            <a:ext cx="0" cy="57023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8" name="Straight Connector 37"/>
          <p:cNvCxnSpPr/>
          <p:nvPr/>
        </p:nvCxnSpPr>
        <p:spPr>
          <a:xfrm>
            <a:off x="8863330" y="4443730"/>
            <a:ext cx="0" cy="56324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9" name="Straight Connector 38"/>
          <p:cNvCxnSpPr/>
          <p:nvPr/>
        </p:nvCxnSpPr>
        <p:spPr>
          <a:xfrm>
            <a:off x="9112885" y="4175760"/>
            <a:ext cx="0" cy="83121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40" name="Straight Connector 39"/>
          <p:cNvCxnSpPr/>
          <p:nvPr/>
        </p:nvCxnSpPr>
        <p:spPr>
          <a:xfrm>
            <a:off x="6492240" y="2219960"/>
            <a:ext cx="0" cy="274320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41" name="Straight Connector 40"/>
          <p:cNvCxnSpPr/>
          <p:nvPr/>
        </p:nvCxnSpPr>
        <p:spPr>
          <a:xfrm flipH="1">
            <a:off x="6490970" y="4970145"/>
            <a:ext cx="312737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42" name="Text Box 41"/>
          <p:cNvSpPr txBox="1"/>
          <p:nvPr/>
        </p:nvSpPr>
        <p:spPr>
          <a:xfrm>
            <a:off x="5340985" y="2219960"/>
            <a:ext cx="1130300" cy="429895"/>
          </a:xfrm>
          <a:prstGeom prst="rect">
            <a:avLst/>
          </a:prstGeom>
          <a:noFill/>
        </p:spPr>
        <p:txBody>
          <a:bodyPr wrap="square" rtlCol="0">
            <a:noAutofit/>
          </a:bodyPr>
          <a:p>
            <a:pPr algn="r"/>
            <a:r>
              <a:rPr lang="zh-CN" altLang="en-US" sz="2200">
                <a:latin typeface="Alibaba PuHuiTi 3.0 55 Regular" panose="00020600040101010101" charset="-122"/>
                <a:ea typeface="Alibaba PuHuiTi 3.0 55 Regular" panose="00020600040101010101" charset="-122"/>
              </a:rPr>
              <a:t>量化值</a:t>
            </a:r>
            <a:endParaRPr lang="zh-CN" altLang="en-US" sz="2200">
              <a:latin typeface="Alibaba PuHuiTi 3.0 55 Regular" panose="00020600040101010101" charset="-122"/>
              <a:ea typeface="Alibaba PuHuiTi 3.0 55 Regular" panose="00020600040101010101" charset="-122"/>
            </a:endParaRPr>
          </a:p>
        </p:txBody>
      </p:sp>
      <p:sp>
        <p:nvSpPr>
          <p:cNvPr id="43" name="Text Box 42"/>
          <p:cNvSpPr txBox="1"/>
          <p:nvPr/>
        </p:nvSpPr>
        <p:spPr>
          <a:xfrm>
            <a:off x="9355455" y="5041265"/>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44" name="Freeform 43"/>
          <p:cNvSpPr/>
          <p:nvPr/>
        </p:nvSpPr>
        <p:spPr>
          <a:xfrm>
            <a:off x="6707505" y="2950845"/>
            <a:ext cx="2518410" cy="1645285"/>
          </a:xfrm>
          <a:custGeom>
            <a:avLst/>
            <a:gdLst>
              <a:gd name="connisteX0" fmla="*/ 0 w 2518410"/>
              <a:gd name="connsiteY0" fmla="*/ 1645002 h 1645002"/>
              <a:gd name="connisteX1" fmla="*/ 25400 w 2518410"/>
              <a:gd name="connsiteY1" fmla="*/ 1519907 h 1645002"/>
              <a:gd name="connisteX2" fmla="*/ 142240 w 2518410"/>
              <a:gd name="connsiteY2" fmla="*/ 1328137 h 1645002"/>
              <a:gd name="connisteX3" fmla="*/ 225425 w 2518410"/>
              <a:gd name="connsiteY3" fmla="*/ 1178277 h 1645002"/>
              <a:gd name="connisteX4" fmla="*/ 275590 w 2518410"/>
              <a:gd name="connsiteY4" fmla="*/ 1077947 h 1645002"/>
              <a:gd name="connisteX5" fmla="*/ 325120 w 2518410"/>
              <a:gd name="connsiteY5" fmla="*/ 978252 h 1645002"/>
              <a:gd name="connisteX6" fmla="*/ 358775 w 2518410"/>
              <a:gd name="connsiteY6" fmla="*/ 877922 h 1645002"/>
              <a:gd name="connisteX7" fmla="*/ 383540 w 2518410"/>
              <a:gd name="connsiteY7" fmla="*/ 811247 h 1645002"/>
              <a:gd name="connisteX8" fmla="*/ 400685 w 2518410"/>
              <a:gd name="connsiteY8" fmla="*/ 728062 h 1645002"/>
              <a:gd name="connisteX9" fmla="*/ 441960 w 2518410"/>
              <a:gd name="connsiteY9" fmla="*/ 611222 h 1645002"/>
              <a:gd name="connisteX10" fmla="*/ 459105 w 2518410"/>
              <a:gd name="connsiteY10" fmla="*/ 544547 h 1645002"/>
              <a:gd name="connisteX11" fmla="*/ 492125 w 2518410"/>
              <a:gd name="connsiteY11" fmla="*/ 419452 h 1645002"/>
              <a:gd name="connisteX12" fmla="*/ 525780 w 2518410"/>
              <a:gd name="connsiteY12" fmla="*/ 310867 h 1645002"/>
              <a:gd name="connisteX13" fmla="*/ 550545 w 2518410"/>
              <a:gd name="connsiteY13" fmla="*/ 227682 h 1645002"/>
              <a:gd name="connisteX14" fmla="*/ 567055 w 2518410"/>
              <a:gd name="connsiteY14" fmla="*/ 161007 h 1645002"/>
              <a:gd name="connisteX15" fmla="*/ 584200 w 2518410"/>
              <a:gd name="connsiteY15" fmla="*/ 94332 h 1645002"/>
              <a:gd name="connisteX16" fmla="*/ 625475 w 2518410"/>
              <a:gd name="connsiteY16" fmla="*/ 27657 h 1645002"/>
              <a:gd name="connisteX17" fmla="*/ 692150 w 2518410"/>
              <a:gd name="connsiteY17" fmla="*/ 10512 h 1645002"/>
              <a:gd name="connisteX18" fmla="*/ 784225 w 2518410"/>
              <a:gd name="connsiteY18" fmla="*/ 2257 h 1645002"/>
              <a:gd name="connisteX19" fmla="*/ 859155 w 2518410"/>
              <a:gd name="connsiteY19" fmla="*/ 2257 h 1645002"/>
              <a:gd name="connisteX20" fmla="*/ 925830 w 2518410"/>
              <a:gd name="connsiteY20" fmla="*/ 2257 h 1645002"/>
              <a:gd name="connisteX21" fmla="*/ 1000760 w 2518410"/>
              <a:gd name="connsiteY21" fmla="*/ 27657 h 1645002"/>
              <a:gd name="connisteX22" fmla="*/ 1067435 w 2518410"/>
              <a:gd name="connsiteY22" fmla="*/ 77187 h 1645002"/>
              <a:gd name="connisteX23" fmla="*/ 1125855 w 2518410"/>
              <a:gd name="connsiteY23" fmla="*/ 152752 h 1645002"/>
              <a:gd name="connisteX24" fmla="*/ 1176020 w 2518410"/>
              <a:gd name="connsiteY24" fmla="*/ 235937 h 1645002"/>
              <a:gd name="connisteX25" fmla="*/ 1217930 w 2518410"/>
              <a:gd name="connsiteY25" fmla="*/ 302612 h 1645002"/>
              <a:gd name="connisteX26" fmla="*/ 1242695 w 2518410"/>
              <a:gd name="connsiteY26" fmla="*/ 369287 h 1645002"/>
              <a:gd name="connisteX27" fmla="*/ 1276350 w 2518410"/>
              <a:gd name="connsiteY27" fmla="*/ 435962 h 1645002"/>
              <a:gd name="connisteX28" fmla="*/ 1309370 w 2518410"/>
              <a:gd name="connsiteY28" fmla="*/ 502637 h 1645002"/>
              <a:gd name="connisteX29" fmla="*/ 1351280 w 2518410"/>
              <a:gd name="connsiteY29" fmla="*/ 594712 h 1645002"/>
              <a:gd name="connisteX30" fmla="*/ 1384300 w 2518410"/>
              <a:gd name="connsiteY30" fmla="*/ 686152 h 1645002"/>
              <a:gd name="connisteX31" fmla="*/ 1417955 w 2518410"/>
              <a:gd name="connsiteY31" fmla="*/ 769972 h 1645002"/>
              <a:gd name="connisteX32" fmla="*/ 1450975 w 2518410"/>
              <a:gd name="connsiteY32" fmla="*/ 844902 h 1645002"/>
              <a:gd name="connisteX33" fmla="*/ 1476375 w 2518410"/>
              <a:gd name="connsiteY33" fmla="*/ 911577 h 1645002"/>
              <a:gd name="connisteX34" fmla="*/ 1501140 w 2518410"/>
              <a:gd name="connsiteY34" fmla="*/ 1003017 h 1645002"/>
              <a:gd name="connisteX35" fmla="*/ 1526540 w 2518410"/>
              <a:gd name="connsiteY35" fmla="*/ 1077947 h 1645002"/>
              <a:gd name="connisteX36" fmla="*/ 1551305 w 2518410"/>
              <a:gd name="connsiteY36" fmla="*/ 1153512 h 1645002"/>
              <a:gd name="connisteX37" fmla="*/ 1601470 w 2518410"/>
              <a:gd name="connsiteY37" fmla="*/ 1220187 h 1645002"/>
              <a:gd name="connisteX38" fmla="*/ 1676400 w 2518410"/>
              <a:gd name="connsiteY38" fmla="*/ 1269717 h 1645002"/>
              <a:gd name="connisteX39" fmla="*/ 1743075 w 2518410"/>
              <a:gd name="connsiteY39" fmla="*/ 1319882 h 1645002"/>
              <a:gd name="connisteX40" fmla="*/ 1809750 w 2518410"/>
              <a:gd name="connsiteY40" fmla="*/ 1353537 h 1645002"/>
              <a:gd name="connisteX41" fmla="*/ 1876425 w 2518410"/>
              <a:gd name="connsiteY41" fmla="*/ 1386557 h 1645002"/>
              <a:gd name="connisteX42" fmla="*/ 1951355 w 2518410"/>
              <a:gd name="connsiteY42" fmla="*/ 1411957 h 1645002"/>
              <a:gd name="connisteX43" fmla="*/ 2035175 w 2518410"/>
              <a:gd name="connsiteY43" fmla="*/ 1436722 h 1645002"/>
              <a:gd name="connisteX44" fmla="*/ 2110105 w 2518410"/>
              <a:gd name="connsiteY44" fmla="*/ 1453232 h 1645002"/>
              <a:gd name="connisteX45" fmla="*/ 2185035 w 2518410"/>
              <a:gd name="connsiteY45" fmla="*/ 1453232 h 1645002"/>
              <a:gd name="connisteX46" fmla="*/ 2251710 w 2518410"/>
              <a:gd name="connsiteY46" fmla="*/ 1444977 h 1645002"/>
              <a:gd name="connisteX47" fmla="*/ 2301875 w 2518410"/>
              <a:gd name="connsiteY47" fmla="*/ 1378302 h 1645002"/>
              <a:gd name="connisteX48" fmla="*/ 2343785 w 2518410"/>
              <a:gd name="connsiteY48" fmla="*/ 1311627 h 1645002"/>
              <a:gd name="connisteX49" fmla="*/ 2368550 w 2518410"/>
              <a:gd name="connsiteY49" fmla="*/ 1236697 h 1645002"/>
              <a:gd name="connisteX50" fmla="*/ 2402205 w 2518410"/>
              <a:gd name="connsiteY50" fmla="*/ 1161767 h 1645002"/>
              <a:gd name="connisteX51" fmla="*/ 2426970 w 2518410"/>
              <a:gd name="connsiteY51" fmla="*/ 1086837 h 1645002"/>
              <a:gd name="connisteX52" fmla="*/ 2468880 w 2518410"/>
              <a:gd name="connsiteY52" fmla="*/ 1019527 h 1645002"/>
              <a:gd name="connisteX53" fmla="*/ 2518410 w 2518410"/>
              <a:gd name="connsiteY53" fmla="*/ 944597 h 164500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Lst>
            <a:rect l="l" t="t" r="r" b="b"/>
            <a:pathLst>
              <a:path w="2518410" h="1645003">
                <a:moveTo>
                  <a:pt x="0" y="1645003"/>
                </a:moveTo>
                <a:cubicBezTo>
                  <a:pt x="2540" y="1624048"/>
                  <a:pt x="-3175" y="1583408"/>
                  <a:pt x="25400" y="1519908"/>
                </a:cubicBezTo>
                <a:cubicBezTo>
                  <a:pt x="53975" y="1456408"/>
                  <a:pt x="102235" y="1396718"/>
                  <a:pt x="142240" y="1328138"/>
                </a:cubicBezTo>
                <a:cubicBezTo>
                  <a:pt x="182245" y="1259558"/>
                  <a:pt x="198755" y="1228443"/>
                  <a:pt x="225425" y="1178278"/>
                </a:cubicBezTo>
                <a:cubicBezTo>
                  <a:pt x="252095" y="1128113"/>
                  <a:pt x="255905" y="1117953"/>
                  <a:pt x="275590" y="1077948"/>
                </a:cubicBezTo>
                <a:cubicBezTo>
                  <a:pt x="295275" y="1037943"/>
                  <a:pt x="308610" y="1018258"/>
                  <a:pt x="325120" y="978253"/>
                </a:cubicBezTo>
                <a:cubicBezTo>
                  <a:pt x="341630" y="938248"/>
                  <a:pt x="347345" y="911578"/>
                  <a:pt x="358775" y="877923"/>
                </a:cubicBezTo>
                <a:cubicBezTo>
                  <a:pt x="370205" y="844268"/>
                  <a:pt x="375285" y="841093"/>
                  <a:pt x="383540" y="811248"/>
                </a:cubicBezTo>
                <a:cubicBezTo>
                  <a:pt x="391795" y="781403"/>
                  <a:pt x="389255" y="768068"/>
                  <a:pt x="400685" y="728063"/>
                </a:cubicBezTo>
                <a:cubicBezTo>
                  <a:pt x="412115" y="688058"/>
                  <a:pt x="430530" y="648053"/>
                  <a:pt x="441960" y="611223"/>
                </a:cubicBezTo>
                <a:cubicBezTo>
                  <a:pt x="453390" y="574393"/>
                  <a:pt x="448945" y="582648"/>
                  <a:pt x="459105" y="544548"/>
                </a:cubicBezTo>
                <a:cubicBezTo>
                  <a:pt x="469265" y="506448"/>
                  <a:pt x="478790" y="466443"/>
                  <a:pt x="492125" y="419453"/>
                </a:cubicBezTo>
                <a:cubicBezTo>
                  <a:pt x="505460" y="372463"/>
                  <a:pt x="514350" y="348968"/>
                  <a:pt x="525780" y="310868"/>
                </a:cubicBezTo>
                <a:cubicBezTo>
                  <a:pt x="537210" y="272768"/>
                  <a:pt x="542290" y="257528"/>
                  <a:pt x="550545" y="227683"/>
                </a:cubicBezTo>
                <a:cubicBezTo>
                  <a:pt x="558800" y="197838"/>
                  <a:pt x="560070" y="187678"/>
                  <a:pt x="567055" y="161008"/>
                </a:cubicBezTo>
                <a:cubicBezTo>
                  <a:pt x="574040" y="134338"/>
                  <a:pt x="572770" y="121003"/>
                  <a:pt x="584200" y="94333"/>
                </a:cubicBezTo>
                <a:cubicBezTo>
                  <a:pt x="595630" y="67663"/>
                  <a:pt x="603885" y="44168"/>
                  <a:pt x="625475" y="27658"/>
                </a:cubicBezTo>
                <a:cubicBezTo>
                  <a:pt x="647065" y="11148"/>
                  <a:pt x="660400" y="15593"/>
                  <a:pt x="692150" y="10513"/>
                </a:cubicBezTo>
                <a:cubicBezTo>
                  <a:pt x="723900" y="5433"/>
                  <a:pt x="750570" y="4163"/>
                  <a:pt x="784225" y="2258"/>
                </a:cubicBezTo>
                <a:cubicBezTo>
                  <a:pt x="817880" y="353"/>
                  <a:pt x="830580" y="2258"/>
                  <a:pt x="859155" y="2258"/>
                </a:cubicBezTo>
                <a:cubicBezTo>
                  <a:pt x="887730" y="2258"/>
                  <a:pt x="897255" y="-2822"/>
                  <a:pt x="925830" y="2258"/>
                </a:cubicBezTo>
                <a:cubicBezTo>
                  <a:pt x="954405" y="7338"/>
                  <a:pt x="972185" y="12418"/>
                  <a:pt x="1000760" y="27658"/>
                </a:cubicBezTo>
                <a:cubicBezTo>
                  <a:pt x="1029335" y="42898"/>
                  <a:pt x="1042670" y="52423"/>
                  <a:pt x="1067435" y="77188"/>
                </a:cubicBezTo>
                <a:cubicBezTo>
                  <a:pt x="1092200" y="101953"/>
                  <a:pt x="1104265" y="121003"/>
                  <a:pt x="1125855" y="152753"/>
                </a:cubicBezTo>
                <a:cubicBezTo>
                  <a:pt x="1147445" y="184503"/>
                  <a:pt x="1157605" y="206093"/>
                  <a:pt x="1176020" y="235938"/>
                </a:cubicBezTo>
                <a:cubicBezTo>
                  <a:pt x="1194435" y="265783"/>
                  <a:pt x="1204595" y="275943"/>
                  <a:pt x="1217930" y="302613"/>
                </a:cubicBezTo>
                <a:cubicBezTo>
                  <a:pt x="1231265" y="329283"/>
                  <a:pt x="1231265" y="342618"/>
                  <a:pt x="1242695" y="369288"/>
                </a:cubicBezTo>
                <a:cubicBezTo>
                  <a:pt x="1254125" y="395958"/>
                  <a:pt x="1263015" y="409293"/>
                  <a:pt x="1276350" y="435963"/>
                </a:cubicBezTo>
                <a:cubicBezTo>
                  <a:pt x="1289685" y="462633"/>
                  <a:pt x="1294130" y="470888"/>
                  <a:pt x="1309370" y="502638"/>
                </a:cubicBezTo>
                <a:cubicBezTo>
                  <a:pt x="1324610" y="534388"/>
                  <a:pt x="1336040" y="557883"/>
                  <a:pt x="1351280" y="594713"/>
                </a:cubicBezTo>
                <a:cubicBezTo>
                  <a:pt x="1366520" y="631543"/>
                  <a:pt x="1370965" y="651228"/>
                  <a:pt x="1384300" y="686153"/>
                </a:cubicBezTo>
                <a:cubicBezTo>
                  <a:pt x="1397635" y="721078"/>
                  <a:pt x="1404620" y="738223"/>
                  <a:pt x="1417955" y="769973"/>
                </a:cubicBezTo>
                <a:cubicBezTo>
                  <a:pt x="1431290" y="801723"/>
                  <a:pt x="1439545" y="816328"/>
                  <a:pt x="1450975" y="844903"/>
                </a:cubicBezTo>
                <a:cubicBezTo>
                  <a:pt x="1462405" y="873478"/>
                  <a:pt x="1466215" y="879828"/>
                  <a:pt x="1476375" y="911578"/>
                </a:cubicBezTo>
                <a:cubicBezTo>
                  <a:pt x="1486535" y="943328"/>
                  <a:pt x="1490980" y="969998"/>
                  <a:pt x="1501140" y="1003018"/>
                </a:cubicBezTo>
                <a:cubicBezTo>
                  <a:pt x="1511300" y="1036038"/>
                  <a:pt x="1516380" y="1048103"/>
                  <a:pt x="1526540" y="1077948"/>
                </a:cubicBezTo>
                <a:cubicBezTo>
                  <a:pt x="1536700" y="1107793"/>
                  <a:pt x="1536065" y="1124938"/>
                  <a:pt x="1551305" y="1153513"/>
                </a:cubicBezTo>
                <a:cubicBezTo>
                  <a:pt x="1566545" y="1182088"/>
                  <a:pt x="1576705" y="1196693"/>
                  <a:pt x="1601470" y="1220188"/>
                </a:cubicBezTo>
                <a:cubicBezTo>
                  <a:pt x="1626235" y="1243683"/>
                  <a:pt x="1647825" y="1250033"/>
                  <a:pt x="1676400" y="1269718"/>
                </a:cubicBezTo>
                <a:cubicBezTo>
                  <a:pt x="1704975" y="1289403"/>
                  <a:pt x="1716405" y="1303373"/>
                  <a:pt x="1743075" y="1319883"/>
                </a:cubicBezTo>
                <a:cubicBezTo>
                  <a:pt x="1769745" y="1336393"/>
                  <a:pt x="1783080" y="1340203"/>
                  <a:pt x="1809750" y="1353538"/>
                </a:cubicBezTo>
                <a:cubicBezTo>
                  <a:pt x="1836420" y="1366873"/>
                  <a:pt x="1847850" y="1375128"/>
                  <a:pt x="1876425" y="1386558"/>
                </a:cubicBezTo>
                <a:cubicBezTo>
                  <a:pt x="1905000" y="1397988"/>
                  <a:pt x="1919605" y="1401798"/>
                  <a:pt x="1951355" y="1411958"/>
                </a:cubicBezTo>
                <a:cubicBezTo>
                  <a:pt x="1983105" y="1422118"/>
                  <a:pt x="2003425" y="1428468"/>
                  <a:pt x="2035175" y="1436723"/>
                </a:cubicBezTo>
                <a:cubicBezTo>
                  <a:pt x="2066925" y="1444978"/>
                  <a:pt x="2080260" y="1450058"/>
                  <a:pt x="2110105" y="1453233"/>
                </a:cubicBezTo>
                <a:cubicBezTo>
                  <a:pt x="2139950" y="1456408"/>
                  <a:pt x="2156460" y="1455138"/>
                  <a:pt x="2185035" y="1453233"/>
                </a:cubicBezTo>
                <a:cubicBezTo>
                  <a:pt x="2213610" y="1451328"/>
                  <a:pt x="2228215" y="1460218"/>
                  <a:pt x="2251710" y="1444978"/>
                </a:cubicBezTo>
                <a:cubicBezTo>
                  <a:pt x="2275205" y="1429738"/>
                  <a:pt x="2283460" y="1404973"/>
                  <a:pt x="2301875" y="1378303"/>
                </a:cubicBezTo>
                <a:cubicBezTo>
                  <a:pt x="2320290" y="1351633"/>
                  <a:pt x="2330450" y="1340203"/>
                  <a:pt x="2343785" y="1311628"/>
                </a:cubicBezTo>
                <a:cubicBezTo>
                  <a:pt x="2357120" y="1283053"/>
                  <a:pt x="2357120" y="1266543"/>
                  <a:pt x="2368550" y="1236698"/>
                </a:cubicBezTo>
                <a:cubicBezTo>
                  <a:pt x="2379980" y="1206853"/>
                  <a:pt x="2390775" y="1191613"/>
                  <a:pt x="2402205" y="1161768"/>
                </a:cubicBezTo>
                <a:cubicBezTo>
                  <a:pt x="2413635" y="1131923"/>
                  <a:pt x="2413635" y="1115413"/>
                  <a:pt x="2426970" y="1086838"/>
                </a:cubicBezTo>
                <a:cubicBezTo>
                  <a:pt x="2440305" y="1058263"/>
                  <a:pt x="2450465" y="1048103"/>
                  <a:pt x="2468880" y="1019528"/>
                </a:cubicBezTo>
                <a:cubicBezTo>
                  <a:pt x="2487295" y="990953"/>
                  <a:pt x="2509520" y="957933"/>
                  <a:pt x="2518410" y="944598"/>
                </a:cubicBezTo>
              </a:path>
            </a:pathLst>
          </a:custGeom>
          <a:noFill/>
          <a:ln w="38100">
            <a:solidFill>
              <a:schemeClr val="tx1"/>
            </a:solidFill>
          </a:ln>
        </p:spPr>
        <p:txBody>
          <a:bodyPr vert="horz" lIns="90000" tIns="46800" rIns="90000" bIns="46800" rtlCol="0" anchor="ctr" anchorCtr="0">
            <a:noAutofit/>
          </a:bodyPr>
          <a:p>
            <a:endParaRPr lang="zh-CN" altLang="en-US" sz="2445">
              <a:solidFill>
                <a:schemeClr val="tx1"/>
              </a:solidFill>
            </a:endParaRPr>
          </a:p>
        </p:txBody>
      </p:sp>
      <p:sp>
        <p:nvSpPr>
          <p:cNvPr id="46" name="Text Box 45"/>
          <p:cNvSpPr txBox="1"/>
          <p:nvPr/>
        </p:nvSpPr>
        <p:spPr>
          <a:xfrm>
            <a:off x="6649085" y="5041265"/>
            <a:ext cx="296926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47" name="Text Box 46"/>
          <p:cNvSpPr txBox="1"/>
          <p:nvPr/>
        </p:nvSpPr>
        <p:spPr>
          <a:xfrm>
            <a:off x="6677025" y="390525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49" name="Oval 48"/>
          <p:cNvSpPr/>
          <p:nvPr/>
        </p:nvSpPr>
        <p:spPr>
          <a:xfrm>
            <a:off x="7309485" y="293433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0" name="Oval 49"/>
          <p:cNvSpPr/>
          <p:nvPr/>
        </p:nvSpPr>
        <p:spPr>
          <a:xfrm>
            <a:off x="8085455" y="367919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3" name="Oval 52"/>
          <p:cNvSpPr/>
          <p:nvPr/>
        </p:nvSpPr>
        <p:spPr>
          <a:xfrm>
            <a:off x="8583295" y="429704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7" name="Oval 56"/>
          <p:cNvSpPr/>
          <p:nvPr/>
        </p:nvSpPr>
        <p:spPr>
          <a:xfrm>
            <a:off x="9066530" y="40792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9" name="Text Box 58"/>
          <p:cNvSpPr txBox="1"/>
          <p:nvPr/>
        </p:nvSpPr>
        <p:spPr>
          <a:xfrm>
            <a:off x="7868285" y="29889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6</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60" name="Text Box 59"/>
          <p:cNvSpPr txBox="1"/>
          <p:nvPr/>
        </p:nvSpPr>
        <p:spPr>
          <a:xfrm>
            <a:off x="8241030" y="394398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61" name="Text Box 60"/>
          <p:cNvSpPr txBox="1"/>
          <p:nvPr/>
        </p:nvSpPr>
        <p:spPr>
          <a:xfrm>
            <a:off x="8493760" y="40252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62" name="Straight Connector 61"/>
          <p:cNvCxnSpPr>
            <a:endCxn id="68" idx="3"/>
          </p:cNvCxnSpPr>
          <p:nvPr/>
        </p:nvCxnSpPr>
        <p:spPr>
          <a:xfrm flipV="1">
            <a:off x="6866890" y="3752215"/>
            <a:ext cx="199390" cy="52070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63" name="Straight Connector 62"/>
          <p:cNvCxnSpPr>
            <a:stCxn id="44" idx="8"/>
          </p:cNvCxnSpPr>
          <p:nvPr/>
        </p:nvCxnSpPr>
        <p:spPr>
          <a:xfrm>
            <a:off x="7108190" y="3679190"/>
            <a:ext cx="8255" cy="13271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4" name="Straight Connector 63"/>
          <p:cNvCxnSpPr/>
          <p:nvPr/>
        </p:nvCxnSpPr>
        <p:spPr>
          <a:xfrm>
            <a:off x="7366000" y="2978150"/>
            <a:ext cx="0" cy="202819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5" name="Straight Connector 64"/>
          <p:cNvCxnSpPr/>
          <p:nvPr/>
        </p:nvCxnSpPr>
        <p:spPr>
          <a:xfrm>
            <a:off x="7615555" y="2973705"/>
            <a:ext cx="0" cy="203263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6" name="Straight Connector 65"/>
          <p:cNvCxnSpPr>
            <a:stCxn id="59" idx="1"/>
          </p:cNvCxnSpPr>
          <p:nvPr/>
        </p:nvCxnSpPr>
        <p:spPr>
          <a:xfrm flipH="1">
            <a:off x="7865110" y="3133090"/>
            <a:ext cx="3175" cy="18732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7" name="Straight Connector 66"/>
          <p:cNvCxnSpPr/>
          <p:nvPr/>
        </p:nvCxnSpPr>
        <p:spPr>
          <a:xfrm>
            <a:off x="8364220" y="4239260"/>
            <a:ext cx="0" cy="76708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68" name="Oval 67"/>
          <p:cNvSpPr/>
          <p:nvPr/>
        </p:nvSpPr>
        <p:spPr>
          <a:xfrm>
            <a:off x="7052310" y="366966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9" name="Oval 68"/>
          <p:cNvSpPr/>
          <p:nvPr/>
        </p:nvSpPr>
        <p:spPr>
          <a:xfrm>
            <a:off x="7567295" y="290385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0" name="Oval 69"/>
          <p:cNvSpPr/>
          <p:nvPr/>
        </p:nvSpPr>
        <p:spPr>
          <a:xfrm>
            <a:off x="7833360" y="308483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1" name="Oval 70"/>
          <p:cNvSpPr/>
          <p:nvPr/>
        </p:nvSpPr>
        <p:spPr>
          <a:xfrm>
            <a:off x="8313420" y="417576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2" name="Oval 71"/>
          <p:cNvSpPr/>
          <p:nvPr/>
        </p:nvSpPr>
        <p:spPr>
          <a:xfrm>
            <a:off x="8828405" y="43586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3" name="Text Box 72"/>
          <p:cNvSpPr txBox="1"/>
          <p:nvPr/>
        </p:nvSpPr>
        <p:spPr>
          <a:xfrm>
            <a:off x="6834505" y="359473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4</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4" name="Text Box 73"/>
          <p:cNvSpPr txBox="1"/>
          <p:nvPr/>
        </p:nvSpPr>
        <p:spPr>
          <a:xfrm>
            <a:off x="7211695" y="264858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7</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5" name="Text Box 74"/>
          <p:cNvSpPr txBox="1"/>
          <p:nvPr/>
        </p:nvSpPr>
        <p:spPr>
          <a:xfrm>
            <a:off x="7478395" y="26460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7</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6" name="Text Box 75"/>
          <p:cNvSpPr txBox="1"/>
          <p:nvPr/>
        </p:nvSpPr>
        <p:spPr>
          <a:xfrm>
            <a:off x="8063230" y="341630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4</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7" name="Text Box 76"/>
          <p:cNvSpPr txBox="1"/>
          <p:nvPr/>
        </p:nvSpPr>
        <p:spPr>
          <a:xfrm>
            <a:off x="8740140" y="41141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8" name="Text Box 77"/>
          <p:cNvSpPr txBox="1"/>
          <p:nvPr/>
        </p:nvSpPr>
        <p:spPr>
          <a:xfrm>
            <a:off x="8862060" y="3795395"/>
            <a:ext cx="43180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94" name="Straight Connector 93"/>
          <p:cNvCxnSpPr>
            <a:endCxn id="49" idx="2"/>
          </p:cNvCxnSpPr>
          <p:nvPr/>
        </p:nvCxnSpPr>
        <p:spPr>
          <a:xfrm flipV="1">
            <a:off x="7116445" y="2982595"/>
            <a:ext cx="193040" cy="6965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6" name="Straight Connector 95"/>
          <p:cNvCxnSpPr>
            <a:endCxn id="75" idx="2"/>
          </p:cNvCxnSpPr>
          <p:nvPr/>
        </p:nvCxnSpPr>
        <p:spPr>
          <a:xfrm flipV="1">
            <a:off x="7359015" y="2933700"/>
            <a:ext cx="238760" cy="349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7" name="Straight Connector 96"/>
          <p:cNvCxnSpPr>
            <a:stCxn id="69" idx="5"/>
            <a:endCxn id="70" idx="2"/>
          </p:cNvCxnSpPr>
          <p:nvPr/>
        </p:nvCxnSpPr>
        <p:spPr>
          <a:xfrm>
            <a:off x="7649845" y="2986405"/>
            <a:ext cx="183515" cy="14668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6" name="Straight Connector 105"/>
          <p:cNvCxnSpPr>
            <a:stCxn id="70" idx="4"/>
            <a:endCxn id="44" idx="31"/>
          </p:cNvCxnSpPr>
          <p:nvPr/>
        </p:nvCxnSpPr>
        <p:spPr>
          <a:xfrm>
            <a:off x="7881620" y="3181350"/>
            <a:ext cx="243840" cy="5397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7" name="Straight Connector 106"/>
          <p:cNvCxnSpPr>
            <a:stCxn id="50" idx="5"/>
            <a:endCxn id="71" idx="1"/>
          </p:cNvCxnSpPr>
          <p:nvPr/>
        </p:nvCxnSpPr>
        <p:spPr>
          <a:xfrm>
            <a:off x="8168005" y="3761740"/>
            <a:ext cx="159385" cy="4279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8" name="Straight Connector 107"/>
          <p:cNvCxnSpPr>
            <a:stCxn id="71" idx="5"/>
            <a:endCxn id="53" idx="2"/>
          </p:cNvCxnSpPr>
          <p:nvPr/>
        </p:nvCxnSpPr>
        <p:spPr>
          <a:xfrm>
            <a:off x="8395970" y="4258310"/>
            <a:ext cx="187325" cy="869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9" name="Straight Connector 108"/>
          <p:cNvCxnSpPr>
            <a:stCxn id="53" idx="5"/>
            <a:endCxn id="77" idx="2"/>
          </p:cNvCxnSpPr>
          <p:nvPr/>
        </p:nvCxnSpPr>
        <p:spPr>
          <a:xfrm>
            <a:off x="8665845" y="4379595"/>
            <a:ext cx="193675" cy="222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0" name="Straight Connector 109"/>
          <p:cNvCxnSpPr>
            <a:stCxn id="72" idx="5"/>
            <a:endCxn id="57" idx="2"/>
          </p:cNvCxnSpPr>
          <p:nvPr/>
        </p:nvCxnSpPr>
        <p:spPr>
          <a:xfrm flipV="1">
            <a:off x="8910955" y="4127500"/>
            <a:ext cx="155575" cy="3136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1" name="Straight Connector 110"/>
          <p:cNvCxnSpPr/>
          <p:nvPr/>
        </p:nvCxnSpPr>
        <p:spPr>
          <a:xfrm>
            <a:off x="6508750" y="355092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2" name="Straight Connector 111"/>
          <p:cNvCxnSpPr/>
          <p:nvPr/>
        </p:nvCxnSpPr>
        <p:spPr>
          <a:xfrm>
            <a:off x="6508750" y="298323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3" name="Straight Connector 112"/>
          <p:cNvCxnSpPr/>
          <p:nvPr/>
        </p:nvCxnSpPr>
        <p:spPr>
          <a:xfrm>
            <a:off x="6508750" y="3267075"/>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114" name="Text Box 113"/>
          <p:cNvSpPr txBox="1"/>
          <p:nvPr/>
        </p:nvSpPr>
        <p:spPr>
          <a:xfrm>
            <a:off x="6118860" y="3905250"/>
            <a:ext cx="243205" cy="425450"/>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3</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5" name="Text Box 114"/>
          <p:cNvSpPr txBox="1"/>
          <p:nvPr/>
        </p:nvSpPr>
        <p:spPr>
          <a:xfrm>
            <a:off x="6118860" y="419417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2</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6" name="Text Box 115"/>
          <p:cNvSpPr txBox="1"/>
          <p:nvPr/>
        </p:nvSpPr>
        <p:spPr>
          <a:xfrm>
            <a:off x="6118860" y="446976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7" name="Text Box 116"/>
          <p:cNvSpPr txBox="1"/>
          <p:nvPr/>
        </p:nvSpPr>
        <p:spPr>
          <a:xfrm>
            <a:off x="6118860" y="470979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8" name="Text Box 117"/>
          <p:cNvSpPr txBox="1"/>
          <p:nvPr/>
        </p:nvSpPr>
        <p:spPr>
          <a:xfrm>
            <a:off x="6681470" y="5603240"/>
            <a:ext cx="1937385"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量化等级为</a:t>
            </a:r>
            <a:r>
              <a:rPr lang="en-US" altLang="zh-CN" sz="2200">
                <a:latin typeface="Alibaba PuHuiTi 3.0 55 Regular" panose="00020600040101010101" charset="-122"/>
                <a:ea typeface="Alibaba PuHuiTi 3.0 55 Regular" panose="00020600040101010101" charset="-122"/>
              </a:rPr>
              <a:t>8</a:t>
            </a:r>
            <a:endParaRPr lang="en-US" altLang="zh-CN" sz="2200">
              <a:latin typeface="Alibaba PuHuiTi 3.0 55 Regular" panose="00020600040101010101" charset="-122"/>
              <a:ea typeface="Alibaba PuHuiTi 3.0 55 Regular" panose="00020600040101010101" charset="-122"/>
            </a:endParaRPr>
          </a:p>
        </p:txBody>
      </p:sp>
      <p:cxnSp>
        <p:nvCxnSpPr>
          <p:cNvPr id="119" name="Straight Connector 118"/>
          <p:cNvCxnSpPr/>
          <p:nvPr/>
        </p:nvCxnSpPr>
        <p:spPr>
          <a:xfrm>
            <a:off x="6508750" y="3834765"/>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0" name="Straight Connector 119"/>
          <p:cNvCxnSpPr/>
          <p:nvPr/>
        </p:nvCxnSpPr>
        <p:spPr>
          <a:xfrm>
            <a:off x="6508750" y="411861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1" name="Straight Connector 120"/>
          <p:cNvCxnSpPr/>
          <p:nvPr/>
        </p:nvCxnSpPr>
        <p:spPr>
          <a:xfrm>
            <a:off x="6508750" y="4379595"/>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2" name="Straight Connector 121"/>
          <p:cNvCxnSpPr/>
          <p:nvPr/>
        </p:nvCxnSpPr>
        <p:spPr>
          <a:xfrm>
            <a:off x="6508750" y="468630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131" name="Text Box 130"/>
          <p:cNvSpPr txBox="1"/>
          <p:nvPr/>
        </p:nvSpPr>
        <p:spPr>
          <a:xfrm>
            <a:off x="6120130" y="2819400"/>
            <a:ext cx="243205" cy="425450"/>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7</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2" name="Text Box 131"/>
          <p:cNvSpPr txBox="1"/>
          <p:nvPr/>
        </p:nvSpPr>
        <p:spPr>
          <a:xfrm>
            <a:off x="6120130" y="310832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6</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3" name="Text Box 132"/>
          <p:cNvSpPr txBox="1"/>
          <p:nvPr/>
        </p:nvSpPr>
        <p:spPr>
          <a:xfrm>
            <a:off x="6120130" y="338391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5</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4" name="Text Box 133"/>
          <p:cNvSpPr txBox="1"/>
          <p:nvPr/>
        </p:nvSpPr>
        <p:spPr>
          <a:xfrm>
            <a:off x="6120130" y="362394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4</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6" name="Rectangle 135"/>
          <p:cNvSpPr/>
          <p:nvPr/>
        </p:nvSpPr>
        <p:spPr>
          <a:xfrm>
            <a:off x="1719580" y="3586480"/>
            <a:ext cx="697230" cy="702945"/>
          </a:xfrm>
          <a:prstGeom prst="rect">
            <a:avLst/>
          </a:prstGeom>
          <a:noFill/>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37" name="Rectangle 136"/>
          <p:cNvSpPr/>
          <p:nvPr/>
        </p:nvSpPr>
        <p:spPr>
          <a:xfrm>
            <a:off x="6603365" y="3611880"/>
            <a:ext cx="697230" cy="702945"/>
          </a:xfrm>
          <a:prstGeom prst="rect">
            <a:avLst/>
          </a:prstGeom>
          <a:noFill/>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4"/>
                                        </p:tgtEl>
                                        <p:attrNameLst>
                                          <p:attrName>style.visibility</p:attrName>
                                        </p:attrNameLst>
                                      </p:cBhvr>
                                      <p:to>
                                        <p:strVal val="visible"/>
                                      </p:to>
                                    </p:set>
                                  </p:childTnLst>
                                </p:cTn>
                              </p:par>
                            </p:childTnLst>
                          </p:cTn>
                        </p:par>
                        <p:par>
                          <p:cTn id="47" fill="hold">
                            <p:stCondLst>
                              <p:cond delay="0"/>
                            </p:stCondLst>
                            <p:childTnLst>
                              <p:par>
                                <p:cTn id="48" presetID="1" presetClass="entr" presetSubtype="0" fill="hold" grpId="0" nodeType="afterEffect">
                                  <p:stCondLst>
                                    <p:cond delay="500"/>
                                  </p:stCondLst>
                                  <p:childTnLst>
                                    <p:set>
                                      <p:cBhvr>
                                        <p:cTn id="49" dur="1" fill="hold">
                                          <p:stCondLst>
                                            <p:cond delay="0"/>
                                          </p:stCondLst>
                                        </p:cTn>
                                        <p:tgtEl>
                                          <p:spTgt spid="75"/>
                                        </p:tgtEl>
                                        <p:attrNameLst>
                                          <p:attrName>style.visibility</p:attrName>
                                        </p:attrNameLst>
                                      </p:cBhvr>
                                      <p:to>
                                        <p:strVal val="visible"/>
                                      </p:to>
                                    </p:set>
                                  </p:childTnLst>
                                </p:cTn>
                              </p:par>
                            </p:childTnLst>
                          </p:cTn>
                        </p:par>
                        <p:par>
                          <p:cTn id="50" fill="hold">
                            <p:stCondLst>
                              <p:cond delay="500"/>
                            </p:stCondLst>
                            <p:childTnLst>
                              <p:par>
                                <p:cTn id="51" presetID="1" presetClass="entr" presetSubtype="0" fill="hold" grpId="0" nodeType="afterEffect">
                                  <p:stCondLst>
                                    <p:cond delay="500"/>
                                  </p:stCondLst>
                                  <p:childTnLst>
                                    <p:set>
                                      <p:cBhvr>
                                        <p:cTn id="52" dur="1" fill="hold">
                                          <p:stCondLst>
                                            <p:cond delay="0"/>
                                          </p:stCondLst>
                                        </p:cTn>
                                        <p:tgtEl>
                                          <p:spTgt spid="59"/>
                                        </p:tgtEl>
                                        <p:attrNameLst>
                                          <p:attrName>style.visibility</p:attrName>
                                        </p:attrNameLst>
                                      </p:cBhvr>
                                      <p:to>
                                        <p:strVal val="visible"/>
                                      </p:to>
                                    </p:set>
                                  </p:childTnLst>
                                </p:cTn>
                              </p:par>
                            </p:childTnLst>
                          </p:cTn>
                        </p:par>
                        <p:par>
                          <p:cTn id="53" fill="hold">
                            <p:stCondLst>
                              <p:cond delay="1000"/>
                            </p:stCondLst>
                            <p:childTnLst>
                              <p:par>
                                <p:cTn id="54" presetID="1" presetClass="entr" presetSubtype="0" fill="hold" grpId="0" nodeType="afterEffect">
                                  <p:stCondLst>
                                    <p:cond delay="500"/>
                                  </p:stCondLst>
                                  <p:childTnLst>
                                    <p:set>
                                      <p:cBhvr>
                                        <p:cTn id="55" dur="1" fill="hold">
                                          <p:stCondLst>
                                            <p:cond delay="0"/>
                                          </p:stCondLst>
                                        </p:cTn>
                                        <p:tgtEl>
                                          <p:spTgt spid="76"/>
                                        </p:tgtEl>
                                        <p:attrNameLst>
                                          <p:attrName>style.visibility</p:attrName>
                                        </p:attrNameLst>
                                      </p:cBhvr>
                                      <p:to>
                                        <p:strVal val="visible"/>
                                      </p:to>
                                    </p:set>
                                  </p:childTnLst>
                                </p:cTn>
                              </p:par>
                            </p:childTnLst>
                          </p:cTn>
                        </p:par>
                        <p:par>
                          <p:cTn id="56" fill="hold">
                            <p:stCondLst>
                              <p:cond delay="1500"/>
                            </p:stCondLst>
                            <p:childTnLst>
                              <p:par>
                                <p:cTn id="57" presetID="1" presetClass="entr" presetSubtype="0" fill="hold" grpId="0" nodeType="afterEffect">
                                  <p:stCondLst>
                                    <p:cond delay="500"/>
                                  </p:stCondLst>
                                  <p:childTnLst>
                                    <p:set>
                                      <p:cBhvr>
                                        <p:cTn id="58" dur="1" fill="hold">
                                          <p:stCondLst>
                                            <p:cond delay="0"/>
                                          </p:stCondLst>
                                        </p:cTn>
                                        <p:tgtEl>
                                          <p:spTgt spid="60"/>
                                        </p:tgtEl>
                                        <p:attrNameLst>
                                          <p:attrName>style.visibility</p:attrName>
                                        </p:attrNameLst>
                                      </p:cBhvr>
                                      <p:to>
                                        <p:strVal val="visible"/>
                                      </p:to>
                                    </p:set>
                                  </p:childTnLst>
                                </p:cTn>
                              </p:par>
                            </p:childTnLst>
                          </p:cTn>
                        </p:par>
                        <p:par>
                          <p:cTn id="59" fill="hold">
                            <p:stCondLst>
                              <p:cond delay="2000"/>
                            </p:stCondLst>
                            <p:childTnLst>
                              <p:par>
                                <p:cTn id="60" presetID="1" presetClass="entr" presetSubtype="0" fill="hold" grpId="0" nodeType="afterEffect">
                                  <p:stCondLst>
                                    <p:cond delay="500"/>
                                  </p:stCondLst>
                                  <p:childTnLst>
                                    <p:set>
                                      <p:cBhvr>
                                        <p:cTn id="61" dur="1" fill="hold">
                                          <p:stCondLst>
                                            <p:cond delay="0"/>
                                          </p:stCondLst>
                                        </p:cTn>
                                        <p:tgtEl>
                                          <p:spTgt spid="61"/>
                                        </p:tgtEl>
                                        <p:attrNameLst>
                                          <p:attrName>style.visibility</p:attrName>
                                        </p:attrNameLst>
                                      </p:cBhvr>
                                      <p:to>
                                        <p:strVal val="visible"/>
                                      </p:to>
                                    </p:set>
                                  </p:childTnLst>
                                </p:cTn>
                              </p:par>
                            </p:childTnLst>
                          </p:cTn>
                        </p:par>
                        <p:par>
                          <p:cTn id="62" fill="hold">
                            <p:stCondLst>
                              <p:cond delay="2500"/>
                            </p:stCondLst>
                            <p:childTnLst>
                              <p:par>
                                <p:cTn id="63" presetID="1" presetClass="entr" presetSubtype="0" fill="hold" grpId="0" nodeType="afterEffect">
                                  <p:stCondLst>
                                    <p:cond delay="500"/>
                                  </p:stCondLst>
                                  <p:childTnLst>
                                    <p:set>
                                      <p:cBhvr>
                                        <p:cTn id="64" dur="1" fill="hold">
                                          <p:stCondLst>
                                            <p:cond delay="0"/>
                                          </p:stCondLst>
                                        </p:cTn>
                                        <p:tgtEl>
                                          <p:spTgt spid="77"/>
                                        </p:tgtEl>
                                        <p:attrNameLst>
                                          <p:attrName>style.visibility</p:attrName>
                                        </p:attrNameLst>
                                      </p:cBhvr>
                                      <p:to>
                                        <p:strVal val="visible"/>
                                      </p:to>
                                    </p:set>
                                  </p:childTnLst>
                                </p:cTn>
                              </p:par>
                            </p:childTnLst>
                          </p:cTn>
                        </p:par>
                        <p:par>
                          <p:cTn id="65" fill="hold">
                            <p:stCondLst>
                              <p:cond delay="3000"/>
                            </p:stCondLst>
                            <p:childTnLst>
                              <p:par>
                                <p:cTn id="66" presetID="1" presetClass="entr" presetSubtype="0" fill="hold" grpId="0" nodeType="afterEffect">
                                  <p:stCondLst>
                                    <p:cond delay="500"/>
                                  </p:stCondLst>
                                  <p:childTnLst>
                                    <p:set>
                                      <p:cBhvr>
                                        <p:cTn id="67" dur="1" fill="hold">
                                          <p:stCondLst>
                                            <p:cond delay="0"/>
                                          </p:stCondLst>
                                        </p:cTn>
                                        <p:tgtEl>
                                          <p:spTgt spid="78"/>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136"/>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1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p:bldP spid="115" grpId="0"/>
      <p:bldP spid="116" grpId="0"/>
      <p:bldP spid="117" grpId="0"/>
      <p:bldP spid="47" grpId="0"/>
      <p:bldP spid="73" grpId="0"/>
      <p:bldP spid="74" grpId="0"/>
      <p:bldP spid="75" grpId="0"/>
      <p:bldP spid="59" grpId="0"/>
      <p:bldP spid="76" grpId="0"/>
      <p:bldP spid="60" grpId="0"/>
      <p:bldP spid="61" grpId="0"/>
      <p:bldP spid="77" grpId="0"/>
      <p:bldP spid="78" grpId="0"/>
      <p:bldP spid="131" grpId="0"/>
      <p:bldP spid="132" grpId="0"/>
      <p:bldP spid="133" grpId="0"/>
      <p:bldP spid="134" grpId="0"/>
      <p:bldP spid="136" grpId="0" animBg="1"/>
      <p:bldP spid="13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a:bodyPr>
          <a:p>
            <a:r>
              <a:rPr lang="zh-CN" altLang="en-US"/>
              <a:t>怎样才能把声音（模拟信号</a:t>
            </a:r>
            <a:r>
              <a:rPr lang="en-US" altLang="zh-CN"/>
              <a:t>）</a:t>
            </a:r>
            <a:r>
              <a:rPr lang="zh-CN" altLang="en-US"/>
              <a:t>是转成数字信号</a:t>
            </a:r>
            <a:r>
              <a:rPr lang="en-US"/>
              <a:t>？</a:t>
            </a:r>
            <a:endParaRPr lang="en-US"/>
          </a:p>
        </p:txBody>
      </p:sp>
      <p:sp>
        <p:nvSpPr>
          <p:cNvPr id="14" name="Text Box 13"/>
          <p:cNvSpPr txBox="1"/>
          <p:nvPr/>
        </p:nvSpPr>
        <p:spPr>
          <a:xfrm>
            <a:off x="691515" y="1313815"/>
            <a:ext cx="254762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cs typeface="Alibaba PuHuiTi 3.0 55 Regular" panose="00020600040101010101" charset="-122"/>
              </a:rPr>
              <a:t>1. </a:t>
            </a:r>
            <a:r>
              <a:rPr lang="zh-CN" altLang="en-US" sz="2200">
                <a:latin typeface="Alibaba PuHuiTi 3.0 55 Regular" panose="00020600040101010101" charset="-122"/>
                <a:ea typeface="Alibaba PuHuiTi 3.0 55 Regular" panose="00020600040101010101" charset="-122"/>
                <a:cs typeface="Alibaba PuHuiTi 3.0 55 Regular" panose="00020600040101010101" charset="-122"/>
              </a:rPr>
              <a:t>采样</a:t>
            </a:r>
            <a:r>
              <a:rPr lang="en-US" altLang="zh-CN" sz="2200">
                <a:latin typeface="Alibaba PuHuiTi 3.0 55 Regular" panose="00020600040101010101" charset="-122"/>
                <a:ea typeface="Alibaba PuHuiTi 3.0 55 Regular" panose="00020600040101010101" charset="-122"/>
                <a:cs typeface="Alibaba PuHuiTi 3.0 55 Regular" panose="00020600040101010101" charset="-122"/>
              </a:rPr>
              <a:t> Sampling</a:t>
            </a:r>
            <a:endParaRPr lang="en-US" altLang="zh-CN" sz="2200">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7" name="Text Box 16"/>
          <p:cNvSpPr txBox="1"/>
          <p:nvPr/>
        </p:nvSpPr>
        <p:spPr>
          <a:xfrm>
            <a:off x="3860165" y="1313815"/>
            <a:ext cx="3038475" cy="429895"/>
          </a:xfrm>
          <a:prstGeom prst="rect">
            <a:avLst/>
          </a:prstGeom>
          <a:noFill/>
        </p:spPr>
        <p:txBody>
          <a:bodyPr wrap="square" rtlCol="0">
            <a:spAutoFit/>
          </a:bodyPr>
          <a:p>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2. </a:t>
            </a:r>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量化</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 Quantization</a:t>
            </a:r>
            <a:endParaRPr lang="en-US" altLang="zh-CN" sz="2200" b="1">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18" name="Text Box 17"/>
          <p:cNvSpPr txBox="1"/>
          <p:nvPr/>
        </p:nvSpPr>
        <p:spPr>
          <a:xfrm>
            <a:off x="7519670" y="1313815"/>
            <a:ext cx="3822065" cy="429895"/>
          </a:xfrm>
          <a:prstGeom prst="rect">
            <a:avLst/>
          </a:prstGeom>
          <a:noFill/>
        </p:spPr>
        <p:txBody>
          <a:bodyPr wrap="square" rtlCol="0">
            <a:spAutoFit/>
          </a:bodyPr>
          <a:p>
            <a:r>
              <a:rPr lang="en-US" altLang="zh-CN" sz="2200">
                <a:latin typeface="Alibaba PuHuiTi 3.0 55 Regular" panose="00020600040101010101" charset="-122"/>
                <a:ea typeface="Alibaba PuHuiTi 3.0 55 Regular" panose="00020600040101010101" charset="-122"/>
              </a:rPr>
              <a:t>3. </a:t>
            </a:r>
            <a:r>
              <a:rPr lang="zh-CN" altLang="en-US" sz="2200">
                <a:latin typeface="Alibaba PuHuiTi 3.0 55 Regular" panose="00020600040101010101" charset="-122"/>
                <a:ea typeface="Alibaba PuHuiTi 3.0 55 Regular" panose="00020600040101010101" charset="-122"/>
              </a:rPr>
              <a:t>编码</a:t>
            </a:r>
            <a:r>
              <a:rPr lang="en-US" altLang="zh-CN" sz="2200">
                <a:latin typeface="Alibaba PuHuiTi 3.0 55 Regular" panose="00020600040101010101" charset="-122"/>
                <a:ea typeface="Alibaba PuHuiTi 3.0 55 Regular" panose="00020600040101010101" charset="-122"/>
              </a:rPr>
              <a:t> </a:t>
            </a:r>
            <a:r>
              <a:rPr lang="en-US" altLang="zh-CN" sz="2200">
                <a:latin typeface="Alibaba PuHuiTi 3.0 55 Regular" panose="00020600040101010101" charset="-122"/>
                <a:ea typeface="Alibaba PuHuiTi 3.0 55 Regular" panose="00020600040101010101" charset="-122"/>
              </a:rPr>
              <a:t>Encoding</a:t>
            </a:r>
            <a:endParaRPr lang="en-US" altLang="zh-CN" sz="2200">
              <a:latin typeface="Alibaba PuHuiTi 3.0 55 Regular" panose="00020600040101010101" charset="-122"/>
              <a:ea typeface="Alibaba PuHuiTi 3.0 55 Regular" panose="00020600040101010101" charset="-122"/>
            </a:endParaRPr>
          </a:p>
        </p:txBody>
      </p:sp>
      <p:cxnSp>
        <p:nvCxnSpPr>
          <p:cNvPr id="19" name="Straight Connector 18"/>
          <p:cNvCxnSpPr/>
          <p:nvPr/>
        </p:nvCxnSpPr>
        <p:spPr>
          <a:xfrm flipH="1">
            <a:off x="3202305" y="1529080"/>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cxnSp>
        <p:nvCxnSpPr>
          <p:cNvPr id="20" name="Straight Connector 19"/>
          <p:cNvCxnSpPr/>
          <p:nvPr/>
        </p:nvCxnSpPr>
        <p:spPr>
          <a:xfrm flipH="1">
            <a:off x="6861810" y="1528445"/>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12" name="Oval 11"/>
          <p:cNvSpPr/>
          <p:nvPr/>
        </p:nvSpPr>
        <p:spPr>
          <a:xfrm>
            <a:off x="1926590" y="419798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13" name="Straight Connector 12"/>
          <p:cNvCxnSpPr/>
          <p:nvPr/>
        </p:nvCxnSpPr>
        <p:spPr>
          <a:xfrm>
            <a:off x="1974850" y="4271645"/>
            <a:ext cx="0" cy="73977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5" name="Straight Connector 14"/>
          <p:cNvCxnSpPr>
            <a:stCxn id="36" idx="31"/>
          </p:cNvCxnSpPr>
          <p:nvPr/>
        </p:nvCxnSpPr>
        <p:spPr>
          <a:xfrm flipH="1">
            <a:off x="3222625" y="3726180"/>
            <a:ext cx="10795" cy="123444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6" name="Straight Connector 15"/>
          <p:cNvCxnSpPr/>
          <p:nvPr/>
        </p:nvCxnSpPr>
        <p:spPr>
          <a:xfrm>
            <a:off x="3721735" y="4398645"/>
            <a:ext cx="0" cy="57023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2" name="Straight Connector 21"/>
          <p:cNvCxnSpPr/>
          <p:nvPr/>
        </p:nvCxnSpPr>
        <p:spPr>
          <a:xfrm>
            <a:off x="3971290" y="4448810"/>
            <a:ext cx="0" cy="56324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4" name="Straight Connector 23"/>
          <p:cNvCxnSpPr/>
          <p:nvPr/>
        </p:nvCxnSpPr>
        <p:spPr>
          <a:xfrm>
            <a:off x="4220845" y="4180840"/>
            <a:ext cx="0" cy="83121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5" name="Straight Connector 24"/>
          <p:cNvCxnSpPr/>
          <p:nvPr/>
        </p:nvCxnSpPr>
        <p:spPr>
          <a:xfrm>
            <a:off x="1600200" y="2225040"/>
            <a:ext cx="0" cy="274320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27" name="Straight Connector 26"/>
          <p:cNvCxnSpPr/>
          <p:nvPr/>
        </p:nvCxnSpPr>
        <p:spPr>
          <a:xfrm flipH="1">
            <a:off x="1598930" y="4977130"/>
            <a:ext cx="312737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33" name="Text Box 32"/>
          <p:cNvSpPr txBox="1"/>
          <p:nvPr/>
        </p:nvSpPr>
        <p:spPr>
          <a:xfrm>
            <a:off x="4463415" y="5046345"/>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36" name="Freeform 35"/>
          <p:cNvSpPr/>
          <p:nvPr/>
        </p:nvSpPr>
        <p:spPr>
          <a:xfrm>
            <a:off x="1815465" y="2955925"/>
            <a:ext cx="2518410" cy="1645285"/>
          </a:xfrm>
          <a:custGeom>
            <a:avLst/>
            <a:gdLst>
              <a:gd name="connisteX0" fmla="*/ 0 w 2518410"/>
              <a:gd name="connsiteY0" fmla="*/ 1645002 h 1645002"/>
              <a:gd name="connisteX1" fmla="*/ 25400 w 2518410"/>
              <a:gd name="connsiteY1" fmla="*/ 1519907 h 1645002"/>
              <a:gd name="connisteX2" fmla="*/ 142240 w 2518410"/>
              <a:gd name="connsiteY2" fmla="*/ 1328137 h 1645002"/>
              <a:gd name="connisteX3" fmla="*/ 225425 w 2518410"/>
              <a:gd name="connsiteY3" fmla="*/ 1178277 h 1645002"/>
              <a:gd name="connisteX4" fmla="*/ 275590 w 2518410"/>
              <a:gd name="connsiteY4" fmla="*/ 1077947 h 1645002"/>
              <a:gd name="connisteX5" fmla="*/ 325120 w 2518410"/>
              <a:gd name="connsiteY5" fmla="*/ 978252 h 1645002"/>
              <a:gd name="connisteX6" fmla="*/ 358775 w 2518410"/>
              <a:gd name="connsiteY6" fmla="*/ 877922 h 1645002"/>
              <a:gd name="connisteX7" fmla="*/ 383540 w 2518410"/>
              <a:gd name="connsiteY7" fmla="*/ 811247 h 1645002"/>
              <a:gd name="connisteX8" fmla="*/ 400685 w 2518410"/>
              <a:gd name="connsiteY8" fmla="*/ 728062 h 1645002"/>
              <a:gd name="connisteX9" fmla="*/ 441960 w 2518410"/>
              <a:gd name="connsiteY9" fmla="*/ 611222 h 1645002"/>
              <a:gd name="connisteX10" fmla="*/ 459105 w 2518410"/>
              <a:gd name="connsiteY10" fmla="*/ 544547 h 1645002"/>
              <a:gd name="connisteX11" fmla="*/ 492125 w 2518410"/>
              <a:gd name="connsiteY11" fmla="*/ 419452 h 1645002"/>
              <a:gd name="connisteX12" fmla="*/ 525780 w 2518410"/>
              <a:gd name="connsiteY12" fmla="*/ 310867 h 1645002"/>
              <a:gd name="connisteX13" fmla="*/ 550545 w 2518410"/>
              <a:gd name="connsiteY13" fmla="*/ 227682 h 1645002"/>
              <a:gd name="connisteX14" fmla="*/ 567055 w 2518410"/>
              <a:gd name="connsiteY14" fmla="*/ 161007 h 1645002"/>
              <a:gd name="connisteX15" fmla="*/ 584200 w 2518410"/>
              <a:gd name="connsiteY15" fmla="*/ 94332 h 1645002"/>
              <a:gd name="connisteX16" fmla="*/ 625475 w 2518410"/>
              <a:gd name="connsiteY16" fmla="*/ 27657 h 1645002"/>
              <a:gd name="connisteX17" fmla="*/ 692150 w 2518410"/>
              <a:gd name="connsiteY17" fmla="*/ 10512 h 1645002"/>
              <a:gd name="connisteX18" fmla="*/ 784225 w 2518410"/>
              <a:gd name="connsiteY18" fmla="*/ 2257 h 1645002"/>
              <a:gd name="connisteX19" fmla="*/ 859155 w 2518410"/>
              <a:gd name="connsiteY19" fmla="*/ 2257 h 1645002"/>
              <a:gd name="connisteX20" fmla="*/ 925830 w 2518410"/>
              <a:gd name="connsiteY20" fmla="*/ 2257 h 1645002"/>
              <a:gd name="connisteX21" fmla="*/ 1000760 w 2518410"/>
              <a:gd name="connsiteY21" fmla="*/ 27657 h 1645002"/>
              <a:gd name="connisteX22" fmla="*/ 1067435 w 2518410"/>
              <a:gd name="connsiteY22" fmla="*/ 77187 h 1645002"/>
              <a:gd name="connisteX23" fmla="*/ 1125855 w 2518410"/>
              <a:gd name="connsiteY23" fmla="*/ 152752 h 1645002"/>
              <a:gd name="connisteX24" fmla="*/ 1176020 w 2518410"/>
              <a:gd name="connsiteY24" fmla="*/ 235937 h 1645002"/>
              <a:gd name="connisteX25" fmla="*/ 1217930 w 2518410"/>
              <a:gd name="connsiteY25" fmla="*/ 302612 h 1645002"/>
              <a:gd name="connisteX26" fmla="*/ 1242695 w 2518410"/>
              <a:gd name="connsiteY26" fmla="*/ 369287 h 1645002"/>
              <a:gd name="connisteX27" fmla="*/ 1276350 w 2518410"/>
              <a:gd name="connsiteY27" fmla="*/ 435962 h 1645002"/>
              <a:gd name="connisteX28" fmla="*/ 1309370 w 2518410"/>
              <a:gd name="connsiteY28" fmla="*/ 502637 h 1645002"/>
              <a:gd name="connisteX29" fmla="*/ 1351280 w 2518410"/>
              <a:gd name="connsiteY29" fmla="*/ 594712 h 1645002"/>
              <a:gd name="connisteX30" fmla="*/ 1384300 w 2518410"/>
              <a:gd name="connsiteY30" fmla="*/ 686152 h 1645002"/>
              <a:gd name="connisteX31" fmla="*/ 1417955 w 2518410"/>
              <a:gd name="connsiteY31" fmla="*/ 769972 h 1645002"/>
              <a:gd name="connisteX32" fmla="*/ 1450975 w 2518410"/>
              <a:gd name="connsiteY32" fmla="*/ 844902 h 1645002"/>
              <a:gd name="connisteX33" fmla="*/ 1476375 w 2518410"/>
              <a:gd name="connsiteY33" fmla="*/ 911577 h 1645002"/>
              <a:gd name="connisteX34" fmla="*/ 1501140 w 2518410"/>
              <a:gd name="connsiteY34" fmla="*/ 1003017 h 1645002"/>
              <a:gd name="connisteX35" fmla="*/ 1526540 w 2518410"/>
              <a:gd name="connsiteY35" fmla="*/ 1077947 h 1645002"/>
              <a:gd name="connisteX36" fmla="*/ 1551305 w 2518410"/>
              <a:gd name="connsiteY36" fmla="*/ 1153512 h 1645002"/>
              <a:gd name="connisteX37" fmla="*/ 1601470 w 2518410"/>
              <a:gd name="connsiteY37" fmla="*/ 1220187 h 1645002"/>
              <a:gd name="connisteX38" fmla="*/ 1676400 w 2518410"/>
              <a:gd name="connsiteY38" fmla="*/ 1269717 h 1645002"/>
              <a:gd name="connisteX39" fmla="*/ 1743075 w 2518410"/>
              <a:gd name="connsiteY39" fmla="*/ 1319882 h 1645002"/>
              <a:gd name="connisteX40" fmla="*/ 1809750 w 2518410"/>
              <a:gd name="connsiteY40" fmla="*/ 1353537 h 1645002"/>
              <a:gd name="connisteX41" fmla="*/ 1876425 w 2518410"/>
              <a:gd name="connsiteY41" fmla="*/ 1386557 h 1645002"/>
              <a:gd name="connisteX42" fmla="*/ 1951355 w 2518410"/>
              <a:gd name="connsiteY42" fmla="*/ 1411957 h 1645002"/>
              <a:gd name="connisteX43" fmla="*/ 2035175 w 2518410"/>
              <a:gd name="connsiteY43" fmla="*/ 1436722 h 1645002"/>
              <a:gd name="connisteX44" fmla="*/ 2110105 w 2518410"/>
              <a:gd name="connsiteY44" fmla="*/ 1453232 h 1645002"/>
              <a:gd name="connisteX45" fmla="*/ 2185035 w 2518410"/>
              <a:gd name="connsiteY45" fmla="*/ 1453232 h 1645002"/>
              <a:gd name="connisteX46" fmla="*/ 2251710 w 2518410"/>
              <a:gd name="connsiteY46" fmla="*/ 1444977 h 1645002"/>
              <a:gd name="connisteX47" fmla="*/ 2301875 w 2518410"/>
              <a:gd name="connsiteY47" fmla="*/ 1378302 h 1645002"/>
              <a:gd name="connisteX48" fmla="*/ 2343785 w 2518410"/>
              <a:gd name="connsiteY48" fmla="*/ 1311627 h 1645002"/>
              <a:gd name="connisteX49" fmla="*/ 2368550 w 2518410"/>
              <a:gd name="connsiteY49" fmla="*/ 1236697 h 1645002"/>
              <a:gd name="connisteX50" fmla="*/ 2402205 w 2518410"/>
              <a:gd name="connsiteY50" fmla="*/ 1161767 h 1645002"/>
              <a:gd name="connisteX51" fmla="*/ 2426970 w 2518410"/>
              <a:gd name="connsiteY51" fmla="*/ 1086837 h 1645002"/>
              <a:gd name="connisteX52" fmla="*/ 2468880 w 2518410"/>
              <a:gd name="connsiteY52" fmla="*/ 1019527 h 1645002"/>
              <a:gd name="connisteX53" fmla="*/ 2518410 w 2518410"/>
              <a:gd name="connsiteY53" fmla="*/ 944597 h 164500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Lst>
            <a:rect l="l" t="t" r="r" b="b"/>
            <a:pathLst>
              <a:path w="2518410" h="1645003">
                <a:moveTo>
                  <a:pt x="0" y="1645003"/>
                </a:moveTo>
                <a:cubicBezTo>
                  <a:pt x="2540" y="1624048"/>
                  <a:pt x="-3175" y="1583408"/>
                  <a:pt x="25400" y="1519908"/>
                </a:cubicBezTo>
                <a:cubicBezTo>
                  <a:pt x="53975" y="1456408"/>
                  <a:pt x="102235" y="1396718"/>
                  <a:pt x="142240" y="1328138"/>
                </a:cubicBezTo>
                <a:cubicBezTo>
                  <a:pt x="182245" y="1259558"/>
                  <a:pt x="198755" y="1228443"/>
                  <a:pt x="225425" y="1178278"/>
                </a:cubicBezTo>
                <a:cubicBezTo>
                  <a:pt x="252095" y="1128113"/>
                  <a:pt x="255905" y="1117953"/>
                  <a:pt x="275590" y="1077948"/>
                </a:cubicBezTo>
                <a:cubicBezTo>
                  <a:pt x="295275" y="1037943"/>
                  <a:pt x="308610" y="1018258"/>
                  <a:pt x="325120" y="978253"/>
                </a:cubicBezTo>
                <a:cubicBezTo>
                  <a:pt x="341630" y="938248"/>
                  <a:pt x="347345" y="911578"/>
                  <a:pt x="358775" y="877923"/>
                </a:cubicBezTo>
                <a:cubicBezTo>
                  <a:pt x="370205" y="844268"/>
                  <a:pt x="375285" y="841093"/>
                  <a:pt x="383540" y="811248"/>
                </a:cubicBezTo>
                <a:cubicBezTo>
                  <a:pt x="391795" y="781403"/>
                  <a:pt x="389255" y="768068"/>
                  <a:pt x="400685" y="728063"/>
                </a:cubicBezTo>
                <a:cubicBezTo>
                  <a:pt x="412115" y="688058"/>
                  <a:pt x="430530" y="648053"/>
                  <a:pt x="441960" y="611223"/>
                </a:cubicBezTo>
                <a:cubicBezTo>
                  <a:pt x="453390" y="574393"/>
                  <a:pt x="448945" y="582648"/>
                  <a:pt x="459105" y="544548"/>
                </a:cubicBezTo>
                <a:cubicBezTo>
                  <a:pt x="469265" y="506448"/>
                  <a:pt x="478790" y="466443"/>
                  <a:pt x="492125" y="419453"/>
                </a:cubicBezTo>
                <a:cubicBezTo>
                  <a:pt x="505460" y="372463"/>
                  <a:pt x="514350" y="348968"/>
                  <a:pt x="525780" y="310868"/>
                </a:cubicBezTo>
                <a:cubicBezTo>
                  <a:pt x="537210" y="272768"/>
                  <a:pt x="542290" y="257528"/>
                  <a:pt x="550545" y="227683"/>
                </a:cubicBezTo>
                <a:cubicBezTo>
                  <a:pt x="558800" y="197838"/>
                  <a:pt x="560070" y="187678"/>
                  <a:pt x="567055" y="161008"/>
                </a:cubicBezTo>
                <a:cubicBezTo>
                  <a:pt x="574040" y="134338"/>
                  <a:pt x="572770" y="121003"/>
                  <a:pt x="584200" y="94333"/>
                </a:cubicBezTo>
                <a:cubicBezTo>
                  <a:pt x="595630" y="67663"/>
                  <a:pt x="603885" y="44168"/>
                  <a:pt x="625475" y="27658"/>
                </a:cubicBezTo>
                <a:cubicBezTo>
                  <a:pt x="647065" y="11148"/>
                  <a:pt x="660400" y="15593"/>
                  <a:pt x="692150" y="10513"/>
                </a:cubicBezTo>
                <a:cubicBezTo>
                  <a:pt x="723900" y="5433"/>
                  <a:pt x="750570" y="4163"/>
                  <a:pt x="784225" y="2258"/>
                </a:cubicBezTo>
                <a:cubicBezTo>
                  <a:pt x="817880" y="353"/>
                  <a:pt x="830580" y="2258"/>
                  <a:pt x="859155" y="2258"/>
                </a:cubicBezTo>
                <a:cubicBezTo>
                  <a:pt x="887730" y="2258"/>
                  <a:pt x="897255" y="-2822"/>
                  <a:pt x="925830" y="2258"/>
                </a:cubicBezTo>
                <a:cubicBezTo>
                  <a:pt x="954405" y="7338"/>
                  <a:pt x="972185" y="12418"/>
                  <a:pt x="1000760" y="27658"/>
                </a:cubicBezTo>
                <a:cubicBezTo>
                  <a:pt x="1029335" y="42898"/>
                  <a:pt x="1042670" y="52423"/>
                  <a:pt x="1067435" y="77188"/>
                </a:cubicBezTo>
                <a:cubicBezTo>
                  <a:pt x="1092200" y="101953"/>
                  <a:pt x="1104265" y="121003"/>
                  <a:pt x="1125855" y="152753"/>
                </a:cubicBezTo>
                <a:cubicBezTo>
                  <a:pt x="1147445" y="184503"/>
                  <a:pt x="1157605" y="206093"/>
                  <a:pt x="1176020" y="235938"/>
                </a:cubicBezTo>
                <a:cubicBezTo>
                  <a:pt x="1194435" y="265783"/>
                  <a:pt x="1204595" y="275943"/>
                  <a:pt x="1217930" y="302613"/>
                </a:cubicBezTo>
                <a:cubicBezTo>
                  <a:pt x="1231265" y="329283"/>
                  <a:pt x="1231265" y="342618"/>
                  <a:pt x="1242695" y="369288"/>
                </a:cubicBezTo>
                <a:cubicBezTo>
                  <a:pt x="1254125" y="395958"/>
                  <a:pt x="1263015" y="409293"/>
                  <a:pt x="1276350" y="435963"/>
                </a:cubicBezTo>
                <a:cubicBezTo>
                  <a:pt x="1289685" y="462633"/>
                  <a:pt x="1294130" y="470888"/>
                  <a:pt x="1309370" y="502638"/>
                </a:cubicBezTo>
                <a:cubicBezTo>
                  <a:pt x="1324610" y="534388"/>
                  <a:pt x="1336040" y="557883"/>
                  <a:pt x="1351280" y="594713"/>
                </a:cubicBezTo>
                <a:cubicBezTo>
                  <a:pt x="1366520" y="631543"/>
                  <a:pt x="1370965" y="651228"/>
                  <a:pt x="1384300" y="686153"/>
                </a:cubicBezTo>
                <a:cubicBezTo>
                  <a:pt x="1397635" y="721078"/>
                  <a:pt x="1404620" y="738223"/>
                  <a:pt x="1417955" y="769973"/>
                </a:cubicBezTo>
                <a:cubicBezTo>
                  <a:pt x="1431290" y="801723"/>
                  <a:pt x="1439545" y="816328"/>
                  <a:pt x="1450975" y="844903"/>
                </a:cubicBezTo>
                <a:cubicBezTo>
                  <a:pt x="1462405" y="873478"/>
                  <a:pt x="1466215" y="879828"/>
                  <a:pt x="1476375" y="911578"/>
                </a:cubicBezTo>
                <a:cubicBezTo>
                  <a:pt x="1486535" y="943328"/>
                  <a:pt x="1490980" y="969998"/>
                  <a:pt x="1501140" y="1003018"/>
                </a:cubicBezTo>
                <a:cubicBezTo>
                  <a:pt x="1511300" y="1036038"/>
                  <a:pt x="1516380" y="1048103"/>
                  <a:pt x="1526540" y="1077948"/>
                </a:cubicBezTo>
                <a:cubicBezTo>
                  <a:pt x="1536700" y="1107793"/>
                  <a:pt x="1536065" y="1124938"/>
                  <a:pt x="1551305" y="1153513"/>
                </a:cubicBezTo>
                <a:cubicBezTo>
                  <a:pt x="1566545" y="1182088"/>
                  <a:pt x="1576705" y="1196693"/>
                  <a:pt x="1601470" y="1220188"/>
                </a:cubicBezTo>
                <a:cubicBezTo>
                  <a:pt x="1626235" y="1243683"/>
                  <a:pt x="1647825" y="1250033"/>
                  <a:pt x="1676400" y="1269718"/>
                </a:cubicBezTo>
                <a:cubicBezTo>
                  <a:pt x="1704975" y="1289403"/>
                  <a:pt x="1716405" y="1303373"/>
                  <a:pt x="1743075" y="1319883"/>
                </a:cubicBezTo>
                <a:cubicBezTo>
                  <a:pt x="1769745" y="1336393"/>
                  <a:pt x="1783080" y="1340203"/>
                  <a:pt x="1809750" y="1353538"/>
                </a:cubicBezTo>
                <a:cubicBezTo>
                  <a:pt x="1836420" y="1366873"/>
                  <a:pt x="1847850" y="1375128"/>
                  <a:pt x="1876425" y="1386558"/>
                </a:cubicBezTo>
                <a:cubicBezTo>
                  <a:pt x="1905000" y="1397988"/>
                  <a:pt x="1919605" y="1401798"/>
                  <a:pt x="1951355" y="1411958"/>
                </a:cubicBezTo>
                <a:cubicBezTo>
                  <a:pt x="1983105" y="1422118"/>
                  <a:pt x="2003425" y="1428468"/>
                  <a:pt x="2035175" y="1436723"/>
                </a:cubicBezTo>
                <a:cubicBezTo>
                  <a:pt x="2066925" y="1444978"/>
                  <a:pt x="2080260" y="1450058"/>
                  <a:pt x="2110105" y="1453233"/>
                </a:cubicBezTo>
                <a:cubicBezTo>
                  <a:pt x="2139950" y="1456408"/>
                  <a:pt x="2156460" y="1455138"/>
                  <a:pt x="2185035" y="1453233"/>
                </a:cubicBezTo>
                <a:cubicBezTo>
                  <a:pt x="2213610" y="1451328"/>
                  <a:pt x="2228215" y="1460218"/>
                  <a:pt x="2251710" y="1444978"/>
                </a:cubicBezTo>
                <a:cubicBezTo>
                  <a:pt x="2275205" y="1429738"/>
                  <a:pt x="2283460" y="1404973"/>
                  <a:pt x="2301875" y="1378303"/>
                </a:cubicBezTo>
                <a:cubicBezTo>
                  <a:pt x="2320290" y="1351633"/>
                  <a:pt x="2330450" y="1340203"/>
                  <a:pt x="2343785" y="1311628"/>
                </a:cubicBezTo>
                <a:cubicBezTo>
                  <a:pt x="2357120" y="1283053"/>
                  <a:pt x="2357120" y="1266543"/>
                  <a:pt x="2368550" y="1236698"/>
                </a:cubicBezTo>
                <a:cubicBezTo>
                  <a:pt x="2379980" y="1206853"/>
                  <a:pt x="2390775" y="1191613"/>
                  <a:pt x="2402205" y="1161768"/>
                </a:cubicBezTo>
                <a:cubicBezTo>
                  <a:pt x="2413635" y="1131923"/>
                  <a:pt x="2413635" y="1115413"/>
                  <a:pt x="2426970" y="1086838"/>
                </a:cubicBezTo>
                <a:cubicBezTo>
                  <a:pt x="2440305" y="1058263"/>
                  <a:pt x="2450465" y="1048103"/>
                  <a:pt x="2468880" y="1019528"/>
                </a:cubicBezTo>
                <a:cubicBezTo>
                  <a:pt x="2487295" y="990953"/>
                  <a:pt x="2509520" y="957933"/>
                  <a:pt x="2518410" y="944598"/>
                </a:cubicBezTo>
              </a:path>
            </a:pathLst>
          </a:custGeom>
          <a:noFill/>
          <a:ln w="38100">
            <a:solidFill>
              <a:schemeClr val="tx1"/>
            </a:solidFill>
          </a:ln>
        </p:spPr>
        <p:txBody>
          <a:bodyPr vert="horz" lIns="90000" tIns="46800" rIns="90000" bIns="46800" rtlCol="0" anchor="ctr" anchorCtr="0">
            <a:noAutofit/>
          </a:bodyPr>
          <a:p>
            <a:endParaRPr lang="zh-CN" altLang="en-US" sz="2445">
              <a:solidFill>
                <a:schemeClr val="tx1"/>
              </a:solidFill>
            </a:endParaRPr>
          </a:p>
        </p:txBody>
      </p:sp>
      <p:sp>
        <p:nvSpPr>
          <p:cNvPr id="45" name="Text Box 44"/>
          <p:cNvSpPr txBox="1"/>
          <p:nvPr/>
        </p:nvSpPr>
        <p:spPr>
          <a:xfrm>
            <a:off x="1757045" y="5046345"/>
            <a:ext cx="296926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48" name="Text Box 47"/>
          <p:cNvSpPr txBox="1"/>
          <p:nvPr/>
        </p:nvSpPr>
        <p:spPr>
          <a:xfrm>
            <a:off x="1784985" y="391033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8" name="Oval 7"/>
          <p:cNvSpPr/>
          <p:nvPr/>
        </p:nvSpPr>
        <p:spPr>
          <a:xfrm>
            <a:off x="2417445" y="293941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9" name="Oval 8"/>
          <p:cNvSpPr/>
          <p:nvPr/>
        </p:nvSpPr>
        <p:spPr>
          <a:xfrm>
            <a:off x="3193415" y="368427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1" name="Oval 50"/>
          <p:cNvSpPr/>
          <p:nvPr/>
        </p:nvSpPr>
        <p:spPr>
          <a:xfrm>
            <a:off x="3691255" y="430212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2" name="Oval 51"/>
          <p:cNvSpPr/>
          <p:nvPr/>
        </p:nvSpPr>
        <p:spPr>
          <a:xfrm>
            <a:off x="4174490" y="408432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4" name="Text Box 53"/>
          <p:cNvSpPr txBox="1"/>
          <p:nvPr/>
        </p:nvSpPr>
        <p:spPr>
          <a:xfrm>
            <a:off x="2976245" y="299402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55" name="Text Box 54"/>
          <p:cNvSpPr txBox="1"/>
          <p:nvPr/>
        </p:nvSpPr>
        <p:spPr>
          <a:xfrm>
            <a:off x="3348990" y="39490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56" name="Text Box 55"/>
          <p:cNvSpPr txBox="1"/>
          <p:nvPr/>
        </p:nvSpPr>
        <p:spPr>
          <a:xfrm>
            <a:off x="3601720" y="40303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58" name="Straight Connector 57"/>
          <p:cNvCxnSpPr>
            <a:endCxn id="84" idx="3"/>
          </p:cNvCxnSpPr>
          <p:nvPr/>
        </p:nvCxnSpPr>
        <p:spPr>
          <a:xfrm flipV="1">
            <a:off x="1974850" y="3757295"/>
            <a:ext cx="199390" cy="52070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79" name="Straight Connector 78"/>
          <p:cNvCxnSpPr>
            <a:stCxn id="36" idx="8"/>
          </p:cNvCxnSpPr>
          <p:nvPr/>
        </p:nvCxnSpPr>
        <p:spPr>
          <a:xfrm>
            <a:off x="2216150" y="3684270"/>
            <a:ext cx="8255" cy="13271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0" name="Straight Connector 79"/>
          <p:cNvCxnSpPr/>
          <p:nvPr/>
        </p:nvCxnSpPr>
        <p:spPr>
          <a:xfrm>
            <a:off x="2473960" y="2983230"/>
            <a:ext cx="0" cy="202819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1" name="Straight Connector 80"/>
          <p:cNvCxnSpPr/>
          <p:nvPr/>
        </p:nvCxnSpPr>
        <p:spPr>
          <a:xfrm>
            <a:off x="2723515" y="2978785"/>
            <a:ext cx="0" cy="203263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2" name="Straight Connector 81"/>
          <p:cNvCxnSpPr>
            <a:stCxn id="54" idx="1"/>
          </p:cNvCxnSpPr>
          <p:nvPr/>
        </p:nvCxnSpPr>
        <p:spPr>
          <a:xfrm flipH="1">
            <a:off x="2973070" y="3138170"/>
            <a:ext cx="3175" cy="18732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3" name="Straight Connector 82"/>
          <p:cNvCxnSpPr/>
          <p:nvPr/>
        </p:nvCxnSpPr>
        <p:spPr>
          <a:xfrm>
            <a:off x="3472180" y="4244340"/>
            <a:ext cx="0" cy="76708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84" name="Oval 83"/>
          <p:cNvSpPr/>
          <p:nvPr/>
        </p:nvSpPr>
        <p:spPr>
          <a:xfrm>
            <a:off x="2160270" y="367474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5" name="Oval 84"/>
          <p:cNvSpPr/>
          <p:nvPr/>
        </p:nvSpPr>
        <p:spPr>
          <a:xfrm>
            <a:off x="2675255" y="290893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6" name="Oval 85"/>
          <p:cNvSpPr/>
          <p:nvPr/>
        </p:nvSpPr>
        <p:spPr>
          <a:xfrm>
            <a:off x="2941320" y="308991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7" name="Oval 86"/>
          <p:cNvSpPr/>
          <p:nvPr/>
        </p:nvSpPr>
        <p:spPr>
          <a:xfrm>
            <a:off x="3421380" y="41808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8" name="Oval 87"/>
          <p:cNvSpPr/>
          <p:nvPr/>
        </p:nvSpPr>
        <p:spPr>
          <a:xfrm>
            <a:off x="3936365" y="436372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9" name="Text Box 88"/>
          <p:cNvSpPr txBox="1"/>
          <p:nvPr/>
        </p:nvSpPr>
        <p:spPr>
          <a:xfrm>
            <a:off x="1942465" y="359981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0" name="Text Box 89"/>
          <p:cNvSpPr txBox="1"/>
          <p:nvPr/>
        </p:nvSpPr>
        <p:spPr>
          <a:xfrm>
            <a:off x="2319655" y="26536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1" name="Text Box 90"/>
          <p:cNvSpPr txBox="1"/>
          <p:nvPr/>
        </p:nvSpPr>
        <p:spPr>
          <a:xfrm>
            <a:off x="2586355" y="265112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2" name="Text Box 91"/>
          <p:cNvSpPr txBox="1"/>
          <p:nvPr/>
        </p:nvSpPr>
        <p:spPr>
          <a:xfrm>
            <a:off x="3171190" y="342138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3" name="Text Box 92"/>
          <p:cNvSpPr txBox="1"/>
          <p:nvPr/>
        </p:nvSpPr>
        <p:spPr>
          <a:xfrm>
            <a:off x="3848100" y="41192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5" name="Text Box 94"/>
          <p:cNvSpPr txBox="1"/>
          <p:nvPr/>
        </p:nvSpPr>
        <p:spPr>
          <a:xfrm>
            <a:off x="3970020" y="3800475"/>
            <a:ext cx="43180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98" name="Straight Connector 97"/>
          <p:cNvCxnSpPr>
            <a:endCxn id="8" idx="2"/>
          </p:cNvCxnSpPr>
          <p:nvPr/>
        </p:nvCxnSpPr>
        <p:spPr>
          <a:xfrm flipV="1">
            <a:off x="2224405" y="2987675"/>
            <a:ext cx="193040" cy="6965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9" name="Straight Connector 98"/>
          <p:cNvCxnSpPr>
            <a:endCxn id="91" idx="2"/>
          </p:cNvCxnSpPr>
          <p:nvPr/>
        </p:nvCxnSpPr>
        <p:spPr>
          <a:xfrm flipV="1">
            <a:off x="2466975" y="2938780"/>
            <a:ext cx="238760" cy="349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0" name="Straight Connector 99"/>
          <p:cNvCxnSpPr>
            <a:stCxn id="85" idx="5"/>
            <a:endCxn id="86" idx="2"/>
          </p:cNvCxnSpPr>
          <p:nvPr/>
        </p:nvCxnSpPr>
        <p:spPr>
          <a:xfrm>
            <a:off x="2757805" y="2991485"/>
            <a:ext cx="183515" cy="14668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1" name="Straight Connector 100"/>
          <p:cNvCxnSpPr>
            <a:stCxn id="86" idx="4"/>
            <a:endCxn id="36" idx="31"/>
          </p:cNvCxnSpPr>
          <p:nvPr/>
        </p:nvCxnSpPr>
        <p:spPr>
          <a:xfrm>
            <a:off x="2989580" y="3186430"/>
            <a:ext cx="243840" cy="5397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2" name="Straight Connector 101"/>
          <p:cNvCxnSpPr>
            <a:stCxn id="9" idx="5"/>
            <a:endCxn id="87" idx="1"/>
          </p:cNvCxnSpPr>
          <p:nvPr/>
        </p:nvCxnSpPr>
        <p:spPr>
          <a:xfrm>
            <a:off x="3275965" y="3766820"/>
            <a:ext cx="159385" cy="4279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3" name="Straight Connector 102"/>
          <p:cNvCxnSpPr>
            <a:stCxn id="87" idx="5"/>
            <a:endCxn id="51" idx="2"/>
          </p:cNvCxnSpPr>
          <p:nvPr/>
        </p:nvCxnSpPr>
        <p:spPr>
          <a:xfrm>
            <a:off x="3503930" y="4263390"/>
            <a:ext cx="187325" cy="869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4" name="Straight Connector 103"/>
          <p:cNvCxnSpPr>
            <a:stCxn id="51" idx="5"/>
            <a:endCxn id="93" idx="2"/>
          </p:cNvCxnSpPr>
          <p:nvPr/>
        </p:nvCxnSpPr>
        <p:spPr>
          <a:xfrm>
            <a:off x="3773805" y="4384675"/>
            <a:ext cx="193675" cy="222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5" name="Straight Connector 104"/>
          <p:cNvCxnSpPr>
            <a:stCxn id="88" idx="5"/>
            <a:endCxn id="52" idx="2"/>
          </p:cNvCxnSpPr>
          <p:nvPr/>
        </p:nvCxnSpPr>
        <p:spPr>
          <a:xfrm flipV="1">
            <a:off x="4018915" y="4132580"/>
            <a:ext cx="155575" cy="3136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5" name="Straight Connector 4"/>
          <p:cNvCxnSpPr/>
          <p:nvPr/>
        </p:nvCxnSpPr>
        <p:spPr>
          <a:xfrm>
            <a:off x="1616710" y="431419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21" name="Straight Connector 20"/>
          <p:cNvCxnSpPr/>
          <p:nvPr/>
        </p:nvCxnSpPr>
        <p:spPr>
          <a:xfrm>
            <a:off x="1616710" y="298831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23" name="Straight Connector 22"/>
          <p:cNvCxnSpPr/>
          <p:nvPr/>
        </p:nvCxnSpPr>
        <p:spPr>
          <a:xfrm>
            <a:off x="1616710" y="365125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26" name="Text Box 25"/>
          <p:cNvSpPr txBox="1"/>
          <p:nvPr/>
        </p:nvSpPr>
        <p:spPr>
          <a:xfrm>
            <a:off x="1226820" y="275653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3</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28" name="Text Box 27"/>
          <p:cNvSpPr txBox="1"/>
          <p:nvPr/>
        </p:nvSpPr>
        <p:spPr>
          <a:xfrm>
            <a:off x="1226820" y="339280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2</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29" name="Text Box 28"/>
          <p:cNvSpPr txBox="1"/>
          <p:nvPr/>
        </p:nvSpPr>
        <p:spPr>
          <a:xfrm>
            <a:off x="1226820" y="406209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31" name="Text Box 30"/>
          <p:cNvSpPr txBox="1"/>
          <p:nvPr/>
        </p:nvSpPr>
        <p:spPr>
          <a:xfrm>
            <a:off x="1226820" y="471487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3" name="Text Box 2"/>
          <p:cNvSpPr txBox="1"/>
          <p:nvPr/>
        </p:nvSpPr>
        <p:spPr>
          <a:xfrm>
            <a:off x="1835785" y="5603240"/>
            <a:ext cx="1937385"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量化等级为</a:t>
            </a:r>
            <a:r>
              <a:rPr lang="en-US" altLang="zh-CN" sz="2200">
                <a:latin typeface="Alibaba PuHuiTi 3.0 55 Regular" panose="00020600040101010101" charset="-122"/>
                <a:ea typeface="Alibaba PuHuiTi 3.0 55 Regular" panose="00020600040101010101" charset="-122"/>
              </a:rPr>
              <a:t>4</a:t>
            </a:r>
            <a:endParaRPr lang="en-US" altLang="zh-CN" sz="2200">
              <a:latin typeface="Alibaba PuHuiTi 3.0 55 Regular" panose="00020600040101010101" charset="-122"/>
              <a:ea typeface="Alibaba PuHuiTi 3.0 55 Regular" panose="00020600040101010101" charset="-122"/>
            </a:endParaRPr>
          </a:p>
        </p:txBody>
      </p:sp>
      <p:sp>
        <p:nvSpPr>
          <p:cNvPr id="4" name="Text Box 3"/>
          <p:cNvSpPr txBox="1"/>
          <p:nvPr/>
        </p:nvSpPr>
        <p:spPr>
          <a:xfrm>
            <a:off x="448945" y="2225040"/>
            <a:ext cx="1130300" cy="429895"/>
          </a:xfrm>
          <a:prstGeom prst="rect">
            <a:avLst/>
          </a:prstGeom>
          <a:noFill/>
        </p:spPr>
        <p:txBody>
          <a:bodyPr wrap="square" rtlCol="0">
            <a:noAutofit/>
          </a:bodyPr>
          <a:p>
            <a:pPr algn="r"/>
            <a:r>
              <a:rPr lang="zh-CN" altLang="en-US" sz="2200">
                <a:latin typeface="Alibaba PuHuiTi 3.0 55 Regular" panose="00020600040101010101" charset="-122"/>
                <a:ea typeface="Alibaba PuHuiTi 3.0 55 Regular" panose="00020600040101010101" charset="-122"/>
              </a:rPr>
              <a:t>量化值</a:t>
            </a:r>
            <a:endParaRPr lang="zh-CN" altLang="en-US" sz="2200">
              <a:latin typeface="Alibaba PuHuiTi 3.0 55 Regular" panose="00020600040101010101" charset="-122"/>
              <a:ea typeface="Alibaba PuHuiTi 3.0 55 Regular" panose="00020600040101010101" charset="-122"/>
            </a:endParaRPr>
          </a:p>
        </p:txBody>
      </p:sp>
      <p:sp>
        <p:nvSpPr>
          <p:cNvPr id="11" name="Oval 10"/>
          <p:cNvSpPr/>
          <p:nvPr/>
        </p:nvSpPr>
        <p:spPr>
          <a:xfrm>
            <a:off x="6818630" y="419290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34" name="Straight Connector 33"/>
          <p:cNvCxnSpPr/>
          <p:nvPr/>
        </p:nvCxnSpPr>
        <p:spPr>
          <a:xfrm>
            <a:off x="6866890" y="4266565"/>
            <a:ext cx="0" cy="73977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5" name="Straight Connector 34"/>
          <p:cNvCxnSpPr>
            <a:stCxn id="44" idx="31"/>
          </p:cNvCxnSpPr>
          <p:nvPr/>
        </p:nvCxnSpPr>
        <p:spPr>
          <a:xfrm flipH="1">
            <a:off x="8114665" y="3721100"/>
            <a:ext cx="10795" cy="123444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7" name="Straight Connector 36"/>
          <p:cNvCxnSpPr/>
          <p:nvPr/>
        </p:nvCxnSpPr>
        <p:spPr>
          <a:xfrm>
            <a:off x="8613775" y="4393565"/>
            <a:ext cx="0" cy="57023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8" name="Straight Connector 37"/>
          <p:cNvCxnSpPr/>
          <p:nvPr/>
        </p:nvCxnSpPr>
        <p:spPr>
          <a:xfrm>
            <a:off x="8863330" y="4443730"/>
            <a:ext cx="0" cy="56324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9" name="Straight Connector 38"/>
          <p:cNvCxnSpPr/>
          <p:nvPr/>
        </p:nvCxnSpPr>
        <p:spPr>
          <a:xfrm>
            <a:off x="9112885" y="4175760"/>
            <a:ext cx="0" cy="83121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40" name="Straight Connector 39"/>
          <p:cNvCxnSpPr/>
          <p:nvPr/>
        </p:nvCxnSpPr>
        <p:spPr>
          <a:xfrm>
            <a:off x="6492240" y="2219960"/>
            <a:ext cx="0" cy="274320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41" name="Straight Connector 40"/>
          <p:cNvCxnSpPr/>
          <p:nvPr/>
        </p:nvCxnSpPr>
        <p:spPr>
          <a:xfrm flipH="1">
            <a:off x="6490970" y="4970145"/>
            <a:ext cx="312737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42" name="Text Box 41"/>
          <p:cNvSpPr txBox="1"/>
          <p:nvPr/>
        </p:nvSpPr>
        <p:spPr>
          <a:xfrm>
            <a:off x="5340985" y="2219960"/>
            <a:ext cx="1130300" cy="429895"/>
          </a:xfrm>
          <a:prstGeom prst="rect">
            <a:avLst/>
          </a:prstGeom>
          <a:noFill/>
        </p:spPr>
        <p:txBody>
          <a:bodyPr wrap="square" rtlCol="0">
            <a:noAutofit/>
          </a:bodyPr>
          <a:p>
            <a:pPr algn="r"/>
            <a:r>
              <a:rPr lang="zh-CN" altLang="en-US" sz="2200">
                <a:latin typeface="Alibaba PuHuiTi 3.0 55 Regular" panose="00020600040101010101" charset="-122"/>
                <a:ea typeface="Alibaba PuHuiTi 3.0 55 Regular" panose="00020600040101010101" charset="-122"/>
              </a:rPr>
              <a:t>量化值</a:t>
            </a:r>
            <a:endParaRPr lang="zh-CN" altLang="en-US" sz="2200">
              <a:latin typeface="Alibaba PuHuiTi 3.0 55 Regular" panose="00020600040101010101" charset="-122"/>
              <a:ea typeface="Alibaba PuHuiTi 3.0 55 Regular" panose="00020600040101010101" charset="-122"/>
            </a:endParaRPr>
          </a:p>
        </p:txBody>
      </p:sp>
      <p:sp>
        <p:nvSpPr>
          <p:cNvPr id="43" name="Text Box 42"/>
          <p:cNvSpPr txBox="1"/>
          <p:nvPr/>
        </p:nvSpPr>
        <p:spPr>
          <a:xfrm>
            <a:off x="9355455" y="5041265"/>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44" name="Freeform 43"/>
          <p:cNvSpPr/>
          <p:nvPr/>
        </p:nvSpPr>
        <p:spPr>
          <a:xfrm>
            <a:off x="6707505" y="2950845"/>
            <a:ext cx="2518410" cy="1645285"/>
          </a:xfrm>
          <a:custGeom>
            <a:avLst/>
            <a:gdLst>
              <a:gd name="connisteX0" fmla="*/ 0 w 2518410"/>
              <a:gd name="connsiteY0" fmla="*/ 1645002 h 1645002"/>
              <a:gd name="connisteX1" fmla="*/ 25400 w 2518410"/>
              <a:gd name="connsiteY1" fmla="*/ 1519907 h 1645002"/>
              <a:gd name="connisteX2" fmla="*/ 142240 w 2518410"/>
              <a:gd name="connsiteY2" fmla="*/ 1328137 h 1645002"/>
              <a:gd name="connisteX3" fmla="*/ 225425 w 2518410"/>
              <a:gd name="connsiteY3" fmla="*/ 1178277 h 1645002"/>
              <a:gd name="connisteX4" fmla="*/ 275590 w 2518410"/>
              <a:gd name="connsiteY4" fmla="*/ 1077947 h 1645002"/>
              <a:gd name="connisteX5" fmla="*/ 325120 w 2518410"/>
              <a:gd name="connsiteY5" fmla="*/ 978252 h 1645002"/>
              <a:gd name="connisteX6" fmla="*/ 358775 w 2518410"/>
              <a:gd name="connsiteY6" fmla="*/ 877922 h 1645002"/>
              <a:gd name="connisteX7" fmla="*/ 383540 w 2518410"/>
              <a:gd name="connsiteY7" fmla="*/ 811247 h 1645002"/>
              <a:gd name="connisteX8" fmla="*/ 400685 w 2518410"/>
              <a:gd name="connsiteY8" fmla="*/ 728062 h 1645002"/>
              <a:gd name="connisteX9" fmla="*/ 441960 w 2518410"/>
              <a:gd name="connsiteY9" fmla="*/ 611222 h 1645002"/>
              <a:gd name="connisteX10" fmla="*/ 459105 w 2518410"/>
              <a:gd name="connsiteY10" fmla="*/ 544547 h 1645002"/>
              <a:gd name="connisteX11" fmla="*/ 492125 w 2518410"/>
              <a:gd name="connsiteY11" fmla="*/ 419452 h 1645002"/>
              <a:gd name="connisteX12" fmla="*/ 525780 w 2518410"/>
              <a:gd name="connsiteY12" fmla="*/ 310867 h 1645002"/>
              <a:gd name="connisteX13" fmla="*/ 550545 w 2518410"/>
              <a:gd name="connsiteY13" fmla="*/ 227682 h 1645002"/>
              <a:gd name="connisteX14" fmla="*/ 567055 w 2518410"/>
              <a:gd name="connsiteY14" fmla="*/ 161007 h 1645002"/>
              <a:gd name="connisteX15" fmla="*/ 584200 w 2518410"/>
              <a:gd name="connsiteY15" fmla="*/ 94332 h 1645002"/>
              <a:gd name="connisteX16" fmla="*/ 625475 w 2518410"/>
              <a:gd name="connsiteY16" fmla="*/ 27657 h 1645002"/>
              <a:gd name="connisteX17" fmla="*/ 692150 w 2518410"/>
              <a:gd name="connsiteY17" fmla="*/ 10512 h 1645002"/>
              <a:gd name="connisteX18" fmla="*/ 784225 w 2518410"/>
              <a:gd name="connsiteY18" fmla="*/ 2257 h 1645002"/>
              <a:gd name="connisteX19" fmla="*/ 859155 w 2518410"/>
              <a:gd name="connsiteY19" fmla="*/ 2257 h 1645002"/>
              <a:gd name="connisteX20" fmla="*/ 925830 w 2518410"/>
              <a:gd name="connsiteY20" fmla="*/ 2257 h 1645002"/>
              <a:gd name="connisteX21" fmla="*/ 1000760 w 2518410"/>
              <a:gd name="connsiteY21" fmla="*/ 27657 h 1645002"/>
              <a:gd name="connisteX22" fmla="*/ 1067435 w 2518410"/>
              <a:gd name="connsiteY22" fmla="*/ 77187 h 1645002"/>
              <a:gd name="connisteX23" fmla="*/ 1125855 w 2518410"/>
              <a:gd name="connsiteY23" fmla="*/ 152752 h 1645002"/>
              <a:gd name="connisteX24" fmla="*/ 1176020 w 2518410"/>
              <a:gd name="connsiteY24" fmla="*/ 235937 h 1645002"/>
              <a:gd name="connisteX25" fmla="*/ 1217930 w 2518410"/>
              <a:gd name="connsiteY25" fmla="*/ 302612 h 1645002"/>
              <a:gd name="connisteX26" fmla="*/ 1242695 w 2518410"/>
              <a:gd name="connsiteY26" fmla="*/ 369287 h 1645002"/>
              <a:gd name="connisteX27" fmla="*/ 1276350 w 2518410"/>
              <a:gd name="connsiteY27" fmla="*/ 435962 h 1645002"/>
              <a:gd name="connisteX28" fmla="*/ 1309370 w 2518410"/>
              <a:gd name="connsiteY28" fmla="*/ 502637 h 1645002"/>
              <a:gd name="connisteX29" fmla="*/ 1351280 w 2518410"/>
              <a:gd name="connsiteY29" fmla="*/ 594712 h 1645002"/>
              <a:gd name="connisteX30" fmla="*/ 1384300 w 2518410"/>
              <a:gd name="connsiteY30" fmla="*/ 686152 h 1645002"/>
              <a:gd name="connisteX31" fmla="*/ 1417955 w 2518410"/>
              <a:gd name="connsiteY31" fmla="*/ 769972 h 1645002"/>
              <a:gd name="connisteX32" fmla="*/ 1450975 w 2518410"/>
              <a:gd name="connsiteY32" fmla="*/ 844902 h 1645002"/>
              <a:gd name="connisteX33" fmla="*/ 1476375 w 2518410"/>
              <a:gd name="connsiteY33" fmla="*/ 911577 h 1645002"/>
              <a:gd name="connisteX34" fmla="*/ 1501140 w 2518410"/>
              <a:gd name="connsiteY34" fmla="*/ 1003017 h 1645002"/>
              <a:gd name="connisteX35" fmla="*/ 1526540 w 2518410"/>
              <a:gd name="connsiteY35" fmla="*/ 1077947 h 1645002"/>
              <a:gd name="connisteX36" fmla="*/ 1551305 w 2518410"/>
              <a:gd name="connsiteY36" fmla="*/ 1153512 h 1645002"/>
              <a:gd name="connisteX37" fmla="*/ 1601470 w 2518410"/>
              <a:gd name="connsiteY37" fmla="*/ 1220187 h 1645002"/>
              <a:gd name="connisteX38" fmla="*/ 1676400 w 2518410"/>
              <a:gd name="connsiteY38" fmla="*/ 1269717 h 1645002"/>
              <a:gd name="connisteX39" fmla="*/ 1743075 w 2518410"/>
              <a:gd name="connsiteY39" fmla="*/ 1319882 h 1645002"/>
              <a:gd name="connisteX40" fmla="*/ 1809750 w 2518410"/>
              <a:gd name="connsiteY40" fmla="*/ 1353537 h 1645002"/>
              <a:gd name="connisteX41" fmla="*/ 1876425 w 2518410"/>
              <a:gd name="connsiteY41" fmla="*/ 1386557 h 1645002"/>
              <a:gd name="connisteX42" fmla="*/ 1951355 w 2518410"/>
              <a:gd name="connsiteY42" fmla="*/ 1411957 h 1645002"/>
              <a:gd name="connisteX43" fmla="*/ 2035175 w 2518410"/>
              <a:gd name="connsiteY43" fmla="*/ 1436722 h 1645002"/>
              <a:gd name="connisteX44" fmla="*/ 2110105 w 2518410"/>
              <a:gd name="connsiteY44" fmla="*/ 1453232 h 1645002"/>
              <a:gd name="connisteX45" fmla="*/ 2185035 w 2518410"/>
              <a:gd name="connsiteY45" fmla="*/ 1453232 h 1645002"/>
              <a:gd name="connisteX46" fmla="*/ 2251710 w 2518410"/>
              <a:gd name="connsiteY46" fmla="*/ 1444977 h 1645002"/>
              <a:gd name="connisteX47" fmla="*/ 2301875 w 2518410"/>
              <a:gd name="connsiteY47" fmla="*/ 1378302 h 1645002"/>
              <a:gd name="connisteX48" fmla="*/ 2343785 w 2518410"/>
              <a:gd name="connsiteY48" fmla="*/ 1311627 h 1645002"/>
              <a:gd name="connisteX49" fmla="*/ 2368550 w 2518410"/>
              <a:gd name="connsiteY49" fmla="*/ 1236697 h 1645002"/>
              <a:gd name="connisteX50" fmla="*/ 2402205 w 2518410"/>
              <a:gd name="connsiteY50" fmla="*/ 1161767 h 1645002"/>
              <a:gd name="connisteX51" fmla="*/ 2426970 w 2518410"/>
              <a:gd name="connsiteY51" fmla="*/ 1086837 h 1645002"/>
              <a:gd name="connisteX52" fmla="*/ 2468880 w 2518410"/>
              <a:gd name="connsiteY52" fmla="*/ 1019527 h 1645002"/>
              <a:gd name="connisteX53" fmla="*/ 2518410 w 2518410"/>
              <a:gd name="connsiteY53" fmla="*/ 944597 h 164500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Lst>
            <a:rect l="l" t="t" r="r" b="b"/>
            <a:pathLst>
              <a:path w="2518410" h="1645003">
                <a:moveTo>
                  <a:pt x="0" y="1645003"/>
                </a:moveTo>
                <a:cubicBezTo>
                  <a:pt x="2540" y="1624048"/>
                  <a:pt x="-3175" y="1583408"/>
                  <a:pt x="25400" y="1519908"/>
                </a:cubicBezTo>
                <a:cubicBezTo>
                  <a:pt x="53975" y="1456408"/>
                  <a:pt x="102235" y="1396718"/>
                  <a:pt x="142240" y="1328138"/>
                </a:cubicBezTo>
                <a:cubicBezTo>
                  <a:pt x="182245" y="1259558"/>
                  <a:pt x="198755" y="1228443"/>
                  <a:pt x="225425" y="1178278"/>
                </a:cubicBezTo>
                <a:cubicBezTo>
                  <a:pt x="252095" y="1128113"/>
                  <a:pt x="255905" y="1117953"/>
                  <a:pt x="275590" y="1077948"/>
                </a:cubicBezTo>
                <a:cubicBezTo>
                  <a:pt x="295275" y="1037943"/>
                  <a:pt x="308610" y="1018258"/>
                  <a:pt x="325120" y="978253"/>
                </a:cubicBezTo>
                <a:cubicBezTo>
                  <a:pt x="341630" y="938248"/>
                  <a:pt x="347345" y="911578"/>
                  <a:pt x="358775" y="877923"/>
                </a:cubicBezTo>
                <a:cubicBezTo>
                  <a:pt x="370205" y="844268"/>
                  <a:pt x="375285" y="841093"/>
                  <a:pt x="383540" y="811248"/>
                </a:cubicBezTo>
                <a:cubicBezTo>
                  <a:pt x="391795" y="781403"/>
                  <a:pt x="389255" y="768068"/>
                  <a:pt x="400685" y="728063"/>
                </a:cubicBezTo>
                <a:cubicBezTo>
                  <a:pt x="412115" y="688058"/>
                  <a:pt x="430530" y="648053"/>
                  <a:pt x="441960" y="611223"/>
                </a:cubicBezTo>
                <a:cubicBezTo>
                  <a:pt x="453390" y="574393"/>
                  <a:pt x="448945" y="582648"/>
                  <a:pt x="459105" y="544548"/>
                </a:cubicBezTo>
                <a:cubicBezTo>
                  <a:pt x="469265" y="506448"/>
                  <a:pt x="478790" y="466443"/>
                  <a:pt x="492125" y="419453"/>
                </a:cubicBezTo>
                <a:cubicBezTo>
                  <a:pt x="505460" y="372463"/>
                  <a:pt x="514350" y="348968"/>
                  <a:pt x="525780" y="310868"/>
                </a:cubicBezTo>
                <a:cubicBezTo>
                  <a:pt x="537210" y="272768"/>
                  <a:pt x="542290" y="257528"/>
                  <a:pt x="550545" y="227683"/>
                </a:cubicBezTo>
                <a:cubicBezTo>
                  <a:pt x="558800" y="197838"/>
                  <a:pt x="560070" y="187678"/>
                  <a:pt x="567055" y="161008"/>
                </a:cubicBezTo>
                <a:cubicBezTo>
                  <a:pt x="574040" y="134338"/>
                  <a:pt x="572770" y="121003"/>
                  <a:pt x="584200" y="94333"/>
                </a:cubicBezTo>
                <a:cubicBezTo>
                  <a:pt x="595630" y="67663"/>
                  <a:pt x="603885" y="44168"/>
                  <a:pt x="625475" y="27658"/>
                </a:cubicBezTo>
                <a:cubicBezTo>
                  <a:pt x="647065" y="11148"/>
                  <a:pt x="660400" y="15593"/>
                  <a:pt x="692150" y="10513"/>
                </a:cubicBezTo>
                <a:cubicBezTo>
                  <a:pt x="723900" y="5433"/>
                  <a:pt x="750570" y="4163"/>
                  <a:pt x="784225" y="2258"/>
                </a:cubicBezTo>
                <a:cubicBezTo>
                  <a:pt x="817880" y="353"/>
                  <a:pt x="830580" y="2258"/>
                  <a:pt x="859155" y="2258"/>
                </a:cubicBezTo>
                <a:cubicBezTo>
                  <a:pt x="887730" y="2258"/>
                  <a:pt x="897255" y="-2822"/>
                  <a:pt x="925830" y="2258"/>
                </a:cubicBezTo>
                <a:cubicBezTo>
                  <a:pt x="954405" y="7338"/>
                  <a:pt x="972185" y="12418"/>
                  <a:pt x="1000760" y="27658"/>
                </a:cubicBezTo>
                <a:cubicBezTo>
                  <a:pt x="1029335" y="42898"/>
                  <a:pt x="1042670" y="52423"/>
                  <a:pt x="1067435" y="77188"/>
                </a:cubicBezTo>
                <a:cubicBezTo>
                  <a:pt x="1092200" y="101953"/>
                  <a:pt x="1104265" y="121003"/>
                  <a:pt x="1125855" y="152753"/>
                </a:cubicBezTo>
                <a:cubicBezTo>
                  <a:pt x="1147445" y="184503"/>
                  <a:pt x="1157605" y="206093"/>
                  <a:pt x="1176020" y="235938"/>
                </a:cubicBezTo>
                <a:cubicBezTo>
                  <a:pt x="1194435" y="265783"/>
                  <a:pt x="1204595" y="275943"/>
                  <a:pt x="1217930" y="302613"/>
                </a:cubicBezTo>
                <a:cubicBezTo>
                  <a:pt x="1231265" y="329283"/>
                  <a:pt x="1231265" y="342618"/>
                  <a:pt x="1242695" y="369288"/>
                </a:cubicBezTo>
                <a:cubicBezTo>
                  <a:pt x="1254125" y="395958"/>
                  <a:pt x="1263015" y="409293"/>
                  <a:pt x="1276350" y="435963"/>
                </a:cubicBezTo>
                <a:cubicBezTo>
                  <a:pt x="1289685" y="462633"/>
                  <a:pt x="1294130" y="470888"/>
                  <a:pt x="1309370" y="502638"/>
                </a:cubicBezTo>
                <a:cubicBezTo>
                  <a:pt x="1324610" y="534388"/>
                  <a:pt x="1336040" y="557883"/>
                  <a:pt x="1351280" y="594713"/>
                </a:cubicBezTo>
                <a:cubicBezTo>
                  <a:pt x="1366520" y="631543"/>
                  <a:pt x="1370965" y="651228"/>
                  <a:pt x="1384300" y="686153"/>
                </a:cubicBezTo>
                <a:cubicBezTo>
                  <a:pt x="1397635" y="721078"/>
                  <a:pt x="1404620" y="738223"/>
                  <a:pt x="1417955" y="769973"/>
                </a:cubicBezTo>
                <a:cubicBezTo>
                  <a:pt x="1431290" y="801723"/>
                  <a:pt x="1439545" y="816328"/>
                  <a:pt x="1450975" y="844903"/>
                </a:cubicBezTo>
                <a:cubicBezTo>
                  <a:pt x="1462405" y="873478"/>
                  <a:pt x="1466215" y="879828"/>
                  <a:pt x="1476375" y="911578"/>
                </a:cubicBezTo>
                <a:cubicBezTo>
                  <a:pt x="1486535" y="943328"/>
                  <a:pt x="1490980" y="969998"/>
                  <a:pt x="1501140" y="1003018"/>
                </a:cubicBezTo>
                <a:cubicBezTo>
                  <a:pt x="1511300" y="1036038"/>
                  <a:pt x="1516380" y="1048103"/>
                  <a:pt x="1526540" y="1077948"/>
                </a:cubicBezTo>
                <a:cubicBezTo>
                  <a:pt x="1536700" y="1107793"/>
                  <a:pt x="1536065" y="1124938"/>
                  <a:pt x="1551305" y="1153513"/>
                </a:cubicBezTo>
                <a:cubicBezTo>
                  <a:pt x="1566545" y="1182088"/>
                  <a:pt x="1576705" y="1196693"/>
                  <a:pt x="1601470" y="1220188"/>
                </a:cubicBezTo>
                <a:cubicBezTo>
                  <a:pt x="1626235" y="1243683"/>
                  <a:pt x="1647825" y="1250033"/>
                  <a:pt x="1676400" y="1269718"/>
                </a:cubicBezTo>
                <a:cubicBezTo>
                  <a:pt x="1704975" y="1289403"/>
                  <a:pt x="1716405" y="1303373"/>
                  <a:pt x="1743075" y="1319883"/>
                </a:cubicBezTo>
                <a:cubicBezTo>
                  <a:pt x="1769745" y="1336393"/>
                  <a:pt x="1783080" y="1340203"/>
                  <a:pt x="1809750" y="1353538"/>
                </a:cubicBezTo>
                <a:cubicBezTo>
                  <a:pt x="1836420" y="1366873"/>
                  <a:pt x="1847850" y="1375128"/>
                  <a:pt x="1876425" y="1386558"/>
                </a:cubicBezTo>
                <a:cubicBezTo>
                  <a:pt x="1905000" y="1397988"/>
                  <a:pt x="1919605" y="1401798"/>
                  <a:pt x="1951355" y="1411958"/>
                </a:cubicBezTo>
                <a:cubicBezTo>
                  <a:pt x="1983105" y="1422118"/>
                  <a:pt x="2003425" y="1428468"/>
                  <a:pt x="2035175" y="1436723"/>
                </a:cubicBezTo>
                <a:cubicBezTo>
                  <a:pt x="2066925" y="1444978"/>
                  <a:pt x="2080260" y="1450058"/>
                  <a:pt x="2110105" y="1453233"/>
                </a:cubicBezTo>
                <a:cubicBezTo>
                  <a:pt x="2139950" y="1456408"/>
                  <a:pt x="2156460" y="1455138"/>
                  <a:pt x="2185035" y="1453233"/>
                </a:cubicBezTo>
                <a:cubicBezTo>
                  <a:pt x="2213610" y="1451328"/>
                  <a:pt x="2228215" y="1460218"/>
                  <a:pt x="2251710" y="1444978"/>
                </a:cubicBezTo>
                <a:cubicBezTo>
                  <a:pt x="2275205" y="1429738"/>
                  <a:pt x="2283460" y="1404973"/>
                  <a:pt x="2301875" y="1378303"/>
                </a:cubicBezTo>
                <a:cubicBezTo>
                  <a:pt x="2320290" y="1351633"/>
                  <a:pt x="2330450" y="1340203"/>
                  <a:pt x="2343785" y="1311628"/>
                </a:cubicBezTo>
                <a:cubicBezTo>
                  <a:pt x="2357120" y="1283053"/>
                  <a:pt x="2357120" y="1266543"/>
                  <a:pt x="2368550" y="1236698"/>
                </a:cubicBezTo>
                <a:cubicBezTo>
                  <a:pt x="2379980" y="1206853"/>
                  <a:pt x="2390775" y="1191613"/>
                  <a:pt x="2402205" y="1161768"/>
                </a:cubicBezTo>
                <a:cubicBezTo>
                  <a:pt x="2413635" y="1131923"/>
                  <a:pt x="2413635" y="1115413"/>
                  <a:pt x="2426970" y="1086838"/>
                </a:cubicBezTo>
                <a:cubicBezTo>
                  <a:pt x="2440305" y="1058263"/>
                  <a:pt x="2450465" y="1048103"/>
                  <a:pt x="2468880" y="1019528"/>
                </a:cubicBezTo>
                <a:cubicBezTo>
                  <a:pt x="2487295" y="990953"/>
                  <a:pt x="2509520" y="957933"/>
                  <a:pt x="2518410" y="944598"/>
                </a:cubicBezTo>
              </a:path>
            </a:pathLst>
          </a:custGeom>
          <a:noFill/>
          <a:ln w="38100">
            <a:solidFill>
              <a:schemeClr val="tx1"/>
            </a:solidFill>
          </a:ln>
        </p:spPr>
        <p:txBody>
          <a:bodyPr vert="horz" lIns="90000" tIns="46800" rIns="90000" bIns="46800" rtlCol="0" anchor="ctr" anchorCtr="0">
            <a:noAutofit/>
          </a:bodyPr>
          <a:p>
            <a:endParaRPr lang="zh-CN" altLang="en-US" sz="2445">
              <a:solidFill>
                <a:schemeClr val="tx1"/>
              </a:solidFill>
            </a:endParaRPr>
          </a:p>
        </p:txBody>
      </p:sp>
      <p:sp>
        <p:nvSpPr>
          <p:cNvPr id="46" name="Text Box 45"/>
          <p:cNvSpPr txBox="1"/>
          <p:nvPr/>
        </p:nvSpPr>
        <p:spPr>
          <a:xfrm>
            <a:off x="6649085" y="5041265"/>
            <a:ext cx="296926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47" name="Text Box 46"/>
          <p:cNvSpPr txBox="1"/>
          <p:nvPr/>
        </p:nvSpPr>
        <p:spPr>
          <a:xfrm>
            <a:off x="6677025" y="390525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49" name="Oval 48"/>
          <p:cNvSpPr/>
          <p:nvPr/>
        </p:nvSpPr>
        <p:spPr>
          <a:xfrm>
            <a:off x="7309485" y="293433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0" name="Oval 49"/>
          <p:cNvSpPr/>
          <p:nvPr/>
        </p:nvSpPr>
        <p:spPr>
          <a:xfrm>
            <a:off x="8085455" y="367919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3" name="Oval 52"/>
          <p:cNvSpPr/>
          <p:nvPr/>
        </p:nvSpPr>
        <p:spPr>
          <a:xfrm>
            <a:off x="8583295" y="429704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7" name="Oval 56"/>
          <p:cNvSpPr/>
          <p:nvPr/>
        </p:nvSpPr>
        <p:spPr>
          <a:xfrm>
            <a:off x="9066530" y="40792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9" name="Text Box 58"/>
          <p:cNvSpPr txBox="1"/>
          <p:nvPr/>
        </p:nvSpPr>
        <p:spPr>
          <a:xfrm>
            <a:off x="7868285" y="29889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6</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60" name="Text Box 59"/>
          <p:cNvSpPr txBox="1"/>
          <p:nvPr/>
        </p:nvSpPr>
        <p:spPr>
          <a:xfrm>
            <a:off x="8241030" y="394398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61" name="Text Box 60"/>
          <p:cNvSpPr txBox="1"/>
          <p:nvPr/>
        </p:nvSpPr>
        <p:spPr>
          <a:xfrm>
            <a:off x="8493760" y="40252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62" name="Straight Connector 61"/>
          <p:cNvCxnSpPr>
            <a:endCxn id="68" idx="3"/>
          </p:cNvCxnSpPr>
          <p:nvPr/>
        </p:nvCxnSpPr>
        <p:spPr>
          <a:xfrm flipV="1">
            <a:off x="6866890" y="3752215"/>
            <a:ext cx="199390" cy="52070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63" name="Straight Connector 62"/>
          <p:cNvCxnSpPr>
            <a:stCxn id="44" idx="8"/>
          </p:cNvCxnSpPr>
          <p:nvPr/>
        </p:nvCxnSpPr>
        <p:spPr>
          <a:xfrm>
            <a:off x="7108190" y="3679190"/>
            <a:ext cx="8255" cy="13271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4" name="Straight Connector 63"/>
          <p:cNvCxnSpPr/>
          <p:nvPr/>
        </p:nvCxnSpPr>
        <p:spPr>
          <a:xfrm>
            <a:off x="7366000" y="2978150"/>
            <a:ext cx="0" cy="202819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5" name="Straight Connector 64"/>
          <p:cNvCxnSpPr/>
          <p:nvPr/>
        </p:nvCxnSpPr>
        <p:spPr>
          <a:xfrm>
            <a:off x="7615555" y="2973705"/>
            <a:ext cx="0" cy="203263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6" name="Straight Connector 65"/>
          <p:cNvCxnSpPr>
            <a:stCxn id="59" idx="1"/>
          </p:cNvCxnSpPr>
          <p:nvPr/>
        </p:nvCxnSpPr>
        <p:spPr>
          <a:xfrm flipH="1">
            <a:off x="7865110" y="3133090"/>
            <a:ext cx="3175" cy="18732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7" name="Straight Connector 66"/>
          <p:cNvCxnSpPr/>
          <p:nvPr/>
        </p:nvCxnSpPr>
        <p:spPr>
          <a:xfrm>
            <a:off x="8364220" y="4239260"/>
            <a:ext cx="0" cy="76708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68" name="Oval 67"/>
          <p:cNvSpPr/>
          <p:nvPr/>
        </p:nvSpPr>
        <p:spPr>
          <a:xfrm>
            <a:off x="7052310" y="366966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9" name="Oval 68"/>
          <p:cNvSpPr/>
          <p:nvPr/>
        </p:nvSpPr>
        <p:spPr>
          <a:xfrm>
            <a:off x="7567295" y="290385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0" name="Oval 69"/>
          <p:cNvSpPr/>
          <p:nvPr/>
        </p:nvSpPr>
        <p:spPr>
          <a:xfrm>
            <a:off x="7833360" y="308483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1" name="Oval 70"/>
          <p:cNvSpPr/>
          <p:nvPr/>
        </p:nvSpPr>
        <p:spPr>
          <a:xfrm>
            <a:off x="8313420" y="417576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2" name="Oval 71"/>
          <p:cNvSpPr/>
          <p:nvPr/>
        </p:nvSpPr>
        <p:spPr>
          <a:xfrm>
            <a:off x="8828405" y="43586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3" name="Text Box 72"/>
          <p:cNvSpPr txBox="1"/>
          <p:nvPr/>
        </p:nvSpPr>
        <p:spPr>
          <a:xfrm>
            <a:off x="6834505" y="359473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4</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4" name="Text Box 73"/>
          <p:cNvSpPr txBox="1"/>
          <p:nvPr/>
        </p:nvSpPr>
        <p:spPr>
          <a:xfrm>
            <a:off x="7211695" y="264858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7</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5" name="Text Box 74"/>
          <p:cNvSpPr txBox="1"/>
          <p:nvPr/>
        </p:nvSpPr>
        <p:spPr>
          <a:xfrm>
            <a:off x="7478395" y="26460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7</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6" name="Text Box 75"/>
          <p:cNvSpPr txBox="1"/>
          <p:nvPr/>
        </p:nvSpPr>
        <p:spPr>
          <a:xfrm>
            <a:off x="8063230" y="341630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4</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7" name="Text Box 76"/>
          <p:cNvSpPr txBox="1"/>
          <p:nvPr/>
        </p:nvSpPr>
        <p:spPr>
          <a:xfrm>
            <a:off x="8740140" y="41141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8" name="Text Box 77"/>
          <p:cNvSpPr txBox="1"/>
          <p:nvPr/>
        </p:nvSpPr>
        <p:spPr>
          <a:xfrm>
            <a:off x="8862060" y="3795395"/>
            <a:ext cx="43180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94" name="Straight Connector 93"/>
          <p:cNvCxnSpPr>
            <a:endCxn id="49" idx="2"/>
          </p:cNvCxnSpPr>
          <p:nvPr/>
        </p:nvCxnSpPr>
        <p:spPr>
          <a:xfrm flipV="1">
            <a:off x="7116445" y="2982595"/>
            <a:ext cx="193040" cy="6965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6" name="Straight Connector 95"/>
          <p:cNvCxnSpPr>
            <a:endCxn id="75" idx="2"/>
          </p:cNvCxnSpPr>
          <p:nvPr/>
        </p:nvCxnSpPr>
        <p:spPr>
          <a:xfrm flipV="1">
            <a:off x="7359015" y="2933700"/>
            <a:ext cx="238760" cy="349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7" name="Straight Connector 96"/>
          <p:cNvCxnSpPr>
            <a:stCxn id="69" idx="5"/>
            <a:endCxn id="70" idx="2"/>
          </p:cNvCxnSpPr>
          <p:nvPr/>
        </p:nvCxnSpPr>
        <p:spPr>
          <a:xfrm>
            <a:off x="7649845" y="2986405"/>
            <a:ext cx="183515" cy="14668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6" name="Straight Connector 105"/>
          <p:cNvCxnSpPr>
            <a:stCxn id="70" idx="4"/>
            <a:endCxn id="44" idx="31"/>
          </p:cNvCxnSpPr>
          <p:nvPr/>
        </p:nvCxnSpPr>
        <p:spPr>
          <a:xfrm>
            <a:off x="7881620" y="3181350"/>
            <a:ext cx="243840" cy="5397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7" name="Straight Connector 106"/>
          <p:cNvCxnSpPr>
            <a:stCxn id="50" idx="5"/>
            <a:endCxn id="71" idx="1"/>
          </p:cNvCxnSpPr>
          <p:nvPr/>
        </p:nvCxnSpPr>
        <p:spPr>
          <a:xfrm>
            <a:off x="8168005" y="3761740"/>
            <a:ext cx="159385" cy="4279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8" name="Straight Connector 107"/>
          <p:cNvCxnSpPr>
            <a:stCxn id="71" idx="5"/>
            <a:endCxn id="53" idx="2"/>
          </p:cNvCxnSpPr>
          <p:nvPr/>
        </p:nvCxnSpPr>
        <p:spPr>
          <a:xfrm>
            <a:off x="8395970" y="4258310"/>
            <a:ext cx="187325" cy="869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9" name="Straight Connector 108"/>
          <p:cNvCxnSpPr>
            <a:stCxn id="53" idx="5"/>
            <a:endCxn id="77" idx="2"/>
          </p:cNvCxnSpPr>
          <p:nvPr/>
        </p:nvCxnSpPr>
        <p:spPr>
          <a:xfrm>
            <a:off x="8665845" y="4379595"/>
            <a:ext cx="193675" cy="222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0" name="Straight Connector 109"/>
          <p:cNvCxnSpPr>
            <a:stCxn id="72" idx="5"/>
            <a:endCxn id="57" idx="2"/>
          </p:cNvCxnSpPr>
          <p:nvPr/>
        </p:nvCxnSpPr>
        <p:spPr>
          <a:xfrm flipV="1">
            <a:off x="8910955" y="4127500"/>
            <a:ext cx="155575" cy="3136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1" name="Straight Connector 110"/>
          <p:cNvCxnSpPr/>
          <p:nvPr/>
        </p:nvCxnSpPr>
        <p:spPr>
          <a:xfrm>
            <a:off x="6508750" y="355092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2" name="Straight Connector 111"/>
          <p:cNvCxnSpPr/>
          <p:nvPr/>
        </p:nvCxnSpPr>
        <p:spPr>
          <a:xfrm>
            <a:off x="6508750" y="298323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3" name="Straight Connector 112"/>
          <p:cNvCxnSpPr/>
          <p:nvPr/>
        </p:nvCxnSpPr>
        <p:spPr>
          <a:xfrm>
            <a:off x="6508750" y="3267075"/>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114" name="Text Box 113"/>
          <p:cNvSpPr txBox="1"/>
          <p:nvPr/>
        </p:nvSpPr>
        <p:spPr>
          <a:xfrm>
            <a:off x="6118860" y="3905250"/>
            <a:ext cx="243205" cy="425450"/>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3</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5" name="Text Box 114"/>
          <p:cNvSpPr txBox="1"/>
          <p:nvPr/>
        </p:nvSpPr>
        <p:spPr>
          <a:xfrm>
            <a:off x="6118860" y="419417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2</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6" name="Text Box 115"/>
          <p:cNvSpPr txBox="1"/>
          <p:nvPr/>
        </p:nvSpPr>
        <p:spPr>
          <a:xfrm>
            <a:off x="6118860" y="446976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7" name="Text Box 116"/>
          <p:cNvSpPr txBox="1"/>
          <p:nvPr/>
        </p:nvSpPr>
        <p:spPr>
          <a:xfrm>
            <a:off x="6118860" y="470979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8" name="Text Box 117"/>
          <p:cNvSpPr txBox="1"/>
          <p:nvPr/>
        </p:nvSpPr>
        <p:spPr>
          <a:xfrm>
            <a:off x="6681470" y="5603240"/>
            <a:ext cx="1937385"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量化等级为</a:t>
            </a:r>
            <a:r>
              <a:rPr lang="en-US" altLang="zh-CN" sz="2200">
                <a:latin typeface="Alibaba PuHuiTi 3.0 55 Regular" panose="00020600040101010101" charset="-122"/>
                <a:ea typeface="Alibaba PuHuiTi 3.0 55 Regular" panose="00020600040101010101" charset="-122"/>
              </a:rPr>
              <a:t>8</a:t>
            </a:r>
            <a:endParaRPr lang="en-US" altLang="zh-CN" sz="2200">
              <a:latin typeface="Alibaba PuHuiTi 3.0 55 Regular" panose="00020600040101010101" charset="-122"/>
              <a:ea typeface="Alibaba PuHuiTi 3.0 55 Regular" panose="00020600040101010101" charset="-122"/>
            </a:endParaRPr>
          </a:p>
        </p:txBody>
      </p:sp>
      <p:cxnSp>
        <p:nvCxnSpPr>
          <p:cNvPr id="119" name="Straight Connector 118"/>
          <p:cNvCxnSpPr/>
          <p:nvPr/>
        </p:nvCxnSpPr>
        <p:spPr>
          <a:xfrm>
            <a:off x="6508750" y="3834765"/>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0" name="Straight Connector 119"/>
          <p:cNvCxnSpPr/>
          <p:nvPr/>
        </p:nvCxnSpPr>
        <p:spPr>
          <a:xfrm>
            <a:off x="6508750" y="411861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1" name="Straight Connector 120"/>
          <p:cNvCxnSpPr/>
          <p:nvPr/>
        </p:nvCxnSpPr>
        <p:spPr>
          <a:xfrm>
            <a:off x="6508750" y="4379595"/>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2" name="Straight Connector 121"/>
          <p:cNvCxnSpPr/>
          <p:nvPr/>
        </p:nvCxnSpPr>
        <p:spPr>
          <a:xfrm>
            <a:off x="6508750" y="468630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131" name="Text Box 130"/>
          <p:cNvSpPr txBox="1"/>
          <p:nvPr/>
        </p:nvSpPr>
        <p:spPr>
          <a:xfrm>
            <a:off x="6120130" y="2819400"/>
            <a:ext cx="243205" cy="425450"/>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7</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2" name="Text Box 131"/>
          <p:cNvSpPr txBox="1"/>
          <p:nvPr/>
        </p:nvSpPr>
        <p:spPr>
          <a:xfrm>
            <a:off x="6120130" y="310832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6</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3" name="Text Box 132"/>
          <p:cNvSpPr txBox="1"/>
          <p:nvPr/>
        </p:nvSpPr>
        <p:spPr>
          <a:xfrm>
            <a:off x="6120130" y="338391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5</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4" name="Text Box 133"/>
          <p:cNvSpPr txBox="1"/>
          <p:nvPr/>
        </p:nvSpPr>
        <p:spPr>
          <a:xfrm>
            <a:off x="6120130" y="362394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4</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6" name="Rectangle 135"/>
          <p:cNvSpPr/>
          <p:nvPr/>
        </p:nvSpPr>
        <p:spPr>
          <a:xfrm>
            <a:off x="2941320" y="3472815"/>
            <a:ext cx="697230" cy="858520"/>
          </a:xfrm>
          <a:prstGeom prst="rect">
            <a:avLst/>
          </a:prstGeom>
          <a:noFill/>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Rectangle 5"/>
          <p:cNvSpPr/>
          <p:nvPr/>
        </p:nvSpPr>
        <p:spPr>
          <a:xfrm>
            <a:off x="4050030" y="3472815"/>
            <a:ext cx="697230" cy="858520"/>
          </a:xfrm>
          <a:prstGeom prst="rect">
            <a:avLst/>
          </a:prstGeom>
          <a:noFill/>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Rectangle 6"/>
          <p:cNvSpPr/>
          <p:nvPr/>
        </p:nvSpPr>
        <p:spPr>
          <a:xfrm>
            <a:off x="7833360" y="3472180"/>
            <a:ext cx="697230" cy="858520"/>
          </a:xfrm>
          <a:prstGeom prst="rect">
            <a:avLst/>
          </a:prstGeom>
          <a:noFill/>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Rectangle 9"/>
          <p:cNvSpPr/>
          <p:nvPr/>
        </p:nvSpPr>
        <p:spPr>
          <a:xfrm>
            <a:off x="8945880" y="3456305"/>
            <a:ext cx="697230" cy="858520"/>
          </a:xfrm>
          <a:prstGeom prst="rect">
            <a:avLst/>
          </a:prstGeom>
          <a:noFill/>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0" name="Text Box 29"/>
          <p:cNvSpPr txBox="1"/>
          <p:nvPr/>
        </p:nvSpPr>
        <p:spPr>
          <a:xfrm>
            <a:off x="2675255" y="1743710"/>
            <a:ext cx="5516245" cy="429895"/>
          </a:xfrm>
          <a:prstGeom prst="rect">
            <a:avLst/>
          </a:prstGeom>
          <a:noFill/>
        </p:spPr>
        <p:txBody>
          <a:bodyPr wrap="square" rtlCol="0">
            <a:noAutofit/>
          </a:bodyPr>
          <a:p>
            <a:r>
              <a:rPr lang="zh-CN" altLang="en-US" sz="2200">
                <a:solidFill>
                  <a:srgbClr val="FF0000"/>
                </a:solidFill>
                <a:latin typeface="Alibaba PuHuiTi 3.0 55 Regular" panose="00020600040101010101" charset="-122"/>
                <a:ea typeface="Alibaba PuHuiTi 3.0 55 Regular" panose="00020600040101010101" charset="-122"/>
              </a:rPr>
              <a:t>量化等级增多</a:t>
            </a:r>
            <a:r>
              <a:rPr lang="en-US" altLang="zh-CN" sz="2200">
                <a:solidFill>
                  <a:srgbClr val="FF0000"/>
                </a:solidFill>
                <a:latin typeface="Alibaba PuHuiTi 3.0 55 Regular" panose="00020600040101010101" charset="-122"/>
                <a:ea typeface="Alibaba PuHuiTi 3.0 55 Regular" panose="00020600040101010101" charset="-122"/>
              </a:rPr>
              <a:t>，</a:t>
            </a:r>
            <a:r>
              <a:rPr lang="zh-CN" altLang="en-US" sz="2200">
                <a:solidFill>
                  <a:srgbClr val="FF0000"/>
                </a:solidFill>
                <a:latin typeface="Alibaba PuHuiTi 3.0 55 Regular" panose="00020600040101010101" charset="-122"/>
                <a:ea typeface="Alibaba PuHuiTi 3.0 55 Regular" panose="00020600040101010101" charset="-122"/>
              </a:rPr>
              <a:t>每个采样点的取值会更精确</a:t>
            </a:r>
            <a:r>
              <a:rPr lang="en-US" altLang="zh-CN" sz="2200">
                <a:solidFill>
                  <a:srgbClr val="FF0000"/>
                </a:solidFill>
                <a:latin typeface="Alibaba PuHuiTi 3.0 55 Regular" panose="00020600040101010101" charset="-122"/>
                <a:ea typeface="Alibaba PuHuiTi 3.0 55 Regular" panose="00020600040101010101" charset="-122"/>
              </a:rPr>
              <a:t>。</a:t>
            </a:r>
            <a:endParaRPr lang="en-US" altLang="zh-CN" sz="2200">
              <a:solidFill>
                <a:srgbClr val="FF0000"/>
              </a:solidFill>
              <a:latin typeface="Alibaba PuHuiTi 3.0 55 Regular" panose="00020600040101010101" charset="-122"/>
              <a:ea typeface="Alibaba PuHuiTi 3.0 55 Regular" panose="00020600040101010101"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a:bodyPr>
          <a:p>
            <a:r>
              <a:rPr lang="zh-CN" altLang="en-US"/>
              <a:t>怎样才能把声音（模拟信号</a:t>
            </a:r>
            <a:r>
              <a:rPr lang="en-US" altLang="zh-CN"/>
              <a:t>）</a:t>
            </a:r>
            <a:r>
              <a:rPr lang="zh-CN" altLang="en-US"/>
              <a:t>是转成数字信号</a:t>
            </a:r>
            <a:r>
              <a:rPr lang="en-US"/>
              <a:t>？</a:t>
            </a:r>
            <a:endParaRPr lang="en-US"/>
          </a:p>
        </p:txBody>
      </p:sp>
      <p:sp>
        <p:nvSpPr>
          <p:cNvPr id="14" name="Text Box 13"/>
          <p:cNvSpPr txBox="1"/>
          <p:nvPr/>
        </p:nvSpPr>
        <p:spPr>
          <a:xfrm>
            <a:off x="691515" y="1313815"/>
            <a:ext cx="254762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cs typeface="Alibaba PuHuiTi 3.0 55 Regular" panose="00020600040101010101" charset="-122"/>
              </a:rPr>
              <a:t>1. </a:t>
            </a:r>
            <a:r>
              <a:rPr lang="zh-CN" altLang="en-US" sz="2200">
                <a:latin typeface="Alibaba PuHuiTi 3.0 55 Regular" panose="00020600040101010101" charset="-122"/>
                <a:ea typeface="Alibaba PuHuiTi 3.0 55 Regular" panose="00020600040101010101" charset="-122"/>
                <a:cs typeface="Alibaba PuHuiTi 3.0 55 Regular" panose="00020600040101010101" charset="-122"/>
              </a:rPr>
              <a:t>采样</a:t>
            </a:r>
            <a:r>
              <a:rPr lang="en-US" altLang="zh-CN" sz="2200">
                <a:latin typeface="Alibaba PuHuiTi 3.0 55 Regular" panose="00020600040101010101" charset="-122"/>
                <a:ea typeface="Alibaba PuHuiTi 3.0 55 Regular" panose="00020600040101010101" charset="-122"/>
                <a:cs typeface="Alibaba PuHuiTi 3.0 55 Regular" panose="00020600040101010101" charset="-122"/>
              </a:rPr>
              <a:t> Sampling</a:t>
            </a:r>
            <a:endParaRPr lang="en-US" altLang="zh-CN" sz="2200">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7" name="Text Box 16"/>
          <p:cNvSpPr txBox="1"/>
          <p:nvPr/>
        </p:nvSpPr>
        <p:spPr>
          <a:xfrm>
            <a:off x="3860165" y="1313815"/>
            <a:ext cx="3038475" cy="429895"/>
          </a:xfrm>
          <a:prstGeom prst="rect">
            <a:avLst/>
          </a:prstGeom>
          <a:noFill/>
        </p:spPr>
        <p:txBody>
          <a:bodyPr wrap="square" rtlCol="0">
            <a:spAutoFit/>
          </a:bodyPr>
          <a:p>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2. </a:t>
            </a:r>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量化</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 Quantization</a:t>
            </a:r>
            <a:endParaRPr lang="en-US" altLang="zh-CN" sz="2200" b="1">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18" name="Text Box 17"/>
          <p:cNvSpPr txBox="1"/>
          <p:nvPr/>
        </p:nvSpPr>
        <p:spPr>
          <a:xfrm>
            <a:off x="7519670" y="1313815"/>
            <a:ext cx="3822065" cy="429895"/>
          </a:xfrm>
          <a:prstGeom prst="rect">
            <a:avLst/>
          </a:prstGeom>
          <a:noFill/>
        </p:spPr>
        <p:txBody>
          <a:bodyPr wrap="square" rtlCol="0">
            <a:spAutoFit/>
          </a:bodyPr>
          <a:p>
            <a:r>
              <a:rPr lang="en-US" altLang="zh-CN" sz="2200">
                <a:latin typeface="Alibaba PuHuiTi 3.0 55 Regular" panose="00020600040101010101" charset="-122"/>
                <a:ea typeface="Alibaba PuHuiTi 3.0 55 Regular" panose="00020600040101010101" charset="-122"/>
              </a:rPr>
              <a:t>3. </a:t>
            </a:r>
            <a:r>
              <a:rPr lang="zh-CN" altLang="en-US" sz="2200">
                <a:latin typeface="Alibaba PuHuiTi 3.0 55 Regular" panose="00020600040101010101" charset="-122"/>
                <a:ea typeface="Alibaba PuHuiTi 3.0 55 Regular" panose="00020600040101010101" charset="-122"/>
              </a:rPr>
              <a:t>编码</a:t>
            </a:r>
            <a:r>
              <a:rPr lang="en-US" altLang="zh-CN" sz="2200">
                <a:latin typeface="Alibaba PuHuiTi 3.0 55 Regular" panose="00020600040101010101" charset="-122"/>
                <a:ea typeface="Alibaba PuHuiTi 3.0 55 Regular" panose="00020600040101010101" charset="-122"/>
              </a:rPr>
              <a:t> </a:t>
            </a:r>
            <a:r>
              <a:rPr lang="en-US" altLang="zh-CN" sz="2200">
                <a:latin typeface="Alibaba PuHuiTi 3.0 55 Regular" panose="00020600040101010101" charset="-122"/>
                <a:ea typeface="Alibaba PuHuiTi 3.0 55 Regular" panose="00020600040101010101" charset="-122"/>
              </a:rPr>
              <a:t>Encoding</a:t>
            </a:r>
            <a:endParaRPr lang="en-US" altLang="zh-CN" sz="2200">
              <a:latin typeface="Alibaba PuHuiTi 3.0 55 Regular" panose="00020600040101010101" charset="-122"/>
              <a:ea typeface="Alibaba PuHuiTi 3.0 55 Regular" panose="00020600040101010101" charset="-122"/>
            </a:endParaRPr>
          </a:p>
        </p:txBody>
      </p:sp>
      <p:cxnSp>
        <p:nvCxnSpPr>
          <p:cNvPr id="19" name="Straight Connector 18"/>
          <p:cNvCxnSpPr/>
          <p:nvPr/>
        </p:nvCxnSpPr>
        <p:spPr>
          <a:xfrm flipH="1">
            <a:off x="3202305" y="1529080"/>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cxnSp>
        <p:nvCxnSpPr>
          <p:cNvPr id="20" name="Straight Connector 19"/>
          <p:cNvCxnSpPr/>
          <p:nvPr/>
        </p:nvCxnSpPr>
        <p:spPr>
          <a:xfrm flipH="1">
            <a:off x="6861810" y="1528445"/>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12" name="Oval 11"/>
          <p:cNvSpPr/>
          <p:nvPr/>
        </p:nvSpPr>
        <p:spPr>
          <a:xfrm>
            <a:off x="1926590" y="419798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13" name="Straight Connector 12"/>
          <p:cNvCxnSpPr/>
          <p:nvPr/>
        </p:nvCxnSpPr>
        <p:spPr>
          <a:xfrm>
            <a:off x="1974850" y="4271645"/>
            <a:ext cx="0" cy="73977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5" name="Straight Connector 14"/>
          <p:cNvCxnSpPr>
            <a:stCxn id="36" idx="31"/>
          </p:cNvCxnSpPr>
          <p:nvPr/>
        </p:nvCxnSpPr>
        <p:spPr>
          <a:xfrm flipH="1">
            <a:off x="3222625" y="3726180"/>
            <a:ext cx="10795" cy="123444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6" name="Straight Connector 15"/>
          <p:cNvCxnSpPr/>
          <p:nvPr/>
        </p:nvCxnSpPr>
        <p:spPr>
          <a:xfrm>
            <a:off x="3721735" y="4398645"/>
            <a:ext cx="0" cy="57023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2" name="Straight Connector 21"/>
          <p:cNvCxnSpPr/>
          <p:nvPr/>
        </p:nvCxnSpPr>
        <p:spPr>
          <a:xfrm>
            <a:off x="3971290" y="4448810"/>
            <a:ext cx="0" cy="56324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4" name="Straight Connector 23"/>
          <p:cNvCxnSpPr/>
          <p:nvPr/>
        </p:nvCxnSpPr>
        <p:spPr>
          <a:xfrm>
            <a:off x="4220845" y="4180840"/>
            <a:ext cx="0" cy="83121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5" name="Straight Connector 24"/>
          <p:cNvCxnSpPr/>
          <p:nvPr/>
        </p:nvCxnSpPr>
        <p:spPr>
          <a:xfrm>
            <a:off x="1600200" y="2225040"/>
            <a:ext cx="0" cy="274320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27" name="Straight Connector 26"/>
          <p:cNvCxnSpPr/>
          <p:nvPr/>
        </p:nvCxnSpPr>
        <p:spPr>
          <a:xfrm flipH="1">
            <a:off x="1598930" y="4977130"/>
            <a:ext cx="312737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33" name="Text Box 32"/>
          <p:cNvSpPr txBox="1"/>
          <p:nvPr/>
        </p:nvSpPr>
        <p:spPr>
          <a:xfrm>
            <a:off x="4463415" y="5046345"/>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36" name="Freeform 35"/>
          <p:cNvSpPr/>
          <p:nvPr/>
        </p:nvSpPr>
        <p:spPr>
          <a:xfrm>
            <a:off x="1815465" y="2955925"/>
            <a:ext cx="2518410" cy="1645285"/>
          </a:xfrm>
          <a:custGeom>
            <a:avLst/>
            <a:gdLst>
              <a:gd name="connisteX0" fmla="*/ 0 w 2518410"/>
              <a:gd name="connsiteY0" fmla="*/ 1645002 h 1645002"/>
              <a:gd name="connisteX1" fmla="*/ 25400 w 2518410"/>
              <a:gd name="connsiteY1" fmla="*/ 1519907 h 1645002"/>
              <a:gd name="connisteX2" fmla="*/ 142240 w 2518410"/>
              <a:gd name="connsiteY2" fmla="*/ 1328137 h 1645002"/>
              <a:gd name="connisteX3" fmla="*/ 225425 w 2518410"/>
              <a:gd name="connsiteY3" fmla="*/ 1178277 h 1645002"/>
              <a:gd name="connisteX4" fmla="*/ 275590 w 2518410"/>
              <a:gd name="connsiteY4" fmla="*/ 1077947 h 1645002"/>
              <a:gd name="connisteX5" fmla="*/ 325120 w 2518410"/>
              <a:gd name="connsiteY5" fmla="*/ 978252 h 1645002"/>
              <a:gd name="connisteX6" fmla="*/ 358775 w 2518410"/>
              <a:gd name="connsiteY6" fmla="*/ 877922 h 1645002"/>
              <a:gd name="connisteX7" fmla="*/ 383540 w 2518410"/>
              <a:gd name="connsiteY7" fmla="*/ 811247 h 1645002"/>
              <a:gd name="connisteX8" fmla="*/ 400685 w 2518410"/>
              <a:gd name="connsiteY8" fmla="*/ 728062 h 1645002"/>
              <a:gd name="connisteX9" fmla="*/ 441960 w 2518410"/>
              <a:gd name="connsiteY9" fmla="*/ 611222 h 1645002"/>
              <a:gd name="connisteX10" fmla="*/ 459105 w 2518410"/>
              <a:gd name="connsiteY10" fmla="*/ 544547 h 1645002"/>
              <a:gd name="connisteX11" fmla="*/ 492125 w 2518410"/>
              <a:gd name="connsiteY11" fmla="*/ 419452 h 1645002"/>
              <a:gd name="connisteX12" fmla="*/ 525780 w 2518410"/>
              <a:gd name="connsiteY12" fmla="*/ 310867 h 1645002"/>
              <a:gd name="connisteX13" fmla="*/ 550545 w 2518410"/>
              <a:gd name="connsiteY13" fmla="*/ 227682 h 1645002"/>
              <a:gd name="connisteX14" fmla="*/ 567055 w 2518410"/>
              <a:gd name="connsiteY14" fmla="*/ 161007 h 1645002"/>
              <a:gd name="connisteX15" fmla="*/ 584200 w 2518410"/>
              <a:gd name="connsiteY15" fmla="*/ 94332 h 1645002"/>
              <a:gd name="connisteX16" fmla="*/ 625475 w 2518410"/>
              <a:gd name="connsiteY16" fmla="*/ 27657 h 1645002"/>
              <a:gd name="connisteX17" fmla="*/ 692150 w 2518410"/>
              <a:gd name="connsiteY17" fmla="*/ 10512 h 1645002"/>
              <a:gd name="connisteX18" fmla="*/ 784225 w 2518410"/>
              <a:gd name="connsiteY18" fmla="*/ 2257 h 1645002"/>
              <a:gd name="connisteX19" fmla="*/ 859155 w 2518410"/>
              <a:gd name="connsiteY19" fmla="*/ 2257 h 1645002"/>
              <a:gd name="connisteX20" fmla="*/ 925830 w 2518410"/>
              <a:gd name="connsiteY20" fmla="*/ 2257 h 1645002"/>
              <a:gd name="connisteX21" fmla="*/ 1000760 w 2518410"/>
              <a:gd name="connsiteY21" fmla="*/ 27657 h 1645002"/>
              <a:gd name="connisteX22" fmla="*/ 1067435 w 2518410"/>
              <a:gd name="connsiteY22" fmla="*/ 77187 h 1645002"/>
              <a:gd name="connisteX23" fmla="*/ 1125855 w 2518410"/>
              <a:gd name="connsiteY23" fmla="*/ 152752 h 1645002"/>
              <a:gd name="connisteX24" fmla="*/ 1176020 w 2518410"/>
              <a:gd name="connsiteY24" fmla="*/ 235937 h 1645002"/>
              <a:gd name="connisteX25" fmla="*/ 1217930 w 2518410"/>
              <a:gd name="connsiteY25" fmla="*/ 302612 h 1645002"/>
              <a:gd name="connisteX26" fmla="*/ 1242695 w 2518410"/>
              <a:gd name="connsiteY26" fmla="*/ 369287 h 1645002"/>
              <a:gd name="connisteX27" fmla="*/ 1276350 w 2518410"/>
              <a:gd name="connsiteY27" fmla="*/ 435962 h 1645002"/>
              <a:gd name="connisteX28" fmla="*/ 1309370 w 2518410"/>
              <a:gd name="connsiteY28" fmla="*/ 502637 h 1645002"/>
              <a:gd name="connisteX29" fmla="*/ 1351280 w 2518410"/>
              <a:gd name="connsiteY29" fmla="*/ 594712 h 1645002"/>
              <a:gd name="connisteX30" fmla="*/ 1384300 w 2518410"/>
              <a:gd name="connsiteY30" fmla="*/ 686152 h 1645002"/>
              <a:gd name="connisteX31" fmla="*/ 1417955 w 2518410"/>
              <a:gd name="connsiteY31" fmla="*/ 769972 h 1645002"/>
              <a:gd name="connisteX32" fmla="*/ 1450975 w 2518410"/>
              <a:gd name="connsiteY32" fmla="*/ 844902 h 1645002"/>
              <a:gd name="connisteX33" fmla="*/ 1476375 w 2518410"/>
              <a:gd name="connsiteY33" fmla="*/ 911577 h 1645002"/>
              <a:gd name="connisteX34" fmla="*/ 1501140 w 2518410"/>
              <a:gd name="connsiteY34" fmla="*/ 1003017 h 1645002"/>
              <a:gd name="connisteX35" fmla="*/ 1526540 w 2518410"/>
              <a:gd name="connsiteY35" fmla="*/ 1077947 h 1645002"/>
              <a:gd name="connisteX36" fmla="*/ 1551305 w 2518410"/>
              <a:gd name="connsiteY36" fmla="*/ 1153512 h 1645002"/>
              <a:gd name="connisteX37" fmla="*/ 1601470 w 2518410"/>
              <a:gd name="connsiteY37" fmla="*/ 1220187 h 1645002"/>
              <a:gd name="connisteX38" fmla="*/ 1676400 w 2518410"/>
              <a:gd name="connsiteY38" fmla="*/ 1269717 h 1645002"/>
              <a:gd name="connisteX39" fmla="*/ 1743075 w 2518410"/>
              <a:gd name="connsiteY39" fmla="*/ 1319882 h 1645002"/>
              <a:gd name="connisteX40" fmla="*/ 1809750 w 2518410"/>
              <a:gd name="connsiteY40" fmla="*/ 1353537 h 1645002"/>
              <a:gd name="connisteX41" fmla="*/ 1876425 w 2518410"/>
              <a:gd name="connsiteY41" fmla="*/ 1386557 h 1645002"/>
              <a:gd name="connisteX42" fmla="*/ 1951355 w 2518410"/>
              <a:gd name="connsiteY42" fmla="*/ 1411957 h 1645002"/>
              <a:gd name="connisteX43" fmla="*/ 2035175 w 2518410"/>
              <a:gd name="connsiteY43" fmla="*/ 1436722 h 1645002"/>
              <a:gd name="connisteX44" fmla="*/ 2110105 w 2518410"/>
              <a:gd name="connsiteY44" fmla="*/ 1453232 h 1645002"/>
              <a:gd name="connisteX45" fmla="*/ 2185035 w 2518410"/>
              <a:gd name="connsiteY45" fmla="*/ 1453232 h 1645002"/>
              <a:gd name="connisteX46" fmla="*/ 2251710 w 2518410"/>
              <a:gd name="connsiteY46" fmla="*/ 1444977 h 1645002"/>
              <a:gd name="connisteX47" fmla="*/ 2301875 w 2518410"/>
              <a:gd name="connsiteY47" fmla="*/ 1378302 h 1645002"/>
              <a:gd name="connisteX48" fmla="*/ 2343785 w 2518410"/>
              <a:gd name="connsiteY48" fmla="*/ 1311627 h 1645002"/>
              <a:gd name="connisteX49" fmla="*/ 2368550 w 2518410"/>
              <a:gd name="connsiteY49" fmla="*/ 1236697 h 1645002"/>
              <a:gd name="connisteX50" fmla="*/ 2402205 w 2518410"/>
              <a:gd name="connsiteY50" fmla="*/ 1161767 h 1645002"/>
              <a:gd name="connisteX51" fmla="*/ 2426970 w 2518410"/>
              <a:gd name="connsiteY51" fmla="*/ 1086837 h 1645002"/>
              <a:gd name="connisteX52" fmla="*/ 2468880 w 2518410"/>
              <a:gd name="connsiteY52" fmla="*/ 1019527 h 1645002"/>
              <a:gd name="connisteX53" fmla="*/ 2518410 w 2518410"/>
              <a:gd name="connsiteY53" fmla="*/ 944597 h 164500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Lst>
            <a:rect l="l" t="t" r="r" b="b"/>
            <a:pathLst>
              <a:path w="2518410" h="1645003">
                <a:moveTo>
                  <a:pt x="0" y="1645003"/>
                </a:moveTo>
                <a:cubicBezTo>
                  <a:pt x="2540" y="1624048"/>
                  <a:pt x="-3175" y="1583408"/>
                  <a:pt x="25400" y="1519908"/>
                </a:cubicBezTo>
                <a:cubicBezTo>
                  <a:pt x="53975" y="1456408"/>
                  <a:pt x="102235" y="1396718"/>
                  <a:pt x="142240" y="1328138"/>
                </a:cubicBezTo>
                <a:cubicBezTo>
                  <a:pt x="182245" y="1259558"/>
                  <a:pt x="198755" y="1228443"/>
                  <a:pt x="225425" y="1178278"/>
                </a:cubicBezTo>
                <a:cubicBezTo>
                  <a:pt x="252095" y="1128113"/>
                  <a:pt x="255905" y="1117953"/>
                  <a:pt x="275590" y="1077948"/>
                </a:cubicBezTo>
                <a:cubicBezTo>
                  <a:pt x="295275" y="1037943"/>
                  <a:pt x="308610" y="1018258"/>
                  <a:pt x="325120" y="978253"/>
                </a:cubicBezTo>
                <a:cubicBezTo>
                  <a:pt x="341630" y="938248"/>
                  <a:pt x="347345" y="911578"/>
                  <a:pt x="358775" y="877923"/>
                </a:cubicBezTo>
                <a:cubicBezTo>
                  <a:pt x="370205" y="844268"/>
                  <a:pt x="375285" y="841093"/>
                  <a:pt x="383540" y="811248"/>
                </a:cubicBezTo>
                <a:cubicBezTo>
                  <a:pt x="391795" y="781403"/>
                  <a:pt x="389255" y="768068"/>
                  <a:pt x="400685" y="728063"/>
                </a:cubicBezTo>
                <a:cubicBezTo>
                  <a:pt x="412115" y="688058"/>
                  <a:pt x="430530" y="648053"/>
                  <a:pt x="441960" y="611223"/>
                </a:cubicBezTo>
                <a:cubicBezTo>
                  <a:pt x="453390" y="574393"/>
                  <a:pt x="448945" y="582648"/>
                  <a:pt x="459105" y="544548"/>
                </a:cubicBezTo>
                <a:cubicBezTo>
                  <a:pt x="469265" y="506448"/>
                  <a:pt x="478790" y="466443"/>
                  <a:pt x="492125" y="419453"/>
                </a:cubicBezTo>
                <a:cubicBezTo>
                  <a:pt x="505460" y="372463"/>
                  <a:pt x="514350" y="348968"/>
                  <a:pt x="525780" y="310868"/>
                </a:cubicBezTo>
                <a:cubicBezTo>
                  <a:pt x="537210" y="272768"/>
                  <a:pt x="542290" y="257528"/>
                  <a:pt x="550545" y="227683"/>
                </a:cubicBezTo>
                <a:cubicBezTo>
                  <a:pt x="558800" y="197838"/>
                  <a:pt x="560070" y="187678"/>
                  <a:pt x="567055" y="161008"/>
                </a:cubicBezTo>
                <a:cubicBezTo>
                  <a:pt x="574040" y="134338"/>
                  <a:pt x="572770" y="121003"/>
                  <a:pt x="584200" y="94333"/>
                </a:cubicBezTo>
                <a:cubicBezTo>
                  <a:pt x="595630" y="67663"/>
                  <a:pt x="603885" y="44168"/>
                  <a:pt x="625475" y="27658"/>
                </a:cubicBezTo>
                <a:cubicBezTo>
                  <a:pt x="647065" y="11148"/>
                  <a:pt x="660400" y="15593"/>
                  <a:pt x="692150" y="10513"/>
                </a:cubicBezTo>
                <a:cubicBezTo>
                  <a:pt x="723900" y="5433"/>
                  <a:pt x="750570" y="4163"/>
                  <a:pt x="784225" y="2258"/>
                </a:cubicBezTo>
                <a:cubicBezTo>
                  <a:pt x="817880" y="353"/>
                  <a:pt x="830580" y="2258"/>
                  <a:pt x="859155" y="2258"/>
                </a:cubicBezTo>
                <a:cubicBezTo>
                  <a:pt x="887730" y="2258"/>
                  <a:pt x="897255" y="-2822"/>
                  <a:pt x="925830" y="2258"/>
                </a:cubicBezTo>
                <a:cubicBezTo>
                  <a:pt x="954405" y="7338"/>
                  <a:pt x="972185" y="12418"/>
                  <a:pt x="1000760" y="27658"/>
                </a:cubicBezTo>
                <a:cubicBezTo>
                  <a:pt x="1029335" y="42898"/>
                  <a:pt x="1042670" y="52423"/>
                  <a:pt x="1067435" y="77188"/>
                </a:cubicBezTo>
                <a:cubicBezTo>
                  <a:pt x="1092200" y="101953"/>
                  <a:pt x="1104265" y="121003"/>
                  <a:pt x="1125855" y="152753"/>
                </a:cubicBezTo>
                <a:cubicBezTo>
                  <a:pt x="1147445" y="184503"/>
                  <a:pt x="1157605" y="206093"/>
                  <a:pt x="1176020" y="235938"/>
                </a:cubicBezTo>
                <a:cubicBezTo>
                  <a:pt x="1194435" y="265783"/>
                  <a:pt x="1204595" y="275943"/>
                  <a:pt x="1217930" y="302613"/>
                </a:cubicBezTo>
                <a:cubicBezTo>
                  <a:pt x="1231265" y="329283"/>
                  <a:pt x="1231265" y="342618"/>
                  <a:pt x="1242695" y="369288"/>
                </a:cubicBezTo>
                <a:cubicBezTo>
                  <a:pt x="1254125" y="395958"/>
                  <a:pt x="1263015" y="409293"/>
                  <a:pt x="1276350" y="435963"/>
                </a:cubicBezTo>
                <a:cubicBezTo>
                  <a:pt x="1289685" y="462633"/>
                  <a:pt x="1294130" y="470888"/>
                  <a:pt x="1309370" y="502638"/>
                </a:cubicBezTo>
                <a:cubicBezTo>
                  <a:pt x="1324610" y="534388"/>
                  <a:pt x="1336040" y="557883"/>
                  <a:pt x="1351280" y="594713"/>
                </a:cubicBezTo>
                <a:cubicBezTo>
                  <a:pt x="1366520" y="631543"/>
                  <a:pt x="1370965" y="651228"/>
                  <a:pt x="1384300" y="686153"/>
                </a:cubicBezTo>
                <a:cubicBezTo>
                  <a:pt x="1397635" y="721078"/>
                  <a:pt x="1404620" y="738223"/>
                  <a:pt x="1417955" y="769973"/>
                </a:cubicBezTo>
                <a:cubicBezTo>
                  <a:pt x="1431290" y="801723"/>
                  <a:pt x="1439545" y="816328"/>
                  <a:pt x="1450975" y="844903"/>
                </a:cubicBezTo>
                <a:cubicBezTo>
                  <a:pt x="1462405" y="873478"/>
                  <a:pt x="1466215" y="879828"/>
                  <a:pt x="1476375" y="911578"/>
                </a:cubicBezTo>
                <a:cubicBezTo>
                  <a:pt x="1486535" y="943328"/>
                  <a:pt x="1490980" y="969998"/>
                  <a:pt x="1501140" y="1003018"/>
                </a:cubicBezTo>
                <a:cubicBezTo>
                  <a:pt x="1511300" y="1036038"/>
                  <a:pt x="1516380" y="1048103"/>
                  <a:pt x="1526540" y="1077948"/>
                </a:cubicBezTo>
                <a:cubicBezTo>
                  <a:pt x="1536700" y="1107793"/>
                  <a:pt x="1536065" y="1124938"/>
                  <a:pt x="1551305" y="1153513"/>
                </a:cubicBezTo>
                <a:cubicBezTo>
                  <a:pt x="1566545" y="1182088"/>
                  <a:pt x="1576705" y="1196693"/>
                  <a:pt x="1601470" y="1220188"/>
                </a:cubicBezTo>
                <a:cubicBezTo>
                  <a:pt x="1626235" y="1243683"/>
                  <a:pt x="1647825" y="1250033"/>
                  <a:pt x="1676400" y="1269718"/>
                </a:cubicBezTo>
                <a:cubicBezTo>
                  <a:pt x="1704975" y="1289403"/>
                  <a:pt x="1716405" y="1303373"/>
                  <a:pt x="1743075" y="1319883"/>
                </a:cubicBezTo>
                <a:cubicBezTo>
                  <a:pt x="1769745" y="1336393"/>
                  <a:pt x="1783080" y="1340203"/>
                  <a:pt x="1809750" y="1353538"/>
                </a:cubicBezTo>
                <a:cubicBezTo>
                  <a:pt x="1836420" y="1366873"/>
                  <a:pt x="1847850" y="1375128"/>
                  <a:pt x="1876425" y="1386558"/>
                </a:cubicBezTo>
                <a:cubicBezTo>
                  <a:pt x="1905000" y="1397988"/>
                  <a:pt x="1919605" y="1401798"/>
                  <a:pt x="1951355" y="1411958"/>
                </a:cubicBezTo>
                <a:cubicBezTo>
                  <a:pt x="1983105" y="1422118"/>
                  <a:pt x="2003425" y="1428468"/>
                  <a:pt x="2035175" y="1436723"/>
                </a:cubicBezTo>
                <a:cubicBezTo>
                  <a:pt x="2066925" y="1444978"/>
                  <a:pt x="2080260" y="1450058"/>
                  <a:pt x="2110105" y="1453233"/>
                </a:cubicBezTo>
                <a:cubicBezTo>
                  <a:pt x="2139950" y="1456408"/>
                  <a:pt x="2156460" y="1455138"/>
                  <a:pt x="2185035" y="1453233"/>
                </a:cubicBezTo>
                <a:cubicBezTo>
                  <a:pt x="2213610" y="1451328"/>
                  <a:pt x="2228215" y="1460218"/>
                  <a:pt x="2251710" y="1444978"/>
                </a:cubicBezTo>
                <a:cubicBezTo>
                  <a:pt x="2275205" y="1429738"/>
                  <a:pt x="2283460" y="1404973"/>
                  <a:pt x="2301875" y="1378303"/>
                </a:cubicBezTo>
                <a:cubicBezTo>
                  <a:pt x="2320290" y="1351633"/>
                  <a:pt x="2330450" y="1340203"/>
                  <a:pt x="2343785" y="1311628"/>
                </a:cubicBezTo>
                <a:cubicBezTo>
                  <a:pt x="2357120" y="1283053"/>
                  <a:pt x="2357120" y="1266543"/>
                  <a:pt x="2368550" y="1236698"/>
                </a:cubicBezTo>
                <a:cubicBezTo>
                  <a:pt x="2379980" y="1206853"/>
                  <a:pt x="2390775" y="1191613"/>
                  <a:pt x="2402205" y="1161768"/>
                </a:cubicBezTo>
                <a:cubicBezTo>
                  <a:pt x="2413635" y="1131923"/>
                  <a:pt x="2413635" y="1115413"/>
                  <a:pt x="2426970" y="1086838"/>
                </a:cubicBezTo>
                <a:cubicBezTo>
                  <a:pt x="2440305" y="1058263"/>
                  <a:pt x="2450465" y="1048103"/>
                  <a:pt x="2468880" y="1019528"/>
                </a:cubicBezTo>
                <a:cubicBezTo>
                  <a:pt x="2487295" y="990953"/>
                  <a:pt x="2509520" y="957933"/>
                  <a:pt x="2518410" y="944598"/>
                </a:cubicBezTo>
              </a:path>
            </a:pathLst>
          </a:custGeom>
          <a:noFill/>
          <a:ln w="38100">
            <a:solidFill>
              <a:schemeClr val="tx1"/>
            </a:solidFill>
          </a:ln>
        </p:spPr>
        <p:txBody>
          <a:bodyPr vert="horz" lIns="90000" tIns="46800" rIns="90000" bIns="46800" rtlCol="0" anchor="ctr" anchorCtr="0">
            <a:noAutofit/>
          </a:bodyPr>
          <a:p>
            <a:endParaRPr lang="zh-CN" altLang="en-US" sz="2445">
              <a:solidFill>
                <a:schemeClr val="tx1"/>
              </a:solidFill>
            </a:endParaRPr>
          </a:p>
        </p:txBody>
      </p:sp>
      <p:sp>
        <p:nvSpPr>
          <p:cNvPr id="45" name="Text Box 44"/>
          <p:cNvSpPr txBox="1"/>
          <p:nvPr/>
        </p:nvSpPr>
        <p:spPr>
          <a:xfrm>
            <a:off x="1757045" y="5046345"/>
            <a:ext cx="296926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48" name="Text Box 47"/>
          <p:cNvSpPr txBox="1"/>
          <p:nvPr/>
        </p:nvSpPr>
        <p:spPr>
          <a:xfrm>
            <a:off x="1784985" y="391033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8" name="Oval 7"/>
          <p:cNvSpPr/>
          <p:nvPr/>
        </p:nvSpPr>
        <p:spPr>
          <a:xfrm>
            <a:off x="2417445" y="293941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9" name="Oval 8"/>
          <p:cNvSpPr/>
          <p:nvPr/>
        </p:nvSpPr>
        <p:spPr>
          <a:xfrm>
            <a:off x="3193415" y="368427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1" name="Oval 50"/>
          <p:cNvSpPr/>
          <p:nvPr/>
        </p:nvSpPr>
        <p:spPr>
          <a:xfrm>
            <a:off x="3691255" y="430212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2" name="Oval 51"/>
          <p:cNvSpPr/>
          <p:nvPr/>
        </p:nvSpPr>
        <p:spPr>
          <a:xfrm>
            <a:off x="4174490" y="408432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4" name="Text Box 53"/>
          <p:cNvSpPr txBox="1"/>
          <p:nvPr/>
        </p:nvSpPr>
        <p:spPr>
          <a:xfrm>
            <a:off x="2976245" y="299402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55" name="Text Box 54"/>
          <p:cNvSpPr txBox="1"/>
          <p:nvPr/>
        </p:nvSpPr>
        <p:spPr>
          <a:xfrm>
            <a:off x="3348990" y="39490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56" name="Text Box 55"/>
          <p:cNvSpPr txBox="1"/>
          <p:nvPr/>
        </p:nvSpPr>
        <p:spPr>
          <a:xfrm>
            <a:off x="3601720" y="40303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58" name="Straight Connector 57"/>
          <p:cNvCxnSpPr>
            <a:endCxn id="84" idx="3"/>
          </p:cNvCxnSpPr>
          <p:nvPr/>
        </p:nvCxnSpPr>
        <p:spPr>
          <a:xfrm flipV="1">
            <a:off x="1974850" y="3757295"/>
            <a:ext cx="199390" cy="52070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79" name="Straight Connector 78"/>
          <p:cNvCxnSpPr>
            <a:stCxn id="36" idx="8"/>
          </p:cNvCxnSpPr>
          <p:nvPr/>
        </p:nvCxnSpPr>
        <p:spPr>
          <a:xfrm>
            <a:off x="2216150" y="3684270"/>
            <a:ext cx="8255" cy="13271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0" name="Straight Connector 79"/>
          <p:cNvCxnSpPr/>
          <p:nvPr/>
        </p:nvCxnSpPr>
        <p:spPr>
          <a:xfrm>
            <a:off x="2473960" y="2983230"/>
            <a:ext cx="0" cy="202819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1" name="Straight Connector 80"/>
          <p:cNvCxnSpPr/>
          <p:nvPr/>
        </p:nvCxnSpPr>
        <p:spPr>
          <a:xfrm>
            <a:off x="2723515" y="2978785"/>
            <a:ext cx="0" cy="203263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2" name="Straight Connector 81"/>
          <p:cNvCxnSpPr>
            <a:stCxn id="54" idx="1"/>
          </p:cNvCxnSpPr>
          <p:nvPr/>
        </p:nvCxnSpPr>
        <p:spPr>
          <a:xfrm flipH="1">
            <a:off x="2973070" y="3138170"/>
            <a:ext cx="3175" cy="18732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3" name="Straight Connector 82"/>
          <p:cNvCxnSpPr/>
          <p:nvPr/>
        </p:nvCxnSpPr>
        <p:spPr>
          <a:xfrm>
            <a:off x="3472180" y="4244340"/>
            <a:ext cx="0" cy="76708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84" name="Oval 83"/>
          <p:cNvSpPr/>
          <p:nvPr/>
        </p:nvSpPr>
        <p:spPr>
          <a:xfrm>
            <a:off x="2160270" y="367474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5" name="Oval 84"/>
          <p:cNvSpPr/>
          <p:nvPr/>
        </p:nvSpPr>
        <p:spPr>
          <a:xfrm>
            <a:off x="2675255" y="290893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6" name="Oval 85"/>
          <p:cNvSpPr/>
          <p:nvPr/>
        </p:nvSpPr>
        <p:spPr>
          <a:xfrm>
            <a:off x="2941320" y="308991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7" name="Oval 86"/>
          <p:cNvSpPr/>
          <p:nvPr/>
        </p:nvSpPr>
        <p:spPr>
          <a:xfrm>
            <a:off x="3421380" y="41808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8" name="Oval 87"/>
          <p:cNvSpPr/>
          <p:nvPr/>
        </p:nvSpPr>
        <p:spPr>
          <a:xfrm>
            <a:off x="3936365" y="436372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9" name="Text Box 88"/>
          <p:cNvSpPr txBox="1"/>
          <p:nvPr/>
        </p:nvSpPr>
        <p:spPr>
          <a:xfrm>
            <a:off x="1942465" y="359981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0" name="Text Box 89"/>
          <p:cNvSpPr txBox="1"/>
          <p:nvPr/>
        </p:nvSpPr>
        <p:spPr>
          <a:xfrm>
            <a:off x="2319655" y="26536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1" name="Text Box 90"/>
          <p:cNvSpPr txBox="1"/>
          <p:nvPr/>
        </p:nvSpPr>
        <p:spPr>
          <a:xfrm>
            <a:off x="2586355" y="265112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2" name="Text Box 91"/>
          <p:cNvSpPr txBox="1"/>
          <p:nvPr/>
        </p:nvSpPr>
        <p:spPr>
          <a:xfrm>
            <a:off x="3171190" y="342138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3" name="Text Box 92"/>
          <p:cNvSpPr txBox="1"/>
          <p:nvPr/>
        </p:nvSpPr>
        <p:spPr>
          <a:xfrm>
            <a:off x="3848100" y="41192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5" name="Text Box 94"/>
          <p:cNvSpPr txBox="1"/>
          <p:nvPr/>
        </p:nvSpPr>
        <p:spPr>
          <a:xfrm>
            <a:off x="3970020" y="3800475"/>
            <a:ext cx="43180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98" name="Straight Connector 97"/>
          <p:cNvCxnSpPr>
            <a:endCxn id="8" idx="2"/>
          </p:cNvCxnSpPr>
          <p:nvPr/>
        </p:nvCxnSpPr>
        <p:spPr>
          <a:xfrm flipV="1">
            <a:off x="2224405" y="2987675"/>
            <a:ext cx="193040" cy="6965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9" name="Straight Connector 98"/>
          <p:cNvCxnSpPr>
            <a:endCxn id="91" idx="2"/>
          </p:cNvCxnSpPr>
          <p:nvPr/>
        </p:nvCxnSpPr>
        <p:spPr>
          <a:xfrm flipV="1">
            <a:off x="2466975" y="2938780"/>
            <a:ext cx="238760" cy="349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0" name="Straight Connector 99"/>
          <p:cNvCxnSpPr>
            <a:stCxn id="85" idx="5"/>
            <a:endCxn id="86" idx="2"/>
          </p:cNvCxnSpPr>
          <p:nvPr/>
        </p:nvCxnSpPr>
        <p:spPr>
          <a:xfrm>
            <a:off x="2757805" y="2991485"/>
            <a:ext cx="183515" cy="14668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1" name="Straight Connector 100"/>
          <p:cNvCxnSpPr>
            <a:stCxn id="86" idx="4"/>
            <a:endCxn id="36" idx="31"/>
          </p:cNvCxnSpPr>
          <p:nvPr/>
        </p:nvCxnSpPr>
        <p:spPr>
          <a:xfrm>
            <a:off x="2989580" y="3186430"/>
            <a:ext cx="243840" cy="5397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2" name="Straight Connector 101"/>
          <p:cNvCxnSpPr>
            <a:stCxn id="9" idx="5"/>
            <a:endCxn id="87" idx="1"/>
          </p:cNvCxnSpPr>
          <p:nvPr/>
        </p:nvCxnSpPr>
        <p:spPr>
          <a:xfrm>
            <a:off x="3275965" y="3766820"/>
            <a:ext cx="159385" cy="4279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3" name="Straight Connector 102"/>
          <p:cNvCxnSpPr>
            <a:stCxn id="87" idx="5"/>
            <a:endCxn id="51" idx="2"/>
          </p:cNvCxnSpPr>
          <p:nvPr/>
        </p:nvCxnSpPr>
        <p:spPr>
          <a:xfrm>
            <a:off x="3503930" y="4263390"/>
            <a:ext cx="187325" cy="869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4" name="Straight Connector 103"/>
          <p:cNvCxnSpPr>
            <a:stCxn id="51" idx="5"/>
            <a:endCxn id="93" idx="2"/>
          </p:cNvCxnSpPr>
          <p:nvPr/>
        </p:nvCxnSpPr>
        <p:spPr>
          <a:xfrm>
            <a:off x="3773805" y="4384675"/>
            <a:ext cx="193675" cy="222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5" name="Straight Connector 104"/>
          <p:cNvCxnSpPr>
            <a:stCxn id="88" idx="5"/>
            <a:endCxn id="52" idx="2"/>
          </p:cNvCxnSpPr>
          <p:nvPr/>
        </p:nvCxnSpPr>
        <p:spPr>
          <a:xfrm flipV="1">
            <a:off x="4018915" y="4132580"/>
            <a:ext cx="155575" cy="3136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5" name="Straight Connector 4"/>
          <p:cNvCxnSpPr/>
          <p:nvPr/>
        </p:nvCxnSpPr>
        <p:spPr>
          <a:xfrm>
            <a:off x="1616710" y="431419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21" name="Straight Connector 20"/>
          <p:cNvCxnSpPr/>
          <p:nvPr/>
        </p:nvCxnSpPr>
        <p:spPr>
          <a:xfrm>
            <a:off x="1616710" y="298831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23" name="Straight Connector 22"/>
          <p:cNvCxnSpPr/>
          <p:nvPr/>
        </p:nvCxnSpPr>
        <p:spPr>
          <a:xfrm>
            <a:off x="1616710" y="365125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26" name="Text Box 25"/>
          <p:cNvSpPr txBox="1"/>
          <p:nvPr/>
        </p:nvSpPr>
        <p:spPr>
          <a:xfrm>
            <a:off x="1226820" y="275653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3</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28" name="Text Box 27"/>
          <p:cNvSpPr txBox="1"/>
          <p:nvPr/>
        </p:nvSpPr>
        <p:spPr>
          <a:xfrm>
            <a:off x="1226820" y="339280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2</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29" name="Text Box 28"/>
          <p:cNvSpPr txBox="1"/>
          <p:nvPr/>
        </p:nvSpPr>
        <p:spPr>
          <a:xfrm>
            <a:off x="1226820" y="406209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31" name="Text Box 30"/>
          <p:cNvSpPr txBox="1"/>
          <p:nvPr/>
        </p:nvSpPr>
        <p:spPr>
          <a:xfrm>
            <a:off x="1226820" y="471487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3" name="Text Box 2"/>
          <p:cNvSpPr txBox="1"/>
          <p:nvPr/>
        </p:nvSpPr>
        <p:spPr>
          <a:xfrm>
            <a:off x="1835785" y="5603240"/>
            <a:ext cx="1937385"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量化等级为</a:t>
            </a:r>
            <a:r>
              <a:rPr lang="en-US" altLang="zh-CN" sz="2200">
                <a:latin typeface="Alibaba PuHuiTi 3.0 55 Regular" panose="00020600040101010101" charset="-122"/>
                <a:ea typeface="Alibaba PuHuiTi 3.0 55 Regular" panose="00020600040101010101" charset="-122"/>
              </a:rPr>
              <a:t>4</a:t>
            </a:r>
            <a:endParaRPr lang="en-US" altLang="zh-CN" sz="2200">
              <a:latin typeface="Alibaba PuHuiTi 3.0 55 Regular" panose="00020600040101010101" charset="-122"/>
              <a:ea typeface="Alibaba PuHuiTi 3.0 55 Regular" panose="00020600040101010101" charset="-122"/>
            </a:endParaRPr>
          </a:p>
        </p:txBody>
      </p:sp>
      <p:sp>
        <p:nvSpPr>
          <p:cNvPr id="4" name="Text Box 3"/>
          <p:cNvSpPr txBox="1"/>
          <p:nvPr/>
        </p:nvSpPr>
        <p:spPr>
          <a:xfrm>
            <a:off x="448945" y="2225040"/>
            <a:ext cx="1130300" cy="429895"/>
          </a:xfrm>
          <a:prstGeom prst="rect">
            <a:avLst/>
          </a:prstGeom>
          <a:noFill/>
        </p:spPr>
        <p:txBody>
          <a:bodyPr wrap="square" rtlCol="0">
            <a:noAutofit/>
          </a:bodyPr>
          <a:p>
            <a:pPr algn="r"/>
            <a:r>
              <a:rPr lang="zh-CN" altLang="en-US" sz="2200">
                <a:latin typeface="Alibaba PuHuiTi 3.0 55 Regular" panose="00020600040101010101" charset="-122"/>
                <a:ea typeface="Alibaba PuHuiTi 3.0 55 Regular" panose="00020600040101010101" charset="-122"/>
              </a:rPr>
              <a:t>量化值</a:t>
            </a:r>
            <a:endParaRPr lang="zh-CN" altLang="en-US" sz="2200">
              <a:latin typeface="Alibaba PuHuiTi 3.0 55 Regular" panose="00020600040101010101" charset="-122"/>
              <a:ea typeface="Alibaba PuHuiTi 3.0 55 Regular" panose="00020600040101010101" charset="-122"/>
            </a:endParaRPr>
          </a:p>
        </p:txBody>
      </p:sp>
      <p:sp>
        <p:nvSpPr>
          <p:cNvPr id="11" name="Oval 10"/>
          <p:cNvSpPr/>
          <p:nvPr/>
        </p:nvSpPr>
        <p:spPr>
          <a:xfrm>
            <a:off x="6818630" y="419290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34" name="Straight Connector 33"/>
          <p:cNvCxnSpPr/>
          <p:nvPr/>
        </p:nvCxnSpPr>
        <p:spPr>
          <a:xfrm>
            <a:off x="6866890" y="4266565"/>
            <a:ext cx="0" cy="73977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5" name="Straight Connector 34"/>
          <p:cNvCxnSpPr>
            <a:stCxn id="44" idx="31"/>
          </p:cNvCxnSpPr>
          <p:nvPr/>
        </p:nvCxnSpPr>
        <p:spPr>
          <a:xfrm flipH="1">
            <a:off x="8114665" y="3721100"/>
            <a:ext cx="10795" cy="123444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7" name="Straight Connector 36"/>
          <p:cNvCxnSpPr/>
          <p:nvPr/>
        </p:nvCxnSpPr>
        <p:spPr>
          <a:xfrm>
            <a:off x="8613775" y="4393565"/>
            <a:ext cx="0" cy="57023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8" name="Straight Connector 37"/>
          <p:cNvCxnSpPr/>
          <p:nvPr/>
        </p:nvCxnSpPr>
        <p:spPr>
          <a:xfrm>
            <a:off x="8863330" y="4443730"/>
            <a:ext cx="0" cy="56324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9" name="Straight Connector 38"/>
          <p:cNvCxnSpPr/>
          <p:nvPr/>
        </p:nvCxnSpPr>
        <p:spPr>
          <a:xfrm>
            <a:off x="9112885" y="4175760"/>
            <a:ext cx="0" cy="83121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40" name="Straight Connector 39"/>
          <p:cNvCxnSpPr/>
          <p:nvPr/>
        </p:nvCxnSpPr>
        <p:spPr>
          <a:xfrm>
            <a:off x="6492240" y="2219960"/>
            <a:ext cx="0" cy="274320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41" name="Straight Connector 40"/>
          <p:cNvCxnSpPr/>
          <p:nvPr/>
        </p:nvCxnSpPr>
        <p:spPr>
          <a:xfrm flipH="1">
            <a:off x="6490970" y="4970145"/>
            <a:ext cx="312737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42" name="Text Box 41"/>
          <p:cNvSpPr txBox="1"/>
          <p:nvPr/>
        </p:nvSpPr>
        <p:spPr>
          <a:xfrm>
            <a:off x="5340985" y="2219960"/>
            <a:ext cx="1130300" cy="429895"/>
          </a:xfrm>
          <a:prstGeom prst="rect">
            <a:avLst/>
          </a:prstGeom>
          <a:noFill/>
        </p:spPr>
        <p:txBody>
          <a:bodyPr wrap="square" rtlCol="0">
            <a:noAutofit/>
          </a:bodyPr>
          <a:p>
            <a:pPr algn="r"/>
            <a:r>
              <a:rPr lang="zh-CN" altLang="en-US" sz="2200">
                <a:latin typeface="Alibaba PuHuiTi 3.0 55 Regular" panose="00020600040101010101" charset="-122"/>
                <a:ea typeface="Alibaba PuHuiTi 3.0 55 Regular" panose="00020600040101010101" charset="-122"/>
              </a:rPr>
              <a:t>量化值</a:t>
            </a:r>
            <a:endParaRPr lang="zh-CN" altLang="en-US" sz="2200">
              <a:latin typeface="Alibaba PuHuiTi 3.0 55 Regular" panose="00020600040101010101" charset="-122"/>
              <a:ea typeface="Alibaba PuHuiTi 3.0 55 Regular" panose="00020600040101010101" charset="-122"/>
            </a:endParaRPr>
          </a:p>
        </p:txBody>
      </p:sp>
      <p:sp>
        <p:nvSpPr>
          <p:cNvPr id="43" name="Text Box 42"/>
          <p:cNvSpPr txBox="1"/>
          <p:nvPr/>
        </p:nvSpPr>
        <p:spPr>
          <a:xfrm>
            <a:off x="9355455" y="5041265"/>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44" name="Freeform 43"/>
          <p:cNvSpPr/>
          <p:nvPr/>
        </p:nvSpPr>
        <p:spPr>
          <a:xfrm>
            <a:off x="6707505" y="2950845"/>
            <a:ext cx="2518410" cy="1645285"/>
          </a:xfrm>
          <a:custGeom>
            <a:avLst/>
            <a:gdLst>
              <a:gd name="connisteX0" fmla="*/ 0 w 2518410"/>
              <a:gd name="connsiteY0" fmla="*/ 1645002 h 1645002"/>
              <a:gd name="connisteX1" fmla="*/ 25400 w 2518410"/>
              <a:gd name="connsiteY1" fmla="*/ 1519907 h 1645002"/>
              <a:gd name="connisteX2" fmla="*/ 142240 w 2518410"/>
              <a:gd name="connsiteY2" fmla="*/ 1328137 h 1645002"/>
              <a:gd name="connisteX3" fmla="*/ 225425 w 2518410"/>
              <a:gd name="connsiteY3" fmla="*/ 1178277 h 1645002"/>
              <a:gd name="connisteX4" fmla="*/ 275590 w 2518410"/>
              <a:gd name="connsiteY4" fmla="*/ 1077947 h 1645002"/>
              <a:gd name="connisteX5" fmla="*/ 325120 w 2518410"/>
              <a:gd name="connsiteY5" fmla="*/ 978252 h 1645002"/>
              <a:gd name="connisteX6" fmla="*/ 358775 w 2518410"/>
              <a:gd name="connsiteY6" fmla="*/ 877922 h 1645002"/>
              <a:gd name="connisteX7" fmla="*/ 383540 w 2518410"/>
              <a:gd name="connsiteY7" fmla="*/ 811247 h 1645002"/>
              <a:gd name="connisteX8" fmla="*/ 400685 w 2518410"/>
              <a:gd name="connsiteY8" fmla="*/ 728062 h 1645002"/>
              <a:gd name="connisteX9" fmla="*/ 441960 w 2518410"/>
              <a:gd name="connsiteY9" fmla="*/ 611222 h 1645002"/>
              <a:gd name="connisteX10" fmla="*/ 459105 w 2518410"/>
              <a:gd name="connsiteY10" fmla="*/ 544547 h 1645002"/>
              <a:gd name="connisteX11" fmla="*/ 492125 w 2518410"/>
              <a:gd name="connsiteY11" fmla="*/ 419452 h 1645002"/>
              <a:gd name="connisteX12" fmla="*/ 525780 w 2518410"/>
              <a:gd name="connsiteY12" fmla="*/ 310867 h 1645002"/>
              <a:gd name="connisteX13" fmla="*/ 550545 w 2518410"/>
              <a:gd name="connsiteY13" fmla="*/ 227682 h 1645002"/>
              <a:gd name="connisteX14" fmla="*/ 567055 w 2518410"/>
              <a:gd name="connsiteY14" fmla="*/ 161007 h 1645002"/>
              <a:gd name="connisteX15" fmla="*/ 584200 w 2518410"/>
              <a:gd name="connsiteY15" fmla="*/ 94332 h 1645002"/>
              <a:gd name="connisteX16" fmla="*/ 625475 w 2518410"/>
              <a:gd name="connsiteY16" fmla="*/ 27657 h 1645002"/>
              <a:gd name="connisteX17" fmla="*/ 692150 w 2518410"/>
              <a:gd name="connsiteY17" fmla="*/ 10512 h 1645002"/>
              <a:gd name="connisteX18" fmla="*/ 784225 w 2518410"/>
              <a:gd name="connsiteY18" fmla="*/ 2257 h 1645002"/>
              <a:gd name="connisteX19" fmla="*/ 859155 w 2518410"/>
              <a:gd name="connsiteY19" fmla="*/ 2257 h 1645002"/>
              <a:gd name="connisteX20" fmla="*/ 925830 w 2518410"/>
              <a:gd name="connsiteY20" fmla="*/ 2257 h 1645002"/>
              <a:gd name="connisteX21" fmla="*/ 1000760 w 2518410"/>
              <a:gd name="connsiteY21" fmla="*/ 27657 h 1645002"/>
              <a:gd name="connisteX22" fmla="*/ 1067435 w 2518410"/>
              <a:gd name="connsiteY22" fmla="*/ 77187 h 1645002"/>
              <a:gd name="connisteX23" fmla="*/ 1125855 w 2518410"/>
              <a:gd name="connsiteY23" fmla="*/ 152752 h 1645002"/>
              <a:gd name="connisteX24" fmla="*/ 1176020 w 2518410"/>
              <a:gd name="connsiteY24" fmla="*/ 235937 h 1645002"/>
              <a:gd name="connisteX25" fmla="*/ 1217930 w 2518410"/>
              <a:gd name="connsiteY25" fmla="*/ 302612 h 1645002"/>
              <a:gd name="connisteX26" fmla="*/ 1242695 w 2518410"/>
              <a:gd name="connsiteY26" fmla="*/ 369287 h 1645002"/>
              <a:gd name="connisteX27" fmla="*/ 1276350 w 2518410"/>
              <a:gd name="connsiteY27" fmla="*/ 435962 h 1645002"/>
              <a:gd name="connisteX28" fmla="*/ 1309370 w 2518410"/>
              <a:gd name="connsiteY28" fmla="*/ 502637 h 1645002"/>
              <a:gd name="connisteX29" fmla="*/ 1351280 w 2518410"/>
              <a:gd name="connsiteY29" fmla="*/ 594712 h 1645002"/>
              <a:gd name="connisteX30" fmla="*/ 1384300 w 2518410"/>
              <a:gd name="connsiteY30" fmla="*/ 686152 h 1645002"/>
              <a:gd name="connisteX31" fmla="*/ 1417955 w 2518410"/>
              <a:gd name="connsiteY31" fmla="*/ 769972 h 1645002"/>
              <a:gd name="connisteX32" fmla="*/ 1450975 w 2518410"/>
              <a:gd name="connsiteY32" fmla="*/ 844902 h 1645002"/>
              <a:gd name="connisteX33" fmla="*/ 1476375 w 2518410"/>
              <a:gd name="connsiteY33" fmla="*/ 911577 h 1645002"/>
              <a:gd name="connisteX34" fmla="*/ 1501140 w 2518410"/>
              <a:gd name="connsiteY34" fmla="*/ 1003017 h 1645002"/>
              <a:gd name="connisteX35" fmla="*/ 1526540 w 2518410"/>
              <a:gd name="connsiteY35" fmla="*/ 1077947 h 1645002"/>
              <a:gd name="connisteX36" fmla="*/ 1551305 w 2518410"/>
              <a:gd name="connsiteY36" fmla="*/ 1153512 h 1645002"/>
              <a:gd name="connisteX37" fmla="*/ 1601470 w 2518410"/>
              <a:gd name="connsiteY37" fmla="*/ 1220187 h 1645002"/>
              <a:gd name="connisteX38" fmla="*/ 1676400 w 2518410"/>
              <a:gd name="connsiteY38" fmla="*/ 1269717 h 1645002"/>
              <a:gd name="connisteX39" fmla="*/ 1743075 w 2518410"/>
              <a:gd name="connsiteY39" fmla="*/ 1319882 h 1645002"/>
              <a:gd name="connisteX40" fmla="*/ 1809750 w 2518410"/>
              <a:gd name="connsiteY40" fmla="*/ 1353537 h 1645002"/>
              <a:gd name="connisteX41" fmla="*/ 1876425 w 2518410"/>
              <a:gd name="connsiteY41" fmla="*/ 1386557 h 1645002"/>
              <a:gd name="connisteX42" fmla="*/ 1951355 w 2518410"/>
              <a:gd name="connsiteY42" fmla="*/ 1411957 h 1645002"/>
              <a:gd name="connisteX43" fmla="*/ 2035175 w 2518410"/>
              <a:gd name="connsiteY43" fmla="*/ 1436722 h 1645002"/>
              <a:gd name="connisteX44" fmla="*/ 2110105 w 2518410"/>
              <a:gd name="connsiteY44" fmla="*/ 1453232 h 1645002"/>
              <a:gd name="connisteX45" fmla="*/ 2185035 w 2518410"/>
              <a:gd name="connsiteY45" fmla="*/ 1453232 h 1645002"/>
              <a:gd name="connisteX46" fmla="*/ 2251710 w 2518410"/>
              <a:gd name="connsiteY46" fmla="*/ 1444977 h 1645002"/>
              <a:gd name="connisteX47" fmla="*/ 2301875 w 2518410"/>
              <a:gd name="connsiteY47" fmla="*/ 1378302 h 1645002"/>
              <a:gd name="connisteX48" fmla="*/ 2343785 w 2518410"/>
              <a:gd name="connsiteY48" fmla="*/ 1311627 h 1645002"/>
              <a:gd name="connisteX49" fmla="*/ 2368550 w 2518410"/>
              <a:gd name="connsiteY49" fmla="*/ 1236697 h 1645002"/>
              <a:gd name="connisteX50" fmla="*/ 2402205 w 2518410"/>
              <a:gd name="connsiteY50" fmla="*/ 1161767 h 1645002"/>
              <a:gd name="connisteX51" fmla="*/ 2426970 w 2518410"/>
              <a:gd name="connsiteY51" fmla="*/ 1086837 h 1645002"/>
              <a:gd name="connisteX52" fmla="*/ 2468880 w 2518410"/>
              <a:gd name="connsiteY52" fmla="*/ 1019527 h 1645002"/>
              <a:gd name="connisteX53" fmla="*/ 2518410 w 2518410"/>
              <a:gd name="connsiteY53" fmla="*/ 944597 h 164500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Lst>
            <a:rect l="l" t="t" r="r" b="b"/>
            <a:pathLst>
              <a:path w="2518410" h="1645003">
                <a:moveTo>
                  <a:pt x="0" y="1645003"/>
                </a:moveTo>
                <a:cubicBezTo>
                  <a:pt x="2540" y="1624048"/>
                  <a:pt x="-3175" y="1583408"/>
                  <a:pt x="25400" y="1519908"/>
                </a:cubicBezTo>
                <a:cubicBezTo>
                  <a:pt x="53975" y="1456408"/>
                  <a:pt x="102235" y="1396718"/>
                  <a:pt x="142240" y="1328138"/>
                </a:cubicBezTo>
                <a:cubicBezTo>
                  <a:pt x="182245" y="1259558"/>
                  <a:pt x="198755" y="1228443"/>
                  <a:pt x="225425" y="1178278"/>
                </a:cubicBezTo>
                <a:cubicBezTo>
                  <a:pt x="252095" y="1128113"/>
                  <a:pt x="255905" y="1117953"/>
                  <a:pt x="275590" y="1077948"/>
                </a:cubicBezTo>
                <a:cubicBezTo>
                  <a:pt x="295275" y="1037943"/>
                  <a:pt x="308610" y="1018258"/>
                  <a:pt x="325120" y="978253"/>
                </a:cubicBezTo>
                <a:cubicBezTo>
                  <a:pt x="341630" y="938248"/>
                  <a:pt x="347345" y="911578"/>
                  <a:pt x="358775" y="877923"/>
                </a:cubicBezTo>
                <a:cubicBezTo>
                  <a:pt x="370205" y="844268"/>
                  <a:pt x="375285" y="841093"/>
                  <a:pt x="383540" y="811248"/>
                </a:cubicBezTo>
                <a:cubicBezTo>
                  <a:pt x="391795" y="781403"/>
                  <a:pt x="389255" y="768068"/>
                  <a:pt x="400685" y="728063"/>
                </a:cubicBezTo>
                <a:cubicBezTo>
                  <a:pt x="412115" y="688058"/>
                  <a:pt x="430530" y="648053"/>
                  <a:pt x="441960" y="611223"/>
                </a:cubicBezTo>
                <a:cubicBezTo>
                  <a:pt x="453390" y="574393"/>
                  <a:pt x="448945" y="582648"/>
                  <a:pt x="459105" y="544548"/>
                </a:cubicBezTo>
                <a:cubicBezTo>
                  <a:pt x="469265" y="506448"/>
                  <a:pt x="478790" y="466443"/>
                  <a:pt x="492125" y="419453"/>
                </a:cubicBezTo>
                <a:cubicBezTo>
                  <a:pt x="505460" y="372463"/>
                  <a:pt x="514350" y="348968"/>
                  <a:pt x="525780" y="310868"/>
                </a:cubicBezTo>
                <a:cubicBezTo>
                  <a:pt x="537210" y="272768"/>
                  <a:pt x="542290" y="257528"/>
                  <a:pt x="550545" y="227683"/>
                </a:cubicBezTo>
                <a:cubicBezTo>
                  <a:pt x="558800" y="197838"/>
                  <a:pt x="560070" y="187678"/>
                  <a:pt x="567055" y="161008"/>
                </a:cubicBezTo>
                <a:cubicBezTo>
                  <a:pt x="574040" y="134338"/>
                  <a:pt x="572770" y="121003"/>
                  <a:pt x="584200" y="94333"/>
                </a:cubicBezTo>
                <a:cubicBezTo>
                  <a:pt x="595630" y="67663"/>
                  <a:pt x="603885" y="44168"/>
                  <a:pt x="625475" y="27658"/>
                </a:cubicBezTo>
                <a:cubicBezTo>
                  <a:pt x="647065" y="11148"/>
                  <a:pt x="660400" y="15593"/>
                  <a:pt x="692150" y="10513"/>
                </a:cubicBezTo>
                <a:cubicBezTo>
                  <a:pt x="723900" y="5433"/>
                  <a:pt x="750570" y="4163"/>
                  <a:pt x="784225" y="2258"/>
                </a:cubicBezTo>
                <a:cubicBezTo>
                  <a:pt x="817880" y="353"/>
                  <a:pt x="830580" y="2258"/>
                  <a:pt x="859155" y="2258"/>
                </a:cubicBezTo>
                <a:cubicBezTo>
                  <a:pt x="887730" y="2258"/>
                  <a:pt x="897255" y="-2822"/>
                  <a:pt x="925830" y="2258"/>
                </a:cubicBezTo>
                <a:cubicBezTo>
                  <a:pt x="954405" y="7338"/>
                  <a:pt x="972185" y="12418"/>
                  <a:pt x="1000760" y="27658"/>
                </a:cubicBezTo>
                <a:cubicBezTo>
                  <a:pt x="1029335" y="42898"/>
                  <a:pt x="1042670" y="52423"/>
                  <a:pt x="1067435" y="77188"/>
                </a:cubicBezTo>
                <a:cubicBezTo>
                  <a:pt x="1092200" y="101953"/>
                  <a:pt x="1104265" y="121003"/>
                  <a:pt x="1125855" y="152753"/>
                </a:cubicBezTo>
                <a:cubicBezTo>
                  <a:pt x="1147445" y="184503"/>
                  <a:pt x="1157605" y="206093"/>
                  <a:pt x="1176020" y="235938"/>
                </a:cubicBezTo>
                <a:cubicBezTo>
                  <a:pt x="1194435" y="265783"/>
                  <a:pt x="1204595" y="275943"/>
                  <a:pt x="1217930" y="302613"/>
                </a:cubicBezTo>
                <a:cubicBezTo>
                  <a:pt x="1231265" y="329283"/>
                  <a:pt x="1231265" y="342618"/>
                  <a:pt x="1242695" y="369288"/>
                </a:cubicBezTo>
                <a:cubicBezTo>
                  <a:pt x="1254125" y="395958"/>
                  <a:pt x="1263015" y="409293"/>
                  <a:pt x="1276350" y="435963"/>
                </a:cubicBezTo>
                <a:cubicBezTo>
                  <a:pt x="1289685" y="462633"/>
                  <a:pt x="1294130" y="470888"/>
                  <a:pt x="1309370" y="502638"/>
                </a:cubicBezTo>
                <a:cubicBezTo>
                  <a:pt x="1324610" y="534388"/>
                  <a:pt x="1336040" y="557883"/>
                  <a:pt x="1351280" y="594713"/>
                </a:cubicBezTo>
                <a:cubicBezTo>
                  <a:pt x="1366520" y="631543"/>
                  <a:pt x="1370965" y="651228"/>
                  <a:pt x="1384300" y="686153"/>
                </a:cubicBezTo>
                <a:cubicBezTo>
                  <a:pt x="1397635" y="721078"/>
                  <a:pt x="1404620" y="738223"/>
                  <a:pt x="1417955" y="769973"/>
                </a:cubicBezTo>
                <a:cubicBezTo>
                  <a:pt x="1431290" y="801723"/>
                  <a:pt x="1439545" y="816328"/>
                  <a:pt x="1450975" y="844903"/>
                </a:cubicBezTo>
                <a:cubicBezTo>
                  <a:pt x="1462405" y="873478"/>
                  <a:pt x="1466215" y="879828"/>
                  <a:pt x="1476375" y="911578"/>
                </a:cubicBezTo>
                <a:cubicBezTo>
                  <a:pt x="1486535" y="943328"/>
                  <a:pt x="1490980" y="969998"/>
                  <a:pt x="1501140" y="1003018"/>
                </a:cubicBezTo>
                <a:cubicBezTo>
                  <a:pt x="1511300" y="1036038"/>
                  <a:pt x="1516380" y="1048103"/>
                  <a:pt x="1526540" y="1077948"/>
                </a:cubicBezTo>
                <a:cubicBezTo>
                  <a:pt x="1536700" y="1107793"/>
                  <a:pt x="1536065" y="1124938"/>
                  <a:pt x="1551305" y="1153513"/>
                </a:cubicBezTo>
                <a:cubicBezTo>
                  <a:pt x="1566545" y="1182088"/>
                  <a:pt x="1576705" y="1196693"/>
                  <a:pt x="1601470" y="1220188"/>
                </a:cubicBezTo>
                <a:cubicBezTo>
                  <a:pt x="1626235" y="1243683"/>
                  <a:pt x="1647825" y="1250033"/>
                  <a:pt x="1676400" y="1269718"/>
                </a:cubicBezTo>
                <a:cubicBezTo>
                  <a:pt x="1704975" y="1289403"/>
                  <a:pt x="1716405" y="1303373"/>
                  <a:pt x="1743075" y="1319883"/>
                </a:cubicBezTo>
                <a:cubicBezTo>
                  <a:pt x="1769745" y="1336393"/>
                  <a:pt x="1783080" y="1340203"/>
                  <a:pt x="1809750" y="1353538"/>
                </a:cubicBezTo>
                <a:cubicBezTo>
                  <a:pt x="1836420" y="1366873"/>
                  <a:pt x="1847850" y="1375128"/>
                  <a:pt x="1876425" y="1386558"/>
                </a:cubicBezTo>
                <a:cubicBezTo>
                  <a:pt x="1905000" y="1397988"/>
                  <a:pt x="1919605" y="1401798"/>
                  <a:pt x="1951355" y="1411958"/>
                </a:cubicBezTo>
                <a:cubicBezTo>
                  <a:pt x="1983105" y="1422118"/>
                  <a:pt x="2003425" y="1428468"/>
                  <a:pt x="2035175" y="1436723"/>
                </a:cubicBezTo>
                <a:cubicBezTo>
                  <a:pt x="2066925" y="1444978"/>
                  <a:pt x="2080260" y="1450058"/>
                  <a:pt x="2110105" y="1453233"/>
                </a:cubicBezTo>
                <a:cubicBezTo>
                  <a:pt x="2139950" y="1456408"/>
                  <a:pt x="2156460" y="1455138"/>
                  <a:pt x="2185035" y="1453233"/>
                </a:cubicBezTo>
                <a:cubicBezTo>
                  <a:pt x="2213610" y="1451328"/>
                  <a:pt x="2228215" y="1460218"/>
                  <a:pt x="2251710" y="1444978"/>
                </a:cubicBezTo>
                <a:cubicBezTo>
                  <a:pt x="2275205" y="1429738"/>
                  <a:pt x="2283460" y="1404973"/>
                  <a:pt x="2301875" y="1378303"/>
                </a:cubicBezTo>
                <a:cubicBezTo>
                  <a:pt x="2320290" y="1351633"/>
                  <a:pt x="2330450" y="1340203"/>
                  <a:pt x="2343785" y="1311628"/>
                </a:cubicBezTo>
                <a:cubicBezTo>
                  <a:pt x="2357120" y="1283053"/>
                  <a:pt x="2357120" y="1266543"/>
                  <a:pt x="2368550" y="1236698"/>
                </a:cubicBezTo>
                <a:cubicBezTo>
                  <a:pt x="2379980" y="1206853"/>
                  <a:pt x="2390775" y="1191613"/>
                  <a:pt x="2402205" y="1161768"/>
                </a:cubicBezTo>
                <a:cubicBezTo>
                  <a:pt x="2413635" y="1131923"/>
                  <a:pt x="2413635" y="1115413"/>
                  <a:pt x="2426970" y="1086838"/>
                </a:cubicBezTo>
                <a:cubicBezTo>
                  <a:pt x="2440305" y="1058263"/>
                  <a:pt x="2450465" y="1048103"/>
                  <a:pt x="2468880" y="1019528"/>
                </a:cubicBezTo>
                <a:cubicBezTo>
                  <a:pt x="2487295" y="990953"/>
                  <a:pt x="2509520" y="957933"/>
                  <a:pt x="2518410" y="944598"/>
                </a:cubicBezTo>
              </a:path>
            </a:pathLst>
          </a:custGeom>
          <a:noFill/>
          <a:ln w="38100">
            <a:solidFill>
              <a:schemeClr val="tx1"/>
            </a:solidFill>
          </a:ln>
        </p:spPr>
        <p:txBody>
          <a:bodyPr vert="horz" lIns="90000" tIns="46800" rIns="90000" bIns="46800" rtlCol="0" anchor="ctr" anchorCtr="0">
            <a:noAutofit/>
          </a:bodyPr>
          <a:p>
            <a:endParaRPr lang="zh-CN" altLang="en-US" sz="2445">
              <a:solidFill>
                <a:schemeClr val="tx1"/>
              </a:solidFill>
            </a:endParaRPr>
          </a:p>
        </p:txBody>
      </p:sp>
      <p:sp>
        <p:nvSpPr>
          <p:cNvPr id="46" name="Text Box 45"/>
          <p:cNvSpPr txBox="1"/>
          <p:nvPr/>
        </p:nvSpPr>
        <p:spPr>
          <a:xfrm>
            <a:off x="6649085" y="5041265"/>
            <a:ext cx="296926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47" name="Text Box 46"/>
          <p:cNvSpPr txBox="1"/>
          <p:nvPr/>
        </p:nvSpPr>
        <p:spPr>
          <a:xfrm>
            <a:off x="6677025" y="390525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49" name="Oval 48"/>
          <p:cNvSpPr/>
          <p:nvPr/>
        </p:nvSpPr>
        <p:spPr>
          <a:xfrm>
            <a:off x="7309485" y="293433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0" name="Oval 49"/>
          <p:cNvSpPr/>
          <p:nvPr/>
        </p:nvSpPr>
        <p:spPr>
          <a:xfrm>
            <a:off x="8085455" y="367919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3" name="Oval 52"/>
          <p:cNvSpPr/>
          <p:nvPr/>
        </p:nvSpPr>
        <p:spPr>
          <a:xfrm>
            <a:off x="8583295" y="429704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7" name="Oval 56"/>
          <p:cNvSpPr/>
          <p:nvPr/>
        </p:nvSpPr>
        <p:spPr>
          <a:xfrm>
            <a:off x="9066530" y="40792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9" name="Text Box 58"/>
          <p:cNvSpPr txBox="1"/>
          <p:nvPr/>
        </p:nvSpPr>
        <p:spPr>
          <a:xfrm>
            <a:off x="7868285" y="29889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6</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60" name="Text Box 59"/>
          <p:cNvSpPr txBox="1"/>
          <p:nvPr/>
        </p:nvSpPr>
        <p:spPr>
          <a:xfrm>
            <a:off x="8241030" y="394398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61" name="Text Box 60"/>
          <p:cNvSpPr txBox="1"/>
          <p:nvPr/>
        </p:nvSpPr>
        <p:spPr>
          <a:xfrm>
            <a:off x="8493760" y="40252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62" name="Straight Connector 61"/>
          <p:cNvCxnSpPr>
            <a:endCxn id="68" idx="3"/>
          </p:cNvCxnSpPr>
          <p:nvPr/>
        </p:nvCxnSpPr>
        <p:spPr>
          <a:xfrm flipV="1">
            <a:off x="6866890" y="3752215"/>
            <a:ext cx="199390" cy="52070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63" name="Straight Connector 62"/>
          <p:cNvCxnSpPr>
            <a:stCxn id="44" idx="8"/>
          </p:cNvCxnSpPr>
          <p:nvPr/>
        </p:nvCxnSpPr>
        <p:spPr>
          <a:xfrm>
            <a:off x="7108190" y="3679190"/>
            <a:ext cx="8255" cy="13271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4" name="Straight Connector 63"/>
          <p:cNvCxnSpPr/>
          <p:nvPr/>
        </p:nvCxnSpPr>
        <p:spPr>
          <a:xfrm>
            <a:off x="7366000" y="2978150"/>
            <a:ext cx="0" cy="202819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5" name="Straight Connector 64"/>
          <p:cNvCxnSpPr/>
          <p:nvPr/>
        </p:nvCxnSpPr>
        <p:spPr>
          <a:xfrm>
            <a:off x="7615555" y="2973705"/>
            <a:ext cx="0" cy="203263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6" name="Straight Connector 65"/>
          <p:cNvCxnSpPr>
            <a:stCxn id="59" idx="1"/>
          </p:cNvCxnSpPr>
          <p:nvPr/>
        </p:nvCxnSpPr>
        <p:spPr>
          <a:xfrm flipH="1">
            <a:off x="7865110" y="3133090"/>
            <a:ext cx="3175" cy="18732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7" name="Straight Connector 66"/>
          <p:cNvCxnSpPr/>
          <p:nvPr/>
        </p:nvCxnSpPr>
        <p:spPr>
          <a:xfrm>
            <a:off x="8364220" y="4239260"/>
            <a:ext cx="0" cy="76708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68" name="Oval 67"/>
          <p:cNvSpPr/>
          <p:nvPr/>
        </p:nvSpPr>
        <p:spPr>
          <a:xfrm>
            <a:off x="7052310" y="366966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9" name="Oval 68"/>
          <p:cNvSpPr/>
          <p:nvPr/>
        </p:nvSpPr>
        <p:spPr>
          <a:xfrm>
            <a:off x="7567295" y="290385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0" name="Oval 69"/>
          <p:cNvSpPr/>
          <p:nvPr/>
        </p:nvSpPr>
        <p:spPr>
          <a:xfrm>
            <a:off x="7833360" y="308483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1" name="Oval 70"/>
          <p:cNvSpPr/>
          <p:nvPr/>
        </p:nvSpPr>
        <p:spPr>
          <a:xfrm>
            <a:off x="8313420" y="417576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2" name="Oval 71"/>
          <p:cNvSpPr/>
          <p:nvPr/>
        </p:nvSpPr>
        <p:spPr>
          <a:xfrm>
            <a:off x="8828405" y="43586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3" name="Text Box 72"/>
          <p:cNvSpPr txBox="1"/>
          <p:nvPr/>
        </p:nvSpPr>
        <p:spPr>
          <a:xfrm>
            <a:off x="6834505" y="359473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4</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4" name="Text Box 73"/>
          <p:cNvSpPr txBox="1"/>
          <p:nvPr/>
        </p:nvSpPr>
        <p:spPr>
          <a:xfrm>
            <a:off x="7211695" y="264858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7</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5" name="Text Box 74"/>
          <p:cNvSpPr txBox="1"/>
          <p:nvPr/>
        </p:nvSpPr>
        <p:spPr>
          <a:xfrm>
            <a:off x="7478395" y="26460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7</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6" name="Text Box 75"/>
          <p:cNvSpPr txBox="1"/>
          <p:nvPr/>
        </p:nvSpPr>
        <p:spPr>
          <a:xfrm>
            <a:off x="8063230" y="341630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4</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7" name="Text Box 76"/>
          <p:cNvSpPr txBox="1"/>
          <p:nvPr/>
        </p:nvSpPr>
        <p:spPr>
          <a:xfrm>
            <a:off x="8740140" y="41141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8" name="Text Box 77"/>
          <p:cNvSpPr txBox="1"/>
          <p:nvPr/>
        </p:nvSpPr>
        <p:spPr>
          <a:xfrm>
            <a:off x="8862060" y="3795395"/>
            <a:ext cx="43180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94" name="Straight Connector 93"/>
          <p:cNvCxnSpPr>
            <a:endCxn id="49" idx="2"/>
          </p:cNvCxnSpPr>
          <p:nvPr/>
        </p:nvCxnSpPr>
        <p:spPr>
          <a:xfrm flipV="1">
            <a:off x="7116445" y="2982595"/>
            <a:ext cx="193040" cy="6965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6" name="Straight Connector 95"/>
          <p:cNvCxnSpPr>
            <a:endCxn id="75" idx="2"/>
          </p:cNvCxnSpPr>
          <p:nvPr/>
        </p:nvCxnSpPr>
        <p:spPr>
          <a:xfrm flipV="1">
            <a:off x="7359015" y="2933700"/>
            <a:ext cx="238760" cy="349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7" name="Straight Connector 96"/>
          <p:cNvCxnSpPr>
            <a:stCxn id="69" idx="5"/>
            <a:endCxn id="70" idx="2"/>
          </p:cNvCxnSpPr>
          <p:nvPr/>
        </p:nvCxnSpPr>
        <p:spPr>
          <a:xfrm>
            <a:off x="7649845" y="2986405"/>
            <a:ext cx="183515" cy="14668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6" name="Straight Connector 105"/>
          <p:cNvCxnSpPr>
            <a:stCxn id="70" idx="4"/>
            <a:endCxn id="44" idx="31"/>
          </p:cNvCxnSpPr>
          <p:nvPr/>
        </p:nvCxnSpPr>
        <p:spPr>
          <a:xfrm>
            <a:off x="7881620" y="3181350"/>
            <a:ext cx="243840" cy="5397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7" name="Straight Connector 106"/>
          <p:cNvCxnSpPr>
            <a:stCxn id="50" idx="5"/>
            <a:endCxn id="71" idx="1"/>
          </p:cNvCxnSpPr>
          <p:nvPr/>
        </p:nvCxnSpPr>
        <p:spPr>
          <a:xfrm>
            <a:off x="8168005" y="3761740"/>
            <a:ext cx="159385" cy="4279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8" name="Straight Connector 107"/>
          <p:cNvCxnSpPr>
            <a:stCxn id="71" idx="5"/>
            <a:endCxn id="53" idx="2"/>
          </p:cNvCxnSpPr>
          <p:nvPr/>
        </p:nvCxnSpPr>
        <p:spPr>
          <a:xfrm>
            <a:off x="8395970" y="4258310"/>
            <a:ext cx="187325" cy="869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9" name="Straight Connector 108"/>
          <p:cNvCxnSpPr>
            <a:stCxn id="53" idx="5"/>
            <a:endCxn id="77" idx="2"/>
          </p:cNvCxnSpPr>
          <p:nvPr/>
        </p:nvCxnSpPr>
        <p:spPr>
          <a:xfrm>
            <a:off x="8665845" y="4379595"/>
            <a:ext cx="193675" cy="222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0" name="Straight Connector 109"/>
          <p:cNvCxnSpPr>
            <a:stCxn id="72" idx="5"/>
            <a:endCxn id="57" idx="2"/>
          </p:cNvCxnSpPr>
          <p:nvPr/>
        </p:nvCxnSpPr>
        <p:spPr>
          <a:xfrm flipV="1">
            <a:off x="8910955" y="4127500"/>
            <a:ext cx="155575" cy="3136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1" name="Straight Connector 110"/>
          <p:cNvCxnSpPr/>
          <p:nvPr/>
        </p:nvCxnSpPr>
        <p:spPr>
          <a:xfrm>
            <a:off x="6508750" y="355092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2" name="Straight Connector 111"/>
          <p:cNvCxnSpPr/>
          <p:nvPr/>
        </p:nvCxnSpPr>
        <p:spPr>
          <a:xfrm>
            <a:off x="6508750" y="298323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3" name="Straight Connector 112"/>
          <p:cNvCxnSpPr/>
          <p:nvPr/>
        </p:nvCxnSpPr>
        <p:spPr>
          <a:xfrm>
            <a:off x="6508750" y="3267075"/>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114" name="Text Box 113"/>
          <p:cNvSpPr txBox="1"/>
          <p:nvPr/>
        </p:nvSpPr>
        <p:spPr>
          <a:xfrm>
            <a:off x="6118860" y="3905250"/>
            <a:ext cx="243205" cy="425450"/>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3</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5" name="Text Box 114"/>
          <p:cNvSpPr txBox="1"/>
          <p:nvPr/>
        </p:nvSpPr>
        <p:spPr>
          <a:xfrm>
            <a:off x="6118860" y="419417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2</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6" name="Text Box 115"/>
          <p:cNvSpPr txBox="1"/>
          <p:nvPr/>
        </p:nvSpPr>
        <p:spPr>
          <a:xfrm>
            <a:off x="6118860" y="446976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7" name="Text Box 116"/>
          <p:cNvSpPr txBox="1"/>
          <p:nvPr/>
        </p:nvSpPr>
        <p:spPr>
          <a:xfrm>
            <a:off x="6118860" y="470979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8" name="Text Box 117"/>
          <p:cNvSpPr txBox="1"/>
          <p:nvPr/>
        </p:nvSpPr>
        <p:spPr>
          <a:xfrm>
            <a:off x="6681470" y="5603240"/>
            <a:ext cx="1937385"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量化等级为</a:t>
            </a:r>
            <a:r>
              <a:rPr lang="en-US" altLang="zh-CN" sz="2200">
                <a:latin typeface="Alibaba PuHuiTi 3.0 55 Regular" panose="00020600040101010101" charset="-122"/>
                <a:ea typeface="Alibaba PuHuiTi 3.0 55 Regular" panose="00020600040101010101" charset="-122"/>
              </a:rPr>
              <a:t>8</a:t>
            </a:r>
            <a:endParaRPr lang="en-US" altLang="zh-CN" sz="2200">
              <a:latin typeface="Alibaba PuHuiTi 3.0 55 Regular" panose="00020600040101010101" charset="-122"/>
              <a:ea typeface="Alibaba PuHuiTi 3.0 55 Regular" panose="00020600040101010101" charset="-122"/>
            </a:endParaRPr>
          </a:p>
        </p:txBody>
      </p:sp>
      <p:cxnSp>
        <p:nvCxnSpPr>
          <p:cNvPr id="119" name="Straight Connector 118"/>
          <p:cNvCxnSpPr/>
          <p:nvPr/>
        </p:nvCxnSpPr>
        <p:spPr>
          <a:xfrm>
            <a:off x="6508750" y="3834765"/>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0" name="Straight Connector 119"/>
          <p:cNvCxnSpPr/>
          <p:nvPr/>
        </p:nvCxnSpPr>
        <p:spPr>
          <a:xfrm>
            <a:off x="6508750" y="411861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1" name="Straight Connector 120"/>
          <p:cNvCxnSpPr/>
          <p:nvPr/>
        </p:nvCxnSpPr>
        <p:spPr>
          <a:xfrm>
            <a:off x="6508750" y="4379595"/>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2" name="Straight Connector 121"/>
          <p:cNvCxnSpPr/>
          <p:nvPr/>
        </p:nvCxnSpPr>
        <p:spPr>
          <a:xfrm>
            <a:off x="6508750" y="468630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131" name="Text Box 130"/>
          <p:cNvSpPr txBox="1"/>
          <p:nvPr/>
        </p:nvSpPr>
        <p:spPr>
          <a:xfrm>
            <a:off x="6120130" y="2819400"/>
            <a:ext cx="243205" cy="425450"/>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7</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2" name="Text Box 131"/>
          <p:cNvSpPr txBox="1"/>
          <p:nvPr/>
        </p:nvSpPr>
        <p:spPr>
          <a:xfrm>
            <a:off x="6120130" y="310832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6</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3" name="Text Box 132"/>
          <p:cNvSpPr txBox="1"/>
          <p:nvPr/>
        </p:nvSpPr>
        <p:spPr>
          <a:xfrm>
            <a:off x="6120130" y="338391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5</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4" name="Text Box 133"/>
          <p:cNvSpPr txBox="1"/>
          <p:nvPr/>
        </p:nvSpPr>
        <p:spPr>
          <a:xfrm>
            <a:off x="6120130" y="362394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4</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32" name="Text Box 31"/>
          <p:cNvSpPr txBox="1"/>
          <p:nvPr/>
        </p:nvSpPr>
        <p:spPr>
          <a:xfrm>
            <a:off x="2762885" y="1741805"/>
            <a:ext cx="1002665" cy="429895"/>
          </a:xfrm>
          <a:prstGeom prst="rect">
            <a:avLst/>
          </a:prstGeom>
          <a:noFill/>
        </p:spPr>
        <p:txBody>
          <a:bodyPr wrap="square" rtlCol="0">
            <a:noAutofit/>
          </a:bodyPr>
          <a:p>
            <a:pPr algn="l"/>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思考</a:t>
            </a:r>
            <a:r>
              <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a:t>
            </a:r>
            <a:endPar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123" name="Text Box 122"/>
          <p:cNvSpPr txBox="1"/>
          <p:nvPr/>
        </p:nvSpPr>
        <p:spPr>
          <a:xfrm>
            <a:off x="3620135" y="1589405"/>
            <a:ext cx="4845050" cy="1083310"/>
          </a:xfrm>
          <a:prstGeom prst="rect">
            <a:avLst/>
          </a:prstGeom>
          <a:noFill/>
        </p:spPr>
        <p:txBody>
          <a:bodyPr wrap="square" rtlCol="0">
            <a:noAutofit/>
          </a:bodyPr>
          <a:p>
            <a:pPr>
              <a:lnSpc>
                <a:spcPct val="150000"/>
              </a:lnSpc>
            </a:pPr>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两种量化等级需要用几位二进制</a:t>
            </a:r>
            <a:r>
              <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a:t>
            </a:r>
            <a:endPar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endParaRPr>
          </a:p>
        </p:txBody>
      </p:sp>
      <p:pic>
        <p:nvPicPr>
          <p:cNvPr id="124" name="Picture 123" descr="思考"/>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2367915" y="1715135"/>
            <a:ext cx="456565" cy="456565"/>
          </a:xfrm>
          <a:prstGeom prst="rect">
            <a:avLst/>
          </a:prstGeom>
        </p:spPr>
      </p:pic>
    </p:spTree>
    <p:custDataLst>
      <p:tags r:id="rId5"/>
    </p:custData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a:bodyPr>
          <a:p>
            <a:r>
              <a:rPr lang="zh-CN" altLang="en-US"/>
              <a:t>怎样才能把声音（模拟信号</a:t>
            </a:r>
            <a:r>
              <a:rPr lang="en-US" altLang="zh-CN"/>
              <a:t>）</a:t>
            </a:r>
            <a:r>
              <a:rPr lang="zh-CN" altLang="en-US"/>
              <a:t>是转成数字信号</a:t>
            </a:r>
            <a:r>
              <a:rPr lang="en-US"/>
              <a:t>？</a:t>
            </a:r>
            <a:endParaRPr lang="en-US"/>
          </a:p>
        </p:txBody>
      </p:sp>
      <p:sp>
        <p:nvSpPr>
          <p:cNvPr id="14" name="Text Box 13"/>
          <p:cNvSpPr txBox="1"/>
          <p:nvPr/>
        </p:nvSpPr>
        <p:spPr>
          <a:xfrm>
            <a:off x="691515" y="1313815"/>
            <a:ext cx="254762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cs typeface="Alibaba PuHuiTi 3.0 55 Regular" panose="00020600040101010101" charset="-122"/>
              </a:rPr>
              <a:t>1. </a:t>
            </a:r>
            <a:r>
              <a:rPr lang="zh-CN" altLang="en-US" sz="2200">
                <a:latin typeface="Alibaba PuHuiTi 3.0 55 Regular" panose="00020600040101010101" charset="-122"/>
                <a:ea typeface="Alibaba PuHuiTi 3.0 55 Regular" panose="00020600040101010101" charset="-122"/>
                <a:cs typeface="Alibaba PuHuiTi 3.0 55 Regular" panose="00020600040101010101" charset="-122"/>
              </a:rPr>
              <a:t>采样</a:t>
            </a:r>
            <a:r>
              <a:rPr lang="en-US" altLang="zh-CN" sz="2200">
                <a:latin typeface="Alibaba PuHuiTi 3.0 55 Regular" panose="00020600040101010101" charset="-122"/>
                <a:ea typeface="Alibaba PuHuiTi 3.0 55 Regular" panose="00020600040101010101" charset="-122"/>
                <a:cs typeface="Alibaba PuHuiTi 3.0 55 Regular" panose="00020600040101010101" charset="-122"/>
              </a:rPr>
              <a:t> Sampling</a:t>
            </a:r>
            <a:endParaRPr lang="en-US" altLang="zh-CN" sz="2200">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7" name="Text Box 16"/>
          <p:cNvSpPr txBox="1"/>
          <p:nvPr/>
        </p:nvSpPr>
        <p:spPr>
          <a:xfrm>
            <a:off x="3860165" y="1313815"/>
            <a:ext cx="3038475" cy="429895"/>
          </a:xfrm>
          <a:prstGeom prst="rect">
            <a:avLst/>
          </a:prstGeom>
          <a:noFill/>
        </p:spPr>
        <p:txBody>
          <a:bodyPr wrap="square" rtlCol="0">
            <a:spAutoFit/>
          </a:bodyPr>
          <a:p>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2. </a:t>
            </a:r>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量化</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 Quantization</a:t>
            </a:r>
            <a:endParaRPr lang="en-US" altLang="zh-CN" sz="2200" b="1">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18" name="Text Box 17"/>
          <p:cNvSpPr txBox="1"/>
          <p:nvPr/>
        </p:nvSpPr>
        <p:spPr>
          <a:xfrm>
            <a:off x="7519670" y="1313815"/>
            <a:ext cx="3822065" cy="429895"/>
          </a:xfrm>
          <a:prstGeom prst="rect">
            <a:avLst/>
          </a:prstGeom>
          <a:noFill/>
        </p:spPr>
        <p:txBody>
          <a:bodyPr wrap="square" rtlCol="0">
            <a:spAutoFit/>
          </a:bodyPr>
          <a:p>
            <a:r>
              <a:rPr lang="en-US" altLang="zh-CN" sz="2200">
                <a:latin typeface="Alibaba PuHuiTi 3.0 55 Regular" panose="00020600040101010101" charset="-122"/>
                <a:ea typeface="Alibaba PuHuiTi 3.0 55 Regular" panose="00020600040101010101" charset="-122"/>
              </a:rPr>
              <a:t>3. </a:t>
            </a:r>
            <a:r>
              <a:rPr lang="zh-CN" altLang="en-US" sz="2200">
                <a:latin typeface="Alibaba PuHuiTi 3.0 55 Regular" panose="00020600040101010101" charset="-122"/>
                <a:ea typeface="Alibaba PuHuiTi 3.0 55 Regular" panose="00020600040101010101" charset="-122"/>
              </a:rPr>
              <a:t>编码</a:t>
            </a:r>
            <a:r>
              <a:rPr lang="en-US" altLang="zh-CN" sz="2200">
                <a:latin typeface="Alibaba PuHuiTi 3.0 55 Regular" panose="00020600040101010101" charset="-122"/>
                <a:ea typeface="Alibaba PuHuiTi 3.0 55 Regular" panose="00020600040101010101" charset="-122"/>
              </a:rPr>
              <a:t> </a:t>
            </a:r>
            <a:r>
              <a:rPr lang="en-US" altLang="zh-CN" sz="2200">
                <a:latin typeface="Alibaba PuHuiTi 3.0 55 Regular" panose="00020600040101010101" charset="-122"/>
                <a:ea typeface="Alibaba PuHuiTi 3.0 55 Regular" panose="00020600040101010101" charset="-122"/>
              </a:rPr>
              <a:t>Encoding</a:t>
            </a:r>
            <a:endParaRPr lang="en-US" altLang="zh-CN" sz="2200">
              <a:latin typeface="Alibaba PuHuiTi 3.0 55 Regular" panose="00020600040101010101" charset="-122"/>
              <a:ea typeface="Alibaba PuHuiTi 3.0 55 Regular" panose="00020600040101010101" charset="-122"/>
            </a:endParaRPr>
          </a:p>
        </p:txBody>
      </p:sp>
      <p:cxnSp>
        <p:nvCxnSpPr>
          <p:cNvPr id="19" name="Straight Connector 18"/>
          <p:cNvCxnSpPr/>
          <p:nvPr/>
        </p:nvCxnSpPr>
        <p:spPr>
          <a:xfrm flipH="1">
            <a:off x="3202305" y="1529080"/>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cxnSp>
        <p:nvCxnSpPr>
          <p:cNvPr id="20" name="Straight Connector 19"/>
          <p:cNvCxnSpPr/>
          <p:nvPr/>
        </p:nvCxnSpPr>
        <p:spPr>
          <a:xfrm flipH="1">
            <a:off x="6861810" y="1528445"/>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12" name="Oval 11"/>
          <p:cNvSpPr/>
          <p:nvPr/>
        </p:nvSpPr>
        <p:spPr>
          <a:xfrm>
            <a:off x="1926590" y="419798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13" name="Straight Connector 12"/>
          <p:cNvCxnSpPr/>
          <p:nvPr/>
        </p:nvCxnSpPr>
        <p:spPr>
          <a:xfrm>
            <a:off x="1974850" y="4271645"/>
            <a:ext cx="0" cy="73977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5" name="Straight Connector 14"/>
          <p:cNvCxnSpPr>
            <a:stCxn id="36" idx="31"/>
          </p:cNvCxnSpPr>
          <p:nvPr/>
        </p:nvCxnSpPr>
        <p:spPr>
          <a:xfrm flipH="1">
            <a:off x="3222625" y="3726180"/>
            <a:ext cx="10795" cy="123444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6" name="Straight Connector 15"/>
          <p:cNvCxnSpPr/>
          <p:nvPr/>
        </p:nvCxnSpPr>
        <p:spPr>
          <a:xfrm>
            <a:off x="3721735" y="4398645"/>
            <a:ext cx="0" cy="57023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2" name="Straight Connector 21"/>
          <p:cNvCxnSpPr/>
          <p:nvPr/>
        </p:nvCxnSpPr>
        <p:spPr>
          <a:xfrm>
            <a:off x="3971290" y="4448810"/>
            <a:ext cx="0" cy="56324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4" name="Straight Connector 23"/>
          <p:cNvCxnSpPr/>
          <p:nvPr/>
        </p:nvCxnSpPr>
        <p:spPr>
          <a:xfrm>
            <a:off x="4220845" y="4180840"/>
            <a:ext cx="0" cy="83121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5" name="Straight Connector 24"/>
          <p:cNvCxnSpPr/>
          <p:nvPr/>
        </p:nvCxnSpPr>
        <p:spPr>
          <a:xfrm>
            <a:off x="1600200" y="2225040"/>
            <a:ext cx="0" cy="274320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27" name="Straight Connector 26"/>
          <p:cNvCxnSpPr/>
          <p:nvPr/>
        </p:nvCxnSpPr>
        <p:spPr>
          <a:xfrm flipH="1">
            <a:off x="1598930" y="4977130"/>
            <a:ext cx="312737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33" name="Text Box 32"/>
          <p:cNvSpPr txBox="1"/>
          <p:nvPr/>
        </p:nvSpPr>
        <p:spPr>
          <a:xfrm>
            <a:off x="4463415" y="5046345"/>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36" name="Freeform 35"/>
          <p:cNvSpPr/>
          <p:nvPr/>
        </p:nvSpPr>
        <p:spPr>
          <a:xfrm>
            <a:off x="1815465" y="2955925"/>
            <a:ext cx="2518410" cy="1645285"/>
          </a:xfrm>
          <a:custGeom>
            <a:avLst/>
            <a:gdLst>
              <a:gd name="connisteX0" fmla="*/ 0 w 2518410"/>
              <a:gd name="connsiteY0" fmla="*/ 1645002 h 1645002"/>
              <a:gd name="connisteX1" fmla="*/ 25400 w 2518410"/>
              <a:gd name="connsiteY1" fmla="*/ 1519907 h 1645002"/>
              <a:gd name="connisteX2" fmla="*/ 142240 w 2518410"/>
              <a:gd name="connsiteY2" fmla="*/ 1328137 h 1645002"/>
              <a:gd name="connisteX3" fmla="*/ 225425 w 2518410"/>
              <a:gd name="connsiteY3" fmla="*/ 1178277 h 1645002"/>
              <a:gd name="connisteX4" fmla="*/ 275590 w 2518410"/>
              <a:gd name="connsiteY4" fmla="*/ 1077947 h 1645002"/>
              <a:gd name="connisteX5" fmla="*/ 325120 w 2518410"/>
              <a:gd name="connsiteY5" fmla="*/ 978252 h 1645002"/>
              <a:gd name="connisteX6" fmla="*/ 358775 w 2518410"/>
              <a:gd name="connsiteY6" fmla="*/ 877922 h 1645002"/>
              <a:gd name="connisteX7" fmla="*/ 383540 w 2518410"/>
              <a:gd name="connsiteY7" fmla="*/ 811247 h 1645002"/>
              <a:gd name="connisteX8" fmla="*/ 400685 w 2518410"/>
              <a:gd name="connsiteY8" fmla="*/ 728062 h 1645002"/>
              <a:gd name="connisteX9" fmla="*/ 441960 w 2518410"/>
              <a:gd name="connsiteY9" fmla="*/ 611222 h 1645002"/>
              <a:gd name="connisteX10" fmla="*/ 459105 w 2518410"/>
              <a:gd name="connsiteY10" fmla="*/ 544547 h 1645002"/>
              <a:gd name="connisteX11" fmla="*/ 492125 w 2518410"/>
              <a:gd name="connsiteY11" fmla="*/ 419452 h 1645002"/>
              <a:gd name="connisteX12" fmla="*/ 525780 w 2518410"/>
              <a:gd name="connsiteY12" fmla="*/ 310867 h 1645002"/>
              <a:gd name="connisteX13" fmla="*/ 550545 w 2518410"/>
              <a:gd name="connsiteY13" fmla="*/ 227682 h 1645002"/>
              <a:gd name="connisteX14" fmla="*/ 567055 w 2518410"/>
              <a:gd name="connsiteY14" fmla="*/ 161007 h 1645002"/>
              <a:gd name="connisteX15" fmla="*/ 584200 w 2518410"/>
              <a:gd name="connsiteY15" fmla="*/ 94332 h 1645002"/>
              <a:gd name="connisteX16" fmla="*/ 625475 w 2518410"/>
              <a:gd name="connsiteY16" fmla="*/ 27657 h 1645002"/>
              <a:gd name="connisteX17" fmla="*/ 692150 w 2518410"/>
              <a:gd name="connsiteY17" fmla="*/ 10512 h 1645002"/>
              <a:gd name="connisteX18" fmla="*/ 784225 w 2518410"/>
              <a:gd name="connsiteY18" fmla="*/ 2257 h 1645002"/>
              <a:gd name="connisteX19" fmla="*/ 859155 w 2518410"/>
              <a:gd name="connsiteY19" fmla="*/ 2257 h 1645002"/>
              <a:gd name="connisteX20" fmla="*/ 925830 w 2518410"/>
              <a:gd name="connsiteY20" fmla="*/ 2257 h 1645002"/>
              <a:gd name="connisteX21" fmla="*/ 1000760 w 2518410"/>
              <a:gd name="connsiteY21" fmla="*/ 27657 h 1645002"/>
              <a:gd name="connisteX22" fmla="*/ 1067435 w 2518410"/>
              <a:gd name="connsiteY22" fmla="*/ 77187 h 1645002"/>
              <a:gd name="connisteX23" fmla="*/ 1125855 w 2518410"/>
              <a:gd name="connsiteY23" fmla="*/ 152752 h 1645002"/>
              <a:gd name="connisteX24" fmla="*/ 1176020 w 2518410"/>
              <a:gd name="connsiteY24" fmla="*/ 235937 h 1645002"/>
              <a:gd name="connisteX25" fmla="*/ 1217930 w 2518410"/>
              <a:gd name="connsiteY25" fmla="*/ 302612 h 1645002"/>
              <a:gd name="connisteX26" fmla="*/ 1242695 w 2518410"/>
              <a:gd name="connsiteY26" fmla="*/ 369287 h 1645002"/>
              <a:gd name="connisteX27" fmla="*/ 1276350 w 2518410"/>
              <a:gd name="connsiteY27" fmla="*/ 435962 h 1645002"/>
              <a:gd name="connisteX28" fmla="*/ 1309370 w 2518410"/>
              <a:gd name="connsiteY28" fmla="*/ 502637 h 1645002"/>
              <a:gd name="connisteX29" fmla="*/ 1351280 w 2518410"/>
              <a:gd name="connsiteY29" fmla="*/ 594712 h 1645002"/>
              <a:gd name="connisteX30" fmla="*/ 1384300 w 2518410"/>
              <a:gd name="connsiteY30" fmla="*/ 686152 h 1645002"/>
              <a:gd name="connisteX31" fmla="*/ 1417955 w 2518410"/>
              <a:gd name="connsiteY31" fmla="*/ 769972 h 1645002"/>
              <a:gd name="connisteX32" fmla="*/ 1450975 w 2518410"/>
              <a:gd name="connsiteY32" fmla="*/ 844902 h 1645002"/>
              <a:gd name="connisteX33" fmla="*/ 1476375 w 2518410"/>
              <a:gd name="connsiteY33" fmla="*/ 911577 h 1645002"/>
              <a:gd name="connisteX34" fmla="*/ 1501140 w 2518410"/>
              <a:gd name="connsiteY34" fmla="*/ 1003017 h 1645002"/>
              <a:gd name="connisteX35" fmla="*/ 1526540 w 2518410"/>
              <a:gd name="connsiteY35" fmla="*/ 1077947 h 1645002"/>
              <a:gd name="connisteX36" fmla="*/ 1551305 w 2518410"/>
              <a:gd name="connsiteY36" fmla="*/ 1153512 h 1645002"/>
              <a:gd name="connisteX37" fmla="*/ 1601470 w 2518410"/>
              <a:gd name="connsiteY37" fmla="*/ 1220187 h 1645002"/>
              <a:gd name="connisteX38" fmla="*/ 1676400 w 2518410"/>
              <a:gd name="connsiteY38" fmla="*/ 1269717 h 1645002"/>
              <a:gd name="connisteX39" fmla="*/ 1743075 w 2518410"/>
              <a:gd name="connsiteY39" fmla="*/ 1319882 h 1645002"/>
              <a:gd name="connisteX40" fmla="*/ 1809750 w 2518410"/>
              <a:gd name="connsiteY40" fmla="*/ 1353537 h 1645002"/>
              <a:gd name="connisteX41" fmla="*/ 1876425 w 2518410"/>
              <a:gd name="connsiteY41" fmla="*/ 1386557 h 1645002"/>
              <a:gd name="connisteX42" fmla="*/ 1951355 w 2518410"/>
              <a:gd name="connsiteY42" fmla="*/ 1411957 h 1645002"/>
              <a:gd name="connisteX43" fmla="*/ 2035175 w 2518410"/>
              <a:gd name="connsiteY43" fmla="*/ 1436722 h 1645002"/>
              <a:gd name="connisteX44" fmla="*/ 2110105 w 2518410"/>
              <a:gd name="connsiteY44" fmla="*/ 1453232 h 1645002"/>
              <a:gd name="connisteX45" fmla="*/ 2185035 w 2518410"/>
              <a:gd name="connsiteY45" fmla="*/ 1453232 h 1645002"/>
              <a:gd name="connisteX46" fmla="*/ 2251710 w 2518410"/>
              <a:gd name="connsiteY46" fmla="*/ 1444977 h 1645002"/>
              <a:gd name="connisteX47" fmla="*/ 2301875 w 2518410"/>
              <a:gd name="connsiteY47" fmla="*/ 1378302 h 1645002"/>
              <a:gd name="connisteX48" fmla="*/ 2343785 w 2518410"/>
              <a:gd name="connsiteY48" fmla="*/ 1311627 h 1645002"/>
              <a:gd name="connisteX49" fmla="*/ 2368550 w 2518410"/>
              <a:gd name="connsiteY49" fmla="*/ 1236697 h 1645002"/>
              <a:gd name="connisteX50" fmla="*/ 2402205 w 2518410"/>
              <a:gd name="connsiteY50" fmla="*/ 1161767 h 1645002"/>
              <a:gd name="connisteX51" fmla="*/ 2426970 w 2518410"/>
              <a:gd name="connsiteY51" fmla="*/ 1086837 h 1645002"/>
              <a:gd name="connisteX52" fmla="*/ 2468880 w 2518410"/>
              <a:gd name="connsiteY52" fmla="*/ 1019527 h 1645002"/>
              <a:gd name="connisteX53" fmla="*/ 2518410 w 2518410"/>
              <a:gd name="connsiteY53" fmla="*/ 944597 h 164500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Lst>
            <a:rect l="l" t="t" r="r" b="b"/>
            <a:pathLst>
              <a:path w="2518410" h="1645003">
                <a:moveTo>
                  <a:pt x="0" y="1645003"/>
                </a:moveTo>
                <a:cubicBezTo>
                  <a:pt x="2540" y="1624048"/>
                  <a:pt x="-3175" y="1583408"/>
                  <a:pt x="25400" y="1519908"/>
                </a:cubicBezTo>
                <a:cubicBezTo>
                  <a:pt x="53975" y="1456408"/>
                  <a:pt x="102235" y="1396718"/>
                  <a:pt x="142240" y="1328138"/>
                </a:cubicBezTo>
                <a:cubicBezTo>
                  <a:pt x="182245" y="1259558"/>
                  <a:pt x="198755" y="1228443"/>
                  <a:pt x="225425" y="1178278"/>
                </a:cubicBezTo>
                <a:cubicBezTo>
                  <a:pt x="252095" y="1128113"/>
                  <a:pt x="255905" y="1117953"/>
                  <a:pt x="275590" y="1077948"/>
                </a:cubicBezTo>
                <a:cubicBezTo>
                  <a:pt x="295275" y="1037943"/>
                  <a:pt x="308610" y="1018258"/>
                  <a:pt x="325120" y="978253"/>
                </a:cubicBezTo>
                <a:cubicBezTo>
                  <a:pt x="341630" y="938248"/>
                  <a:pt x="347345" y="911578"/>
                  <a:pt x="358775" y="877923"/>
                </a:cubicBezTo>
                <a:cubicBezTo>
                  <a:pt x="370205" y="844268"/>
                  <a:pt x="375285" y="841093"/>
                  <a:pt x="383540" y="811248"/>
                </a:cubicBezTo>
                <a:cubicBezTo>
                  <a:pt x="391795" y="781403"/>
                  <a:pt x="389255" y="768068"/>
                  <a:pt x="400685" y="728063"/>
                </a:cubicBezTo>
                <a:cubicBezTo>
                  <a:pt x="412115" y="688058"/>
                  <a:pt x="430530" y="648053"/>
                  <a:pt x="441960" y="611223"/>
                </a:cubicBezTo>
                <a:cubicBezTo>
                  <a:pt x="453390" y="574393"/>
                  <a:pt x="448945" y="582648"/>
                  <a:pt x="459105" y="544548"/>
                </a:cubicBezTo>
                <a:cubicBezTo>
                  <a:pt x="469265" y="506448"/>
                  <a:pt x="478790" y="466443"/>
                  <a:pt x="492125" y="419453"/>
                </a:cubicBezTo>
                <a:cubicBezTo>
                  <a:pt x="505460" y="372463"/>
                  <a:pt x="514350" y="348968"/>
                  <a:pt x="525780" y="310868"/>
                </a:cubicBezTo>
                <a:cubicBezTo>
                  <a:pt x="537210" y="272768"/>
                  <a:pt x="542290" y="257528"/>
                  <a:pt x="550545" y="227683"/>
                </a:cubicBezTo>
                <a:cubicBezTo>
                  <a:pt x="558800" y="197838"/>
                  <a:pt x="560070" y="187678"/>
                  <a:pt x="567055" y="161008"/>
                </a:cubicBezTo>
                <a:cubicBezTo>
                  <a:pt x="574040" y="134338"/>
                  <a:pt x="572770" y="121003"/>
                  <a:pt x="584200" y="94333"/>
                </a:cubicBezTo>
                <a:cubicBezTo>
                  <a:pt x="595630" y="67663"/>
                  <a:pt x="603885" y="44168"/>
                  <a:pt x="625475" y="27658"/>
                </a:cubicBezTo>
                <a:cubicBezTo>
                  <a:pt x="647065" y="11148"/>
                  <a:pt x="660400" y="15593"/>
                  <a:pt x="692150" y="10513"/>
                </a:cubicBezTo>
                <a:cubicBezTo>
                  <a:pt x="723900" y="5433"/>
                  <a:pt x="750570" y="4163"/>
                  <a:pt x="784225" y="2258"/>
                </a:cubicBezTo>
                <a:cubicBezTo>
                  <a:pt x="817880" y="353"/>
                  <a:pt x="830580" y="2258"/>
                  <a:pt x="859155" y="2258"/>
                </a:cubicBezTo>
                <a:cubicBezTo>
                  <a:pt x="887730" y="2258"/>
                  <a:pt x="897255" y="-2822"/>
                  <a:pt x="925830" y="2258"/>
                </a:cubicBezTo>
                <a:cubicBezTo>
                  <a:pt x="954405" y="7338"/>
                  <a:pt x="972185" y="12418"/>
                  <a:pt x="1000760" y="27658"/>
                </a:cubicBezTo>
                <a:cubicBezTo>
                  <a:pt x="1029335" y="42898"/>
                  <a:pt x="1042670" y="52423"/>
                  <a:pt x="1067435" y="77188"/>
                </a:cubicBezTo>
                <a:cubicBezTo>
                  <a:pt x="1092200" y="101953"/>
                  <a:pt x="1104265" y="121003"/>
                  <a:pt x="1125855" y="152753"/>
                </a:cubicBezTo>
                <a:cubicBezTo>
                  <a:pt x="1147445" y="184503"/>
                  <a:pt x="1157605" y="206093"/>
                  <a:pt x="1176020" y="235938"/>
                </a:cubicBezTo>
                <a:cubicBezTo>
                  <a:pt x="1194435" y="265783"/>
                  <a:pt x="1204595" y="275943"/>
                  <a:pt x="1217930" y="302613"/>
                </a:cubicBezTo>
                <a:cubicBezTo>
                  <a:pt x="1231265" y="329283"/>
                  <a:pt x="1231265" y="342618"/>
                  <a:pt x="1242695" y="369288"/>
                </a:cubicBezTo>
                <a:cubicBezTo>
                  <a:pt x="1254125" y="395958"/>
                  <a:pt x="1263015" y="409293"/>
                  <a:pt x="1276350" y="435963"/>
                </a:cubicBezTo>
                <a:cubicBezTo>
                  <a:pt x="1289685" y="462633"/>
                  <a:pt x="1294130" y="470888"/>
                  <a:pt x="1309370" y="502638"/>
                </a:cubicBezTo>
                <a:cubicBezTo>
                  <a:pt x="1324610" y="534388"/>
                  <a:pt x="1336040" y="557883"/>
                  <a:pt x="1351280" y="594713"/>
                </a:cubicBezTo>
                <a:cubicBezTo>
                  <a:pt x="1366520" y="631543"/>
                  <a:pt x="1370965" y="651228"/>
                  <a:pt x="1384300" y="686153"/>
                </a:cubicBezTo>
                <a:cubicBezTo>
                  <a:pt x="1397635" y="721078"/>
                  <a:pt x="1404620" y="738223"/>
                  <a:pt x="1417955" y="769973"/>
                </a:cubicBezTo>
                <a:cubicBezTo>
                  <a:pt x="1431290" y="801723"/>
                  <a:pt x="1439545" y="816328"/>
                  <a:pt x="1450975" y="844903"/>
                </a:cubicBezTo>
                <a:cubicBezTo>
                  <a:pt x="1462405" y="873478"/>
                  <a:pt x="1466215" y="879828"/>
                  <a:pt x="1476375" y="911578"/>
                </a:cubicBezTo>
                <a:cubicBezTo>
                  <a:pt x="1486535" y="943328"/>
                  <a:pt x="1490980" y="969998"/>
                  <a:pt x="1501140" y="1003018"/>
                </a:cubicBezTo>
                <a:cubicBezTo>
                  <a:pt x="1511300" y="1036038"/>
                  <a:pt x="1516380" y="1048103"/>
                  <a:pt x="1526540" y="1077948"/>
                </a:cubicBezTo>
                <a:cubicBezTo>
                  <a:pt x="1536700" y="1107793"/>
                  <a:pt x="1536065" y="1124938"/>
                  <a:pt x="1551305" y="1153513"/>
                </a:cubicBezTo>
                <a:cubicBezTo>
                  <a:pt x="1566545" y="1182088"/>
                  <a:pt x="1576705" y="1196693"/>
                  <a:pt x="1601470" y="1220188"/>
                </a:cubicBezTo>
                <a:cubicBezTo>
                  <a:pt x="1626235" y="1243683"/>
                  <a:pt x="1647825" y="1250033"/>
                  <a:pt x="1676400" y="1269718"/>
                </a:cubicBezTo>
                <a:cubicBezTo>
                  <a:pt x="1704975" y="1289403"/>
                  <a:pt x="1716405" y="1303373"/>
                  <a:pt x="1743075" y="1319883"/>
                </a:cubicBezTo>
                <a:cubicBezTo>
                  <a:pt x="1769745" y="1336393"/>
                  <a:pt x="1783080" y="1340203"/>
                  <a:pt x="1809750" y="1353538"/>
                </a:cubicBezTo>
                <a:cubicBezTo>
                  <a:pt x="1836420" y="1366873"/>
                  <a:pt x="1847850" y="1375128"/>
                  <a:pt x="1876425" y="1386558"/>
                </a:cubicBezTo>
                <a:cubicBezTo>
                  <a:pt x="1905000" y="1397988"/>
                  <a:pt x="1919605" y="1401798"/>
                  <a:pt x="1951355" y="1411958"/>
                </a:cubicBezTo>
                <a:cubicBezTo>
                  <a:pt x="1983105" y="1422118"/>
                  <a:pt x="2003425" y="1428468"/>
                  <a:pt x="2035175" y="1436723"/>
                </a:cubicBezTo>
                <a:cubicBezTo>
                  <a:pt x="2066925" y="1444978"/>
                  <a:pt x="2080260" y="1450058"/>
                  <a:pt x="2110105" y="1453233"/>
                </a:cubicBezTo>
                <a:cubicBezTo>
                  <a:pt x="2139950" y="1456408"/>
                  <a:pt x="2156460" y="1455138"/>
                  <a:pt x="2185035" y="1453233"/>
                </a:cubicBezTo>
                <a:cubicBezTo>
                  <a:pt x="2213610" y="1451328"/>
                  <a:pt x="2228215" y="1460218"/>
                  <a:pt x="2251710" y="1444978"/>
                </a:cubicBezTo>
                <a:cubicBezTo>
                  <a:pt x="2275205" y="1429738"/>
                  <a:pt x="2283460" y="1404973"/>
                  <a:pt x="2301875" y="1378303"/>
                </a:cubicBezTo>
                <a:cubicBezTo>
                  <a:pt x="2320290" y="1351633"/>
                  <a:pt x="2330450" y="1340203"/>
                  <a:pt x="2343785" y="1311628"/>
                </a:cubicBezTo>
                <a:cubicBezTo>
                  <a:pt x="2357120" y="1283053"/>
                  <a:pt x="2357120" y="1266543"/>
                  <a:pt x="2368550" y="1236698"/>
                </a:cubicBezTo>
                <a:cubicBezTo>
                  <a:pt x="2379980" y="1206853"/>
                  <a:pt x="2390775" y="1191613"/>
                  <a:pt x="2402205" y="1161768"/>
                </a:cubicBezTo>
                <a:cubicBezTo>
                  <a:pt x="2413635" y="1131923"/>
                  <a:pt x="2413635" y="1115413"/>
                  <a:pt x="2426970" y="1086838"/>
                </a:cubicBezTo>
                <a:cubicBezTo>
                  <a:pt x="2440305" y="1058263"/>
                  <a:pt x="2450465" y="1048103"/>
                  <a:pt x="2468880" y="1019528"/>
                </a:cubicBezTo>
                <a:cubicBezTo>
                  <a:pt x="2487295" y="990953"/>
                  <a:pt x="2509520" y="957933"/>
                  <a:pt x="2518410" y="944598"/>
                </a:cubicBezTo>
              </a:path>
            </a:pathLst>
          </a:custGeom>
          <a:noFill/>
          <a:ln w="38100">
            <a:solidFill>
              <a:schemeClr val="tx1"/>
            </a:solidFill>
          </a:ln>
        </p:spPr>
        <p:txBody>
          <a:bodyPr vert="horz" lIns="90000" tIns="46800" rIns="90000" bIns="46800" rtlCol="0" anchor="ctr" anchorCtr="0">
            <a:noAutofit/>
          </a:bodyPr>
          <a:p>
            <a:endParaRPr lang="zh-CN" altLang="en-US" sz="2445">
              <a:solidFill>
                <a:schemeClr val="tx1"/>
              </a:solidFill>
            </a:endParaRPr>
          </a:p>
        </p:txBody>
      </p:sp>
      <p:sp>
        <p:nvSpPr>
          <p:cNvPr id="45" name="Text Box 44"/>
          <p:cNvSpPr txBox="1"/>
          <p:nvPr/>
        </p:nvSpPr>
        <p:spPr>
          <a:xfrm>
            <a:off x="1757045" y="5046345"/>
            <a:ext cx="296926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48" name="Text Box 47"/>
          <p:cNvSpPr txBox="1"/>
          <p:nvPr/>
        </p:nvSpPr>
        <p:spPr>
          <a:xfrm>
            <a:off x="1784985" y="391033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8" name="Oval 7"/>
          <p:cNvSpPr/>
          <p:nvPr/>
        </p:nvSpPr>
        <p:spPr>
          <a:xfrm>
            <a:off x="2417445" y="293941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9" name="Oval 8"/>
          <p:cNvSpPr/>
          <p:nvPr/>
        </p:nvSpPr>
        <p:spPr>
          <a:xfrm>
            <a:off x="3193415" y="368427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1" name="Oval 50"/>
          <p:cNvSpPr/>
          <p:nvPr/>
        </p:nvSpPr>
        <p:spPr>
          <a:xfrm>
            <a:off x="3691255" y="430212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2" name="Oval 51"/>
          <p:cNvSpPr/>
          <p:nvPr/>
        </p:nvSpPr>
        <p:spPr>
          <a:xfrm>
            <a:off x="4174490" y="408432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4" name="Text Box 53"/>
          <p:cNvSpPr txBox="1"/>
          <p:nvPr/>
        </p:nvSpPr>
        <p:spPr>
          <a:xfrm>
            <a:off x="2976245" y="299402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55" name="Text Box 54"/>
          <p:cNvSpPr txBox="1"/>
          <p:nvPr/>
        </p:nvSpPr>
        <p:spPr>
          <a:xfrm>
            <a:off x="3348990" y="39490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56" name="Text Box 55"/>
          <p:cNvSpPr txBox="1"/>
          <p:nvPr/>
        </p:nvSpPr>
        <p:spPr>
          <a:xfrm>
            <a:off x="3601720" y="40303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58" name="Straight Connector 57"/>
          <p:cNvCxnSpPr>
            <a:endCxn id="84" idx="3"/>
          </p:cNvCxnSpPr>
          <p:nvPr/>
        </p:nvCxnSpPr>
        <p:spPr>
          <a:xfrm flipV="1">
            <a:off x="1974850" y="3757295"/>
            <a:ext cx="199390" cy="52070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79" name="Straight Connector 78"/>
          <p:cNvCxnSpPr>
            <a:stCxn id="36" idx="8"/>
          </p:cNvCxnSpPr>
          <p:nvPr/>
        </p:nvCxnSpPr>
        <p:spPr>
          <a:xfrm>
            <a:off x="2216150" y="3684270"/>
            <a:ext cx="8255" cy="13271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0" name="Straight Connector 79"/>
          <p:cNvCxnSpPr/>
          <p:nvPr/>
        </p:nvCxnSpPr>
        <p:spPr>
          <a:xfrm>
            <a:off x="2473960" y="2983230"/>
            <a:ext cx="0" cy="202819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1" name="Straight Connector 80"/>
          <p:cNvCxnSpPr/>
          <p:nvPr/>
        </p:nvCxnSpPr>
        <p:spPr>
          <a:xfrm>
            <a:off x="2723515" y="2978785"/>
            <a:ext cx="0" cy="203263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2" name="Straight Connector 81"/>
          <p:cNvCxnSpPr>
            <a:stCxn id="54" idx="1"/>
          </p:cNvCxnSpPr>
          <p:nvPr/>
        </p:nvCxnSpPr>
        <p:spPr>
          <a:xfrm flipH="1">
            <a:off x="2973070" y="3138170"/>
            <a:ext cx="3175" cy="18732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3" name="Straight Connector 82"/>
          <p:cNvCxnSpPr/>
          <p:nvPr/>
        </p:nvCxnSpPr>
        <p:spPr>
          <a:xfrm>
            <a:off x="3472180" y="4244340"/>
            <a:ext cx="0" cy="76708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84" name="Oval 83"/>
          <p:cNvSpPr/>
          <p:nvPr/>
        </p:nvSpPr>
        <p:spPr>
          <a:xfrm>
            <a:off x="2160270" y="367474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5" name="Oval 84"/>
          <p:cNvSpPr/>
          <p:nvPr/>
        </p:nvSpPr>
        <p:spPr>
          <a:xfrm>
            <a:off x="2675255" y="290893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6" name="Oval 85"/>
          <p:cNvSpPr/>
          <p:nvPr/>
        </p:nvSpPr>
        <p:spPr>
          <a:xfrm>
            <a:off x="2941320" y="308991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7" name="Oval 86"/>
          <p:cNvSpPr/>
          <p:nvPr/>
        </p:nvSpPr>
        <p:spPr>
          <a:xfrm>
            <a:off x="3421380" y="41808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8" name="Oval 87"/>
          <p:cNvSpPr/>
          <p:nvPr/>
        </p:nvSpPr>
        <p:spPr>
          <a:xfrm>
            <a:off x="3936365" y="436372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9" name="Text Box 88"/>
          <p:cNvSpPr txBox="1"/>
          <p:nvPr/>
        </p:nvSpPr>
        <p:spPr>
          <a:xfrm>
            <a:off x="1942465" y="359981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0" name="Text Box 89"/>
          <p:cNvSpPr txBox="1"/>
          <p:nvPr/>
        </p:nvSpPr>
        <p:spPr>
          <a:xfrm>
            <a:off x="2319655" y="26536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1" name="Text Box 90"/>
          <p:cNvSpPr txBox="1"/>
          <p:nvPr/>
        </p:nvSpPr>
        <p:spPr>
          <a:xfrm>
            <a:off x="2586355" y="265112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2" name="Text Box 91"/>
          <p:cNvSpPr txBox="1"/>
          <p:nvPr/>
        </p:nvSpPr>
        <p:spPr>
          <a:xfrm>
            <a:off x="3171190" y="342138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3" name="Text Box 92"/>
          <p:cNvSpPr txBox="1"/>
          <p:nvPr/>
        </p:nvSpPr>
        <p:spPr>
          <a:xfrm>
            <a:off x="3848100" y="41192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5" name="Text Box 94"/>
          <p:cNvSpPr txBox="1"/>
          <p:nvPr/>
        </p:nvSpPr>
        <p:spPr>
          <a:xfrm>
            <a:off x="3970020" y="3800475"/>
            <a:ext cx="43180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98" name="Straight Connector 97"/>
          <p:cNvCxnSpPr>
            <a:endCxn id="8" idx="2"/>
          </p:cNvCxnSpPr>
          <p:nvPr/>
        </p:nvCxnSpPr>
        <p:spPr>
          <a:xfrm flipV="1">
            <a:off x="2224405" y="2987675"/>
            <a:ext cx="193040" cy="6965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9" name="Straight Connector 98"/>
          <p:cNvCxnSpPr>
            <a:endCxn id="91" idx="2"/>
          </p:cNvCxnSpPr>
          <p:nvPr/>
        </p:nvCxnSpPr>
        <p:spPr>
          <a:xfrm flipV="1">
            <a:off x="2466975" y="2938780"/>
            <a:ext cx="238760" cy="349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0" name="Straight Connector 99"/>
          <p:cNvCxnSpPr>
            <a:stCxn id="85" idx="5"/>
            <a:endCxn id="86" idx="2"/>
          </p:cNvCxnSpPr>
          <p:nvPr/>
        </p:nvCxnSpPr>
        <p:spPr>
          <a:xfrm>
            <a:off x="2757805" y="2991485"/>
            <a:ext cx="183515" cy="14668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1" name="Straight Connector 100"/>
          <p:cNvCxnSpPr>
            <a:stCxn id="86" idx="4"/>
            <a:endCxn id="36" idx="31"/>
          </p:cNvCxnSpPr>
          <p:nvPr/>
        </p:nvCxnSpPr>
        <p:spPr>
          <a:xfrm>
            <a:off x="2989580" y="3186430"/>
            <a:ext cx="243840" cy="5397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2" name="Straight Connector 101"/>
          <p:cNvCxnSpPr>
            <a:stCxn id="9" idx="5"/>
            <a:endCxn id="87" idx="1"/>
          </p:cNvCxnSpPr>
          <p:nvPr/>
        </p:nvCxnSpPr>
        <p:spPr>
          <a:xfrm>
            <a:off x="3275965" y="3766820"/>
            <a:ext cx="159385" cy="4279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3" name="Straight Connector 102"/>
          <p:cNvCxnSpPr>
            <a:stCxn id="87" idx="5"/>
            <a:endCxn id="51" idx="2"/>
          </p:cNvCxnSpPr>
          <p:nvPr/>
        </p:nvCxnSpPr>
        <p:spPr>
          <a:xfrm>
            <a:off x="3503930" y="4263390"/>
            <a:ext cx="187325" cy="869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4" name="Straight Connector 103"/>
          <p:cNvCxnSpPr>
            <a:stCxn id="51" idx="5"/>
            <a:endCxn id="93" idx="2"/>
          </p:cNvCxnSpPr>
          <p:nvPr/>
        </p:nvCxnSpPr>
        <p:spPr>
          <a:xfrm>
            <a:off x="3773805" y="4384675"/>
            <a:ext cx="193675" cy="222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5" name="Straight Connector 104"/>
          <p:cNvCxnSpPr>
            <a:stCxn id="88" idx="5"/>
            <a:endCxn id="52" idx="2"/>
          </p:cNvCxnSpPr>
          <p:nvPr/>
        </p:nvCxnSpPr>
        <p:spPr>
          <a:xfrm flipV="1">
            <a:off x="4018915" y="4132580"/>
            <a:ext cx="155575" cy="3136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5" name="Straight Connector 4"/>
          <p:cNvCxnSpPr/>
          <p:nvPr/>
        </p:nvCxnSpPr>
        <p:spPr>
          <a:xfrm>
            <a:off x="1616710" y="431419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21" name="Straight Connector 20"/>
          <p:cNvCxnSpPr/>
          <p:nvPr/>
        </p:nvCxnSpPr>
        <p:spPr>
          <a:xfrm>
            <a:off x="1616710" y="298831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23" name="Straight Connector 22"/>
          <p:cNvCxnSpPr/>
          <p:nvPr/>
        </p:nvCxnSpPr>
        <p:spPr>
          <a:xfrm>
            <a:off x="1616710" y="365125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26" name="Text Box 25"/>
          <p:cNvSpPr txBox="1"/>
          <p:nvPr/>
        </p:nvSpPr>
        <p:spPr>
          <a:xfrm>
            <a:off x="1226820" y="275653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3</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28" name="Text Box 27"/>
          <p:cNvSpPr txBox="1"/>
          <p:nvPr/>
        </p:nvSpPr>
        <p:spPr>
          <a:xfrm>
            <a:off x="1226820" y="339280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2</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29" name="Text Box 28"/>
          <p:cNvSpPr txBox="1"/>
          <p:nvPr/>
        </p:nvSpPr>
        <p:spPr>
          <a:xfrm>
            <a:off x="1226820" y="406209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31" name="Text Box 30"/>
          <p:cNvSpPr txBox="1"/>
          <p:nvPr/>
        </p:nvSpPr>
        <p:spPr>
          <a:xfrm>
            <a:off x="1226820" y="471487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3" name="Text Box 2"/>
          <p:cNvSpPr txBox="1"/>
          <p:nvPr/>
        </p:nvSpPr>
        <p:spPr>
          <a:xfrm>
            <a:off x="1835785" y="5603240"/>
            <a:ext cx="1937385"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量化等级为</a:t>
            </a:r>
            <a:r>
              <a:rPr lang="en-US" altLang="zh-CN" sz="2200">
                <a:latin typeface="Alibaba PuHuiTi 3.0 55 Regular" panose="00020600040101010101" charset="-122"/>
                <a:ea typeface="Alibaba PuHuiTi 3.0 55 Regular" panose="00020600040101010101" charset="-122"/>
              </a:rPr>
              <a:t>4</a:t>
            </a:r>
            <a:endParaRPr lang="en-US" altLang="zh-CN" sz="2200">
              <a:latin typeface="Alibaba PuHuiTi 3.0 55 Regular" panose="00020600040101010101" charset="-122"/>
              <a:ea typeface="Alibaba PuHuiTi 3.0 55 Regular" panose="00020600040101010101" charset="-122"/>
            </a:endParaRPr>
          </a:p>
        </p:txBody>
      </p:sp>
      <p:sp>
        <p:nvSpPr>
          <p:cNvPr id="4" name="Text Box 3"/>
          <p:cNvSpPr txBox="1"/>
          <p:nvPr/>
        </p:nvSpPr>
        <p:spPr>
          <a:xfrm>
            <a:off x="448945" y="2225040"/>
            <a:ext cx="1130300" cy="429895"/>
          </a:xfrm>
          <a:prstGeom prst="rect">
            <a:avLst/>
          </a:prstGeom>
          <a:noFill/>
        </p:spPr>
        <p:txBody>
          <a:bodyPr wrap="square" rtlCol="0">
            <a:noAutofit/>
          </a:bodyPr>
          <a:p>
            <a:pPr algn="r"/>
            <a:r>
              <a:rPr lang="zh-CN" altLang="en-US" sz="2200">
                <a:latin typeface="Alibaba PuHuiTi 3.0 55 Regular" panose="00020600040101010101" charset="-122"/>
                <a:ea typeface="Alibaba PuHuiTi 3.0 55 Regular" panose="00020600040101010101" charset="-122"/>
              </a:rPr>
              <a:t>量化值</a:t>
            </a:r>
            <a:endParaRPr lang="zh-CN" altLang="en-US" sz="2200">
              <a:latin typeface="Alibaba PuHuiTi 3.0 55 Regular" panose="00020600040101010101" charset="-122"/>
              <a:ea typeface="Alibaba PuHuiTi 3.0 55 Regular" panose="00020600040101010101" charset="-122"/>
            </a:endParaRPr>
          </a:p>
        </p:txBody>
      </p:sp>
      <p:sp>
        <p:nvSpPr>
          <p:cNvPr id="11" name="Oval 10"/>
          <p:cNvSpPr/>
          <p:nvPr/>
        </p:nvSpPr>
        <p:spPr>
          <a:xfrm>
            <a:off x="6818630" y="419290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34" name="Straight Connector 33"/>
          <p:cNvCxnSpPr/>
          <p:nvPr/>
        </p:nvCxnSpPr>
        <p:spPr>
          <a:xfrm>
            <a:off x="6866890" y="4266565"/>
            <a:ext cx="0" cy="73977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5" name="Straight Connector 34"/>
          <p:cNvCxnSpPr>
            <a:stCxn id="44" idx="31"/>
          </p:cNvCxnSpPr>
          <p:nvPr/>
        </p:nvCxnSpPr>
        <p:spPr>
          <a:xfrm flipH="1">
            <a:off x="8114665" y="3721100"/>
            <a:ext cx="10795" cy="123444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7" name="Straight Connector 36"/>
          <p:cNvCxnSpPr/>
          <p:nvPr/>
        </p:nvCxnSpPr>
        <p:spPr>
          <a:xfrm>
            <a:off x="8613775" y="4393565"/>
            <a:ext cx="0" cy="57023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8" name="Straight Connector 37"/>
          <p:cNvCxnSpPr/>
          <p:nvPr/>
        </p:nvCxnSpPr>
        <p:spPr>
          <a:xfrm>
            <a:off x="8863330" y="4443730"/>
            <a:ext cx="0" cy="56324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9" name="Straight Connector 38"/>
          <p:cNvCxnSpPr/>
          <p:nvPr/>
        </p:nvCxnSpPr>
        <p:spPr>
          <a:xfrm>
            <a:off x="9112885" y="4175760"/>
            <a:ext cx="0" cy="83121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40" name="Straight Connector 39"/>
          <p:cNvCxnSpPr/>
          <p:nvPr/>
        </p:nvCxnSpPr>
        <p:spPr>
          <a:xfrm>
            <a:off x="6492240" y="2219960"/>
            <a:ext cx="0" cy="274320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41" name="Straight Connector 40"/>
          <p:cNvCxnSpPr/>
          <p:nvPr/>
        </p:nvCxnSpPr>
        <p:spPr>
          <a:xfrm flipH="1">
            <a:off x="6490970" y="4970145"/>
            <a:ext cx="312737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42" name="Text Box 41"/>
          <p:cNvSpPr txBox="1"/>
          <p:nvPr/>
        </p:nvSpPr>
        <p:spPr>
          <a:xfrm>
            <a:off x="5340985" y="2219960"/>
            <a:ext cx="1130300" cy="429895"/>
          </a:xfrm>
          <a:prstGeom prst="rect">
            <a:avLst/>
          </a:prstGeom>
          <a:noFill/>
        </p:spPr>
        <p:txBody>
          <a:bodyPr wrap="square" rtlCol="0">
            <a:noAutofit/>
          </a:bodyPr>
          <a:p>
            <a:pPr algn="r"/>
            <a:r>
              <a:rPr lang="zh-CN" altLang="en-US" sz="2200">
                <a:latin typeface="Alibaba PuHuiTi 3.0 55 Regular" panose="00020600040101010101" charset="-122"/>
                <a:ea typeface="Alibaba PuHuiTi 3.0 55 Regular" panose="00020600040101010101" charset="-122"/>
              </a:rPr>
              <a:t>量化值</a:t>
            </a:r>
            <a:endParaRPr lang="zh-CN" altLang="en-US" sz="2200">
              <a:latin typeface="Alibaba PuHuiTi 3.0 55 Regular" panose="00020600040101010101" charset="-122"/>
              <a:ea typeface="Alibaba PuHuiTi 3.0 55 Regular" panose="00020600040101010101" charset="-122"/>
            </a:endParaRPr>
          </a:p>
        </p:txBody>
      </p:sp>
      <p:sp>
        <p:nvSpPr>
          <p:cNvPr id="43" name="Text Box 42"/>
          <p:cNvSpPr txBox="1"/>
          <p:nvPr/>
        </p:nvSpPr>
        <p:spPr>
          <a:xfrm>
            <a:off x="9355455" y="5041265"/>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44" name="Freeform 43"/>
          <p:cNvSpPr/>
          <p:nvPr/>
        </p:nvSpPr>
        <p:spPr>
          <a:xfrm>
            <a:off x="6707505" y="2950845"/>
            <a:ext cx="2518410" cy="1645285"/>
          </a:xfrm>
          <a:custGeom>
            <a:avLst/>
            <a:gdLst>
              <a:gd name="connisteX0" fmla="*/ 0 w 2518410"/>
              <a:gd name="connsiteY0" fmla="*/ 1645002 h 1645002"/>
              <a:gd name="connisteX1" fmla="*/ 25400 w 2518410"/>
              <a:gd name="connsiteY1" fmla="*/ 1519907 h 1645002"/>
              <a:gd name="connisteX2" fmla="*/ 142240 w 2518410"/>
              <a:gd name="connsiteY2" fmla="*/ 1328137 h 1645002"/>
              <a:gd name="connisteX3" fmla="*/ 225425 w 2518410"/>
              <a:gd name="connsiteY3" fmla="*/ 1178277 h 1645002"/>
              <a:gd name="connisteX4" fmla="*/ 275590 w 2518410"/>
              <a:gd name="connsiteY4" fmla="*/ 1077947 h 1645002"/>
              <a:gd name="connisteX5" fmla="*/ 325120 w 2518410"/>
              <a:gd name="connsiteY5" fmla="*/ 978252 h 1645002"/>
              <a:gd name="connisteX6" fmla="*/ 358775 w 2518410"/>
              <a:gd name="connsiteY6" fmla="*/ 877922 h 1645002"/>
              <a:gd name="connisteX7" fmla="*/ 383540 w 2518410"/>
              <a:gd name="connsiteY7" fmla="*/ 811247 h 1645002"/>
              <a:gd name="connisteX8" fmla="*/ 400685 w 2518410"/>
              <a:gd name="connsiteY8" fmla="*/ 728062 h 1645002"/>
              <a:gd name="connisteX9" fmla="*/ 441960 w 2518410"/>
              <a:gd name="connsiteY9" fmla="*/ 611222 h 1645002"/>
              <a:gd name="connisteX10" fmla="*/ 459105 w 2518410"/>
              <a:gd name="connsiteY10" fmla="*/ 544547 h 1645002"/>
              <a:gd name="connisteX11" fmla="*/ 492125 w 2518410"/>
              <a:gd name="connsiteY11" fmla="*/ 419452 h 1645002"/>
              <a:gd name="connisteX12" fmla="*/ 525780 w 2518410"/>
              <a:gd name="connsiteY12" fmla="*/ 310867 h 1645002"/>
              <a:gd name="connisteX13" fmla="*/ 550545 w 2518410"/>
              <a:gd name="connsiteY13" fmla="*/ 227682 h 1645002"/>
              <a:gd name="connisteX14" fmla="*/ 567055 w 2518410"/>
              <a:gd name="connsiteY14" fmla="*/ 161007 h 1645002"/>
              <a:gd name="connisteX15" fmla="*/ 584200 w 2518410"/>
              <a:gd name="connsiteY15" fmla="*/ 94332 h 1645002"/>
              <a:gd name="connisteX16" fmla="*/ 625475 w 2518410"/>
              <a:gd name="connsiteY16" fmla="*/ 27657 h 1645002"/>
              <a:gd name="connisteX17" fmla="*/ 692150 w 2518410"/>
              <a:gd name="connsiteY17" fmla="*/ 10512 h 1645002"/>
              <a:gd name="connisteX18" fmla="*/ 784225 w 2518410"/>
              <a:gd name="connsiteY18" fmla="*/ 2257 h 1645002"/>
              <a:gd name="connisteX19" fmla="*/ 859155 w 2518410"/>
              <a:gd name="connsiteY19" fmla="*/ 2257 h 1645002"/>
              <a:gd name="connisteX20" fmla="*/ 925830 w 2518410"/>
              <a:gd name="connsiteY20" fmla="*/ 2257 h 1645002"/>
              <a:gd name="connisteX21" fmla="*/ 1000760 w 2518410"/>
              <a:gd name="connsiteY21" fmla="*/ 27657 h 1645002"/>
              <a:gd name="connisteX22" fmla="*/ 1067435 w 2518410"/>
              <a:gd name="connsiteY22" fmla="*/ 77187 h 1645002"/>
              <a:gd name="connisteX23" fmla="*/ 1125855 w 2518410"/>
              <a:gd name="connsiteY23" fmla="*/ 152752 h 1645002"/>
              <a:gd name="connisteX24" fmla="*/ 1176020 w 2518410"/>
              <a:gd name="connsiteY24" fmla="*/ 235937 h 1645002"/>
              <a:gd name="connisteX25" fmla="*/ 1217930 w 2518410"/>
              <a:gd name="connsiteY25" fmla="*/ 302612 h 1645002"/>
              <a:gd name="connisteX26" fmla="*/ 1242695 w 2518410"/>
              <a:gd name="connsiteY26" fmla="*/ 369287 h 1645002"/>
              <a:gd name="connisteX27" fmla="*/ 1276350 w 2518410"/>
              <a:gd name="connsiteY27" fmla="*/ 435962 h 1645002"/>
              <a:gd name="connisteX28" fmla="*/ 1309370 w 2518410"/>
              <a:gd name="connsiteY28" fmla="*/ 502637 h 1645002"/>
              <a:gd name="connisteX29" fmla="*/ 1351280 w 2518410"/>
              <a:gd name="connsiteY29" fmla="*/ 594712 h 1645002"/>
              <a:gd name="connisteX30" fmla="*/ 1384300 w 2518410"/>
              <a:gd name="connsiteY30" fmla="*/ 686152 h 1645002"/>
              <a:gd name="connisteX31" fmla="*/ 1417955 w 2518410"/>
              <a:gd name="connsiteY31" fmla="*/ 769972 h 1645002"/>
              <a:gd name="connisteX32" fmla="*/ 1450975 w 2518410"/>
              <a:gd name="connsiteY32" fmla="*/ 844902 h 1645002"/>
              <a:gd name="connisteX33" fmla="*/ 1476375 w 2518410"/>
              <a:gd name="connsiteY33" fmla="*/ 911577 h 1645002"/>
              <a:gd name="connisteX34" fmla="*/ 1501140 w 2518410"/>
              <a:gd name="connsiteY34" fmla="*/ 1003017 h 1645002"/>
              <a:gd name="connisteX35" fmla="*/ 1526540 w 2518410"/>
              <a:gd name="connsiteY35" fmla="*/ 1077947 h 1645002"/>
              <a:gd name="connisteX36" fmla="*/ 1551305 w 2518410"/>
              <a:gd name="connsiteY36" fmla="*/ 1153512 h 1645002"/>
              <a:gd name="connisteX37" fmla="*/ 1601470 w 2518410"/>
              <a:gd name="connsiteY37" fmla="*/ 1220187 h 1645002"/>
              <a:gd name="connisteX38" fmla="*/ 1676400 w 2518410"/>
              <a:gd name="connsiteY38" fmla="*/ 1269717 h 1645002"/>
              <a:gd name="connisteX39" fmla="*/ 1743075 w 2518410"/>
              <a:gd name="connsiteY39" fmla="*/ 1319882 h 1645002"/>
              <a:gd name="connisteX40" fmla="*/ 1809750 w 2518410"/>
              <a:gd name="connsiteY40" fmla="*/ 1353537 h 1645002"/>
              <a:gd name="connisteX41" fmla="*/ 1876425 w 2518410"/>
              <a:gd name="connsiteY41" fmla="*/ 1386557 h 1645002"/>
              <a:gd name="connisteX42" fmla="*/ 1951355 w 2518410"/>
              <a:gd name="connsiteY42" fmla="*/ 1411957 h 1645002"/>
              <a:gd name="connisteX43" fmla="*/ 2035175 w 2518410"/>
              <a:gd name="connsiteY43" fmla="*/ 1436722 h 1645002"/>
              <a:gd name="connisteX44" fmla="*/ 2110105 w 2518410"/>
              <a:gd name="connsiteY44" fmla="*/ 1453232 h 1645002"/>
              <a:gd name="connisteX45" fmla="*/ 2185035 w 2518410"/>
              <a:gd name="connsiteY45" fmla="*/ 1453232 h 1645002"/>
              <a:gd name="connisteX46" fmla="*/ 2251710 w 2518410"/>
              <a:gd name="connsiteY46" fmla="*/ 1444977 h 1645002"/>
              <a:gd name="connisteX47" fmla="*/ 2301875 w 2518410"/>
              <a:gd name="connsiteY47" fmla="*/ 1378302 h 1645002"/>
              <a:gd name="connisteX48" fmla="*/ 2343785 w 2518410"/>
              <a:gd name="connsiteY48" fmla="*/ 1311627 h 1645002"/>
              <a:gd name="connisteX49" fmla="*/ 2368550 w 2518410"/>
              <a:gd name="connsiteY49" fmla="*/ 1236697 h 1645002"/>
              <a:gd name="connisteX50" fmla="*/ 2402205 w 2518410"/>
              <a:gd name="connsiteY50" fmla="*/ 1161767 h 1645002"/>
              <a:gd name="connisteX51" fmla="*/ 2426970 w 2518410"/>
              <a:gd name="connsiteY51" fmla="*/ 1086837 h 1645002"/>
              <a:gd name="connisteX52" fmla="*/ 2468880 w 2518410"/>
              <a:gd name="connsiteY52" fmla="*/ 1019527 h 1645002"/>
              <a:gd name="connisteX53" fmla="*/ 2518410 w 2518410"/>
              <a:gd name="connsiteY53" fmla="*/ 944597 h 164500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Lst>
            <a:rect l="l" t="t" r="r" b="b"/>
            <a:pathLst>
              <a:path w="2518410" h="1645003">
                <a:moveTo>
                  <a:pt x="0" y="1645003"/>
                </a:moveTo>
                <a:cubicBezTo>
                  <a:pt x="2540" y="1624048"/>
                  <a:pt x="-3175" y="1583408"/>
                  <a:pt x="25400" y="1519908"/>
                </a:cubicBezTo>
                <a:cubicBezTo>
                  <a:pt x="53975" y="1456408"/>
                  <a:pt x="102235" y="1396718"/>
                  <a:pt x="142240" y="1328138"/>
                </a:cubicBezTo>
                <a:cubicBezTo>
                  <a:pt x="182245" y="1259558"/>
                  <a:pt x="198755" y="1228443"/>
                  <a:pt x="225425" y="1178278"/>
                </a:cubicBezTo>
                <a:cubicBezTo>
                  <a:pt x="252095" y="1128113"/>
                  <a:pt x="255905" y="1117953"/>
                  <a:pt x="275590" y="1077948"/>
                </a:cubicBezTo>
                <a:cubicBezTo>
                  <a:pt x="295275" y="1037943"/>
                  <a:pt x="308610" y="1018258"/>
                  <a:pt x="325120" y="978253"/>
                </a:cubicBezTo>
                <a:cubicBezTo>
                  <a:pt x="341630" y="938248"/>
                  <a:pt x="347345" y="911578"/>
                  <a:pt x="358775" y="877923"/>
                </a:cubicBezTo>
                <a:cubicBezTo>
                  <a:pt x="370205" y="844268"/>
                  <a:pt x="375285" y="841093"/>
                  <a:pt x="383540" y="811248"/>
                </a:cubicBezTo>
                <a:cubicBezTo>
                  <a:pt x="391795" y="781403"/>
                  <a:pt x="389255" y="768068"/>
                  <a:pt x="400685" y="728063"/>
                </a:cubicBezTo>
                <a:cubicBezTo>
                  <a:pt x="412115" y="688058"/>
                  <a:pt x="430530" y="648053"/>
                  <a:pt x="441960" y="611223"/>
                </a:cubicBezTo>
                <a:cubicBezTo>
                  <a:pt x="453390" y="574393"/>
                  <a:pt x="448945" y="582648"/>
                  <a:pt x="459105" y="544548"/>
                </a:cubicBezTo>
                <a:cubicBezTo>
                  <a:pt x="469265" y="506448"/>
                  <a:pt x="478790" y="466443"/>
                  <a:pt x="492125" y="419453"/>
                </a:cubicBezTo>
                <a:cubicBezTo>
                  <a:pt x="505460" y="372463"/>
                  <a:pt x="514350" y="348968"/>
                  <a:pt x="525780" y="310868"/>
                </a:cubicBezTo>
                <a:cubicBezTo>
                  <a:pt x="537210" y="272768"/>
                  <a:pt x="542290" y="257528"/>
                  <a:pt x="550545" y="227683"/>
                </a:cubicBezTo>
                <a:cubicBezTo>
                  <a:pt x="558800" y="197838"/>
                  <a:pt x="560070" y="187678"/>
                  <a:pt x="567055" y="161008"/>
                </a:cubicBezTo>
                <a:cubicBezTo>
                  <a:pt x="574040" y="134338"/>
                  <a:pt x="572770" y="121003"/>
                  <a:pt x="584200" y="94333"/>
                </a:cubicBezTo>
                <a:cubicBezTo>
                  <a:pt x="595630" y="67663"/>
                  <a:pt x="603885" y="44168"/>
                  <a:pt x="625475" y="27658"/>
                </a:cubicBezTo>
                <a:cubicBezTo>
                  <a:pt x="647065" y="11148"/>
                  <a:pt x="660400" y="15593"/>
                  <a:pt x="692150" y="10513"/>
                </a:cubicBezTo>
                <a:cubicBezTo>
                  <a:pt x="723900" y="5433"/>
                  <a:pt x="750570" y="4163"/>
                  <a:pt x="784225" y="2258"/>
                </a:cubicBezTo>
                <a:cubicBezTo>
                  <a:pt x="817880" y="353"/>
                  <a:pt x="830580" y="2258"/>
                  <a:pt x="859155" y="2258"/>
                </a:cubicBezTo>
                <a:cubicBezTo>
                  <a:pt x="887730" y="2258"/>
                  <a:pt x="897255" y="-2822"/>
                  <a:pt x="925830" y="2258"/>
                </a:cubicBezTo>
                <a:cubicBezTo>
                  <a:pt x="954405" y="7338"/>
                  <a:pt x="972185" y="12418"/>
                  <a:pt x="1000760" y="27658"/>
                </a:cubicBezTo>
                <a:cubicBezTo>
                  <a:pt x="1029335" y="42898"/>
                  <a:pt x="1042670" y="52423"/>
                  <a:pt x="1067435" y="77188"/>
                </a:cubicBezTo>
                <a:cubicBezTo>
                  <a:pt x="1092200" y="101953"/>
                  <a:pt x="1104265" y="121003"/>
                  <a:pt x="1125855" y="152753"/>
                </a:cubicBezTo>
                <a:cubicBezTo>
                  <a:pt x="1147445" y="184503"/>
                  <a:pt x="1157605" y="206093"/>
                  <a:pt x="1176020" y="235938"/>
                </a:cubicBezTo>
                <a:cubicBezTo>
                  <a:pt x="1194435" y="265783"/>
                  <a:pt x="1204595" y="275943"/>
                  <a:pt x="1217930" y="302613"/>
                </a:cubicBezTo>
                <a:cubicBezTo>
                  <a:pt x="1231265" y="329283"/>
                  <a:pt x="1231265" y="342618"/>
                  <a:pt x="1242695" y="369288"/>
                </a:cubicBezTo>
                <a:cubicBezTo>
                  <a:pt x="1254125" y="395958"/>
                  <a:pt x="1263015" y="409293"/>
                  <a:pt x="1276350" y="435963"/>
                </a:cubicBezTo>
                <a:cubicBezTo>
                  <a:pt x="1289685" y="462633"/>
                  <a:pt x="1294130" y="470888"/>
                  <a:pt x="1309370" y="502638"/>
                </a:cubicBezTo>
                <a:cubicBezTo>
                  <a:pt x="1324610" y="534388"/>
                  <a:pt x="1336040" y="557883"/>
                  <a:pt x="1351280" y="594713"/>
                </a:cubicBezTo>
                <a:cubicBezTo>
                  <a:pt x="1366520" y="631543"/>
                  <a:pt x="1370965" y="651228"/>
                  <a:pt x="1384300" y="686153"/>
                </a:cubicBezTo>
                <a:cubicBezTo>
                  <a:pt x="1397635" y="721078"/>
                  <a:pt x="1404620" y="738223"/>
                  <a:pt x="1417955" y="769973"/>
                </a:cubicBezTo>
                <a:cubicBezTo>
                  <a:pt x="1431290" y="801723"/>
                  <a:pt x="1439545" y="816328"/>
                  <a:pt x="1450975" y="844903"/>
                </a:cubicBezTo>
                <a:cubicBezTo>
                  <a:pt x="1462405" y="873478"/>
                  <a:pt x="1466215" y="879828"/>
                  <a:pt x="1476375" y="911578"/>
                </a:cubicBezTo>
                <a:cubicBezTo>
                  <a:pt x="1486535" y="943328"/>
                  <a:pt x="1490980" y="969998"/>
                  <a:pt x="1501140" y="1003018"/>
                </a:cubicBezTo>
                <a:cubicBezTo>
                  <a:pt x="1511300" y="1036038"/>
                  <a:pt x="1516380" y="1048103"/>
                  <a:pt x="1526540" y="1077948"/>
                </a:cubicBezTo>
                <a:cubicBezTo>
                  <a:pt x="1536700" y="1107793"/>
                  <a:pt x="1536065" y="1124938"/>
                  <a:pt x="1551305" y="1153513"/>
                </a:cubicBezTo>
                <a:cubicBezTo>
                  <a:pt x="1566545" y="1182088"/>
                  <a:pt x="1576705" y="1196693"/>
                  <a:pt x="1601470" y="1220188"/>
                </a:cubicBezTo>
                <a:cubicBezTo>
                  <a:pt x="1626235" y="1243683"/>
                  <a:pt x="1647825" y="1250033"/>
                  <a:pt x="1676400" y="1269718"/>
                </a:cubicBezTo>
                <a:cubicBezTo>
                  <a:pt x="1704975" y="1289403"/>
                  <a:pt x="1716405" y="1303373"/>
                  <a:pt x="1743075" y="1319883"/>
                </a:cubicBezTo>
                <a:cubicBezTo>
                  <a:pt x="1769745" y="1336393"/>
                  <a:pt x="1783080" y="1340203"/>
                  <a:pt x="1809750" y="1353538"/>
                </a:cubicBezTo>
                <a:cubicBezTo>
                  <a:pt x="1836420" y="1366873"/>
                  <a:pt x="1847850" y="1375128"/>
                  <a:pt x="1876425" y="1386558"/>
                </a:cubicBezTo>
                <a:cubicBezTo>
                  <a:pt x="1905000" y="1397988"/>
                  <a:pt x="1919605" y="1401798"/>
                  <a:pt x="1951355" y="1411958"/>
                </a:cubicBezTo>
                <a:cubicBezTo>
                  <a:pt x="1983105" y="1422118"/>
                  <a:pt x="2003425" y="1428468"/>
                  <a:pt x="2035175" y="1436723"/>
                </a:cubicBezTo>
                <a:cubicBezTo>
                  <a:pt x="2066925" y="1444978"/>
                  <a:pt x="2080260" y="1450058"/>
                  <a:pt x="2110105" y="1453233"/>
                </a:cubicBezTo>
                <a:cubicBezTo>
                  <a:pt x="2139950" y="1456408"/>
                  <a:pt x="2156460" y="1455138"/>
                  <a:pt x="2185035" y="1453233"/>
                </a:cubicBezTo>
                <a:cubicBezTo>
                  <a:pt x="2213610" y="1451328"/>
                  <a:pt x="2228215" y="1460218"/>
                  <a:pt x="2251710" y="1444978"/>
                </a:cubicBezTo>
                <a:cubicBezTo>
                  <a:pt x="2275205" y="1429738"/>
                  <a:pt x="2283460" y="1404973"/>
                  <a:pt x="2301875" y="1378303"/>
                </a:cubicBezTo>
                <a:cubicBezTo>
                  <a:pt x="2320290" y="1351633"/>
                  <a:pt x="2330450" y="1340203"/>
                  <a:pt x="2343785" y="1311628"/>
                </a:cubicBezTo>
                <a:cubicBezTo>
                  <a:pt x="2357120" y="1283053"/>
                  <a:pt x="2357120" y="1266543"/>
                  <a:pt x="2368550" y="1236698"/>
                </a:cubicBezTo>
                <a:cubicBezTo>
                  <a:pt x="2379980" y="1206853"/>
                  <a:pt x="2390775" y="1191613"/>
                  <a:pt x="2402205" y="1161768"/>
                </a:cubicBezTo>
                <a:cubicBezTo>
                  <a:pt x="2413635" y="1131923"/>
                  <a:pt x="2413635" y="1115413"/>
                  <a:pt x="2426970" y="1086838"/>
                </a:cubicBezTo>
                <a:cubicBezTo>
                  <a:pt x="2440305" y="1058263"/>
                  <a:pt x="2450465" y="1048103"/>
                  <a:pt x="2468880" y="1019528"/>
                </a:cubicBezTo>
                <a:cubicBezTo>
                  <a:pt x="2487295" y="990953"/>
                  <a:pt x="2509520" y="957933"/>
                  <a:pt x="2518410" y="944598"/>
                </a:cubicBezTo>
              </a:path>
            </a:pathLst>
          </a:custGeom>
          <a:noFill/>
          <a:ln w="38100">
            <a:solidFill>
              <a:schemeClr val="tx1"/>
            </a:solidFill>
          </a:ln>
        </p:spPr>
        <p:txBody>
          <a:bodyPr vert="horz" lIns="90000" tIns="46800" rIns="90000" bIns="46800" rtlCol="0" anchor="ctr" anchorCtr="0">
            <a:noAutofit/>
          </a:bodyPr>
          <a:p>
            <a:endParaRPr lang="zh-CN" altLang="en-US" sz="2445">
              <a:solidFill>
                <a:schemeClr val="tx1"/>
              </a:solidFill>
            </a:endParaRPr>
          </a:p>
        </p:txBody>
      </p:sp>
      <p:sp>
        <p:nvSpPr>
          <p:cNvPr id="46" name="Text Box 45"/>
          <p:cNvSpPr txBox="1"/>
          <p:nvPr/>
        </p:nvSpPr>
        <p:spPr>
          <a:xfrm>
            <a:off x="6649085" y="5041265"/>
            <a:ext cx="296926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47" name="Text Box 46"/>
          <p:cNvSpPr txBox="1"/>
          <p:nvPr/>
        </p:nvSpPr>
        <p:spPr>
          <a:xfrm>
            <a:off x="6677025" y="390525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49" name="Oval 48"/>
          <p:cNvSpPr/>
          <p:nvPr/>
        </p:nvSpPr>
        <p:spPr>
          <a:xfrm>
            <a:off x="7309485" y="293433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0" name="Oval 49"/>
          <p:cNvSpPr/>
          <p:nvPr/>
        </p:nvSpPr>
        <p:spPr>
          <a:xfrm>
            <a:off x="8085455" y="367919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3" name="Oval 52"/>
          <p:cNvSpPr/>
          <p:nvPr/>
        </p:nvSpPr>
        <p:spPr>
          <a:xfrm>
            <a:off x="8583295" y="429704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7" name="Oval 56"/>
          <p:cNvSpPr/>
          <p:nvPr/>
        </p:nvSpPr>
        <p:spPr>
          <a:xfrm>
            <a:off x="9066530" y="40792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9" name="Text Box 58"/>
          <p:cNvSpPr txBox="1"/>
          <p:nvPr/>
        </p:nvSpPr>
        <p:spPr>
          <a:xfrm>
            <a:off x="7868285" y="29889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6</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60" name="Text Box 59"/>
          <p:cNvSpPr txBox="1"/>
          <p:nvPr/>
        </p:nvSpPr>
        <p:spPr>
          <a:xfrm>
            <a:off x="8241030" y="394398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61" name="Text Box 60"/>
          <p:cNvSpPr txBox="1"/>
          <p:nvPr/>
        </p:nvSpPr>
        <p:spPr>
          <a:xfrm>
            <a:off x="8493760" y="40252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62" name="Straight Connector 61"/>
          <p:cNvCxnSpPr>
            <a:endCxn id="68" idx="3"/>
          </p:cNvCxnSpPr>
          <p:nvPr/>
        </p:nvCxnSpPr>
        <p:spPr>
          <a:xfrm flipV="1">
            <a:off x="6866890" y="3752215"/>
            <a:ext cx="199390" cy="52070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63" name="Straight Connector 62"/>
          <p:cNvCxnSpPr>
            <a:stCxn id="44" idx="8"/>
          </p:cNvCxnSpPr>
          <p:nvPr/>
        </p:nvCxnSpPr>
        <p:spPr>
          <a:xfrm>
            <a:off x="7108190" y="3679190"/>
            <a:ext cx="8255" cy="13271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4" name="Straight Connector 63"/>
          <p:cNvCxnSpPr/>
          <p:nvPr/>
        </p:nvCxnSpPr>
        <p:spPr>
          <a:xfrm>
            <a:off x="7366000" y="2978150"/>
            <a:ext cx="0" cy="202819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5" name="Straight Connector 64"/>
          <p:cNvCxnSpPr/>
          <p:nvPr/>
        </p:nvCxnSpPr>
        <p:spPr>
          <a:xfrm>
            <a:off x="7615555" y="2973705"/>
            <a:ext cx="0" cy="203263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6" name="Straight Connector 65"/>
          <p:cNvCxnSpPr>
            <a:stCxn id="59" idx="1"/>
          </p:cNvCxnSpPr>
          <p:nvPr/>
        </p:nvCxnSpPr>
        <p:spPr>
          <a:xfrm flipH="1">
            <a:off x="7865110" y="3133090"/>
            <a:ext cx="3175" cy="18732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7" name="Straight Connector 66"/>
          <p:cNvCxnSpPr/>
          <p:nvPr/>
        </p:nvCxnSpPr>
        <p:spPr>
          <a:xfrm>
            <a:off x="8364220" y="4239260"/>
            <a:ext cx="0" cy="76708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68" name="Oval 67"/>
          <p:cNvSpPr/>
          <p:nvPr/>
        </p:nvSpPr>
        <p:spPr>
          <a:xfrm>
            <a:off x="7052310" y="366966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9" name="Oval 68"/>
          <p:cNvSpPr/>
          <p:nvPr/>
        </p:nvSpPr>
        <p:spPr>
          <a:xfrm>
            <a:off x="7567295" y="290385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0" name="Oval 69"/>
          <p:cNvSpPr/>
          <p:nvPr/>
        </p:nvSpPr>
        <p:spPr>
          <a:xfrm>
            <a:off x="7833360" y="308483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1" name="Oval 70"/>
          <p:cNvSpPr/>
          <p:nvPr/>
        </p:nvSpPr>
        <p:spPr>
          <a:xfrm>
            <a:off x="8313420" y="417576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2" name="Oval 71"/>
          <p:cNvSpPr/>
          <p:nvPr/>
        </p:nvSpPr>
        <p:spPr>
          <a:xfrm>
            <a:off x="8828405" y="43586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3" name="Text Box 72"/>
          <p:cNvSpPr txBox="1"/>
          <p:nvPr/>
        </p:nvSpPr>
        <p:spPr>
          <a:xfrm>
            <a:off x="6834505" y="359473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4</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4" name="Text Box 73"/>
          <p:cNvSpPr txBox="1"/>
          <p:nvPr/>
        </p:nvSpPr>
        <p:spPr>
          <a:xfrm>
            <a:off x="7211695" y="264858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7</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5" name="Text Box 74"/>
          <p:cNvSpPr txBox="1"/>
          <p:nvPr/>
        </p:nvSpPr>
        <p:spPr>
          <a:xfrm>
            <a:off x="7478395" y="26460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7</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6" name="Text Box 75"/>
          <p:cNvSpPr txBox="1"/>
          <p:nvPr/>
        </p:nvSpPr>
        <p:spPr>
          <a:xfrm>
            <a:off x="8063230" y="341630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4</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7" name="Text Box 76"/>
          <p:cNvSpPr txBox="1"/>
          <p:nvPr/>
        </p:nvSpPr>
        <p:spPr>
          <a:xfrm>
            <a:off x="8740140" y="41141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8" name="Text Box 77"/>
          <p:cNvSpPr txBox="1"/>
          <p:nvPr/>
        </p:nvSpPr>
        <p:spPr>
          <a:xfrm>
            <a:off x="8862060" y="3795395"/>
            <a:ext cx="43180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94" name="Straight Connector 93"/>
          <p:cNvCxnSpPr>
            <a:endCxn id="49" idx="2"/>
          </p:cNvCxnSpPr>
          <p:nvPr/>
        </p:nvCxnSpPr>
        <p:spPr>
          <a:xfrm flipV="1">
            <a:off x="7116445" y="2982595"/>
            <a:ext cx="193040" cy="6965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6" name="Straight Connector 95"/>
          <p:cNvCxnSpPr>
            <a:endCxn id="75" idx="2"/>
          </p:cNvCxnSpPr>
          <p:nvPr/>
        </p:nvCxnSpPr>
        <p:spPr>
          <a:xfrm flipV="1">
            <a:off x="7359015" y="2933700"/>
            <a:ext cx="238760" cy="349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7" name="Straight Connector 96"/>
          <p:cNvCxnSpPr>
            <a:stCxn id="69" idx="5"/>
            <a:endCxn id="70" idx="2"/>
          </p:cNvCxnSpPr>
          <p:nvPr/>
        </p:nvCxnSpPr>
        <p:spPr>
          <a:xfrm>
            <a:off x="7649845" y="2986405"/>
            <a:ext cx="183515" cy="14668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6" name="Straight Connector 105"/>
          <p:cNvCxnSpPr>
            <a:stCxn id="70" idx="4"/>
            <a:endCxn id="44" idx="31"/>
          </p:cNvCxnSpPr>
          <p:nvPr/>
        </p:nvCxnSpPr>
        <p:spPr>
          <a:xfrm>
            <a:off x="7881620" y="3181350"/>
            <a:ext cx="243840" cy="5397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7" name="Straight Connector 106"/>
          <p:cNvCxnSpPr>
            <a:stCxn id="50" idx="5"/>
            <a:endCxn id="71" idx="1"/>
          </p:cNvCxnSpPr>
          <p:nvPr/>
        </p:nvCxnSpPr>
        <p:spPr>
          <a:xfrm>
            <a:off x="8168005" y="3761740"/>
            <a:ext cx="159385" cy="4279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8" name="Straight Connector 107"/>
          <p:cNvCxnSpPr>
            <a:stCxn id="71" idx="5"/>
            <a:endCxn id="53" idx="2"/>
          </p:cNvCxnSpPr>
          <p:nvPr/>
        </p:nvCxnSpPr>
        <p:spPr>
          <a:xfrm>
            <a:off x="8395970" y="4258310"/>
            <a:ext cx="187325" cy="869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9" name="Straight Connector 108"/>
          <p:cNvCxnSpPr>
            <a:stCxn id="53" idx="5"/>
            <a:endCxn id="77" idx="2"/>
          </p:cNvCxnSpPr>
          <p:nvPr/>
        </p:nvCxnSpPr>
        <p:spPr>
          <a:xfrm>
            <a:off x="8665845" y="4379595"/>
            <a:ext cx="193675" cy="222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0" name="Straight Connector 109"/>
          <p:cNvCxnSpPr>
            <a:stCxn id="72" idx="5"/>
            <a:endCxn id="57" idx="2"/>
          </p:cNvCxnSpPr>
          <p:nvPr/>
        </p:nvCxnSpPr>
        <p:spPr>
          <a:xfrm flipV="1">
            <a:off x="8910955" y="4127500"/>
            <a:ext cx="155575" cy="3136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1" name="Straight Connector 110"/>
          <p:cNvCxnSpPr/>
          <p:nvPr/>
        </p:nvCxnSpPr>
        <p:spPr>
          <a:xfrm>
            <a:off x="6508750" y="355092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2" name="Straight Connector 111"/>
          <p:cNvCxnSpPr/>
          <p:nvPr/>
        </p:nvCxnSpPr>
        <p:spPr>
          <a:xfrm>
            <a:off x="6508750" y="298323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3" name="Straight Connector 112"/>
          <p:cNvCxnSpPr/>
          <p:nvPr/>
        </p:nvCxnSpPr>
        <p:spPr>
          <a:xfrm>
            <a:off x="6508750" y="3267075"/>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114" name="Text Box 113"/>
          <p:cNvSpPr txBox="1"/>
          <p:nvPr/>
        </p:nvSpPr>
        <p:spPr>
          <a:xfrm>
            <a:off x="6118860" y="3905250"/>
            <a:ext cx="243205" cy="425450"/>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3</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5" name="Text Box 114"/>
          <p:cNvSpPr txBox="1"/>
          <p:nvPr/>
        </p:nvSpPr>
        <p:spPr>
          <a:xfrm>
            <a:off x="6118860" y="419417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2</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6" name="Text Box 115"/>
          <p:cNvSpPr txBox="1"/>
          <p:nvPr/>
        </p:nvSpPr>
        <p:spPr>
          <a:xfrm>
            <a:off x="6118860" y="446976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7" name="Text Box 116"/>
          <p:cNvSpPr txBox="1"/>
          <p:nvPr/>
        </p:nvSpPr>
        <p:spPr>
          <a:xfrm>
            <a:off x="6118860" y="470979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8" name="Text Box 117"/>
          <p:cNvSpPr txBox="1"/>
          <p:nvPr/>
        </p:nvSpPr>
        <p:spPr>
          <a:xfrm>
            <a:off x="6681470" y="5603240"/>
            <a:ext cx="1937385"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量化等级为</a:t>
            </a:r>
            <a:r>
              <a:rPr lang="en-US" altLang="zh-CN" sz="2200">
                <a:latin typeface="Alibaba PuHuiTi 3.0 55 Regular" panose="00020600040101010101" charset="-122"/>
                <a:ea typeface="Alibaba PuHuiTi 3.0 55 Regular" panose="00020600040101010101" charset="-122"/>
              </a:rPr>
              <a:t>8</a:t>
            </a:r>
            <a:endParaRPr lang="en-US" altLang="zh-CN" sz="2200">
              <a:latin typeface="Alibaba PuHuiTi 3.0 55 Regular" panose="00020600040101010101" charset="-122"/>
              <a:ea typeface="Alibaba PuHuiTi 3.0 55 Regular" panose="00020600040101010101" charset="-122"/>
            </a:endParaRPr>
          </a:p>
        </p:txBody>
      </p:sp>
      <p:cxnSp>
        <p:nvCxnSpPr>
          <p:cNvPr id="119" name="Straight Connector 118"/>
          <p:cNvCxnSpPr/>
          <p:nvPr/>
        </p:nvCxnSpPr>
        <p:spPr>
          <a:xfrm>
            <a:off x="6508750" y="3834765"/>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0" name="Straight Connector 119"/>
          <p:cNvCxnSpPr/>
          <p:nvPr/>
        </p:nvCxnSpPr>
        <p:spPr>
          <a:xfrm>
            <a:off x="6508750" y="411861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1" name="Straight Connector 120"/>
          <p:cNvCxnSpPr/>
          <p:nvPr/>
        </p:nvCxnSpPr>
        <p:spPr>
          <a:xfrm>
            <a:off x="6508750" y="4379595"/>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2" name="Straight Connector 121"/>
          <p:cNvCxnSpPr/>
          <p:nvPr/>
        </p:nvCxnSpPr>
        <p:spPr>
          <a:xfrm>
            <a:off x="6508750" y="468630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131" name="Text Box 130"/>
          <p:cNvSpPr txBox="1"/>
          <p:nvPr/>
        </p:nvSpPr>
        <p:spPr>
          <a:xfrm>
            <a:off x="6120130" y="2819400"/>
            <a:ext cx="243205" cy="425450"/>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7</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2" name="Text Box 131"/>
          <p:cNvSpPr txBox="1"/>
          <p:nvPr/>
        </p:nvSpPr>
        <p:spPr>
          <a:xfrm>
            <a:off x="6120130" y="310832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6</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3" name="Text Box 132"/>
          <p:cNvSpPr txBox="1"/>
          <p:nvPr/>
        </p:nvSpPr>
        <p:spPr>
          <a:xfrm>
            <a:off x="6120130" y="338391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5</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4" name="Text Box 133"/>
          <p:cNvSpPr txBox="1"/>
          <p:nvPr/>
        </p:nvSpPr>
        <p:spPr>
          <a:xfrm>
            <a:off x="6120130" y="362394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4</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32" name="Text Box 31"/>
          <p:cNvSpPr txBox="1"/>
          <p:nvPr/>
        </p:nvSpPr>
        <p:spPr>
          <a:xfrm>
            <a:off x="2762885" y="1741805"/>
            <a:ext cx="1002665" cy="429895"/>
          </a:xfrm>
          <a:prstGeom prst="rect">
            <a:avLst/>
          </a:prstGeom>
          <a:noFill/>
        </p:spPr>
        <p:txBody>
          <a:bodyPr wrap="square" rtlCol="0">
            <a:noAutofit/>
          </a:bodyPr>
          <a:p>
            <a:pPr algn="l"/>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思考</a:t>
            </a:r>
            <a:r>
              <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a:t>
            </a:r>
            <a:endPar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123" name="Text Box 122"/>
          <p:cNvSpPr txBox="1"/>
          <p:nvPr/>
        </p:nvSpPr>
        <p:spPr>
          <a:xfrm>
            <a:off x="3620135" y="1589405"/>
            <a:ext cx="4845050" cy="1083310"/>
          </a:xfrm>
          <a:prstGeom prst="rect">
            <a:avLst/>
          </a:prstGeom>
          <a:noFill/>
        </p:spPr>
        <p:txBody>
          <a:bodyPr wrap="square" rtlCol="0">
            <a:noAutofit/>
          </a:bodyPr>
          <a:p>
            <a:pPr>
              <a:lnSpc>
                <a:spcPct val="150000"/>
              </a:lnSpc>
            </a:pPr>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两种量化等级需要用几位二进制</a:t>
            </a:r>
            <a:r>
              <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a:t>
            </a:r>
            <a:endPar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endParaRPr>
          </a:p>
        </p:txBody>
      </p:sp>
      <p:pic>
        <p:nvPicPr>
          <p:cNvPr id="124" name="Picture 123" descr="思考"/>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2367915" y="1715135"/>
            <a:ext cx="456565" cy="456565"/>
          </a:xfrm>
          <a:prstGeom prst="rect">
            <a:avLst/>
          </a:prstGeom>
        </p:spPr>
      </p:pic>
      <p:sp>
        <p:nvSpPr>
          <p:cNvPr id="178" name="Text Box 177"/>
          <p:cNvSpPr txBox="1"/>
          <p:nvPr/>
        </p:nvSpPr>
        <p:spPr>
          <a:xfrm>
            <a:off x="513080" y="5139690"/>
            <a:ext cx="1300480" cy="429895"/>
          </a:xfrm>
          <a:prstGeom prst="rect">
            <a:avLst/>
          </a:prstGeom>
          <a:noFill/>
        </p:spPr>
        <p:txBody>
          <a:bodyPr wrap="square" rtlCol="0">
            <a:noAutofit/>
          </a:bodyPr>
          <a:p>
            <a:pPr algn="l"/>
            <a:r>
              <a:rPr lang="en-US" altLang="zh-CN" sz="1400" b="1">
                <a:solidFill>
                  <a:srgbClr val="00B0F0"/>
                </a:solidFill>
                <a:latin typeface="Alibaba PuHuiTi 3.0 85 Bold" panose="00020600040101010101" charset="-122"/>
                <a:ea typeface="Alibaba PuHuiTi 3.0 85 Bold" panose="00020600040101010101" charset="-122"/>
                <a:cs typeface="Alibaba PuHuiTi 3.0 85 Bold" panose="00020600040101010101" charset="-122"/>
              </a:rPr>
              <a:t>2</a:t>
            </a:r>
            <a:r>
              <a:rPr lang="zh-CN" altLang="en-US" sz="1400" b="1">
                <a:solidFill>
                  <a:srgbClr val="00B0F0"/>
                </a:solidFill>
                <a:latin typeface="Alibaba PuHuiTi 3.0 85 Bold" panose="00020600040101010101" charset="-122"/>
                <a:ea typeface="Alibaba PuHuiTi 3.0 85 Bold" panose="00020600040101010101" charset="-122"/>
                <a:cs typeface="Alibaba PuHuiTi 3.0 85 Bold" panose="00020600040101010101" charset="-122"/>
              </a:rPr>
              <a:t>位二进制数</a:t>
            </a:r>
            <a:endParaRPr lang="zh-CN" altLang="en-US" sz="1400" b="1">
              <a:solidFill>
                <a:srgbClr val="00B0F0"/>
              </a:solidFill>
              <a:latin typeface="Alibaba PuHuiTi 3.0 85 Bold" panose="00020600040101010101" charset="-122"/>
              <a:ea typeface="Alibaba PuHuiTi 3.0 85 Bold" panose="00020600040101010101" charset="-122"/>
              <a:cs typeface="Alibaba PuHuiTi 3.0 85 Bold" panose="00020600040101010101" charset="-122"/>
            </a:endParaRPr>
          </a:p>
          <a:p>
            <a:pPr algn="l"/>
            <a:r>
              <a:rPr lang="en-US" altLang="zh-CN" sz="14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rPr>
              <a:t>4 = 2</a:t>
            </a:r>
            <a:r>
              <a:rPr lang="en-US" altLang="zh-CN" sz="1400" b="1" baseline="30000">
                <a:solidFill>
                  <a:srgbClr val="00B0F0"/>
                </a:solidFill>
                <a:latin typeface="Alibaba PuHuiTi 3.0 85 Bold" panose="00020600040101010101" charset="-122"/>
                <a:ea typeface="Alibaba PuHuiTi 3.0 85 Bold" panose="00020600040101010101" charset="-122"/>
                <a:cs typeface="Alibaba PuHuiTi 3.0 85 Bold" panose="00020600040101010101" charset="-122"/>
              </a:rPr>
              <a:t>2</a:t>
            </a:r>
            <a:endParaRPr lang="en-US" altLang="zh-CN" sz="1400" b="1" baseline="30000">
              <a:solidFill>
                <a:srgbClr val="00B0F0"/>
              </a:solidFill>
              <a:latin typeface="Alibaba PuHuiTi 3.0 85 Bold" panose="00020600040101010101" charset="-122"/>
              <a:ea typeface="Alibaba PuHuiTi 3.0 85 Bold" panose="00020600040101010101" charset="-122"/>
              <a:cs typeface="Alibaba PuHuiTi 3.0 85 Bold" panose="00020600040101010101" charset="-122"/>
            </a:endParaRPr>
          </a:p>
        </p:txBody>
      </p:sp>
    </p:spTree>
    <p:custDataLst>
      <p:tags r:id="rId5"/>
    </p:custData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a:bodyPr>
          <a:p>
            <a:r>
              <a:rPr lang="zh-CN" altLang="en-US"/>
              <a:t>怎样才能把声音（模拟信号</a:t>
            </a:r>
            <a:r>
              <a:rPr lang="en-US" altLang="zh-CN"/>
              <a:t>）</a:t>
            </a:r>
            <a:r>
              <a:rPr lang="zh-CN" altLang="en-US"/>
              <a:t>是转成数字信号</a:t>
            </a:r>
            <a:r>
              <a:rPr lang="en-US"/>
              <a:t>？</a:t>
            </a:r>
            <a:endParaRPr lang="en-US"/>
          </a:p>
        </p:txBody>
      </p:sp>
      <p:sp>
        <p:nvSpPr>
          <p:cNvPr id="14" name="Text Box 13"/>
          <p:cNvSpPr txBox="1"/>
          <p:nvPr/>
        </p:nvSpPr>
        <p:spPr>
          <a:xfrm>
            <a:off x="691515" y="1313815"/>
            <a:ext cx="254762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cs typeface="Alibaba PuHuiTi 3.0 55 Regular" panose="00020600040101010101" charset="-122"/>
              </a:rPr>
              <a:t>1. </a:t>
            </a:r>
            <a:r>
              <a:rPr lang="zh-CN" altLang="en-US" sz="2200">
                <a:latin typeface="Alibaba PuHuiTi 3.0 55 Regular" panose="00020600040101010101" charset="-122"/>
                <a:ea typeface="Alibaba PuHuiTi 3.0 55 Regular" panose="00020600040101010101" charset="-122"/>
                <a:cs typeface="Alibaba PuHuiTi 3.0 55 Regular" panose="00020600040101010101" charset="-122"/>
              </a:rPr>
              <a:t>采样</a:t>
            </a:r>
            <a:r>
              <a:rPr lang="en-US" altLang="zh-CN" sz="2200">
                <a:latin typeface="Alibaba PuHuiTi 3.0 55 Regular" panose="00020600040101010101" charset="-122"/>
                <a:ea typeface="Alibaba PuHuiTi 3.0 55 Regular" panose="00020600040101010101" charset="-122"/>
                <a:cs typeface="Alibaba PuHuiTi 3.0 55 Regular" panose="00020600040101010101" charset="-122"/>
              </a:rPr>
              <a:t> Sampling</a:t>
            </a:r>
            <a:endParaRPr lang="en-US" altLang="zh-CN" sz="2200">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7" name="Text Box 16"/>
          <p:cNvSpPr txBox="1"/>
          <p:nvPr/>
        </p:nvSpPr>
        <p:spPr>
          <a:xfrm>
            <a:off x="3860165" y="1313815"/>
            <a:ext cx="3038475" cy="429895"/>
          </a:xfrm>
          <a:prstGeom prst="rect">
            <a:avLst/>
          </a:prstGeom>
          <a:noFill/>
        </p:spPr>
        <p:txBody>
          <a:bodyPr wrap="square" rtlCol="0">
            <a:spAutoFit/>
          </a:bodyPr>
          <a:p>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2. </a:t>
            </a:r>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量化</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 Quantization</a:t>
            </a:r>
            <a:endParaRPr lang="en-US" altLang="zh-CN" sz="2200" b="1">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18" name="Text Box 17"/>
          <p:cNvSpPr txBox="1"/>
          <p:nvPr/>
        </p:nvSpPr>
        <p:spPr>
          <a:xfrm>
            <a:off x="7519670" y="1313815"/>
            <a:ext cx="3822065" cy="429895"/>
          </a:xfrm>
          <a:prstGeom prst="rect">
            <a:avLst/>
          </a:prstGeom>
          <a:noFill/>
        </p:spPr>
        <p:txBody>
          <a:bodyPr wrap="square" rtlCol="0">
            <a:spAutoFit/>
          </a:bodyPr>
          <a:p>
            <a:r>
              <a:rPr lang="en-US" altLang="zh-CN" sz="2200">
                <a:latin typeface="Alibaba PuHuiTi 3.0 55 Regular" panose="00020600040101010101" charset="-122"/>
                <a:ea typeface="Alibaba PuHuiTi 3.0 55 Regular" panose="00020600040101010101" charset="-122"/>
              </a:rPr>
              <a:t>3. </a:t>
            </a:r>
            <a:r>
              <a:rPr lang="zh-CN" altLang="en-US" sz="2200">
                <a:latin typeface="Alibaba PuHuiTi 3.0 55 Regular" panose="00020600040101010101" charset="-122"/>
                <a:ea typeface="Alibaba PuHuiTi 3.0 55 Regular" panose="00020600040101010101" charset="-122"/>
              </a:rPr>
              <a:t>编码</a:t>
            </a:r>
            <a:r>
              <a:rPr lang="en-US" altLang="zh-CN" sz="2200">
                <a:latin typeface="Alibaba PuHuiTi 3.0 55 Regular" panose="00020600040101010101" charset="-122"/>
                <a:ea typeface="Alibaba PuHuiTi 3.0 55 Regular" panose="00020600040101010101" charset="-122"/>
              </a:rPr>
              <a:t> </a:t>
            </a:r>
            <a:r>
              <a:rPr lang="en-US" altLang="zh-CN" sz="2200">
                <a:latin typeface="Alibaba PuHuiTi 3.0 55 Regular" panose="00020600040101010101" charset="-122"/>
                <a:ea typeface="Alibaba PuHuiTi 3.0 55 Regular" panose="00020600040101010101" charset="-122"/>
              </a:rPr>
              <a:t>Encoding</a:t>
            </a:r>
            <a:endParaRPr lang="en-US" altLang="zh-CN" sz="2200">
              <a:latin typeface="Alibaba PuHuiTi 3.0 55 Regular" panose="00020600040101010101" charset="-122"/>
              <a:ea typeface="Alibaba PuHuiTi 3.0 55 Regular" panose="00020600040101010101" charset="-122"/>
            </a:endParaRPr>
          </a:p>
        </p:txBody>
      </p:sp>
      <p:cxnSp>
        <p:nvCxnSpPr>
          <p:cNvPr id="19" name="Straight Connector 18"/>
          <p:cNvCxnSpPr/>
          <p:nvPr/>
        </p:nvCxnSpPr>
        <p:spPr>
          <a:xfrm flipH="1">
            <a:off x="3202305" y="1529080"/>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cxnSp>
        <p:nvCxnSpPr>
          <p:cNvPr id="20" name="Straight Connector 19"/>
          <p:cNvCxnSpPr/>
          <p:nvPr/>
        </p:nvCxnSpPr>
        <p:spPr>
          <a:xfrm flipH="1">
            <a:off x="6861810" y="1528445"/>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12" name="Oval 11"/>
          <p:cNvSpPr/>
          <p:nvPr/>
        </p:nvSpPr>
        <p:spPr>
          <a:xfrm>
            <a:off x="1926590" y="419798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13" name="Straight Connector 12"/>
          <p:cNvCxnSpPr/>
          <p:nvPr/>
        </p:nvCxnSpPr>
        <p:spPr>
          <a:xfrm>
            <a:off x="1974850" y="4271645"/>
            <a:ext cx="0" cy="73977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5" name="Straight Connector 14"/>
          <p:cNvCxnSpPr>
            <a:stCxn id="36" idx="31"/>
          </p:cNvCxnSpPr>
          <p:nvPr/>
        </p:nvCxnSpPr>
        <p:spPr>
          <a:xfrm flipH="1">
            <a:off x="3222625" y="3726180"/>
            <a:ext cx="10795" cy="123444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6" name="Straight Connector 15"/>
          <p:cNvCxnSpPr/>
          <p:nvPr/>
        </p:nvCxnSpPr>
        <p:spPr>
          <a:xfrm>
            <a:off x="3721735" y="4398645"/>
            <a:ext cx="0" cy="57023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2" name="Straight Connector 21"/>
          <p:cNvCxnSpPr/>
          <p:nvPr/>
        </p:nvCxnSpPr>
        <p:spPr>
          <a:xfrm>
            <a:off x="3971290" y="4448810"/>
            <a:ext cx="0" cy="56324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4" name="Straight Connector 23"/>
          <p:cNvCxnSpPr/>
          <p:nvPr/>
        </p:nvCxnSpPr>
        <p:spPr>
          <a:xfrm>
            <a:off x="4220845" y="4180840"/>
            <a:ext cx="0" cy="83121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5" name="Straight Connector 24"/>
          <p:cNvCxnSpPr/>
          <p:nvPr/>
        </p:nvCxnSpPr>
        <p:spPr>
          <a:xfrm>
            <a:off x="1600200" y="2225040"/>
            <a:ext cx="0" cy="274320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27" name="Straight Connector 26"/>
          <p:cNvCxnSpPr/>
          <p:nvPr/>
        </p:nvCxnSpPr>
        <p:spPr>
          <a:xfrm flipH="1">
            <a:off x="1598930" y="4977130"/>
            <a:ext cx="312737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33" name="Text Box 32"/>
          <p:cNvSpPr txBox="1"/>
          <p:nvPr/>
        </p:nvSpPr>
        <p:spPr>
          <a:xfrm>
            <a:off x="4463415" y="5046345"/>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36" name="Freeform 35"/>
          <p:cNvSpPr/>
          <p:nvPr/>
        </p:nvSpPr>
        <p:spPr>
          <a:xfrm>
            <a:off x="1815465" y="2955925"/>
            <a:ext cx="2518410" cy="1645285"/>
          </a:xfrm>
          <a:custGeom>
            <a:avLst/>
            <a:gdLst>
              <a:gd name="connisteX0" fmla="*/ 0 w 2518410"/>
              <a:gd name="connsiteY0" fmla="*/ 1645002 h 1645002"/>
              <a:gd name="connisteX1" fmla="*/ 25400 w 2518410"/>
              <a:gd name="connsiteY1" fmla="*/ 1519907 h 1645002"/>
              <a:gd name="connisteX2" fmla="*/ 142240 w 2518410"/>
              <a:gd name="connsiteY2" fmla="*/ 1328137 h 1645002"/>
              <a:gd name="connisteX3" fmla="*/ 225425 w 2518410"/>
              <a:gd name="connsiteY3" fmla="*/ 1178277 h 1645002"/>
              <a:gd name="connisteX4" fmla="*/ 275590 w 2518410"/>
              <a:gd name="connsiteY4" fmla="*/ 1077947 h 1645002"/>
              <a:gd name="connisteX5" fmla="*/ 325120 w 2518410"/>
              <a:gd name="connsiteY5" fmla="*/ 978252 h 1645002"/>
              <a:gd name="connisteX6" fmla="*/ 358775 w 2518410"/>
              <a:gd name="connsiteY6" fmla="*/ 877922 h 1645002"/>
              <a:gd name="connisteX7" fmla="*/ 383540 w 2518410"/>
              <a:gd name="connsiteY7" fmla="*/ 811247 h 1645002"/>
              <a:gd name="connisteX8" fmla="*/ 400685 w 2518410"/>
              <a:gd name="connsiteY8" fmla="*/ 728062 h 1645002"/>
              <a:gd name="connisteX9" fmla="*/ 441960 w 2518410"/>
              <a:gd name="connsiteY9" fmla="*/ 611222 h 1645002"/>
              <a:gd name="connisteX10" fmla="*/ 459105 w 2518410"/>
              <a:gd name="connsiteY10" fmla="*/ 544547 h 1645002"/>
              <a:gd name="connisteX11" fmla="*/ 492125 w 2518410"/>
              <a:gd name="connsiteY11" fmla="*/ 419452 h 1645002"/>
              <a:gd name="connisteX12" fmla="*/ 525780 w 2518410"/>
              <a:gd name="connsiteY12" fmla="*/ 310867 h 1645002"/>
              <a:gd name="connisteX13" fmla="*/ 550545 w 2518410"/>
              <a:gd name="connsiteY13" fmla="*/ 227682 h 1645002"/>
              <a:gd name="connisteX14" fmla="*/ 567055 w 2518410"/>
              <a:gd name="connsiteY14" fmla="*/ 161007 h 1645002"/>
              <a:gd name="connisteX15" fmla="*/ 584200 w 2518410"/>
              <a:gd name="connsiteY15" fmla="*/ 94332 h 1645002"/>
              <a:gd name="connisteX16" fmla="*/ 625475 w 2518410"/>
              <a:gd name="connsiteY16" fmla="*/ 27657 h 1645002"/>
              <a:gd name="connisteX17" fmla="*/ 692150 w 2518410"/>
              <a:gd name="connsiteY17" fmla="*/ 10512 h 1645002"/>
              <a:gd name="connisteX18" fmla="*/ 784225 w 2518410"/>
              <a:gd name="connsiteY18" fmla="*/ 2257 h 1645002"/>
              <a:gd name="connisteX19" fmla="*/ 859155 w 2518410"/>
              <a:gd name="connsiteY19" fmla="*/ 2257 h 1645002"/>
              <a:gd name="connisteX20" fmla="*/ 925830 w 2518410"/>
              <a:gd name="connsiteY20" fmla="*/ 2257 h 1645002"/>
              <a:gd name="connisteX21" fmla="*/ 1000760 w 2518410"/>
              <a:gd name="connsiteY21" fmla="*/ 27657 h 1645002"/>
              <a:gd name="connisteX22" fmla="*/ 1067435 w 2518410"/>
              <a:gd name="connsiteY22" fmla="*/ 77187 h 1645002"/>
              <a:gd name="connisteX23" fmla="*/ 1125855 w 2518410"/>
              <a:gd name="connsiteY23" fmla="*/ 152752 h 1645002"/>
              <a:gd name="connisteX24" fmla="*/ 1176020 w 2518410"/>
              <a:gd name="connsiteY24" fmla="*/ 235937 h 1645002"/>
              <a:gd name="connisteX25" fmla="*/ 1217930 w 2518410"/>
              <a:gd name="connsiteY25" fmla="*/ 302612 h 1645002"/>
              <a:gd name="connisteX26" fmla="*/ 1242695 w 2518410"/>
              <a:gd name="connsiteY26" fmla="*/ 369287 h 1645002"/>
              <a:gd name="connisteX27" fmla="*/ 1276350 w 2518410"/>
              <a:gd name="connsiteY27" fmla="*/ 435962 h 1645002"/>
              <a:gd name="connisteX28" fmla="*/ 1309370 w 2518410"/>
              <a:gd name="connsiteY28" fmla="*/ 502637 h 1645002"/>
              <a:gd name="connisteX29" fmla="*/ 1351280 w 2518410"/>
              <a:gd name="connsiteY29" fmla="*/ 594712 h 1645002"/>
              <a:gd name="connisteX30" fmla="*/ 1384300 w 2518410"/>
              <a:gd name="connsiteY30" fmla="*/ 686152 h 1645002"/>
              <a:gd name="connisteX31" fmla="*/ 1417955 w 2518410"/>
              <a:gd name="connsiteY31" fmla="*/ 769972 h 1645002"/>
              <a:gd name="connisteX32" fmla="*/ 1450975 w 2518410"/>
              <a:gd name="connsiteY32" fmla="*/ 844902 h 1645002"/>
              <a:gd name="connisteX33" fmla="*/ 1476375 w 2518410"/>
              <a:gd name="connsiteY33" fmla="*/ 911577 h 1645002"/>
              <a:gd name="connisteX34" fmla="*/ 1501140 w 2518410"/>
              <a:gd name="connsiteY34" fmla="*/ 1003017 h 1645002"/>
              <a:gd name="connisteX35" fmla="*/ 1526540 w 2518410"/>
              <a:gd name="connsiteY35" fmla="*/ 1077947 h 1645002"/>
              <a:gd name="connisteX36" fmla="*/ 1551305 w 2518410"/>
              <a:gd name="connsiteY36" fmla="*/ 1153512 h 1645002"/>
              <a:gd name="connisteX37" fmla="*/ 1601470 w 2518410"/>
              <a:gd name="connsiteY37" fmla="*/ 1220187 h 1645002"/>
              <a:gd name="connisteX38" fmla="*/ 1676400 w 2518410"/>
              <a:gd name="connsiteY38" fmla="*/ 1269717 h 1645002"/>
              <a:gd name="connisteX39" fmla="*/ 1743075 w 2518410"/>
              <a:gd name="connsiteY39" fmla="*/ 1319882 h 1645002"/>
              <a:gd name="connisteX40" fmla="*/ 1809750 w 2518410"/>
              <a:gd name="connsiteY40" fmla="*/ 1353537 h 1645002"/>
              <a:gd name="connisteX41" fmla="*/ 1876425 w 2518410"/>
              <a:gd name="connsiteY41" fmla="*/ 1386557 h 1645002"/>
              <a:gd name="connisteX42" fmla="*/ 1951355 w 2518410"/>
              <a:gd name="connsiteY42" fmla="*/ 1411957 h 1645002"/>
              <a:gd name="connisteX43" fmla="*/ 2035175 w 2518410"/>
              <a:gd name="connsiteY43" fmla="*/ 1436722 h 1645002"/>
              <a:gd name="connisteX44" fmla="*/ 2110105 w 2518410"/>
              <a:gd name="connsiteY44" fmla="*/ 1453232 h 1645002"/>
              <a:gd name="connisteX45" fmla="*/ 2185035 w 2518410"/>
              <a:gd name="connsiteY45" fmla="*/ 1453232 h 1645002"/>
              <a:gd name="connisteX46" fmla="*/ 2251710 w 2518410"/>
              <a:gd name="connsiteY46" fmla="*/ 1444977 h 1645002"/>
              <a:gd name="connisteX47" fmla="*/ 2301875 w 2518410"/>
              <a:gd name="connsiteY47" fmla="*/ 1378302 h 1645002"/>
              <a:gd name="connisteX48" fmla="*/ 2343785 w 2518410"/>
              <a:gd name="connsiteY48" fmla="*/ 1311627 h 1645002"/>
              <a:gd name="connisteX49" fmla="*/ 2368550 w 2518410"/>
              <a:gd name="connsiteY49" fmla="*/ 1236697 h 1645002"/>
              <a:gd name="connisteX50" fmla="*/ 2402205 w 2518410"/>
              <a:gd name="connsiteY50" fmla="*/ 1161767 h 1645002"/>
              <a:gd name="connisteX51" fmla="*/ 2426970 w 2518410"/>
              <a:gd name="connsiteY51" fmla="*/ 1086837 h 1645002"/>
              <a:gd name="connisteX52" fmla="*/ 2468880 w 2518410"/>
              <a:gd name="connsiteY52" fmla="*/ 1019527 h 1645002"/>
              <a:gd name="connisteX53" fmla="*/ 2518410 w 2518410"/>
              <a:gd name="connsiteY53" fmla="*/ 944597 h 164500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Lst>
            <a:rect l="l" t="t" r="r" b="b"/>
            <a:pathLst>
              <a:path w="2518410" h="1645003">
                <a:moveTo>
                  <a:pt x="0" y="1645003"/>
                </a:moveTo>
                <a:cubicBezTo>
                  <a:pt x="2540" y="1624048"/>
                  <a:pt x="-3175" y="1583408"/>
                  <a:pt x="25400" y="1519908"/>
                </a:cubicBezTo>
                <a:cubicBezTo>
                  <a:pt x="53975" y="1456408"/>
                  <a:pt x="102235" y="1396718"/>
                  <a:pt x="142240" y="1328138"/>
                </a:cubicBezTo>
                <a:cubicBezTo>
                  <a:pt x="182245" y="1259558"/>
                  <a:pt x="198755" y="1228443"/>
                  <a:pt x="225425" y="1178278"/>
                </a:cubicBezTo>
                <a:cubicBezTo>
                  <a:pt x="252095" y="1128113"/>
                  <a:pt x="255905" y="1117953"/>
                  <a:pt x="275590" y="1077948"/>
                </a:cubicBezTo>
                <a:cubicBezTo>
                  <a:pt x="295275" y="1037943"/>
                  <a:pt x="308610" y="1018258"/>
                  <a:pt x="325120" y="978253"/>
                </a:cubicBezTo>
                <a:cubicBezTo>
                  <a:pt x="341630" y="938248"/>
                  <a:pt x="347345" y="911578"/>
                  <a:pt x="358775" y="877923"/>
                </a:cubicBezTo>
                <a:cubicBezTo>
                  <a:pt x="370205" y="844268"/>
                  <a:pt x="375285" y="841093"/>
                  <a:pt x="383540" y="811248"/>
                </a:cubicBezTo>
                <a:cubicBezTo>
                  <a:pt x="391795" y="781403"/>
                  <a:pt x="389255" y="768068"/>
                  <a:pt x="400685" y="728063"/>
                </a:cubicBezTo>
                <a:cubicBezTo>
                  <a:pt x="412115" y="688058"/>
                  <a:pt x="430530" y="648053"/>
                  <a:pt x="441960" y="611223"/>
                </a:cubicBezTo>
                <a:cubicBezTo>
                  <a:pt x="453390" y="574393"/>
                  <a:pt x="448945" y="582648"/>
                  <a:pt x="459105" y="544548"/>
                </a:cubicBezTo>
                <a:cubicBezTo>
                  <a:pt x="469265" y="506448"/>
                  <a:pt x="478790" y="466443"/>
                  <a:pt x="492125" y="419453"/>
                </a:cubicBezTo>
                <a:cubicBezTo>
                  <a:pt x="505460" y="372463"/>
                  <a:pt x="514350" y="348968"/>
                  <a:pt x="525780" y="310868"/>
                </a:cubicBezTo>
                <a:cubicBezTo>
                  <a:pt x="537210" y="272768"/>
                  <a:pt x="542290" y="257528"/>
                  <a:pt x="550545" y="227683"/>
                </a:cubicBezTo>
                <a:cubicBezTo>
                  <a:pt x="558800" y="197838"/>
                  <a:pt x="560070" y="187678"/>
                  <a:pt x="567055" y="161008"/>
                </a:cubicBezTo>
                <a:cubicBezTo>
                  <a:pt x="574040" y="134338"/>
                  <a:pt x="572770" y="121003"/>
                  <a:pt x="584200" y="94333"/>
                </a:cubicBezTo>
                <a:cubicBezTo>
                  <a:pt x="595630" y="67663"/>
                  <a:pt x="603885" y="44168"/>
                  <a:pt x="625475" y="27658"/>
                </a:cubicBezTo>
                <a:cubicBezTo>
                  <a:pt x="647065" y="11148"/>
                  <a:pt x="660400" y="15593"/>
                  <a:pt x="692150" y="10513"/>
                </a:cubicBezTo>
                <a:cubicBezTo>
                  <a:pt x="723900" y="5433"/>
                  <a:pt x="750570" y="4163"/>
                  <a:pt x="784225" y="2258"/>
                </a:cubicBezTo>
                <a:cubicBezTo>
                  <a:pt x="817880" y="353"/>
                  <a:pt x="830580" y="2258"/>
                  <a:pt x="859155" y="2258"/>
                </a:cubicBezTo>
                <a:cubicBezTo>
                  <a:pt x="887730" y="2258"/>
                  <a:pt x="897255" y="-2822"/>
                  <a:pt x="925830" y="2258"/>
                </a:cubicBezTo>
                <a:cubicBezTo>
                  <a:pt x="954405" y="7338"/>
                  <a:pt x="972185" y="12418"/>
                  <a:pt x="1000760" y="27658"/>
                </a:cubicBezTo>
                <a:cubicBezTo>
                  <a:pt x="1029335" y="42898"/>
                  <a:pt x="1042670" y="52423"/>
                  <a:pt x="1067435" y="77188"/>
                </a:cubicBezTo>
                <a:cubicBezTo>
                  <a:pt x="1092200" y="101953"/>
                  <a:pt x="1104265" y="121003"/>
                  <a:pt x="1125855" y="152753"/>
                </a:cubicBezTo>
                <a:cubicBezTo>
                  <a:pt x="1147445" y="184503"/>
                  <a:pt x="1157605" y="206093"/>
                  <a:pt x="1176020" y="235938"/>
                </a:cubicBezTo>
                <a:cubicBezTo>
                  <a:pt x="1194435" y="265783"/>
                  <a:pt x="1204595" y="275943"/>
                  <a:pt x="1217930" y="302613"/>
                </a:cubicBezTo>
                <a:cubicBezTo>
                  <a:pt x="1231265" y="329283"/>
                  <a:pt x="1231265" y="342618"/>
                  <a:pt x="1242695" y="369288"/>
                </a:cubicBezTo>
                <a:cubicBezTo>
                  <a:pt x="1254125" y="395958"/>
                  <a:pt x="1263015" y="409293"/>
                  <a:pt x="1276350" y="435963"/>
                </a:cubicBezTo>
                <a:cubicBezTo>
                  <a:pt x="1289685" y="462633"/>
                  <a:pt x="1294130" y="470888"/>
                  <a:pt x="1309370" y="502638"/>
                </a:cubicBezTo>
                <a:cubicBezTo>
                  <a:pt x="1324610" y="534388"/>
                  <a:pt x="1336040" y="557883"/>
                  <a:pt x="1351280" y="594713"/>
                </a:cubicBezTo>
                <a:cubicBezTo>
                  <a:pt x="1366520" y="631543"/>
                  <a:pt x="1370965" y="651228"/>
                  <a:pt x="1384300" y="686153"/>
                </a:cubicBezTo>
                <a:cubicBezTo>
                  <a:pt x="1397635" y="721078"/>
                  <a:pt x="1404620" y="738223"/>
                  <a:pt x="1417955" y="769973"/>
                </a:cubicBezTo>
                <a:cubicBezTo>
                  <a:pt x="1431290" y="801723"/>
                  <a:pt x="1439545" y="816328"/>
                  <a:pt x="1450975" y="844903"/>
                </a:cubicBezTo>
                <a:cubicBezTo>
                  <a:pt x="1462405" y="873478"/>
                  <a:pt x="1466215" y="879828"/>
                  <a:pt x="1476375" y="911578"/>
                </a:cubicBezTo>
                <a:cubicBezTo>
                  <a:pt x="1486535" y="943328"/>
                  <a:pt x="1490980" y="969998"/>
                  <a:pt x="1501140" y="1003018"/>
                </a:cubicBezTo>
                <a:cubicBezTo>
                  <a:pt x="1511300" y="1036038"/>
                  <a:pt x="1516380" y="1048103"/>
                  <a:pt x="1526540" y="1077948"/>
                </a:cubicBezTo>
                <a:cubicBezTo>
                  <a:pt x="1536700" y="1107793"/>
                  <a:pt x="1536065" y="1124938"/>
                  <a:pt x="1551305" y="1153513"/>
                </a:cubicBezTo>
                <a:cubicBezTo>
                  <a:pt x="1566545" y="1182088"/>
                  <a:pt x="1576705" y="1196693"/>
                  <a:pt x="1601470" y="1220188"/>
                </a:cubicBezTo>
                <a:cubicBezTo>
                  <a:pt x="1626235" y="1243683"/>
                  <a:pt x="1647825" y="1250033"/>
                  <a:pt x="1676400" y="1269718"/>
                </a:cubicBezTo>
                <a:cubicBezTo>
                  <a:pt x="1704975" y="1289403"/>
                  <a:pt x="1716405" y="1303373"/>
                  <a:pt x="1743075" y="1319883"/>
                </a:cubicBezTo>
                <a:cubicBezTo>
                  <a:pt x="1769745" y="1336393"/>
                  <a:pt x="1783080" y="1340203"/>
                  <a:pt x="1809750" y="1353538"/>
                </a:cubicBezTo>
                <a:cubicBezTo>
                  <a:pt x="1836420" y="1366873"/>
                  <a:pt x="1847850" y="1375128"/>
                  <a:pt x="1876425" y="1386558"/>
                </a:cubicBezTo>
                <a:cubicBezTo>
                  <a:pt x="1905000" y="1397988"/>
                  <a:pt x="1919605" y="1401798"/>
                  <a:pt x="1951355" y="1411958"/>
                </a:cubicBezTo>
                <a:cubicBezTo>
                  <a:pt x="1983105" y="1422118"/>
                  <a:pt x="2003425" y="1428468"/>
                  <a:pt x="2035175" y="1436723"/>
                </a:cubicBezTo>
                <a:cubicBezTo>
                  <a:pt x="2066925" y="1444978"/>
                  <a:pt x="2080260" y="1450058"/>
                  <a:pt x="2110105" y="1453233"/>
                </a:cubicBezTo>
                <a:cubicBezTo>
                  <a:pt x="2139950" y="1456408"/>
                  <a:pt x="2156460" y="1455138"/>
                  <a:pt x="2185035" y="1453233"/>
                </a:cubicBezTo>
                <a:cubicBezTo>
                  <a:pt x="2213610" y="1451328"/>
                  <a:pt x="2228215" y="1460218"/>
                  <a:pt x="2251710" y="1444978"/>
                </a:cubicBezTo>
                <a:cubicBezTo>
                  <a:pt x="2275205" y="1429738"/>
                  <a:pt x="2283460" y="1404973"/>
                  <a:pt x="2301875" y="1378303"/>
                </a:cubicBezTo>
                <a:cubicBezTo>
                  <a:pt x="2320290" y="1351633"/>
                  <a:pt x="2330450" y="1340203"/>
                  <a:pt x="2343785" y="1311628"/>
                </a:cubicBezTo>
                <a:cubicBezTo>
                  <a:pt x="2357120" y="1283053"/>
                  <a:pt x="2357120" y="1266543"/>
                  <a:pt x="2368550" y="1236698"/>
                </a:cubicBezTo>
                <a:cubicBezTo>
                  <a:pt x="2379980" y="1206853"/>
                  <a:pt x="2390775" y="1191613"/>
                  <a:pt x="2402205" y="1161768"/>
                </a:cubicBezTo>
                <a:cubicBezTo>
                  <a:pt x="2413635" y="1131923"/>
                  <a:pt x="2413635" y="1115413"/>
                  <a:pt x="2426970" y="1086838"/>
                </a:cubicBezTo>
                <a:cubicBezTo>
                  <a:pt x="2440305" y="1058263"/>
                  <a:pt x="2450465" y="1048103"/>
                  <a:pt x="2468880" y="1019528"/>
                </a:cubicBezTo>
                <a:cubicBezTo>
                  <a:pt x="2487295" y="990953"/>
                  <a:pt x="2509520" y="957933"/>
                  <a:pt x="2518410" y="944598"/>
                </a:cubicBezTo>
              </a:path>
            </a:pathLst>
          </a:custGeom>
          <a:noFill/>
          <a:ln w="38100">
            <a:solidFill>
              <a:schemeClr val="tx1"/>
            </a:solidFill>
          </a:ln>
        </p:spPr>
        <p:txBody>
          <a:bodyPr vert="horz" lIns="90000" tIns="46800" rIns="90000" bIns="46800" rtlCol="0" anchor="ctr" anchorCtr="0">
            <a:noAutofit/>
          </a:bodyPr>
          <a:p>
            <a:endParaRPr lang="zh-CN" altLang="en-US" sz="2445">
              <a:solidFill>
                <a:schemeClr val="tx1"/>
              </a:solidFill>
            </a:endParaRPr>
          </a:p>
        </p:txBody>
      </p:sp>
      <p:sp>
        <p:nvSpPr>
          <p:cNvPr id="45" name="Text Box 44"/>
          <p:cNvSpPr txBox="1"/>
          <p:nvPr/>
        </p:nvSpPr>
        <p:spPr>
          <a:xfrm>
            <a:off x="1757045" y="5046345"/>
            <a:ext cx="296926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48" name="Text Box 47"/>
          <p:cNvSpPr txBox="1"/>
          <p:nvPr/>
        </p:nvSpPr>
        <p:spPr>
          <a:xfrm>
            <a:off x="1784985" y="391033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8" name="Oval 7"/>
          <p:cNvSpPr/>
          <p:nvPr/>
        </p:nvSpPr>
        <p:spPr>
          <a:xfrm>
            <a:off x="2417445" y="293941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9" name="Oval 8"/>
          <p:cNvSpPr/>
          <p:nvPr/>
        </p:nvSpPr>
        <p:spPr>
          <a:xfrm>
            <a:off x="3193415" y="368427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1" name="Oval 50"/>
          <p:cNvSpPr/>
          <p:nvPr/>
        </p:nvSpPr>
        <p:spPr>
          <a:xfrm>
            <a:off x="3691255" y="430212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2" name="Oval 51"/>
          <p:cNvSpPr/>
          <p:nvPr/>
        </p:nvSpPr>
        <p:spPr>
          <a:xfrm>
            <a:off x="4174490" y="408432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4" name="Text Box 53"/>
          <p:cNvSpPr txBox="1"/>
          <p:nvPr/>
        </p:nvSpPr>
        <p:spPr>
          <a:xfrm>
            <a:off x="2976245" y="299402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55" name="Text Box 54"/>
          <p:cNvSpPr txBox="1"/>
          <p:nvPr/>
        </p:nvSpPr>
        <p:spPr>
          <a:xfrm>
            <a:off x="3348990" y="39490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56" name="Text Box 55"/>
          <p:cNvSpPr txBox="1"/>
          <p:nvPr/>
        </p:nvSpPr>
        <p:spPr>
          <a:xfrm>
            <a:off x="3601720" y="40303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58" name="Straight Connector 57"/>
          <p:cNvCxnSpPr>
            <a:endCxn id="84" idx="3"/>
          </p:cNvCxnSpPr>
          <p:nvPr/>
        </p:nvCxnSpPr>
        <p:spPr>
          <a:xfrm flipV="1">
            <a:off x="1974850" y="3757295"/>
            <a:ext cx="199390" cy="52070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79" name="Straight Connector 78"/>
          <p:cNvCxnSpPr>
            <a:stCxn id="36" idx="8"/>
          </p:cNvCxnSpPr>
          <p:nvPr/>
        </p:nvCxnSpPr>
        <p:spPr>
          <a:xfrm>
            <a:off x="2216150" y="3684270"/>
            <a:ext cx="8255" cy="13271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0" name="Straight Connector 79"/>
          <p:cNvCxnSpPr/>
          <p:nvPr/>
        </p:nvCxnSpPr>
        <p:spPr>
          <a:xfrm>
            <a:off x="2473960" y="2983230"/>
            <a:ext cx="0" cy="202819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1" name="Straight Connector 80"/>
          <p:cNvCxnSpPr/>
          <p:nvPr/>
        </p:nvCxnSpPr>
        <p:spPr>
          <a:xfrm>
            <a:off x="2723515" y="2978785"/>
            <a:ext cx="0" cy="203263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2" name="Straight Connector 81"/>
          <p:cNvCxnSpPr>
            <a:stCxn id="54" idx="1"/>
          </p:cNvCxnSpPr>
          <p:nvPr/>
        </p:nvCxnSpPr>
        <p:spPr>
          <a:xfrm flipH="1">
            <a:off x="2973070" y="3138170"/>
            <a:ext cx="3175" cy="18732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3" name="Straight Connector 82"/>
          <p:cNvCxnSpPr/>
          <p:nvPr/>
        </p:nvCxnSpPr>
        <p:spPr>
          <a:xfrm>
            <a:off x="3472180" y="4244340"/>
            <a:ext cx="0" cy="76708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84" name="Oval 83"/>
          <p:cNvSpPr/>
          <p:nvPr/>
        </p:nvSpPr>
        <p:spPr>
          <a:xfrm>
            <a:off x="2160270" y="367474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5" name="Oval 84"/>
          <p:cNvSpPr/>
          <p:nvPr/>
        </p:nvSpPr>
        <p:spPr>
          <a:xfrm>
            <a:off x="2675255" y="290893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6" name="Oval 85"/>
          <p:cNvSpPr/>
          <p:nvPr/>
        </p:nvSpPr>
        <p:spPr>
          <a:xfrm>
            <a:off x="2941320" y="308991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7" name="Oval 86"/>
          <p:cNvSpPr/>
          <p:nvPr/>
        </p:nvSpPr>
        <p:spPr>
          <a:xfrm>
            <a:off x="3421380" y="41808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8" name="Oval 87"/>
          <p:cNvSpPr/>
          <p:nvPr/>
        </p:nvSpPr>
        <p:spPr>
          <a:xfrm>
            <a:off x="3936365" y="436372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9" name="Text Box 88"/>
          <p:cNvSpPr txBox="1"/>
          <p:nvPr/>
        </p:nvSpPr>
        <p:spPr>
          <a:xfrm>
            <a:off x="1942465" y="359981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0" name="Text Box 89"/>
          <p:cNvSpPr txBox="1"/>
          <p:nvPr/>
        </p:nvSpPr>
        <p:spPr>
          <a:xfrm>
            <a:off x="2319655" y="26536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1" name="Text Box 90"/>
          <p:cNvSpPr txBox="1"/>
          <p:nvPr/>
        </p:nvSpPr>
        <p:spPr>
          <a:xfrm>
            <a:off x="2586355" y="265112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2" name="Text Box 91"/>
          <p:cNvSpPr txBox="1"/>
          <p:nvPr/>
        </p:nvSpPr>
        <p:spPr>
          <a:xfrm>
            <a:off x="3171190" y="342138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3" name="Text Box 92"/>
          <p:cNvSpPr txBox="1"/>
          <p:nvPr/>
        </p:nvSpPr>
        <p:spPr>
          <a:xfrm>
            <a:off x="3848100" y="41192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5" name="Text Box 94"/>
          <p:cNvSpPr txBox="1"/>
          <p:nvPr/>
        </p:nvSpPr>
        <p:spPr>
          <a:xfrm>
            <a:off x="3970020" y="3800475"/>
            <a:ext cx="43180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98" name="Straight Connector 97"/>
          <p:cNvCxnSpPr>
            <a:endCxn id="8" idx="2"/>
          </p:cNvCxnSpPr>
          <p:nvPr/>
        </p:nvCxnSpPr>
        <p:spPr>
          <a:xfrm flipV="1">
            <a:off x="2224405" y="2987675"/>
            <a:ext cx="193040" cy="6965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9" name="Straight Connector 98"/>
          <p:cNvCxnSpPr>
            <a:endCxn id="91" idx="2"/>
          </p:cNvCxnSpPr>
          <p:nvPr/>
        </p:nvCxnSpPr>
        <p:spPr>
          <a:xfrm flipV="1">
            <a:off x="2466975" y="2938780"/>
            <a:ext cx="238760" cy="349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0" name="Straight Connector 99"/>
          <p:cNvCxnSpPr>
            <a:stCxn id="85" idx="5"/>
            <a:endCxn id="86" idx="2"/>
          </p:cNvCxnSpPr>
          <p:nvPr/>
        </p:nvCxnSpPr>
        <p:spPr>
          <a:xfrm>
            <a:off x="2757805" y="2991485"/>
            <a:ext cx="183515" cy="14668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1" name="Straight Connector 100"/>
          <p:cNvCxnSpPr>
            <a:stCxn id="86" idx="4"/>
            <a:endCxn id="36" idx="31"/>
          </p:cNvCxnSpPr>
          <p:nvPr/>
        </p:nvCxnSpPr>
        <p:spPr>
          <a:xfrm>
            <a:off x="2989580" y="3186430"/>
            <a:ext cx="243840" cy="5397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2" name="Straight Connector 101"/>
          <p:cNvCxnSpPr>
            <a:stCxn id="9" idx="5"/>
            <a:endCxn id="87" idx="1"/>
          </p:cNvCxnSpPr>
          <p:nvPr/>
        </p:nvCxnSpPr>
        <p:spPr>
          <a:xfrm>
            <a:off x="3275965" y="3766820"/>
            <a:ext cx="159385" cy="4279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3" name="Straight Connector 102"/>
          <p:cNvCxnSpPr>
            <a:stCxn id="87" idx="5"/>
            <a:endCxn id="51" idx="2"/>
          </p:cNvCxnSpPr>
          <p:nvPr/>
        </p:nvCxnSpPr>
        <p:spPr>
          <a:xfrm>
            <a:off x="3503930" y="4263390"/>
            <a:ext cx="187325" cy="869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4" name="Straight Connector 103"/>
          <p:cNvCxnSpPr>
            <a:stCxn id="51" idx="5"/>
            <a:endCxn id="93" idx="2"/>
          </p:cNvCxnSpPr>
          <p:nvPr/>
        </p:nvCxnSpPr>
        <p:spPr>
          <a:xfrm>
            <a:off x="3773805" y="4384675"/>
            <a:ext cx="193675" cy="222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5" name="Straight Connector 104"/>
          <p:cNvCxnSpPr>
            <a:stCxn id="88" idx="5"/>
            <a:endCxn id="52" idx="2"/>
          </p:cNvCxnSpPr>
          <p:nvPr/>
        </p:nvCxnSpPr>
        <p:spPr>
          <a:xfrm flipV="1">
            <a:off x="4018915" y="4132580"/>
            <a:ext cx="155575" cy="3136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5" name="Straight Connector 4"/>
          <p:cNvCxnSpPr/>
          <p:nvPr/>
        </p:nvCxnSpPr>
        <p:spPr>
          <a:xfrm>
            <a:off x="1616710" y="431419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21" name="Straight Connector 20"/>
          <p:cNvCxnSpPr/>
          <p:nvPr/>
        </p:nvCxnSpPr>
        <p:spPr>
          <a:xfrm>
            <a:off x="1616710" y="298831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23" name="Straight Connector 22"/>
          <p:cNvCxnSpPr/>
          <p:nvPr/>
        </p:nvCxnSpPr>
        <p:spPr>
          <a:xfrm>
            <a:off x="1616710" y="365125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3" name="Text Box 2"/>
          <p:cNvSpPr txBox="1"/>
          <p:nvPr/>
        </p:nvSpPr>
        <p:spPr>
          <a:xfrm>
            <a:off x="1835785" y="5603240"/>
            <a:ext cx="1937385"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量化等级为</a:t>
            </a:r>
            <a:r>
              <a:rPr lang="en-US" altLang="zh-CN" sz="2200">
                <a:latin typeface="Alibaba PuHuiTi 3.0 55 Regular" panose="00020600040101010101" charset="-122"/>
                <a:ea typeface="Alibaba PuHuiTi 3.0 55 Regular" panose="00020600040101010101" charset="-122"/>
              </a:rPr>
              <a:t>4</a:t>
            </a:r>
            <a:endParaRPr lang="en-US" altLang="zh-CN" sz="2200">
              <a:latin typeface="Alibaba PuHuiTi 3.0 55 Regular" panose="00020600040101010101" charset="-122"/>
              <a:ea typeface="Alibaba PuHuiTi 3.0 55 Regular" panose="00020600040101010101" charset="-122"/>
            </a:endParaRPr>
          </a:p>
        </p:txBody>
      </p:sp>
      <p:sp>
        <p:nvSpPr>
          <p:cNvPr id="4" name="Text Box 3"/>
          <p:cNvSpPr txBox="1"/>
          <p:nvPr/>
        </p:nvSpPr>
        <p:spPr>
          <a:xfrm>
            <a:off x="448945" y="2225040"/>
            <a:ext cx="1130300" cy="429895"/>
          </a:xfrm>
          <a:prstGeom prst="rect">
            <a:avLst/>
          </a:prstGeom>
          <a:noFill/>
        </p:spPr>
        <p:txBody>
          <a:bodyPr wrap="square" rtlCol="0">
            <a:noAutofit/>
          </a:bodyPr>
          <a:p>
            <a:pPr algn="r"/>
            <a:r>
              <a:rPr lang="zh-CN" altLang="en-US" sz="2200">
                <a:latin typeface="Alibaba PuHuiTi 3.0 55 Regular" panose="00020600040101010101" charset="-122"/>
                <a:ea typeface="Alibaba PuHuiTi 3.0 55 Regular" panose="00020600040101010101" charset="-122"/>
              </a:rPr>
              <a:t>量化值</a:t>
            </a:r>
            <a:endParaRPr lang="zh-CN" altLang="en-US" sz="2200">
              <a:latin typeface="Alibaba PuHuiTi 3.0 55 Regular" panose="00020600040101010101" charset="-122"/>
              <a:ea typeface="Alibaba PuHuiTi 3.0 55 Regular" panose="00020600040101010101" charset="-122"/>
            </a:endParaRPr>
          </a:p>
        </p:txBody>
      </p:sp>
      <p:sp>
        <p:nvSpPr>
          <p:cNvPr id="11" name="Oval 10"/>
          <p:cNvSpPr/>
          <p:nvPr/>
        </p:nvSpPr>
        <p:spPr>
          <a:xfrm>
            <a:off x="6818630" y="419290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34" name="Straight Connector 33"/>
          <p:cNvCxnSpPr/>
          <p:nvPr/>
        </p:nvCxnSpPr>
        <p:spPr>
          <a:xfrm>
            <a:off x="6866890" y="4266565"/>
            <a:ext cx="0" cy="73977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5" name="Straight Connector 34"/>
          <p:cNvCxnSpPr>
            <a:stCxn id="44" idx="31"/>
          </p:cNvCxnSpPr>
          <p:nvPr/>
        </p:nvCxnSpPr>
        <p:spPr>
          <a:xfrm flipH="1">
            <a:off x="8114665" y="3721100"/>
            <a:ext cx="10795" cy="123444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7" name="Straight Connector 36"/>
          <p:cNvCxnSpPr/>
          <p:nvPr/>
        </p:nvCxnSpPr>
        <p:spPr>
          <a:xfrm>
            <a:off x="8613775" y="4393565"/>
            <a:ext cx="0" cy="57023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8" name="Straight Connector 37"/>
          <p:cNvCxnSpPr/>
          <p:nvPr/>
        </p:nvCxnSpPr>
        <p:spPr>
          <a:xfrm>
            <a:off x="8863330" y="4443730"/>
            <a:ext cx="0" cy="56324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9" name="Straight Connector 38"/>
          <p:cNvCxnSpPr/>
          <p:nvPr/>
        </p:nvCxnSpPr>
        <p:spPr>
          <a:xfrm>
            <a:off x="9112885" y="4175760"/>
            <a:ext cx="0" cy="83121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40" name="Straight Connector 39"/>
          <p:cNvCxnSpPr/>
          <p:nvPr/>
        </p:nvCxnSpPr>
        <p:spPr>
          <a:xfrm>
            <a:off x="6492240" y="2219960"/>
            <a:ext cx="0" cy="274320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41" name="Straight Connector 40"/>
          <p:cNvCxnSpPr/>
          <p:nvPr/>
        </p:nvCxnSpPr>
        <p:spPr>
          <a:xfrm flipH="1">
            <a:off x="6490970" y="4970145"/>
            <a:ext cx="312737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42" name="Text Box 41"/>
          <p:cNvSpPr txBox="1"/>
          <p:nvPr/>
        </p:nvSpPr>
        <p:spPr>
          <a:xfrm>
            <a:off x="5340985" y="2219960"/>
            <a:ext cx="1130300" cy="429895"/>
          </a:xfrm>
          <a:prstGeom prst="rect">
            <a:avLst/>
          </a:prstGeom>
          <a:noFill/>
        </p:spPr>
        <p:txBody>
          <a:bodyPr wrap="square" rtlCol="0">
            <a:noAutofit/>
          </a:bodyPr>
          <a:p>
            <a:pPr algn="r"/>
            <a:r>
              <a:rPr lang="zh-CN" altLang="en-US" sz="2200">
                <a:latin typeface="Alibaba PuHuiTi 3.0 55 Regular" panose="00020600040101010101" charset="-122"/>
                <a:ea typeface="Alibaba PuHuiTi 3.0 55 Regular" panose="00020600040101010101" charset="-122"/>
              </a:rPr>
              <a:t>量化值</a:t>
            </a:r>
            <a:endParaRPr lang="zh-CN" altLang="en-US" sz="2200">
              <a:latin typeface="Alibaba PuHuiTi 3.0 55 Regular" panose="00020600040101010101" charset="-122"/>
              <a:ea typeface="Alibaba PuHuiTi 3.0 55 Regular" panose="00020600040101010101" charset="-122"/>
            </a:endParaRPr>
          </a:p>
        </p:txBody>
      </p:sp>
      <p:sp>
        <p:nvSpPr>
          <p:cNvPr id="43" name="Text Box 42"/>
          <p:cNvSpPr txBox="1"/>
          <p:nvPr/>
        </p:nvSpPr>
        <p:spPr>
          <a:xfrm>
            <a:off x="9355455" y="5041265"/>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44" name="Freeform 43"/>
          <p:cNvSpPr/>
          <p:nvPr/>
        </p:nvSpPr>
        <p:spPr>
          <a:xfrm>
            <a:off x="6707505" y="2950845"/>
            <a:ext cx="2518410" cy="1645285"/>
          </a:xfrm>
          <a:custGeom>
            <a:avLst/>
            <a:gdLst>
              <a:gd name="connisteX0" fmla="*/ 0 w 2518410"/>
              <a:gd name="connsiteY0" fmla="*/ 1645002 h 1645002"/>
              <a:gd name="connisteX1" fmla="*/ 25400 w 2518410"/>
              <a:gd name="connsiteY1" fmla="*/ 1519907 h 1645002"/>
              <a:gd name="connisteX2" fmla="*/ 142240 w 2518410"/>
              <a:gd name="connsiteY2" fmla="*/ 1328137 h 1645002"/>
              <a:gd name="connisteX3" fmla="*/ 225425 w 2518410"/>
              <a:gd name="connsiteY3" fmla="*/ 1178277 h 1645002"/>
              <a:gd name="connisteX4" fmla="*/ 275590 w 2518410"/>
              <a:gd name="connsiteY4" fmla="*/ 1077947 h 1645002"/>
              <a:gd name="connisteX5" fmla="*/ 325120 w 2518410"/>
              <a:gd name="connsiteY5" fmla="*/ 978252 h 1645002"/>
              <a:gd name="connisteX6" fmla="*/ 358775 w 2518410"/>
              <a:gd name="connsiteY6" fmla="*/ 877922 h 1645002"/>
              <a:gd name="connisteX7" fmla="*/ 383540 w 2518410"/>
              <a:gd name="connsiteY7" fmla="*/ 811247 h 1645002"/>
              <a:gd name="connisteX8" fmla="*/ 400685 w 2518410"/>
              <a:gd name="connsiteY8" fmla="*/ 728062 h 1645002"/>
              <a:gd name="connisteX9" fmla="*/ 441960 w 2518410"/>
              <a:gd name="connsiteY9" fmla="*/ 611222 h 1645002"/>
              <a:gd name="connisteX10" fmla="*/ 459105 w 2518410"/>
              <a:gd name="connsiteY10" fmla="*/ 544547 h 1645002"/>
              <a:gd name="connisteX11" fmla="*/ 492125 w 2518410"/>
              <a:gd name="connsiteY11" fmla="*/ 419452 h 1645002"/>
              <a:gd name="connisteX12" fmla="*/ 525780 w 2518410"/>
              <a:gd name="connsiteY12" fmla="*/ 310867 h 1645002"/>
              <a:gd name="connisteX13" fmla="*/ 550545 w 2518410"/>
              <a:gd name="connsiteY13" fmla="*/ 227682 h 1645002"/>
              <a:gd name="connisteX14" fmla="*/ 567055 w 2518410"/>
              <a:gd name="connsiteY14" fmla="*/ 161007 h 1645002"/>
              <a:gd name="connisteX15" fmla="*/ 584200 w 2518410"/>
              <a:gd name="connsiteY15" fmla="*/ 94332 h 1645002"/>
              <a:gd name="connisteX16" fmla="*/ 625475 w 2518410"/>
              <a:gd name="connsiteY16" fmla="*/ 27657 h 1645002"/>
              <a:gd name="connisteX17" fmla="*/ 692150 w 2518410"/>
              <a:gd name="connsiteY17" fmla="*/ 10512 h 1645002"/>
              <a:gd name="connisteX18" fmla="*/ 784225 w 2518410"/>
              <a:gd name="connsiteY18" fmla="*/ 2257 h 1645002"/>
              <a:gd name="connisteX19" fmla="*/ 859155 w 2518410"/>
              <a:gd name="connsiteY19" fmla="*/ 2257 h 1645002"/>
              <a:gd name="connisteX20" fmla="*/ 925830 w 2518410"/>
              <a:gd name="connsiteY20" fmla="*/ 2257 h 1645002"/>
              <a:gd name="connisteX21" fmla="*/ 1000760 w 2518410"/>
              <a:gd name="connsiteY21" fmla="*/ 27657 h 1645002"/>
              <a:gd name="connisteX22" fmla="*/ 1067435 w 2518410"/>
              <a:gd name="connsiteY22" fmla="*/ 77187 h 1645002"/>
              <a:gd name="connisteX23" fmla="*/ 1125855 w 2518410"/>
              <a:gd name="connsiteY23" fmla="*/ 152752 h 1645002"/>
              <a:gd name="connisteX24" fmla="*/ 1176020 w 2518410"/>
              <a:gd name="connsiteY24" fmla="*/ 235937 h 1645002"/>
              <a:gd name="connisteX25" fmla="*/ 1217930 w 2518410"/>
              <a:gd name="connsiteY25" fmla="*/ 302612 h 1645002"/>
              <a:gd name="connisteX26" fmla="*/ 1242695 w 2518410"/>
              <a:gd name="connsiteY26" fmla="*/ 369287 h 1645002"/>
              <a:gd name="connisteX27" fmla="*/ 1276350 w 2518410"/>
              <a:gd name="connsiteY27" fmla="*/ 435962 h 1645002"/>
              <a:gd name="connisteX28" fmla="*/ 1309370 w 2518410"/>
              <a:gd name="connsiteY28" fmla="*/ 502637 h 1645002"/>
              <a:gd name="connisteX29" fmla="*/ 1351280 w 2518410"/>
              <a:gd name="connsiteY29" fmla="*/ 594712 h 1645002"/>
              <a:gd name="connisteX30" fmla="*/ 1384300 w 2518410"/>
              <a:gd name="connsiteY30" fmla="*/ 686152 h 1645002"/>
              <a:gd name="connisteX31" fmla="*/ 1417955 w 2518410"/>
              <a:gd name="connsiteY31" fmla="*/ 769972 h 1645002"/>
              <a:gd name="connisteX32" fmla="*/ 1450975 w 2518410"/>
              <a:gd name="connsiteY32" fmla="*/ 844902 h 1645002"/>
              <a:gd name="connisteX33" fmla="*/ 1476375 w 2518410"/>
              <a:gd name="connsiteY33" fmla="*/ 911577 h 1645002"/>
              <a:gd name="connisteX34" fmla="*/ 1501140 w 2518410"/>
              <a:gd name="connsiteY34" fmla="*/ 1003017 h 1645002"/>
              <a:gd name="connisteX35" fmla="*/ 1526540 w 2518410"/>
              <a:gd name="connsiteY35" fmla="*/ 1077947 h 1645002"/>
              <a:gd name="connisteX36" fmla="*/ 1551305 w 2518410"/>
              <a:gd name="connsiteY36" fmla="*/ 1153512 h 1645002"/>
              <a:gd name="connisteX37" fmla="*/ 1601470 w 2518410"/>
              <a:gd name="connsiteY37" fmla="*/ 1220187 h 1645002"/>
              <a:gd name="connisteX38" fmla="*/ 1676400 w 2518410"/>
              <a:gd name="connsiteY38" fmla="*/ 1269717 h 1645002"/>
              <a:gd name="connisteX39" fmla="*/ 1743075 w 2518410"/>
              <a:gd name="connsiteY39" fmla="*/ 1319882 h 1645002"/>
              <a:gd name="connisteX40" fmla="*/ 1809750 w 2518410"/>
              <a:gd name="connsiteY40" fmla="*/ 1353537 h 1645002"/>
              <a:gd name="connisteX41" fmla="*/ 1876425 w 2518410"/>
              <a:gd name="connsiteY41" fmla="*/ 1386557 h 1645002"/>
              <a:gd name="connisteX42" fmla="*/ 1951355 w 2518410"/>
              <a:gd name="connsiteY42" fmla="*/ 1411957 h 1645002"/>
              <a:gd name="connisteX43" fmla="*/ 2035175 w 2518410"/>
              <a:gd name="connsiteY43" fmla="*/ 1436722 h 1645002"/>
              <a:gd name="connisteX44" fmla="*/ 2110105 w 2518410"/>
              <a:gd name="connsiteY44" fmla="*/ 1453232 h 1645002"/>
              <a:gd name="connisteX45" fmla="*/ 2185035 w 2518410"/>
              <a:gd name="connsiteY45" fmla="*/ 1453232 h 1645002"/>
              <a:gd name="connisteX46" fmla="*/ 2251710 w 2518410"/>
              <a:gd name="connsiteY46" fmla="*/ 1444977 h 1645002"/>
              <a:gd name="connisteX47" fmla="*/ 2301875 w 2518410"/>
              <a:gd name="connsiteY47" fmla="*/ 1378302 h 1645002"/>
              <a:gd name="connisteX48" fmla="*/ 2343785 w 2518410"/>
              <a:gd name="connsiteY48" fmla="*/ 1311627 h 1645002"/>
              <a:gd name="connisteX49" fmla="*/ 2368550 w 2518410"/>
              <a:gd name="connsiteY49" fmla="*/ 1236697 h 1645002"/>
              <a:gd name="connisteX50" fmla="*/ 2402205 w 2518410"/>
              <a:gd name="connsiteY50" fmla="*/ 1161767 h 1645002"/>
              <a:gd name="connisteX51" fmla="*/ 2426970 w 2518410"/>
              <a:gd name="connsiteY51" fmla="*/ 1086837 h 1645002"/>
              <a:gd name="connisteX52" fmla="*/ 2468880 w 2518410"/>
              <a:gd name="connsiteY52" fmla="*/ 1019527 h 1645002"/>
              <a:gd name="connisteX53" fmla="*/ 2518410 w 2518410"/>
              <a:gd name="connsiteY53" fmla="*/ 944597 h 164500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Lst>
            <a:rect l="l" t="t" r="r" b="b"/>
            <a:pathLst>
              <a:path w="2518410" h="1645003">
                <a:moveTo>
                  <a:pt x="0" y="1645003"/>
                </a:moveTo>
                <a:cubicBezTo>
                  <a:pt x="2540" y="1624048"/>
                  <a:pt x="-3175" y="1583408"/>
                  <a:pt x="25400" y="1519908"/>
                </a:cubicBezTo>
                <a:cubicBezTo>
                  <a:pt x="53975" y="1456408"/>
                  <a:pt x="102235" y="1396718"/>
                  <a:pt x="142240" y="1328138"/>
                </a:cubicBezTo>
                <a:cubicBezTo>
                  <a:pt x="182245" y="1259558"/>
                  <a:pt x="198755" y="1228443"/>
                  <a:pt x="225425" y="1178278"/>
                </a:cubicBezTo>
                <a:cubicBezTo>
                  <a:pt x="252095" y="1128113"/>
                  <a:pt x="255905" y="1117953"/>
                  <a:pt x="275590" y="1077948"/>
                </a:cubicBezTo>
                <a:cubicBezTo>
                  <a:pt x="295275" y="1037943"/>
                  <a:pt x="308610" y="1018258"/>
                  <a:pt x="325120" y="978253"/>
                </a:cubicBezTo>
                <a:cubicBezTo>
                  <a:pt x="341630" y="938248"/>
                  <a:pt x="347345" y="911578"/>
                  <a:pt x="358775" y="877923"/>
                </a:cubicBezTo>
                <a:cubicBezTo>
                  <a:pt x="370205" y="844268"/>
                  <a:pt x="375285" y="841093"/>
                  <a:pt x="383540" y="811248"/>
                </a:cubicBezTo>
                <a:cubicBezTo>
                  <a:pt x="391795" y="781403"/>
                  <a:pt x="389255" y="768068"/>
                  <a:pt x="400685" y="728063"/>
                </a:cubicBezTo>
                <a:cubicBezTo>
                  <a:pt x="412115" y="688058"/>
                  <a:pt x="430530" y="648053"/>
                  <a:pt x="441960" y="611223"/>
                </a:cubicBezTo>
                <a:cubicBezTo>
                  <a:pt x="453390" y="574393"/>
                  <a:pt x="448945" y="582648"/>
                  <a:pt x="459105" y="544548"/>
                </a:cubicBezTo>
                <a:cubicBezTo>
                  <a:pt x="469265" y="506448"/>
                  <a:pt x="478790" y="466443"/>
                  <a:pt x="492125" y="419453"/>
                </a:cubicBezTo>
                <a:cubicBezTo>
                  <a:pt x="505460" y="372463"/>
                  <a:pt x="514350" y="348968"/>
                  <a:pt x="525780" y="310868"/>
                </a:cubicBezTo>
                <a:cubicBezTo>
                  <a:pt x="537210" y="272768"/>
                  <a:pt x="542290" y="257528"/>
                  <a:pt x="550545" y="227683"/>
                </a:cubicBezTo>
                <a:cubicBezTo>
                  <a:pt x="558800" y="197838"/>
                  <a:pt x="560070" y="187678"/>
                  <a:pt x="567055" y="161008"/>
                </a:cubicBezTo>
                <a:cubicBezTo>
                  <a:pt x="574040" y="134338"/>
                  <a:pt x="572770" y="121003"/>
                  <a:pt x="584200" y="94333"/>
                </a:cubicBezTo>
                <a:cubicBezTo>
                  <a:pt x="595630" y="67663"/>
                  <a:pt x="603885" y="44168"/>
                  <a:pt x="625475" y="27658"/>
                </a:cubicBezTo>
                <a:cubicBezTo>
                  <a:pt x="647065" y="11148"/>
                  <a:pt x="660400" y="15593"/>
                  <a:pt x="692150" y="10513"/>
                </a:cubicBezTo>
                <a:cubicBezTo>
                  <a:pt x="723900" y="5433"/>
                  <a:pt x="750570" y="4163"/>
                  <a:pt x="784225" y="2258"/>
                </a:cubicBezTo>
                <a:cubicBezTo>
                  <a:pt x="817880" y="353"/>
                  <a:pt x="830580" y="2258"/>
                  <a:pt x="859155" y="2258"/>
                </a:cubicBezTo>
                <a:cubicBezTo>
                  <a:pt x="887730" y="2258"/>
                  <a:pt x="897255" y="-2822"/>
                  <a:pt x="925830" y="2258"/>
                </a:cubicBezTo>
                <a:cubicBezTo>
                  <a:pt x="954405" y="7338"/>
                  <a:pt x="972185" y="12418"/>
                  <a:pt x="1000760" y="27658"/>
                </a:cubicBezTo>
                <a:cubicBezTo>
                  <a:pt x="1029335" y="42898"/>
                  <a:pt x="1042670" y="52423"/>
                  <a:pt x="1067435" y="77188"/>
                </a:cubicBezTo>
                <a:cubicBezTo>
                  <a:pt x="1092200" y="101953"/>
                  <a:pt x="1104265" y="121003"/>
                  <a:pt x="1125855" y="152753"/>
                </a:cubicBezTo>
                <a:cubicBezTo>
                  <a:pt x="1147445" y="184503"/>
                  <a:pt x="1157605" y="206093"/>
                  <a:pt x="1176020" y="235938"/>
                </a:cubicBezTo>
                <a:cubicBezTo>
                  <a:pt x="1194435" y="265783"/>
                  <a:pt x="1204595" y="275943"/>
                  <a:pt x="1217930" y="302613"/>
                </a:cubicBezTo>
                <a:cubicBezTo>
                  <a:pt x="1231265" y="329283"/>
                  <a:pt x="1231265" y="342618"/>
                  <a:pt x="1242695" y="369288"/>
                </a:cubicBezTo>
                <a:cubicBezTo>
                  <a:pt x="1254125" y="395958"/>
                  <a:pt x="1263015" y="409293"/>
                  <a:pt x="1276350" y="435963"/>
                </a:cubicBezTo>
                <a:cubicBezTo>
                  <a:pt x="1289685" y="462633"/>
                  <a:pt x="1294130" y="470888"/>
                  <a:pt x="1309370" y="502638"/>
                </a:cubicBezTo>
                <a:cubicBezTo>
                  <a:pt x="1324610" y="534388"/>
                  <a:pt x="1336040" y="557883"/>
                  <a:pt x="1351280" y="594713"/>
                </a:cubicBezTo>
                <a:cubicBezTo>
                  <a:pt x="1366520" y="631543"/>
                  <a:pt x="1370965" y="651228"/>
                  <a:pt x="1384300" y="686153"/>
                </a:cubicBezTo>
                <a:cubicBezTo>
                  <a:pt x="1397635" y="721078"/>
                  <a:pt x="1404620" y="738223"/>
                  <a:pt x="1417955" y="769973"/>
                </a:cubicBezTo>
                <a:cubicBezTo>
                  <a:pt x="1431290" y="801723"/>
                  <a:pt x="1439545" y="816328"/>
                  <a:pt x="1450975" y="844903"/>
                </a:cubicBezTo>
                <a:cubicBezTo>
                  <a:pt x="1462405" y="873478"/>
                  <a:pt x="1466215" y="879828"/>
                  <a:pt x="1476375" y="911578"/>
                </a:cubicBezTo>
                <a:cubicBezTo>
                  <a:pt x="1486535" y="943328"/>
                  <a:pt x="1490980" y="969998"/>
                  <a:pt x="1501140" y="1003018"/>
                </a:cubicBezTo>
                <a:cubicBezTo>
                  <a:pt x="1511300" y="1036038"/>
                  <a:pt x="1516380" y="1048103"/>
                  <a:pt x="1526540" y="1077948"/>
                </a:cubicBezTo>
                <a:cubicBezTo>
                  <a:pt x="1536700" y="1107793"/>
                  <a:pt x="1536065" y="1124938"/>
                  <a:pt x="1551305" y="1153513"/>
                </a:cubicBezTo>
                <a:cubicBezTo>
                  <a:pt x="1566545" y="1182088"/>
                  <a:pt x="1576705" y="1196693"/>
                  <a:pt x="1601470" y="1220188"/>
                </a:cubicBezTo>
                <a:cubicBezTo>
                  <a:pt x="1626235" y="1243683"/>
                  <a:pt x="1647825" y="1250033"/>
                  <a:pt x="1676400" y="1269718"/>
                </a:cubicBezTo>
                <a:cubicBezTo>
                  <a:pt x="1704975" y="1289403"/>
                  <a:pt x="1716405" y="1303373"/>
                  <a:pt x="1743075" y="1319883"/>
                </a:cubicBezTo>
                <a:cubicBezTo>
                  <a:pt x="1769745" y="1336393"/>
                  <a:pt x="1783080" y="1340203"/>
                  <a:pt x="1809750" y="1353538"/>
                </a:cubicBezTo>
                <a:cubicBezTo>
                  <a:pt x="1836420" y="1366873"/>
                  <a:pt x="1847850" y="1375128"/>
                  <a:pt x="1876425" y="1386558"/>
                </a:cubicBezTo>
                <a:cubicBezTo>
                  <a:pt x="1905000" y="1397988"/>
                  <a:pt x="1919605" y="1401798"/>
                  <a:pt x="1951355" y="1411958"/>
                </a:cubicBezTo>
                <a:cubicBezTo>
                  <a:pt x="1983105" y="1422118"/>
                  <a:pt x="2003425" y="1428468"/>
                  <a:pt x="2035175" y="1436723"/>
                </a:cubicBezTo>
                <a:cubicBezTo>
                  <a:pt x="2066925" y="1444978"/>
                  <a:pt x="2080260" y="1450058"/>
                  <a:pt x="2110105" y="1453233"/>
                </a:cubicBezTo>
                <a:cubicBezTo>
                  <a:pt x="2139950" y="1456408"/>
                  <a:pt x="2156460" y="1455138"/>
                  <a:pt x="2185035" y="1453233"/>
                </a:cubicBezTo>
                <a:cubicBezTo>
                  <a:pt x="2213610" y="1451328"/>
                  <a:pt x="2228215" y="1460218"/>
                  <a:pt x="2251710" y="1444978"/>
                </a:cubicBezTo>
                <a:cubicBezTo>
                  <a:pt x="2275205" y="1429738"/>
                  <a:pt x="2283460" y="1404973"/>
                  <a:pt x="2301875" y="1378303"/>
                </a:cubicBezTo>
                <a:cubicBezTo>
                  <a:pt x="2320290" y="1351633"/>
                  <a:pt x="2330450" y="1340203"/>
                  <a:pt x="2343785" y="1311628"/>
                </a:cubicBezTo>
                <a:cubicBezTo>
                  <a:pt x="2357120" y="1283053"/>
                  <a:pt x="2357120" y="1266543"/>
                  <a:pt x="2368550" y="1236698"/>
                </a:cubicBezTo>
                <a:cubicBezTo>
                  <a:pt x="2379980" y="1206853"/>
                  <a:pt x="2390775" y="1191613"/>
                  <a:pt x="2402205" y="1161768"/>
                </a:cubicBezTo>
                <a:cubicBezTo>
                  <a:pt x="2413635" y="1131923"/>
                  <a:pt x="2413635" y="1115413"/>
                  <a:pt x="2426970" y="1086838"/>
                </a:cubicBezTo>
                <a:cubicBezTo>
                  <a:pt x="2440305" y="1058263"/>
                  <a:pt x="2450465" y="1048103"/>
                  <a:pt x="2468880" y="1019528"/>
                </a:cubicBezTo>
                <a:cubicBezTo>
                  <a:pt x="2487295" y="990953"/>
                  <a:pt x="2509520" y="957933"/>
                  <a:pt x="2518410" y="944598"/>
                </a:cubicBezTo>
              </a:path>
            </a:pathLst>
          </a:custGeom>
          <a:noFill/>
          <a:ln w="38100">
            <a:solidFill>
              <a:schemeClr val="tx1"/>
            </a:solidFill>
          </a:ln>
        </p:spPr>
        <p:txBody>
          <a:bodyPr vert="horz" lIns="90000" tIns="46800" rIns="90000" bIns="46800" rtlCol="0" anchor="ctr" anchorCtr="0">
            <a:noAutofit/>
          </a:bodyPr>
          <a:p>
            <a:endParaRPr lang="zh-CN" altLang="en-US" sz="2445">
              <a:solidFill>
                <a:schemeClr val="tx1"/>
              </a:solidFill>
            </a:endParaRPr>
          </a:p>
        </p:txBody>
      </p:sp>
      <p:sp>
        <p:nvSpPr>
          <p:cNvPr id="46" name="Text Box 45"/>
          <p:cNvSpPr txBox="1"/>
          <p:nvPr/>
        </p:nvSpPr>
        <p:spPr>
          <a:xfrm>
            <a:off x="6649085" y="5041265"/>
            <a:ext cx="296926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47" name="Text Box 46"/>
          <p:cNvSpPr txBox="1"/>
          <p:nvPr/>
        </p:nvSpPr>
        <p:spPr>
          <a:xfrm>
            <a:off x="6677025" y="390525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49" name="Oval 48"/>
          <p:cNvSpPr/>
          <p:nvPr/>
        </p:nvSpPr>
        <p:spPr>
          <a:xfrm>
            <a:off x="7309485" y="293433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0" name="Oval 49"/>
          <p:cNvSpPr/>
          <p:nvPr/>
        </p:nvSpPr>
        <p:spPr>
          <a:xfrm>
            <a:off x="8085455" y="367919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3" name="Oval 52"/>
          <p:cNvSpPr/>
          <p:nvPr/>
        </p:nvSpPr>
        <p:spPr>
          <a:xfrm>
            <a:off x="8583295" y="429704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7" name="Oval 56"/>
          <p:cNvSpPr/>
          <p:nvPr/>
        </p:nvSpPr>
        <p:spPr>
          <a:xfrm>
            <a:off x="9066530" y="40792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9" name="Text Box 58"/>
          <p:cNvSpPr txBox="1"/>
          <p:nvPr/>
        </p:nvSpPr>
        <p:spPr>
          <a:xfrm>
            <a:off x="7868285" y="29889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6</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60" name="Text Box 59"/>
          <p:cNvSpPr txBox="1"/>
          <p:nvPr/>
        </p:nvSpPr>
        <p:spPr>
          <a:xfrm>
            <a:off x="8241030" y="394398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61" name="Text Box 60"/>
          <p:cNvSpPr txBox="1"/>
          <p:nvPr/>
        </p:nvSpPr>
        <p:spPr>
          <a:xfrm>
            <a:off x="8493760" y="40252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62" name="Straight Connector 61"/>
          <p:cNvCxnSpPr>
            <a:endCxn id="68" idx="3"/>
          </p:cNvCxnSpPr>
          <p:nvPr/>
        </p:nvCxnSpPr>
        <p:spPr>
          <a:xfrm flipV="1">
            <a:off x="6866890" y="3752215"/>
            <a:ext cx="199390" cy="52070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63" name="Straight Connector 62"/>
          <p:cNvCxnSpPr>
            <a:stCxn id="44" idx="8"/>
          </p:cNvCxnSpPr>
          <p:nvPr/>
        </p:nvCxnSpPr>
        <p:spPr>
          <a:xfrm>
            <a:off x="7108190" y="3679190"/>
            <a:ext cx="8255" cy="13271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4" name="Straight Connector 63"/>
          <p:cNvCxnSpPr/>
          <p:nvPr/>
        </p:nvCxnSpPr>
        <p:spPr>
          <a:xfrm>
            <a:off x="7366000" y="2978150"/>
            <a:ext cx="0" cy="202819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5" name="Straight Connector 64"/>
          <p:cNvCxnSpPr/>
          <p:nvPr/>
        </p:nvCxnSpPr>
        <p:spPr>
          <a:xfrm>
            <a:off x="7615555" y="2973705"/>
            <a:ext cx="0" cy="203263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6" name="Straight Connector 65"/>
          <p:cNvCxnSpPr>
            <a:stCxn id="59" idx="1"/>
          </p:cNvCxnSpPr>
          <p:nvPr/>
        </p:nvCxnSpPr>
        <p:spPr>
          <a:xfrm flipH="1">
            <a:off x="7865110" y="3133090"/>
            <a:ext cx="3175" cy="18732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7" name="Straight Connector 66"/>
          <p:cNvCxnSpPr/>
          <p:nvPr/>
        </p:nvCxnSpPr>
        <p:spPr>
          <a:xfrm>
            <a:off x="8364220" y="4239260"/>
            <a:ext cx="0" cy="76708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68" name="Oval 67"/>
          <p:cNvSpPr/>
          <p:nvPr/>
        </p:nvSpPr>
        <p:spPr>
          <a:xfrm>
            <a:off x="7052310" y="366966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9" name="Oval 68"/>
          <p:cNvSpPr/>
          <p:nvPr/>
        </p:nvSpPr>
        <p:spPr>
          <a:xfrm>
            <a:off x="7567295" y="290385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0" name="Oval 69"/>
          <p:cNvSpPr/>
          <p:nvPr/>
        </p:nvSpPr>
        <p:spPr>
          <a:xfrm>
            <a:off x="7833360" y="308483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1" name="Oval 70"/>
          <p:cNvSpPr/>
          <p:nvPr/>
        </p:nvSpPr>
        <p:spPr>
          <a:xfrm>
            <a:off x="8313420" y="417576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2" name="Oval 71"/>
          <p:cNvSpPr/>
          <p:nvPr/>
        </p:nvSpPr>
        <p:spPr>
          <a:xfrm>
            <a:off x="8828405" y="43586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3" name="Text Box 72"/>
          <p:cNvSpPr txBox="1"/>
          <p:nvPr/>
        </p:nvSpPr>
        <p:spPr>
          <a:xfrm>
            <a:off x="6834505" y="359473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4</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4" name="Text Box 73"/>
          <p:cNvSpPr txBox="1"/>
          <p:nvPr/>
        </p:nvSpPr>
        <p:spPr>
          <a:xfrm>
            <a:off x="7211695" y="264858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7</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5" name="Text Box 74"/>
          <p:cNvSpPr txBox="1"/>
          <p:nvPr/>
        </p:nvSpPr>
        <p:spPr>
          <a:xfrm>
            <a:off x="7478395" y="26460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7</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6" name="Text Box 75"/>
          <p:cNvSpPr txBox="1"/>
          <p:nvPr/>
        </p:nvSpPr>
        <p:spPr>
          <a:xfrm>
            <a:off x="8063230" y="341630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4</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7" name="Text Box 76"/>
          <p:cNvSpPr txBox="1"/>
          <p:nvPr/>
        </p:nvSpPr>
        <p:spPr>
          <a:xfrm>
            <a:off x="8740140" y="41141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8" name="Text Box 77"/>
          <p:cNvSpPr txBox="1"/>
          <p:nvPr/>
        </p:nvSpPr>
        <p:spPr>
          <a:xfrm>
            <a:off x="8862060" y="3795395"/>
            <a:ext cx="43180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94" name="Straight Connector 93"/>
          <p:cNvCxnSpPr>
            <a:endCxn id="49" idx="2"/>
          </p:cNvCxnSpPr>
          <p:nvPr/>
        </p:nvCxnSpPr>
        <p:spPr>
          <a:xfrm flipV="1">
            <a:off x="7116445" y="2982595"/>
            <a:ext cx="193040" cy="6965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6" name="Straight Connector 95"/>
          <p:cNvCxnSpPr>
            <a:endCxn id="75" idx="2"/>
          </p:cNvCxnSpPr>
          <p:nvPr/>
        </p:nvCxnSpPr>
        <p:spPr>
          <a:xfrm flipV="1">
            <a:off x="7359015" y="2933700"/>
            <a:ext cx="238760" cy="349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7" name="Straight Connector 96"/>
          <p:cNvCxnSpPr>
            <a:stCxn id="69" idx="5"/>
            <a:endCxn id="70" idx="2"/>
          </p:cNvCxnSpPr>
          <p:nvPr/>
        </p:nvCxnSpPr>
        <p:spPr>
          <a:xfrm>
            <a:off x="7649845" y="2986405"/>
            <a:ext cx="183515" cy="14668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6" name="Straight Connector 105"/>
          <p:cNvCxnSpPr>
            <a:stCxn id="70" idx="4"/>
            <a:endCxn id="44" idx="31"/>
          </p:cNvCxnSpPr>
          <p:nvPr/>
        </p:nvCxnSpPr>
        <p:spPr>
          <a:xfrm>
            <a:off x="7881620" y="3181350"/>
            <a:ext cx="243840" cy="5397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7" name="Straight Connector 106"/>
          <p:cNvCxnSpPr>
            <a:stCxn id="50" idx="5"/>
            <a:endCxn id="71" idx="1"/>
          </p:cNvCxnSpPr>
          <p:nvPr/>
        </p:nvCxnSpPr>
        <p:spPr>
          <a:xfrm>
            <a:off x="8168005" y="3761740"/>
            <a:ext cx="159385" cy="4279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8" name="Straight Connector 107"/>
          <p:cNvCxnSpPr>
            <a:stCxn id="71" idx="5"/>
            <a:endCxn id="53" idx="2"/>
          </p:cNvCxnSpPr>
          <p:nvPr/>
        </p:nvCxnSpPr>
        <p:spPr>
          <a:xfrm>
            <a:off x="8395970" y="4258310"/>
            <a:ext cx="187325" cy="869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9" name="Straight Connector 108"/>
          <p:cNvCxnSpPr>
            <a:stCxn id="53" idx="5"/>
            <a:endCxn id="77" idx="2"/>
          </p:cNvCxnSpPr>
          <p:nvPr/>
        </p:nvCxnSpPr>
        <p:spPr>
          <a:xfrm>
            <a:off x="8665845" y="4379595"/>
            <a:ext cx="193675" cy="222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0" name="Straight Connector 109"/>
          <p:cNvCxnSpPr>
            <a:stCxn id="72" idx="5"/>
            <a:endCxn id="57" idx="2"/>
          </p:cNvCxnSpPr>
          <p:nvPr/>
        </p:nvCxnSpPr>
        <p:spPr>
          <a:xfrm flipV="1">
            <a:off x="8910955" y="4127500"/>
            <a:ext cx="155575" cy="3136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1" name="Straight Connector 110"/>
          <p:cNvCxnSpPr/>
          <p:nvPr/>
        </p:nvCxnSpPr>
        <p:spPr>
          <a:xfrm>
            <a:off x="6508750" y="355092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2" name="Straight Connector 111"/>
          <p:cNvCxnSpPr/>
          <p:nvPr/>
        </p:nvCxnSpPr>
        <p:spPr>
          <a:xfrm>
            <a:off x="6508750" y="298323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3" name="Straight Connector 112"/>
          <p:cNvCxnSpPr/>
          <p:nvPr/>
        </p:nvCxnSpPr>
        <p:spPr>
          <a:xfrm>
            <a:off x="6508750" y="3267075"/>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114" name="Text Box 113"/>
          <p:cNvSpPr txBox="1"/>
          <p:nvPr/>
        </p:nvSpPr>
        <p:spPr>
          <a:xfrm>
            <a:off x="6118860" y="3905250"/>
            <a:ext cx="243205" cy="425450"/>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3</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5" name="Text Box 114"/>
          <p:cNvSpPr txBox="1"/>
          <p:nvPr/>
        </p:nvSpPr>
        <p:spPr>
          <a:xfrm>
            <a:off x="6118860" y="419417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2</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6" name="Text Box 115"/>
          <p:cNvSpPr txBox="1"/>
          <p:nvPr/>
        </p:nvSpPr>
        <p:spPr>
          <a:xfrm>
            <a:off x="6118860" y="446976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7" name="Text Box 116"/>
          <p:cNvSpPr txBox="1"/>
          <p:nvPr/>
        </p:nvSpPr>
        <p:spPr>
          <a:xfrm>
            <a:off x="6118860" y="470979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8" name="Text Box 117"/>
          <p:cNvSpPr txBox="1"/>
          <p:nvPr/>
        </p:nvSpPr>
        <p:spPr>
          <a:xfrm>
            <a:off x="6681470" y="5603240"/>
            <a:ext cx="1937385"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量化等级为</a:t>
            </a:r>
            <a:r>
              <a:rPr lang="en-US" altLang="zh-CN" sz="2200">
                <a:latin typeface="Alibaba PuHuiTi 3.0 55 Regular" panose="00020600040101010101" charset="-122"/>
                <a:ea typeface="Alibaba PuHuiTi 3.0 55 Regular" panose="00020600040101010101" charset="-122"/>
              </a:rPr>
              <a:t>8</a:t>
            </a:r>
            <a:endParaRPr lang="en-US" altLang="zh-CN" sz="2200">
              <a:latin typeface="Alibaba PuHuiTi 3.0 55 Regular" panose="00020600040101010101" charset="-122"/>
              <a:ea typeface="Alibaba PuHuiTi 3.0 55 Regular" panose="00020600040101010101" charset="-122"/>
            </a:endParaRPr>
          </a:p>
        </p:txBody>
      </p:sp>
      <p:cxnSp>
        <p:nvCxnSpPr>
          <p:cNvPr id="119" name="Straight Connector 118"/>
          <p:cNvCxnSpPr/>
          <p:nvPr/>
        </p:nvCxnSpPr>
        <p:spPr>
          <a:xfrm>
            <a:off x="6508750" y="3834765"/>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0" name="Straight Connector 119"/>
          <p:cNvCxnSpPr/>
          <p:nvPr/>
        </p:nvCxnSpPr>
        <p:spPr>
          <a:xfrm>
            <a:off x="6508750" y="411861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1" name="Straight Connector 120"/>
          <p:cNvCxnSpPr/>
          <p:nvPr/>
        </p:nvCxnSpPr>
        <p:spPr>
          <a:xfrm>
            <a:off x="6508750" y="4379595"/>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2" name="Straight Connector 121"/>
          <p:cNvCxnSpPr/>
          <p:nvPr/>
        </p:nvCxnSpPr>
        <p:spPr>
          <a:xfrm>
            <a:off x="6508750" y="468630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131" name="Text Box 130"/>
          <p:cNvSpPr txBox="1"/>
          <p:nvPr/>
        </p:nvSpPr>
        <p:spPr>
          <a:xfrm>
            <a:off x="6120130" y="2819400"/>
            <a:ext cx="243205" cy="425450"/>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7</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2" name="Text Box 131"/>
          <p:cNvSpPr txBox="1"/>
          <p:nvPr/>
        </p:nvSpPr>
        <p:spPr>
          <a:xfrm>
            <a:off x="6120130" y="310832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6</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3" name="Text Box 132"/>
          <p:cNvSpPr txBox="1"/>
          <p:nvPr/>
        </p:nvSpPr>
        <p:spPr>
          <a:xfrm>
            <a:off x="6120130" y="338391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5</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4" name="Text Box 133"/>
          <p:cNvSpPr txBox="1"/>
          <p:nvPr/>
        </p:nvSpPr>
        <p:spPr>
          <a:xfrm>
            <a:off x="6120130" y="362394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4</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32" name="Text Box 31"/>
          <p:cNvSpPr txBox="1"/>
          <p:nvPr/>
        </p:nvSpPr>
        <p:spPr>
          <a:xfrm>
            <a:off x="2762885" y="1741805"/>
            <a:ext cx="1002665" cy="429895"/>
          </a:xfrm>
          <a:prstGeom prst="rect">
            <a:avLst/>
          </a:prstGeom>
          <a:noFill/>
        </p:spPr>
        <p:txBody>
          <a:bodyPr wrap="square" rtlCol="0">
            <a:noAutofit/>
          </a:bodyPr>
          <a:p>
            <a:pPr algn="l"/>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思考</a:t>
            </a:r>
            <a:r>
              <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a:t>
            </a:r>
            <a:endPar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123" name="Text Box 122"/>
          <p:cNvSpPr txBox="1"/>
          <p:nvPr/>
        </p:nvSpPr>
        <p:spPr>
          <a:xfrm>
            <a:off x="3620135" y="1589405"/>
            <a:ext cx="4845050" cy="1083310"/>
          </a:xfrm>
          <a:prstGeom prst="rect">
            <a:avLst/>
          </a:prstGeom>
          <a:noFill/>
        </p:spPr>
        <p:txBody>
          <a:bodyPr wrap="square" rtlCol="0">
            <a:noAutofit/>
          </a:bodyPr>
          <a:p>
            <a:pPr>
              <a:lnSpc>
                <a:spcPct val="150000"/>
              </a:lnSpc>
            </a:pPr>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两种量化等级需要用几位二进制</a:t>
            </a:r>
            <a:r>
              <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a:t>
            </a:r>
            <a:endPar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endParaRPr>
          </a:p>
        </p:txBody>
      </p:sp>
      <p:pic>
        <p:nvPicPr>
          <p:cNvPr id="124" name="Picture 123" descr="思考"/>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2367915" y="1715135"/>
            <a:ext cx="456565" cy="456565"/>
          </a:xfrm>
          <a:prstGeom prst="rect">
            <a:avLst/>
          </a:prstGeom>
        </p:spPr>
      </p:pic>
      <p:sp>
        <p:nvSpPr>
          <p:cNvPr id="178" name="Text Box 177"/>
          <p:cNvSpPr txBox="1"/>
          <p:nvPr/>
        </p:nvSpPr>
        <p:spPr>
          <a:xfrm>
            <a:off x="513080" y="5139690"/>
            <a:ext cx="1300480" cy="429895"/>
          </a:xfrm>
          <a:prstGeom prst="rect">
            <a:avLst/>
          </a:prstGeom>
          <a:noFill/>
        </p:spPr>
        <p:txBody>
          <a:bodyPr wrap="square" rtlCol="0">
            <a:noAutofit/>
          </a:bodyPr>
          <a:p>
            <a:pPr algn="l"/>
            <a:r>
              <a:rPr lang="en-US" altLang="zh-CN" sz="1400" b="1">
                <a:solidFill>
                  <a:srgbClr val="00B0F0"/>
                </a:solidFill>
                <a:latin typeface="Alibaba PuHuiTi 3.0 85 Bold" panose="00020600040101010101" charset="-122"/>
                <a:ea typeface="Alibaba PuHuiTi 3.0 85 Bold" panose="00020600040101010101" charset="-122"/>
                <a:cs typeface="Alibaba PuHuiTi 3.0 85 Bold" panose="00020600040101010101" charset="-122"/>
              </a:rPr>
              <a:t>2</a:t>
            </a:r>
            <a:r>
              <a:rPr lang="zh-CN" altLang="en-US" sz="1400" b="1">
                <a:solidFill>
                  <a:srgbClr val="00B0F0"/>
                </a:solidFill>
                <a:latin typeface="Alibaba PuHuiTi 3.0 85 Bold" panose="00020600040101010101" charset="-122"/>
                <a:ea typeface="Alibaba PuHuiTi 3.0 85 Bold" panose="00020600040101010101" charset="-122"/>
                <a:cs typeface="Alibaba PuHuiTi 3.0 85 Bold" panose="00020600040101010101" charset="-122"/>
              </a:rPr>
              <a:t>位二进制数</a:t>
            </a:r>
            <a:endParaRPr lang="zh-CN" altLang="en-US" sz="1400" b="1">
              <a:solidFill>
                <a:srgbClr val="00B0F0"/>
              </a:solidFill>
              <a:latin typeface="Alibaba PuHuiTi 3.0 85 Bold" panose="00020600040101010101" charset="-122"/>
              <a:ea typeface="Alibaba PuHuiTi 3.0 85 Bold" panose="00020600040101010101" charset="-122"/>
              <a:cs typeface="Alibaba PuHuiTi 3.0 85 Bold" panose="00020600040101010101" charset="-122"/>
            </a:endParaRPr>
          </a:p>
          <a:p>
            <a:pPr algn="l"/>
            <a:r>
              <a:rPr lang="en-US" altLang="zh-CN" sz="14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rPr>
              <a:t>4 = 2</a:t>
            </a:r>
            <a:r>
              <a:rPr lang="en-US" altLang="zh-CN" sz="1400" b="1" baseline="30000">
                <a:solidFill>
                  <a:srgbClr val="00B0F0"/>
                </a:solidFill>
                <a:latin typeface="Alibaba PuHuiTi 3.0 85 Bold" panose="00020600040101010101" charset="-122"/>
                <a:ea typeface="Alibaba PuHuiTi 3.0 85 Bold" panose="00020600040101010101" charset="-122"/>
                <a:cs typeface="Alibaba PuHuiTi 3.0 85 Bold" panose="00020600040101010101" charset="-122"/>
              </a:rPr>
              <a:t>2</a:t>
            </a:r>
            <a:endParaRPr lang="en-US" altLang="zh-CN" sz="1400" b="1" baseline="30000">
              <a:solidFill>
                <a:srgbClr val="00B0F0"/>
              </a:solidFill>
              <a:latin typeface="Alibaba PuHuiTi 3.0 85 Bold" panose="00020600040101010101" charset="-122"/>
              <a:ea typeface="Alibaba PuHuiTi 3.0 85 Bold" panose="00020600040101010101" charset="-122"/>
              <a:cs typeface="Alibaba PuHuiTi 3.0 85 Bold" panose="00020600040101010101" charset="-122"/>
            </a:endParaRPr>
          </a:p>
        </p:txBody>
      </p:sp>
    </p:spTree>
    <p:custDataLst>
      <p:tags r:id="rId5"/>
    </p:custData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a:bodyPr>
          <a:p>
            <a:r>
              <a:rPr lang="zh-CN" altLang="en-US"/>
              <a:t>怎样才能把声音（模拟信号</a:t>
            </a:r>
            <a:r>
              <a:rPr lang="en-US" altLang="zh-CN"/>
              <a:t>）</a:t>
            </a:r>
            <a:r>
              <a:rPr lang="zh-CN" altLang="en-US"/>
              <a:t>是转成数字信号</a:t>
            </a:r>
            <a:r>
              <a:rPr lang="en-US"/>
              <a:t>？</a:t>
            </a:r>
            <a:endParaRPr lang="en-US"/>
          </a:p>
        </p:txBody>
      </p:sp>
      <p:sp>
        <p:nvSpPr>
          <p:cNvPr id="14" name="Text Box 13"/>
          <p:cNvSpPr txBox="1"/>
          <p:nvPr/>
        </p:nvSpPr>
        <p:spPr>
          <a:xfrm>
            <a:off x="691515" y="1313815"/>
            <a:ext cx="254762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cs typeface="Alibaba PuHuiTi 3.0 55 Regular" panose="00020600040101010101" charset="-122"/>
              </a:rPr>
              <a:t>1. </a:t>
            </a:r>
            <a:r>
              <a:rPr lang="zh-CN" altLang="en-US" sz="2200">
                <a:latin typeface="Alibaba PuHuiTi 3.0 55 Regular" panose="00020600040101010101" charset="-122"/>
                <a:ea typeface="Alibaba PuHuiTi 3.0 55 Regular" panose="00020600040101010101" charset="-122"/>
                <a:cs typeface="Alibaba PuHuiTi 3.0 55 Regular" panose="00020600040101010101" charset="-122"/>
              </a:rPr>
              <a:t>采样</a:t>
            </a:r>
            <a:r>
              <a:rPr lang="en-US" altLang="zh-CN" sz="2200">
                <a:latin typeface="Alibaba PuHuiTi 3.0 55 Regular" panose="00020600040101010101" charset="-122"/>
                <a:ea typeface="Alibaba PuHuiTi 3.0 55 Regular" panose="00020600040101010101" charset="-122"/>
                <a:cs typeface="Alibaba PuHuiTi 3.0 55 Regular" panose="00020600040101010101" charset="-122"/>
              </a:rPr>
              <a:t> Sampling</a:t>
            </a:r>
            <a:endParaRPr lang="en-US" altLang="zh-CN" sz="2200">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7" name="Text Box 16"/>
          <p:cNvSpPr txBox="1"/>
          <p:nvPr/>
        </p:nvSpPr>
        <p:spPr>
          <a:xfrm>
            <a:off x="3860165" y="1313815"/>
            <a:ext cx="3038475" cy="429895"/>
          </a:xfrm>
          <a:prstGeom prst="rect">
            <a:avLst/>
          </a:prstGeom>
          <a:noFill/>
        </p:spPr>
        <p:txBody>
          <a:bodyPr wrap="square" rtlCol="0">
            <a:spAutoFit/>
          </a:bodyPr>
          <a:p>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2. </a:t>
            </a:r>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量化</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 Quantization</a:t>
            </a:r>
            <a:endParaRPr lang="en-US" altLang="zh-CN" sz="2200" b="1">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18" name="Text Box 17"/>
          <p:cNvSpPr txBox="1"/>
          <p:nvPr/>
        </p:nvSpPr>
        <p:spPr>
          <a:xfrm>
            <a:off x="7519670" y="1313815"/>
            <a:ext cx="3822065" cy="429895"/>
          </a:xfrm>
          <a:prstGeom prst="rect">
            <a:avLst/>
          </a:prstGeom>
          <a:noFill/>
        </p:spPr>
        <p:txBody>
          <a:bodyPr wrap="square" rtlCol="0">
            <a:spAutoFit/>
          </a:bodyPr>
          <a:p>
            <a:r>
              <a:rPr lang="en-US" altLang="zh-CN" sz="2200">
                <a:latin typeface="Alibaba PuHuiTi 3.0 55 Regular" panose="00020600040101010101" charset="-122"/>
                <a:ea typeface="Alibaba PuHuiTi 3.0 55 Regular" panose="00020600040101010101" charset="-122"/>
              </a:rPr>
              <a:t>3. </a:t>
            </a:r>
            <a:r>
              <a:rPr lang="zh-CN" altLang="en-US" sz="2200">
                <a:latin typeface="Alibaba PuHuiTi 3.0 55 Regular" panose="00020600040101010101" charset="-122"/>
                <a:ea typeface="Alibaba PuHuiTi 3.0 55 Regular" panose="00020600040101010101" charset="-122"/>
              </a:rPr>
              <a:t>编码</a:t>
            </a:r>
            <a:r>
              <a:rPr lang="en-US" altLang="zh-CN" sz="2200">
                <a:latin typeface="Alibaba PuHuiTi 3.0 55 Regular" panose="00020600040101010101" charset="-122"/>
                <a:ea typeface="Alibaba PuHuiTi 3.0 55 Regular" panose="00020600040101010101" charset="-122"/>
              </a:rPr>
              <a:t> </a:t>
            </a:r>
            <a:r>
              <a:rPr lang="en-US" altLang="zh-CN" sz="2200">
                <a:latin typeface="Alibaba PuHuiTi 3.0 55 Regular" panose="00020600040101010101" charset="-122"/>
                <a:ea typeface="Alibaba PuHuiTi 3.0 55 Regular" panose="00020600040101010101" charset="-122"/>
              </a:rPr>
              <a:t>Encoding</a:t>
            </a:r>
            <a:endParaRPr lang="en-US" altLang="zh-CN" sz="2200">
              <a:latin typeface="Alibaba PuHuiTi 3.0 55 Regular" panose="00020600040101010101" charset="-122"/>
              <a:ea typeface="Alibaba PuHuiTi 3.0 55 Regular" panose="00020600040101010101" charset="-122"/>
            </a:endParaRPr>
          </a:p>
        </p:txBody>
      </p:sp>
      <p:cxnSp>
        <p:nvCxnSpPr>
          <p:cNvPr id="19" name="Straight Connector 18"/>
          <p:cNvCxnSpPr/>
          <p:nvPr/>
        </p:nvCxnSpPr>
        <p:spPr>
          <a:xfrm flipH="1">
            <a:off x="3202305" y="1529080"/>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cxnSp>
        <p:nvCxnSpPr>
          <p:cNvPr id="20" name="Straight Connector 19"/>
          <p:cNvCxnSpPr/>
          <p:nvPr/>
        </p:nvCxnSpPr>
        <p:spPr>
          <a:xfrm flipH="1">
            <a:off x="6861810" y="1528445"/>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12" name="Oval 11"/>
          <p:cNvSpPr/>
          <p:nvPr/>
        </p:nvSpPr>
        <p:spPr>
          <a:xfrm>
            <a:off x="1926590" y="419798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13" name="Straight Connector 12"/>
          <p:cNvCxnSpPr/>
          <p:nvPr/>
        </p:nvCxnSpPr>
        <p:spPr>
          <a:xfrm>
            <a:off x="1974850" y="4271645"/>
            <a:ext cx="0" cy="73977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5" name="Straight Connector 14"/>
          <p:cNvCxnSpPr>
            <a:stCxn id="36" idx="31"/>
          </p:cNvCxnSpPr>
          <p:nvPr/>
        </p:nvCxnSpPr>
        <p:spPr>
          <a:xfrm flipH="1">
            <a:off x="3222625" y="3726180"/>
            <a:ext cx="10795" cy="123444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6" name="Straight Connector 15"/>
          <p:cNvCxnSpPr/>
          <p:nvPr/>
        </p:nvCxnSpPr>
        <p:spPr>
          <a:xfrm>
            <a:off x="3721735" y="4398645"/>
            <a:ext cx="0" cy="57023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2" name="Straight Connector 21"/>
          <p:cNvCxnSpPr/>
          <p:nvPr/>
        </p:nvCxnSpPr>
        <p:spPr>
          <a:xfrm>
            <a:off x="3971290" y="4448810"/>
            <a:ext cx="0" cy="56324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4" name="Straight Connector 23"/>
          <p:cNvCxnSpPr/>
          <p:nvPr/>
        </p:nvCxnSpPr>
        <p:spPr>
          <a:xfrm>
            <a:off x="4220845" y="4180840"/>
            <a:ext cx="0" cy="83121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5" name="Straight Connector 24"/>
          <p:cNvCxnSpPr/>
          <p:nvPr/>
        </p:nvCxnSpPr>
        <p:spPr>
          <a:xfrm>
            <a:off x="1600200" y="2225040"/>
            <a:ext cx="0" cy="274320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27" name="Straight Connector 26"/>
          <p:cNvCxnSpPr/>
          <p:nvPr/>
        </p:nvCxnSpPr>
        <p:spPr>
          <a:xfrm flipH="1">
            <a:off x="1598930" y="4977130"/>
            <a:ext cx="312737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33" name="Text Box 32"/>
          <p:cNvSpPr txBox="1"/>
          <p:nvPr/>
        </p:nvSpPr>
        <p:spPr>
          <a:xfrm>
            <a:off x="4463415" y="5046345"/>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36" name="Freeform 35"/>
          <p:cNvSpPr/>
          <p:nvPr/>
        </p:nvSpPr>
        <p:spPr>
          <a:xfrm>
            <a:off x="1815465" y="2955925"/>
            <a:ext cx="2518410" cy="1645285"/>
          </a:xfrm>
          <a:custGeom>
            <a:avLst/>
            <a:gdLst>
              <a:gd name="connisteX0" fmla="*/ 0 w 2518410"/>
              <a:gd name="connsiteY0" fmla="*/ 1645002 h 1645002"/>
              <a:gd name="connisteX1" fmla="*/ 25400 w 2518410"/>
              <a:gd name="connsiteY1" fmla="*/ 1519907 h 1645002"/>
              <a:gd name="connisteX2" fmla="*/ 142240 w 2518410"/>
              <a:gd name="connsiteY2" fmla="*/ 1328137 h 1645002"/>
              <a:gd name="connisteX3" fmla="*/ 225425 w 2518410"/>
              <a:gd name="connsiteY3" fmla="*/ 1178277 h 1645002"/>
              <a:gd name="connisteX4" fmla="*/ 275590 w 2518410"/>
              <a:gd name="connsiteY4" fmla="*/ 1077947 h 1645002"/>
              <a:gd name="connisteX5" fmla="*/ 325120 w 2518410"/>
              <a:gd name="connsiteY5" fmla="*/ 978252 h 1645002"/>
              <a:gd name="connisteX6" fmla="*/ 358775 w 2518410"/>
              <a:gd name="connsiteY6" fmla="*/ 877922 h 1645002"/>
              <a:gd name="connisteX7" fmla="*/ 383540 w 2518410"/>
              <a:gd name="connsiteY7" fmla="*/ 811247 h 1645002"/>
              <a:gd name="connisteX8" fmla="*/ 400685 w 2518410"/>
              <a:gd name="connsiteY8" fmla="*/ 728062 h 1645002"/>
              <a:gd name="connisteX9" fmla="*/ 441960 w 2518410"/>
              <a:gd name="connsiteY9" fmla="*/ 611222 h 1645002"/>
              <a:gd name="connisteX10" fmla="*/ 459105 w 2518410"/>
              <a:gd name="connsiteY10" fmla="*/ 544547 h 1645002"/>
              <a:gd name="connisteX11" fmla="*/ 492125 w 2518410"/>
              <a:gd name="connsiteY11" fmla="*/ 419452 h 1645002"/>
              <a:gd name="connisteX12" fmla="*/ 525780 w 2518410"/>
              <a:gd name="connsiteY12" fmla="*/ 310867 h 1645002"/>
              <a:gd name="connisteX13" fmla="*/ 550545 w 2518410"/>
              <a:gd name="connsiteY13" fmla="*/ 227682 h 1645002"/>
              <a:gd name="connisteX14" fmla="*/ 567055 w 2518410"/>
              <a:gd name="connsiteY14" fmla="*/ 161007 h 1645002"/>
              <a:gd name="connisteX15" fmla="*/ 584200 w 2518410"/>
              <a:gd name="connsiteY15" fmla="*/ 94332 h 1645002"/>
              <a:gd name="connisteX16" fmla="*/ 625475 w 2518410"/>
              <a:gd name="connsiteY16" fmla="*/ 27657 h 1645002"/>
              <a:gd name="connisteX17" fmla="*/ 692150 w 2518410"/>
              <a:gd name="connsiteY17" fmla="*/ 10512 h 1645002"/>
              <a:gd name="connisteX18" fmla="*/ 784225 w 2518410"/>
              <a:gd name="connsiteY18" fmla="*/ 2257 h 1645002"/>
              <a:gd name="connisteX19" fmla="*/ 859155 w 2518410"/>
              <a:gd name="connsiteY19" fmla="*/ 2257 h 1645002"/>
              <a:gd name="connisteX20" fmla="*/ 925830 w 2518410"/>
              <a:gd name="connsiteY20" fmla="*/ 2257 h 1645002"/>
              <a:gd name="connisteX21" fmla="*/ 1000760 w 2518410"/>
              <a:gd name="connsiteY21" fmla="*/ 27657 h 1645002"/>
              <a:gd name="connisteX22" fmla="*/ 1067435 w 2518410"/>
              <a:gd name="connsiteY22" fmla="*/ 77187 h 1645002"/>
              <a:gd name="connisteX23" fmla="*/ 1125855 w 2518410"/>
              <a:gd name="connsiteY23" fmla="*/ 152752 h 1645002"/>
              <a:gd name="connisteX24" fmla="*/ 1176020 w 2518410"/>
              <a:gd name="connsiteY24" fmla="*/ 235937 h 1645002"/>
              <a:gd name="connisteX25" fmla="*/ 1217930 w 2518410"/>
              <a:gd name="connsiteY25" fmla="*/ 302612 h 1645002"/>
              <a:gd name="connisteX26" fmla="*/ 1242695 w 2518410"/>
              <a:gd name="connsiteY26" fmla="*/ 369287 h 1645002"/>
              <a:gd name="connisteX27" fmla="*/ 1276350 w 2518410"/>
              <a:gd name="connsiteY27" fmla="*/ 435962 h 1645002"/>
              <a:gd name="connisteX28" fmla="*/ 1309370 w 2518410"/>
              <a:gd name="connsiteY28" fmla="*/ 502637 h 1645002"/>
              <a:gd name="connisteX29" fmla="*/ 1351280 w 2518410"/>
              <a:gd name="connsiteY29" fmla="*/ 594712 h 1645002"/>
              <a:gd name="connisteX30" fmla="*/ 1384300 w 2518410"/>
              <a:gd name="connsiteY30" fmla="*/ 686152 h 1645002"/>
              <a:gd name="connisteX31" fmla="*/ 1417955 w 2518410"/>
              <a:gd name="connsiteY31" fmla="*/ 769972 h 1645002"/>
              <a:gd name="connisteX32" fmla="*/ 1450975 w 2518410"/>
              <a:gd name="connsiteY32" fmla="*/ 844902 h 1645002"/>
              <a:gd name="connisteX33" fmla="*/ 1476375 w 2518410"/>
              <a:gd name="connsiteY33" fmla="*/ 911577 h 1645002"/>
              <a:gd name="connisteX34" fmla="*/ 1501140 w 2518410"/>
              <a:gd name="connsiteY34" fmla="*/ 1003017 h 1645002"/>
              <a:gd name="connisteX35" fmla="*/ 1526540 w 2518410"/>
              <a:gd name="connsiteY35" fmla="*/ 1077947 h 1645002"/>
              <a:gd name="connisteX36" fmla="*/ 1551305 w 2518410"/>
              <a:gd name="connsiteY36" fmla="*/ 1153512 h 1645002"/>
              <a:gd name="connisteX37" fmla="*/ 1601470 w 2518410"/>
              <a:gd name="connsiteY37" fmla="*/ 1220187 h 1645002"/>
              <a:gd name="connisteX38" fmla="*/ 1676400 w 2518410"/>
              <a:gd name="connsiteY38" fmla="*/ 1269717 h 1645002"/>
              <a:gd name="connisteX39" fmla="*/ 1743075 w 2518410"/>
              <a:gd name="connsiteY39" fmla="*/ 1319882 h 1645002"/>
              <a:gd name="connisteX40" fmla="*/ 1809750 w 2518410"/>
              <a:gd name="connsiteY40" fmla="*/ 1353537 h 1645002"/>
              <a:gd name="connisteX41" fmla="*/ 1876425 w 2518410"/>
              <a:gd name="connsiteY41" fmla="*/ 1386557 h 1645002"/>
              <a:gd name="connisteX42" fmla="*/ 1951355 w 2518410"/>
              <a:gd name="connsiteY42" fmla="*/ 1411957 h 1645002"/>
              <a:gd name="connisteX43" fmla="*/ 2035175 w 2518410"/>
              <a:gd name="connsiteY43" fmla="*/ 1436722 h 1645002"/>
              <a:gd name="connisteX44" fmla="*/ 2110105 w 2518410"/>
              <a:gd name="connsiteY44" fmla="*/ 1453232 h 1645002"/>
              <a:gd name="connisteX45" fmla="*/ 2185035 w 2518410"/>
              <a:gd name="connsiteY45" fmla="*/ 1453232 h 1645002"/>
              <a:gd name="connisteX46" fmla="*/ 2251710 w 2518410"/>
              <a:gd name="connsiteY46" fmla="*/ 1444977 h 1645002"/>
              <a:gd name="connisteX47" fmla="*/ 2301875 w 2518410"/>
              <a:gd name="connsiteY47" fmla="*/ 1378302 h 1645002"/>
              <a:gd name="connisteX48" fmla="*/ 2343785 w 2518410"/>
              <a:gd name="connsiteY48" fmla="*/ 1311627 h 1645002"/>
              <a:gd name="connisteX49" fmla="*/ 2368550 w 2518410"/>
              <a:gd name="connsiteY49" fmla="*/ 1236697 h 1645002"/>
              <a:gd name="connisteX50" fmla="*/ 2402205 w 2518410"/>
              <a:gd name="connsiteY50" fmla="*/ 1161767 h 1645002"/>
              <a:gd name="connisteX51" fmla="*/ 2426970 w 2518410"/>
              <a:gd name="connsiteY51" fmla="*/ 1086837 h 1645002"/>
              <a:gd name="connisteX52" fmla="*/ 2468880 w 2518410"/>
              <a:gd name="connsiteY52" fmla="*/ 1019527 h 1645002"/>
              <a:gd name="connisteX53" fmla="*/ 2518410 w 2518410"/>
              <a:gd name="connsiteY53" fmla="*/ 944597 h 164500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Lst>
            <a:rect l="l" t="t" r="r" b="b"/>
            <a:pathLst>
              <a:path w="2518410" h="1645003">
                <a:moveTo>
                  <a:pt x="0" y="1645003"/>
                </a:moveTo>
                <a:cubicBezTo>
                  <a:pt x="2540" y="1624048"/>
                  <a:pt x="-3175" y="1583408"/>
                  <a:pt x="25400" y="1519908"/>
                </a:cubicBezTo>
                <a:cubicBezTo>
                  <a:pt x="53975" y="1456408"/>
                  <a:pt x="102235" y="1396718"/>
                  <a:pt x="142240" y="1328138"/>
                </a:cubicBezTo>
                <a:cubicBezTo>
                  <a:pt x="182245" y="1259558"/>
                  <a:pt x="198755" y="1228443"/>
                  <a:pt x="225425" y="1178278"/>
                </a:cubicBezTo>
                <a:cubicBezTo>
                  <a:pt x="252095" y="1128113"/>
                  <a:pt x="255905" y="1117953"/>
                  <a:pt x="275590" y="1077948"/>
                </a:cubicBezTo>
                <a:cubicBezTo>
                  <a:pt x="295275" y="1037943"/>
                  <a:pt x="308610" y="1018258"/>
                  <a:pt x="325120" y="978253"/>
                </a:cubicBezTo>
                <a:cubicBezTo>
                  <a:pt x="341630" y="938248"/>
                  <a:pt x="347345" y="911578"/>
                  <a:pt x="358775" y="877923"/>
                </a:cubicBezTo>
                <a:cubicBezTo>
                  <a:pt x="370205" y="844268"/>
                  <a:pt x="375285" y="841093"/>
                  <a:pt x="383540" y="811248"/>
                </a:cubicBezTo>
                <a:cubicBezTo>
                  <a:pt x="391795" y="781403"/>
                  <a:pt x="389255" y="768068"/>
                  <a:pt x="400685" y="728063"/>
                </a:cubicBezTo>
                <a:cubicBezTo>
                  <a:pt x="412115" y="688058"/>
                  <a:pt x="430530" y="648053"/>
                  <a:pt x="441960" y="611223"/>
                </a:cubicBezTo>
                <a:cubicBezTo>
                  <a:pt x="453390" y="574393"/>
                  <a:pt x="448945" y="582648"/>
                  <a:pt x="459105" y="544548"/>
                </a:cubicBezTo>
                <a:cubicBezTo>
                  <a:pt x="469265" y="506448"/>
                  <a:pt x="478790" y="466443"/>
                  <a:pt x="492125" y="419453"/>
                </a:cubicBezTo>
                <a:cubicBezTo>
                  <a:pt x="505460" y="372463"/>
                  <a:pt x="514350" y="348968"/>
                  <a:pt x="525780" y="310868"/>
                </a:cubicBezTo>
                <a:cubicBezTo>
                  <a:pt x="537210" y="272768"/>
                  <a:pt x="542290" y="257528"/>
                  <a:pt x="550545" y="227683"/>
                </a:cubicBezTo>
                <a:cubicBezTo>
                  <a:pt x="558800" y="197838"/>
                  <a:pt x="560070" y="187678"/>
                  <a:pt x="567055" y="161008"/>
                </a:cubicBezTo>
                <a:cubicBezTo>
                  <a:pt x="574040" y="134338"/>
                  <a:pt x="572770" y="121003"/>
                  <a:pt x="584200" y="94333"/>
                </a:cubicBezTo>
                <a:cubicBezTo>
                  <a:pt x="595630" y="67663"/>
                  <a:pt x="603885" y="44168"/>
                  <a:pt x="625475" y="27658"/>
                </a:cubicBezTo>
                <a:cubicBezTo>
                  <a:pt x="647065" y="11148"/>
                  <a:pt x="660400" y="15593"/>
                  <a:pt x="692150" y="10513"/>
                </a:cubicBezTo>
                <a:cubicBezTo>
                  <a:pt x="723900" y="5433"/>
                  <a:pt x="750570" y="4163"/>
                  <a:pt x="784225" y="2258"/>
                </a:cubicBezTo>
                <a:cubicBezTo>
                  <a:pt x="817880" y="353"/>
                  <a:pt x="830580" y="2258"/>
                  <a:pt x="859155" y="2258"/>
                </a:cubicBezTo>
                <a:cubicBezTo>
                  <a:pt x="887730" y="2258"/>
                  <a:pt x="897255" y="-2822"/>
                  <a:pt x="925830" y="2258"/>
                </a:cubicBezTo>
                <a:cubicBezTo>
                  <a:pt x="954405" y="7338"/>
                  <a:pt x="972185" y="12418"/>
                  <a:pt x="1000760" y="27658"/>
                </a:cubicBezTo>
                <a:cubicBezTo>
                  <a:pt x="1029335" y="42898"/>
                  <a:pt x="1042670" y="52423"/>
                  <a:pt x="1067435" y="77188"/>
                </a:cubicBezTo>
                <a:cubicBezTo>
                  <a:pt x="1092200" y="101953"/>
                  <a:pt x="1104265" y="121003"/>
                  <a:pt x="1125855" y="152753"/>
                </a:cubicBezTo>
                <a:cubicBezTo>
                  <a:pt x="1147445" y="184503"/>
                  <a:pt x="1157605" y="206093"/>
                  <a:pt x="1176020" y="235938"/>
                </a:cubicBezTo>
                <a:cubicBezTo>
                  <a:pt x="1194435" y="265783"/>
                  <a:pt x="1204595" y="275943"/>
                  <a:pt x="1217930" y="302613"/>
                </a:cubicBezTo>
                <a:cubicBezTo>
                  <a:pt x="1231265" y="329283"/>
                  <a:pt x="1231265" y="342618"/>
                  <a:pt x="1242695" y="369288"/>
                </a:cubicBezTo>
                <a:cubicBezTo>
                  <a:pt x="1254125" y="395958"/>
                  <a:pt x="1263015" y="409293"/>
                  <a:pt x="1276350" y="435963"/>
                </a:cubicBezTo>
                <a:cubicBezTo>
                  <a:pt x="1289685" y="462633"/>
                  <a:pt x="1294130" y="470888"/>
                  <a:pt x="1309370" y="502638"/>
                </a:cubicBezTo>
                <a:cubicBezTo>
                  <a:pt x="1324610" y="534388"/>
                  <a:pt x="1336040" y="557883"/>
                  <a:pt x="1351280" y="594713"/>
                </a:cubicBezTo>
                <a:cubicBezTo>
                  <a:pt x="1366520" y="631543"/>
                  <a:pt x="1370965" y="651228"/>
                  <a:pt x="1384300" y="686153"/>
                </a:cubicBezTo>
                <a:cubicBezTo>
                  <a:pt x="1397635" y="721078"/>
                  <a:pt x="1404620" y="738223"/>
                  <a:pt x="1417955" y="769973"/>
                </a:cubicBezTo>
                <a:cubicBezTo>
                  <a:pt x="1431290" y="801723"/>
                  <a:pt x="1439545" y="816328"/>
                  <a:pt x="1450975" y="844903"/>
                </a:cubicBezTo>
                <a:cubicBezTo>
                  <a:pt x="1462405" y="873478"/>
                  <a:pt x="1466215" y="879828"/>
                  <a:pt x="1476375" y="911578"/>
                </a:cubicBezTo>
                <a:cubicBezTo>
                  <a:pt x="1486535" y="943328"/>
                  <a:pt x="1490980" y="969998"/>
                  <a:pt x="1501140" y="1003018"/>
                </a:cubicBezTo>
                <a:cubicBezTo>
                  <a:pt x="1511300" y="1036038"/>
                  <a:pt x="1516380" y="1048103"/>
                  <a:pt x="1526540" y="1077948"/>
                </a:cubicBezTo>
                <a:cubicBezTo>
                  <a:pt x="1536700" y="1107793"/>
                  <a:pt x="1536065" y="1124938"/>
                  <a:pt x="1551305" y="1153513"/>
                </a:cubicBezTo>
                <a:cubicBezTo>
                  <a:pt x="1566545" y="1182088"/>
                  <a:pt x="1576705" y="1196693"/>
                  <a:pt x="1601470" y="1220188"/>
                </a:cubicBezTo>
                <a:cubicBezTo>
                  <a:pt x="1626235" y="1243683"/>
                  <a:pt x="1647825" y="1250033"/>
                  <a:pt x="1676400" y="1269718"/>
                </a:cubicBezTo>
                <a:cubicBezTo>
                  <a:pt x="1704975" y="1289403"/>
                  <a:pt x="1716405" y="1303373"/>
                  <a:pt x="1743075" y="1319883"/>
                </a:cubicBezTo>
                <a:cubicBezTo>
                  <a:pt x="1769745" y="1336393"/>
                  <a:pt x="1783080" y="1340203"/>
                  <a:pt x="1809750" y="1353538"/>
                </a:cubicBezTo>
                <a:cubicBezTo>
                  <a:pt x="1836420" y="1366873"/>
                  <a:pt x="1847850" y="1375128"/>
                  <a:pt x="1876425" y="1386558"/>
                </a:cubicBezTo>
                <a:cubicBezTo>
                  <a:pt x="1905000" y="1397988"/>
                  <a:pt x="1919605" y="1401798"/>
                  <a:pt x="1951355" y="1411958"/>
                </a:cubicBezTo>
                <a:cubicBezTo>
                  <a:pt x="1983105" y="1422118"/>
                  <a:pt x="2003425" y="1428468"/>
                  <a:pt x="2035175" y="1436723"/>
                </a:cubicBezTo>
                <a:cubicBezTo>
                  <a:pt x="2066925" y="1444978"/>
                  <a:pt x="2080260" y="1450058"/>
                  <a:pt x="2110105" y="1453233"/>
                </a:cubicBezTo>
                <a:cubicBezTo>
                  <a:pt x="2139950" y="1456408"/>
                  <a:pt x="2156460" y="1455138"/>
                  <a:pt x="2185035" y="1453233"/>
                </a:cubicBezTo>
                <a:cubicBezTo>
                  <a:pt x="2213610" y="1451328"/>
                  <a:pt x="2228215" y="1460218"/>
                  <a:pt x="2251710" y="1444978"/>
                </a:cubicBezTo>
                <a:cubicBezTo>
                  <a:pt x="2275205" y="1429738"/>
                  <a:pt x="2283460" y="1404973"/>
                  <a:pt x="2301875" y="1378303"/>
                </a:cubicBezTo>
                <a:cubicBezTo>
                  <a:pt x="2320290" y="1351633"/>
                  <a:pt x="2330450" y="1340203"/>
                  <a:pt x="2343785" y="1311628"/>
                </a:cubicBezTo>
                <a:cubicBezTo>
                  <a:pt x="2357120" y="1283053"/>
                  <a:pt x="2357120" y="1266543"/>
                  <a:pt x="2368550" y="1236698"/>
                </a:cubicBezTo>
                <a:cubicBezTo>
                  <a:pt x="2379980" y="1206853"/>
                  <a:pt x="2390775" y="1191613"/>
                  <a:pt x="2402205" y="1161768"/>
                </a:cubicBezTo>
                <a:cubicBezTo>
                  <a:pt x="2413635" y="1131923"/>
                  <a:pt x="2413635" y="1115413"/>
                  <a:pt x="2426970" y="1086838"/>
                </a:cubicBezTo>
                <a:cubicBezTo>
                  <a:pt x="2440305" y="1058263"/>
                  <a:pt x="2450465" y="1048103"/>
                  <a:pt x="2468880" y="1019528"/>
                </a:cubicBezTo>
                <a:cubicBezTo>
                  <a:pt x="2487295" y="990953"/>
                  <a:pt x="2509520" y="957933"/>
                  <a:pt x="2518410" y="944598"/>
                </a:cubicBezTo>
              </a:path>
            </a:pathLst>
          </a:custGeom>
          <a:noFill/>
          <a:ln w="38100">
            <a:solidFill>
              <a:schemeClr val="tx1"/>
            </a:solidFill>
          </a:ln>
        </p:spPr>
        <p:txBody>
          <a:bodyPr vert="horz" lIns="90000" tIns="46800" rIns="90000" bIns="46800" rtlCol="0" anchor="ctr" anchorCtr="0">
            <a:noAutofit/>
          </a:bodyPr>
          <a:p>
            <a:endParaRPr lang="zh-CN" altLang="en-US" sz="2445">
              <a:solidFill>
                <a:schemeClr val="tx1"/>
              </a:solidFill>
            </a:endParaRPr>
          </a:p>
        </p:txBody>
      </p:sp>
      <p:sp>
        <p:nvSpPr>
          <p:cNvPr id="45" name="Text Box 44"/>
          <p:cNvSpPr txBox="1"/>
          <p:nvPr/>
        </p:nvSpPr>
        <p:spPr>
          <a:xfrm>
            <a:off x="1757045" y="5046345"/>
            <a:ext cx="296926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48" name="Text Box 47"/>
          <p:cNvSpPr txBox="1"/>
          <p:nvPr/>
        </p:nvSpPr>
        <p:spPr>
          <a:xfrm>
            <a:off x="1784985" y="391033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8" name="Oval 7"/>
          <p:cNvSpPr/>
          <p:nvPr/>
        </p:nvSpPr>
        <p:spPr>
          <a:xfrm>
            <a:off x="2417445" y="293941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9" name="Oval 8"/>
          <p:cNvSpPr/>
          <p:nvPr/>
        </p:nvSpPr>
        <p:spPr>
          <a:xfrm>
            <a:off x="3193415" y="368427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1" name="Oval 50"/>
          <p:cNvSpPr/>
          <p:nvPr/>
        </p:nvSpPr>
        <p:spPr>
          <a:xfrm>
            <a:off x="3691255" y="430212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2" name="Oval 51"/>
          <p:cNvSpPr/>
          <p:nvPr/>
        </p:nvSpPr>
        <p:spPr>
          <a:xfrm>
            <a:off x="4174490" y="408432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4" name="Text Box 53"/>
          <p:cNvSpPr txBox="1"/>
          <p:nvPr/>
        </p:nvSpPr>
        <p:spPr>
          <a:xfrm>
            <a:off x="2976245" y="299402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55" name="Text Box 54"/>
          <p:cNvSpPr txBox="1"/>
          <p:nvPr/>
        </p:nvSpPr>
        <p:spPr>
          <a:xfrm>
            <a:off x="3348990" y="39490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56" name="Text Box 55"/>
          <p:cNvSpPr txBox="1"/>
          <p:nvPr/>
        </p:nvSpPr>
        <p:spPr>
          <a:xfrm>
            <a:off x="3601720" y="40303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58" name="Straight Connector 57"/>
          <p:cNvCxnSpPr>
            <a:endCxn id="84" idx="3"/>
          </p:cNvCxnSpPr>
          <p:nvPr/>
        </p:nvCxnSpPr>
        <p:spPr>
          <a:xfrm flipV="1">
            <a:off x="1974850" y="3757295"/>
            <a:ext cx="199390" cy="52070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79" name="Straight Connector 78"/>
          <p:cNvCxnSpPr>
            <a:stCxn id="36" idx="8"/>
          </p:cNvCxnSpPr>
          <p:nvPr/>
        </p:nvCxnSpPr>
        <p:spPr>
          <a:xfrm>
            <a:off x="2216150" y="3684270"/>
            <a:ext cx="8255" cy="13271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0" name="Straight Connector 79"/>
          <p:cNvCxnSpPr/>
          <p:nvPr/>
        </p:nvCxnSpPr>
        <p:spPr>
          <a:xfrm>
            <a:off x="2473960" y="2983230"/>
            <a:ext cx="0" cy="202819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1" name="Straight Connector 80"/>
          <p:cNvCxnSpPr/>
          <p:nvPr/>
        </p:nvCxnSpPr>
        <p:spPr>
          <a:xfrm>
            <a:off x="2723515" y="2978785"/>
            <a:ext cx="0" cy="203263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2" name="Straight Connector 81"/>
          <p:cNvCxnSpPr>
            <a:stCxn id="54" idx="1"/>
          </p:cNvCxnSpPr>
          <p:nvPr/>
        </p:nvCxnSpPr>
        <p:spPr>
          <a:xfrm flipH="1">
            <a:off x="2973070" y="3138170"/>
            <a:ext cx="3175" cy="18732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3" name="Straight Connector 82"/>
          <p:cNvCxnSpPr/>
          <p:nvPr/>
        </p:nvCxnSpPr>
        <p:spPr>
          <a:xfrm>
            <a:off x="3472180" y="4244340"/>
            <a:ext cx="0" cy="76708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84" name="Oval 83"/>
          <p:cNvSpPr/>
          <p:nvPr/>
        </p:nvSpPr>
        <p:spPr>
          <a:xfrm>
            <a:off x="2160270" y="367474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5" name="Oval 84"/>
          <p:cNvSpPr/>
          <p:nvPr/>
        </p:nvSpPr>
        <p:spPr>
          <a:xfrm>
            <a:off x="2675255" y="290893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6" name="Oval 85"/>
          <p:cNvSpPr/>
          <p:nvPr/>
        </p:nvSpPr>
        <p:spPr>
          <a:xfrm>
            <a:off x="2941320" y="308991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7" name="Oval 86"/>
          <p:cNvSpPr/>
          <p:nvPr/>
        </p:nvSpPr>
        <p:spPr>
          <a:xfrm>
            <a:off x="3421380" y="41808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8" name="Oval 87"/>
          <p:cNvSpPr/>
          <p:nvPr/>
        </p:nvSpPr>
        <p:spPr>
          <a:xfrm>
            <a:off x="3936365" y="436372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9" name="Text Box 88"/>
          <p:cNvSpPr txBox="1"/>
          <p:nvPr/>
        </p:nvSpPr>
        <p:spPr>
          <a:xfrm>
            <a:off x="1942465" y="359981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0" name="Text Box 89"/>
          <p:cNvSpPr txBox="1"/>
          <p:nvPr/>
        </p:nvSpPr>
        <p:spPr>
          <a:xfrm>
            <a:off x="2319655" y="26536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1" name="Text Box 90"/>
          <p:cNvSpPr txBox="1"/>
          <p:nvPr/>
        </p:nvSpPr>
        <p:spPr>
          <a:xfrm>
            <a:off x="2586355" y="265112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2" name="Text Box 91"/>
          <p:cNvSpPr txBox="1"/>
          <p:nvPr/>
        </p:nvSpPr>
        <p:spPr>
          <a:xfrm>
            <a:off x="3171190" y="342138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3" name="Text Box 92"/>
          <p:cNvSpPr txBox="1"/>
          <p:nvPr/>
        </p:nvSpPr>
        <p:spPr>
          <a:xfrm>
            <a:off x="3848100" y="41192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5" name="Text Box 94"/>
          <p:cNvSpPr txBox="1"/>
          <p:nvPr/>
        </p:nvSpPr>
        <p:spPr>
          <a:xfrm>
            <a:off x="3970020" y="3800475"/>
            <a:ext cx="43180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98" name="Straight Connector 97"/>
          <p:cNvCxnSpPr>
            <a:endCxn id="8" idx="2"/>
          </p:cNvCxnSpPr>
          <p:nvPr/>
        </p:nvCxnSpPr>
        <p:spPr>
          <a:xfrm flipV="1">
            <a:off x="2224405" y="2987675"/>
            <a:ext cx="193040" cy="6965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9" name="Straight Connector 98"/>
          <p:cNvCxnSpPr>
            <a:endCxn id="91" idx="2"/>
          </p:cNvCxnSpPr>
          <p:nvPr/>
        </p:nvCxnSpPr>
        <p:spPr>
          <a:xfrm flipV="1">
            <a:off x="2466975" y="2938780"/>
            <a:ext cx="238760" cy="349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0" name="Straight Connector 99"/>
          <p:cNvCxnSpPr>
            <a:stCxn id="85" idx="5"/>
            <a:endCxn id="86" idx="2"/>
          </p:cNvCxnSpPr>
          <p:nvPr/>
        </p:nvCxnSpPr>
        <p:spPr>
          <a:xfrm>
            <a:off x="2757805" y="2991485"/>
            <a:ext cx="183515" cy="14668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1" name="Straight Connector 100"/>
          <p:cNvCxnSpPr>
            <a:stCxn id="86" idx="4"/>
            <a:endCxn id="36" idx="31"/>
          </p:cNvCxnSpPr>
          <p:nvPr/>
        </p:nvCxnSpPr>
        <p:spPr>
          <a:xfrm>
            <a:off x="2989580" y="3186430"/>
            <a:ext cx="243840" cy="5397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2" name="Straight Connector 101"/>
          <p:cNvCxnSpPr>
            <a:stCxn id="9" idx="5"/>
            <a:endCxn id="87" idx="1"/>
          </p:cNvCxnSpPr>
          <p:nvPr/>
        </p:nvCxnSpPr>
        <p:spPr>
          <a:xfrm>
            <a:off x="3275965" y="3766820"/>
            <a:ext cx="159385" cy="4279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3" name="Straight Connector 102"/>
          <p:cNvCxnSpPr>
            <a:stCxn id="87" idx="5"/>
            <a:endCxn id="51" idx="2"/>
          </p:cNvCxnSpPr>
          <p:nvPr/>
        </p:nvCxnSpPr>
        <p:spPr>
          <a:xfrm>
            <a:off x="3503930" y="4263390"/>
            <a:ext cx="187325" cy="869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4" name="Straight Connector 103"/>
          <p:cNvCxnSpPr>
            <a:stCxn id="51" idx="5"/>
            <a:endCxn id="93" idx="2"/>
          </p:cNvCxnSpPr>
          <p:nvPr/>
        </p:nvCxnSpPr>
        <p:spPr>
          <a:xfrm>
            <a:off x="3773805" y="4384675"/>
            <a:ext cx="193675" cy="222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5" name="Straight Connector 104"/>
          <p:cNvCxnSpPr>
            <a:stCxn id="88" idx="5"/>
            <a:endCxn id="52" idx="2"/>
          </p:cNvCxnSpPr>
          <p:nvPr/>
        </p:nvCxnSpPr>
        <p:spPr>
          <a:xfrm flipV="1">
            <a:off x="4018915" y="4132580"/>
            <a:ext cx="155575" cy="3136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5" name="Straight Connector 4"/>
          <p:cNvCxnSpPr/>
          <p:nvPr/>
        </p:nvCxnSpPr>
        <p:spPr>
          <a:xfrm>
            <a:off x="1616710" y="431419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21" name="Straight Connector 20"/>
          <p:cNvCxnSpPr/>
          <p:nvPr/>
        </p:nvCxnSpPr>
        <p:spPr>
          <a:xfrm>
            <a:off x="1616710" y="298831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23" name="Straight Connector 22"/>
          <p:cNvCxnSpPr/>
          <p:nvPr/>
        </p:nvCxnSpPr>
        <p:spPr>
          <a:xfrm>
            <a:off x="1616710" y="365125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3" name="Text Box 2"/>
          <p:cNvSpPr txBox="1"/>
          <p:nvPr/>
        </p:nvSpPr>
        <p:spPr>
          <a:xfrm>
            <a:off x="1835785" y="5603240"/>
            <a:ext cx="1937385"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量化等级为</a:t>
            </a:r>
            <a:r>
              <a:rPr lang="en-US" altLang="zh-CN" sz="2200">
                <a:latin typeface="Alibaba PuHuiTi 3.0 55 Regular" panose="00020600040101010101" charset="-122"/>
                <a:ea typeface="Alibaba PuHuiTi 3.0 55 Regular" panose="00020600040101010101" charset="-122"/>
              </a:rPr>
              <a:t>4</a:t>
            </a:r>
            <a:endParaRPr lang="en-US" altLang="zh-CN" sz="2200">
              <a:latin typeface="Alibaba PuHuiTi 3.0 55 Regular" panose="00020600040101010101" charset="-122"/>
              <a:ea typeface="Alibaba PuHuiTi 3.0 55 Regular" panose="00020600040101010101" charset="-122"/>
            </a:endParaRPr>
          </a:p>
        </p:txBody>
      </p:sp>
      <p:sp>
        <p:nvSpPr>
          <p:cNvPr id="4" name="Text Box 3"/>
          <p:cNvSpPr txBox="1"/>
          <p:nvPr/>
        </p:nvSpPr>
        <p:spPr>
          <a:xfrm>
            <a:off x="448945" y="2225040"/>
            <a:ext cx="1130300" cy="429895"/>
          </a:xfrm>
          <a:prstGeom prst="rect">
            <a:avLst/>
          </a:prstGeom>
          <a:noFill/>
        </p:spPr>
        <p:txBody>
          <a:bodyPr wrap="square" rtlCol="0">
            <a:noAutofit/>
          </a:bodyPr>
          <a:p>
            <a:pPr algn="r"/>
            <a:r>
              <a:rPr lang="zh-CN" altLang="en-US" sz="2200">
                <a:latin typeface="Alibaba PuHuiTi 3.0 55 Regular" panose="00020600040101010101" charset="-122"/>
                <a:ea typeface="Alibaba PuHuiTi 3.0 55 Regular" panose="00020600040101010101" charset="-122"/>
              </a:rPr>
              <a:t>量化值</a:t>
            </a:r>
            <a:endParaRPr lang="zh-CN" altLang="en-US" sz="2200">
              <a:latin typeface="Alibaba PuHuiTi 3.0 55 Regular" panose="00020600040101010101" charset="-122"/>
              <a:ea typeface="Alibaba PuHuiTi 3.0 55 Regular" panose="00020600040101010101" charset="-122"/>
            </a:endParaRPr>
          </a:p>
        </p:txBody>
      </p:sp>
      <p:sp>
        <p:nvSpPr>
          <p:cNvPr id="11" name="Oval 10"/>
          <p:cNvSpPr/>
          <p:nvPr/>
        </p:nvSpPr>
        <p:spPr>
          <a:xfrm>
            <a:off x="6818630" y="419290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34" name="Straight Connector 33"/>
          <p:cNvCxnSpPr/>
          <p:nvPr/>
        </p:nvCxnSpPr>
        <p:spPr>
          <a:xfrm>
            <a:off x="6866890" y="4266565"/>
            <a:ext cx="0" cy="73977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5" name="Straight Connector 34"/>
          <p:cNvCxnSpPr>
            <a:stCxn id="44" idx="31"/>
          </p:cNvCxnSpPr>
          <p:nvPr/>
        </p:nvCxnSpPr>
        <p:spPr>
          <a:xfrm flipH="1">
            <a:off x="8114665" y="3721100"/>
            <a:ext cx="10795" cy="123444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7" name="Straight Connector 36"/>
          <p:cNvCxnSpPr/>
          <p:nvPr/>
        </p:nvCxnSpPr>
        <p:spPr>
          <a:xfrm>
            <a:off x="8613775" y="4393565"/>
            <a:ext cx="0" cy="57023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8" name="Straight Connector 37"/>
          <p:cNvCxnSpPr/>
          <p:nvPr/>
        </p:nvCxnSpPr>
        <p:spPr>
          <a:xfrm>
            <a:off x="8863330" y="4443730"/>
            <a:ext cx="0" cy="56324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9" name="Straight Connector 38"/>
          <p:cNvCxnSpPr/>
          <p:nvPr/>
        </p:nvCxnSpPr>
        <p:spPr>
          <a:xfrm>
            <a:off x="9112885" y="4175760"/>
            <a:ext cx="0" cy="83121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40" name="Straight Connector 39"/>
          <p:cNvCxnSpPr/>
          <p:nvPr/>
        </p:nvCxnSpPr>
        <p:spPr>
          <a:xfrm>
            <a:off x="6492240" y="2219960"/>
            <a:ext cx="0" cy="274320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41" name="Straight Connector 40"/>
          <p:cNvCxnSpPr/>
          <p:nvPr/>
        </p:nvCxnSpPr>
        <p:spPr>
          <a:xfrm flipH="1">
            <a:off x="6490970" y="4970145"/>
            <a:ext cx="312737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42" name="Text Box 41"/>
          <p:cNvSpPr txBox="1"/>
          <p:nvPr/>
        </p:nvSpPr>
        <p:spPr>
          <a:xfrm>
            <a:off x="5340985" y="2219960"/>
            <a:ext cx="1130300" cy="429895"/>
          </a:xfrm>
          <a:prstGeom prst="rect">
            <a:avLst/>
          </a:prstGeom>
          <a:noFill/>
        </p:spPr>
        <p:txBody>
          <a:bodyPr wrap="square" rtlCol="0">
            <a:noAutofit/>
          </a:bodyPr>
          <a:p>
            <a:pPr algn="r"/>
            <a:r>
              <a:rPr lang="zh-CN" altLang="en-US" sz="2200">
                <a:latin typeface="Alibaba PuHuiTi 3.0 55 Regular" panose="00020600040101010101" charset="-122"/>
                <a:ea typeface="Alibaba PuHuiTi 3.0 55 Regular" panose="00020600040101010101" charset="-122"/>
              </a:rPr>
              <a:t>量化值</a:t>
            </a:r>
            <a:endParaRPr lang="zh-CN" altLang="en-US" sz="2200">
              <a:latin typeface="Alibaba PuHuiTi 3.0 55 Regular" panose="00020600040101010101" charset="-122"/>
              <a:ea typeface="Alibaba PuHuiTi 3.0 55 Regular" panose="00020600040101010101" charset="-122"/>
            </a:endParaRPr>
          </a:p>
        </p:txBody>
      </p:sp>
      <p:sp>
        <p:nvSpPr>
          <p:cNvPr id="43" name="Text Box 42"/>
          <p:cNvSpPr txBox="1"/>
          <p:nvPr/>
        </p:nvSpPr>
        <p:spPr>
          <a:xfrm>
            <a:off x="9355455" y="5041265"/>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44" name="Freeform 43"/>
          <p:cNvSpPr/>
          <p:nvPr/>
        </p:nvSpPr>
        <p:spPr>
          <a:xfrm>
            <a:off x="6707505" y="2950845"/>
            <a:ext cx="2518410" cy="1645285"/>
          </a:xfrm>
          <a:custGeom>
            <a:avLst/>
            <a:gdLst>
              <a:gd name="connisteX0" fmla="*/ 0 w 2518410"/>
              <a:gd name="connsiteY0" fmla="*/ 1645002 h 1645002"/>
              <a:gd name="connisteX1" fmla="*/ 25400 w 2518410"/>
              <a:gd name="connsiteY1" fmla="*/ 1519907 h 1645002"/>
              <a:gd name="connisteX2" fmla="*/ 142240 w 2518410"/>
              <a:gd name="connsiteY2" fmla="*/ 1328137 h 1645002"/>
              <a:gd name="connisteX3" fmla="*/ 225425 w 2518410"/>
              <a:gd name="connsiteY3" fmla="*/ 1178277 h 1645002"/>
              <a:gd name="connisteX4" fmla="*/ 275590 w 2518410"/>
              <a:gd name="connsiteY4" fmla="*/ 1077947 h 1645002"/>
              <a:gd name="connisteX5" fmla="*/ 325120 w 2518410"/>
              <a:gd name="connsiteY5" fmla="*/ 978252 h 1645002"/>
              <a:gd name="connisteX6" fmla="*/ 358775 w 2518410"/>
              <a:gd name="connsiteY6" fmla="*/ 877922 h 1645002"/>
              <a:gd name="connisteX7" fmla="*/ 383540 w 2518410"/>
              <a:gd name="connsiteY7" fmla="*/ 811247 h 1645002"/>
              <a:gd name="connisteX8" fmla="*/ 400685 w 2518410"/>
              <a:gd name="connsiteY8" fmla="*/ 728062 h 1645002"/>
              <a:gd name="connisteX9" fmla="*/ 441960 w 2518410"/>
              <a:gd name="connsiteY9" fmla="*/ 611222 h 1645002"/>
              <a:gd name="connisteX10" fmla="*/ 459105 w 2518410"/>
              <a:gd name="connsiteY10" fmla="*/ 544547 h 1645002"/>
              <a:gd name="connisteX11" fmla="*/ 492125 w 2518410"/>
              <a:gd name="connsiteY11" fmla="*/ 419452 h 1645002"/>
              <a:gd name="connisteX12" fmla="*/ 525780 w 2518410"/>
              <a:gd name="connsiteY12" fmla="*/ 310867 h 1645002"/>
              <a:gd name="connisteX13" fmla="*/ 550545 w 2518410"/>
              <a:gd name="connsiteY13" fmla="*/ 227682 h 1645002"/>
              <a:gd name="connisteX14" fmla="*/ 567055 w 2518410"/>
              <a:gd name="connsiteY14" fmla="*/ 161007 h 1645002"/>
              <a:gd name="connisteX15" fmla="*/ 584200 w 2518410"/>
              <a:gd name="connsiteY15" fmla="*/ 94332 h 1645002"/>
              <a:gd name="connisteX16" fmla="*/ 625475 w 2518410"/>
              <a:gd name="connsiteY16" fmla="*/ 27657 h 1645002"/>
              <a:gd name="connisteX17" fmla="*/ 692150 w 2518410"/>
              <a:gd name="connsiteY17" fmla="*/ 10512 h 1645002"/>
              <a:gd name="connisteX18" fmla="*/ 784225 w 2518410"/>
              <a:gd name="connsiteY18" fmla="*/ 2257 h 1645002"/>
              <a:gd name="connisteX19" fmla="*/ 859155 w 2518410"/>
              <a:gd name="connsiteY19" fmla="*/ 2257 h 1645002"/>
              <a:gd name="connisteX20" fmla="*/ 925830 w 2518410"/>
              <a:gd name="connsiteY20" fmla="*/ 2257 h 1645002"/>
              <a:gd name="connisteX21" fmla="*/ 1000760 w 2518410"/>
              <a:gd name="connsiteY21" fmla="*/ 27657 h 1645002"/>
              <a:gd name="connisteX22" fmla="*/ 1067435 w 2518410"/>
              <a:gd name="connsiteY22" fmla="*/ 77187 h 1645002"/>
              <a:gd name="connisteX23" fmla="*/ 1125855 w 2518410"/>
              <a:gd name="connsiteY23" fmla="*/ 152752 h 1645002"/>
              <a:gd name="connisteX24" fmla="*/ 1176020 w 2518410"/>
              <a:gd name="connsiteY24" fmla="*/ 235937 h 1645002"/>
              <a:gd name="connisteX25" fmla="*/ 1217930 w 2518410"/>
              <a:gd name="connsiteY25" fmla="*/ 302612 h 1645002"/>
              <a:gd name="connisteX26" fmla="*/ 1242695 w 2518410"/>
              <a:gd name="connsiteY26" fmla="*/ 369287 h 1645002"/>
              <a:gd name="connisteX27" fmla="*/ 1276350 w 2518410"/>
              <a:gd name="connsiteY27" fmla="*/ 435962 h 1645002"/>
              <a:gd name="connisteX28" fmla="*/ 1309370 w 2518410"/>
              <a:gd name="connsiteY28" fmla="*/ 502637 h 1645002"/>
              <a:gd name="connisteX29" fmla="*/ 1351280 w 2518410"/>
              <a:gd name="connsiteY29" fmla="*/ 594712 h 1645002"/>
              <a:gd name="connisteX30" fmla="*/ 1384300 w 2518410"/>
              <a:gd name="connsiteY30" fmla="*/ 686152 h 1645002"/>
              <a:gd name="connisteX31" fmla="*/ 1417955 w 2518410"/>
              <a:gd name="connsiteY31" fmla="*/ 769972 h 1645002"/>
              <a:gd name="connisteX32" fmla="*/ 1450975 w 2518410"/>
              <a:gd name="connsiteY32" fmla="*/ 844902 h 1645002"/>
              <a:gd name="connisteX33" fmla="*/ 1476375 w 2518410"/>
              <a:gd name="connsiteY33" fmla="*/ 911577 h 1645002"/>
              <a:gd name="connisteX34" fmla="*/ 1501140 w 2518410"/>
              <a:gd name="connsiteY34" fmla="*/ 1003017 h 1645002"/>
              <a:gd name="connisteX35" fmla="*/ 1526540 w 2518410"/>
              <a:gd name="connsiteY35" fmla="*/ 1077947 h 1645002"/>
              <a:gd name="connisteX36" fmla="*/ 1551305 w 2518410"/>
              <a:gd name="connsiteY36" fmla="*/ 1153512 h 1645002"/>
              <a:gd name="connisteX37" fmla="*/ 1601470 w 2518410"/>
              <a:gd name="connsiteY37" fmla="*/ 1220187 h 1645002"/>
              <a:gd name="connisteX38" fmla="*/ 1676400 w 2518410"/>
              <a:gd name="connsiteY38" fmla="*/ 1269717 h 1645002"/>
              <a:gd name="connisteX39" fmla="*/ 1743075 w 2518410"/>
              <a:gd name="connsiteY39" fmla="*/ 1319882 h 1645002"/>
              <a:gd name="connisteX40" fmla="*/ 1809750 w 2518410"/>
              <a:gd name="connsiteY40" fmla="*/ 1353537 h 1645002"/>
              <a:gd name="connisteX41" fmla="*/ 1876425 w 2518410"/>
              <a:gd name="connsiteY41" fmla="*/ 1386557 h 1645002"/>
              <a:gd name="connisteX42" fmla="*/ 1951355 w 2518410"/>
              <a:gd name="connsiteY42" fmla="*/ 1411957 h 1645002"/>
              <a:gd name="connisteX43" fmla="*/ 2035175 w 2518410"/>
              <a:gd name="connsiteY43" fmla="*/ 1436722 h 1645002"/>
              <a:gd name="connisteX44" fmla="*/ 2110105 w 2518410"/>
              <a:gd name="connsiteY44" fmla="*/ 1453232 h 1645002"/>
              <a:gd name="connisteX45" fmla="*/ 2185035 w 2518410"/>
              <a:gd name="connsiteY45" fmla="*/ 1453232 h 1645002"/>
              <a:gd name="connisteX46" fmla="*/ 2251710 w 2518410"/>
              <a:gd name="connsiteY46" fmla="*/ 1444977 h 1645002"/>
              <a:gd name="connisteX47" fmla="*/ 2301875 w 2518410"/>
              <a:gd name="connsiteY47" fmla="*/ 1378302 h 1645002"/>
              <a:gd name="connisteX48" fmla="*/ 2343785 w 2518410"/>
              <a:gd name="connsiteY48" fmla="*/ 1311627 h 1645002"/>
              <a:gd name="connisteX49" fmla="*/ 2368550 w 2518410"/>
              <a:gd name="connsiteY49" fmla="*/ 1236697 h 1645002"/>
              <a:gd name="connisteX50" fmla="*/ 2402205 w 2518410"/>
              <a:gd name="connsiteY50" fmla="*/ 1161767 h 1645002"/>
              <a:gd name="connisteX51" fmla="*/ 2426970 w 2518410"/>
              <a:gd name="connsiteY51" fmla="*/ 1086837 h 1645002"/>
              <a:gd name="connisteX52" fmla="*/ 2468880 w 2518410"/>
              <a:gd name="connsiteY52" fmla="*/ 1019527 h 1645002"/>
              <a:gd name="connisteX53" fmla="*/ 2518410 w 2518410"/>
              <a:gd name="connsiteY53" fmla="*/ 944597 h 164500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Lst>
            <a:rect l="l" t="t" r="r" b="b"/>
            <a:pathLst>
              <a:path w="2518410" h="1645003">
                <a:moveTo>
                  <a:pt x="0" y="1645003"/>
                </a:moveTo>
                <a:cubicBezTo>
                  <a:pt x="2540" y="1624048"/>
                  <a:pt x="-3175" y="1583408"/>
                  <a:pt x="25400" y="1519908"/>
                </a:cubicBezTo>
                <a:cubicBezTo>
                  <a:pt x="53975" y="1456408"/>
                  <a:pt x="102235" y="1396718"/>
                  <a:pt x="142240" y="1328138"/>
                </a:cubicBezTo>
                <a:cubicBezTo>
                  <a:pt x="182245" y="1259558"/>
                  <a:pt x="198755" y="1228443"/>
                  <a:pt x="225425" y="1178278"/>
                </a:cubicBezTo>
                <a:cubicBezTo>
                  <a:pt x="252095" y="1128113"/>
                  <a:pt x="255905" y="1117953"/>
                  <a:pt x="275590" y="1077948"/>
                </a:cubicBezTo>
                <a:cubicBezTo>
                  <a:pt x="295275" y="1037943"/>
                  <a:pt x="308610" y="1018258"/>
                  <a:pt x="325120" y="978253"/>
                </a:cubicBezTo>
                <a:cubicBezTo>
                  <a:pt x="341630" y="938248"/>
                  <a:pt x="347345" y="911578"/>
                  <a:pt x="358775" y="877923"/>
                </a:cubicBezTo>
                <a:cubicBezTo>
                  <a:pt x="370205" y="844268"/>
                  <a:pt x="375285" y="841093"/>
                  <a:pt x="383540" y="811248"/>
                </a:cubicBezTo>
                <a:cubicBezTo>
                  <a:pt x="391795" y="781403"/>
                  <a:pt x="389255" y="768068"/>
                  <a:pt x="400685" y="728063"/>
                </a:cubicBezTo>
                <a:cubicBezTo>
                  <a:pt x="412115" y="688058"/>
                  <a:pt x="430530" y="648053"/>
                  <a:pt x="441960" y="611223"/>
                </a:cubicBezTo>
                <a:cubicBezTo>
                  <a:pt x="453390" y="574393"/>
                  <a:pt x="448945" y="582648"/>
                  <a:pt x="459105" y="544548"/>
                </a:cubicBezTo>
                <a:cubicBezTo>
                  <a:pt x="469265" y="506448"/>
                  <a:pt x="478790" y="466443"/>
                  <a:pt x="492125" y="419453"/>
                </a:cubicBezTo>
                <a:cubicBezTo>
                  <a:pt x="505460" y="372463"/>
                  <a:pt x="514350" y="348968"/>
                  <a:pt x="525780" y="310868"/>
                </a:cubicBezTo>
                <a:cubicBezTo>
                  <a:pt x="537210" y="272768"/>
                  <a:pt x="542290" y="257528"/>
                  <a:pt x="550545" y="227683"/>
                </a:cubicBezTo>
                <a:cubicBezTo>
                  <a:pt x="558800" y="197838"/>
                  <a:pt x="560070" y="187678"/>
                  <a:pt x="567055" y="161008"/>
                </a:cubicBezTo>
                <a:cubicBezTo>
                  <a:pt x="574040" y="134338"/>
                  <a:pt x="572770" y="121003"/>
                  <a:pt x="584200" y="94333"/>
                </a:cubicBezTo>
                <a:cubicBezTo>
                  <a:pt x="595630" y="67663"/>
                  <a:pt x="603885" y="44168"/>
                  <a:pt x="625475" y="27658"/>
                </a:cubicBezTo>
                <a:cubicBezTo>
                  <a:pt x="647065" y="11148"/>
                  <a:pt x="660400" y="15593"/>
                  <a:pt x="692150" y="10513"/>
                </a:cubicBezTo>
                <a:cubicBezTo>
                  <a:pt x="723900" y="5433"/>
                  <a:pt x="750570" y="4163"/>
                  <a:pt x="784225" y="2258"/>
                </a:cubicBezTo>
                <a:cubicBezTo>
                  <a:pt x="817880" y="353"/>
                  <a:pt x="830580" y="2258"/>
                  <a:pt x="859155" y="2258"/>
                </a:cubicBezTo>
                <a:cubicBezTo>
                  <a:pt x="887730" y="2258"/>
                  <a:pt x="897255" y="-2822"/>
                  <a:pt x="925830" y="2258"/>
                </a:cubicBezTo>
                <a:cubicBezTo>
                  <a:pt x="954405" y="7338"/>
                  <a:pt x="972185" y="12418"/>
                  <a:pt x="1000760" y="27658"/>
                </a:cubicBezTo>
                <a:cubicBezTo>
                  <a:pt x="1029335" y="42898"/>
                  <a:pt x="1042670" y="52423"/>
                  <a:pt x="1067435" y="77188"/>
                </a:cubicBezTo>
                <a:cubicBezTo>
                  <a:pt x="1092200" y="101953"/>
                  <a:pt x="1104265" y="121003"/>
                  <a:pt x="1125855" y="152753"/>
                </a:cubicBezTo>
                <a:cubicBezTo>
                  <a:pt x="1147445" y="184503"/>
                  <a:pt x="1157605" y="206093"/>
                  <a:pt x="1176020" y="235938"/>
                </a:cubicBezTo>
                <a:cubicBezTo>
                  <a:pt x="1194435" y="265783"/>
                  <a:pt x="1204595" y="275943"/>
                  <a:pt x="1217930" y="302613"/>
                </a:cubicBezTo>
                <a:cubicBezTo>
                  <a:pt x="1231265" y="329283"/>
                  <a:pt x="1231265" y="342618"/>
                  <a:pt x="1242695" y="369288"/>
                </a:cubicBezTo>
                <a:cubicBezTo>
                  <a:pt x="1254125" y="395958"/>
                  <a:pt x="1263015" y="409293"/>
                  <a:pt x="1276350" y="435963"/>
                </a:cubicBezTo>
                <a:cubicBezTo>
                  <a:pt x="1289685" y="462633"/>
                  <a:pt x="1294130" y="470888"/>
                  <a:pt x="1309370" y="502638"/>
                </a:cubicBezTo>
                <a:cubicBezTo>
                  <a:pt x="1324610" y="534388"/>
                  <a:pt x="1336040" y="557883"/>
                  <a:pt x="1351280" y="594713"/>
                </a:cubicBezTo>
                <a:cubicBezTo>
                  <a:pt x="1366520" y="631543"/>
                  <a:pt x="1370965" y="651228"/>
                  <a:pt x="1384300" y="686153"/>
                </a:cubicBezTo>
                <a:cubicBezTo>
                  <a:pt x="1397635" y="721078"/>
                  <a:pt x="1404620" y="738223"/>
                  <a:pt x="1417955" y="769973"/>
                </a:cubicBezTo>
                <a:cubicBezTo>
                  <a:pt x="1431290" y="801723"/>
                  <a:pt x="1439545" y="816328"/>
                  <a:pt x="1450975" y="844903"/>
                </a:cubicBezTo>
                <a:cubicBezTo>
                  <a:pt x="1462405" y="873478"/>
                  <a:pt x="1466215" y="879828"/>
                  <a:pt x="1476375" y="911578"/>
                </a:cubicBezTo>
                <a:cubicBezTo>
                  <a:pt x="1486535" y="943328"/>
                  <a:pt x="1490980" y="969998"/>
                  <a:pt x="1501140" y="1003018"/>
                </a:cubicBezTo>
                <a:cubicBezTo>
                  <a:pt x="1511300" y="1036038"/>
                  <a:pt x="1516380" y="1048103"/>
                  <a:pt x="1526540" y="1077948"/>
                </a:cubicBezTo>
                <a:cubicBezTo>
                  <a:pt x="1536700" y="1107793"/>
                  <a:pt x="1536065" y="1124938"/>
                  <a:pt x="1551305" y="1153513"/>
                </a:cubicBezTo>
                <a:cubicBezTo>
                  <a:pt x="1566545" y="1182088"/>
                  <a:pt x="1576705" y="1196693"/>
                  <a:pt x="1601470" y="1220188"/>
                </a:cubicBezTo>
                <a:cubicBezTo>
                  <a:pt x="1626235" y="1243683"/>
                  <a:pt x="1647825" y="1250033"/>
                  <a:pt x="1676400" y="1269718"/>
                </a:cubicBezTo>
                <a:cubicBezTo>
                  <a:pt x="1704975" y="1289403"/>
                  <a:pt x="1716405" y="1303373"/>
                  <a:pt x="1743075" y="1319883"/>
                </a:cubicBezTo>
                <a:cubicBezTo>
                  <a:pt x="1769745" y="1336393"/>
                  <a:pt x="1783080" y="1340203"/>
                  <a:pt x="1809750" y="1353538"/>
                </a:cubicBezTo>
                <a:cubicBezTo>
                  <a:pt x="1836420" y="1366873"/>
                  <a:pt x="1847850" y="1375128"/>
                  <a:pt x="1876425" y="1386558"/>
                </a:cubicBezTo>
                <a:cubicBezTo>
                  <a:pt x="1905000" y="1397988"/>
                  <a:pt x="1919605" y="1401798"/>
                  <a:pt x="1951355" y="1411958"/>
                </a:cubicBezTo>
                <a:cubicBezTo>
                  <a:pt x="1983105" y="1422118"/>
                  <a:pt x="2003425" y="1428468"/>
                  <a:pt x="2035175" y="1436723"/>
                </a:cubicBezTo>
                <a:cubicBezTo>
                  <a:pt x="2066925" y="1444978"/>
                  <a:pt x="2080260" y="1450058"/>
                  <a:pt x="2110105" y="1453233"/>
                </a:cubicBezTo>
                <a:cubicBezTo>
                  <a:pt x="2139950" y="1456408"/>
                  <a:pt x="2156460" y="1455138"/>
                  <a:pt x="2185035" y="1453233"/>
                </a:cubicBezTo>
                <a:cubicBezTo>
                  <a:pt x="2213610" y="1451328"/>
                  <a:pt x="2228215" y="1460218"/>
                  <a:pt x="2251710" y="1444978"/>
                </a:cubicBezTo>
                <a:cubicBezTo>
                  <a:pt x="2275205" y="1429738"/>
                  <a:pt x="2283460" y="1404973"/>
                  <a:pt x="2301875" y="1378303"/>
                </a:cubicBezTo>
                <a:cubicBezTo>
                  <a:pt x="2320290" y="1351633"/>
                  <a:pt x="2330450" y="1340203"/>
                  <a:pt x="2343785" y="1311628"/>
                </a:cubicBezTo>
                <a:cubicBezTo>
                  <a:pt x="2357120" y="1283053"/>
                  <a:pt x="2357120" y="1266543"/>
                  <a:pt x="2368550" y="1236698"/>
                </a:cubicBezTo>
                <a:cubicBezTo>
                  <a:pt x="2379980" y="1206853"/>
                  <a:pt x="2390775" y="1191613"/>
                  <a:pt x="2402205" y="1161768"/>
                </a:cubicBezTo>
                <a:cubicBezTo>
                  <a:pt x="2413635" y="1131923"/>
                  <a:pt x="2413635" y="1115413"/>
                  <a:pt x="2426970" y="1086838"/>
                </a:cubicBezTo>
                <a:cubicBezTo>
                  <a:pt x="2440305" y="1058263"/>
                  <a:pt x="2450465" y="1048103"/>
                  <a:pt x="2468880" y="1019528"/>
                </a:cubicBezTo>
                <a:cubicBezTo>
                  <a:pt x="2487295" y="990953"/>
                  <a:pt x="2509520" y="957933"/>
                  <a:pt x="2518410" y="944598"/>
                </a:cubicBezTo>
              </a:path>
            </a:pathLst>
          </a:custGeom>
          <a:noFill/>
          <a:ln w="38100">
            <a:solidFill>
              <a:schemeClr val="tx1"/>
            </a:solidFill>
          </a:ln>
        </p:spPr>
        <p:txBody>
          <a:bodyPr vert="horz" lIns="90000" tIns="46800" rIns="90000" bIns="46800" rtlCol="0" anchor="ctr" anchorCtr="0">
            <a:noAutofit/>
          </a:bodyPr>
          <a:p>
            <a:endParaRPr lang="zh-CN" altLang="en-US" sz="2445">
              <a:solidFill>
                <a:schemeClr val="tx1"/>
              </a:solidFill>
            </a:endParaRPr>
          </a:p>
        </p:txBody>
      </p:sp>
      <p:sp>
        <p:nvSpPr>
          <p:cNvPr id="46" name="Text Box 45"/>
          <p:cNvSpPr txBox="1"/>
          <p:nvPr/>
        </p:nvSpPr>
        <p:spPr>
          <a:xfrm>
            <a:off x="6649085" y="5041265"/>
            <a:ext cx="296926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47" name="Text Box 46"/>
          <p:cNvSpPr txBox="1"/>
          <p:nvPr/>
        </p:nvSpPr>
        <p:spPr>
          <a:xfrm>
            <a:off x="6677025" y="390525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49" name="Oval 48"/>
          <p:cNvSpPr/>
          <p:nvPr/>
        </p:nvSpPr>
        <p:spPr>
          <a:xfrm>
            <a:off x="7309485" y="293433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0" name="Oval 49"/>
          <p:cNvSpPr/>
          <p:nvPr/>
        </p:nvSpPr>
        <p:spPr>
          <a:xfrm>
            <a:off x="8085455" y="367919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3" name="Oval 52"/>
          <p:cNvSpPr/>
          <p:nvPr/>
        </p:nvSpPr>
        <p:spPr>
          <a:xfrm>
            <a:off x="8583295" y="429704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7" name="Oval 56"/>
          <p:cNvSpPr/>
          <p:nvPr/>
        </p:nvSpPr>
        <p:spPr>
          <a:xfrm>
            <a:off x="9066530" y="40792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9" name="Text Box 58"/>
          <p:cNvSpPr txBox="1"/>
          <p:nvPr/>
        </p:nvSpPr>
        <p:spPr>
          <a:xfrm>
            <a:off x="7868285" y="29889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6</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60" name="Text Box 59"/>
          <p:cNvSpPr txBox="1"/>
          <p:nvPr/>
        </p:nvSpPr>
        <p:spPr>
          <a:xfrm>
            <a:off x="8241030" y="394398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61" name="Text Box 60"/>
          <p:cNvSpPr txBox="1"/>
          <p:nvPr/>
        </p:nvSpPr>
        <p:spPr>
          <a:xfrm>
            <a:off x="8493760" y="40252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62" name="Straight Connector 61"/>
          <p:cNvCxnSpPr>
            <a:endCxn id="68" idx="3"/>
          </p:cNvCxnSpPr>
          <p:nvPr/>
        </p:nvCxnSpPr>
        <p:spPr>
          <a:xfrm flipV="1">
            <a:off x="6866890" y="3752215"/>
            <a:ext cx="199390" cy="52070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63" name="Straight Connector 62"/>
          <p:cNvCxnSpPr>
            <a:stCxn id="44" idx="8"/>
          </p:cNvCxnSpPr>
          <p:nvPr/>
        </p:nvCxnSpPr>
        <p:spPr>
          <a:xfrm>
            <a:off x="7108190" y="3679190"/>
            <a:ext cx="8255" cy="13271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4" name="Straight Connector 63"/>
          <p:cNvCxnSpPr/>
          <p:nvPr/>
        </p:nvCxnSpPr>
        <p:spPr>
          <a:xfrm>
            <a:off x="7366000" y="2978150"/>
            <a:ext cx="0" cy="202819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5" name="Straight Connector 64"/>
          <p:cNvCxnSpPr/>
          <p:nvPr/>
        </p:nvCxnSpPr>
        <p:spPr>
          <a:xfrm>
            <a:off x="7615555" y="2973705"/>
            <a:ext cx="0" cy="203263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6" name="Straight Connector 65"/>
          <p:cNvCxnSpPr>
            <a:stCxn id="59" idx="1"/>
          </p:cNvCxnSpPr>
          <p:nvPr/>
        </p:nvCxnSpPr>
        <p:spPr>
          <a:xfrm flipH="1">
            <a:off x="7865110" y="3133090"/>
            <a:ext cx="3175" cy="18732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7" name="Straight Connector 66"/>
          <p:cNvCxnSpPr/>
          <p:nvPr/>
        </p:nvCxnSpPr>
        <p:spPr>
          <a:xfrm>
            <a:off x="8364220" y="4239260"/>
            <a:ext cx="0" cy="76708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68" name="Oval 67"/>
          <p:cNvSpPr/>
          <p:nvPr/>
        </p:nvSpPr>
        <p:spPr>
          <a:xfrm>
            <a:off x="7052310" y="366966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9" name="Oval 68"/>
          <p:cNvSpPr/>
          <p:nvPr/>
        </p:nvSpPr>
        <p:spPr>
          <a:xfrm>
            <a:off x="7567295" y="290385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0" name="Oval 69"/>
          <p:cNvSpPr/>
          <p:nvPr/>
        </p:nvSpPr>
        <p:spPr>
          <a:xfrm>
            <a:off x="7833360" y="308483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1" name="Oval 70"/>
          <p:cNvSpPr/>
          <p:nvPr/>
        </p:nvSpPr>
        <p:spPr>
          <a:xfrm>
            <a:off x="8313420" y="417576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2" name="Oval 71"/>
          <p:cNvSpPr/>
          <p:nvPr/>
        </p:nvSpPr>
        <p:spPr>
          <a:xfrm>
            <a:off x="8828405" y="43586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3" name="Text Box 72"/>
          <p:cNvSpPr txBox="1"/>
          <p:nvPr/>
        </p:nvSpPr>
        <p:spPr>
          <a:xfrm>
            <a:off x="6834505" y="359473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4</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4" name="Text Box 73"/>
          <p:cNvSpPr txBox="1"/>
          <p:nvPr/>
        </p:nvSpPr>
        <p:spPr>
          <a:xfrm>
            <a:off x="7211695" y="264858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7</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5" name="Text Box 74"/>
          <p:cNvSpPr txBox="1"/>
          <p:nvPr/>
        </p:nvSpPr>
        <p:spPr>
          <a:xfrm>
            <a:off x="7478395" y="26460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7</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6" name="Text Box 75"/>
          <p:cNvSpPr txBox="1"/>
          <p:nvPr/>
        </p:nvSpPr>
        <p:spPr>
          <a:xfrm>
            <a:off x="8063230" y="341630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4</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7" name="Text Box 76"/>
          <p:cNvSpPr txBox="1"/>
          <p:nvPr/>
        </p:nvSpPr>
        <p:spPr>
          <a:xfrm>
            <a:off x="8740140" y="41141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8" name="Text Box 77"/>
          <p:cNvSpPr txBox="1"/>
          <p:nvPr/>
        </p:nvSpPr>
        <p:spPr>
          <a:xfrm>
            <a:off x="8862060" y="3795395"/>
            <a:ext cx="43180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94" name="Straight Connector 93"/>
          <p:cNvCxnSpPr>
            <a:endCxn id="49" idx="2"/>
          </p:cNvCxnSpPr>
          <p:nvPr/>
        </p:nvCxnSpPr>
        <p:spPr>
          <a:xfrm flipV="1">
            <a:off x="7116445" y="2982595"/>
            <a:ext cx="193040" cy="6965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6" name="Straight Connector 95"/>
          <p:cNvCxnSpPr>
            <a:endCxn id="75" idx="2"/>
          </p:cNvCxnSpPr>
          <p:nvPr/>
        </p:nvCxnSpPr>
        <p:spPr>
          <a:xfrm flipV="1">
            <a:off x="7359015" y="2933700"/>
            <a:ext cx="238760" cy="349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7" name="Straight Connector 96"/>
          <p:cNvCxnSpPr>
            <a:stCxn id="69" idx="5"/>
            <a:endCxn id="70" idx="2"/>
          </p:cNvCxnSpPr>
          <p:nvPr/>
        </p:nvCxnSpPr>
        <p:spPr>
          <a:xfrm>
            <a:off x="7649845" y="2986405"/>
            <a:ext cx="183515" cy="14668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6" name="Straight Connector 105"/>
          <p:cNvCxnSpPr>
            <a:stCxn id="70" idx="4"/>
            <a:endCxn id="44" idx="31"/>
          </p:cNvCxnSpPr>
          <p:nvPr/>
        </p:nvCxnSpPr>
        <p:spPr>
          <a:xfrm>
            <a:off x="7881620" y="3181350"/>
            <a:ext cx="243840" cy="5397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7" name="Straight Connector 106"/>
          <p:cNvCxnSpPr>
            <a:stCxn id="50" idx="5"/>
            <a:endCxn id="71" idx="1"/>
          </p:cNvCxnSpPr>
          <p:nvPr/>
        </p:nvCxnSpPr>
        <p:spPr>
          <a:xfrm>
            <a:off x="8168005" y="3761740"/>
            <a:ext cx="159385" cy="4279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8" name="Straight Connector 107"/>
          <p:cNvCxnSpPr>
            <a:stCxn id="71" idx="5"/>
            <a:endCxn id="53" idx="2"/>
          </p:cNvCxnSpPr>
          <p:nvPr/>
        </p:nvCxnSpPr>
        <p:spPr>
          <a:xfrm>
            <a:off x="8395970" y="4258310"/>
            <a:ext cx="187325" cy="869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9" name="Straight Connector 108"/>
          <p:cNvCxnSpPr>
            <a:stCxn id="53" idx="5"/>
            <a:endCxn id="77" idx="2"/>
          </p:cNvCxnSpPr>
          <p:nvPr/>
        </p:nvCxnSpPr>
        <p:spPr>
          <a:xfrm>
            <a:off x="8665845" y="4379595"/>
            <a:ext cx="193675" cy="222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0" name="Straight Connector 109"/>
          <p:cNvCxnSpPr>
            <a:stCxn id="72" idx="5"/>
            <a:endCxn id="57" idx="2"/>
          </p:cNvCxnSpPr>
          <p:nvPr/>
        </p:nvCxnSpPr>
        <p:spPr>
          <a:xfrm flipV="1">
            <a:off x="8910955" y="4127500"/>
            <a:ext cx="155575" cy="3136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1" name="Straight Connector 110"/>
          <p:cNvCxnSpPr/>
          <p:nvPr/>
        </p:nvCxnSpPr>
        <p:spPr>
          <a:xfrm>
            <a:off x="6508750" y="355092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2" name="Straight Connector 111"/>
          <p:cNvCxnSpPr/>
          <p:nvPr/>
        </p:nvCxnSpPr>
        <p:spPr>
          <a:xfrm>
            <a:off x="6508750" y="298323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3" name="Straight Connector 112"/>
          <p:cNvCxnSpPr/>
          <p:nvPr/>
        </p:nvCxnSpPr>
        <p:spPr>
          <a:xfrm>
            <a:off x="6508750" y="3267075"/>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114" name="Text Box 113"/>
          <p:cNvSpPr txBox="1"/>
          <p:nvPr/>
        </p:nvSpPr>
        <p:spPr>
          <a:xfrm>
            <a:off x="6118860" y="3905250"/>
            <a:ext cx="243205" cy="425450"/>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3</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5" name="Text Box 114"/>
          <p:cNvSpPr txBox="1"/>
          <p:nvPr/>
        </p:nvSpPr>
        <p:spPr>
          <a:xfrm>
            <a:off x="6118860" y="419417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2</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6" name="Text Box 115"/>
          <p:cNvSpPr txBox="1"/>
          <p:nvPr/>
        </p:nvSpPr>
        <p:spPr>
          <a:xfrm>
            <a:off x="6118860" y="446976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7" name="Text Box 116"/>
          <p:cNvSpPr txBox="1"/>
          <p:nvPr/>
        </p:nvSpPr>
        <p:spPr>
          <a:xfrm>
            <a:off x="6118860" y="470979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8" name="Text Box 117"/>
          <p:cNvSpPr txBox="1"/>
          <p:nvPr/>
        </p:nvSpPr>
        <p:spPr>
          <a:xfrm>
            <a:off x="6681470" y="5603240"/>
            <a:ext cx="1937385"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量化等级为</a:t>
            </a:r>
            <a:r>
              <a:rPr lang="en-US" altLang="zh-CN" sz="2200">
                <a:latin typeface="Alibaba PuHuiTi 3.0 55 Regular" panose="00020600040101010101" charset="-122"/>
                <a:ea typeface="Alibaba PuHuiTi 3.0 55 Regular" panose="00020600040101010101" charset="-122"/>
              </a:rPr>
              <a:t>8</a:t>
            </a:r>
            <a:endParaRPr lang="en-US" altLang="zh-CN" sz="2200">
              <a:latin typeface="Alibaba PuHuiTi 3.0 55 Regular" panose="00020600040101010101" charset="-122"/>
              <a:ea typeface="Alibaba PuHuiTi 3.0 55 Regular" panose="00020600040101010101" charset="-122"/>
            </a:endParaRPr>
          </a:p>
        </p:txBody>
      </p:sp>
      <p:cxnSp>
        <p:nvCxnSpPr>
          <p:cNvPr id="119" name="Straight Connector 118"/>
          <p:cNvCxnSpPr/>
          <p:nvPr/>
        </p:nvCxnSpPr>
        <p:spPr>
          <a:xfrm>
            <a:off x="6508750" y="3834765"/>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0" name="Straight Connector 119"/>
          <p:cNvCxnSpPr/>
          <p:nvPr/>
        </p:nvCxnSpPr>
        <p:spPr>
          <a:xfrm>
            <a:off x="6508750" y="411861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1" name="Straight Connector 120"/>
          <p:cNvCxnSpPr/>
          <p:nvPr/>
        </p:nvCxnSpPr>
        <p:spPr>
          <a:xfrm>
            <a:off x="6508750" y="4379595"/>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2" name="Straight Connector 121"/>
          <p:cNvCxnSpPr/>
          <p:nvPr/>
        </p:nvCxnSpPr>
        <p:spPr>
          <a:xfrm>
            <a:off x="6508750" y="468630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131" name="Text Box 130"/>
          <p:cNvSpPr txBox="1"/>
          <p:nvPr/>
        </p:nvSpPr>
        <p:spPr>
          <a:xfrm>
            <a:off x="6120130" y="2819400"/>
            <a:ext cx="243205" cy="425450"/>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7</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2" name="Text Box 131"/>
          <p:cNvSpPr txBox="1"/>
          <p:nvPr/>
        </p:nvSpPr>
        <p:spPr>
          <a:xfrm>
            <a:off x="6120130" y="310832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6</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3" name="Text Box 132"/>
          <p:cNvSpPr txBox="1"/>
          <p:nvPr/>
        </p:nvSpPr>
        <p:spPr>
          <a:xfrm>
            <a:off x="6120130" y="338391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5</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4" name="Text Box 133"/>
          <p:cNvSpPr txBox="1"/>
          <p:nvPr/>
        </p:nvSpPr>
        <p:spPr>
          <a:xfrm>
            <a:off x="6120130" y="362394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4</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32" name="Text Box 31"/>
          <p:cNvSpPr txBox="1"/>
          <p:nvPr/>
        </p:nvSpPr>
        <p:spPr>
          <a:xfrm>
            <a:off x="2762885" y="1741805"/>
            <a:ext cx="1002665" cy="429895"/>
          </a:xfrm>
          <a:prstGeom prst="rect">
            <a:avLst/>
          </a:prstGeom>
          <a:noFill/>
        </p:spPr>
        <p:txBody>
          <a:bodyPr wrap="square" rtlCol="0">
            <a:noAutofit/>
          </a:bodyPr>
          <a:p>
            <a:pPr algn="l"/>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思考</a:t>
            </a:r>
            <a:r>
              <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a:t>
            </a:r>
            <a:endPar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123" name="Text Box 122"/>
          <p:cNvSpPr txBox="1"/>
          <p:nvPr/>
        </p:nvSpPr>
        <p:spPr>
          <a:xfrm>
            <a:off x="3620135" y="1589405"/>
            <a:ext cx="4845050" cy="1083310"/>
          </a:xfrm>
          <a:prstGeom prst="rect">
            <a:avLst/>
          </a:prstGeom>
          <a:noFill/>
        </p:spPr>
        <p:txBody>
          <a:bodyPr wrap="square" rtlCol="0">
            <a:noAutofit/>
          </a:bodyPr>
          <a:p>
            <a:pPr>
              <a:lnSpc>
                <a:spcPct val="150000"/>
              </a:lnSpc>
            </a:pPr>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两种量化等级需要用几位二进制</a:t>
            </a:r>
            <a:r>
              <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a:t>
            </a:r>
            <a:endPar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endParaRPr>
          </a:p>
        </p:txBody>
      </p:sp>
      <p:pic>
        <p:nvPicPr>
          <p:cNvPr id="124" name="Picture 123" descr="思考"/>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2367915" y="1715135"/>
            <a:ext cx="456565" cy="456565"/>
          </a:xfrm>
          <a:prstGeom prst="rect">
            <a:avLst/>
          </a:prstGeom>
        </p:spPr>
      </p:pic>
      <p:sp>
        <p:nvSpPr>
          <p:cNvPr id="178" name="Text Box 177"/>
          <p:cNvSpPr txBox="1"/>
          <p:nvPr/>
        </p:nvSpPr>
        <p:spPr>
          <a:xfrm>
            <a:off x="513080" y="5139690"/>
            <a:ext cx="1300480" cy="429895"/>
          </a:xfrm>
          <a:prstGeom prst="rect">
            <a:avLst/>
          </a:prstGeom>
          <a:noFill/>
        </p:spPr>
        <p:txBody>
          <a:bodyPr wrap="square" rtlCol="0">
            <a:noAutofit/>
          </a:bodyPr>
          <a:p>
            <a:pPr algn="l"/>
            <a:r>
              <a:rPr lang="en-US" altLang="zh-CN" sz="1400" b="1">
                <a:solidFill>
                  <a:srgbClr val="00B0F0"/>
                </a:solidFill>
                <a:latin typeface="Alibaba PuHuiTi 3.0 85 Bold" panose="00020600040101010101" charset="-122"/>
                <a:ea typeface="Alibaba PuHuiTi 3.0 85 Bold" panose="00020600040101010101" charset="-122"/>
                <a:cs typeface="Alibaba PuHuiTi 3.0 85 Bold" panose="00020600040101010101" charset="-122"/>
              </a:rPr>
              <a:t>2</a:t>
            </a:r>
            <a:r>
              <a:rPr lang="zh-CN" altLang="en-US" sz="1400" b="1">
                <a:solidFill>
                  <a:srgbClr val="00B0F0"/>
                </a:solidFill>
                <a:latin typeface="Alibaba PuHuiTi 3.0 85 Bold" panose="00020600040101010101" charset="-122"/>
                <a:ea typeface="Alibaba PuHuiTi 3.0 85 Bold" panose="00020600040101010101" charset="-122"/>
                <a:cs typeface="Alibaba PuHuiTi 3.0 85 Bold" panose="00020600040101010101" charset="-122"/>
              </a:rPr>
              <a:t>位二进制数</a:t>
            </a:r>
            <a:endParaRPr lang="zh-CN" altLang="en-US" sz="1400" b="1">
              <a:solidFill>
                <a:srgbClr val="00B0F0"/>
              </a:solidFill>
              <a:latin typeface="Alibaba PuHuiTi 3.0 85 Bold" panose="00020600040101010101" charset="-122"/>
              <a:ea typeface="Alibaba PuHuiTi 3.0 85 Bold" panose="00020600040101010101" charset="-122"/>
              <a:cs typeface="Alibaba PuHuiTi 3.0 85 Bold" panose="00020600040101010101" charset="-122"/>
            </a:endParaRPr>
          </a:p>
          <a:p>
            <a:pPr algn="l"/>
            <a:r>
              <a:rPr lang="en-US" altLang="zh-CN" sz="14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rPr>
              <a:t>4 = 2</a:t>
            </a:r>
            <a:r>
              <a:rPr lang="en-US" altLang="zh-CN" sz="1400" b="1" baseline="30000">
                <a:solidFill>
                  <a:srgbClr val="00B0F0"/>
                </a:solidFill>
                <a:latin typeface="Alibaba PuHuiTi 3.0 85 Bold" panose="00020600040101010101" charset="-122"/>
                <a:ea typeface="Alibaba PuHuiTi 3.0 85 Bold" panose="00020600040101010101" charset="-122"/>
                <a:cs typeface="Alibaba PuHuiTi 3.0 85 Bold" panose="00020600040101010101" charset="-122"/>
              </a:rPr>
              <a:t>2</a:t>
            </a:r>
            <a:endParaRPr lang="en-US" altLang="zh-CN" sz="1400" b="1" baseline="30000">
              <a:solidFill>
                <a:srgbClr val="00B0F0"/>
              </a:solidFill>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172" name="Text Box 171"/>
          <p:cNvSpPr txBox="1"/>
          <p:nvPr/>
        </p:nvSpPr>
        <p:spPr>
          <a:xfrm>
            <a:off x="942975" y="2756535"/>
            <a:ext cx="527050" cy="429895"/>
          </a:xfrm>
          <a:prstGeom prst="rect">
            <a:avLst/>
          </a:prstGeom>
          <a:noFill/>
        </p:spPr>
        <p:txBody>
          <a:bodyPr wrap="square" rtlCol="0">
            <a:noAutofit/>
          </a:bodyPr>
          <a:p>
            <a:pPr algn="l"/>
            <a:r>
              <a:rPr lang="en-US" sz="2200">
                <a:solidFill>
                  <a:srgbClr val="00B0F0"/>
                </a:solidFill>
                <a:latin typeface="Alibaba PuHuiTi 3.0 55 Regular" panose="00020600040101010101" charset="-122"/>
                <a:ea typeface="Alibaba PuHuiTi 3.0 55 Regular" panose="00020600040101010101" charset="-122"/>
              </a:rPr>
              <a:t>11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73" name="Text Box 172"/>
          <p:cNvSpPr txBox="1"/>
          <p:nvPr/>
        </p:nvSpPr>
        <p:spPr>
          <a:xfrm>
            <a:off x="942975" y="3392805"/>
            <a:ext cx="527050" cy="429895"/>
          </a:xfrm>
          <a:prstGeom prst="rect">
            <a:avLst/>
          </a:prstGeom>
          <a:noFill/>
        </p:spPr>
        <p:txBody>
          <a:bodyPr wrap="square" rtlCol="0">
            <a:noAutofit/>
          </a:bodyPr>
          <a:p>
            <a:pPr algn="l"/>
            <a:r>
              <a:rPr lang="en-US" sz="2200">
                <a:solidFill>
                  <a:srgbClr val="00B0F0"/>
                </a:solidFill>
                <a:latin typeface="Alibaba PuHuiTi 3.0 55 Regular" panose="00020600040101010101" charset="-122"/>
                <a:ea typeface="Alibaba PuHuiTi 3.0 55 Regular" panose="00020600040101010101" charset="-122"/>
              </a:rPr>
              <a:t>10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74" name="Text Box 173"/>
          <p:cNvSpPr txBox="1"/>
          <p:nvPr/>
        </p:nvSpPr>
        <p:spPr>
          <a:xfrm>
            <a:off x="942975" y="4062095"/>
            <a:ext cx="527050" cy="429895"/>
          </a:xfrm>
          <a:prstGeom prst="rect">
            <a:avLst/>
          </a:prstGeom>
          <a:noFill/>
        </p:spPr>
        <p:txBody>
          <a:bodyPr wrap="square" rtlCol="0">
            <a:noAutofit/>
          </a:bodyPr>
          <a:p>
            <a:pPr algn="l"/>
            <a:r>
              <a:rPr lang="en-US" sz="2200">
                <a:solidFill>
                  <a:srgbClr val="00B0F0"/>
                </a:solidFill>
                <a:latin typeface="Alibaba PuHuiTi 3.0 55 Regular" panose="00020600040101010101" charset="-122"/>
                <a:ea typeface="Alibaba PuHuiTi 3.0 55 Regular" panose="00020600040101010101" charset="-122"/>
              </a:rPr>
              <a:t>01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75" name="Text Box 174"/>
          <p:cNvSpPr txBox="1"/>
          <p:nvPr/>
        </p:nvSpPr>
        <p:spPr>
          <a:xfrm>
            <a:off x="942340" y="4714875"/>
            <a:ext cx="527685" cy="429895"/>
          </a:xfrm>
          <a:prstGeom prst="rect">
            <a:avLst/>
          </a:prstGeom>
          <a:noFill/>
        </p:spPr>
        <p:txBody>
          <a:bodyPr wrap="square" rtlCol="0">
            <a:noAutofit/>
          </a:bodyPr>
          <a:p>
            <a:pPr algn="l"/>
            <a:r>
              <a:rPr lang="en-US" sz="2200">
                <a:solidFill>
                  <a:srgbClr val="00B0F0"/>
                </a:solidFill>
                <a:latin typeface="Alibaba PuHuiTi 3.0 55 Regular" panose="00020600040101010101" charset="-122"/>
                <a:ea typeface="Alibaba PuHuiTi 3.0 55 Regular" panose="00020600040101010101" charset="-122"/>
              </a:rPr>
              <a:t>00</a:t>
            </a:r>
            <a:endParaRPr lang="en-US" sz="2200">
              <a:solidFill>
                <a:srgbClr val="00B0F0"/>
              </a:solidFill>
              <a:latin typeface="Alibaba PuHuiTi 3.0 55 Regular" panose="00020600040101010101" charset="-122"/>
              <a:ea typeface="Alibaba PuHuiTi 3.0 55 Regular" panose="00020600040101010101" charset="-122"/>
            </a:endParaRPr>
          </a:p>
        </p:txBody>
      </p:sp>
    </p:spTree>
    <p:custDataLst>
      <p:tags r:id="rId5"/>
    </p:custData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a:bodyPr>
          <a:p>
            <a:r>
              <a:rPr lang="zh-CN" altLang="en-US"/>
              <a:t>怎样才能把声音（模拟信号</a:t>
            </a:r>
            <a:r>
              <a:rPr lang="en-US" altLang="zh-CN"/>
              <a:t>）</a:t>
            </a:r>
            <a:r>
              <a:rPr lang="zh-CN" altLang="en-US"/>
              <a:t>是转成数字信号</a:t>
            </a:r>
            <a:r>
              <a:rPr lang="en-US"/>
              <a:t>？</a:t>
            </a:r>
            <a:endParaRPr lang="en-US"/>
          </a:p>
        </p:txBody>
      </p:sp>
      <p:sp>
        <p:nvSpPr>
          <p:cNvPr id="14" name="Text Box 13"/>
          <p:cNvSpPr txBox="1"/>
          <p:nvPr/>
        </p:nvSpPr>
        <p:spPr>
          <a:xfrm>
            <a:off x="691515" y="1313815"/>
            <a:ext cx="254762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cs typeface="Alibaba PuHuiTi 3.0 55 Regular" panose="00020600040101010101" charset="-122"/>
              </a:rPr>
              <a:t>1. </a:t>
            </a:r>
            <a:r>
              <a:rPr lang="zh-CN" altLang="en-US" sz="2200">
                <a:latin typeface="Alibaba PuHuiTi 3.0 55 Regular" panose="00020600040101010101" charset="-122"/>
                <a:ea typeface="Alibaba PuHuiTi 3.0 55 Regular" panose="00020600040101010101" charset="-122"/>
                <a:cs typeface="Alibaba PuHuiTi 3.0 55 Regular" panose="00020600040101010101" charset="-122"/>
              </a:rPr>
              <a:t>采样</a:t>
            </a:r>
            <a:r>
              <a:rPr lang="en-US" altLang="zh-CN" sz="2200">
                <a:latin typeface="Alibaba PuHuiTi 3.0 55 Regular" panose="00020600040101010101" charset="-122"/>
                <a:ea typeface="Alibaba PuHuiTi 3.0 55 Regular" panose="00020600040101010101" charset="-122"/>
                <a:cs typeface="Alibaba PuHuiTi 3.0 55 Regular" panose="00020600040101010101" charset="-122"/>
              </a:rPr>
              <a:t> Sampling</a:t>
            </a:r>
            <a:endParaRPr lang="en-US" altLang="zh-CN" sz="2200">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7" name="Text Box 16"/>
          <p:cNvSpPr txBox="1"/>
          <p:nvPr/>
        </p:nvSpPr>
        <p:spPr>
          <a:xfrm>
            <a:off x="3860165" y="1313815"/>
            <a:ext cx="3038475" cy="429895"/>
          </a:xfrm>
          <a:prstGeom prst="rect">
            <a:avLst/>
          </a:prstGeom>
          <a:noFill/>
        </p:spPr>
        <p:txBody>
          <a:bodyPr wrap="square" rtlCol="0">
            <a:spAutoFit/>
          </a:bodyPr>
          <a:p>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2. </a:t>
            </a:r>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量化</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 Quantization</a:t>
            </a:r>
            <a:endParaRPr lang="en-US" altLang="zh-CN" sz="2200" b="1">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18" name="Text Box 17"/>
          <p:cNvSpPr txBox="1"/>
          <p:nvPr/>
        </p:nvSpPr>
        <p:spPr>
          <a:xfrm>
            <a:off x="7519670" y="1313815"/>
            <a:ext cx="3822065" cy="429895"/>
          </a:xfrm>
          <a:prstGeom prst="rect">
            <a:avLst/>
          </a:prstGeom>
          <a:noFill/>
        </p:spPr>
        <p:txBody>
          <a:bodyPr wrap="square" rtlCol="0">
            <a:spAutoFit/>
          </a:bodyPr>
          <a:p>
            <a:r>
              <a:rPr lang="en-US" altLang="zh-CN" sz="2200">
                <a:latin typeface="Alibaba PuHuiTi 3.0 55 Regular" panose="00020600040101010101" charset="-122"/>
                <a:ea typeface="Alibaba PuHuiTi 3.0 55 Regular" panose="00020600040101010101" charset="-122"/>
              </a:rPr>
              <a:t>3. </a:t>
            </a:r>
            <a:r>
              <a:rPr lang="zh-CN" altLang="en-US" sz="2200">
                <a:latin typeface="Alibaba PuHuiTi 3.0 55 Regular" panose="00020600040101010101" charset="-122"/>
                <a:ea typeface="Alibaba PuHuiTi 3.0 55 Regular" panose="00020600040101010101" charset="-122"/>
              </a:rPr>
              <a:t>编码</a:t>
            </a:r>
            <a:r>
              <a:rPr lang="en-US" altLang="zh-CN" sz="2200">
                <a:latin typeface="Alibaba PuHuiTi 3.0 55 Regular" panose="00020600040101010101" charset="-122"/>
                <a:ea typeface="Alibaba PuHuiTi 3.0 55 Regular" panose="00020600040101010101" charset="-122"/>
              </a:rPr>
              <a:t> </a:t>
            </a:r>
            <a:r>
              <a:rPr lang="en-US" altLang="zh-CN" sz="2200">
                <a:latin typeface="Alibaba PuHuiTi 3.0 55 Regular" panose="00020600040101010101" charset="-122"/>
                <a:ea typeface="Alibaba PuHuiTi 3.0 55 Regular" panose="00020600040101010101" charset="-122"/>
              </a:rPr>
              <a:t>Encoding</a:t>
            </a:r>
            <a:endParaRPr lang="en-US" altLang="zh-CN" sz="2200">
              <a:latin typeface="Alibaba PuHuiTi 3.0 55 Regular" panose="00020600040101010101" charset="-122"/>
              <a:ea typeface="Alibaba PuHuiTi 3.0 55 Regular" panose="00020600040101010101" charset="-122"/>
            </a:endParaRPr>
          </a:p>
        </p:txBody>
      </p:sp>
      <p:cxnSp>
        <p:nvCxnSpPr>
          <p:cNvPr id="19" name="Straight Connector 18"/>
          <p:cNvCxnSpPr/>
          <p:nvPr/>
        </p:nvCxnSpPr>
        <p:spPr>
          <a:xfrm flipH="1">
            <a:off x="3202305" y="1529080"/>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cxnSp>
        <p:nvCxnSpPr>
          <p:cNvPr id="20" name="Straight Connector 19"/>
          <p:cNvCxnSpPr/>
          <p:nvPr/>
        </p:nvCxnSpPr>
        <p:spPr>
          <a:xfrm flipH="1">
            <a:off x="6861810" y="1528445"/>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12" name="Oval 11"/>
          <p:cNvSpPr/>
          <p:nvPr/>
        </p:nvSpPr>
        <p:spPr>
          <a:xfrm>
            <a:off x="1926590" y="419798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13" name="Straight Connector 12"/>
          <p:cNvCxnSpPr/>
          <p:nvPr/>
        </p:nvCxnSpPr>
        <p:spPr>
          <a:xfrm>
            <a:off x="1974850" y="4271645"/>
            <a:ext cx="0" cy="73977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5" name="Straight Connector 14"/>
          <p:cNvCxnSpPr>
            <a:stCxn id="36" idx="31"/>
          </p:cNvCxnSpPr>
          <p:nvPr/>
        </p:nvCxnSpPr>
        <p:spPr>
          <a:xfrm flipH="1">
            <a:off x="3222625" y="3726180"/>
            <a:ext cx="10795" cy="123444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6" name="Straight Connector 15"/>
          <p:cNvCxnSpPr/>
          <p:nvPr/>
        </p:nvCxnSpPr>
        <p:spPr>
          <a:xfrm>
            <a:off x="3721735" y="4398645"/>
            <a:ext cx="0" cy="57023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2" name="Straight Connector 21"/>
          <p:cNvCxnSpPr/>
          <p:nvPr/>
        </p:nvCxnSpPr>
        <p:spPr>
          <a:xfrm>
            <a:off x="3971290" y="4448810"/>
            <a:ext cx="0" cy="56324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4" name="Straight Connector 23"/>
          <p:cNvCxnSpPr/>
          <p:nvPr/>
        </p:nvCxnSpPr>
        <p:spPr>
          <a:xfrm>
            <a:off x="4220845" y="4180840"/>
            <a:ext cx="0" cy="83121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5" name="Straight Connector 24"/>
          <p:cNvCxnSpPr/>
          <p:nvPr/>
        </p:nvCxnSpPr>
        <p:spPr>
          <a:xfrm>
            <a:off x="1600200" y="2225040"/>
            <a:ext cx="0" cy="274320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27" name="Straight Connector 26"/>
          <p:cNvCxnSpPr/>
          <p:nvPr/>
        </p:nvCxnSpPr>
        <p:spPr>
          <a:xfrm flipH="1">
            <a:off x="1598930" y="4977130"/>
            <a:ext cx="312737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33" name="Text Box 32"/>
          <p:cNvSpPr txBox="1"/>
          <p:nvPr/>
        </p:nvSpPr>
        <p:spPr>
          <a:xfrm>
            <a:off x="4463415" y="5046345"/>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36" name="Freeform 35"/>
          <p:cNvSpPr/>
          <p:nvPr/>
        </p:nvSpPr>
        <p:spPr>
          <a:xfrm>
            <a:off x="1815465" y="2955925"/>
            <a:ext cx="2518410" cy="1645285"/>
          </a:xfrm>
          <a:custGeom>
            <a:avLst/>
            <a:gdLst>
              <a:gd name="connisteX0" fmla="*/ 0 w 2518410"/>
              <a:gd name="connsiteY0" fmla="*/ 1645002 h 1645002"/>
              <a:gd name="connisteX1" fmla="*/ 25400 w 2518410"/>
              <a:gd name="connsiteY1" fmla="*/ 1519907 h 1645002"/>
              <a:gd name="connisteX2" fmla="*/ 142240 w 2518410"/>
              <a:gd name="connsiteY2" fmla="*/ 1328137 h 1645002"/>
              <a:gd name="connisteX3" fmla="*/ 225425 w 2518410"/>
              <a:gd name="connsiteY3" fmla="*/ 1178277 h 1645002"/>
              <a:gd name="connisteX4" fmla="*/ 275590 w 2518410"/>
              <a:gd name="connsiteY4" fmla="*/ 1077947 h 1645002"/>
              <a:gd name="connisteX5" fmla="*/ 325120 w 2518410"/>
              <a:gd name="connsiteY5" fmla="*/ 978252 h 1645002"/>
              <a:gd name="connisteX6" fmla="*/ 358775 w 2518410"/>
              <a:gd name="connsiteY6" fmla="*/ 877922 h 1645002"/>
              <a:gd name="connisteX7" fmla="*/ 383540 w 2518410"/>
              <a:gd name="connsiteY7" fmla="*/ 811247 h 1645002"/>
              <a:gd name="connisteX8" fmla="*/ 400685 w 2518410"/>
              <a:gd name="connsiteY8" fmla="*/ 728062 h 1645002"/>
              <a:gd name="connisteX9" fmla="*/ 441960 w 2518410"/>
              <a:gd name="connsiteY9" fmla="*/ 611222 h 1645002"/>
              <a:gd name="connisteX10" fmla="*/ 459105 w 2518410"/>
              <a:gd name="connsiteY10" fmla="*/ 544547 h 1645002"/>
              <a:gd name="connisteX11" fmla="*/ 492125 w 2518410"/>
              <a:gd name="connsiteY11" fmla="*/ 419452 h 1645002"/>
              <a:gd name="connisteX12" fmla="*/ 525780 w 2518410"/>
              <a:gd name="connsiteY12" fmla="*/ 310867 h 1645002"/>
              <a:gd name="connisteX13" fmla="*/ 550545 w 2518410"/>
              <a:gd name="connsiteY13" fmla="*/ 227682 h 1645002"/>
              <a:gd name="connisteX14" fmla="*/ 567055 w 2518410"/>
              <a:gd name="connsiteY14" fmla="*/ 161007 h 1645002"/>
              <a:gd name="connisteX15" fmla="*/ 584200 w 2518410"/>
              <a:gd name="connsiteY15" fmla="*/ 94332 h 1645002"/>
              <a:gd name="connisteX16" fmla="*/ 625475 w 2518410"/>
              <a:gd name="connsiteY16" fmla="*/ 27657 h 1645002"/>
              <a:gd name="connisteX17" fmla="*/ 692150 w 2518410"/>
              <a:gd name="connsiteY17" fmla="*/ 10512 h 1645002"/>
              <a:gd name="connisteX18" fmla="*/ 784225 w 2518410"/>
              <a:gd name="connsiteY18" fmla="*/ 2257 h 1645002"/>
              <a:gd name="connisteX19" fmla="*/ 859155 w 2518410"/>
              <a:gd name="connsiteY19" fmla="*/ 2257 h 1645002"/>
              <a:gd name="connisteX20" fmla="*/ 925830 w 2518410"/>
              <a:gd name="connsiteY20" fmla="*/ 2257 h 1645002"/>
              <a:gd name="connisteX21" fmla="*/ 1000760 w 2518410"/>
              <a:gd name="connsiteY21" fmla="*/ 27657 h 1645002"/>
              <a:gd name="connisteX22" fmla="*/ 1067435 w 2518410"/>
              <a:gd name="connsiteY22" fmla="*/ 77187 h 1645002"/>
              <a:gd name="connisteX23" fmla="*/ 1125855 w 2518410"/>
              <a:gd name="connsiteY23" fmla="*/ 152752 h 1645002"/>
              <a:gd name="connisteX24" fmla="*/ 1176020 w 2518410"/>
              <a:gd name="connsiteY24" fmla="*/ 235937 h 1645002"/>
              <a:gd name="connisteX25" fmla="*/ 1217930 w 2518410"/>
              <a:gd name="connsiteY25" fmla="*/ 302612 h 1645002"/>
              <a:gd name="connisteX26" fmla="*/ 1242695 w 2518410"/>
              <a:gd name="connsiteY26" fmla="*/ 369287 h 1645002"/>
              <a:gd name="connisteX27" fmla="*/ 1276350 w 2518410"/>
              <a:gd name="connsiteY27" fmla="*/ 435962 h 1645002"/>
              <a:gd name="connisteX28" fmla="*/ 1309370 w 2518410"/>
              <a:gd name="connsiteY28" fmla="*/ 502637 h 1645002"/>
              <a:gd name="connisteX29" fmla="*/ 1351280 w 2518410"/>
              <a:gd name="connsiteY29" fmla="*/ 594712 h 1645002"/>
              <a:gd name="connisteX30" fmla="*/ 1384300 w 2518410"/>
              <a:gd name="connsiteY30" fmla="*/ 686152 h 1645002"/>
              <a:gd name="connisteX31" fmla="*/ 1417955 w 2518410"/>
              <a:gd name="connsiteY31" fmla="*/ 769972 h 1645002"/>
              <a:gd name="connisteX32" fmla="*/ 1450975 w 2518410"/>
              <a:gd name="connsiteY32" fmla="*/ 844902 h 1645002"/>
              <a:gd name="connisteX33" fmla="*/ 1476375 w 2518410"/>
              <a:gd name="connsiteY33" fmla="*/ 911577 h 1645002"/>
              <a:gd name="connisteX34" fmla="*/ 1501140 w 2518410"/>
              <a:gd name="connsiteY34" fmla="*/ 1003017 h 1645002"/>
              <a:gd name="connisteX35" fmla="*/ 1526540 w 2518410"/>
              <a:gd name="connsiteY35" fmla="*/ 1077947 h 1645002"/>
              <a:gd name="connisteX36" fmla="*/ 1551305 w 2518410"/>
              <a:gd name="connsiteY36" fmla="*/ 1153512 h 1645002"/>
              <a:gd name="connisteX37" fmla="*/ 1601470 w 2518410"/>
              <a:gd name="connsiteY37" fmla="*/ 1220187 h 1645002"/>
              <a:gd name="connisteX38" fmla="*/ 1676400 w 2518410"/>
              <a:gd name="connsiteY38" fmla="*/ 1269717 h 1645002"/>
              <a:gd name="connisteX39" fmla="*/ 1743075 w 2518410"/>
              <a:gd name="connsiteY39" fmla="*/ 1319882 h 1645002"/>
              <a:gd name="connisteX40" fmla="*/ 1809750 w 2518410"/>
              <a:gd name="connsiteY40" fmla="*/ 1353537 h 1645002"/>
              <a:gd name="connisteX41" fmla="*/ 1876425 w 2518410"/>
              <a:gd name="connsiteY41" fmla="*/ 1386557 h 1645002"/>
              <a:gd name="connisteX42" fmla="*/ 1951355 w 2518410"/>
              <a:gd name="connsiteY42" fmla="*/ 1411957 h 1645002"/>
              <a:gd name="connisteX43" fmla="*/ 2035175 w 2518410"/>
              <a:gd name="connsiteY43" fmla="*/ 1436722 h 1645002"/>
              <a:gd name="connisteX44" fmla="*/ 2110105 w 2518410"/>
              <a:gd name="connsiteY44" fmla="*/ 1453232 h 1645002"/>
              <a:gd name="connisteX45" fmla="*/ 2185035 w 2518410"/>
              <a:gd name="connsiteY45" fmla="*/ 1453232 h 1645002"/>
              <a:gd name="connisteX46" fmla="*/ 2251710 w 2518410"/>
              <a:gd name="connsiteY46" fmla="*/ 1444977 h 1645002"/>
              <a:gd name="connisteX47" fmla="*/ 2301875 w 2518410"/>
              <a:gd name="connsiteY47" fmla="*/ 1378302 h 1645002"/>
              <a:gd name="connisteX48" fmla="*/ 2343785 w 2518410"/>
              <a:gd name="connsiteY48" fmla="*/ 1311627 h 1645002"/>
              <a:gd name="connisteX49" fmla="*/ 2368550 w 2518410"/>
              <a:gd name="connsiteY49" fmla="*/ 1236697 h 1645002"/>
              <a:gd name="connisteX50" fmla="*/ 2402205 w 2518410"/>
              <a:gd name="connsiteY50" fmla="*/ 1161767 h 1645002"/>
              <a:gd name="connisteX51" fmla="*/ 2426970 w 2518410"/>
              <a:gd name="connsiteY51" fmla="*/ 1086837 h 1645002"/>
              <a:gd name="connisteX52" fmla="*/ 2468880 w 2518410"/>
              <a:gd name="connsiteY52" fmla="*/ 1019527 h 1645002"/>
              <a:gd name="connisteX53" fmla="*/ 2518410 w 2518410"/>
              <a:gd name="connsiteY53" fmla="*/ 944597 h 164500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Lst>
            <a:rect l="l" t="t" r="r" b="b"/>
            <a:pathLst>
              <a:path w="2518410" h="1645003">
                <a:moveTo>
                  <a:pt x="0" y="1645003"/>
                </a:moveTo>
                <a:cubicBezTo>
                  <a:pt x="2540" y="1624048"/>
                  <a:pt x="-3175" y="1583408"/>
                  <a:pt x="25400" y="1519908"/>
                </a:cubicBezTo>
                <a:cubicBezTo>
                  <a:pt x="53975" y="1456408"/>
                  <a:pt x="102235" y="1396718"/>
                  <a:pt x="142240" y="1328138"/>
                </a:cubicBezTo>
                <a:cubicBezTo>
                  <a:pt x="182245" y="1259558"/>
                  <a:pt x="198755" y="1228443"/>
                  <a:pt x="225425" y="1178278"/>
                </a:cubicBezTo>
                <a:cubicBezTo>
                  <a:pt x="252095" y="1128113"/>
                  <a:pt x="255905" y="1117953"/>
                  <a:pt x="275590" y="1077948"/>
                </a:cubicBezTo>
                <a:cubicBezTo>
                  <a:pt x="295275" y="1037943"/>
                  <a:pt x="308610" y="1018258"/>
                  <a:pt x="325120" y="978253"/>
                </a:cubicBezTo>
                <a:cubicBezTo>
                  <a:pt x="341630" y="938248"/>
                  <a:pt x="347345" y="911578"/>
                  <a:pt x="358775" y="877923"/>
                </a:cubicBezTo>
                <a:cubicBezTo>
                  <a:pt x="370205" y="844268"/>
                  <a:pt x="375285" y="841093"/>
                  <a:pt x="383540" y="811248"/>
                </a:cubicBezTo>
                <a:cubicBezTo>
                  <a:pt x="391795" y="781403"/>
                  <a:pt x="389255" y="768068"/>
                  <a:pt x="400685" y="728063"/>
                </a:cubicBezTo>
                <a:cubicBezTo>
                  <a:pt x="412115" y="688058"/>
                  <a:pt x="430530" y="648053"/>
                  <a:pt x="441960" y="611223"/>
                </a:cubicBezTo>
                <a:cubicBezTo>
                  <a:pt x="453390" y="574393"/>
                  <a:pt x="448945" y="582648"/>
                  <a:pt x="459105" y="544548"/>
                </a:cubicBezTo>
                <a:cubicBezTo>
                  <a:pt x="469265" y="506448"/>
                  <a:pt x="478790" y="466443"/>
                  <a:pt x="492125" y="419453"/>
                </a:cubicBezTo>
                <a:cubicBezTo>
                  <a:pt x="505460" y="372463"/>
                  <a:pt x="514350" y="348968"/>
                  <a:pt x="525780" y="310868"/>
                </a:cubicBezTo>
                <a:cubicBezTo>
                  <a:pt x="537210" y="272768"/>
                  <a:pt x="542290" y="257528"/>
                  <a:pt x="550545" y="227683"/>
                </a:cubicBezTo>
                <a:cubicBezTo>
                  <a:pt x="558800" y="197838"/>
                  <a:pt x="560070" y="187678"/>
                  <a:pt x="567055" y="161008"/>
                </a:cubicBezTo>
                <a:cubicBezTo>
                  <a:pt x="574040" y="134338"/>
                  <a:pt x="572770" y="121003"/>
                  <a:pt x="584200" y="94333"/>
                </a:cubicBezTo>
                <a:cubicBezTo>
                  <a:pt x="595630" y="67663"/>
                  <a:pt x="603885" y="44168"/>
                  <a:pt x="625475" y="27658"/>
                </a:cubicBezTo>
                <a:cubicBezTo>
                  <a:pt x="647065" y="11148"/>
                  <a:pt x="660400" y="15593"/>
                  <a:pt x="692150" y="10513"/>
                </a:cubicBezTo>
                <a:cubicBezTo>
                  <a:pt x="723900" y="5433"/>
                  <a:pt x="750570" y="4163"/>
                  <a:pt x="784225" y="2258"/>
                </a:cubicBezTo>
                <a:cubicBezTo>
                  <a:pt x="817880" y="353"/>
                  <a:pt x="830580" y="2258"/>
                  <a:pt x="859155" y="2258"/>
                </a:cubicBezTo>
                <a:cubicBezTo>
                  <a:pt x="887730" y="2258"/>
                  <a:pt x="897255" y="-2822"/>
                  <a:pt x="925830" y="2258"/>
                </a:cubicBezTo>
                <a:cubicBezTo>
                  <a:pt x="954405" y="7338"/>
                  <a:pt x="972185" y="12418"/>
                  <a:pt x="1000760" y="27658"/>
                </a:cubicBezTo>
                <a:cubicBezTo>
                  <a:pt x="1029335" y="42898"/>
                  <a:pt x="1042670" y="52423"/>
                  <a:pt x="1067435" y="77188"/>
                </a:cubicBezTo>
                <a:cubicBezTo>
                  <a:pt x="1092200" y="101953"/>
                  <a:pt x="1104265" y="121003"/>
                  <a:pt x="1125855" y="152753"/>
                </a:cubicBezTo>
                <a:cubicBezTo>
                  <a:pt x="1147445" y="184503"/>
                  <a:pt x="1157605" y="206093"/>
                  <a:pt x="1176020" y="235938"/>
                </a:cubicBezTo>
                <a:cubicBezTo>
                  <a:pt x="1194435" y="265783"/>
                  <a:pt x="1204595" y="275943"/>
                  <a:pt x="1217930" y="302613"/>
                </a:cubicBezTo>
                <a:cubicBezTo>
                  <a:pt x="1231265" y="329283"/>
                  <a:pt x="1231265" y="342618"/>
                  <a:pt x="1242695" y="369288"/>
                </a:cubicBezTo>
                <a:cubicBezTo>
                  <a:pt x="1254125" y="395958"/>
                  <a:pt x="1263015" y="409293"/>
                  <a:pt x="1276350" y="435963"/>
                </a:cubicBezTo>
                <a:cubicBezTo>
                  <a:pt x="1289685" y="462633"/>
                  <a:pt x="1294130" y="470888"/>
                  <a:pt x="1309370" y="502638"/>
                </a:cubicBezTo>
                <a:cubicBezTo>
                  <a:pt x="1324610" y="534388"/>
                  <a:pt x="1336040" y="557883"/>
                  <a:pt x="1351280" y="594713"/>
                </a:cubicBezTo>
                <a:cubicBezTo>
                  <a:pt x="1366520" y="631543"/>
                  <a:pt x="1370965" y="651228"/>
                  <a:pt x="1384300" y="686153"/>
                </a:cubicBezTo>
                <a:cubicBezTo>
                  <a:pt x="1397635" y="721078"/>
                  <a:pt x="1404620" y="738223"/>
                  <a:pt x="1417955" y="769973"/>
                </a:cubicBezTo>
                <a:cubicBezTo>
                  <a:pt x="1431290" y="801723"/>
                  <a:pt x="1439545" y="816328"/>
                  <a:pt x="1450975" y="844903"/>
                </a:cubicBezTo>
                <a:cubicBezTo>
                  <a:pt x="1462405" y="873478"/>
                  <a:pt x="1466215" y="879828"/>
                  <a:pt x="1476375" y="911578"/>
                </a:cubicBezTo>
                <a:cubicBezTo>
                  <a:pt x="1486535" y="943328"/>
                  <a:pt x="1490980" y="969998"/>
                  <a:pt x="1501140" y="1003018"/>
                </a:cubicBezTo>
                <a:cubicBezTo>
                  <a:pt x="1511300" y="1036038"/>
                  <a:pt x="1516380" y="1048103"/>
                  <a:pt x="1526540" y="1077948"/>
                </a:cubicBezTo>
                <a:cubicBezTo>
                  <a:pt x="1536700" y="1107793"/>
                  <a:pt x="1536065" y="1124938"/>
                  <a:pt x="1551305" y="1153513"/>
                </a:cubicBezTo>
                <a:cubicBezTo>
                  <a:pt x="1566545" y="1182088"/>
                  <a:pt x="1576705" y="1196693"/>
                  <a:pt x="1601470" y="1220188"/>
                </a:cubicBezTo>
                <a:cubicBezTo>
                  <a:pt x="1626235" y="1243683"/>
                  <a:pt x="1647825" y="1250033"/>
                  <a:pt x="1676400" y="1269718"/>
                </a:cubicBezTo>
                <a:cubicBezTo>
                  <a:pt x="1704975" y="1289403"/>
                  <a:pt x="1716405" y="1303373"/>
                  <a:pt x="1743075" y="1319883"/>
                </a:cubicBezTo>
                <a:cubicBezTo>
                  <a:pt x="1769745" y="1336393"/>
                  <a:pt x="1783080" y="1340203"/>
                  <a:pt x="1809750" y="1353538"/>
                </a:cubicBezTo>
                <a:cubicBezTo>
                  <a:pt x="1836420" y="1366873"/>
                  <a:pt x="1847850" y="1375128"/>
                  <a:pt x="1876425" y="1386558"/>
                </a:cubicBezTo>
                <a:cubicBezTo>
                  <a:pt x="1905000" y="1397988"/>
                  <a:pt x="1919605" y="1401798"/>
                  <a:pt x="1951355" y="1411958"/>
                </a:cubicBezTo>
                <a:cubicBezTo>
                  <a:pt x="1983105" y="1422118"/>
                  <a:pt x="2003425" y="1428468"/>
                  <a:pt x="2035175" y="1436723"/>
                </a:cubicBezTo>
                <a:cubicBezTo>
                  <a:pt x="2066925" y="1444978"/>
                  <a:pt x="2080260" y="1450058"/>
                  <a:pt x="2110105" y="1453233"/>
                </a:cubicBezTo>
                <a:cubicBezTo>
                  <a:pt x="2139950" y="1456408"/>
                  <a:pt x="2156460" y="1455138"/>
                  <a:pt x="2185035" y="1453233"/>
                </a:cubicBezTo>
                <a:cubicBezTo>
                  <a:pt x="2213610" y="1451328"/>
                  <a:pt x="2228215" y="1460218"/>
                  <a:pt x="2251710" y="1444978"/>
                </a:cubicBezTo>
                <a:cubicBezTo>
                  <a:pt x="2275205" y="1429738"/>
                  <a:pt x="2283460" y="1404973"/>
                  <a:pt x="2301875" y="1378303"/>
                </a:cubicBezTo>
                <a:cubicBezTo>
                  <a:pt x="2320290" y="1351633"/>
                  <a:pt x="2330450" y="1340203"/>
                  <a:pt x="2343785" y="1311628"/>
                </a:cubicBezTo>
                <a:cubicBezTo>
                  <a:pt x="2357120" y="1283053"/>
                  <a:pt x="2357120" y="1266543"/>
                  <a:pt x="2368550" y="1236698"/>
                </a:cubicBezTo>
                <a:cubicBezTo>
                  <a:pt x="2379980" y="1206853"/>
                  <a:pt x="2390775" y="1191613"/>
                  <a:pt x="2402205" y="1161768"/>
                </a:cubicBezTo>
                <a:cubicBezTo>
                  <a:pt x="2413635" y="1131923"/>
                  <a:pt x="2413635" y="1115413"/>
                  <a:pt x="2426970" y="1086838"/>
                </a:cubicBezTo>
                <a:cubicBezTo>
                  <a:pt x="2440305" y="1058263"/>
                  <a:pt x="2450465" y="1048103"/>
                  <a:pt x="2468880" y="1019528"/>
                </a:cubicBezTo>
                <a:cubicBezTo>
                  <a:pt x="2487295" y="990953"/>
                  <a:pt x="2509520" y="957933"/>
                  <a:pt x="2518410" y="944598"/>
                </a:cubicBezTo>
              </a:path>
            </a:pathLst>
          </a:custGeom>
          <a:noFill/>
          <a:ln w="38100">
            <a:solidFill>
              <a:schemeClr val="tx1"/>
            </a:solidFill>
          </a:ln>
        </p:spPr>
        <p:txBody>
          <a:bodyPr vert="horz" lIns="90000" tIns="46800" rIns="90000" bIns="46800" rtlCol="0" anchor="ctr" anchorCtr="0">
            <a:noAutofit/>
          </a:bodyPr>
          <a:p>
            <a:endParaRPr lang="zh-CN" altLang="en-US" sz="2445">
              <a:solidFill>
                <a:schemeClr val="tx1"/>
              </a:solidFill>
            </a:endParaRPr>
          </a:p>
        </p:txBody>
      </p:sp>
      <p:sp>
        <p:nvSpPr>
          <p:cNvPr id="45" name="Text Box 44"/>
          <p:cNvSpPr txBox="1"/>
          <p:nvPr/>
        </p:nvSpPr>
        <p:spPr>
          <a:xfrm>
            <a:off x="1757045" y="5046345"/>
            <a:ext cx="296926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8" name="Oval 7"/>
          <p:cNvSpPr/>
          <p:nvPr/>
        </p:nvSpPr>
        <p:spPr>
          <a:xfrm>
            <a:off x="2417445" y="293941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9" name="Oval 8"/>
          <p:cNvSpPr/>
          <p:nvPr/>
        </p:nvSpPr>
        <p:spPr>
          <a:xfrm>
            <a:off x="3193415" y="368427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1" name="Oval 50"/>
          <p:cNvSpPr/>
          <p:nvPr/>
        </p:nvSpPr>
        <p:spPr>
          <a:xfrm>
            <a:off x="3691255" y="430212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2" name="Oval 51"/>
          <p:cNvSpPr/>
          <p:nvPr/>
        </p:nvSpPr>
        <p:spPr>
          <a:xfrm>
            <a:off x="4174490" y="408432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58" name="Straight Connector 57"/>
          <p:cNvCxnSpPr>
            <a:endCxn id="84" idx="3"/>
          </p:cNvCxnSpPr>
          <p:nvPr/>
        </p:nvCxnSpPr>
        <p:spPr>
          <a:xfrm flipV="1">
            <a:off x="1974850" y="3757295"/>
            <a:ext cx="199390" cy="52070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79" name="Straight Connector 78"/>
          <p:cNvCxnSpPr>
            <a:stCxn id="36" idx="8"/>
          </p:cNvCxnSpPr>
          <p:nvPr/>
        </p:nvCxnSpPr>
        <p:spPr>
          <a:xfrm>
            <a:off x="2216150" y="3684270"/>
            <a:ext cx="8255" cy="13271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0" name="Straight Connector 79"/>
          <p:cNvCxnSpPr/>
          <p:nvPr/>
        </p:nvCxnSpPr>
        <p:spPr>
          <a:xfrm>
            <a:off x="2473960" y="2983230"/>
            <a:ext cx="0" cy="202819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1" name="Straight Connector 80"/>
          <p:cNvCxnSpPr/>
          <p:nvPr/>
        </p:nvCxnSpPr>
        <p:spPr>
          <a:xfrm>
            <a:off x="2723515" y="2978785"/>
            <a:ext cx="0" cy="203263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2" name="Straight Connector 81"/>
          <p:cNvCxnSpPr>
            <a:stCxn id="54" idx="1"/>
          </p:cNvCxnSpPr>
          <p:nvPr/>
        </p:nvCxnSpPr>
        <p:spPr>
          <a:xfrm flipH="1">
            <a:off x="2973070" y="3138170"/>
            <a:ext cx="3175" cy="18732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3" name="Straight Connector 82"/>
          <p:cNvCxnSpPr/>
          <p:nvPr/>
        </p:nvCxnSpPr>
        <p:spPr>
          <a:xfrm>
            <a:off x="3472180" y="4244340"/>
            <a:ext cx="0" cy="76708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84" name="Oval 83"/>
          <p:cNvSpPr/>
          <p:nvPr/>
        </p:nvSpPr>
        <p:spPr>
          <a:xfrm>
            <a:off x="2160270" y="367474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5" name="Oval 84"/>
          <p:cNvSpPr/>
          <p:nvPr/>
        </p:nvSpPr>
        <p:spPr>
          <a:xfrm>
            <a:off x="2675255" y="290893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6" name="Oval 85"/>
          <p:cNvSpPr/>
          <p:nvPr/>
        </p:nvSpPr>
        <p:spPr>
          <a:xfrm>
            <a:off x="2941320" y="308991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7" name="Oval 86"/>
          <p:cNvSpPr/>
          <p:nvPr/>
        </p:nvSpPr>
        <p:spPr>
          <a:xfrm>
            <a:off x="3421380" y="41808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8" name="Oval 87"/>
          <p:cNvSpPr/>
          <p:nvPr/>
        </p:nvSpPr>
        <p:spPr>
          <a:xfrm>
            <a:off x="3936365" y="436372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98" name="Straight Connector 97"/>
          <p:cNvCxnSpPr>
            <a:endCxn id="8" idx="2"/>
          </p:cNvCxnSpPr>
          <p:nvPr/>
        </p:nvCxnSpPr>
        <p:spPr>
          <a:xfrm flipV="1">
            <a:off x="2224405" y="2987675"/>
            <a:ext cx="193040" cy="6965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9" name="Straight Connector 98"/>
          <p:cNvCxnSpPr>
            <a:endCxn id="91" idx="2"/>
          </p:cNvCxnSpPr>
          <p:nvPr/>
        </p:nvCxnSpPr>
        <p:spPr>
          <a:xfrm flipV="1">
            <a:off x="2466975" y="2938780"/>
            <a:ext cx="238760" cy="349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0" name="Straight Connector 99"/>
          <p:cNvCxnSpPr>
            <a:stCxn id="85" idx="5"/>
            <a:endCxn id="86" idx="2"/>
          </p:cNvCxnSpPr>
          <p:nvPr/>
        </p:nvCxnSpPr>
        <p:spPr>
          <a:xfrm>
            <a:off x="2757805" y="2991485"/>
            <a:ext cx="183515" cy="14668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1" name="Straight Connector 100"/>
          <p:cNvCxnSpPr>
            <a:stCxn id="86" idx="4"/>
            <a:endCxn id="36" idx="31"/>
          </p:cNvCxnSpPr>
          <p:nvPr/>
        </p:nvCxnSpPr>
        <p:spPr>
          <a:xfrm>
            <a:off x="2989580" y="3186430"/>
            <a:ext cx="243840" cy="5397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2" name="Straight Connector 101"/>
          <p:cNvCxnSpPr>
            <a:stCxn id="9" idx="5"/>
            <a:endCxn id="87" idx="1"/>
          </p:cNvCxnSpPr>
          <p:nvPr/>
        </p:nvCxnSpPr>
        <p:spPr>
          <a:xfrm>
            <a:off x="3275965" y="3766820"/>
            <a:ext cx="159385" cy="4279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3" name="Straight Connector 102"/>
          <p:cNvCxnSpPr>
            <a:stCxn id="87" idx="5"/>
            <a:endCxn id="51" idx="2"/>
          </p:cNvCxnSpPr>
          <p:nvPr/>
        </p:nvCxnSpPr>
        <p:spPr>
          <a:xfrm>
            <a:off x="3503930" y="4263390"/>
            <a:ext cx="187325" cy="869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4" name="Straight Connector 103"/>
          <p:cNvCxnSpPr>
            <a:stCxn id="51" idx="5"/>
            <a:endCxn id="93" idx="2"/>
          </p:cNvCxnSpPr>
          <p:nvPr/>
        </p:nvCxnSpPr>
        <p:spPr>
          <a:xfrm>
            <a:off x="3773805" y="4384675"/>
            <a:ext cx="193675" cy="222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5" name="Straight Connector 104"/>
          <p:cNvCxnSpPr>
            <a:stCxn id="88" idx="5"/>
            <a:endCxn id="52" idx="2"/>
          </p:cNvCxnSpPr>
          <p:nvPr/>
        </p:nvCxnSpPr>
        <p:spPr>
          <a:xfrm flipV="1">
            <a:off x="4018915" y="4132580"/>
            <a:ext cx="155575" cy="3136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5" name="Straight Connector 4"/>
          <p:cNvCxnSpPr/>
          <p:nvPr/>
        </p:nvCxnSpPr>
        <p:spPr>
          <a:xfrm>
            <a:off x="1616710" y="431419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21" name="Straight Connector 20"/>
          <p:cNvCxnSpPr/>
          <p:nvPr/>
        </p:nvCxnSpPr>
        <p:spPr>
          <a:xfrm>
            <a:off x="1616710" y="298831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23" name="Straight Connector 22"/>
          <p:cNvCxnSpPr/>
          <p:nvPr/>
        </p:nvCxnSpPr>
        <p:spPr>
          <a:xfrm>
            <a:off x="1616710" y="365125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3" name="Text Box 2"/>
          <p:cNvSpPr txBox="1"/>
          <p:nvPr/>
        </p:nvSpPr>
        <p:spPr>
          <a:xfrm>
            <a:off x="1835785" y="5603240"/>
            <a:ext cx="1937385"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量化等级为</a:t>
            </a:r>
            <a:r>
              <a:rPr lang="en-US" altLang="zh-CN" sz="2200">
                <a:latin typeface="Alibaba PuHuiTi 3.0 55 Regular" panose="00020600040101010101" charset="-122"/>
                <a:ea typeface="Alibaba PuHuiTi 3.0 55 Regular" panose="00020600040101010101" charset="-122"/>
              </a:rPr>
              <a:t>4</a:t>
            </a:r>
            <a:endParaRPr lang="en-US" altLang="zh-CN" sz="2200">
              <a:latin typeface="Alibaba PuHuiTi 3.0 55 Regular" panose="00020600040101010101" charset="-122"/>
              <a:ea typeface="Alibaba PuHuiTi 3.0 55 Regular" panose="00020600040101010101" charset="-122"/>
            </a:endParaRPr>
          </a:p>
        </p:txBody>
      </p:sp>
      <p:sp>
        <p:nvSpPr>
          <p:cNvPr id="4" name="Text Box 3"/>
          <p:cNvSpPr txBox="1"/>
          <p:nvPr/>
        </p:nvSpPr>
        <p:spPr>
          <a:xfrm>
            <a:off x="448945" y="2225040"/>
            <a:ext cx="1130300" cy="429895"/>
          </a:xfrm>
          <a:prstGeom prst="rect">
            <a:avLst/>
          </a:prstGeom>
          <a:noFill/>
        </p:spPr>
        <p:txBody>
          <a:bodyPr wrap="square" rtlCol="0">
            <a:noAutofit/>
          </a:bodyPr>
          <a:p>
            <a:pPr algn="r"/>
            <a:r>
              <a:rPr lang="zh-CN" altLang="en-US" sz="2200">
                <a:latin typeface="Alibaba PuHuiTi 3.0 55 Regular" panose="00020600040101010101" charset="-122"/>
                <a:ea typeface="Alibaba PuHuiTi 3.0 55 Regular" panose="00020600040101010101" charset="-122"/>
              </a:rPr>
              <a:t>量化值</a:t>
            </a:r>
            <a:endParaRPr lang="zh-CN" altLang="en-US" sz="2200">
              <a:latin typeface="Alibaba PuHuiTi 3.0 55 Regular" panose="00020600040101010101" charset="-122"/>
              <a:ea typeface="Alibaba PuHuiTi 3.0 55 Regular" panose="00020600040101010101" charset="-122"/>
            </a:endParaRPr>
          </a:p>
        </p:txBody>
      </p:sp>
      <p:sp>
        <p:nvSpPr>
          <p:cNvPr id="11" name="Oval 10"/>
          <p:cNvSpPr/>
          <p:nvPr/>
        </p:nvSpPr>
        <p:spPr>
          <a:xfrm>
            <a:off x="6818630" y="419290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34" name="Straight Connector 33"/>
          <p:cNvCxnSpPr/>
          <p:nvPr/>
        </p:nvCxnSpPr>
        <p:spPr>
          <a:xfrm>
            <a:off x="6866890" y="4266565"/>
            <a:ext cx="0" cy="73977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5" name="Straight Connector 34"/>
          <p:cNvCxnSpPr>
            <a:stCxn id="44" idx="31"/>
          </p:cNvCxnSpPr>
          <p:nvPr/>
        </p:nvCxnSpPr>
        <p:spPr>
          <a:xfrm flipH="1">
            <a:off x="8114665" y="3721100"/>
            <a:ext cx="10795" cy="123444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7" name="Straight Connector 36"/>
          <p:cNvCxnSpPr/>
          <p:nvPr/>
        </p:nvCxnSpPr>
        <p:spPr>
          <a:xfrm>
            <a:off x="8613775" y="4393565"/>
            <a:ext cx="0" cy="57023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8" name="Straight Connector 37"/>
          <p:cNvCxnSpPr/>
          <p:nvPr/>
        </p:nvCxnSpPr>
        <p:spPr>
          <a:xfrm>
            <a:off x="8863330" y="4443730"/>
            <a:ext cx="0" cy="56324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9" name="Straight Connector 38"/>
          <p:cNvCxnSpPr/>
          <p:nvPr/>
        </p:nvCxnSpPr>
        <p:spPr>
          <a:xfrm>
            <a:off x="9112885" y="4175760"/>
            <a:ext cx="0" cy="83121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40" name="Straight Connector 39"/>
          <p:cNvCxnSpPr/>
          <p:nvPr/>
        </p:nvCxnSpPr>
        <p:spPr>
          <a:xfrm>
            <a:off x="6492240" y="2219960"/>
            <a:ext cx="0" cy="274320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41" name="Straight Connector 40"/>
          <p:cNvCxnSpPr/>
          <p:nvPr/>
        </p:nvCxnSpPr>
        <p:spPr>
          <a:xfrm flipH="1">
            <a:off x="6490970" y="4970145"/>
            <a:ext cx="312737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42" name="Text Box 41"/>
          <p:cNvSpPr txBox="1"/>
          <p:nvPr/>
        </p:nvSpPr>
        <p:spPr>
          <a:xfrm>
            <a:off x="5340985" y="2219960"/>
            <a:ext cx="1130300" cy="429895"/>
          </a:xfrm>
          <a:prstGeom prst="rect">
            <a:avLst/>
          </a:prstGeom>
          <a:noFill/>
        </p:spPr>
        <p:txBody>
          <a:bodyPr wrap="square" rtlCol="0">
            <a:noAutofit/>
          </a:bodyPr>
          <a:p>
            <a:pPr algn="r"/>
            <a:r>
              <a:rPr lang="zh-CN" altLang="en-US" sz="2200">
                <a:latin typeface="Alibaba PuHuiTi 3.0 55 Regular" panose="00020600040101010101" charset="-122"/>
                <a:ea typeface="Alibaba PuHuiTi 3.0 55 Regular" panose="00020600040101010101" charset="-122"/>
              </a:rPr>
              <a:t>量化值</a:t>
            </a:r>
            <a:endParaRPr lang="zh-CN" altLang="en-US" sz="2200">
              <a:latin typeface="Alibaba PuHuiTi 3.0 55 Regular" panose="00020600040101010101" charset="-122"/>
              <a:ea typeface="Alibaba PuHuiTi 3.0 55 Regular" panose="00020600040101010101" charset="-122"/>
            </a:endParaRPr>
          </a:p>
        </p:txBody>
      </p:sp>
      <p:sp>
        <p:nvSpPr>
          <p:cNvPr id="43" name="Text Box 42"/>
          <p:cNvSpPr txBox="1"/>
          <p:nvPr/>
        </p:nvSpPr>
        <p:spPr>
          <a:xfrm>
            <a:off x="9355455" y="5041265"/>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44" name="Freeform 43"/>
          <p:cNvSpPr/>
          <p:nvPr/>
        </p:nvSpPr>
        <p:spPr>
          <a:xfrm>
            <a:off x="6707505" y="2950845"/>
            <a:ext cx="2518410" cy="1645285"/>
          </a:xfrm>
          <a:custGeom>
            <a:avLst/>
            <a:gdLst>
              <a:gd name="connisteX0" fmla="*/ 0 w 2518410"/>
              <a:gd name="connsiteY0" fmla="*/ 1645002 h 1645002"/>
              <a:gd name="connisteX1" fmla="*/ 25400 w 2518410"/>
              <a:gd name="connsiteY1" fmla="*/ 1519907 h 1645002"/>
              <a:gd name="connisteX2" fmla="*/ 142240 w 2518410"/>
              <a:gd name="connsiteY2" fmla="*/ 1328137 h 1645002"/>
              <a:gd name="connisteX3" fmla="*/ 225425 w 2518410"/>
              <a:gd name="connsiteY3" fmla="*/ 1178277 h 1645002"/>
              <a:gd name="connisteX4" fmla="*/ 275590 w 2518410"/>
              <a:gd name="connsiteY4" fmla="*/ 1077947 h 1645002"/>
              <a:gd name="connisteX5" fmla="*/ 325120 w 2518410"/>
              <a:gd name="connsiteY5" fmla="*/ 978252 h 1645002"/>
              <a:gd name="connisteX6" fmla="*/ 358775 w 2518410"/>
              <a:gd name="connsiteY6" fmla="*/ 877922 h 1645002"/>
              <a:gd name="connisteX7" fmla="*/ 383540 w 2518410"/>
              <a:gd name="connsiteY7" fmla="*/ 811247 h 1645002"/>
              <a:gd name="connisteX8" fmla="*/ 400685 w 2518410"/>
              <a:gd name="connsiteY8" fmla="*/ 728062 h 1645002"/>
              <a:gd name="connisteX9" fmla="*/ 441960 w 2518410"/>
              <a:gd name="connsiteY9" fmla="*/ 611222 h 1645002"/>
              <a:gd name="connisteX10" fmla="*/ 459105 w 2518410"/>
              <a:gd name="connsiteY10" fmla="*/ 544547 h 1645002"/>
              <a:gd name="connisteX11" fmla="*/ 492125 w 2518410"/>
              <a:gd name="connsiteY11" fmla="*/ 419452 h 1645002"/>
              <a:gd name="connisteX12" fmla="*/ 525780 w 2518410"/>
              <a:gd name="connsiteY12" fmla="*/ 310867 h 1645002"/>
              <a:gd name="connisteX13" fmla="*/ 550545 w 2518410"/>
              <a:gd name="connsiteY13" fmla="*/ 227682 h 1645002"/>
              <a:gd name="connisteX14" fmla="*/ 567055 w 2518410"/>
              <a:gd name="connsiteY14" fmla="*/ 161007 h 1645002"/>
              <a:gd name="connisteX15" fmla="*/ 584200 w 2518410"/>
              <a:gd name="connsiteY15" fmla="*/ 94332 h 1645002"/>
              <a:gd name="connisteX16" fmla="*/ 625475 w 2518410"/>
              <a:gd name="connsiteY16" fmla="*/ 27657 h 1645002"/>
              <a:gd name="connisteX17" fmla="*/ 692150 w 2518410"/>
              <a:gd name="connsiteY17" fmla="*/ 10512 h 1645002"/>
              <a:gd name="connisteX18" fmla="*/ 784225 w 2518410"/>
              <a:gd name="connsiteY18" fmla="*/ 2257 h 1645002"/>
              <a:gd name="connisteX19" fmla="*/ 859155 w 2518410"/>
              <a:gd name="connsiteY19" fmla="*/ 2257 h 1645002"/>
              <a:gd name="connisteX20" fmla="*/ 925830 w 2518410"/>
              <a:gd name="connsiteY20" fmla="*/ 2257 h 1645002"/>
              <a:gd name="connisteX21" fmla="*/ 1000760 w 2518410"/>
              <a:gd name="connsiteY21" fmla="*/ 27657 h 1645002"/>
              <a:gd name="connisteX22" fmla="*/ 1067435 w 2518410"/>
              <a:gd name="connsiteY22" fmla="*/ 77187 h 1645002"/>
              <a:gd name="connisteX23" fmla="*/ 1125855 w 2518410"/>
              <a:gd name="connsiteY23" fmla="*/ 152752 h 1645002"/>
              <a:gd name="connisteX24" fmla="*/ 1176020 w 2518410"/>
              <a:gd name="connsiteY24" fmla="*/ 235937 h 1645002"/>
              <a:gd name="connisteX25" fmla="*/ 1217930 w 2518410"/>
              <a:gd name="connsiteY25" fmla="*/ 302612 h 1645002"/>
              <a:gd name="connisteX26" fmla="*/ 1242695 w 2518410"/>
              <a:gd name="connsiteY26" fmla="*/ 369287 h 1645002"/>
              <a:gd name="connisteX27" fmla="*/ 1276350 w 2518410"/>
              <a:gd name="connsiteY27" fmla="*/ 435962 h 1645002"/>
              <a:gd name="connisteX28" fmla="*/ 1309370 w 2518410"/>
              <a:gd name="connsiteY28" fmla="*/ 502637 h 1645002"/>
              <a:gd name="connisteX29" fmla="*/ 1351280 w 2518410"/>
              <a:gd name="connsiteY29" fmla="*/ 594712 h 1645002"/>
              <a:gd name="connisteX30" fmla="*/ 1384300 w 2518410"/>
              <a:gd name="connsiteY30" fmla="*/ 686152 h 1645002"/>
              <a:gd name="connisteX31" fmla="*/ 1417955 w 2518410"/>
              <a:gd name="connsiteY31" fmla="*/ 769972 h 1645002"/>
              <a:gd name="connisteX32" fmla="*/ 1450975 w 2518410"/>
              <a:gd name="connsiteY32" fmla="*/ 844902 h 1645002"/>
              <a:gd name="connisteX33" fmla="*/ 1476375 w 2518410"/>
              <a:gd name="connsiteY33" fmla="*/ 911577 h 1645002"/>
              <a:gd name="connisteX34" fmla="*/ 1501140 w 2518410"/>
              <a:gd name="connsiteY34" fmla="*/ 1003017 h 1645002"/>
              <a:gd name="connisteX35" fmla="*/ 1526540 w 2518410"/>
              <a:gd name="connsiteY35" fmla="*/ 1077947 h 1645002"/>
              <a:gd name="connisteX36" fmla="*/ 1551305 w 2518410"/>
              <a:gd name="connsiteY36" fmla="*/ 1153512 h 1645002"/>
              <a:gd name="connisteX37" fmla="*/ 1601470 w 2518410"/>
              <a:gd name="connsiteY37" fmla="*/ 1220187 h 1645002"/>
              <a:gd name="connisteX38" fmla="*/ 1676400 w 2518410"/>
              <a:gd name="connsiteY38" fmla="*/ 1269717 h 1645002"/>
              <a:gd name="connisteX39" fmla="*/ 1743075 w 2518410"/>
              <a:gd name="connsiteY39" fmla="*/ 1319882 h 1645002"/>
              <a:gd name="connisteX40" fmla="*/ 1809750 w 2518410"/>
              <a:gd name="connsiteY40" fmla="*/ 1353537 h 1645002"/>
              <a:gd name="connisteX41" fmla="*/ 1876425 w 2518410"/>
              <a:gd name="connsiteY41" fmla="*/ 1386557 h 1645002"/>
              <a:gd name="connisteX42" fmla="*/ 1951355 w 2518410"/>
              <a:gd name="connsiteY42" fmla="*/ 1411957 h 1645002"/>
              <a:gd name="connisteX43" fmla="*/ 2035175 w 2518410"/>
              <a:gd name="connsiteY43" fmla="*/ 1436722 h 1645002"/>
              <a:gd name="connisteX44" fmla="*/ 2110105 w 2518410"/>
              <a:gd name="connsiteY44" fmla="*/ 1453232 h 1645002"/>
              <a:gd name="connisteX45" fmla="*/ 2185035 w 2518410"/>
              <a:gd name="connsiteY45" fmla="*/ 1453232 h 1645002"/>
              <a:gd name="connisteX46" fmla="*/ 2251710 w 2518410"/>
              <a:gd name="connsiteY46" fmla="*/ 1444977 h 1645002"/>
              <a:gd name="connisteX47" fmla="*/ 2301875 w 2518410"/>
              <a:gd name="connsiteY47" fmla="*/ 1378302 h 1645002"/>
              <a:gd name="connisteX48" fmla="*/ 2343785 w 2518410"/>
              <a:gd name="connsiteY48" fmla="*/ 1311627 h 1645002"/>
              <a:gd name="connisteX49" fmla="*/ 2368550 w 2518410"/>
              <a:gd name="connsiteY49" fmla="*/ 1236697 h 1645002"/>
              <a:gd name="connisteX50" fmla="*/ 2402205 w 2518410"/>
              <a:gd name="connsiteY50" fmla="*/ 1161767 h 1645002"/>
              <a:gd name="connisteX51" fmla="*/ 2426970 w 2518410"/>
              <a:gd name="connsiteY51" fmla="*/ 1086837 h 1645002"/>
              <a:gd name="connisteX52" fmla="*/ 2468880 w 2518410"/>
              <a:gd name="connsiteY52" fmla="*/ 1019527 h 1645002"/>
              <a:gd name="connisteX53" fmla="*/ 2518410 w 2518410"/>
              <a:gd name="connsiteY53" fmla="*/ 944597 h 164500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Lst>
            <a:rect l="l" t="t" r="r" b="b"/>
            <a:pathLst>
              <a:path w="2518410" h="1645003">
                <a:moveTo>
                  <a:pt x="0" y="1645003"/>
                </a:moveTo>
                <a:cubicBezTo>
                  <a:pt x="2540" y="1624048"/>
                  <a:pt x="-3175" y="1583408"/>
                  <a:pt x="25400" y="1519908"/>
                </a:cubicBezTo>
                <a:cubicBezTo>
                  <a:pt x="53975" y="1456408"/>
                  <a:pt x="102235" y="1396718"/>
                  <a:pt x="142240" y="1328138"/>
                </a:cubicBezTo>
                <a:cubicBezTo>
                  <a:pt x="182245" y="1259558"/>
                  <a:pt x="198755" y="1228443"/>
                  <a:pt x="225425" y="1178278"/>
                </a:cubicBezTo>
                <a:cubicBezTo>
                  <a:pt x="252095" y="1128113"/>
                  <a:pt x="255905" y="1117953"/>
                  <a:pt x="275590" y="1077948"/>
                </a:cubicBezTo>
                <a:cubicBezTo>
                  <a:pt x="295275" y="1037943"/>
                  <a:pt x="308610" y="1018258"/>
                  <a:pt x="325120" y="978253"/>
                </a:cubicBezTo>
                <a:cubicBezTo>
                  <a:pt x="341630" y="938248"/>
                  <a:pt x="347345" y="911578"/>
                  <a:pt x="358775" y="877923"/>
                </a:cubicBezTo>
                <a:cubicBezTo>
                  <a:pt x="370205" y="844268"/>
                  <a:pt x="375285" y="841093"/>
                  <a:pt x="383540" y="811248"/>
                </a:cubicBezTo>
                <a:cubicBezTo>
                  <a:pt x="391795" y="781403"/>
                  <a:pt x="389255" y="768068"/>
                  <a:pt x="400685" y="728063"/>
                </a:cubicBezTo>
                <a:cubicBezTo>
                  <a:pt x="412115" y="688058"/>
                  <a:pt x="430530" y="648053"/>
                  <a:pt x="441960" y="611223"/>
                </a:cubicBezTo>
                <a:cubicBezTo>
                  <a:pt x="453390" y="574393"/>
                  <a:pt x="448945" y="582648"/>
                  <a:pt x="459105" y="544548"/>
                </a:cubicBezTo>
                <a:cubicBezTo>
                  <a:pt x="469265" y="506448"/>
                  <a:pt x="478790" y="466443"/>
                  <a:pt x="492125" y="419453"/>
                </a:cubicBezTo>
                <a:cubicBezTo>
                  <a:pt x="505460" y="372463"/>
                  <a:pt x="514350" y="348968"/>
                  <a:pt x="525780" y="310868"/>
                </a:cubicBezTo>
                <a:cubicBezTo>
                  <a:pt x="537210" y="272768"/>
                  <a:pt x="542290" y="257528"/>
                  <a:pt x="550545" y="227683"/>
                </a:cubicBezTo>
                <a:cubicBezTo>
                  <a:pt x="558800" y="197838"/>
                  <a:pt x="560070" y="187678"/>
                  <a:pt x="567055" y="161008"/>
                </a:cubicBezTo>
                <a:cubicBezTo>
                  <a:pt x="574040" y="134338"/>
                  <a:pt x="572770" y="121003"/>
                  <a:pt x="584200" y="94333"/>
                </a:cubicBezTo>
                <a:cubicBezTo>
                  <a:pt x="595630" y="67663"/>
                  <a:pt x="603885" y="44168"/>
                  <a:pt x="625475" y="27658"/>
                </a:cubicBezTo>
                <a:cubicBezTo>
                  <a:pt x="647065" y="11148"/>
                  <a:pt x="660400" y="15593"/>
                  <a:pt x="692150" y="10513"/>
                </a:cubicBezTo>
                <a:cubicBezTo>
                  <a:pt x="723900" y="5433"/>
                  <a:pt x="750570" y="4163"/>
                  <a:pt x="784225" y="2258"/>
                </a:cubicBezTo>
                <a:cubicBezTo>
                  <a:pt x="817880" y="353"/>
                  <a:pt x="830580" y="2258"/>
                  <a:pt x="859155" y="2258"/>
                </a:cubicBezTo>
                <a:cubicBezTo>
                  <a:pt x="887730" y="2258"/>
                  <a:pt x="897255" y="-2822"/>
                  <a:pt x="925830" y="2258"/>
                </a:cubicBezTo>
                <a:cubicBezTo>
                  <a:pt x="954405" y="7338"/>
                  <a:pt x="972185" y="12418"/>
                  <a:pt x="1000760" y="27658"/>
                </a:cubicBezTo>
                <a:cubicBezTo>
                  <a:pt x="1029335" y="42898"/>
                  <a:pt x="1042670" y="52423"/>
                  <a:pt x="1067435" y="77188"/>
                </a:cubicBezTo>
                <a:cubicBezTo>
                  <a:pt x="1092200" y="101953"/>
                  <a:pt x="1104265" y="121003"/>
                  <a:pt x="1125855" y="152753"/>
                </a:cubicBezTo>
                <a:cubicBezTo>
                  <a:pt x="1147445" y="184503"/>
                  <a:pt x="1157605" y="206093"/>
                  <a:pt x="1176020" y="235938"/>
                </a:cubicBezTo>
                <a:cubicBezTo>
                  <a:pt x="1194435" y="265783"/>
                  <a:pt x="1204595" y="275943"/>
                  <a:pt x="1217930" y="302613"/>
                </a:cubicBezTo>
                <a:cubicBezTo>
                  <a:pt x="1231265" y="329283"/>
                  <a:pt x="1231265" y="342618"/>
                  <a:pt x="1242695" y="369288"/>
                </a:cubicBezTo>
                <a:cubicBezTo>
                  <a:pt x="1254125" y="395958"/>
                  <a:pt x="1263015" y="409293"/>
                  <a:pt x="1276350" y="435963"/>
                </a:cubicBezTo>
                <a:cubicBezTo>
                  <a:pt x="1289685" y="462633"/>
                  <a:pt x="1294130" y="470888"/>
                  <a:pt x="1309370" y="502638"/>
                </a:cubicBezTo>
                <a:cubicBezTo>
                  <a:pt x="1324610" y="534388"/>
                  <a:pt x="1336040" y="557883"/>
                  <a:pt x="1351280" y="594713"/>
                </a:cubicBezTo>
                <a:cubicBezTo>
                  <a:pt x="1366520" y="631543"/>
                  <a:pt x="1370965" y="651228"/>
                  <a:pt x="1384300" y="686153"/>
                </a:cubicBezTo>
                <a:cubicBezTo>
                  <a:pt x="1397635" y="721078"/>
                  <a:pt x="1404620" y="738223"/>
                  <a:pt x="1417955" y="769973"/>
                </a:cubicBezTo>
                <a:cubicBezTo>
                  <a:pt x="1431290" y="801723"/>
                  <a:pt x="1439545" y="816328"/>
                  <a:pt x="1450975" y="844903"/>
                </a:cubicBezTo>
                <a:cubicBezTo>
                  <a:pt x="1462405" y="873478"/>
                  <a:pt x="1466215" y="879828"/>
                  <a:pt x="1476375" y="911578"/>
                </a:cubicBezTo>
                <a:cubicBezTo>
                  <a:pt x="1486535" y="943328"/>
                  <a:pt x="1490980" y="969998"/>
                  <a:pt x="1501140" y="1003018"/>
                </a:cubicBezTo>
                <a:cubicBezTo>
                  <a:pt x="1511300" y="1036038"/>
                  <a:pt x="1516380" y="1048103"/>
                  <a:pt x="1526540" y="1077948"/>
                </a:cubicBezTo>
                <a:cubicBezTo>
                  <a:pt x="1536700" y="1107793"/>
                  <a:pt x="1536065" y="1124938"/>
                  <a:pt x="1551305" y="1153513"/>
                </a:cubicBezTo>
                <a:cubicBezTo>
                  <a:pt x="1566545" y="1182088"/>
                  <a:pt x="1576705" y="1196693"/>
                  <a:pt x="1601470" y="1220188"/>
                </a:cubicBezTo>
                <a:cubicBezTo>
                  <a:pt x="1626235" y="1243683"/>
                  <a:pt x="1647825" y="1250033"/>
                  <a:pt x="1676400" y="1269718"/>
                </a:cubicBezTo>
                <a:cubicBezTo>
                  <a:pt x="1704975" y="1289403"/>
                  <a:pt x="1716405" y="1303373"/>
                  <a:pt x="1743075" y="1319883"/>
                </a:cubicBezTo>
                <a:cubicBezTo>
                  <a:pt x="1769745" y="1336393"/>
                  <a:pt x="1783080" y="1340203"/>
                  <a:pt x="1809750" y="1353538"/>
                </a:cubicBezTo>
                <a:cubicBezTo>
                  <a:pt x="1836420" y="1366873"/>
                  <a:pt x="1847850" y="1375128"/>
                  <a:pt x="1876425" y="1386558"/>
                </a:cubicBezTo>
                <a:cubicBezTo>
                  <a:pt x="1905000" y="1397988"/>
                  <a:pt x="1919605" y="1401798"/>
                  <a:pt x="1951355" y="1411958"/>
                </a:cubicBezTo>
                <a:cubicBezTo>
                  <a:pt x="1983105" y="1422118"/>
                  <a:pt x="2003425" y="1428468"/>
                  <a:pt x="2035175" y="1436723"/>
                </a:cubicBezTo>
                <a:cubicBezTo>
                  <a:pt x="2066925" y="1444978"/>
                  <a:pt x="2080260" y="1450058"/>
                  <a:pt x="2110105" y="1453233"/>
                </a:cubicBezTo>
                <a:cubicBezTo>
                  <a:pt x="2139950" y="1456408"/>
                  <a:pt x="2156460" y="1455138"/>
                  <a:pt x="2185035" y="1453233"/>
                </a:cubicBezTo>
                <a:cubicBezTo>
                  <a:pt x="2213610" y="1451328"/>
                  <a:pt x="2228215" y="1460218"/>
                  <a:pt x="2251710" y="1444978"/>
                </a:cubicBezTo>
                <a:cubicBezTo>
                  <a:pt x="2275205" y="1429738"/>
                  <a:pt x="2283460" y="1404973"/>
                  <a:pt x="2301875" y="1378303"/>
                </a:cubicBezTo>
                <a:cubicBezTo>
                  <a:pt x="2320290" y="1351633"/>
                  <a:pt x="2330450" y="1340203"/>
                  <a:pt x="2343785" y="1311628"/>
                </a:cubicBezTo>
                <a:cubicBezTo>
                  <a:pt x="2357120" y="1283053"/>
                  <a:pt x="2357120" y="1266543"/>
                  <a:pt x="2368550" y="1236698"/>
                </a:cubicBezTo>
                <a:cubicBezTo>
                  <a:pt x="2379980" y="1206853"/>
                  <a:pt x="2390775" y="1191613"/>
                  <a:pt x="2402205" y="1161768"/>
                </a:cubicBezTo>
                <a:cubicBezTo>
                  <a:pt x="2413635" y="1131923"/>
                  <a:pt x="2413635" y="1115413"/>
                  <a:pt x="2426970" y="1086838"/>
                </a:cubicBezTo>
                <a:cubicBezTo>
                  <a:pt x="2440305" y="1058263"/>
                  <a:pt x="2450465" y="1048103"/>
                  <a:pt x="2468880" y="1019528"/>
                </a:cubicBezTo>
                <a:cubicBezTo>
                  <a:pt x="2487295" y="990953"/>
                  <a:pt x="2509520" y="957933"/>
                  <a:pt x="2518410" y="944598"/>
                </a:cubicBezTo>
              </a:path>
            </a:pathLst>
          </a:custGeom>
          <a:noFill/>
          <a:ln w="38100">
            <a:solidFill>
              <a:schemeClr val="tx1"/>
            </a:solidFill>
          </a:ln>
        </p:spPr>
        <p:txBody>
          <a:bodyPr vert="horz" lIns="90000" tIns="46800" rIns="90000" bIns="46800" rtlCol="0" anchor="ctr" anchorCtr="0">
            <a:noAutofit/>
          </a:bodyPr>
          <a:p>
            <a:endParaRPr lang="zh-CN" altLang="en-US" sz="2445">
              <a:solidFill>
                <a:schemeClr val="tx1"/>
              </a:solidFill>
            </a:endParaRPr>
          </a:p>
        </p:txBody>
      </p:sp>
      <p:sp>
        <p:nvSpPr>
          <p:cNvPr id="46" name="Text Box 45"/>
          <p:cNvSpPr txBox="1"/>
          <p:nvPr/>
        </p:nvSpPr>
        <p:spPr>
          <a:xfrm>
            <a:off x="6649085" y="5041265"/>
            <a:ext cx="296926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47" name="Text Box 46"/>
          <p:cNvSpPr txBox="1"/>
          <p:nvPr/>
        </p:nvSpPr>
        <p:spPr>
          <a:xfrm>
            <a:off x="6677025" y="390525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49" name="Oval 48"/>
          <p:cNvSpPr/>
          <p:nvPr/>
        </p:nvSpPr>
        <p:spPr>
          <a:xfrm>
            <a:off x="7309485" y="293433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0" name="Oval 49"/>
          <p:cNvSpPr/>
          <p:nvPr/>
        </p:nvSpPr>
        <p:spPr>
          <a:xfrm>
            <a:off x="8085455" y="367919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3" name="Oval 52"/>
          <p:cNvSpPr/>
          <p:nvPr/>
        </p:nvSpPr>
        <p:spPr>
          <a:xfrm>
            <a:off x="8583295" y="429704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7" name="Oval 56"/>
          <p:cNvSpPr/>
          <p:nvPr/>
        </p:nvSpPr>
        <p:spPr>
          <a:xfrm>
            <a:off x="9066530" y="40792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9" name="Text Box 58"/>
          <p:cNvSpPr txBox="1"/>
          <p:nvPr/>
        </p:nvSpPr>
        <p:spPr>
          <a:xfrm>
            <a:off x="7868285" y="29889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6</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60" name="Text Box 59"/>
          <p:cNvSpPr txBox="1"/>
          <p:nvPr/>
        </p:nvSpPr>
        <p:spPr>
          <a:xfrm>
            <a:off x="8241030" y="394398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61" name="Text Box 60"/>
          <p:cNvSpPr txBox="1"/>
          <p:nvPr/>
        </p:nvSpPr>
        <p:spPr>
          <a:xfrm>
            <a:off x="8493760" y="40252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62" name="Straight Connector 61"/>
          <p:cNvCxnSpPr>
            <a:endCxn id="68" idx="3"/>
          </p:cNvCxnSpPr>
          <p:nvPr/>
        </p:nvCxnSpPr>
        <p:spPr>
          <a:xfrm flipV="1">
            <a:off x="6866890" y="3752215"/>
            <a:ext cx="199390" cy="52070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63" name="Straight Connector 62"/>
          <p:cNvCxnSpPr>
            <a:stCxn id="44" idx="8"/>
          </p:cNvCxnSpPr>
          <p:nvPr/>
        </p:nvCxnSpPr>
        <p:spPr>
          <a:xfrm>
            <a:off x="7108190" y="3679190"/>
            <a:ext cx="8255" cy="13271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4" name="Straight Connector 63"/>
          <p:cNvCxnSpPr/>
          <p:nvPr/>
        </p:nvCxnSpPr>
        <p:spPr>
          <a:xfrm>
            <a:off x="7366000" y="2978150"/>
            <a:ext cx="0" cy="202819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5" name="Straight Connector 64"/>
          <p:cNvCxnSpPr/>
          <p:nvPr/>
        </p:nvCxnSpPr>
        <p:spPr>
          <a:xfrm>
            <a:off x="7615555" y="2973705"/>
            <a:ext cx="0" cy="203263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6" name="Straight Connector 65"/>
          <p:cNvCxnSpPr>
            <a:stCxn id="59" idx="1"/>
          </p:cNvCxnSpPr>
          <p:nvPr/>
        </p:nvCxnSpPr>
        <p:spPr>
          <a:xfrm flipH="1">
            <a:off x="7865110" y="3133090"/>
            <a:ext cx="3175" cy="18732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7" name="Straight Connector 66"/>
          <p:cNvCxnSpPr/>
          <p:nvPr/>
        </p:nvCxnSpPr>
        <p:spPr>
          <a:xfrm>
            <a:off x="8364220" y="4239260"/>
            <a:ext cx="0" cy="76708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68" name="Oval 67"/>
          <p:cNvSpPr/>
          <p:nvPr/>
        </p:nvSpPr>
        <p:spPr>
          <a:xfrm>
            <a:off x="7052310" y="366966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9" name="Oval 68"/>
          <p:cNvSpPr/>
          <p:nvPr/>
        </p:nvSpPr>
        <p:spPr>
          <a:xfrm>
            <a:off x="7567295" y="290385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0" name="Oval 69"/>
          <p:cNvSpPr/>
          <p:nvPr/>
        </p:nvSpPr>
        <p:spPr>
          <a:xfrm>
            <a:off x="7833360" y="308483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1" name="Oval 70"/>
          <p:cNvSpPr/>
          <p:nvPr/>
        </p:nvSpPr>
        <p:spPr>
          <a:xfrm>
            <a:off x="8313420" y="417576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2" name="Oval 71"/>
          <p:cNvSpPr/>
          <p:nvPr/>
        </p:nvSpPr>
        <p:spPr>
          <a:xfrm>
            <a:off x="8828405" y="43586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3" name="Text Box 72"/>
          <p:cNvSpPr txBox="1"/>
          <p:nvPr/>
        </p:nvSpPr>
        <p:spPr>
          <a:xfrm>
            <a:off x="6834505" y="359473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4</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4" name="Text Box 73"/>
          <p:cNvSpPr txBox="1"/>
          <p:nvPr/>
        </p:nvSpPr>
        <p:spPr>
          <a:xfrm>
            <a:off x="7211695" y="264858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7</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5" name="Text Box 74"/>
          <p:cNvSpPr txBox="1"/>
          <p:nvPr/>
        </p:nvSpPr>
        <p:spPr>
          <a:xfrm>
            <a:off x="7478395" y="26460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7</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6" name="Text Box 75"/>
          <p:cNvSpPr txBox="1"/>
          <p:nvPr/>
        </p:nvSpPr>
        <p:spPr>
          <a:xfrm>
            <a:off x="8063230" y="341630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4</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7" name="Text Box 76"/>
          <p:cNvSpPr txBox="1"/>
          <p:nvPr/>
        </p:nvSpPr>
        <p:spPr>
          <a:xfrm>
            <a:off x="8740140" y="41141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8" name="Text Box 77"/>
          <p:cNvSpPr txBox="1"/>
          <p:nvPr/>
        </p:nvSpPr>
        <p:spPr>
          <a:xfrm>
            <a:off x="8862060" y="3795395"/>
            <a:ext cx="43180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94" name="Straight Connector 93"/>
          <p:cNvCxnSpPr>
            <a:endCxn id="49" idx="2"/>
          </p:cNvCxnSpPr>
          <p:nvPr/>
        </p:nvCxnSpPr>
        <p:spPr>
          <a:xfrm flipV="1">
            <a:off x="7116445" y="2982595"/>
            <a:ext cx="193040" cy="6965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6" name="Straight Connector 95"/>
          <p:cNvCxnSpPr>
            <a:endCxn id="75" idx="2"/>
          </p:cNvCxnSpPr>
          <p:nvPr/>
        </p:nvCxnSpPr>
        <p:spPr>
          <a:xfrm flipV="1">
            <a:off x="7359015" y="2933700"/>
            <a:ext cx="238760" cy="349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7" name="Straight Connector 96"/>
          <p:cNvCxnSpPr>
            <a:stCxn id="69" idx="5"/>
            <a:endCxn id="70" idx="2"/>
          </p:cNvCxnSpPr>
          <p:nvPr/>
        </p:nvCxnSpPr>
        <p:spPr>
          <a:xfrm>
            <a:off x="7649845" y="2986405"/>
            <a:ext cx="183515" cy="14668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6" name="Straight Connector 105"/>
          <p:cNvCxnSpPr>
            <a:stCxn id="70" idx="4"/>
            <a:endCxn id="44" idx="31"/>
          </p:cNvCxnSpPr>
          <p:nvPr/>
        </p:nvCxnSpPr>
        <p:spPr>
          <a:xfrm>
            <a:off x="7881620" y="3181350"/>
            <a:ext cx="243840" cy="5397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7" name="Straight Connector 106"/>
          <p:cNvCxnSpPr>
            <a:stCxn id="50" idx="5"/>
            <a:endCxn id="71" idx="1"/>
          </p:cNvCxnSpPr>
          <p:nvPr/>
        </p:nvCxnSpPr>
        <p:spPr>
          <a:xfrm>
            <a:off x="8168005" y="3761740"/>
            <a:ext cx="159385" cy="4279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8" name="Straight Connector 107"/>
          <p:cNvCxnSpPr>
            <a:stCxn id="71" idx="5"/>
            <a:endCxn id="53" idx="2"/>
          </p:cNvCxnSpPr>
          <p:nvPr/>
        </p:nvCxnSpPr>
        <p:spPr>
          <a:xfrm>
            <a:off x="8395970" y="4258310"/>
            <a:ext cx="187325" cy="869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9" name="Straight Connector 108"/>
          <p:cNvCxnSpPr>
            <a:stCxn id="53" idx="5"/>
            <a:endCxn id="77" idx="2"/>
          </p:cNvCxnSpPr>
          <p:nvPr/>
        </p:nvCxnSpPr>
        <p:spPr>
          <a:xfrm>
            <a:off x="8665845" y="4379595"/>
            <a:ext cx="193675" cy="222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0" name="Straight Connector 109"/>
          <p:cNvCxnSpPr>
            <a:stCxn id="72" idx="5"/>
            <a:endCxn id="57" idx="2"/>
          </p:cNvCxnSpPr>
          <p:nvPr/>
        </p:nvCxnSpPr>
        <p:spPr>
          <a:xfrm flipV="1">
            <a:off x="8910955" y="4127500"/>
            <a:ext cx="155575" cy="3136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1" name="Straight Connector 110"/>
          <p:cNvCxnSpPr/>
          <p:nvPr/>
        </p:nvCxnSpPr>
        <p:spPr>
          <a:xfrm>
            <a:off x="6508750" y="355092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2" name="Straight Connector 111"/>
          <p:cNvCxnSpPr/>
          <p:nvPr/>
        </p:nvCxnSpPr>
        <p:spPr>
          <a:xfrm>
            <a:off x="6508750" y="298323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3" name="Straight Connector 112"/>
          <p:cNvCxnSpPr/>
          <p:nvPr/>
        </p:nvCxnSpPr>
        <p:spPr>
          <a:xfrm>
            <a:off x="6508750" y="3267075"/>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114" name="Text Box 113"/>
          <p:cNvSpPr txBox="1"/>
          <p:nvPr/>
        </p:nvSpPr>
        <p:spPr>
          <a:xfrm>
            <a:off x="6118860" y="3905250"/>
            <a:ext cx="243205" cy="425450"/>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3</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5" name="Text Box 114"/>
          <p:cNvSpPr txBox="1"/>
          <p:nvPr/>
        </p:nvSpPr>
        <p:spPr>
          <a:xfrm>
            <a:off x="6118860" y="419417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2</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6" name="Text Box 115"/>
          <p:cNvSpPr txBox="1"/>
          <p:nvPr/>
        </p:nvSpPr>
        <p:spPr>
          <a:xfrm>
            <a:off x="6118860" y="446976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7" name="Text Box 116"/>
          <p:cNvSpPr txBox="1"/>
          <p:nvPr/>
        </p:nvSpPr>
        <p:spPr>
          <a:xfrm>
            <a:off x="6118860" y="470979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8" name="Text Box 117"/>
          <p:cNvSpPr txBox="1"/>
          <p:nvPr/>
        </p:nvSpPr>
        <p:spPr>
          <a:xfrm>
            <a:off x="6681470" y="5603240"/>
            <a:ext cx="1937385"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量化等级为</a:t>
            </a:r>
            <a:r>
              <a:rPr lang="en-US" altLang="zh-CN" sz="2200">
                <a:latin typeface="Alibaba PuHuiTi 3.0 55 Regular" panose="00020600040101010101" charset="-122"/>
                <a:ea typeface="Alibaba PuHuiTi 3.0 55 Regular" panose="00020600040101010101" charset="-122"/>
              </a:rPr>
              <a:t>8</a:t>
            </a:r>
            <a:endParaRPr lang="en-US" altLang="zh-CN" sz="2200">
              <a:latin typeface="Alibaba PuHuiTi 3.0 55 Regular" panose="00020600040101010101" charset="-122"/>
              <a:ea typeface="Alibaba PuHuiTi 3.0 55 Regular" panose="00020600040101010101" charset="-122"/>
            </a:endParaRPr>
          </a:p>
        </p:txBody>
      </p:sp>
      <p:cxnSp>
        <p:nvCxnSpPr>
          <p:cNvPr id="119" name="Straight Connector 118"/>
          <p:cNvCxnSpPr/>
          <p:nvPr/>
        </p:nvCxnSpPr>
        <p:spPr>
          <a:xfrm>
            <a:off x="6508750" y="3834765"/>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0" name="Straight Connector 119"/>
          <p:cNvCxnSpPr/>
          <p:nvPr/>
        </p:nvCxnSpPr>
        <p:spPr>
          <a:xfrm>
            <a:off x="6508750" y="411861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1" name="Straight Connector 120"/>
          <p:cNvCxnSpPr/>
          <p:nvPr/>
        </p:nvCxnSpPr>
        <p:spPr>
          <a:xfrm>
            <a:off x="6508750" y="4379595"/>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2" name="Straight Connector 121"/>
          <p:cNvCxnSpPr/>
          <p:nvPr/>
        </p:nvCxnSpPr>
        <p:spPr>
          <a:xfrm>
            <a:off x="6508750" y="468630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131" name="Text Box 130"/>
          <p:cNvSpPr txBox="1"/>
          <p:nvPr/>
        </p:nvSpPr>
        <p:spPr>
          <a:xfrm>
            <a:off x="6120130" y="2819400"/>
            <a:ext cx="243205" cy="425450"/>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7</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2" name="Text Box 131"/>
          <p:cNvSpPr txBox="1"/>
          <p:nvPr/>
        </p:nvSpPr>
        <p:spPr>
          <a:xfrm>
            <a:off x="6120130" y="310832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6</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3" name="Text Box 132"/>
          <p:cNvSpPr txBox="1"/>
          <p:nvPr/>
        </p:nvSpPr>
        <p:spPr>
          <a:xfrm>
            <a:off x="6120130" y="338391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5</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4" name="Text Box 133"/>
          <p:cNvSpPr txBox="1"/>
          <p:nvPr/>
        </p:nvSpPr>
        <p:spPr>
          <a:xfrm>
            <a:off x="6120130" y="362394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4</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32" name="Text Box 31"/>
          <p:cNvSpPr txBox="1"/>
          <p:nvPr/>
        </p:nvSpPr>
        <p:spPr>
          <a:xfrm>
            <a:off x="2762885" y="1741805"/>
            <a:ext cx="1002665" cy="429895"/>
          </a:xfrm>
          <a:prstGeom prst="rect">
            <a:avLst/>
          </a:prstGeom>
          <a:noFill/>
        </p:spPr>
        <p:txBody>
          <a:bodyPr wrap="square" rtlCol="0">
            <a:noAutofit/>
          </a:bodyPr>
          <a:p>
            <a:pPr algn="l"/>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思考</a:t>
            </a:r>
            <a:r>
              <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a:t>
            </a:r>
            <a:endPar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123" name="Text Box 122"/>
          <p:cNvSpPr txBox="1"/>
          <p:nvPr/>
        </p:nvSpPr>
        <p:spPr>
          <a:xfrm>
            <a:off x="3620135" y="1589405"/>
            <a:ext cx="4845050" cy="1083310"/>
          </a:xfrm>
          <a:prstGeom prst="rect">
            <a:avLst/>
          </a:prstGeom>
          <a:noFill/>
        </p:spPr>
        <p:txBody>
          <a:bodyPr wrap="square" rtlCol="0">
            <a:noAutofit/>
          </a:bodyPr>
          <a:p>
            <a:pPr>
              <a:lnSpc>
                <a:spcPct val="150000"/>
              </a:lnSpc>
            </a:pPr>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两种量化等级需要用几位二进制</a:t>
            </a:r>
            <a:r>
              <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a:t>
            </a:r>
            <a:endPar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endParaRPr>
          </a:p>
        </p:txBody>
      </p:sp>
      <p:pic>
        <p:nvPicPr>
          <p:cNvPr id="124" name="Picture 123" descr="思考"/>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2367915" y="1715135"/>
            <a:ext cx="456565" cy="456565"/>
          </a:xfrm>
          <a:prstGeom prst="rect">
            <a:avLst/>
          </a:prstGeom>
        </p:spPr>
      </p:pic>
      <p:sp>
        <p:nvSpPr>
          <p:cNvPr id="178" name="Text Box 177"/>
          <p:cNvSpPr txBox="1"/>
          <p:nvPr/>
        </p:nvSpPr>
        <p:spPr>
          <a:xfrm>
            <a:off x="513080" y="5139690"/>
            <a:ext cx="1300480" cy="429895"/>
          </a:xfrm>
          <a:prstGeom prst="rect">
            <a:avLst/>
          </a:prstGeom>
          <a:noFill/>
        </p:spPr>
        <p:txBody>
          <a:bodyPr wrap="square" rtlCol="0">
            <a:noAutofit/>
          </a:bodyPr>
          <a:p>
            <a:pPr algn="l"/>
            <a:r>
              <a:rPr lang="en-US" altLang="zh-CN" sz="1400" b="1">
                <a:solidFill>
                  <a:srgbClr val="00B0F0"/>
                </a:solidFill>
                <a:latin typeface="Alibaba PuHuiTi 3.0 85 Bold" panose="00020600040101010101" charset="-122"/>
                <a:ea typeface="Alibaba PuHuiTi 3.0 85 Bold" panose="00020600040101010101" charset="-122"/>
                <a:cs typeface="Alibaba PuHuiTi 3.0 85 Bold" panose="00020600040101010101" charset="-122"/>
              </a:rPr>
              <a:t>2</a:t>
            </a:r>
            <a:r>
              <a:rPr lang="zh-CN" altLang="en-US" sz="1400" b="1">
                <a:solidFill>
                  <a:srgbClr val="00B0F0"/>
                </a:solidFill>
                <a:latin typeface="Alibaba PuHuiTi 3.0 85 Bold" panose="00020600040101010101" charset="-122"/>
                <a:ea typeface="Alibaba PuHuiTi 3.0 85 Bold" panose="00020600040101010101" charset="-122"/>
                <a:cs typeface="Alibaba PuHuiTi 3.0 85 Bold" panose="00020600040101010101" charset="-122"/>
              </a:rPr>
              <a:t>位二进制数</a:t>
            </a:r>
            <a:endParaRPr lang="zh-CN" altLang="en-US" sz="1400" b="1">
              <a:solidFill>
                <a:srgbClr val="00B0F0"/>
              </a:solidFill>
              <a:latin typeface="Alibaba PuHuiTi 3.0 85 Bold" panose="00020600040101010101" charset="-122"/>
              <a:ea typeface="Alibaba PuHuiTi 3.0 85 Bold" panose="00020600040101010101" charset="-122"/>
              <a:cs typeface="Alibaba PuHuiTi 3.0 85 Bold" panose="00020600040101010101" charset="-122"/>
            </a:endParaRPr>
          </a:p>
          <a:p>
            <a:pPr algn="l"/>
            <a:r>
              <a:rPr lang="en-US" altLang="zh-CN" sz="14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rPr>
              <a:t>4 = 2</a:t>
            </a:r>
            <a:r>
              <a:rPr lang="en-US" altLang="zh-CN" sz="1400" b="1" baseline="30000">
                <a:solidFill>
                  <a:srgbClr val="00B0F0"/>
                </a:solidFill>
                <a:latin typeface="Alibaba PuHuiTi 3.0 85 Bold" panose="00020600040101010101" charset="-122"/>
                <a:ea typeface="Alibaba PuHuiTi 3.0 85 Bold" panose="00020600040101010101" charset="-122"/>
                <a:cs typeface="Alibaba PuHuiTi 3.0 85 Bold" panose="00020600040101010101" charset="-122"/>
              </a:rPr>
              <a:t>2</a:t>
            </a:r>
            <a:endParaRPr lang="en-US" altLang="zh-CN" sz="1400" b="1" baseline="30000">
              <a:solidFill>
                <a:srgbClr val="00B0F0"/>
              </a:solidFill>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172" name="Text Box 171"/>
          <p:cNvSpPr txBox="1"/>
          <p:nvPr/>
        </p:nvSpPr>
        <p:spPr>
          <a:xfrm>
            <a:off x="942975" y="2756535"/>
            <a:ext cx="527050" cy="429895"/>
          </a:xfrm>
          <a:prstGeom prst="rect">
            <a:avLst/>
          </a:prstGeom>
          <a:noFill/>
        </p:spPr>
        <p:txBody>
          <a:bodyPr wrap="square" rtlCol="0">
            <a:noAutofit/>
          </a:bodyPr>
          <a:p>
            <a:pPr algn="l"/>
            <a:r>
              <a:rPr lang="en-US" sz="2200">
                <a:solidFill>
                  <a:srgbClr val="00B0F0"/>
                </a:solidFill>
                <a:latin typeface="Alibaba PuHuiTi 3.0 55 Regular" panose="00020600040101010101" charset="-122"/>
                <a:ea typeface="Alibaba PuHuiTi 3.0 55 Regular" panose="00020600040101010101" charset="-122"/>
              </a:rPr>
              <a:t>11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73" name="Text Box 172"/>
          <p:cNvSpPr txBox="1"/>
          <p:nvPr/>
        </p:nvSpPr>
        <p:spPr>
          <a:xfrm>
            <a:off x="942975" y="3392805"/>
            <a:ext cx="527050" cy="429895"/>
          </a:xfrm>
          <a:prstGeom prst="rect">
            <a:avLst/>
          </a:prstGeom>
          <a:noFill/>
        </p:spPr>
        <p:txBody>
          <a:bodyPr wrap="square" rtlCol="0">
            <a:noAutofit/>
          </a:bodyPr>
          <a:p>
            <a:pPr algn="l"/>
            <a:r>
              <a:rPr lang="en-US" sz="2200">
                <a:solidFill>
                  <a:srgbClr val="00B0F0"/>
                </a:solidFill>
                <a:latin typeface="Alibaba PuHuiTi 3.0 55 Regular" panose="00020600040101010101" charset="-122"/>
                <a:ea typeface="Alibaba PuHuiTi 3.0 55 Regular" panose="00020600040101010101" charset="-122"/>
              </a:rPr>
              <a:t>10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74" name="Text Box 173"/>
          <p:cNvSpPr txBox="1"/>
          <p:nvPr/>
        </p:nvSpPr>
        <p:spPr>
          <a:xfrm>
            <a:off x="942975" y="4062095"/>
            <a:ext cx="527050" cy="429895"/>
          </a:xfrm>
          <a:prstGeom prst="rect">
            <a:avLst/>
          </a:prstGeom>
          <a:noFill/>
        </p:spPr>
        <p:txBody>
          <a:bodyPr wrap="square" rtlCol="0">
            <a:noAutofit/>
          </a:bodyPr>
          <a:p>
            <a:pPr algn="l"/>
            <a:r>
              <a:rPr lang="en-US" sz="2200">
                <a:solidFill>
                  <a:srgbClr val="00B0F0"/>
                </a:solidFill>
                <a:latin typeface="Alibaba PuHuiTi 3.0 55 Regular" panose="00020600040101010101" charset="-122"/>
                <a:ea typeface="Alibaba PuHuiTi 3.0 55 Regular" panose="00020600040101010101" charset="-122"/>
              </a:rPr>
              <a:t>01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75" name="Text Box 174"/>
          <p:cNvSpPr txBox="1"/>
          <p:nvPr/>
        </p:nvSpPr>
        <p:spPr>
          <a:xfrm>
            <a:off x="942340" y="4714875"/>
            <a:ext cx="527685" cy="429895"/>
          </a:xfrm>
          <a:prstGeom prst="rect">
            <a:avLst/>
          </a:prstGeom>
          <a:noFill/>
        </p:spPr>
        <p:txBody>
          <a:bodyPr wrap="square" rtlCol="0">
            <a:noAutofit/>
          </a:bodyPr>
          <a:p>
            <a:pPr algn="l"/>
            <a:r>
              <a:rPr lang="en-US" sz="2200">
                <a:solidFill>
                  <a:srgbClr val="00B0F0"/>
                </a:solidFill>
                <a:latin typeface="Alibaba PuHuiTi 3.0 55 Regular" panose="00020600040101010101" charset="-122"/>
                <a:ea typeface="Alibaba PuHuiTi 3.0 55 Regular" panose="00020600040101010101" charset="-122"/>
              </a:rPr>
              <a:t>00</a:t>
            </a:r>
            <a:endParaRPr lang="en-US" sz="2200">
              <a:solidFill>
                <a:srgbClr val="00B0F0"/>
              </a:solidFill>
              <a:latin typeface="Alibaba PuHuiTi 3.0 55 Regular" panose="00020600040101010101" charset="-122"/>
              <a:ea typeface="Alibaba PuHuiTi 3.0 55 Regular" panose="00020600040101010101" charset="-122"/>
            </a:endParaRPr>
          </a:p>
        </p:txBody>
      </p:sp>
    </p:spTree>
    <p:custDataLst>
      <p:tags r:id="rId5"/>
    </p:custData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a:bodyPr>
          <a:p>
            <a:r>
              <a:rPr lang="zh-CN" altLang="en-US"/>
              <a:t>怎样才能把声音（模拟信号</a:t>
            </a:r>
            <a:r>
              <a:rPr lang="en-US" altLang="zh-CN"/>
              <a:t>）</a:t>
            </a:r>
            <a:r>
              <a:rPr lang="zh-CN" altLang="en-US"/>
              <a:t>是转成数字信号</a:t>
            </a:r>
            <a:r>
              <a:rPr lang="en-US"/>
              <a:t>？</a:t>
            </a:r>
            <a:endParaRPr lang="en-US"/>
          </a:p>
        </p:txBody>
      </p:sp>
      <p:sp>
        <p:nvSpPr>
          <p:cNvPr id="14" name="Text Box 13"/>
          <p:cNvSpPr txBox="1"/>
          <p:nvPr/>
        </p:nvSpPr>
        <p:spPr>
          <a:xfrm>
            <a:off x="691515" y="1313815"/>
            <a:ext cx="254762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cs typeface="Alibaba PuHuiTi 3.0 55 Regular" panose="00020600040101010101" charset="-122"/>
              </a:rPr>
              <a:t>1. </a:t>
            </a:r>
            <a:r>
              <a:rPr lang="zh-CN" altLang="en-US" sz="2200">
                <a:latin typeface="Alibaba PuHuiTi 3.0 55 Regular" panose="00020600040101010101" charset="-122"/>
                <a:ea typeface="Alibaba PuHuiTi 3.0 55 Regular" panose="00020600040101010101" charset="-122"/>
                <a:cs typeface="Alibaba PuHuiTi 3.0 55 Regular" panose="00020600040101010101" charset="-122"/>
              </a:rPr>
              <a:t>采样</a:t>
            </a:r>
            <a:r>
              <a:rPr lang="en-US" altLang="zh-CN" sz="2200">
                <a:latin typeface="Alibaba PuHuiTi 3.0 55 Regular" panose="00020600040101010101" charset="-122"/>
                <a:ea typeface="Alibaba PuHuiTi 3.0 55 Regular" panose="00020600040101010101" charset="-122"/>
                <a:cs typeface="Alibaba PuHuiTi 3.0 55 Regular" panose="00020600040101010101" charset="-122"/>
              </a:rPr>
              <a:t> Sampling</a:t>
            </a:r>
            <a:endParaRPr lang="en-US" altLang="zh-CN" sz="2200">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7" name="Text Box 16"/>
          <p:cNvSpPr txBox="1"/>
          <p:nvPr/>
        </p:nvSpPr>
        <p:spPr>
          <a:xfrm>
            <a:off x="3860165" y="1313815"/>
            <a:ext cx="3038475" cy="429895"/>
          </a:xfrm>
          <a:prstGeom prst="rect">
            <a:avLst/>
          </a:prstGeom>
          <a:noFill/>
        </p:spPr>
        <p:txBody>
          <a:bodyPr wrap="square" rtlCol="0">
            <a:spAutoFit/>
          </a:bodyPr>
          <a:p>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2. </a:t>
            </a:r>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量化</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 Quantization</a:t>
            </a:r>
            <a:endParaRPr lang="en-US" altLang="zh-CN" sz="2200" b="1">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18" name="Text Box 17"/>
          <p:cNvSpPr txBox="1"/>
          <p:nvPr/>
        </p:nvSpPr>
        <p:spPr>
          <a:xfrm>
            <a:off x="7519670" y="1313815"/>
            <a:ext cx="3822065" cy="429895"/>
          </a:xfrm>
          <a:prstGeom prst="rect">
            <a:avLst/>
          </a:prstGeom>
          <a:noFill/>
        </p:spPr>
        <p:txBody>
          <a:bodyPr wrap="square" rtlCol="0">
            <a:spAutoFit/>
          </a:bodyPr>
          <a:p>
            <a:r>
              <a:rPr lang="en-US" altLang="zh-CN" sz="2200">
                <a:latin typeface="Alibaba PuHuiTi 3.0 55 Regular" panose="00020600040101010101" charset="-122"/>
                <a:ea typeface="Alibaba PuHuiTi 3.0 55 Regular" panose="00020600040101010101" charset="-122"/>
              </a:rPr>
              <a:t>3. </a:t>
            </a:r>
            <a:r>
              <a:rPr lang="zh-CN" altLang="en-US" sz="2200">
                <a:latin typeface="Alibaba PuHuiTi 3.0 55 Regular" panose="00020600040101010101" charset="-122"/>
                <a:ea typeface="Alibaba PuHuiTi 3.0 55 Regular" panose="00020600040101010101" charset="-122"/>
              </a:rPr>
              <a:t>编码</a:t>
            </a:r>
            <a:r>
              <a:rPr lang="en-US" altLang="zh-CN" sz="2200">
                <a:latin typeface="Alibaba PuHuiTi 3.0 55 Regular" panose="00020600040101010101" charset="-122"/>
                <a:ea typeface="Alibaba PuHuiTi 3.0 55 Regular" panose="00020600040101010101" charset="-122"/>
              </a:rPr>
              <a:t> </a:t>
            </a:r>
            <a:r>
              <a:rPr lang="en-US" altLang="zh-CN" sz="2200">
                <a:latin typeface="Alibaba PuHuiTi 3.0 55 Regular" panose="00020600040101010101" charset="-122"/>
                <a:ea typeface="Alibaba PuHuiTi 3.0 55 Regular" panose="00020600040101010101" charset="-122"/>
              </a:rPr>
              <a:t>Encoding</a:t>
            </a:r>
            <a:endParaRPr lang="en-US" altLang="zh-CN" sz="2200">
              <a:latin typeface="Alibaba PuHuiTi 3.0 55 Regular" panose="00020600040101010101" charset="-122"/>
              <a:ea typeface="Alibaba PuHuiTi 3.0 55 Regular" panose="00020600040101010101" charset="-122"/>
            </a:endParaRPr>
          </a:p>
        </p:txBody>
      </p:sp>
      <p:cxnSp>
        <p:nvCxnSpPr>
          <p:cNvPr id="19" name="Straight Connector 18"/>
          <p:cNvCxnSpPr/>
          <p:nvPr/>
        </p:nvCxnSpPr>
        <p:spPr>
          <a:xfrm flipH="1">
            <a:off x="3202305" y="1529080"/>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cxnSp>
        <p:nvCxnSpPr>
          <p:cNvPr id="20" name="Straight Connector 19"/>
          <p:cNvCxnSpPr/>
          <p:nvPr/>
        </p:nvCxnSpPr>
        <p:spPr>
          <a:xfrm flipH="1">
            <a:off x="6861810" y="1528445"/>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11" name="Oval 10"/>
          <p:cNvSpPr/>
          <p:nvPr/>
        </p:nvSpPr>
        <p:spPr>
          <a:xfrm>
            <a:off x="6818630" y="419290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34" name="Straight Connector 33"/>
          <p:cNvCxnSpPr/>
          <p:nvPr/>
        </p:nvCxnSpPr>
        <p:spPr>
          <a:xfrm>
            <a:off x="6866890" y="4266565"/>
            <a:ext cx="0" cy="73977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5" name="Straight Connector 34"/>
          <p:cNvCxnSpPr>
            <a:stCxn id="44" idx="31"/>
          </p:cNvCxnSpPr>
          <p:nvPr/>
        </p:nvCxnSpPr>
        <p:spPr>
          <a:xfrm flipH="1">
            <a:off x="8114665" y="3721100"/>
            <a:ext cx="10795" cy="123444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7" name="Straight Connector 36"/>
          <p:cNvCxnSpPr/>
          <p:nvPr/>
        </p:nvCxnSpPr>
        <p:spPr>
          <a:xfrm>
            <a:off x="8613775" y="4393565"/>
            <a:ext cx="0" cy="57023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8" name="Straight Connector 37"/>
          <p:cNvCxnSpPr/>
          <p:nvPr/>
        </p:nvCxnSpPr>
        <p:spPr>
          <a:xfrm>
            <a:off x="8863330" y="4443730"/>
            <a:ext cx="0" cy="56324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9" name="Straight Connector 38"/>
          <p:cNvCxnSpPr/>
          <p:nvPr/>
        </p:nvCxnSpPr>
        <p:spPr>
          <a:xfrm>
            <a:off x="9112885" y="4175760"/>
            <a:ext cx="0" cy="83121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40" name="Straight Connector 39"/>
          <p:cNvCxnSpPr/>
          <p:nvPr/>
        </p:nvCxnSpPr>
        <p:spPr>
          <a:xfrm>
            <a:off x="6492240" y="2219960"/>
            <a:ext cx="0" cy="274320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41" name="Straight Connector 40"/>
          <p:cNvCxnSpPr/>
          <p:nvPr/>
        </p:nvCxnSpPr>
        <p:spPr>
          <a:xfrm flipH="1">
            <a:off x="6490970" y="4970145"/>
            <a:ext cx="312737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42" name="Text Box 41"/>
          <p:cNvSpPr txBox="1"/>
          <p:nvPr/>
        </p:nvSpPr>
        <p:spPr>
          <a:xfrm>
            <a:off x="5340985" y="2219960"/>
            <a:ext cx="1130300" cy="429895"/>
          </a:xfrm>
          <a:prstGeom prst="rect">
            <a:avLst/>
          </a:prstGeom>
          <a:noFill/>
        </p:spPr>
        <p:txBody>
          <a:bodyPr wrap="square" rtlCol="0">
            <a:noAutofit/>
          </a:bodyPr>
          <a:p>
            <a:pPr algn="r"/>
            <a:r>
              <a:rPr lang="zh-CN" altLang="en-US" sz="2200">
                <a:latin typeface="Alibaba PuHuiTi 3.0 55 Regular" panose="00020600040101010101" charset="-122"/>
                <a:ea typeface="Alibaba PuHuiTi 3.0 55 Regular" panose="00020600040101010101" charset="-122"/>
              </a:rPr>
              <a:t>量化值</a:t>
            </a:r>
            <a:endParaRPr lang="zh-CN" altLang="en-US" sz="2200">
              <a:latin typeface="Alibaba PuHuiTi 3.0 55 Regular" panose="00020600040101010101" charset="-122"/>
              <a:ea typeface="Alibaba PuHuiTi 3.0 55 Regular" panose="00020600040101010101" charset="-122"/>
            </a:endParaRPr>
          </a:p>
        </p:txBody>
      </p:sp>
      <p:sp>
        <p:nvSpPr>
          <p:cNvPr id="43" name="Text Box 42"/>
          <p:cNvSpPr txBox="1"/>
          <p:nvPr/>
        </p:nvSpPr>
        <p:spPr>
          <a:xfrm>
            <a:off x="9355455" y="5041265"/>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44" name="Freeform 43"/>
          <p:cNvSpPr/>
          <p:nvPr/>
        </p:nvSpPr>
        <p:spPr>
          <a:xfrm>
            <a:off x="6707505" y="2950845"/>
            <a:ext cx="2518410" cy="1645285"/>
          </a:xfrm>
          <a:custGeom>
            <a:avLst/>
            <a:gdLst>
              <a:gd name="connisteX0" fmla="*/ 0 w 2518410"/>
              <a:gd name="connsiteY0" fmla="*/ 1645002 h 1645002"/>
              <a:gd name="connisteX1" fmla="*/ 25400 w 2518410"/>
              <a:gd name="connsiteY1" fmla="*/ 1519907 h 1645002"/>
              <a:gd name="connisteX2" fmla="*/ 142240 w 2518410"/>
              <a:gd name="connsiteY2" fmla="*/ 1328137 h 1645002"/>
              <a:gd name="connisteX3" fmla="*/ 225425 w 2518410"/>
              <a:gd name="connsiteY3" fmla="*/ 1178277 h 1645002"/>
              <a:gd name="connisteX4" fmla="*/ 275590 w 2518410"/>
              <a:gd name="connsiteY4" fmla="*/ 1077947 h 1645002"/>
              <a:gd name="connisteX5" fmla="*/ 325120 w 2518410"/>
              <a:gd name="connsiteY5" fmla="*/ 978252 h 1645002"/>
              <a:gd name="connisteX6" fmla="*/ 358775 w 2518410"/>
              <a:gd name="connsiteY6" fmla="*/ 877922 h 1645002"/>
              <a:gd name="connisteX7" fmla="*/ 383540 w 2518410"/>
              <a:gd name="connsiteY7" fmla="*/ 811247 h 1645002"/>
              <a:gd name="connisteX8" fmla="*/ 400685 w 2518410"/>
              <a:gd name="connsiteY8" fmla="*/ 728062 h 1645002"/>
              <a:gd name="connisteX9" fmla="*/ 441960 w 2518410"/>
              <a:gd name="connsiteY9" fmla="*/ 611222 h 1645002"/>
              <a:gd name="connisteX10" fmla="*/ 459105 w 2518410"/>
              <a:gd name="connsiteY10" fmla="*/ 544547 h 1645002"/>
              <a:gd name="connisteX11" fmla="*/ 492125 w 2518410"/>
              <a:gd name="connsiteY11" fmla="*/ 419452 h 1645002"/>
              <a:gd name="connisteX12" fmla="*/ 525780 w 2518410"/>
              <a:gd name="connsiteY12" fmla="*/ 310867 h 1645002"/>
              <a:gd name="connisteX13" fmla="*/ 550545 w 2518410"/>
              <a:gd name="connsiteY13" fmla="*/ 227682 h 1645002"/>
              <a:gd name="connisteX14" fmla="*/ 567055 w 2518410"/>
              <a:gd name="connsiteY14" fmla="*/ 161007 h 1645002"/>
              <a:gd name="connisteX15" fmla="*/ 584200 w 2518410"/>
              <a:gd name="connsiteY15" fmla="*/ 94332 h 1645002"/>
              <a:gd name="connisteX16" fmla="*/ 625475 w 2518410"/>
              <a:gd name="connsiteY16" fmla="*/ 27657 h 1645002"/>
              <a:gd name="connisteX17" fmla="*/ 692150 w 2518410"/>
              <a:gd name="connsiteY17" fmla="*/ 10512 h 1645002"/>
              <a:gd name="connisteX18" fmla="*/ 784225 w 2518410"/>
              <a:gd name="connsiteY18" fmla="*/ 2257 h 1645002"/>
              <a:gd name="connisteX19" fmla="*/ 859155 w 2518410"/>
              <a:gd name="connsiteY19" fmla="*/ 2257 h 1645002"/>
              <a:gd name="connisteX20" fmla="*/ 925830 w 2518410"/>
              <a:gd name="connsiteY20" fmla="*/ 2257 h 1645002"/>
              <a:gd name="connisteX21" fmla="*/ 1000760 w 2518410"/>
              <a:gd name="connsiteY21" fmla="*/ 27657 h 1645002"/>
              <a:gd name="connisteX22" fmla="*/ 1067435 w 2518410"/>
              <a:gd name="connsiteY22" fmla="*/ 77187 h 1645002"/>
              <a:gd name="connisteX23" fmla="*/ 1125855 w 2518410"/>
              <a:gd name="connsiteY23" fmla="*/ 152752 h 1645002"/>
              <a:gd name="connisteX24" fmla="*/ 1176020 w 2518410"/>
              <a:gd name="connsiteY24" fmla="*/ 235937 h 1645002"/>
              <a:gd name="connisteX25" fmla="*/ 1217930 w 2518410"/>
              <a:gd name="connsiteY25" fmla="*/ 302612 h 1645002"/>
              <a:gd name="connisteX26" fmla="*/ 1242695 w 2518410"/>
              <a:gd name="connsiteY26" fmla="*/ 369287 h 1645002"/>
              <a:gd name="connisteX27" fmla="*/ 1276350 w 2518410"/>
              <a:gd name="connsiteY27" fmla="*/ 435962 h 1645002"/>
              <a:gd name="connisteX28" fmla="*/ 1309370 w 2518410"/>
              <a:gd name="connsiteY28" fmla="*/ 502637 h 1645002"/>
              <a:gd name="connisteX29" fmla="*/ 1351280 w 2518410"/>
              <a:gd name="connsiteY29" fmla="*/ 594712 h 1645002"/>
              <a:gd name="connisteX30" fmla="*/ 1384300 w 2518410"/>
              <a:gd name="connsiteY30" fmla="*/ 686152 h 1645002"/>
              <a:gd name="connisteX31" fmla="*/ 1417955 w 2518410"/>
              <a:gd name="connsiteY31" fmla="*/ 769972 h 1645002"/>
              <a:gd name="connisteX32" fmla="*/ 1450975 w 2518410"/>
              <a:gd name="connsiteY32" fmla="*/ 844902 h 1645002"/>
              <a:gd name="connisteX33" fmla="*/ 1476375 w 2518410"/>
              <a:gd name="connsiteY33" fmla="*/ 911577 h 1645002"/>
              <a:gd name="connisteX34" fmla="*/ 1501140 w 2518410"/>
              <a:gd name="connsiteY34" fmla="*/ 1003017 h 1645002"/>
              <a:gd name="connisteX35" fmla="*/ 1526540 w 2518410"/>
              <a:gd name="connsiteY35" fmla="*/ 1077947 h 1645002"/>
              <a:gd name="connisteX36" fmla="*/ 1551305 w 2518410"/>
              <a:gd name="connsiteY36" fmla="*/ 1153512 h 1645002"/>
              <a:gd name="connisteX37" fmla="*/ 1601470 w 2518410"/>
              <a:gd name="connsiteY37" fmla="*/ 1220187 h 1645002"/>
              <a:gd name="connisteX38" fmla="*/ 1676400 w 2518410"/>
              <a:gd name="connsiteY38" fmla="*/ 1269717 h 1645002"/>
              <a:gd name="connisteX39" fmla="*/ 1743075 w 2518410"/>
              <a:gd name="connsiteY39" fmla="*/ 1319882 h 1645002"/>
              <a:gd name="connisteX40" fmla="*/ 1809750 w 2518410"/>
              <a:gd name="connsiteY40" fmla="*/ 1353537 h 1645002"/>
              <a:gd name="connisteX41" fmla="*/ 1876425 w 2518410"/>
              <a:gd name="connsiteY41" fmla="*/ 1386557 h 1645002"/>
              <a:gd name="connisteX42" fmla="*/ 1951355 w 2518410"/>
              <a:gd name="connsiteY42" fmla="*/ 1411957 h 1645002"/>
              <a:gd name="connisteX43" fmla="*/ 2035175 w 2518410"/>
              <a:gd name="connsiteY43" fmla="*/ 1436722 h 1645002"/>
              <a:gd name="connisteX44" fmla="*/ 2110105 w 2518410"/>
              <a:gd name="connsiteY44" fmla="*/ 1453232 h 1645002"/>
              <a:gd name="connisteX45" fmla="*/ 2185035 w 2518410"/>
              <a:gd name="connsiteY45" fmla="*/ 1453232 h 1645002"/>
              <a:gd name="connisteX46" fmla="*/ 2251710 w 2518410"/>
              <a:gd name="connsiteY46" fmla="*/ 1444977 h 1645002"/>
              <a:gd name="connisteX47" fmla="*/ 2301875 w 2518410"/>
              <a:gd name="connsiteY47" fmla="*/ 1378302 h 1645002"/>
              <a:gd name="connisteX48" fmla="*/ 2343785 w 2518410"/>
              <a:gd name="connsiteY48" fmla="*/ 1311627 h 1645002"/>
              <a:gd name="connisteX49" fmla="*/ 2368550 w 2518410"/>
              <a:gd name="connsiteY49" fmla="*/ 1236697 h 1645002"/>
              <a:gd name="connisteX50" fmla="*/ 2402205 w 2518410"/>
              <a:gd name="connsiteY50" fmla="*/ 1161767 h 1645002"/>
              <a:gd name="connisteX51" fmla="*/ 2426970 w 2518410"/>
              <a:gd name="connsiteY51" fmla="*/ 1086837 h 1645002"/>
              <a:gd name="connisteX52" fmla="*/ 2468880 w 2518410"/>
              <a:gd name="connsiteY52" fmla="*/ 1019527 h 1645002"/>
              <a:gd name="connisteX53" fmla="*/ 2518410 w 2518410"/>
              <a:gd name="connsiteY53" fmla="*/ 944597 h 164500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Lst>
            <a:rect l="l" t="t" r="r" b="b"/>
            <a:pathLst>
              <a:path w="2518410" h="1645003">
                <a:moveTo>
                  <a:pt x="0" y="1645003"/>
                </a:moveTo>
                <a:cubicBezTo>
                  <a:pt x="2540" y="1624048"/>
                  <a:pt x="-3175" y="1583408"/>
                  <a:pt x="25400" y="1519908"/>
                </a:cubicBezTo>
                <a:cubicBezTo>
                  <a:pt x="53975" y="1456408"/>
                  <a:pt x="102235" y="1396718"/>
                  <a:pt x="142240" y="1328138"/>
                </a:cubicBezTo>
                <a:cubicBezTo>
                  <a:pt x="182245" y="1259558"/>
                  <a:pt x="198755" y="1228443"/>
                  <a:pt x="225425" y="1178278"/>
                </a:cubicBezTo>
                <a:cubicBezTo>
                  <a:pt x="252095" y="1128113"/>
                  <a:pt x="255905" y="1117953"/>
                  <a:pt x="275590" y="1077948"/>
                </a:cubicBezTo>
                <a:cubicBezTo>
                  <a:pt x="295275" y="1037943"/>
                  <a:pt x="308610" y="1018258"/>
                  <a:pt x="325120" y="978253"/>
                </a:cubicBezTo>
                <a:cubicBezTo>
                  <a:pt x="341630" y="938248"/>
                  <a:pt x="347345" y="911578"/>
                  <a:pt x="358775" y="877923"/>
                </a:cubicBezTo>
                <a:cubicBezTo>
                  <a:pt x="370205" y="844268"/>
                  <a:pt x="375285" y="841093"/>
                  <a:pt x="383540" y="811248"/>
                </a:cubicBezTo>
                <a:cubicBezTo>
                  <a:pt x="391795" y="781403"/>
                  <a:pt x="389255" y="768068"/>
                  <a:pt x="400685" y="728063"/>
                </a:cubicBezTo>
                <a:cubicBezTo>
                  <a:pt x="412115" y="688058"/>
                  <a:pt x="430530" y="648053"/>
                  <a:pt x="441960" y="611223"/>
                </a:cubicBezTo>
                <a:cubicBezTo>
                  <a:pt x="453390" y="574393"/>
                  <a:pt x="448945" y="582648"/>
                  <a:pt x="459105" y="544548"/>
                </a:cubicBezTo>
                <a:cubicBezTo>
                  <a:pt x="469265" y="506448"/>
                  <a:pt x="478790" y="466443"/>
                  <a:pt x="492125" y="419453"/>
                </a:cubicBezTo>
                <a:cubicBezTo>
                  <a:pt x="505460" y="372463"/>
                  <a:pt x="514350" y="348968"/>
                  <a:pt x="525780" y="310868"/>
                </a:cubicBezTo>
                <a:cubicBezTo>
                  <a:pt x="537210" y="272768"/>
                  <a:pt x="542290" y="257528"/>
                  <a:pt x="550545" y="227683"/>
                </a:cubicBezTo>
                <a:cubicBezTo>
                  <a:pt x="558800" y="197838"/>
                  <a:pt x="560070" y="187678"/>
                  <a:pt x="567055" y="161008"/>
                </a:cubicBezTo>
                <a:cubicBezTo>
                  <a:pt x="574040" y="134338"/>
                  <a:pt x="572770" y="121003"/>
                  <a:pt x="584200" y="94333"/>
                </a:cubicBezTo>
                <a:cubicBezTo>
                  <a:pt x="595630" y="67663"/>
                  <a:pt x="603885" y="44168"/>
                  <a:pt x="625475" y="27658"/>
                </a:cubicBezTo>
                <a:cubicBezTo>
                  <a:pt x="647065" y="11148"/>
                  <a:pt x="660400" y="15593"/>
                  <a:pt x="692150" y="10513"/>
                </a:cubicBezTo>
                <a:cubicBezTo>
                  <a:pt x="723900" y="5433"/>
                  <a:pt x="750570" y="4163"/>
                  <a:pt x="784225" y="2258"/>
                </a:cubicBezTo>
                <a:cubicBezTo>
                  <a:pt x="817880" y="353"/>
                  <a:pt x="830580" y="2258"/>
                  <a:pt x="859155" y="2258"/>
                </a:cubicBezTo>
                <a:cubicBezTo>
                  <a:pt x="887730" y="2258"/>
                  <a:pt x="897255" y="-2822"/>
                  <a:pt x="925830" y="2258"/>
                </a:cubicBezTo>
                <a:cubicBezTo>
                  <a:pt x="954405" y="7338"/>
                  <a:pt x="972185" y="12418"/>
                  <a:pt x="1000760" y="27658"/>
                </a:cubicBezTo>
                <a:cubicBezTo>
                  <a:pt x="1029335" y="42898"/>
                  <a:pt x="1042670" y="52423"/>
                  <a:pt x="1067435" y="77188"/>
                </a:cubicBezTo>
                <a:cubicBezTo>
                  <a:pt x="1092200" y="101953"/>
                  <a:pt x="1104265" y="121003"/>
                  <a:pt x="1125855" y="152753"/>
                </a:cubicBezTo>
                <a:cubicBezTo>
                  <a:pt x="1147445" y="184503"/>
                  <a:pt x="1157605" y="206093"/>
                  <a:pt x="1176020" y="235938"/>
                </a:cubicBezTo>
                <a:cubicBezTo>
                  <a:pt x="1194435" y="265783"/>
                  <a:pt x="1204595" y="275943"/>
                  <a:pt x="1217930" y="302613"/>
                </a:cubicBezTo>
                <a:cubicBezTo>
                  <a:pt x="1231265" y="329283"/>
                  <a:pt x="1231265" y="342618"/>
                  <a:pt x="1242695" y="369288"/>
                </a:cubicBezTo>
                <a:cubicBezTo>
                  <a:pt x="1254125" y="395958"/>
                  <a:pt x="1263015" y="409293"/>
                  <a:pt x="1276350" y="435963"/>
                </a:cubicBezTo>
                <a:cubicBezTo>
                  <a:pt x="1289685" y="462633"/>
                  <a:pt x="1294130" y="470888"/>
                  <a:pt x="1309370" y="502638"/>
                </a:cubicBezTo>
                <a:cubicBezTo>
                  <a:pt x="1324610" y="534388"/>
                  <a:pt x="1336040" y="557883"/>
                  <a:pt x="1351280" y="594713"/>
                </a:cubicBezTo>
                <a:cubicBezTo>
                  <a:pt x="1366520" y="631543"/>
                  <a:pt x="1370965" y="651228"/>
                  <a:pt x="1384300" y="686153"/>
                </a:cubicBezTo>
                <a:cubicBezTo>
                  <a:pt x="1397635" y="721078"/>
                  <a:pt x="1404620" y="738223"/>
                  <a:pt x="1417955" y="769973"/>
                </a:cubicBezTo>
                <a:cubicBezTo>
                  <a:pt x="1431290" y="801723"/>
                  <a:pt x="1439545" y="816328"/>
                  <a:pt x="1450975" y="844903"/>
                </a:cubicBezTo>
                <a:cubicBezTo>
                  <a:pt x="1462405" y="873478"/>
                  <a:pt x="1466215" y="879828"/>
                  <a:pt x="1476375" y="911578"/>
                </a:cubicBezTo>
                <a:cubicBezTo>
                  <a:pt x="1486535" y="943328"/>
                  <a:pt x="1490980" y="969998"/>
                  <a:pt x="1501140" y="1003018"/>
                </a:cubicBezTo>
                <a:cubicBezTo>
                  <a:pt x="1511300" y="1036038"/>
                  <a:pt x="1516380" y="1048103"/>
                  <a:pt x="1526540" y="1077948"/>
                </a:cubicBezTo>
                <a:cubicBezTo>
                  <a:pt x="1536700" y="1107793"/>
                  <a:pt x="1536065" y="1124938"/>
                  <a:pt x="1551305" y="1153513"/>
                </a:cubicBezTo>
                <a:cubicBezTo>
                  <a:pt x="1566545" y="1182088"/>
                  <a:pt x="1576705" y="1196693"/>
                  <a:pt x="1601470" y="1220188"/>
                </a:cubicBezTo>
                <a:cubicBezTo>
                  <a:pt x="1626235" y="1243683"/>
                  <a:pt x="1647825" y="1250033"/>
                  <a:pt x="1676400" y="1269718"/>
                </a:cubicBezTo>
                <a:cubicBezTo>
                  <a:pt x="1704975" y="1289403"/>
                  <a:pt x="1716405" y="1303373"/>
                  <a:pt x="1743075" y="1319883"/>
                </a:cubicBezTo>
                <a:cubicBezTo>
                  <a:pt x="1769745" y="1336393"/>
                  <a:pt x="1783080" y="1340203"/>
                  <a:pt x="1809750" y="1353538"/>
                </a:cubicBezTo>
                <a:cubicBezTo>
                  <a:pt x="1836420" y="1366873"/>
                  <a:pt x="1847850" y="1375128"/>
                  <a:pt x="1876425" y="1386558"/>
                </a:cubicBezTo>
                <a:cubicBezTo>
                  <a:pt x="1905000" y="1397988"/>
                  <a:pt x="1919605" y="1401798"/>
                  <a:pt x="1951355" y="1411958"/>
                </a:cubicBezTo>
                <a:cubicBezTo>
                  <a:pt x="1983105" y="1422118"/>
                  <a:pt x="2003425" y="1428468"/>
                  <a:pt x="2035175" y="1436723"/>
                </a:cubicBezTo>
                <a:cubicBezTo>
                  <a:pt x="2066925" y="1444978"/>
                  <a:pt x="2080260" y="1450058"/>
                  <a:pt x="2110105" y="1453233"/>
                </a:cubicBezTo>
                <a:cubicBezTo>
                  <a:pt x="2139950" y="1456408"/>
                  <a:pt x="2156460" y="1455138"/>
                  <a:pt x="2185035" y="1453233"/>
                </a:cubicBezTo>
                <a:cubicBezTo>
                  <a:pt x="2213610" y="1451328"/>
                  <a:pt x="2228215" y="1460218"/>
                  <a:pt x="2251710" y="1444978"/>
                </a:cubicBezTo>
                <a:cubicBezTo>
                  <a:pt x="2275205" y="1429738"/>
                  <a:pt x="2283460" y="1404973"/>
                  <a:pt x="2301875" y="1378303"/>
                </a:cubicBezTo>
                <a:cubicBezTo>
                  <a:pt x="2320290" y="1351633"/>
                  <a:pt x="2330450" y="1340203"/>
                  <a:pt x="2343785" y="1311628"/>
                </a:cubicBezTo>
                <a:cubicBezTo>
                  <a:pt x="2357120" y="1283053"/>
                  <a:pt x="2357120" y="1266543"/>
                  <a:pt x="2368550" y="1236698"/>
                </a:cubicBezTo>
                <a:cubicBezTo>
                  <a:pt x="2379980" y="1206853"/>
                  <a:pt x="2390775" y="1191613"/>
                  <a:pt x="2402205" y="1161768"/>
                </a:cubicBezTo>
                <a:cubicBezTo>
                  <a:pt x="2413635" y="1131923"/>
                  <a:pt x="2413635" y="1115413"/>
                  <a:pt x="2426970" y="1086838"/>
                </a:cubicBezTo>
                <a:cubicBezTo>
                  <a:pt x="2440305" y="1058263"/>
                  <a:pt x="2450465" y="1048103"/>
                  <a:pt x="2468880" y="1019528"/>
                </a:cubicBezTo>
                <a:cubicBezTo>
                  <a:pt x="2487295" y="990953"/>
                  <a:pt x="2509520" y="957933"/>
                  <a:pt x="2518410" y="944598"/>
                </a:cubicBezTo>
              </a:path>
            </a:pathLst>
          </a:custGeom>
          <a:noFill/>
          <a:ln w="38100">
            <a:solidFill>
              <a:schemeClr val="tx1"/>
            </a:solidFill>
          </a:ln>
        </p:spPr>
        <p:txBody>
          <a:bodyPr vert="horz" lIns="90000" tIns="46800" rIns="90000" bIns="46800" rtlCol="0" anchor="ctr" anchorCtr="0">
            <a:noAutofit/>
          </a:bodyPr>
          <a:p>
            <a:endParaRPr lang="zh-CN" altLang="en-US" sz="2445">
              <a:solidFill>
                <a:schemeClr val="tx1"/>
              </a:solidFill>
            </a:endParaRPr>
          </a:p>
        </p:txBody>
      </p:sp>
      <p:sp>
        <p:nvSpPr>
          <p:cNvPr id="46" name="Text Box 45"/>
          <p:cNvSpPr txBox="1"/>
          <p:nvPr/>
        </p:nvSpPr>
        <p:spPr>
          <a:xfrm>
            <a:off x="6649085" y="5041265"/>
            <a:ext cx="296926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47" name="Text Box 46"/>
          <p:cNvSpPr txBox="1"/>
          <p:nvPr/>
        </p:nvSpPr>
        <p:spPr>
          <a:xfrm>
            <a:off x="6677025" y="390525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49" name="Oval 48"/>
          <p:cNvSpPr/>
          <p:nvPr/>
        </p:nvSpPr>
        <p:spPr>
          <a:xfrm>
            <a:off x="7309485" y="293433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0" name="Oval 49"/>
          <p:cNvSpPr/>
          <p:nvPr/>
        </p:nvSpPr>
        <p:spPr>
          <a:xfrm>
            <a:off x="8085455" y="367919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3" name="Oval 52"/>
          <p:cNvSpPr/>
          <p:nvPr/>
        </p:nvSpPr>
        <p:spPr>
          <a:xfrm>
            <a:off x="8583295" y="429704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7" name="Oval 56"/>
          <p:cNvSpPr/>
          <p:nvPr/>
        </p:nvSpPr>
        <p:spPr>
          <a:xfrm>
            <a:off x="9066530" y="40792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9" name="Text Box 58"/>
          <p:cNvSpPr txBox="1"/>
          <p:nvPr/>
        </p:nvSpPr>
        <p:spPr>
          <a:xfrm>
            <a:off x="7868285" y="29889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6</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60" name="Text Box 59"/>
          <p:cNvSpPr txBox="1"/>
          <p:nvPr/>
        </p:nvSpPr>
        <p:spPr>
          <a:xfrm>
            <a:off x="8241030" y="394398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61" name="Text Box 60"/>
          <p:cNvSpPr txBox="1"/>
          <p:nvPr/>
        </p:nvSpPr>
        <p:spPr>
          <a:xfrm>
            <a:off x="8493760" y="40252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2</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62" name="Straight Connector 61"/>
          <p:cNvCxnSpPr>
            <a:endCxn id="68" idx="3"/>
          </p:cNvCxnSpPr>
          <p:nvPr/>
        </p:nvCxnSpPr>
        <p:spPr>
          <a:xfrm flipV="1">
            <a:off x="6866890" y="3752215"/>
            <a:ext cx="199390" cy="52070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63" name="Straight Connector 62"/>
          <p:cNvCxnSpPr>
            <a:stCxn id="44" idx="8"/>
          </p:cNvCxnSpPr>
          <p:nvPr/>
        </p:nvCxnSpPr>
        <p:spPr>
          <a:xfrm>
            <a:off x="7108190" y="3679190"/>
            <a:ext cx="8255" cy="13271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4" name="Straight Connector 63"/>
          <p:cNvCxnSpPr/>
          <p:nvPr/>
        </p:nvCxnSpPr>
        <p:spPr>
          <a:xfrm>
            <a:off x="7366000" y="2978150"/>
            <a:ext cx="0" cy="202819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5" name="Straight Connector 64"/>
          <p:cNvCxnSpPr/>
          <p:nvPr/>
        </p:nvCxnSpPr>
        <p:spPr>
          <a:xfrm>
            <a:off x="7615555" y="2973705"/>
            <a:ext cx="0" cy="203263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6" name="Straight Connector 65"/>
          <p:cNvCxnSpPr>
            <a:stCxn id="59" idx="1"/>
          </p:cNvCxnSpPr>
          <p:nvPr/>
        </p:nvCxnSpPr>
        <p:spPr>
          <a:xfrm flipH="1">
            <a:off x="7865110" y="3133090"/>
            <a:ext cx="3175" cy="18732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7" name="Straight Connector 66"/>
          <p:cNvCxnSpPr/>
          <p:nvPr/>
        </p:nvCxnSpPr>
        <p:spPr>
          <a:xfrm>
            <a:off x="8364220" y="4239260"/>
            <a:ext cx="0" cy="76708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68" name="Oval 67"/>
          <p:cNvSpPr/>
          <p:nvPr/>
        </p:nvSpPr>
        <p:spPr>
          <a:xfrm>
            <a:off x="7052310" y="366966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9" name="Oval 68"/>
          <p:cNvSpPr/>
          <p:nvPr/>
        </p:nvSpPr>
        <p:spPr>
          <a:xfrm>
            <a:off x="7567295" y="290385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0" name="Oval 69"/>
          <p:cNvSpPr/>
          <p:nvPr/>
        </p:nvSpPr>
        <p:spPr>
          <a:xfrm>
            <a:off x="7833360" y="308483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1" name="Oval 70"/>
          <p:cNvSpPr/>
          <p:nvPr/>
        </p:nvSpPr>
        <p:spPr>
          <a:xfrm>
            <a:off x="8313420" y="417576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2" name="Oval 71"/>
          <p:cNvSpPr/>
          <p:nvPr/>
        </p:nvSpPr>
        <p:spPr>
          <a:xfrm>
            <a:off x="8828405" y="43586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3" name="Text Box 72"/>
          <p:cNvSpPr txBox="1"/>
          <p:nvPr/>
        </p:nvSpPr>
        <p:spPr>
          <a:xfrm>
            <a:off x="6834505" y="359473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4</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4" name="Text Box 73"/>
          <p:cNvSpPr txBox="1"/>
          <p:nvPr/>
        </p:nvSpPr>
        <p:spPr>
          <a:xfrm>
            <a:off x="7211695" y="264858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7</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5" name="Text Box 74"/>
          <p:cNvSpPr txBox="1"/>
          <p:nvPr/>
        </p:nvSpPr>
        <p:spPr>
          <a:xfrm>
            <a:off x="7478395" y="264604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7</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6" name="Text Box 75"/>
          <p:cNvSpPr txBox="1"/>
          <p:nvPr/>
        </p:nvSpPr>
        <p:spPr>
          <a:xfrm>
            <a:off x="8063230" y="3416300"/>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4</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7" name="Text Box 76"/>
          <p:cNvSpPr txBox="1"/>
          <p:nvPr/>
        </p:nvSpPr>
        <p:spPr>
          <a:xfrm>
            <a:off x="8740140" y="4114165"/>
            <a:ext cx="23812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8" name="Text Box 77"/>
          <p:cNvSpPr txBox="1"/>
          <p:nvPr/>
        </p:nvSpPr>
        <p:spPr>
          <a:xfrm>
            <a:off x="8862060" y="3795395"/>
            <a:ext cx="43180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3</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94" name="Straight Connector 93"/>
          <p:cNvCxnSpPr>
            <a:endCxn id="49" idx="2"/>
          </p:cNvCxnSpPr>
          <p:nvPr/>
        </p:nvCxnSpPr>
        <p:spPr>
          <a:xfrm flipV="1">
            <a:off x="7116445" y="2982595"/>
            <a:ext cx="193040" cy="6965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6" name="Straight Connector 95"/>
          <p:cNvCxnSpPr>
            <a:endCxn id="75" idx="2"/>
          </p:cNvCxnSpPr>
          <p:nvPr/>
        </p:nvCxnSpPr>
        <p:spPr>
          <a:xfrm flipV="1">
            <a:off x="7359015" y="2933700"/>
            <a:ext cx="238760" cy="349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7" name="Straight Connector 96"/>
          <p:cNvCxnSpPr>
            <a:stCxn id="69" idx="5"/>
            <a:endCxn id="70" idx="2"/>
          </p:cNvCxnSpPr>
          <p:nvPr/>
        </p:nvCxnSpPr>
        <p:spPr>
          <a:xfrm>
            <a:off x="7649845" y="2986405"/>
            <a:ext cx="183515" cy="14668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6" name="Straight Connector 105"/>
          <p:cNvCxnSpPr>
            <a:stCxn id="70" idx="4"/>
            <a:endCxn id="44" idx="31"/>
          </p:cNvCxnSpPr>
          <p:nvPr/>
        </p:nvCxnSpPr>
        <p:spPr>
          <a:xfrm>
            <a:off x="7881620" y="3181350"/>
            <a:ext cx="243840" cy="5397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7" name="Straight Connector 106"/>
          <p:cNvCxnSpPr>
            <a:stCxn id="50" idx="5"/>
            <a:endCxn id="71" idx="1"/>
          </p:cNvCxnSpPr>
          <p:nvPr/>
        </p:nvCxnSpPr>
        <p:spPr>
          <a:xfrm>
            <a:off x="8168005" y="3761740"/>
            <a:ext cx="159385" cy="4279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8" name="Straight Connector 107"/>
          <p:cNvCxnSpPr>
            <a:stCxn id="71" idx="5"/>
            <a:endCxn id="53" idx="2"/>
          </p:cNvCxnSpPr>
          <p:nvPr/>
        </p:nvCxnSpPr>
        <p:spPr>
          <a:xfrm>
            <a:off x="8395970" y="4258310"/>
            <a:ext cx="187325" cy="869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9" name="Straight Connector 108"/>
          <p:cNvCxnSpPr>
            <a:stCxn id="53" idx="5"/>
            <a:endCxn id="77" idx="2"/>
          </p:cNvCxnSpPr>
          <p:nvPr/>
        </p:nvCxnSpPr>
        <p:spPr>
          <a:xfrm>
            <a:off x="8665845" y="4379595"/>
            <a:ext cx="193675" cy="222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0" name="Straight Connector 109"/>
          <p:cNvCxnSpPr>
            <a:stCxn id="72" idx="5"/>
            <a:endCxn id="57" idx="2"/>
          </p:cNvCxnSpPr>
          <p:nvPr/>
        </p:nvCxnSpPr>
        <p:spPr>
          <a:xfrm flipV="1">
            <a:off x="8910955" y="4127500"/>
            <a:ext cx="155575" cy="3136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1" name="Straight Connector 110"/>
          <p:cNvCxnSpPr/>
          <p:nvPr/>
        </p:nvCxnSpPr>
        <p:spPr>
          <a:xfrm>
            <a:off x="6508750" y="355092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2" name="Straight Connector 111"/>
          <p:cNvCxnSpPr/>
          <p:nvPr/>
        </p:nvCxnSpPr>
        <p:spPr>
          <a:xfrm>
            <a:off x="6508750" y="298323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3" name="Straight Connector 112"/>
          <p:cNvCxnSpPr/>
          <p:nvPr/>
        </p:nvCxnSpPr>
        <p:spPr>
          <a:xfrm>
            <a:off x="6508750" y="3267075"/>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114" name="Text Box 113"/>
          <p:cNvSpPr txBox="1"/>
          <p:nvPr/>
        </p:nvSpPr>
        <p:spPr>
          <a:xfrm>
            <a:off x="6118860" y="3905250"/>
            <a:ext cx="243205" cy="425450"/>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3</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5" name="Text Box 114"/>
          <p:cNvSpPr txBox="1"/>
          <p:nvPr/>
        </p:nvSpPr>
        <p:spPr>
          <a:xfrm>
            <a:off x="6118860" y="419417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2</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6" name="Text Box 115"/>
          <p:cNvSpPr txBox="1"/>
          <p:nvPr/>
        </p:nvSpPr>
        <p:spPr>
          <a:xfrm>
            <a:off x="6118860" y="446976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7" name="Text Box 116"/>
          <p:cNvSpPr txBox="1"/>
          <p:nvPr/>
        </p:nvSpPr>
        <p:spPr>
          <a:xfrm>
            <a:off x="6118860" y="470979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8" name="Text Box 117"/>
          <p:cNvSpPr txBox="1"/>
          <p:nvPr/>
        </p:nvSpPr>
        <p:spPr>
          <a:xfrm>
            <a:off x="6681470" y="5603240"/>
            <a:ext cx="1937385"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量化等级为</a:t>
            </a:r>
            <a:r>
              <a:rPr lang="en-US" altLang="zh-CN" sz="2200">
                <a:latin typeface="Alibaba PuHuiTi 3.0 55 Regular" panose="00020600040101010101" charset="-122"/>
                <a:ea typeface="Alibaba PuHuiTi 3.0 55 Regular" panose="00020600040101010101" charset="-122"/>
              </a:rPr>
              <a:t>8</a:t>
            </a:r>
            <a:endParaRPr lang="en-US" altLang="zh-CN" sz="2200">
              <a:latin typeface="Alibaba PuHuiTi 3.0 55 Regular" panose="00020600040101010101" charset="-122"/>
              <a:ea typeface="Alibaba PuHuiTi 3.0 55 Regular" panose="00020600040101010101" charset="-122"/>
            </a:endParaRPr>
          </a:p>
        </p:txBody>
      </p:sp>
      <p:cxnSp>
        <p:nvCxnSpPr>
          <p:cNvPr id="119" name="Straight Connector 118"/>
          <p:cNvCxnSpPr/>
          <p:nvPr/>
        </p:nvCxnSpPr>
        <p:spPr>
          <a:xfrm>
            <a:off x="6508750" y="3834765"/>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0" name="Straight Connector 119"/>
          <p:cNvCxnSpPr/>
          <p:nvPr/>
        </p:nvCxnSpPr>
        <p:spPr>
          <a:xfrm>
            <a:off x="6508750" y="411861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1" name="Straight Connector 120"/>
          <p:cNvCxnSpPr/>
          <p:nvPr/>
        </p:nvCxnSpPr>
        <p:spPr>
          <a:xfrm>
            <a:off x="6508750" y="4379595"/>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2" name="Straight Connector 121"/>
          <p:cNvCxnSpPr/>
          <p:nvPr/>
        </p:nvCxnSpPr>
        <p:spPr>
          <a:xfrm>
            <a:off x="6508750" y="468630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131" name="Text Box 130"/>
          <p:cNvSpPr txBox="1"/>
          <p:nvPr/>
        </p:nvSpPr>
        <p:spPr>
          <a:xfrm>
            <a:off x="6120130" y="2819400"/>
            <a:ext cx="243205" cy="425450"/>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7</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2" name="Text Box 131"/>
          <p:cNvSpPr txBox="1"/>
          <p:nvPr/>
        </p:nvSpPr>
        <p:spPr>
          <a:xfrm>
            <a:off x="6120130" y="310832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6</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3" name="Text Box 132"/>
          <p:cNvSpPr txBox="1"/>
          <p:nvPr/>
        </p:nvSpPr>
        <p:spPr>
          <a:xfrm>
            <a:off x="6120130" y="338391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5</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4" name="Text Box 133"/>
          <p:cNvSpPr txBox="1"/>
          <p:nvPr/>
        </p:nvSpPr>
        <p:spPr>
          <a:xfrm>
            <a:off x="6120130" y="3623945"/>
            <a:ext cx="24320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4</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32" name="Text Box 31"/>
          <p:cNvSpPr txBox="1"/>
          <p:nvPr/>
        </p:nvSpPr>
        <p:spPr>
          <a:xfrm>
            <a:off x="2762885" y="1741805"/>
            <a:ext cx="1002665" cy="429895"/>
          </a:xfrm>
          <a:prstGeom prst="rect">
            <a:avLst/>
          </a:prstGeom>
          <a:noFill/>
        </p:spPr>
        <p:txBody>
          <a:bodyPr wrap="square" rtlCol="0">
            <a:noAutofit/>
          </a:bodyPr>
          <a:p>
            <a:pPr algn="l"/>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思考</a:t>
            </a:r>
            <a:r>
              <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a:t>
            </a:r>
            <a:endPar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123" name="Text Box 122"/>
          <p:cNvSpPr txBox="1"/>
          <p:nvPr/>
        </p:nvSpPr>
        <p:spPr>
          <a:xfrm>
            <a:off x="3620135" y="1589405"/>
            <a:ext cx="4845050" cy="1083310"/>
          </a:xfrm>
          <a:prstGeom prst="rect">
            <a:avLst/>
          </a:prstGeom>
          <a:noFill/>
        </p:spPr>
        <p:txBody>
          <a:bodyPr wrap="square" rtlCol="0">
            <a:noAutofit/>
          </a:bodyPr>
          <a:p>
            <a:pPr>
              <a:lnSpc>
                <a:spcPct val="150000"/>
              </a:lnSpc>
            </a:pPr>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两种量化等级需要用几位二进制</a:t>
            </a:r>
            <a:r>
              <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a:t>
            </a:r>
            <a:endPar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endParaRPr>
          </a:p>
        </p:txBody>
      </p:sp>
      <p:pic>
        <p:nvPicPr>
          <p:cNvPr id="124" name="Picture 123" descr="思考"/>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2367915" y="1715135"/>
            <a:ext cx="456565" cy="456565"/>
          </a:xfrm>
          <a:prstGeom prst="rect">
            <a:avLst/>
          </a:prstGeom>
        </p:spPr>
      </p:pic>
      <p:sp>
        <p:nvSpPr>
          <p:cNvPr id="6" name="Oval 5"/>
          <p:cNvSpPr/>
          <p:nvPr/>
        </p:nvSpPr>
        <p:spPr>
          <a:xfrm>
            <a:off x="1926590" y="419798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7" name="Straight Connector 6"/>
          <p:cNvCxnSpPr/>
          <p:nvPr/>
        </p:nvCxnSpPr>
        <p:spPr>
          <a:xfrm>
            <a:off x="1974850" y="4271645"/>
            <a:ext cx="0" cy="73977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0" name="Straight Connector 9"/>
          <p:cNvCxnSpPr>
            <a:stCxn id="130" idx="31"/>
          </p:cNvCxnSpPr>
          <p:nvPr/>
        </p:nvCxnSpPr>
        <p:spPr>
          <a:xfrm flipH="1">
            <a:off x="3222625" y="3726180"/>
            <a:ext cx="10795" cy="123444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0" name="Straight Connector 29"/>
          <p:cNvCxnSpPr/>
          <p:nvPr/>
        </p:nvCxnSpPr>
        <p:spPr>
          <a:xfrm>
            <a:off x="3721735" y="4398645"/>
            <a:ext cx="0" cy="57023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25" name="Straight Connector 124"/>
          <p:cNvCxnSpPr/>
          <p:nvPr/>
        </p:nvCxnSpPr>
        <p:spPr>
          <a:xfrm>
            <a:off x="3971290" y="4448810"/>
            <a:ext cx="0" cy="56324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26" name="Straight Connector 125"/>
          <p:cNvCxnSpPr/>
          <p:nvPr/>
        </p:nvCxnSpPr>
        <p:spPr>
          <a:xfrm>
            <a:off x="4220845" y="4180840"/>
            <a:ext cx="0" cy="83121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27" name="Straight Connector 126"/>
          <p:cNvCxnSpPr/>
          <p:nvPr/>
        </p:nvCxnSpPr>
        <p:spPr>
          <a:xfrm>
            <a:off x="1600200" y="2225040"/>
            <a:ext cx="0" cy="274320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128" name="Straight Connector 127"/>
          <p:cNvCxnSpPr/>
          <p:nvPr/>
        </p:nvCxnSpPr>
        <p:spPr>
          <a:xfrm flipH="1">
            <a:off x="1598930" y="4977130"/>
            <a:ext cx="312737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129" name="Text Box 128"/>
          <p:cNvSpPr txBox="1"/>
          <p:nvPr/>
        </p:nvSpPr>
        <p:spPr>
          <a:xfrm>
            <a:off x="4463415" y="5046345"/>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130" name="Freeform 129"/>
          <p:cNvSpPr/>
          <p:nvPr/>
        </p:nvSpPr>
        <p:spPr>
          <a:xfrm>
            <a:off x="1815465" y="2955925"/>
            <a:ext cx="2518410" cy="1645285"/>
          </a:xfrm>
          <a:custGeom>
            <a:avLst/>
            <a:gdLst>
              <a:gd name="connisteX0" fmla="*/ 0 w 2518410"/>
              <a:gd name="connsiteY0" fmla="*/ 1645002 h 1645002"/>
              <a:gd name="connisteX1" fmla="*/ 25400 w 2518410"/>
              <a:gd name="connsiteY1" fmla="*/ 1519907 h 1645002"/>
              <a:gd name="connisteX2" fmla="*/ 142240 w 2518410"/>
              <a:gd name="connsiteY2" fmla="*/ 1328137 h 1645002"/>
              <a:gd name="connisteX3" fmla="*/ 225425 w 2518410"/>
              <a:gd name="connsiteY3" fmla="*/ 1178277 h 1645002"/>
              <a:gd name="connisteX4" fmla="*/ 275590 w 2518410"/>
              <a:gd name="connsiteY4" fmla="*/ 1077947 h 1645002"/>
              <a:gd name="connisteX5" fmla="*/ 325120 w 2518410"/>
              <a:gd name="connsiteY5" fmla="*/ 978252 h 1645002"/>
              <a:gd name="connisteX6" fmla="*/ 358775 w 2518410"/>
              <a:gd name="connsiteY6" fmla="*/ 877922 h 1645002"/>
              <a:gd name="connisteX7" fmla="*/ 383540 w 2518410"/>
              <a:gd name="connsiteY7" fmla="*/ 811247 h 1645002"/>
              <a:gd name="connisteX8" fmla="*/ 400685 w 2518410"/>
              <a:gd name="connsiteY8" fmla="*/ 728062 h 1645002"/>
              <a:gd name="connisteX9" fmla="*/ 441960 w 2518410"/>
              <a:gd name="connsiteY9" fmla="*/ 611222 h 1645002"/>
              <a:gd name="connisteX10" fmla="*/ 459105 w 2518410"/>
              <a:gd name="connsiteY10" fmla="*/ 544547 h 1645002"/>
              <a:gd name="connisteX11" fmla="*/ 492125 w 2518410"/>
              <a:gd name="connsiteY11" fmla="*/ 419452 h 1645002"/>
              <a:gd name="connisteX12" fmla="*/ 525780 w 2518410"/>
              <a:gd name="connsiteY12" fmla="*/ 310867 h 1645002"/>
              <a:gd name="connisteX13" fmla="*/ 550545 w 2518410"/>
              <a:gd name="connsiteY13" fmla="*/ 227682 h 1645002"/>
              <a:gd name="connisteX14" fmla="*/ 567055 w 2518410"/>
              <a:gd name="connsiteY14" fmla="*/ 161007 h 1645002"/>
              <a:gd name="connisteX15" fmla="*/ 584200 w 2518410"/>
              <a:gd name="connsiteY15" fmla="*/ 94332 h 1645002"/>
              <a:gd name="connisteX16" fmla="*/ 625475 w 2518410"/>
              <a:gd name="connsiteY16" fmla="*/ 27657 h 1645002"/>
              <a:gd name="connisteX17" fmla="*/ 692150 w 2518410"/>
              <a:gd name="connsiteY17" fmla="*/ 10512 h 1645002"/>
              <a:gd name="connisteX18" fmla="*/ 784225 w 2518410"/>
              <a:gd name="connsiteY18" fmla="*/ 2257 h 1645002"/>
              <a:gd name="connisteX19" fmla="*/ 859155 w 2518410"/>
              <a:gd name="connsiteY19" fmla="*/ 2257 h 1645002"/>
              <a:gd name="connisteX20" fmla="*/ 925830 w 2518410"/>
              <a:gd name="connsiteY20" fmla="*/ 2257 h 1645002"/>
              <a:gd name="connisteX21" fmla="*/ 1000760 w 2518410"/>
              <a:gd name="connsiteY21" fmla="*/ 27657 h 1645002"/>
              <a:gd name="connisteX22" fmla="*/ 1067435 w 2518410"/>
              <a:gd name="connsiteY22" fmla="*/ 77187 h 1645002"/>
              <a:gd name="connisteX23" fmla="*/ 1125855 w 2518410"/>
              <a:gd name="connsiteY23" fmla="*/ 152752 h 1645002"/>
              <a:gd name="connisteX24" fmla="*/ 1176020 w 2518410"/>
              <a:gd name="connsiteY24" fmla="*/ 235937 h 1645002"/>
              <a:gd name="connisteX25" fmla="*/ 1217930 w 2518410"/>
              <a:gd name="connsiteY25" fmla="*/ 302612 h 1645002"/>
              <a:gd name="connisteX26" fmla="*/ 1242695 w 2518410"/>
              <a:gd name="connsiteY26" fmla="*/ 369287 h 1645002"/>
              <a:gd name="connisteX27" fmla="*/ 1276350 w 2518410"/>
              <a:gd name="connsiteY27" fmla="*/ 435962 h 1645002"/>
              <a:gd name="connisteX28" fmla="*/ 1309370 w 2518410"/>
              <a:gd name="connsiteY28" fmla="*/ 502637 h 1645002"/>
              <a:gd name="connisteX29" fmla="*/ 1351280 w 2518410"/>
              <a:gd name="connsiteY29" fmla="*/ 594712 h 1645002"/>
              <a:gd name="connisteX30" fmla="*/ 1384300 w 2518410"/>
              <a:gd name="connsiteY30" fmla="*/ 686152 h 1645002"/>
              <a:gd name="connisteX31" fmla="*/ 1417955 w 2518410"/>
              <a:gd name="connsiteY31" fmla="*/ 769972 h 1645002"/>
              <a:gd name="connisteX32" fmla="*/ 1450975 w 2518410"/>
              <a:gd name="connsiteY32" fmla="*/ 844902 h 1645002"/>
              <a:gd name="connisteX33" fmla="*/ 1476375 w 2518410"/>
              <a:gd name="connsiteY33" fmla="*/ 911577 h 1645002"/>
              <a:gd name="connisteX34" fmla="*/ 1501140 w 2518410"/>
              <a:gd name="connsiteY34" fmla="*/ 1003017 h 1645002"/>
              <a:gd name="connisteX35" fmla="*/ 1526540 w 2518410"/>
              <a:gd name="connsiteY35" fmla="*/ 1077947 h 1645002"/>
              <a:gd name="connisteX36" fmla="*/ 1551305 w 2518410"/>
              <a:gd name="connsiteY36" fmla="*/ 1153512 h 1645002"/>
              <a:gd name="connisteX37" fmla="*/ 1601470 w 2518410"/>
              <a:gd name="connsiteY37" fmla="*/ 1220187 h 1645002"/>
              <a:gd name="connisteX38" fmla="*/ 1676400 w 2518410"/>
              <a:gd name="connsiteY38" fmla="*/ 1269717 h 1645002"/>
              <a:gd name="connisteX39" fmla="*/ 1743075 w 2518410"/>
              <a:gd name="connsiteY39" fmla="*/ 1319882 h 1645002"/>
              <a:gd name="connisteX40" fmla="*/ 1809750 w 2518410"/>
              <a:gd name="connsiteY40" fmla="*/ 1353537 h 1645002"/>
              <a:gd name="connisteX41" fmla="*/ 1876425 w 2518410"/>
              <a:gd name="connsiteY41" fmla="*/ 1386557 h 1645002"/>
              <a:gd name="connisteX42" fmla="*/ 1951355 w 2518410"/>
              <a:gd name="connsiteY42" fmla="*/ 1411957 h 1645002"/>
              <a:gd name="connisteX43" fmla="*/ 2035175 w 2518410"/>
              <a:gd name="connsiteY43" fmla="*/ 1436722 h 1645002"/>
              <a:gd name="connisteX44" fmla="*/ 2110105 w 2518410"/>
              <a:gd name="connsiteY44" fmla="*/ 1453232 h 1645002"/>
              <a:gd name="connisteX45" fmla="*/ 2185035 w 2518410"/>
              <a:gd name="connsiteY45" fmla="*/ 1453232 h 1645002"/>
              <a:gd name="connisteX46" fmla="*/ 2251710 w 2518410"/>
              <a:gd name="connsiteY46" fmla="*/ 1444977 h 1645002"/>
              <a:gd name="connisteX47" fmla="*/ 2301875 w 2518410"/>
              <a:gd name="connsiteY47" fmla="*/ 1378302 h 1645002"/>
              <a:gd name="connisteX48" fmla="*/ 2343785 w 2518410"/>
              <a:gd name="connsiteY48" fmla="*/ 1311627 h 1645002"/>
              <a:gd name="connisteX49" fmla="*/ 2368550 w 2518410"/>
              <a:gd name="connsiteY49" fmla="*/ 1236697 h 1645002"/>
              <a:gd name="connisteX50" fmla="*/ 2402205 w 2518410"/>
              <a:gd name="connsiteY50" fmla="*/ 1161767 h 1645002"/>
              <a:gd name="connisteX51" fmla="*/ 2426970 w 2518410"/>
              <a:gd name="connsiteY51" fmla="*/ 1086837 h 1645002"/>
              <a:gd name="connisteX52" fmla="*/ 2468880 w 2518410"/>
              <a:gd name="connsiteY52" fmla="*/ 1019527 h 1645002"/>
              <a:gd name="connisteX53" fmla="*/ 2518410 w 2518410"/>
              <a:gd name="connsiteY53" fmla="*/ 944597 h 164500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Lst>
            <a:rect l="l" t="t" r="r" b="b"/>
            <a:pathLst>
              <a:path w="2518410" h="1645003">
                <a:moveTo>
                  <a:pt x="0" y="1645003"/>
                </a:moveTo>
                <a:cubicBezTo>
                  <a:pt x="2540" y="1624048"/>
                  <a:pt x="-3175" y="1583408"/>
                  <a:pt x="25400" y="1519908"/>
                </a:cubicBezTo>
                <a:cubicBezTo>
                  <a:pt x="53975" y="1456408"/>
                  <a:pt x="102235" y="1396718"/>
                  <a:pt x="142240" y="1328138"/>
                </a:cubicBezTo>
                <a:cubicBezTo>
                  <a:pt x="182245" y="1259558"/>
                  <a:pt x="198755" y="1228443"/>
                  <a:pt x="225425" y="1178278"/>
                </a:cubicBezTo>
                <a:cubicBezTo>
                  <a:pt x="252095" y="1128113"/>
                  <a:pt x="255905" y="1117953"/>
                  <a:pt x="275590" y="1077948"/>
                </a:cubicBezTo>
                <a:cubicBezTo>
                  <a:pt x="295275" y="1037943"/>
                  <a:pt x="308610" y="1018258"/>
                  <a:pt x="325120" y="978253"/>
                </a:cubicBezTo>
                <a:cubicBezTo>
                  <a:pt x="341630" y="938248"/>
                  <a:pt x="347345" y="911578"/>
                  <a:pt x="358775" y="877923"/>
                </a:cubicBezTo>
                <a:cubicBezTo>
                  <a:pt x="370205" y="844268"/>
                  <a:pt x="375285" y="841093"/>
                  <a:pt x="383540" y="811248"/>
                </a:cubicBezTo>
                <a:cubicBezTo>
                  <a:pt x="391795" y="781403"/>
                  <a:pt x="389255" y="768068"/>
                  <a:pt x="400685" y="728063"/>
                </a:cubicBezTo>
                <a:cubicBezTo>
                  <a:pt x="412115" y="688058"/>
                  <a:pt x="430530" y="648053"/>
                  <a:pt x="441960" y="611223"/>
                </a:cubicBezTo>
                <a:cubicBezTo>
                  <a:pt x="453390" y="574393"/>
                  <a:pt x="448945" y="582648"/>
                  <a:pt x="459105" y="544548"/>
                </a:cubicBezTo>
                <a:cubicBezTo>
                  <a:pt x="469265" y="506448"/>
                  <a:pt x="478790" y="466443"/>
                  <a:pt x="492125" y="419453"/>
                </a:cubicBezTo>
                <a:cubicBezTo>
                  <a:pt x="505460" y="372463"/>
                  <a:pt x="514350" y="348968"/>
                  <a:pt x="525780" y="310868"/>
                </a:cubicBezTo>
                <a:cubicBezTo>
                  <a:pt x="537210" y="272768"/>
                  <a:pt x="542290" y="257528"/>
                  <a:pt x="550545" y="227683"/>
                </a:cubicBezTo>
                <a:cubicBezTo>
                  <a:pt x="558800" y="197838"/>
                  <a:pt x="560070" y="187678"/>
                  <a:pt x="567055" y="161008"/>
                </a:cubicBezTo>
                <a:cubicBezTo>
                  <a:pt x="574040" y="134338"/>
                  <a:pt x="572770" y="121003"/>
                  <a:pt x="584200" y="94333"/>
                </a:cubicBezTo>
                <a:cubicBezTo>
                  <a:pt x="595630" y="67663"/>
                  <a:pt x="603885" y="44168"/>
                  <a:pt x="625475" y="27658"/>
                </a:cubicBezTo>
                <a:cubicBezTo>
                  <a:pt x="647065" y="11148"/>
                  <a:pt x="660400" y="15593"/>
                  <a:pt x="692150" y="10513"/>
                </a:cubicBezTo>
                <a:cubicBezTo>
                  <a:pt x="723900" y="5433"/>
                  <a:pt x="750570" y="4163"/>
                  <a:pt x="784225" y="2258"/>
                </a:cubicBezTo>
                <a:cubicBezTo>
                  <a:pt x="817880" y="353"/>
                  <a:pt x="830580" y="2258"/>
                  <a:pt x="859155" y="2258"/>
                </a:cubicBezTo>
                <a:cubicBezTo>
                  <a:pt x="887730" y="2258"/>
                  <a:pt x="897255" y="-2822"/>
                  <a:pt x="925830" y="2258"/>
                </a:cubicBezTo>
                <a:cubicBezTo>
                  <a:pt x="954405" y="7338"/>
                  <a:pt x="972185" y="12418"/>
                  <a:pt x="1000760" y="27658"/>
                </a:cubicBezTo>
                <a:cubicBezTo>
                  <a:pt x="1029335" y="42898"/>
                  <a:pt x="1042670" y="52423"/>
                  <a:pt x="1067435" y="77188"/>
                </a:cubicBezTo>
                <a:cubicBezTo>
                  <a:pt x="1092200" y="101953"/>
                  <a:pt x="1104265" y="121003"/>
                  <a:pt x="1125855" y="152753"/>
                </a:cubicBezTo>
                <a:cubicBezTo>
                  <a:pt x="1147445" y="184503"/>
                  <a:pt x="1157605" y="206093"/>
                  <a:pt x="1176020" y="235938"/>
                </a:cubicBezTo>
                <a:cubicBezTo>
                  <a:pt x="1194435" y="265783"/>
                  <a:pt x="1204595" y="275943"/>
                  <a:pt x="1217930" y="302613"/>
                </a:cubicBezTo>
                <a:cubicBezTo>
                  <a:pt x="1231265" y="329283"/>
                  <a:pt x="1231265" y="342618"/>
                  <a:pt x="1242695" y="369288"/>
                </a:cubicBezTo>
                <a:cubicBezTo>
                  <a:pt x="1254125" y="395958"/>
                  <a:pt x="1263015" y="409293"/>
                  <a:pt x="1276350" y="435963"/>
                </a:cubicBezTo>
                <a:cubicBezTo>
                  <a:pt x="1289685" y="462633"/>
                  <a:pt x="1294130" y="470888"/>
                  <a:pt x="1309370" y="502638"/>
                </a:cubicBezTo>
                <a:cubicBezTo>
                  <a:pt x="1324610" y="534388"/>
                  <a:pt x="1336040" y="557883"/>
                  <a:pt x="1351280" y="594713"/>
                </a:cubicBezTo>
                <a:cubicBezTo>
                  <a:pt x="1366520" y="631543"/>
                  <a:pt x="1370965" y="651228"/>
                  <a:pt x="1384300" y="686153"/>
                </a:cubicBezTo>
                <a:cubicBezTo>
                  <a:pt x="1397635" y="721078"/>
                  <a:pt x="1404620" y="738223"/>
                  <a:pt x="1417955" y="769973"/>
                </a:cubicBezTo>
                <a:cubicBezTo>
                  <a:pt x="1431290" y="801723"/>
                  <a:pt x="1439545" y="816328"/>
                  <a:pt x="1450975" y="844903"/>
                </a:cubicBezTo>
                <a:cubicBezTo>
                  <a:pt x="1462405" y="873478"/>
                  <a:pt x="1466215" y="879828"/>
                  <a:pt x="1476375" y="911578"/>
                </a:cubicBezTo>
                <a:cubicBezTo>
                  <a:pt x="1486535" y="943328"/>
                  <a:pt x="1490980" y="969998"/>
                  <a:pt x="1501140" y="1003018"/>
                </a:cubicBezTo>
                <a:cubicBezTo>
                  <a:pt x="1511300" y="1036038"/>
                  <a:pt x="1516380" y="1048103"/>
                  <a:pt x="1526540" y="1077948"/>
                </a:cubicBezTo>
                <a:cubicBezTo>
                  <a:pt x="1536700" y="1107793"/>
                  <a:pt x="1536065" y="1124938"/>
                  <a:pt x="1551305" y="1153513"/>
                </a:cubicBezTo>
                <a:cubicBezTo>
                  <a:pt x="1566545" y="1182088"/>
                  <a:pt x="1576705" y="1196693"/>
                  <a:pt x="1601470" y="1220188"/>
                </a:cubicBezTo>
                <a:cubicBezTo>
                  <a:pt x="1626235" y="1243683"/>
                  <a:pt x="1647825" y="1250033"/>
                  <a:pt x="1676400" y="1269718"/>
                </a:cubicBezTo>
                <a:cubicBezTo>
                  <a:pt x="1704975" y="1289403"/>
                  <a:pt x="1716405" y="1303373"/>
                  <a:pt x="1743075" y="1319883"/>
                </a:cubicBezTo>
                <a:cubicBezTo>
                  <a:pt x="1769745" y="1336393"/>
                  <a:pt x="1783080" y="1340203"/>
                  <a:pt x="1809750" y="1353538"/>
                </a:cubicBezTo>
                <a:cubicBezTo>
                  <a:pt x="1836420" y="1366873"/>
                  <a:pt x="1847850" y="1375128"/>
                  <a:pt x="1876425" y="1386558"/>
                </a:cubicBezTo>
                <a:cubicBezTo>
                  <a:pt x="1905000" y="1397988"/>
                  <a:pt x="1919605" y="1401798"/>
                  <a:pt x="1951355" y="1411958"/>
                </a:cubicBezTo>
                <a:cubicBezTo>
                  <a:pt x="1983105" y="1422118"/>
                  <a:pt x="2003425" y="1428468"/>
                  <a:pt x="2035175" y="1436723"/>
                </a:cubicBezTo>
                <a:cubicBezTo>
                  <a:pt x="2066925" y="1444978"/>
                  <a:pt x="2080260" y="1450058"/>
                  <a:pt x="2110105" y="1453233"/>
                </a:cubicBezTo>
                <a:cubicBezTo>
                  <a:pt x="2139950" y="1456408"/>
                  <a:pt x="2156460" y="1455138"/>
                  <a:pt x="2185035" y="1453233"/>
                </a:cubicBezTo>
                <a:cubicBezTo>
                  <a:pt x="2213610" y="1451328"/>
                  <a:pt x="2228215" y="1460218"/>
                  <a:pt x="2251710" y="1444978"/>
                </a:cubicBezTo>
                <a:cubicBezTo>
                  <a:pt x="2275205" y="1429738"/>
                  <a:pt x="2283460" y="1404973"/>
                  <a:pt x="2301875" y="1378303"/>
                </a:cubicBezTo>
                <a:cubicBezTo>
                  <a:pt x="2320290" y="1351633"/>
                  <a:pt x="2330450" y="1340203"/>
                  <a:pt x="2343785" y="1311628"/>
                </a:cubicBezTo>
                <a:cubicBezTo>
                  <a:pt x="2357120" y="1283053"/>
                  <a:pt x="2357120" y="1266543"/>
                  <a:pt x="2368550" y="1236698"/>
                </a:cubicBezTo>
                <a:cubicBezTo>
                  <a:pt x="2379980" y="1206853"/>
                  <a:pt x="2390775" y="1191613"/>
                  <a:pt x="2402205" y="1161768"/>
                </a:cubicBezTo>
                <a:cubicBezTo>
                  <a:pt x="2413635" y="1131923"/>
                  <a:pt x="2413635" y="1115413"/>
                  <a:pt x="2426970" y="1086838"/>
                </a:cubicBezTo>
                <a:cubicBezTo>
                  <a:pt x="2440305" y="1058263"/>
                  <a:pt x="2450465" y="1048103"/>
                  <a:pt x="2468880" y="1019528"/>
                </a:cubicBezTo>
                <a:cubicBezTo>
                  <a:pt x="2487295" y="990953"/>
                  <a:pt x="2509520" y="957933"/>
                  <a:pt x="2518410" y="944598"/>
                </a:cubicBezTo>
              </a:path>
            </a:pathLst>
          </a:custGeom>
          <a:noFill/>
          <a:ln w="38100">
            <a:solidFill>
              <a:schemeClr val="tx1"/>
            </a:solidFill>
          </a:ln>
        </p:spPr>
        <p:txBody>
          <a:bodyPr vert="horz" lIns="90000" tIns="46800" rIns="90000" bIns="46800" rtlCol="0" anchor="ctr" anchorCtr="0">
            <a:noAutofit/>
          </a:bodyPr>
          <a:p>
            <a:endParaRPr lang="zh-CN" altLang="en-US" sz="2445">
              <a:solidFill>
                <a:schemeClr val="tx1"/>
              </a:solidFill>
            </a:endParaRPr>
          </a:p>
        </p:txBody>
      </p:sp>
      <p:sp>
        <p:nvSpPr>
          <p:cNvPr id="135" name="Text Box 134"/>
          <p:cNvSpPr txBox="1"/>
          <p:nvPr/>
        </p:nvSpPr>
        <p:spPr>
          <a:xfrm>
            <a:off x="1757045" y="5046345"/>
            <a:ext cx="296926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136" name="Text Box 135"/>
          <p:cNvSpPr txBox="1"/>
          <p:nvPr/>
        </p:nvSpPr>
        <p:spPr>
          <a:xfrm>
            <a:off x="1616710" y="3910330"/>
            <a:ext cx="40640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137" name="Oval 136"/>
          <p:cNvSpPr/>
          <p:nvPr/>
        </p:nvSpPr>
        <p:spPr>
          <a:xfrm>
            <a:off x="2417445" y="293941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38" name="Oval 137"/>
          <p:cNvSpPr/>
          <p:nvPr/>
        </p:nvSpPr>
        <p:spPr>
          <a:xfrm>
            <a:off x="3193415" y="368427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39" name="Oval 138"/>
          <p:cNvSpPr/>
          <p:nvPr/>
        </p:nvSpPr>
        <p:spPr>
          <a:xfrm>
            <a:off x="3691255" y="430212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0" name="Oval 139"/>
          <p:cNvSpPr/>
          <p:nvPr/>
        </p:nvSpPr>
        <p:spPr>
          <a:xfrm>
            <a:off x="4174490" y="408432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1" name="Text Box 140"/>
          <p:cNvSpPr txBox="1"/>
          <p:nvPr/>
        </p:nvSpPr>
        <p:spPr>
          <a:xfrm>
            <a:off x="2976245" y="2994025"/>
            <a:ext cx="44450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10</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142" name="Text Box 141"/>
          <p:cNvSpPr txBox="1"/>
          <p:nvPr/>
        </p:nvSpPr>
        <p:spPr>
          <a:xfrm>
            <a:off x="3348990" y="3949065"/>
            <a:ext cx="41719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143" name="Text Box 142"/>
          <p:cNvSpPr txBox="1"/>
          <p:nvPr/>
        </p:nvSpPr>
        <p:spPr>
          <a:xfrm>
            <a:off x="3571240" y="4030345"/>
            <a:ext cx="40513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01</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144" name="Straight Connector 143"/>
          <p:cNvCxnSpPr>
            <a:endCxn id="150" idx="3"/>
          </p:cNvCxnSpPr>
          <p:nvPr/>
        </p:nvCxnSpPr>
        <p:spPr>
          <a:xfrm flipV="1">
            <a:off x="1974850" y="3757295"/>
            <a:ext cx="199390" cy="52070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45" name="Straight Connector 144"/>
          <p:cNvCxnSpPr>
            <a:stCxn id="130" idx="8"/>
          </p:cNvCxnSpPr>
          <p:nvPr/>
        </p:nvCxnSpPr>
        <p:spPr>
          <a:xfrm>
            <a:off x="2216150" y="3684270"/>
            <a:ext cx="8255" cy="13271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46" name="Straight Connector 145"/>
          <p:cNvCxnSpPr/>
          <p:nvPr/>
        </p:nvCxnSpPr>
        <p:spPr>
          <a:xfrm>
            <a:off x="2473960" y="2983230"/>
            <a:ext cx="0" cy="202819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47" name="Straight Connector 146"/>
          <p:cNvCxnSpPr/>
          <p:nvPr/>
        </p:nvCxnSpPr>
        <p:spPr>
          <a:xfrm>
            <a:off x="2723515" y="2978785"/>
            <a:ext cx="0" cy="203263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48" name="Straight Connector 147"/>
          <p:cNvCxnSpPr>
            <a:stCxn id="141" idx="1"/>
          </p:cNvCxnSpPr>
          <p:nvPr/>
        </p:nvCxnSpPr>
        <p:spPr>
          <a:xfrm flipH="1">
            <a:off x="2973070" y="3138170"/>
            <a:ext cx="3175" cy="18732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49" name="Straight Connector 148"/>
          <p:cNvCxnSpPr/>
          <p:nvPr/>
        </p:nvCxnSpPr>
        <p:spPr>
          <a:xfrm>
            <a:off x="3472180" y="4244340"/>
            <a:ext cx="0" cy="76708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150" name="Oval 149"/>
          <p:cNvSpPr/>
          <p:nvPr/>
        </p:nvSpPr>
        <p:spPr>
          <a:xfrm>
            <a:off x="2160270" y="367474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1" name="Oval 150"/>
          <p:cNvSpPr/>
          <p:nvPr/>
        </p:nvSpPr>
        <p:spPr>
          <a:xfrm>
            <a:off x="2675255" y="290893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2" name="Oval 151"/>
          <p:cNvSpPr/>
          <p:nvPr/>
        </p:nvSpPr>
        <p:spPr>
          <a:xfrm>
            <a:off x="2941320" y="308991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3" name="Oval 152"/>
          <p:cNvSpPr/>
          <p:nvPr/>
        </p:nvSpPr>
        <p:spPr>
          <a:xfrm>
            <a:off x="3421380" y="41808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4" name="Oval 153"/>
          <p:cNvSpPr/>
          <p:nvPr/>
        </p:nvSpPr>
        <p:spPr>
          <a:xfrm>
            <a:off x="3936365" y="436372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5" name="Text Box 154"/>
          <p:cNvSpPr txBox="1"/>
          <p:nvPr/>
        </p:nvSpPr>
        <p:spPr>
          <a:xfrm>
            <a:off x="1757045" y="3599815"/>
            <a:ext cx="42354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156" name="Text Box 155"/>
          <p:cNvSpPr txBox="1"/>
          <p:nvPr/>
        </p:nvSpPr>
        <p:spPr>
          <a:xfrm>
            <a:off x="2101215" y="2653665"/>
            <a:ext cx="45656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157" name="Text Box 156"/>
          <p:cNvSpPr txBox="1"/>
          <p:nvPr/>
        </p:nvSpPr>
        <p:spPr>
          <a:xfrm>
            <a:off x="2586355" y="2651125"/>
            <a:ext cx="52705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158" name="Text Box 157"/>
          <p:cNvSpPr txBox="1"/>
          <p:nvPr/>
        </p:nvSpPr>
        <p:spPr>
          <a:xfrm>
            <a:off x="3171190" y="3421380"/>
            <a:ext cx="40576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159" name="Text Box 158"/>
          <p:cNvSpPr txBox="1"/>
          <p:nvPr/>
        </p:nvSpPr>
        <p:spPr>
          <a:xfrm>
            <a:off x="3787140" y="4119245"/>
            <a:ext cx="40513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00</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160" name="Text Box 159"/>
          <p:cNvSpPr txBox="1"/>
          <p:nvPr/>
        </p:nvSpPr>
        <p:spPr>
          <a:xfrm>
            <a:off x="3970020" y="3800475"/>
            <a:ext cx="43180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01</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161" name="Straight Connector 160"/>
          <p:cNvCxnSpPr>
            <a:endCxn id="137" idx="2"/>
          </p:cNvCxnSpPr>
          <p:nvPr/>
        </p:nvCxnSpPr>
        <p:spPr>
          <a:xfrm flipV="1">
            <a:off x="2224405" y="2987675"/>
            <a:ext cx="193040" cy="6965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62" name="Straight Connector 161"/>
          <p:cNvCxnSpPr/>
          <p:nvPr/>
        </p:nvCxnSpPr>
        <p:spPr>
          <a:xfrm flipV="1">
            <a:off x="2474595" y="2938780"/>
            <a:ext cx="238760" cy="349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63" name="Straight Connector 162"/>
          <p:cNvCxnSpPr>
            <a:stCxn id="151" idx="5"/>
            <a:endCxn id="152" idx="2"/>
          </p:cNvCxnSpPr>
          <p:nvPr/>
        </p:nvCxnSpPr>
        <p:spPr>
          <a:xfrm>
            <a:off x="2757805" y="2991485"/>
            <a:ext cx="183515" cy="14668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64" name="Straight Connector 163"/>
          <p:cNvCxnSpPr>
            <a:stCxn id="152" idx="4"/>
            <a:endCxn id="130" idx="31"/>
          </p:cNvCxnSpPr>
          <p:nvPr/>
        </p:nvCxnSpPr>
        <p:spPr>
          <a:xfrm>
            <a:off x="2989580" y="3186430"/>
            <a:ext cx="243840" cy="5397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65" name="Straight Connector 164"/>
          <p:cNvCxnSpPr>
            <a:stCxn id="138" idx="5"/>
            <a:endCxn id="153" idx="1"/>
          </p:cNvCxnSpPr>
          <p:nvPr/>
        </p:nvCxnSpPr>
        <p:spPr>
          <a:xfrm>
            <a:off x="3275965" y="3766820"/>
            <a:ext cx="159385" cy="4279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66" name="Straight Connector 165"/>
          <p:cNvCxnSpPr>
            <a:stCxn id="153" idx="5"/>
            <a:endCxn id="139" idx="2"/>
          </p:cNvCxnSpPr>
          <p:nvPr/>
        </p:nvCxnSpPr>
        <p:spPr>
          <a:xfrm>
            <a:off x="3503930" y="4263390"/>
            <a:ext cx="187325" cy="869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67" name="Straight Connector 166"/>
          <p:cNvCxnSpPr>
            <a:stCxn id="139" idx="5"/>
            <a:endCxn id="159" idx="2"/>
          </p:cNvCxnSpPr>
          <p:nvPr/>
        </p:nvCxnSpPr>
        <p:spPr>
          <a:xfrm>
            <a:off x="3773805" y="4384675"/>
            <a:ext cx="215900" cy="222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68" name="Straight Connector 167"/>
          <p:cNvCxnSpPr>
            <a:stCxn id="154" idx="5"/>
            <a:endCxn id="140" idx="2"/>
          </p:cNvCxnSpPr>
          <p:nvPr/>
        </p:nvCxnSpPr>
        <p:spPr>
          <a:xfrm flipV="1">
            <a:off x="4018915" y="4132580"/>
            <a:ext cx="155575" cy="3136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69" name="Straight Connector 168"/>
          <p:cNvCxnSpPr/>
          <p:nvPr/>
        </p:nvCxnSpPr>
        <p:spPr>
          <a:xfrm>
            <a:off x="1616710" y="431419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70" name="Straight Connector 169"/>
          <p:cNvCxnSpPr/>
          <p:nvPr/>
        </p:nvCxnSpPr>
        <p:spPr>
          <a:xfrm>
            <a:off x="1616710" y="298831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71" name="Straight Connector 170"/>
          <p:cNvCxnSpPr/>
          <p:nvPr/>
        </p:nvCxnSpPr>
        <p:spPr>
          <a:xfrm>
            <a:off x="1616710" y="365125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172" name="Text Box 171"/>
          <p:cNvSpPr txBox="1"/>
          <p:nvPr/>
        </p:nvSpPr>
        <p:spPr>
          <a:xfrm>
            <a:off x="942975" y="2756535"/>
            <a:ext cx="527050" cy="429895"/>
          </a:xfrm>
          <a:prstGeom prst="rect">
            <a:avLst/>
          </a:prstGeom>
          <a:noFill/>
        </p:spPr>
        <p:txBody>
          <a:bodyPr wrap="square" rtlCol="0">
            <a:noAutofit/>
          </a:bodyPr>
          <a:p>
            <a:pPr algn="l"/>
            <a:r>
              <a:rPr lang="en-US" sz="2200">
                <a:solidFill>
                  <a:srgbClr val="00B0F0"/>
                </a:solidFill>
                <a:latin typeface="Alibaba PuHuiTi 3.0 55 Regular" panose="00020600040101010101" charset="-122"/>
                <a:ea typeface="Alibaba PuHuiTi 3.0 55 Regular" panose="00020600040101010101" charset="-122"/>
              </a:rPr>
              <a:t>11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73" name="Text Box 172"/>
          <p:cNvSpPr txBox="1"/>
          <p:nvPr/>
        </p:nvSpPr>
        <p:spPr>
          <a:xfrm>
            <a:off x="942975" y="3392805"/>
            <a:ext cx="527050" cy="429895"/>
          </a:xfrm>
          <a:prstGeom prst="rect">
            <a:avLst/>
          </a:prstGeom>
          <a:noFill/>
        </p:spPr>
        <p:txBody>
          <a:bodyPr wrap="square" rtlCol="0">
            <a:noAutofit/>
          </a:bodyPr>
          <a:p>
            <a:pPr algn="l"/>
            <a:r>
              <a:rPr lang="en-US" sz="2200">
                <a:solidFill>
                  <a:srgbClr val="00B0F0"/>
                </a:solidFill>
                <a:latin typeface="Alibaba PuHuiTi 3.0 55 Regular" panose="00020600040101010101" charset="-122"/>
                <a:ea typeface="Alibaba PuHuiTi 3.0 55 Regular" panose="00020600040101010101" charset="-122"/>
              </a:rPr>
              <a:t>10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74" name="Text Box 173"/>
          <p:cNvSpPr txBox="1"/>
          <p:nvPr/>
        </p:nvSpPr>
        <p:spPr>
          <a:xfrm>
            <a:off x="942975" y="4062095"/>
            <a:ext cx="527050" cy="429895"/>
          </a:xfrm>
          <a:prstGeom prst="rect">
            <a:avLst/>
          </a:prstGeom>
          <a:noFill/>
        </p:spPr>
        <p:txBody>
          <a:bodyPr wrap="square" rtlCol="0">
            <a:noAutofit/>
          </a:bodyPr>
          <a:p>
            <a:pPr algn="l"/>
            <a:r>
              <a:rPr lang="en-US" sz="2200">
                <a:solidFill>
                  <a:srgbClr val="00B0F0"/>
                </a:solidFill>
                <a:latin typeface="Alibaba PuHuiTi 3.0 55 Regular" panose="00020600040101010101" charset="-122"/>
                <a:ea typeface="Alibaba PuHuiTi 3.0 55 Regular" panose="00020600040101010101" charset="-122"/>
              </a:rPr>
              <a:t>01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75" name="Text Box 174"/>
          <p:cNvSpPr txBox="1"/>
          <p:nvPr/>
        </p:nvSpPr>
        <p:spPr>
          <a:xfrm>
            <a:off x="942340" y="4714875"/>
            <a:ext cx="527685" cy="429895"/>
          </a:xfrm>
          <a:prstGeom prst="rect">
            <a:avLst/>
          </a:prstGeom>
          <a:noFill/>
        </p:spPr>
        <p:txBody>
          <a:bodyPr wrap="square" rtlCol="0">
            <a:noAutofit/>
          </a:bodyPr>
          <a:p>
            <a:pPr algn="l"/>
            <a:r>
              <a:rPr lang="en-US" sz="2200">
                <a:solidFill>
                  <a:srgbClr val="00B0F0"/>
                </a:solidFill>
                <a:latin typeface="Alibaba PuHuiTi 3.0 55 Regular" panose="00020600040101010101" charset="-122"/>
                <a:ea typeface="Alibaba PuHuiTi 3.0 55 Regular" panose="00020600040101010101" charset="-122"/>
              </a:rPr>
              <a:t>00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76" name="Text Box 175"/>
          <p:cNvSpPr txBox="1"/>
          <p:nvPr/>
        </p:nvSpPr>
        <p:spPr>
          <a:xfrm>
            <a:off x="1835785" y="5603240"/>
            <a:ext cx="1937385"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量化等级为</a:t>
            </a:r>
            <a:r>
              <a:rPr lang="en-US" altLang="zh-CN" sz="2200">
                <a:latin typeface="Alibaba PuHuiTi 3.0 55 Regular" panose="00020600040101010101" charset="-122"/>
                <a:ea typeface="Alibaba PuHuiTi 3.0 55 Regular" panose="00020600040101010101" charset="-122"/>
              </a:rPr>
              <a:t>4</a:t>
            </a:r>
            <a:endParaRPr lang="en-US" altLang="zh-CN" sz="2200">
              <a:latin typeface="Alibaba PuHuiTi 3.0 55 Regular" panose="00020600040101010101" charset="-122"/>
              <a:ea typeface="Alibaba PuHuiTi 3.0 55 Regular" panose="00020600040101010101" charset="-122"/>
            </a:endParaRPr>
          </a:p>
        </p:txBody>
      </p:sp>
      <p:sp>
        <p:nvSpPr>
          <p:cNvPr id="177" name="Text Box 176"/>
          <p:cNvSpPr txBox="1"/>
          <p:nvPr/>
        </p:nvSpPr>
        <p:spPr>
          <a:xfrm>
            <a:off x="448945" y="2225040"/>
            <a:ext cx="1130300" cy="429895"/>
          </a:xfrm>
          <a:prstGeom prst="rect">
            <a:avLst/>
          </a:prstGeom>
          <a:noFill/>
        </p:spPr>
        <p:txBody>
          <a:bodyPr wrap="square" rtlCol="0">
            <a:noAutofit/>
          </a:bodyPr>
          <a:p>
            <a:pPr algn="r"/>
            <a:r>
              <a:rPr lang="zh-CN" altLang="en-US" sz="2200">
                <a:latin typeface="Alibaba PuHuiTi 3.0 55 Regular" panose="00020600040101010101" charset="-122"/>
                <a:ea typeface="Alibaba PuHuiTi 3.0 55 Regular" panose="00020600040101010101" charset="-122"/>
              </a:rPr>
              <a:t>量化值</a:t>
            </a:r>
            <a:endParaRPr lang="zh-CN" altLang="en-US" sz="2200">
              <a:latin typeface="Alibaba PuHuiTi 3.0 55 Regular" panose="00020600040101010101" charset="-122"/>
              <a:ea typeface="Alibaba PuHuiTi 3.0 55 Regular" panose="00020600040101010101" charset="-122"/>
            </a:endParaRPr>
          </a:p>
        </p:txBody>
      </p:sp>
      <p:sp>
        <p:nvSpPr>
          <p:cNvPr id="178" name="Text Box 177"/>
          <p:cNvSpPr txBox="1"/>
          <p:nvPr/>
        </p:nvSpPr>
        <p:spPr>
          <a:xfrm>
            <a:off x="513080" y="5139690"/>
            <a:ext cx="1300480" cy="429895"/>
          </a:xfrm>
          <a:prstGeom prst="rect">
            <a:avLst/>
          </a:prstGeom>
          <a:noFill/>
        </p:spPr>
        <p:txBody>
          <a:bodyPr wrap="square" rtlCol="0">
            <a:noAutofit/>
          </a:bodyPr>
          <a:p>
            <a:pPr algn="l"/>
            <a:r>
              <a:rPr lang="en-US" altLang="zh-CN" sz="1400" b="1">
                <a:solidFill>
                  <a:srgbClr val="00B0F0"/>
                </a:solidFill>
                <a:latin typeface="Alibaba PuHuiTi 3.0 85 Bold" panose="00020600040101010101" charset="-122"/>
                <a:ea typeface="Alibaba PuHuiTi 3.0 85 Bold" panose="00020600040101010101" charset="-122"/>
                <a:cs typeface="Alibaba PuHuiTi 3.0 85 Bold" panose="00020600040101010101" charset="-122"/>
              </a:rPr>
              <a:t>2</a:t>
            </a:r>
            <a:r>
              <a:rPr lang="zh-CN" altLang="en-US" sz="1400" b="1">
                <a:solidFill>
                  <a:srgbClr val="00B0F0"/>
                </a:solidFill>
                <a:latin typeface="Alibaba PuHuiTi 3.0 85 Bold" panose="00020600040101010101" charset="-122"/>
                <a:ea typeface="Alibaba PuHuiTi 3.0 85 Bold" panose="00020600040101010101" charset="-122"/>
                <a:cs typeface="Alibaba PuHuiTi 3.0 85 Bold" panose="00020600040101010101" charset="-122"/>
              </a:rPr>
              <a:t>位二进制数</a:t>
            </a:r>
            <a:endParaRPr lang="zh-CN" altLang="en-US" sz="1400" b="1">
              <a:solidFill>
                <a:srgbClr val="00B0F0"/>
              </a:solidFill>
              <a:latin typeface="Alibaba PuHuiTi 3.0 85 Bold" panose="00020600040101010101" charset="-122"/>
              <a:ea typeface="Alibaba PuHuiTi 3.0 85 Bold" panose="00020600040101010101" charset="-122"/>
              <a:cs typeface="Alibaba PuHuiTi 3.0 85 Bold" panose="00020600040101010101" charset="-122"/>
            </a:endParaRPr>
          </a:p>
          <a:p>
            <a:pPr algn="l"/>
            <a:r>
              <a:rPr lang="en-US" altLang="zh-CN" sz="14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rPr>
              <a:t>4 = 2</a:t>
            </a:r>
            <a:r>
              <a:rPr lang="en-US" altLang="zh-CN" sz="1400" b="1" baseline="30000">
                <a:solidFill>
                  <a:srgbClr val="00B0F0"/>
                </a:solidFill>
                <a:latin typeface="Alibaba PuHuiTi 3.0 85 Bold" panose="00020600040101010101" charset="-122"/>
                <a:ea typeface="Alibaba PuHuiTi 3.0 85 Bold" panose="00020600040101010101" charset="-122"/>
                <a:cs typeface="Alibaba PuHuiTi 3.0 85 Bold" panose="00020600040101010101" charset="-122"/>
              </a:rPr>
              <a:t>2</a:t>
            </a:r>
            <a:endParaRPr lang="en-US" altLang="zh-CN" sz="1400" b="1" baseline="30000">
              <a:solidFill>
                <a:srgbClr val="00B0F0"/>
              </a:solidFill>
              <a:latin typeface="Alibaba PuHuiTi 3.0 85 Bold" panose="00020600040101010101" charset="-122"/>
              <a:ea typeface="Alibaba PuHuiTi 3.0 85 Bold" panose="00020600040101010101" charset="-122"/>
              <a:cs typeface="Alibaba PuHuiTi 3.0 85 Bold" panose="00020600040101010101" charset="-122"/>
            </a:endParaRPr>
          </a:p>
        </p:txBody>
      </p:sp>
    </p:spTree>
    <p:custDataLst>
      <p:tags r:id="rId5"/>
    </p:custData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a:bodyPr>
          <a:p>
            <a:r>
              <a:rPr lang="zh-CN" altLang="en-US"/>
              <a:t>怎样才能把声音（模拟信号</a:t>
            </a:r>
            <a:r>
              <a:rPr lang="en-US" altLang="zh-CN"/>
              <a:t>）</a:t>
            </a:r>
            <a:r>
              <a:rPr lang="zh-CN" altLang="en-US"/>
              <a:t>是转成数字信号</a:t>
            </a:r>
            <a:r>
              <a:rPr lang="en-US"/>
              <a:t>？</a:t>
            </a:r>
            <a:endParaRPr lang="en-US"/>
          </a:p>
        </p:txBody>
      </p:sp>
      <p:sp>
        <p:nvSpPr>
          <p:cNvPr id="14" name="Text Box 13"/>
          <p:cNvSpPr txBox="1"/>
          <p:nvPr/>
        </p:nvSpPr>
        <p:spPr>
          <a:xfrm>
            <a:off x="691515" y="1313815"/>
            <a:ext cx="254762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cs typeface="Alibaba PuHuiTi 3.0 55 Regular" panose="00020600040101010101" charset="-122"/>
              </a:rPr>
              <a:t>1. </a:t>
            </a:r>
            <a:r>
              <a:rPr lang="zh-CN" altLang="en-US" sz="2200">
                <a:latin typeface="Alibaba PuHuiTi 3.0 55 Regular" panose="00020600040101010101" charset="-122"/>
                <a:ea typeface="Alibaba PuHuiTi 3.0 55 Regular" panose="00020600040101010101" charset="-122"/>
                <a:cs typeface="Alibaba PuHuiTi 3.0 55 Regular" panose="00020600040101010101" charset="-122"/>
              </a:rPr>
              <a:t>采样</a:t>
            </a:r>
            <a:r>
              <a:rPr lang="en-US" altLang="zh-CN" sz="2200">
                <a:latin typeface="Alibaba PuHuiTi 3.0 55 Regular" panose="00020600040101010101" charset="-122"/>
                <a:ea typeface="Alibaba PuHuiTi 3.0 55 Regular" panose="00020600040101010101" charset="-122"/>
                <a:cs typeface="Alibaba PuHuiTi 3.0 55 Regular" panose="00020600040101010101" charset="-122"/>
              </a:rPr>
              <a:t> Sampling</a:t>
            </a:r>
            <a:endParaRPr lang="en-US" altLang="zh-CN" sz="2200">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7" name="Text Box 16"/>
          <p:cNvSpPr txBox="1"/>
          <p:nvPr/>
        </p:nvSpPr>
        <p:spPr>
          <a:xfrm>
            <a:off x="3860165" y="1313815"/>
            <a:ext cx="3038475" cy="429895"/>
          </a:xfrm>
          <a:prstGeom prst="rect">
            <a:avLst/>
          </a:prstGeom>
          <a:noFill/>
        </p:spPr>
        <p:txBody>
          <a:bodyPr wrap="square" rtlCol="0">
            <a:spAutoFit/>
          </a:bodyPr>
          <a:p>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2. </a:t>
            </a:r>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量化</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 Quantization</a:t>
            </a:r>
            <a:endParaRPr lang="en-US" altLang="zh-CN" sz="2200" b="1">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18" name="Text Box 17"/>
          <p:cNvSpPr txBox="1"/>
          <p:nvPr/>
        </p:nvSpPr>
        <p:spPr>
          <a:xfrm>
            <a:off x="7519670" y="1313815"/>
            <a:ext cx="3822065" cy="429895"/>
          </a:xfrm>
          <a:prstGeom prst="rect">
            <a:avLst/>
          </a:prstGeom>
          <a:noFill/>
        </p:spPr>
        <p:txBody>
          <a:bodyPr wrap="square" rtlCol="0">
            <a:spAutoFit/>
          </a:bodyPr>
          <a:p>
            <a:r>
              <a:rPr lang="en-US" altLang="zh-CN" sz="2200">
                <a:latin typeface="Alibaba PuHuiTi 3.0 55 Regular" panose="00020600040101010101" charset="-122"/>
                <a:ea typeface="Alibaba PuHuiTi 3.0 55 Regular" panose="00020600040101010101" charset="-122"/>
              </a:rPr>
              <a:t>3. </a:t>
            </a:r>
            <a:r>
              <a:rPr lang="zh-CN" altLang="en-US" sz="2200">
                <a:latin typeface="Alibaba PuHuiTi 3.0 55 Regular" panose="00020600040101010101" charset="-122"/>
                <a:ea typeface="Alibaba PuHuiTi 3.0 55 Regular" panose="00020600040101010101" charset="-122"/>
              </a:rPr>
              <a:t>编码</a:t>
            </a:r>
            <a:r>
              <a:rPr lang="en-US" altLang="zh-CN" sz="2200">
                <a:latin typeface="Alibaba PuHuiTi 3.0 55 Regular" panose="00020600040101010101" charset="-122"/>
                <a:ea typeface="Alibaba PuHuiTi 3.0 55 Regular" panose="00020600040101010101" charset="-122"/>
              </a:rPr>
              <a:t> </a:t>
            </a:r>
            <a:r>
              <a:rPr lang="en-US" altLang="zh-CN" sz="2200">
                <a:latin typeface="Alibaba PuHuiTi 3.0 55 Regular" panose="00020600040101010101" charset="-122"/>
                <a:ea typeface="Alibaba PuHuiTi 3.0 55 Regular" panose="00020600040101010101" charset="-122"/>
              </a:rPr>
              <a:t>Encoding</a:t>
            </a:r>
            <a:endParaRPr lang="en-US" altLang="zh-CN" sz="2200">
              <a:latin typeface="Alibaba PuHuiTi 3.0 55 Regular" panose="00020600040101010101" charset="-122"/>
              <a:ea typeface="Alibaba PuHuiTi 3.0 55 Regular" panose="00020600040101010101" charset="-122"/>
            </a:endParaRPr>
          </a:p>
        </p:txBody>
      </p:sp>
      <p:cxnSp>
        <p:nvCxnSpPr>
          <p:cNvPr id="19" name="Straight Connector 18"/>
          <p:cNvCxnSpPr/>
          <p:nvPr/>
        </p:nvCxnSpPr>
        <p:spPr>
          <a:xfrm flipH="1">
            <a:off x="3202305" y="1529080"/>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cxnSp>
        <p:nvCxnSpPr>
          <p:cNvPr id="20" name="Straight Connector 19"/>
          <p:cNvCxnSpPr/>
          <p:nvPr/>
        </p:nvCxnSpPr>
        <p:spPr>
          <a:xfrm flipH="1">
            <a:off x="6861810" y="1528445"/>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12" name="Oval 11"/>
          <p:cNvSpPr/>
          <p:nvPr/>
        </p:nvSpPr>
        <p:spPr>
          <a:xfrm>
            <a:off x="1926590" y="419798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13" name="Straight Connector 12"/>
          <p:cNvCxnSpPr/>
          <p:nvPr/>
        </p:nvCxnSpPr>
        <p:spPr>
          <a:xfrm>
            <a:off x="1974850" y="4271645"/>
            <a:ext cx="0" cy="73977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5" name="Straight Connector 14"/>
          <p:cNvCxnSpPr>
            <a:stCxn id="36" idx="31"/>
          </p:cNvCxnSpPr>
          <p:nvPr/>
        </p:nvCxnSpPr>
        <p:spPr>
          <a:xfrm flipH="1">
            <a:off x="3222625" y="3726180"/>
            <a:ext cx="10795" cy="123444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6" name="Straight Connector 15"/>
          <p:cNvCxnSpPr/>
          <p:nvPr/>
        </p:nvCxnSpPr>
        <p:spPr>
          <a:xfrm>
            <a:off x="3721735" y="4398645"/>
            <a:ext cx="0" cy="57023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2" name="Straight Connector 21"/>
          <p:cNvCxnSpPr/>
          <p:nvPr/>
        </p:nvCxnSpPr>
        <p:spPr>
          <a:xfrm>
            <a:off x="3971290" y="4448810"/>
            <a:ext cx="0" cy="56324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4" name="Straight Connector 23"/>
          <p:cNvCxnSpPr/>
          <p:nvPr/>
        </p:nvCxnSpPr>
        <p:spPr>
          <a:xfrm>
            <a:off x="4220845" y="4180840"/>
            <a:ext cx="0" cy="83121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5" name="Straight Connector 24"/>
          <p:cNvCxnSpPr/>
          <p:nvPr/>
        </p:nvCxnSpPr>
        <p:spPr>
          <a:xfrm>
            <a:off x="1600200" y="2225040"/>
            <a:ext cx="0" cy="274320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27" name="Straight Connector 26"/>
          <p:cNvCxnSpPr/>
          <p:nvPr/>
        </p:nvCxnSpPr>
        <p:spPr>
          <a:xfrm flipH="1">
            <a:off x="1598930" y="4977130"/>
            <a:ext cx="312737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33" name="Text Box 32"/>
          <p:cNvSpPr txBox="1"/>
          <p:nvPr/>
        </p:nvSpPr>
        <p:spPr>
          <a:xfrm>
            <a:off x="4463415" y="5046345"/>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36" name="Freeform 35"/>
          <p:cNvSpPr/>
          <p:nvPr/>
        </p:nvSpPr>
        <p:spPr>
          <a:xfrm>
            <a:off x="1815465" y="2955925"/>
            <a:ext cx="2518410" cy="1645285"/>
          </a:xfrm>
          <a:custGeom>
            <a:avLst/>
            <a:gdLst>
              <a:gd name="connisteX0" fmla="*/ 0 w 2518410"/>
              <a:gd name="connsiteY0" fmla="*/ 1645002 h 1645002"/>
              <a:gd name="connisteX1" fmla="*/ 25400 w 2518410"/>
              <a:gd name="connsiteY1" fmla="*/ 1519907 h 1645002"/>
              <a:gd name="connisteX2" fmla="*/ 142240 w 2518410"/>
              <a:gd name="connsiteY2" fmla="*/ 1328137 h 1645002"/>
              <a:gd name="connisteX3" fmla="*/ 225425 w 2518410"/>
              <a:gd name="connsiteY3" fmla="*/ 1178277 h 1645002"/>
              <a:gd name="connisteX4" fmla="*/ 275590 w 2518410"/>
              <a:gd name="connsiteY4" fmla="*/ 1077947 h 1645002"/>
              <a:gd name="connisteX5" fmla="*/ 325120 w 2518410"/>
              <a:gd name="connsiteY5" fmla="*/ 978252 h 1645002"/>
              <a:gd name="connisteX6" fmla="*/ 358775 w 2518410"/>
              <a:gd name="connsiteY6" fmla="*/ 877922 h 1645002"/>
              <a:gd name="connisteX7" fmla="*/ 383540 w 2518410"/>
              <a:gd name="connsiteY7" fmla="*/ 811247 h 1645002"/>
              <a:gd name="connisteX8" fmla="*/ 400685 w 2518410"/>
              <a:gd name="connsiteY8" fmla="*/ 728062 h 1645002"/>
              <a:gd name="connisteX9" fmla="*/ 441960 w 2518410"/>
              <a:gd name="connsiteY9" fmla="*/ 611222 h 1645002"/>
              <a:gd name="connisteX10" fmla="*/ 459105 w 2518410"/>
              <a:gd name="connsiteY10" fmla="*/ 544547 h 1645002"/>
              <a:gd name="connisteX11" fmla="*/ 492125 w 2518410"/>
              <a:gd name="connsiteY11" fmla="*/ 419452 h 1645002"/>
              <a:gd name="connisteX12" fmla="*/ 525780 w 2518410"/>
              <a:gd name="connsiteY12" fmla="*/ 310867 h 1645002"/>
              <a:gd name="connisteX13" fmla="*/ 550545 w 2518410"/>
              <a:gd name="connsiteY13" fmla="*/ 227682 h 1645002"/>
              <a:gd name="connisteX14" fmla="*/ 567055 w 2518410"/>
              <a:gd name="connsiteY14" fmla="*/ 161007 h 1645002"/>
              <a:gd name="connisteX15" fmla="*/ 584200 w 2518410"/>
              <a:gd name="connsiteY15" fmla="*/ 94332 h 1645002"/>
              <a:gd name="connisteX16" fmla="*/ 625475 w 2518410"/>
              <a:gd name="connsiteY16" fmla="*/ 27657 h 1645002"/>
              <a:gd name="connisteX17" fmla="*/ 692150 w 2518410"/>
              <a:gd name="connsiteY17" fmla="*/ 10512 h 1645002"/>
              <a:gd name="connisteX18" fmla="*/ 784225 w 2518410"/>
              <a:gd name="connsiteY18" fmla="*/ 2257 h 1645002"/>
              <a:gd name="connisteX19" fmla="*/ 859155 w 2518410"/>
              <a:gd name="connsiteY19" fmla="*/ 2257 h 1645002"/>
              <a:gd name="connisteX20" fmla="*/ 925830 w 2518410"/>
              <a:gd name="connsiteY20" fmla="*/ 2257 h 1645002"/>
              <a:gd name="connisteX21" fmla="*/ 1000760 w 2518410"/>
              <a:gd name="connsiteY21" fmla="*/ 27657 h 1645002"/>
              <a:gd name="connisteX22" fmla="*/ 1067435 w 2518410"/>
              <a:gd name="connsiteY22" fmla="*/ 77187 h 1645002"/>
              <a:gd name="connisteX23" fmla="*/ 1125855 w 2518410"/>
              <a:gd name="connsiteY23" fmla="*/ 152752 h 1645002"/>
              <a:gd name="connisteX24" fmla="*/ 1176020 w 2518410"/>
              <a:gd name="connsiteY24" fmla="*/ 235937 h 1645002"/>
              <a:gd name="connisteX25" fmla="*/ 1217930 w 2518410"/>
              <a:gd name="connsiteY25" fmla="*/ 302612 h 1645002"/>
              <a:gd name="connisteX26" fmla="*/ 1242695 w 2518410"/>
              <a:gd name="connsiteY26" fmla="*/ 369287 h 1645002"/>
              <a:gd name="connisteX27" fmla="*/ 1276350 w 2518410"/>
              <a:gd name="connsiteY27" fmla="*/ 435962 h 1645002"/>
              <a:gd name="connisteX28" fmla="*/ 1309370 w 2518410"/>
              <a:gd name="connsiteY28" fmla="*/ 502637 h 1645002"/>
              <a:gd name="connisteX29" fmla="*/ 1351280 w 2518410"/>
              <a:gd name="connsiteY29" fmla="*/ 594712 h 1645002"/>
              <a:gd name="connisteX30" fmla="*/ 1384300 w 2518410"/>
              <a:gd name="connsiteY30" fmla="*/ 686152 h 1645002"/>
              <a:gd name="connisteX31" fmla="*/ 1417955 w 2518410"/>
              <a:gd name="connsiteY31" fmla="*/ 769972 h 1645002"/>
              <a:gd name="connisteX32" fmla="*/ 1450975 w 2518410"/>
              <a:gd name="connsiteY32" fmla="*/ 844902 h 1645002"/>
              <a:gd name="connisteX33" fmla="*/ 1476375 w 2518410"/>
              <a:gd name="connsiteY33" fmla="*/ 911577 h 1645002"/>
              <a:gd name="connisteX34" fmla="*/ 1501140 w 2518410"/>
              <a:gd name="connsiteY34" fmla="*/ 1003017 h 1645002"/>
              <a:gd name="connisteX35" fmla="*/ 1526540 w 2518410"/>
              <a:gd name="connsiteY35" fmla="*/ 1077947 h 1645002"/>
              <a:gd name="connisteX36" fmla="*/ 1551305 w 2518410"/>
              <a:gd name="connsiteY36" fmla="*/ 1153512 h 1645002"/>
              <a:gd name="connisteX37" fmla="*/ 1601470 w 2518410"/>
              <a:gd name="connsiteY37" fmla="*/ 1220187 h 1645002"/>
              <a:gd name="connisteX38" fmla="*/ 1676400 w 2518410"/>
              <a:gd name="connsiteY38" fmla="*/ 1269717 h 1645002"/>
              <a:gd name="connisteX39" fmla="*/ 1743075 w 2518410"/>
              <a:gd name="connsiteY39" fmla="*/ 1319882 h 1645002"/>
              <a:gd name="connisteX40" fmla="*/ 1809750 w 2518410"/>
              <a:gd name="connsiteY40" fmla="*/ 1353537 h 1645002"/>
              <a:gd name="connisteX41" fmla="*/ 1876425 w 2518410"/>
              <a:gd name="connsiteY41" fmla="*/ 1386557 h 1645002"/>
              <a:gd name="connisteX42" fmla="*/ 1951355 w 2518410"/>
              <a:gd name="connsiteY42" fmla="*/ 1411957 h 1645002"/>
              <a:gd name="connisteX43" fmla="*/ 2035175 w 2518410"/>
              <a:gd name="connsiteY43" fmla="*/ 1436722 h 1645002"/>
              <a:gd name="connisteX44" fmla="*/ 2110105 w 2518410"/>
              <a:gd name="connsiteY44" fmla="*/ 1453232 h 1645002"/>
              <a:gd name="connisteX45" fmla="*/ 2185035 w 2518410"/>
              <a:gd name="connsiteY45" fmla="*/ 1453232 h 1645002"/>
              <a:gd name="connisteX46" fmla="*/ 2251710 w 2518410"/>
              <a:gd name="connsiteY46" fmla="*/ 1444977 h 1645002"/>
              <a:gd name="connisteX47" fmla="*/ 2301875 w 2518410"/>
              <a:gd name="connsiteY47" fmla="*/ 1378302 h 1645002"/>
              <a:gd name="connisteX48" fmla="*/ 2343785 w 2518410"/>
              <a:gd name="connsiteY48" fmla="*/ 1311627 h 1645002"/>
              <a:gd name="connisteX49" fmla="*/ 2368550 w 2518410"/>
              <a:gd name="connsiteY49" fmla="*/ 1236697 h 1645002"/>
              <a:gd name="connisteX50" fmla="*/ 2402205 w 2518410"/>
              <a:gd name="connsiteY50" fmla="*/ 1161767 h 1645002"/>
              <a:gd name="connisteX51" fmla="*/ 2426970 w 2518410"/>
              <a:gd name="connsiteY51" fmla="*/ 1086837 h 1645002"/>
              <a:gd name="connisteX52" fmla="*/ 2468880 w 2518410"/>
              <a:gd name="connsiteY52" fmla="*/ 1019527 h 1645002"/>
              <a:gd name="connisteX53" fmla="*/ 2518410 w 2518410"/>
              <a:gd name="connsiteY53" fmla="*/ 944597 h 164500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Lst>
            <a:rect l="l" t="t" r="r" b="b"/>
            <a:pathLst>
              <a:path w="2518410" h="1645003">
                <a:moveTo>
                  <a:pt x="0" y="1645003"/>
                </a:moveTo>
                <a:cubicBezTo>
                  <a:pt x="2540" y="1624048"/>
                  <a:pt x="-3175" y="1583408"/>
                  <a:pt x="25400" y="1519908"/>
                </a:cubicBezTo>
                <a:cubicBezTo>
                  <a:pt x="53975" y="1456408"/>
                  <a:pt x="102235" y="1396718"/>
                  <a:pt x="142240" y="1328138"/>
                </a:cubicBezTo>
                <a:cubicBezTo>
                  <a:pt x="182245" y="1259558"/>
                  <a:pt x="198755" y="1228443"/>
                  <a:pt x="225425" y="1178278"/>
                </a:cubicBezTo>
                <a:cubicBezTo>
                  <a:pt x="252095" y="1128113"/>
                  <a:pt x="255905" y="1117953"/>
                  <a:pt x="275590" y="1077948"/>
                </a:cubicBezTo>
                <a:cubicBezTo>
                  <a:pt x="295275" y="1037943"/>
                  <a:pt x="308610" y="1018258"/>
                  <a:pt x="325120" y="978253"/>
                </a:cubicBezTo>
                <a:cubicBezTo>
                  <a:pt x="341630" y="938248"/>
                  <a:pt x="347345" y="911578"/>
                  <a:pt x="358775" y="877923"/>
                </a:cubicBezTo>
                <a:cubicBezTo>
                  <a:pt x="370205" y="844268"/>
                  <a:pt x="375285" y="841093"/>
                  <a:pt x="383540" y="811248"/>
                </a:cubicBezTo>
                <a:cubicBezTo>
                  <a:pt x="391795" y="781403"/>
                  <a:pt x="389255" y="768068"/>
                  <a:pt x="400685" y="728063"/>
                </a:cubicBezTo>
                <a:cubicBezTo>
                  <a:pt x="412115" y="688058"/>
                  <a:pt x="430530" y="648053"/>
                  <a:pt x="441960" y="611223"/>
                </a:cubicBezTo>
                <a:cubicBezTo>
                  <a:pt x="453390" y="574393"/>
                  <a:pt x="448945" y="582648"/>
                  <a:pt x="459105" y="544548"/>
                </a:cubicBezTo>
                <a:cubicBezTo>
                  <a:pt x="469265" y="506448"/>
                  <a:pt x="478790" y="466443"/>
                  <a:pt x="492125" y="419453"/>
                </a:cubicBezTo>
                <a:cubicBezTo>
                  <a:pt x="505460" y="372463"/>
                  <a:pt x="514350" y="348968"/>
                  <a:pt x="525780" y="310868"/>
                </a:cubicBezTo>
                <a:cubicBezTo>
                  <a:pt x="537210" y="272768"/>
                  <a:pt x="542290" y="257528"/>
                  <a:pt x="550545" y="227683"/>
                </a:cubicBezTo>
                <a:cubicBezTo>
                  <a:pt x="558800" y="197838"/>
                  <a:pt x="560070" y="187678"/>
                  <a:pt x="567055" y="161008"/>
                </a:cubicBezTo>
                <a:cubicBezTo>
                  <a:pt x="574040" y="134338"/>
                  <a:pt x="572770" y="121003"/>
                  <a:pt x="584200" y="94333"/>
                </a:cubicBezTo>
                <a:cubicBezTo>
                  <a:pt x="595630" y="67663"/>
                  <a:pt x="603885" y="44168"/>
                  <a:pt x="625475" y="27658"/>
                </a:cubicBezTo>
                <a:cubicBezTo>
                  <a:pt x="647065" y="11148"/>
                  <a:pt x="660400" y="15593"/>
                  <a:pt x="692150" y="10513"/>
                </a:cubicBezTo>
                <a:cubicBezTo>
                  <a:pt x="723900" y="5433"/>
                  <a:pt x="750570" y="4163"/>
                  <a:pt x="784225" y="2258"/>
                </a:cubicBezTo>
                <a:cubicBezTo>
                  <a:pt x="817880" y="353"/>
                  <a:pt x="830580" y="2258"/>
                  <a:pt x="859155" y="2258"/>
                </a:cubicBezTo>
                <a:cubicBezTo>
                  <a:pt x="887730" y="2258"/>
                  <a:pt x="897255" y="-2822"/>
                  <a:pt x="925830" y="2258"/>
                </a:cubicBezTo>
                <a:cubicBezTo>
                  <a:pt x="954405" y="7338"/>
                  <a:pt x="972185" y="12418"/>
                  <a:pt x="1000760" y="27658"/>
                </a:cubicBezTo>
                <a:cubicBezTo>
                  <a:pt x="1029335" y="42898"/>
                  <a:pt x="1042670" y="52423"/>
                  <a:pt x="1067435" y="77188"/>
                </a:cubicBezTo>
                <a:cubicBezTo>
                  <a:pt x="1092200" y="101953"/>
                  <a:pt x="1104265" y="121003"/>
                  <a:pt x="1125855" y="152753"/>
                </a:cubicBezTo>
                <a:cubicBezTo>
                  <a:pt x="1147445" y="184503"/>
                  <a:pt x="1157605" y="206093"/>
                  <a:pt x="1176020" y="235938"/>
                </a:cubicBezTo>
                <a:cubicBezTo>
                  <a:pt x="1194435" y="265783"/>
                  <a:pt x="1204595" y="275943"/>
                  <a:pt x="1217930" y="302613"/>
                </a:cubicBezTo>
                <a:cubicBezTo>
                  <a:pt x="1231265" y="329283"/>
                  <a:pt x="1231265" y="342618"/>
                  <a:pt x="1242695" y="369288"/>
                </a:cubicBezTo>
                <a:cubicBezTo>
                  <a:pt x="1254125" y="395958"/>
                  <a:pt x="1263015" y="409293"/>
                  <a:pt x="1276350" y="435963"/>
                </a:cubicBezTo>
                <a:cubicBezTo>
                  <a:pt x="1289685" y="462633"/>
                  <a:pt x="1294130" y="470888"/>
                  <a:pt x="1309370" y="502638"/>
                </a:cubicBezTo>
                <a:cubicBezTo>
                  <a:pt x="1324610" y="534388"/>
                  <a:pt x="1336040" y="557883"/>
                  <a:pt x="1351280" y="594713"/>
                </a:cubicBezTo>
                <a:cubicBezTo>
                  <a:pt x="1366520" y="631543"/>
                  <a:pt x="1370965" y="651228"/>
                  <a:pt x="1384300" y="686153"/>
                </a:cubicBezTo>
                <a:cubicBezTo>
                  <a:pt x="1397635" y="721078"/>
                  <a:pt x="1404620" y="738223"/>
                  <a:pt x="1417955" y="769973"/>
                </a:cubicBezTo>
                <a:cubicBezTo>
                  <a:pt x="1431290" y="801723"/>
                  <a:pt x="1439545" y="816328"/>
                  <a:pt x="1450975" y="844903"/>
                </a:cubicBezTo>
                <a:cubicBezTo>
                  <a:pt x="1462405" y="873478"/>
                  <a:pt x="1466215" y="879828"/>
                  <a:pt x="1476375" y="911578"/>
                </a:cubicBezTo>
                <a:cubicBezTo>
                  <a:pt x="1486535" y="943328"/>
                  <a:pt x="1490980" y="969998"/>
                  <a:pt x="1501140" y="1003018"/>
                </a:cubicBezTo>
                <a:cubicBezTo>
                  <a:pt x="1511300" y="1036038"/>
                  <a:pt x="1516380" y="1048103"/>
                  <a:pt x="1526540" y="1077948"/>
                </a:cubicBezTo>
                <a:cubicBezTo>
                  <a:pt x="1536700" y="1107793"/>
                  <a:pt x="1536065" y="1124938"/>
                  <a:pt x="1551305" y="1153513"/>
                </a:cubicBezTo>
                <a:cubicBezTo>
                  <a:pt x="1566545" y="1182088"/>
                  <a:pt x="1576705" y="1196693"/>
                  <a:pt x="1601470" y="1220188"/>
                </a:cubicBezTo>
                <a:cubicBezTo>
                  <a:pt x="1626235" y="1243683"/>
                  <a:pt x="1647825" y="1250033"/>
                  <a:pt x="1676400" y="1269718"/>
                </a:cubicBezTo>
                <a:cubicBezTo>
                  <a:pt x="1704975" y="1289403"/>
                  <a:pt x="1716405" y="1303373"/>
                  <a:pt x="1743075" y="1319883"/>
                </a:cubicBezTo>
                <a:cubicBezTo>
                  <a:pt x="1769745" y="1336393"/>
                  <a:pt x="1783080" y="1340203"/>
                  <a:pt x="1809750" y="1353538"/>
                </a:cubicBezTo>
                <a:cubicBezTo>
                  <a:pt x="1836420" y="1366873"/>
                  <a:pt x="1847850" y="1375128"/>
                  <a:pt x="1876425" y="1386558"/>
                </a:cubicBezTo>
                <a:cubicBezTo>
                  <a:pt x="1905000" y="1397988"/>
                  <a:pt x="1919605" y="1401798"/>
                  <a:pt x="1951355" y="1411958"/>
                </a:cubicBezTo>
                <a:cubicBezTo>
                  <a:pt x="1983105" y="1422118"/>
                  <a:pt x="2003425" y="1428468"/>
                  <a:pt x="2035175" y="1436723"/>
                </a:cubicBezTo>
                <a:cubicBezTo>
                  <a:pt x="2066925" y="1444978"/>
                  <a:pt x="2080260" y="1450058"/>
                  <a:pt x="2110105" y="1453233"/>
                </a:cubicBezTo>
                <a:cubicBezTo>
                  <a:pt x="2139950" y="1456408"/>
                  <a:pt x="2156460" y="1455138"/>
                  <a:pt x="2185035" y="1453233"/>
                </a:cubicBezTo>
                <a:cubicBezTo>
                  <a:pt x="2213610" y="1451328"/>
                  <a:pt x="2228215" y="1460218"/>
                  <a:pt x="2251710" y="1444978"/>
                </a:cubicBezTo>
                <a:cubicBezTo>
                  <a:pt x="2275205" y="1429738"/>
                  <a:pt x="2283460" y="1404973"/>
                  <a:pt x="2301875" y="1378303"/>
                </a:cubicBezTo>
                <a:cubicBezTo>
                  <a:pt x="2320290" y="1351633"/>
                  <a:pt x="2330450" y="1340203"/>
                  <a:pt x="2343785" y="1311628"/>
                </a:cubicBezTo>
                <a:cubicBezTo>
                  <a:pt x="2357120" y="1283053"/>
                  <a:pt x="2357120" y="1266543"/>
                  <a:pt x="2368550" y="1236698"/>
                </a:cubicBezTo>
                <a:cubicBezTo>
                  <a:pt x="2379980" y="1206853"/>
                  <a:pt x="2390775" y="1191613"/>
                  <a:pt x="2402205" y="1161768"/>
                </a:cubicBezTo>
                <a:cubicBezTo>
                  <a:pt x="2413635" y="1131923"/>
                  <a:pt x="2413635" y="1115413"/>
                  <a:pt x="2426970" y="1086838"/>
                </a:cubicBezTo>
                <a:cubicBezTo>
                  <a:pt x="2440305" y="1058263"/>
                  <a:pt x="2450465" y="1048103"/>
                  <a:pt x="2468880" y="1019528"/>
                </a:cubicBezTo>
                <a:cubicBezTo>
                  <a:pt x="2487295" y="990953"/>
                  <a:pt x="2509520" y="957933"/>
                  <a:pt x="2518410" y="944598"/>
                </a:cubicBezTo>
              </a:path>
            </a:pathLst>
          </a:custGeom>
          <a:noFill/>
          <a:ln w="38100">
            <a:solidFill>
              <a:schemeClr val="tx1"/>
            </a:solidFill>
          </a:ln>
        </p:spPr>
        <p:txBody>
          <a:bodyPr vert="horz" lIns="90000" tIns="46800" rIns="90000" bIns="46800" rtlCol="0" anchor="ctr" anchorCtr="0">
            <a:noAutofit/>
          </a:bodyPr>
          <a:p>
            <a:endParaRPr lang="zh-CN" altLang="en-US" sz="2445">
              <a:solidFill>
                <a:schemeClr val="tx1"/>
              </a:solidFill>
            </a:endParaRPr>
          </a:p>
        </p:txBody>
      </p:sp>
      <p:sp>
        <p:nvSpPr>
          <p:cNvPr id="45" name="Text Box 44"/>
          <p:cNvSpPr txBox="1"/>
          <p:nvPr/>
        </p:nvSpPr>
        <p:spPr>
          <a:xfrm>
            <a:off x="1757045" y="5046345"/>
            <a:ext cx="296926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48" name="Text Box 47"/>
          <p:cNvSpPr txBox="1"/>
          <p:nvPr/>
        </p:nvSpPr>
        <p:spPr>
          <a:xfrm>
            <a:off x="1616710" y="3910330"/>
            <a:ext cx="40640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8" name="Oval 7"/>
          <p:cNvSpPr/>
          <p:nvPr/>
        </p:nvSpPr>
        <p:spPr>
          <a:xfrm>
            <a:off x="2417445" y="293941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9" name="Oval 8"/>
          <p:cNvSpPr/>
          <p:nvPr/>
        </p:nvSpPr>
        <p:spPr>
          <a:xfrm>
            <a:off x="3193415" y="368427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1" name="Oval 50"/>
          <p:cNvSpPr/>
          <p:nvPr/>
        </p:nvSpPr>
        <p:spPr>
          <a:xfrm>
            <a:off x="3691255" y="430212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2" name="Oval 51"/>
          <p:cNvSpPr/>
          <p:nvPr/>
        </p:nvSpPr>
        <p:spPr>
          <a:xfrm>
            <a:off x="4174490" y="408432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4" name="Text Box 53"/>
          <p:cNvSpPr txBox="1"/>
          <p:nvPr/>
        </p:nvSpPr>
        <p:spPr>
          <a:xfrm>
            <a:off x="2976245" y="2994025"/>
            <a:ext cx="44450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10</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55" name="Text Box 54"/>
          <p:cNvSpPr txBox="1"/>
          <p:nvPr/>
        </p:nvSpPr>
        <p:spPr>
          <a:xfrm>
            <a:off x="3348990" y="3949065"/>
            <a:ext cx="41719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56" name="Text Box 55"/>
          <p:cNvSpPr txBox="1"/>
          <p:nvPr/>
        </p:nvSpPr>
        <p:spPr>
          <a:xfrm>
            <a:off x="3571240" y="4030345"/>
            <a:ext cx="40513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01</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58" name="Straight Connector 57"/>
          <p:cNvCxnSpPr>
            <a:endCxn id="84" idx="3"/>
          </p:cNvCxnSpPr>
          <p:nvPr/>
        </p:nvCxnSpPr>
        <p:spPr>
          <a:xfrm flipV="1">
            <a:off x="1974850" y="3757295"/>
            <a:ext cx="199390" cy="52070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79" name="Straight Connector 78"/>
          <p:cNvCxnSpPr>
            <a:stCxn id="36" idx="8"/>
          </p:cNvCxnSpPr>
          <p:nvPr/>
        </p:nvCxnSpPr>
        <p:spPr>
          <a:xfrm>
            <a:off x="2216150" y="3684270"/>
            <a:ext cx="8255" cy="13271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0" name="Straight Connector 79"/>
          <p:cNvCxnSpPr/>
          <p:nvPr/>
        </p:nvCxnSpPr>
        <p:spPr>
          <a:xfrm>
            <a:off x="2473960" y="2983230"/>
            <a:ext cx="0" cy="202819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1" name="Straight Connector 80"/>
          <p:cNvCxnSpPr/>
          <p:nvPr/>
        </p:nvCxnSpPr>
        <p:spPr>
          <a:xfrm>
            <a:off x="2723515" y="2978785"/>
            <a:ext cx="0" cy="203263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2" name="Straight Connector 81"/>
          <p:cNvCxnSpPr>
            <a:stCxn id="54" idx="1"/>
          </p:cNvCxnSpPr>
          <p:nvPr/>
        </p:nvCxnSpPr>
        <p:spPr>
          <a:xfrm flipH="1">
            <a:off x="2973070" y="3138170"/>
            <a:ext cx="3175" cy="18732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3" name="Straight Connector 82"/>
          <p:cNvCxnSpPr/>
          <p:nvPr/>
        </p:nvCxnSpPr>
        <p:spPr>
          <a:xfrm>
            <a:off x="3472180" y="4244340"/>
            <a:ext cx="0" cy="76708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84" name="Oval 83"/>
          <p:cNvSpPr/>
          <p:nvPr/>
        </p:nvSpPr>
        <p:spPr>
          <a:xfrm>
            <a:off x="2160270" y="367474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5" name="Oval 84"/>
          <p:cNvSpPr/>
          <p:nvPr/>
        </p:nvSpPr>
        <p:spPr>
          <a:xfrm>
            <a:off x="2675255" y="290893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6" name="Oval 85"/>
          <p:cNvSpPr/>
          <p:nvPr/>
        </p:nvSpPr>
        <p:spPr>
          <a:xfrm>
            <a:off x="2941320" y="308991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7" name="Oval 86"/>
          <p:cNvSpPr/>
          <p:nvPr/>
        </p:nvSpPr>
        <p:spPr>
          <a:xfrm>
            <a:off x="3421380" y="41808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8" name="Oval 87"/>
          <p:cNvSpPr/>
          <p:nvPr/>
        </p:nvSpPr>
        <p:spPr>
          <a:xfrm>
            <a:off x="3936365" y="436372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9" name="Text Box 88"/>
          <p:cNvSpPr txBox="1"/>
          <p:nvPr/>
        </p:nvSpPr>
        <p:spPr>
          <a:xfrm>
            <a:off x="1757045" y="3599815"/>
            <a:ext cx="42354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0" name="Text Box 89"/>
          <p:cNvSpPr txBox="1"/>
          <p:nvPr/>
        </p:nvSpPr>
        <p:spPr>
          <a:xfrm>
            <a:off x="2101215" y="2653665"/>
            <a:ext cx="45656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1" name="Text Box 90"/>
          <p:cNvSpPr txBox="1"/>
          <p:nvPr/>
        </p:nvSpPr>
        <p:spPr>
          <a:xfrm>
            <a:off x="2586355" y="2651125"/>
            <a:ext cx="52705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2" name="Text Box 91"/>
          <p:cNvSpPr txBox="1"/>
          <p:nvPr/>
        </p:nvSpPr>
        <p:spPr>
          <a:xfrm>
            <a:off x="3171190" y="3421380"/>
            <a:ext cx="40576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3" name="Text Box 92"/>
          <p:cNvSpPr txBox="1"/>
          <p:nvPr/>
        </p:nvSpPr>
        <p:spPr>
          <a:xfrm>
            <a:off x="3787140" y="4119245"/>
            <a:ext cx="40513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00</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5" name="Text Box 94"/>
          <p:cNvSpPr txBox="1"/>
          <p:nvPr/>
        </p:nvSpPr>
        <p:spPr>
          <a:xfrm>
            <a:off x="3970020" y="3800475"/>
            <a:ext cx="43180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01</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98" name="Straight Connector 97"/>
          <p:cNvCxnSpPr>
            <a:endCxn id="8" idx="2"/>
          </p:cNvCxnSpPr>
          <p:nvPr/>
        </p:nvCxnSpPr>
        <p:spPr>
          <a:xfrm flipV="1">
            <a:off x="2224405" y="2987675"/>
            <a:ext cx="193040" cy="6965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9" name="Straight Connector 98"/>
          <p:cNvCxnSpPr/>
          <p:nvPr/>
        </p:nvCxnSpPr>
        <p:spPr>
          <a:xfrm flipV="1">
            <a:off x="2474595" y="2938780"/>
            <a:ext cx="238760" cy="349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0" name="Straight Connector 99"/>
          <p:cNvCxnSpPr>
            <a:stCxn id="85" idx="5"/>
            <a:endCxn id="86" idx="2"/>
          </p:cNvCxnSpPr>
          <p:nvPr/>
        </p:nvCxnSpPr>
        <p:spPr>
          <a:xfrm>
            <a:off x="2757805" y="2991485"/>
            <a:ext cx="183515" cy="14668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1" name="Straight Connector 100"/>
          <p:cNvCxnSpPr>
            <a:stCxn id="86" idx="4"/>
            <a:endCxn id="36" idx="31"/>
          </p:cNvCxnSpPr>
          <p:nvPr/>
        </p:nvCxnSpPr>
        <p:spPr>
          <a:xfrm>
            <a:off x="2989580" y="3186430"/>
            <a:ext cx="243840" cy="5397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2" name="Straight Connector 101"/>
          <p:cNvCxnSpPr>
            <a:stCxn id="9" idx="5"/>
            <a:endCxn id="87" idx="1"/>
          </p:cNvCxnSpPr>
          <p:nvPr/>
        </p:nvCxnSpPr>
        <p:spPr>
          <a:xfrm>
            <a:off x="3275965" y="3766820"/>
            <a:ext cx="159385" cy="4279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3" name="Straight Connector 102"/>
          <p:cNvCxnSpPr>
            <a:stCxn id="87" idx="5"/>
            <a:endCxn id="51" idx="2"/>
          </p:cNvCxnSpPr>
          <p:nvPr/>
        </p:nvCxnSpPr>
        <p:spPr>
          <a:xfrm>
            <a:off x="3503930" y="4263390"/>
            <a:ext cx="187325" cy="869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4" name="Straight Connector 103"/>
          <p:cNvCxnSpPr>
            <a:stCxn id="51" idx="5"/>
            <a:endCxn id="93" idx="2"/>
          </p:cNvCxnSpPr>
          <p:nvPr/>
        </p:nvCxnSpPr>
        <p:spPr>
          <a:xfrm>
            <a:off x="3773805" y="4384675"/>
            <a:ext cx="215900" cy="222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5" name="Straight Connector 104"/>
          <p:cNvCxnSpPr>
            <a:stCxn id="88" idx="5"/>
            <a:endCxn id="52" idx="2"/>
          </p:cNvCxnSpPr>
          <p:nvPr/>
        </p:nvCxnSpPr>
        <p:spPr>
          <a:xfrm flipV="1">
            <a:off x="4018915" y="4132580"/>
            <a:ext cx="155575" cy="3136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5" name="Straight Connector 4"/>
          <p:cNvCxnSpPr/>
          <p:nvPr/>
        </p:nvCxnSpPr>
        <p:spPr>
          <a:xfrm>
            <a:off x="1616710" y="431419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21" name="Straight Connector 20"/>
          <p:cNvCxnSpPr/>
          <p:nvPr/>
        </p:nvCxnSpPr>
        <p:spPr>
          <a:xfrm>
            <a:off x="1616710" y="298831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23" name="Straight Connector 22"/>
          <p:cNvCxnSpPr/>
          <p:nvPr/>
        </p:nvCxnSpPr>
        <p:spPr>
          <a:xfrm>
            <a:off x="1616710" y="365125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26" name="Text Box 25"/>
          <p:cNvSpPr txBox="1"/>
          <p:nvPr/>
        </p:nvSpPr>
        <p:spPr>
          <a:xfrm>
            <a:off x="942975" y="2756535"/>
            <a:ext cx="527050" cy="429895"/>
          </a:xfrm>
          <a:prstGeom prst="rect">
            <a:avLst/>
          </a:prstGeom>
          <a:noFill/>
        </p:spPr>
        <p:txBody>
          <a:bodyPr wrap="square" rtlCol="0">
            <a:noAutofit/>
          </a:bodyPr>
          <a:p>
            <a:pPr algn="l"/>
            <a:r>
              <a:rPr lang="en-US" sz="2200">
                <a:solidFill>
                  <a:srgbClr val="00B0F0"/>
                </a:solidFill>
                <a:latin typeface="Alibaba PuHuiTi 3.0 55 Regular" panose="00020600040101010101" charset="-122"/>
                <a:ea typeface="Alibaba PuHuiTi 3.0 55 Regular" panose="00020600040101010101" charset="-122"/>
              </a:rPr>
              <a:t>11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28" name="Text Box 27"/>
          <p:cNvSpPr txBox="1"/>
          <p:nvPr/>
        </p:nvSpPr>
        <p:spPr>
          <a:xfrm>
            <a:off x="942975" y="3392805"/>
            <a:ext cx="527050" cy="429895"/>
          </a:xfrm>
          <a:prstGeom prst="rect">
            <a:avLst/>
          </a:prstGeom>
          <a:noFill/>
        </p:spPr>
        <p:txBody>
          <a:bodyPr wrap="square" rtlCol="0">
            <a:noAutofit/>
          </a:bodyPr>
          <a:p>
            <a:pPr algn="l"/>
            <a:r>
              <a:rPr lang="en-US" sz="2200">
                <a:solidFill>
                  <a:srgbClr val="00B0F0"/>
                </a:solidFill>
                <a:latin typeface="Alibaba PuHuiTi 3.0 55 Regular" panose="00020600040101010101" charset="-122"/>
                <a:ea typeface="Alibaba PuHuiTi 3.0 55 Regular" panose="00020600040101010101" charset="-122"/>
              </a:rPr>
              <a:t>10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29" name="Text Box 28"/>
          <p:cNvSpPr txBox="1"/>
          <p:nvPr/>
        </p:nvSpPr>
        <p:spPr>
          <a:xfrm>
            <a:off x="942975" y="4062095"/>
            <a:ext cx="527050" cy="429895"/>
          </a:xfrm>
          <a:prstGeom prst="rect">
            <a:avLst/>
          </a:prstGeom>
          <a:noFill/>
        </p:spPr>
        <p:txBody>
          <a:bodyPr wrap="square" rtlCol="0">
            <a:noAutofit/>
          </a:bodyPr>
          <a:p>
            <a:pPr algn="l"/>
            <a:r>
              <a:rPr lang="en-US" sz="2200">
                <a:solidFill>
                  <a:srgbClr val="00B0F0"/>
                </a:solidFill>
                <a:latin typeface="Alibaba PuHuiTi 3.0 55 Regular" panose="00020600040101010101" charset="-122"/>
                <a:ea typeface="Alibaba PuHuiTi 3.0 55 Regular" panose="00020600040101010101" charset="-122"/>
              </a:rPr>
              <a:t>01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31" name="Text Box 30"/>
          <p:cNvSpPr txBox="1"/>
          <p:nvPr/>
        </p:nvSpPr>
        <p:spPr>
          <a:xfrm>
            <a:off x="942340" y="4714875"/>
            <a:ext cx="527685" cy="429895"/>
          </a:xfrm>
          <a:prstGeom prst="rect">
            <a:avLst/>
          </a:prstGeom>
          <a:noFill/>
        </p:spPr>
        <p:txBody>
          <a:bodyPr wrap="square" rtlCol="0">
            <a:noAutofit/>
          </a:bodyPr>
          <a:p>
            <a:pPr algn="l"/>
            <a:r>
              <a:rPr lang="en-US" sz="2200">
                <a:solidFill>
                  <a:srgbClr val="00B0F0"/>
                </a:solidFill>
                <a:latin typeface="Alibaba PuHuiTi 3.0 55 Regular" panose="00020600040101010101" charset="-122"/>
                <a:ea typeface="Alibaba PuHuiTi 3.0 55 Regular" panose="00020600040101010101" charset="-122"/>
              </a:rPr>
              <a:t>00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3" name="Text Box 2"/>
          <p:cNvSpPr txBox="1"/>
          <p:nvPr/>
        </p:nvSpPr>
        <p:spPr>
          <a:xfrm>
            <a:off x="1835785" y="5603240"/>
            <a:ext cx="1937385"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量化等级为</a:t>
            </a:r>
            <a:r>
              <a:rPr lang="en-US" altLang="zh-CN" sz="2200">
                <a:latin typeface="Alibaba PuHuiTi 3.0 55 Regular" panose="00020600040101010101" charset="-122"/>
                <a:ea typeface="Alibaba PuHuiTi 3.0 55 Regular" panose="00020600040101010101" charset="-122"/>
              </a:rPr>
              <a:t>4</a:t>
            </a:r>
            <a:endParaRPr lang="en-US" altLang="zh-CN" sz="2200">
              <a:latin typeface="Alibaba PuHuiTi 3.0 55 Regular" panose="00020600040101010101" charset="-122"/>
              <a:ea typeface="Alibaba PuHuiTi 3.0 55 Regular" panose="00020600040101010101" charset="-122"/>
            </a:endParaRPr>
          </a:p>
        </p:txBody>
      </p:sp>
      <p:sp>
        <p:nvSpPr>
          <p:cNvPr id="4" name="Text Box 3"/>
          <p:cNvSpPr txBox="1"/>
          <p:nvPr/>
        </p:nvSpPr>
        <p:spPr>
          <a:xfrm>
            <a:off x="448945" y="2225040"/>
            <a:ext cx="1130300" cy="429895"/>
          </a:xfrm>
          <a:prstGeom prst="rect">
            <a:avLst/>
          </a:prstGeom>
          <a:noFill/>
        </p:spPr>
        <p:txBody>
          <a:bodyPr wrap="square" rtlCol="0">
            <a:noAutofit/>
          </a:bodyPr>
          <a:p>
            <a:pPr algn="r"/>
            <a:r>
              <a:rPr lang="zh-CN" altLang="en-US" sz="2200">
                <a:latin typeface="Alibaba PuHuiTi 3.0 55 Regular" panose="00020600040101010101" charset="-122"/>
                <a:ea typeface="Alibaba PuHuiTi 3.0 55 Regular" panose="00020600040101010101" charset="-122"/>
              </a:rPr>
              <a:t>量化值</a:t>
            </a:r>
            <a:endParaRPr lang="zh-CN" altLang="en-US" sz="2200">
              <a:latin typeface="Alibaba PuHuiTi 3.0 55 Regular" panose="00020600040101010101" charset="-122"/>
              <a:ea typeface="Alibaba PuHuiTi 3.0 55 Regular" panose="00020600040101010101" charset="-122"/>
            </a:endParaRPr>
          </a:p>
        </p:txBody>
      </p:sp>
      <p:sp>
        <p:nvSpPr>
          <p:cNvPr id="11" name="Oval 10"/>
          <p:cNvSpPr/>
          <p:nvPr/>
        </p:nvSpPr>
        <p:spPr>
          <a:xfrm>
            <a:off x="6818630" y="419290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34" name="Straight Connector 33"/>
          <p:cNvCxnSpPr/>
          <p:nvPr/>
        </p:nvCxnSpPr>
        <p:spPr>
          <a:xfrm>
            <a:off x="6866890" y="4266565"/>
            <a:ext cx="0" cy="73977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5" name="Straight Connector 34"/>
          <p:cNvCxnSpPr>
            <a:stCxn id="44" idx="31"/>
          </p:cNvCxnSpPr>
          <p:nvPr/>
        </p:nvCxnSpPr>
        <p:spPr>
          <a:xfrm flipH="1">
            <a:off x="8114665" y="3721100"/>
            <a:ext cx="10795" cy="123444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7" name="Straight Connector 36"/>
          <p:cNvCxnSpPr/>
          <p:nvPr/>
        </p:nvCxnSpPr>
        <p:spPr>
          <a:xfrm>
            <a:off x="8613775" y="4393565"/>
            <a:ext cx="0" cy="57023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8" name="Straight Connector 37"/>
          <p:cNvCxnSpPr/>
          <p:nvPr/>
        </p:nvCxnSpPr>
        <p:spPr>
          <a:xfrm>
            <a:off x="8863330" y="4443730"/>
            <a:ext cx="0" cy="56324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9" name="Straight Connector 38"/>
          <p:cNvCxnSpPr/>
          <p:nvPr/>
        </p:nvCxnSpPr>
        <p:spPr>
          <a:xfrm>
            <a:off x="9112885" y="4175760"/>
            <a:ext cx="0" cy="83121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40" name="Straight Connector 39"/>
          <p:cNvCxnSpPr/>
          <p:nvPr/>
        </p:nvCxnSpPr>
        <p:spPr>
          <a:xfrm>
            <a:off x="6492240" y="2219960"/>
            <a:ext cx="0" cy="274320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41" name="Straight Connector 40"/>
          <p:cNvCxnSpPr/>
          <p:nvPr/>
        </p:nvCxnSpPr>
        <p:spPr>
          <a:xfrm flipH="1">
            <a:off x="6490970" y="4970145"/>
            <a:ext cx="312737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42" name="Text Box 41"/>
          <p:cNvSpPr txBox="1"/>
          <p:nvPr/>
        </p:nvSpPr>
        <p:spPr>
          <a:xfrm>
            <a:off x="5340985" y="2219960"/>
            <a:ext cx="1130300" cy="429895"/>
          </a:xfrm>
          <a:prstGeom prst="rect">
            <a:avLst/>
          </a:prstGeom>
          <a:noFill/>
        </p:spPr>
        <p:txBody>
          <a:bodyPr wrap="square" rtlCol="0">
            <a:noAutofit/>
          </a:bodyPr>
          <a:p>
            <a:pPr algn="r"/>
            <a:r>
              <a:rPr lang="zh-CN" altLang="en-US" sz="2200">
                <a:latin typeface="Alibaba PuHuiTi 3.0 55 Regular" panose="00020600040101010101" charset="-122"/>
                <a:ea typeface="Alibaba PuHuiTi 3.0 55 Regular" panose="00020600040101010101" charset="-122"/>
              </a:rPr>
              <a:t>量化值</a:t>
            </a:r>
            <a:endParaRPr lang="zh-CN" altLang="en-US" sz="2200">
              <a:latin typeface="Alibaba PuHuiTi 3.0 55 Regular" panose="00020600040101010101" charset="-122"/>
              <a:ea typeface="Alibaba PuHuiTi 3.0 55 Regular" panose="00020600040101010101" charset="-122"/>
            </a:endParaRPr>
          </a:p>
        </p:txBody>
      </p:sp>
      <p:sp>
        <p:nvSpPr>
          <p:cNvPr id="43" name="Text Box 42"/>
          <p:cNvSpPr txBox="1"/>
          <p:nvPr/>
        </p:nvSpPr>
        <p:spPr>
          <a:xfrm>
            <a:off x="9355455" y="5041265"/>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44" name="Freeform 43"/>
          <p:cNvSpPr/>
          <p:nvPr/>
        </p:nvSpPr>
        <p:spPr>
          <a:xfrm>
            <a:off x="6707505" y="2950845"/>
            <a:ext cx="2518410" cy="1645285"/>
          </a:xfrm>
          <a:custGeom>
            <a:avLst/>
            <a:gdLst>
              <a:gd name="connisteX0" fmla="*/ 0 w 2518410"/>
              <a:gd name="connsiteY0" fmla="*/ 1645002 h 1645002"/>
              <a:gd name="connisteX1" fmla="*/ 25400 w 2518410"/>
              <a:gd name="connsiteY1" fmla="*/ 1519907 h 1645002"/>
              <a:gd name="connisteX2" fmla="*/ 142240 w 2518410"/>
              <a:gd name="connsiteY2" fmla="*/ 1328137 h 1645002"/>
              <a:gd name="connisteX3" fmla="*/ 225425 w 2518410"/>
              <a:gd name="connsiteY3" fmla="*/ 1178277 h 1645002"/>
              <a:gd name="connisteX4" fmla="*/ 275590 w 2518410"/>
              <a:gd name="connsiteY4" fmla="*/ 1077947 h 1645002"/>
              <a:gd name="connisteX5" fmla="*/ 325120 w 2518410"/>
              <a:gd name="connsiteY5" fmla="*/ 978252 h 1645002"/>
              <a:gd name="connisteX6" fmla="*/ 358775 w 2518410"/>
              <a:gd name="connsiteY6" fmla="*/ 877922 h 1645002"/>
              <a:gd name="connisteX7" fmla="*/ 383540 w 2518410"/>
              <a:gd name="connsiteY7" fmla="*/ 811247 h 1645002"/>
              <a:gd name="connisteX8" fmla="*/ 400685 w 2518410"/>
              <a:gd name="connsiteY8" fmla="*/ 728062 h 1645002"/>
              <a:gd name="connisteX9" fmla="*/ 441960 w 2518410"/>
              <a:gd name="connsiteY9" fmla="*/ 611222 h 1645002"/>
              <a:gd name="connisteX10" fmla="*/ 459105 w 2518410"/>
              <a:gd name="connsiteY10" fmla="*/ 544547 h 1645002"/>
              <a:gd name="connisteX11" fmla="*/ 492125 w 2518410"/>
              <a:gd name="connsiteY11" fmla="*/ 419452 h 1645002"/>
              <a:gd name="connisteX12" fmla="*/ 525780 w 2518410"/>
              <a:gd name="connsiteY12" fmla="*/ 310867 h 1645002"/>
              <a:gd name="connisteX13" fmla="*/ 550545 w 2518410"/>
              <a:gd name="connsiteY13" fmla="*/ 227682 h 1645002"/>
              <a:gd name="connisteX14" fmla="*/ 567055 w 2518410"/>
              <a:gd name="connsiteY14" fmla="*/ 161007 h 1645002"/>
              <a:gd name="connisteX15" fmla="*/ 584200 w 2518410"/>
              <a:gd name="connsiteY15" fmla="*/ 94332 h 1645002"/>
              <a:gd name="connisteX16" fmla="*/ 625475 w 2518410"/>
              <a:gd name="connsiteY16" fmla="*/ 27657 h 1645002"/>
              <a:gd name="connisteX17" fmla="*/ 692150 w 2518410"/>
              <a:gd name="connsiteY17" fmla="*/ 10512 h 1645002"/>
              <a:gd name="connisteX18" fmla="*/ 784225 w 2518410"/>
              <a:gd name="connsiteY18" fmla="*/ 2257 h 1645002"/>
              <a:gd name="connisteX19" fmla="*/ 859155 w 2518410"/>
              <a:gd name="connsiteY19" fmla="*/ 2257 h 1645002"/>
              <a:gd name="connisteX20" fmla="*/ 925830 w 2518410"/>
              <a:gd name="connsiteY20" fmla="*/ 2257 h 1645002"/>
              <a:gd name="connisteX21" fmla="*/ 1000760 w 2518410"/>
              <a:gd name="connsiteY21" fmla="*/ 27657 h 1645002"/>
              <a:gd name="connisteX22" fmla="*/ 1067435 w 2518410"/>
              <a:gd name="connsiteY22" fmla="*/ 77187 h 1645002"/>
              <a:gd name="connisteX23" fmla="*/ 1125855 w 2518410"/>
              <a:gd name="connsiteY23" fmla="*/ 152752 h 1645002"/>
              <a:gd name="connisteX24" fmla="*/ 1176020 w 2518410"/>
              <a:gd name="connsiteY24" fmla="*/ 235937 h 1645002"/>
              <a:gd name="connisteX25" fmla="*/ 1217930 w 2518410"/>
              <a:gd name="connsiteY25" fmla="*/ 302612 h 1645002"/>
              <a:gd name="connisteX26" fmla="*/ 1242695 w 2518410"/>
              <a:gd name="connsiteY26" fmla="*/ 369287 h 1645002"/>
              <a:gd name="connisteX27" fmla="*/ 1276350 w 2518410"/>
              <a:gd name="connsiteY27" fmla="*/ 435962 h 1645002"/>
              <a:gd name="connisteX28" fmla="*/ 1309370 w 2518410"/>
              <a:gd name="connsiteY28" fmla="*/ 502637 h 1645002"/>
              <a:gd name="connisteX29" fmla="*/ 1351280 w 2518410"/>
              <a:gd name="connsiteY29" fmla="*/ 594712 h 1645002"/>
              <a:gd name="connisteX30" fmla="*/ 1384300 w 2518410"/>
              <a:gd name="connsiteY30" fmla="*/ 686152 h 1645002"/>
              <a:gd name="connisteX31" fmla="*/ 1417955 w 2518410"/>
              <a:gd name="connsiteY31" fmla="*/ 769972 h 1645002"/>
              <a:gd name="connisteX32" fmla="*/ 1450975 w 2518410"/>
              <a:gd name="connsiteY32" fmla="*/ 844902 h 1645002"/>
              <a:gd name="connisteX33" fmla="*/ 1476375 w 2518410"/>
              <a:gd name="connsiteY33" fmla="*/ 911577 h 1645002"/>
              <a:gd name="connisteX34" fmla="*/ 1501140 w 2518410"/>
              <a:gd name="connsiteY34" fmla="*/ 1003017 h 1645002"/>
              <a:gd name="connisteX35" fmla="*/ 1526540 w 2518410"/>
              <a:gd name="connsiteY35" fmla="*/ 1077947 h 1645002"/>
              <a:gd name="connisteX36" fmla="*/ 1551305 w 2518410"/>
              <a:gd name="connsiteY36" fmla="*/ 1153512 h 1645002"/>
              <a:gd name="connisteX37" fmla="*/ 1601470 w 2518410"/>
              <a:gd name="connsiteY37" fmla="*/ 1220187 h 1645002"/>
              <a:gd name="connisteX38" fmla="*/ 1676400 w 2518410"/>
              <a:gd name="connsiteY38" fmla="*/ 1269717 h 1645002"/>
              <a:gd name="connisteX39" fmla="*/ 1743075 w 2518410"/>
              <a:gd name="connsiteY39" fmla="*/ 1319882 h 1645002"/>
              <a:gd name="connisteX40" fmla="*/ 1809750 w 2518410"/>
              <a:gd name="connsiteY40" fmla="*/ 1353537 h 1645002"/>
              <a:gd name="connisteX41" fmla="*/ 1876425 w 2518410"/>
              <a:gd name="connsiteY41" fmla="*/ 1386557 h 1645002"/>
              <a:gd name="connisteX42" fmla="*/ 1951355 w 2518410"/>
              <a:gd name="connsiteY42" fmla="*/ 1411957 h 1645002"/>
              <a:gd name="connisteX43" fmla="*/ 2035175 w 2518410"/>
              <a:gd name="connsiteY43" fmla="*/ 1436722 h 1645002"/>
              <a:gd name="connisteX44" fmla="*/ 2110105 w 2518410"/>
              <a:gd name="connsiteY44" fmla="*/ 1453232 h 1645002"/>
              <a:gd name="connisteX45" fmla="*/ 2185035 w 2518410"/>
              <a:gd name="connsiteY45" fmla="*/ 1453232 h 1645002"/>
              <a:gd name="connisteX46" fmla="*/ 2251710 w 2518410"/>
              <a:gd name="connsiteY46" fmla="*/ 1444977 h 1645002"/>
              <a:gd name="connisteX47" fmla="*/ 2301875 w 2518410"/>
              <a:gd name="connsiteY47" fmla="*/ 1378302 h 1645002"/>
              <a:gd name="connisteX48" fmla="*/ 2343785 w 2518410"/>
              <a:gd name="connsiteY48" fmla="*/ 1311627 h 1645002"/>
              <a:gd name="connisteX49" fmla="*/ 2368550 w 2518410"/>
              <a:gd name="connsiteY49" fmla="*/ 1236697 h 1645002"/>
              <a:gd name="connisteX50" fmla="*/ 2402205 w 2518410"/>
              <a:gd name="connsiteY50" fmla="*/ 1161767 h 1645002"/>
              <a:gd name="connisteX51" fmla="*/ 2426970 w 2518410"/>
              <a:gd name="connsiteY51" fmla="*/ 1086837 h 1645002"/>
              <a:gd name="connisteX52" fmla="*/ 2468880 w 2518410"/>
              <a:gd name="connsiteY52" fmla="*/ 1019527 h 1645002"/>
              <a:gd name="connisteX53" fmla="*/ 2518410 w 2518410"/>
              <a:gd name="connsiteY53" fmla="*/ 944597 h 164500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Lst>
            <a:rect l="l" t="t" r="r" b="b"/>
            <a:pathLst>
              <a:path w="2518410" h="1645003">
                <a:moveTo>
                  <a:pt x="0" y="1645003"/>
                </a:moveTo>
                <a:cubicBezTo>
                  <a:pt x="2540" y="1624048"/>
                  <a:pt x="-3175" y="1583408"/>
                  <a:pt x="25400" y="1519908"/>
                </a:cubicBezTo>
                <a:cubicBezTo>
                  <a:pt x="53975" y="1456408"/>
                  <a:pt x="102235" y="1396718"/>
                  <a:pt x="142240" y="1328138"/>
                </a:cubicBezTo>
                <a:cubicBezTo>
                  <a:pt x="182245" y="1259558"/>
                  <a:pt x="198755" y="1228443"/>
                  <a:pt x="225425" y="1178278"/>
                </a:cubicBezTo>
                <a:cubicBezTo>
                  <a:pt x="252095" y="1128113"/>
                  <a:pt x="255905" y="1117953"/>
                  <a:pt x="275590" y="1077948"/>
                </a:cubicBezTo>
                <a:cubicBezTo>
                  <a:pt x="295275" y="1037943"/>
                  <a:pt x="308610" y="1018258"/>
                  <a:pt x="325120" y="978253"/>
                </a:cubicBezTo>
                <a:cubicBezTo>
                  <a:pt x="341630" y="938248"/>
                  <a:pt x="347345" y="911578"/>
                  <a:pt x="358775" y="877923"/>
                </a:cubicBezTo>
                <a:cubicBezTo>
                  <a:pt x="370205" y="844268"/>
                  <a:pt x="375285" y="841093"/>
                  <a:pt x="383540" y="811248"/>
                </a:cubicBezTo>
                <a:cubicBezTo>
                  <a:pt x="391795" y="781403"/>
                  <a:pt x="389255" y="768068"/>
                  <a:pt x="400685" y="728063"/>
                </a:cubicBezTo>
                <a:cubicBezTo>
                  <a:pt x="412115" y="688058"/>
                  <a:pt x="430530" y="648053"/>
                  <a:pt x="441960" y="611223"/>
                </a:cubicBezTo>
                <a:cubicBezTo>
                  <a:pt x="453390" y="574393"/>
                  <a:pt x="448945" y="582648"/>
                  <a:pt x="459105" y="544548"/>
                </a:cubicBezTo>
                <a:cubicBezTo>
                  <a:pt x="469265" y="506448"/>
                  <a:pt x="478790" y="466443"/>
                  <a:pt x="492125" y="419453"/>
                </a:cubicBezTo>
                <a:cubicBezTo>
                  <a:pt x="505460" y="372463"/>
                  <a:pt x="514350" y="348968"/>
                  <a:pt x="525780" y="310868"/>
                </a:cubicBezTo>
                <a:cubicBezTo>
                  <a:pt x="537210" y="272768"/>
                  <a:pt x="542290" y="257528"/>
                  <a:pt x="550545" y="227683"/>
                </a:cubicBezTo>
                <a:cubicBezTo>
                  <a:pt x="558800" y="197838"/>
                  <a:pt x="560070" y="187678"/>
                  <a:pt x="567055" y="161008"/>
                </a:cubicBezTo>
                <a:cubicBezTo>
                  <a:pt x="574040" y="134338"/>
                  <a:pt x="572770" y="121003"/>
                  <a:pt x="584200" y="94333"/>
                </a:cubicBezTo>
                <a:cubicBezTo>
                  <a:pt x="595630" y="67663"/>
                  <a:pt x="603885" y="44168"/>
                  <a:pt x="625475" y="27658"/>
                </a:cubicBezTo>
                <a:cubicBezTo>
                  <a:pt x="647065" y="11148"/>
                  <a:pt x="660400" y="15593"/>
                  <a:pt x="692150" y="10513"/>
                </a:cubicBezTo>
                <a:cubicBezTo>
                  <a:pt x="723900" y="5433"/>
                  <a:pt x="750570" y="4163"/>
                  <a:pt x="784225" y="2258"/>
                </a:cubicBezTo>
                <a:cubicBezTo>
                  <a:pt x="817880" y="353"/>
                  <a:pt x="830580" y="2258"/>
                  <a:pt x="859155" y="2258"/>
                </a:cubicBezTo>
                <a:cubicBezTo>
                  <a:pt x="887730" y="2258"/>
                  <a:pt x="897255" y="-2822"/>
                  <a:pt x="925830" y="2258"/>
                </a:cubicBezTo>
                <a:cubicBezTo>
                  <a:pt x="954405" y="7338"/>
                  <a:pt x="972185" y="12418"/>
                  <a:pt x="1000760" y="27658"/>
                </a:cubicBezTo>
                <a:cubicBezTo>
                  <a:pt x="1029335" y="42898"/>
                  <a:pt x="1042670" y="52423"/>
                  <a:pt x="1067435" y="77188"/>
                </a:cubicBezTo>
                <a:cubicBezTo>
                  <a:pt x="1092200" y="101953"/>
                  <a:pt x="1104265" y="121003"/>
                  <a:pt x="1125855" y="152753"/>
                </a:cubicBezTo>
                <a:cubicBezTo>
                  <a:pt x="1147445" y="184503"/>
                  <a:pt x="1157605" y="206093"/>
                  <a:pt x="1176020" y="235938"/>
                </a:cubicBezTo>
                <a:cubicBezTo>
                  <a:pt x="1194435" y="265783"/>
                  <a:pt x="1204595" y="275943"/>
                  <a:pt x="1217930" y="302613"/>
                </a:cubicBezTo>
                <a:cubicBezTo>
                  <a:pt x="1231265" y="329283"/>
                  <a:pt x="1231265" y="342618"/>
                  <a:pt x="1242695" y="369288"/>
                </a:cubicBezTo>
                <a:cubicBezTo>
                  <a:pt x="1254125" y="395958"/>
                  <a:pt x="1263015" y="409293"/>
                  <a:pt x="1276350" y="435963"/>
                </a:cubicBezTo>
                <a:cubicBezTo>
                  <a:pt x="1289685" y="462633"/>
                  <a:pt x="1294130" y="470888"/>
                  <a:pt x="1309370" y="502638"/>
                </a:cubicBezTo>
                <a:cubicBezTo>
                  <a:pt x="1324610" y="534388"/>
                  <a:pt x="1336040" y="557883"/>
                  <a:pt x="1351280" y="594713"/>
                </a:cubicBezTo>
                <a:cubicBezTo>
                  <a:pt x="1366520" y="631543"/>
                  <a:pt x="1370965" y="651228"/>
                  <a:pt x="1384300" y="686153"/>
                </a:cubicBezTo>
                <a:cubicBezTo>
                  <a:pt x="1397635" y="721078"/>
                  <a:pt x="1404620" y="738223"/>
                  <a:pt x="1417955" y="769973"/>
                </a:cubicBezTo>
                <a:cubicBezTo>
                  <a:pt x="1431290" y="801723"/>
                  <a:pt x="1439545" y="816328"/>
                  <a:pt x="1450975" y="844903"/>
                </a:cubicBezTo>
                <a:cubicBezTo>
                  <a:pt x="1462405" y="873478"/>
                  <a:pt x="1466215" y="879828"/>
                  <a:pt x="1476375" y="911578"/>
                </a:cubicBezTo>
                <a:cubicBezTo>
                  <a:pt x="1486535" y="943328"/>
                  <a:pt x="1490980" y="969998"/>
                  <a:pt x="1501140" y="1003018"/>
                </a:cubicBezTo>
                <a:cubicBezTo>
                  <a:pt x="1511300" y="1036038"/>
                  <a:pt x="1516380" y="1048103"/>
                  <a:pt x="1526540" y="1077948"/>
                </a:cubicBezTo>
                <a:cubicBezTo>
                  <a:pt x="1536700" y="1107793"/>
                  <a:pt x="1536065" y="1124938"/>
                  <a:pt x="1551305" y="1153513"/>
                </a:cubicBezTo>
                <a:cubicBezTo>
                  <a:pt x="1566545" y="1182088"/>
                  <a:pt x="1576705" y="1196693"/>
                  <a:pt x="1601470" y="1220188"/>
                </a:cubicBezTo>
                <a:cubicBezTo>
                  <a:pt x="1626235" y="1243683"/>
                  <a:pt x="1647825" y="1250033"/>
                  <a:pt x="1676400" y="1269718"/>
                </a:cubicBezTo>
                <a:cubicBezTo>
                  <a:pt x="1704975" y="1289403"/>
                  <a:pt x="1716405" y="1303373"/>
                  <a:pt x="1743075" y="1319883"/>
                </a:cubicBezTo>
                <a:cubicBezTo>
                  <a:pt x="1769745" y="1336393"/>
                  <a:pt x="1783080" y="1340203"/>
                  <a:pt x="1809750" y="1353538"/>
                </a:cubicBezTo>
                <a:cubicBezTo>
                  <a:pt x="1836420" y="1366873"/>
                  <a:pt x="1847850" y="1375128"/>
                  <a:pt x="1876425" y="1386558"/>
                </a:cubicBezTo>
                <a:cubicBezTo>
                  <a:pt x="1905000" y="1397988"/>
                  <a:pt x="1919605" y="1401798"/>
                  <a:pt x="1951355" y="1411958"/>
                </a:cubicBezTo>
                <a:cubicBezTo>
                  <a:pt x="1983105" y="1422118"/>
                  <a:pt x="2003425" y="1428468"/>
                  <a:pt x="2035175" y="1436723"/>
                </a:cubicBezTo>
                <a:cubicBezTo>
                  <a:pt x="2066925" y="1444978"/>
                  <a:pt x="2080260" y="1450058"/>
                  <a:pt x="2110105" y="1453233"/>
                </a:cubicBezTo>
                <a:cubicBezTo>
                  <a:pt x="2139950" y="1456408"/>
                  <a:pt x="2156460" y="1455138"/>
                  <a:pt x="2185035" y="1453233"/>
                </a:cubicBezTo>
                <a:cubicBezTo>
                  <a:pt x="2213610" y="1451328"/>
                  <a:pt x="2228215" y="1460218"/>
                  <a:pt x="2251710" y="1444978"/>
                </a:cubicBezTo>
                <a:cubicBezTo>
                  <a:pt x="2275205" y="1429738"/>
                  <a:pt x="2283460" y="1404973"/>
                  <a:pt x="2301875" y="1378303"/>
                </a:cubicBezTo>
                <a:cubicBezTo>
                  <a:pt x="2320290" y="1351633"/>
                  <a:pt x="2330450" y="1340203"/>
                  <a:pt x="2343785" y="1311628"/>
                </a:cubicBezTo>
                <a:cubicBezTo>
                  <a:pt x="2357120" y="1283053"/>
                  <a:pt x="2357120" y="1266543"/>
                  <a:pt x="2368550" y="1236698"/>
                </a:cubicBezTo>
                <a:cubicBezTo>
                  <a:pt x="2379980" y="1206853"/>
                  <a:pt x="2390775" y="1191613"/>
                  <a:pt x="2402205" y="1161768"/>
                </a:cubicBezTo>
                <a:cubicBezTo>
                  <a:pt x="2413635" y="1131923"/>
                  <a:pt x="2413635" y="1115413"/>
                  <a:pt x="2426970" y="1086838"/>
                </a:cubicBezTo>
                <a:cubicBezTo>
                  <a:pt x="2440305" y="1058263"/>
                  <a:pt x="2450465" y="1048103"/>
                  <a:pt x="2468880" y="1019528"/>
                </a:cubicBezTo>
                <a:cubicBezTo>
                  <a:pt x="2487295" y="990953"/>
                  <a:pt x="2509520" y="957933"/>
                  <a:pt x="2518410" y="944598"/>
                </a:cubicBezTo>
              </a:path>
            </a:pathLst>
          </a:custGeom>
          <a:noFill/>
          <a:ln w="38100">
            <a:solidFill>
              <a:schemeClr val="tx1"/>
            </a:solidFill>
          </a:ln>
        </p:spPr>
        <p:txBody>
          <a:bodyPr vert="horz" lIns="90000" tIns="46800" rIns="90000" bIns="46800" rtlCol="0" anchor="ctr" anchorCtr="0">
            <a:noAutofit/>
          </a:bodyPr>
          <a:p>
            <a:endParaRPr lang="zh-CN" altLang="en-US" sz="2445">
              <a:solidFill>
                <a:schemeClr val="tx1"/>
              </a:solidFill>
            </a:endParaRPr>
          </a:p>
        </p:txBody>
      </p:sp>
      <p:sp>
        <p:nvSpPr>
          <p:cNvPr id="46" name="Text Box 45"/>
          <p:cNvSpPr txBox="1"/>
          <p:nvPr/>
        </p:nvSpPr>
        <p:spPr>
          <a:xfrm>
            <a:off x="6649085" y="5041265"/>
            <a:ext cx="296926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47" name="Text Box 46"/>
          <p:cNvSpPr txBox="1"/>
          <p:nvPr/>
        </p:nvSpPr>
        <p:spPr>
          <a:xfrm>
            <a:off x="6414135" y="4089400"/>
            <a:ext cx="52641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010</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49" name="Oval 48"/>
          <p:cNvSpPr/>
          <p:nvPr/>
        </p:nvSpPr>
        <p:spPr>
          <a:xfrm>
            <a:off x="7309485" y="293433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0" name="Oval 49"/>
          <p:cNvSpPr/>
          <p:nvPr/>
        </p:nvSpPr>
        <p:spPr>
          <a:xfrm>
            <a:off x="8085455" y="367919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3" name="Oval 52"/>
          <p:cNvSpPr/>
          <p:nvPr/>
        </p:nvSpPr>
        <p:spPr>
          <a:xfrm>
            <a:off x="8583295" y="429704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7" name="Oval 56"/>
          <p:cNvSpPr/>
          <p:nvPr/>
        </p:nvSpPr>
        <p:spPr>
          <a:xfrm>
            <a:off x="9066530" y="40792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9" name="Text Box 58"/>
          <p:cNvSpPr txBox="1"/>
          <p:nvPr/>
        </p:nvSpPr>
        <p:spPr>
          <a:xfrm>
            <a:off x="7868285" y="2988945"/>
            <a:ext cx="59753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110</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60" name="Text Box 59"/>
          <p:cNvSpPr txBox="1"/>
          <p:nvPr/>
        </p:nvSpPr>
        <p:spPr>
          <a:xfrm>
            <a:off x="8199755" y="3867785"/>
            <a:ext cx="49974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010</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61" name="Text Box 60"/>
          <p:cNvSpPr txBox="1"/>
          <p:nvPr/>
        </p:nvSpPr>
        <p:spPr>
          <a:xfrm>
            <a:off x="8360410" y="4003040"/>
            <a:ext cx="49911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010</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62" name="Straight Connector 61"/>
          <p:cNvCxnSpPr>
            <a:endCxn id="68" idx="3"/>
          </p:cNvCxnSpPr>
          <p:nvPr/>
        </p:nvCxnSpPr>
        <p:spPr>
          <a:xfrm flipV="1">
            <a:off x="6866890" y="3752215"/>
            <a:ext cx="199390" cy="52070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63" name="Straight Connector 62"/>
          <p:cNvCxnSpPr>
            <a:stCxn id="44" idx="8"/>
          </p:cNvCxnSpPr>
          <p:nvPr/>
        </p:nvCxnSpPr>
        <p:spPr>
          <a:xfrm>
            <a:off x="7108190" y="3679190"/>
            <a:ext cx="8255" cy="13271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4" name="Straight Connector 63"/>
          <p:cNvCxnSpPr/>
          <p:nvPr/>
        </p:nvCxnSpPr>
        <p:spPr>
          <a:xfrm>
            <a:off x="7366000" y="2978150"/>
            <a:ext cx="0" cy="202819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5" name="Straight Connector 64"/>
          <p:cNvCxnSpPr/>
          <p:nvPr/>
        </p:nvCxnSpPr>
        <p:spPr>
          <a:xfrm>
            <a:off x="7615555" y="2973705"/>
            <a:ext cx="0" cy="203263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6" name="Straight Connector 65"/>
          <p:cNvCxnSpPr>
            <a:stCxn id="59" idx="1"/>
          </p:cNvCxnSpPr>
          <p:nvPr/>
        </p:nvCxnSpPr>
        <p:spPr>
          <a:xfrm flipH="1">
            <a:off x="7865110" y="3133090"/>
            <a:ext cx="3175" cy="18732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7" name="Straight Connector 66"/>
          <p:cNvCxnSpPr/>
          <p:nvPr/>
        </p:nvCxnSpPr>
        <p:spPr>
          <a:xfrm>
            <a:off x="8364220" y="4239260"/>
            <a:ext cx="0" cy="76708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68" name="Oval 67"/>
          <p:cNvSpPr/>
          <p:nvPr/>
        </p:nvSpPr>
        <p:spPr>
          <a:xfrm>
            <a:off x="7052310" y="366966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9" name="Oval 68"/>
          <p:cNvSpPr/>
          <p:nvPr/>
        </p:nvSpPr>
        <p:spPr>
          <a:xfrm>
            <a:off x="7567295" y="290385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0" name="Oval 69"/>
          <p:cNvSpPr/>
          <p:nvPr/>
        </p:nvSpPr>
        <p:spPr>
          <a:xfrm>
            <a:off x="7833360" y="308483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1" name="Oval 70"/>
          <p:cNvSpPr/>
          <p:nvPr/>
        </p:nvSpPr>
        <p:spPr>
          <a:xfrm>
            <a:off x="8313420" y="417576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2" name="Oval 71"/>
          <p:cNvSpPr/>
          <p:nvPr/>
        </p:nvSpPr>
        <p:spPr>
          <a:xfrm>
            <a:off x="8828405" y="43586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3" name="Text Box 72"/>
          <p:cNvSpPr txBox="1"/>
          <p:nvPr/>
        </p:nvSpPr>
        <p:spPr>
          <a:xfrm>
            <a:off x="6578600" y="3594735"/>
            <a:ext cx="49403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100</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4" name="Text Box 73"/>
          <p:cNvSpPr txBox="1"/>
          <p:nvPr/>
        </p:nvSpPr>
        <p:spPr>
          <a:xfrm>
            <a:off x="6915150" y="2648585"/>
            <a:ext cx="53467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111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5" name="Text Box 74"/>
          <p:cNvSpPr txBox="1"/>
          <p:nvPr/>
        </p:nvSpPr>
        <p:spPr>
          <a:xfrm>
            <a:off x="7478395" y="2646045"/>
            <a:ext cx="58483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111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6" name="Text Box 75"/>
          <p:cNvSpPr txBox="1"/>
          <p:nvPr/>
        </p:nvSpPr>
        <p:spPr>
          <a:xfrm>
            <a:off x="8063230" y="3416300"/>
            <a:ext cx="53530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100</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7" name="Text Box 76"/>
          <p:cNvSpPr txBox="1"/>
          <p:nvPr/>
        </p:nvSpPr>
        <p:spPr>
          <a:xfrm>
            <a:off x="8590915" y="4142740"/>
            <a:ext cx="53530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001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8" name="Text Box 77"/>
          <p:cNvSpPr txBox="1"/>
          <p:nvPr/>
        </p:nvSpPr>
        <p:spPr>
          <a:xfrm>
            <a:off x="8742680" y="3833495"/>
            <a:ext cx="50038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101</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94" name="Straight Connector 93"/>
          <p:cNvCxnSpPr>
            <a:endCxn id="49" idx="2"/>
          </p:cNvCxnSpPr>
          <p:nvPr/>
        </p:nvCxnSpPr>
        <p:spPr>
          <a:xfrm flipV="1">
            <a:off x="7116445" y="2982595"/>
            <a:ext cx="193040" cy="6965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6" name="Straight Connector 95"/>
          <p:cNvCxnSpPr/>
          <p:nvPr/>
        </p:nvCxnSpPr>
        <p:spPr>
          <a:xfrm flipV="1">
            <a:off x="7351395" y="2933700"/>
            <a:ext cx="238760" cy="349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7" name="Straight Connector 96"/>
          <p:cNvCxnSpPr>
            <a:stCxn id="69" idx="5"/>
            <a:endCxn id="70" idx="2"/>
          </p:cNvCxnSpPr>
          <p:nvPr/>
        </p:nvCxnSpPr>
        <p:spPr>
          <a:xfrm>
            <a:off x="7649845" y="2986405"/>
            <a:ext cx="183515" cy="14668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6" name="Straight Connector 105"/>
          <p:cNvCxnSpPr>
            <a:stCxn id="70" idx="4"/>
            <a:endCxn id="44" idx="31"/>
          </p:cNvCxnSpPr>
          <p:nvPr/>
        </p:nvCxnSpPr>
        <p:spPr>
          <a:xfrm>
            <a:off x="7881620" y="3181350"/>
            <a:ext cx="243840" cy="5397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7" name="Straight Connector 106"/>
          <p:cNvCxnSpPr>
            <a:stCxn id="50" idx="5"/>
            <a:endCxn id="71" idx="1"/>
          </p:cNvCxnSpPr>
          <p:nvPr/>
        </p:nvCxnSpPr>
        <p:spPr>
          <a:xfrm>
            <a:off x="8168005" y="3761740"/>
            <a:ext cx="159385" cy="4279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8" name="Straight Connector 107"/>
          <p:cNvCxnSpPr>
            <a:stCxn id="71" idx="5"/>
            <a:endCxn id="53" idx="2"/>
          </p:cNvCxnSpPr>
          <p:nvPr/>
        </p:nvCxnSpPr>
        <p:spPr>
          <a:xfrm>
            <a:off x="8395970" y="4258310"/>
            <a:ext cx="187325" cy="869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9" name="Straight Connector 108"/>
          <p:cNvCxnSpPr>
            <a:stCxn id="53" idx="5"/>
            <a:endCxn id="77" idx="2"/>
          </p:cNvCxnSpPr>
          <p:nvPr/>
        </p:nvCxnSpPr>
        <p:spPr>
          <a:xfrm>
            <a:off x="8665845" y="4379595"/>
            <a:ext cx="193040" cy="5080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0" name="Straight Connector 109"/>
          <p:cNvCxnSpPr>
            <a:stCxn id="72" idx="5"/>
            <a:endCxn id="57" idx="2"/>
          </p:cNvCxnSpPr>
          <p:nvPr/>
        </p:nvCxnSpPr>
        <p:spPr>
          <a:xfrm flipV="1">
            <a:off x="8910955" y="4127500"/>
            <a:ext cx="155575" cy="3136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1" name="Straight Connector 110"/>
          <p:cNvCxnSpPr/>
          <p:nvPr/>
        </p:nvCxnSpPr>
        <p:spPr>
          <a:xfrm>
            <a:off x="6508750" y="355092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2" name="Straight Connector 111"/>
          <p:cNvCxnSpPr/>
          <p:nvPr/>
        </p:nvCxnSpPr>
        <p:spPr>
          <a:xfrm>
            <a:off x="6508750" y="298323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3" name="Straight Connector 112"/>
          <p:cNvCxnSpPr/>
          <p:nvPr/>
        </p:nvCxnSpPr>
        <p:spPr>
          <a:xfrm>
            <a:off x="6508750" y="3267075"/>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114" name="Text Box 113"/>
          <p:cNvSpPr txBox="1"/>
          <p:nvPr/>
        </p:nvSpPr>
        <p:spPr>
          <a:xfrm>
            <a:off x="5612130" y="3905250"/>
            <a:ext cx="749935" cy="425450"/>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011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5" name="Text Box 114"/>
          <p:cNvSpPr txBox="1"/>
          <p:nvPr/>
        </p:nvSpPr>
        <p:spPr>
          <a:xfrm>
            <a:off x="5612130" y="4194175"/>
            <a:ext cx="74993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010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6" name="Text Box 115"/>
          <p:cNvSpPr txBox="1"/>
          <p:nvPr/>
        </p:nvSpPr>
        <p:spPr>
          <a:xfrm>
            <a:off x="5612130" y="4469765"/>
            <a:ext cx="74993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001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7" name="Text Box 116"/>
          <p:cNvSpPr txBox="1"/>
          <p:nvPr/>
        </p:nvSpPr>
        <p:spPr>
          <a:xfrm>
            <a:off x="5611495" y="4709795"/>
            <a:ext cx="750570"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000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8" name="Text Box 117"/>
          <p:cNvSpPr txBox="1"/>
          <p:nvPr/>
        </p:nvSpPr>
        <p:spPr>
          <a:xfrm>
            <a:off x="6681470" y="5603240"/>
            <a:ext cx="1937385"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量化等级为</a:t>
            </a:r>
            <a:r>
              <a:rPr lang="en-US" altLang="zh-CN" sz="2200">
                <a:latin typeface="Alibaba PuHuiTi 3.0 55 Regular" panose="00020600040101010101" charset="-122"/>
                <a:ea typeface="Alibaba PuHuiTi 3.0 55 Regular" panose="00020600040101010101" charset="-122"/>
              </a:rPr>
              <a:t>8</a:t>
            </a:r>
            <a:endParaRPr lang="en-US" altLang="zh-CN" sz="2200">
              <a:latin typeface="Alibaba PuHuiTi 3.0 55 Regular" panose="00020600040101010101" charset="-122"/>
              <a:ea typeface="Alibaba PuHuiTi 3.0 55 Regular" panose="00020600040101010101" charset="-122"/>
            </a:endParaRPr>
          </a:p>
        </p:txBody>
      </p:sp>
      <p:cxnSp>
        <p:nvCxnSpPr>
          <p:cNvPr id="119" name="Straight Connector 118"/>
          <p:cNvCxnSpPr/>
          <p:nvPr/>
        </p:nvCxnSpPr>
        <p:spPr>
          <a:xfrm>
            <a:off x="6508750" y="3834765"/>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0" name="Straight Connector 119"/>
          <p:cNvCxnSpPr/>
          <p:nvPr/>
        </p:nvCxnSpPr>
        <p:spPr>
          <a:xfrm>
            <a:off x="6508750" y="411861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1" name="Straight Connector 120"/>
          <p:cNvCxnSpPr/>
          <p:nvPr/>
        </p:nvCxnSpPr>
        <p:spPr>
          <a:xfrm>
            <a:off x="6508750" y="4379595"/>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2" name="Straight Connector 121"/>
          <p:cNvCxnSpPr/>
          <p:nvPr/>
        </p:nvCxnSpPr>
        <p:spPr>
          <a:xfrm>
            <a:off x="6508750" y="468630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131" name="Text Box 130"/>
          <p:cNvSpPr txBox="1"/>
          <p:nvPr/>
        </p:nvSpPr>
        <p:spPr>
          <a:xfrm>
            <a:off x="5612765" y="2819400"/>
            <a:ext cx="750570" cy="425450"/>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111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2" name="Text Box 131"/>
          <p:cNvSpPr txBox="1"/>
          <p:nvPr/>
        </p:nvSpPr>
        <p:spPr>
          <a:xfrm>
            <a:off x="5613400" y="3108325"/>
            <a:ext cx="74993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110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3" name="Text Box 132"/>
          <p:cNvSpPr txBox="1"/>
          <p:nvPr/>
        </p:nvSpPr>
        <p:spPr>
          <a:xfrm>
            <a:off x="5613400" y="3383915"/>
            <a:ext cx="74993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101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4" name="Text Box 133"/>
          <p:cNvSpPr txBox="1"/>
          <p:nvPr/>
        </p:nvSpPr>
        <p:spPr>
          <a:xfrm>
            <a:off x="5612765" y="3623945"/>
            <a:ext cx="750570"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100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26" name="Text Box 125"/>
          <p:cNvSpPr txBox="1"/>
          <p:nvPr/>
        </p:nvSpPr>
        <p:spPr>
          <a:xfrm>
            <a:off x="513080" y="5139690"/>
            <a:ext cx="1300480" cy="429895"/>
          </a:xfrm>
          <a:prstGeom prst="rect">
            <a:avLst/>
          </a:prstGeom>
          <a:noFill/>
        </p:spPr>
        <p:txBody>
          <a:bodyPr wrap="square" rtlCol="0">
            <a:noAutofit/>
          </a:bodyPr>
          <a:p>
            <a:pPr algn="l"/>
            <a:r>
              <a:rPr lang="en-US" altLang="zh-CN" sz="1400" b="1">
                <a:solidFill>
                  <a:srgbClr val="00B0F0"/>
                </a:solidFill>
                <a:latin typeface="Alibaba PuHuiTi 3.0 85 Bold" panose="00020600040101010101" charset="-122"/>
                <a:ea typeface="Alibaba PuHuiTi 3.0 85 Bold" panose="00020600040101010101" charset="-122"/>
                <a:cs typeface="Alibaba PuHuiTi 3.0 85 Bold" panose="00020600040101010101" charset="-122"/>
              </a:rPr>
              <a:t>2</a:t>
            </a:r>
            <a:r>
              <a:rPr lang="zh-CN" altLang="en-US" sz="1400" b="1">
                <a:solidFill>
                  <a:srgbClr val="00B0F0"/>
                </a:solidFill>
                <a:latin typeface="Alibaba PuHuiTi 3.0 85 Bold" panose="00020600040101010101" charset="-122"/>
                <a:ea typeface="Alibaba PuHuiTi 3.0 85 Bold" panose="00020600040101010101" charset="-122"/>
                <a:cs typeface="Alibaba PuHuiTi 3.0 85 Bold" panose="00020600040101010101" charset="-122"/>
              </a:rPr>
              <a:t>位二进制数</a:t>
            </a:r>
            <a:endParaRPr lang="zh-CN" altLang="en-US" sz="1400" b="1">
              <a:solidFill>
                <a:srgbClr val="00B0F0"/>
              </a:solidFill>
              <a:latin typeface="Alibaba PuHuiTi 3.0 85 Bold" panose="00020600040101010101" charset="-122"/>
              <a:ea typeface="Alibaba PuHuiTi 3.0 85 Bold" panose="00020600040101010101" charset="-122"/>
              <a:cs typeface="Alibaba PuHuiTi 3.0 85 Bold" panose="00020600040101010101" charset="-122"/>
            </a:endParaRPr>
          </a:p>
          <a:p>
            <a:pPr algn="l"/>
            <a:r>
              <a:rPr lang="en-US" altLang="zh-CN" sz="14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rPr>
              <a:t>4 = 2</a:t>
            </a:r>
            <a:r>
              <a:rPr lang="en-US" altLang="zh-CN" sz="1400" b="1" baseline="30000">
                <a:solidFill>
                  <a:srgbClr val="00B0F0"/>
                </a:solidFill>
                <a:latin typeface="Alibaba PuHuiTi 3.0 85 Bold" panose="00020600040101010101" charset="-122"/>
                <a:ea typeface="Alibaba PuHuiTi 3.0 85 Bold" panose="00020600040101010101" charset="-122"/>
                <a:cs typeface="Alibaba PuHuiTi 3.0 85 Bold" panose="00020600040101010101" charset="-122"/>
              </a:rPr>
              <a:t>2</a:t>
            </a:r>
            <a:endParaRPr lang="en-US" altLang="zh-CN" sz="1400" b="1" baseline="30000">
              <a:solidFill>
                <a:srgbClr val="00B0F0"/>
              </a:solidFill>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127" name="Text Box 126"/>
          <p:cNvSpPr txBox="1"/>
          <p:nvPr/>
        </p:nvSpPr>
        <p:spPr>
          <a:xfrm>
            <a:off x="5407025" y="5139690"/>
            <a:ext cx="1300480" cy="429895"/>
          </a:xfrm>
          <a:prstGeom prst="rect">
            <a:avLst/>
          </a:prstGeom>
          <a:noFill/>
        </p:spPr>
        <p:txBody>
          <a:bodyPr wrap="square" rtlCol="0">
            <a:noAutofit/>
          </a:bodyPr>
          <a:p>
            <a:pPr algn="l"/>
            <a:r>
              <a:rPr lang="en-US" altLang="zh-CN" sz="1400" b="1">
                <a:solidFill>
                  <a:srgbClr val="00B0F0"/>
                </a:solidFill>
                <a:latin typeface="Alibaba PuHuiTi 3.0 85 Bold" panose="00020600040101010101" charset="-122"/>
                <a:ea typeface="Alibaba PuHuiTi 3.0 85 Bold" panose="00020600040101010101" charset="-122"/>
                <a:cs typeface="Alibaba PuHuiTi 3.0 85 Bold" panose="00020600040101010101" charset="-122"/>
              </a:rPr>
              <a:t>3</a:t>
            </a:r>
            <a:r>
              <a:rPr lang="zh-CN" altLang="en-US" sz="1400" b="1">
                <a:solidFill>
                  <a:srgbClr val="00B0F0"/>
                </a:solidFill>
                <a:latin typeface="Alibaba PuHuiTi 3.0 85 Bold" panose="00020600040101010101" charset="-122"/>
                <a:ea typeface="Alibaba PuHuiTi 3.0 85 Bold" panose="00020600040101010101" charset="-122"/>
                <a:cs typeface="Alibaba PuHuiTi 3.0 85 Bold" panose="00020600040101010101" charset="-122"/>
              </a:rPr>
              <a:t>位二进制数</a:t>
            </a:r>
            <a:endParaRPr lang="zh-CN" altLang="en-US" sz="1400" b="1">
              <a:solidFill>
                <a:srgbClr val="00B0F0"/>
              </a:solidFill>
              <a:latin typeface="Alibaba PuHuiTi 3.0 85 Bold" panose="00020600040101010101" charset="-122"/>
              <a:ea typeface="Alibaba PuHuiTi 3.0 85 Bold" panose="00020600040101010101" charset="-122"/>
              <a:cs typeface="Alibaba PuHuiTi 3.0 85 Bold" panose="00020600040101010101" charset="-122"/>
            </a:endParaRPr>
          </a:p>
          <a:p>
            <a:pPr algn="l"/>
            <a:r>
              <a:rPr lang="en-US" altLang="zh-CN" sz="14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rPr>
              <a:t>8 = 2</a:t>
            </a:r>
            <a:r>
              <a:rPr lang="en-US" altLang="zh-CN" sz="1400" b="1" baseline="30000">
                <a:solidFill>
                  <a:srgbClr val="00B0F0"/>
                </a:solidFill>
                <a:latin typeface="Alibaba PuHuiTi 3.0 85 Bold" panose="00020600040101010101" charset="-122"/>
                <a:ea typeface="Alibaba PuHuiTi 3.0 85 Bold" panose="00020600040101010101" charset="-122"/>
                <a:cs typeface="Alibaba PuHuiTi 3.0 85 Bold" panose="00020600040101010101" charset="-122"/>
              </a:rPr>
              <a:t>3</a:t>
            </a:r>
            <a:endParaRPr lang="en-US" altLang="zh-CN" sz="1400" b="1" baseline="30000">
              <a:solidFill>
                <a:srgbClr val="00B0F0"/>
              </a:solidFill>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10" name="Text Box 9"/>
          <p:cNvSpPr txBox="1"/>
          <p:nvPr/>
        </p:nvSpPr>
        <p:spPr>
          <a:xfrm>
            <a:off x="2762885" y="1741805"/>
            <a:ext cx="1002665" cy="429895"/>
          </a:xfrm>
          <a:prstGeom prst="rect">
            <a:avLst/>
          </a:prstGeom>
          <a:noFill/>
        </p:spPr>
        <p:txBody>
          <a:bodyPr wrap="square" rtlCol="0">
            <a:noAutofit/>
          </a:bodyPr>
          <a:p>
            <a:pPr algn="l"/>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思考</a:t>
            </a:r>
            <a:r>
              <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a:t>
            </a:r>
            <a:endPar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30" name="Text Box 29"/>
          <p:cNvSpPr txBox="1"/>
          <p:nvPr/>
        </p:nvSpPr>
        <p:spPr>
          <a:xfrm>
            <a:off x="3620135" y="1589405"/>
            <a:ext cx="4845050" cy="1083310"/>
          </a:xfrm>
          <a:prstGeom prst="rect">
            <a:avLst/>
          </a:prstGeom>
          <a:noFill/>
        </p:spPr>
        <p:txBody>
          <a:bodyPr wrap="square" rtlCol="0">
            <a:noAutofit/>
          </a:bodyPr>
          <a:p>
            <a:pPr>
              <a:lnSpc>
                <a:spcPct val="150000"/>
              </a:lnSpc>
            </a:pPr>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两种量化等级需要用几位二进制</a:t>
            </a:r>
            <a:r>
              <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a:t>
            </a:r>
            <a:endPar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endParaRPr>
          </a:p>
        </p:txBody>
      </p:sp>
      <p:pic>
        <p:nvPicPr>
          <p:cNvPr id="125" name="Picture 124" descr="思考"/>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2367915" y="1715135"/>
            <a:ext cx="456565" cy="456565"/>
          </a:xfrm>
          <a:prstGeom prst="rect">
            <a:avLst/>
          </a:prstGeom>
        </p:spPr>
      </p:pic>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500"/>
                                  </p:stCondLst>
                                  <p:childTnLst>
                                    <p:set>
                                      <p:cBhvr>
                                        <p:cTn id="10" dur="1" fill="hold">
                                          <p:stCondLst>
                                            <p:cond delay="0"/>
                                          </p:stCondLst>
                                        </p:cTn>
                                        <p:tgtEl>
                                          <p:spTgt spid="117"/>
                                        </p:tgtEl>
                                        <p:attrNameLst>
                                          <p:attrName>style.visibility</p:attrName>
                                        </p:attrNameLst>
                                      </p:cBhvr>
                                      <p:to>
                                        <p:strVal val="visible"/>
                                      </p:to>
                                    </p:set>
                                  </p:childTnLst>
                                </p:cTn>
                              </p:par>
                              <p:par>
                                <p:cTn id="11" presetID="1" presetClass="entr" presetSubtype="0" fill="hold" grpId="0" nodeType="withEffect">
                                  <p:stCondLst>
                                    <p:cond delay="500"/>
                                  </p:stCondLst>
                                  <p:childTnLst>
                                    <p:set>
                                      <p:cBhvr>
                                        <p:cTn id="12" dur="1" fill="hold">
                                          <p:stCondLst>
                                            <p:cond delay="0"/>
                                          </p:stCondLst>
                                        </p:cTn>
                                        <p:tgtEl>
                                          <p:spTgt spid="116"/>
                                        </p:tgtEl>
                                        <p:attrNameLst>
                                          <p:attrName>style.visibility</p:attrName>
                                        </p:attrNameLst>
                                      </p:cBhvr>
                                      <p:to>
                                        <p:strVal val="visible"/>
                                      </p:to>
                                    </p:set>
                                  </p:childTnLst>
                                </p:cTn>
                              </p:par>
                              <p:par>
                                <p:cTn id="13" presetID="1" presetClass="entr" presetSubtype="0" fill="hold" grpId="0" nodeType="withEffect">
                                  <p:stCondLst>
                                    <p:cond delay="500"/>
                                  </p:stCondLst>
                                  <p:childTnLst>
                                    <p:set>
                                      <p:cBhvr>
                                        <p:cTn id="14" dur="1" fill="hold">
                                          <p:stCondLst>
                                            <p:cond delay="0"/>
                                          </p:stCondLst>
                                        </p:cTn>
                                        <p:tgtEl>
                                          <p:spTgt spid="115"/>
                                        </p:tgtEl>
                                        <p:attrNameLst>
                                          <p:attrName>style.visibility</p:attrName>
                                        </p:attrNameLst>
                                      </p:cBhvr>
                                      <p:to>
                                        <p:strVal val="visible"/>
                                      </p:to>
                                    </p:set>
                                  </p:childTnLst>
                                </p:cTn>
                              </p:par>
                              <p:par>
                                <p:cTn id="15" presetID="1" presetClass="entr" presetSubtype="0" fill="hold" grpId="0" nodeType="withEffect">
                                  <p:stCondLst>
                                    <p:cond delay="500"/>
                                  </p:stCondLst>
                                  <p:childTnLst>
                                    <p:set>
                                      <p:cBhvr>
                                        <p:cTn id="16" dur="1" fill="hold">
                                          <p:stCondLst>
                                            <p:cond delay="0"/>
                                          </p:stCondLst>
                                        </p:cTn>
                                        <p:tgtEl>
                                          <p:spTgt spid="114"/>
                                        </p:tgtEl>
                                        <p:attrNameLst>
                                          <p:attrName>style.visibility</p:attrName>
                                        </p:attrNameLst>
                                      </p:cBhvr>
                                      <p:to>
                                        <p:strVal val="visible"/>
                                      </p:to>
                                    </p:set>
                                  </p:childTnLst>
                                </p:cTn>
                              </p:par>
                              <p:par>
                                <p:cTn id="17" presetID="1" presetClass="entr" presetSubtype="0" fill="hold" grpId="0" nodeType="withEffect">
                                  <p:stCondLst>
                                    <p:cond delay="500"/>
                                  </p:stCondLst>
                                  <p:childTnLst>
                                    <p:set>
                                      <p:cBhvr>
                                        <p:cTn id="18" dur="1" fill="hold">
                                          <p:stCondLst>
                                            <p:cond delay="0"/>
                                          </p:stCondLst>
                                        </p:cTn>
                                        <p:tgtEl>
                                          <p:spTgt spid="134"/>
                                        </p:tgtEl>
                                        <p:attrNameLst>
                                          <p:attrName>style.visibility</p:attrName>
                                        </p:attrNameLst>
                                      </p:cBhvr>
                                      <p:to>
                                        <p:strVal val="visible"/>
                                      </p:to>
                                    </p:set>
                                  </p:childTnLst>
                                </p:cTn>
                              </p:par>
                              <p:par>
                                <p:cTn id="19" presetID="1" presetClass="entr" presetSubtype="0" fill="hold" grpId="0" nodeType="withEffect">
                                  <p:stCondLst>
                                    <p:cond delay="500"/>
                                  </p:stCondLst>
                                  <p:childTnLst>
                                    <p:set>
                                      <p:cBhvr>
                                        <p:cTn id="20" dur="1" fill="hold">
                                          <p:stCondLst>
                                            <p:cond delay="0"/>
                                          </p:stCondLst>
                                        </p:cTn>
                                        <p:tgtEl>
                                          <p:spTgt spid="133"/>
                                        </p:tgtEl>
                                        <p:attrNameLst>
                                          <p:attrName>style.visibility</p:attrName>
                                        </p:attrNameLst>
                                      </p:cBhvr>
                                      <p:to>
                                        <p:strVal val="visible"/>
                                      </p:to>
                                    </p:set>
                                  </p:childTnLst>
                                </p:cTn>
                              </p:par>
                              <p:par>
                                <p:cTn id="21" presetID="1" presetClass="entr" presetSubtype="0" fill="hold" grpId="0" nodeType="withEffect">
                                  <p:stCondLst>
                                    <p:cond delay="500"/>
                                  </p:stCondLst>
                                  <p:childTnLst>
                                    <p:set>
                                      <p:cBhvr>
                                        <p:cTn id="22" dur="1" fill="hold">
                                          <p:stCondLst>
                                            <p:cond delay="0"/>
                                          </p:stCondLst>
                                        </p:cTn>
                                        <p:tgtEl>
                                          <p:spTgt spid="132"/>
                                        </p:tgtEl>
                                        <p:attrNameLst>
                                          <p:attrName>style.visibility</p:attrName>
                                        </p:attrNameLst>
                                      </p:cBhvr>
                                      <p:to>
                                        <p:strVal val="visible"/>
                                      </p:to>
                                    </p:set>
                                  </p:childTnLst>
                                </p:cTn>
                              </p:par>
                              <p:par>
                                <p:cTn id="23" presetID="1" presetClass="entr" presetSubtype="0" fill="hold" grpId="0" nodeType="withEffect">
                                  <p:stCondLst>
                                    <p:cond delay="500"/>
                                  </p:stCondLst>
                                  <p:childTnLst>
                                    <p:set>
                                      <p:cBhvr>
                                        <p:cTn id="24" dur="1" fill="hold">
                                          <p:stCondLst>
                                            <p:cond delay="0"/>
                                          </p:stCondLst>
                                        </p:cTn>
                                        <p:tgtEl>
                                          <p:spTgt spid="13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par>
                                <p:cTn id="29" presetID="1" presetClass="entr" presetSubtype="0" fill="hold" grpId="0" nodeType="withEffect">
                                  <p:stCondLst>
                                    <p:cond delay="500"/>
                                  </p:stCondLst>
                                  <p:childTnLst>
                                    <p:set>
                                      <p:cBhvr>
                                        <p:cTn id="30" dur="1" fill="hold">
                                          <p:stCondLst>
                                            <p:cond delay="0"/>
                                          </p:stCondLst>
                                        </p:cTn>
                                        <p:tgtEl>
                                          <p:spTgt spid="73"/>
                                        </p:tgtEl>
                                        <p:attrNameLst>
                                          <p:attrName>style.visibility</p:attrName>
                                        </p:attrNameLst>
                                      </p:cBhvr>
                                      <p:to>
                                        <p:strVal val="visible"/>
                                      </p:to>
                                    </p:set>
                                  </p:childTnLst>
                                </p:cTn>
                              </p:par>
                              <p:par>
                                <p:cTn id="31" presetID="1" presetClass="entr" presetSubtype="0" fill="hold" grpId="0" nodeType="withEffect">
                                  <p:stCondLst>
                                    <p:cond delay="500"/>
                                  </p:stCondLst>
                                  <p:childTnLst>
                                    <p:set>
                                      <p:cBhvr>
                                        <p:cTn id="32" dur="1" fill="hold">
                                          <p:stCondLst>
                                            <p:cond delay="0"/>
                                          </p:stCondLst>
                                        </p:cTn>
                                        <p:tgtEl>
                                          <p:spTgt spid="74"/>
                                        </p:tgtEl>
                                        <p:attrNameLst>
                                          <p:attrName>style.visibility</p:attrName>
                                        </p:attrNameLst>
                                      </p:cBhvr>
                                      <p:to>
                                        <p:strVal val="visible"/>
                                      </p:to>
                                    </p:set>
                                  </p:childTnLst>
                                </p:cTn>
                              </p:par>
                              <p:par>
                                <p:cTn id="33" presetID="1" presetClass="entr" presetSubtype="0" fill="hold" grpId="0" nodeType="withEffect">
                                  <p:stCondLst>
                                    <p:cond delay="500"/>
                                  </p:stCondLst>
                                  <p:childTnLst>
                                    <p:set>
                                      <p:cBhvr>
                                        <p:cTn id="34" dur="1" fill="hold">
                                          <p:stCondLst>
                                            <p:cond delay="0"/>
                                          </p:stCondLst>
                                        </p:cTn>
                                        <p:tgtEl>
                                          <p:spTgt spid="75"/>
                                        </p:tgtEl>
                                        <p:attrNameLst>
                                          <p:attrName>style.visibility</p:attrName>
                                        </p:attrNameLst>
                                      </p:cBhvr>
                                      <p:to>
                                        <p:strVal val="visible"/>
                                      </p:to>
                                    </p:set>
                                  </p:childTnLst>
                                </p:cTn>
                              </p:par>
                              <p:par>
                                <p:cTn id="35" presetID="1" presetClass="entr" presetSubtype="0" fill="hold" grpId="0" nodeType="withEffect">
                                  <p:stCondLst>
                                    <p:cond delay="500"/>
                                  </p:stCondLst>
                                  <p:childTnLst>
                                    <p:set>
                                      <p:cBhvr>
                                        <p:cTn id="36" dur="1" fill="hold">
                                          <p:stCondLst>
                                            <p:cond delay="0"/>
                                          </p:stCondLst>
                                        </p:cTn>
                                        <p:tgtEl>
                                          <p:spTgt spid="59"/>
                                        </p:tgtEl>
                                        <p:attrNameLst>
                                          <p:attrName>style.visibility</p:attrName>
                                        </p:attrNameLst>
                                      </p:cBhvr>
                                      <p:to>
                                        <p:strVal val="visible"/>
                                      </p:to>
                                    </p:set>
                                  </p:childTnLst>
                                </p:cTn>
                              </p:par>
                              <p:par>
                                <p:cTn id="37" presetID="1" presetClass="entr" presetSubtype="0" fill="hold" grpId="0" nodeType="withEffect">
                                  <p:stCondLst>
                                    <p:cond delay="500"/>
                                  </p:stCondLst>
                                  <p:childTnLst>
                                    <p:set>
                                      <p:cBhvr>
                                        <p:cTn id="38" dur="1" fill="hold">
                                          <p:stCondLst>
                                            <p:cond delay="0"/>
                                          </p:stCondLst>
                                        </p:cTn>
                                        <p:tgtEl>
                                          <p:spTgt spid="76"/>
                                        </p:tgtEl>
                                        <p:attrNameLst>
                                          <p:attrName>style.visibility</p:attrName>
                                        </p:attrNameLst>
                                      </p:cBhvr>
                                      <p:to>
                                        <p:strVal val="visible"/>
                                      </p:to>
                                    </p:set>
                                  </p:childTnLst>
                                </p:cTn>
                              </p:par>
                              <p:par>
                                <p:cTn id="39" presetID="1" presetClass="entr" presetSubtype="0" fill="hold" grpId="0" nodeType="withEffect">
                                  <p:stCondLst>
                                    <p:cond delay="500"/>
                                  </p:stCondLst>
                                  <p:childTnLst>
                                    <p:set>
                                      <p:cBhvr>
                                        <p:cTn id="40" dur="1" fill="hold">
                                          <p:stCondLst>
                                            <p:cond delay="0"/>
                                          </p:stCondLst>
                                        </p:cTn>
                                        <p:tgtEl>
                                          <p:spTgt spid="60"/>
                                        </p:tgtEl>
                                        <p:attrNameLst>
                                          <p:attrName>style.visibility</p:attrName>
                                        </p:attrNameLst>
                                      </p:cBhvr>
                                      <p:to>
                                        <p:strVal val="visible"/>
                                      </p:to>
                                    </p:set>
                                  </p:childTnLst>
                                </p:cTn>
                              </p:par>
                              <p:par>
                                <p:cTn id="41" presetID="1" presetClass="entr" presetSubtype="0" fill="hold" grpId="0" nodeType="withEffect">
                                  <p:stCondLst>
                                    <p:cond delay="500"/>
                                  </p:stCondLst>
                                  <p:childTnLst>
                                    <p:set>
                                      <p:cBhvr>
                                        <p:cTn id="42" dur="1" fill="hold">
                                          <p:stCondLst>
                                            <p:cond delay="0"/>
                                          </p:stCondLst>
                                        </p:cTn>
                                        <p:tgtEl>
                                          <p:spTgt spid="61"/>
                                        </p:tgtEl>
                                        <p:attrNameLst>
                                          <p:attrName>style.visibility</p:attrName>
                                        </p:attrNameLst>
                                      </p:cBhvr>
                                      <p:to>
                                        <p:strVal val="visible"/>
                                      </p:to>
                                    </p:set>
                                  </p:childTnLst>
                                </p:cTn>
                              </p:par>
                              <p:par>
                                <p:cTn id="43" presetID="1" presetClass="entr" presetSubtype="0" fill="hold" grpId="0" nodeType="withEffect">
                                  <p:stCondLst>
                                    <p:cond delay="500"/>
                                  </p:stCondLst>
                                  <p:childTnLst>
                                    <p:set>
                                      <p:cBhvr>
                                        <p:cTn id="44" dur="1" fill="hold">
                                          <p:stCondLst>
                                            <p:cond delay="0"/>
                                          </p:stCondLst>
                                        </p:cTn>
                                        <p:tgtEl>
                                          <p:spTgt spid="77"/>
                                        </p:tgtEl>
                                        <p:attrNameLst>
                                          <p:attrName>style.visibility</p:attrName>
                                        </p:attrNameLst>
                                      </p:cBhvr>
                                      <p:to>
                                        <p:strVal val="visible"/>
                                      </p:to>
                                    </p:set>
                                  </p:childTnLst>
                                </p:cTn>
                              </p:par>
                              <p:par>
                                <p:cTn id="45" presetID="1" presetClass="entr" presetSubtype="0" fill="hold" grpId="0" nodeType="withEffect">
                                  <p:stCondLst>
                                    <p:cond delay="500"/>
                                  </p:stCondLst>
                                  <p:childTnLst>
                                    <p:set>
                                      <p:cBhvr>
                                        <p:cTn id="46"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p:bldP spid="115" grpId="0"/>
      <p:bldP spid="116" grpId="0"/>
      <p:bldP spid="131" grpId="0"/>
      <p:bldP spid="132" grpId="0"/>
      <p:bldP spid="133" grpId="0"/>
      <p:bldP spid="134" grpId="0"/>
      <p:bldP spid="117" grpId="0"/>
      <p:bldP spid="47" grpId="0"/>
      <p:bldP spid="59" grpId="0"/>
      <p:bldP spid="60" grpId="0"/>
      <p:bldP spid="61" grpId="0"/>
      <p:bldP spid="73" grpId="0"/>
      <p:bldP spid="74" grpId="0"/>
      <p:bldP spid="75" grpId="0"/>
      <p:bldP spid="76" grpId="0"/>
      <p:bldP spid="77" grpId="0"/>
      <p:bldP spid="78" grpId="0"/>
      <p:bldP spid="12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 name="Text Box 122"/>
          <p:cNvSpPr txBox="1"/>
          <p:nvPr/>
        </p:nvSpPr>
        <p:spPr>
          <a:xfrm>
            <a:off x="2768600" y="1589405"/>
            <a:ext cx="5998845" cy="1083310"/>
          </a:xfrm>
          <a:prstGeom prst="rect">
            <a:avLst/>
          </a:prstGeom>
          <a:noFill/>
        </p:spPr>
        <p:txBody>
          <a:bodyPr wrap="square" rtlCol="0">
            <a:noAutofit/>
          </a:bodyPr>
          <a:p>
            <a:pPr indent="0">
              <a:lnSpc>
                <a:spcPct val="150000"/>
              </a:lnSpc>
              <a:buFont typeface="Arial" panose="020B0604020202090204" pitchFamily="34" charset="0"/>
              <a:buNone/>
            </a:pPr>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量化位数</a:t>
            </a:r>
            <a:r>
              <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a:t>
            </a:r>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表示量化值的二进制位数</a:t>
            </a:r>
            <a:r>
              <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a:t>
            </a:r>
            <a:endPar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2" name="Title 1"/>
          <p:cNvSpPr>
            <a:spLocks noGrp="1"/>
          </p:cNvSpPr>
          <p:nvPr>
            <p:ph type="title"/>
            <p:custDataLst>
              <p:tags r:id="rId1"/>
            </p:custDataLst>
          </p:nvPr>
        </p:nvSpPr>
        <p:spPr/>
        <p:txBody>
          <a:bodyPr>
            <a:normAutofit/>
          </a:bodyPr>
          <a:p>
            <a:r>
              <a:rPr lang="zh-CN" altLang="en-US"/>
              <a:t>怎样才能把声音（模拟信号</a:t>
            </a:r>
            <a:r>
              <a:rPr lang="en-US" altLang="zh-CN"/>
              <a:t>）</a:t>
            </a:r>
            <a:r>
              <a:rPr lang="zh-CN" altLang="en-US"/>
              <a:t>是转成数字信号</a:t>
            </a:r>
            <a:r>
              <a:rPr lang="en-US"/>
              <a:t>？</a:t>
            </a:r>
            <a:endParaRPr lang="en-US"/>
          </a:p>
        </p:txBody>
      </p:sp>
      <p:sp>
        <p:nvSpPr>
          <p:cNvPr id="14" name="Text Box 13"/>
          <p:cNvSpPr txBox="1"/>
          <p:nvPr/>
        </p:nvSpPr>
        <p:spPr>
          <a:xfrm>
            <a:off x="691515" y="1313815"/>
            <a:ext cx="254762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cs typeface="Alibaba PuHuiTi 3.0 55 Regular" panose="00020600040101010101" charset="-122"/>
              </a:rPr>
              <a:t>1. </a:t>
            </a:r>
            <a:r>
              <a:rPr lang="zh-CN" altLang="en-US" sz="2200">
                <a:latin typeface="Alibaba PuHuiTi 3.0 55 Regular" panose="00020600040101010101" charset="-122"/>
                <a:ea typeface="Alibaba PuHuiTi 3.0 55 Regular" panose="00020600040101010101" charset="-122"/>
                <a:cs typeface="Alibaba PuHuiTi 3.0 55 Regular" panose="00020600040101010101" charset="-122"/>
              </a:rPr>
              <a:t>采样</a:t>
            </a:r>
            <a:r>
              <a:rPr lang="en-US" altLang="zh-CN" sz="2200">
                <a:latin typeface="Alibaba PuHuiTi 3.0 55 Regular" panose="00020600040101010101" charset="-122"/>
                <a:ea typeface="Alibaba PuHuiTi 3.0 55 Regular" panose="00020600040101010101" charset="-122"/>
                <a:cs typeface="Alibaba PuHuiTi 3.0 55 Regular" panose="00020600040101010101" charset="-122"/>
              </a:rPr>
              <a:t> Sampling</a:t>
            </a:r>
            <a:endParaRPr lang="en-US" altLang="zh-CN" sz="2200">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7" name="Text Box 16"/>
          <p:cNvSpPr txBox="1"/>
          <p:nvPr/>
        </p:nvSpPr>
        <p:spPr>
          <a:xfrm>
            <a:off x="3860165" y="1313815"/>
            <a:ext cx="3038475" cy="429895"/>
          </a:xfrm>
          <a:prstGeom prst="rect">
            <a:avLst/>
          </a:prstGeom>
          <a:noFill/>
        </p:spPr>
        <p:txBody>
          <a:bodyPr wrap="square" rtlCol="0">
            <a:spAutoFit/>
          </a:bodyPr>
          <a:p>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2. </a:t>
            </a:r>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量化</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 Quantization</a:t>
            </a:r>
            <a:endParaRPr lang="en-US" altLang="zh-CN" sz="2200" b="1">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18" name="Text Box 17"/>
          <p:cNvSpPr txBox="1"/>
          <p:nvPr/>
        </p:nvSpPr>
        <p:spPr>
          <a:xfrm>
            <a:off x="7519670" y="1313815"/>
            <a:ext cx="3822065" cy="429895"/>
          </a:xfrm>
          <a:prstGeom prst="rect">
            <a:avLst/>
          </a:prstGeom>
          <a:noFill/>
        </p:spPr>
        <p:txBody>
          <a:bodyPr wrap="square" rtlCol="0">
            <a:spAutoFit/>
          </a:bodyPr>
          <a:p>
            <a:r>
              <a:rPr lang="en-US" altLang="zh-CN" sz="2200">
                <a:latin typeface="Alibaba PuHuiTi 3.0 55 Regular" panose="00020600040101010101" charset="-122"/>
                <a:ea typeface="Alibaba PuHuiTi 3.0 55 Regular" panose="00020600040101010101" charset="-122"/>
              </a:rPr>
              <a:t>3. </a:t>
            </a:r>
            <a:r>
              <a:rPr lang="zh-CN" altLang="en-US" sz="2200">
                <a:latin typeface="Alibaba PuHuiTi 3.0 55 Regular" panose="00020600040101010101" charset="-122"/>
                <a:ea typeface="Alibaba PuHuiTi 3.0 55 Regular" panose="00020600040101010101" charset="-122"/>
              </a:rPr>
              <a:t>编码</a:t>
            </a:r>
            <a:r>
              <a:rPr lang="en-US" altLang="zh-CN" sz="2200">
                <a:latin typeface="Alibaba PuHuiTi 3.0 55 Regular" panose="00020600040101010101" charset="-122"/>
                <a:ea typeface="Alibaba PuHuiTi 3.0 55 Regular" panose="00020600040101010101" charset="-122"/>
              </a:rPr>
              <a:t> </a:t>
            </a:r>
            <a:r>
              <a:rPr lang="en-US" altLang="zh-CN" sz="2200">
                <a:latin typeface="Alibaba PuHuiTi 3.0 55 Regular" panose="00020600040101010101" charset="-122"/>
                <a:ea typeface="Alibaba PuHuiTi 3.0 55 Regular" panose="00020600040101010101" charset="-122"/>
              </a:rPr>
              <a:t>Encoding</a:t>
            </a:r>
            <a:endParaRPr lang="en-US" altLang="zh-CN" sz="2200">
              <a:latin typeface="Alibaba PuHuiTi 3.0 55 Regular" panose="00020600040101010101" charset="-122"/>
              <a:ea typeface="Alibaba PuHuiTi 3.0 55 Regular" panose="00020600040101010101" charset="-122"/>
            </a:endParaRPr>
          </a:p>
        </p:txBody>
      </p:sp>
      <p:cxnSp>
        <p:nvCxnSpPr>
          <p:cNvPr id="19" name="Straight Connector 18"/>
          <p:cNvCxnSpPr/>
          <p:nvPr/>
        </p:nvCxnSpPr>
        <p:spPr>
          <a:xfrm flipH="1">
            <a:off x="3202305" y="1529080"/>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cxnSp>
        <p:nvCxnSpPr>
          <p:cNvPr id="20" name="Straight Connector 19"/>
          <p:cNvCxnSpPr/>
          <p:nvPr/>
        </p:nvCxnSpPr>
        <p:spPr>
          <a:xfrm flipH="1">
            <a:off x="6861810" y="1528445"/>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12" name="Oval 11"/>
          <p:cNvSpPr/>
          <p:nvPr/>
        </p:nvSpPr>
        <p:spPr>
          <a:xfrm>
            <a:off x="1926590" y="419798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13" name="Straight Connector 12"/>
          <p:cNvCxnSpPr/>
          <p:nvPr/>
        </p:nvCxnSpPr>
        <p:spPr>
          <a:xfrm>
            <a:off x="1974850" y="4271645"/>
            <a:ext cx="0" cy="73977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5" name="Straight Connector 14"/>
          <p:cNvCxnSpPr>
            <a:stCxn id="36" idx="31"/>
          </p:cNvCxnSpPr>
          <p:nvPr/>
        </p:nvCxnSpPr>
        <p:spPr>
          <a:xfrm flipH="1">
            <a:off x="3222625" y="3726180"/>
            <a:ext cx="10795" cy="123444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16" name="Straight Connector 15"/>
          <p:cNvCxnSpPr/>
          <p:nvPr/>
        </p:nvCxnSpPr>
        <p:spPr>
          <a:xfrm>
            <a:off x="3721735" y="4398645"/>
            <a:ext cx="0" cy="57023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2" name="Straight Connector 21"/>
          <p:cNvCxnSpPr/>
          <p:nvPr/>
        </p:nvCxnSpPr>
        <p:spPr>
          <a:xfrm>
            <a:off x="3971290" y="4448810"/>
            <a:ext cx="0" cy="56324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4" name="Straight Connector 23"/>
          <p:cNvCxnSpPr/>
          <p:nvPr/>
        </p:nvCxnSpPr>
        <p:spPr>
          <a:xfrm>
            <a:off x="4220845" y="4180840"/>
            <a:ext cx="0" cy="83121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25" name="Straight Connector 24"/>
          <p:cNvCxnSpPr/>
          <p:nvPr/>
        </p:nvCxnSpPr>
        <p:spPr>
          <a:xfrm>
            <a:off x="1600200" y="2225040"/>
            <a:ext cx="0" cy="274320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27" name="Straight Connector 26"/>
          <p:cNvCxnSpPr/>
          <p:nvPr/>
        </p:nvCxnSpPr>
        <p:spPr>
          <a:xfrm flipH="1">
            <a:off x="1598930" y="4977130"/>
            <a:ext cx="312737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33" name="Text Box 32"/>
          <p:cNvSpPr txBox="1"/>
          <p:nvPr/>
        </p:nvSpPr>
        <p:spPr>
          <a:xfrm>
            <a:off x="4463415" y="5046345"/>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36" name="Freeform 35"/>
          <p:cNvSpPr/>
          <p:nvPr/>
        </p:nvSpPr>
        <p:spPr>
          <a:xfrm>
            <a:off x="1815465" y="2955925"/>
            <a:ext cx="2518410" cy="1645285"/>
          </a:xfrm>
          <a:custGeom>
            <a:avLst/>
            <a:gdLst>
              <a:gd name="connisteX0" fmla="*/ 0 w 2518410"/>
              <a:gd name="connsiteY0" fmla="*/ 1645002 h 1645002"/>
              <a:gd name="connisteX1" fmla="*/ 25400 w 2518410"/>
              <a:gd name="connsiteY1" fmla="*/ 1519907 h 1645002"/>
              <a:gd name="connisteX2" fmla="*/ 142240 w 2518410"/>
              <a:gd name="connsiteY2" fmla="*/ 1328137 h 1645002"/>
              <a:gd name="connisteX3" fmla="*/ 225425 w 2518410"/>
              <a:gd name="connsiteY3" fmla="*/ 1178277 h 1645002"/>
              <a:gd name="connisteX4" fmla="*/ 275590 w 2518410"/>
              <a:gd name="connsiteY4" fmla="*/ 1077947 h 1645002"/>
              <a:gd name="connisteX5" fmla="*/ 325120 w 2518410"/>
              <a:gd name="connsiteY5" fmla="*/ 978252 h 1645002"/>
              <a:gd name="connisteX6" fmla="*/ 358775 w 2518410"/>
              <a:gd name="connsiteY6" fmla="*/ 877922 h 1645002"/>
              <a:gd name="connisteX7" fmla="*/ 383540 w 2518410"/>
              <a:gd name="connsiteY7" fmla="*/ 811247 h 1645002"/>
              <a:gd name="connisteX8" fmla="*/ 400685 w 2518410"/>
              <a:gd name="connsiteY8" fmla="*/ 728062 h 1645002"/>
              <a:gd name="connisteX9" fmla="*/ 441960 w 2518410"/>
              <a:gd name="connsiteY9" fmla="*/ 611222 h 1645002"/>
              <a:gd name="connisteX10" fmla="*/ 459105 w 2518410"/>
              <a:gd name="connsiteY10" fmla="*/ 544547 h 1645002"/>
              <a:gd name="connisteX11" fmla="*/ 492125 w 2518410"/>
              <a:gd name="connsiteY11" fmla="*/ 419452 h 1645002"/>
              <a:gd name="connisteX12" fmla="*/ 525780 w 2518410"/>
              <a:gd name="connsiteY12" fmla="*/ 310867 h 1645002"/>
              <a:gd name="connisteX13" fmla="*/ 550545 w 2518410"/>
              <a:gd name="connsiteY13" fmla="*/ 227682 h 1645002"/>
              <a:gd name="connisteX14" fmla="*/ 567055 w 2518410"/>
              <a:gd name="connsiteY14" fmla="*/ 161007 h 1645002"/>
              <a:gd name="connisteX15" fmla="*/ 584200 w 2518410"/>
              <a:gd name="connsiteY15" fmla="*/ 94332 h 1645002"/>
              <a:gd name="connisteX16" fmla="*/ 625475 w 2518410"/>
              <a:gd name="connsiteY16" fmla="*/ 27657 h 1645002"/>
              <a:gd name="connisteX17" fmla="*/ 692150 w 2518410"/>
              <a:gd name="connsiteY17" fmla="*/ 10512 h 1645002"/>
              <a:gd name="connisteX18" fmla="*/ 784225 w 2518410"/>
              <a:gd name="connsiteY18" fmla="*/ 2257 h 1645002"/>
              <a:gd name="connisteX19" fmla="*/ 859155 w 2518410"/>
              <a:gd name="connsiteY19" fmla="*/ 2257 h 1645002"/>
              <a:gd name="connisteX20" fmla="*/ 925830 w 2518410"/>
              <a:gd name="connsiteY20" fmla="*/ 2257 h 1645002"/>
              <a:gd name="connisteX21" fmla="*/ 1000760 w 2518410"/>
              <a:gd name="connsiteY21" fmla="*/ 27657 h 1645002"/>
              <a:gd name="connisteX22" fmla="*/ 1067435 w 2518410"/>
              <a:gd name="connsiteY22" fmla="*/ 77187 h 1645002"/>
              <a:gd name="connisteX23" fmla="*/ 1125855 w 2518410"/>
              <a:gd name="connsiteY23" fmla="*/ 152752 h 1645002"/>
              <a:gd name="connisteX24" fmla="*/ 1176020 w 2518410"/>
              <a:gd name="connsiteY24" fmla="*/ 235937 h 1645002"/>
              <a:gd name="connisteX25" fmla="*/ 1217930 w 2518410"/>
              <a:gd name="connsiteY25" fmla="*/ 302612 h 1645002"/>
              <a:gd name="connisteX26" fmla="*/ 1242695 w 2518410"/>
              <a:gd name="connsiteY26" fmla="*/ 369287 h 1645002"/>
              <a:gd name="connisteX27" fmla="*/ 1276350 w 2518410"/>
              <a:gd name="connsiteY27" fmla="*/ 435962 h 1645002"/>
              <a:gd name="connisteX28" fmla="*/ 1309370 w 2518410"/>
              <a:gd name="connsiteY28" fmla="*/ 502637 h 1645002"/>
              <a:gd name="connisteX29" fmla="*/ 1351280 w 2518410"/>
              <a:gd name="connsiteY29" fmla="*/ 594712 h 1645002"/>
              <a:gd name="connisteX30" fmla="*/ 1384300 w 2518410"/>
              <a:gd name="connsiteY30" fmla="*/ 686152 h 1645002"/>
              <a:gd name="connisteX31" fmla="*/ 1417955 w 2518410"/>
              <a:gd name="connsiteY31" fmla="*/ 769972 h 1645002"/>
              <a:gd name="connisteX32" fmla="*/ 1450975 w 2518410"/>
              <a:gd name="connsiteY32" fmla="*/ 844902 h 1645002"/>
              <a:gd name="connisteX33" fmla="*/ 1476375 w 2518410"/>
              <a:gd name="connsiteY33" fmla="*/ 911577 h 1645002"/>
              <a:gd name="connisteX34" fmla="*/ 1501140 w 2518410"/>
              <a:gd name="connsiteY34" fmla="*/ 1003017 h 1645002"/>
              <a:gd name="connisteX35" fmla="*/ 1526540 w 2518410"/>
              <a:gd name="connsiteY35" fmla="*/ 1077947 h 1645002"/>
              <a:gd name="connisteX36" fmla="*/ 1551305 w 2518410"/>
              <a:gd name="connsiteY36" fmla="*/ 1153512 h 1645002"/>
              <a:gd name="connisteX37" fmla="*/ 1601470 w 2518410"/>
              <a:gd name="connsiteY37" fmla="*/ 1220187 h 1645002"/>
              <a:gd name="connisteX38" fmla="*/ 1676400 w 2518410"/>
              <a:gd name="connsiteY38" fmla="*/ 1269717 h 1645002"/>
              <a:gd name="connisteX39" fmla="*/ 1743075 w 2518410"/>
              <a:gd name="connsiteY39" fmla="*/ 1319882 h 1645002"/>
              <a:gd name="connisteX40" fmla="*/ 1809750 w 2518410"/>
              <a:gd name="connsiteY40" fmla="*/ 1353537 h 1645002"/>
              <a:gd name="connisteX41" fmla="*/ 1876425 w 2518410"/>
              <a:gd name="connsiteY41" fmla="*/ 1386557 h 1645002"/>
              <a:gd name="connisteX42" fmla="*/ 1951355 w 2518410"/>
              <a:gd name="connsiteY42" fmla="*/ 1411957 h 1645002"/>
              <a:gd name="connisteX43" fmla="*/ 2035175 w 2518410"/>
              <a:gd name="connsiteY43" fmla="*/ 1436722 h 1645002"/>
              <a:gd name="connisteX44" fmla="*/ 2110105 w 2518410"/>
              <a:gd name="connsiteY44" fmla="*/ 1453232 h 1645002"/>
              <a:gd name="connisteX45" fmla="*/ 2185035 w 2518410"/>
              <a:gd name="connsiteY45" fmla="*/ 1453232 h 1645002"/>
              <a:gd name="connisteX46" fmla="*/ 2251710 w 2518410"/>
              <a:gd name="connsiteY46" fmla="*/ 1444977 h 1645002"/>
              <a:gd name="connisteX47" fmla="*/ 2301875 w 2518410"/>
              <a:gd name="connsiteY47" fmla="*/ 1378302 h 1645002"/>
              <a:gd name="connisteX48" fmla="*/ 2343785 w 2518410"/>
              <a:gd name="connsiteY48" fmla="*/ 1311627 h 1645002"/>
              <a:gd name="connisteX49" fmla="*/ 2368550 w 2518410"/>
              <a:gd name="connsiteY49" fmla="*/ 1236697 h 1645002"/>
              <a:gd name="connisteX50" fmla="*/ 2402205 w 2518410"/>
              <a:gd name="connsiteY50" fmla="*/ 1161767 h 1645002"/>
              <a:gd name="connisteX51" fmla="*/ 2426970 w 2518410"/>
              <a:gd name="connsiteY51" fmla="*/ 1086837 h 1645002"/>
              <a:gd name="connisteX52" fmla="*/ 2468880 w 2518410"/>
              <a:gd name="connsiteY52" fmla="*/ 1019527 h 1645002"/>
              <a:gd name="connisteX53" fmla="*/ 2518410 w 2518410"/>
              <a:gd name="connsiteY53" fmla="*/ 944597 h 164500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Lst>
            <a:rect l="l" t="t" r="r" b="b"/>
            <a:pathLst>
              <a:path w="2518410" h="1645003">
                <a:moveTo>
                  <a:pt x="0" y="1645003"/>
                </a:moveTo>
                <a:cubicBezTo>
                  <a:pt x="2540" y="1624048"/>
                  <a:pt x="-3175" y="1583408"/>
                  <a:pt x="25400" y="1519908"/>
                </a:cubicBezTo>
                <a:cubicBezTo>
                  <a:pt x="53975" y="1456408"/>
                  <a:pt x="102235" y="1396718"/>
                  <a:pt x="142240" y="1328138"/>
                </a:cubicBezTo>
                <a:cubicBezTo>
                  <a:pt x="182245" y="1259558"/>
                  <a:pt x="198755" y="1228443"/>
                  <a:pt x="225425" y="1178278"/>
                </a:cubicBezTo>
                <a:cubicBezTo>
                  <a:pt x="252095" y="1128113"/>
                  <a:pt x="255905" y="1117953"/>
                  <a:pt x="275590" y="1077948"/>
                </a:cubicBezTo>
                <a:cubicBezTo>
                  <a:pt x="295275" y="1037943"/>
                  <a:pt x="308610" y="1018258"/>
                  <a:pt x="325120" y="978253"/>
                </a:cubicBezTo>
                <a:cubicBezTo>
                  <a:pt x="341630" y="938248"/>
                  <a:pt x="347345" y="911578"/>
                  <a:pt x="358775" y="877923"/>
                </a:cubicBezTo>
                <a:cubicBezTo>
                  <a:pt x="370205" y="844268"/>
                  <a:pt x="375285" y="841093"/>
                  <a:pt x="383540" y="811248"/>
                </a:cubicBezTo>
                <a:cubicBezTo>
                  <a:pt x="391795" y="781403"/>
                  <a:pt x="389255" y="768068"/>
                  <a:pt x="400685" y="728063"/>
                </a:cubicBezTo>
                <a:cubicBezTo>
                  <a:pt x="412115" y="688058"/>
                  <a:pt x="430530" y="648053"/>
                  <a:pt x="441960" y="611223"/>
                </a:cubicBezTo>
                <a:cubicBezTo>
                  <a:pt x="453390" y="574393"/>
                  <a:pt x="448945" y="582648"/>
                  <a:pt x="459105" y="544548"/>
                </a:cubicBezTo>
                <a:cubicBezTo>
                  <a:pt x="469265" y="506448"/>
                  <a:pt x="478790" y="466443"/>
                  <a:pt x="492125" y="419453"/>
                </a:cubicBezTo>
                <a:cubicBezTo>
                  <a:pt x="505460" y="372463"/>
                  <a:pt x="514350" y="348968"/>
                  <a:pt x="525780" y="310868"/>
                </a:cubicBezTo>
                <a:cubicBezTo>
                  <a:pt x="537210" y="272768"/>
                  <a:pt x="542290" y="257528"/>
                  <a:pt x="550545" y="227683"/>
                </a:cubicBezTo>
                <a:cubicBezTo>
                  <a:pt x="558800" y="197838"/>
                  <a:pt x="560070" y="187678"/>
                  <a:pt x="567055" y="161008"/>
                </a:cubicBezTo>
                <a:cubicBezTo>
                  <a:pt x="574040" y="134338"/>
                  <a:pt x="572770" y="121003"/>
                  <a:pt x="584200" y="94333"/>
                </a:cubicBezTo>
                <a:cubicBezTo>
                  <a:pt x="595630" y="67663"/>
                  <a:pt x="603885" y="44168"/>
                  <a:pt x="625475" y="27658"/>
                </a:cubicBezTo>
                <a:cubicBezTo>
                  <a:pt x="647065" y="11148"/>
                  <a:pt x="660400" y="15593"/>
                  <a:pt x="692150" y="10513"/>
                </a:cubicBezTo>
                <a:cubicBezTo>
                  <a:pt x="723900" y="5433"/>
                  <a:pt x="750570" y="4163"/>
                  <a:pt x="784225" y="2258"/>
                </a:cubicBezTo>
                <a:cubicBezTo>
                  <a:pt x="817880" y="353"/>
                  <a:pt x="830580" y="2258"/>
                  <a:pt x="859155" y="2258"/>
                </a:cubicBezTo>
                <a:cubicBezTo>
                  <a:pt x="887730" y="2258"/>
                  <a:pt x="897255" y="-2822"/>
                  <a:pt x="925830" y="2258"/>
                </a:cubicBezTo>
                <a:cubicBezTo>
                  <a:pt x="954405" y="7338"/>
                  <a:pt x="972185" y="12418"/>
                  <a:pt x="1000760" y="27658"/>
                </a:cubicBezTo>
                <a:cubicBezTo>
                  <a:pt x="1029335" y="42898"/>
                  <a:pt x="1042670" y="52423"/>
                  <a:pt x="1067435" y="77188"/>
                </a:cubicBezTo>
                <a:cubicBezTo>
                  <a:pt x="1092200" y="101953"/>
                  <a:pt x="1104265" y="121003"/>
                  <a:pt x="1125855" y="152753"/>
                </a:cubicBezTo>
                <a:cubicBezTo>
                  <a:pt x="1147445" y="184503"/>
                  <a:pt x="1157605" y="206093"/>
                  <a:pt x="1176020" y="235938"/>
                </a:cubicBezTo>
                <a:cubicBezTo>
                  <a:pt x="1194435" y="265783"/>
                  <a:pt x="1204595" y="275943"/>
                  <a:pt x="1217930" y="302613"/>
                </a:cubicBezTo>
                <a:cubicBezTo>
                  <a:pt x="1231265" y="329283"/>
                  <a:pt x="1231265" y="342618"/>
                  <a:pt x="1242695" y="369288"/>
                </a:cubicBezTo>
                <a:cubicBezTo>
                  <a:pt x="1254125" y="395958"/>
                  <a:pt x="1263015" y="409293"/>
                  <a:pt x="1276350" y="435963"/>
                </a:cubicBezTo>
                <a:cubicBezTo>
                  <a:pt x="1289685" y="462633"/>
                  <a:pt x="1294130" y="470888"/>
                  <a:pt x="1309370" y="502638"/>
                </a:cubicBezTo>
                <a:cubicBezTo>
                  <a:pt x="1324610" y="534388"/>
                  <a:pt x="1336040" y="557883"/>
                  <a:pt x="1351280" y="594713"/>
                </a:cubicBezTo>
                <a:cubicBezTo>
                  <a:pt x="1366520" y="631543"/>
                  <a:pt x="1370965" y="651228"/>
                  <a:pt x="1384300" y="686153"/>
                </a:cubicBezTo>
                <a:cubicBezTo>
                  <a:pt x="1397635" y="721078"/>
                  <a:pt x="1404620" y="738223"/>
                  <a:pt x="1417955" y="769973"/>
                </a:cubicBezTo>
                <a:cubicBezTo>
                  <a:pt x="1431290" y="801723"/>
                  <a:pt x="1439545" y="816328"/>
                  <a:pt x="1450975" y="844903"/>
                </a:cubicBezTo>
                <a:cubicBezTo>
                  <a:pt x="1462405" y="873478"/>
                  <a:pt x="1466215" y="879828"/>
                  <a:pt x="1476375" y="911578"/>
                </a:cubicBezTo>
                <a:cubicBezTo>
                  <a:pt x="1486535" y="943328"/>
                  <a:pt x="1490980" y="969998"/>
                  <a:pt x="1501140" y="1003018"/>
                </a:cubicBezTo>
                <a:cubicBezTo>
                  <a:pt x="1511300" y="1036038"/>
                  <a:pt x="1516380" y="1048103"/>
                  <a:pt x="1526540" y="1077948"/>
                </a:cubicBezTo>
                <a:cubicBezTo>
                  <a:pt x="1536700" y="1107793"/>
                  <a:pt x="1536065" y="1124938"/>
                  <a:pt x="1551305" y="1153513"/>
                </a:cubicBezTo>
                <a:cubicBezTo>
                  <a:pt x="1566545" y="1182088"/>
                  <a:pt x="1576705" y="1196693"/>
                  <a:pt x="1601470" y="1220188"/>
                </a:cubicBezTo>
                <a:cubicBezTo>
                  <a:pt x="1626235" y="1243683"/>
                  <a:pt x="1647825" y="1250033"/>
                  <a:pt x="1676400" y="1269718"/>
                </a:cubicBezTo>
                <a:cubicBezTo>
                  <a:pt x="1704975" y="1289403"/>
                  <a:pt x="1716405" y="1303373"/>
                  <a:pt x="1743075" y="1319883"/>
                </a:cubicBezTo>
                <a:cubicBezTo>
                  <a:pt x="1769745" y="1336393"/>
                  <a:pt x="1783080" y="1340203"/>
                  <a:pt x="1809750" y="1353538"/>
                </a:cubicBezTo>
                <a:cubicBezTo>
                  <a:pt x="1836420" y="1366873"/>
                  <a:pt x="1847850" y="1375128"/>
                  <a:pt x="1876425" y="1386558"/>
                </a:cubicBezTo>
                <a:cubicBezTo>
                  <a:pt x="1905000" y="1397988"/>
                  <a:pt x="1919605" y="1401798"/>
                  <a:pt x="1951355" y="1411958"/>
                </a:cubicBezTo>
                <a:cubicBezTo>
                  <a:pt x="1983105" y="1422118"/>
                  <a:pt x="2003425" y="1428468"/>
                  <a:pt x="2035175" y="1436723"/>
                </a:cubicBezTo>
                <a:cubicBezTo>
                  <a:pt x="2066925" y="1444978"/>
                  <a:pt x="2080260" y="1450058"/>
                  <a:pt x="2110105" y="1453233"/>
                </a:cubicBezTo>
                <a:cubicBezTo>
                  <a:pt x="2139950" y="1456408"/>
                  <a:pt x="2156460" y="1455138"/>
                  <a:pt x="2185035" y="1453233"/>
                </a:cubicBezTo>
                <a:cubicBezTo>
                  <a:pt x="2213610" y="1451328"/>
                  <a:pt x="2228215" y="1460218"/>
                  <a:pt x="2251710" y="1444978"/>
                </a:cubicBezTo>
                <a:cubicBezTo>
                  <a:pt x="2275205" y="1429738"/>
                  <a:pt x="2283460" y="1404973"/>
                  <a:pt x="2301875" y="1378303"/>
                </a:cubicBezTo>
                <a:cubicBezTo>
                  <a:pt x="2320290" y="1351633"/>
                  <a:pt x="2330450" y="1340203"/>
                  <a:pt x="2343785" y="1311628"/>
                </a:cubicBezTo>
                <a:cubicBezTo>
                  <a:pt x="2357120" y="1283053"/>
                  <a:pt x="2357120" y="1266543"/>
                  <a:pt x="2368550" y="1236698"/>
                </a:cubicBezTo>
                <a:cubicBezTo>
                  <a:pt x="2379980" y="1206853"/>
                  <a:pt x="2390775" y="1191613"/>
                  <a:pt x="2402205" y="1161768"/>
                </a:cubicBezTo>
                <a:cubicBezTo>
                  <a:pt x="2413635" y="1131923"/>
                  <a:pt x="2413635" y="1115413"/>
                  <a:pt x="2426970" y="1086838"/>
                </a:cubicBezTo>
                <a:cubicBezTo>
                  <a:pt x="2440305" y="1058263"/>
                  <a:pt x="2450465" y="1048103"/>
                  <a:pt x="2468880" y="1019528"/>
                </a:cubicBezTo>
                <a:cubicBezTo>
                  <a:pt x="2487295" y="990953"/>
                  <a:pt x="2509520" y="957933"/>
                  <a:pt x="2518410" y="944598"/>
                </a:cubicBezTo>
              </a:path>
            </a:pathLst>
          </a:custGeom>
          <a:noFill/>
          <a:ln w="38100">
            <a:solidFill>
              <a:schemeClr val="tx1"/>
            </a:solidFill>
          </a:ln>
        </p:spPr>
        <p:txBody>
          <a:bodyPr vert="horz" lIns="90000" tIns="46800" rIns="90000" bIns="46800" rtlCol="0" anchor="ctr" anchorCtr="0">
            <a:noAutofit/>
          </a:bodyPr>
          <a:p>
            <a:endParaRPr lang="zh-CN" altLang="en-US" sz="2445">
              <a:solidFill>
                <a:schemeClr val="tx1"/>
              </a:solidFill>
            </a:endParaRPr>
          </a:p>
        </p:txBody>
      </p:sp>
      <p:sp>
        <p:nvSpPr>
          <p:cNvPr id="45" name="Text Box 44"/>
          <p:cNvSpPr txBox="1"/>
          <p:nvPr/>
        </p:nvSpPr>
        <p:spPr>
          <a:xfrm>
            <a:off x="1757045" y="5046345"/>
            <a:ext cx="296926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48" name="Text Box 47"/>
          <p:cNvSpPr txBox="1"/>
          <p:nvPr/>
        </p:nvSpPr>
        <p:spPr>
          <a:xfrm>
            <a:off x="1616710" y="3910330"/>
            <a:ext cx="40640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8" name="Oval 7"/>
          <p:cNvSpPr/>
          <p:nvPr/>
        </p:nvSpPr>
        <p:spPr>
          <a:xfrm>
            <a:off x="2417445" y="293941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9" name="Oval 8"/>
          <p:cNvSpPr/>
          <p:nvPr/>
        </p:nvSpPr>
        <p:spPr>
          <a:xfrm>
            <a:off x="3193415" y="368427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1" name="Oval 50"/>
          <p:cNvSpPr/>
          <p:nvPr/>
        </p:nvSpPr>
        <p:spPr>
          <a:xfrm>
            <a:off x="3691255" y="430212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2" name="Oval 51"/>
          <p:cNvSpPr/>
          <p:nvPr/>
        </p:nvSpPr>
        <p:spPr>
          <a:xfrm>
            <a:off x="4174490" y="408432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4" name="Text Box 53"/>
          <p:cNvSpPr txBox="1"/>
          <p:nvPr/>
        </p:nvSpPr>
        <p:spPr>
          <a:xfrm>
            <a:off x="2976245" y="2994025"/>
            <a:ext cx="44450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10</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55" name="Text Box 54"/>
          <p:cNvSpPr txBox="1"/>
          <p:nvPr/>
        </p:nvSpPr>
        <p:spPr>
          <a:xfrm>
            <a:off x="3348990" y="3949065"/>
            <a:ext cx="41719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56" name="Text Box 55"/>
          <p:cNvSpPr txBox="1"/>
          <p:nvPr/>
        </p:nvSpPr>
        <p:spPr>
          <a:xfrm>
            <a:off x="3571240" y="4030345"/>
            <a:ext cx="40513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01</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58" name="Straight Connector 57"/>
          <p:cNvCxnSpPr>
            <a:endCxn id="84" idx="3"/>
          </p:cNvCxnSpPr>
          <p:nvPr/>
        </p:nvCxnSpPr>
        <p:spPr>
          <a:xfrm flipV="1">
            <a:off x="1974850" y="3757295"/>
            <a:ext cx="199390" cy="52070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79" name="Straight Connector 78"/>
          <p:cNvCxnSpPr>
            <a:stCxn id="36" idx="8"/>
          </p:cNvCxnSpPr>
          <p:nvPr/>
        </p:nvCxnSpPr>
        <p:spPr>
          <a:xfrm>
            <a:off x="2216150" y="3684270"/>
            <a:ext cx="8255" cy="13271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0" name="Straight Connector 79"/>
          <p:cNvCxnSpPr/>
          <p:nvPr/>
        </p:nvCxnSpPr>
        <p:spPr>
          <a:xfrm>
            <a:off x="2473960" y="2983230"/>
            <a:ext cx="0" cy="202819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1" name="Straight Connector 80"/>
          <p:cNvCxnSpPr/>
          <p:nvPr/>
        </p:nvCxnSpPr>
        <p:spPr>
          <a:xfrm>
            <a:off x="2723515" y="2978785"/>
            <a:ext cx="0" cy="203263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2" name="Straight Connector 81"/>
          <p:cNvCxnSpPr>
            <a:stCxn id="54" idx="1"/>
          </p:cNvCxnSpPr>
          <p:nvPr/>
        </p:nvCxnSpPr>
        <p:spPr>
          <a:xfrm flipH="1">
            <a:off x="2973070" y="3138170"/>
            <a:ext cx="3175" cy="18732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83" name="Straight Connector 82"/>
          <p:cNvCxnSpPr/>
          <p:nvPr/>
        </p:nvCxnSpPr>
        <p:spPr>
          <a:xfrm>
            <a:off x="3472180" y="4244340"/>
            <a:ext cx="0" cy="76708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84" name="Oval 83"/>
          <p:cNvSpPr/>
          <p:nvPr/>
        </p:nvSpPr>
        <p:spPr>
          <a:xfrm>
            <a:off x="2160270" y="367474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5" name="Oval 84"/>
          <p:cNvSpPr/>
          <p:nvPr/>
        </p:nvSpPr>
        <p:spPr>
          <a:xfrm>
            <a:off x="2675255" y="290893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6" name="Oval 85"/>
          <p:cNvSpPr/>
          <p:nvPr/>
        </p:nvSpPr>
        <p:spPr>
          <a:xfrm>
            <a:off x="2941320" y="308991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7" name="Oval 86"/>
          <p:cNvSpPr/>
          <p:nvPr/>
        </p:nvSpPr>
        <p:spPr>
          <a:xfrm>
            <a:off x="3421380" y="41808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8" name="Oval 87"/>
          <p:cNvSpPr/>
          <p:nvPr/>
        </p:nvSpPr>
        <p:spPr>
          <a:xfrm>
            <a:off x="3936365" y="436372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9" name="Text Box 88"/>
          <p:cNvSpPr txBox="1"/>
          <p:nvPr/>
        </p:nvSpPr>
        <p:spPr>
          <a:xfrm>
            <a:off x="1757045" y="3599815"/>
            <a:ext cx="42354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0" name="Text Box 89"/>
          <p:cNvSpPr txBox="1"/>
          <p:nvPr/>
        </p:nvSpPr>
        <p:spPr>
          <a:xfrm>
            <a:off x="2101215" y="2653665"/>
            <a:ext cx="45656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1" name="Text Box 90"/>
          <p:cNvSpPr txBox="1"/>
          <p:nvPr/>
        </p:nvSpPr>
        <p:spPr>
          <a:xfrm>
            <a:off x="2586355" y="2651125"/>
            <a:ext cx="52705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2" name="Text Box 91"/>
          <p:cNvSpPr txBox="1"/>
          <p:nvPr/>
        </p:nvSpPr>
        <p:spPr>
          <a:xfrm>
            <a:off x="3171190" y="3421380"/>
            <a:ext cx="40576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3" name="Text Box 92"/>
          <p:cNvSpPr txBox="1"/>
          <p:nvPr/>
        </p:nvSpPr>
        <p:spPr>
          <a:xfrm>
            <a:off x="3787140" y="4119245"/>
            <a:ext cx="40513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00</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95" name="Text Box 94"/>
          <p:cNvSpPr txBox="1"/>
          <p:nvPr/>
        </p:nvSpPr>
        <p:spPr>
          <a:xfrm>
            <a:off x="3970020" y="3800475"/>
            <a:ext cx="43180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01</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98" name="Straight Connector 97"/>
          <p:cNvCxnSpPr>
            <a:endCxn id="8" idx="2"/>
          </p:cNvCxnSpPr>
          <p:nvPr/>
        </p:nvCxnSpPr>
        <p:spPr>
          <a:xfrm flipV="1">
            <a:off x="2224405" y="2987675"/>
            <a:ext cx="193040" cy="6965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9" name="Straight Connector 98"/>
          <p:cNvCxnSpPr/>
          <p:nvPr/>
        </p:nvCxnSpPr>
        <p:spPr>
          <a:xfrm flipV="1">
            <a:off x="2474595" y="2938780"/>
            <a:ext cx="238760" cy="349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0" name="Straight Connector 99"/>
          <p:cNvCxnSpPr>
            <a:stCxn id="85" idx="5"/>
            <a:endCxn id="86" idx="2"/>
          </p:cNvCxnSpPr>
          <p:nvPr/>
        </p:nvCxnSpPr>
        <p:spPr>
          <a:xfrm>
            <a:off x="2757805" y="2991485"/>
            <a:ext cx="183515" cy="14668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1" name="Straight Connector 100"/>
          <p:cNvCxnSpPr>
            <a:stCxn id="86" idx="4"/>
            <a:endCxn id="36" idx="31"/>
          </p:cNvCxnSpPr>
          <p:nvPr/>
        </p:nvCxnSpPr>
        <p:spPr>
          <a:xfrm>
            <a:off x="2989580" y="3186430"/>
            <a:ext cx="243840" cy="5397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2" name="Straight Connector 101"/>
          <p:cNvCxnSpPr>
            <a:stCxn id="9" idx="5"/>
            <a:endCxn id="87" idx="1"/>
          </p:cNvCxnSpPr>
          <p:nvPr/>
        </p:nvCxnSpPr>
        <p:spPr>
          <a:xfrm>
            <a:off x="3275965" y="3766820"/>
            <a:ext cx="159385" cy="4279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3" name="Straight Connector 102"/>
          <p:cNvCxnSpPr>
            <a:stCxn id="87" idx="5"/>
            <a:endCxn id="51" idx="2"/>
          </p:cNvCxnSpPr>
          <p:nvPr/>
        </p:nvCxnSpPr>
        <p:spPr>
          <a:xfrm>
            <a:off x="3503930" y="4263390"/>
            <a:ext cx="187325" cy="869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4" name="Straight Connector 103"/>
          <p:cNvCxnSpPr>
            <a:stCxn id="51" idx="5"/>
            <a:endCxn id="93" idx="2"/>
          </p:cNvCxnSpPr>
          <p:nvPr/>
        </p:nvCxnSpPr>
        <p:spPr>
          <a:xfrm>
            <a:off x="3773805" y="4384675"/>
            <a:ext cx="215900" cy="222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5" name="Straight Connector 104"/>
          <p:cNvCxnSpPr>
            <a:stCxn id="88" idx="5"/>
            <a:endCxn id="52" idx="2"/>
          </p:cNvCxnSpPr>
          <p:nvPr/>
        </p:nvCxnSpPr>
        <p:spPr>
          <a:xfrm flipV="1">
            <a:off x="4018915" y="4132580"/>
            <a:ext cx="155575" cy="3136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5" name="Straight Connector 4"/>
          <p:cNvCxnSpPr/>
          <p:nvPr/>
        </p:nvCxnSpPr>
        <p:spPr>
          <a:xfrm>
            <a:off x="1616710" y="431419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21" name="Straight Connector 20"/>
          <p:cNvCxnSpPr/>
          <p:nvPr/>
        </p:nvCxnSpPr>
        <p:spPr>
          <a:xfrm>
            <a:off x="1616710" y="298831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23" name="Straight Connector 22"/>
          <p:cNvCxnSpPr/>
          <p:nvPr/>
        </p:nvCxnSpPr>
        <p:spPr>
          <a:xfrm>
            <a:off x="1616710" y="365125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26" name="Text Box 25"/>
          <p:cNvSpPr txBox="1"/>
          <p:nvPr/>
        </p:nvSpPr>
        <p:spPr>
          <a:xfrm>
            <a:off x="942975" y="2756535"/>
            <a:ext cx="527050" cy="429895"/>
          </a:xfrm>
          <a:prstGeom prst="rect">
            <a:avLst/>
          </a:prstGeom>
          <a:noFill/>
        </p:spPr>
        <p:txBody>
          <a:bodyPr wrap="square" rtlCol="0">
            <a:noAutofit/>
          </a:bodyPr>
          <a:p>
            <a:pPr algn="l"/>
            <a:r>
              <a:rPr lang="en-US" sz="2200">
                <a:solidFill>
                  <a:srgbClr val="00B0F0"/>
                </a:solidFill>
                <a:latin typeface="Alibaba PuHuiTi 3.0 55 Regular" panose="00020600040101010101" charset="-122"/>
                <a:ea typeface="Alibaba PuHuiTi 3.0 55 Regular" panose="00020600040101010101" charset="-122"/>
              </a:rPr>
              <a:t>11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28" name="Text Box 27"/>
          <p:cNvSpPr txBox="1"/>
          <p:nvPr/>
        </p:nvSpPr>
        <p:spPr>
          <a:xfrm>
            <a:off x="942975" y="3392805"/>
            <a:ext cx="527050" cy="429895"/>
          </a:xfrm>
          <a:prstGeom prst="rect">
            <a:avLst/>
          </a:prstGeom>
          <a:noFill/>
        </p:spPr>
        <p:txBody>
          <a:bodyPr wrap="square" rtlCol="0">
            <a:noAutofit/>
          </a:bodyPr>
          <a:p>
            <a:pPr algn="l"/>
            <a:r>
              <a:rPr lang="en-US" sz="2200">
                <a:solidFill>
                  <a:srgbClr val="00B0F0"/>
                </a:solidFill>
                <a:latin typeface="Alibaba PuHuiTi 3.0 55 Regular" panose="00020600040101010101" charset="-122"/>
                <a:ea typeface="Alibaba PuHuiTi 3.0 55 Regular" panose="00020600040101010101" charset="-122"/>
              </a:rPr>
              <a:t>10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29" name="Text Box 28"/>
          <p:cNvSpPr txBox="1"/>
          <p:nvPr/>
        </p:nvSpPr>
        <p:spPr>
          <a:xfrm>
            <a:off x="942975" y="4062095"/>
            <a:ext cx="527050" cy="429895"/>
          </a:xfrm>
          <a:prstGeom prst="rect">
            <a:avLst/>
          </a:prstGeom>
          <a:noFill/>
        </p:spPr>
        <p:txBody>
          <a:bodyPr wrap="square" rtlCol="0">
            <a:noAutofit/>
          </a:bodyPr>
          <a:p>
            <a:pPr algn="l"/>
            <a:r>
              <a:rPr lang="en-US" sz="2200">
                <a:solidFill>
                  <a:srgbClr val="00B0F0"/>
                </a:solidFill>
                <a:latin typeface="Alibaba PuHuiTi 3.0 55 Regular" panose="00020600040101010101" charset="-122"/>
                <a:ea typeface="Alibaba PuHuiTi 3.0 55 Regular" panose="00020600040101010101" charset="-122"/>
              </a:rPr>
              <a:t>01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31" name="Text Box 30"/>
          <p:cNvSpPr txBox="1"/>
          <p:nvPr/>
        </p:nvSpPr>
        <p:spPr>
          <a:xfrm>
            <a:off x="942340" y="4714875"/>
            <a:ext cx="527685" cy="429895"/>
          </a:xfrm>
          <a:prstGeom prst="rect">
            <a:avLst/>
          </a:prstGeom>
          <a:noFill/>
        </p:spPr>
        <p:txBody>
          <a:bodyPr wrap="square" rtlCol="0">
            <a:noAutofit/>
          </a:bodyPr>
          <a:p>
            <a:pPr algn="l"/>
            <a:r>
              <a:rPr lang="en-US" sz="2200">
                <a:solidFill>
                  <a:srgbClr val="00B0F0"/>
                </a:solidFill>
                <a:latin typeface="Alibaba PuHuiTi 3.0 55 Regular" panose="00020600040101010101" charset="-122"/>
                <a:ea typeface="Alibaba PuHuiTi 3.0 55 Regular" panose="00020600040101010101" charset="-122"/>
              </a:rPr>
              <a:t>00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3" name="Text Box 2"/>
          <p:cNvSpPr txBox="1"/>
          <p:nvPr/>
        </p:nvSpPr>
        <p:spPr>
          <a:xfrm>
            <a:off x="1835785" y="5603240"/>
            <a:ext cx="1937385"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量化等级为</a:t>
            </a:r>
            <a:r>
              <a:rPr lang="en-US" altLang="zh-CN" sz="2200">
                <a:latin typeface="Alibaba PuHuiTi 3.0 55 Regular" panose="00020600040101010101" charset="-122"/>
                <a:ea typeface="Alibaba PuHuiTi 3.0 55 Regular" panose="00020600040101010101" charset="-122"/>
              </a:rPr>
              <a:t>4</a:t>
            </a:r>
            <a:endParaRPr lang="en-US" altLang="zh-CN" sz="2200">
              <a:latin typeface="Alibaba PuHuiTi 3.0 55 Regular" panose="00020600040101010101" charset="-122"/>
              <a:ea typeface="Alibaba PuHuiTi 3.0 55 Regular" panose="00020600040101010101" charset="-122"/>
            </a:endParaRPr>
          </a:p>
        </p:txBody>
      </p:sp>
      <p:sp>
        <p:nvSpPr>
          <p:cNvPr id="4" name="Text Box 3"/>
          <p:cNvSpPr txBox="1"/>
          <p:nvPr/>
        </p:nvSpPr>
        <p:spPr>
          <a:xfrm>
            <a:off x="448945" y="2225040"/>
            <a:ext cx="1130300" cy="429895"/>
          </a:xfrm>
          <a:prstGeom prst="rect">
            <a:avLst/>
          </a:prstGeom>
          <a:noFill/>
        </p:spPr>
        <p:txBody>
          <a:bodyPr wrap="square" rtlCol="0">
            <a:noAutofit/>
          </a:bodyPr>
          <a:p>
            <a:pPr algn="r"/>
            <a:r>
              <a:rPr lang="zh-CN" altLang="en-US" sz="2200">
                <a:latin typeface="Alibaba PuHuiTi 3.0 55 Regular" panose="00020600040101010101" charset="-122"/>
                <a:ea typeface="Alibaba PuHuiTi 3.0 55 Regular" panose="00020600040101010101" charset="-122"/>
              </a:rPr>
              <a:t>量化值</a:t>
            </a:r>
            <a:endParaRPr lang="zh-CN" altLang="en-US" sz="2200">
              <a:latin typeface="Alibaba PuHuiTi 3.0 55 Regular" panose="00020600040101010101" charset="-122"/>
              <a:ea typeface="Alibaba PuHuiTi 3.0 55 Regular" panose="00020600040101010101" charset="-122"/>
            </a:endParaRPr>
          </a:p>
        </p:txBody>
      </p:sp>
      <p:sp>
        <p:nvSpPr>
          <p:cNvPr id="11" name="Oval 10"/>
          <p:cNvSpPr/>
          <p:nvPr/>
        </p:nvSpPr>
        <p:spPr>
          <a:xfrm>
            <a:off x="6818630" y="419290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34" name="Straight Connector 33"/>
          <p:cNvCxnSpPr/>
          <p:nvPr/>
        </p:nvCxnSpPr>
        <p:spPr>
          <a:xfrm>
            <a:off x="6866890" y="4266565"/>
            <a:ext cx="0" cy="73977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5" name="Straight Connector 34"/>
          <p:cNvCxnSpPr>
            <a:stCxn id="44" idx="31"/>
          </p:cNvCxnSpPr>
          <p:nvPr/>
        </p:nvCxnSpPr>
        <p:spPr>
          <a:xfrm flipH="1">
            <a:off x="8114665" y="3721100"/>
            <a:ext cx="10795" cy="123444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7" name="Straight Connector 36"/>
          <p:cNvCxnSpPr/>
          <p:nvPr/>
        </p:nvCxnSpPr>
        <p:spPr>
          <a:xfrm>
            <a:off x="8613775" y="4393565"/>
            <a:ext cx="0" cy="57023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8" name="Straight Connector 37"/>
          <p:cNvCxnSpPr/>
          <p:nvPr/>
        </p:nvCxnSpPr>
        <p:spPr>
          <a:xfrm>
            <a:off x="8863330" y="4443730"/>
            <a:ext cx="0" cy="56324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9" name="Straight Connector 38"/>
          <p:cNvCxnSpPr/>
          <p:nvPr/>
        </p:nvCxnSpPr>
        <p:spPr>
          <a:xfrm>
            <a:off x="9112885" y="4175760"/>
            <a:ext cx="0" cy="83121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40" name="Straight Connector 39"/>
          <p:cNvCxnSpPr/>
          <p:nvPr/>
        </p:nvCxnSpPr>
        <p:spPr>
          <a:xfrm>
            <a:off x="6492240" y="2219960"/>
            <a:ext cx="0" cy="274320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41" name="Straight Connector 40"/>
          <p:cNvCxnSpPr/>
          <p:nvPr/>
        </p:nvCxnSpPr>
        <p:spPr>
          <a:xfrm flipH="1">
            <a:off x="6490970" y="4970145"/>
            <a:ext cx="312737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42" name="Text Box 41"/>
          <p:cNvSpPr txBox="1"/>
          <p:nvPr/>
        </p:nvSpPr>
        <p:spPr>
          <a:xfrm>
            <a:off x="5340985" y="2219960"/>
            <a:ext cx="1130300" cy="429895"/>
          </a:xfrm>
          <a:prstGeom prst="rect">
            <a:avLst/>
          </a:prstGeom>
          <a:noFill/>
        </p:spPr>
        <p:txBody>
          <a:bodyPr wrap="square" rtlCol="0">
            <a:noAutofit/>
          </a:bodyPr>
          <a:p>
            <a:pPr algn="r"/>
            <a:r>
              <a:rPr lang="zh-CN" altLang="en-US" sz="2200">
                <a:latin typeface="Alibaba PuHuiTi 3.0 55 Regular" panose="00020600040101010101" charset="-122"/>
                <a:ea typeface="Alibaba PuHuiTi 3.0 55 Regular" panose="00020600040101010101" charset="-122"/>
              </a:rPr>
              <a:t>量化值</a:t>
            </a:r>
            <a:endParaRPr lang="zh-CN" altLang="en-US" sz="2200">
              <a:latin typeface="Alibaba PuHuiTi 3.0 55 Regular" panose="00020600040101010101" charset="-122"/>
              <a:ea typeface="Alibaba PuHuiTi 3.0 55 Regular" panose="00020600040101010101" charset="-122"/>
            </a:endParaRPr>
          </a:p>
        </p:txBody>
      </p:sp>
      <p:sp>
        <p:nvSpPr>
          <p:cNvPr id="43" name="Text Box 42"/>
          <p:cNvSpPr txBox="1"/>
          <p:nvPr/>
        </p:nvSpPr>
        <p:spPr>
          <a:xfrm>
            <a:off x="9355455" y="5041265"/>
            <a:ext cx="88773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44" name="Freeform 43"/>
          <p:cNvSpPr/>
          <p:nvPr/>
        </p:nvSpPr>
        <p:spPr>
          <a:xfrm>
            <a:off x="6707505" y="2950845"/>
            <a:ext cx="2518410" cy="1645285"/>
          </a:xfrm>
          <a:custGeom>
            <a:avLst/>
            <a:gdLst>
              <a:gd name="connisteX0" fmla="*/ 0 w 2518410"/>
              <a:gd name="connsiteY0" fmla="*/ 1645002 h 1645002"/>
              <a:gd name="connisteX1" fmla="*/ 25400 w 2518410"/>
              <a:gd name="connsiteY1" fmla="*/ 1519907 h 1645002"/>
              <a:gd name="connisteX2" fmla="*/ 142240 w 2518410"/>
              <a:gd name="connsiteY2" fmla="*/ 1328137 h 1645002"/>
              <a:gd name="connisteX3" fmla="*/ 225425 w 2518410"/>
              <a:gd name="connsiteY3" fmla="*/ 1178277 h 1645002"/>
              <a:gd name="connisteX4" fmla="*/ 275590 w 2518410"/>
              <a:gd name="connsiteY4" fmla="*/ 1077947 h 1645002"/>
              <a:gd name="connisteX5" fmla="*/ 325120 w 2518410"/>
              <a:gd name="connsiteY5" fmla="*/ 978252 h 1645002"/>
              <a:gd name="connisteX6" fmla="*/ 358775 w 2518410"/>
              <a:gd name="connsiteY6" fmla="*/ 877922 h 1645002"/>
              <a:gd name="connisteX7" fmla="*/ 383540 w 2518410"/>
              <a:gd name="connsiteY7" fmla="*/ 811247 h 1645002"/>
              <a:gd name="connisteX8" fmla="*/ 400685 w 2518410"/>
              <a:gd name="connsiteY8" fmla="*/ 728062 h 1645002"/>
              <a:gd name="connisteX9" fmla="*/ 441960 w 2518410"/>
              <a:gd name="connsiteY9" fmla="*/ 611222 h 1645002"/>
              <a:gd name="connisteX10" fmla="*/ 459105 w 2518410"/>
              <a:gd name="connsiteY10" fmla="*/ 544547 h 1645002"/>
              <a:gd name="connisteX11" fmla="*/ 492125 w 2518410"/>
              <a:gd name="connsiteY11" fmla="*/ 419452 h 1645002"/>
              <a:gd name="connisteX12" fmla="*/ 525780 w 2518410"/>
              <a:gd name="connsiteY12" fmla="*/ 310867 h 1645002"/>
              <a:gd name="connisteX13" fmla="*/ 550545 w 2518410"/>
              <a:gd name="connsiteY13" fmla="*/ 227682 h 1645002"/>
              <a:gd name="connisteX14" fmla="*/ 567055 w 2518410"/>
              <a:gd name="connsiteY14" fmla="*/ 161007 h 1645002"/>
              <a:gd name="connisteX15" fmla="*/ 584200 w 2518410"/>
              <a:gd name="connsiteY15" fmla="*/ 94332 h 1645002"/>
              <a:gd name="connisteX16" fmla="*/ 625475 w 2518410"/>
              <a:gd name="connsiteY16" fmla="*/ 27657 h 1645002"/>
              <a:gd name="connisteX17" fmla="*/ 692150 w 2518410"/>
              <a:gd name="connsiteY17" fmla="*/ 10512 h 1645002"/>
              <a:gd name="connisteX18" fmla="*/ 784225 w 2518410"/>
              <a:gd name="connsiteY18" fmla="*/ 2257 h 1645002"/>
              <a:gd name="connisteX19" fmla="*/ 859155 w 2518410"/>
              <a:gd name="connsiteY19" fmla="*/ 2257 h 1645002"/>
              <a:gd name="connisteX20" fmla="*/ 925830 w 2518410"/>
              <a:gd name="connsiteY20" fmla="*/ 2257 h 1645002"/>
              <a:gd name="connisteX21" fmla="*/ 1000760 w 2518410"/>
              <a:gd name="connsiteY21" fmla="*/ 27657 h 1645002"/>
              <a:gd name="connisteX22" fmla="*/ 1067435 w 2518410"/>
              <a:gd name="connsiteY22" fmla="*/ 77187 h 1645002"/>
              <a:gd name="connisteX23" fmla="*/ 1125855 w 2518410"/>
              <a:gd name="connsiteY23" fmla="*/ 152752 h 1645002"/>
              <a:gd name="connisteX24" fmla="*/ 1176020 w 2518410"/>
              <a:gd name="connsiteY24" fmla="*/ 235937 h 1645002"/>
              <a:gd name="connisteX25" fmla="*/ 1217930 w 2518410"/>
              <a:gd name="connsiteY25" fmla="*/ 302612 h 1645002"/>
              <a:gd name="connisteX26" fmla="*/ 1242695 w 2518410"/>
              <a:gd name="connsiteY26" fmla="*/ 369287 h 1645002"/>
              <a:gd name="connisteX27" fmla="*/ 1276350 w 2518410"/>
              <a:gd name="connsiteY27" fmla="*/ 435962 h 1645002"/>
              <a:gd name="connisteX28" fmla="*/ 1309370 w 2518410"/>
              <a:gd name="connsiteY28" fmla="*/ 502637 h 1645002"/>
              <a:gd name="connisteX29" fmla="*/ 1351280 w 2518410"/>
              <a:gd name="connsiteY29" fmla="*/ 594712 h 1645002"/>
              <a:gd name="connisteX30" fmla="*/ 1384300 w 2518410"/>
              <a:gd name="connsiteY30" fmla="*/ 686152 h 1645002"/>
              <a:gd name="connisteX31" fmla="*/ 1417955 w 2518410"/>
              <a:gd name="connsiteY31" fmla="*/ 769972 h 1645002"/>
              <a:gd name="connisteX32" fmla="*/ 1450975 w 2518410"/>
              <a:gd name="connsiteY32" fmla="*/ 844902 h 1645002"/>
              <a:gd name="connisteX33" fmla="*/ 1476375 w 2518410"/>
              <a:gd name="connsiteY33" fmla="*/ 911577 h 1645002"/>
              <a:gd name="connisteX34" fmla="*/ 1501140 w 2518410"/>
              <a:gd name="connsiteY34" fmla="*/ 1003017 h 1645002"/>
              <a:gd name="connisteX35" fmla="*/ 1526540 w 2518410"/>
              <a:gd name="connsiteY35" fmla="*/ 1077947 h 1645002"/>
              <a:gd name="connisteX36" fmla="*/ 1551305 w 2518410"/>
              <a:gd name="connsiteY36" fmla="*/ 1153512 h 1645002"/>
              <a:gd name="connisteX37" fmla="*/ 1601470 w 2518410"/>
              <a:gd name="connsiteY37" fmla="*/ 1220187 h 1645002"/>
              <a:gd name="connisteX38" fmla="*/ 1676400 w 2518410"/>
              <a:gd name="connsiteY38" fmla="*/ 1269717 h 1645002"/>
              <a:gd name="connisteX39" fmla="*/ 1743075 w 2518410"/>
              <a:gd name="connsiteY39" fmla="*/ 1319882 h 1645002"/>
              <a:gd name="connisteX40" fmla="*/ 1809750 w 2518410"/>
              <a:gd name="connsiteY40" fmla="*/ 1353537 h 1645002"/>
              <a:gd name="connisteX41" fmla="*/ 1876425 w 2518410"/>
              <a:gd name="connsiteY41" fmla="*/ 1386557 h 1645002"/>
              <a:gd name="connisteX42" fmla="*/ 1951355 w 2518410"/>
              <a:gd name="connsiteY42" fmla="*/ 1411957 h 1645002"/>
              <a:gd name="connisteX43" fmla="*/ 2035175 w 2518410"/>
              <a:gd name="connsiteY43" fmla="*/ 1436722 h 1645002"/>
              <a:gd name="connisteX44" fmla="*/ 2110105 w 2518410"/>
              <a:gd name="connsiteY44" fmla="*/ 1453232 h 1645002"/>
              <a:gd name="connisteX45" fmla="*/ 2185035 w 2518410"/>
              <a:gd name="connsiteY45" fmla="*/ 1453232 h 1645002"/>
              <a:gd name="connisteX46" fmla="*/ 2251710 w 2518410"/>
              <a:gd name="connsiteY46" fmla="*/ 1444977 h 1645002"/>
              <a:gd name="connisteX47" fmla="*/ 2301875 w 2518410"/>
              <a:gd name="connsiteY47" fmla="*/ 1378302 h 1645002"/>
              <a:gd name="connisteX48" fmla="*/ 2343785 w 2518410"/>
              <a:gd name="connsiteY48" fmla="*/ 1311627 h 1645002"/>
              <a:gd name="connisteX49" fmla="*/ 2368550 w 2518410"/>
              <a:gd name="connsiteY49" fmla="*/ 1236697 h 1645002"/>
              <a:gd name="connisteX50" fmla="*/ 2402205 w 2518410"/>
              <a:gd name="connsiteY50" fmla="*/ 1161767 h 1645002"/>
              <a:gd name="connisteX51" fmla="*/ 2426970 w 2518410"/>
              <a:gd name="connsiteY51" fmla="*/ 1086837 h 1645002"/>
              <a:gd name="connisteX52" fmla="*/ 2468880 w 2518410"/>
              <a:gd name="connsiteY52" fmla="*/ 1019527 h 1645002"/>
              <a:gd name="connisteX53" fmla="*/ 2518410 w 2518410"/>
              <a:gd name="connsiteY53" fmla="*/ 944597 h 164500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Lst>
            <a:rect l="l" t="t" r="r" b="b"/>
            <a:pathLst>
              <a:path w="2518410" h="1645003">
                <a:moveTo>
                  <a:pt x="0" y="1645003"/>
                </a:moveTo>
                <a:cubicBezTo>
                  <a:pt x="2540" y="1624048"/>
                  <a:pt x="-3175" y="1583408"/>
                  <a:pt x="25400" y="1519908"/>
                </a:cubicBezTo>
                <a:cubicBezTo>
                  <a:pt x="53975" y="1456408"/>
                  <a:pt x="102235" y="1396718"/>
                  <a:pt x="142240" y="1328138"/>
                </a:cubicBezTo>
                <a:cubicBezTo>
                  <a:pt x="182245" y="1259558"/>
                  <a:pt x="198755" y="1228443"/>
                  <a:pt x="225425" y="1178278"/>
                </a:cubicBezTo>
                <a:cubicBezTo>
                  <a:pt x="252095" y="1128113"/>
                  <a:pt x="255905" y="1117953"/>
                  <a:pt x="275590" y="1077948"/>
                </a:cubicBezTo>
                <a:cubicBezTo>
                  <a:pt x="295275" y="1037943"/>
                  <a:pt x="308610" y="1018258"/>
                  <a:pt x="325120" y="978253"/>
                </a:cubicBezTo>
                <a:cubicBezTo>
                  <a:pt x="341630" y="938248"/>
                  <a:pt x="347345" y="911578"/>
                  <a:pt x="358775" y="877923"/>
                </a:cubicBezTo>
                <a:cubicBezTo>
                  <a:pt x="370205" y="844268"/>
                  <a:pt x="375285" y="841093"/>
                  <a:pt x="383540" y="811248"/>
                </a:cubicBezTo>
                <a:cubicBezTo>
                  <a:pt x="391795" y="781403"/>
                  <a:pt x="389255" y="768068"/>
                  <a:pt x="400685" y="728063"/>
                </a:cubicBezTo>
                <a:cubicBezTo>
                  <a:pt x="412115" y="688058"/>
                  <a:pt x="430530" y="648053"/>
                  <a:pt x="441960" y="611223"/>
                </a:cubicBezTo>
                <a:cubicBezTo>
                  <a:pt x="453390" y="574393"/>
                  <a:pt x="448945" y="582648"/>
                  <a:pt x="459105" y="544548"/>
                </a:cubicBezTo>
                <a:cubicBezTo>
                  <a:pt x="469265" y="506448"/>
                  <a:pt x="478790" y="466443"/>
                  <a:pt x="492125" y="419453"/>
                </a:cubicBezTo>
                <a:cubicBezTo>
                  <a:pt x="505460" y="372463"/>
                  <a:pt x="514350" y="348968"/>
                  <a:pt x="525780" y="310868"/>
                </a:cubicBezTo>
                <a:cubicBezTo>
                  <a:pt x="537210" y="272768"/>
                  <a:pt x="542290" y="257528"/>
                  <a:pt x="550545" y="227683"/>
                </a:cubicBezTo>
                <a:cubicBezTo>
                  <a:pt x="558800" y="197838"/>
                  <a:pt x="560070" y="187678"/>
                  <a:pt x="567055" y="161008"/>
                </a:cubicBezTo>
                <a:cubicBezTo>
                  <a:pt x="574040" y="134338"/>
                  <a:pt x="572770" y="121003"/>
                  <a:pt x="584200" y="94333"/>
                </a:cubicBezTo>
                <a:cubicBezTo>
                  <a:pt x="595630" y="67663"/>
                  <a:pt x="603885" y="44168"/>
                  <a:pt x="625475" y="27658"/>
                </a:cubicBezTo>
                <a:cubicBezTo>
                  <a:pt x="647065" y="11148"/>
                  <a:pt x="660400" y="15593"/>
                  <a:pt x="692150" y="10513"/>
                </a:cubicBezTo>
                <a:cubicBezTo>
                  <a:pt x="723900" y="5433"/>
                  <a:pt x="750570" y="4163"/>
                  <a:pt x="784225" y="2258"/>
                </a:cubicBezTo>
                <a:cubicBezTo>
                  <a:pt x="817880" y="353"/>
                  <a:pt x="830580" y="2258"/>
                  <a:pt x="859155" y="2258"/>
                </a:cubicBezTo>
                <a:cubicBezTo>
                  <a:pt x="887730" y="2258"/>
                  <a:pt x="897255" y="-2822"/>
                  <a:pt x="925830" y="2258"/>
                </a:cubicBezTo>
                <a:cubicBezTo>
                  <a:pt x="954405" y="7338"/>
                  <a:pt x="972185" y="12418"/>
                  <a:pt x="1000760" y="27658"/>
                </a:cubicBezTo>
                <a:cubicBezTo>
                  <a:pt x="1029335" y="42898"/>
                  <a:pt x="1042670" y="52423"/>
                  <a:pt x="1067435" y="77188"/>
                </a:cubicBezTo>
                <a:cubicBezTo>
                  <a:pt x="1092200" y="101953"/>
                  <a:pt x="1104265" y="121003"/>
                  <a:pt x="1125855" y="152753"/>
                </a:cubicBezTo>
                <a:cubicBezTo>
                  <a:pt x="1147445" y="184503"/>
                  <a:pt x="1157605" y="206093"/>
                  <a:pt x="1176020" y="235938"/>
                </a:cubicBezTo>
                <a:cubicBezTo>
                  <a:pt x="1194435" y="265783"/>
                  <a:pt x="1204595" y="275943"/>
                  <a:pt x="1217930" y="302613"/>
                </a:cubicBezTo>
                <a:cubicBezTo>
                  <a:pt x="1231265" y="329283"/>
                  <a:pt x="1231265" y="342618"/>
                  <a:pt x="1242695" y="369288"/>
                </a:cubicBezTo>
                <a:cubicBezTo>
                  <a:pt x="1254125" y="395958"/>
                  <a:pt x="1263015" y="409293"/>
                  <a:pt x="1276350" y="435963"/>
                </a:cubicBezTo>
                <a:cubicBezTo>
                  <a:pt x="1289685" y="462633"/>
                  <a:pt x="1294130" y="470888"/>
                  <a:pt x="1309370" y="502638"/>
                </a:cubicBezTo>
                <a:cubicBezTo>
                  <a:pt x="1324610" y="534388"/>
                  <a:pt x="1336040" y="557883"/>
                  <a:pt x="1351280" y="594713"/>
                </a:cubicBezTo>
                <a:cubicBezTo>
                  <a:pt x="1366520" y="631543"/>
                  <a:pt x="1370965" y="651228"/>
                  <a:pt x="1384300" y="686153"/>
                </a:cubicBezTo>
                <a:cubicBezTo>
                  <a:pt x="1397635" y="721078"/>
                  <a:pt x="1404620" y="738223"/>
                  <a:pt x="1417955" y="769973"/>
                </a:cubicBezTo>
                <a:cubicBezTo>
                  <a:pt x="1431290" y="801723"/>
                  <a:pt x="1439545" y="816328"/>
                  <a:pt x="1450975" y="844903"/>
                </a:cubicBezTo>
                <a:cubicBezTo>
                  <a:pt x="1462405" y="873478"/>
                  <a:pt x="1466215" y="879828"/>
                  <a:pt x="1476375" y="911578"/>
                </a:cubicBezTo>
                <a:cubicBezTo>
                  <a:pt x="1486535" y="943328"/>
                  <a:pt x="1490980" y="969998"/>
                  <a:pt x="1501140" y="1003018"/>
                </a:cubicBezTo>
                <a:cubicBezTo>
                  <a:pt x="1511300" y="1036038"/>
                  <a:pt x="1516380" y="1048103"/>
                  <a:pt x="1526540" y="1077948"/>
                </a:cubicBezTo>
                <a:cubicBezTo>
                  <a:pt x="1536700" y="1107793"/>
                  <a:pt x="1536065" y="1124938"/>
                  <a:pt x="1551305" y="1153513"/>
                </a:cubicBezTo>
                <a:cubicBezTo>
                  <a:pt x="1566545" y="1182088"/>
                  <a:pt x="1576705" y="1196693"/>
                  <a:pt x="1601470" y="1220188"/>
                </a:cubicBezTo>
                <a:cubicBezTo>
                  <a:pt x="1626235" y="1243683"/>
                  <a:pt x="1647825" y="1250033"/>
                  <a:pt x="1676400" y="1269718"/>
                </a:cubicBezTo>
                <a:cubicBezTo>
                  <a:pt x="1704975" y="1289403"/>
                  <a:pt x="1716405" y="1303373"/>
                  <a:pt x="1743075" y="1319883"/>
                </a:cubicBezTo>
                <a:cubicBezTo>
                  <a:pt x="1769745" y="1336393"/>
                  <a:pt x="1783080" y="1340203"/>
                  <a:pt x="1809750" y="1353538"/>
                </a:cubicBezTo>
                <a:cubicBezTo>
                  <a:pt x="1836420" y="1366873"/>
                  <a:pt x="1847850" y="1375128"/>
                  <a:pt x="1876425" y="1386558"/>
                </a:cubicBezTo>
                <a:cubicBezTo>
                  <a:pt x="1905000" y="1397988"/>
                  <a:pt x="1919605" y="1401798"/>
                  <a:pt x="1951355" y="1411958"/>
                </a:cubicBezTo>
                <a:cubicBezTo>
                  <a:pt x="1983105" y="1422118"/>
                  <a:pt x="2003425" y="1428468"/>
                  <a:pt x="2035175" y="1436723"/>
                </a:cubicBezTo>
                <a:cubicBezTo>
                  <a:pt x="2066925" y="1444978"/>
                  <a:pt x="2080260" y="1450058"/>
                  <a:pt x="2110105" y="1453233"/>
                </a:cubicBezTo>
                <a:cubicBezTo>
                  <a:pt x="2139950" y="1456408"/>
                  <a:pt x="2156460" y="1455138"/>
                  <a:pt x="2185035" y="1453233"/>
                </a:cubicBezTo>
                <a:cubicBezTo>
                  <a:pt x="2213610" y="1451328"/>
                  <a:pt x="2228215" y="1460218"/>
                  <a:pt x="2251710" y="1444978"/>
                </a:cubicBezTo>
                <a:cubicBezTo>
                  <a:pt x="2275205" y="1429738"/>
                  <a:pt x="2283460" y="1404973"/>
                  <a:pt x="2301875" y="1378303"/>
                </a:cubicBezTo>
                <a:cubicBezTo>
                  <a:pt x="2320290" y="1351633"/>
                  <a:pt x="2330450" y="1340203"/>
                  <a:pt x="2343785" y="1311628"/>
                </a:cubicBezTo>
                <a:cubicBezTo>
                  <a:pt x="2357120" y="1283053"/>
                  <a:pt x="2357120" y="1266543"/>
                  <a:pt x="2368550" y="1236698"/>
                </a:cubicBezTo>
                <a:cubicBezTo>
                  <a:pt x="2379980" y="1206853"/>
                  <a:pt x="2390775" y="1191613"/>
                  <a:pt x="2402205" y="1161768"/>
                </a:cubicBezTo>
                <a:cubicBezTo>
                  <a:pt x="2413635" y="1131923"/>
                  <a:pt x="2413635" y="1115413"/>
                  <a:pt x="2426970" y="1086838"/>
                </a:cubicBezTo>
                <a:cubicBezTo>
                  <a:pt x="2440305" y="1058263"/>
                  <a:pt x="2450465" y="1048103"/>
                  <a:pt x="2468880" y="1019528"/>
                </a:cubicBezTo>
                <a:cubicBezTo>
                  <a:pt x="2487295" y="990953"/>
                  <a:pt x="2509520" y="957933"/>
                  <a:pt x="2518410" y="944598"/>
                </a:cubicBezTo>
              </a:path>
            </a:pathLst>
          </a:custGeom>
          <a:noFill/>
          <a:ln w="38100">
            <a:solidFill>
              <a:schemeClr val="tx1"/>
            </a:solidFill>
          </a:ln>
        </p:spPr>
        <p:txBody>
          <a:bodyPr vert="horz" lIns="90000" tIns="46800" rIns="90000" bIns="46800" rtlCol="0" anchor="ctr" anchorCtr="0">
            <a:noAutofit/>
          </a:bodyPr>
          <a:p>
            <a:endParaRPr lang="zh-CN" altLang="en-US" sz="2445">
              <a:solidFill>
                <a:schemeClr val="tx1"/>
              </a:solidFill>
            </a:endParaRPr>
          </a:p>
        </p:txBody>
      </p:sp>
      <p:sp>
        <p:nvSpPr>
          <p:cNvPr id="46" name="Text Box 45"/>
          <p:cNvSpPr txBox="1"/>
          <p:nvPr/>
        </p:nvSpPr>
        <p:spPr>
          <a:xfrm>
            <a:off x="6649085" y="5041265"/>
            <a:ext cx="296926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47" name="Text Box 46"/>
          <p:cNvSpPr txBox="1"/>
          <p:nvPr/>
        </p:nvSpPr>
        <p:spPr>
          <a:xfrm>
            <a:off x="6414135" y="4089400"/>
            <a:ext cx="52641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010</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49" name="Oval 48"/>
          <p:cNvSpPr/>
          <p:nvPr/>
        </p:nvSpPr>
        <p:spPr>
          <a:xfrm>
            <a:off x="7309485" y="293433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0" name="Oval 49"/>
          <p:cNvSpPr/>
          <p:nvPr/>
        </p:nvSpPr>
        <p:spPr>
          <a:xfrm>
            <a:off x="8085455" y="367919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3" name="Oval 52"/>
          <p:cNvSpPr/>
          <p:nvPr/>
        </p:nvSpPr>
        <p:spPr>
          <a:xfrm>
            <a:off x="8583295" y="429704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7" name="Oval 56"/>
          <p:cNvSpPr/>
          <p:nvPr/>
        </p:nvSpPr>
        <p:spPr>
          <a:xfrm>
            <a:off x="9066530" y="40792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9" name="Text Box 58"/>
          <p:cNvSpPr txBox="1"/>
          <p:nvPr/>
        </p:nvSpPr>
        <p:spPr>
          <a:xfrm>
            <a:off x="7868285" y="2988945"/>
            <a:ext cx="59753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110</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60" name="Text Box 59"/>
          <p:cNvSpPr txBox="1"/>
          <p:nvPr/>
        </p:nvSpPr>
        <p:spPr>
          <a:xfrm>
            <a:off x="8199755" y="3867785"/>
            <a:ext cx="49974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010</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61" name="Text Box 60"/>
          <p:cNvSpPr txBox="1"/>
          <p:nvPr/>
        </p:nvSpPr>
        <p:spPr>
          <a:xfrm>
            <a:off x="8360410" y="4003040"/>
            <a:ext cx="49911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010</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62" name="Straight Connector 61"/>
          <p:cNvCxnSpPr>
            <a:endCxn id="68" idx="3"/>
          </p:cNvCxnSpPr>
          <p:nvPr/>
        </p:nvCxnSpPr>
        <p:spPr>
          <a:xfrm flipV="1">
            <a:off x="6866890" y="3752215"/>
            <a:ext cx="199390" cy="52070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63" name="Straight Connector 62"/>
          <p:cNvCxnSpPr>
            <a:stCxn id="44" idx="8"/>
          </p:cNvCxnSpPr>
          <p:nvPr/>
        </p:nvCxnSpPr>
        <p:spPr>
          <a:xfrm>
            <a:off x="7108190" y="3679190"/>
            <a:ext cx="8255" cy="13271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4" name="Straight Connector 63"/>
          <p:cNvCxnSpPr/>
          <p:nvPr/>
        </p:nvCxnSpPr>
        <p:spPr>
          <a:xfrm>
            <a:off x="7366000" y="2978150"/>
            <a:ext cx="0" cy="202819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5" name="Straight Connector 64"/>
          <p:cNvCxnSpPr/>
          <p:nvPr/>
        </p:nvCxnSpPr>
        <p:spPr>
          <a:xfrm>
            <a:off x="7615555" y="2973705"/>
            <a:ext cx="0" cy="203263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6" name="Straight Connector 65"/>
          <p:cNvCxnSpPr>
            <a:stCxn id="59" idx="1"/>
          </p:cNvCxnSpPr>
          <p:nvPr/>
        </p:nvCxnSpPr>
        <p:spPr>
          <a:xfrm flipH="1">
            <a:off x="7865110" y="3133090"/>
            <a:ext cx="3175" cy="18732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7" name="Straight Connector 66"/>
          <p:cNvCxnSpPr/>
          <p:nvPr/>
        </p:nvCxnSpPr>
        <p:spPr>
          <a:xfrm>
            <a:off x="8364220" y="4239260"/>
            <a:ext cx="0" cy="76708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68" name="Oval 67"/>
          <p:cNvSpPr/>
          <p:nvPr/>
        </p:nvSpPr>
        <p:spPr>
          <a:xfrm>
            <a:off x="7052310" y="366966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9" name="Oval 68"/>
          <p:cNvSpPr/>
          <p:nvPr/>
        </p:nvSpPr>
        <p:spPr>
          <a:xfrm>
            <a:off x="7567295" y="2903855"/>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0" name="Oval 69"/>
          <p:cNvSpPr/>
          <p:nvPr/>
        </p:nvSpPr>
        <p:spPr>
          <a:xfrm>
            <a:off x="7833360" y="308483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1" name="Oval 70"/>
          <p:cNvSpPr/>
          <p:nvPr/>
        </p:nvSpPr>
        <p:spPr>
          <a:xfrm>
            <a:off x="8313420" y="417576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2" name="Oval 71"/>
          <p:cNvSpPr/>
          <p:nvPr/>
        </p:nvSpPr>
        <p:spPr>
          <a:xfrm>
            <a:off x="8828405" y="4358640"/>
            <a:ext cx="96520" cy="96520"/>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3" name="Text Box 72"/>
          <p:cNvSpPr txBox="1"/>
          <p:nvPr/>
        </p:nvSpPr>
        <p:spPr>
          <a:xfrm>
            <a:off x="6578600" y="3594735"/>
            <a:ext cx="49403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100</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4" name="Text Box 73"/>
          <p:cNvSpPr txBox="1"/>
          <p:nvPr/>
        </p:nvSpPr>
        <p:spPr>
          <a:xfrm>
            <a:off x="6915150" y="2648585"/>
            <a:ext cx="53467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111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5" name="Text Box 74"/>
          <p:cNvSpPr txBox="1"/>
          <p:nvPr/>
        </p:nvSpPr>
        <p:spPr>
          <a:xfrm>
            <a:off x="7478395" y="2646045"/>
            <a:ext cx="58483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111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6" name="Text Box 75"/>
          <p:cNvSpPr txBox="1"/>
          <p:nvPr/>
        </p:nvSpPr>
        <p:spPr>
          <a:xfrm>
            <a:off x="8063230" y="3416300"/>
            <a:ext cx="53530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100</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7" name="Text Box 76"/>
          <p:cNvSpPr txBox="1"/>
          <p:nvPr/>
        </p:nvSpPr>
        <p:spPr>
          <a:xfrm>
            <a:off x="8590915" y="4142740"/>
            <a:ext cx="535305"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001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8" name="Text Box 77"/>
          <p:cNvSpPr txBox="1"/>
          <p:nvPr/>
        </p:nvSpPr>
        <p:spPr>
          <a:xfrm>
            <a:off x="8742680" y="3833495"/>
            <a:ext cx="500380" cy="287655"/>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101</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94" name="Straight Connector 93"/>
          <p:cNvCxnSpPr>
            <a:endCxn id="49" idx="2"/>
          </p:cNvCxnSpPr>
          <p:nvPr/>
        </p:nvCxnSpPr>
        <p:spPr>
          <a:xfrm flipV="1">
            <a:off x="7116445" y="2982595"/>
            <a:ext cx="193040" cy="6965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6" name="Straight Connector 95"/>
          <p:cNvCxnSpPr/>
          <p:nvPr/>
        </p:nvCxnSpPr>
        <p:spPr>
          <a:xfrm flipV="1">
            <a:off x="7351395" y="2933700"/>
            <a:ext cx="238760" cy="3492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7" name="Straight Connector 96"/>
          <p:cNvCxnSpPr>
            <a:stCxn id="69" idx="5"/>
            <a:endCxn id="70" idx="2"/>
          </p:cNvCxnSpPr>
          <p:nvPr/>
        </p:nvCxnSpPr>
        <p:spPr>
          <a:xfrm>
            <a:off x="7649845" y="2986405"/>
            <a:ext cx="183515" cy="14668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6" name="Straight Connector 105"/>
          <p:cNvCxnSpPr>
            <a:stCxn id="70" idx="4"/>
            <a:endCxn id="44" idx="31"/>
          </p:cNvCxnSpPr>
          <p:nvPr/>
        </p:nvCxnSpPr>
        <p:spPr>
          <a:xfrm>
            <a:off x="7881620" y="3181350"/>
            <a:ext cx="243840" cy="5397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7" name="Straight Connector 106"/>
          <p:cNvCxnSpPr>
            <a:stCxn id="50" idx="5"/>
            <a:endCxn id="71" idx="1"/>
          </p:cNvCxnSpPr>
          <p:nvPr/>
        </p:nvCxnSpPr>
        <p:spPr>
          <a:xfrm>
            <a:off x="8168005" y="3761740"/>
            <a:ext cx="159385" cy="4279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8" name="Straight Connector 107"/>
          <p:cNvCxnSpPr>
            <a:stCxn id="71" idx="5"/>
            <a:endCxn id="53" idx="2"/>
          </p:cNvCxnSpPr>
          <p:nvPr/>
        </p:nvCxnSpPr>
        <p:spPr>
          <a:xfrm>
            <a:off x="8395970" y="4258310"/>
            <a:ext cx="187325" cy="8699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9" name="Straight Connector 108"/>
          <p:cNvCxnSpPr>
            <a:stCxn id="53" idx="5"/>
            <a:endCxn id="77" idx="2"/>
          </p:cNvCxnSpPr>
          <p:nvPr/>
        </p:nvCxnSpPr>
        <p:spPr>
          <a:xfrm>
            <a:off x="8665845" y="4379595"/>
            <a:ext cx="193040" cy="5080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0" name="Straight Connector 109"/>
          <p:cNvCxnSpPr>
            <a:stCxn id="72" idx="5"/>
            <a:endCxn id="57" idx="2"/>
          </p:cNvCxnSpPr>
          <p:nvPr/>
        </p:nvCxnSpPr>
        <p:spPr>
          <a:xfrm flipV="1">
            <a:off x="8910955" y="4127500"/>
            <a:ext cx="155575" cy="31369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1" name="Straight Connector 110"/>
          <p:cNvCxnSpPr/>
          <p:nvPr/>
        </p:nvCxnSpPr>
        <p:spPr>
          <a:xfrm>
            <a:off x="6508750" y="355092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2" name="Straight Connector 111"/>
          <p:cNvCxnSpPr/>
          <p:nvPr/>
        </p:nvCxnSpPr>
        <p:spPr>
          <a:xfrm>
            <a:off x="6508750" y="2983230"/>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3" name="Straight Connector 112"/>
          <p:cNvCxnSpPr/>
          <p:nvPr/>
        </p:nvCxnSpPr>
        <p:spPr>
          <a:xfrm>
            <a:off x="6508750" y="3267075"/>
            <a:ext cx="94615"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114" name="Text Box 113"/>
          <p:cNvSpPr txBox="1"/>
          <p:nvPr/>
        </p:nvSpPr>
        <p:spPr>
          <a:xfrm>
            <a:off x="5612130" y="3905250"/>
            <a:ext cx="749935" cy="425450"/>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011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5" name="Text Box 114"/>
          <p:cNvSpPr txBox="1"/>
          <p:nvPr/>
        </p:nvSpPr>
        <p:spPr>
          <a:xfrm>
            <a:off x="5612130" y="4194175"/>
            <a:ext cx="74993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010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6" name="Text Box 115"/>
          <p:cNvSpPr txBox="1"/>
          <p:nvPr/>
        </p:nvSpPr>
        <p:spPr>
          <a:xfrm>
            <a:off x="5612130" y="4469765"/>
            <a:ext cx="74993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001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7" name="Text Box 116"/>
          <p:cNvSpPr txBox="1"/>
          <p:nvPr/>
        </p:nvSpPr>
        <p:spPr>
          <a:xfrm>
            <a:off x="5611495" y="4709795"/>
            <a:ext cx="750570"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000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8" name="Text Box 117"/>
          <p:cNvSpPr txBox="1"/>
          <p:nvPr/>
        </p:nvSpPr>
        <p:spPr>
          <a:xfrm>
            <a:off x="6681470" y="5603240"/>
            <a:ext cx="1937385"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量化等级为</a:t>
            </a:r>
            <a:r>
              <a:rPr lang="en-US" altLang="zh-CN" sz="2200">
                <a:latin typeface="Alibaba PuHuiTi 3.0 55 Regular" panose="00020600040101010101" charset="-122"/>
                <a:ea typeface="Alibaba PuHuiTi 3.0 55 Regular" panose="00020600040101010101" charset="-122"/>
              </a:rPr>
              <a:t>8</a:t>
            </a:r>
            <a:endParaRPr lang="en-US" altLang="zh-CN" sz="2200">
              <a:latin typeface="Alibaba PuHuiTi 3.0 55 Regular" panose="00020600040101010101" charset="-122"/>
              <a:ea typeface="Alibaba PuHuiTi 3.0 55 Regular" panose="00020600040101010101" charset="-122"/>
            </a:endParaRPr>
          </a:p>
        </p:txBody>
      </p:sp>
      <p:cxnSp>
        <p:nvCxnSpPr>
          <p:cNvPr id="119" name="Straight Connector 118"/>
          <p:cNvCxnSpPr/>
          <p:nvPr/>
        </p:nvCxnSpPr>
        <p:spPr>
          <a:xfrm>
            <a:off x="6508750" y="3834765"/>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0" name="Straight Connector 119"/>
          <p:cNvCxnSpPr/>
          <p:nvPr/>
        </p:nvCxnSpPr>
        <p:spPr>
          <a:xfrm>
            <a:off x="6508750" y="411861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1" name="Straight Connector 120"/>
          <p:cNvCxnSpPr/>
          <p:nvPr/>
        </p:nvCxnSpPr>
        <p:spPr>
          <a:xfrm>
            <a:off x="6508750" y="4379595"/>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2" name="Straight Connector 121"/>
          <p:cNvCxnSpPr/>
          <p:nvPr/>
        </p:nvCxnSpPr>
        <p:spPr>
          <a:xfrm>
            <a:off x="6508750" y="4686300"/>
            <a:ext cx="102870"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131" name="Text Box 130"/>
          <p:cNvSpPr txBox="1"/>
          <p:nvPr/>
        </p:nvSpPr>
        <p:spPr>
          <a:xfrm>
            <a:off x="5612765" y="2819400"/>
            <a:ext cx="750570" cy="425450"/>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111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2" name="Text Box 131"/>
          <p:cNvSpPr txBox="1"/>
          <p:nvPr/>
        </p:nvSpPr>
        <p:spPr>
          <a:xfrm>
            <a:off x="5613400" y="3108325"/>
            <a:ext cx="74993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110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3" name="Text Box 132"/>
          <p:cNvSpPr txBox="1"/>
          <p:nvPr/>
        </p:nvSpPr>
        <p:spPr>
          <a:xfrm>
            <a:off x="5613400" y="3383915"/>
            <a:ext cx="749935"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101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4" name="Text Box 133"/>
          <p:cNvSpPr txBox="1"/>
          <p:nvPr/>
        </p:nvSpPr>
        <p:spPr>
          <a:xfrm>
            <a:off x="5612765" y="3623945"/>
            <a:ext cx="750570" cy="429895"/>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100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26" name="Text Box 125"/>
          <p:cNvSpPr txBox="1"/>
          <p:nvPr/>
        </p:nvSpPr>
        <p:spPr>
          <a:xfrm>
            <a:off x="513080" y="5139690"/>
            <a:ext cx="1300480" cy="429895"/>
          </a:xfrm>
          <a:prstGeom prst="rect">
            <a:avLst/>
          </a:prstGeom>
          <a:noFill/>
        </p:spPr>
        <p:txBody>
          <a:bodyPr wrap="square" rtlCol="0">
            <a:noAutofit/>
          </a:bodyPr>
          <a:p>
            <a:pPr algn="l"/>
            <a:r>
              <a:rPr lang="en-US" altLang="zh-CN" sz="1400" b="1">
                <a:solidFill>
                  <a:srgbClr val="00B0F0"/>
                </a:solidFill>
                <a:latin typeface="Alibaba PuHuiTi 3.0 85 Bold" panose="00020600040101010101" charset="-122"/>
                <a:ea typeface="Alibaba PuHuiTi 3.0 85 Bold" panose="00020600040101010101" charset="-122"/>
                <a:cs typeface="Alibaba PuHuiTi 3.0 85 Bold" panose="00020600040101010101" charset="-122"/>
              </a:rPr>
              <a:t>2</a:t>
            </a:r>
            <a:r>
              <a:rPr lang="zh-CN" altLang="en-US" sz="1400" b="1">
                <a:solidFill>
                  <a:srgbClr val="00B0F0"/>
                </a:solidFill>
                <a:latin typeface="Alibaba PuHuiTi 3.0 85 Bold" panose="00020600040101010101" charset="-122"/>
                <a:ea typeface="Alibaba PuHuiTi 3.0 85 Bold" panose="00020600040101010101" charset="-122"/>
                <a:cs typeface="Alibaba PuHuiTi 3.0 85 Bold" panose="00020600040101010101" charset="-122"/>
              </a:rPr>
              <a:t>位二进制数</a:t>
            </a:r>
            <a:endParaRPr lang="zh-CN" altLang="en-US" sz="1400" b="1">
              <a:solidFill>
                <a:srgbClr val="00B0F0"/>
              </a:solidFill>
              <a:latin typeface="Alibaba PuHuiTi 3.0 85 Bold" panose="00020600040101010101" charset="-122"/>
              <a:ea typeface="Alibaba PuHuiTi 3.0 85 Bold" panose="00020600040101010101" charset="-122"/>
              <a:cs typeface="Alibaba PuHuiTi 3.0 85 Bold" panose="00020600040101010101" charset="-122"/>
            </a:endParaRPr>
          </a:p>
          <a:p>
            <a:pPr algn="l"/>
            <a:r>
              <a:rPr lang="en-US" altLang="zh-CN" sz="14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rPr>
              <a:t>4 = 2</a:t>
            </a:r>
            <a:r>
              <a:rPr lang="en-US" altLang="zh-CN" sz="1400" b="1" baseline="30000">
                <a:solidFill>
                  <a:srgbClr val="00B0F0"/>
                </a:solidFill>
                <a:latin typeface="Alibaba PuHuiTi 3.0 85 Bold" panose="00020600040101010101" charset="-122"/>
                <a:ea typeface="Alibaba PuHuiTi 3.0 85 Bold" panose="00020600040101010101" charset="-122"/>
                <a:cs typeface="Alibaba PuHuiTi 3.0 85 Bold" panose="00020600040101010101" charset="-122"/>
              </a:rPr>
              <a:t>2</a:t>
            </a:r>
            <a:endParaRPr lang="en-US" altLang="zh-CN" sz="1400" b="1" baseline="30000">
              <a:solidFill>
                <a:srgbClr val="00B0F0"/>
              </a:solidFill>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127" name="Text Box 126"/>
          <p:cNvSpPr txBox="1"/>
          <p:nvPr/>
        </p:nvSpPr>
        <p:spPr>
          <a:xfrm>
            <a:off x="5407025" y="5139690"/>
            <a:ext cx="1300480" cy="429895"/>
          </a:xfrm>
          <a:prstGeom prst="rect">
            <a:avLst/>
          </a:prstGeom>
          <a:noFill/>
        </p:spPr>
        <p:txBody>
          <a:bodyPr wrap="square" rtlCol="0">
            <a:noAutofit/>
          </a:bodyPr>
          <a:p>
            <a:pPr algn="l"/>
            <a:r>
              <a:rPr lang="en-US" altLang="zh-CN" sz="1400" b="1">
                <a:solidFill>
                  <a:srgbClr val="00B0F0"/>
                </a:solidFill>
                <a:latin typeface="Alibaba PuHuiTi 3.0 85 Bold" panose="00020600040101010101" charset="-122"/>
                <a:ea typeface="Alibaba PuHuiTi 3.0 85 Bold" panose="00020600040101010101" charset="-122"/>
                <a:cs typeface="Alibaba PuHuiTi 3.0 85 Bold" panose="00020600040101010101" charset="-122"/>
              </a:rPr>
              <a:t>3</a:t>
            </a:r>
            <a:r>
              <a:rPr lang="zh-CN" altLang="en-US" sz="1400" b="1">
                <a:solidFill>
                  <a:srgbClr val="00B0F0"/>
                </a:solidFill>
                <a:latin typeface="Alibaba PuHuiTi 3.0 85 Bold" panose="00020600040101010101" charset="-122"/>
                <a:ea typeface="Alibaba PuHuiTi 3.0 85 Bold" panose="00020600040101010101" charset="-122"/>
                <a:cs typeface="Alibaba PuHuiTi 3.0 85 Bold" panose="00020600040101010101" charset="-122"/>
              </a:rPr>
              <a:t>位二进制数</a:t>
            </a:r>
            <a:endParaRPr lang="zh-CN" altLang="en-US" sz="1400" b="1">
              <a:solidFill>
                <a:srgbClr val="00B0F0"/>
              </a:solidFill>
              <a:latin typeface="Alibaba PuHuiTi 3.0 85 Bold" panose="00020600040101010101" charset="-122"/>
              <a:ea typeface="Alibaba PuHuiTi 3.0 85 Bold" panose="00020600040101010101" charset="-122"/>
              <a:cs typeface="Alibaba PuHuiTi 3.0 85 Bold" panose="00020600040101010101" charset="-122"/>
            </a:endParaRPr>
          </a:p>
          <a:p>
            <a:pPr algn="l"/>
            <a:r>
              <a:rPr lang="en-US" altLang="zh-CN" sz="1400" b="1">
                <a:solidFill>
                  <a:schemeClr val="tx1"/>
                </a:solidFill>
                <a:latin typeface="Alibaba PuHuiTi 3.0 85 Bold" panose="00020600040101010101" charset="-122"/>
                <a:ea typeface="Alibaba PuHuiTi 3.0 85 Bold" panose="00020600040101010101" charset="-122"/>
                <a:cs typeface="Alibaba PuHuiTi 3.0 85 Bold" panose="00020600040101010101" charset="-122"/>
              </a:rPr>
              <a:t>8 = 2</a:t>
            </a:r>
            <a:r>
              <a:rPr lang="en-US" altLang="zh-CN" sz="1400" b="1" baseline="30000">
                <a:solidFill>
                  <a:srgbClr val="00B0F0"/>
                </a:solidFill>
                <a:latin typeface="Alibaba PuHuiTi 3.0 85 Bold" panose="00020600040101010101" charset="-122"/>
                <a:ea typeface="Alibaba PuHuiTi 3.0 85 Bold" panose="00020600040101010101" charset="-122"/>
                <a:cs typeface="Alibaba PuHuiTi 3.0 85 Bold" panose="00020600040101010101" charset="-122"/>
              </a:rPr>
              <a:t>3</a:t>
            </a:r>
            <a:endParaRPr lang="en-US" altLang="zh-CN" sz="1400" b="1" baseline="30000">
              <a:solidFill>
                <a:srgbClr val="00B0F0"/>
              </a:solidFill>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6" name="Text Box 5"/>
          <p:cNvSpPr txBox="1"/>
          <p:nvPr/>
        </p:nvSpPr>
        <p:spPr>
          <a:xfrm>
            <a:off x="163195" y="5476240"/>
            <a:ext cx="1812290" cy="570865"/>
          </a:xfrm>
          <a:prstGeom prst="rect">
            <a:avLst/>
          </a:prstGeom>
          <a:noFill/>
        </p:spPr>
        <p:txBody>
          <a:bodyPr wrap="square" rtlCol="0">
            <a:noAutofit/>
          </a:bodyPr>
          <a:p>
            <a:pPr indent="0">
              <a:lnSpc>
                <a:spcPct val="150000"/>
              </a:lnSpc>
              <a:buFont typeface="Arial" panose="020B0604020202090204" pitchFamily="34" charset="0"/>
              <a:buNone/>
            </a:pPr>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量化位数为</a:t>
            </a:r>
            <a:r>
              <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2</a:t>
            </a:r>
            <a:endPar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7" name="Text Box 6"/>
          <p:cNvSpPr txBox="1"/>
          <p:nvPr/>
        </p:nvSpPr>
        <p:spPr>
          <a:xfrm>
            <a:off x="5006340" y="5462270"/>
            <a:ext cx="1812290" cy="570865"/>
          </a:xfrm>
          <a:prstGeom prst="rect">
            <a:avLst/>
          </a:prstGeom>
          <a:noFill/>
        </p:spPr>
        <p:txBody>
          <a:bodyPr wrap="square" rtlCol="0">
            <a:noAutofit/>
          </a:bodyPr>
          <a:p>
            <a:pPr indent="0">
              <a:lnSpc>
                <a:spcPct val="150000"/>
              </a:lnSpc>
              <a:buFont typeface="Arial" panose="020B0604020202090204" pitchFamily="34" charset="0"/>
              <a:buNone/>
            </a:pPr>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量化位数为</a:t>
            </a:r>
            <a:r>
              <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3</a:t>
            </a:r>
            <a:endPar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endParaRPr>
          </a:p>
        </p:txBody>
      </p:sp>
      <p:sp>
        <p:nvSpPr>
          <p:cNvPr id="30" name="Text Box 29"/>
          <p:cNvSpPr txBox="1"/>
          <p:nvPr/>
        </p:nvSpPr>
        <p:spPr>
          <a:xfrm>
            <a:off x="5002530" y="6044565"/>
            <a:ext cx="7189470" cy="570865"/>
          </a:xfrm>
          <a:prstGeom prst="rect">
            <a:avLst/>
          </a:prstGeom>
          <a:noFill/>
        </p:spPr>
        <p:txBody>
          <a:bodyPr wrap="square" rtlCol="0">
            <a:noAutofit/>
          </a:bodyPr>
          <a:p>
            <a:pPr indent="0">
              <a:lnSpc>
                <a:spcPct val="100000"/>
              </a:lnSpc>
              <a:buFont typeface="Arial" panose="020B0604020202090204" pitchFamily="34" charset="0"/>
              <a:buNone/>
            </a:pPr>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量化位数越多</a:t>
            </a:r>
            <a:r>
              <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a:t>
            </a:r>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声音越接近原始信号</a:t>
            </a:r>
            <a:r>
              <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a:t>
            </a:r>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音频的质量越好</a:t>
            </a:r>
            <a:r>
              <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a:t>
            </a:r>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但存储的容量也越大</a:t>
            </a:r>
            <a:r>
              <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a:t>
            </a:r>
            <a:endPar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3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zh-CN" altLang="en-US"/>
              <a:t>一个关于量化等级的类比</a:t>
            </a:r>
            <a:r>
              <a:rPr lang="en-US" altLang="zh-CN"/>
              <a:t>：</a:t>
            </a:r>
            <a:r>
              <a:rPr lang="zh-CN" altLang="en-US"/>
              <a:t>“成绩分</a:t>
            </a:r>
            <a:r>
              <a:rPr lang="zh-CN" altLang="en-US"/>
              <a:t>等级”</a:t>
            </a:r>
            <a:endParaRPr lang="zh-CN" altLang="en-US"/>
          </a:p>
        </p:txBody>
      </p:sp>
      <p:graphicFrame>
        <p:nvGraphicFramePr>
          <p:cNvPr id="4" name="Content Placeholder 3"/>
          <p:cNvGraphicFramePr/>
          <p:nvPr>
            <p:ph idx="1"/>
            <p:custDataLst>
              <p:tags r:id="rId2"/>
            </p:custDataLst>
          </p:nvPr>
        </p:nvGraphicFramePr>
        <p:xfrm>
          <a:off x="6170295" y="2014220"/>
          <a:ext cx="2650490" cy="1520190"/>
        </p:xfrm>
        <a:graphic>
          <a:graphicData uri="http://schemas.openxmlformats.org/drawingml/2006/table">
            <a:tbl>
              <a:tblPr firstRow="1">
                <a:tableStyleId>{2CD59E38-F5E1-4D73-BE46-D8D288EA628F}</a:tableStyleId>
              </a:tblPr>
              <a:tblGrid>
                <a:gridCol w="1325245"/>
                <a:gridCol w="1325245"/>
              </a:tblGrid>
              <a:tr h="377190">
                <a:tc>
                  <a:txBody>
                    <a:bodyPr/>
                    <a:p>
                      <a:pPr>
                        <a:buNone/>
                      </a:pPr>
                      <a:r>
                        <a:rPr lang="zh-CN" altLang="en-US"/>
                        <a:t>分数</a:t>
                      </a:r>
                      <a:endParaRPr lang="zh-CN" altLang="en-US"/>
                    </a:p>
                  </a:txBody>
                  <a:tcPr/>
                </a:tc>
                <a:tc>
                  <a:txBody>
                    <a:bodyPr/>
                    <a:p>
                      <a:pPr>
                        <a:buNone/>
                      </a:pPr>
                      <a:r>
                        <a:rPr lang="zh-CN" altLang="en-US"/>
                        <a:t>等级</a:t>
                      </a:r>
                      <a:endParaRPr lang="zh-CN" altLang="en-US"/>
                    </a:p>
                  </a:txBody>
                  <a:tcPr/>
                </a:tc>
              </a:tr>
              <a:tr h="381000">
                <a:tc>
                  <a:txBody>
                    <a:bodyPr/>
                    <a:p>
                      <a:pPr>
                        <a:buNone/>
                      </a:pPr>
                      <a:r>
                        <a:rPr lang="en-US"/>
                        <a:t>80</a:t>
                      </a:r>
                      <a:endParaRPr lang="en-US"/>
                    </a:p>
                  </a:txBody>
                  <a:tcPr/>
                </a:tc>
                <a:tc>
                  <a:txBody>
                    <a:bodyPr/>
                    <a:p>
                      <a:pPr>
                        <a:buNone/>
                      </a:pPr>
                      <a:r>
                        <a:rPr lang="en-US"/>
                        <a:t>B</a:t>
                      </a:r>
                      <a:endParaRPr lang="en-US"/>
                    </a:p>
                  </a:txBody>
                  <a:tcPr/>
                </a:tc>
              </a:tr>
              <a:tr h="381000">
                <a:tc>
                  <a:txBody>
                    <a:bodyPr/>
                    <a:p>
                      <a:pPr>
                        <a:buNone/>
                      </a:pPr>
                      <a:r>
                        <a:rPr lang="en-US"/>
                        <a:t>60</a:t>
                      </a:r>
                      <a:endParaRPr lang="en-US"/>
                    </a:p>
                  </a:txBody>
                  <a:tcPr/>
                </a:tc>
                <a:tc>
                  <a:txBody>
                    <a:bodyPr/>
                    <a:p>
                      <a:pPr>
                        <a:buNone/>
                      </a:pPr>
                      <a:r>
                        <a:rPr lang="en-US"/>
                        <a:t>B</a:t>
                      </a:r>
                      <a:endParaRPr lang="en-US"/>
                    </a:p>
                  </a:txBody>
                  <a:tcPr/>
                </a:tc>
              </a:tr>
              <a:tr h="381000">
                <a:tc>
                  <a:txBody>
                    <a:bodyPr/>
                    <a:p>
                      <a:pPr>
                        <a:buNone/>
                      </a:pPr>
                      <a:r>
                        <a:rPr lang="en-US"/>
                        <a:t>...</a:t>
                      </a:r>
                      <a:endParaRPr lang="en-US"/>
                    </a:p>
                  </a:txBody>
                  <a:tcPr/>
                </a:tc>
                <a:tc>
                  <a:txBody>
                    <a:bodyPr/>
                    <a:p>
                      <a:pPr>
                        <a:buNone/>
                      </a:pPr>
                      <a:r>
                        <a:rPr lang="en-US" sz="1800">
                          <a:sym typeface="+mn-ea"/>
                        </a:rPr>
                        <a:t>...</a:t>
                      </a:r>
                      <a:endParaRPr lang="en-US"/>
                    </a:p>
                  </a:txBody>
                  <a:tcPr/>
                </a:tc>
              </a:tr>
            </a:tbl>
          </a:graphicData>
        </a:graphic>
      </p:graphicFrame>
      <p:sp>
        <p:nvSpPr>
          <p:cNvPr id="5" name="Text Box 4"/>
          <p:cNvSpPr txBox="1"/>
          <p:nvPr/>
        </p:nvSpPr>
        <p:spPr>
          <a:xfrm>
            <a:off x="2826385" y="1713865"/>
            <a:ext cx="2488565" cy="174307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方案</a:t>
            </a:r>
            <a:r>
              <a:rPr lang="en-US" altLang="zh-CN" sz="2200">
                <a:latin typeface="Alibaba PuHuiTi 3.0 55 Regular" panose="00020600040101010101" charset="-122"/>
                <a:ea typeface="Alibaba PuHuiTi 3.0 55 Regular" panose="00020600040101010101" charset="-122"/>
              </a:rPr>
              <a:t>1: </a:t>
            </a:r>
            <a:r>
              <a:rPr lang="zh-CN" altLang="en-US" sz="2200">
                <a:latin typeface="Alibaba PuHuiTi 3.0 55 Regular" panose="00020600040101010101" charset="-122"/>
                <a:ea typeface="Alibaba PuHuiTi 3.0 55 Regular" panose="00020600040101010101" charset="-122"/>
              </a:rPr>
              <a:t>三个</a:t>
            </a:r>
            <a:r>
              <a:rPr lang="zh-CN" altLang="en-US" sz="2200">
                <a:latin typeface="Alibaba PuHuiTi 3.0 55 Regular" panose="00020600040101010101" charset="-122"/>
                <a:ea typeface="Alibaba PuHuiTi 3.0 55 Regular" panose="00020600040101010101" charset="-122"/>
              </a:rPr>
              <a:t>等级</a:t>
            </a:r>
            <a:endParaRPr lang="zh-CN" altLang="en-US" sz="2200">
              <a:latin typeface="Alibaba PuHuiTi 3.0 55 Regular" panose="00020600040101010101" charset="-122"/>
              <a:ea typeface="Alibaba PuHuiTi 3.0 55 Regular" panose="00020600040101010101" charset="-122"/>
            </a:endParaRPr>
          </a:p>
          <a:p>
            <a:r>
              <a:rPr lang="en-US" altLang="zh-CN" sz="2200">
                <a:latin typeface="Alibaba PuHuiTi 3.0 55 Regular" panose="00020600040101010101" charset="-122"/>
                <a:ea typeface="Alibaba PuHuiTi 3.0 55 Regular" panose="00020600040101010101" charset="-122"/>
              </a:rPr>
              <a:t>A: 90 ~ 100</a:t>
            </a:r>
            <a:endParaRPr lang="en-US" altLang="zh-CN" sz="2200">
              <a:latin typeface="Alibaba PuHuiTi 3.0 55 Regular" panose="00020600040101010101" charset="-122"/>
              <a:ea typeface="Alibaba PuHuiTi 3.0 55 Regular" panose="00020600040101010101" charset="-122"/>
            </a:endParaRPr>
          </a:p>
          <a:p>
            <a:r>
              <a:rPr lang="en-US" altLang="zh-CN" sz="2200">
                <a:latin typeface="Alibaba PuHuiTi 3.0 55 Regular" panose="00020600040101010101" charset="-122"/>
                <a:ea typeface="Alibaba PuHuiTi 3.0 55 Regular" panose="00020600040101010101" charset="-122"/>
              </a:rPr>
              <a:t>B: 60 ~ 89</a:t>
            </a:r>
            <a:endParaRPr lang="en-US" altLang="zh-CN" sz="2200">
              <a:latin typeface="Alibaba PuHuiTi 3.0 55 Regular" panose="00020600040101010101" charset="-122"/>
              <a:ea typeface="Alibaba PuHuiTi 3.0 55 Regular" panose="00020600040101010101" charset="-122"/>
            </a:endParaRPr>
          </a:p>
          <a:p>
            <a:r>
              <a:rPr lang="en-US" altLang="zh-CN" sz="2200">
                <a:latin typeface="Alibaba PuHuiTi 3.0 55 Regular" panose="00020600040101010101" charset="-122"/>
                <a:ea typeface="Alibaba PuHuiTi 3.0 55 Regular" panose="00020600040101010101" charset="-122"/>
              </a:rPr>
              <a:t>C: 60</a:t>
            </a:r>
            <a:r>
              <a:rPr lang="zh-CN" altLang="en-US" sz="2200">
                <a:latin typeface="Alibaba PuHuiTi 3.0 55 Regular" panose="00020600040101010101" charset="-122"/>
                <a:ea typeface="Alibaba PuHuiTi 3.0 55 Regular" panose="00020600040101010101" charset="-122"/>
              </a:rPr>
              <a:t>分一下</a:t>
            </a:r>
            <a:endParaRPr lang="en-US" altLang="zh-CN" sz="2200">
              <a:latin typeface="Alibaba PuHuiTi 3.0 55 Regular" panose="00020600040101010101" charset="-122"/>
              <a:ea typeface="Alibaba PuHuiTi 3.0 55 Regular" panose="00020600040101010101" charset="-122"/>
            </a:endParaRPr>
          </a:p>
          <a:p>
            <a:endParaRPr lang="en-US" altLang="zh-CN" sz="2200">
              <a:latin typeface="Alibaba PuHuiTi 3.0 55 Regular" panose="00020600040101010101" charset="-122"/>
              <a:ea typeface="Alibaba PuHuiTi 3.0 55 Regular" panose="00020600040101010101" charset="-122"/>
            </a:endParaRPr>
          </a:p>
        </p:txBody>
      </p:sp>
      <p:graphicFrame>
        <p:nvGraphicFramePr>
          <p:cNvPr id="6" name="Table 5"/>
          <p:cNvGraphicFramePr/>
          <p:nvPr>
            <p:custDataLst>
              <p:tags r:id="rId3"/>
            </p:custDataLst>
          </p:nvPr>
        </p:nvGraphicFramePr>
        <p:xfrm>
          <a:off x="794385" y="2772410"/>
          <a:ext cx="2650490" cy="1524000"/>
        </p:xfrm>
        <a:graphic>
          <a:graphicData uri="http://schemas.openxmlformats.org/drawingml/2006/table">
            <a:tbl>
              <a:tblPr firstRow="1">
                <a:tableStyleId>{2CD59E38-F5E1-4D73-BE46-D8D288EA628F}</a:tableStyleId>
              </a:tblPr>
              <a:tblGrid>
                <a:gridCol w="1325245"/>
              </a:tblGrid>
              <a:tr h="381000">
                <a:tc>
                  <a:txBody>
                    <a:bodyPr/>
                    <a:p>
                      <a:pPr>
                        <a:buNone/>
                      </a:pPr>
                      <a:r>
                        <a:rPr lang="zh-CN" altLang="en-US"/>
                        <a:t>分数</a:t>
                      </a:r>
                      <a:endParaRPr lang="zh-CN" altLang="en-US"/>
                    </a:p>
                  </a:txBody>
                  <a:tcPr/>
                </a:tc>
              </a:tr>
              <a:tr h="381000">
                <a:tc>
                  <a:txBody>
                    <a:bodyPr/>
                    <a:p>
                      <a:pPr>
                        <a:buNone/>
                      </a:pPr>
                      <a:r>
                        <a:rPr lang="en-US"/>
                        <a:t>80</a:t>
                      </a:r>
                      <a:endParaRPr lang="en-US"/>
                    </a:p>
                  </a:txBody>
                  <a:tcPr/>
                </a:tc>
              </a:tr>
              <a:tr h="381000">
                <a:tc>
                  <a:txBody>
                    <a:bodyPr/>
                    <a:p>
                      <a:pPr>
                        <a:buNone/>
                      </a:pPr>
                      <a:r>
                        <a:rPr lang="en-US"/>
                        <a:t>60</a:t>
                      </a:r>
                      <a:endParaRPr lang="en-US"/>
                    </a:p>
                  </a:txBody>
                  <a:tcPr/>
                </a:tc>
              </a:tr>
              <a:tr h="381000">
                <a:tc>
                  <a:txBody>
                    <a:bodyPr/>
                    <a:p>
                      <a:pPr>
                        <a:buNone/>
                      </a:pPr>
                      <a:r>
                        <a:rPr lang="en-US"/>
                        <a:t>...</a:t>
                      </a:r>
                      <a:endParaRPr lang="en-US"/>
                    </a:p>
                  </a:txBody>
                  <a:tcPr/>
                </a:tc>
              </a:tr>
            </a:tbl>
          </a:graphicData>
        </a:graphic>
      </p:graphicFrame>
      <p:cxnSp>
        <p:nvCxnSpPr>
          <p:cNvPr id="9" name="Straight Connector 8"/>
          <p:cNvCxnSpPr/>
          <p:nvPr/>
        </p:nvCxnSpPr>
        <p:spPr>
          <a:xfrm flipH="1">
            <a:off x="2699385" y="2811780"/>
            <a:ext cx="3224530" cy="72263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24" name="Rectangle 23"/>
          <p:cNvSpPr/>
          <p:nvPr/>
        </p:nvSpPr>
        <p:spPr>
          <a:xfrm>
            <a:off x="6096000" y="2361565"/>
            <a:ext cx="2286635" cy="807720"/>
          </a:xfrm>
          <a:prstGeom prst="rect">
            <a:avLst/>
          </a:prstGeom>
          <a:noFill/>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8957310" y="2498090"/>
            <a:ext cx="1797050" cy="429895"/>
          </a:xfrm>
          <a:prstGeom prst="rect">
            <a:avLst/>
          </a:prstGeom>
          <a:noFill/>
        </p:spPr>
        <p:txBody>
          <a:bodyPr wrap="square" rtlCol="0">
            <a:noAutofit/>
          </a:bodyPr>
          <a:p>
            <a:r>
              <a:rPr lang="zh-CN" altLang="en-US" sz="2200">
                <a:solidFill>
                  <a:srgbClr val="FF0000"/>
                </a:solidFill>
                <a:latin typeface="Alibaba PuHuiTi 3.0 55 Regular" panose="00020600040101010101" charset="-122"/>
                <a:ea typeface="Alibaba PuHuiTi 3.0 55 Regular" panose="00020600040101010101" charset="-122"/>
              </a:rPr>
              <a:t>区分度</a:t>
            </a:r>
            <a:r>
              <a:rPr lang="zh-CN" altLang="en-US" sz="2200">
                <a:solidFill>
                  <a:srgbClr val="FF0000"/>
                </a:solidFill>
                <a:latin typeface="Alibaba PuHuiTi 3.0 55 Regular" panose="00020600040101010101" charset="-122"/>
                <a:ea typeface="Alibaba PuHuiTi 3.0 55 Regular" panose="00020600040101010101" charset="-122"/>
              </a:rPr>
              <a:t>不够</a:t>
            </a:r>
            <a:endParaRPr lang="zh-CN" altLang="en-US" sz="2200">
              <a:solidFill>
                <a:srgbClr val="FF0000"/>
              </a:solidFill>
              <a:latin typeface="Alibaba PuHuiTi 3.0 55 Regular" panose="00020600040101010101" charset="-122"/>
              <a:ea typeface="Alibaba PuHuiTi 3.0 55 Regular" panose="00020600040101010101" charset="-122"/>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4" grpId="0" bldLvl="0" animBg="1"/>
      <p:bldP spid="1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zh-CN" altLang="en-US"/>
              <a:t>一个关于量化等级的类比</a:t>
            </a:r>
            <a:r>
              <a:rPr lang="en-US" altLang="zh-CN"/>
              <a:t>：</a:t>
            </a:r>
            <a:r>
              <a:rPr lang="zh-CN" altLang="en-US"/>
              <a:t>“成绩分</a:t>
            </a:r>
            <a:r>
              <a:rPr lang="zh-CN" altLang="en-US"/>
              <a:t>等级”</a:t>
            </a:r>
            <a:endParaRPr lang="zh-CN" altLang="en-US"/>
          </a:p>
        </p:txBody>
      </p:sp>
      <p:graphicFrame>
        <p:nvGraphicFramePr>
          <p:cNvPr id="4" name="Content Placeholder 3"/>
          <p:cNvGraphicFramePr/>
          <p:nvPr>
            <p:ph idx="1"/>
            <p:custDataLst>
              <p:tags r:id="rId2"/>
            </p:custDataLst>
          </p:nvPr>
        </p:nvGraphicFramePr>
        <p:xfrm>
          <a:off x="6170295" y="2014220"/>
          <a:ext cx="2650490" cy="1520190"/>
        </p:xfrm>
        <a:graphic>
          <a:graphicData uri="http://schemas.openxmlformats.org/drawingml/2006/table">
            <a:tbl>
              <a:tblPr firstRow="1">
                <a:tableStyleId>{2CD59E38-F5E1-4D73-BE46-D8D288EA628F}</a:tableStyleId>
              </a:tblPr>
              <a:tblGrid>
                <a:gridCol w="1325245"/>
                <a:gridCol w="1325245"/>
              </a:tblGrid>
              <a:tr h="377190">
                <a:tc>
                  <a:txBody>
                    <a:bodyPr/>
                    <a:p>
                      <a:pPr>
                        <a:buNone/>
                      </a:pPr>
                      <a:r>
                        <a:rPr lang="zh-CN" altLang="en-US"/>
                        <a:t>分数</a:t>
                      </a:r>
                      <a:endParaRPr lang="zh-CN" altLang="en-US"/>
                    </a:p>
                  </a:txBody>
                  <a:tcPr/>
                </a:tc>
                <a:tc>
                  <a:txBody>
                    <a:bodyPr/>
                    <a:p>
                      <a:pPr>
                        <a:buNone/>
                      </a:pPr>
                      <a:r>
                        <a:rPr lang="zh-CN" altLang="en-US"/>
                        <a:t>等级</a:t>
                      </a:r>
                      <a:endParaRPr lang="zh-CN" altLang="en-US"/>
                    </a:p>
                  </a:txBody>
                  <a:tcPr/>
                </a:tc>
              </a:tr>
              <a:tr h="381000">
                <a:tc>
                  <a:txBody>
                    <a:bodyPr/>
                    <a:p>
                      <a:pPr>
                        <a:buNone/>
                      </a:pPr>
                      <a:r>
                        <a:rPr lang="en-US"/>
                        <a:t>80</a:t>
                      </a:r>
                      <a:endParaRPr lang="en-US"/>
                    </a:p>
                  </a:txBody>
                  <a:tcPr/>
                </a:tc>
                <a:tc>
                  <a:txBody>
                    <a:bodyPr/>
                    <a:p>
                      <a:pPr>
                        <a:buNone/>
                      </a:pPr>
                      <a:r>
                        <a:rPr lang="en-US"/>
                        <a:t>B</a:t>
                      </a:r>
                      <a:endParaRPr lang="en-US"/>
                    </a:p>
                  </a:txBody>
                  <a:tcPr/>
                </a:tc>
              </a:tr>
              <a:tr h="381000">
                <a:tc>
                  <a:txBody>
                    <a:bodyPr/>
                    <a:p>
                      <a:pPr>
                        <a:buNone/>
                      </a:pPr>
                      <a:r>
                        <a:rPr lang="en-US"/>
                        <a:t>60</a:t>
                      </a:r>
                      <a:endParaRPr lang="en-US"/>
                    </a:p>
                  </a:txBody>
                  <a:tcPr/>
                </a:tc>
                <a:tc>
                  <a:txBody>
                    <a:bodyPr/>
                    <a:p>
                      <a:pPr>
                        <a:buNone/>
                      </a:pPr>
                      <a:r>
                        <a:rPr lang="en-US"/>
                        <a:t>B</a:t>
                      </a:r>
                      <a:endParaRPr lang="en-US"/>
                    </a:p>
                  </a:txBody>
                  <a:tcPr/>
                </a:tc>
              </a:tr>
              <a:tr h="381000">
                <a:tc>
                  <a:txBody>
                    <a:bodyPr/>
                    <a:p>
                      <a:pPr>
                        <a:buNone/>
                      </a:pPr>
                      <a:r>
                        <a:rPr lang="en-US"/>
                        <a:t>...</a:t>
                      </a:r>
                      <a:endParaRPr lang="en-US"/>
                    </a:p>
                  </a:txBody>
                  <a:tcPr/>
                </a:tc>
                <a:tc>
                  <a:txBody>
                    <a:bodyPr/>
                    <a:p>
                      <a:pPr>
                        <a:buNone/>
                      </a:pPr>
                      <a:r>
                        <a:rPr lang="en-US" sz="1800">
                          <a:sym typeface="+mn-ea"/>
                        </a:rPr>
                        <a:t>...</a:t>
                      </a:r>
                      <a:endParaRPr lang="en-US"/>
                    </a:p>
                  </a:txBody>
                  <a:tcPr/>
                </a:tc>
              </a:tr>
            </a:tbl>
          </a:graphicData>
        </a:graphic>
      </p:graphicFrame>
      <p:sp>
        <p:nvSpPr>
          <p:cNvPr id="5" name="Text Box 4"/>
          <p:cNvSpPr txBox="1"/>
          <p:nvPr/>
        </p:nvSpPr>
        <p:spPr>
          <a:xfrm>
            <a:off x="2826385" y="1713865"/>
            <a:ext cx="2488565" cy="174307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方案</a:t>
            </a:r>
            <a:r>
              <a:rPr lang="en-US" altLang="zh-CN" sz="2200">
                <a:latin typeface="Alibaba PuHuiTi 3.0 55 Regular" panose="00020600040101010101" charset="-122"/>
                <a:ea typeface="Alibaba PuHuiTi 3.0 55 Regular" panose="00020600040101010101" charset="-122"/>
              </a:rPr>
              <a:t>1: </a:t>
            </a:r>
            <a:r>
              <a:rPr lang="zh-CN" altLang="en-US" sz="2200">
                <a:latin typeface="Alibaba PuHuiTi 3.0 55 Regular" panose="00020600040101010101" charset="-122"/>
                <a:ea typeface="Alibaba PuHuiTi 3.0 55 Regular" panose="00020600040101010101" charset="-122"/>
              </a:rPr>
              <a:t>三个</a:t>
            </a:r>
            <a:r>
              <a:rPr lang="zh-CN" altLang="en-US" sz="2200">
                <a:latin typeface="Alibaba PuHuiTi 3.0 55 Regular" panose="00020600040101010101" charset="-122"/>
                <a:ea typeface="Alibaba PuHuiTi 3.0 55 Regular" panose="00020600040101010101" charset="-122"/>
              </a:rPr>
              <a:t>等级</a:t>
            </a:r>
            <a:endParaRPr lang="zh-CN" altLang="en-US" sz="2200">
              <a:latin typeface="Alibaba PuHuiTi 3.0 55 Regular" panose="00020600040101010101" charset="-122"/>
              <a:ea typeface="Alibaba PuHuiTi 3.0 55 Regular" panose="00020600040101010101" charset="-122"/>
            </a:endParaRPr>
          </a:p>
          <a:p>
            <a:r>
              <a:rPr lang="en-US" altLang="zh-CN" sz="2200">
                <a:latin typeface="Alibaba PuHuiTi 3.0 55 Regular" panose="00020600040101010101" charset="-122"/>
                <a:ea typeface="Alibaba PuHuiTi 3.0 55 Regular" panose="00020600040101010101" charset="-122"/>
              </a:rPr>
              <a:t>A: 90 ~ 100</a:t>
            </a:r>
            <a:endParaRPr lang="en-US" altLang="zh-CN" sz="2200">
              <a:latin typeface="Alibaba PuHuiTi 3.0 55 Regular" panose="00020600040101010101" charset="-122"/>
              <a:ea typeface="Alibaba PuHuiTi 3.0 55 Regular" panose="00020600040101010101" charset="-122"/>
            </a:endParaRPr>
          </a:p>
          <a:p>
            <a:r>
              <a:rPr lang="en-US" altLang="zh-CN" sz="2200">
                <a:latin typeface="Alibaba PuHuiTi 3.0 55 Regular" panose="00020600040101010101" charset="-122"/>
                <a:ea typeface="Alibaba PuHuiTi 3.0 55 Regular" panose="00020600040101010101" charset="-122"/>
              </a:rPr>
              <a:t>B: 60 ~ 89</a:t>
            </a:r>
            <a:endParaRPr lang="en-US" altLang="zh-CN" sz="2200">
              <a:latin typeface="Alibaba PuHuiTi 3.0 55 Regular" panose="00020600040101010101" charset="-122"/>
              <a:ea typeface="Alibaba PuHuiTi 3.0 55 Regular" panose="00020600040101010101" charset="-122"/>
            </a:endParaRPr>
          </a:p>
          <a:p>
            <a:r>
              <a:rPr lang="en-US" altLang="zh-CN" sz="2200">
                <a:latin typeface="Alibaba PuHuiTi 3.0 55 Regular" panose="00020600040101010101" charset="-122"/>
                <a:ea typeface="Alibaba PuHuiTi 3.0 55 Regular" panose="00020600040101010101" charset="-122"/>
              </a:rPr>
              <a:t>C: 60</a:t>
            </a:r>
            <a:r>
              <a:rPr lang="zh-CN" altLang="en-US" sz="2200">
                <a:latin typeface="Alibaba PuHuiTi 3.0 55 Regular" panose="00020600040101010101" charset="-122"/>
                <a:ea typeface="Alibaba PuHuiTi 3.0 55 Regular" panose="00020600040101010101" charset="-122"/>
              </a:rPr>
              <a:t>分一下</a:t>
            </a:r>
            <a:endParaRPr lang="en-US" altLang="zh-CN" sz="2200">
              <a:latin typeface="Alibaba PuHuiTi 3.0 55 Regular" panose="00020600040101010101" charset="-122"/>
              <a:ea typeface="Alibaba PuHuiTi 3.0 55 Regular" panose="00020600040101010101" charset="-122"/>
            </a:endParaRPr>
          </a:p>
          <a:p>
            <a:endParaRPr lang="en-US" altLang="zh-CN" sz="2200">
              <a:latin typeface="Alibaba PuHuiTi 3.0 55 Regular" panose="00020600040101010101" charset="-122"/>
              <a:ea typeface="Alibaba PuHuiTi 3.0 55 Regular" panose="00020600040101010101" charset="-122"/>
            </a:endParaRPr>
          </a:p>
        </p:txBody>
      </p:sp>
      <p:graphicFrame>
        <p:nvGraphicFramePr>
          <p:cNvPr id="6" name="Table 5"/>
          <p:cNvGraphicFramePr/>
          <p:nvPr>
            <p:custDataLst>
              <p:tags r:id="rId3"/>
            </p:custDataLst>
          </p:nvPr>
        </p:nvGraphicFramePr>
        <p:xfrm>
          <a:off x="794385" y="2772410"/>
          <a:ext cx="2650490" cy="1524000"/>
        </p:xfrm>
        <a:graphic>
          <a:graphicData uri="http://schemas.openxmlformats.org/drawingml/2006/table">
            <a:tbl>
              <a:tblPr firstRow="1">
                <a:tableStyleId>{2CD59E38-F5E1-4D73-BE46-D8D288EA628F}</a:tableStyleId>
              </a:tblPr>
              <a:tblGrid>
                <a:gridCol w="1325245"/>
              </a:tblGrid>
              <a:tr h="381000">
                <a:tc>
                  <a:txBody>
                    <a:bodyPr/>
                    <a:p>
                      <a:pPr>
                        <a:buNone/>
                      </a:pPr>
                      <a:r>
                        <a:rPr lang="zh-CN" altLang="en-US"/>
                        <a:t>分数</a:t>
                      </a:r>
                      <a:endParaRPr lang="zh-CN" altLang="en-US"/>
                    </a:p>
                  </a:txBody>
                  <a:tcPr/>
                </a:tc>
              </a:tr>
              <a:tr h="381000">
                <a:tc>
                  <a:txBody>
                    <a:bodyPr/>
                    <a:p>
                      <a:pPr>
                        <a:buNone/>
                      </a:pPr>
                      <a:r>
                        <a:rPr lang="en-US"/>
                        <a:t>80</a:t>
                      </a:r>
                      <a:endParaRPr lang="en-US"/>
                    </a:p>
                  </a:txBody>
                  <a:tcPr/>
                </a:tc>
              </a:tr>
              <a:tr h="381000">
                <a:tc>
                  <a:txBody>
                    <a:bodyPr/>
                    <a:p>
                      <a:pPr>
                        <a:buNone/>
                      </a:pPr>
                      <a:r>
                        <a:rPr lang="en-US"/>
                        <a:t>60</a:t>
                      </a:r>
                      <a:endParaRPr lang="en-US"/>
                    </a:p>
                  </a:txBody>
                  <a:tcPr/>
                </a:tc>
              </a:tr>
              <a:tr h="381000">
                <a:tc>
                  <a:txBody>
                    <a:bodyPr/>
                    <a:p>
                      <a:pPr>
                        <a:buNone/>
                      </a:pPr>
                      <a:r>
                        <a:rPr lang="en-US"/>
                        <a:t>...</a:t>
                      </a:r>
                      <a:endParaRPr lang="en-US"/>
                    </a:p>
                  </a:txBody>
                  <a:tcPr/>
                </a:tc>
              </a:tr>
            </a:tbl>
          </a:graphicData>
        </a:graphic>
      </p:graphicFrame>
      <p:cxnSp>
        <p:nvCxnSpPr>
          <p:cNvPr id="9" name="Straight Connector 8"/>
          <p:cNvCxnSpPr/>
          <p:nvPr/>
        </p:nvCxnSpPr>
        <p:spPr>
          <a:xfrm flipH="1">
            <a:off x="2699385" y="2811780"/>
            <a:ext cx="3224530" cy="72263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cxnSp>
        <p:nvCxnSpPr>
          <p:cNvPr id="7" name="Straight Connector 6"/>
          <p:cNvCxnSpPr/>
          <p:nvPr/>
        </p:nvCxnSpPr>
        <p:spPr>
          <a:xfrm flipH="1" flipV="1">
            <a:off x="2699385" y="3996690"/>
            <a:ext cx="3224530" cy="72263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8" name="Text Box 7"/>
          <p:cNvSpPr txBox="1"/>
          <p:nvPr/>
        </p:nvSpPr>
        <p:spPr>
          <a:xfrm>
            <a:off x="2953385" y="4533900"/>
            <a:ext cx="2488565" cy="174307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方案</a:t>
            </a:r>
            <a:r>
              <a:rPr lang="en-US" altLang="zh-CN" sz="2200">
                <a:latin typeface="Alibaba PuHuiTi 3.0 55 Regular" panose="00020600040101010101" charset="-122"/>
                <a:ea typeface="Alibaba PuHuiTi 3.0 55 Regular" panose="00020600040101010101" charset="-122"/>
              </a:rPr>
              <a:t>2: </a:t>
            </a:r>
            <a:r>
              <a:rPr lang="zh-CN" altLang="en-US" sz="2200">
                <a:latin typeface="Alibaba PuHuiTi 3.0 55 Regular" panose="00020600040101010101" charset="-122"/>
                <a:ea typeface="Alibaba PuHuiTi 3.0 55 Regular" panose="00020600040101010101" charset="-122"/>
              </a:rPr>
              <a:t>五个</a:t>
            </a:r>
            <a:r>
              <a:rPr lang="zh-CN" altLang="en-US" sz="2200">
                <a:latin typeface="Alibaba PuHuiTi 3.0 55 Regular" panose="00020600040101010101" charset="-122"/>
                <a:ea typeface="Alibaba PuHuiTi 3.0 55 Regular" panose="00020600040101010101" charset="-122"/>
              </a:rPr>
              <a:t>等级</a:t>
            </a:r>
            <a:endParaRPr lang="zh-CN" altLang="en-US" sz="2200">
              <a:latin typeface="Alibaba PuHuiTi 3.0 55 Regular" panose="00020600040101010101" charset="-122"/>
              <a:ea typeface="Alibaba PuHuiTi 3.0 55 Regular" panose="00020600040101010101" charset="-122"/>
            </a:endParaRPr>
          </a:p>
          <a:p>
            <a:r>
              <a:rPr lang="en-US" altLang="zh-CN" sz="2200">
                <a:latin typeface="Alibaba PuHuiTi 3.0 55 Regular" panose="00020600040101010101" charset="-122"/>
                <a:ea typeface="Alibaba PuHuiTi 3.0 55 Regular" panose="00020600040101010101" charset="-122"/>
              </a:rPr>
              <a:t>A: 90 ~ 100</a:t>
            </a:r>
            <a:endParaRPr lang="en-US" altLang="zh-CN" sz="2200">
              <a:latin typeface="Alibaba PuHuiTi 3.0 55 Regular" panose="00020600040101010101" charset="-122"/>
              <a:ea typeface="Alibaba PuHuiTi 3.0 55 Regular" panose="00020600040101010101" charset="-122"/>
            </a:endParaRPr>
          </a:p>
          <a:p>
            <a:r>
              <a:rPr lang="en-US" altLang="zh-CN" sz="2200">
                <a:latin typeface="Alibaba PuHuiTi 3.0 55 Regular" panose="00020600040101010101" charset="-122"/>
                <a:ea typeface="Alibaba PuHuiTi 3.0 55 Regular" panose="00020600040101010101" charset="-122"/>
              </a:rPr>
              <a:t>B: 80 ～89</a:t>
            </a:r>
            <a:endParaRPr lang="en-US" altLang="zh-CN" sz="2200">
              <a:latin typeface="Alibaba PuHuiTi 3.0 55 Regular" panose="00020600040101010101" charset="-122"/>
              <a:ea typeface="Alibaba PuHuiTi 3.0 55 Regular" panose="00020600040101010101" charset="-122"/>
            </a:endParaRPr>
          </a:p>
          <a:p>
            <a:r>
              <a:rPr lang="en-US" altLang="zh-CN" sz="2200">
                <a:latin typeface="Alibaba PuHuiTi 3.0 55 Regular" panose="00020600040101010101" charset="-122"/>
                <a:ea typeface="Alibaba PuHuiTi 3.0 55 Regular" panose="00020600040101010101" charset="-122"/>
              </a:rPr>
              <a:t>C: 70 ～79</a:t>
            </a:r>
            <a:endParaRPr lang="en-US" altLang="zh-CN" sz="2200">
              <a:latin typeface="Alibaba PuHuiTi 3.0 55 Regular" panose="00020600040101010101" charset="-122"/>
              <a:ea typeface="Alibaba PuHuiTi 3.0 55 Regular" panose="00020600040101010101" charset="-122"/>
            </a:endParaRPr>
          </a:p>
          <a:p>
            <a:r>
              <a:rPr lang="en-US" altLang="zh-CN" sz="2200">
                <a:latin typeface="Alibaba PuHuiTi 3.0 55 Regular" panose="00020600040101010101" charset="-122"/>
                <a:ea typeface="Alibaba PuHuiTi 3.0 55 Regular" panose="00020600040101010101" charset="-122"/>
              </a:rPr>
              <a:t>D: 60 ~ 69</a:t>
            </a:r>
            <a:endParaRPr lang="en-US" altLang="zh-CN" sz="2200">
              <a:latin typeface="Alibaba PuHuiTi 3.0 55 Regular" panose="00020600040101010101" charset="-122"/>
              <a:ea typeface="Alibaba PuHuiTi 3.0 55 Regular" panose="00020600040101010101" charset="-122"/>
            </a:endParaRPr>
          </a:p>
          <a:p>
            <a:r>
              <a:rPr lang="en-US" altLang="zh-CN" sz="2200">
                <a:latin typeface="Alibaba PuHuiTi 3.0 55 Regular" panose="00020600040101010101" charset="-122"/>
                <a:ea typeface="Alibaba PuHuiTi 3.0 55 Regular" panose="00020600040101010101" charset="-122"/>
              </a:rPr>
              <a:t>E: 60</a:t>
            </a:r>
            <a:r>
              <a:rPr lang="zh-CN" altLang="en-US" sz="2200">
                <a:latin typeface="Alibaba PuHuiTi 3.0 55 Regular" panose="00020600040101010101" charset="-122"/>
                <a:ea typeface="Alibaba PuHuiTi 3.0 55 Regular" panose="00020600040101010101" charset="-122"/>
              </a:rPr>
              <a:t>分</a:t>
            </a:r>
            <a:r>
              <a:rPr lang="zh-CN" altLang="en-US" sz="2200">
                <a:latin typeface="Alibaba PuHuiTi 3.0 55 Regular" panose="00020600040101010101" charset="-122"/>
                <a:ea typeface="Alibaba PuHuiTi 3.0 55 Regular" panose="00020600040101010101" charset="-122"/>
              </a:rPr>
              <a:t>以下</a:t>
            </a:r>
            <a:endParaRPr lang="en-US" altLang="zh-CN" sz="2200">
              <a:latin typeface="Alibaba PuHuiTi 3.0 55 Regular" panose="00020600040101010101" charset="-122"/>
              <a:ea typeface="Alibaba PuHuiTi 3.0 55 Regular" panose="00020600040101010101" charset="-122"/>
            </a:endParaRPr>
          </a:p>
          <a:p>
            <a:endParaRPr lang="en-US" altLang="zh-CN" sz="2200">
              <a:latin typeface="Alibaba PuHuiTi 3.0 55 Regular" panose="00020600040101010101" charset="-122"/>
              <a:ea typeface="Alibaba PuHuiTi 3.0 55 Regular" panose="00020600040101010101" charset="-122"/>
            </a:endParaRPr>
          </a:p>
        </p:txBody>
      </p:sp>
      <p:graphicFrame>
        <p:nvGraphicFramePr>
          <p:cNvPr id="10" name="Table 9"/>
          <p:cNvGraphicFramePr/>
          <p:nvPr>
            <p:custDataLst>
              <p:tags r:id="rId4"/>
            </p:custDataLst>
          </p:nvPr>
        </p:nvGraphicFramePr>
        <p:xfrm>
          <a:off x="6170295" y="4112260"/>
          <a:ext cx="2650490" cy="1520190"/>
        </p:xfrm>
        <a:graphic>
          <a:graphicData uri="http://schemas.openxmlformats.org/drawingml/2006/table">
            <a:tbl>
              <a:tblPr firstRow="1">
                <a:tableStyleId>{2CD59E38-F5E1-4D73-BE46-D8D288EA628F}</a:tableStyleId>
              </a:tblPr>
              <a:tblGrid>
                <a:gridCol w="1325245"/>
                <a:gridCol w="1325245"/>
              </a:tblGrid>
              <a:tr h="377190">
                <a:tc>
                  <a:txBody>
                    <a:bodyPr/>
                    <a:p>
                      <a:pPr>
                        <a:buNone/>
                      </a:pPr>
                      <a:r>
                        <a:rPr lang="zh-CN" altLang="en-US"/>
                        <a:t>分数</a:t>
                      </a:r>
                      <a:endParaRPr lang="zh-CN" altLang="en-US"/>
                    </a:p>
                  </a:txBody>
                  <a:tcPr/>
                </a:tc>
                <a:tc>
                  <a:txBody>
                    <a:bodyPr/>
                    <a:p>
                      <a:pPr>
                        <a:buNone/>
                      </a:pPr>
                      <a:r>
                        <a:rPr lang="zh-CN" altLang="en-US"/>
                        <a:t>等级</a:t>
                      </a:r>
                      <a:endParaRPr lang="zh-CN" altLang="en-US"/>
                    </a:p>
                  </a:txBody>
                  <a:tcPr/>
                </a:tc>
              </a:tr>
              <a:tr h="381000">
                <a:tc>
                  <a:txBody>
                    <a:bodyPr/>
                    <a:p>
                      <a:pPr>
                        <a:buNone/>
                      </a:pPr>
                      <a:r>
                        <a:rPr lang="en-US"/>
                        <a:t>80</a:t>
                      </a:r>
                      <a:endParaRPr lang="en-US"/>
                    </a:p>
                  </a:txBody>
                  <a:tcPr/>
                </a:tc>
                <a:tc>
                  <a:txBody>
                    <a:bodyPr/>
                    <a:p>
                      <a:pPr>
                        <a:buNone/>
                      </a:pPr>
                      <a:r>
                        <a:rPr lang="en-US"/>
                        <a:t>B</a:t>
                      </a:r>
                      <a:endParaRPr lang="en-US"/>
                    </a:p>
                  </a:txBody>
                  <a:tcPr/>
                </a:tc>
              </a:tr>
              <a:tr h="381000">
                <a:tc>
                  <a:txBody>
                    <a:bodyPr/>
                    <a:p>
                      <a:pPr>
                        <a:buNone/>
                      </a:pPr>
                      <a:r>
                        <a:rPr lang="en-US"/>
                        <a:t>60</a:t>
                      </a:r>
                      <a:endParaRPr lang="en-US"/>
                    </a:p>
                  </a:txBody>
                  <a:tcPr/>
                </a:tc>
                <a:tc>
                  <a:txBody>
                    <a:bodyPr/>
                    <a:p>
                      <a:pPr>
                        <a:buNone/>
                      </a:pPr>
                      <a:r>
                        <a:rPr lang="en-US"/>
                        <a:t>D</a:t>
                      </a:r>
                      <a:endParaRPr lang="en-US"/>
                    </a:p>
                  </a:txBody>
                  <a:tcPr/>
                </a:tc>
              </a:tr>
              <a:tr h="381000">
                <a:tc>
                  <a:txBody>
                    <a:bodyPr/>
                    <a:p>
                      <a:pPr>
                        <a:buNone/>
                      </a:pPr>
                      <a:r>
                        <a:rPr lang="en-US"/>
                        <a:t>...</a:t>
                      </a:r>
                      <a:endParaRPr lang="en-US"/>
                    </a:p>
                  </a:txBody>
                  <a:tcPr/>
                </a:tc>
                <a:tc>
                  <a:txBody>
                    <a:bodyPr/>
                    <a:p>
                      <a:pPr>
                        <a:buNone/>
                      </a:pPr>
                      <a:r>
                        <a:rPr lang="en-US" sz="1800">
                          <a:sym typeface="+mn-ea"/>
                        </a:rPr>
                        <a:t>...</a:t>
                      </a:r>
                      <a:endParaRPr lang="en-US"/>
                    </a:p>
                  </a:txBody>
                  <a:tcPr/>
                </a:tc>
              </a:tr>
            </a:tbl>
          </a:graphicData>
        </a:graphic>
      </p:graphicFrame>
      <p:sp>
        <p:nvSpPr>
          <p:cNvPr id="24" name="Rectangle 23"/>
          <p:cNvSpPr/>
          <p:nvPr/>
        </p:nvSpPr>
        <p:spPr>
          <a:xfrm>
            <a:off x="6096000" y="4468495"/>
            <a:ext cx="2286635" cy="807720"/>
          </a:xfrm>
          <a:prstGeom prst="rect">
            <a:avLst/>
          </a:prstGeom>
          <a:noFill/>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8957310" y="4468495"/>
            <a:ext cx="2981325" cy="429895"/>
          </a:xfrm>
          <a:prstGeom prst="rect">
            <a:avLst/>
          </a:prstGeom>
          <a:noFill/>
        </p:spPr>
        <p:txBody>
          <a:bodyPr wrap="square" rtlCol="0">
            <a:noAutofit/>
          </a:bodyPr>
          <a:p>
            <a:r>
              <a:rPr lang="zh-CN" altLang="en-US" sz="2200">
                <a:solidFill>
                  <a:srgbClr val="FF0000"/>
                </a:solidFill>
                <a:latin typeface="Alibaba PuHuiTi 3.0 55 Regular" panose="00020600040101010101" charset="-122"/>
                <a:ea typeface="Alibaba PuHuiTi 3.0 55 Regular" panose="00020600040101010101" charset="-122"/>
              </a:rPr>
              <a:t>区分度变大</a:t>
            </a:r>
            <a:r>
              <a:rPr lang="en-US" altLang="zh-CN" sz="2200">
                <a:solidFill>
                  <a:srgbClr val="FF0000"/>
                </a:solidFill>
                <a:latin typeface="Alibaba PuHuiTi 3.0 55 Regular" panose="00020600040101010101" charset="-122"/>
                <a:ea typeface="Alibaba PuHuiTi 3.0 55 Regular" panose="00020600040101010101" charset="-122"/>
              </a:rPr>
              <a:t>，</a:t>
            </a:r>
            <a:r>
              <a:rPr lang="zh-CN" altLang="en-US" sz="2200">
                <a:solidFill>
                  <a:srgbClr val="FF0000"/>
                </a:solidFill>
                <a:latin typeface="Alibaba PuHuiTi 3.0 55 Regular" panose="00020600040101010101" charset="-122"/>
                <a:ea typeface="Alibaba PuHuiTi 3.0 55 Regular" panose="00020600040101010101" charset="-122"/>
              </a:rPr>
              <a:t>更精确</a:t>
            </a:r>
            <a:r>
              <a:rPr lang="en-US" altLang="zh-CN" sz="2200">
                <a:solidFill>
                  <a:srgbClr val="FF0000"/>
                </a:solidFill>
                <a:latin typeface="Alibaba PuHuiTi 3.0 55 Regular" panose="00020600040101010101" charset="-122"/>
                <a:ea typeface="Alibaba PuHuiTi 3.0 55 Regular" panose="00020600040101010101" charset="-122"/>
              </a:rPr>
              <a:t>！</a:t>
            </a:r>
            <a:endParaRPr lang="en-US" altLang="zh-CN" sz="2200">
              <a:solidFill>
                <a:srgbClr val="FF0000"/>
              </a:solidFill>
              <a:latin typeface="Alibaba PuHuiTi 3.0 55 Regular" panose="00020600040101010101" charset="-122"/>
              <a:ea typeface="Alibaba PuHuiTi 3.0 55 Regular" panose="00020600040101010101" charset="-122"/>
            </a:endParaRPr>
          </a:p>
        </p:txBody>
      </p:sp>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4" grpId="0" bldLvl="0" animBg="1"/>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zh-CN" altLang="en-US"/>
              <a:t>量化后的二进制值</a:t>
            </a:r>
            <a:r>
              <a:rPr lang="en-US" altLang="zh-CN"/>
              <a:t>，</a:t>
            </a:r>
            <a:r>
              <a:rPr lang="zh-CN" altLang="en-US"/>
              <a:t>怎样存入计算机</a:t>
            </a:r>
            <a:r>
              <a:rPr lang="en-US" altLang="zh-CN"/>
              <a:t>？</a:t>
            </a:r>
            <a:endParaRPr lang="en-US" altLang="zh-CN"/>
          </a:p>
        </p:txBody>
      </p:sp>
      <p:grpSp>
        <p:nvGrpSpPr>
          <p:cNvPr id="4" name="Group 3"/>
          <p:cNvGrpSpPr/>
          <p:nvPr/>
        </p:nvGrpSpPr>
        <p:grpSpPr>
          <a:xfrm>
            <a:off x="500380" y="2219960"/>
            <a:ext cx="4902200" cy="3251200"/>
            <a:chOff x="8411" y="3496"/>
            <a:chExt cx="7720" cy="5120"/>
          </a:xfrm>
        </p:grpSpPr>
        <p:sp>
          <p:nvSpPr>
            <p:cNvPr id="11" name="Oval 10"/>
            <p:cNvSpPr/>
            <p:nvPr/>
          </p:nvSpPr>
          <p:spPr>
            <a:xfrm>
              <a:off x="10738" y="6603"/>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34" name="Straight Connector 33"/>
            <p:cNvCxnSpPr/>
            <p:nvPr/>
          </p:nvCxnSpPr>
          <p:spPr>
            <a:xfrm>
              <a:off x="10814" y="6719"/>
              <a:ext cx="0" cy="1165"/>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5" name="Straight Connector 34"/>
            <p:cNvCxnSpPr>
              <a:stCxn id="44" idx="31"/>
            </p:cNvCxnSpPr>
            <p:nvPr/>
          </p:nvCxnSpPr>
          <p:spPr>
            <a:xfrm flipH="1">
              <a:off x="12779" y="5860"/>
              <a:ext cx="17" cy="1944"/>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7" name="Straight Connector 36"/>
            <p:cNvCxnSpPr/>
            <p:nvPr/>
          </p:nvCxnSpPr>
          <p:spPr>
            <a:xfrm>
              <a:off x="13565" y="6919"/>
              <a:ext cx="0" cy="898"/>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8" name="Straight Connector 37"/>
            <p:cNvCxnSpPr/>
            <p:nvPr/>
          </p:nvCxnSpPr>
          <p:spPr>
            <a:xfrm>
              <a:off x="13958" y="6998"/>
              <a:ext cx="0" cy="887"/>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39" name="Straight Connector 38"/>
            <p:cNvCxnSpPr/>
            <p:nvPr/>
          </p:nvCxnSpPr>
          <p:spPr>
            <a:xfrm>
              <a:off x="14351" y="6576"/>
              <a:ext cx="0" cy="1309"/>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40" name="Straight Connector 39"/>
            <p:cNvCxnSpPr/>
            <p:nvPr/>
          </p:nvCxnSpPr>
          <p:spPr>
            <a:xfrm>
              <a:off x="10224" y="3496"/>
              <a:ext cx="0" cy="4320"/>
            </a:xfrm>
            <a:prstGeom prst="line">
              <a:avLst/>
            </a:prstGeom>
            <a:ln w="31750" cap="rnd" cmpd="sng">
              <a:solidFill>
                <a:schemeClr val="tx1"/>
              </a:solidFill>
              <a:prstDash val="solid"/>
              <a:round/>
              <a:headEnd type="triangle" w="lg" len="lg"/>
              <a:tailEnd type="none" w="lg" len="lg"/>
            </a:ln>
          </p:spPr>
          <p:style>
            <a:lnRef idx="0">
              <a:srgbClr val="FFFFFF"/>
            </a:lnRef>
            <a:fillRef idx="0">
              <a:srgbClr val="FFFFFF"/>
            </a:fillRef>
            <a:effectRef idx="0">
              <a:srgbClr val="FFFFFF"/>
            </a:effectRef>
            <a:fontRef idx="minor">
              <a:schemeClr val="tx1"/>
            </a:fontRef>
          </p:style>
        </p:cxnSp>
        <p:cxnSp>
          <p:nvCxnSpPr>
            <p:cNvPr id="41" name="Straight Connector 40"/>
            <p:cNvCxnSpPr/>
            <p:nvPr/>
          </p:nvCxnSpPr>
          <p:spPr>
            <a:xfrm flipH="1">
              <a:off x="10222" y="7827"/>
              <a:ext cx="4925" cy="0"/>
            </a:xfrm>
            <a:prstGeom prst="line">
              <a:avLst/>
            </a:prstGeom>
            <a:ln w="31750" cap="rnd" cmpd="sng">
              <a:solidFill>
                <a:schemeClr val="tx1"/>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42" name="Text Box 41"/>
            <p:cNvSpPr txBox="1"/>
            <p:nvPr/>
          </p:nvSpPr>
          <p:spPr>
            <a:xfrm>
              <a:off x="8411" y="3496"/>
              <a:ext cx="1780" cy="677"/>
            </a:xfrm>
            <a:prstGeom prst="rect">
              <a:avLst/>
            </a:prstGeom>
            <a:noFill/>
          </p:spPr>
          <p:txBody>
            <a:bodyPr wrap="square" rtlCol="0">
              <a:noAutofit/>
            </a:bodyPr>
            <a:p>
              <a:pPr algn="r"/>
              <a:r>
                <a:rPr lang="zh-CN" altLang="en-US" sz="2200">
                  <a:latin typeface="Alibaba PuHuiTi 3.0 55 Regular" panose="00020600040101010101" charset="-122"/>
                  <a:ea typeface="Alibaba PuHuiTi 3.0 55 Regular" panose="00020600040101010101" charset="-122"/>
                </a:rPr>
                <a:t>量化值</a:t>
              </a:r>
              <a:endParaRPr lang="zh-CN" altLang="en-US" sz="2200">
                <a:latin typeface="Alibaba PuHuiTi 3.0 55 Regular" panose="00020600040101010101" charset="-122"/>
                <a:ea typeface="Alibaba PuHuiTi 3.0 55 Regular" panose="00020600040101010101" charset="-122"/>
              </a:endParaRPr>
            </a:p>
          </p:txBody>
        </p:sp>
        <p:sp>
          <p:nvSpPr>
            <p:cNvPr id="43" name="Text Box 42"/>
            <p:cNvSpPr txBox="1"/>
            <p:nvPr/>
          </p:nvSpPr>
          <p:spPr>
            <a:xfrm>
              <a:off x="14733" y="7939"/>
              <a:ext cx="1398" cy="677"/>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时间</a:t>
              </a:r>
              <a:endParaRPr lang="zh-CN" altLang="en-US" sz="2200">
                <a:latin typeface="Alibaba PuHuiTi 3.0 55 Regular" panose="00020600040101010101" charset="-122"/>
                <a:ea typeface="Alibaba PuHuiTi 3.0 55 Regular" panose="00020600040101010101" charset="-122"/>
              </a:endParaRPr>
            </a:p>
          </p:txBody>
        </p:sp>
        <p:sp>
          <p:nvSpPr>
            <p:cNvPr id="44" name="Freeform 43"/>
            <p:cNvSpPr/>
            <p:nvPr/>
          </p:nvSpPr>
          <p:spPr>
            <a:xfrm>
              <a:off x="10563" y="4647"/>
              <a:ext cx="3966" cy="2591"/>
            </a:xfrm>
            <a:custGeom>
              <a:avLst/>
              <a:gdLst>
                <a:gd name="connisteX0" fmla="*/ 0 w 2518410"/>
                <a:gd name="connsiteY0" fmla="*/ 1645002 h 1645002"/>
                <a:gd name="connisteX1" fmla="*/ 25400 w 2518410"/>
                <a:gd name="connsiteY1" fmla="*/ 1519907 h 1645002"/>
                <a:gd name="connisteX2" fmla="*/ 142240 w 2518410"/>
                <a:gd name="connsiteY2" fmla="*/ 1328137 h 1645002"/>
                <a:gd name="connisteX3" fmla="*/ 225425 w 2518410"/>
                <a:gd name="connsiteY3" fmla="*/ 1178277 h 1645002"/>
                <a:gd name="connisteX4" fmla="*/ 275590 w 2518410"/>
                <a:gd name="connsiteY4" fmla="*/ 1077947 h 1645002"/>
                <a:gd name="connisteX5" fmla="*/ 325120 w 2518410"/>
                <a:gd name="connsiteY5" fmla="*/ 978252 h 1645002"/>
                <a:gd name="connisteX6" fmla="*/ 358775 w 2518410"/>
                <a:gd name="connsiteY6" fmla="*/ 877922 h 1645002"/>
                <a:gd name="connisteX7" fmla="*/ 383540 w 2518410"/>
                <a:gd name="connsiteY7" fmla="*/ 811247 h 1645002"/>
                <a:gd name="connisteX8" fmla="*/ 400685 w 2518410"/>
                <a:gd name="connsiteY8" fmla="*/ 728062 h 1645002"/>
                <a:gd name="connisteX9" fmla="*/ 441960 w 2518410"/>
                <a:gd name="connsiteY9" fmla="*/ 611222 h 1645002"/>
                <a:gd name="connisteX10" fmla="*/ 459105 w 2518410"/>
                <a:gd name="connsiteY10" fmla="*/ 544547 h 1645002"/>
                <a:gd name="connisteX11" fmla="*/ 492125 w 2518410"/>
                <a:gd name="connsiteY11" fmla="*/ 419452 h 1645002"/>
                <a:gd name="connisteX12" fmla="*/ 525780 w 2518410"/>
                <a:gd name="connsiteY12" fmla="*/ 310867 h 1645002"/>
                <a:gd name="connisteX13" fmla="*/ 550545 w 2518410"/>
                <a:gd name="connsiteY13" fmla="*/ 227682 h 1645002"/>
                <a:gd name="connisteX14" fmla="*/ 567055 w 2518410"/>
                <a:gd name="connsiteY14" fmla="*/ 161007 h 1645002"/>
                <a:gd name="connisteX15" fmla="*/ 584200 w 2518410"/>
                <a:gd name="connsiteY15" fmla="*/ 94332 h 1645002"/>
                <a:gd name="connisteX16" fmla="*/ 625475 w 2518410"/>
                <a:gd name="connsiteY16" fmla="*/ 27657 h 1645002"/>
                <a:gd name="connisteX17" fmla="*/ 692150 w 2518410"/>
                <a:gd name="connsiteY17" fmla="*/ 10512 h 1645002"/>
                <a:gd name="connisteX18" fmla="*/ 784225 w 2518410"/>
                <a:gd name="connsiteY18" fmla="*/ 2257 h 1645002"/>
                <a:gd name="connisteX19" fmla="*/ 859155 w 2518410"/>
                <a:gd name="connsiteY19" fmla="*/ 2257 h 1645002"/>
                <a:gd name="connisteX20" fmla="*/ 925830 w 2518410"/>
                <a:gd name="connsiteY20" fmla="*/ 2257 h 1645002"/>
                <a:gd name="connisteX21" fmla="*/ 1000760 w 2518410"/>
                <a:gd name="connsiteY21" fmla="*/ 27657 h 1645002"/>
                <a:gd name="connisteX22" fmla="*/ 1067435 w 2518410"/>
                <a:gd name="connsiteY22" fmla="*/ 77187 h 1645002"/>
                <a:gd name="connisteX23" fmla="*/ 1125855 w 2518410"/>
                <a:gd name="connsiteY23" fmla="*/ 152752 h 1645002"/>
                <a:gd name="connisteX24" fmla="*/ 1176020 w 2518410"/>
                <a:gd name="connsiteY24" fmla="*/ 235937 h 1645002"/>
                <a:gd name="connisteX25" fmla="*/ 1217930 w 2518410"/>
                <a:gd name="connsiteY25" fmla="*/ 302612 h 1645002"/>
                <a:gd name="connisteX26" fmla="*/ 1242695 w 2518410"/>
                <a:gd name="connsiteY26" fmla="*/ 369287 h 1645002"/>
                <a:gd name="connisteX27" fmla="*/ 1276350 w 2518410"/>
                <a:gd name="connsiteY27" fmla="*/ 435962 h 1645002"/>
                <a:gd name="connisteX28" fmla="*/ 1309370 w 2518410"/>
                <a:gd name="connsiteY28" fmla="*/ 502637 h 1645002"/>
                <a:gd name="connisteX29" fmla="*/ 1351280 w 2518410"/>
                <a:gd name="connsiteY29" fmla="*/ 594712 h 1645002"/>
                <a:gd name="connisteX30" fmla="*/ 1384300 w 2518410"/>
                <a:gd name="connsiteY30" fmla="*/ 686152 h 1645002"/>
                <a:gd name="connisteX31" fmla="*/ 1417955 w 2518410"/>
                <a:gd name="connsiteY31" fmla="*/ 769972 h 1645002"/>
                <a:gd name="connisteX32" fmla="*/ 1450975 w 2518410"/>
                <a:gd name="connsiteY32" fmla="*/ 844902 h 1645002"/>
                <a:gd name="connisteX33" fmla="*/ 1476375 w 2518410"/>
                <a:gd name="connsiteY33" fmla="*/ 911577 h 1645002"/>
                <a:gd name="connisteX34" fmla="*/ 1501140 w 2518410"/>
                <a:gd name="connsiteY34" fmla="*/ 1003017 h 1645002"/>
                <a:gd name="connisteX35" fmla="*/ 1526540 w 2518410"/>
                <a:gd name="connsiteY35" fmla="*/ 1077947 h 1645002"/>
                <a:gd name="connisteX36" fmla="*/ 1551305 w 2518410"/>
                <a:gd name="connsiteY36" fmla="*/ 1153512 h 1645002"/>
                <a:gd name="connisteX37" fmla="*/ 1601470 w 2518410"/>
                <a:gd name="connsiteY37" fmla="*/ 1220187 h 1645002"/>
                <a:gd name="connisteX38" fmla="*/ 1676400 w 2518410"/>
                <a:gd name="connsiteY38" fmla="*/ 1269717 h 1645002"/>
                <a:gd name="connisteX39" fmla="*/ 1743075 w 2518410"/>
                <a:gd name="connsiteY39" fmla="*/ 1319882 h 1645002"/>
                <a:gd name="connisteX40" fmla="*/ 1809750 w 2518410"/>
                <a:gd name="connsiteY40" fmla="*/ 1353537 h 1645002"/>
                <a:gd name="connisteX41" fmla="*/ 1876425 w 2518410"/>
                <a:gd name="connsiteY41" fmla="*/ 1386557 h 1645002"/>
                <a:gd name="connisteX42" fmla="*/ 1951355 w 2518410"/>
                <a:gd name="connsiteY42" fmla="*/ 1411957 h 1645002"/>
                <a:gd name="connisteX43" fmla="*/ 2035175 w 2518410"/>
                <a:gd name="connsiteY43" fmla="*/ 1436722 h 1645002"/>
                <a:gd name="connisteX44" fmla="*/ 2110105 w 2518410"/>
                <a:gd name="connsiteY44" fmla="*/ 1453232 h 1645002"/>
                <a:gd name="connisteX45" fmla="*/ 2185035 w 2518410"/>
                <a:gd name="connsiteY45" fmla="*/ 1453232 h 1645002"/>
                <a:gd name="connisteX46" fmla="*/ 2251710 w 2518410"/>
                <a:gd name="connsiteY46" fmla="*/ 1444977 h 1645002"/>
                <a:gd name="connisteX47" fmla="*/ 2301875 w 2518410"/>
                <a:gd name="connsiteY47" fmla="*/ 1378302 h 1645002"/>
                <a:gd name="connisteX48" fmla="*/ 2343785 w 2518410"/>
                <a:gd name="connsiteY48" fmla="*/ 1311627 h 1645002"/>
                <a:gd name="connisteX49" fmla="*/ 2368550 w 2518410"/>
                <a:gd name="connsiteY49" fmla="*/ 1236697 h 1645002"/>
                <a:gd name="connisteX50" fmla="*/ 2402205 w 2518410"/>
                <a:gd name="connsiteY50" fmla="*/ 1161767 h 1645002"/>
                <a:gd name="connisteX51" fmla="*/ 2426970 w 2518410"/>
                <a:gd name="connsiteY51" fmla="*/ 1086837 h 1645002"/>
                <a:gd name="connisteX52" fmla="*/ 2468880 w 2518410"/>
                <a:gd name="connsiteY52" fmla="*/ 1019527 h 1645002"/>
                <a:gd name="connisteX53" fmla="*/ 2518410 w 2518410"/>
                <a:gd name="connsiteY53" fmla="*/ 944597 h 164500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Lst>
              <a:rect l="l" t="t" r="r" b="b"/>
              <a:pathLst>
                <a:path w="2518410" h="1645003">
                  <a:moveTo>
                    <a:pt x="0" y="1645003"/>
                  </a:moveTo>
                  <a:cubicBezTo>
                    <a:pt x="2540" y="1624048"/>
                    <a:pt x="-3175" y="1583408"/>
                    <a:pt x="25400" y="1519908"/>
                  </a:cubicBezTo>
                  <a:cubicBezTo>
                    <a:pt x="53975" y="1456408"/>
                    <a:pt x="102235" y="1396718"/>
                    <a:pt x="142240" y="1328138"/>
                  </a:cubicBezTo>
                  <a:cubicBezTo>
                    <a:pt x="182245" y="1259558"/>
                    <a:pt x="198755" y="1228443"/>
                    <a:pt x="225425" y="1178278"/>
                  </a:cubicBezTo>
                  <a:cubicBezTo>
                    <a:pt x="252095" y="1128113"/>
                    <a:pt x="255905" y="1117953"/>
                    <a:pt x="275590" y="1077948"/>
                  </a:cubicBezTo>
                  <a:cubicBezTo>
                    <a:pt x="295275" y="1037943"/>
                    <a:pt x="308610" y="1018258"/>
                    <a:pt x="325120" y="978253"/>
                  </a:cubicBezTo>
                  <a:cubicBezTo>
                    <a:pt x="341630" y="938248"/>
                    <a:pt x="347345" y="911578"/>
                    <a:pt x="358775" y="877923"/>
                  </a:cubicBezTo>
                  <a:cubicBezTo>
                    <a:pt x="370205" y="844268"/>
                    <a:pt x="375285" y="841093"/>
                    <a:pt x="383540" y="811248"/>
                  </a:cubicBezTo>
                  <a:cubicBezTo>
                    <a:pt x="391795" y="781403"/>
                    <a:pt x="389255" y="768068"/>
                    <a:pt x="400685" y="728063"/>
                  </a:cubicBezTo>
                  <a:cubicBezTo>
                    <a:pt x="412115" y="688058"/>
                    <a:pt x="430530" y="648053"/>
                    <a:pt x="441960" y="611223"/>
                  </a:cubicBezTo>
                  <a:cubicBezTo>
                    <a:pt x="453390" y="574393"/>
                    <a:pt x="448945" y="582648"/>
                    <a:pt x="459105" y="544548"/>
                  </a:cubicBezTo>
                  <a:cubicBezTo>
                    <a:pt x="469265" y="506448"/>
                    <a:pt x="478790" y="466443"/>
                    <a:pt x="492125" y="419453"/>
                  </a:cubicBezTo>
                  <a:cubicBezTo>
                    <a:pt x="505460" y="372463"/>
                    <a:pt x="514350" y="348968"/>
                    <a:pt x="525780" y="310868"/>
                  </a:cubicBezTo>
                  <a:cubicBezTo>
                    <a:pt x="537210" y="272768"/>
                    <a:pt x="542290" y="257528"/>
                    <a:pt x="550545" y="227683"/>
                  </a:cubicBezTo>
                  <a:cubicBezTo>
                    <a:pt x="558800" y="197838"/>
                    <a:pt x="560070" y="187678"/>
                    <a:pt x="567055" y="161008"/>
                  </a:cubicBezTo>
                  <a:cubicBezTo>
                    <a:pt x="574040" y="134338"/>
                    <a:pt x="572770" y="121003"/>
                    <a:pt x="584200" y="94333"/>
                  </a:cubicBezTo>
                  <a:cubicBezTo>
                    <a:pt x="595630" y="67663"/>
                    <a:pt x="603885" y="44168"/>
                    <a:pt x="625475" y="27658"/>
                  </a:cubicBezTo>
                  <a:cubicBezTo>
                    <a:pt x="647065" y="11148"/>
                    <a:pt x="660400" y="15593"/>
                    <a:pt x="692150" y="10513"/>
                  </a:cubicBezTo>
                  <a:cubicBezTo>
                    <a:pt x="723900" y="5433"/>
                    <a:pt x="750570" y="4163"/>
                    <a:pt x="784225" y="2258"/>
                  </a:cubicBezTo>
                  <a:cubicBezTo>
                    <a:pt x="817880" y="353"/>
                    <a:pt x="830580" y="2258"/>
                    <a:pt x="859155" y="2258"/>
                  </a:cubicBezTo>
                  <a:cubicBezTo>
                    <a:pt x="887730" y="2258"/>
                    <a:pt x="897255" y="-2822"/>
                    <a:pt x="925830" y="2258"/>
                  </a:cubicBezTo>
                  <a:cubicBezTo>
                    <a:pt x="954405" y="7338"/>
                    <a:pt x="972185" y="12418"/>
                    <a:pt x="1000760" y="27658"/>
                  </a:cubicBezTo>
                  <a:cubicBezTo>
                    <a:pt x="1029335" y="42898"/>
                    <a:pt x="1042670" y="52423"/>
                    <a:pt x="1067435" y="77188"/>
                  </a:cubicBezTo>
                  <a:cubicBezTo>
                    <a:pt x="1092200" y="101953"/>
                    <a:pt x="1104265" y="121003"/>
                    <a:pt x="1125855" y="152753"/>
                  </a:cubicBezTo>
                  <a:cubicBezTo>
                    <a:pt x="1147445" y="184503"/>
                    <a:pt x="1157605" y="206093"/>
                    <a:pt x="1176020" y="235938"/>
                  </a:cubicBezTo>
                  <a:cubicBezTo>
                    <a:pt x="1194435" y="265783"/>
                    <a:pt x="1204595" y="275943"/>
                    <a:pt x="1217930" y="302613"/>
                  </a:cubicBezTo>
                  <a:cubicBezTo>
                    <a:pt x="1231265" y="329283"/>
                    <a:pt x="1231265" y="342618"/>
                    <a:pt x="1242695" y="369288"/>
                  </a:cubicBezTo>
                  <a:cubicBezTo>
                    <a:pt x="1254125" y="395958"/>
                    <a:pt x="1263015" y="409293"/>
                    <a:pt x="1276350" y="435963"/>
                  </a:cubicBezTo>
                  <a:cubicBezTo>
                    <a:pt x="1289685" y="462633"/>
                    <a:pt x="1294130" y="470888"/>
                    <a:pt x="1309370" y="502638"/>
                  </a:cubicBezTo>
                  <a:cubicBezTo>
                    <a:pt x="1324610" y="534388"/>
                    <a:pt x="1336040" y="557883"/>
                    <a:pt x="1351280" y="594713"/>
                  </a:cubicBezTo>
                  <a:cubicBezTo>
                    <a:pt x="1366520" y="631543"/>
                    <a:pt x="1370965" y="651228"/>
                    <a:pt x="1384300" y="686153"/>
                  </a:cubicBezTo>
                  <a:cubicBezTo>
                    <a:pt x="1397635" y="721078"/>
                    <a:pt x="1404620" y="738223"/>
                    <a:pt x="1417955" y="769973"/>
                  </a:cubicBezTo>
                  <a:cubicBezTo>
                    <a:pt x="1431290" y="801723"/>
                    <a:pt x="1439545" y="816328"/>
                    <a:pt x="1450975" y="844903"/>
                  </a:cubicBezTo>
                  <a:cubicBezTo>
                    <a:pt x="1462405" y="873478"/>
                    <a:pt x="1466215" y="879828"/>
                    <a:pt x="1476375" y="911578"/>
                  </a:cubicBezTo>
                  <a:cubicBezTo>
                    <a:pt x="1486535" y="943328"/>
                    <a:pt x="1490980" y="969998"/>
                    <a:pt x="1501140" y="1003018"/>
                  </a:cubicBezTo>
                  <a:cubicBezTo>
                    <a:pt x="1511300" y="1036038"/>
                    <a:pt x="1516380" y="1048103"/>
                    <a:pt x="1526540" y="1077948"/>
                  </a:cubicBezTo>
                  <a:cubicBezTo>
                    <a:pt x="1536700" y="1107793"/>
                    <a:pt x="1536065" y="1124938"/>
                    <a:pt x="1551305" y="1153513"/>
                  </a:cubicBezTo>
                  <a:cubicBezTo>
                    <a:pt x="1566545" y="1182088"/>
                    <a:pt x="1576705" y="1196693"/>
                    <a:pt x="1601470" y="1220188"/>
                  </a:cubicBezTo>
                  <a:cubicBezTo>
                    <a:pt x="1626235" y="1243683"/>
                    <a:pt x="1647825" y="1250033"/>
                    <a:pt x="1676400" y="1269718"/>
                  </a:cubicBezTo>
                  <a:cubicBezTo>
                    <a:pt x="1704975" y="1289403"/>
                    <a:pt x="1716405" y="1303373"/>
                    <a:pt x="1743075" y="1319883"/>
                  </a:cubicBezTo>
                  <a:cubicBezTo>
                    <a:pt x="1769745" y="1336393"/>
                    <a:pt x="1783080" y="1340203"/>
                    <a:pt x="1809750" y="1353538"/>
                  </a:cubicBezTo>
                  <a:cubicBezTo>
                    <a:pt x="1836420" y="1366873"/>
                    <a:pt x="1847850" y="1375128"/>
                    <a:pt x="1876425" y="1386558"/>
                  </a:cubicBezTo>
                  <a:cubicBezTo>
                    <a:pt x="1905000" y="1397988"/>
                    <a:pt x="1919605" y="1401798"/>
                    <a:pt x="1951355" y="1411958"/>
                  </a:cubicBezTo>
                  <a:cubicBezTo>
                    <a:pt x="1983105" y="1422118"/>
                    <a:pt x="2003425" y="1428468"/>
                    <a:pt x="2035175" y="1436723"/>
                  </a:cubicBezTo>
                  <a:cubicBezTo>
                    <a:pt x="2066925" y="1444978"/>
                    <a:pt x="2080260" y="1450058"/>
                    <a:pt x="2110105" y="1453233"/>
                  </a:cubicBezTo>
                  <a:cubicBezTo>
                    <a:pt x="2139950" y="1456408"/>
                    <a:pt x="2156460" y="1455138"/>
                    <a:pt x="2185035" y="1453233"/>
                  </a:cubicBezTo>
                  <a:cubicBezTo>
                    <a:pt x="2213610" y="1451328"/>
                    <a:pt x="2228215" y="1460218"/>
                    <a:pt x="2251710" y="1444978"/>
                  </a:cubicBezTo>
                  <a:cubicBezTo>
                    <a:pt x="2275205" y="1429738"/>
                    <a:pt x="2283460" y="1404973"/>
                    <a:pt x="2301875" y="1378303"/>
                  </a:cubicBezTo>
                  <a:cubicBezTo>
                    <a:pt x="2320290" y="1351633"/>
                    <a:pt x="2330450" y="1340203"/>
                    <a:pt x="2343785" y="1311628"/>
                  </a:cubicBezTo>
                  <a:cubicBezTo>
                    <a:pt x="2357120" y="1283053"/>
                    <a:pt x="2357120" y="1266543"/>
                    <a:pt x="2368550" y="1236698"/>
                  </a:cubicBezTo>
                  <a:cubicBezTo>
                    <a:pt x="2379980" y="1206853"/>
                    <a:pt x="2390775" y="1191613"/>
                    <a:pt x="2402205" y="1161768"/>
                  </a:cubicBezTo>
                  <a:cubicBezTo>
                    <a:pt x="2413635" y="1131923"/>
                    <a:pt x="2413635" y="1115413"/>
                    <a:pt x="2426970" y="1086838"/>
                  </a:cubicBezTo>
                  <a:cubicBezTo>
                    <a:pt x="2440305" y="1058263"/>
                    <a:pt x="2450465" y="1048103"/>
                    <a:pt x="2468880" y="1019528"/>
                  </a:cubicBezTo>
                  <a:cubicBezTo>
                    <a:pt x="2487295" y="990953"/>
                    <a:pt x="2509520" y="957933"/>
                    <a:pt x="2518410" y="944598"/>
                  </a:cubicBezTo>
                </a:path>
              </a:pathLst>
            </a:custGeom>
            <a:noFill/>
            <a:ln w="38100">
              <a:solidFill>
                <a:schemeClr val="tx1"/>
              </a:solidFill>
            </a:ln>
          </p:spPr>
          <p:txBody>
            <a:bodyPr vert="horz" lIns="90000" tIns="46800" rIns="90000" bIns="46800" rtlCol="0" anchor="ctr" anchorCtr="0">
              <a:noAutofit/>
            </a:bodyPr>
            <a:p>
              <a:endParaRPr lang="zh-CN" altLang="en-US" sz="2445">
                <a:solidFill>
                  <a:schemeClr val="tx1"/>
                </a:solidFill>
              </a:endParaRPr>
            </a:p>
          </p:txBody>
        </p:sp>
        <p:sp>
          <p:nvSpPr>
            <p:cNvPr id="46" name="Text Box 45"/>
            <p:cNvSpPr txBox="1"/>
            <p:nvPr/>
          </p:nvSpPr>
          <p:spPr>
            <a:xfrm>
              <a:off x="10471" y="7939"/>
              <a:ext cx="4676" cy="677"/>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rPr>
                <a:t>1</a:t>
              </a:r>
              <a:r>
                <a:rPr lang="en-US" altLang="zh-CN" sz="2200">
                  <a:latin typeface="Alibaba PuHuiTi 3.0 55 Regular" panose="00020600040101010101" charset="-122"/>
                  <a:ea typeface="Alibaba PuHuiTi 3.0 55 Regular" panose="00020600040101010101" charset="-122"/>
                </a:rPr>
                <a:t>s    2s    3s    4s    5s</a:t>
              </a:r>
              <a:endParaRPr lang="en-US" altLang="zh-CN" sz="2200">
                <a:latin typeface="Alibaba PuHuiTi 3.0 55 Regular" panose="00020600040101010101" charset="-122"/>
                <a:ea typeface="Alibaba PuHuiTi 3.0 55 Regular" panose="00020600040101010101" charset="-122"/>
              </a:endParaRPr>
            </a:p>
          </p:txBody>
        </p:sp>
        <p:sp>
          <p:nvSpPr>
            <p:cNvPr id="47" name="Text Box 46"/>
            <p:cNvSpPr txBox="1"/>
            <p:nvPr/>
          </p:nvSpPr>
          <p:spPr>
            <a:xfrm>
              <a:off x="10101" y="6440"/>
              <a:ext cx="829" cy="453"/>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010</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49" name="Oval 48"/>
            <p:cNvSpPr/>
            <p:nvPr/>
          </p:nvSpPr>
          <p:spPr>
            <a:xfrm>
              <a:off x="11511" y="4621"/>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0" name="Oval 49"/>
            <p:cNvSpPr/>
            <p:nvPr/>
          </p:nvSpPr>
          <p:spPr>
            <a:xfrm>
              <a:off x="12733" y="5794"/>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3" name="Oval 52"/>
            <p:cNvSpPr/>
            <p:nvPr/>
          </p:nvSpPr>
          <p:spPr>
            <a:xfrm>
              <a:off x="13517" y="6767"/>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7" name="Oval 56"/>
            <p:cNvSpPr/>
            <p:nvPr/>
          </p:nvSpPr>
          <p:spPr>
            <a:xfrm>
              <a:off x="14278" y="6424"/>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9" name="Text Box 58"/>
            <p:cNvSpPr txBox="1"/>
            <p:nvPr/>
          </p:nvSpPr>
          <p:spPr>
            <a:xfrm>
              <a:off x="12391" y="4707"/>
              <a:ext cx="941" cy="453"/>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110</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60" name="Text Box 59"/>
            <p:cNvSpPr txBox="1"/>
            <p:nvPr/>
          </p:nvSpPr>
          <p:spPr>
            <a:xfrm>
              <a:off x="12913" y="6091"/>
              <a:ext cx="787" cy="453"/>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010</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61" name="Text Box 60"/>
            <p:cNvSpPr txBox="1"/>
            <p:nvPr/>
          </p:nvSpPr>
          <p:spPr>
            <a:xfrm>
              <a:off x="13166" y="6304"/>
              <a:ext cx="786" cy="453"/>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010</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62" name="Straight Connector 61"/>
            <p:cNvCxnSpPr>
              <a:endCxn id="68" idx="3"/>
            </p:cNvCxnSpPr>
            <p:nvPr/>
          </p:nvCxnSpPr>
          <p:spPr>
            <a:xfrm flipV="1">
              <a:off x="10814" y="5909"/>
              <a:ext cx="314" cy="82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63" name="Straight Connector 62"/>
            <p:cNvCxnSpPr>
              <a:stCxn id="44" idx="8"/>
            </p:cNvCxnSpPr>
            <p:nvPr/>
          </p:nvCxnSpPr>
          <p:spPr>
            <a:xfrm>
              <a:off x="11194" y="5794"/>
              <a:ext cx="13" cy="209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4" name="Straight Connector 63"/>
            <p:cNvCxnSpPr/>
            <p:nvPr/>
          </p:nvCxnSpPr>
          <p:spPr>
            <a:xfrm>
              <a:off x="11600" y="4690"/>
              <a:ext cx="0" cy="3194"/>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5" name="Straight Connector 64"/>
            <p:cNvCxnSpPr/>
            <p:nvPr/>
          </p:nvCxnSpPr>
          <p:spPr>
            <a:xfrm>
              <a:off x="11993" y="4683"/>
              <a:ext cx="0" cy="3201"/>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6" name="Straight Connector 65"/>
            <p:cNvCxnSpPr>
              <a:stCxn id="59" idx="1"/>
            </p:cNvCxnSpPr>
            <p:nvPr/>
          </p:nvCxnSpPr>
          <p:spPr>
            <a:xfrm flipH="1">
              <a:off x="12386" y="4934"/>
              <a:ext cx="5" cy="2950"/>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cxnSp>
          <p:nvCxnSpPr>
            <p:cNvPr id="67" name="Straight Connector 66"/>
            <p:cNvCxnSpPr/>
            <p:nvPr/>
          </p:nvCxnSpPr>
          <p:spPr>
            <a:xfrm>
              <a:off x="13172" y="6676"/>
              <a:ext cx="0" cy="1208"/>
            </a:xfrm>
            <a:prstGeom prst="line">
              <a:avLst/>
            </a:prstGeom>
            <a:ln w="28575" cap="rnd" cmpd="dbl">
              <a:solidFill>
                <a:srgbClr val="8C64E1"/>
              </a:solidFill>
              <a:prstDash val="sysDot"/>
              <a:round/>
              <a:headEnd type="none"/>
              <a:tailEnd type="none"/>
            </a:ln>
          </p:spPr>
          <p:style>
            <a:lnRef idx="0">
              <a:srgbClr val="FFFFFF"/>
            </a:lnRef>
            <a:fillRef idx="0">
              <a:srgbClr val="FFFFFF"/>
            </a:fillRef>
            <a:effectRef idx="0">
              <a:srgbClr val="FFFFFF"/>
            </a:effectRef>
            <a:fontRef idx="minor">
              <a:schemeClr val="tx1"/>
            </a:fontRef>
          </p:style>
        </p:cxnSp>
        <p:sp>
          <p:nvSpPr>
            <p:cNvPr id="68" name="Oval 67"/>
            <p:cNvSpPr/>
            <p:nvPr/>
          </p:nvSpPr>
          <p:spPr>
            <a:xfrm>
              <a:off x="11106" y="5779"/>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9" name="Oval 68"/>
            <p:cNvSpPr/>
            <p:nvPr/>
          </p:nvSpPr>
          <p:spPr>
            <a:xfrm>
              <a:off x="11917" y="4573"/>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0" name="Oval 69"/>
            <p:cNvSpPr/>
            <p:nvPr/>
          </p:nvSpPr>
          <p:spPr>
            <a:xfrm>
              <a:off x="12336" y="4858"/>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1" name="Oval 70"/>
            <p:cNvSpPr/>
            <p:nvPr/>
          </p:nvSpPr>
          <p:spPr>
            <a:xfrm>
              <a:off x="13092" y="6576"/>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2" name="Oval 71"/>
            <p:cNvSpPr/>
            <p:nvPr/>
          </p:nvSpPr>
          <p:spPr>
            <a:xfrm>
              <a:off x="13903" y="6864"/>
              <a:ext cx="152" cy="152"/>
            </a:xfrm>
            <a:prstGeom prst="ellipse">
              <a:avLst/>
            </a:prstGeom>
            <a:solidFill>
              <a:srgbClr val="8C64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3" name="Text Box 72"/>
            <p:cNvSpPr txBox="1"/>
            <p:nvPr/>
          </p:nvSpPr>
          <p:spPr>
            <a:xfrm>
              <a:off x="10360" y="5661"/>
              <a:ext cx="778" cy="453"/>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100</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4" name="Text Box 73"/>
            <p:cNvSpPr txBox="1"/>
            <p:nvPr/>
          </p:nvSpPr>
          <p:spPr>
            <a:xfrm>
              <a:off x="10890" y="4171"/>
              <a:ext cx="842" cy="453"/>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111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5" name="Text Box 74"/>
            <p:cNvSpPr txBox="1"/>
            <p:nvPr/>
          </p:nvSpPr>
          <p:spPr>
            <a:xfrm>
              <a:off x="11777" y="4167"/>
              <a:ext cx="921" cy="453"/>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111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6" name="Text Box 75"/>
            <p:cNvSpPr txBox="1"/>
            <p:nvPr/>
          </p:nvSpPr>
          <p:spPr>
            <a:xfrm>
              <a:off x="12698" y="5380"/>
              <a:ext cx="843" cy="453"/>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100</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7" name="Text Box 76"/>
            <p:cNvSpPr txBox="1"/>
            <p:nvPr/>
          </p:nvSpPr>
          <p:spPr>
            <a:xfrm>
              <a:off x="13529" y="6524"/>
              <a:ext cx="843" cy="453"/>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001</a:t>
              </a:r>
              <a:endParaRPr lang="en-US" sz="1400">
                <a:solidFill>
                  <a:srgbClr val="8C64E1"/>
                </a:solidFill>
                <a:latin typeface="Alibaba PuHuiTi 3.0 55 Regular" panose="00020600040101010101" charset="-122"/>
                <a:ea typeface="Alibaba PuHuiTi 3.0 55 Regular" panose="00020600040101010101" charset="-122"/>
              </a:endParaRPr>
            </a:p>
          </p:txBody>
        </p:sp>
        <p:sp>
          <p:nvSpPr>
            <p:cNvPr id="78" name="Text Box 77"/>
            <p:cNvSpPr txBox="1"/>
            <p:nvPr/>
          </p:nvSpPr>
          <p:spPr>
            <a:xfrm>
              <a:off x="13768" y="6037"/>
              <a:ext cx="788" cy="453"/>
            </a:xfrm>
            <a:prstGeom prst="rect">
              <a:avLst/>
            </a:prstGeom>
            <a:noFill/>
          </p:spPr>
          <p:txBody>
            <a:bodyPr wrap="square" rtlCol="0">
              <a:noAutofit/>
            </a:bodyPr>
            <a:p>
              <a:r>
                <a:rPr lang="en-US" sz="1400">
                  <a:solidFill>
                    <a:srgbClr val="8C64E1"/>
                  </a:solidFill>
                  <a:latin typeface="Alibaba PuHuiTi 3.0 55 Regular" panose="00020600040101010101" charset="-122"/>
                  <a:ea typeface="Alibaba PuHuiTi 3.0 55 Regular" panose="00020600040101010101" charset="-122"/>
                </a:rPr>
                <a:t>101</a:t>
              </a:r>
              <a:endParaRPr lang="en-US" sz="1400">
                <a:solidFill>
                  <a:srgbClr val="8C64E1"/>
                </a:solidFill>
                <a:latin typeface="Alibaba PuHuiTi 3.0 55 Regular" panose="00020600040101010101" charset="-122"/>
                <a:ea typeface="Alibaba PuHuiTi 3.0 55 Regular" panose="00020600040101010101" charset="-122"/>
              </a:endParaRPr>
            </a:p>
          </p:txBody>
        </p:sp>
        <p:cxnSp>
          <p:nvCxnSpPr>
            <p:cNvPr id="94" name="Straight Connector 93"/>
            <p:cNvCxnSpPr>
              <a:endCxn id="49" idx="2"/>
            </p:cNvCxnSpPr>
            <p:nvPr/>
          </p:nvCxnSpPr>
          <p:spPr>
            <a:xfrm flipV="1">
              <a:off x="11207" y="4697"/>
              <a:ext cx="304" cy="1097"/>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6" name="Straight Connector 95"/>
            <p:cNvCxnSpPr/>
            <p:nvPr/>
          </p:nvCxnSpPr>
          <p:spPr>
            <a:xfrm flipV="1">
              <a:off x="11577" y="4620"/>
              <a:ext cx="376" cy="55"/>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97" name="Straight Connector 96"/>
            <p:cNvCxnSpPr>
              <a:stCxn id="69" idx="5"/>
              <a:endCxn id="70" idx="2"/>
            </p:cNvCxnSpPr>
            <p:nvPr/>
          </p:nvCxnSpPr>
          <p:spPr>
            <a:xfrm>
              <a:off x="12047" y="4703"/>
              <a:ext cx="289" cy="231"/>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6" name="Straight Connector 105"/>
            <p:cNvCxnSpPr>
              <a:stCxn id="70" idx="4"/>
              <a:endCxn id="44" idx="31"/>
            </p:cNvCxnSpPr>
            <p:nvPr/>
          </p:nvCxnSpPr>
          <p:spPr>
            <a:xfrm>
              <a:off x="12412" y="5010"/>
              <a:ext cx="384" cy="85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7" name="Straight Connector 106"/>
            <p:cNvCxnSpPr>
              <a:stCxn id="50" idx="5"/>
              <a:endCxn id="71" idx="1"/>
            </p:cNvCxnSpPr>
            <p:nvPr/>
          </p:nvCxnSpPr>
          <p:spPr>
            <a:xfrm>
              <a:off x="12863" y="5924"/>
              <a:ext cx="251" cy="674"/>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8" name="Straight Connector 107"/>
            <p:cNvCxnSpPr>
              <a:stCxn id="71" idx="5"/>
              <a:endCxn id="53" idx="2"/>
            </p:cNvCxnSpPr>
            <p:nvPr/>
          </p:nvCxnSpPr>
          <p:spPr>
            <a:xfrm>
              <a:off x="13222" y="6706"/>
              <a:ext cx="295" cy="137"/>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09" name="Straight Connector 108"/>
            <p:cNvCxnSpPr>
              <a:stCxn id="53" idx="5"/>
              <a:endCxn id="77" idx="2"/>
            </p:cNvCxnSpPr>
            <p:nvPr/>
          </p:nvCxnSpPr>
          <p:spPr>
            <a:xfrm>
              <a:off x="13647" y="6897"/>
              <a:ext cx="304" cy="80"/>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0" name="Straight Connector 109"/>
            <p:cNvCxnSpPr>
              <a:stCxn id="72" idx="5"/>
              <a:endCxn id="57" idx="2"/>
            </p:cNvCxnSpPr>
            <p:nvPr/>
          </p:nvCxnSpPr>
          <p:spPr>
            <a:xfrm flipV="1">
              <a:off x="14033" y="6500"/>
              <a:ext cx="245" cy="494"/>
            </a:xfrm>
            <a:prstGeom prst="line">
              <a:avLst/>
            </a:prstGeom>
            <a:ln w="12700" cap="rnd" cmpd="sng">
              <a:solidFill>
                <a:srgbClr val="8C64E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1" name="Straight Connector 110"/>
            <p:cNvCxnSpPr/>
            <p:nvPr/>
          </p:nvCxnSpPr>
          <p:spPr>
            <a:xfrm>
              <a:off x="10250" y="5592"/>
              <a:ext cx="162"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2" name="Straight Connector 111"/>
            <p:cNvCxnSpPr/>
            <p:nvPr/>
          </p:nvCxnSpPr>
          <p:spPr>
            <a:xfrm>
              <a:off x="10250" y="4698"/>
              <a:ext cx="149"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13" name="Straight Connector 112"/>
            <p:cNvCxnSpPr/>
            <p:nvPr/>
          </p:nvCxnSpPr>
          <p:spPr>
            <a:xfrm>
              <a:off x="10250" y="5145"/>
              <a:ext cx="149"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114" name="Text Box 113"/>
            <p:cNvSpPr txBox="1"/>
            <p:nvPr/>
          </p:nvSpPr>
          <p:spPr>
            <a:xfrm>
              <a:off x="8838" y="6150"/>
              <a:ext cx="1181" cy="670"/>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011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5" name="Text Box 114"/>
            <p:cNvSpPr txBox="1"/>
            <p:nvPr/>
          </p:nvSpPr>
          <p:spPr>
            <a:xfrm>
              <a:off x="8838" y="6605"/>
              <a:ext cx="1181" cy="677"/>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010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6" name="Text Box 115"/>
            <p:cNvSpPr txBox="1"/>
            <p:nvPr/>
          </p:nvSpPr>
          <p:spPr>
            <a:xfrm>
              <a:off x="8838" y="7039"/>
              <a:ext cx="1181" cy="677"/>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001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17" name="Text Box 116"/>
            <p:cNvSpPr txBox="1"/>
            <p:nvPr/>
          </p:nvSpPr>
          <p:spPr>
            <a:xfrm>
              <a:off x="8837" y="7417"/>
              <a:ext cx="1182" cy="677"/>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000</a:t>
              </a:r>
              <a:endParaRPr lang="en-US" sz="2200">
                <a:solidFill>
                  <a:srgbClr val="00B0F0"/>
                </a:solidFill>
                <a:latin typeface="Alibaba PuHuiTi 3.0 55 Regular" panose="00020600040101010101" charset="-122"/>
                <a:ea typeface="Alibaba PuHuiTi 3.0 55 Regular" panose="00020600040101010101" charset="-122"/>
              </a:endParaRPr>
            </a:p>
          </p:txBody>
        </p:sp>
        <p:cxnSp>
          <p:nvCxnSpPr>
            <p:cNvPr id="119" name="Straight Connector 118"/>
            <p:cNvCxnSpPr/>
            <p:nvPr/>
          </p:nvCxnSpPr>
          <p:spPr>
            <a:xfrm>
              <a:off x="10250" y="6039"/>
              <a:ext cx="162"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0" name="Straight Connector 119"/>
            <p:cNvCxnSpPr/>
            <p:nvPr/>
          </p:nvCxnSpPr>
          <p:spPr>
            <a:xfrm>
              <a:off x="10250" y="6486"/>
              <a:ext cx="162"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1" name="Straight Connector 120"/>
            <p:cNvCxnSpPr/>
            <p:nvPr/>
          </p:nvCxnSpPr>
          <p:spPr>
            <a:xfrm>
              <a:off x="10250" y="6897"/>
              <a:ext cx="162"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cxnSp>
          <p:nvCxnSpPr>
            <p:cNvPr id="122" name="Straight Connector 121"/>
            <p:cNvCxnSpPr/>
            <p:nvPr/>
          </p:nvCxnSpPr>
          <p:spPr>
            <a:xfrm>
              <a:off x="10250" y="7380"/>
              <a:ext cx="162" cy="0"/>
            </a:xfrm>
            <a:prstGeom prst="line">
              <a:avLst/>
            </a:prstGeom>
            <a:ln w="31750" cap="rnd" cmpd="sng">
              <a:solidFill>
                <a:schemeClr val="tx1"/>
              </a:solidFill>
              <a:prstDash val="solid"/>
              <a:round/>
              <a:headEnd type="none"/>
              <a:tailEnd type="none"/>
            </a:ln>
          </p:spPr>
          <p:style>
            <a:lnRef idx="0">
              <a:srgbClr val="FFFFFF"/>
            </a:lnRef>
            <a:fillRef idx="0">
              <a:srgbClr val="FFFFFF"/>
            </a:fillRef>
            <a:effectRef idx="0">
              <a:srgbClr val="FFFFFF"/>
            </a:effectRef>
            <a:fontRef idx="minor">
              <a:schemeClr val="tx1"/>
            </a:fontRef>
          </p:style>
        </p:cxnSp>
        <p:sp>
          <p:nvSpPr>
            <p:cNvPr id="131" name="Text Box 130"/>
            <p:cNvSpPr txBox="1"/>
            <p:nvPr/>
          </p:nvSpPr>
          <p:spPr>
            <a:xfrm>
              <a:off x="8839" y="4440"/>
              <a:ext cx="1182" cy="670"/>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111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2" name="Text Box 131"/>
            <p:cNvSpPr txBox="1"/>
            <p:nvPr/>
          </p:nvSpPr>
          <p:spPr>
            <a:xfrm>
              <a:off x="8840" y="4895"/>
              <a:ext cx="1181" cy="677"/>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110</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3" name="Text Box 132"/>
            <p:cNvSpPr txBox="1"/>
            <p:nvPr/>
          </p:nvSpPr>
          <p:spPr>
            <a:xfrm>
              <a:off x="8840" y="5329"/>
              <a:ext cx="1181" cy="677"/>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101</a:t>
              </a:r>
              <a:endParaRPr lang="en-US" sz="2200">
                <a:solidFill>
                  <a:srgbClr val="00B0F0"/>
                </a:solidFill>
                <a:latin typeface="Alibaba PuHuiTi 3.0 55 Regular" panose="00020600040101010101" charset="-122"/>
                <a:ea typeface="Alibaba PuHuiTi 3.0 55 Regular" panose="00020600040101010101" charset="-122"/>
              </a:endParaRPr>
            </a:p>
          </p:txBody>
        </p:sp>
        <p:sp>
          <p:nvSpPr>
            <p:cNvPr id="134" name="Text Box 133"/>
            <p:cNvSpPr txBox="1"/>
            <p:nvPr/>
          </p:nvSpPr>
          <p:spPr>
            <a:xfrm>
              <a:off x="8839" y="5707"/>
              <a:ext cx="1182" cy="677"/>
            </a:xfrm>
            <a:prstGeom prst="rect">
              <a:avLst/>
            </a:prstGeom>
            <a:noFill/>
          </p:spPr>
          <p:txBody>
            <a:bodyPr wrap="square" rtlCol="0">
              <a:noAutofit/>
            </a:bodyPr>
            <a:p>
              <a:r>
                <a:rPr lang="en-US" sz="2200">
                  <a:solidFill>
                    <a:srgbClr val="00B0F0"/>
                  </a:solidFill>
                  <a:latin typeface="Alibaba PuHuiTi 3.0 55 Regular" panose="00020600040101010101" charset="-122"/>
                  <a:ea typeface="Alibaba PuHuiTi 3.0 55 Regular" panose="00020600040101010101" charset="-122"/>
                </a:rPr>
                <a:t>100</a:t>
              </a:r>
              <a:endParaRPr lang="en-US" sz="2200">
                <a:solidFill>
                  <a:srgbClr val="00B0F0"/>
                </a:solidFill>
                <a:latin typeface="Alibaba PuHuiTi 3.0 55 Regular" panose="00020600040101010101" charset="-122"/>
                <a:ea typeface="Alibaba PuHuiTi 3.0 55 Regular" panose="00020600040101010101" charset="-122"/>
              </a:endParaRPr>
            </a:p>
          </p:txBody>
        </p:sp>
      </p:grpSp>
      <p:grpSp>
        <p:nvGrpSpPr>
          <p:cNvPr id="12" name="Group 11"/>
          <p:cNvGrpSpPr/>
          <p:nvPr/>
        </p:nvGrpSpPr>
        <p:grpSpPr>
          <a:xfrm>
            <a:off x="6976110" y="3011805"/>
            <a:ext cx="2621280" cy="1706880"/>
            <a:chOff x="10986" y="4743"/>
            <a:chExt cx="4128" cy="2688"/>
          </a:xfrm>
        </p:grpSpPr>
        <p:pic>
          <p:nvPicPr>
            <p:cNvPr id="8" name="Picture 7" descr="计算机水平"/>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12426" y="4743"/>
              <a:ext cx="2688" cy="2688"/>
            </a:xfrm>
            <a:prstGeom prst="rect">
              <a:avLst/>
            </a:prstGeom>
          </p:spPr>
        </p:pic>
        <p:pic>
          <p:nvPicPr>
            <p:cNvPr id="9" name="Picture 8" descr="手机"/>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10986" y="5796"/>
              <a:ext cx="1440" cy="1440"/>
            </a:xfrm>
            <a:prstGeom prst="rect">
              <a:avLst/>
            </a:prstGeom>
          </p:spPr>
        </p:pic>
        <p:pic>
          <p:nvPicPr>
            <p:cNvPr id="10" name="Picture 9" descr="声音"/>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tretch>
              <a:fillRect/>
            </a:stretch>
          </p:blipFill>
          <p:spPr>
            <a:xfrm>
              <a:off x="11544" y="6354"/>
              <a:ext cx="325" cy="325"/>
            </a:xfrm>
            <a:prstGeom prst="rect">
              <a:avLst/>
            </a:prstGeom>
          </p:spPr>
        </p:pic>
        <p:pic>
          <p:nvPicPr>
            <p:cNvPr id="5" name="Picture 4" descr="声音"/>
            <p:cNvPicPr>
              <a:picLocks noChangeAspect="1"/>
            </p:cNvPicPr>
            <p:nvPr>
              <p:custDataLst>
                <p:tags r:id="rId11"/>
              </p:custDataLst>
            </p:nvPr>
          </p:nvPicPr>
          <p:blipFill>
            <a:blip r:embed="rId9">
              <a:extLst>
                <a:ext uri="{96DAC541-7B7A-43D3-8B79-37D633B846F1}">
                  <asvg:svgBlip xmlns:asvg="http://schemas.microsoft.com/office/drawing/2016/SVG/main" r:embed="rId10"/>
                </a:ext>
              </a:extLst>
            </a:blip>
            <a:stretch>
              <a:fillRect/>
            </a:stretch>
          </p:blipFill>
          <p:spPr>
            <a:xfrm>
              <a:off x="13608" y="5556"/>
              <a:ext cx="325" cy="325"/>
            </a:xfrm>
            <a:prstGeom prst="rect">
              <a:avLst/>
            </a:prstGeom>
          </p:spPr>
        </p:pic>
      </p:grpSp>
      <p:sp>
        <p:nvSpPr>
          <p:cNvPr id="6" name="Right Arrow 5"/>
          <p:cNvSpPr/>
          <p:nvPr/>
        </p:nvSpPr>
        <p:spPr>
          <a:xfrm>
            <a:off x="5157470" y="3528060"/>
            <a:ext cx="1067435" cy="755650"/>
          </a:xfrm>
          <a:prstGeom prst="rightArrow">
            <a:avLst/>
          </a:prstGeom>
          <a:solidFill>
            <a:schemeClr val="bg2">
              <a:lumMod val="5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88" name="Text Box 187"/>
          <p:cNvSpPr txBox="1"/>
          <p:nvPr/>
        </p:nvSpPr>
        <p:spPr>
          <a:xfrm>
            <a:off x="4777740" y="2819400"/>
            <a:ext cx="1706245" cy="530860"/>
          </a:xfrm>
          <a:prstGeom prst="rect">
            <a:avLst/>
          </a:prstGeom>
          <a:noFill/>
        </p:spPr>
        <p:txBody>
          <a:bodyPr wrap="square" rtlCol="0">
            <a:noAutofit/>
          </a:bodyPr>
          <a:p>
            <a:pPr indent="0" algn="r">
              <a:lnSpc>
                <a:spcPct val="150000"/>
              </a:lnSpc>
              <a:buFont typeface="Arial" panose="020B0604020202090204" pitchFamily="34" charset="0"/>
              <a:buNone/>
            </a:pPr>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声音编码</a:t>
            </a:r>
            <a:endPar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endParaRPr>
          </a:p>
        </p:txBody>
      </p:sp>
    </p:spTree>
    <p:custDataLst>
      <p:tags r:id="rId1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a:bodyPr>
          <a:p>
            <a:r>
              <a:rPr lang="zh-CN" altLang="en-US"/>
              <a:t>怎样才能把声音（模拟信号</a:t>
            </a:r>
            <a:r>
              <a:rPr lang="en-US" altLang="zh-CN"/>
              <a:t>）</a:t>
            </a:r>
            <a:r>
              <a:rPr lang="zh-CN" altLang="en-US"/>
              <a:t>是转成数字信号</a:t>
            </a:r>
            <a:r>
              <a:rPr lang="en-US"/>
              <a:t>？</a:t>
            </a:r>
            <a:endParaRPr lang="en-US"/>
          </a:p>
        </p:txBody>
      </p:sp>
      <p:sp>
        <p:nvSpPr>
          <p:cNvPr id="14" name="Text Box 13"/>
          <p:cNvSpPr txBox="1"/>
          <p:nvPr/>
        </p:nvSpPr>
        <p:spPr>
          <a:xfrm>
            <a:off x="691515" y="1313815"/>
            <a:ext cx="2547620" cy="429895"/>
          </a:xfrm>
          <a:prstGeom prst="rect">
            <a:avLst/>
          </a:prstGeom>
          <a:noFill/>
        </p:spPr>
        <p:txBody>
          <a:bodyPr wrap="square" rtlCol="0">
            <a:noAutofit/>
          </a:bodyPr>
          <a:p>
            <a:r>
              <a:rPr lang="en-US" altLang="zh-CN" sz="2200">
                <a:latin typeface="Alibaba PuHuiTi 3.0 55 Regular" panose="00020600040101010101" charset="-122"/>
                <a:ea typeface="Alibaba PuHuiTi 3.0 55 Regular" panose="00020600040101010101" charset="-122"/>
                <a:cs typeface="Alibaba PuHuiTi 3.0 55 Regular" panose="00020600040101010101" charset="-122"/>
              </a:rPr>
              <a:t>1. </a:t>
            </a:r>
            <a:r>
              <a:rPr lang="zh-CN" altLang="en-US" sz="2200">
                <a:latin typeface="Alibaba PuHuiTi 3.0 55 Regular" panose="00020600040101010101" charset="-122"/>
                <a:ea typeface="Alibaba PuHuiTi 3.0 55 Regular" panose="00020600040101010101" charset="-122"/>
                <a:cs typeface="Alibaba PuHuiTi 3.0 55 Regular" panose="00020600040101010101" charset="-122"/>
              </a:rPr>
              <a:t>采样</a:t>
            </a:r>
            <a:r>
              <a:rPr lang="en-US" altLang="zh-CN" sz="2200">
                <a:latin typeface="Alibaba PuHuiTi 3.0 55 Regular" panose="00020600040101010101" charset="-122"/>
                <a:ea typeface="Alibaba PuHuiTi 3.0 55 Regular" panose="00020600040101010101" charset="-122"/>
                <a:cs typeface="Alibaba PuHuiTi 3.0 55 Regular" panose="00020600040101010101" charset="-122"/>
              </a:rPr>
              <a:t> Sampling</a:t>
            </a:r>
            <a:endParaRPr lang="en-US" altLang="zh-CN" sz="2200">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7" name="Text Box 16"/>
          <p:cNvSpPr txBox="1"/>
          <p:nvPr/>
        </p:nvSpPr>
        <p:spPr>
          <a:xfrm>
            <a:off x="3860165" y="1313815"/>
            <a:ext cx="3038475" cy="429895"/>
          </a:xfrm>
          <a:prstGeom prst="rect">
            <a:avLst/>
          </a:prstGeom>
          <a:noFill/>
        </p:spPr>
        <p:txBody>
          <a:bodyPr wrap="square" rtlCol="0">
            <a:spAutoFit/>
          </a:bodyPr>
          <a:p>
            <a:r>
              <a:rPr lang="en-US" altLang="zh-CN" sz="2200">
                <a:latin typeface="Alibaba PuHuiTi 3.0 55 Regular" panose="00020600040101010101" charset="-122"/>
                <a:ea typeface="Alibaba PuHuiTi 3.0 55 Regular" panose="00020600040101010101" charset="-122"/>
                <a:cs typeface="Alibaba PuHuiTi 3.0 55 Regular" panose="00020600040101010101" charset="-122"/>
              </a:rPr>
              <a:t>2. </a:t>
            </a:r>
            <a:r>
              <a:rPr lang="zh-CN" altLang="en-US" sz="2200">
                <a:latin typeface="Alibaba PuHuiTi 3.0 55 Regular" panose="00020600040101010101" charset="-122"/>
                <a:ea typeface="Alibaba PuHuiTi 3.0 55 Regular" panose="00020600040101010101" charset="-122"/>
                <a:cs typeface="Alibaba PuHuiTi 3.0 55 Regular" panose="00020600040101010101" charset="-122"/>
              </a:rPr>
              <a:t>量化</a:t>
            </a:r>
            <a:r>
              <a:rPr lang="en-US" altLang="zh-CN" sz="2200">
                <a:latin typeface="Alibaba PuHuiTi 3.0 55 Regular" panose="00020600040101010101" charset="-122"/>
                <a:ea typeface="Alibaba PuHuiTi 3.0 55 Regular" panose="00020600040101010101" charset="-122"/>
                <a:cs typeface="Alibaba PuHuiTi 3.0 55 Regular" panose="00020600040101010101" charset="-122"/>
              </a:rPr>
              <a:t> Quantization</a:t>
            </a:r>
            <a:endParaRPr lang="en-US" altLang="zh-CN" sz="2200">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8" name="Text Box 17"/>
          <p:cNvSpPr txBox="1"/>
          <p:nvPr/>
        </p:nvSpPr>
        <p:spPr>
          <a:xfrm>
            <a:off x="7519670" y="1313815"/>
            <a:ext cx="3822065" cy="429895"/>
          </a:xfrm>
          <a:prstGeom prst="rect">
            <a:avLst/>
          </a:prstGeom>
          <a:noFill/>
        </p:spPr>
        <p:txBody>
          <a:bodyPr wrap="square" rtlCol="0">
            <a:spAutoFit/>
          </a:bodyPr>
          <a:p>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3. </a:t>
            </a:r>
            <a:r>
              <a:rPr lang="zh-CN" altLang="en-US" sz="2200" b="1">
                <a:latin typeface="Alibaba PuHuiTi 3.0 85 Bold" panose="00020600040101010101" charset="-122"/>
                <a:ea typeface="Alibaba PuHuiTi 3.0 85 Bold" panose="00020600040101010101" charset="-122"/>
                <a:cs typeface="Alibaba PuHuiTi 3.0 85 Bold" panose="00020600040101010101" charset="-122"/>
              </a:rPr>
              <a:t>编码</a:t>
            </a:r>
            <a:r>
              <a:rPr lang="en-US" altLang="zh-CN" sz="2200" b="1">
                <a:latin typeface="Alibaba PuHuiTi 3.0 85 Bold" panose="00020600040101010101" charset="-122"/>
                <a:ea typeface="Alibaba PuHuiTi 3.0 85 Bold" panose="00020600040101010101" charset="-122"/>
                <a:cs typeface="Alibaba PuHuiTi 3.0 85 Bold" panose="00020600040101010101" charset="-122"/>
              </a:rPr>
              <a:t> Encoding</a:t>
            </a:r>
            <a:endParaRPr lang="en-US" altLang="zh-CN" sz="2200" b="1">
              <a:latin typeface="Alibaba PuHuiTi 3.0 85 Bold" panose="00020600040101010101" charset="-122"/>
              <a:ea typeface="Alibaba PuHuiTi 3.0 85 Bold" panose="00020600040101010101" charset="-122"/>
              <a:cs typeface="Alibaba PuHuiTi 3.0 85 Bold" panose="00020600040101010101" charset="-122"/>
            </a:endParaRPr>
          </a:p>
        </p:txBody>
      </p:sp>
      <p:cxnSp>
        <p:nvCxnSpPr>
          <p:cNvPr id="19" name="Straight Connector 18"/>
          <p:cNvCxnSpPr/>
          <p:nvPr/>
        </p:nvCxnSpPr>
        <p:spPr>
          <a:xfrm flipH="1">
            <a:off x="3202305" y="1529080"/>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cxnSp>
        <p:nvCxnSpPr>
          <p:cNvPr id="20" name="Straight Connector 19"/>
          <p:cNvCxnSpPr/>
          <p:nvPr/>
        </p:nvCxnSpPr>
        <p:spPr>
          <a:xfrm flipH="1">
            <a:off x="6861810" y="1528445"/>
            <a:ext cx="694690" cy="0"/>
          </a:xfrm>
          <a:prstGeom prst="line">
            <a:avLst/>
          </a:prstGeom>
          <a:ln w="31750" cap="rnd" cmpd="sng">
            <a:solidFill>
              <a:schemeClr val="bg2">
                <a:lumMod val="50000"/>
              </a:schemeClr>
            </a:solidFill>
            <a:prstDash val="solid"/>
            <a:round/>
            <a:headEnd type="triangle" w="lg" len="lg"/>
            <a:tailEnd type="none"/>
          </a:ln>
        </p:spPr>
        <p:style>
          <a:lnRef idx="0">
            <a:srgbClr val="FFFFFF"/>
          </a:lnRef>
          <a:fillRef idx="0">
            <a:srgbClr val="FFFFFF"/>
          </a:fillRef>
          <a:effectRef idx="0">
            <a:srgbClr val="FFFFFF"/>
          </a:effectRef>
          <a:fontRef idx="minor">
            <a:schemeClr val="tx1"/>
          </a:fontRef>
        </p:style>
      </p:cxnSp>
      <p:sp>
        <p:nvSpPr>
          <p:cNvPr id="188" name="Text Box 187"/>
          <p:cNvSpPr txBox="1"/>
          <p:nvPr/>
        </p:nvSpPr>
        <p:spPr>
          <a:xfrm>
            <a:off x="1713865" y="1743710"/>
            <a:ext cx="8368665" cy="1083310"/>
          </a:xfrm>
          <a:prstGeom prst="rect">
            <a:avLst/>
          </a:prstGeom>
          <a:noFill/>
        </p:spPr>
        <p:txBody>
          <a:bodyPr wrap="square" rtlCol="0">
            <a:noAutofit/>
          </a:bodyPr>
          <a:p>
            <a:pPr indent="0" algn="r">
              <a:lnSpc>
                <a:spcPct val="150000"/>
              </a:lnSpc>
              <a:buFont typeface="Arial" panose="020B0604020202090204" pitchFamily="34" charset="0"/>
              <a:buNone/>
            </a:pPr>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声音编码</a:t>
            </a:r>
            <a:r>
              <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a:t>
            </a:r>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确立编码规则</a:t>
            </a:r>
            <a:r>
              <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a:t>
            </a:r>
            <a:endPar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endParaRPr>
          </a:p>
          <a:p>
            <a:pPr indent="0" algn="r">
              <a:lnSpc>
                <a:spcPct val="150000"/>
              </a:lnSpc>
              <a:buFont typeface="Arial" panose="020B0604020202090204" pitchFamily="34" charset="0"/>
              <a:buNone/>
            </a:pPr>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优化数据排列</a:t>
            </a:r>
            <a:r>
              <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a:t>
            </a:r>
            <a:endPar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endParaRPr>
          </a:p>
          <a:p>
            <a:pPr indent="0" algn="r">
              <a:lnSpc>
                <a:spcPct val="150000"/>
              </a:lnSpc>
              <a:buFont typeface="Arial" panose="020B0604020202090204" pitchFamily="34" charset="0"/>
              <a:buNone/>
            </a:pPr>
            <a:r>
              <a:rPr lang="zh-CN" altLang="en-US"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以减少数据的存储容量</a:t>
            </a:r>
            <a:r>
              <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rPr>
              <a:t>。</a:t>
            </a:r>
            <a:endParaRPr lang="en-US" altLang="zh-CN" sz="2200" b="1">
              <a:solidFill>
                <a:srgbClr val="FF0000"/>
              </a:solidFill>
              <a:latin typeface="Alibaba PuHuiTi 3.0 85 Bold" panose="00020600040101010101" charset="-122"/>
              <a:ea typeface="Alibaba PuHuiTi 3.0 85 Bold" panose="00020600040101010101" charset="-122"/>
              <a:cs typeface="Alibaba PuHuiTi 3.0 85 Bold" panose="00020600040101010101" charset="-122"/>
            </a:endParaRPr>
          </a:p>
        </p:txBody>
      </p:sp>
      <p:grpSp>
        <p:nvGrpSpPr>
          <p:cNvPr id="194" name="Group 193"/>
          <p:cNvGrpSpPr/>
          <p:nvPr/>
        </p:nvGrpSpPr>
        <p:grpSpPr>
          <a:xfrm>
            <a:off x="7194550" y="4000500"/>
            <a:ext cx="2887980" cy="2310130"/>
            <a:chOff x="10896" y="6115"/>
            <a:chExt cx="4548" cy="3638"/>
          </a:xfrm>
        </p:grpSpPr>
        <p:pic>
          <p:nvPicPr>
            <p:cNvPr id="189" name="Picture 188" descr="乐高"/>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11131" y="7514"/>
              <a:ext cx="1440" cy="1440"/>
            </a:xfrm>
            <a:prstGeom prst="rect">
              <a:avLst/>
            </a:prstGeom>
          </p:spPr>
        </p:pic>
        <p:pic>
          <p:nvPicPr>
            <p:cNvPr id="190" name="Picture 189" descr="乐高"/>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13226" y="7514"/>
              <a:ext cx="1440" cy="1440"/>
            </a:xfrm>
            <a:prstGeom prst="rect">
              <a:avLst/>
            </a:prstGeom>
          </p:spPr>
        </p:pic>
        <p:sp>
          <p:nvSpPr>
            <p:cNvPr id="191" name="Text Box 190"/>
            <p:cNvSpPr txBox="1"/>
            <p:nvPr/>
          </p:nvSpPr>
          <p:spPr>
            <a:xfrm>
              <a:off x="10896" y="9077"/>
              <a:ext cx="4548" cy="677"/>
            </a:xfrm>
            <a:prstGeom prst="rect">
              <a:avLst/>
            </a:prstGeom>
            <a:noFill/>
          </p:spPr>
          <p:txBody>
            <a:bodyPr wrap="square" rtlCol="0">
              <a:noAutofit/>
            </a:bodyPr>
            <a:p>
              <a:r>
                <a:rPr lang="zh-CN" altLang="en-US" sz="2200" b="1">
                  <a:latin typeface="Alibaba PuHuiTi 3.0 85 Bold" panose="00020600040101010101" charset="-122"/>
                  <a:ea typeface="Alibaba PuHuiTi 3.0 85 Bold" panose="00020600040101010101" charset="-122"/>
                </a:rPr>
                <a:t>编码</a:t>
              </a:r>
              <a:r>
                <a:rPr lang="zh-CN" altLang="en-US" sz="2200">
                  <a:latin typeface="Alibaba PuHuiTi 3.0 55 Regular" panose="00020600040101010101" charset="-122"/>
                  <a:ea typeface="Alibaba PuHuiTi 3.0 55 Regular" panose="00020600040101010101" charset="-122"/>
                </a:rPr>
                <a:t>类似于</a:t>
              </a:r>
              <a:r>
                <a:rPr lang="zh-CN" altLang="en-US" sz="2200" b="1">
                  <a:latin typeface="Alibaba PuHuiTi 3.0 85 Bold" panose="00020600040101010101" charset="-122"/>
                  <a:ea typeface="Alibaba PuHuiTi 3.0 85 Bold" panose="00020600040101010101" charset="-122"/>
                </a:rPr>
                <a:t>组装积木</a:t>
              </a:r>
              <a:endParaRPr lang="zh-CN" altLang="en-US" sz="2200" b="1">
                <a:latin typeface="Alibaba PuHuiTi 3.0 85 Bold" panose="00020600040101010101" charset="-122"/>
                <a:ea typeface="Alibaba PuHuiTi 3.0 85 Bold" panose="00020600040101010101" charset="-122"/>
              </a:endParaRPr>
            </a:p>
          </p:txBody>
        </p:sp>
        <p:pic>
          <p:nvPicPr>
            <p:cNvPr id="192" name="Picture 191" descr="积木"/>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tretch>
              <a:fillRect/>
            </a:stretch>
          </p:blipFill>
          <p:spPr>
            <a:xfrm>
              <a:off x="12450" y="6115"/>
              <a:ext cx="1440" cy="1440"/>
            </a:xfrm>
            <a:prstGeom prst="rect">
              <a:avLst/>
            </a:prstGeom>
          </p:spPr>
        </p:pic>
      </p:grpSp>
      <p:sp>
        <p:nvSpPr>
          <p:cNvPr id="193" name="Text Box 192"/>
          <p:cNvSpPr txBox="1"/>
          <p:nvPr/>
        </p:nvSpPr>
        <p:spPr>
          <a:xfrm>
            <a:off x="3328035" y="5170170"/>
            <a:ext cx="4611370" cy="429895"/>
          </a:xfrm>
          <a:prstGeom prst="rect">
            <a:avLst/>
          </a:prstGeom>
          <a:noFill/>
        </p:spPr>
        <p:txBody>
          <a:bodyPr wrap="square" rtlCol="0">
            <a:noAutofit/>
          </a:bodyPr>
          <a:p>
            <a:endParaRPr lang="en-US" altLang="zh-CN" sz="2200">
              <a:latin typeface="Alibaba PuHuiTi 3.0 55 Regular" panose="00020600040101010101" charset="-122"/>
              <a:ea typeface="Alibaba PuHuiTi 3.0 55 Regular" panose="00020600040101010101" charset="-122"/>
            </a:endParaRPr>
          </a:p>
        </p:txBody>
      </p:sp>
    </p:spTree>
    <p:custDataLst>
      <p:tags r:id="rId11"/>
    </p:custData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zh-CN" altLang="en-US"/>
              <a:t>常见的音频文件类型有哪些</a:t>
            </a:r>
            <a:r>
              <a:rPr lang="en-US" altLang="zh-CN"/>
              <a:t>？</a:t>
            </a:r>
            <a:endParaRPr lang="en-US" altLang="zh-CN"/>
          </a:p>
        </p:txBody>
      </p:sp>
      <p:pic>
        <p:nvPicPr>
          <p:cNvPr id="4" name="Picture 3" descr="WAV文件"/>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824230" y="2148840"/>
            <a:ext cx="914400" cy="914400"/>
          </a:xfrm>
          <a:prstGeom prst="rect">
            <a:avLst/>
          </a:prstGeom>
        </p:spPr>
      </p:pic>
      <p:pic>
        <p:nvPicPr>
          <p:cNvPr id="5" name="Picture 4" descr="音乐"/>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5933440" y="2148840"/>
            <a:ext cx="914400" cy="914400"/>
          </a:xfrm>
          <a:prstGeom prst="rect">
            <a:avLst/>
          </a:prstGeom>
        </p:spPr>
      </p:pic>
      <p:pic>
        <p:nvPicPr>
          <p:cNvPr id="6" name="Picture 5" descr="蜂蜜提取器"/>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tretch>
            <a:fillRect/>
          </a:stretch>
        </p:blipFill>
        <p:spPr>
          <a:xfrm>
            <a:off x="8488045" y="2148840"/>
            <a:ext cx="914400" cy="914400"/>
          </a:xfrm>
          <a:prstGeom prst="rect">
            <a:avLst/>
          </a:prstGeom>
        </p:spPr>
      </p:pic>
      <p:pic>
        <p:nvPicPr>
          <p:cNvPr id="7" name="Picture 6" descr="音乐"/>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3378835" y="2148840"/>
            <a:ext cx="914400" cy="914400"/>
          </a:xfrm>
          <a:prstGeom prst="rect">
            <a:avLst/>
          </a:prstGeom>
        </p:spPr>
      </p:pic>
      <p:sp>
        <p:nvSpPr>
          <p:cNvPr id="8" name="Text Box 7"/>
          <p:cNvSpPr txBox="1"/>
          <p:nvPr/>
        </p:nvSpPr>
        <p:spPr>
          <a:xfrm>
            <a:off x="864870" y="3249295"/>
            <a:ext cx="1221740" cy="429895"/>
          </a:xfrm>
          <a:prstGeom prst="rect">
            <a:avLst/>
          </a:prstGeom>
          <a:noFill/>
        </p:spPr>
        <p:txBody>
          <a:bodyPr wrap="square" rtlCol="0">
            <a:noAutofit/>
          </a:bodyPr>
          <a:p>
            <a:r>
              <a:rPr lang="en-US" sz="2200">
                <a:latin typeface="Alibaba PuHuiTi 3.0 55 Regular" panose="00020600040101010101" charset="-122"/>
                <a:ea typeface="Alibaba PuHuiTi 3.0 55 Regular" panose="00020600040101010101" charset="-122"/>
              </a:rPr>
              <a:t>WAV</a:t>
            </a:r>
            <a:endParaRPr lang="en-US" sz="2200">
              <a:latin typeface="Alibaba PuHuiTi 3.0 55 Regular" panose="00020600040101010101" charset="-122"/>
              <a:ea typeface="Alibaba PuHuiTi 3.0 55 Regular" panose="00020600040101010101" charset="-122"/>
            </a:endParaRPr>
          </a:p>
        </p:txBody>
      </p:sp>
      <p:sp>
        <p:nvSpPr>
          <p:cNvPr id="9" name="Text Box 8"/>
          <p:cNvSpPr txBox="1"/>
          <p:nvPr/>
        </p:nvSpPr>
        <p:spPr>
          <a:xfrm>
            <a:off x="3419475" y="3249295"/>
            <a:ext cx="1221740" cy="429895"/>
          </a:xfrm>
          <a:prstGeom prst="rect">
            <a:avLst/>
          </a:prstGeom>
          <a:noFill/>
        </p:spPr>
        <p:txBody>
          <a:bodyPr wrap="square" rtlCol="0">
            <a:noAutofit/>
          </a:bodyPr>
          <a:p>
            <a:r>
              <a:rPr lang="en-US" sz="2200">
                <a:latin typeface="Alibaba PuHuiTi 3.0 55 Regular" panose="00020600040101010101" charset="-122"/>
                <a:ea typeface="Alibaba PuHuiTi 3.0 55 Regular" panose="00020600040101010101" charset="-122"/>
              </a:rPr>
              <a:t>MP3</a:t>
            </a:r>
            <a:endParaRPr lang="en-US" sz="2200">
              <a:latin typeface="Alibaba PuHuiTi 3.0 55 Regular" panose="00020600040101010101" charset="-122"/>
              <a:ea typeface="Alibaba PuHuiTi 3.0 55 Regular" panose="00020600040101010101" charset="-122"/>
            </a:endParaRPr>
          </a:p>
        </p:txBody>
      </p:sp>
      <p:sp>
        <p:nvSpPr>
          <p:cNvPr id="10" name="Text Box 9"/>
          <p:cNvSpPr txBox="1"/>
          <p:nvPr/>
        </p:nvSpPr>
        <p:spPr>
          <a:xfrm>
            <a:off x="5974080" y="3249295"/>
            <a:ext cx="1221740" cy="429895"/>
          </a:xfrm>
          <a:prstGeom prst="rect">
            <a:avLst/>
          </a:prstGeom>
          <a:noFill/>
        </p:spPr>
        <p:txBody>
          <a:bodyPr wrap="square" rtlCol="0">
            <a:noAutofit/>
          </a:bodyPr>
          <a:p>
            <a:r>
              <a:rPr lang="en-US" sz="2200">
                <a:latin typeface="Alibaba PuHuiTi 3.0 55 Regular" panose="00020600040101010101" charset="-122"/>
                <a:ea typeface="Alibaba PuHuiTi 3.0 55 Regular" panose="00020600040101010101" charset="-122"/>
              </a:rPr>
              <a:t>WMA</a:t>
            </a:r>
            <a:endParaRPr lang="en-US" sz="2200">
              <a:latin typeface="Alibaba PuHuiTi 3.0 55 Regular" panose="00020600040101010101" charset="-122"/>
              <a:ea typeface="Alibaba PuHuiTi 3.0 55 Regular" panose="00020600040101010101" charset="-122"/>
            </a:endParaRPr>
          </a:p>
        </p:txBody>
      </p:sp>
      <p:sp>
        <p:nvSpPr>
          <p:cNvPr id="11" name="Text Box 10"/>
          <p:cNvSpPr txBox="1"/>
          <p:nvPr/>
        </p:nvSpPr>
        <p:spPr>
          <a:xfrm>
            <a:off x="8528685" y="3249295"/>
            <a:ext cx="1221740" cy="429895"/>
          </a:xfrm>
          <a:prstGeom prst="rect">
            <a:avLst/>
          </a:prstGeom>
          <a:noFill/>
        </p:spPr>
        <p:txBody>
          <a:bodyPr wrap="square" rtlCol="0">
            <a:noAutofit/>
          </a:bodyPr>
          <a:p>
            <a:r>
              <a:rPr lang="en-US" sz="2200">
                <a:latin typeface="Alibaba PuHuiTi 3.0 55 Regular" panose="00020600040101010101" charset="-122"/>
                <a:ea typeface="Alibaba PuHuiTi 3.0 55 Regular" panose="00020600040101010101" charset="-122"/>
              </a:rPr>
              <a:t>MIDI</a:t>
            </a:r>
            <a:endParaRPr lang="en-US" sz="2200">
              <a:latin typeface="Alibaba PuHuiTi 3.0 55 Regular" panose="00020600040101010101" charset="-122"/>
              <a:ea typeface="Alibaba PuHuiTi 3.0 55 Regular" panose="00020600040101010101" charset="-122"/>
            </a:endParaRPr>
          </a:p>
        </p:txBody>
      </p:sp>
    </p:spTree>
    <p:custDataLst>
      <p:tags r:id="rId14"/>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zh-CN" altLang="en-US"/>
              <a:t>常见的音频文件类型有哪些</a:t>
            </a:r>
            <a:r>
              <a:rPr lang="en-US" altLang="zh-CN"/>
              <a:t>？</a:t>
            </a:r>
            <a:endParaRPr lang="en-US" altLang="zh-CN"/>
          </a:p>
        </p:txBody>
      </p:sp>
      <p:pic>
        <p:nvPicPr>
          <p:cNvPr id="4" name="Picture 3" descr="WAV文件"/>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824230" y="2148840"/>
            <a:ext cx="914400" cy="914400"/>
          </a:xfrm>
          <a:prstGeom prst="rect">
            <a:avLst/>
          </a:prstGeom>
        </p:spPr>
      </p:pic>
      <p:pic>
        <p:nvPicPr>
          <p:cNvPr id="5" name="Picture 4" descr="音乐"/>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5933440" y="2148840"/>
            <a:ext cx="914400" cy="914400"/>
          </a:xfrm>
          <a:prstGeom prst="rect">
            <a:avLst/>
          </a:prstGeom>
        </p:spPr>
      </p:pic>
      <p:pic>
        <p:nvPicPr>
          <p:cNvPr id="6" name="Picture 5" descr="蜂蜜提取器"/>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tretch>
            <a:fillRect/>
          </a:stretch>
        </p:blipFill>
        <p:spPr>
          <a:xfrm>
            <a:off x="8488045" y="2148840"/>
            <a:ext cx="914400" cy="914400"/>
          </a:xfrm>
          <a:prstGeom prst="rect">
            <a:avLst/>
          </a:prstGeom>
        </p:spPr>
      </p:pic>
      <p:pic>
        <p:nvPicPr>
          <p:cNvPr id="7" name="Picture 6" descr="音乐"/>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3378835" y="2148840"/>
            <a:ext cx="914400" cy="914400"/>
          </a:xfrm>
          <a:prstGeom prst="rect">
            <a:avLst/>
          </a:prstGeom>
        </p:spPr>
      </p:pic>
      <p:sp>
        <p:nvSpPr>
          <p:cNvPr id="8" name="Text Box 7"/>
          <p:cNvSpPr txBox="1"/>
          <p:nvPr/>
        </p:nvSpPr>
        <p:spPr>
          <a:xfrm>
            <a:off x="864870" y="3249295"/>
            <a:ext cx="1221740" cy="429895"/>
          </a:xfrm>
          <a:prstGeom prst="rect">
            <a:avLst/>
          </a:prstGeom>
          <a:noFill/>
        </p:spPr>
        <p:txBody>
          <a:bodyPr wrap="square" rtlCol="0">
            <a:noAutofit/>
          </a:bodyPr>
          <a:p>
            <a:r>
              <a:rPr lang="en-US" sz="2200">
                <a:latin typeface="Alibaba PuHuiTi 3.0 55 Regular" panose="00020600040101010101" charset="-122"/>
                <a:ea typeface="Alibaba PuHuiTi 3.0 55 Regular" panose="00020600040101010101" charset="-122"/>
              </a:rPr>
              <a:t>WAV</a:t>
            </a:r>
            <a:endParaRPr lang="en-US" sz="2200">
              <a:latin typeface="Alibaba PuHuiTi 3.0 55 Regular" panose="00020600040101010101" charset="-122"/>
              <a:ea typeface="Alibaba PuHuiTi 3.0 55 Regular" panose="00020600040101010101" charset="-122"/>
            </a:endParaRPr>
          </a:p>
        </p:txBody>
      </p:sp>
      <p:sp>
        <p:nvSpPr>
          <p:cNvPr id="9" name="Text Box 8"/>
          <p:cNvSpPr txBox="1"/>
          <p:nvPr/>
        </p:nvSpPr>
        <p:spPr>
          <a:xfrm>
            <a:off x="3419475" y="3249295"/>
            <a:ext cx="1221740" cy="429895"/>
          </a:xfrm>
          <a:prstGeom prst="rect">
            <a:avLst/>
          </a:prstGeom>
          <a:noFill/>
        </p:spPr>
        <p:txBody>
          <a:bodyPr wrap="square" rtlCol="0">
            <a:noAutofit/>
          </a:bodyPr>
          <a:p>
            <a:r>
              <a:rPr lang="en-US" sz="2200">
                <a:latin typeface="Alibaba PuHuiTi 3.0 55 Regular" panose="00020600040101010101" charset="-122"/>
                <a:ea typeface="Alibaba PuHuiTi 3.0 55 Regular" panose="00020600040101010101" charset="-122"/>
              </a:rPr>
              <a:t>MP3</a:t>
            </a:r>
            <a:endParaRPr lang="en-US" sz="2200">
              <a:latin typeface="Alibaba PuHuiTi 3.0 55 Regular" panose="00020600040101010101" charset="-122"/>
              <a:ea typeface="Alibaba PuHuiTi 3.0 55 Regular" panose="00020600040101010101" charset="-122"/>
            </a:endParaRPr>
          </a:p>
        </p:txBody>
      </p:sp>
      <p:sp>
        <p:nvSpPr>
          <p:cNvPr id="10" name="Text Box 9"/>
          <p:cNvSpPr txBox="1"/>
          <p:nvPr/>
        </p:nvSpPr>
        <p:spPr>
          <a:xfrm>
            <a:off x="5974080" y="3249295"/>
            <a:ext cx="1221740" cy="429895"/>
          </a:xfrm>
          <a:prstGeom prst="rect">
            <a:avLst/>
          </a:prstGeom>
          <a:noFill/>
        </p:spPr>
        <p:txBody>
          <a:bodyPr wrap="square" rtlCol="0">
            <a:noAutofit/>
          </a:bodyPr>
          <a:p>
            <a:r>
              <a:rPr lang="en-US" sz="2200">
                <a:latin typeface="Alibaba PuHuiTi 3.0 55 Regular" panose="00020600040101010101" charset="-122"/>
                <a:ea typeface="Alibaba PuHuiTi 3.0 55 Regular" panose="00020600040101010101" charset="-122"/>
              </a:rPr>
              <a:t>WMA</a:t>
            </a:r>
            <a:endParaRPr lang="en-US" sz="2200">
              <a:latin typeface="Alibaba PuHuiTi 3.0 55 Regular" panose="00020600040101010101" charset="-122"/>
              <a:ea typeface="Alibaba PuHuiTi 3.0 55 Regular" panose="00020600040101010101" charset="-122"/>
            </a:endParaRPr>
          </a:p>
        </p:txBody>
      </p:sp>
      <p:sp>
        <p:nvSpPr>
          <p:cNvPr id="11" name="Text Box 10"/>
          <p:cNvSpPr txBox="1"/>
          <p:nvPr/>
        </p:nvSpPr>
        <p:spPr>
          <a:xfrm>
            <a:off x="8528685" y="3249295"/>
            <a:ext cx="1221740" cy="429895"/>
          </a:xfrm>
          <a:prstGeom prst="rect">
            <a:avLst/>
          </a:prstGeom>
          <a:noFill/>
        </p:spPr>
        <p:txBody>
          <a:bodyPr wrap="square" rtlCol="0">
            <a:noAutofit/>
          </a:bodyPr>
          <a:p>
            <a:r>
              <a:rPr lang="en-US" sz="2200">
                <a:latin typeface="Alibaba PuHuiTi 3.0 55 Regular" panose="00020600040101010101" charset="-122"/>
                <a:ea typeface="Alibaba PuHuiTi 3.0 55 Regular" panose="00020600040101010101" charset="-122"/>
              </a:rPr>
              <a:t>MIDI</a:t>
            </a:r>
            <a:endParaRPr lang="en-US" sz="2200">
              <a:latin typeface="Alibaba PuHuiTi 3.0 55 Regular" panose="00020600040101010101" charset="-122"/>
              <a:ea typeface="Alibaba PuHuiTi 3.0 55 Regular" panose="00020600040101010101" charset="-122"/>
            </a:endParaRPr>
          </a:p>
        </p:txBody>
      </p:sp>
      <p:sp>
        <p:nvSpPr>
          <p:cNvPr id="3" name="Text Box 2"/>
          <p:cNvSpPr txBox="1"/>
          <p:nvPr/>
        </p:nvSpPr>
        <p:spPr>
          <a:xfrm>
            <a:off x="864870" y="3898265"/>
            <a:ext cx="4672330" cy="429895"/>
          </a:xfrm>
          <a:prstGeom prst="rect">
            <a:avLst/>
          </a:prstGeom>
          <a:noFill/>
        </p:spPr>
        <p:txBody>
          <a:bodyPr wrap="square" rtlCol="0">
            <a:noAutofit/>
          </a:bodyPr>
          <a:p>
            <a:pPr algn="l"/>
            <a:r>
              <a:rPr lang="en-US" sz="2200">
                <a:latin typeface="Alibaba PuHuiTi 3.0 55 Regular" panose="00020600040101010101" charset="-122"/>
                <a:ea typeface="Alibaba PuHuiTi 3.0 55 Regular" panose="00020600040101010101" charset="-122"/>
              </a:rPr>
              <a:t>WAV: </a:t>
            </a:r>
            <a:r>
              <a:rPr lang="zh-CN" altLang="en-US" sz="2200">
                <a:latin typeface="Alibaba PuHuiTi 3.0 55 Regular" panose="00020600040101010101" charset="-122"/>
                <a:ea typeface="Alibaba PuHuiTi 3.0 55 Regular" panose="00020600040101010101" charset="-122"/>
              </a:rPr>
              <a:t>最常见的未压缩的文件格式</a:t>
            </a:r>
            <a:r>
              <a:rPr lang="en-US" altLang="zh-CN" sz="2200">
                <a:latin typeface="Alibaba PuHuiTi 3.0 55 Regular" panose="00020600040101010101" charset="-122"/>
                <a:ea typeface="Alibaba PuHuiTi 3.0 55 Regular" panose="00020600040101010101" charset="-122"/>
              </a:rPr>
              <a:t>。</a:t>
            </a:r>
            <a:r>
              <a:rPr lang="zh-CN" altLang="en-US" sz="2200">
                <a:latin typeface="Alibaba PuHuiTi 3.0 55 Regular" panose="00020600040101010101" charset="-122"/>
                <a:ea typeface="Alibaba PuHuiTi 3.0 55 Regular" panose="00020600040101010101" charset="-122"/>
              </a:rPr>
              <a:t>声音质量高</a:t>
            </a:r>
            <a:r>
              <a:rPr lang="en-US" altLang="zh-CN" sz="2200">
                <a:latin typeface="Alibaba PuHuiTi 3.0 55 Regular" panose="00020600040101010101" charset="-122"/>
                <a:ea typeface="Alibaba PuHuiTi 3.0 55 Regular" panose="00020600040101010101" charset="-122"/>
              </a:rPr>
              <a:t>，</a:t>
            </a:r>
            <a:r>
              <a:rPr lang="zh-CN" altLang="en-US" sz="2200">
                <a:latin typeface="Alibaba PuHuiTi 3.0 55 Regular" panose="00020600040101010101" charset="-122"/>
                <a:ea typeface="Alibaba PuHuiTi 3.0 55 Regular" panose="00020600040101010101" charset="-122"/>
              </a:rPr>
              <a:t>所占存储容量较大</a:t>
            </a:r>
            <a:r>
              <a:rPr lang="en-US" altLang="zh-CN" sz="2200">
                <a:latin typeface="Alibaba PuHuiTi 3.0 55 Regular" panose="00020600040101010101" charset="-122"/>
                <a:ea typeface="Alibaba PuHuiTi 3.0 55 Regular" panose="00020600040101010101" charset="-122"/>
              </a:rPr>
              <a:t>。</a:t>
            </a:r>
            <a:endParaRPr lang="en-US" altLang="zh-CN" sz="2200">
              <a:latin typeface="Alibaba PuHuiTi 3.0 55 Regular" panose="00020600040101010101" charset="-122"/>
              <a:ea typeface="Alibaba PuHuiTi 3.0 55 Regular" panose="00020600040101010101" charset="-122"/>
            </a:endParaRPr>
          </a:p>
        </p:txBody>
      </p:sp>
    </p:spTree>
    <p:custDataLst>
      <p:tags r:id="rId14"/>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zh-CN" altLang="en-US"/>
              <a:t>常见的音频文件类型有哪些</a:t>
            </a:r>
            <a:r>
              <a:rPr lang="en-US" altLang="zh-CN"/>
              <a:t>？</a:t>
            </a:r>
            <a:endParaRPr lang="en-US" altLang="zh-CN"/>
          </a:p>
        </p:txBody>
      </p:sp>
      <p:pic>
        <p:nvPicPr>
          <p:cNvPr id="4" name="Picture 3" descr="WAV文件"/>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824230" y="2148840"/>
            <a:ext cx="914400" cy="914400"/>
          </a:xfrm>
          <a:prstGeom prst="rect">
            <a:avLst/>
          </a:prstGeom>
        </p:spPr>
      </p:pic>
      <p:pic>
        <p:nvPicPr>
          <p:cNvPr id="5" name="Picture 4" descr="音乐"/>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5933440" y="2148840"/>
            <a:ext cx="914400" cy="914400"/>
          </a:xfrm>
          <a:prstGeom prst="rect">
            <a:avLst/>
          </a:prstGeom>
        </p:spPr>
      </p:pic>
      <p:pic>
        <p:nvPicPr>
          <p:cNvPr id="6" name="Picture 5" descr="蜂蜜提取器"/>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tretch>
            <a:fillRect/>
          </a:stretch>
        </p:blipFill>
        <p:spPr>
          <a:xfrm>
            <a:off x="8488045" y="2148840"/>
            <a:ext cx="914400" cy="914400"/>
          </a:xfrm>
          <a:prstGeom prst="rect">
            <a:avLst/>
          </a:prstGeom>
        </p:spPr>
      </p:pic>
      <p:pic>
        <p:nvPicPr>
          <p:cNvPr id="7" name="Picture 6" descr="音乐"/>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3378835" y="2148840"/>
            <a:ext cx="914400" cy="914400"/>
          </a:xfrm>
          <a:prstGeom prst="rect">
            <a:avLst/>
          </a:prstGeom>
        </p:spPr>
      </p:pic>
      <p:sp>
        <p:nvSpPr>
          <p:cNvPr id="8" name="Text Box 7"/>
          <p:cNvSpPr txBox="1"/>
          <p:nvPr/>
        </p:nvSpPr>
        <p:spPr>
          <a:xfrm>
            <a:off x="864870" y="3249295"/>
            <a:ext cx="1221740" cy="429895"/>
          </a:xfrm>
          <a:prstGeom prst="rect">
            <a:avLst/>
          </a:prstGeom>
          <a:noFill/>
        </p:spPr>
        <p:txBody>
          <a:bodyPr wrap="square" rtlCol="0">
            <a:noAutofit/>
          </a:bodyPr>
          <a:p>
            <a:r>
              <a:rPr lang="en-US" sz="2200">
                <a:latin typeface="Alibaba PuHuiTi 3.0 55 Regular" panose="00020600040101010101" charset="-122"/>
                <a:ea typeface="Alibaba PuHuiTi 3.0 55 Regular" panose="00020600040101010101" charset="-122"/>
              </a:rPr>
              <a:t>WAV</a:t>
            </a:r>
            <a:endParaRPr lang="en-US" sz="2200">
              <a:latin typeface="Alibaba PuHuiTi 3.0 55 Regular" panose="00020600040101010101" charset="-122"/>
              <a:ea typeface="Alibaba PuHuiTi 3.0 55 Regular" panose="00020600040101010101" charset="-122"/>
            </a:endParaRPr>
          </a:p>
        </p:txBody>
      </p:sp>
      <p:sp>
        <p:nvSpPr>
          <p:cNvPr id="9" name="Text Box 8"/>
          <p:cNvSpPr txBox="1"/>
          <p:nvPr/>
        </p:nvSpPr>
        <p:spPr>
          <a:xfrm>
            <a:off x="3419475" y="3249295"/>
            <a:ext cx="1221740" cy="429895"/>
          </a:xfrm>
          <a:prstGeom prst="rect">
            <a:avLst/>
          </a:prstGeom>
          <a:noFill/>
        </p:spPr>
        <p:txBody>
          <a:bodyPr wrap="square" rtlCol="0">
            <a:noAutofit/>
          </a:bodyPr>
          <a:p>
            <a:r>
              <a:rPr lang="en-US" sz="2200">
                <a:latin typeface="Alibaba PuHuiTi 3.0 55 Regular" panose="00020600040101010101" charset="-122"/>
                <a:ea typeface="Alibaba PuHuiTi 3.0 55 Regular" panose="00020600040101010101" charset="-122"/>
              </a:rPr>
              <a:t>MP3</a:t>
            </a:r>
            <a:endParaRPr lang="en-US" sz="2200">
              <a:latin typeface="Alibaba PuHuiTi 3.0 55 Regular" panose="00020600040101010101" charset="-122"/>
              <a:ea typeface="Alibaba PuHuiTi 3.0 55 Regular" panose="00020600040101010101" charset="-122"/>
            </a:endParaRPr>
          </a:p>
        </p:txBody>
      </p:sp>
      <p:sp>
        <p:nvSpPr>
          <p:cNvPr id="10" name="Text Box 9"/>
          <p:cNvSpPr txBox="1"/>
          <p:nvPr/>
        </p:nvSpPr>
        <p:spPr>
          <a:xfrm>
            <a:off x="5974080" y="3249295"/>
            <a:ext cx="1221740" cy="429895"/>
          </a:xfrm>
          <a:prstGeom prst="rect">
            <a:avLst/>
          </a:prstGeom>
          <a:noFill/>
        </p:spPr>
        <p:txBody>
          <a:bodyPr wrap="square" rtlCol="0">
            <a:noAutofit/>
          </a:bodyPr>
          <a:p>
            <a:r>
              <a:rPr lang="en-US" sz="2200">
                <a:latin typeface="Alibaba PuHuiTi 3.0 55 Regular" panose="00020600040101010101" charset="-122"/>
                <a:ea typeface="Alibaba PuHuiTi 3.0 55 Regular" panose="00020600040101010101" charset="-122"/>
              </a:rPr>
              <a:t>WMA</a:t>
            </a:r>
            <a:endParaRPr lang="en-US" sz="2200">
              <a:latin typeface="Alibaba PuHuiTi 3.0 55 Regular" panose="00020600040101010101" charset="-122"/>
              <a:ea typeface="Alibaba PuHuiTi 3.0 55 Regular" panose="00020600040101010101" charset="-122"/>
            </a:endParaRPr>
          </a:p>
        </p:txBody>
      </p:sp>
      <p:sp>
        <p:nvSpPr>
          <p:cNvPr id="11" name="Text Box 10"/>
          <p:cNvSpPr txBox="1"/>
          <p:nvPr/>
        </p:nvSpPr>
        <p:spPr>
          <a:xfrm>
            <a:off x="8528685" y="3249295"/>
            <a:ext cx="1221740" cy="429895"/>
          </a:xfrm>
          <a:prstGeom prst="rect">
            <a:avLst/>
          </a:prstGeom>
          <a:noFill/>
        </p:spPr>
        <p:txBody>
          <a:bodyPr wrap="square" rtlCol="0">
            <a:noAutofit/>
          </a:bodyPr>
          <a:p>
            <a:r>
              <a:rPr lang="en-US" sz="2200">
                <a:latin typeface="Alibaba PuHuiTi 3.0 55 Regular" panose="00020600040101010101" charset="-122"/>
                <a:ea typeface="Alibaba PuHuiTi 3.0 55 Regular" panose="00020600040101010101" charset="-122"/>
              </a:rPr>
              <a:t>MIDI</a:t>
            </a:r>
            <a:endParaRPr lang="en-US" sz="2200">
              <a:latin typeface="Alibaba PuHuiTi 3.0 55 Regular" panose="00020600040101010101" charset="-122"/>
              <a:ea typeface="Alibaba PuHuiTi 3.0 55 Regular" panose="00020600040101010101" charset="-122"/>
            </a:endParaRPr>
          </a:p>
        </p:txBody>
      </p:sp>
      <p:sp>
        <p:nvSpPr>
          <p:cNvPr id="3" name="Text Box 2"/>
          <p:cNvSpPr txBox="1"/>
          <p:nvPr/>
        </p:nvSpPr>
        <p:spPr>
          <a:xfrm>
            <a:off x="3419475" y="3865245"/>
            <a:ext cx="4672330" cy="429895"/>
          </a:xfrm>
          <a:prstGeom prst="rect">
            <a:avLst/>
          </a:prstGeom>
          <a:noFill/>
        </p:spPr>
        <p:txBody>
          <a:bodyPr wrap="square" rtlCol="0">
            <a:noAutofit/>
          </a:bodyPr>
          <a:p>
            <a:pPr algn="l"/>
            <a:r>
              <a:rPr lang="en-US" sz="2200">
                <a:latin typeface="Alibaba PuHuiTi 3.0 55 Regular" panose="00020600040101010101" charset="-122"/>
                <a:ea typeface="Alibaba PuHuiTi 3.0 55 Regular" panose="00020600040101010101" charset="-122"/>
              </a:rPr>
              <a:t>MP3: </a:t>
            </a:r>
            <a:r>
              <a:rPr lang="zh-CN" altLang="en-US" sz="2200">
                <a:latin typeface="Alibaba PuHuiTi 3.0 55 Regular" panose="00020600040101010101" charset="-122"/>
                <a:ea typeface="Alibaba PuHuiTi 3.0 55 Regular" panose="00020600040101010101" charset="-122"/>
              </a:rPr>
              <a:t>最常见的音频有损压缩格式</a:t>
            </a:r>
            <a:r>
              <a:rPr lang="en-US" altLang="zh-CN" sz="2200">
                <a:latin typeface="Alibaba PuHuiTi 3.0 55 Regular" panose="00020600040101010101" charset="-122"/>
                <a:ea typeface="Alibaba PuHuiTi 3.0 55 Regular" panose="00020600040101010101" charset="-122"/>
              </a:rPr>
              <a:t>。</a:t>
            </a:r>
            <a:r>
              <a:rPr lang="zh-CN" altLang="en-US" sz="2200">
                <a:latin typeface="Alibaba PuHuiTi 3.0 55 Regular" panose="00020600040101010101" charset="-122"/>
                <a:ea typeface="Alibaba PuHuiTi 3.0 55 Regular" panose="00020600040101010101" charset="-122"/>
              </a:rPr>
              <a:t>可压缩到原来的</a:t>
            </a:r>
            <a:r>
              <a:rPr lang="en-US" altLang="zh-CN" sz="2200">
                <a:latin typeface="Alibaba PuHuiTi 3.0 55 Regular" panose="00020600040101010101" charset="-122"/>
                <a:ea typeface="Alibaba PuHuiTi 3.0 55 Regular" panose="00020600040101010101" charset="-122"/>
              </a:rPr>
              <a:t>1/10</a:t>
            </a:r>
            <a:r>
              <a:rPr lang="zh-CN" altLang="en-US" sz="2200">
                <a:latin typeface="Alibaba PuHuiTi 3.0 55 Regular" panose="00020600040101010101" charset="-122"/>
                <a:ea typeface="Alibaba PuHuiTi 3.0 55 Regular" panose="00020600040101010101" charset="-122"/>
              </a:rPr>
              <a:t>左右</a:t>
            </a:r>
            <a:r>
              <a:rPr lang="en-US" altLang="zh-CN" sz="2200">
                <a:latin typeface="Alibaba PuHuiTi 3.0 55 Regular" panose="00020600040101010101" charset="-122"/>
                <a:ea typeface="Alibaba PuHuiTi 3.0 55 Regular" panose="00020600040101010101" charset="-122"/>
              </a:rPr>
              <a:t>，</a:t>
            </a:r>
            <a:r>
              <a:rPr lang="zh-CN" altLang="en-US" sz="2200">
                <a:latin typeface="Alibaba PuHuiTi 3.0 55 Regular" panose="00020600040101010101" charset="-122"/>
                <a:ea typeface="Alibaba PuHuiTi 3.0 55 Regular" panose="00020600040101010101" charset="-122"/>
              </a:rPr>
              <a:t>而且仍具较高保真度</a:t>
            </a:r>
            <a:r>
              <a:rPr lang="en-US" altLang="zh-CN" sz="2200">
                <a:latin typeface="Alibaba PuHuiTi 3.0 55 Regular" panose="00020600040101010101" charset="-122"/>
                <a:ea typeface="Alibaba PuHuiTi 3.0 55 Regular" panose="00020600040101010101" charset="-122"/>
              </a:rPr>
              <a:t>。</a:t>
            </a:r>
            <a:endParaRPr lang="en-US" altLang="zh-CN" sz="2200">
              <a:latin typeface="Alibaba PuHuiTi 3.0 55 Regular" panose="00020600040101010101" charset="-122"/>
              <a:ea typeface="Alibaba PuHuiTi 3.0 55 Regular" panose="00020600040101010101" charset="-122"/>
            </a:endParaRPr>
          </a:p>
        </p:txBody>
      </p:sp>
    </p:spTree>
    <p:custDataLst>
      <p:tags r:id="rId14"/>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608400" y="608400"/>
            <a:ext cx="10969200" cy="705600"/>
          </a:xfrm>
        </p:spPr>
        <p:txBody>
          <a:bodyPr/>
          <a:p>
            <a:r>
              <a:rPr lang="zh-CN" altLang="en-US"/>
              <a:t>声音的</a:t>
            </a:r>
            <a:r>
              <a:rPr lang="zh-CN" altLang="en-US"/>
              <a:t>数字化</a:t>
            </a:r>
            <a:endParaRPr lang="zh-CN" altLang="en-US"/>
          </a:p>
        </p:txBody>
      </p:sp>
      <p:sp>
        <p:nvSpPr>
          <p:cNvPr id="5" name="Title 1"/>
          <p:cNvSpPr>
            <a:spLocks noGrp="1"/>
          </p:cNvSpPr>
          <p:nvPr>
            <p:custDataLst>
              <p:tags r:id="rId2"/>
            </p:custDataLst>
          </p:nvPr>
        </p:nvSpPr>
        <p:spPr>
          <a:xfrm>
            <a:off x="608330" y="2284095"/>
            <a:ext cx="1289050" cy="196088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libaba PuHuiTi 3.0 115 Black" panose="00020600040101010101" charset="-122"/>
                <a:ea typeface="Alibaba PuHuiTi 3.0 115 Black" panose="00020600040101010101" charset="-122"/>
                <a:cs typeface="+mj-cs"/>
              </a:defRPr>
            </a:lvl1pPr>
          </a:lstStyle>
          <a:p>
            <a:r>
              <a:rPr lang="zh-CN" altLang="en-US"/>
              <a:t>模拟</a:t>
            </a:r>
            <a:endParaRPr lang="zh-CN" altLang="en-US"/>
          </a:p>
          <a:p>
            <a:r>
              <a:rPr lang="zh-CN" altLang="en-US"/>
              <a:t>信号</a:t>
            </a:r>
            <a:endParaRPr lang="zh-CN" altLang="en-US"/>
          </a:p>
        </p:txBody>
      </p:sp>
      <p:sp>
        <p:nvSpPr>
          <p:cNvPr id="65" name="Right Arrow 64"/>
          <p:cNvSpPr/>
          <p:nvPr/>
        </p:nvSpPr>
        <p:spPr>
          <a:xfrm>
            <a:off x="2214880" y="3039110"/>
            <a:ext cx="473710" cy="389890"/>
          </a:xfrm>
          <a:prstGeom prst="rightArrow">
            <a:avLst/>
          </a:prstGeom>
          <a:solidFill>
            <a:schemeClr val="bg2">
              <a:lumMod val="5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Title 1"/>
          <p:cNvSpPr>
            <a:spLocks noGrp="1"/>
          </p:cNvSpPr>
          <p:nvPr>
            <p:custDataLst>
              <p:tags r:id="rId3"/>
            </p:custDataLst>
          </p:nvPr>
        </p:nvSpPr>
        <p:spPr>
          <a:xfrm>
            <a:off x="2939415" y="2284095"/>
            <a:ext cx="1289050" cy="196088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libaba PuHuiTi 3.0 115 Black" panose="00020600040101010101" charset="-122"/>
                <a:ea typeface="Alibaba PuHuiTi 3.0 115 Black" panose="00020600040101010101" charset="-122"/>
                <a:cs typeface="+mj-cs"/>
              </a:defRPr>
            </a:lvl1pPr>
          </a:lstStyle>
          <a:p>
            <a:r>
              <a:rPr lang="zh-CN" altLang="en-US">
                <a:solidFill>
                  <a:srgbClr val="8C64E1"/>
                </a:solidFill>
              </a:rPr>
              <a:t>声音采样</a:t>
            </a:r>
            <a:endParaRPr lang="zh-CN" altLang="en-US">
              <a:solidFill>
                <a:srgbClr val="8C64E1"/>
              </a:solidFill>
            </a:endParaRPr>
          </a:p>
        </p:txBody>
      </p:sp>
      <p:sp>
        <p:nvSpPr>
          <p:cNvPr id="7" name="Right Arrow 6"/>
          <p:cNvSpPr/>
          <p:nvPr/>
        </p:nvSpPr>
        <p:spPr>
          <a:xfrm>
            <a:off x="4523740" y="3039110"/>
            <a:ext cx="473710" cy="389890"/>
          </a:xfrm>
          <a:prstGeom prst="rightArrow">
            <a:avLst/>
          </a:prstGeom>
          <a:solidFill>
            <a:schemeClr val="bg2">
              <a:lumMod val="5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Title 1"/>
          <p:cNvSpPr>
            <a:spLocks noGrp="1"/>
          </p:cNvSpPr>
          <p:nvPr>
            <p:custDataLst>
              <p:tags r:id="rId4"/>
            </p:custDataLst>
          </p:nvPr>
        </p:nvSpPr>
        <p:spPr>
          <a:xfrm>
            <a:off x="9932670" y="2284095"/>
            <a:ext cx="1289050" cy="196088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libaba PuHuiTi 3.0 115 Black" panose="00020600040101010101" charset="-122"/>
                <a:ea typeface="Alibaba PuHuiTi 3.0 115 Black" panose="00020600040101010101" charset="-122"/>
                <a:cs typeface="+mj-cs"/>
              </a:defRPr>
            </a:lvl1pPr>
          </a:lstStyle>
          <a:p>
            <a:r>
              <a:rPr lang="zh-CN" altLang="en-US"/>
              <a:t>数字</a:t>
            </a:r>
            <a:endParaRPr lang="zh-CN" altLang="en-US"/>
          </a:p>
          <a:p>
            <a:r>
              <a:rPr lang="zh-CN" altLang="en-US"/>
              <a:t>信号</a:t>
            </a:r>
            <a:endParaRPr lang="zh-CN" altLang="en-US"/>
          </a:p>
        </p:txBody>
      </p:sp>
      <p:sp>
        <p:nvSpPr>
          <p:cNvPr id="9" name="Right Arrow 8"/>
          <p:cNvSpPr/>
          <p:nvPr/>
        </p:nvSpPr>
        <p:spPr>
          <a:xfrm>
            <a:off x="6832600" y="3039110"/>
            <a:ext cx="473710" cy="389890"/>
          </a:xfrm>
          <a:prstGeom prst="rightArrow">
            <a:avLst/>
          </a:prstGeom>
          <a:solidFill>
            <a:schemeClr val="bg2">
              <a:lumMod val="5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Title 1"/>
          <p:cNvSpPr>
            <a:spLocks noGrp="1"/>
          </p:cNvSpPr>
          <p:nvPr>
            <p:custDataLst>
              <p:tags r:id="rId5"/>
            </p:custDataLst>
          </p:nvPr>
        </p:nvSpPr>
        <p:spPr>
          <a:xfrm>
            <a:off x="5270500" y="2284095"/>
            <a:ext cx="1289050" cy="196088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libaba PuHuiTi 3.0 115 Black" panose="00020600040101010101" charset="-122"/>
                <a:ea typeface="Alibaba PuHuiTi 3.0 115 Black" panose="00020600040101010101" charset="-122"/>
                <a:cs typeface="+mj-cs"/>
              </a:defRPr>
            </a:lvl1pPr>
          </a:lstStyle>
          <a:p>
            <a:r>
              <a:rPr lang="zh-CN" altLang="en-US">
                <a:solidFill>
                  <a:srgbClr val="8C64E1"/>
                </a:solidFill>
                <a:sym typeface="+mn-ea"/>
              </a:rPr>
              <a:t>声音量化</a:t>
            </a:r>
            <a:endParaRPr lang="zh-CN" altLang="en-US">
              <a:solidFill>
                <a:srgbClr val="8C64E1"/>
              </a:solidFill>
              <a:sym typeface="+mn-ea"/>
            </a:endParaRPr>
          </a:p>
        </p:txBody>
      </p:sp>
      <p:sp>
        <p:nvSpPr>
          <p:cNvPr id="11" name="Right Arrow 10"/>
          <p:cNvSpPr/>
          <p:nvPr/>
        </p:nvSpPr>
        <p:spPr>
          <a:xfrm>
            <a:off x="9141460" y="3109595"/>
            <a:ext cx="473710" cy="389890"/>
          </a:xfrm>
          <a:prstGeom prst="rightArrow">
            <a:avLst/>
          </a:prstGeom>
          <a:solidFill>
            <a:schemeClr val="bg2">
              <a:lumMod val="5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2" name="Title 1"/>
          <p:cNvSpPr>
            <a:spLocks noGrp="1"/>
          </p:cNvSpPr>
          <p:nvPr>
            <p:custDataLst>
              <p:tags r:id="rId6"/>
            </p:custDataLst>
          </p:nvPr>
        </p:nvSpPr>
        <p:spPr>
          <a:xfrm>
            <a:off x="7601585" y="2284095"/>
            <a:ext cx="1289050" cy="196088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libaba PuHuiTi 3.0 115 Black" panose="00020600040101010101" charset="-122"/>
                <a:ea typeface="Alibaba PuHuiTi 3.0 115 Black" panose="00020600040101010101" charset="-122"/>
                <a:cs typeface="+mj-cs"/>
              </a:defRPr>
            </a:lvl1pPr>
          </a:lstStyle>
          <a:p>
            <a:r>
              <a:rPr lang="zh-CN" altLang="en-US">
                <a:solidFill>
                  <a:srgbClr val="8C64E1"/>
                </a:solidFill>
                <a:sym typeface="+mn-ea"/>
              </a:rPr>
              <a:t>声音编码</a:t>
            </a:r>
            <a:endParaRPr lang="zh-CN" altLang="en-US">
              <a:solidFill>
                <a:srgbClr val="8C64E1"/>
              </a:solidFill>
              <a:sym typeface="+mn-ea"/>
            </a:endParaRPr>
          </a:p>
        </p:txBody>
      </p:sp>
      <p:sp>
        <p:nvSpPr>
          <p:cNvPr id="14" name="Text Box 13"/>
          <p:cNvSpPr txBox="1"/>
          <p:nvPr/>
        </p:nvSpPr>
        <p:spPr>
          <a:xfrm>
            <a:off x="2449830" y="3815080"/>
            <a:ext cx="254762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切割</a:t>
            </a:r>
            <a:r>
              <a:rPr lang="en-US" altLang="zh-CN" sz="2200">
                <a:latin typeface="Alibaba PuHuiTi 3.0 55 Regular" panose="00020600040101010101" charset="-122"/>
                <a:ea typeface="Alibaba PuHuiTi 3.0 55 Regular" panose="00020600040101010101" charset="-122"/>
              </a:rPr>
              <a:t>、</a:t>
            </a:r>
            <a:r>
              <a:rPr lang="zh-CN" altLang="en-US" sz="2200">
                <a:latin typeface="Alibaba PuHuiTi 3.0 55 Regular" panose="00020600040101010101" charset="-122"/>
                <a:ea typeface="Alibaba PuHuiTi 3.0 55 Regular" panose="00020600040101010101" charset="-122"/>
              </a:rPr>
              <a:t>采集</a:t>
            </a:r>
            <a:r>
              <a:rPr lang="zh-CN" altLang="en-US" sz="2200">
                <a:latin typeface="Alibaba PuHuiTi 3.0 55 Regular" panose="00020600040101010101" charset="-122"/>
                <a:ea typeface="Alibaba PuHuiTi 3.0 55 Regular" panose="00020600040101010101" charset="-122"/>
              </a:rPr>
              <a:t>模拟值</a:t>
            </a:r>
            <a:endParaRPr lang="zh-CN" altLang="en-US" sz="2200">
              <a:latin typeface="Alibaba PuHuiTi 3.0 55 Regular" panose="00020600040101010101" charset="-122"/>
              <a:ea typeface="Alibaba PuHuiTi 3.0 55 Regular" panose="00020600040101010101" charset="-122"/>
            </a:endParaRPr>
          </a:p>
        </p:txBody>
      </p:sp>
      <p:sp>
        <p:nvSpPr>
          <p:cNvPr id="15" name="Text Box 14"/>
          <p:cNvSpPr txBox="1"/>
          <p:nvPr/>
        </p:nvSpPr>
        <p:spPr>
          <a:xfrm>
            <a:off x="5239385" y="3815080"/>
            <a:ext cx="254762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模拟值分</a:t>
            </a:r>
            <a:r>
              <a:rPr lang="zh-CN" altLang="en-US" sz="2200">
                <a:latin typeface="Alibaba PuHuiTi 3.0 55 Regular" panose="00020600040101010101" charset="-122"/>
                <a:ea typeface="Alibaba PuHuiTi 3.0 55 Regular" panose="00020600040101010101" charset="-122"/>
              </a:rPr>
              <a:t>等级</a:t>
            </a:r>
            <a:endParaRPr lang="zh-CN" altLang="en-US" sz="2200">
              <a:latin typeface="Alibaba PuHuiTi 3.0 55 Regular" panose="00020600040101010101" charset="-122"/>
              <a:ea typeface="Alibaba PuHuiTi 3.0 55 Regular" panose="00020600040101010101" charset="-122"/>
            </a:endParaRPr>
          </a:p>
        </p:txBody>
      </p:sp>
      <p:sp>
        <p:nvSpPr>
          <p:cNvPr id="16" name="Text Box 15"/>
          <p:cNvSpPr txBox="1"/>
          <p:nvPr/>
        </p:nvSpPr>
        <p:spPr>
          <a:xfrm>
            <a:off x="7617460" y="3815080"/>
            <a:ext cx="2547620" cy="429895"/>
          </a:xfrm>
          <a:prstGeom prst="rect">
            <a:avLst/>
          </a:prstGeom>
          <a:noFill/>
        </p:spPr>
        <p:txBody>
          <a:bodyPr wrap="square" rtlCol="0">
            <a:noAutofit/>
          </a:bodyPr>
          <a:p>
            <a:r>
              <a:rPr lang="zh-CN" altLang="en-US" sz="2200">
                <a:latin typeface="Alibaba PuHuiTi 3.0 55 Regular" panose="00020600040101010101" charset="-122"/>
                <a:ea typeface="Alibaba PuHuiTi 3.0 55 Regular" panose="00020600040101010101" charset="-122"/>
              </a:rPr>
              <a:t>确定组装</a:t>
            </a:r>
            <a:r>
              <a:rPr lang="zh-CN" altLang="en-US" sz="2200">
                <a:latin typeface="Alibaba PuHuiTi 3.0 55 Regular" panose="00020600040101010101" charset="-122"/>
                <a:ea typeface="Alibaba PuHuiTi 3.0 55 Regular" panose="00020600040101010101" charset="-122"/>
              </a:rPr>
              <a:t>规则</a:t>
            </a:r>
            <a:endParaRPr lang="zh-CN" altLang="en-US" sz="2200">
              <a:latin typeface="Alibaba PuHuiTi 3.0 55 Regular" panose="00020600040101010101" charset="-122"/>
              <a:ea typeface="Alibaba PuHuiTi 3.0 55 Regular" panose="00020600040101010101" charset="-122"/>
            </a:endParaRPr>
          </a:p>
        </p:txBody>
      </p:sp>
    </p:spTree>
    <p:custDataLst>
      <p:tags r:id="rId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5" grpId="0" animBg="1"/>
      <p:bldP spid="6" grpId="0"/>
      <p:bldP spid="14" grpId="0"/>
      <p:bldP spid="7" grpId="0" animBg="1"/>
      <p:bldP spid="10" grpId="0"/>
      <p:bldP spid="15" grpId="0"/>
      <p:bldP spid="9" grpId="0" animBg="1"/>
      <p:bldP spid="12" grpId="0"/>
      <p:bldP spid="16" grpId="0"/>
      <p:bldP spid="11" grpId="0" animBg="1"/>
      <p:bldP spid="8" grpId="0"/>
    </p:bld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xml><?xml version="1.0" encoding="utf-8"?>
<p:tagLst xmlns:p="http://schemas.openxmlformats.org/presentationml/2006/main">
  <p:tag name="KSO_WM_BEAUTIFY_FLAG" val="#wm#"/>
  <p:tag name="KSO_WM_TEMPLATE_CATEGORY" val="custom"/>
  <p:tag name="KSO_WM_TEMPLATE_INDEX" val="20205081"/>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DOCER_RESOURCE_TRACE_INFO" val="{&quot;id&quot;:&quot;4523979&quot;,&quot;origin&quot;:0,&quot;type&quot;:&quot;icons&quot;,&quot;user&quot;:&quot;1238443062&quot;}"/>
</p:tagLst>
</file>

<file path=ppt/tags/tag68.xml><?xml version="1.0" encoding="utf-8"?>
<p:tagLst xmlns:p="http://schemas.openxmlformats.org/presentationml/2006/main">
  <p:tag name="KSO_DOCER_RESOURCE_TRACE_INFO" val="{&quot;id&quot;:&quot;20090516&quot;,&quot;origin&quot;:0,&quot;type&quot;:&quot;icons&quot;,&quot;user&quot;:&quot;1238443062&quot;}"/>
</p:tagLst>
</file>

<file path=ppt/tags/tag69.xml><?xml version="1.0" encoding="utf-8"?>
<p:tagLst xmlns:p="http://schemas.openxmlformats.org/presentationml/2006/main">
  <p:tag name="KSO_DOCER_RESOURCE_TRACE_INFO" val="{&quot;id&quot;:&quot;3649233&quot;,&quot;origin&quot;:0,&quot;type&quot;:&quot;icons&quot;,&quot;user&quot;:&quot;1238443062&quot;}"/>
</p:tagLst>
</file>

<file path=ppt/tags/tag70.xml><?xml version="1.0" encoding="utf-8"?>
<p:tagLst xmlns:p="http://schemas.openxmlformats.org/presentationml/2006/main">
  <p:tag name="KSO_DOCER_RESOURCE_TRACE_INFO" val="{&quot;id&quot;:&quot;3649233&quot;,&quot;origin&quot;:0,&quot;type&quot;:&quot;icons&quot;,&quot;user&quot;:&quot;1238443062&quot;}"/>
</p:tagLst>
</file>

<file path=ppt/tags/tag71.xml><?xml version="1.0" encoding="utf-8"?>
<p:tagLst xmlns:p="http://schemas.openxmlformats.org/presentationml/2006/main">
  <p:tag name="KSO_WM_BEAUTIFY_FLAG" val="#wm#"/>
  <p:tag name="KSO_WM_TEMPLATE_CATEGORY" val="custom"/>
  <p:tag name="KSO_WM_TEMPLATE_INDEX" val="20205081"/>
  <p:tag name="resource_record_key" val="{&quot;10&quot;:[4523979,20090516,3649233],&quot;65&quot;:[2020508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BEAUTIFY_FLAG" val="#wm#"/>
  <p:tag name="KSO_WM_TEMPLATE_CATEGORY" val="custom"/>
  <p:tag name="KSO_WM_TEMPLATE_INDEX" val="20205081"/>
  <p:tag name="resource_record_key" val="{&quot;10&quot;:[4523979,20090516,3649233],&quot;65&quot;:[20205081]}"/>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5.xml><?xml version="1.0" encoding="utf-8"?>
<p:tagLst xmlns:p="http://schemas.openxmlformats.org/presentationml/2006/main">
  <p:tag name="KSO_DOCER_RESOURCE_TRACE_INFO" val="{&quot;id&quot;:&quot;21598234&quot;,&quot;origin&quot;:0,&quot;type&quot;:&quot;icons&quot;,&quot;user&quot;:&quot;1238443062&quot;}"/>
</p:tagLst>
</file>

<file path=ppt/tags/tag76.xml><?xml version="1.0" encoding="utf-8"?>
<p:tagLst xmlns:p="http://schemas.openxmlformats.org/presentationml/2006/main">
  <p:tag name="KSO_WM_BEAUTIFY_FLAG" val="#wm#"/>
  <p:tag name="KSO_WM_TEMPLATE_CATEGORY" val="custom"/>
  <p:tag name="KSO_WM_TEMPLATE_INDEX" val="20205081"/>
  <p:tag name="resource_record_key" val="{&quot;10&quot;:[4523979,20090516,3649233,21598234],&quot;65&quot;:[20205081]}"/>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p="http://schemas.openxmlformats.org/presentationml/2006/main">
  <p:tag name="KSO_DOCER_RESOURCE_TRACE_INFO" val="{&quot;id&quot;:&quot;21598234&quot;,&quot;origin&quot;:0,&quot;type&quot;:&quot;icons&quot;,&quot;user&quot;:&quot;1238443062&quot;}"/>
</p:tagLst>
</file>

<file path=ppt/tags/tag79.xml><?xml version="1.0" encoding="utf-8"?>
<p:tagLst xmlns:p="http://schemas.openxmlformats.org/presentationml/2006/main">
  <p:tag name="KSO_WM_BEAUTIFY_FLAG" val="#wm#"/>
  <p:tag name="KSO_WM_TEMPLATE_CATEGORY" val="custom"/>
  <p:tag name="KSO_WM_TEMPLATE_INDEX" val="20205081"/>
  <p:tag name="resource_record_key" val="{&quot;10&quot;:[4523979,20090516,3649233,21598234],&quot;65&quot;:[20205081]}"/>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p="http://schemas.openxmlformats.org/presentationml/2006/main">
  <p:tag name="KSO_WM_BEAUTIFY_FLAG" val="#wm#"/>
  <p:tag name="KSO_WM_TEMPLATE_CATEGORY" val="custom"/>
  <p:tag name="KSO_WM_TEMPLATE_INDEX" val="20205081"/>
  <p:tag name="resource_record_key" val="{&quot;10&quot;:[4523979,20090516,3649233,21598234],&quot;65&quot;:[20205081]}"/>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p="http://schemas.openxmlformats.org/presentationml/2006/main">
  <p:tag name="KSO_DOCER_RESOURCE_TRACE_INFO" val="{&quot;id&quot;:&quot;50062403&quot;,&quot;origin&quot;:0,&quot;type&quot;:&quot;icons&quot;,&quot;user&quot;:&quot;1238443062&quot;}"/>
</p:tagLst>
</file>

<file path=ppt/tags/tag84.xml><?xml version="1.0" encoding="utf-8"?>
<p:tagLst xmlns:p="http://schemas.openxmlformats.org/presentationml/2006/main">
  <p:tag name="KSO_WM_BEAUTIFY_FLAG" val="#wm#"/>
  <p:tag name="KSO_WM_TEMPLATE_CATEGORY" val="custom"/>
  <p:tag name="KSO_WM_TEMPLATE_INDEX" val="20205081"/>
  <p:tag name="resource_record_key" val="{&quot;10&quot;:[4523979,20090516,3649233,21598234,50059483,50062403],&quot;65&quot;:[20205081]}"/>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Lst>
</file>

<file path=ppt/tags/tag87.xml><?xml version="1.0" encoding="utf-8"?>
<p:tagLst xmlns:p="http://schemas.openxmlformats.org/presentationml/2006/main">
  <p:tag name="KSO_WM_BEAUTIFY_FLAG" val="#wm#"/>
  <p:tag name="KSO_WM_TEMPLATE_CATEGORY" val="custom"/>
  <p:tag name="KSO_WM_TEMPLATE_INDEX" val="20205081"/>
  <p:tag name="resource_record_key" val="{&quot;10&quot;:[4523979,20090516,3649233],&quot;65&quot;:[20205081]}"/>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Lst>
</file>

<file path=ppt/tags/tag90.xml><?xml version="1.0" encoding="utf-8"?>
<p:tagLst xmlns:p="http://schemas.openxmlformats.org/presentationml/2006/main">
  <p:tag name="KSO_WM_BEAUTIFY_FLAG" val="#wm#"/>
  <p:tag name="KSO_WM_TEMPLATE_CATEGORY" val="custom"/>
  <p:tag name="KSO_WM_TEMPLATE_INDEX" val="20205081"/>
  <p:tag name="resource_record_key" val="{&quot;10&quot;:[4523979,20090516,3649233],&quot;65&quot;:[20205081]}"/>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Lst>
</file>

<file path=ppt/tags/tag94.xml><?xml version="1.0" encoding="utf-8"?>
<p:tagLst xmlns:p="http://schemas.openxmlformats.org/presentationml/2006/main">
  <p:tag name="KSO_WM_BEAUTIFY_FLAG" val="#wm#"/>
  <p:tag name="KSO_WM_TEMPLATE_CATEGORY" val="custom"/>
  <p:tag name="KSO_WM_TEMPLATE_INDEX" val="20205081"/>
  <p:tag name="resource_record_key" val="{&quot;10&quot;:[4523979,20090516,3649233],&quot;65&quot;:[20205081]}"/>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6.xml><?xml version="1.0" encoding="utf-8"?>
<p:tagLst xmlns:p="http://schemas.openxmlformats.org/presentationml/2006/main">
  <p:tag name="KSO_DOCER_RESOURCE_TRACE_INFO" val="{&quot;id&quot;:&quot;21598234&quot;,&quot;origin&quot;:0,&quot;type&quot;:&quot;icons&quot;,&quot;user&quot;:&quot;1238443062&quot;}"/>
</p:tagLst>
</file>

<file path=ppt/tags/tag97.xml><?xml version="1.0" encoding="utf-8"?>
<p:tagLst xmlns:p="http://schemas.openxmlformats.org/presentationml/2006/main">
  <p:tag name="KSO_WM_BEAUTIFY_FLAG" val="#wm#"/>
  <p:tag name="KSO_WM_TEMPLATE_CATEGORY" val="custom"/>
  <p:tag name="KSO_WM_TEMPLATE_INDEX" val="20205081"/>
  <p:tag name="resource_record_key" val="{&quot;10&quot;:[4523979,20090516,3649233],&quot;65&quot;:[20205081]}"/>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9.xml><?xml version="1.0" encoding="utf-8"?>
<p:tagLst xmlns:p="http://schemas.openxmlformats.org/presentationml/2006/main">
  <p:tag name="KSO_WM_BEAUTIFY_FLAG" val="#wm#"/>
  <p:tag name="KSO_WM_TEMPLATE_CATEGORY" val="custom"/>
  <p:tag name="KSO_WM_TEMPLATE_INDEX" val="20205081"/>
  <p:tag name="resource_record_key" val="{&quot;10&quot;:[4523979,20090516,3649233],&quot;65&quot;:[20205081]}"/>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1.xml><?xml version="1.0" encoding="utf-8"?>
<p:tagLst xmlns:p="http://schemas.openxmlformats.org/presentationml/2006/main">
  <p:tag name="KSO_WM_BEAUTIFY_FLAG" val="#wm#"/>
  <p:tag name="KSO_WM_TEMPLATE_CATEGORY" val="custom"/>
  <p:tag name="KSO_WM_TEMPLATE_INDEX" val="20205081"/>
  <p:tag name="resource_record_key" val="{&quot;10&quot;:[4523979,20090516,3649233],&quot;65&quot;:[20205081]}"/>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3.xml><?xml version="1.0" encoding="utf-8"?>
<p:tagLst xmlns:p="http://schemas.openxmlformats.org/presentationml/2006/main">
  <p:tag name="KSO_DOCER_RESOURCE_TRACE_INFO" val="{&quot;id&quot;:&quot;21598234&quot;,&quot;origin&quot;:0,&quot;type&quot;:&quot;icons&quot;,&quot;user&quot;:&quot;1238443062&quot;}"/>
</p:tagLst>
</file>

<file path=ppt/tags/tag104.xml><?xml version="1.0" encoding="utf-8"?>
<p:tagLst xmlns:p="http://schemas.openxmlformats.org/presentationml/2006/main">
  <p:tag name="KSO_WM_BEAUTIFY_FLAG" val="#wm#"/>
  <p:tag name="KSO_WM_TEMPLATE_CATEGORY" val="custom"/>
  <p:tag name="KSO_WM_TEMPLATE_INDEX" val="20205081"/>
  <p:tag name="resource_record_key" val="{&quot;10&quot;:[4523979,20090516,3649233],&quot;65&quot;:[20205081]}"/>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6.xml><?xml version="1.0" encoding="utf-8"?>
<p:tagLst xmlns:p="http://schemas.openxmlformats.org/presentationml/2006/main">
  <p:tag name="KSO_DOCER_RESOURCE_TRACE_INFO" val="{&quot;id&quot;:&quot;21598234&quot;,&quot;origin&quot;:0,&quot;type&quot;:&quot;icons&quot;,&quot;user&quot;:&quot;1238443062&quot;}"/>
</p:tagLst>
</file>

<file path=ppt/tags/tag107.xml><?xml version="1.0" encoding="utf-8"?>
<p:tagLst xmlns:p="http://schemas.openxmlformats.org/presentationml/2006/main">
  <p:tag name="KSO_WM_BEAUTIFY_FLAG" val="#wm#"/>
  <p:tag name="KSO_WM_TEMPLATE_CATEGORY" val="custom"/>
  <p:tag name="KSO_WM_TEMPLATE_INDEX" val="20205081"/>
  <p:tag name="resource_record_key" val="{&quot;10&quot;:[4523979,20090516,3649233],&quot;65&quot;:[20205081]}"/>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9.xml><?xml version="1.0" encoding="utf-8"?>
<p:tagLst xmlns:p="http://schemas.openxmlformats.org/presentationml/2006/main">
  <p:tag name="KSO_DOCER_RESOURCE_TRACE_INFO" val="{&quot;id&quot;:&quot;21598234&quot;,&quot;origin&quot;:0,&quot;type&quot;:&quot;icons&quot;,&quot;user&quot;:&quot;1238443062&quot;}"/>
</p:tagLst>
</file>

<file path=ppt/tags/tag110.xml><?xml version="1.0" encoding="utf-8"?>
<p:tagLst xmlns:p="http://schemas.openxmlformats.org/presentationml/2006/main">
  <p:tag name="KSO_WM_BEAUTIFY_FLAG" val="#wm#"/>
  <p:tag name="KSO_WM_TEMPLATE_CATEGORY" val="custom"/>
  <p:tag name="KSO_WM_TEMPLATE_INDEX" val="20205081"/>
  <p:tag name="resource_record_key" val="{&quot;10&quot;:[4523979,20090516,3649233],&quot;65&quot;:[20205081]}"/>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2.xml><?xml version="1.0" encoding="utf-8"?>
<p:tagLst xmlns:p="http://schemas.openxmlformats.org/presentationml/2006/main">
  <p:tag name="KSO_DOCER_RESOURCE_TRACE_INFO" val="{&quot;id&quot;:&quot;21598234&quot;,&quot;origin&quot;:0,&quot;type&quot;:&quot;icons&quot;,&quot;user&quot;:&quot;1238443062&quot;}"/>
</p:tagLst>
</file>

<file path=ppt/tags/tag113.xml><?xml version="1.0" encoding="utf-8"?>
<p:tagLst xmlns:p="http://schemas.openxmlformats.org/presentationml/2006/main">
  <p:tag name="KSO_WM_BEAUTIFY_FLAG" val="#wm#"/>
  <p:tag name="KSO_WM_TEMPLATE_CATEGORY" val="custom"/>
  <p:tag name="KSO_WM_TEMPLATE_INDEX" val="20205081"/>
  <p:tag name="resource_record_key" val="{&quot;10&quot;:[4523979,20090516,3649233],&quot;65&quot;:[20205081]}"/>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5.xml><?xml version="1.0" encoding="utf-8"?>
<p:tagLst xmlns:p="http://schemas.openxmlformats.org/presentationml/2006/main">
  <p:tag name="KSO_DOCER_RESOURCE_TRACE_INFO" val="{&quot;id&quot;:&quot;21598234&quot;,&quot;origin&quot;:0,&quot;type&quot;:&quot;icons&quot;,&quot;user&quot;:&quot;1238443062&quot;}"/>
</p:tagLst>
</file>

<file path=ppt/tags/tag116.xml><?xml version="1.0" encoding="utf-8"?>
<p:tagLst xmlns:p="http://schemas.openxmlformats.org/presentationml/2006/main">
  <p:tag name="KSO_WM_BEAUTIFY_FLAG" val="#wm#"/>
  <p:tag name="KSO_WM_TEMPLATE_CATEGORY" val="custom"/>
  <p:tag name="KSO_WM_TEMPLATE_INDEX" val="20205081"/>
  <p:tag name="resource_record_key" val="{&quot;10&quot;:[4523979,20090516,3649233],&quot;65&quot;:[20205081]}"/>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8.xml><?xml version="1.0" encoding="utf-8"?>
<p:tagLst xmlns:p="http://schemas.openxmlformats.org/presentationml/2006/main">
  <p:tag name="KSO_DOCER_RESOURCE_TRACE_INFO" val="{&quot;id&quot;:&quot;21598234&quot;,&quot;origin&quot;:0,&quot;type&quot;:&quot;icons&quot;,&quot;user&quot;:&quot;1238443062&quot;}"/>
</p:tagLst>
</file>

<file path=ppt/tags/tag119.xml><?xml version="1.0" encoding="utf-8"?>
<p:tagLst xmlns:p="http://schemas.openxmlformats.org/presentationml/2006/main">
  <p:tag name="KSO_WM_BEAUTIFY_FLAG" val="#wm#"/>
  <p:tag name="KSO_WM_TEMPLATE_CATEGORY" val="custom"/>
  <p:tag name="KSO_WM_TEMPLATE_INDEX" val="20205081"/>
  <p:tag name="resource_record_key" val="{&quot;10&quot;:[4523979,20090516,3649233],&quot;65&quot;:[2020508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1.xml><?xml version="1.0" encoding="utf-8"?>
<p:tagLst xmlns:p="http://schemas.openxmlformats.org/presentationml/2006/main">
  <p:tag name="KSO_DOCER_RESOURCE_TRACE_INFO" val="{&quot;id&quot;:&quot;21598234&quot;,&quot;origin&quot;:0,&quot;type&quot;:&quot;icons&quot;,&quot;user&quot;:&quot;1238443062&quot;}"/>
</p:tagLst>
</file>

<file path=ppt/tags/tag122.xml><?xml version="1.0" encoding="utf-8"?>
<p:tagLst xmlns:p="http://schemas.openxmlformats.org/presentationml/2006/main">
  <p:tag name="KSO_WM_BEAUTIFY_FLAG" val="#wm#"/>
  <p:tag name="KSO_WM_TEMPLATE_CATEGORY" val="custom"/>
  <p:tag name="KSO_WM_TEMPLATE_INDEX" val="20205081"/>
  <p:tag name="resource_record_key" val="{&quot;10&quot;:[4523979,20090516,3649233],&quot;65&quot;:[20205081]}"/>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4.xml><?xml version="1.0" encoding="utf-8"?>
<p:tagLst xmlns:p="http://schemas.openxmlformats.org/presentationml/2006/main">
  <p:tag name="KSO_WM_BEAUTIFY_FLAG" val="#wm#"/>
  <p:tag name="KSO_WM_TEMPLATE_CATEGORY" val="custom"/>
  <p:tag name="KSO_WM_TEMPLATE_INDEX" val="20205081"/>
  <p:tag name="resource_record_key" val="{&quot;10&quot;:[4523979,20090516,3649233],&quot;65&quot;:[20205081]}"/>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TABLE_ENDDRAG_ORIGIN_RECT" val="208*120"/>
  <p:tag name="TABLE_ENDDRAG_RECT" val="47*117*208*120"/>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 name="TABLE_ENDDRAG_ORIGIN_RECT" val="208*120"/>
  <p:tag name="TABLE_ENDDRAG_RECT" val="47*117*208*120"/>
</p:tagLst>
</file>

<file path=ppt/tags/tag128.xml><?xml version="1.0" encoding="utf-8"?>
<p:tagLst xmlns:p="http://schemas.openxmlformats.org/presentationml/2006/main">
  <p:tag name="KSO_WM_BEAUTIFY_FLAG" val="#wm#"/>
  <p:tag name="KSO_WM_TEMPLATE_CATEGORY" val="custom"/>
  <p:tag name="KSO_WM_TEMPLATE_INDEX" val="20205081"/>
  <p:tag name="resource_record_key" val="{&quot;29&quot;:[50053246],&quot;65&quot;:[2020508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TABLE_ENDDRAG_ORIGIN_RECT" val="208*120"/>
  <p:tag name="TABLE_ENDDRAG_RECT" val="47*117*208*120"/>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 name="TABLE_ENDDRAG_ORIGIN_RECT" val="208*120"/>
  <p:tag name="TABLE_ENDDRAG_RECT" val="47*117*208*120"/>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TABLE_ENDDRAG_ORIGIN_RECT" val="208*120"/>
  <p:tag name="TABLE_ENDDRAG_RECT" val="47*117*208*120"/>
</p:tagLst>
</file>

<file path=ppt/tags/tag133.xml><?xml version="1.0" encoding="utf-8"?>
<p:tagLst xmlns:p="http://schemas.openxmlformats.org/presentationml/2006/main">
  <p:tag name="KSO_WM_BEAUTIFY_FLAG" val="#wm#"/>
  <p:tag name="KSO_WM_TEMPLATE_CATEGORY" val="custom"/>
  <p:tag name="KSO_WM_TEMPLATE_INDEX" val="20205081"/>
  <p:tag name="resource_record_key" val="{&quot;29&quot;:[50053246],&quot;65&quot;:[2020508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5.xml><?xml version="1.0" encoding="utf-8"?>
<p:tagLst xmlns:p="http://schemas.openxmlformats.org/presentationml/2006/main">
  <p:tag name="KSO_DOCER_RESOURCE_TRACE_INFO" val="{&quot;id&quot;:&quot;4523979&quot;,&quot;origin&quot;:0,&quot;type&quot;:&quot;icons&quot;,&quot;user&quot;:&quot;1238443062&quot;}"/>
</p:tagLst>
</file>

<file path=ppt/tags/tag136.xml><?xml version="1.0" encoding="utf-8"?>
<p:tagLst xmlns:p="http://schemas.openxmlformats.org/presentationml/2006/main">
  <p:tag name="KSO_DOCER_RESOURCE_TRACE_INFO" val="{&quot;id&quot;:&quot;20090516&quot;,&quot;origin&quot;:0,&quot;type&quot;:&quot;icons&quot;,&quot;user&quot;:&quot;1238443062&quot;}"/>
</p:tagLst>
</file>

<file path=ppt/tags/tag137.xml><?xml version="1.0" encoding="utf-8"?>
<p:tagLst xmlns:p="http://schemas.openxmlformats.org/presentationml/2006/main">
  <p:tag name="KSO_DOCER_RESOURCE_TRACE_INFO" val="{&quot;id&quot;:&quot;3649233&quot;,&quot;origin&quot;:0,&quot;type&quot;:&quot;icons&quot;,&quot;user&quot;:&quot;1238443062&quot;}"/>
</p:tagLst>
</file>

<file path=ppt/tags/tag138.xml><?xml version="1.0" encoding="utf-8"?>
<p:tagLst xmlns:p="http://schemas.openxmlformats.org/presentationml/2006/main">
  <p:tag name="KSO_DOCER_RESOURCE_TRACE_INFO" val="{&quot;id&quot;:&quot;3649233&quot;,&quot;origin&quot;:0,&quot;type&quot;:&quot;icons&quot;,&quot;user&quot;:&quot;1238443062&quot;}"/>
</p:tagLst>
</file>

<file path=ppt/tags/tag139.xml><?xml version="1.0" encoding="utf-8"?>
<p:tagLst xmlns:p="http://schemas.openxmlformats.org/presentationml/2006/main">
  <p:tag name="KSO_WM_BEAUTIFY_FLAG" val="#wm#"/>
  <p:tag name="KSO_WM_TEMPLATE_CATEGORY" val="custom"/>
  <p:tag name="KSO_WM_TEMPLATE_INDEX" val="20205081"/>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1.xml><?xml version="1.0" encoding="utf-8"?>
<p:tagLst xmlns:p="http://schemas.openxmlformats.org/presentationml/2006/main">
  <p:tag name="KSO_DOCER_RESOURCE_TRACE_INFO" val="{&quot;id&quot;:&quot;21582390&quot;,&quot;origin&quot;:0,&quot;type&quot;:&quot;icons&quot;,&quot;user&quot;:&quot;1238443062&quot;}"/>
</p:tagLst>
</file>

<file path=ppt/tags/tag142.xml><?xml version="1.0" encoding="utf-8"?>
<p:tagLst xmlns:p="http://schemas.openxmlformats.org/presentationml/2006/main">
  <p:tag name="KSO_DOCER_RESOURCE_TRACE_INFO" val="{&quot;id&quot;:&quot;21597921&quot;,&quot;origin&quot;:0,&quot;type&quot;:&quot;icons&quot;,&quot;user&quot;:&quot;1238443062&quot;}"/>
</p:tagLst>
</file>

<file path=ppt/tags/tag143.xml><?xml version="1.0" encoding="utf-8"?>
<p:tagLst xmlns:p="http://schemas.openxmlformats.org/presentationml/2006/main">
  <p:tag name="KSO_DOCER_RESOURCE_TRACE_INFO" val="{&quot;id&quot;:&quot;50042739&quot;,&quot;origin&quot;:0,&quot;type&quot;:&quot;icons&quot;,&quot;user&quot;:&quot;1238443062&quot;}"/>
</p:tagLst>
</file>

<file path=ppt/tags/tag144.xml><?xml version="1.0" encoding="utf-8"?>
<p:tagLst xmlns:p="http://schemas.openxmlformats.org/presentationml/2006/main">
  <p:tag name="KSO_WM_BEAUTIFY_FLAG" val="#wm#"/>
  <p:tag name="KSO_WM_TEMPLATE_CATEGORY" val="custom"/>
  <p:tag name="KSO_WM_TEMPLATE_INDEX" val="20205081"/>
  <p:tag name="resource_record_key" val="{&quot;10&quot;:[4523979,20090516,3649233,21582390,21597921,50042739],&quot;65&quot;:[20205081]}"/>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6.xml><?xml version="1.0" encoding="utf-8"?>
<p:tagLst xmlns:p="http://schemas.openxmlformats.org/presentationml/2006/main">
  <p:tag name="KSO_DOCER_RESOURCE_TRACE_INFO" val="{&quot;id&quot;:&quot;21568967&quot;,&quot;origin&quot;:0,&quot;type&quot;:&quot;icons&quot;,&quot;user&quot;:&quot;1238443062&quot;}"/>
</p:tagLst>
</file>

<file path=ppt/tags/tag147.xml><?xml version="1.0" encoding="utf-8"?>
<p:tagLst xmlns:p="http://schemas.openxmlformats.org/presentationml/2006/main">
  <p:tag name="KSO_DOCER_RESOURCE_TRACE_INFO" val="{&quot;id&quot;:&quot;3470922&quot;,&quot;origin&quot;:0,&quot;type&quot;:&quot;icons&quot;,&quot;user&quot;:&quot;1238443062&quot;}"/>
</p:tagLst>
</file>

<file path=ppt/tags/tag148.xml><?xml version="1.0" encoding="utf-8"?>
<p:tagLst xmlns:p="http://schemas.openxmlformats.org/presentationml/2006/main">
  <p:tag name="KSO_DOCER_RESOURCE_TRACE_INFO" val="{&quot;id&quot;:&quot;50033751&quot;,&quot;origin&quot;:0,&quot;type&quot;:&quot;icons&quot;,&quot;user&quot;:&quot;1238443062&quot;}"/>
</p:tagLst>
</file>

<file path=ppt/tags/tag149.xml><?xml version="1.0" encoding="utf-8"?>
<p:tagLst xmlns:p="http://schemas.openxmlformats.org/presentationml/2006/main">
  <p:tag name="KSO_DOCER_RESOURCE_TRACE_INFO" val="{&quot;id&quot;:&quot;50012138&quot;,&quot;origin&quot;:0,&quot;type&quot;:&quot;icons&quot;,&quot;user&quot;:&quot;1238443062&quot;}"/>
</p:tagLst>
</file>

<file path=ppt/tags/tag150.xml><?xml version="1.0" encoding="utf-8"?>
<p:tagLst xmlns:p="http://schemas.openxmlformats.org/presentationml/2006/main">
  <p:tag name="KSO_WM_BEAUTIFY_FLAG" val="#wm#"/>
  <p:tag name="KSO_WM_TEMPLATE_CATEGORY" val="custom"/>
  <p:tag name="KSO_WM_TEMPLATE_INDEX" val="20205081"/>
  <p:tag name="resource_record_key" val="{&quot;10&quot;:[21568967,3470922,50033751,50012138],&quot;65&quot;:[20205081]}"/>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2.xml><?xml version="1.0" encoding="utf-8"?>
<p:tagLst xmlns:p="http://schemas.openxmlformats.org/presentationml/2006/main">
  <p:tag name="KSO_DOCER_RESOURCE_TRACE_INFO" val="{&quot;id&quot;:&quot;21568967&quot;,&quot;origin&quot;:0,&quot;type&quot;:&quot;icons&quot;,&quot;user&quot;:&quot;1238443062&quot;}"/>
</p:tagLst>
</file>

<file path=ppt/tags/tag153.xml><?xml version="1.0" encoding="utf-8"?>
<p:tagLst xmlns:p="http://schemas.openxmlformats.org/presentationml/2006/main">
  <p:tag name="KSO_DOCER_RESOURCE_TRACE_INFO" val="{&quot;id&quot;:&quot;3470922&quot;,&quot;origin&quot;:0,&quot;type&quot;:&quot;icons&quot;,&quot;user&quot;:&quot;1238443062&quot;}"/>
</p:tagLst>
</file>

<file path=ppt/tags/tag154.xml><?xml version="1.0" encoding="utf-8"?>
<p:tagLst xmlns:p="http://schemas.openxmlformats.org/presentationml/2006/main">
  <p:tag name="KSO_DOCER_RESOURCE_TRACE_INFO" val="{&quot;id&quot;:&quot;50033751&quot;,&quot;origin&quot;:0,&quot;type&quot;:&quot;icons&quot;,&quot;user&quot;:&quot;1238443062&quot;}"/>
</p:tagLst>
</file>

<file path=ppt/tags/tag155.xml><?xml version="1.0" encoding="utf-8"?>
<p:tagLst xmlns:p="http://schemas.openxmlformats.org/presentationml/2006/main">
  <p:tag name="KSO_DOCER_RESOURCE_TRACE_INFO" val="{&quot;id&quot;:&quot;50012138&quot;,&quot;origin&quot;:0,&quot;type&quot;:&quot;icons&quot;,&quot;user&quot;:&quot;1238443062&quot;}"/>
</p:tagLst>
</file>

<file path=ppt/tags/tag156.xml><?xml version="1.0" encoding="utf-8"?>
<p:tagLst xmlns:p="http://schemas.openxmlformats.org/presentationml/2006/main">
  <p:tag name="KSO_WM_BEAUTIFY_FLAG" val="#wm#"/>
  <p:tag name="KSO_WM_TEMPLATE_CATEGORY" val="custom"/>
  <p:tag name="KSO_WM_TEMPLATE_INDEX" val="20205081"/>
  <p:tag name="resource_record_key" val="{&quot;10&quot;:[21568967,3470922,50033751,50012138],&quot;65&quot;:[20205081]}"/>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8.xml><?xml version="1.0" encoding="utf-8"?>
<p:tagLst xmlns:p="http://schemas.openxmlformats.org/presentationml/2006/main">
  <p:tag name="KSO_DOCER_RESOURCE_TRACE_INFO" val="{&quot;id&quot;:&quot;21568967&quot;,&quot;origin&quot;:0,&quot;type&quot;:&quot;icons&quot;,&quot;user&quot;:&quot;1238443062&quot;}"/>
</p:tagLst>
</file>

<file path=ppt/tags/tag159.xml><?xml version="1.0" encoding="utf-8"?>
<p:tagLst xmlns:p="http://schemas.openxmlformats.org/presentationml/2006/main">
  <p:tag name="KSO_DOCER_RESOURCE_TRACE_INFO" val="{&quot;id&quot;:&quot;3470922&quot;,&quot;origin&quot;:0,&quot;type&quot;:&quot;icons&quot;,&quot;user&quot;:&quot;1238443062&quot;}"/>
</p:tagLst>
</file>

<file path=ppt/tags/tag160.xml><?xml version="1.0" encoding="utf-8"?>
<p:tagLst xmlns:p="http://schemas.openxmlformats.org/presentationml/2006/main">
  <p:tag name="KSO_DOCER_RESOURCE_TRACE_INFO" val="{&quot;id&quot;:&quot;50033751&quot;,&quot;origin&quot;:0,&quot;type&quot;:&quot;icons&quot;,&quot;user&quot;:&quot;1238443062&quot;}"/>
</p:tagLst>
</file>

<file path=ppt/tags/tag161.xml><?xml version="1.0" encoding="utf-8"?>
<p:tagLst xmlns:p="http://schemas.openxmlformats.org/presentationml/2006/main">
  <p:tag name="KSO_DOCER_RESOURCE_TRACE_INFO" val="{&quot;id&quot;:&quot;50012138&quot;,&quot;origin&quot;:0,&quot;type&quot;:&quot;icons&quot;,&quot;user&quot;:&quot;1238443062&quot;}"/>
</p:tagLst>
</file>

<file path=ppt/tags/tag162.xml><?xml version="1.0" encoding="utf-8"?>
<p:tagLst xmlns:p="http://schemas.openxmlformats.org/presentationml/2006/main">
  <p:tag name="KSO_WM_BEAUTIFY_FLAG" val="#wm#"/>
  <p:tag name="KSO_WM_TEMPLATE_CATEGORY" val="custom"/>
  <p:tag name="KSO_WM_TEMPLATE_INDEX" val="20205081"/>
  <p:tag name="resource_record_key" val="{&quot;10&quot;:[21568967,3470922,50033751,50012138],&quot;65&quot;:[20205081]}"/>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Lst>
</file>

<file path=ppt/tags/tag169.xml><?xml version="1.0" encoding="utf-8"?>
<p:tagLst xmlns:p="http://schemas.openxmlformats.org/presentationml/2006/main">
  <p:tag name="KSO_WM_BEAUTIFY_FLAG" val="#wm#"/>
  <p:tag name="KSO_WM_TEMPLATE_CATEGORY" val="custom"/>
  <p:tag name="KSO_WM_TEMPLATE_INDEX" val="20205081"/>
</p:tagLst>
</file>

<file path=ppt/tags/tag170.xml><?xml version="1.0" encoding="utf-8"?>
<p:tagLst xmlns:p="http://schemas.openxmlformats.org/presentationml/2006/main">
  <p:tag name="resource_record_key" val="{&quot;10&quot;:[4523979,20090516,3649233,21598234,50059483,50062403,21582390,21597921,50042739,21568967,3470922,50033751,50012138],&quot;29&quot;:[50053246],&quot;65&quot;:[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vert="horz" lIns="90000" tIns="46800" rIns="90000" bIns="46800" rtlCol="0" anchor="ctr" anchorCtr="0">
        <a:noAutofit/>
      </a:bodyPr>
      <a:lstStyle>
        <a:defPPr>
          <a:defRPr lang="zh-CN" altLang="en-US" sz="2445">
            <a:solidFill>
              <a:schemeClr val="tx1"/>
            </a:solidFill>
          </a:defRPr>
        </a:defPPr>
      </a:lst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4296</Words>
  <Application>WPS Presentation</Application>
  <PresentationFormat>宽屏</PresentationFormat>
  <Paragraphs>1489</Paragraphs>
  <Slides>29</Slides>
  <Notes>4</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29</vt:i4>
      </vt:variant>
    </vt:vector>
  </HeadingPairs>
  <TitlesOfParts>
    <vt:vector size="44" baseType="lpstr">
      <vt:lpstr>Arial</vt:lpstr>
      <vt:lpstr>SimSun</vt:lpstr>
      <vt:lpstr>Wingdings</vt:lpstr>
      <vt:lpstr>Alibaba PuHuiTi 3.0 35 Thin</vt:lpstr>
      <vt:lpstr>Alibaba PuHuiTi 3.0 115 Black</vt:lpstr>
      <vt:lpstr>Alibaba PuHuiTi 3.0 55 Regular</vt:lpstr>
      <vt:lpstr>Wingdings</vt:lpstr>
      <vt:lpstr>Alibaba PuHuiTi 3.0 85 Bold</vt:lpstr>
      <vt:lpstr>Microsoft YaHei</vt:lpstr>
      <vt:lpstr>方正雅意黑 GB18030L2</vt:lpstr>
      <vt:lpstr>Arial Unicode MS</vt:lpstr>
      <vt:lpstr>苹方-简</vt:lpstr>
      <vt:lpstr>PingFang SC Semibold</vt:lpstr>
      <vt:lpstr>汉仪书宋二KW</vt:lpstr>
      <vt:lpstr>WPS</vt:lpstr>
      <vt:lpstr>声音的数字化</vt:lpstr>
      <vt:lpstr>怎样才能把声音（模拟信号）是转成数字信号？</vt:lpstr>
      <vt:lpstr>怎样才能把声音（模拟信号）是转成数字信号？</vt:lpstr>
      <vt:lpstr>怎样才能把声音（模拟信号）是转成数字信号？</vt:lpstr>
      <vt:lpstr>怎样才能把声音（模拟信号）是转成数字信号？</vt:lpstr>
      <vt:lpstr>怎样才能把声音（模拟信号）是转成数字信号？</vt:lpstr>
      <vt:lpstr>怎样才能把声音（模拟信号）是转成数字信号？</vt:lpstr>
      <vt:lpstr>怎样才能把声音（模拟信号）是转成数字信号？</vt:lpstr>
      <vt:lpstr>怎样才能把声音（模拟信号）是转成数字信号？</vt:lpstr>
      <vt:lpstr>怎样才能把声音（模拟信号）是转成数字信号？</vt:lpstr>
      <vt:lpstr>怎样才能把声音（模拟信号）是转成数字信号？</vt:lpstr>
      <vt:lpstr>怎样才能把声音（模拟信号）是转成数字信号？</vt:lpstr>
      <vt:lpstr>怎样才能把声音（模拟信号）是转成数字信号？</vt:lpstr>
      <vt:lpstr>怎样才能把声音（模拟信号）是转成数字信号？</vt:lpstr>
      <vt:lpstr>怎样才能把声音（模拟信号）是转成数字信号？</vt:lpstr>
      <vt:lpstr>怎样才能把声音（模拟信号）是转成数字信号？</vt:lpstr>
      <vt:lpstr>怎样才能把声音（模拟信号）是转成数字信号？</vt:lpstr>
      <vt:lpstr>怎样才能把声音（模拟信号）是转成数字信号？</vt:lpstr>
      <vt:lpstr>怎样才能把声音（模拟信号）是转成数字信号？</vt:lpstr>
      <vt:lpstr>怎样才能把声音（模拟信号）是转成数字信号？</vt:lpstr>
      <vt:lpstr>怎样才能把声音（模拟信号）是转成数字信号？</vt:lpstr>
      <vt:lpstr>一个关于量化等级的类比：“成绩分等级”</vt:lpstr>
      <vt:lpstr>一个关于量化等级的类比：“成绩分等级”</vt:lpstr>
      <vt:lpstr>量化后的二进制值，怎样存入计算机？</vt:lpstr>
      <vt:lpstr>怎样才能把声音（模拟信号）是转成数字信号？</vt:lpstr>
      <vt:lpstr>常见的音频文件类型有哪些？</vt:lpstr>
      <vt:lpstr>常见的音频文件类型有哪些？</vt:lpstr>
      <vt:lpstr>常见的音频文件类型有哪些？</vt:lpstr>
      <vt:lpstr>声音的数字化</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Peter Ran</cp:lastModifiedBy>
  <cp:revision>226</cp:revision>
  <dcterms:created xsi:type="dcterms:W3CDTF">2026-10-12T13:16:04Z</dcterms:created>
  <dcterms:modified xsi:type="dcterms:W3CDTF">2026-10-12T13:16:04Z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1033-12.1.28492.28492</vt:lpwstr>
  </property>
  <property fmtid="{D5CDD505-2E9C-101B-9397-08002B2CF9AE}" pid="3" name="ICV">
    <vt:lpwstr>392A045B8C152A7FAC76D069B6C636C9_41</vt:lpwstr>
  </property>
</Properties>
</file>
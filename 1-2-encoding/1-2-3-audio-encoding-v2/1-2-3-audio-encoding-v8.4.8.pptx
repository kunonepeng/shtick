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322" r:id="rId74"/>
    <p:sldId id="264" r:id="rId16"/>
    <p:sldId id="265" r:id="rId17"/>
    <p:sldId id="321" r:id="rId73"/>
    <p:sldId id="266" r:id="rId18"/>
    <p:sldId id="267" r:id="rId19"/>
    <p:sldId id="268" r:id="rId20"/>
    <p:sldId id="269" r:id="rId21"/>
    <p:sldId id="323" r:id="rId75"/>
    <p:sldId id="270" r:id="rId22"/>
    <p:sldId id="272" r:id="rId24"/>
    <p:sldId id="324" r:id="rId76"/>
    <p:sldId id="271" r:id="rId23"/>
    <p:sldId id="273" r:id="rId25"/>
    <p:sldId id="274" r:id="rId26"/>
    <p:sldId id="320" r:id="rId72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25" r:id="rId77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8.xml"/><Relationship Id="rId23" Type="http://schemas.openxmlformats.org/officeDocument/2006/relationships/slide" Target="slides/slide21.xml"/><Relationship Id="rId24" Type="http://schemas.openxmlformats.org/officeDocument/2006/relationships/slide" Target="slides/slide19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24.xml"/><Relationship Id="rId73" Type="http://schemas.openxmlformats.org/officeDocument/2006/relationships/slide" Target="slides/slide12.xml"/><Relationship Id="rId74" Type="http://schemas.openxmlformats.org/officeDocument/2006/relationships/slide" Target="slides/slide9.xml"/><Relationship Id="rId75" Type="http://schemas.openxmlformats.org/officeDocument/2006/relationships/slide" Target="slides/slide17.xml"/><Relationship Id="rId76" Type="http://schemas.openxmlformats.org/officeDocument/2006/relationships/slide" Target="slides/slide20.xml"/><Relationship Id="rId77" Type="http://schemas.openxmlformats.org/officeDocument/2006/relationships/slide" Target="slides/slide5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【教师讲述／组织】开场。问：“上一节课学习了图像编码。那么在手机里录下我们的声音，计算机保存的到底是什么？”不要直接报出采样、量化、编码，先让学生提出问题。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【设计意图】回忆旧知识：字符编码记录符号，图像编码记录像素。请学生预测：自然声音没有像素，计算机怎么办？指向本课总问题，不求答对。</a:t>
            </a:r>
          </a:p>
          <a:p>
            <a:r>
              <a:t>【教师可以这样讲】大家想一想，我们能把一个汉字或一张图片保存进电脑。那么正在说话的声音是不是也能保存？它与图像的最大区别在哪里？</a:t>
            </a:r>
          </a:p>
          <a:p>
            <a:r>
              <a:t>【预判回答与追问】有人会说只要“录下来”就行；追问“录下来”在计算机里究竟记录什么？</a:t>
            </a:r>
          </a:p>
          <a:p>
            <a:r>
              <a:t>【本页收束】收束到核心问题：原来连续的声音如何变成数字。</a:t>
            </a:r>
          </a:p>
          <a:p/>
          <a:p>
            <a:r>
              <a:t>先请学生复述文字和图片怎样编码，再让学生预测麦克风后是什么、计算机需要什么。教师不预告完整三步。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【教师讲述／组织】从实录1的振动声源、空气传播与耳膜经验出发。问：我们说话时什么振动？声音怎样到耳朵？要学生识别声音是物理现象。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【v8.1视觉引导】视觉依据是生成的“音叉—声压疏密变化—麦克风”图；为了投影清晰采用可缩放矢量绘制。它不是声波沿正弦路径传播的图。</a:t>
            </a:r>
          </a:p>
          <a:p/>
          <a:p>
            <a:r>
              <a:t>[视觉改进提示] 提示学生辨认：振动产生声波，麦克风把声压变化转换成连续变化的电信号；此示意的波阵面不是传播轨迹。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【设计意图】先让学生表态：声波在时间上连续变化；文件保存的是离散数字。问麦克风前后，哪一阶段发生改变？</a:t>
            </a:r>
          </a:p>
          <a:p>
            <a:r>
              <a:t>【教师可以这样讲】请先判断：空气中的声音和电脑里的音频文件，是不是同一种东西？举一个理由。</a:t>
            </a:r>
          </a:p>
          <a:p>
            <a:r>
              <a:t>【预判回答与追问】“电脑播放出来还是声音，所以是模拟量”是可能的误解；分清存储形式和播放后的物理振动。</a:t>
            </a:r>
          </a:p>
          <a:p>
            <a:r>
              <a:t>【本页收束】声音属于物理模拟信号；数字文件以离散的数据保存音频。</a:t>
            </a:r>
          </a:p>
          <a:p/>
          <a:p>
            <a:r>
              <a:t>对比模拟声波与文件中的数字，问连续变化的声音如何变成离散数据；先让学生说两者有何不同。</a:t>
            </a:r>
          </a:p>
          <a:p/>
          <a:p>
            <a:r>
              <a:t>[视觉优化] 先让学生观察两图，自己说出波形与离散记录的区别。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【设计意图】承接实录1：猜需要哪些设备。麦克风将声压变化转为连续电信号；此时仍是模拟信号。不要说麦克风直接保存WAV。</a:t>
            </a:r>
          </a:p>
          <a:p>
            <a:r>
              <a:t>【教师可以这样讲】请观察这条流程。麦克风是不是已经把声波变成0和1了？请指出转换前后各是什么。</a:t>
            </a:r>
          </a:p>
          <a:p>
            <a:r>
              <a:t>【预判回答与追问】学生可能认为麦克风就是“录音机”。追问：麦克风输出的电压能否在每个时刻连续变化？</a:t>
            </a:r>
          </a:p>
          <a:p>
            <a:r>
              <a:t>【本页收束】麦克风把声压变化变成模拟电信号，数字化还没有完成。</a:t>
            </a:r>
          </a:p>
          <a:p/>
          <a:p>
            <a:r>
              <a:t>麦克风负责把声压变化变成连续电信号；先预测“是数字还是模拟？”学生说出依据。</a:t>
            </a:r>
          </a:p>
          <a:p/>
          <a:p>
            <a:r>
              <a:t>[视觉优化] 波阵面而非传播路径。麦克风不是二进制编码器。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【设计意图】先问：谁来把模拟电信号转换成0和1？鼓励学生猜CPU、麦克风等。展示声卡音频接口或画流程，以ADC为答案。设备可集成在主板或外置。</a:t>
            </a:r>
          </a:p>
          <a:p>
            <a:r>
              <a:t>【教师可以这样讲】如果麦克风输出还是连续电信号，计算机怎样读懂它？需要什么设备？</a:t>
            </a:r>
          </a:p>
          <a:p>
            <a:r>
              <a:t>【预判回答与追问】学生可能猜CPU，先认可其计算作用，再追问哪个音频部件把模拟信号变成离散样本。</a:t>
            </a:r>
          </a:p>
          <a:p>
            <a:r>
              <a:t>【本页收束】声卡中的ADC完成模数转换。无需记电子线路结构。</a:t>
            </a:r>
          </a:p>
          <a:p/>
          <a:p>
            <a:r>
              <a:t>声卡ADC把模拟信号变为数字数据；不要求硬件电路细节，用前后变化解释。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【教师讲述／组织】追问：存进去的0和1，为什么还能从扬声器变回声音？给出DAC作为反向转换，重点是两个方向的理解；不要展开电路。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按录音顺序走一遍，再反向说播放顺序，确认DAC与ADC的作用不同。</a:t>
            </a:r>
          </a:p>
          <a:p/>
          <a:p>
            <a:r>
              <a:t>[视觉优化] 两条平行流程对应录音与播放。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【设计意图】学生易误解：上下起伏是空气中声波的传播轨迹。请先判断，再明确横轴时间、纵轴同一地点声压或电信号的变化。</a:t>
            </a:r>
          </a:p>
          <a:p>
            <a:r>
              <a:t>【教师可以这样讲】看到这条上下起伏的曲线，请猜：它是不是声音在空气里沿着波浪形路线前进？</a:t>
            </a:r>
          </a:p>
          <a:p>
            <a:r>
              <a:t>【预判回答与追问】提醒固定一个位置，横坐标向右代表时间，纵坐标上下代表压力或电信号偏离参考的变化。</a:t>
            </a:r>
          </a:p>
          <a:p>
            <a:r>
              <a:t>【本页收束】波形是“某处随时间变化”的图，不是空间中的传播路径。</a:t>
            </a:r>
          </a:p>
          <a:p/>
          <a:p>
            <a:r>
              <a:t>【v7 Demo A，约2分钟】先保留本页“传播路线吗”的问题，让学生预测；运行 notebooks/01_听见声音_看见波形.ipynb，在教室Windows浏览器中点击播放。指向红色时间光标：波形表示时间变化，不是空间传播路线。Mac不会播放声音，声音从Windows浏览器输出。网络异常时直接用本页静态图。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  <a:p/>
          <a:p>
            <a:r>
              <a:t>[视觉改进提示] 右图的横轴是时间；左图是空间波阵面，不能说声音像绳子一样上下弯曲前进。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【设计意图】先在波形上让学生指出选取若干时刻的方法，预测“隔一段时间取一个值”；不要急着宣布定义。</a:t>
            </a:r>
          </a:p>
          <a:p>
            <a:r>
              <a:t>【教师可以这样讲】现在只允许保存若干个数字，你会在哪些时刻记录这条曲线？让同桌先各提出一条规则。</a:t>
            </a:r>
          </a:p>
          <a:p>
            <a:r>
              <a:t>【预判回答与追问】有人会只选最高点和最低点。追问：如果换一段波形，这个规则是否容易统一实现？</a:t>
            </a:r>
          </a:p>
          <a:p>
            <a:r>
              <a:t>【本页收束】用固定时间间隔连续记录，形成采样时刻。</a:t>
            </a:r>
          </a:p>
          <a:p/>
          <a:p>
            <a:r>
              <a:t>请学生先在波形上建议记录时刻，再比较哪种规则稳定；引出等时间间隔采样。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【设计意图】保留前页坐标与波形，叠加等间隔采样点。追问：采样之后还保留每个时刻的原始值吗？概括“时间上离散”。</a:t>
            </a:r>
          </a:p>
          <a:p>
            <a:r>
              <a:t>【教师可以这样讲】我们按固定时间间隔记录了12个点。灰色曲线不再直接保存，每个点有自己的时间和值。</a:t>
            </a:r>
          </a:p>
          <a:p>
            <a:r>
              <a:t>【预判回答与追问】学生可能把连点线当作新的连续信号。追问：文件实际存的是曲线，还是这些点对应的数字？</a:t>
            </a:r>
          </a:p>
          <a:p>
            <a:r>
              <a:t>【本页收束】采样的结果是时间上离散的一组样本。</a:t>
            </a:r>
          </a:p>
          <a:p/>
          <a:p>
            <a:r>
              <a:t>【v7 Demo B，约3分钟】运行 notebooks/02_放大波形_看见采样点.ipynb，将观察范围从100毫秒缩至20、4毫秒，直到看见一个个真实样本点。与完整波形极值包络对照，不要把包络竖线叫采样点。先问“看似连续的曲线，计算机究竟保存了什么？”</a:t>
            </a:r>
          </a:p>
          <a:p/>
          <a:p>
            <a:r>
              <a:t>先观察时间刻度和蓝色点，教师追问记录的是什么量，说明在指定时刻记录幅度。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【设计意图】先让学生预测1 Hz、2 Hz分别表示每秒几个点；同一时间范围，不同点数。讲采样率=单位时间样本数，间隔Δt=1/fs。</a:t>
            </a:r>
          </a:p>
          <a:p>
            <a:r>
              <a:t>【教师可以这样讲】预测：1 Hz每秒几个点？2 Hz每秒几个点？都记录4秒，两个例子的样本数分别是多少？</a:t>
            </a:r>
          </a:p>
          <a:p>
            <a:r>
              <a:t>【预判回答与追问】注意“赫兹”还可表示声音本身频率；本页说的是“采样的次数”。</a:t>
            </a:r>
          </a:p>
          <a:p>
            <a:r>
              <a:t>【本页收束】采样率是每秒采样数；更密意味着相邻采样时刻间隔更短。</a:t>
            </a:r>
          </a:p>
          <a:p/>
          <a:p>
            <a:r>
              <a:t>【v7回扣】演示切换到本页后，要求学生解释采样率和每秒样本数之间的关系。Notebook中的4毫秒局部窗口只是观察尺度。</a:t>
            </a:r>
          </a:p>
          <a:p/>
          <a:p>
            <a:r>
              <a:t>1Hz=每秒1个记录点；2Hz=每秒2个。这里用于放大理解，绝非实际音频录制建议。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【教师讲述／组织】同一波形、同一个时长，采样点由少到多。先比较时间方向的点密度，不谈“采样后连线就完全恢复”。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上下保持同一条曲线不变，只改变时间方向的样本密度，让学生辨认控制变量。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【设计意图】实录2第二步：采样点的振幅可在连续范围取值，设备却计划使用有限等级。让学生意识到有第二个问题尚未解决。</a:t>
            </a:r>
          </a:p>
          <a:p>
            <a:r>
              <a:t>【教师可以这样讲】假设某个时刻取得3.71这样的振幅值。如果设备只准记录8个整数等级，会怎么办？</a:t>
            </a:r>
          </a:p>
          <a:p>
            <a:r>
              <a:t>【预判回答与追问】学生可能直接回答“四舍五入”，要追问必须先规定可用的代表值与映射规则。</a:t>
            </a:r>
          </a:p>
          <a:p>
            <a:r>
              <a:t>【本页收束】量化解决幅度的离散化，下一页构建0到7的教学模型。</a:t>
            </a:r>
          </a:p>
          <a:p/>
          <a:p>
            <a:r>
              <a:t>【v7 Demo C预告】现在只解决了采样时刻；纵向幅度可能是任意连续值，需要量化，稍后用实验台在同一坐标中比较。</a:t>
            </a:r>
          </a:p>
          <a:p/>
          <a:p>
            <a:r>
              <a:t>讨论3.71这样的幅度怎样用有限个等级近似记录，不让量化等同四舍五入。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【设计意图】坚持实录2的首个量化模型：等级从0数到7含0，共八级。提醒这里是教学简化例，真实PCM可正可负。让学生先自己数等级。</a:t>
            </a:r>
          </a:p>
          <a:p>
            <a:r>
              <a:t>【教师可以这样讲】请同学数一数，从0到7一共几个数字。0算不算一个等级？</a:t>
            </a:r>
          </a:p>
          <a:p>
            <a:r>
              <a:t>【预判回答与追问】最容易出现7级的误答。让学生逐个数：0、1、2、3、4、5、6、7。</a:t>
            </a:r>
          </a:p>
          <a:p>
            <a:r>
              <a:t>【本页收束】共8个等级。这里是简化模型，并非真实声压只有非负值。</a:t>
            </a:r>
          </a:p>
          <a:p/>
          <a:p>
            <a:r>
              <a:t>讲授0~7是等级编号；不要把取样数、幅度值、等级编号混为一谈，先让学生预测。</a:t>
            </a:r>
          </a:p>
          <a:p/>
          <a:p>
            <a:r>
              <a:t>【v8.1视觉引导】加深0至7的八条量化等级线，先数清等级再引入3 bit。</a:t>
            </a:r>
          </a:p>
          <a:p/>
          <a:p>
            <a:r>
              <a:t>[视觉改进提示] 本页只强调L0～L7共8级，绝不泄露下一页3.71归入哪个区间的答案。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【设计意图】此页展示明确的取整规则：教学用向下取整（非真实所有PCM的唯一规则）；把3.71映射到3。解释损失了细节，产生量化误差。</a:t>
            </a:r>
          </a:p>
          <a:p>
            <a:r>
              <a:t>【教师可以这样讲】规定一个简化规则：向下取整。原值3.71会落在哪个等级？屏幕上的红点与蓝点哪个是原值？</a:t>
            </a:r>
          </a:p>
          <a:p>
            <a:r>
              <a:t>【预判回答与追问】可能误以为蓝点恰好是原始值。追问：3.71与3有什么不同？少了哪些信息？</a:t>
            </a:r>
          </a:p>
          <a:p>
            <a:r>
              <a:t>【本页收束】量化是用有限代表值近似原值，存在量化误差。</a:t>
            </a:r>
          </a:p>
          <a:p/>
          <a:p>
            <a:r>
              <a:t>这里按[n,n+1)归入Ln，3.71属于L3；量化代表值可取3.5。让学生回看先前错误猜测。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【设计意图】出选择：8个等级需要2位、3位还是8位？请学生复习2的n次方。按最简单映射列出对应表，避免一次上来10个样本。</a:t>
            </a:r>
          </a:p>
          <a:p>
            <a:r>
              <a:t>【教师可以这样讲】刚才有8级，若只有两个二进制位可以表示多少种不同情况？三个呢？</a:t>
            </a:r>
          </a:p>
          <a:p>
            <a:r>
              <a:t>【预判回答与追问】让学生亲自枚举00、01、10、11，然后观察000到111共有八种。</a:t>
            </a:r>
          </a:p>
          <a:p>
            <a:r>
              <a:t>【本页收束】2^3=8，所以这八个等级可以用3 bit表示。</a:t>
            </a:r>
          </a:p>
          <a:p/>
          <a:p>
            <a:r>
              <a:t>该比较图与Notebook 03采用不同示例幅度范围，但都是先采样、划区间、记录等级；先建立3bit=8级再操作。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【设计意图】引导从单样本迁移到样本序列：强调时间先后、量化值与3位二进制对应。不要把10个样本误说为10个量化等级。</a:t>
            </a:r>
          </a:p>
          <a:p>
            <a:r>
              <a:t>【教师可以这样讲】请从第3个样本找起：它的量化值是多少？对应的三位码字是什么？再找第7个。</a:t>
            </a:r>
          </a:p>
          <a:p>
            <a:r>
              <a:t>【预判回答与追问】注意区分“样本数量10”和“等级数量8”，不能把十个样本说成十个等级。</a:t>
            </a:r>
          </a:p>
          <a:p>
            <a:r>
              <a:t>【本页收束】编码按时间顺序保存各个样本的定长码字。</a:t>
            </a:r>
          </a:p>
          <a:p/>
          <a:p>
            <a:r>
              <a:t>三位二进制可以表达8种组合；先问学生最少需要几bit，再揭示全部码字。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【教师讲述／组织】引入实录2的尺子类比：原本分米刻度与厘米刻度，刻度更细通常误差更小。与采样率的时间密度作区分。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十个样本的表先只聚焦第一列：样本编号、量化等级、3bit码字逐一对应，再请学生解释其它样本。</a:t>
            </a:r>
          </a:p>
          <a:p/>
          <a:p>
            <a:r>
              <a:t>【v8.1视觉引导】码字行放大并统一青色；先指出第1列，再读完全部10个样本。</a:t>
            </a:r>
          </a:p>
          <a:p/>
          <a:p>
            <a:r>
              <a:t>[视觉改进提示] 让学生按时间顺序逐个对照等级和码字；第3个样本L7→111，绝不把10个样本说成10个等级。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【设计意图】学生两两互问：采样率改变什么方向？量化位数改变什么方向？画时间与幅度两个方向的粗箭头，对照两种概念。</a:t>
            </a:r>
          </a:p>
          <a:p>
            <a:r>
              <a:t>【教师可以这样讲】请指出采样率与量化位数分别控制这张图的哪个方向。</a:t>
            </a:r>
          </a:p>
          <a:p>
            <a:r>
              <a:t>【预判回答与追问】如学生认为量化位数决定点的多少，重新回看每一秒有几个采样时刻。</a:t>
            </a:r>
          </a:p>
          <a:p>
            <a:r>
              <a:t>【本页收束】采样率决定时间方向的密度，量化位数决定幅度方向的精细程度。</a:t>
            </a:r>
          </a:p>
          <a:p/>
          <a:p>
            <a:r>
              <a:t>【v7 Demo C，约5分钟】运行 notebooks/03_采样_量化_编码实验台.ipynb，按①原波形→②采样→③量化→④编码进行。学生先预测调高采样率会变哪些点，再预测保持采样率改bit数时横向点数会否变化。实验台使用归一化-1到1幅度，量化等级编号仍为0～2^n-1，与本页0～7教学例的单位尺度不同。</a:t>
            </a:r>
          </a:p>
          <a:p/>
          <a:p>
            <a:r>
              <a:t>对比3bit与4bit的等级数，先让学生预测会不会增加样本点个数；解释是纵向可选值更密。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【教师讲述／组织】技术纠偏：在其他条件一致且原先不足时通常改善还原保真度；但达到合理条件后并非“数字越大越好”，设备、声源、听觉与滤波都会限制。中学只需掌握趋势和条件。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【v7实验台回扣】在实验台选择3 bit，点击一个点，要求学生报出等级编号和3 bit码字。注意实验台使用[-1,1]输入范围；本页0～7演示是另一种简化尺度，编码原理相同。</a:t>
            </a:r>
          </a:p>
          <a:p/>
          <a:p>
            <a:r>
              <a:t>纠正“设置越高听觉效果必然越好”的绝对化说法，讨论保真能力与具体条件。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【教师讲述／组织】避免从课堂3位例子跳到真实16位时困惑。说明用3位为了看清规律，不是说实际音乐普遍使用3位。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【v7学习证据】让学生说出：“采样确定何时记录，量化决定用哪个代表值，编码将编号写成固定长度的二进制码字。”如果答不出，回实验台查看同一个样本，避免只背步骤名称。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【教师讲述／组织】从实录与v4延展：PCM代表样本数据的编码表示，WAV是保存音频数据的文件容器之一。暂不讲复杂格式比较，示意文件头告诉播放器如何读数据。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区分数字样本和WAV容器头的作用；WAV不等同于一种有损压缩方法。</a:t>
            </a:r>
          </a:p>
          <a:p/>
          <a:p>
            <a:r>
              <a:t>[视觉改进提示] 文件头为说明数据的字段，数据块才记录音频样本。WAV可存储PCM及其他表示，不是压缩算法。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【设计意图】回扣开场录音/播放闭环：读PCM样本→转换为连续电信号→推动扬声器振动；波形经过重建，不是简单用折线连接采样点。</a:t>
            </a:r>
          </a:p>
          <a:p>
            <a:r>
              <a:t>【教师可以这样讲】复盘完整流程：数字文件里的样本为什么还能被扬声器播放成声音？</a:t>
            </a:r>
          </a:p>
          <a:p>
            <a:r>
              <a:t>【预判回答与追问】不要讲成简单把点连成折线。输出经过数模转换及适当的信号处理。</a:t>
            </a:r>
          </a:p>
          <a:p>
            <a:r>
              <a:t>【本页收束】录音是ADC，播放是DAC，音频数字化形成闭环。</a:t>
            </a:r>
          </a:p>
          <a:p/>
          <a:p>
            <a:r>
              <a:t>沿数字样本→DAC→扬声器→声音完成录放闭环，不在主线要求复述滤波细节。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【教师讲述／组织】从实录2由学生提出因素：越长录音越大，每秒越多点越大，每个点越多bit越大，左右两路各记录一次。请先预测四项，不马上展示公式。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先让学生自己说PCM数据量四个因素，而不是直接背公式。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【设计意图】用小模型实推：每秒2个样本×4秒×1声道=8个样本，每样本3bit共24bit=3Byte。用8个小方块表示样本，而不是一上来给公式。</a:t>
            </a:r>
          </a:p>
          <a:p>
            <a:r>
              <a:t>【教师可以这样讲】请口算每秒2个样本，录4秒，一路声道，共得到多少个样本？每个3位，要几个bit？</a:t>
            </a:r>
          </a:p>
          <a:p>
            <a:r>
              <a:t>【预判回答与追问】学生可能直接乘完得到24 Byte。请指着八个框数，再从bit换到Byte。</a:t>
            </a:r>
          </a:p>
          <a:p>
            <a:r>
              <a:t>【本页收束】8个样本、每个3bit，共24bit，等于3Byte。</a:t>
            </a:r>
          </a:p>
          <a:p/>
          <a:p>
            <a:r>
              <a:t>让学生数8个样本，每个3bit共24bit，除8得到3Byte，单位帮助理解公式。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【设计意图】不要把数据量公式当背诵口令。请学生逐个解释每一项代表哪个物理意义。单位：Hz、bit、秒；/8得到字节。</a:t>
            </a:r>
          </a:p>
          <a:p>
            <a:r>
              <a:t>【教师可以这样讲】我们刚才为什么要把四个因素相乘？请逐一说出公式的单位和意义。</a:t>
            </a:r>
          </a:p>
          <a:p>
            <a:r>
              <a:t>【预判回答与追问】常见错误：1 kHz写成1024 Hz；bit和Byte混用；忘记把分钟换成秒。</a:t>
            </a:r>
          </a:p>
          <a:p>
            <a:r>
              <a:t>【本页收束】会用公式之前先能解释公式。</a:t>
            </a:r>
          </a:p>
          <a:p/>
          <a:p>
            <a:r>
              <a:t>为什么结果是Byte要÷8？把四因素分别对应实际样本数量与每样本bit数。</a:t>
            </a:r>
          </a:p>
          <a:p/>
          <a:p>
            <a:r>
              <a:t>[视觉优化] 从样本总数开始推导数据量，解释每个乘数的单位。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【教师讲述／组织】问题页。给学生独立列式。若学生写16×8×2×5，追问16kHz应等于多少Hz。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独立列式后再揭示；提问哪一个乘数是双声道、为什么还要除以8。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【教师讲述／组织】答案页。问：如果双声道改成单声道，结果会怎样？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答案160000 Byte。让学生先说思路，再对照上一页原位置的题干与下方答案。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【教师讲述／组织】第一课时退出评价。随机请学生说出完整录音链；指一个点说采样与量化区别；算一条小PCM数据量。没掌握则下节开头再复习，不拖到所有附录。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【v7时间控制】本课新增的三个演示分别约2、3、5分钟，应替换原有重复的静态口头描述；并非在原45分钟上增加10分钟。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【教师讲述／组织】第二课时导入。说明第一节学的是数字化与PCM数据量，第二节学数据量计算、音轨和声道、视频数据量冲突及压缩。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【教师讲述／组织】实录3起手计算前，先让学生能解释参数。分组对答48,000Hz、16bit、2声道、60秒。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先只看48000、16、2、60，要求学生用自己的话说明每个参数是什么。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【教师讲述／组织】问题页。复现实录3的DVD参数题，强调对参数意义的解释，而不只是按键计算。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先从PCM字节数算起，再转换MiB；强调1024²与1000²换算不同。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【教师讲述／组织】答案页。实录转写常写10.98MB，这是截断近似；按四舍五入保留两位应10.99 MiB。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约10.99 MiB；验证11520000 B/1048576。不把带少量文件头的WAV大小当作PCM样本大小。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【设计意图】问题页。先让学生预测。这是实录3较长的认知冲突案例，不要马上公布答案。</a:t>
            </a:r>
          </a:p>
          <a:p>
            <a:r>
              <a:t>【教师可以这样讲】再次提问：多加了一条背景音乐音轨，新的未压缩PCM文件一定比原文件大吗？请先投票并说明依据。</a:t>
            </a:r>
          </a:p>
          <a:p>
            <a:r>
              <a:t>【预判回答与追问】真实课堂里学生曾将音轨误认为声道；暂不判断两种观点谁对。</a:t>
            </a:r>
          </a:p>
          <a:p>
            <a:r>
              <a:t>【本页收束】下一页让两种解释并存，定位分歧。</a:t>
            </a:r>
          </a:p>
          <a:p/>
          <a:p>
            <a:r>
              <a:t>投票多一条编辑音轨容量是否翻倍；不同学生给出理由，暂不揭示正确答案。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【设计意图】把实录中两位学生的理由换一种说法重现。引导学生指出分歧其实在“音轨和声道是不是一回事”。仍不公布答案。</a:t>
            </a:r>
          </a:p>
          <a:p>
            <a:r>
              <a:t>【教师可以这样讲】有人支持不变，有人支持翻倍。注意我们的目标不是投票决定真理，而是检验关键假设。</a:t>
            </a:r>
          </a:p>
          <a:p>
            <a:r>
              <a:t>【预判回答与追问】追问：增加的是“编辑音轨”，还是“导出声道”？哪个出现在容量公式里？</a:t>
            </a:r>
          </a:p>
          <a:p>
            <a:r>
              <a:t>【本页收束】到图示页验证音轨与声道不同。</a:t>
            </a:r>
          </a:p>
          <a:p/>
          <a:p>
            <a:r>
              <a:t>两种观点的矛盾来自把编辑音轨当作输出声道。追问最后导出文件是几声道。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【设计意图】直观图示：两条音轨经混音成为两个输出声道，注意不是左右各有一条编辑音轨。解释可单声道或双声道输出。</a:t>
            </a:r>
          </a:p>
          <a:p>
            <a:r>
              <a:t>【教师可以这样讲】请指向编辑左边两行，它们是两条音轨；再指向右边的L/R，这才是导出的两路声道。</a:t>
            </a:r>
          </a:p>
          <a:p>
            <a:r>
              <a:t>【预判回答与追问】如果学生说“左音轨变左声道”，让他想一想人声与伴奏是否都能同时从左右扬声器传出。</a:t>
            </a:r>
          </a:p>
          <a:p>
            <a:r>
              <a:t>【本页收束】混合不会自动增加声道数，保持四参数则未压缩样本数据量不变。</a:t>
            </a:r>
          </a:p>
          <a:p/>
          <a:p>
            <a:r>
              <a:t>先看两条轨，再揭示混音之后仍可输出L/R两路数据。</a:t>
            </a:r>
          </a:p>
          <a:p/>
          <a:p>
            <a:r>
              <a:t>[视觉优化] 波形为区别音轨与输出通道的示意图，不是混音运算曲线。</a:t>
            </a:r>
          </a:p>
          <a:p/>
          <a:p>
            <a:r>
              <a:t>[视觉改进提示] 不要把音轨1理解成左声道、音轨2理解成右声道；各个输出都可包含两条素材的混合。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【教师讲述／组织】答案页。让学生回看第一个预测，承认纠正了哪一个概念。提醒不同格式和压缩参数会影响最终文件大小。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回到初始投票，解释四个PCM参数保持不变，因此样本数据量不变。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【教师讲述／组织】让学生应用四因素公式。声道数2→1，其他不变，PCM样本数据量减半。音轨增减并不直接决定总量。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迁移：把立体声变成单声道，其他参数相同，PCM样本数据量减半。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【教师讲述／组织】实录3转向视频前回顾图像和声音：图像在空间二维网格采样，声音在时间轴取值；量化都用有限等级记录。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【v8.1视觉引导】重新排列三条对照，文字达到22pt，学生先指出“位置”不同，再比较数据量结构。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【设计意图】借鉴实录3翻页小人的经验。每一帧呈现同一圆的位置改变。问学生：视频需保存几个画面？帧率如何描述？不用严格视觉暂留时间阈值。</a:t>
            </a:r>
          </a:p>
          <a:p>
            <a:r>
              <a:t>【教师可以这样讲】五张小图中蓝点位置发生变化，连续播放后我们会感到它在运动。你生活里见过翻页动画吗？</a:t>
            </a:r>
          </a:p>
          <a:p>
            <a:r>
              <a:t>【预判回答与追问】不要把“视觉暂留0.024秒”当成唯一且固定的生理阈值。</a:t>
            </a:r>
          </a:p>
          <a:p>
            <a:r>
              <a:t>【本页收束】视频可以用连续图像帧与帧率的概念来理解。</a:t>
            </a:r>
          </a:p>
          <a:p/>
          <a:p>
            <a:r>
              <a:t>五帧是同一个运动小球在五个时刻的状态。帧率25fps是每秒25帧，不应解释为人眼严格生理阈值。</a:t>
            </a:r>
          </a:p>
          <a:p/>
          <a:p>
            <a:r>
              <a:t>球在每一帧的位置不同，同样场景取不同时间画面；fps是每秒帧数。</a:t>
            </a:r>
          </a:p>
          <a:p/>
          <a:p>
            <a:r>
              <a:t>【v8.1视觉引导】让学生比较同一小球相对于各帧相同参考线的位置，从第一帧到第五帧明显向右变化。</a:t>
            </a:r>
          </a:p>
          <a:p/>
          <a:p>
            <a:r>
              <a:t>[视觉优化] 控制变量只有球的位置；动画效果来自连续帧的顺序。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【教师讲述／组织】从学生已经理解的“视频是连续图像”计算总帧数。先让学生口算25×60×10=15000帧。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【设计意图】问题页。来源实录3。不要把帧率误认为采样率，一帧是一张完整图。给3分钟列式，计算可用计算器。</a:t>
            </a:r>
          </a:p>
          <a:p>
            <a:r>
              <a:t>【教师可以这样讲】先算一帧480×320像素，需要多少bit和Byte；再乘上25帧/秒和600秒。</a:t>
            </a:r>
          </a:p>
          <a:p>
            <a:r>
              <a:t>【预判回答与追问】学生可能只乘25或只乘10。追问十分钟共有多少秒、多少帧？</a:t>
            </a:r>
          </a:p>
          <a:p>
            <a:r>
              <a:t>【本页收束】未压缩视频等于单帧数据量乘总帧数。</a:t>
            </a:r>
          </a:p>
          <a:p/>
          <a:p>
            <a:r>
              <a:t>10分钟无声逐帧未压缩视频，先算单帧字节，再算15000帧，单位换算为GiB。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【教师讲述／组织】答案页。把公式拆成两段并让学生自己解释。按十进制GB约6.912 GB。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答案约6.44GiB，检验帧数、bit转Byte以及B转GiB三步。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【设计意图】核心认知冲突，不要预先写“因为压缩”。问：是不是算错？为什么在线短视频能很快播放？给学生发言时间。</a:t>
            </a:r>
          </a:p>
          <a:p>
            <a:r>
              <a:t>【教师可以这样讲】请你对照刚刚算出的6.44 GiB。我们手机里十分钟的视频，为什么通常远小于它？难道计算公式错了？</a:t>
            </a:r>
          </a:p>
          <a:p>
            <a:r>
              <a:t>【预判回答与追问】学生可能回答分辨率不同、格式不同、压缩了。记录这几种可能，指出公式中的题设是未压缩逐帧存储。</a:t>
            </a:r>
          </a:p>
          <a:p>
            <a:r>
              <a:t>【本页收束】这是第二课时核心认知冲突，直到下一页再揭示压缩。</a:t>
            </a:r>
          </a:p>
          <a:p/>
          <a:p>
            <a:r>
              <a:t>先让学生用自己看视频的经验提出文件比估算小的解释，借助冲突引出编码压缩。</a:t>
            </a:r>
          </a:p>
          <a:p/>
          <a:p>
            <a:r>
              <a:t>[视觉改进提示] 先提出文件大小冲突，不要提前揭示压缩答案；右侧图仅用作不同表示的问号，不按比例绘制，也不提供虚构的文件大小。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【教师讲述／组织】强调不是估计所有真实视频的固定大小。实际视频通常通过压缩编码，如利用相邻帧相似部分与人眼不敏感的某些信息。高中只解释为什么可能缩小。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实际压缩技术还包括多种预测与表示方式；本课只要求理解重复规律允许节省比特，不学习具体codec算法。</a:t>
            </a:r>
          </a:p>
          <a:p/>
          <a:p>
            <a:r>
              <a:t>【v8.1视觉引导】将关键概念和对照放大；不能将视频压缩简化为“直接删除几帧”。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【教师讲述／组织】实录3行李箱类比：整理行李节约空间；通过网络分享文件缩短传输时间。学生可以自举例，不要说压缩必然提升感知画质。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【设计意图】实录3的经典冗余案例。向学生展示短短的“（中国）×100”与重复文字。说明这仅是启发性的编码例子，不代表真实RAR算法。</a:t>
            </a:r>
          </a:p>
          <a:p>
            <a:r>
              <a:t>【教师可以这样讲】两种写法能不能表示相同文字？“中国”重复一百次与“中国×100”，哪种通常更省符号？</a:t>
            </a:r>
          </a:p>
          <a:p>
            <a:r>
              <a:t>【预判回答与追问】提醒这只是解释冗余的教学模型，不是真实RAR编码的说明。</a:t>
            </a:r>
          </a:p>
          <a:p>
            <a:r>
              <a:t>【本页收束】规律、重复让人有机会用更短的规则表达同一内容。</a:t>
            </a:r>
          </a:p>
          <a:p/>
          <a:p>
            <a:r>
              <a:t>中国重复100次只用“字词×次数”表达是思想模型，不代表RAR或zlib唯一工作机制。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【教师讲述／组织】把“冗余”与重复的内容联系：A有规律，B无规律，但原长度相同。实际压缩算法实现不同，因此“通常更易”而非必然。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重复多往往可用更短的规则表示，但实际压缩要看数据及算法。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【设计意图】可以用Python标准库zlib演示，代码放Notes。生成1000个A与1000个伪随机字节（固定seed），比较同一无损压缩方法所得字节数并检验完全还原。先预测再运行。</a:t>
            </a:r>
          </a:p>
          <a:p>
            <a:r>
              <a:t>【教师可以这样讲】两个数据各1000Byte：一个全是A，一个随机变化。请预测谁压缩后更小，以及能否恢复原数据。</a:t>
            </a:r>
          </a:p>
          <a:p>
            <a:r>
              <a:t>【预判回答与追问】学生可能认为所有文件都会变小。下一页结果显示随机数据在容器开销下甚至略微变大。</a:t>
            </a:r>
          </a:p>
          <a:p>
            <a:r>
              <a:t>【本页收束】测试无损压缩的冗余利用，而不是展示具体算法。</a:t>
            </a:r>
          </a:p>
          <a:p/>
          <a:p>
            <a:r>
              <a:t>【v7 Demo D】先预测两份原始都是1000 Byte的文件哪一个被压得更小，再运行 notebooks/04_压缩前先预测.ipynb。Python zlib在Mac执行，Windows浏览器只展示结果，不依赖音频或py5。</a:t>
            </a:r>
          </a:p>
          <a:p/>
          <a:p>
            <a:r>
              <a:t>A和B均1000Byte，学生先预测谁更省空间、B是否可能压完更大。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【设计意图】演示代码（Windows课堂pt环境，Python标准库即可）：</a:t>
            </a:r>
          </a:p>
          <a:p>
            <a:r>
              <a:t>import zlib, random</a:t>
            </a:r>
          </a:p>
          <a:p>
            <a:r>
              <a:t>a=b"A"*1000</a:t>
            </a:r>
          </a:p>
          <a:p>
            <a:r>
              <a:t>r=random.Random(2026)</a:t>
            </a:r>
          </a:p>
          <a:p>
            <a:r>
              <a:t>b=bytes(r.randrange(256) for _ in range(1000))</a:t>
            </a:r>
          </a:p>
          <a:p>
            <a:r>
              <a:t>for name,x in [("A",a),("B",b)]:</a:t>
            </a:r>
          </a:p>
          <a:p>
            <a:r>
              <a:t>    packed=zlib.compress(x)</a:t>
            </a:r>
          </a:p>
          <a:p>
            <a:r>
              <a:t>    print(name,len(x),len(packed),zlib.decompress(packed)==x)</a:t>
            </a:r>
          </a:p>
          <a:p>
            <a:r>
              <a:t>本次固定随机种子得到A=17 Byte，B=1011 Byte。学生关注重复和冗余；算法细节不展开。</a:t>
            </a:r>
          </a:p>
          <a:p>
            <a:r>
              <a:t>【教师可以这样讲】运行标准库实验或直接展示结果：重复内容1000Byte压后17Byte，随机内容1000Byte压后1011Byte。为什么会这样？</a:t>
            </a:r>
          </a:p>
          <a:p>
            <a:r>
              <a:t>【预判回答与追问】别把高熵文件变大误判为程序出错：压缩文件自身有格式开销。检查两者解压完全一致。</a:t>
            </a:r>
          </a:p>
          <a:p>
            <a:r>
              <a:t>【本页收束】这是无损压缩，且压缩效果取决于可利用的规律与编码方式。</a:t>
            </a:r>
          </a:p>
          <a:p/>
          <a:p>
            <a:r>
              <a:t>【v7实际实验】Notebook 04使用确定性随机字节与重复字节，打印压缩前后真实长度。如果随机字节压缩后略大，是格式开销而非代码错误。让学生总结“能够用规律简洁表示的信息通常更容易压缩”。</a:t>
            </a:r>
          </a:p>
          <a:p/>
          <a:p>
            <a:r>
              <a:t>17Byte与1011Byte是采用Python标准库zlib、固定随机种子的这一次课堂实验结果。数值取决于内容与算法，不是普遍常数；B数据因格式开销而可能变大。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【教师讲述／组织】实录3解释重新编码：数据压缩主要是改变表示方式，无损靠高效编码，允许有损时还可舍弃部分信息。目的与实质分开讲。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归纳数据压缩是更高效的表示；要不要完整恢复决定无损与有损路径。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【设计意图】先提出是否可以还原原始信息，再定义无损有损。注意有损不一定人类完全无感，有时肉眼肉耳可觉察明显差异。</a:t>
            </a:r>
          </a:p>
          <a:p>
            <a:r>
              <a:t>【教师可以这样讲】请判断：压缩后解开，能不能100%恢复原始字节？把这个问题作为分类标准。</a:t>
            </a:r>
          </a:p>
          <a:p>
            <a:r>
              <a:t>【预判回答与追问】有损不等于“损坏文件”；它在可接受的前提下放弃部分原始信息。</a:t>
            </a:r>
          </a:p>
          <a:p>
            <a:r>
              <a:t>【本页收束】无损可完全恢复，有损则不能恢复到原数据完全一致。</a:t>
            </a:r>
          </a:p>
          <a:p/>
          <a:p>
            <a:r>
              <a:t>判别方法：是否能够完全恢复原字节，不用文件后缀或大小作为唯一标准。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【教师讲述／组织】从实录拓展一点格式分层：ZIP/RAR是典型无损归档，MP3是常见有损音频编码，WAV是音频容器可装PCM，MP4是多媒体容器可含有损或无损编码。不要说全部文件扩展名都代表一种压缩算法。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ZIP/RAR属于无损归档，MP3是有损音频编码，WAV和MP4属于容器（MP4常装有损编码视频）。文件后缀与编码算法不是完全同一层级。</a:t>
            </a:r>
          </a:p>
          <a:p/>
          <a:p>
            <a:r>
              <a:t>【v8.1视觉引导】大字号提示学生区分归档格式、压缩编码与文件容器；颜色是视觉分组而非“都同一类”。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【设计意图】实录3三种图像案例。画同尺寸位图：纯色、规则色块、较复杂花纹（不是声称真实风景照片）。首先预测排序，再归纳冗余。</a:t>
            </a:r>
          </a:p>
          <a:p>
            <a:r>
              <a:t>【教师可以这样讲】这三幅图显示的是相同大小、相同位深的像素网格，哪张最容易找到重复的规律？</a:t>
            </a:r>
          </a:p>
          <a:p>
            <a:r>
              <a:t>【预判回答与追问】强调“通常”和“对合适的算法而言”，避免将图像颜色多少当作绝对压缩决定因素。</a:t>
            </a:r>
          </a:p>
          <a:p>
            <a:r>
              <a:t>【本页收束】纯色数据具有明显规律，适合无损压缩；比较结论再迁移到实际图像。</a:t>
            </a:r>
          </a:p>
          <a:p/>
          <a:p>
            <a:r>
              <a:t>三图尺寸和位深一致，让学生预测哪个更规律，判断无损压缩的可能差异。</a:t>
            </a:r>
          </a:p>
          <a:p/>
          <a:p>
            <a:r>
              <a:t>[视觉优化] 相同尺寸和色彩模式；内容结构不同。冗余与压缩算法共同决定结果。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【教师讲述／组织】问题页。此题迁移文字实验到图像。先解释冗余，再揭示。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练习答案不能只选A，要解释重复和规律性带来更多可利用冗余。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【教师讲述／组织】答案页。强调不是一切文件和算法都绝对如此。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答案中的“通常”必须保留，不同压缩方案有例外。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【教师讲述／组织】实录3用同一花朵比较BMP和JPG。用简洁像素格子示意一张图被近似编码；JPEG不只是“删掉相似像素”，要避免这种错误的字面理解。也不能断言所有BMP必然未压缩。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BMP这里只指未压缩实例，JPG通常有损；文件大小还取决于参数和内容。</a:t>
            </a:r>
          </a:p>
          <a:p/>
          <a:p>
            <a:r>
              <a:t>[视觉优化] 同一640×350 RGB程序生成图像以quality=3编码JPEG；有损差异随参数改变。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【教师讲述／组织】实录3脱水比喻，但不把其当算法。说明高效压缩过的数据通常不容易进一步缩小，可能因为已缺少可利用冗余。再次有损转码可能进一步恶化质量。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已经是MP3/JPG，用RAR压缩通常收益有限，再次有损编码还可能降低质量。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【设计意图】实录3结尾的情境决策：长期备份要完整可还原；实时通话要平衡延迟和质量。用对比培养信息社会责任意识，不只追求压缩比。</a:t>
            </a:r>
          </a:p>
          <a:p>
            <a:r>
              <a:t>【教师可以这样讲】某个班级要长期备份源代码，另一个班级要用手机实时视频通话。两种场景需要的编码选择一样吗？</a:t>
            </a:r>
          </a:p>
          <a:p>
            <a:r>
              <a:t>【预判回答与追问】引导学生考虑完整性、质量、延迟与存储，不要只说压缩得越小越好。</a:t>
            </a:r>
          </a:p>
          <a:p>
            <a:r>
              <a:t>【本页收束】算法与压缩方法要与任务目标匹配。</a:t>
            </a:r>
          </a:p>
          <a:p/>
          <a:p>
            <a:r>
              <a:t>文档备份要求完整，视频通话权衡时延/带宽/质量，反对越小必然越好。</a:t>
            </a:r>
          </a:p>
          <a:p/>
          <a:p>
            <a:r>
              <a:t>【v8.1视觉引导】两组场景对比加大；让学生按完整性、带宽、延迟、质量权衡。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【教师讲述／组织】问题页。综合三种理解：音轨声道、原始视频大小、无损还原。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请学生独立判断三句话，指明每句对应的模型或证据。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【教师讲述／组织】答案页。不接受只给三个对错而不给依据的回答。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先让学生口头解释，再展示①错②对③对，强化数据量与ZIP的两种知识。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【教师讲述／组织】出口评价：任选一个问题让学生用自己的话解释。重点检查概念因果：数字化、视频容量、压缩选择。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退出条检查解释能力而非术语背诵；答不出则回到图示逐步重建。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【教师讲述／组织】本页只作为选讲：混叠。同一离散采样点可能对应不同连续波形，所以低采样率不仅“点稀疏”，可能无法区分某些信号。深入公式留到拓展课程，不作为主线。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可选拓展：不是45分钟主线必讲内容，有时间且学生已完成必要理解才展示。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【教师讲述／组织】这一页可留作下一单元。PCM编码是样本的表示方式；压缩编码改变数据表示量。部分WAV容器可以保存其他编码形式，不能仅凭扩展名断言完全未压缩。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可选拓展：不是45分钟主线必讲内容，有时间且学生已完成必要理解才展示。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在已理解3bit与8个等级后，先给学生两种预测。运行notebooks/03_采样_量化_编码实验台.ipynb，固定4 kHz，位数3→4。学生观察：采样时刻不变，纵向可选的量化代表值从8增加到16，码字长度相应变化。此图只是静态示意，真实数值以Notebook演示为准。约5分钟，不与第15～17页全部额外累加。</a:t>
            </a:r>
          </a:p>
          <a:p/>
          <a:p>
            <a:r>
              <a:t>分别指横轴时间密度与纵轴量化等级，要求学生指出哪一项由采样率/位数控制。</a:t>
            </a:r>
          </a:p>
          <a:p/>
          <a:p>
            <a:r>
              <a:t>[视觉优化] 看横向点与纵向线：要求学生分别解释对应的参数。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notebooks/02_放大波形_看见采样点.ipynb。先保持完整波形，再把局部显示范围切换到20毫秒和4毫秒。左侧是示意概览，右侧是局部实际样本思路；在Notebook里，右侧点取自真实生成的PCM数据。不要说采样点之间连线是扬声器实际波形。约3分钟。</a:t>
            </a:r>
          </a:p>
          <a:p/>
          <a:p>
            <a:r>
              <a:t>打开Notebook 02，把波形从100毫秒放大到4毫秒，点击蓝色样本，读出实际时间和幅度；区分极值概览和真实采样点。</a:t>
            </a:r>
          </a:p>
          <a:p/>
          <a:p>
            <a:r>
              <a:t>[视觉改进提示] 从概览图放大到短时窗口。需与Notebook 02关联；示意形状本身不是录音实测。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notebooks/01_听见声音_看见波形.ipynb。请教师从Windows浏览器直接点击播放；让学生预测红线表示空间位置还是播放时间，然后暂停再播放。观察教室音箱发声，Mac只是运算和提供数据。约2分钟。网络失败时直接使用本页示意和原第8页。</a:t>
            </a:r>
          </a:p>
          <a:p/>
          <a:p>
            <a:r>
              <a:t>打开远程JupyterLab Notebook 01，在Windows浏览器播放声音，问红线向右是不是声波向右传播；让学生说横轴是时间。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先显示0~7八级，学生预测3.71是3或4。暂停50秒让学生说出推理规则。再用下页指定的分区规则解决分歧；勿预先提示答案。</a:t>
            </a:r>
          </a:p>
          <a:p/>
          <a:p>
            <a:r>
              <a:t>[视觉优化] 让学生先预测，再到下一页验证[3,4)的区间归属。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逐步指着四个框引导：输入原值3.71，属于区间[3,4)，所以等级编号是3；把3写成三位等长码字011。反例4.15属于L4，码字100。本例幅度[0,8)，Demo C用[-1,1]，逻辑完全相同。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运行remote-demos-v7/notebooks/04_压缩前先预测.ipynb（Mac计算zlib，教室Windows浏览器呈现结果）。学生先猜，再运行，再对照下一页17Byte/1011Byte。B可能变大，包含必要编码开销。zlib不是RAR算法本身。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0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881360" cy="1161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5200" b="1">
                <a:solidFill>
                  <a:srgbClr val="262626"/>
                </a:solidFill>
                <a:latin typeface="Alibaba PuHuiTi 3.0 115 Black"/>
              </a:defRPr>
            </a:pPr>
            <a:r>
              <a:t>声音怎样变成0和1？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03320"/>
            <a:ext cx="9966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0">
                <a:solidFill>
                  <a:srgbClr val="808080"/>
                </a:solidFill>
                <a:latin typeface="Alibaba PuHuiTi 3.0 55 Regular"/>
              </a:defRPr>
            </a:pPr>
            <a:r>
              <a:t>第一课时｜从声音到数字音频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我们会编码文字、图像，那声音呢？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574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文字 → 编码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2057400"/>
            <a:ext cx="32004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图像 → 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9056" y="20116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200" b="1">
                <a:solidFill>
                  <a:srgbClr val="8C64E1"/>
                </a:solidFill>
                <a:latin typeface="Alibaba PuHuiTi 3.0 115 Black"/>
              </a:defRPr>
            </a:pPr>
            <a:r>
              <a:t>声音 → 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核心问题：手机为什么可以把正在说的话保存成文件？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声音首先是什么？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865376"/>
            <a:ext cx="1051560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4910328"/>
            <a:ext cx="25603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振动声源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4910328"/>
            <a:ext cx="25603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空气中的声压扰动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4910328"/>
            <a:ext cx="25603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麦克风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从声源到麦克风：声压扰动向外传播，而不是沿蛇形路线行进。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声音和电脑里的音频文件，是同一种量吗？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82496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现实声音：连续变化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82496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电脑保存：离散数字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8680" y="4361688"/>
            <a:ext cx="4754880" cy="0"/>
          </a:xfrm>
          <a:prstGeom prst="line">
            <a:avLst/>
          </a:prstGeom>
          <a:ln w="1905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68680" y="2368296"/>
            <a:ext cx="0" cy="2112264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46520" y="4361688"/>
            <a:ext cx="4754880" cy="0"/>
          </a:xfrm>
          <a:prstGeom prst="line">
            <a:avLst/>
          </a:prstGeom>
          <a:ln w="1905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46520" y="2368296"/>
            <a:ext cx="0" cy="2112264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60120" y="3280676"/>
            <a:ext cx="54648" cy="7060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14768" y="3211125"/>
            <a:ext cx="54649" cy="6955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069417" y="3143656"/>
            <a:ext cx="54649" cy="674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124066" y="3079272"/>
            <a:ext cx="54649" cy="6438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178715" y="3018930"/>
            <a:ext cx="54649" cy="6034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233364" y="2963525"/>
            <a:ext cx="54649" cy="554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88013" y="2913882"/>
            <a:ext cx="54648" cy="4964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42661" y="2870737"/>
            <a:ext cx="54649" cy="4314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97310" y="2834732"/>
            <a:ext cx="54649" cy="360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451959" y="2806401"/>
            <a:ext cx="54649" cy="2833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506608" y="2786166"/>
            <a:ext cx="54649" cy="2023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561257" y="2774327"/>
            <a:ext cx="54649" cy="1183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615906" y="2771061"/>
            <a:ext cx="54649" cy="326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70555" y="2771061"/>
            <a:ext cx="54648" cy="535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725203" y="2776415"/>
            <a:ext cx="54649" cy="1389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779852" y="2790310"/>
            <a:ext cx="54649" cy="2223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34501" y="2812540"/>
            <a:ext cx="54649" cy="3023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89150" y="2842774"/>
            <a:ext cx="54649" cy="3778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943799" y="2880563"/>
            <a:ext cx="54649" cy="4478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998448" y="2925346"/>
            <a:ext cx="54648" cy="511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053096" y="2976458"/>
            <a:ext cx="54649" cy="5668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107745" y="3033138"/>
            <a:ext cx="54649" cy="6140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162394" y="3094545"/>
            <a:ext cx="54649" cy="6522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17043" y="3159766"/>
            <a:ext cx="54649" cy="6806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271692" y="3227833"/>
            <a:ext cx="54649" cy="6990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326341" y="3297734"/>
            <a:ext cx="54649" cy="7069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380990" y="3368431"/>
            <a:ext cx="54648" cy="7044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435638" y="3438872"/>
            <a:ext cx="54649" cy="691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490287" y="3508012"/>
            <a:ext cx="54649" cy="668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544936" y="3574824"/>
            <a:ext cx="54649" cy="6349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599585" y="3638314"/>
            <a:ext cx="54649" cy="5922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654234" y="3697539"/>
            <a:ext cx="54649" cy="5408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708883" y="3751619"/>
            <a:ext cx="54648" cy="4813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763531" y="3799752"/>
            <a:ext cx="54649" cy="414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18180" y="3841221"/>
            <a:ext cx="54649" cy="3418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872829" y="3875410"/>
            <a:ext cx="54649" cy="2640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927478" y="3901812"/>
            <a:ext cx="54649" cy="1822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982127" y="3920035"/>
            <a:ext cx="54649" cy="977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36776" y="3929807"/>
            <a:ext cx="54649" cy="117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091425" y="3923546"/>
            <a:ext cx="54648" cy="743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146073" y="3907607"/>
            <a:ext cx="54649" cy="1593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200722" y="3883402"/>
            <a:ext cx="54649" cy="242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255371" y="3851290"/>
            <a:ext cx="54649" cy="321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310020" y="3811750"/>
            <a:ext cx="54649" cy="395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364669" y="3765368"/>
            <a:ext cx="54649" cy="4638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419318" y="3712833"/>
            <a:ext cx="54648" cy="5253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473966" y="3654927"/>
            <a:ext cx="54649" cy="5790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528615" y="3592509"/>
            <a:ext cx="54649" cy="6241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583264" y="3526507"/>
            <a:ext cx="54649" cy="6600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637913" y="3457901"/>
            <a:ext cx="54649" cy="6860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692562" y="3387711"/>
            <a:ext cx="54649" cy="7019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747211" y="3316980"/>
            <a:ext cx="54649" cy="7073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801860" y="3246759"/>
            <a:ext cx="54648" cy="7022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856508" y="3178090"/>
            <a:ext cx="54649" cy="686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911157" y="3111994"/>
            <a:ext cx="54649" cy="6609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965806" y="3049454"/>
            <a:ext cx="54649" cy="625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0455" y="2991397"/>
            <a:ext cx="54649" cy="580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075104" y="2938688"/>
            <a:ext cx="54649" cy="5270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129753" y="2892109"/>
            <a:ext cx="54648" cy="4657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184401" y="2852352"/>
            <a:ext cx="54649" cy="397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239050" y="2820008"/>
            <a:ext cx="54649" cy="3234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293699" y="2795558"/>
            <a:ext cx="54649" cy="2445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348348" y="2779364"/>
            <a:ext cx="54649" cy="1619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402997" y="2771667"/>
            <a:ext cx="54649" cy="769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4457646" y="2771667"/>
            <a:ext cx="54649" cy="91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4512295" y="2772582"/>
            <a:ext cx="54648" cy="951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4566943" y="2782095"/>
            <a:ext cx="54649" cy="1797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621592" y="2800065"/>
            <a:ext cx="54649" cy="2615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676241" y="2826224"/>
            <a:ext cx="54649" cy="3396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730890" y="2860185"/>
            <a:ext cx="54649" cy="412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785539" y="2901442"/>
            <a:ext cx="54649" cy="479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840188" y="2949382"/>
            <a:ext cx="54648" cy="539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894836" y="3003294"/>
            <a:ext cx="54649" cy="5908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949485" y="3062376"/>
            <a:ext cx="54649" cy="6337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5004134" y="3125750"/>
            <a:ext cx="54649" cy="6672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5058783" y="3192475"/>
            <a:ext cx="54649" cy="6908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5113432" y="3261559"/>
            <a:ext cx="54649" cy="7041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168081" y="3331977"/>
            <a:ext cx="54649" cy="7070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222730" y="3402681"/>
            <a:ext cx="54648" cy="699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277378" y="3472621"/>
            <a:ext cx="54649" cy="6813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332027" y="3540759"/>
            <a:ext cx="54649" cy="6532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386676" y="3606081"/>
            <a:ext cx="54649" cy="6153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441325" y="3667617"/>
            <a:ext cx="54649" cy="5683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5495974" y="3724454"/>
            <a:ext cx="54649" cy="5129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5550623" y="3775745"/>
            <a:ext cx="54649" cy="4498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537960" y="3280676"/>
            <a:ext cx="54541" cy="7060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592501" y="3211125"/>
            <a:ext cx="54541" cy="6955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47042" y="3143656"/>
            <a:ext cx="54541" cy="674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701583" y="3079272"/>
            <a:ext cx="54542" cy="6438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756125" y="3018930"/>
            <a:ext cx="54541" cy="6034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810666" y="2963525"/>
            <a:ext cx="54541" cy="554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865207" y="2913882"/>
            <a:ext cx="54541" cy="4964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919748" y="2870737"/>
            <a:ext cx="54542" cy="4314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974290" y="2834732"/>
            <a:ext cx="54541" cy="360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028831" y="2806401"/>
            <a:ext cx="54541" cy="2833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083372" y="2786166"/>
            <a:ext cx="54541" cy="2023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137913" y="2774327"/>
            <a:ext cx="54542" cy="1183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192455" y="2771061"/>
            <a:ext cx="54541" cy="326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7246996" y="2771061"/>
            <a:ext cx="54541" cy="535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7301537" y="2776415"/>
            <a:ext cx="54542" cy="1389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356079" y="2790310"/>
            <a:ext cx="54541" cy="2223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410620" y="2812540"/>
            <a:ext cx="54541" cy="3023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465161" y="2842774"/>
            <a:ext cx="54541" cy="3778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519702" y="2880563"/>
            <a:ext cx="54542" cy="4478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574244" y="2925346"/>
            <a:ext cx="54541" cy="511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628785" y="2976458"/>
            <a:ext cx="54541" cy="5668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683326" y="3033138"/>
            <a:ext cx="54541" cy="6140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737867" y="3094545"/>
            <a:ext cx="54542" cy="6522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792409" y="3159766"/>
            <a:ext cx="54541" cy="6806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846950" y="3227833"/>
            <a:ext cx="54541" cy="6990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901491" y="3297734"/>
            <a:ext cx="54542" cy="7069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956033" y="3368431"/>
            <a:ext cx="54541" cy="7044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010574" y="3438872"/>
            <a:ext cx="54541" cy="691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065115" y="3508012"/>
            <a:ext cx="54541" cy="668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8119656" y="3574824"/>
            <a:ext cx="54542" cy="6349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174198" y="3638314"/>
            <a:ext cx="54541" cy="5922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228739" y="3697539"/>
            <a:ext cx="54541" cy="5408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283280" y="3751619"/>
            <a:ext cx="54541" cy="4813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337821" y="3799752"/>
            <a:ext cx="54542" cy="414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392363" y="3841221"/>
            <a:ext cx="54541" cy="3418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446904" y="3875410"/>
            <a:ext cx="54541" cy="2640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501445" y="3901812"/>
            <a:ext cx="54542" cy="1822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555987" y="3920035"/>
            <a:ext cx="54541" cy="977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610528" y="3929807"/>
            <a:ext cx="54541" cy="117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8665069" y="3923546"/>
            <a:ext cx="54541" cy="743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8719610" y="3907607"/>
            <a:ext cx="54542" cy="1593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8774152" y="3883402"/>
            <a:ext cx="54541" cy="242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8828693" y="3851290"/>
            <a:ext cx="54541" cy="321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8883234" y="3811750"/>
            <a:ext cx="54541" cy="395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937775" y="3765368"/>
            <a:ext cx="54542" cy="4638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8992317" y="3712833"/>
            <a:ext cx="54541" cy="5253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9046858" y="3654927"/>
            <a:ext cx="54541" cy="5790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101399" y="3592509"/>
            <a:ext cx="54541" cy="6241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155940" y="3526507"/>
            <a:ext cx="54542" cy="6600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210482" y="3457901"/>
            <a:ext cx="54541" cy="6860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265023" y="3387711"/>
            <a:ext cx="54541" cy="7019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319564" y="3316980"/>
            <a:ext cx="54542" cy="7073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374106" y="3246759"/>
            <a:ext cx="54541" cy="7022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428647" y="3178090"/>
            <a:ext cx="54541" cy="686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483188" y="3111994"/>
            <a:ext cx="54541" cy="6609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537729" y="3049454"/>
            <a:ext cx="54542" cy="625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592271" y="2991397"/>
            <a:ext cx="54541" cy="580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646812" y="2938688"/>
            <a:ext cx="54541" cy="5270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701353" y="2892109"/>
            <a:ext cx="54541" cy="4657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755894" y="2852352"/>
            <a:ext cx="54542" cy="397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810436" y="2820008"/>
            <a:ext cx="54541" cy="3234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864977" y="2795558"/>
            <a:ext cx="54541" cy="2445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9919518" y="2779364"/>
            <a:ext cx="54542" cy="1619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974060" y="2771667"/>
            <a:ext cx="54541" cy="769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10028601" y="2771667"/>
            <a:ext cx="54541" cy="91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10083142" y="2772582"/>
            <a:ext cx="54541" cy="951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10137683" y="2782095"/>
            <a:ext cx="54542" cy="1797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10192225" y="2800065"/>
            <a:ext cx="54541" cy="2615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10246766" y="2826224"/>
            <a:ext cx="54541" cy="3396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0301307" y="2860185"/>
            <a:ext cx="54541" cy="412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10355848" y="2901442"/>
            <a:ext cx="54542" cy="479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10410390" y="2949382"/>
            <a:ext cx="54541" cy="539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10464931" y="3003294"/>
            <a:ext cx="54541" cy="5908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10519472" y="3062376"/>
            <a:ext cx="54542" cy="6337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10574014" y="3125750"/>
            <a:ext cx="54541" cy="6672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10628555" y="3192475"/>
            <a:ext cx="54541" cy="6908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10683096" y="3261559"/>
            <a:ext cx="54541" cy="7041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10737637" y="3331977"/>
            <a:ext cx="54542" cy="7070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10792179" y="3402681"/>
            <a:ext cx="54541" cy="699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846720" y="3472621"/>
            <a:ext cx="54541" cy="6813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901261" y="3540759"/>
            <a:ext cx="54541" cy="6532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0955802" y="3606081"/>
            <a:ext cx="54542" cy="6153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1010344" y="3667617"/>
            <a:ext cx="54541" cy="5683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1064885" y="3724454"/>
            <a:ext cx="54541" cy="5129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1119426" y="3775745"/>
            <a:ext cx="54542" cy="4498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565392" y="3351276"/>
            <a:ext cx="0" cy="1010412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Oval 181"/>
          <p:cNvSpPr/>
          <p:nvPr/>
        </p:nvSpPr>
        <p:spPr>
          <a:xfrm>
            <a:off x="6504127" y="3290011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3" name="Connector 182"/>
          <p:cNvCxnSpPr/>
          <p:nvPr/>
        </p:nvCxnSpPr>
        <p:spPr>
          <a:xfrm flipV="1">
            <a:off x="6981028" y="2881821"/>
            <a:ext cx="0" cy="1479867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Oval 183"/>
          <p:cNvSpPr/>
          <p:nvPr/>
        </p:nvSpPr>
        <p:spPr>
          <a:xfrm>
            <a:off x="6919763" y="282055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5" name="Connector 184"/>
          <p:cNvCxnSpPr/>
          <p:nvPr/>
        </p:nvCxnSpPr>
        <p:spPr>
          <a:xfrm flipV="1">
            <a:off x="7396664" y="2799398"/>
            <a:ext cx="0" cy="1562290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Oval 185"/>
          <p:cNvSpPr/>
          <p:nvPr/>
        </p:nvSpPr>
        <p:spPr>
          <a:xfrm>
            <a:off x="7335399" y="2738133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7" name="Connector 186"/>
          <p:cNvCxnSpPr/>
          <p:nvPr/>
        </p:nvCxnSpPr>
        <p:spPr>
          <a:xfrm flipV="1">
            <a:off x="7812301" y="3171960"/>
            <a:ext cx="0" cy="118972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Oval 187"/>
          <p:cNvSpPr/>
          <p:nvPr/>
        </p:nvSpPr>
        <p:spPr>
          <a:xfrm>
            <a:off x="7751036" y="3110695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9" name="Connector 188"/>
          <p:cNvCxnSpPr/>
          <p:nvPr/>
        </p:nvCxnSpPr>
        <p:spPr>
          <a:xfrm flipV="1">
            <a:off x="8227937" y="3692354"/>
            <a:ext cx="0" cy="6693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Oval 189"/>
          <p:cNvSpPr/>
          <p:nvPr/>
        </p:nvSpPr>
        <p:spPr>
          <a:xfrm>
            <a:off x="8166672" y="3631090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1" name="Connector 190"/>
          <p:cNvCxnSpPr/>
          <p:nvPr/>
        </p:nvCxnSpPr>
        <p:spPr>
          <a:xfrm flipV="1">
            <a:off x="8643573" y="3931554"/>
            <a:ext cx="0" cy="4301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Oval 191"/>
          <p:cNvSpPr/>
          <p:nvPr/>
        </p:nvSpPr>
        <p:spPr>
          <a:xfrm>
            <a:off x="8582309" y="3870289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3" name="Connector 192"/>
          <p:cNvCxnSpPr/>
          <p:nvPr/>
        </p:nvCxnSpPr>
        <p:spPr>
          <a:xfrm flipV="1">
            <a:off x="9059210" y="3692354"/>
            <a:ext cx="0" cy="6693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Oval 193"/>
          <p:cNvSpPr/>
          <p:nvPr/>
        </p:nvSpPr>
        <p:spPr>
          <a:xfrm>
            <a:off x="8997945" y="3631090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5" name="Connector 194"/>
          <p:cNvCxnSpPr/>
          <p:nvPr/>
        </p:nvCxnSpPr>
        <p:spPr>
          <a:xfrm flipV="1">
            <a:off x="9474846" y="3171960"/>
            <a:ext cx="0" cy="118972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Oval 195"/>
          <p:cNvSpPr/>
          <p:nvPr/>
        </p:nvSpPr>
        <p:spPr>
          <a:xfrm>
            <a:off x="9413581" y="3110695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7" name="Connector 196"/>
          <p:cNvCxnSpPr/>
          <p:nvPr/>
        </p:nvCxnSpPr>
        <p:spPr>
          <a:xfrm flipV="1">
            <a:off x="9890482" y="2799398"/>
            <a:ext cx="0" cy="1562290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Oval 197"/>
          <p:cNvSpPr/>
          <p:nvPr/>
        </p:nvSpPr>
        <p:spPr>
          <a:xfrm>
            <a:off x="9829218" y="2738133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9" name="Connector 198"/>
          <p:cNvCxnSpPr/>
          <p:nvPr/>
        </p:nvCxnSpPr>
        <p:spPr>
          <a:xfrm flipV="1">
            <a:off x="10306119" y="2881821"/>
            <a:ext cx="0" cy="1479867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Oval 199"/>
          <p:cNvSpPr/>
          <p:nvPr/>
        </p:nvSpPr>
        <p:spPr>
          <a:xfrm>
            <a:off x="10244854" y="282055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1" name="Connector 200"/>
          <p:cNvCxnSpPr/>
          <p:nvPr/>
        </p:nvCxnSpPr>
        <p:spPr>
          <a:xfrm flipV="1">
            <a:off x="10721755" y="3351275"/>
            <a:ext cx="0" cy="1010413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Oval 201"/>
          <p:cNvSpPr/>
          <p:nvPr/>
        </p:nvSpPr>
        <p:spPr>
          <a:xfrm>
            <a:off x="10660490" y="3290011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3" name="Connector 202"/>
          <p:cNvCxnSpPr/>
          <p:nvPr/>
        </p:nvCxnSpPr>
        <p:spPr>
          <a:xfrm flipV="1">
            <a:off x="11137392" y="3820730"/>
            <a:ext cx="0" cy="54095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Oval 203"/>
          <p:cNvSpPr/>
          <p:nvPr/>
        </p:nvSpPr>
        <p:spPr>
          <a:xfrm>
            <a:off x="11076127" y="375946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868680" y="4800600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同一位置的信号随时间变化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428232" y="4800600"/>
            <a:ext cx="4846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只记录特定时刻的一组数值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连续信号 → 等间隔采样 → 离散样本；图示是同一段信号。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麦克风把声波变成什么？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33375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声源振动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9704" y="1700784"/>
            <a:ext cx="33375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麦克风感受声压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7888" y="1700784"/>
            <a:ext cx="32461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输出连续电信号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51560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89304" y="2980944"/>
            <a:ext cx="0" cy="758952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27048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764792" y="2980944"/>
            <a:ext cx="0" cy="758952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002536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42316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42316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3464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83464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4612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24612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886200" y="3246120"/>
            <a:ext cx="48463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440679" y="2843784"/>
            <a:ext cx="950976" cy="950976"/>
          </a:xfrm>
          <a:prstGeom prst="ellipse">
            <a:avLst/>
          </a:prstGeom>
          <a:solidFill>
            <a:srgbClr val="E9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5916168" y="3794760"/>
            <a:ext cx="0" cy="393192"/>
          </a:xfrm>
          <a:prstGeom prst="line">
            <a:avLst/>
          </a:prstGeom>
          <a:ln w="381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629400" y="3246120"/>
            <a:ext cx="1335024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38744" y="4160520"/>
            <a:ext cx="2898648" cy="0"/>
          </a:xfrm>
          <a:prstGeom prst="line">
            <a:avLst/>
          </a:prstGeom>
          <a:ln w="1524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247888" y="3256268"/>
            <a:ext cx="33994" cy="6300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281882" y="3193891"/>
            <a:ext cx="33994" cy="623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315876" y="3132762"/>
            <a:ext cx="33994" cy="611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349870" y="3073489"/>
            <a:ext cx="33994" cy="5927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383864" y="3016661"/>
            <a:ext cx="33994" cy="568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417858" y="2962845"/>
            <a:ext cx="33994" cy="5381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451852" y="2912574"/>
            <a:ext cx="33995" cy="502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485847" y="2866351"/>
            <a:ext cx="33994" cy="462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519841" y="2824634"/>
            <a:ext cx="33994" cy="4171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553835" y="2787839"/>
            <a:ext cx="33994" cy="367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587829" y="2756331"/>
            <a:ext cx="33994" cy="315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621823" y="2730425"/>
            <a:ext cx="33994" cy="259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655817" y="2710378"/>
            <a:ext cx="33995" cy="200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689812" y="2696390"/>
            <a:ext cx="33994" cy="1398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723806" y="2688599"/>
            <a:ext cx="33994" cy="77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757800" y="2687084"/>
            <a:ext cx="33994" cy="15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791794" y="2687084"/>
            <a:ext cx="33994" cy="477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825788" y="2691859"/>
            <a:ext cx="33994" cy="110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859782" y="2702877"/>
            <a:ext cx="33995" cy="171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93777" y="2720028"/>
            <a:ext cx="33994" cy="231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927771" y="2743142"/>
            <a:ext cx="33994" cy="2884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961765" y="2771988"/>
            <a:ext cx="33994" cy="3429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995759" y="2806280"/>
            <a:ext cx="33994" cy="393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29753" y="2845676"/>
            <a:ext cx="33994" cy="441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063747" y="2889784"/>
            <a:ext cx="33995" cy="483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097742" y="2938166"/>
            <a:ext cx="33994" cy="5217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131736" y="2990340"/>
            <a:ext cx="33994" cy="554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165730" y="3045787"/>
            <a:ext cx="33994" cy="5816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199724" y="3103955"/>
            <a:ext cx="33994" cy="603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233718" y="3164265"/>
            <a:ext cx="33994" cy="618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267712" y="3226118"/>
            <a:ext cx="33995" cy="627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301707" y="3288898"/>
            <a:ext cx="33994" cy="630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335701" y="3351980"/>
            <a:ext cx="33994" cy="6275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369695" y="3414736"/>
            <a:ext cx="33994" cy="618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403689" y="3476543"/>
            <a:ext cx="33994" cy="602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437683" y="3536784"/>
            <a:ext cx="33994" cy="580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471677" y="3594862"/>
            <a:ext cx="33995" cy="553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505672" y="3650197"/>
            <a:ext cx="33994" cy="520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539666" y="3702240"/>
            <a:ext cx="33994" cy="4823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573660" y="3750472"/>
            <a:ext cx="33994" cy="439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607654" y="3794413"/>
            <a:ext cx="33994" cy="392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641648" y="3833627"/>
            <a:ext cx="33994" cy="340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675642" y="3867723"/>
            <a:ext cx="33995" cy="286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709637" y="3896361"/>
            <a:ext cx="33994" cy="228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743631" y="3919258"/>
            <a:ext cx="33994" cy="169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777625" y="3936184"/>
            <a:ext cx="33994" cy="1078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811619" y="3946973"/>
            <a:ext cx="33994" cy="45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9845613" y="3949767"/>
            <a:ext cx="33994" cy="17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9879607" y="3941745"/>
            <a:ext cx="33995" cy="80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9913602" y="3927529"/>
            <a:ext cx="33994" cy="1421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9947596" y="3907261"/>
            <a:ext cx="33994" cy="2026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9981590" y="3881143"/>
            <a:ext cx="33994" cy="261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015584" y="3849434"/>
            <a:ext cx="33994" cy="317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0049578" y="3812449"/>
            <a:ext cx="33994" cy="369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083572" y="3770558"/>
            <a:ext cx="33995" cy="418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117567" y="3724176"/>
            <a:ext cx="33994" cy="463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151561" y="3673765"/>
            <a:ext cx="33994" cy="50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0185555" y="3619827"/>
            <a:ext cx="33994" cy="539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0219549" y="3562899"/>
            <a:ext cx="33994" cy="569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0253543" y="3503546"/>
            <a:ext cx="33994" cy="593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0287537" y="3442360"/>
            <a:ext cx="33995" cy="6118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0321532" y="3379949"/>
            <a:ext cx="33994" cy="62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0355526" y="3316934"/>
            <a:ext cx="33994" cy="630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0389520" y="3253943"/>
            <a:ext cx="33994" cy="629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0423514" y="3191601"/>
            <a:ext cx="33994" cy="623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0457508" y="3130530"/>
            <a:ext cx="33994" cy="610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0491502" y="3071337"/>
            <a:ext cx="33995" cy="591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0525497" y="3014611"/>
            <a:ext cx="33994" cy="567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0559491" y="2960916"/>
            <a:ext cx="33994" cy="536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0593485" y="2910787"/>
            <a:ext cx="33994" cy="501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0627479" y="2864723"/>
            <a:ext cx="33994" cy="460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0661473" y="2823181"/>
            <a:ext cx="33994" cy="415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0695467" y="2786575"/>
            <a:ext cx="33995" cy="366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0729462" y="2755270"/>
            <a:ext cx="33994" cy="3130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10763456" y="2729577"/>
            <a:ext cx="33994" cy="256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10797450" y="2709751"/>
            <a:ext cx="33994" cy="198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10831444" y="2695990"/>
            <a:ext cx="33994" cy="137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865438" y="2688431"/>
            <a:ext cx="33994" cy="755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0899432" y="2687149"/>
            <a:ext cx="33995" cy="12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0933427" y="2687149"/>
            <a:ext cx="33994" cy="50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10967421" y="2692156"/>
            <a:ext cx="33994" cy="112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11001415" y="2703404"/>
            <a:ext cx="33994" cy="1737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1035409" y="2720779"/>
            <a:ext cx="33994" cy="2333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1069403" y="2744109"/>
            <a:ext cx="33994" cy="290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1103397" y="2773163"/>
            <a:ext cx="33995" cy="3448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896112" y="4782312"/>
            <a:ext cx="30175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空气中的变化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681728" y="4782312"/>
            <a:ext cx="28346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转换为电信号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357616" y="4782312"/>
            <a:ext cx="28346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仍是连续变化的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麦克风完成“声压变化 → 电信号”；将模拟信号数字化由ADC完成。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连续电信号，怎样变成数字？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22860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24048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模拟电信号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33087" y="2624328"/>
            <a:ext cx="603505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828032" y="2286000"/>
            <a:ext cx="27432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01184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声卡：ADC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08392" y="2624328"/>
            <a:ext cx="612648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412480" y="2286000"/>
            <a:ext cx="27432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数字音频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69080"/>
            <a:ext cx="1051560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ADC = 模数转换（模拟信号 → 数字信号）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8464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声卡负责完成这一转换；它不等于“存储音频文件”。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把录音过程和播放过程接起来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545336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录音：模拟 → 数字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822191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播放：数字 → 模拟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声波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52928" y="2569464"/>
            <a:ext cx="740664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666744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麦克风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9279" y="2569464"/>
            <a:ext cx="740665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483096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ADC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85632" y="2569464"/>
            <a:ext cx="740664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299448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9448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数字文件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数字文件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52928" y="4818888"/>
            <a:ext cx="740664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666744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66744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DAC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79" y="4818888"/>
            <a:ext cx="740665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483096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3096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扬声器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85632" y="4818888"/>
            <a:ext cx="740664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299448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9448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声音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思考：麦克风和扬声器、ADC和DAC，各负责什么转换？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波形图画的是“声音的传播路线”吗？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11680"/>
            <a:ext cx="10735056" cy="2898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6968" y="1600200"/>
            <a:ext cx="502920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空气中传播：波阵面的位置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01384" y="1600200"/>
            <a:ext cx="49377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固定位置：幅度随时间变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同一物理过程，两种描述：空间中的传播 vs 记录点上的时间变化。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演示A：听声音，波形上的红线如何移动？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517904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先预测：红色光标向右，表示声音向右传播吗？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41832" y="3712464"/>
            <a:ext cx="10222992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87552" y="2523744"/>
            <a:ext cx="0" cy="2423160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41832" y="209397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50424" y="384048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060704" y="3458819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59276" y="3356450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57848" y="3259695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56420" y="3170080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54993" y="3089019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53565" y="3017791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52137" y="2957517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0710" y="290915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49282" y="2873451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7854" y="2850984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46427" y="2842104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144999" y="2842104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43571" y="2846949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42144" y="2865444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40716" y="2897297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39288" y="2942005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37861" y="2998864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36433" y="306697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35005" y="3145270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33578" y="3232508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2150" y="3327315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30722" y="3428196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9295" y="3533560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27867" y="3641745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26439" y="3751046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25012" y="3859738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623584" y="3966108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722156" y="4068477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820728" y="4165232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919301" y="4254847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017873" y="4335908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116445" y="4407136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215018" y="446741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313590" y="4515777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412162" y="4551476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510735" y="4573943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609307" y="4577978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707879" y="4559483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806452" y="4527630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905024" y="4482922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5003596" y="4426063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102169" y="4357950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200741" y="427965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299313" y="4192419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397886" y="4097612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496458" y="3996731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595030" y="3891367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693603" y="3783182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792175" y="3673881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890747" y="3565189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989320" y="3458819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6087892" y="3356450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186464" y="3259695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285036" y="3170080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383609" y="3089019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482181" y="3017791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580753" y="2957517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679326" y="290915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777898" y="2873451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876470" y="2850984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975043" y="2842104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7073615" y="2842104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172187" y="2846949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270760" y="2865444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369332" y="2897297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467904" y="2942005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566477" y="2998864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665049" y="306697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763621" y="3145270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862194" y="3232508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960766" y="3327315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059338" y="3428196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157911" y="3533560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256483" y="3641745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355055" y="3751046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453628" y="3859738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552200" y="3966108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650772" y="4068477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749344" y="4165232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847917" y="4254847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946489" y="4335908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9045061" y="4407136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9143634" y="446741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9242206" y="4515777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340778" y="4551476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439351" y="4573943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537923" y="4577978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636495" y="4559483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9735068" y="4527630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9833640" y="4482922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932212" y="4426063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030785" y="4357950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0129357" y="427965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0227929" y="4192419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10326502" y="4097612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425074" y="3996731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523646" y="3891367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622219" y="3783182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720791" y="3673881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819363" y="3565189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6638544" y="2587752"/>
            <a:ext cx="0" cy="2286000"/>
          </a:xfrm>
          <a:prstGeom prst="line">
            <a:avLst/>
          </a:prstGeom>
          <a:ln w="4064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914400" y="5330952"/>
            <a:ext cx="57607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▶ 由教室浏览器播放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726679" y="5330952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时间继续向右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如果只能记录有限个数字，应该记录哪些时刻？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请提出一个规则：怎样公平地选出一组采样时刻？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每隔相同时间，取一个幅度值。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06984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08583" y="33448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184937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1788109" y="244427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262890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Oval 113"/>
          <p:cNvSpPr/>
          <p:nvPr/>
        </p:nvSpPr>
        <p:spPr>
          <a:xfrm>
            <a:off x="2567635" y="23246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>
            <a:off x="340842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Oval 115"/>
          <p:cNvSpPr/>
          <p:nvPr/>
        </p:nvSpPr>
        <p:spPr>
          <a:xfrm>
            <a:off x="3347161" y="308976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7" name="Connector 116"/>
          <p:cNvCxnSpPr/>
          <p:nvPr/>
        </p:nvCxnSpPr>
        <p:spPr>
          <a:xfrm>
            <a:off x="418795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Oval 117"/>
          <p:cNvSpPr/>
          <p:nvPr/>
        </p:nvSpPr>
        <p:spPr>
          <a:xfrm>
            <a:off x="4126687" y="407610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496747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4906213" y="44283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>
            <a:off x="574700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121"/>
          <p:cNvSpPr/>
          <p:nvPr/>
        </p:nvSpPr>
        <p:spPr>
          <a:xfrm>
            <a:off x="5685739" y="38409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3" name="Connector 122"/>
          <p:cNvCxnSpPr/>
          <p:nvPr/>
        </p:nvCxnSpPr>
        <p:spPr>
          <a:xfrm>
            <a:off x="652653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Oval 123"/>
          <p:cNvSpPr/>
          <p:nvPr/>
        </p:nvSpPr>
        <p:spPr>
          <a:xfrm>
            <a:off x="6465265" y="282343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5" name="Connector 124"/>
          <p:cNvCxnSpPr/>
          <p:nvPr/>
        </p:nvCxnSpPr>
        <p:spPr>
          <a:xfrm>
            <a:off x="730605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Oval 125"/>
          <p:cNvSpPr/>
          <p:nvPr/>
        </p:nvSpPr>
        <p:spPr>
          <a:xfrm>
            <a:off x="7244791" y="225806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7" name="Connector 126"/>
          <p:cNvCxnSpPr/>
          <p:nvPr/>
        </p:nvCxnSpPr>
        <p:spPr>
          <a:xfrm>
            <a:off x="808558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Oval 127"/>
          <p:cNvSpPr/>
          <p:nvPr/>
        </p:nvSpPr>
        <p:spPr>
          <a:xfrm>
            <a:off x="8024317" y="263515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9" name="Connector 128"/>
          <p:cNvCxnSpPr/>
          <p:nvPr/>
        </p:nvCxnSpPr>
        <p:spPr>
          <a:xfrm>
            <a:off x="886510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Oval 129"/>
          <p:cNvSpPr/>
          <p:nvPr/>
        </p:nvSpPr>
        <p:spPr>
          <a:xfrm>
            <a:off x="8803843" y="362771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1" name="Connector 130"/>
          <p:cNvCxnSpPr/>
          <p:nvPr/>
        </p:nvCxnSpPr>
        <p:spPr>
          <a:xfrm>
            <a:off x="964463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Oval 131"/>
          <p:cNvSpPr/>
          <p:nvPr/>
        </p:nvSpPr>
        <p:spPr>
          <a:xfrm>
            <a:off x="9583369" y="437499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采样：在固定时刻取样，让时间上的记录变得离散。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演示B：把波形放大，能看见一个个采样点吗？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029968"/>
            <a:ext cx="10716768" cy="3264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6112" y="1508760"/>
            <a:ext cx="5010912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全局概览：波形整体趋势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0528" y="1508760"/>
            <a:ext cx="48463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局部放大：真实样本点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局部蓝点才是可逐个读出的数字样本；灰色连线只是阅读辅助。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1 Hz和2 Hz，一秒内取几个样本？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50976" y="2478024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1819656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69848" y="15087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12096" y="25968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128016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1 Hz</a:t>
            </a:r>
          </a:p>
        </p:txBody>
      </p:sp>
      <p:sp>
        <p:nvSpPr>
          <p:cNvPr id="10" name="Oval 9"/>
          <p:cNvSpPr/>
          <p:nvPr/>
        </p:nvSpPr>
        <p:spPr>
          <a:xfrm>
            <a:off x="1081735" y="238932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44875" y="1922068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08015" y="238932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871155" y="285658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950976" y="4443983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42416" y="3785615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69848" y="34747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12096" y="4562855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24612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2 Hz</a:t>
            </a:r>
          </a:p>
        </p:txBody>
      </p:sp>
      <p:sp>
        <p:nvSpPr>
          <p:cNvPr id="19" name="Oval 18"/>
          <p:cNvSpPr/>
          <p:nvPr/>
        </p:nvSpPr>
        <p:spPr>
          <a:xfrm>
            <a:off x="1081735" y="435528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13305" y="40248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344875" y="388802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76445" y="40248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08015" y="435528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739585" y="468568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871155" y="482254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002725" y="468568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806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采样率：每秒采集多少个样本，单位为Hz。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提高采样率，改变的是时间轴上的什么？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243230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7280" y="173736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" y="142646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25511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197864"/>
            <a:ext cx="97475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采样点较少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24712" y="2358641"/>
            <a:ext cx="91074" cy="599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15786" y="2299460"/>
            <a:ext cx="91074" cy="591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06860" y="2241802"/>
            <a:ext cx="91074" cy="576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97934" y="2186403"/>
            <a:ext cx="91074" cy="553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89008" y="2133970"/>
            <a:ext cx="91075" cy="524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80083" y="2085174"/>
            <a:ext cx="91074" cy="487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71157" y="2040638"/>
            <a:ext cx="91074" cy="4453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62231" y="2000931"/>
            <a:ext cx="91074" cy="397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53305" y="1966561"/>
            <a:ext cx="91075" cy="343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4380" y="1937966"/>
            <a:ext cx="91074" cy="285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5454" y="1915513"/>
            <a:ext cx="91074" cy="224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6528" y="1899487"/>
            <a:ext cx="91074" cy="160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17602" y="1890094"/>
            <a:ext cx="91075" cy="9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08677" y="1887454"/>
            <a:ext cx="91074" cy="26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399751" y="1887454"/>
            <a:ext cx="91074" cy="41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490825" y="1891601"/>
            <a:ext cx="91074" cy="108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81899" y="1902481"/>
            <a:ext cx="91075" cy="1747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2974" y="1919956"/>
            <a:ext cx="91074" cy="238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64048" y="1943801"/>
            <a:ext cx="91074" cy="29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55122" y="1973714"/>
            <a:ext cx="91074" cy="355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46196" y="2009310"/>
            <a:ext cx="91075" cy="408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37271" y="2050136"/>
            <a:ext cx="91074" cy="45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28345" y="2095670"/>
            <a:ext cx="91074" cy="496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19419" y="2145330"/>
            <a:ext cx="91074" cy="5315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10493" y="2198482"/>
            <a:ext cx="91075" cy="559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01568" y="2254445"/>
            <a:ext cx="91074" cy="5806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92642" y="2312507"/>
            <a:ext cx="91074" cy="594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83716" y="2371923"/>
            <a:ext cx="91074" cy="600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74790" y="2431936"/>
            <a:ext cx="91074" cy="598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65864" y="2491778"/>
            <a:ext cx="91075" cy="589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56939" y="2550685"/>
            <a:ext cx="91074" cy="572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48013" y="2607905"/>
            <a:ext cx="91074" cy="54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39087" y="2662705"/>
            <a:ext cx="91074" cy="516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30161" y="2714386"/>
            <a:ext cx="91075" cy="47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21236" y="2762287"/>
            <a:ext cx="91074" cy="435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12310" y="2805797"/>
            <a:ext cx="91074" cy="385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03384" y="2844360"/>
            <a:ext cx="91074" cy="331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94458" y="2877482"/>
            <a:ext cx="91075" cy="272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85533" y="2904741"/>
            <a:ext cx="91074" cy="210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676607" y="2925788"/>
            <a:ext cx="91074" cy="145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767681" y="2940354"/>
            <a:ext cx="91074" cy="7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858755" y="2948253"/>
            <a:ext cx="91075" cy="11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949830" y="2943735"/>
            <a:ext cx="91074" cy="565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040904" y="2931374"/>
            <a:ext cx="91074" cy="1236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131978" y="2912461"/>
            <a:ext cx="91074" cy="18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223052" y="2887239"/>
            <a:ext cx="91075" cy="252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314127" y="2856027"/>
            <a:ext cx="91074" cy="3121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05201" y="2819227"/>
            <a:ext cx="91074" cy="36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496275" y="2777307"/>
            <a:ext cx="91074" cy="41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587349" y="2730804"/>
            <a:ext cx="91075" cy="4650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678424" y="2680312"/>
            <a:ext cx="91074" cy="50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769498" y="2626475"/>
            <a:ext cx="91074" cy="538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860572" y="2569983"/>
            <a:ext cx="91074" cy="56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951646" y="2511555"/>
            <a:ext cx="91074" cy="584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42720" y="2451940"/>
            <a:ext cx="91075" cy="596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133795" y="2391899"/>
            <a:ext cx="91074" cy="600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224869" y="2332199"/>
            <a:ext cx="91074" cy="597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315943" y="2273602"/>
            <a:ext cx="91074" cy="585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407017" y="2216858"/>
            <a:ext cx="91075" cy="56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498092" y="2162692"/>
            <a:ext cx="91074" cy="541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589166" y="2111795"/>
            <a:ext cx="91074" cy="508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680240" y="2064819"/>
            <a:ext cx="91074" cy="46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771314" y="2022362"/>
            <a:ext cx="91075" cy="4245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862389" y="1984969"/>
            <a:ext cx="91074" cy="37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953463" y="1953115"/>
            <a:ext cx="91074" cy="318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044537" y="1927210"/>
            <a:ext cx="91074" cy="25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135611" y="1907582"/>
            <a:ext cx="91075" cy="19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226686" y="1894485"/>
            <a:ext cx="91074" cy="130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317760" y="1888083"/>
            <a:ext cx="91074" cy="64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408834" y="1888083"/>
            <a:ext cx="91074" cy="3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499908" y="1888461"/>
            <a:ext cx="91075" cy="715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590983" y="1895612"/>
            <a:ext cx="91074" cy="138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682057" y="1909445"/>
            <a:ext cx="91074" cy="203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773131" y="1929783"/>
            <a:ext cx="91074" cy="26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864205" y="1956368"/>
            <a:ext cx="91075" cy="324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955280" y="1988858"/>
            <a:ext cx="91074" cy="379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046354" y="2026839"/>
            <a:ext cx="91074" cy="4298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137428" y="2069826"/>
            <a:ext cx="91074" cy="474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228502" y="2117268"/>
            <a:ext cx="91074" cy="512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319576" y="2168561"/>
            <a:ext cx="91075" cy="544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410651" y="2223049"/>
            <a:ext cx="91074" cy="569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01725" y="2280035"/>
            <a:ext cx="91074" cy="5875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592799" y="2338791"/>
            <a:ext cx="91074" cy="597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683873" y="2398567"/>
            <a:ext cx="91075" cy="600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774948" y="2458599"/>
            <a:ext cx="91074" cy="595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866022" y="2518120"/>
            <a:ext cx="91074" cy="582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957096" y="2576369"/>
            <a:ext cx="91074" cy="56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048170" y="2632601"/>
            <a:ext cx="91075" cy="534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139245" y="2686100"/>
            <a:ext cx="91074" cy="500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230319" y="2736180"/>
            <a:ext cx="91074" cy="460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321393" y="2782202"/>
            <a:ext cx="91074" cy="41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412467" y="2823578"/>
            <a:ext cx="91075" cy="36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503542" y="2859779"/>
            <a:ext cx="91074" cy="305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594616" y="2890343"/>
            <a:ext cx="91074" cy="245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685690" y="2914880"/>
            <a:ext cx="91074" cy="181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776764" y="2933075"/>
            <a:ext cx="91075" cy="116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867839" y="2944696"/>
            <a:ext cx="91074" cy="4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9958913" y="2947709"/>
            <a:ext cx="91074" cy="18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049987" y="2939062"/>
            <a:ext cx="91074" cy="86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141061" y="2923765"/>
            <a:ext cx="91075" cy="152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63447" y="235732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201875" y="183268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340303" y="219318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478731" y="283060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2669540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755587" y="198172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894015" y="192759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9032443" y="259847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1005840" y="453542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097280" y="384048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1124712" y="352958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838944" y="46542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05840" y="3300984"/>
            <a:ext cx="97475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采样点较多</a:t>
            </a:r>
          </a:p>
        </p:txBody>
      </p:sp>
      <p:cxnSp>
        <p:nvCxnSpPr>
          <p:cNvPr id="123" name="Connector 122"/>
          <p:cNvCxnSpPr/>
          <p:nvPr/>
        </p:nvCxnSpPr>
        <p:spPr>
          <a:xfrm flipV="1">
            <a:off x="1124712" y="4461761"/>
            <a:ext cx="91074" cy="599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1215786" y="4402580"/>
            <a:ext cx="91074" cy="591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306860" y="4344922"/>
            <a:ext cx="91074" cy="576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1397934" y="4289523"/>
            <a:ext cx="91074" cy="553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489008" y="4237090"/>
            <a:ext cx="91075" cy="524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580083" y="4188294"/>
            <a:ext cx="91074" cy="487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671157" y="4143758"/>
            <a:ext cx="91074" cy="4453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762231" y="4104051"/>
            <a:ext cx="91074" cy="397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853305" y="4069681"/>
            <a:ext cx="91075" cy="343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1944380" y="4041086"/>
            <a:ext cx="91074" cy="285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2035454" y="4018633"/>
            <a:ext cx="91074" cy="224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2126528" y="4002607"/>
            <a:ext cx="91074" cy="160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2217602" y="3993214"/>
            <a:ext cx="91075" cy="9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2308677" y="3990574"/>
            <a:ext cx="91074" cy="26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2399751" y="3990574"/>
            <a:ext cx="91074" cy="41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2490825" y="3994721"/>
            <a:ext cx="91074" cy="108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2581899" y="4005601"/>
            <a:ext cx="91075" cy="1747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2672974" y="4023076"/>
            <a:ext cx="91074" cy="238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2764048" y="4046921"/>
            <a:ext cx="91074" cy="29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2855122" y="4076834"/>
            <a:ext cx="91074" cy="355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2946196" y="4112430"/>
            <a:ext cx="91075" cy="408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3037271" y="4153256"/>
            <a:ext cx="91074" cy="45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3128345" y="4198790"/>
            <a:ext cx="91074" cy="496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3219419" y="4248450"/>
            <a:ext cx="91074" cy="5315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3310493" y="4301602"/>
            <a:ext cx="91075" cy="559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3401568" y="4357565"/>
            <a:ext cx="91074" cy="5806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3492642" y="4415627"/>
            <a:ext cx="91074" cy="594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3583716" y="4475043"/>
            <a:ext cx="91074" cy="600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3674790" y="4535056"/>
            <a:ext cx="91074" cy="598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3765864" y="4594898"/>
            <a:ext cx="91075" cy="589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3856939" y="4653805"/>
            <a:ext cx="91074" cy="572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3948013" y="4711025"/>
            <a:ext cx="91074" cy="54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039087" y="4765825"/>
            <a:ext cx="91074" cy="516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130161" y="4817506"/>
            <a:ext cx="91075" cy="47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221236" y="4865407"/>
            <a:ext cx="91074" cy="435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312310" y="4908917"/>
            <a:ext cx="91074" cy="385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4403384" y="4947480"/>
            <a:ext cx="91074" cy="331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4494458" y="4980602"/>
            <a:ext cx="91075" cy="272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4585533" y="5007861"/>
            <a:ext cx="91074" cy="210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4676607" y="5028908"/>
            <a:ext cx="91074" cy="145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4767681" y="5043474"/>
            <a:ext cx="91074" cy="7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4858755" y="5051373"/>
            <a:ext cx="91075" cy="11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4949830" y="5046855"/>
            <a:ext cx="91074" cy="565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040904" y="5034494"/>
            <a:ext cx="91074" cy="1236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131978" y="5015581"/>
            <a:ext cx="91074" cy="18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223052" y="4990359"/>
            <a:ext cx="91075" cy="252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314127" y="4959147"/>
            <a:ext cx="91074" cy="3121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405201" y="4922347"/>
            <a:ext cx="91074" cy="36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5496275" y="4880427"/>
            <a:ext cx="91074" cy="41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5587349" y="4833924"/>
            <a:ext cx="91075" cy="4650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5678424" y="4783432"/>
            <a:ext cx="91074" cy="50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5769498" y="4729595"/>
            <a:ext cx="91074" cy="538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5860572" y="4673103"/>
            <a:ext cx="91074" cy="56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5951646" y="4614675"/>
            <a:ext cx="91074" cy="584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042720" y="4555060"/>
            <a:ext cx="91075" cy="596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133795" y="4495019"/>
            <a:ext cx="91074" cy="600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6224869" y="4435319"/>
            <a:ext cx="91074" cy="597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6315943" y="4376722"/>
            <a:ext cx="91074" cy="585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407017" y="4319978"/>
            <a:ext cx="91075" cy="56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6498092" y="4265812"/>
            <a:ext cx="91074" cy="541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6589166" y="4214915"/>
            <a:ext cx="91074" cy="508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6680240" y="4167939"/>
            <a:ext cx="91074" cy="46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6771314" y="4125482"/>
            <a:ext cx="91075" cy="4245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6862389" y="4088089"/>
            <a:ext cx="91074" cy="37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6953463" y="4056235"/>
            <a:ext cx="91074" cy="318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7044537" y="4030330"/>
            <a:ext cx="91074" cy="25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7135611" y="4010702"/>
            <a:ext cx="91075" cy="19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7226686" y="3997605"/>
            <a:ext cx="91074" cy="130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7317760" y="3991203"/>
            <a:ext cx="91074" cy="64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408834" y="3991203"/>
            <a:ext cx="91074" cy="3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7499908" y="3991581"/>
            <a:ext cx="91075" cy="715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7590983" y="3998732"/>
            <a:ext cx="91074" cy="138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7682057" y="4012565"/>
            <a:ext cx="91074" cy="203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7773131" y="4032903"/>
            <a:ext cx="91074" cy="26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7864205" y="4059488"/>
            <a:ext cx="91075" cy="324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7955280" y="4091978"/>
            <a:ext cx="91074" cy="379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8046354" y="4129959"/>
            <a:ext cx="91074" cy="4298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8137428" y="4172946"/>
            <a:ext cx="91074" cy="474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8228502" y="4220388"/>
            <a:ext cx="91074" cy="512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8319576" y="4271681"/>
            <a:ext cx="91075" cy="544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8410651" y="4326169"/>
            <a:ext cx="91074" cy="569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8501725" y="4383155"/>
            <a:ext cx="91074" cy="5875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8592799" y="4441911"/>
            <a:ext cx="91074" cy="597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8683873" y="4501687"/>
            <a:ext cx="91075" cy="600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8774948" y="4561719"/>
            <a:ext cx="91074" cy="595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8866022" y="4621240"/>
            <a:ext cx="91074" cy="582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8957096" y="4679489"/>
            <a:ext cx="91074" cy="56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048170" y="4735721"/>
            <a:ext cx="91075" cy="534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139245" y="4789220"/>
            <a:ext cx="91074" cy="500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230319" y="4839300"/>
            <a:ext cx="91074" cy="460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321393" y="4885322"/>
            <a:ext cx="91074" cy="41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412467" y="4926698"/>
            <a:ext cx="91075" cy="36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9503542" y="4962899"/>
            <a:ext cx="91074" cy="305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9594616" y="4993463"/>
            <a:ext cx="91074" cy="245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9685690" y="5018000"/>
            <a:ext cx="91074" cy="181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9776764" y="5036195"/>
            <a:ext cx="91075" cy="116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9867839" y="5047816"/>
            <a:ext cx="91074" cy="4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9958913" y="5050829"/>
            <a:ext cx="91074" cy="18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10049987" y="5042182"/>
            <a:ext cx="91074" cy="86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10141061" y="5026885"/>
            <a:ext cx="91075" cy="152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Oval 222"/>
          <p:cNvSpPr/>
          <p:nvPr/>
        </p:nvSpPr>
        <p:spPr>
          <a:xfrm>
            <a:off x="1063447" y="44604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518818" y="41758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974189" y="397982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2429560" y="393345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2884932" y="405116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3340303" y="429630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3795674" y="459254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4251045" y="484765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4706416" y="498220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5161788" y="495431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5617159" y="47726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6072530" y="44937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6527901" y="420454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6983272" y="399497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7438644" y="393031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7894015" y="403071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8349386" y="426490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8804757" y="45599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9260128" y="482405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9715500" y="497493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777240" y="596188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每秒记录的次数变多；数据量也会随之增加。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采样点的值，可能是3.71这样的数。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346704"/>
            <a:ext cx="10149839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60120" y="1956816"/>
            <a:ext cx="0" cy="278892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7552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04119" y="34655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05840" y="3235877"/>
            <a:ext cx="93451" cy="9711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99291" y="3139629"/>
            <a:ext cx="93452" cy="9624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92743" y="3045096"/>
            <a:ext cx="93452" cy="945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86195" y="2953120"/>
            <a:ext cx="93451" cy="91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79646" y="2864515"/>
            <a:ext cx="93452" cy="88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73098" y="2780068"/>
            <a:ext cx="93452" cy="844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66550" y="2700528"/>
            <a:ext cx="93451" cy="795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60001" y="2626603"/>
            <a:ext cx="93452" cy="7392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3453" y="2558948"/>
            <a:ext cx="93452" cy="676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46905" y="2498163"/>
            <a:ext cx="93451" cy="607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0356" y="2444787"/>
            <a:ext cx="93452" cy="53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3808" y="2399296"/>
            <a:ext cx="93452" cy="45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7260" y="2362092"/>
            <a:ext cx="93451" cy="372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20711" y="2333506"/>
            <a:ext cx="93452" cy="285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14163" y="2313792"/>
            <a:ext cx="93452" cy="19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07615" y="2303123"/>
            <a:ext cx="93451" cy="106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501066" y="2301596"/>
            <a:ext cx="93452" cy="152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94518" y="2301596"/>
            <a:ext cx="93452" cy="7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87970" y="2309224"/>
            <a:ext cx="93451" cy="167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81421" y="2325939"/>
            <a:ext cx="93452" cy="256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74873" y="2351592"/>
            <a:ext cx="93452" cy="343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68325" y="2385956"/>
            <a:ext cx="93451" cy="42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61776" y="2428726"/>
            <a:ext cx="93452" cy="507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55228" y="2479523"/>
            <a:ext cx="93452" cy="583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48680" y="2537895"/>
            <a:ext cx="93452" cy="6542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42132" y="2603324"/>
            <a:ext cx="93451" cy="71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35583" y="2675229"/>
            <a:ext cx="93452" cy="77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29035" y="2752973"/>
            <a:ext cx="93452" cy="82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22487" y="2835866"/>
            <a:ext cx="93451" cy="873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15938" y="2923170"/>
            <a:ext cx="93452" cy="909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09390" y="3014113"/>
            <a:ext cx="93452" cy="937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02842" y="3107885"/>
            <a:ext cx="93451" cy="9577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96293" y="3203656"/>
            <a:ext cx="93452" cy="96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89745" y="3300575"/>
            <a:ext cx="93452" cy="9720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83197" y="3397781"/>
            <a:ext cx="93451" cy="96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76648" y="3494412"/>
            <a:ext cx="93452" cy="95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70100" y="3589611"/>
            <a:ext cx="93452" cy="92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63552" y="3682531"/>
            <a:ext cx="93451" cy="898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57003" y="3772349"/>
            <a:ext cx="93452" cy="85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50455" y="3858268"/>
            <a:ext cx="93452" cy="812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43907" y="3939523"/>
            <a:ext cx="93451" cy="758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37358" y="4015395"/>
            <a:ext cx="93452" cy="69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930810" y="4085211"/>
            <a:ext cx="93452" cy="631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024262" y="4148349"/>
            <a:ext cx="93451" cy="55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117713" y="4204250"/>
            <a:ext cx="93452" cy="481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211165" y="4252417"/>
            <a:ext cx="93452" cy="400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304617" y="4292424"/>
            <a:ext cx="93451" cy="31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398068" y="4323915"/>
            <a:ext cx="93452" cy="226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491520" y="4346610"/>
            <a:ext cx="93452" cy="136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584972" y="4360308"/>
            <a:ext cx="93452" cy="45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4360308"/>
            <a:ext cx="93451" cy="45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71875" y="4346610"/>
            <a:ext cx="93452" cy="136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5327" y="4323915"/>
            <a:ext cx="93452" cy="226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8779" y="4292424"/>
            <a:ext cx="93451" cy="31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52230" y="4252417"/>
            <a:ext cx="93452" cy="400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45682" y="4204250"/>
            <a:ext cx="93452" cy="481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39134" y="4148349"/>
            <a:ext cx="93451" cy="55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32585" y="4085211"/>
            <a:ext cx="93452" cy="631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26037" y="4015395"/>
            <a:ext cx="93452" cy="69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19489" y="3939523"/>
            <a:ext cx="93451" cy="758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12940" y="3858268"/>
            <a:ext cx="93452" cy="812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06392" y="3772349"/>
            <a:ext cx="93452" cy="85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99844" y="3682531"/>
            <a:ext cx="93451" cy="898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93295" y="3589611"/>
            <a:ext cx="93452" cy="92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86747" y="3494412"/>
            <a:ext cx="93452" cy="95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80199" y="3397781"/>
            <a:ext cx="93451" cy="96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73650" y="3300575"/>
            <a:ext cx="93452" cy="9720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67102" y="3203656"/>
            <a:ext cx="93452" cy="96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60554" y="3107885"/>
            <a:ext cx="93451" cy="9577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454005" y="3014113"/>
            <a:ext cx="93452" cy="937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547457" y="2923170"/>
            <a:ext cx="93452" cy="909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640909" y="2835866"/>
            <a:ext cx="93451" cy="873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734360" y="2752973"/>
            <a:ext cx="93452" cy="82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827812" y="2675229"/>
            <a:ext cx="93452" cy="77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921264" y="2603324"/>
            <a:ext cx="93452" cy="71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8014716" y="2537895"/>
            <a:ext cx="93451" cy="6542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8108167" y="2479523"/>
            <a:ext cx="93452" cy="583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201619" y="2428726"/>
            <a:ext cx="93452" cy="507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295071" y="2385956"/>
            <a:ext cx="93451" cy="42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388522" y="2351592"/>
            <a:ext cx="93452" cy="343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481974" y="2325939"/>
            <a:ext cx="93452" cy="256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575426" y="2309224"/>
            <a:ext cx="93451" cy="167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668877" y="2301596"/>
            <a:ext cx="93452" cy="7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762329" y="2301596"/>
            <a:ext cx="93452" cy="152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855781" y="2303123"/>
            <a:ext cx="93451" cy="106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949232" y="2313792"/>
            <a:ext cx="93452" cy="19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042684" y="2333506"/>
            <a:ext cx="93452" cy="285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136136" y="2362092"/>
            <a:ext cx="93451" cy="372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229587" y="2399296"/>
            <a:ext cx="93452" cy="45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23039" y="2444787"/>
            <a:ext cx="93452" cy="53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16491" y="2498163"/>
            <a:ext cx="93451" cy="607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09942" y="2558948"/>
            <a:ext cx="93452" cy="676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03394" y="2626603"/>
            <a:ext cx="93452" cy="7392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96846" y="2700528"/>
            <a:ext cx="93451" cy="795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90297" y="2780068"/>
            <a:ext cx="93452" cy="844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883749" y="2864515"/>
            <a:ext cx="93452" cy="88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977201" y="2953120"/>
            <a:ext cx="93451" cy="91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0070652" y="3045096"/>
            <a:ext cx="93452" cy="945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0164104" y="3139629"/>
            <a:ext cx="93452" cy="9624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0257556" y="3235877"/>
            <a:ext cx="93452" cy="971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944575" y="32717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879091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813608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748125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682642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43036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551676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486192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420709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9355226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3690518" y="2895241"/>
            <a:ext cx="237744" cy="23774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973982" y="2611777"/>
            <a:ext cx="2880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某个样本：3.71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新问题：如果只允许8个振幅等级，怎么记录这些值？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把振幅划分成0～7，共几个等级？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20240"/>
            <a:ext cx="10442448" cy="2514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67712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83864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0016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6168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8472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64624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4608576"/>
            <a:ext cx="103327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编号从 0 到 7：0 也是一个等级，所以一共有 8 级。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先学会数出8个等级。下一页请预测3.71的归属，再揭示区间规则。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3.71 应记为等级3，还是等级4？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输入范围 [0,8) 分成8段：每一段对应一个等级。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905256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2176272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76272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47287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7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4135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18304" y="2907792"/>
            <a:ext cx="1234439" cy="658368"/>
          </a:xfrm>
          <a:prstGeom prst="rect">
            <a:avLst/>
          </a:prstGeom>
          <a:solidFill>
            <a:srgbClr val="EFE9FF"/>
          </a:solidFill>
          <a:ln w="381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18304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16168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0336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0336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7183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31352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31352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02367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02367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9215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91088" y="3703320"/>
            <a:ext cx="41148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8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20725" y="2468880"/>
            <a:ext cx="0" cy="4206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5552145" y="2382012"/>
            <a:ext cx="137160" cy="13716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00101" y="1938528"/>
            <a:ext cx="93268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FF0000"/>
                </a:solidFill>
                <a:latin typeface="Alibaba PuHuiTi 3.0 115 Black"/>
              </a:defRPr>
            </a:pPr>
            <a:r>
              <a:t>3.71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" y="4343400"/>
            <a:ext cx="102412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红点落在哪一段？请先独立判断等级编号。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先只预测，不公布答案；翻页再验证区间规则。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量化：把每个样本归入一个代表值。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01952" y="52578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" y="5093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01952" y="48006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78992" y="46360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01952" y="43434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78992" y="41788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01952" y="38862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78992" y="37216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01952" y="34290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78992" y="32644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01952" y="29718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78992" y="2807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01952" y="25146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78992" y="23500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901952" y="20574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78992" y="1892807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1" name="Oval 20"/>
          <p:cNvSpPr/>
          <p:nvPr/>
        </p:nvSpPr>
        <p:spPr>
          <a:xfrm>
            <a:off x="5577840" y="3474720"/>
            <a:ext cx="173736" cy="1737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0" y="3799332"/>
            <a:ext cx="173736" cy="173736"/>
          </a:xfrm>
          <a:prstGeom prst="ellipse">
            <a:avLst/>
          </a:prstGeom>
          <a:solidFill>
            <a:srgbClr val="00B0F0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5669280" y="3662172"/>
            <a:ext cx="0" cy="123443"/>
          </a:xfrm>
          <a:prstGeom prst="line">
            <a:avLst/>
          </a:prstGeom>
          <a:ln w="3429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80760" y="3150108"/>
            <a:ext cx="27432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262626"/>
                </a:solidFill>
                <a:latin typeface="Alibaba PuHuiTi 3.0 115 Black"/>
              </a:defRPr>
            </a:pPr>
            <a:r>
              <a:t>原值 3.71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922776"/>
            <a:ext cx="22860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等级 L3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量化：用有限个等级来近似表示样本的振幅。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394960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1800">
                <a:solidFill>
                  <a:srgbClr val="8C64E1"/>
                </a:solidFill>
                <a:latin typeface="Alibaba PuHuiTi 3.0 115 Black"/>
              </a:defRPr>
            </a:pPr>
            <a:r>
              <a:t>规则：[3,4) → L3；区间代表值可取 3.5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同一个声音的10个样本，怎样依次编码？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47088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采样顺序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1635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量化等级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7647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 bit码字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88336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8336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88336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44952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044952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4787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04487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904487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0740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111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6402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76402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26694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694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694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110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23559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623559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2647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7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7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83095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483095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986015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5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86015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342631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342631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84555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4555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4555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000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02168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202168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70508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0508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0508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001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06170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6170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56462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6462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6462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011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921240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921240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042415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415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415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100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0780776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780776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采样决定“什么时候记录”，量化决定“记录哪个等级”，编码决定“用哪些bit表示”。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3.71 为什么写成 011，而不是 100？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采样原值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3.71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3697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63016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7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输入范围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7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[3,4)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1733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51052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量化等级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L3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9769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390888" y="2249424"/>
            <a:ext cx="2432304" cy="1636776"/>
          </a:xfrm>
          <a:prstGeom prst="rect">
            <a:avLst/>
          </a:prstGeom>
          <a:solidFill>
            <a:srgbClr val="F3E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82328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3 bit码字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2328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8C64E1"/>
                </a:solidFill>
                <a:latin typeface="Alibaba PuHuiTi 3.0 115 Black"/>
              </a:defRPr>
            </a:pPr>
            <a:r>
              <a:t>011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663440"/>
            <a:ext cx="10652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400">
                <a:solidFill>
                  <a:srgbClr val="262626"/>
                </a:solidFill>
                <a:latin typeface="Alibaba PuHuiTi 3.0 115 Black"/>
              </a:defRPr>
            </a:pPr>
            <a:r>
              <a:t>规则：按输入范围确定等级，再用固定长度的0和1记录等级编号。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5824728"/>
            <a:ext cx="10332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验证：输入值4.15对应的码字是什么？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一个样本需要几个二进制位？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" y="1682496"/>
            <a:ext cx="6583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1">
                <a:solidFill>
                  <a:srgbClr val="8C64E1"/>
                </a:solidFill>
                <a:latin typeface="Alibaba PuHuiTi 3.0 115 Black"/>
              </a:defRPr>
            </a:pPr>
            <a:r>
              <a:t>8个等级 = 2³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0 → 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2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1 → 001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2 → 010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81159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54311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 → 011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4 → 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647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5 → 101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6 → 110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59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54311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7 → 111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3 bit可以写出8种不同的编码：000～111。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把量化等级分得更细，会发生什么？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2194560"/>
            <a:ext cx="10744200" cy="24323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011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101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232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111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78224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78224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78224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110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7216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216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7216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7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6207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7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010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001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73184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73184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73184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011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52176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52176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52176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100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从左到右按采样时刻排列：10个样本×3 bit = 30 bit码流。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不要混淆：采样率和量化位数。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69264" y="3291840"/>
            <a:ext cx="978408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0704" y="1956816"/>
            <a:ext cx="0" cy="2679191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341071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106424" y="3153678"/>
            <a:ext cx="91440" cy="1107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97864" y="3044364"/>
            <a:ext cx="91440" cy="1093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89304" y="2937861"/>
            <a:ext cx="91440" cy="10650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80744" y="2835531"/>
            <a:ext cx="91440" cy="1023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72184" y="2738680"/>
            <a:ext cx="91440" cy="96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63624" y="2648547"/>
            <a:ext cx="91440" cy="901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55064" y="2566283"/>
            <a:ext cx="91440" cy="8226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46504" y="2492940"/>
            <a:ext cx="91439" cy="733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37943" y="2429453"/>
            <a:ext cx="91441" cy="6348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29384" y="2376635"/>
            <a:ext cx="91440" cy="52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20824" y="2335161"/>
            <a:ext cx="91440" cy="414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112264" y="2305560"/>
            <a:ext cx="91440" cy="2960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203704" y="2288210"/>
            <a:ext cx="91440" cy="17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95144" y="2283334"/>
            <a:ext cx="91440" cy="487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86584" y="2283334"/>
            <a:ext cx="91440" cy="765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8024" y="2290993"/>
            <a:ext cx="91440" cy="200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9464" y="2311090"/>
            <a:ext cx="91440" cy="3227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904" y="2343368"/>
            <a:ext cx="91440" cy="440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2344" y="2387414"/>
            <a:ext cx="91440" cy="552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3784" y="2442666"/>
            <a:ext cx="91440" cy="657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35224" y="2508418"/>
            <a:ext cx="91440" cy="7541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26664" y="2583829"/>
            <a:ext cx="91440" cy="8410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18104" y="2667936"/>
            <a:ext cx="91440" cy="9172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09544" y="2759665"/>
            <a:ext cx="91440" cy="981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00984" y="2857842"/>
            <a:ext cx="91440" cy="10337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92424" y="2961215"/>
            <a:ext cx="91440" cy="10724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83864" y="3068462"/>
            <a:ext cx="91440" cy="1097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75304" y="3178212"/>
            <a:ext cx="91440" cy="1108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66744" y="3289064"/>
            <a:ext cx="91439" cy="1105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58183" y="3399601"/>
            <a:ext cx="91441" cy="1088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49624" y="3508410"/>
            <a:ext cx="91440" cy="1056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41064" y="3614101"/>
            <a:ext cx="91440" cy="10122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32504" y="3715325"/>
            <a:ext cx="91440" cy="9546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23944" y="3810787"/>
            <a:ext cx="91440" cy="8848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15384" y="3899267"/>
            <a:ext cx="91440" cy="803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06824" y="3979636"/>
            <a:ext cx="91440" cy="712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98264" y="4050866"/>
            <a:ext cx="91440" cy="6118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89704" y="4112047"/>
            <a:ext cx="91440" cy="50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81144" y="4162397"/>
            <a:ext cx="91440" cy="388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72584" y="4201274"/>
            <a:ext cx="91440" cy="2690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64024" y="4228180"/>
            <a:ext cx="91440" cy="145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55464" y="4242771"/>
            <a:ext cx="91440" cy="20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46904" y="4234424"/>
            <a:ext cx="91440" cy="1043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38344" y="4211593"/>
            <a:ext cx="91440" cy="228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29784" y="4176659"/>
            <a:ext cx="91440" cy="3493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21224" y="4130069"/>
            <a:ext cx="91440" cy="4659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12664" y="4072417"/>
            <a:ext cx="91439" cy="576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04103" y="4004442"/>
            <a:ext cx="91441" cy="6797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95544" y="3927011"/>
            <a:ext cx="91440" cy="774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586984" y="3841114"/>
            <a:ext cx="91440" cy="858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3747848"/>
            <a:ext cx="91440" cy="932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69864" y="3648404"/>
            <a:ext cx="91440" cy="9944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1304" y="3544054"/>
            <a:ext cx="91440" cy="104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2744" y="3436132"/>
            <a:ext cx="91440" cy="10792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44184" y="3326014"/>
            <a:ext cx="91440" cy="1101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35624" y="3215110"/>
            <a:ext cx="91440" cy="11090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27064" y="3104836"/>
            <a:ext cx="91439" cy="1102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18503" y="2996600"/>
            <a:ext cx="91441" cy="10823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09944" y="2891787"/>
            <a:ext cx="91439" cy="1048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01383" y="2791734"/>
            <a:ext cx="91441" cy="10005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592824" y="2697721"/>
            <a:ext cx="91440" cy="940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684264" y="2610949"/>
            <a:ext cx="91440" cy="867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75704" y="2532526"/>
            <a:ext cx="91440" cy="784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67144" y="2463455"/>
            <a:ext cx="91440" cy="6907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58584" y="2404618"/>
            <a:ext cx="91440" cy="588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50024" y="2356767"/>
            <a:ext cx="91440" cy="47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41464" y="2320513"/>
            <a:ext cx="91440" cy="3625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32904" y="2296319"/>
            <a:ext cx="91440" cy="2419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24344" y="2284496"/>
            <a:ext cx="91439" cy="118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415783" y="2284496"/>
            <a:ext cx="91441" cy="69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507224" y="2285192"/>
            <a:ext cx="91439" cy="132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598663" y="2298401"/>
            <a:ext cx="91441" cy="255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690104" y="2323953"/>
            <a:ext cx="91440" cy="3756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781544" y="2361521"/>
            <a:ext cx="91439" cy="491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872983" y="2410626"/>
            <a:ext cx="91441" cy="600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964424" y="2470640"/>
            <a:ext cx="91439" cy="701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055863" y="2540796"/>
            <a:ext cx="91441" cy="7940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147304" y="2620198"/>
            <a:ext cx="91440" cy="876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238744" y="2707831"/>
            <a:ext cx="91439" cy="9474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330183" y="2802576"/>
            <a:ext cx="91441" cy="1006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421624" y="2903222"/>
            <a:ext cx="91440" cy="10526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513064" y="3008483"/>
            <a:ext cx="91440" cy="1085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604504" y="3117013"/>
            <a:ext cx="91439" cy="11041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695943" y="3227428"/>
            <a:ext cx="91441" cy="11088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787384" y="3338314"/>
            <a:ext cx="91440" cy="1099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878824" y="3448257"/>
            <a:ext cx="91439" cy="10759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970263" y="3555850"/>
            <a:ext cx="91441" cy="10387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061704" y="3659720"/>
            <a:ext cx="91440" cy="98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153144" y="3758538"/>
            <a:ext cx="91440" cy="925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244584" y="3851043"/>
            <a:ext cx="91440" cy="850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336024" y="3936052"/>
            <a:ext cx="91439" cy="7642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427463" y="4012479"/>
            <a:ext cx="91441" cy="668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518904" y="4079348"/>
            <a:ext cx="91440" cy="564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10344" y="4135804"/>
            <a:ext cx="91440" cy="4532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01784" y="4181125"/>
            <a:ext cx="91440" cy="336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793224" y="4214734"/>
            <a:ext cx="91439" cy="214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884663" y="4236200"/>
            <a:ext cx="91441" cy="904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976104" y="4241765"/>
            <a:ext cx="91440" cy="348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067544" y="4225793"/>
            <a:ext cx="91440" cy="159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158984" y="4197538"/>
            <a:ext cx="91440" cy="2825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1045159" y="32031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748543" y="245323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451928" y="223599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155313" y="270573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3858697" y="352879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562082" y="412053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265466" y="406063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968851" y="33916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6672236" y="25887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7375620" y="222227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079005" y="255251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782389" y="334490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9485774" y="403659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>
            <a:off x="4023360" y="4754880"/>
            <a:ext cx="3200400" cy="0"/>
          </a:xfrm>
          <a:prstGeom prst="line">
            <a:avLst/>
          </a:prstGeom>
          <a:ln w="508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3657600" y="5038344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采样率：时间方向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10625328" y="2103120"/>
            <a:ext cx="0" cy="2395728"/>
          </a:xfrm>
          <a:prstGeom prst="line">
            <a:avLst/>
          </a:prstGeom>
          <a:ln w="508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9098280" y="1874519"/>
            <a:ext cx="2103120" cy="1042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量化位数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幅度方向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演示C：3 bit变4 bit，横向的点会变多吗？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91056"/>
            <a:ext cx="5120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采样率：横向有多少次记录？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91072" y="1591056"/>
            <a:ext cx="5303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量化位数：纵向有多少等级？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32688" y="4297680"/>
            <a:ext cx="4553712" cy="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2688" y="2240280"/>
            <a:ext cx="0" cy="219456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69264" y="3145084"/>
            <a:ext cx="52712" cy="5988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21976" y="3085791"/>
            <a:ext cx="52712" cy="5929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74688" y="3027685"/>
            <a:ext cx="52713" cy="581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127401" y="2971343"/>
            <a:ext cx="52712" cy="5634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180113" y="2917325"/>
            <a:ext cx="52713" cy="540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232826" y="2866170"/>
            <a:ext cx="52712" cy="5115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285538" y="2818386"/>
            <a:ext cx="52713" cy="4778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338251" y="2774448"/>
            <a:ext cx="52712" cy="4393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390963" y="2734794"/>
            <a:ext cx="52713" cy="396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443676" y="2699818"/>
            <a:ext cx="52712" cy="349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496388" y="2669869"/>
            <a:ext cx="52713" cy="2994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549101" y="2645244"/>
            <a:ext cx="52712" cy="24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601813" y="2626188"/>
            <a:ext cx="52713" cy="190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654526" y="2612892"/>
            <a:ext cx="52712" cy="132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707238" y="2605487"/>
            <a:ext cx="52713" cy="74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759951" y="2604046"/>
            <a:ext cx="52712" cy="14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12663" y="2604046"/>
            <a:ext cx="52713" cy="453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65376" y="2608585"/>
            <a:ext cx="52712" cy="1047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918088" y="2619058"/>
            <a:ext cx="52712" cy="1630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970800" y="2635361"/>
            <a:ext cx="52713" cy="2197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023513" y="2657332"/>
            <a:ext cx="52712" cy="274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076225" y="2684751"/>
            <a:ext cx="52713" cy="325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128938" y="2717347"/>
            <a:ext cx="52712" cy="3744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181650" y="2754795"/>
            <a:ext cx="52713" cy="419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234363" y="2796722"/>
            <a:ext cx="52712" cy="459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87075" y="2842712"/>
            <a:ext cx="52713" cy="4959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339788" y="2892306"/>
            <a:ext cx="52712" cy="527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392500" y="2945011"/>
            <a:ext cx="52713" cy="552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445213" y="3000302"/>
            <a:ext cx="52712" cy="5732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497925" y="3057630"/>
            <a:ext cx="52713" cy="58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550638" y="3116425"/>
            <a:ext cx="52712" cy="596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603350" y="3176100"/>
            <a:ext cx="52713" cy="599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656063" y="3236062"/>
            <a:ext cx="52712" cy="5965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708775" y="3295715"/>
            <a:ext cx="52713" cy="587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761488" y="3354466"/>
            <a:ext cx="52712" cy="572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814200" y="3411728"/>
            <a:ext cx="52712" cy="552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66912" y="3466934"/>
            <a:ext cx="52713" cy="5259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919625" y="3519533"/>
            <a:ext cx="52712" cy="4946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972337" y="3569002"/>
            <a:ext cx="52713" cy="4584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025050" y="3614849"/>
            <a:ext cx="52712" cy="4176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77762" y="3656617"/>
            <a:ext cx="52713" cy="372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130475" y="3693892"/>
            <a:ext cx="52712" cy="3240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183187" y="3726301"/>
            <a:ext cx="52713" cy="2722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235900" y="3753524"/>
            <a:ext cx="52712" cy="2176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288612" y="3775288"/>
            <a:ext cx="52713" cy="160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341325" y="3791378"/>
            <a:ext cx="52712" cy="102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394037" y="3801632"/>
            <a:ext cx="52713" cy="43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446750" y="3804288"/>
            <a:ext cx="52712" cy="16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499462" y="3796663"/>
            <a:ext cx="52713" cy="7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552175" y="3783150"/>
            <a:ext cx="52712" cy="1351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604887" y="3763885"/>
            <a:ext cx="52713" cy="1926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657600" y="3739058"/>
            <a:ext cx="52712" cy="248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710312" y="3708917"/>
            <a:ext cx="52712" cy="301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763024" y="3673761"/>
            <a:ext cx="52713" cy="351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815737" y="3633942"/>
            <a:ext cx="52712" cy="398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868449" y="3589853"/>
            <a:ext cx="52713" cy="4408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921162" y="3541935"/>
            <a:ext cx="52712" cy="479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973874" y="3490665"/>
            <a:ext cx="52713" cy="5127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6587" y="3436551"/>
            <a:ext cx="52712" cy="5411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079299" y="3380134"/>
            <a:ext cx="52713" cy="564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132012" y="3321973"/>
            <a:ext cx="52712" cy="5816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184724" y="3262648"/>
            <a:ext cx="52713" cy="593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237437" y="3202750"/>
            <a:ext cx="52712" cy="5989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290149" y="3142873"/>
            <a:ext cx="52713" cy="5987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342862" y="3083615"/>
            <a:ext cx="52712" cy="592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395574" y="3025564"/>
            <a:ext cx="52713" cy="580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4448287" y="2969298"/>
            <a:ext cx="52712" cy="5626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4500999" y="2915377"/>
            <a:ext cx="52713" cy="5392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4553712" y="2864337"/>
            <a:ext cx="52712" cy="5104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4606424" y="2816687"/>
            <a:ext cx="52712" cy="4765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4659136" y="2772900"/>
            <a:ext cx="52713" cy="437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4711849" y="2733413"/>
            <a:ext cx="52712" cy="394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4764561" y="2698618"/>
            <a:ext cx="52713" cy="34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4817274" y="2668860"/>
            <a:ext cx="52712" cy="297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4869986" y="2644438"/>
            <a:ext cx="52713" cy="2442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4922699" y="2625592"/>
            <a:ext cx="52712" cy="1884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4975411" y="2612512"/>
            <a:ext cx="52713" cy="1308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028124" y="2605327"/>
            <a:ext cx="52712" cy="718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5080836" y="2604108"/>
            <a:ext cx="52713" cy="12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133549" y="2604108"/>
            <a:ext cx="52712" cy="476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186261" y="2608868"/>
            <a:ext cx="52713" cy="106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238974" y="2619559"/>
            <a:ext cx="52712" cy="1651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291686" y="2636075"/>
            <a:ext cx="52713" cy="221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344399" y="2658251"/>
            <a:ext cx="52712" cy="276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397111" y="2685868"/>
            <a:ext cx="52713" cy="3278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6528816" y="4297680"/>
            <a:ext cx="4553712" cy="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6528816" y="2240280"/>
            <a:ext cx="0" cy="219456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565392" y="3145084"/>
            <a:ext cx="52712" cy="5988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618104" y="3085791"/>
            <a:ext cx="52712" cy="5929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70816" y="3027685"/>
            <a:ext cx="52713" cy="581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723529" y="2971343"/>
            <a:ext cx="52712" cy="5634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776241" y="2917325"/>
            <a:ext cx="52713" cy="540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828954" y="2866170"/>
            <a:ext cx="52712" cy="5115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881666" y="2818386"/>
            <a:ext cx="52713" cy="4778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934379" y="2774448"/>
            <a:ext cx="52712" cy="4393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987091" y="2734794"/>
            <a:ext cx="52713" cy="396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039804" y="2699818"/>
            <a:ext cx="52712" cy="349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092516" y="2669869"/>
            <a:ext cx="52713" cy="2994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145229" y="2645244"/>
            <a:ext cx="52712" cy="24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197941" y="2626188"/>
            <a:ext cx="52713" cy="190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7250654" y="2612892"/>
            <a:ext cx="52712" cy="132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7303366" y="2605487"/>
            <a:ext cx="52713" cy="74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7356079" y="2604046"/>
            <a:ext cx="52712" cy="14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408791" y="2604046"/>
            <a:ext cx="52713" cy="453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461504" y="2608585"/>
            <a:ext cx="52712" cy="1047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514216" y="2619058"/>
            <a:ext cx="52712" cy="1630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566928" y="2635361"/>
            <a:ext cx="52713" cy="2197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619641" y="2657332"/>
            <a:ext cx="52712" cy="274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672353" y="2684751"/>
            <a:ext cx="52713" cy="325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725066" y="2717347"/>
            <a:ext cx="52712" cy="3744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777778" y="2754795"/>
            <a:ext cx="52713" cy="419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830491" y="2796722"/>
            <a:ext cx="52712" cy="459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883203" y="2842712"/>
            <a:ext cx="52713" cy="4959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935916" y="2892306"/>
            <a:ext cx="52712" cy="527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7988628" y="2945011"/>
            <a:ext cx="52713" cy="552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041341" y="3000302"/>
            <a:ext cx="52712" cy="5732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8094053" y="3057630"/>
            <a:ext cx="52713" cy="58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146766" y="3116425"/>
            <a:ext cx="52712" cy="596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199478" y="3176100"/>
            <a:ext cx="52713" cy="599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252191" y="3236062"/>
            <a:ext cx="52712" cy="5965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304903" y="3295715"/>
            <a:ext cx="52713" cy="587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357616" y="3354466"/>
            <a:ext cx="52712" cy="572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410328" y="3411728"/>
            <a:ext cx="52712" cy="552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463040" y="3466934"/>
            <a:ext cx="52713" cy="5259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515753" y="3519533"/>
            <a:ext cx="52712" cy="4946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568465" y="3569002"/>
            <a:ext cx="52713" cy="4584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8621178" y="3614849"/>
            <a:ext cx="52712" cy="4176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8673890" y="3656617"/>
            <a:ext cx="52713" cy="372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8726603" y="3693892"/>
            <a:ext cx="52712" cy="3240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8779315" y="3726301"/>
            <a:ext cx="52713" cy="2722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8832028" y="3753524"/>
            <a:ext cx="52712" cy="2176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8884740" y="3775288"/>
            <a:ext cx="52713" cy="160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8937453" y="3791378"/>
            <a:ext cx="52712" cy="102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8990165" y="3801632"/>
            <a:ext cx="52713" cy="43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042878" y="3804288"/>
            <a:ext cx="52712" cy="16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095590" y="3796663"/>
            <a:ext cx="52713" cy="7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148303" y="3783150"/>
            <a:ext cx="52712" cy="1351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201015" y="3763885"/>
            <a:ext cx="52713" cy="1926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253728" y="3739058"/>
            <a:ext cx="52712" cy="248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306440" y="3708917"/>
            <a:ext cx="52712" cy="301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359152" y="3673761"/>
            <a:ext cx="52713" cy="351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411865" y="3633942"/>
            <a:ext cx="52712" cy="398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464577" y="3589853"/>
            <a:ext cx="52713" cy="4408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517290" y="3541935"/>
            <a:ext cx="52712" cy="479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570002" y="3490665"/>
            <a:ext cx="52713" cy="5127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622715" y="3436551"/>
            <a:ext cx="52712" cy="5411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675427" y="3380134"/>
            <a:ext cx="52713" cy="564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728140" y="3321973"/>
            <a:ext cx="52712" cy="5816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780852" y="3262648"/>
            <a:ext cx="52713" cy="593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9833565" y="3202750"/>
            <a:ext cx="52712" cy="5989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886277" y="3142873"/>
            <a:ext cx="52713" cy="5987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9938990" y="3083615"/>
            <a:ext cx="52712" cy="592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9991702" y="3025564"/>
            <a:ext cx="52713" cy="580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10044415" y="2969298"/>
            <a:ext cx="52712" cy="5626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10097127" y="2915377"/>
            <a:ext cx="52713" cy="5392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10149840" y="2864337"/>
            <a:ext cx="52712" cy="5104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10202552" y="2816687"/>
            <a:ext cx="52712" cy="4765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10255264" y="2772900"/>
            <a:ext cx="52713" cy="437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10307977" y="2733413"/>
            <a:ext cx="52712" cy="394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10360689" y="2698618"/>
            <a:ext cx="52713" cy="34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10413402" y="2668860"/>
            <a:ext cx="52712" cy="297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10466114" y="2644438"/>
            <a:ext cx="52713" cy="2442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10518827" y="2625592"/>
            <a:ext cx="52712" cy="1884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10571539" y="2612512"/>
            <a:ext cx="52713" cy="1308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10624252" y="2605327"/>
            <a:ext cx="52712" cy="718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10676964" y="2604108"/>
            <a:ext cx="52713" cy="12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729677" y="2604108"/>
            <a:ext cx="52712" cy="476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782389" y="2608868"/>
            <a:ext cx="52713" cy="106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0835102" y="2619559"/>
            <a:ext cx="52712" cy="1651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0887814" y="2636075"/>
            <a:ext cx="52713" cy="221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0940527" y="2658251"/>
            <a:ext cx="52712" cy="276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0993239" y="2685868"/>
            <a:ext cx="52713" cy="3278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Oval 180"/>
          <p:cNvSpPr/>
          <p:nvPr/>
        </p:nvSpPr>
        <p:spPr>
          <a:xfrm>
            <a:off x="905256" y="3140964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353312" y="2690052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801368" y="2544577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2249424" y="2803080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2697480" y="3290458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3145536" y="3676571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3593592" y="3699877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4041648" y="3344588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4489704" y="2851369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4937760" y="2554314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5385816" y="2654642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2" name="Connector 191"/>
          <p:cNvCxnSpPr/>
          <p:nvPr/>
        </p:nvCxnSpPr>
        <p:spPr>
          <a:xfrm>
            <a:off x="6537960" y="2331720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6537960" y="2578608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6537960" y="2825496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6537960" y="3072384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6537960" y="3319272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6537960" y="3566160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6537960" y="3813048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6537960" y="4059935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TextBox 199"/>
          <p:cNvSpPr txBox="1"/>
          <p:nvPr/>
        </p:nvSpPr>
        <p:spPr>
          <a:xfrm>
            <a:off x="868680" y="4864608"/>
            <a:ext cx="4983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时间位置变密：样本个数变化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6428232" y="4864608"/>
            <a:ext cx="48280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代表值变密：每点存储位数变化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重要区别：位数变大，不等于同一时间里采样次数变多。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采样更多、等级更密，就一定听得更好吗？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20624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采样率 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90088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每秒样本更多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194560"/>
            <a:ext cx="4297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99008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每样本可选等级更多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5230368"/>
            <a:ext cx="99669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通常能提高记录的精细程度，但音质不会无限提高。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3 bit是教学模型，真实录音常见16 bit。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05256" y="2066543"/>
            <a:ext cx="470916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185415"/>
            <a:ext cx="4562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课堂模型：3 bit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28816" y="2066543"/>
            <a:ext cx="4626864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2185415"/>
            <a:ext cx="448055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PCM例子：16 bit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904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19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751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665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1111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255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9574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8718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037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7181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5008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342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189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03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0353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497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1111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0255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9574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8718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037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7181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65008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56448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49640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41080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3427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2571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1890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1034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0353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9497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位数越多，一份未压缩样本数据所占的空间也越大。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PCM样本和WAV文件，是一回事吗？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828800"/>
            <a:ext cx="10698480" cy="32186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43584" y="2779776"/>
            <a:ext cx="2779776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WAV文件头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355848"/>
            <a:ext cx="2880360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262626"/>
                </a:solidFill>
                <a:latin typeface="Alibaba PuHuiTi 3.0 55 Regular"/>
              </a:defRPr>
            </a:pPr>
            <a:r>
              <a:t>采样率、位数、声道等描述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843784"/>
            <a:ext cx="615391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PCM：按时间顺序保存的数字样本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WAV是容器；PCM表示音频样本。编码 ≠ 压缩。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播放时：数字样本怎样重新变成声音？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2258568"/>
            <a:ext cx="240487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数字样本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8211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30168" y="2258568"/>
            <a:ext cx="240487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DAC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0819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556248" y="2258568"/>
            <a:ext cx="240487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连续电信号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3427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482328" y="2258568"/>
            <a:ext cx="240487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扬声器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4632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录音是模拟 → 数字；播放是数字 → 模拟。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声音数据量为什么与四个参数有关？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采样率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每秒几个样本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4224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64224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每样本多少bit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声道数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同一时刻几路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持续多少秒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先数样本，再数bit，最后换算成Byte。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2 样本/秒 × 4 秒 × 1 声道 = 8 个样本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8" name="Rectangle 7"/>
          <p:cNvSpPr/>
          <p:nvPr/>
        </p:nvSpPr>
        <p:spPr>
          <a:xfrm>
            <a:off x="2231136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000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3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1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9744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28616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9048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8835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0722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7655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9652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5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85832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" y="4389120"/>
            <a:ext cx="1069848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8 个样本 × 3 bit = 24 bit = 3 Byte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不同声道要各自记录样本；声道数翻倍，未压缩样本数据量也翻倍。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未压缩PCM数据量公式，从哪里来？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91056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数据量（Byte） = 采样率 × 时长 × 声道数 × 位数 ÷ 8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采样率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每秒几个样本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9856" y="3072384"/>
            <a:ext cx="27432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67328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9624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采多少秒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3072384"/>
            <a:ext cx="27432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65976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4848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声道数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同时记录几路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7152" y="3072384"/>
            <a:ext cx="27432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64624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83496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量化位数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19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每个样本多少bit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2688" y="4599432"/>
            <a:ext cx="10076688" cy="0"/>
          </a:xfrm>
          <a:prstGeom prst="line">
            <a:avLst/>
          </a:prstGeom>
          <a:ln w="1905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59536" y="4919472"/>
            <a:ext cx="106527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262626"/>
                </a:solidFill>
                <a:latin typeface="Alibaba PuHuiTi 3.0 115 Black"/>
              </a:defRPr>
            </a:pPr>
            <a:r>
              <a:t>前3项相乘 → 样本总数；再乘bit/样本 → bit；最后÷8 → Byte。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单位检验：Hz×s×声道×bit÷8，最终为什么得到Byte？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先标出每个数字的含义。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答案：160,000 Byte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16,000 × 8 × 2 × 5 ÷ 8 = 160,000 Byte。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本节课你能解释三件事吗？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83080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① 声音怎么进入电脑？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50008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麦克风 → ADC → 数字数据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081528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② 采样和量化有什么不同？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48456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前者定时刻，后者定代表值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379976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③ PCM为什么有大小差别？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946904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样本数 × 每样本bit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993392"/>
            <a:ext cx="10881360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5000" b="1">
                <a:solidFill>
                  <a:srgbClr val="262626"/>
                </a:solidFill>
                <a:latin typeface="Alibaba PuHuiTi 3.0 115 Black"/>
              </a:defRPr>
            </a:pPr>
            <a:r>
              <a:t>为什么文件还需要压缩？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3730752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0">
                <a:solidFill>
                  <a:srgbClr val="808080"/>
                </a:solidFill>
                <a:latin typeface="Alibaba PuHuiTi 3.0 55 Regular"/>
              </a:defRPr>
            </a:pPr>
            <a:r>
              <a:t>第二课时｜音频、视频编码与数据压缩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先回忆：这四个数字，分别是什么意思？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48,000 Hz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每秒取样次数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16 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5664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每样本的位数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左右两个声道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60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音频持续时间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提醒：1 MB（按1024²换算）在严格单位写法中应称MiB。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先列式，再做单位换算。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答案：约10.99 MiB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48,000×16×2×60÷8=11,520,000 B；÷1024²≈10.99 MiB。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先投票：翻倍 / 不变 / 说不清。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两个看似有道理的答案，你支持哪一个？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观点 A：不变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观点 B：翻倍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采样率没变，位数没变，时长没变，输出的声道数也没变。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录音里多了一份音乐，是不是就需要多一份音频数据？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争论的关键：编辑时的“音轨”，是不是导出时的“声道”？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音轨是编辑时的层，声道是输出时的通道。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993392"/>
            <a:ext cx="10671048" cy="35935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1554480"/>
            <a:ext cx="4846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编辑工程：两条音轨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混合后输出：左、右声道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两条“编辑层”可以混合为左右两路输出；决定PCM大小的是最终声道数。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答案：未压缩样本数据量不变。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内容变了，但采样率、位数、声道数、时长均未变。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迁移：把双声道改成单声道，会怎样？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185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双声道：2路数据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01384" y="2185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单声道：1路数据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5568" y="3145536"/>
            <a:ext cx="3694176" cy="41148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5568" y="3721608"/>
            <a:ext cx="3694176" cy="41148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9984" y="3438144"/>
            <a:ext cx="3694176" cy="41148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未压缩PCM：声道数变成一半，样本数据量也变成一半。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图像采样与声音采样，哪里相同？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这两种编码都有“选择样本”和“用有限数字表达样本”的过程。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1600200"/>
            <a:ext cx="21305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6251B1"/>
                </a:solidFill>
                <a:latin typeface="Alibaba PuHuiTi 3.0 115 Black"/>
              </a:defRPr>
            </a:pPr>
            <a:r>
              <a:t>比较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1600200"/>
            <a:ext cx="382219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6251B1"/>
                </a:solidFill>
                <a:latin typeface="Alibaba PuHuiTi 3.0 115 Black"/>
              </a:defRPr>
            </a:pPr>
            <a:r>
              <a:t>图像：空间采样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9208" y="1600200"/>
            <a:ext cx="396849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声音：时间采样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8096" y="232257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2478024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① 取样位置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36392" y="2478024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二维：行×列的像素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88352" y="2478024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一维：时间点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8096" y="341985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3575304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② 记录什么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36392" y="3575304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像素颜色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8352" y="3575304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信号幅度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68096" y="451713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7240" y="4672583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③ 数据量怎么算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36392" y="4672583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像素数 × 每像素位数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8352" y="4672583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样本数 × 每样本位数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一张张图片连续变化，就能让我们看到运动。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09344"/>
            <a:ext cx="10570464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同一个球，在5个连续时刻的位置变化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6868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841248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第1帧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689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10896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392423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第2帧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3717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34924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943600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第3帧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7745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6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758952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8494776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第4帧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982980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1045952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第5帧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5166360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位置逐帧变化（背景和球的大小不变）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25 fps = 每秒显示25帧；“帧”不是声道，也不是采样位数。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10分钟、每秒25帧，要保存多少张画面？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048256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262626"/>
                </a:solidFill>
                <a:latin typeface="Alibaba PuHuiTi 3.0 115 Black"/>
              </a:defRPr>
            </a:pPr>
            <a:r>
              <a:t>25帧/秒 × 60秒/分钟 × 10分钟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264408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4200" b="1">
                <a:solidFill>
                  <a:srgbClr val="8C64E1"/>
                </a:solidFill>
                <a:latin typeface="Alibaba PuHuiTi 3.0 115 Black"/>
              </a:defRPr>
            </a:pPr>
            <a:r>
              <a:t>= 15,000 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1032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无压缩视频 = 单帧图像数据量 × 总帧数。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先算每帧，再算总帧数。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答案：约6.44 GiB。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480×320×24÷8×25×600 = 6,912,000,000 B；÷1024³≈6.44 GiB。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可是我们看的10分钟视频，为什么远没有6.44 GiB？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40280"/>
            <a:ext cx="10497312" cy="30266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" y="1581912"/>
            <a:ext cx="77724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逐帧未压缩：题设计算约 6.44 GiB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1591056"/>
            <a:ext cx="2834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日常视频可能更小？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想一想：未压缩的计算没有错，为什么日常视频可能远小于这个大小？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因为我们算的是“逐帧未压缩数据量”。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" y="2267712"/>
            <a:ext cx="4590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86584"/>
            <a:ext cx="444398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rPr sz="2500" b="1">
                <a:solidFill>
                  <a:srgbClr val="6251B1"/>
                </a:solidFill>
                <a:latin typeface="Alibaba PuHuiTi 3.0 115 Black"/>
              </a:rPr>
              <a:t>未压缩图像帧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13832" y="2606040"/>
            <a:ext cx="98755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74536" y="2267712"/>
            <a:ext cx="466344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7688" y="2386584"/>
            <a:ext cx="451713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rPr sz="2500" b="1">
                <a:solidFill>
                  <a:srgbClr val="6251B1"/>
                </a:solidFill>
                <a:latin typeface="Alibaba PuHuiTi 3.0 115 Black"/>
              </a:rPr>
              <a:t>重新编码后的视频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712463"/>
            <a:ext cx="459943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每一帧都要保存完整的原始像素数据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3712463"/>
            <a:ext cx="4681728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利用帧间相似和更有效的编码，数据可能显著减小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数据量计算仍正确，它描述的是题设中的“未压缩”情况。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为什么要压缩？先想两种真实需求。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节省存储空间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方便网络传输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同样容量的手机或硬盘，可以保存更多数据。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需要传输的数据更少，通常能更快下载或播放。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压缩的两个目的：节省空间、提高传输效率。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“中国”重复100次，有没有更简短的写法？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975104"/>
            <a:ext cx="1078992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262626"/>
                </a:solidFill>
                <a:latin typeface="Alibaba PuHuiTi 3.0 115 Black"/>
              </a:defRPr>
            </a:pPr>
            <a:r>
              <a:t>中国中国中国中国中国中国……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91840" y="3685032"/>
            <a:ext cx="3154680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03136" y="3310128"/>
            <a:ext cx="429768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300" b="1">
                <a:solidFill>
                  <a:srgbClr val="8C64E1"/>
                </a:solidFill>
                <a:latin typeface="Alibaba PuHuiTi 3.0 115 Black"/>
              </a:defRPr>
            </a:pPr>
            <a:r>
              <a:t>“中国” ×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在不改变内容的前提下，用规则和次数来表示重复部分。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为什么重复内容更容易压缩？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高度重复的内容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变化复杂的内容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AAAAAAAAAA…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容易用简短规则表示。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AX3Q9P8F2…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难以找到同样简短的规则。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冗余越多，使用合适的算法时，通常越容易压缩。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预测：两份都是1000 Byte，压缩后谁更小？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002536"/>
            <a:ext cx="488289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文件A：1000个“A”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9088" y="2002536"/>
            <a:ext cx="482803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文件B：1000个随机字节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337560"/>
            <a:ext cx="105156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原始大小相同，都等于1000 Byte。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6577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请预测：压缩后 A、B 谁更小？能够完整恢复吗？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演示D：同样1000 Byte，压缩后真的不同吗？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600">
                <a:solidFill>
                  <a:srgbClr val="262626"/>
                </a:solidFill>
                <a:latin typeface="Alibaba PuHuiTi 3.0 115 Black"/>
              </a:defRPr>
            </a:pPr>
            <a:r>
              <a:t>同样是 1000 Byte：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87752"/>
            <a:ext cx="5102352" cy="1261872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" y="2798064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300">
                <a:solidFill>
                  <a:srgbClr val="8C64E1"/>
                </a:solidFill>
                <a:latin typeface="Alibaba PuHuiTi 3.0 115 Black"/>
              </a:defRPr>
            </a:pPr>
            <a:r>
              <a:t>文件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40864" y="2798064"/>
            <a:ext cx="32735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1900">
                <a:solidFill>
                  <a:srgbClr val="262626"/>
                </a:solidFill>
                <a:latin typeface="Alibaba PuHuiTi 3.0 55 Regular"/>
              </a:defRPr>
            </a:pPr>
            <a:r>
              <a:t>1000个重复的字节“A”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2587752"/>
            <a:ext cx="5102352" cy="1261872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21424" y="2798064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300">
                <a:solidFill>
                  <a:srgbClr val="00B0F0"/>
                </a:solidFill>
                <a:latin typeface="Alibaba PuHuiTi 3.0 115 Black"/>
              </a:defRPr>
            </a:pPr>
            <a:r>
              <a:t>文件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47304" y="2798064"/>
            <a:ext cx="32735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1900">
                <a:solidFill>
                  <a:srgbClr val="262626"/>
                </a:solidFill>
                <a:latin typeface="Alibaba PuHuiTi 3.0 55 Regular"/>
              </a:defRPr>
            </a:pPr>
            <a:r>
              <a:t>1000个随机变化的字节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315968"/>
            <a:ext cx="10625328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400">
                <a:solidFill>
                  <a:srgbClr val="8C64E1"/>
                </a:solidFill>
                <a:latin typeface="Alibaba PuHuiTi 3.0 115 Black"/>
              </a:defRPr>
            </a:pPr>
            <a:r>
              <a:t>① 先预测 → ② 运行Notebook的zlib压缩 → ③ 比较结果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59552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2100">
                <a:solidFill>
                  <a:srgbClr val="262626"/>
                </a:solidFill>
                <a:latin typeface="Alibaba PuHuiTi 3.0 55 Regular"/>
              </a:defRPr>
            </a:pPr>
            <a:r>
              <a:t>可追问：压缩后的文件有没有可能比原来更大？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实验验证：为什么同样大小的文件效果不同？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A：重复的内容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B：复杂的内容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压缩后：17 Byte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压缩后：1011 Byte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两者解压后都能一字节不差地还原：这就是无损压缩。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压缩到底改变了什么？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837943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1">
                <a:solidFill>
                  <a:srgbClr val="262626"/>
                </a:solidFill>
                <a:latin typeface="Alibaba PuHuiTi 3.0 115 Black"/>
              </a:defRPr>
            </a:pPr>
            <a:r>
              <a:t>数据本身在计算机中仍是0和1。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999232"/>
            <a:ext cx="10698480" cy="1216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压缩：用更少的比特，重新表示相同或近似相同的内容。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方法有很多，今天重点研究能不能完整还原。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两种压缩：怎样区分“无损”和“有损”？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无损压缩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有损压缩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还原以后，与原始数据完全一致。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适合：文档、程序、精确备份。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还原以后，无法与原始数据完全一致。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适合：可接受部分失真的音视频。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判断标准：解码/解压后，能否完整得到原始数据？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ZIP、MP3、WAV、MP4，它们属于同一类吗？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rPr sz="3000" b="1">
                <a:solidFill>
                  <a:srgbClr val="6251B1"/>
                </a:solidFill>
                <a:latin typeface="Alibaba PuHuiTi 3.0 115 Black"/>
              </a:rPr>
              <a:t>ZIP / RAR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通常为无损归档格式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rPr sz="3000" b="1">
                <a:solidFill>
                  <a:srgbClr val="00B0F0"/>
                </a:solidFill>
                <a:latin typeface="Alibaba PuHuiTi 3.0 115 Black"/>
              </a:rPr>
              <a:t>MP3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常见有损音频编码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rPr sz="3000" b="1">
                <a:solidFill>
                  <a:srgbClr val="6251B1"/>
                </a:solidFill>
                <a:latin typeface="Alibaba PuHuiTi 3.0 115 Black"/>
              </a:rPr>
              <a:t>WAV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容器；常见未压缩PCM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rPr sz="3000" b="1">
                <a:solidFill>
                  <a:srgbClr val="00B0F0"/>
                </a:solidFill>
                <a:latin typeface="Alibaba PuHuiTi 3.0 115 Black"/>
              </a:rPr>
              <a:t>MP4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容器；常装有损视频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格式名和压缩方法不总是一回事。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三幅相同大小的图，谁通常最容易无损压缩？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581912"/>
            <a:ext cx="106984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262626"/>
                </a:solidFill>
                <a:latin typeface="Alibaba PuHuiTi 3.0 115 Black"/>
              </a:defRPr>
            </a:pPr>
            <a:r>
              <a:t>三幅图具有相同的宽、高与位深。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2176272"/>
            <a:ext cx="3310128" cy="2688336"/>
          </a:xfrm>
          <a:prstGeom prst="rect">
            <a:avLst/>
          </a:prstGeom>
          <a:solidFill>
            <a:srgbClr val="539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4983480"/>
            <a:ext cx="331012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A：纯色</a:t>
            </a:r>
          </a:p>
        </p:txBody>
      </p:sp>
      <p:sp>
        <p:nvSpPr>
          <p:cNvPr id="8" name="Rectangle 7"/>
          <p:cNvSpPr/>
          <p:nvPr/>
        </p:nvSpPr>
        <p:spPr>
          <a:xfrm>
            <a:off x="4498848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98848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98848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98848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8848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98848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12614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2614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12614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12614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12614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12614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26380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26380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26380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26380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26380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26380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40146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740146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40146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40146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740146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40146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53912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53912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53912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53912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53912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53912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67678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67678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67678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67678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67678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67678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981444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981444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81444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981444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981444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981444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395210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95210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95210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95210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95210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395210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98848" y="4983480"/>
            <a:ext cx="331012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B：规律色块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11311" y="2176272"/>
            <a:ext cx="145237" cy="156667"/>
          </a:xfrm>
          <a:prstGeom prst="rect">
            <a:avLst/>
          </a:prstGeom>
          <a:solidFill>
            <a:srgbClr val="2F4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211311" y="2325623"/>
            <a:ext cx="145237" cy="156667"/>
          </a:xfrm>
          <a:prstGeom prst="rect">
            <a:avLst/>
          </a:prstGeom>
          <a:solidFill>
            <a:srgbClr val="82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211311" y="2474976"/>
            <a:ext cx="145237" cy="156667"/>
          </a:xfrm>
          <a:prstGeom prst="rect">
            <a:avLst/>
          </a:prstGeom>
          <a:solidFill>
            <a:srgbClr val="815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211311" y="2624328"/>
            <a:ext cx="145237" cy="156667"/>
          </a:xfrm>
          <a:prstGeom prst="rect">
            <a:avLst/>
          </a:prstGeom>
          <a:solidFill>
            <a:srgbClr val="80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211311" y="2773680"/>
            <a:ext cx="145237" cy="156667"/>
          </a:xfrm>
          <a:prstGeom prst="rect">
            <a:avLst/>
          </a:prstGeom>
          <a:solidFill>
            <a:srgbClr val="7E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211311" y="2923031"/>
            <a:ext cx="145237" cy="156667"/>
          </a:xfrm>
          <a:prstGeom prst="rect">
            <a:avLst/>
          </a:prstGeom>
          <a:solidFill>
            <a:srgbClr val="7DC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211311" y="3072384"/>
            <a:ext cx="145237" cy="156667"/>
          </a:xfrm>
          <a:prstGeom prst="rect">
            <a:avLst/>
          </a:prstGeom>
          <a:solidFill>
            <a:srgbClr val="7CB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211311" y="322173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211311" y="3371088"/>
            <a:ext cx="145237" cy="156667"/>
          </a:xfrm>
          <a:prstGeom prst="rect">
            <a:avLst/>
          </a:prstGeom>
          <a:solidFill>
            <a:srgbClr val="799C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211311" y="3520439"/>
            <a:ext cx="145237" cy="156667"/>
          </a:xfrm>
          <a:prstGeom prst="rect">
            <a:avLst/>
          </a:prstGeom>
          <a:solidFill>
            <a:srgbClr val="789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211311" y="3669792"/>
            <a:ext cx="145237" cy="156667"/>
          </a:xfrm>
          <a:prstGeom prst="rect">
            <a:avLst/>
          </a:prstGeom>
          <a:solidFill>
            <a:srgbClr val="768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211311" y="3819143"/>
            <a:ext cx="145237" cy="156667"/>
          </a:xfrm>
          <a:prstGeom prst="rect">
            <a:avLst/>
          </a:prstGeom>
          <a:solidFill>
            <a:srgbClr val="757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211311" y="3968496"/>
            <a:ext cx="145237" cy="156667"/>
          </a:xfrm>
          <a:prstGeom prst="rect">
            <a:avLst/>
          </a:prstGeom>
          <a:solidFill>
            <a:srgbClr val="7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211311" y="4117847"/>
            <a:ext cx="145237" cy="156667"/>
          </a:xfrm>
          <a:prstGeom prst="rect">
            <a:avLst/>
          </a:prstGeom>
          <a:solidFill>
            <a:srgbClr val="7260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211311" y="4267199"/>
            <a:ext cx="145237" cy="156667"/>
          </a:xfrm>
          <a:prstGeom prst="rect">
            <a:avLst/>
          </a:prstGeom>
          <a:solidFill>
            <a:srgbClr val="715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211311" y="4416552"/>
            <a:ext cx="145237" cy="156667"/>
          </a:xfrm>
          <a:prstGeom prst="rect">
            <a:avLst/>
          </a:prstGeom>
          <a:solidFill>
            <a:srgbClr val="704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211311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211311" y="4715256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349233" y="2176272"/>
            <a:ext cx="145237" cy="156667"/>
          </a:xfrm>
          <a:prstGeom prst="rect">
            <a:avLst/>
          </a:prstGeom>
          <a:solidFill>
            <a:srgbClr val="5AA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349233" y="2325623"/>
            <a:ext cx="145237" cy="156667"/>
          </a:xfrm>
          <a:prstGeom prst="rect">
            <a:avLst/>
          </a:prstGeom>
          <a:solidFill>
            <a:srgbClr val="799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349233" y="2474976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349233" y="2624328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49233" y="2773680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349233" y="2923031"/>
            <a:ext cx="145237" cy="156667"/>
          </a:xfrm>
          <a:prstGeom prst="rect">
            <a:avLst/>
          </a:prstGeom>
          <a:solidFill>
            <a:srgbClr val="4BB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349233" y="3072384"/>
            <a:ext cx="145237" cy="156667"/>
          </a:xfrm>
          <a:prstGeom prst="rect">
            <a:avLst/>
          </a:prstGeom>
          <a:solidFill>
            <a:srgbClr val="6AA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349233" y="322173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349233" y="3371088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349233" y="3520439"/>
            <a:ext cx="145237" cy="156667"/>
          </a:xfrm>
          <a:prstGeom prst="rect">
            <a:avLst/>
          </a:prstGeom>
          <a:solidFill>
            <a:srgbClr val="7260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349233" y="3669792"/>
            <a:ext cx="145237" cy="156667"/>
          </a:xfrm>
          <a:prstGeom prst="rect">
            <a:avLst/>
          </a:prstGeom>
          <a:solidFill>
            <a:srgbClr val="3CB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349233" y="3819143"/>
            <a:ext cx="145237" cy="156667"/>
          </a:xfrm>
          <a:prstGeom prst="rect">
            <a:avLst/>
          </a:prstGeom>
          <a:solidFill>
            <a:srgbClr val="5BB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349233" y="396849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349233" y="4117847"/>
            <a:ext cx="145237" cy="156667"/>
          </a:xfrm>
          <a:prstGeom prst="rect">
            <a:avLst/>
          </a:prstGeom>
          <a:solidFill>
            <a:srgbClr val="447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349233" y="4267199"/>
            <a:ext cx="145237" cy="156667"/>
          </a:xfrm>
          <a:prstGeom prst="rect">
            <a:avLst/>
          </a:prstGeom>
          <a:solidFill>
            <a:srgbClr val="63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349233" y="4416552"/>
            <a:ext cx="145237" cy="156667"/>
          </a:xfrm>
          <a:prstGeom prst="rect">
            <a:avLst/>
          </a:prstGeom>
          <a:solidFill>
            <a:srgbClr val="82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349233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49233" y="4715256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487155" y="2176272"/>
            <a:ext cx="145237" cy="156667"/>
          </a:xfrm>
          <a:prstGeom prst="rect">
            <a:avLst/>
          </a:prstGeom>
          <a:solidFill>
            <a:srgbClr val="315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87155" y="2325623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87155" y="2474976"/>
            <a:ext cx="145237" cy="156667"/>
          </a:xfrm>
          <a:prstGeom prst="rect">
            <a:avLst/>
          </a:prstGeom>
          <a:solidFill>
            <a:srgbClr val="5BA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87155" y="2624328"/>
            <a:ext cx="145237" cy="156667"/>
          </a:xfrm>
          <a:prstGeom prst="rect">
            <a:avLst/>
          </a:prstGeom>
          <a:solidFill>
            <a:srgbClr val="457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87155" y="2773680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487155" y="2923031"/>
            <a:ext cx="145237" cy="156667"/>
          </a:xfrm>
          <a:prstGeom prst="rect">
            <a:avLst/>
          </a:prstGeom>
          <a:solidFill>
            <a:srgbClr val="6FD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87155" y="3072384"/>
            <a:ext cx="145237" cy="156667"/>
          </a:xfrm>
          <a:prstGeom prst="rect">
            <a:avLst/>
          </a:prstGeom>
          <a:solidFill>
            <a:srgbClr val="599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487155" y="3221736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487155" y="3371088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487155" y="3520439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487155" y="3669792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487155" y="3819143"/>
            <a:ext cx="145237" cy="156667"/>
          </a:xfrm>
          <a:prstGeom prst="rect">
            <a:avLst/>
          </a:prstGeom>
          <a:solidFill>
            <a:srgbClr val="425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487155" y="3968496"/>
            <a:ext cx="145237" cy="156667"/>
          </a:xfrm>
          <a:prstGeom prst="rect">
            <a:avLst/>
          </a:prstGeom>
          <a:solidFill>
            <a:srgbClr val="815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487155" y="4117847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487155" y="4267199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487155" y="4416552"/>
            <a:ext cx="145237" cy="156667"/>
          </a:xfrm>
          <a:prstGeom prst="rect">
            <a:avLst/>
          </a:prstGeom>
          <a:solidFill>
            <a:srgbClr val="404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487155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487155" y="4715256"/>
            <a:ext cx="145237" cy="156667"/>
          </a:xfrm>
          <a:prstGeom prst="rect">
            <a:avLst/>
          </a:prstGeom>
          <a:solidFill>
            <a:srgbClr val="6A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625078" y="2176272"/>
            <a:ext cx="145237" cy="156667"/>
          </a:xfrm>
          <a:prstGeom prst="rect">
            <a:avLst/>
          </a:prstGeom>
          <a:solidFill>
            <a:srgbClr val="5D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8625078" y="2325623"/>
            <a:ext cx="145237" cy="156667"/>
          </a:xfrm>
          <a:prstGeom prst="rect">
            <a:avLst/>
          </a:prstGeom>
          <a:solidFill>
            <a:srgbClr val="67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8625078" y="2474976"/>
            <a:ext cx="145237" cy="156667"/>
          </a:xfrm>
          <a:prstGeom prst="rect">
            <a:avLst/>
          </a:prstGeom>
          <a:solidFill>
            <a:srgbClr val="725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625078" y="2624328"/>
            <a:ext cx="145237" cy="156667"/>
          </a:xfrm>
          <a:prstGeom prst="rect">
            <a:avLst/>
          </a:prstGeom>
          <a:solidFill>
            <a:srgbClr val="7D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625078" y="2773680"/>
            <a:ext cx="145237" cy="156667"/>
          </a:xfrm>
          <a:prstGeom prst="rect">
            <a:avLst/>
          </a:prstGeom>
          <a:solidFill>
            <a:srgbClr val="32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25078" y="2923031"/>
            <a:ext cx="145237" cy="156667"/>
          </a:xfrm>
          <a:prstGeom prst="rect">
            <a:avLst/>
          </a:prstGeom>
          <a:solidFill>
            <a:srgbClr val="3DC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625078" y="3072384"/>
            <a:ext cx="145237" cy="156667"/>
          </a:xfrm>
          <a:prstGeom prst="rect">
            <a:avLst/>
          </a:prstGeom>
          <a:solidFill>
            <a:srgbClr val="489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625078" y="3221736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625078" y="3371088"/>
            <a:ext cx="145237" cy="156667"/>
          </a:xfrm>
          <a:prstGeom prst="rect">
            <a:avLst/>
          </a:prstGeom>
          <a:solidFill>
            <a:srgbClr val="5D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8625078" y="3520439"/>
            <a:ext cx="145237" cy="156667"/>
          </a:xfrm>
          <a:prstGeom prst="rect">
            <a:avLst/>
          </a:prstGeom>
          <a:solidFill>
            <a:srgbClr val="689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625078" y="3669792"/>
            <a:ext cx="145237" cy="156667"/>
          </a:xfrm>
          <a:prstGeom prst="rect">
            <a:avLst/>
          </a:prstGeom>
          <a:solidFill>
            <a:srgbClr val="7260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625078" y="3819143"/>
            <a:ext cx="145237" cy="156667"/>
          </a:xfrm>
          <a:prstGeom prst="rect">
            <a:avLst/>
          </a:prstGeom>
          <a:solidFill>
            <a:srgbClr val="7DC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625078" y="3968496"/>
            <a:ext cx="145237" cy="156667"/>
          </a:xfrm>
          <a:prstGeom prst="rect">
            <a:avLst/>
          </a:prstGeom>
          <a:solidFill>
            <a:srgbClr val="33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8625078" y="4117847"/>
            <a:ext cx="145237" cy="156667"/>
          </a:xfrm>
          <a:prstGeom prst="rect">
            <a:avLst/>
          </a:prstGeom>
          <a:solidFill>
            <a:srgbClr val="3DC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8625078" y="4267199"/>
            <a:ext cx="145237" cy="156667"/>
          </a:xfrm>
          <a:prstGeom prst="rect">
            <a:avLst/>
          </a:prstGeom>
          <a:solidFill>
            <a:srgbClr val="48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8625078" y="4416552"/>
            <a:ext cx="145237" cy="156667"/>
          </a:xfrm>
          <a:prstGeom prst="rect">
            <a:avLst/>
          </a:prstGeom>
          <a:solidFill>
            <a:srgbClr val="536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8625078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8625078" y="4715256"/>
            <a:ext cx="145237" cy="156667"/>
          </a:xfrm>
          <a:prstGeom prst="rect">
            <a:avLst/>
          </a:prstGeom>
          <a:solidFill>
            <a:srgbClr val="689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8762999" y="2176272"/>
            <a:ext cx="145237" cy="156667"/>
          </a:xfrm>
          <a:prstGeom prst="rect">
            <a:avLst/>
          </a:prstGeom>
          <a:solidFill>
            <a:srgbClr val="336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8762999" y="2325623"/>
            <a:ext cx="145237" cy="156667"/>
          </a:xfrm>
          <a:prstGeom prst="rect">
            <a:avLst/>
          </a:prstGeom>
          <a:solidFill>
            <a:srgbClr val="5EC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8762999" y="247497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8762999" y="2624328"/>
            <a:ext cx="145237" cy="156667"/>
          </a:xfrm>
          <a:prstGeom prst="rect">
            <a:avLst/>
          </a:prstGeom>
          <a:solidFill>
            <a:srgbClr val="5F4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8762999" y="2773680"/>
            <a:ext cx="145237" cy="156667"/>
          </a:xfrm>
          <a:prstGeom prst="rect">
            <a:avLst/>
          </a:prstGeom>
          <a:solidFill>
            <a:srgbClr val="357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8762999" y="2923031"/>
            <a:ext cx="145237" cy="156667"/>
          </a:xfrm>
          <a:prstGeom prst="rect">
            <a:avLst/>
          </a:prstGeom>
          <a:solidFill>
            <a:srgbClr val="604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8762999" y="3072384"/>
            <a:ext cx="145237" cy="156667"/>
          </a:xfrm>
          <a:prstGeom prst="rect">
            <a:avLst/>
          </a:prstGeom>
          <a:solidFill>
            <a:srgbClr val="368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8762999" y="322173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8762999" y="3371088"/>
            <a:ext cx="145237" cy="156667"/>
          </a:xfrm>
          <a:prstGeom prst="rect">
            <a:avLst/>
          </a:prstGeom>
          <a:solidFill>
            <a:srgbClr val="37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8762999" y="3520439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8762999" y="3669792"/>
            <a:ext cx="145237" cy="156667"/>
          </a:xfrm>
          <a:prstGeom prst="rect">
            <a:avLst/>
          </a:prstGeom>
          <a:solidFill>
            <a:srgbClr val="389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8762999" y="3819143"/>
            <a:ext cx="145237" cy="156667"/>
          </a:xfrm>
          <a:prstGeom prst="rect">
            <a:avLst/>
          </a:prstGeom>
          <a:solidFill>
            <a:srgbClr val="63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8762999" y="3968496"/>
            <a:ext cx="145237" cy="156667"/>
          </a:xfrm>
          <a:prstGeom prst="rect">
            <a:avLst/>
          </a:prstGeom>
          <a:solidFill>
            <a:srgbClr val="39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8762999" y="4117847"/>
            <a:ext cx="145237" cy="156667"/>
          </a:xfrm>
          <a:prstGeom prst="rect">
            <a:avLst/>
          </a:prstGeom>
          <a:solidFill>
            <a:srgbClr val="64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8762999" y="4267199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8762999" y="4416552"/>
            <a:ext cx="145237" cy="156667"/>
          </a:xfrm>
          <a:prstGeom prst="rect">
            <a:avLst/>
          </a:prstGeom>
          <a:solidFill>
            <a:srgbClr val="657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76299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8762999" y="4715256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8900921" y="2176272"/>
            <a:ext cx="145237" cy="156667"/>
          </a:xfrm>
          <a:prstGeom prst="rect">
            <a:avLst/>
          </a:prstGeom>
          <a:solidFill>
            <a:srgbClr val="5F4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8900921" y="2325623"/>
            <a:ext cx="145237" cy="156667"/>
          </a:xfrm>
          <a:prstGeom prst="rect">
            <a:avLst/>
          </a:prstGeom>
          <a:solidFill>
            <a:srgbClr val="557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8900921" y="2474976"/>
            <a:ext cx="145237" cy="156667"/>
          </a:xfrm>
          <a:prstGeom prst="rect">
            <a:avLst/>
          </a:prstGeom>
          <a:solidFill>
            <a:srgbClr val="4C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8900921" y="2624328"/>
            <a:ext cx="145237" cy="156667"/>
          </a:xfrm>
          <a:prstGeom prst="rect">
            <a:avLst/>
          </a:prstGeom>
          <a:solidFill>
            <a:srgbClr val="42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8900921" y="2773680"/>
            <a:ext cx="145237" cy="156667"/>
          </a:xfrm>
          <a:prstGeom prst="rect">
            <a:avLst/>
          </a:prstGeom>
          <a:solidFill>
            <a:srgbClr val="389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8900921" y="2923031"/>
            <a:ext cx="145237" cy="156667"/>
          </a:xfrm>
          <a:prstGeom prst="rect">
            <a:avLst/>
          </a:prstGeom>
          <a:solidFill>
            <a:srgbClr val="2F4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8900921" y="3072384"/>
            <a:ext cx="145237" cy="156667"/>
          </a:xfrm>
          <a:prstGeom prst="rect">
            <a:avLst/>
          </a:prstGeom>
          <a:solidFill>
            <a:srgbClr val="7AA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8900921" y="3221736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8900921" y="3371088"/>
            <a:ext cx="145237" cy="156667"/>
          </a:xfrm>
          <a:prstGeom prst="rect">
            <a:avLst/>
          </a:prstGeom>
          <a:solidFill>
            <a:srgbClr val="67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8900921" y="3520439"/>
            <a:ext cx="145237" cy="156667"/>
          </a:xfrm>
          <a:prstGeom prst="rect">
            <a:avLst/>
          </a:prstGeom>
          <a:solidFill>
            <a:srgbClr val="5D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8900921" y="3669792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8900921" y="3819143"/>
            <a:ext cx="145237" cy="156667"/>
          </a:xfrm>
          <a:prstGeom prst="rect">
            <a:avLst/>
          </a:prstGeom>
          <a:solidFill>
            <a:srgbClr val="4AA5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8900921" y="3968496"/>
            <a:ext cx="145237" cy="156667"/>
          </a:xfrm>
          <a:prstGeom prst="rect">
            <a:avLst/>
          </a:prstGeom>
          <a:solidFill>
            <a:srgbClr val="404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8900921" y="4117847"/>
            <a:ext cx="145237" cy="156667"/>
          </a:xfrm>
          <a:prstGeom prst="rect">
            <a:avLst/>
          </a:prstGeom>
          <a:solidFill>
            <a:srgbClr val="368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8900921" y="4267199"/>
            <a:ext cx="145237" cy="156667"/>
          </a:xfrm>
          <a:prstGeom prst="rect">
            <a:avLst/>
          </a:prstGeom>
          <a:solidFill>
            <a:srgbClr val="8259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8900921" y="4416552"/>
            <a:ext cx="145237" cy="156667"/>
          </a:xfrm>
          <a:prstGeom prst="rect">
            <a:avLst/>
          </a:prstGeom>
          <a:solidFill>
            <a:srgbClr val="789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8900921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8900921" y="4715256"/>
            <a:ext cx="145237" cy="156667"/>
          </a:xfrm>
          <a:prstGeom prst="rect">
            <a:avLst/>
          </a:prstGeom>
          <a:solidFill>
            <a:srgbClr val="65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9038843" y="2176272"/>
            <a:ext cx="145237" cy="156667"/>
          </a:xfrm>
          <a:prstGeom prst="rect">
            <a:avLst/>
          </a:prstGeom>
          <a:solidFill>
            <a:srgbClr val="368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9038843" y="2325623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9038843" y="2474976"/>
            <a:ext cx="145237" cy="156667"/>
          </a:xfrm>
          <a:prstGeom prst="rect">
            <a:avLst/>
          </a:prstGeom>
          <a:solidFill>
            <a:srgbClr val="63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9038843" y="2624328"/>
            <a:ext cx="145237" cy="156667"/>
          </a:xfrm>
          <a:prstGeom prst="rect">
            <a:avLst/>
          </a:prstGeom>
          <a:solidFill>
            <a:srgbClr val="7AA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9038843" y="2773680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9038843" y="2923031"/>
            <a:ext cx="145237" cy="156667"/>
          </a:xfrm>
          <a:prstGeom prst="rect">
            <a:avLst/>
          </a:prstGeom>
          <a:solidFill>
            <a:srgbClr val="525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9038843" y="3072384"/>
            <a:ext cx="145237" cy="156667"/>
          </a:xfrm>
          <a:prstGeom prst="rect">
            <a:avLst/>
          </a:prstGeom>
          <a:solidFill>
            <a:srgbClr val="69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9038843" y="3221736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9038843" y="3371088"/>
            <a:ext cx="145237" cy="156667"/>
          </a:xfrm>
          <a:prstGeom prst="rect">
            <a:avLst/>
          </a:prstGeom>
          <a:solidFill>
            <a:srgbClr val="415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9038843" y="3520439"/>
            <a:ext cx="145237" cy="156667"/>
          </a:xfrm>
          <a:prstGeom prst="rect">
            <a:avLst/>
          </a:prstGeom>
          <a:solidFill>
            <a:srgbClr val="589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9038843" y="3669792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9038843" y="3819143"/>
            <a:ext cx="145237" cy="156667"/>
          </a:xfrm>
          <a:prstGeom prst="rect">
            <a:avLst/>
          </a:prstGeom>
          <a:solidFill>
            <a:srgbClr val="304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9038843" y="3968496"/>
            <a:ext cx="145237" cy="156667"/>
          </a:xfrm>
          <a:prstGeom prst="rect">
            <a:avLst/>
          </a:prstGeom>
          <a:solidFill>
            <a:srgbClr val="4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9038843" y="4117847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9038843" y="4267199"/>
            <a:ext cx="145237" cy="156667"/>
          </a:xfrm>
          <a:prstGeom prst="rect">
            <a:avLst/>
          </a:prstGeom>
          <a:solidFill>
            <a:srgbClr val="7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9038843" y="4416552"/>
            <a:ext cx="145237" cy="156667"/>
          </a:xfrm>
          <a:prstGeom prst="rect">
            <a:avLst/>
          </a:prstGeom>
          <a:solidFill>
            <a:srgbClr val="368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9038843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9038843" y="4715256"/>
            <a:ext cx="145237" cy="156667"/>
          </a:xfrm>
          <a:prstGeom prst="rect">
            <a:avLst/>
          </a:prstGeom>
          <a:solidFill>
            <a:srgbClr val="63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9176766" y="2176272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9176766" y="2325623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9176766" y="247497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9176766" y="2624328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9176766" y="2773680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9176766" y="2923031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9176766" y="3072384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9176766" y="3221736"/>
            <a:ext cx="145237" cy="156667"/>
          </a:xfrm>
          <a:prstGeom prst="rect">
            <a:avLst/>
          </a:prstGeom>
          <a:solidFill>
            <a:srgbClr val="39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9176766" y="3371088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9176766" y="3520439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9176766" y="3669792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9176766" y="3819143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9176766" y="396849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9176766" y="4117847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9176766" y="4267199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9176766" y="4416552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9176766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9176766" y="471525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9314688" y="2176272"/>
            <a:ext cx="145237" cy="156667"/>
          </a:xfrm>
          <a:prstGeom prst="rect">
            <a:avLst/>
          </a:prstGeom>
          <a:solidFill>
            <a:srgbClr val="38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9314688" y="2325623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9314688" y="2474976"/>
            <a:ext cx="145237" cy="156667"/>
          </a:xfrm>
          <a:prstGeom prst="rect">
            <a:avLst/>
          </a:prstGeom>
          <a:solidFill>
            <a:srgbClr val="3DC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9314688" y="2624328"/>
            <a:ext cx="145237" cy="156667"/>
          </a:xfrm>
          <a:prstGeom prst="rect">
            <a:avLst/>
          </a:prstGeom>
          <a:solidFill>
            <a:srgbClr val="3F4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9314688" y="2773680"/>
            <a:ext cx="145237" cy="156667"/>
          </a:xfrm>
          <a:prstGeom prst="rect">
            <a:avLst/>
          </a:prstGeom>
          <a:solidFill>
            <a:srgbClr val="41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9314688" y="2923031"/>
            <a:ext cx="145237" cy="156667"/>
          </a:xfrm>
          <a:prstGeom prst="rect">
            <a:avLst/>
          </a:prstGeom>
          <a:solidFill>
            <a:srgbClr val="44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9314688" y="3072384"/>
            <a:ext cx="145237" cy="156667"/>
          </a:xfrm>
          <a:prstGeom prst="rect">
            <a:avLst/>
          </a:prstGeom>
          <a:solidFill>
            <a:srgbClr val="468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9314688" y="3221736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9314688" y="3371088"/>
            <a:ext cx="145237" cy="156667"/>
          </a:xfrm>
          <a:prstGeom prst="rect">
            <a:avLst/>
          </a:prstGeom>
          <a:solidFill>
            <a:srgbClr val="4BA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9314688" y="3520439"/>
            <a:ext cx="145237" cy="156667"/>
          </a:xfrm>
          <a:prstGeom prst="rect">
            <a:avLst/>
          </a:prstGeom>
          <a:solidFill>
            <a:srgbClr val="4DC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9314688" y="3669792"/>
            <a:ext cx="145237" cy="156667"/>
          </a:xfrm>
          <a:prstGeom prst="rect">
            <a:avLst/>
          </a:prstGeom>
          <a:solidFill>
            <a:srgbClr val="4F4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9314688" y="3819143"/>
            <a:ext cx="145237" cy="156667"/>
          </a:xfrm>
          <a:prstGeom prst="rect">
            <a:avLst/>
          </a:prstGeom>
          <a:solidFill>
            <a:srgbClr val="525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9314688" y="3968496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9314688" y="4117847"/>
            <a:ext cx="145237" cy="156667"/>
          </a:xfrm>
          <a:prstGeom prst="rect">
            <a:avLst/>
          </a:prstGeom>
          <a:solidFill>
            <a:srgbClr val="568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9314688" y="4267199"/>
            <a:ext cx="145237" cy="156667"/>
          </a:xfrm>
          <a:prstGeom prst="rect">
            <a:avLst/>
          </a:prstGeom>
          <a:solidFill>
            <a:srgbClr val="59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9314688" y="4416552"/>
            <a:ext cx="145237" cy="156667"/>
          </a:xfrm>
          <a:prstGeom prst="rect">
            <a:avLst/>
          </a:prstGeom>
          <a:solidFill>
            <a:srgbClr val="5BB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9314688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9314688" y="4715256"/>
            <a:ext cx="145237" cy="156667"/>
          </a:xfrm>
          <a:prstGeom prst="rect">
            <a:avLst/>
          </a:prstGeom>
          <a:solidFill>
            <a:srgbClr val="60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9452609" y="2176272"/>
            <a:ext cx="145237" cy="156667"/>
          </a:xfrm>
          <a:prstGeom prst="rect">
            <a:avLst/>
          </a:prstGeom>
          <a:solidFill>
            <a:srgbClr val="64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9452609" y="2325623"/>
            <a:ext cx="145237" cy="156667"/>
          </a:xfrm>
          <a:prstGeom prst="rect">
            <a:avLst/>
          </a:prstGeom>
          <a:solidFill>
            <a:srgbClr val="315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9452609" y="2474976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9452609" y="2624328"/>
            <a:ext cx="145237" cy="156667"/>
          </a:xfrm>
          <a:prstGeom prst="rect">
            <a:avLst/>
          </a:prstGeom>
          <a:solidFill>
            <a:srgbClr val="77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9452609" y="2773680"/>
            <a:ext cx="145237" cy="156667"/>
          </a:xfrm>
          <a:prstGeom prst="rect">
            <a:avLst/>
          </a:prstGeom>
          <a:solidFill>
            <a:srgbClr val="447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9452609" y="2923031"/>
            <a:ext cx="145237" cy="156667"/>
          </a:xfrm>
          <a:prstGeom prst="rect">
            <a:avLst/>
          </a:prstGeom>
          <a:solidFill>
            <a:srgbClr val="67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9452609" y="3072384"/>
            <a:ext cx="145237" cy="156667"/>
          </a:xfrm>
          <a:prstGeom prst="rect">
            <a:avLst/>
          </a:prstGeom>
          <a:solidFill>
            <a:srgbClr val="357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9452609" y="3221736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9452609" y="3371088"/>
            <a:ext cx="145237" cy="156667"/>
          </a:xfrm>
          <a:prstGeom prst="rect">
            <a:avLst/>
          </a:prstGeom>
          <a:solidFill>
            <a:srgbClr val="7AA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9452609" y="3520439"/>
            <a:ext cx="145237" cy="156667"/>
          </a:xfrm>
          <a:prstGeom prst="rect">
            <a:avLst/>
          </a:prstGeom>
          <a:solidFill>
            <a:srgbClr val="489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9452609" y="3669792"/>
            <a:ext cx="145237" cy="156667"/>
          </a:xfrm>
          <a:prstGeom prst="rect">
            <a:avLst/>
          </a:prstGeom>
          <a:solidFill>
            <a:srgbClr val="6AA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9452609" y="3819143"/>
            <a:ext cx="145237" cy="156667"/>
          </a:xfrm>
          <a:prstGeom prst="rect">
            <a:avLst/>
          </a:prstGeom>
          <a:solidFill>
            <a:srgbClr val="38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9452609" y="3968496"/>
            <a:ext cx="145237" cy="156667"/>
          </a:xfrm>
          <a:prstGeom prst="rect">
            <a:avLst/>
          </a:prstGeom>
          <a:solidFill>
            <a:srgbClr val="5BA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9452609" y="4117847"/>
            <a:ext cx="145237" cy="156667"/>
          </a:xfrm>
          <a:prstGeom prst="rect">
            <a:avLst/>
          </a:prstGeom>
          <a:solidFill>
            <a:srgbClr val="7DC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9452609" y="4267199"/>
            <a:ext cx="145237" cy="156667"/>
          </a:xfrm>
          <a:prstGeom prst="rect">
            <a:avLst/>
          </a:prstGeom>
          <a:solidFill>
            <a:srgbClr val="4BB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9452609" y="4416552"/>
            <a:ext cx="145237" cy="156667"/>
          </a:xfrm>
          <a:prstGeom prst="rect">
            <a:avLst/>
          </a:prstGeom>
          <a:solidFill>
            <a:srgbClr val="6EC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945260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9452609" y="4715256"/>
            <a:ext cx="145237" cy="156667"/>
          </a:xfrm>
          <a:prstGeom prst="rect">
            <a:avLst/>
          </a:prstGeom>
          <a:solidFill>
            <a:srgbClr val="5E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9590531" y="2176272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9590531" y="2325623"/>
            <a:ext cx="145237" cy="156667"/>
          </a:xfrm>
          <a:prstGeom prst="rect">
            <a:avLst/>
          </a:prstGeom>
          <a:solidFill>
            <a:srgbClr val="7DC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9590531" y="2474976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9590531" y="2624328"/>
            <a:ext cx="145237" cy="156667"/>
          </a:xfrm>
          <a:prstGeom prst="rect">
            <a:avLst/>
          </a:prstGeom>
          <a:solidFill>
            <a:srgbClr val="59A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9590531" y="2773680"/>
            <a:ext cx="145237" cy="156667"/>
          </a:xfrm>
          <a:prstGeom prst="rect">
            <a:avLst/>
          </a:prstGeom>
          <a:solidFill>
            <a:srgbClr val="479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9590531" y="2923031"/>
            <a:ext cx="145237" cy="156667"/>
          </a:xfrm>
          <a:prstGeom prst="rect">
            <a:avLst/>
          </a:prstGeom>
          <a:solidFill>
            <a:srgbClr val="357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9590531" y="3072384"/>
            <a:ext cx="145237" cy="156667"/>
          </a:xfrm>
          <a:prstGeom prst="rect">
            <a:avLst/>
          </a:prstGeom>
          <a:solidFill>
            <a:srgbClr val="789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9590531" y="3221736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9590531" y="3371088"/>
            <a:ext cx="145237" cy="156667"/>
          </a:xfrm>
          <a:prstGeom prst="rect">
            <a:avLst/>
          </a:prstGeom>
          <a:solidFill>
            <a:srgbClr val="54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9590531" y="3520439"/>
            <a:ext cx="145237" cy="156667"/>
          </a:xfrm>
          <a:prstGeom prst="rect">
            <a:avLst/>
          </a:prstGeom>
          <a:solidFill>
            <a:srgbClr val="426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9590531" y="3669792"/>
            <a:ext cx="145237" cy="156667"/>
          </a:xfrm>
          <a:prstGeom prst="rect">
            <a:avLst/>
          </a:prstGeom>
          <a:solidFill>
            <a:srgbClr val="305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9590531" y="3819143"/>
            <a:ext cx="145237" cy="156667"/>
          </a:xfrm>
          <a:prstGeom prst="rect">
            <a:avLst/>
          </a:prstGeom>
          <a:solidFill>
            <a:srgbClr val="73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9590531" y="396849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9590531" y="4117847"/>
            <a:ext cx="145237" cy="156667"/>
          </a:xfrm>
          <a:prstGeom prst="rect">
            <a:avLst/>
          </a:prstGeom>
          <a:solidFill>
            <a:srgbClr val="4F4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9590531" y="4267199"/>
            <a:ext cx="145237" cy="156667"/>
          </a:xfrm>
          <a:prstGeom prst="rect">
            <a:avLst/>
          </a:prstGeom>
          <a:solidFill>
            <a:srgbClr val="3DC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9590531" y="4416552"/>
            <a:ext cx="145237" cy="156667"/>
          </a:xfrm>
          <a:prstGeom prst="rect">
            <a:avLst/>
          </a:prstGeom>
          <a:solidFill>
            <a:srgbClr val="804D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9590531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9590531" y="471525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9728453" y="2176272"/>
            <a:ext cx="145237" cy="156667"/>
          </a:xfrm>
          <a:prstGeom prst="rect">
            <a:avLst/>
          </a:prstGeom>
          <a:solidFill>
            <a:srgbClr val="668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9728453" y="2325623"/>
            <a:ext cx="145237" cy="156667"/>
          </a:xfrm>
          <a:prstGeom prst="rect">
            <a:avLst/>
          </a:prstGeom>
          <a:solidFill>
            <a:srgbClr val="747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9728453" y="2474976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9728453" y="2624328"/>
            <a:ext cx="145237" cy="156667"/>
          </a:xfrm>
          <a:prstGeom prst="rect">
            <a:avLst/>
          </a:prstGeom>
          <a:solidFill>
            <a:srgbClr val="3CB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9728453" y="2773680"/>
            <a:ext cx="145237" cy="156667"/>
          </a:xfrm>
          <a:prstGeom prst="rect">
            <a:avLst/>
          </a:prstGeom>
          <a:solidFill>
            <a:srgbClr val="4AA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9728453" y="2923031"/>
            <a:ext cx="145237" cy="156667"/>
          </a:xfrm>
          <a:prstGeom prst="rect">
            <a:avLst/>
          </a:prstGeom>
          <a:solidFill>
            <a:srgbClr val="59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9728453" y="3072384"/>
            <a:ext cx="145237" cy="156667"/>
          </a:xfrm>
          <a:prstGeom prst="rect">
            <a:avLst/>
          </a:prstGeom>
          <a:solidFill>
            <a:srgbClr val="67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9728453" y="3221736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9728453" y="3371088"/>
            <a:ext cx="145237" cy="156667"/>
          </a:xfrm>
          <a:prstGeom prst="rect">
            <a:avLst/>
          </a:prstGeom>
          <a:solidFill>
            <a:srgbClr val="2F4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9728453" y="3520439"/>
            <a:ext cx="145237" cy="156667"/>
          </a:xfrm>
          <a:prstGeom prst="rect">
            <a:avLst/>
          </a:prstGeom>
          <a:solidFill>
            <a:srgbClr val="3DC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9728453" y="3669792"/>
            <a:ext cx="145237" cy="156667"/>
          </a:xfrm>
          <a:prstGeom prst="rect">
            <a:avLst/>
          </a:prstGeom>
          <a:solidFill>
            <a:srgbClr val="4BB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9728453" y="3819143"/>
            <a:ext cx="145237" cy="156667"/>
          </a:xfrm>
          <a:prstGeom prst="rect">
            <a:avLst/>
          </a:prstGeom>
          <a:solidFill>
            <a:srgbClr val="5AA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9728453" y="3968496"/>
            <a:ext cx="145237" cy="156667"/>
          </a:xfrm>
          <a:prstGeom prst="rect">
            <a:avLst/>
          </a:prstGeom>
          <a:solidFill>
            <a:srgbClr val="689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9728453" y="4117847"/>
            <a:ext cx="145237" cy="156667"/>
          </a:xfrm>
          <a:prstGeom prst="rect">
            <a:avLst/>
          </a:prstGeom>
          <a:solidFill>
            <a:srgbClr val="768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9728453" y="4267199"/>
            <a:ext cx="145237" cy="156667"/>
          </a:xfrm>
          <a:prstGeom prst="rect">
            <a:avLst/>
          </a:prstGeom>
          <a:solidFill>
            <a:srgbClr val="30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9728453" y="4416552"/>
            <a:ext cx="145237" cy="156667"/>
          </a:xfrm>
          <a:prstGeom prst="rect">
            <a:avLst/>
          </a:prstGeom>
          <a:solidFill>
            <a:srgbClr val="3EC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9728453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9728453" y="4715256"/>
            <a:ext cx="145237" cy="156667"/>
          </a:xfrm>
          <a:prstGeom prst="rect">
            <a:avLst/>
          </a:prstGeom>
          <a:solidFill>
            <a:srgbClr val="5BA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9866376" y="2176272"/>
            <a:ext cx="145237" cy="156667"/>
          </a:xfrm>
          <a:prstGeom prst="rect">
            <a:avLst/>
          </a:prstGeom>
          <a:solidFill>
            <a:srgbClr val="3DC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9866376" y="2325623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9866376" y="2474976"/>
            <a:ext cx="145237" cy="156667"/>
          </a:xfrm>
          <a:prstGeom prst="rect">
            <a:avLst/>
          </a:prstGeom>
          <a:solidFill>
            <a:srgbClr val="457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9866376" y="2624328"/>
            <a:ext cx="145237" cy="156667"/>
          </a:xfrm>
          <a:prstGeom prst="rect">
            <a:avLst/>
          </a:prstGeom>
          <a:solidFill>
            <a:srgbClr val="7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9866376" y="2773680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9866376" y="2923031"/>
            <a:ext cx="145237" cy="156667"/>
          </a:xfrm>
          <a:prstGeom prst="rect">
            <a:avLst/>
          </a:prstGeom>
          <a:solidFill>
            <a:srgbClr val="7C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9866376" y="3072384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9866376" y="3221736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9866376" y="3371088"/>
            <a:ext cx="145237" cy="156667"/>
          </a:xfrm>
          <a:prstGeom prst="rect">
            <a:avLst/>
          </a:prstGeom>
          <a:solidFill>
            <a:srgbClr val="5E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9866376" y="3520439"/>
            <a:ext cx="145237" cy="156667"/>
          </a:xfrm>
          <a:prstGeom prst="rect">
            <a:avLst/>
          </a:prstGeom>
          <a:solidFill>
            <a:srgbClr val="389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9866376" y="3669792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9866376" y="3819143"/>
            <a:ext cx="145237" cy="156667"/>
          </a:xfrm>
          <a:prstGeom prst="rect">
            <a:avLst/>
          </a:prstGeom>
          <a:solidFill>
            <a:srgbClr val="404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9866376" y="3968496"/>
            <a:ext cx="145237" cy="156667"/>
          </a:xfrm>
          <a:prstGeom prst="rect">
            <a:avLst/>
          </a:prstGeom>
          <a:solidFill>
            <a:srgbClr val="6FD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9866376" y="4117847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9866376" y="4267199"/>
            <a:ext cx="145237" cy="156667"/>
          </a:xfrm>
          <a:prstGeom prst="rect">
            <a:avLst/>
          </a:prstGeom>
          <a:solidFill>
            <a:srgbClr val="77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9866376" y="4416552"/>
            <a:ext cx="145237" cy="156667"/>
          </a:xfrm>
          <a:prstGeom prst="rect">
            <a:avLst/>
          </a:prstGeom>
          <a:solidFill>
            <a:srgbClr val="51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9866376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9866376" y="4715256"/>
            <a:ext cx="145237" cy="156667"/>
          </a:xfrm>
          <a:prstGeom prst="rect">
            <a:avLst/>
          </a:prstGeom>
          <a:solidFill>
            <a:srgbClr val="599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10004297" y="2176272"/>
            <a:ext cx="145237" cy="156667"/>
          </a:xfrm>
          <a:prstGeom prst="rect">
            <a:avLst/>
          </a:prstGeom>
          <a:solidFill>
            <a:srgbClr val="689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10004297" y="2325623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10004297" y="247497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10004297" y="2624328"/>
            <a:ext cx="145237" cy="156667"/>
          </a:xfrm>
          <a:prstGeom prst="rect">
            <a:avLst/>
          </a:prstGeom>
          <a:solidFill>
            <a:srgbClr val="568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10004297" y="2773680"/>
            <a:ext cx="145237" cy="156667"/>
          </a:xfrm>
          <a:prstGeom prst="rect">
            <a:avLst/>
          </a:prstGeom>
          <a:solidFill>
            <a:srgbClr val="505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10004297" y="2923031"/>
            <a:ext cx="145237" cy="156667"/>
          </a:xfrm>
          <a:prstGeom prst="rect">
            <a:avLst/>
          </a:prstGeom>
          <a:solidFill>
            <a:srgbClr val="4AA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10004297" y="3072384"/>
            <a:ext cx="145237" cy="156667"/>
          </a:xfrm>
          <a:prstGeom prst="rect">
            <a:avLst/>
          </a:prstGeom>
          <a:solidFill>
            <a:srgbClr val="447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10004297" y="3221736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10004297" y="3371088"/>
            <a:ext cx="145237" cy="156667"/>
          </a:xfrm>
          <a:prstGeom prst="rect">
            <a:avLst/>
          </a:prstGeom>
          <a:solidFill>
            <a:srgbClr val="389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10004297" y="3520439"/>
            <a:ext cx="145237" cy="156667"/>
          </a:xfrm>
          <a:prstGeom prst="rect">
            <a:avLst/>
          </a:prstGeom>
          <a:solidFill>
            <a:srgbClr val="32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10004297" y="3669792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10004297" y="3819143"/>
            <a:ext cx="145237" cy="156667"/>
          </a:xfrm>
          <a:prstGeom prst="rect">
            <a:avLst/>
          </a:prstGeom>
          <a:solidFill>
            <a:srgbClr val="7BB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10004297" y="3968496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10004297" y="4117847"/>
            <a:ext cx="145237" cy="156667"/>
          </a:xfrm>
          <a:prstGeom prst="rect">
            <a:avLst/>
          </a:prstGeom>
          <a:solidFill>
            <a:srgbClr val="6F4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10004297" y="4267199"/>
            <a:ext cx="145237" cy="156667"/>
          </a:xfrm>
          <a:prstGeom prst="rect">
            <a:avLst/>
          </a:prstGeom>
          <a:solidFill>
            <a:srgbClr val="69A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10004297" y="4416552"/>
            <a:ext cx="145237" cy="156667"/>
          </a:xfrm>
          <a:prstGeom prst="rect">
            <a:avLst/>
          </a:prstGeom>
          <a:solidFill>
            <a:srgbClr val="63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10004297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10004297" y="4715256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10142219" y="2176272"/>
            <a:ext cx="145237" cy="156667"/>
          </a:xfrm>
          <a:prstGeom prst="rect">
            <a:avLst/>
          </a:prstGeom>
          <a:solidFill>
            <a:srgbClr val="3F4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10142219" y="2325623"/>
            <a:ext cx="145237" cy="156667"/>
          </a:xfrm>
          <a:prstGeom prst="rect">
            <a:avLst/>
          </a:prstGeom>
          <a:solidFill>
            <a:srgbClr val="59A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10142219" y="2474976"/>
            <a:ext cx="145237" cy="156667"/>
          </a:xfrm>
          <a:prstGeom prst="rect">
            <a:avLst/>
          </a:prstGeom>
          <a:solidFill>
            <a:srgbClr val="7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10142219" y="2624328"/>
            <a:ext cx="145237" cy="156667"/>
          </a:xfrm>
          <a:prstGeom prst="rect">
            <a:avLst/>
          </a:prstGeom>
          <a:solidFill>
            <a:srgbClr val="39A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10142219" y="2773680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10142219" y="2923031"/>
            <a:ext cx="145237" cy="156667"/>
          </a:xfrm>
          <a:prstGeom prst="rect">
            <a:avLst/>
          </a:prstGeom>
          <a:solidFill>
            <a:srgbClr val="6EC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10142219" y="3072384"/>
            <a:ext cx="145237" cy="156667"/>
          </a:xfrm>
          <a:prstGeom prst="rect">
            <a:avLst/>
          </a:prstGeom>
          <a:solidFill>
            <a:srgbClr val="33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10142219" y="322173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10142219" y="3371088"/>
            <a:ext cx="145237" cy="156667"/>
          </a:xfrm>
          <a:prstGeom prst="rect">
            <a:avLst/>
          </a:prstGeom>
          <a:solidFill>
            <a:srgbClr val="689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10142219" y="3520439"/>
            <a:ext cx="145237" cy="156667"/>
          </a:xfrm>
          <a:prstGeom prst="rect">
            <a:avLst/>
          </a:prstGeom>
          <a:solidFill>
            <a:srgbClr val="825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10142219" y="3669792"/>
            <a:ext cx="145237" cy="156667"/>
          </a:xfrm>
          <a:prstGeom prst="rect">
            <a:avLst/>
          </a:prstGeom>
          <a:solidFill>
            <a:srgbClr val="479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10142219" y="3819143"/>
            <a:ext cx="145237" cy="156667"/>
          </a:xfrm>
          <a:prstGeom prst="rect">
            <a:avLst/>
          </a:prstGeom>
          <a:solidFill>
            <a:srgbClr val="625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10142219" y="3968496"/>
            <a:ext cx="145237" cy="156667"/>
          </a:xfrm>
          <a:prstGeom prst="rect">
            <a:avLst/>
          </a:prstGeom>
          <a:solidFill>
            <a:srgbClr val="7C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10142219" y="4117847"/>
            <a:ext cx="145237" cy="156667"/>
          </a:xfrm>
          <a:prstGeom prst="rect">
            <a:avLst/>
          </a:prstGeom>
          <a:solidFill>
            <a:srgbClr val="41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10142219" y="4267199"/>
            <a:ext cx="145237" cy="156667"/>
          </a:xfrm>
          <a:prstGeom prst="rect">
            <a:avLst/>
          </a:prstGeom>
          <a:solidFill>
            <a:srgbClr val="5CB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10142219" y="4416552"/>
            <a:ext cx="145237" cy="156667"/>
          </a:xfrm>
          <a:prstGeom prst="rect">
            <a:avLst/>
          </a:prstGeom>
          <a:solidFill>
            <a:srgbClr val="7681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1014221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10142219" y="4715256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10280142" y="2176272"/>
            <a:ext cx="145237" cy="156667"/>
          </a:xfrm>
          <a:prstGeom prst="rect">
            <a:avLst/>
          </a:prstGeom>
          <a:solidFill>
            <a:srgbClr val="6BA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10280142" y="2325623"/>
            <a:ext cx="145237" cy="156667"/>
          </a:xfrm>
          <a:prstGeom prst="rect">
            <a:avLst/>
          </a:prstGeom>
          <a:solidFill>
            <a:srgbClr val="505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10280142" y="2474976"/>
            <a:ext cx="145237" cy="156667"/>
          </a:xfrm>
          <a:prstGeom prst="rect">
            <a:avLst/>
          </a:prstGeom>
          <a:solidFill>
            <a:srgbClr val="368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10280142" y="2624328"/>
            <a:ext cx="145237" cy="156667"/>
          </a:xfrm>
          <a:prstGeom prst="rect">
            <a:avLst/>
          </a:prstGeom>
          <a:solidFill>
            <a:srgbClr val="715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10280142" y="2773680"/>
            <a:ext cx="145237" cy="156667"/>
          </a:xfrm>
          <a:prstGeom prst="rect">
            <a:avLst/>
          </a:prstGeom>
          <a:solidFill>
            <a:srgbClr val="568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10280142" y="2923031"/>
            <a:ext cx="145237" cy="156667"/>
          </a:xfrm>
          <a:prstGeom prst="rect">
            <a:avLst/>
          </a:prstGeom>
          <a:solidFill>
            <a:srgbClr val="3CB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10280142" y="3072384"/>
            <a:ext cx="145237" cy="156667"/>
          </a:xfrm>
          <a:prstGeom prst="rect">
            <a:avLst/>
          </a:prstGeom>
          <a:solidFill>
            <a:srgbClr val="77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10280142" y="322173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10280142" y="3371088"/>
            <a:ext cx="145237" cy="156667"/>
          </a:xfrm>
          <a:prstGeom prst="rect">
            <a:avLst/>
          </a:prstGeom>
          <a:solidFill>
            <a:srgbClr val="42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10280142" y="3520439"/>
            <a:ext cx="145237" cy="156667"/>
          </a:xfrm>
          <a:prstGeom prst="rect">
            <a:avLst/>
          </a:prstGeom>
          <a:solidFill>
            <a:srgbClr val="7D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10280142" y="3669792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10280142" y="3819143"/>
            <a:ext cx="145237" cy="156667"/>
          </a:xfrm>
          <a:prstGeom prst="rect">
            <a:avLst/>
          </a:prstGeom>
          <a:solidFill>
            <a:srgbClr val="48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10280142" y="3968496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10280142" y="4117847"/>
            <a:ext cx="145237" cy="156667"/>
          </a:xfrm>
          <a:prstGeom prst="rect">
            <a:avLst/>
          </a:prstGeom>
          <a:solidFill>
            <a:srgbClr val="689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10280142" y="4267199"/>
            <a:ext cx="145237" cy="156667"/>
          </a:xfrm>
          <a:prstGeom prst="rect">
            <a:avLst/>
          </a:prstGeom>
          <a:solidFill>
            <a:srgbClr val="4EC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10280142" y="4416552"/>
            <a:ext cx="145237" cy="156667"/>
          </a:xfrm>
          <a:prstGeom prst="rect">
            <a:avLst/>
          </a:prstGeom>
          <a:solidFill>
            <a:srgbClr val="34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10280142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10280142" y="4715256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10418064" y="2176272"/>
            <a:ext cx="145237" cy="156667"/>
          </a:xfrm>
          <a:prstGeom prst="rect">
            <a:avLst/>
          </a:prstGeom>
          <a:solidFill>
            <a:srgbClr val="41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10418064" y="2325623"/>
            <a:ext cx="145237" cy="156667"/>
          </a:xfrm>
          <a:prstGeom prst="rect">
            <a:avLst/>
          </a:prstGeom>
          <a:solidFill>
            <a:srgbClr val="479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10418064" y="247497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10418064" y="2624328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10418064" y="2773680"/>
            <a:ext cx="145237" cy="156667"/>
          </a:xfrm>
          <a:prstGeom prst="rect">
            <a:avLst/>
          </a:prstGeom>
          <a:solidFill>
            <a:srgbClr val="59A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10418064" y="2923031"/>
            <a:ext cx="145237" cy="156667"/>
          </a:xfrm>
          <a:prstGeom prst="rect">
            <a:avLst/>
          </a:prstGeom>
          <a:solidFill>
            <a:srgbClr val="5F4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10418064" y="3072384"/>
            <a:ext cx="145237" cy="156667"/>
          </a:xfrm>
          <a:prstGeom prst="rect">
            <a:avLst/>
          </a:prstGeom>
          <a:solidFill>
            <a:srgbClr val="657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10418064" y="3221736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10418064" y="3371088"/>
            <a:ext cx="145237" cy="156667"/>
          </a:xfrm>
          <a:prstGeom prst="rect">
            <a:avLst/>
          </a:prstGeom>
          <a:solidFill>
            <a:srgbClr val="715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10418064" y="3520439"/>
            <a:ext cx="145237" cy="156667"/>
          </a:xfrm>
          <a:prstGeom prst="rect">
            <a:avLst/>
          </a:prstGeom>
          <a:solidFill>
            <a:srgbClr val="778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10418064" y="3669792"/>
            <a:ext cx="145237" cy="156667"/>
          </a:xfrm>
          <a:prstGeom prst="rect">
            <a:avLst/>
          </a:prstGeom>
          <a:solidFill>
            <a:srgbClr val="7DC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10418064" y="3819143"/>
            <a:ext cx="145237" cy="156667"/>
          </a:xfrm>
          <a:prstGeom prst="rect">
            <a:avLst/>
          </a:prstGeom>
          <a:solidFill>
            <a:srgbClr val="836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10418064" y="396849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10418064" y="4117847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10418064" y="4267199"/>
            <a:ext cx="145237" cy="156667"/>
          </a:xfrm>
          <a:prstGeom prst="rect">
            <a:avLst/>
          </a:prstGeom>
          <a:solidFill>
            <a:srgbClr val="405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10418064" y="4416552"/>
            <a:ext cx="145237" cy="156667"/>
          </a:xfrm>
          <a:prstGeom prst="rect">
            <a:avLst/>
          </a:prstGeom>
          <a:solidFill>
            <a:srgbClr val="468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10418064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10418064" y="4715256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10555985" y="2176272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10555985" y="2325623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10555985" y="2474976"/>
            <a:ext cx="145237" cy="156667"/>
          </a:xfrm>
          <a:prstGeom prst="rect">
            <a:avLst/>
          </a:prstGeom>
          <a:solidFill>
            <a:srgbClr val="65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10555985" y="2624328"/>
            <a:ext cx="145237" cy="156667"/>
          </a:xfrm>
          <a:prstGeom prst="rect">
            <a:avLst/>
          </a:prstGeom>
          <a:solidFill>
            <a:srgbClr val="368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10555985" y="2773680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10555985" y="2923031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10555985" y="3072384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10555985" y="322173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10555985" y="3371088"/>
            <a:ext cx="145237" cy="156667"/>
          </a:xfrm>
          <a:prstGeom prst="rect">
            <a:avLst/>
          </a:prstGeom>
          <a:solidFill>
            <a:srgbClr val="4C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10555985" y="3520439"/>
            <a:ext cx="145237" cy="156667"/>
          </a:xfrm>
          <a:prstGeom prst="rect">
            <a:avLst/>
          </a:prstGeom>
          <a:solidFill>
            <a:srgbClr val="725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10555985" y="3669792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10555985" y="3819143"/>
            <a:ext cx="145237" cy="156667"/>
          </a:xfrm>
          <a:prstGeom prst="rect">
            <a:avLst/>
          </a:prstGeom>
          <a:solidFill>
            <a:srgbClr val="6A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10555985" y="3968496"/>
            <a:ext cx="145237" cy="156667"/>
          </a:xfrm>
          <a:prstGeom prst="rect">
            <a:avLst/>
          </a:prstGeom>
          <a:solidFill>
            <a:srgbClr val="3BB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10555985" y="4117847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10555985" y="4267199"/>
            <a:ext cx="145237" cy="156667"/>
          </a:xfrm>
          <a:prstGeom prst="rect">
            <a:avLst/>
          </a:prstGeom>
          <a:solidFill>
            <a:srgbClr val="33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10555985" y="4416552"/>
            <a:ext cx="145237" cy="156667"/>
          </a:xfrm>
          <a:prstGeom prst="rect">
            <a:avLst/>
          </a:prstGeom>
          <a:solidFill>
            <a:srgbClr val="599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10555985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10555985" y="4715256"/>
            <a:ext cx="145237" cy="156667"/>
          </a:xfrm>
          <a:prstGeom prst="rect">
            <a:avLst/>
          </a:prstGeom>
          <a:solidFill>
            <a:srgbClr val="51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10693907" y="2176272"/>
            <a:ext cx="145237" cy="156667"/>
          </a:xfrm>
          <a:prstGeom prst="rect">
            <a:avLst/>
          </a:prstGeom>
          <a:solidFill>
            <a:srgbClr val="44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10693907" y="2325623"/>
            <a:ext cx="145237" cy="156667"/>
          </a:xfrm>
          <a:prstGeom prst="rect">
            <a:avLst/>
          </a:prstGeom>
          <a:solidFill>
            <a:srgbClr val="357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10693907" y="2474976"/>
            <a:ext cx="145237" cy="156667"/>
          </a:xfrm>
          <a:prstGeom prst="rect">
            <a:avLst/>
          </a:prstGeom>
          <a:solidFill>
            <a:srgbClr val="7C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10693907" y="2624328"/>
            <a:ext cx="145237" cy="156667"/>
          </a:xfrm>
          <a:prstGeom prst="rect">
            <a:avLst/>
          </a:prstGeom>
          <a:solidFill>
            <a:srgbClr val="6EC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10693907" y="2773680"/>
            <a:ext cx="145237" cy="156667"/>
          </a:xfrm>
          <a:prstGeom prst="rect">
            <a:avLst/>
          </a:prstGeom>
          <a:solidFill>
            <a:srgbClr val="5F4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10693907" y="2923031"/>
            <a:ext cx="145237" cy="156667"/>
          </a:xfrm>
          <a:prstGeom prst="rect">
            <a:avLst/>
          </a:prstGeom>
          <a:solidFill>
            <a:srgbClr val="515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10693907" y="3072384"/>
            <a:ext cx="145237" cy="156667"/>
          </a:xfrm>
          <a:prstGeom prst="rect">
            <a:avLst/>
          </a:prstGeom>
          <a:solidFill>
            <a:srgbClr val="436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10693907" y="322173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10693907" y="3371088"/>
            <a:ext cx="145237" cy="156667"/>
          </a:xfrm>
          <a:prstGeom prst="rect">
            <a:avLst/>
          </a:prstGeom>
          <a:solidFill>
            <a:srgbClr val="7BA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10693907" y="3520439"/>
            <a:ext cx="145237" cy="156667"/>
          </a:xfrm>
          <a:prstGeom prst="rect">
            <a:avLst/>
          </a:prstGeom>
          <a:solidFill>
            <a:srgbClr val="6D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Rectangle 390"/>
          <p:cNvSpPr/>
          <p:nvPr/>
        </p:nvSpPr>
        <p:spPr>
          <a:xfrm>
            <a:off x="10693907" y="3669792"/>
            <a:ext cx="145237" cy="156667"/>
          </a:xfrm>
          <a:prstGeom prst="rect">
            <a:avLst/>
          </a:prstGeom>
          <a:solidFill>
            <a:srgbClr val="5EC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Rectangle 391"/>
          <p:cNvSpPr/>
          <p:nvPr/>
        </p:nvSpPr>
        <p:spPr>
          <a:xfrm>
            <a:off x="10693907" y="3819143"/>
            <a:ext cx="145237" cy="156667"/>
          </a:xfrm>
          <a:prstGeom prst="rect">
            <a:avLst/>
          </a:prstGeom>
          <a:solidFill>
            <a:srgbClr val="504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10693907" y="3968496"/>
            <a:ext cx="145237" cy="156667"/>
          </a:xfrm>
          <a:prstGeom prst="rect">
            <a:avLst/>
          </a:prstGeom>
          <a:solidFill>
            <a:srgbClr val="425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10693907" y="4117847"/>
            <a:ext cx="145237" cy="156667"/>
          </a:xfrm>
          <a:prstGeom prst="rect">
            <a:avLst/>
          </a:prstGeom>
          <a:solidFill>
            <a:srgbClr val="336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10693907" y="4267199"/>
            <a:ext cx="145237" cy="156667"/>
          </a:xfrm>
          <a:prstGeom prst="rect">
            <a:avLst/>
          </a:prstGeom>
          <a:solidFill>
            <a:srgbClr val="7AA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10693907" y="4416552"/>
            <a:ext cx="145237" cy="156667"/>
          </a:xfrm>
          <a:prstGeom prst="rect">
            <a:avLst/>
          </a:prstGeom>
          <a:solidFill>
            <a:srgbClr val="6CB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10693907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Rectangle 397"/>
          <p:cNvSpPr/>
          <p:nvPr/>
        </p:nvSpPr>
        <p:spPr>
          <a:xfrm>
            <a:off x="10693907" y="4715256"/>
            <a:ext cx="145237" cy="156667"/>
          </a:xfrm>
          <a:prstGeom prst="rect">
            <a:avLst/>
          </a:prstGeom>
          <a:solidFill>
            <a:srgbClr val="4F4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Rectangle 398"/>
          <p:cNvSpPr/>
          <p:nvPr/>
        </p:nvSpPr>
        <p:spPr>
          <a:xfrm>
            <a:off x="10831829" y="2176272"/>
            <a:ext cx="145237" cy="156667"/>
          </a:xfrm>
          <a:prstGeom prst="rect">
            <a:avLst/>
          </a:prstGeom>
          <a:solidFill>
            <a:srgbClr val="6F4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10831829" y="2325623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10831829" y="2474976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10831829" y="2624328"/>
            <a:ext cx="145237" cy="156667"/>
          </a:xfrm>
          <a:prstGeom prst="rect">
            <a:avLst/>
          </a:prstGeom>
          <a:solidFill>
            <a:srgbClr val="505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10831829" y="2773680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10831829" y="2923031"/>
            <a:ext cx="145237" cy="156667"/>
          </a:xfrm>
          <a:prstGeom prst="rect">
            <a:avLst/>
          </a:prstGeom>
          <a:solidFill>
            <a:srgbClr val="747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10831829" y="3072384"/>
            <a:ext cx="145237" cy="156667"/>
          </a:xfrm>
          <a:prstGeom prst="rect">
            <a:avLst/>
          </a:prstGeom>
          <a:solidFill>
            <a:srgbClr val="315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10831829" y="3221736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10831829" y="3371088"/>
            <a:ext cx="145237" cy="156667"/>
          </a:xfrm>
          <a:prstGeom prst="rect">
            <a:avLst/>
          </a:prstGeom>
          <a:solidFill>
            <a:srgbClr val="557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Rectangle 407"/>
          <p:cNvSpPr/>
          <p:nvPr/>
        </p:nvSpPr>
        <p:spPr>
          <a:xfrm>
            <a:off x="10831829" y="3520439"/>
            <a:ext cx="145237" cy="156667"/>
          </a:xfrm>
          <a:prstGeom prst="rect">
            <a:avLst/>
          </a:prstGeom>
          <a:solidFill>
            <a:srgbClr val="67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10831829" y="3669792"/>
            <a:ext cx="145237" cy="156667"/>
          </a:xfrm>
          <a:prstGeom prst="rect">
            <a:avLst/>
          </a:prstGeom>
          <a:solidFill>
            <a:srgbClr val="799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10831829" y="3819143"/>
            <a:ext cx="145237" cy="156667"/>
          </a:xfrm>
          <a:prstGeom prst="rect">
            <a:avLst/>
          </a:prstGeom>
          <a:solidFill>
            <a:srgbClr val="368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10831829" y="3968496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10831829" y="4117847"/>
            <a:ext cx="145237" cy="156667"/>
          </a:xfrm>
          <a:prstGeom prst="rect">
            <a:avLst/>
          </a:prstGeom>
          <a:solidFill>
            <a:srgbClr val="5AA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10831829" y="4267199"/>
            <a:ext cx="145237" cy="156667"/>
          </a:xfrm>
          <a:prstGeom prst="rect">
            <a:avLst/>
          </a:prstGeom>
          <a:solidFill>
            <a:srgbClr val="6CB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10831829" y="4416552"/>
            <a:ext cx="145237" cy="156667"/>
          </a:xfrm>
          <a:prstGeom prst="rect">
            <a:avLst/>
          </a:prstGeom>
          <a:solidFill>
            <a:srgbClr val="7E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1083182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10831829" y="471525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10969752" y="2176272"/>
            <a:ext cx="145237" cy="156667"/>
          </a:xfrm>
          <a:prstGeom prst="rect">
            <a:avLst/>
          </a:prstGeom>
          <a:solidFill>
            <a:srgbClr val="468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Rectangle 417"/>
          <p:cNvSpPr/>
          <p:nvPr/>
        </p:nvSpPr>
        <p:spPr>
          <a:xfrm>
            <a:off x="10969752" y="2325623"/>
            <a:ext cx="145237" cy="156667"/>
          </a:xfrm>
          <a:prstGeom prst="rect">
            <a:avLst/>
          </a:prstGeom>
          <a:solidFill>
            <a:srgbClr val="789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10969752" y="2474976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Rectangle 419"/>
          <p:cNvSpPr/>
          <p:nvPr/>
        </p:nvSpPr>
        <p:spPr>
          <a:xfrm>
            <a:off x="10969752" y="2624328"/>
            <a:ext cx="145237" cy="156667"/>
          </a:xfrm>
          <a:prstGeom prst="rect">
            <a:avLst/>
          </a:prstGeom>
          <a:solidFill>
            <a:srgbClr val="33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Rectangle 420"/>
          <p:cNvSpPr/>
          <p:nvPr/>
        </p:nvSpPr>
        <p:spPr>
          <a:xfrm>
            <a:off x="10969752" y="2773680"/>
            <a:ext cx="145237" cy="156667"/>
          </a:xfrm>
          <a:prstGeom prst="rect">
            <a:avLst/>
          </a:prstGeom>
          <a:solidFill>
            <a:srgbClr val="657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10969752" y="2923031"/>
            <a:ext cx="145237" cy="156667"/>
          </a:xfrm>
          <a:prstGeom prst="rect">
            <a:avLst/>
          </a:prstGeom>
          <a:solidFill>
            <a:srgbClr val="436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Rectangle 422"/>
          <p:cNvSpPr/>
          <p:nvPr/>
        </p:nvSpPr>
        <p:spPr>
          <a:xfrm>
            <a:off x="10969752" y="3072384"/>
            <a:ext cx="145237" cy="156667"/>
          </a:xfrm>
          <a:prstGeom prst="rect">
            <a:avLst/>
          </a:prstGeom>
          <a:solidFill>
            <a:srgbClr val="757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Rectangle 423"/>
          <p:cNvSpPr/>
          <p:nvPr/>
        </p:nvSpPr>
        <p:spPr>
          <a:xfrm>
            <a:off x="10969752" y="3221736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10969752" y="3371088"/>
            <a:ext cx="145237" cy="156667"/>
          </a:xfrm>
          <a:prstGeom prst="rect">
            <a:avLst/>
          </a:prstGeom>
          <a:solidFill>
            <a:srgbClr val="30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Rectangle 425"/>
          <p:cNvSpPr/>
          <p:nvPr/>
        </p:nvSpPr>
        <p:spPr>
          <a:xfrm>
            <a:off x="10969752" y="3520439"/>
            <a:ext cx="145237" cy="156667"/>
          </a:xfrm>
          <a:prstGeom prst="rect">
            <a:avLst/>
          </a:prstGeom>
          <a:solidFill>
            <a:srgbClr val="625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Rectangle 426"/>
          <p:cNvSpPr/>
          <p:nvPr/>
        </p:nvSpPr>
        <p:spPr>
          <a:xfrm>
            <a:off x="10969752" y="3669792"/>
            <a:ext cx="145237" cy="156667"/>
          </a:xfrm>
          <a:prstGeom prst="rect">
            <a:avLst/>
          </a:prstGeom>
          <a:solidFill>
            <a:srgbClr val="3F48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Rectangle 427"/>
          <p:cNvSpPr/>
          <p:nvPr/>
        </p:nvSpPr>
        <p:spPr>
          <a:xfrm>
            <a:off x="10969752" y="3819143"/>
            <a:ext cx="145237" cy="156667"/>
          </a:xfrm>
          <a:prstGeom prst="rect">
            <a:avLst/>
          </a:prstGeom>
          <a:solidFill>
            <a:srgbClr val="725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Rectangle 428"/>
          <p:cNvSpPr/>
          <p:nvPr/>
        </p:nvSpPr>
        <p:spPr>
          <a:xfrm>
            <a:off x="10969752" y="3968496"/>
            <a:ext cx="145237" cy="156667"/>
          </a:xfrm>
          <a:prstGeom prst="rect">
            <a:avLst/>
          </a:prstGeom>
          <a:solidFill>
            <a:srgbClr val="4F4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Rectangle 429"/>
          <p:cNvSpPr/>
          <p:nvPr/>
        </p:nvSpPr>
        <p:spPr>
          <a:xfrm>
            <a:off x="10969752" y="4117847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Rectangle 430"/>
          <p:cNvSpPr/>
          <p:nvPr/>
        </p:nvSpPr>
        <p:spPr>
          <a:xfrm>
            <a:off x="10969752" y="4267199"/>
            <a:ext cx="145237" cy="156667"/>
          </a:xfrm>
          <a:prstGeom prst="rect">
            <a:avLst/>
          </a:prstGeom>
          <a:solidFill>
            <a:srgbClr val="5FD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Rectangle 431"/>
          <p:cNvSpPr/>
          <p:nvPr/>
        </p:nvSpPr>
        <p:spPr>
          <a:xfrm>
            <a:off x="10969752" y="4416552"/>
            <a:ext cx="145237" cy="156667"/>
          </a:xfrm>
          <a:prstGeom prst="rect">
            <a:avLst/>
          </a:prstGeom>
          <a:solidFill>
            <a:srgbClr val="3CB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Rectangle 432"/>
          <p:cNvSpPr/>
          <p:nvPr/>
        </p:nvSpPr>
        <p:spPr>
          <a:xfrm>
            <a:off x="10969752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Rectangle 433"/>
          <p:cNvSpPr/>
          <p:nvPr/>
        </p:nvSpPr>
        <p:spPr>
          <a:xfrm>
            <a:off x="10969752" y="4715256"/>
            <a:ext cx="145237" cy="156667"/>
          </a:xfrm>
          <a:prstGeom prst="rect">
            <a:avLst/>
          </a:prstGeom>
          <a:solidFill>
            <a:srgbClr val="4C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Rectangle 434"/>
          <p:cNvSpPr/>
          <p:nvPr/>
        </p:nvSpPr>
        <p:spPr>
          <a:xfrm>
            <a:off x="11107674" y="2176272"/>
            <a:ext cx="145237" cy="156667"/>
          </a:xfrm>
          <a:prstGeom prst="rect">
            <a:avLst/>
          </a:prstGeom>
          <a:solidFill>
            <a:srgbClr val="725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Rectangle 435"/>
          <p:cNvSpPr/>
          <p:nvPr/>
        </p:nvSpPr>
        <p:spPr>
          <a:xfrm>
            <a:off x="11107674" y="2325623"/>
            <a:ext cx="145237" cy="156667"/>
          </a:xfrm>
          <a:prstGeom prst="rect">
            <a:avLst/>
          </a:prstGeom>
          <a:solidFill>
            <a:srgbClr val="6F4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Rectangle 436"/>
          <p:cNvSpPr/>
          <p:nvPr/>
        </p:nvSpPr>
        <p:spPr>
          <a:xfrm>
            <a:off x="11107674" y="2474976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Rectangle 437"/>
          <p:cNvSpPr/>
          <p:nvPr/>
        </p:nvSpPr>
        <p:spPr>
          <a:xfrm>
            <a:off x="11107674" y="2624328"/>
            <a:ext cx="145237" cy="156667"/>
          </a:xfrm>
          <a:prstGeom prst="rect">
            <a:avLst/>
          </a:prstGeom>
          <a:solidFill>
            <a:srgbClr val="6BA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Rectangle 438"/>
          <p:cNvSpPr/>
          <p:nvPr/>
        </p:nvSpPr>
        <p:spPr>
          <a:xfrm>
            <a:off x="11107674" y="2773680"/>
            <a:ext cx="145237" cy="156667"/>
          </a:xfrm>
          <a:prstGeom prst="rect">
            <a:avLst/>
          </a:prstGeom>
          <a:solidFill>
            <a:srgbClr val="689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Rectangle 439"/>
          <p:cNvSpPr/>
          <p:nvPr/>
        </p:nvSpPr>
        <p:spPr>
          <a:xfrm>
            <a:off x="11107674" y="2923031"/>
            <a:ext cx="145237" cy="156667"/>
          </a:xfrm>
          <a:prstGeom prst="rect">
            <a:avLst/>
          </a:prstGeom>
          <a:solidFill>
            <a:srgbClr val="668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Rectangle 440"/>
          <p:cNvSpPr/>
          <p:nvPr/>
        </p:nvSpPr>
        <p:spPr>
          <a:xfrm>
            <a:off x="11107674" y="3072384"/>
            <a:ext cx="145237" cy="156667"/>
          </a:xfrm>
          <a:prstGeom prst="rect">
            <a:avLst/>
          </a:prstGeom>
          <a:solidFill>
            <a:srgbClr val="64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Rectangle 441"/>
          <p:cNvSpPr/>
          <p:nvPr/>
        </p:nvSpPr>
        <p:spPr>
          <a:xfrm>
            <a:off x="11107674" y="322173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Rectangle 442"/>
          <p:cNvSpPr/>
          <p:nvPr/>
        </p:nvSpPr>
        <p:spPr>
          <a:xfrm>
            <a:off x="11107674" y="3371088"/>
            <a:ext cx="145237" cy="156667"/>
          </a:xfrm>
          <a:prstGeom prst="rect">
            <a:avLst/>
          </a:prstGeom>
          <a:solidFill>
            <a:srgbClr val="5F4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Rectangle 443"/>
          <p:cNvSpPr/>
          <p:nvPr/>
        </p:nvSpPr>
        <p:spPr>
          <a:xfrm>
            <a:off x="11107674" y="3520439"/>
            <a:ext cx="145237" cy="156667"/>
          </a:xfrm>
          <a:prstGeom prst="rect">
            <a:avLst/>
          </a:prstGeom>
          <a:solidFill>
            <a:srgbClr val="5D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Rectangle 444"/>
          <p:cNvSpPr/>
          <p:nvPr/>
        </p:nvSpPr>
        <p:spPr>
          <a:xfrm>
            <a:off x="11107674" y="3669792"/>
            <a:ext cx="145237" cy="156667"/>
          </a:xfrm>
          <a:prstGeom prst="rect">
            <a:avLst/>
          </a:prstGeom>
          <a:solidFill>
            <a:srgbClr val="5AA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Rectangle 445"/>
          <p:cNvSpPr/>
          <p:nvPr/>
        </p:nvSpPr>
        <p:spPr>
          <a:xfrm>
            <a:off x="11107674" y="3819143"/>
            <a:ext cx="145237" cy="156667"/>
          </a:xfrm>
          <a:prstGeom prst="rect">
            <a:avLst/>
          </a:prstGeom>
          <a:solidFill>
            <a:srgbClr val="589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Rectangle 446"/>
          <p:cNvSpPr/>
          <p:nvPr/>
        </p:nvSpPr>
        <p:spPr>
          <a:xfrm>
            <a:off x="11107674" y="3968496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Rectangle 447"/>
          <p:cNvSpPr/>
          <p:nvPr/>
        </p:nvSpPr>
        <p:spPr>
          <a:xfrm>
            <a:off x="11107674" y="4117847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Rectangle 448"/>
          <p:cNvSpPr/>
          <p:nvPr/>
        </p:nvSpPr>
        <p:spPr>
          <a:xfrm>
            <a:off x="11107674" y="4267199"/>
            <a:ext cx="145237" cy="156667"/>
          </a:xfrm>
          <a:prstGeom prst="rect">
            <a:avLst/>
          </a:prstGeom>
          <a:solidFill>
            <a:srgbClr val="515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Rectangle 449"/>
          <p:cNvSpPr/>
          <p:nvPr/>
        </p:nvSpPr>
        <p:spPr>
          <a:xfrm>
            <a:off x="11107674" y="4416552"/>
            <a:ext cx="145237" cy="156667"/>
          </a:xfrm>
          <a:prstGeom prst="rect">
            <a:avLst/>
          </a:prstGeom>
          <a:solidFill>
            <a:srgbClr val="4FD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Rectangle 450"/>
          <p:cNvSpPr/>
          <p:nvPr/>
        </p:nvSpPr>
        <p:spPr>
          <a:xfrm>
            <a:off x="11107674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Rectangle 451"/>
          <p:cNvSpPr/>
          <p:nvPr/>
        </p:nvSpPr>
        <p:spPr>
          <a:xfrm>
            <a:off x="11107674" y="4715256"/>
            <a:ext cx="145237" cy="156667"/>
          </a:xfrm>
          <a:prstGeom prst="rect">
            <a:avLst/>
          </a:prstGeom>
          <a:solidFill>
            <a:srgbClr val="4AA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Rectangle 452"/>
          <p:cNvSpPr/>
          <p:nvPr/>
        </p:nvSpPr>
        <p:spPr>
          <a:xfrm>
            <a:off x="11245595" y="2176272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Rectangle 453"/>
          <p:cNvSpPr/>
          <p:nvPr/>
        </p:nvSpPr>
        <p:spPr>
          <a:xfrm>
            <a:off x="11245595" y="2325623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Rectangle 454"/>
          <p:cNvSpPr/>
          <p:nvPr/>
        </p:nvSpPr>
        <p:spPr>
          <a:xfrm>
            <a:off x="11245595" y="2474976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Rectangle 455"/>
          <p:cNvSpPr/>
          <p:nvPr/>
        </p:nvSpPr>
        <p:spPr>
          <a:xfrm>
            <a:off x="11245595" y="2624328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Rectangle 456"/>
          <p:cNvSpPr/>
          <p:nvPr/>
        </p:nvSpPr>
        <p:spPr>
          <a:xfrm>
            <a:off x="11245595" y="2773680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Rectangle 457"/>
          <p:cNvSpPr/>
          <p:nvPr/>
        </p:nvSpPr>
        <p:spPr>
          <a:xfrm>
            <a:off x="11245595" y="2923031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Rectangle 458"/>
          <p:cNvSpPr/>
          <p:nvPr/>
        </p:nvSpPr>
        <p:spPr>
          <a:xfrm>
            <a:off x="11245595" y="3072384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Rectangle 459"/>
          <p:cNvSpPr/>
          <p:nvPr/>
        </p:nvSpPr>
        <p:spPr>
          <a:xfrm>
            <a:off x="11245595" y="3221736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Rectangle 460"/>
          <p:cNvSpPr/>
          <p:nvPr/>
        </p:nvSpPr>
        <p:spPr>
          <a:xfrm>
            <a:off x="11245595" y="3371088"/>
            <a:ext cx="145237" cy="156667"/>
          </a:xfrm>
          <a:prstGeom prst="rect">
            <a:avLst/>
          </a:prstGeom>
          <a:solidFill>
            <a:srgbClr val="39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Rectangle 461"/>
          <p:cNvSpPr/>
          <p:nvPr/>
        </p:nvSpPr>
        <p:spPr>
          <a:xfrm>
            <a:off x="11245595" y="3520439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Rectangle 462"/>
          <p:cNvSpPr/>
          <p:nvPr/>
        </p:nvSpPr>
        <p:spPr>
          <a:xfrm>
            <a:off x="11245595" y="3669792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Rectangle 463"/>
          <p:cNvSpPr/>
          <p:nvPr/>
        </p:nvSpPr>
        <p:spPr>
          <a:xfrm>
            <a:off x="11245595" y="3819143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Rectangle 464"/>
          <p:cNvSpPr/>
          <p:nvPr/>
        </p:nvSpPr>
        <p:spPr>
          <a:xfrm>
            <a:off x="11245595" y="396849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Rectangle 465"/>
          <p:cNvSpPr/>
          <p:nvPr/>
        </p:nvSpPr>
        <p:spPr>
          <a:xfrm>
            <a:off x="11245595" y="4117847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Rectangle 466"/>
          <p:cNvSpPr/>
          <p:nvPr/>
        </p:nvSpPr>
        <p:spPr>
          <a:xfrm>
            <a:off x="11245595" y="4267199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Rectangle 467"/>
          <p:cNvSpPr/>
          <p:nvPr/>
        </p:nvSpPr>
        <p:spPr>
          <a:xfrm>
            <a:off x="11245595" y="4416552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Rectangle 468"/>
          <p:cNvSpPr/>
          <p:nvPr/>
        </p:nvSpPr>
        <p:spPr>
          <a:xfrm>
            <a:off x="11245595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Rectangle 469"/>
          <p:cNvSpPr/>
          <p:nvPr/>
        </p:nvSpPr>
        <p:spPr>
          <a:xfrm>
            <a:off x="11245595" y="4715256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Rectangle 470"/>
          <p:cNvSpPr/>
          <p:nvPr/>
        </p:nvSpPr>
        <p:spPr>
          <a:xfrm>
            <a:off x="11383517" y="2176272"/>
            <a:ext cx="145237" cy="156667"/>
          </a:xfrm>
          <a:prstGeom prst="rect">
            <a:avLst/>
          </a:prstGeom>
          <a:solidFill>
            <a:srgbClr val="7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Rectangle 471"/>
          <p:cNvSpPr/>
          <p:nvPr/>
        </p:nvSpPr>
        <p:spPr>
          <a:xfrm>
            <a:off x="11383517" y="2325623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Rectangle 472"/>
          <p:cNvSpPr/>
          <p:nvPr/>
        </p:nvSpPr>
        <p:spPr>
          <a:xfrm>
            <a:off x="11383517" y="2474976"/>
            <a:ext cx="145237" cy="156667"/>
          </a:xfrm>
          <a:prstGeom prst="rect">
            <a:avLst/>
          </a:prstGeom>
          <a:solidFill>
            <a:srgbClr val="4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Rectangle 473"/>
          <p:cNvSpPr/>
          <p:nvPr/>
        </p:nvSpPr>
        <p:spPr>
          <a:xfrm>
            <a:off x="11383517" y="2624328"/>
            <a:ext cx="145237" cy="156667"/>
          </a:xfrm>
          <a:prstGeom prst="rect">
            <a:avLst/>
          </a:prstGeom>
          <a:solidFill>
            <a:srgbClr val="304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Rectangle 474"/>
          <p:cNvSpPr/>
          <p:nvPr/>
        </p:nvSpPr>
        <p:spPr>
          <a:xfrm>
            <a:off x="11383517" y="2773680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Rectangle 475"/>
          <p:cNvSpPr/>
          <p:nvPr/>
        </p:nvSpPr>
        <p:spPr>
          <a:xfrm>
            <a:off x="11383517" y="2923031"/>
            <a:ext cx="145237" cy="156667"/>
          </a:xfrm>
          <a:prstGeom prst="rect">
            <a:avLst/>
          </a:prstGeom>
          <a:solidFill>
            <a:srgbClr val="589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Rectangle 476"/>
          <p:cNvSpPr/>
          <p:nvPr/>
        </p:nvSpPr>
        <p:spPr>
          <a:xfrm>
            <a:off x="11383517" y="3072384"/>
            <a:ext cx="145237" cy="156667"/>
          </a:xfrm>
          <a:prstGeom prst="rect">
            <a:avLst/>
          </a:prstGeom>
          <a:solidFill>
            <a:srgbClr val="415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Rectangle 477"/>
          <p:cNvSpPr/>
          <p:nvPr/>
        </p:nvSpPr>
        <p:spPr>
          <a:xfrm>
            <a:off x="11383517" y="3221736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Rectangle 478"/>
          <p:cNvSpPr/>
          <p:nvPr/>
        </p:nvSpPr>
        <p:spPr>
          <a:xfrm>
            <a:off x="11383517" y="3371088"/>
            <a:ext cx="145237" cy="156667"/>
          </a:xfrm>
          <a:prstGeom prst="rect">
            <a:avLst/>
          </a:prstGeom>
          <a:solidFill>
            <a:srgbClr val="69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Rectangle 479"/>
          <p:cNvSpPr/>
          <p:nvPr/>
        </p:nvSpPr>
        <p:spPr>
          <a:xfrm>
            <a:off x="11383517" y="3520439"/>
            <a:ext cx="145237" cy="156667"/>
          </a:xfrm>
          <a:prstGeom prst="rect">
            <a:avLst/>
          </a:prstGeom>
          <a:solidFill>
            <a:srgbClr val="525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Rectangle 480"/>
          <p:cNvSpPr/>
          <p:nvPr/>
        </p:nvSpPr>
        <p:spPr>
          <a:xfrm>
            <a:off x="11383517" y="3669792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11383517" y="3819143"/>
            <a:ext cx="145237" cy="156667"/>
          </a:xfrm>
          <a:prstGeom prst="rect">
            <a:avLst/>
          </a:prstGeom>
          <a:solidFill>
            <a:srgbClr val="7AA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Rectangle 482"/>
          <p:cNvSpPr/>
          <p:nvPr/>
        </p:nvSpPr>
        <p:spPr>
          <a:xfrm>
            <a:off x="11383517" y="3968496"/>
            <a:ext cx="145237" cy="156667"/>
          </a:xfrm>
          <a:prstGeom prst="rect">
            <a:avLst/>
          </a:prstGeom>
          <a:solidFill>
            <a:srgbClr val="63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Rectangle 483"/>
          <p:cNvSpPr/>
          <p:nvPr/>
        </p:nvSpPr>
        <p:spPr>
          <a:xfrm>
            <a:off x="11383517" y="4117847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Rectangle 484"/>
          <p:cNvSpPr/>
          <p:nvPr/>
        </p:nvSpPr>
        <p:spPr>
          <a:xfrm>
            <a:off x="11383517" y="4267199"/>
            <a:ext cx="145237" cy="156667"/>
          </a:xfrm>
          <a:prstGeom prst="rect">
            <a:avLst/>
          </a:prstGeom>
          <a:solidFill>
            <a:srgbClr val="368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Rectangle 485"/>
          <p:cNvSpPr/>
          <p:nvPr/>
        </p:nvSpPr>
        <p:spPr>
          <a:xfrm>
            <a:off x="11383517" y="4416552"/>
            <a:ext cx="145237" cy="156667"/>
          </a:xfrm>
          <a:prstGeom prst="rect">
            <a:avLst/>
          </a:prstGeom>
          <a:solidFill>
            <a:srgbClr val="7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Rectangle 486"/>
          <p:cNvSpPr/>
          <p:nvPr/>
        </p:nvSpPr>
        <p:spPr>
          <a:xfrm>
            <a:off x="11383517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Rectangle 487"/>
          <p:cNvSpPr/>
          <p:nvPr/>
        </p:nvSpPr>
        <p:spPr>
          <a:xfrm>
            <a:off x="11383517" y="4715256"/>
            <a:ext cx="145237" cy="156667"/>
          </a:xfrm>
          <a:prstGeom prst="rect">
            <a:avLst/>
          </a:prstGeom>
          <a:solidFill>
            <a:srgbClr val="4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TextBox 488"/>
          <p:cNvSpPr txBox="1"/>
          <p:nvPr/>
        </p:nvSpPr>
        <p:spPr>
          <a:xfrm>
            <a:off x="8211311" y="4983480"/>
            <a:ext cx="331012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6251B1"/>
                </a:solidFill>
                <a:latin typeface="Alibaba PuHuiTi 3.0 115 Black"/>
              </a:defRPr>
            </a:pPr>
            <a:r>
              <a:t>C：复杂变化</a:t>
            </a:r>
          </a:p>
        </p:txBody>
      </p:sp>
      <p:sp>
        <p:nvSpPr>
          <p:cNvPr id="490" name="TextBox 489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如果只允许无损压缩，哪张图最容易用更短的规则完整表示？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不仅选择，还要解释“重复”和“规律”。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答案：A通常最小。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纯色图像的重复与规律性最强，一般更容易用简短规则表示。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同一张图：BMP与JPG有什么不同？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947672"/>
            <a:ext cx="5047488" cy="276148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1947672"/>
            <a:ext cx="5047488" cy="27614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2104" y="4892040"/>
            <a:ext cx="49834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同源原图（无损保存示意）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91656" y="4892040"/>
            <a:ext cx="4956048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同一图像：低质量JPEG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两图尺寸相同；右图仅用于观察明显压缩伪影，不代表所有JPEG质量。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已经压成MP3、JPG，再用RAR压一遍呢？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第一次压缩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再次压缩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有些重复或不重要的信息被更简洁地表示，文件大幅减小。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可进一步利用的冗余通常较少，RAR再压往往收效不大。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注意：再次用有损编码重新保存，还可能累积质量损失。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是不是压得越小就一定越好？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rPr sz="2700" b="1">
                <a:solidFill>
                  <a:srgbClr val="6251B1"/>
                </a:solidFill>
                <a:latin typeface="Alibaba PuHuiTi 3.0 115 Black"/>
              </a:rPr>
              <a:t>重要文档长期备份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rPr sz="2700" b="1">
                <a:solidFill>
                  <a:srgbClr val="00B0F0"/>
                </a:solidFill>
                <a:latin typeface="Alibaba PuHuiTi 3.0 115 Black"/>
              </a:rPr>
              <a:t>实时视频通话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rPr sz="2300">
                <a:latin typeface="Alibaba PuHuiTi 3.0 55 Regular"/>
              </a:rPr>
              <a:t>优先考虑信息完整、能够恢复，以及可靠保存。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rPr sz="2300">
                <a:latin typeface="Alibaba PuHuiTi 3.0 55 Regular"/>
              </a:rPr>
              <a:t>优先兼顾流畅度、延迟、声音画面质量和传输量。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选择编码与压缩方式，要看具体任务，而不是只比文件大小。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逐条作答，并解释理由。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答案：①错；②对；③对。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①音轨不等于声道；②每帧的数据量相加可能很大；③ZIP为无损归档。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离开课堂前，你能解释三个为什么吗？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82880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① 声音为什么能变成一组0和1？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306324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② 小视频为什么可能算出6.44 GiB？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42976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③ 有些文件为什么压缩后变化很小？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可选拓展：采样不足时会发生什么？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2468880"/>
            <a:ext cx="950976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88720" y="1810512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16152" y="149961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258775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271016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波形 A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88720" y="2369440"/>
            <a:ext cx="87325" cy="445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76045" y="2325261"/>
            <a:ext cx="87325" cy="4417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63370" y="2281869"/>
            <a:ext cx="87325" cy="4339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50695" y="2239650"/>
            <a:ext cx="87325" cy="422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8020" y="2198979"/>
            <a:ext cx="87326" cy="4067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25346" y="2160216"/>
            <a:ext cx="87325" cy="3876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12671" y="2123706"/>
            <a:ext cx="87325" cy="365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99996" y="2089773"/>
            <a:ext cx="87325" cy="339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87321" y="2058718"/>
            <a:ext cx="87325" cy="310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74646" y="2030817"/>
            <a:ext cx="87326" cy="279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61972" y="2006317"/>
            <a:ext cx="87325" cy="2450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49297" y="1985436"/>
            <a:ext cx="87325" cy="2088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36622" y="1968359"/>
            <a:ext cx="87325" cy="1707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23947" y="1955237"/>
            <a:ext cx="87325" cy="1312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11272" y="1946188"/>
            <a:ext cx="87326" cy="904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498598" y="1941291"/>
            <a:ext cx="87325" cy="48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585923" y="1940590"/>
            <a:ext cx="87325" cy="7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3248" y="1940590"/>
            <a:ext cx="87325" cy="35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60573" y="1944091"/>
            <a:ext cx="87325" cy="767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47898" y="1951764"/>
            <a:ext cx="87326" cy="117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35224" y="1963539"/>
            <a:ext cx="87325" cy="1577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22549" y="1979313"/>
            <a:ext cx="87325" cy="1963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09874" y="1998945"/>
            <a:ext cx="87325" cy="2331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197199" y="2022261"/>
            <a:ext cx="87325" cy="2679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284524" y="2049055"/>
            <a:ext cx="87326" cy="300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371850" y="2079088"/>
            <a:ext cx="87325" cy="3300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59175" y="2112094"/>
            <a:ext cx="87325" cy="3568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46500" y="2147780"/>
            <a:ext cx="87325" cy="3804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33825" y="2185828"/>
            <a:ext cx="87325" cy="400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21150" y="2225903"/>
            <a:ext cx="87326" cy="4174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08476" y="2267647"/>
            <a:ext cx="87325" cy="4304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895801" y="2310690"/>
            <a:ext cx="87325" cy="4396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983126" y="2354650"/>
            <a:ext cx="87325" cy="444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070451" y="2399138"/>
            <a:ext cx="87325" cy="446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157776" y="2443757"/>
            <a:ext cx="87326" cy="443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245102" y="2488112"/>
            <a:ext cx="87325" cy="4369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332427" y="2531810"/>
            <a:ext cx="87325" cy="4265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19752" y="2574462"/>
            <a:ext cx="87325" cy="4122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07077" y="2615690"/>
            <a:ext cx="87325" cy="3943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594402" y="2655128"/>
            <a:ext cx="87326" cy="372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681728" y="2692425"/>
            <a:ext cx="87325" cy="3482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769053" y="2727252"/>
            <a:ext cx="87325" cy="3204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856378" y="2759298"/>
            <a:ext cx="87325" cy="2898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943703" y="2788280"/>
            <a:ext cx="87325" cy="2565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031028" y="2813939"/>
            <a:ext cx="87326" cy="221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118354" y="2836049"/>
            <a:ext cx="87325" cy="1836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205679" y="2854413"/>
            <a:ext cx="87325" cy="1445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293004" y="2868867"/>
            <a:ext cx="87325" cy="1041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380329" y="2879285"/>
            <a:ext cx="87325" cy="62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467654" y="2885573"/>
            <a:ext cx="87326" cy="210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554980" y="2885573"/>
            <a:ext cx="87325" cy="210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642305" y="2879285"/>
            <a:ext cx="87325" cy="62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729630" y="2868867"/>
            <a:ext cx="87325" cy="1041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816955" y="2854413"/>
            <a:ext cx="87325" cy="1445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904280" y="2836049"/>
            <a:ext cx="87326" cy="1836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991606" y="2813939"/>
            <a:ext cx="87325" cy="221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078931" y="2788280"/>
            <a:ext cx="87325" cy="2565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166256" y="2759298"/>
            <a:ext cx="87325" cy="2898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253581" y="2727252"/>
            <a:ext cx="87325" cy="3204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340906" y="2692425"/>
            <a:ext cx="87326" cy="3482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428232" y="2655128"/>
            <a:ext cx="87325" cy="372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515557" y="2615690"/>
            <a:ext cx="87325" cy="3943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602882" y="2574462"/>
            <a:ext cx="87325" cy="4122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690207" y="2531810"/>
            <a:ext cx="87325" cy="4265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777532" y="2488112"/>
            <a:ext cx="87326" cy="4369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6864858" y="2443757"/>
            <a:ext cx="87325" cy="443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952183" y="2399138"/>
            <a:ext cx="87325" cy="446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039508" y="2354650"/>
            <a:ext cx="87325" cy="444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126833" y="2310690"/>
            <a:ext cx="87325" cy="4396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214158" y="2267647"/>
            <a:ext cx="87326" cy="4304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301484" y="2225903"/>
            <a:ext cx="87325" cy="4174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388809" y="2185828"/>
            <a:ext cx="87325" cy="400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476134" y="2147780"/>
            <a:ext cx="87325" cy="3804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563459" y="2112094"/>
            <a:ext cx="87325" cy="3568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7650784" y="2079088"/>
            <a:ext cx="87326" cy="3300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7738110" y="2049055"/>
            <a:ext cx="87325" cy="300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7825435" y="2022261"/>
            <a:ext cx="87325" cy="2679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7912760" y="1998945"/>
            <a:ext cx="87325" cy="2331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000085" y="1979313"/>
            <a:ext cx="87325" cy="1963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087410" y="1963539"/>
            <a:ext cx="87326" cy="1577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174736" y="1951764"/>
            <a:ext cx="87325" cy="117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262061" y="1944091"/>
            <a:ext cx="87325" cy="767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8349386" y="1940590"/>
            <a:ext cx="87325" cy="35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436711" y="1940590"/>
            <a:ext cx="87325" cy="7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524036" y="1941291"/>
            <a:ext cx="87326" cy="48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611362" y="1946188"/>
            <a:ext cx="87325" cy="904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698687" y="1955237"/>
            <a:ext cx="87325" cy="1312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786012" y="1968359"/>
            <a:ext cx="87325" cy="1707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8873337" y="1985436"/>
            <a:ext cx="87325" cy="2088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960662" y="2006317"/>
            <a:ext cx="87326" cy="2450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047988" y="2030817"/>
            <a:ext cx="87325" cy="279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135313" y="2058718"/>
            <a:ext cx="87325" cy="310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222638" y="2089773"/>
            <a:ext cx="87325" cy="339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309963" y="2123706"/>
            <a:ext cx="87325" cy="365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397288" y="2160216"/>
            <a:ext cx="87326" cy="3876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484614" y="2198979"/>
            <a:ext cx="87325" cy="4067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571939" y="2239650"/>
            <a:ext cx="87325" cy="422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9659264" y="2281869"/>
            <a:ext cx="87325" cy="4339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746589" y="2325261"/>
            <a:ext cx="87325" cy="4417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9833914" y="2369440"/>
            <a:ext cx="87326" cy="445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097280" y="4425696"/>
            <a:ext cx="950976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188720" y="3767328"/>
            <a:ext cx="0" cy="132587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1216152" y="345643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692640" y="454456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97280" y="3227832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波形 B</a:t>
            </a:r>
          </a:p>
        </p:txBody>
      </p:sp>
      <p:cxnSp>
        <p:nvCxnSpPr>
          <p:cNvPr id="115" name="Connector 114"/>
          <p:cNvCxnSpPr/>
          <p:nvPr/>
        </p:nvCxnSpPr>
        <p:spPr>
          <a:xfrm flipV="1">
            <a:off x="1188720" y="4267506"/>
            <a:ext cx="87325" cy="10332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276045" y="4169157"/>
            <a:ext cx="87325" cy="983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363370" y="4080522"/>
            <a:ext cx="87325" cy="8863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450695" y="4005871"/>
            <a:ext cx="87325" cy="7465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538020" y="3948798"/>
            <a:ext cx="87326" cy="570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1625346" y="3912053"/>
            <a:ext cx="87325" cy="3674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1712671" y="3897406"/>
            <a:ext cx="87325" cy="146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799996" y="3897406"/>
            <a:ext cx="87325" cy="815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887321" y="3905562"/>
            <a:ext cx="87325" cy="3056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974646" y="3936129"/>
            <a:ext cx="87326" cy="5150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2061972" y="3987633"/>
            <a:ext cx="87325" cy="6996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2149297" y="4057595"/>
            <a:ext cx="87325" cy="850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2236622" y="4142644"/>
            <a:ext cx="87325" cy="960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2323947" y="4238685"/>
            <a:ext cx="87325" cy="10240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2411272" y="4341090"/>
            <a:ext cx="87326" cy="10383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2498598" y="4444928"/>
            <a:ext cx="87325" cy="10026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2585923" y="4545197"/>
            <a:ext cx="87325" cy="9187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2673248" y="4637067"/>
            <a:ext cx="87325" cy="790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2760573" y="4716114"/>
            <a:ext cx="87325" cy="6241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2847898" y="4778530"/>
            <a:ext cx="87326" cy="4277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2935224" y="4821308"/>
            <a:ext cx="87325" cy="2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3022549" y="4840756"/>
            <a:ext cx="87325" cy="16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3109874" y="4816488"/>
            <a:ext cx="87325" cy="2426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3197199" y="4770755"/>
            <a:ext cx="87325" cy="457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3284524" y="4705759"/>
            <a:ext cx="87326" cy="6499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3371850" y="4624631"/>
            <a:ext cx="87325" cy="8112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3459175" y="4531278"/>
            <a:ext cx="87325" cy="9335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3546500" y="4430197"/>
            <a:ext cx="87325" cy="10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3633825" y="4326256"/>
            <a:ext cx="87325" cy="1039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3721150" y="4224463"/>
            <a:ext cx="87326" cy="10179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3808476" y="4129719"/>
            <a:ext cx="87325" cy="9474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3895801" y="4046589"/>
            <a:ext cx="87325" cy="831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3983126" y="3979077"/>
            <a:ext cx="87325" cy="6751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4070451" y="3930434"/>
            <a:ext cx="87325" cy="486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4157776" y="3903004"/>
            <a:ext cx="87326" cy="274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4245102" y="3898107"/>
            <a:ext cx="87325" cy="48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4332427" y="3898107"/>
            <a:ext cx="87325" cy="178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4419752" y="3915980"/>
            <a:ext cx="87325" cy="397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4507077" y="3955761"/>
            <a:ext cx="87325" cy="597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4594402" y="4015534"/>
            <a:ext cx="87326" cy="7688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681728" y="4092422"/>
            <a:ext cx="87325" cy="902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769053" y="4182719"/>
            <a:ext cx="87325" cy="9935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856378" y="4282077"/>
            <a:ext cx="87325" cy="10363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943703" y="4385709"/>
            <a:ext cx="87325" cy="10291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5031028" y="4488626"/>
            <a:ext cx="87326" cy="9724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5118354" y="4585868"/>
            <a:ext cx="87325" cy="8688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5205679" y="4672753"/>
            <a:ext cx="87325" cy="723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5293004" y="4745096"/>
            <a:ext cx="87325" cy="5431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5380329" y="4799411"/>
            <a:ext cx="87325" cy="3367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5467654" y="4833083"/>
            <a:ext cx="87326" cy="1140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5554980" y="4833083"/>
            <a:ext cx="87325" cy="1140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642305" y="4799411"/>
            <a:ext cx="87325" cy="3367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729630" y="4745096"/>
            <a:ext cx="87325" cy="5431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816955" y="4672753"/>
            <a:ext cx="87325" cy="723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904280" y="4585868"/>
            <a:ext cx="87326" cy="8688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991606" y="4488626"/>
            <a:ext cx="87325" cy="9724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6078931" y="4385709"/>
            <a:ext cx="87325" cy="10291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6166256" y="4282077"/>
            <a:ext cx="87325" cy="10363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6253581" y="4182719"/>
            <a:ext cx="87325" cy="9935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6340906" y="4092422"/>
            <a:ext cx="87326" cy="902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6428232" y="4015534"/>
            <a:ext cx="87325" cy="7688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6515557" y="3955761"/>
            <a:ext cx="87325" cy="597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602882" y="3915980"/>
            <a:ext cx="87325" cy="397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690207" y="3898107"/>
            <a:ext cx="87325" cy="178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6777532" y="3898107"/>
            <a:ext cx="87326" cy="48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6864858" y="3903004"/>
            <a:ext cx="87325" cy="274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6952183" y="3930434"/>
            <a:ext cx="87325" cy="486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7039508" y="3979077"/>
            <a:ext cx="87325" cy="6751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7126833" y="4046589"/>
            <a:ext cx="87325" cy="831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7214158" y="4129719"/>
            <a:ext cx="87326" cy="9474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7301484" y="4224463"/>
            <a:ext cx="87325" cy="10179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7388809" y="4326256"/>
            <a:ext cx="87325" cy="1039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7476134" y="4430197"/>
            <a:ext cx="87325" cy="10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7563459" y="4531278"/>
            <a:ext cx="87325" cy="9335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7650784" y="4624631"/>
            <a:ext cx="87326" cy="8112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7738110" y="4705759"/>
            <a:ext cx="87325" cy="6499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7825435" y="4770755"/>
            <a:ext cx="87325" cy="457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912760" y="4816488"/>
            <a:ext cx="87325" cy="2426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8000085" y="4840756"/>
            <a:ext cx="87325" cy="16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8087410" y="4821308"/>
            <a:ext cx="87326" cy="2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8174736" y="4778530"/>
            <a:ext cx="87325" cy="4277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8262061" y="4716114"/>
            <a:ext cx="87325" cy="6241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8349386" y="4637067"/>
            <a:ext cx="87325" cy="790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8436711" y="4545197"/>
            <a:ext cx="87325" cy="9187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8524036" y="4444928"/>
            <a:ext cx="87326" cy="10026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8611362" y="4341090"/>
            <a:ext cx="87325" cy="10383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8698687" y="4238685"/>
            <a:ext cx="87325" cy="10240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8786012" y="4142644"/>
            <a:ext cx="87325" cy="960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8873337" y="4057595"/>
            <a:ext cx="87325" cy="850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8960662" y="3987633"/>
            <a:ext cx="87326" cy="6996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9047988" y="3936129"/>
            <a:ext cx="87325" cy="5150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9135313" y="3905562"/>
            <a:ext cx="87325" cy="3056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9222638" y="3897406"/>
            <a:ext cx="87325" cy="815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9309963" y="3897406"/>
            <a:ext cx="87325" cy="146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9397288" y="3912053"/>
            <a:ext cx="87326" cy="3674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484614" y="3948798"/>
            <a:ext cx="87325" cy="570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571939" y="4005871"/>
            <a:ext cx="87325" cy="7465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659264" y="4080522"/>
            <a:ext cx="87325" cy="8863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746589" y="4169157"/>
            <a:ext cx="87325" cy="983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833914" y="4267506"/>
            <a:ext cx="87326" cy="10332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TextBox 214"/>
          <p:cNvSpPr txBox="1"/>
          <p:nvPr/>
        </p:nvSpPr>
        <p:spPr>
          <a:xfrm>
            <a:off x="777240" y="584301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拓展问题：少量离散样本，是否足以唯一确定连续信号？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可选拓展：编码和压缩不是同一件事。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声音编码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数据压缩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让连续声音能够用数字样本记录；也包括后续数据表示。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用更少的比特表达相同或近似相同的信息。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数字化、容器封装、压缩，是相关但不同的概念。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声音编码与数据压缩 · 视觉迭代v8.3.8</dc:title>
  <dc:subject>高中信息科技：声音数字化与数据压缩</dc:subject>
  <dc:creator/>
  <cp:keywords>采样,量化,编码,PCM,声道,音轨,数据压缩,冗余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
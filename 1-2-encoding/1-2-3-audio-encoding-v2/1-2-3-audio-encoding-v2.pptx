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c97a2a8ace4aff" /><Relationship Type="http://schemas.openxmlformats.org/officeDocument/2006/relationships/extended-properties" Target="/docProps/app.xml" Id="R73cc04fa5e834108" /><Relationship Type="http://schemas.openxmlformats.org/officeDocument/2006/relationships/officeDocument" Target="/ppt/presentation.xml" Id="R27096a355c1649af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88a032da7fb8443a"/>
  </p:sldMasterIdLst>
  <p:notesMasterIdLst>
    <p:notesMasterId r:id="Rab92e99659d5423e"/>
  </p:notesMasterIdLst>
  <p:sldIdLst>
    <p:sldId id="256" r:id="R58f69872dea34cc1"/>
    <p:sldId id="257" r:id="R70b1563818e44251"/>
    <p:sldId id="258" r:id="R010166a0f6d24024"/>
    <p:sldId id="259" r:id="R59535e759c024154"/>
    <p:sldId id="260" r:id="Re2617368c4b04eb6"/>
    <p:sldId id="261" r:id="R074354753254483f"/>
    <p:sldId id="262" r:id="R980127f14de14934"/>
    <p:sldId id="263" r:id="R7a31b2a9fbf74448"/>
    <p:sldId id="264" r:id="R959ccd4971644873"/>
    <p:sldId id="265" r:id="R2113771e971b4f6f"/>
    <p:sldId id="266" r:id="Rab396f4886a34e52"/>
    <p:sldId id="267" r:id="R9d1be675c2fc4855"/>
    <p:sldId id="268" r:id="R1aec23bdaf2b445d"/>
    <p:sldId id="269" r:id="R0fd0ea3371604bff"/>
    <p:sldId id="270" r:id="R21e99d41abe9475a"/>
    <p:sldId id="271" r:id="R9f84619afca444dd"/>
    <p:sldId id="272" r:id="R245e99a3a5b143b9"/>
    <p:sldId id="273" r:id="Rab02c02954144090"/>
    <p:sldId id="274" r:id="Rbacd8b7f8e5a4c29"/>
    <p:sldId id="275" r:id="R73f34ee3712f4e6a"/>
    <p:sldId id="276" r:id="R0ef5504c65a84566"/>
    <p:sldId id="277" r:id="Rdfba5f93aa26410e"/>
    <p:sldId id="278" r:id="Rd50364d36da84f06"/>
    <p:sldId id="279" r:id="R2d1690d49bca4a65"/>
    <p:sldId id="280" r:id="Ra977f23cf69c42c9"/>
    <p:sldId id="281" r:id="Rd721fe690c3649cb"/>
    <p:sldId id="282" r:id="R50f652d724cc4947"/>
    <p:sldId id="283" r:id="Ref98041459e540d8"/>
    <p:sldId id="284" r:id="R9c2c0321d923430d"/>
    <p:sldId id="285" r:id="R6b02f0d7c5974148"/>
    <p:sldId id="286" r:id="R9491ca2298594e18"/>
    <p:sldId id="287" r:id="R3e370d1b379b4f17"/>
    <p:sldId id="288" r:id="Ra07defc58bfa4a2b"/>
    <p:sldId id="289" r:id="Rcbb47d934c654188"/>
    <p:sldId id="290" r:id="R89f1e5f547af46e0"/>
    <p:sldId id="291" r:id="R6cb620e0920b4886"/>
    <p:sldId id="292" r:id="Rf1a61aa88c304fa8"/>
    <p:sldId id="293" r:id="R56a626fc955d485e"/>
    <p:sldId id="294" r:id="R583f8d3b8050419e"/>
    <p:sldId id="295" r:id="R23e9730b3fd34190"/>
    <p:sldId id="296" r:id="Rc6a1e9d5dd9f4864"/>
    <p:sldId id="297" r:id="Reec9437cbb5a4f2e"/>
    <p:sldId id="298" r:id="R56b0c77dfa2747f4"/>
    <p:sldId id="299" r:id="R7e9843049aa94b30"/>
    <p:sldId id="300" r:id="Rcdd39d0aae1b49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40ddf35a364f3a" /><Relationship Type="http://schemas.openxmlformats.org/officeDocument/2006/relationships/slideMaster" Target="/ppt/slideMasters/slideMaster1.xml" Id="R88a032da7fb8443a" /><Relationship Type="http://schemas.openxmlformats.org/officeDocument/2006/relationships/notesMaster" Target="/ppt/notesMasters/notesMaster1.xml" Id="Rab92e99659d5423e" /><Relationship Type="http://schemas.openxmlformats.org/officeDocument/2006/relationships/presProps" Target="/ppt/presProps.xml" Id="R5904d5e86b794ec6" /><Relationship Type="http://schemas.openxmlformats.org/officeDocument/2006/relationships/tableStyles" Target="/ppt/tableStyles.xml" Id="Rea48a89d4f954b3b" /><Relationship Type="http://schemas.openxmlformats.org/officeDocument/2006/relationships/slide" Target="/ppt/slides/slide1.xml" Id="R58f69872dea34cc1" /><Relationship Type="http://schemas.openxmlformats.org/officeDocument/2006/relationships/slide" Target="/ppt/slides/slide2.xml" Id="R70b1563818e44251" /><Relationship Type="http://schemas.openxmlformats.org/officeDocument/2006/relationships/slide" Target="/ppt/slides/slide3.xml" Id="R010166a0f6d24024" /><Relationship Type="http://schemas.openxmlformats.org/officeDocument/2006/relationships/slide" Target="/ppt/slides/slide4.xml" Id="R59535e759c024154" /><Relationship Type="http://schemas.openxmlformats.org/officeDocument/2006/relationships/slide" Target="/ppt/slides/slide5.xml" Id="Re2617368c4b04eb6" /><Relationship Type="http://schemas.openxmlformats.org/officeDocument/2006/relationships/slide" Target="/ppt/slides/slide6.xml" Id="R074354753254483f" /><Relationship Type="http://schemas.openxmlformats.org/officeDocument/2006/relationships/slide" Target="/ppt/slides/slide7.xml" Id="R980127f14de14934" /><Relationship Type="http://schemas.openxmlformats.org/officeDocument/2006/relationships/slide" Target="/ppt/slides/slide8.xml" Id="R7a31b2a9fbf74448" /><Relationship Type="http://schemas.openxmlformats.org/officeDocument/2006/relationships/slide" Target="/ppt/slides/slide9.xml" Id="R959ccd4971644873" /><Relationship Type="http://schemas.openxmlformats.org/officeDocument/2006/relationships/slide" Target="/ppt/slides/slide10.xml" Id="R2113771e971b4f6f" /><Relationship Type="http://schemas.openxmlformats.org/officeDocument/2006/relationships/slide" Target="/ppt/slides/slide11.xml" Id="Rab396f4886a34e52" /><Relationship Type="http://schemas.openxmlformats.org/officeDocument/2006/relationships/slide" Target="/ppt/slides/slide12.xml" Id="R9d1be675c2fc4855" /><Relationship Type="http://schemas.openxmlformats.org/officeDocument/2006/relationships/slide" Target="/ppt/slides/slide13.xml" Id="R1aec23bdaf2b445d" /><Relationship Type="http://schemas.openxmlformats.org/officeDocument/2006/relationships/slide" Target="/ppt/slides/slide14.xml" Id="R0fd0ea3371604bff" /><Relationship Type="http://schemas.openxmlformats.org/officeDocument/2006/relationships/slide" Target="/ppt/slides/slide15.xml" Id="R21e99d41abe9475a" /><Relationship Type="http://schemas.openxmlformats.org/officeDocument/2006/relationships/slide" Target="/ppt/slides/slide16.xml" Id="R9f84619afca444dd" /><Relationship Type="http://schemas.openxmlformats.org/officeDocument/2006/relationships/slide" Target="/ppt/slides/slide17.xml" Id="R245e99a3a5b143b9" /><Relationship Type="http://schemas.openxmlformats.org/officeDocument/2006/relationships/slide" Target="/ppt/slides/slide18.xml" Id="Rab02c02954144090" /><Relationship Type="http://schemas.openxmlformats.org/officeDocument/2006/relationships/slide" Target="/ppt/slides/slide19.xml" Id="Rbacd8b7f8e5a4c29" /><Relationship Type="http://schemas.openxmlformats.org/officeDocument/2006/relationships/slide" Target="/ppt/slides/slide20.xml" Id="R73f34ee3712f4e6a" /><Relationship Type="http://schemas.openxmlformats.org/officeDocument/2006/relationships/slide" Target="/ppt/slides/slide21.xml" Id="R0ef5504c65a84566" /><Relationship Type="http://schemas.openxmlformats.org/officeDocument/2006/relationships/slide" Target="/ppt/slides/slide22.xml" Id="Rdfba5f93aa26410e" /><Relationship Type="http://schemas.openxmlformats.org/officeDocument/2006/relationships/slide" Target="/ppt/slides/slide23.xml" Id="Rd50364d36da84f06" /><Relationship Type="http://schemas.openxmlformats.org/officeDocument/2006/relationships/slide" Target="/ppt/slides/slide24.xml" Id="R2d1690d49bca4a65" /><Relationship Type="http://schemas.openxmlformats.org/officeDocument/2006/relationships/slide" Target="/ppt/slides/slide25.xml" Id="Ra977f23cf69c42c9" /><Relationship Type="http://schemas.openxmlformats.org/officeDocument/2006/relationships/slide" Target="/ppt/slides/slide26.xml" Id="Rd721fe690c3649cb" /><Relationship Type="http://schemas.openxmlformats.org/officeDocument/2006/relationships/slide" Target="/ppt/slides/slide27.xml" Id="R50f652d724cc4947" /><Relationship Type="http://schemas.openxmlformats.org/officeDocument/2006/relationships/slide" Target="/ppt/slides/slide28.xml" Id="Ref98041459e540d8" /><Relationship Type="http://schemas.openxmlformats.org/officeDocument/2006/relationships/slide" Target="/ppt/slides/slide29.xml" Id="R9c2c0321d923430d" /><Relationship Type="http://schemas.openxmlformats.org/officeDocument/2006/relationships/slide" Target="/ppt/slides/slide30.xml" Id="R6b02f0d7c5974148" /><Relationship Type="http://schemas.openxmlformats.org/officeDocument/2006/relationships/slide" Target="/ppt/slides/slide31.xml" Id="R9491ca2298594e18" /><Relationship Type="http://schemas.openxmlformats.org/officeDocument/2006/relationships/slide" Target="/ppt/slides/slide32.xml" Id="R3e370d1b379b4f17" /><Relationship Type="http://schemas.openxmlformats.org/officeDocument/2006/relationships/slide" Target="/ppt/slides/slide33.xml" Id="Ra07defc58bfa4a2b" /><Relationship Type="http://schemas.openxmlformats.org/officeDocument/2006/relationships/slide" Target="/ppt/slides/slide34.xml" Id="Rcbb47d934c654188" /><Relationship Type="http://schemas.openxmlformats.org/officeDocument/2006/relationships/slide" Target="/ppt/slides/slide35.xml" Id="R89f1e5f547af46e0" /><Relationship Type="http://schemas.openxmlformats.org/officeDocument/2006/relationships/slide" Target="/ppt/slides/slide36.xml" Id="R6cb620e0920b4886" /><Relationship Type="http://schemas.openxmlformats.org/officeDocument/2006/relationships/slide" Target="/ppt/slides/slide37.xml" Id="Rf1a61aa88c304fa8" /><Relationship Type="http://schemas.openxmlformats.org/officeDocument/2006/relationships/slide" Target="/ppt/slides/slide38.xml" Id="R56a626fc955d485e" /><Relationship Type="http://schemas.openxmlformats.org/officeDocument/2006/relationships/slide" Target="/ppt/slides/slide39.xml" Id="R583f8d3b8050419e" /><Relationship Type="http://schemas.openxmlformats.org/officeDocument/2006/relationships/slide" Target="/ppt/slides/slide40.xml" Id="R23e9730b3fd34190" /><Relationship Type="http://schemas.openxmlformats.org/officeDocument/2006/relationships/slide" Target="/ppt/slides/slide41.xml" Id="Rc6a1e9d5dd9f4864" /><Relationship Type="http://schemas.openxmlformats.org/officeDocument/2006/relationships/slide" Target="/ppt/slides/slide42.xml" Id="Reec9437cbb5a4f2e" /><Relationship Type="http://schemas.openxmlformats.org/officeDocument/2006/relationships/slide" Target="/ppt/slides/slide43.xml" Id="R56b0c77dfa2747f4" /><Relationship Type="http://schemas.openxmlformats.org/officeDocument/2006/relationships/slide" Target="/ppt/slides/slide44.xml" Id="R7e9843049aa94b30" /><Relationship Type="http://schemas.openxmlformats.org/officeDocument/2006/relationships/slide" Target="/ppt/slides/slide45.xml" Id="Rcdd39d0aae1b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f59c15cfa0468c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Alibaba PuHuiTi 3.0 55 Regular"/>
        <a:ea typeface="Alibaba PuHuiTi 3.0 55 Regular"/>
        <a:cs typeface="Alibaba PuHuiTi 3.0 55 Regular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83db308b7f4de7" /><Relationship Type="http://schemas.openxmlformats.org/officeDocument/2006/relationships/notesMaster" Target="/ppt/notesMasters/notesMaster1.xml" Id="R290094bd38e34c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043bbe50744f31" /><Relationship Type="http://schemas.openxmlformats.org/officeDocument/2006/relationships/notesMaster" Target="/ppt/notesMasters/notesMaster1.xml" Id="R35422885b35149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40900f508041d2" /><Relationship Type="http://schemas.openxmlformats.org/officeDocument/2006/relationships/notesMaster" Target="/ppt/notesMasters/notesMaster1.xml" Id="Ra77dc84232fd4d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752203fa974400" /><Relationship Type="http://schemas.openxmlformats.org/officeDocument/2006/relationships/notesMaster" Target="/ppt/notesMasters/notesMaster1.xml" Id="R93487616a5d54f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18a8fc6da84756" /><Relationship Type="http://schemas.openxmlformats.org/officeDocument/2006/relationships/notesMaster" Target="/ppt/notesMasters/notesMaster1.xml" Id="R0f73f6e3c9cd4e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59ef18c8e3442f" /><Relationship Type="http://schemas.openxmlformats.org/officeDocument/2006/relationships/notesMaster" Target="/ppt/notesMasters/notesMaster1.xml" Id="R9c240e3327444f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339226d1154e0e" /><Relationship Type="http://schemas.openxmlformats.org/officeDocument/2006/relationships/notesMaster" Target="/ppt/notesMasters/notesMaster1.xml" Id="Recaf6eda908c46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55cdce617a49d3" /><Relationship Type="http://schemas.openxmlformats.org/officeDocument/2006/relationships/notesMaster" Target="/ppt/notesMasters/notesMaster1.xml" Id="R0cea759f478d46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6e6742923640f5" /><Relationship Type="http://schemas.openxmlformats.org/officeDocument/2006/relationships/notesMaster" Target="/ppt/notesMasters/notesMaster1.xml" Id="R951decf0d94349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679c2caac0444f" /><Relationship Type="http://schemas.openxmlformats.org/officeDocument/2006/relationships/notesMaster" Target="/ppt/notesMasters/notesMaster1.xml" Id="Rd50c50cfa6d247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de88841e7c4dc7" /><Relationship Type="http://schemas.openxmlformats.org/officeDocument/2006/relationships/notesMaster" Target="/ppt/notesMasters/notesMaster1.xml" Id="R465a0ca7ed334f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4cc1f4d1724fc6" /><Relationship Type="http://schemas.openxmlformats.org/officeDocument/2006/relationships/notesMaster" Target="/ppt/notesMasters/notesMaster1.xml" Id="Ra8d055463c3843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7ee9dd62424aeb" /><Relationship Type="http://schemas.openxmlformats.org/officeDocument/2006/relationships/notesMaster" Target="/ppt/notesMasters/notesMaster1.xml" Id="R56835bc5d3054d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df6f20ac1d46d6" /><Relationship Type="http://schemas.openxmlformats.org/officeDocument/2006/relationships/notesMaster" Target="/ppt/notesMasters/notesMaster1.xml" Id="R043a67d9361042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1c8e27089348ce" /><Relationship Type="http://schemas.openxmlformats.org/officeDocument/2006/relationships/notesMaster" Target="/ppt/notesMasters/notesMaster1.xml" Id="Rbeea9d9f0b6e4b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a0161a2181499d" /><Relationship Type="http://schemas.openxmlformats.org/officeDocument/2006/relationships/notesMaster" Target="/ppt/notesMasters/notesMaster1.xml" Id="Re2c6d51d4eed4f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7aa25c69634d78" /><Relationship Type="http://schemas.openxmlformats.org/officeDocument/2006/relationships/notesMaster" Target="/ppt/notesMasters/notesMaster1.xml" Id="R553fb7e3815b4e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9bf500b2534df4" /><Relationship Type="http://schemas.openxmlformats.org/officeDocument/2006/relationships/notesMaster" Target="/ppt/notesMasters/notesMaster1.xml" Id="R8cf765218a3542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174185286d4c10" /><Relationship Type="http://schemas.openxmlformats.org/officeDocument/2006/relationships/notesMaster" Target="/ppt/notesMasters/notesMaster1.xml" Id="Rbaaf832f4ae543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08d4026fb44337" /><Relationship Type="http://schemas.openxmlformats.org/officeDocument/2006/relationships/notesMaster" Target="/ppt/notesMasters/notesMaster1.xml" Id="R75bff749026d473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a074de23474ecb" /><Relationship Type="http://schemas.openxmlformats.org/officeDocument/2006/relationships/notesMaster" Target="/ppt/notesMasters/notesMaster1.xml" Id="R3f82293ce226456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1735a63c8c41c3" /><Relationship Type="http://schemas.openxmlformats.org/officeDocument/2006/relationships/notesMaster" Target="/ppt/notesMasters/notesMaster1.xml" Id="R8ef0226672584b0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78b887493bb4a0c" /><Relationship Type="http://schemas.openxmlformats.org/officeDocument/2006/relationships/notesMaster" Target="/ppt/notesMasters/notesMaster1.xml" Id="Rb44ca036478b4b5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c5dce4a295245ff" /><Relationship Type="http://schemas.openxmlformats.org/officeDocument/2006/relationships/notesMaster" Target="/ppt/notesMasters/notesMaster1.xml" Id="R092482be52c143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e372507fb904c80" /><Relationship Type="http://schemas.openxmlformats.org/officeDocument/2006/relationships/notesMaster" Target="/ppt/notesMasters/notesMaster1.xml" Id="R6752f880bd8c4b8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e80c073f7ad4ab3" /><Relationship Type="http://schemas.openxmlformats.org/officeDocument/2006/relationships/notesMaster" Target="/ppt/notesMasters/notesMaster1.xml" Id="R67f887c31aae41f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c4ac639487f4b88" /><Relationship Type="http://schemas.openxmlformats.org/officeDocument/2006/relationships/notesMaster" Target="/ppt/notesMasters/notesMaster1.xml" Id="R1339ef86ec6b4d3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f7d4001265a4434" /><Relationship Type="http://schemas.openxmlformats.org/officeDocument/2006/relationships/notesMaster" Target="/ppt/notesMasters/notesMaster1.xml" Id="R85f0b9508aa9447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cd442927560408b" /><Relationship Type="http://schemas.openxmlformats.org/officeDocument/2006/relationships/notesMaster" Target="/ppt/notesMasters/notesMaster1.xml" Id="R8c92e57458a04ac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5ca084f047c4611" /><Relationship Type="http://schemas.openxmlformats.org/officeDocument/2006/relationships/notesMaster" Target="/ppt/notesMasters/notesMaster1.xml" Id="R9bb9b886cdb2416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a6bdf1a9acc4f6f" /><Relationship Type="http://schemas.openxmlformats.org/officeDocument/2006/relationships/notesMaster" Target="/ppt/notesMasters/notesMaster1.xml" Id="R8804f188ee5c49c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6ca835361644b89" /><Relationship Type="http://schemas.openxmlformats.org/officeDocument/2006/relationships/notesMaster" Target="/ppt/notesMasters/notesMaster1.xml" Id="R4f2220282f0244e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49cc30005fa4a0f" /><Relationship Type="http://schemas.openxmlformats.org/officeDocument/2006/relationships/notesMaster" Target="/ppt/notesMasters/notesMaster1.xml" Id="R9e584cd42e8a41a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40de76c7da14135" /><Relationship Type="http://schemas.openxmlformats.org/officeDocument/2006/relationships/notesMaster" Target="/ppt/notesMasters/notesMaster1.xml" Id="R1346b6d6619045c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29509a059104419" /><Relationship Type="http://schemas.openxmlformats.org/officeDocument/2006/relationships/notesMaster" Target="/ppt/notesMasters/notesMaster1.xml" Id="R760fd264c6664c3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ffa977f03b94ed4" /><Relationship Type="http://schemas.openxmlformats.org/officeDocument/2006/relationships/notesMaster" Target="/ppt/notesMasters/notesMaster1.xml" Id="R925770ad3488408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b91dd6d7bef4df3" /><Relationship Type="http://schemas.openxmlformats.org/officeDocument/2006/relationships/notesMaster" Target="/ppt/notesMasters/notesMaster1.xml" Id="R90390238811b423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4d630ed24b24739" /><Relationship Type="http://schemas.openxmlformats.org/officeDocument/2006/relationships/notesMaster" Target="/ppt/notesMasters/notesMaster1.xml" Id="R438bbe46b8154eb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cdf345a90f24056" /><Relationship Type="http://schemas.openxmlformats.org/officeDocument/2006/relationships/notesMaster" Target="/ppt/notesMasters/notesMaster1.xml" Id="Rd4ae1093445540c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bd33d3ac0184885" /><Relationship Type="http://schemas.openxmlformats.org/officeDocument/2006/relationships/notesMaster" Target="/ppt/notesMasters/notesMaster1.xml" Id="Rd27393c67edf4c0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70b5037588141bb" /><Relationship Type="http://schemas.openxmlformats.org/officeDocument/2006/relationships/notesMaster" Target="/ppt/notesMasters/notesMaster1.xml" Id="Rd661e227a8bf40c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c68b0613902426f" /><Relationship Type="http://schemas.openxmlformats.org/officeDocument/2006/relationships/notesMaster" Target="/ppt/notesMasters/notesMaster1.xml" Id="R9fd4a8824b914f4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0208125926942d2" /><Relationship Type="http://schemas.openxmlformats.org/officeDocument/2006/relationships/notesMaster" Target="/ppt/notesMasters/notesMaster1.xml" Id="Rdc00b075ef8942b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ab2935544c744d2" /><Relationship Type="http://schemas.openxmlformats.org/officeDocument/2006/relationships/notesMaster" Target="/ppt/notesMasters/notesMaster1.xml" Id="Rbd46b3270113498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f932aacdd504a5e" /><Relationship Type="http://schemas.openxmlformats.org/officeDocument/2006/relationships/notesMaster" Target="/ppt/notesMasters/notesMaster1.xml" Id="R07f090dea7d4432b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声音的数字化</a:t>
            </a:r>
          </a:p>
          <a:p>
            <a:r>
              <a:t>[内部编号] opening</a:t>
            </a:r>
          </a:p>
          <a:p>
            <a:r>
              <a:t>[阶段] 开场</a:t>
            </a:r>
          </a:p>
          <a:p>
            <a:r>
              <a:t>[教师逐字稿]</a:t>
            </a:r>
          </a:p>
          <a:p>
            <a:r>
              <a:t>今天我们从同一段声音的两份文件开始。先提出能检验的猜测，再找出记录规则，最后用样本数回到这两份文件。学生只需纸笔，由教师翻页和展示证据。</a:t>
            </a:r>
          </a:p>
          <a:p>
            <a:r>
              <a:t>[课堂条件与节奏]</a:t>
            </a:r>
          </a:p>
          <a:p>
            <a:r>
              <a:t>建议45分钟，先修为二进制、bit/byte和图像数字化。只用此PPTX即可完成纸笔与图示路径；音频播放为可选。分组预算：开场与波形5分钟；采样及T1 6分钟；量化、类比及T2 10分钟；编码及T3 7分钟；文件类型与数据量及开场闭环10分钟；频率边界、T4与退出7分钟。包含思考、同桌核对与树总结，未实测。第21分钟应进入编码，第35分钟使用静态参数表完成开场闭环，第42分钟进入退出题。保留独立作答；超时优先省略重复图示讲解和类比延伸。</a:t>
            </a:r>
          </a:p>
          <a:p>
            <a:r>
              <a:t>[素材与版本]</a:t>
            </a:r>
          </a:p>
          <a:p>
            <a:r>
              <a:t>本版按已审阅29页课件的问题清单修订，参考相邻音频课程course-design.qmd的技术边界与总结方式。按用户范围仅交付PPTX，本版外部课程设计和入口文档未同步。原文件保留。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先看A、B，都六秒，都保存为未压缩PCM WAV。请独立写一个猜测，再与同桌交换理由。我保留两条猜测，现在先不判定。若你想到压缩，先检查题目给出的条件。</a:t>
            </a:r>
          </a:p>
          <a:p>
            <a:r>
              <a:t>[学生任务与时间]</a:t>
            </a:r>
          </a:p>
          <a:p>
            <a:r>
              <a:t>个人预测20秒，同桌10秒，收两条猜测。不能以有没有听出差异作为参与条件。</a:t>
            </a:r>
          </a:p>
          <a:p>
            <a:r>
              <a:t>[可选试听与备用]</a:t>
            </a:r>
          </a:p>
          <a:p>
            <a:r>
              <a:t>如备课已准备，可由教师播放相邻课程assets/audio/music-44100-16-mono.wav及music-8000-16-mono.wav，固定音量且只说A/B。无需试听也能用本页字节证据推理；30秒内播放不成功即继续图示路径。完整来源为已解码音乐的相同6秒片段，不把它冒充模拟原声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阶段回应</a:t>
            </a:r>
          </a:p>
          <a:p>
            <a:r>
              <a:t>[教师逐字稿]</a:t>
            </a:r>
          </a:p>
          <a:p>
            <a:r>
              <a:t>我们已经得到几种解释。可以确认：时长相同、都未压缩，文件仍然可以不同大。先保留猜测。接下来要找电脑到底记录了哪些数据，最后读实际参数来核对。</a:t>
            </a:r>
          </a:p>
          <a:p>
            <a:r>
              <a:t>[教学意图]</a:t>
            </a:r>
          </a:p>
          <a:p>
            <a:r>
              <a:t>保持开场冲突，暂不公布采样率、位数、声道或数据量公式。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看一条声音随时间变化的示意曲线。请指出横轴和纵轴分别在记录什么。再指一个曲线在零线上方和下方的时刻：下方会是“负的音量”吗？先用你已有的物理经验解释。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横轴记录时间，纵轴记录信号相对零基准的幅度。零线下方表示负偏差，不能说成负的音量。我们下一步要决定在哪些时刻读取这个信号。</a:t>
            </a:r>
          </a:p>
          <a:p>
            <a:r>
              <a:t>[追问]</a:t>
            </a:r>
          </a:p>
          <a:p>
            <a:r>
              <a:t>同一位置的不同时刻，还是不同空间位置？幅度不直接等于主观响度。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连续曲线有很多时刻。现在从零秒开始，每秒读取一次，五秒端点不再重复计入。请在纸上写出要取值的时刻，然后指出图中对应位置。给大家十五秒。</a:t>
            </a:r>
          </a:p>
          <a:p>
            <a:r>
              <a:t>[预期学生反应]</a:t>
            </a:r>
          </a:p>
          <a:p>
            <a:r>
              <a:t>可能把5s端点也计入；先让学生说明“一秒一次”和时间区间，再在揭示页核对。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按刚才的规则，取零、一、二、三、四秒，共五个时刻。采样是在指定时刻读取信号幅度，它使记录的时间离散。每次读出的幅度还没有限制到有限个等级。</a:t>
            </a:r>
          </a:p>
          <a:p>
            <a:r>
              <a:t>[追问]</a:t>
            </a:r>
          </a:p>
          <a:p>
            <a:r>
              <a:t>每个点的横坐标与纵坐标各说明什么？暂不把点间连线当成实际播放波形。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看同一段五秒波形，两次都从零秒开始，右端点不计。先数各有几个紫点，再说两次操作改变了什么、哪些条件没变。请先说计数证据，不先评价音质。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左边五个样本，右边十个。每秒每声道取得多少个样本，叫采样率，单位Hz或samples/s。时长相同，采样率加倍，样本数加倍。这张点数图只证明记录更密，不足以证明听感必然更好。</a:t>
            </a:r>
          </a:p>
          <a:p>
            <a:r>
              <a:t>[技术注解]</a:t>
            </a:r>
          </a:p>
          <a:p>
            <a:r>
              <a:t>采样率与声音自身频率不同。后面用给定频率条件解释范围限制，不能从这条数学示意曲线推导采样定理。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我们刚才按什么维度取值？</a:t>
            </a:r>
          </a:p>
          <a:p>
            <a:r>
              <a:t>[内部编号] T1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请先用刚才的采样时刻和紫点数总结：我们把哪一维变成了离散记录？采样率告诉了什么？听到两条有图上证据的回答后，我才补这一条分支。</a:t>
            </a:r>
          </a:p>
          <a:p>
            <a:r>
              <a:t>[课堂操作]</a:t>
            </a:r>
          </a:p>
          <a:p>
            <a:r>
              <a:t>先收两位学生的总结及证据，再翻页。未来分支隐藏。此前知识的位置和字体在后续检查点保持不变。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我们刚才按什么维度取值？</a:t>
            </a:r>
          </a:p>
          <a:p>
            <a:r>
              <a:t>[内部编号] T1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把大家刚才的总结收在这一条分支：采样按时刻取值；采样率数的是每秒每声道的样本。红色轮廓和“新增”标出本次建立的关系。之后这条分支保留，接着处理每次读到的幅度。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刚才已经选了时刻，现在看这些实际读到的幅度。根据左表分档，用所在档的中点代表它。四个值分别落在哪一档？请独立填代表值，四十秒后同桌核对。这里暂时不写二进制。</a:t>
            </a:r>
          </a:p>
          <a:p>
            <a:r>
              <a:t>[操作与边界]</a:t>
            </a:r>
          </a:p>
          <a:p>
            <a:r>
              <a:t>范围[-1,1)，边界归入上档。左表是尝试任务所必需的规则，不提前填右表。抽查两名学生的归档理由。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核对四个代表值：负零点三八进入第二档，用负零点二五代表；零点一二用零点二五代表；零点八六用零点七五代表；负零点七一用负零点七五代表。量化把幅度近似为有限个等级。请保留你改动过的记录，再比较量化后的值与原值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左右使用相同十个时刻、相同输入，左边四档，右边八档。黑色空心点是输入幅度，紫色方点是真正保存的代表值。看3秒处红框中的同一个样本。先对照两图，说出不变的条件，再观察相邻代表值的间隔。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两边取值时刻没变，输入幅度也没变。幅度范围都从负一到一，四档的步长是零点五，八档是零点二五。我们增加的是可选幅度等级，没有多取时刻。接下来用一个样本实际计算误差。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把图上红线换成数值核对。输入都是负零点三八，两种代表值已给出。请分别算输入与代表值的绝对差，先写两项结果，再比较，给大家二十秒。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四档的绝对差是零点一三，八档是零点零零五。这个样本八档更接近输入。规律应带着条件：固定范围、均匀量化、未削波时，步长减小，误差上界减小。不能把这一例扩成每个样本都严格改善，更不能直接保证人人都听出差异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把幅度分档暂时换成成绩分档。左边三档，八十分和六十分会落在哪里？请先填写右表，再说：只拿到一个B，还能知道原来究竟多少分吗？</a:t>
            </a:r>
          </a:p>
          <a:p>
            <a:r>
              <a:t>[类比边界]</a:t>
            </a:r>
          </a:p>
          <a:p>
            <a:r>
              <a:t>成绩规则是非均匀区间，只说明分档保留粗略信息；不能据此计算本课均匀音频量化误差。这里假设整数成绩0至100。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两者都落在B，所以这个等级不能区分八十分和六十分。如果改成五档，八十分是B，六十分是D，描述更细。不过单凭B仍不知道是八十还是八十九，原来的精确分数并没有恢复。回到声音：代表值保留的是近似。</a:t>
            </a:r>
          </a:p>
          <a:p>
            <a:r>
              <a:t>[教师参考]</a:t>
            </a:r>
          </a:p>
          <a:p>
            <a:r>
              <a:t>五档整数规则：A 90–100、B 80–89、C 70–79、D 60–69、E 0–59。不要宣称五档可还原每个原数，也不要把非均匀评分区间当成均匀ADC。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我们怎样保存读到的幅度？</a:t>
            </a:r>
          </a:p>
          <a:p>
            <a:r>
              <a:t>[内部编号] T2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先看已经保留的采样分支。请用四档、八档的代表值或刚才的误差计算补一句：量化解决哪一维的问题？说明你的证据，再更新树。</a:t>
            </a:r>
          </a:p>
          <a:p>
            <a:r>
              <a:t>[课堂操作]</a:t>
            </a:r>
          </a:p>
          <a:p>
            <a:r>
              <a:t>先收两位学生的总结及证据，再翻页。未来分支隐藏。此前知识的位置和字体在后续检查点保持不变。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我们怎样保存读到的幅度？</a:t>
            </a:r>
          </a:p>
          <a:p>
            <a:r>
              <a:t>[内部编号] T2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在采样之后增加量化分支：幅度近似为有限个等级。刚才控制了范围和输入，才建立等级数与步长的关系。旧采样分支保持原位置，新量化分支用轮廓和“新增”提示。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现在已经有有限个等级，但计算机要用二进制表示编号。四级编号零到三，八级编号零到七。如果每个编号都用同样长的码字，至少需要几位？请写理由，先不看码字表。</a:t>
            </a:r>
          </a:p>
          <a:p>
            <a:r>
              <a:t>[学生任务]</a:t>
            </a:r>
          </a:p>
          <a:p>
            <a:r>
              <a:t>独立20秒。先列能区分多少种情况，而不只报位数。暂不投影2ⁿ公式。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揭示一</a:t>
            </a:r>
          </a:p>
          <a:p>
            <a:r>
              <a:t>[教师逐字稿]</a:t>
            </a:r>
          </a:p>
          <a:p>
            <a:r>
              <a:t>先核对四级：一位只有两种情况，二位有四种，正好覆盖零至三。注意每个码字都保留两位，包括零的前导零。右边八级继续由同学说理由，下一页再核对。</a:t>
            </a:r>
          </a:p>
          <a:p>
            <a:r>
              <a:t>[阶段控制]</a:t>
            </a:r>
          </a:p>
          <a:p>
            <a:r>
              <a:t>只揭示四级，不朗读八级答案。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揭示二</a:t>
            </a:r>
          </a:p>
          <a:p>
            <a:r>
              <a:t>[教师逐字稿]</a:t>
            </a:r>
          </a:p>
          <a:p>
            <a:r>
              <a:t>八级需要三位，能提供八种等长码字。把等级编号三读成零一一，不是一个没有前导零的十一。一般地，n位有二的n次方种码字。量化位数在本课指表示等级编号的位数，真实文件大小还要看实际存储位数。</a:t>
            </a:r>
          </a:p>
          <a:p>
            <a:r>
              <a:t>[技术注解]</a:t>
            </a:r>
          </a:p>
          <a:p>
            <a:r>
              <a:t>4与8均为2的整数次幂。若L不是2的幂，等长码字最少位数为ceil(log2 L)，不是直接写log2 L。该延伸留在备课，不增加课堂主问题。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回到同一条示意曲线的八级结果。请给十个编号都写三位码字，二十秒后与同桌互读前五个或后五个，检查能否读回原编号。前导零也属于约定，不能省。</a:t>
            </a:r>
          </a:p>
          <a:p>
            <a:r>
              <a:t>[学生证据]</a:t>
            </a:r>
          </a:p>
          <a:p>
            <a:r>
              <a:t>纸上保存完整码字序列。教师特别抽查最后一个编号3；收记录后才揭示。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逐个核对：二是零一零，四是一零零，七是一一一，六是一一零，一是零零一，最后三是零一一。我们按约定把等级编号写成等长码字，这就是这里的编码。编码可以只表示数据，本例没有执行音频压缩。</a:t>
            </a:r>
          </a:p>
          <a:p>
            <a:r>
              <a:t>[完整核对]</a:t>
            </a:r>
          </a:p>
          <a:p>
            <a:r>
              <a:t>编号：2,4,7,7,6,4,2,2,1,3。码字：010,100,111,111,110,100,010,010,001,011。十个3bit码字共30bit，这是教学码字序列；不能据此推断通用播放器的PCM文件按3bit紧密打包。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请沿着两条旧分支回看：时刻怎样选，幅度怎样近似？再用刚才的码字互读，说明编码增加了哪条约定。收集总结后再补第三条分支。</a:t>
            </a:r>
          </a:p>
          <a:p>
            <a:r>
              <a:t>[课堂操作]</a:t>
            </a:r>
          </a:p>
          <a:p>
            <a:r>
              <a:t>先收两位学生的总结及证据，再翻页。未来分支隐藏。此前知识的位置和字体在后续检查点保持不变。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第三条分支是编码：用约定的码字表示量化等级。采样离散时间，量化限制幅度，编码表示等级。码字可以不压缩，不能把缩小文件当作所有编码的定义。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这些文件都在保存同一种数据吗？</a:t>
            </a:r>
          </a:p>
          <a:p>
            <a:r>
              <a:t>[内部编号] Q10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你见过WAV、MP3、WMA、MIDI中的哪些？先看两类内容：一类是录音样本，一类是音符开始和持续时间。请先猜这些名称对应的是容器、音频编码，还是演奏指令，并说需要什么证据来判断。</a:t>
            </a:r>
          </a:p>
          <a:p>
            <a:r>
              <a:t>[预期学生反应]</a:t>
            </a:r>
          </a:p>
          <a:p>
            <a:r>
              <a:t>可能认为能播放的文件都存波形，或只看扩展名判断是否压缩。先保留猜测，不先给分类结论。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这些文件都在保存同一种数据吗？</a:t>
            </a:r>
          </a:p>
          <a:p>
            <a:r>
              <a:t>[内部编号] Q10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名称对应的层次不同。WAV是容器，本课用它装未压缩整数PCM，也能装其他编码。MP3是有损音频编码，WMA是音频编码家族，要看具体成员。MIDI保存音符、时长、乐器等指令，播放结果由合成器解释，不能据此恢复这次真实录音的波形。</a:t>
            </a:r>
          </a:p>
          <a:p>
            <a:r>
              <a:t>[技术注解]</a:t>
            </a:r>
          </a:p>
          <a:p>
            <a:r>
              <a:t>未压缩PCM仍经历采样与量化，不能保证恢复模拟原声。MIDI不是录音波形的压缩替身。WMA包含不同成员，本课不逐项展开。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看一组明确的参数，暂只比较样本数据与编码数据，不计文件结构信息。PCM的每秒位数已经给出，MP3使用固定一百二十八千bit每秒。相同时长时，比例是多少？如果MP3码率改变，比例会不变吗？</a:t>
            </a:r>
          </a:p>
          <a:p>
            <a:r>
              <a:t>[模型与计数边界]</a:t>
            </a:r>
          </a:p>
          <a:p>
            <a:r>
              <a:t>PCM为44.1kHz、16bit、双声道，码率44,100×16×2=1,411,200bit/s。MP3指定恒定128,000bit/s。这里只估计编码数据量比，不承诺具体MP3完整文件比值或听感。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这组条件下，一百二十八千除以一百四十一万一千二百，约百分之九点一。所以“约十分之一”可以是某一例的估计，不能变成格式的固定规律。换PCM参数、MP3码率，或计入文件结构，比例都会改变，音质也要结合内容与编码条件判断。</a:t>
            </a:r>
          </a:p>
          <a:p>
            <a:r>
              <a:t>[独立计算]</a:t>
            </a:r>
          </a:p>
          <a:p>
            <a:r>
              <a:t>128,000÷1,411,200≈0.09070295。固定时长在比值中约去。</a:t>
            </a:r>
          </a:p>
          <a:p>
            <a:r>
              <a:t>[追问]</a:t>
            </a:r>
          </a:p>
          <a:p>
            <a:r>
              <a:t>只知道扩展名，能否推出大小比或听感？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现在只算未压缩PCM的样本数据，暂不算完整文件。每秒每声道八千个样本，录两秒，每样本实际存十六bit，单声道。请先数样本，再写bit到B的换算，独立三十秒。</a:t>
            </a:r>
          </a:p>
          <a:p>
            <a:r>
              <a:t>[学生证据]</a:t>
            </a:r>
          </a:p>
          <a:p>
            <a:r>
              <a:t>必须有样本数、bit数、B数的计数意义。漏单位先追问当前正在数什么。</a:t>
            </a:r>
          </a:p>
          <a:p>
            <a:r>
              <a:t>[声道边界]</a:t>
            </a:r>
          </a:p>
          <a:p>
            <a:r>
              <a:t>单声道一条样本序列；同参数同长度双声道有两条，样本数据量翻倍，不表示音量或音质翻倍。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计数揭示</a:t>
            </a:r>
          </a:p>
          <a:p>
            <a:r>
              <a:t>[教师逐字稿]</a:t>
            </a:r>
          </a:p>
          <a:p>
            <a:r>
              <a:t>一秒一条序列八千个样本，两秒就是一万六千个。每个样本十六bit，所以先得到二十五万六千bit。这一步的单位还是bit，请先指出下一步怎样换成B。</a:t>
            </a:r>
          </a:p>
          <a:p>
            <a:r>
              <a:t>[阶段控制]</a:t>
            </a:r>
          </a:p>
          <a:p>
            <a:r>
              <a:t>本页只揭示样本数与bit数，保留byte换算给学生。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单位揭示</a:t>
            </a:r>
          </a:p>
          <a:p>
            <a:r>
              <a:t>[教师逐字稿]</a:t>
            </a:r>
          </a:p>
          <a:p>
            <a:r>
              <a:t>八bit为一B，所以二十五万六千除以八，得到三万二千B。一般地，采样率乘秒数乘每样本实际存储位数乘声道数，再除以八。这个公式算未压缩PCM样本数据，不算完整文件。</a:t>
            </a:r>
          </a:p>
          <a:p>
            <a:r>
              <a:t>[技术注解]</a:t>
            </a:r>
          </a:p>
          <a:p>
            <a:r>
              <a:t>N=fs×t为整数、声道参数一致、固定实际存储位数时适用。这里用16bit整字节PCM。kHz先换Hz、分钟先换秒；有效量化位数不能自动当作容器实际存储位数。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刚才的三万二千B只数了样本。别人要播放这份文件，除了样本，还要知道哪些格式信息？请先预测完整WAV大小是否相同，再说理由，十秒后读真实文件。</a:t>
            </a:r>
          </a:p>
          <a:p>
            <a:r>
              <a:t>[学生任务]</a:t>
            </a:r>
          </a:p>
          <a:p>
            <a:r>
              <a:t>回扣采样率、存储位数、声道及容器，不提前给44B差额。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文件证据</a:t>
            </a:r>
          </a:p>
          <a:p>
            <a:r>
              <a:t>[教师逐字稿]</a:t>
            </a:r>
          </a:p>
          <a:p>
            <a:r>
              <a:t>读取实际样例，完整文件是三万二千零四十四B，样本仍是三万二千B。多出来的四十四B是这个简单文件的结构信息。公式没错，它的计数对象不同。其他WAV可有额外chunk，不能把四十四B说成所有WAV固定头部。</a:t>
            </a:r>
          </a:p>
          <a:p>
            <a:r>
              <a:t>[可复核证据]</a:t>
            </a:r>
          </a:p>
          <a:p>
            <a:r>
              <a:t>2026-10-12读取相邻课程assets/audio/size-check-8000-2s-16-mono.wav：wave.getnframes()=16000，getframerate()=8000，getsampwidth()=2，getnchannels()=1；payload=32000B，Path.stat().st_size=32044B。本地读取与独立公式一致。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回到最初保留的猜测。现在读取了两份文件的实际参数，哪些相同、哪些不同？请分别算样本数据，再检查它们能不能解释最初的完整大小。不先把完整文件大小比当作采样率比。</a:t>
            </a:r>
          </a:p>
          <a:p>
            <a:r>
              <a:t>[课堂闭环]</a:t>
            </a:r>
          </a:p>
          <a:p>
            <a:r>
              <a:t>独立列式20秒，回看板书两条猜测，收一个支持或修正的理由。静态表是必需路径，不依赖现场运行Notebook。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闭环揭示</a:t>
            </a:r>
          </a:p>
          <a:p>
            <a:r>
              <a:t>[教师逐字稿]</a:t>
            </a:r>
          </a:p>
          <a:p>
            <a:r>
              <a:t>A有二十六万四千六百个样本，B有四万八千个。位数、声道、时长都相同，样本数不同，所以样本数据分别是五十二万九千二百B和九万六千B。两份这个例子的结构开销恰好都四十四B，正好得到开场完整大小。请把没有证据支持的猜测修改掉。</a:t>
            </a:r>
          </a:p>
          <a:p>
            <a:r>
              <a:t>[实际证据]</a:t>
            </a:r>
          </a:p>
          <a:p>
            <a:r>
              <a:t>2026-10-12只读wave核对music-44100-16-mono.wav：264600帧、44100Hz、16bit、mono、payload529200B、file529244B；music-8000-16-mono.wav：48000帧、8000Hz、16bit、mono、payload96000B、file96044B。均为同一6秒片段的重处理数字音频，不能声称恢复来源AAC已有的损失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这次不用点数多少来猜音质，而使用给定技术条件：对带限信号，理想采样率需大于最高频率的两倍。最高六千Hz，采样率八千Hz，请代入判断能否满足。先分清这里哪一个数字数振动、哪一个数字数记录。</a:t>
            </a:r>
          </a:p>
          <a:p>
            <a:r>
              <a:t>[条件来源]</a:t>
            </a:r>
          </a:p>
          <a:p>
            <a:r>
              <a:t>把规则作为有来源的技术条件给出，不声称学生从一张曲线就推导了定理。实际系统还需要抗混叠滤波与过渡带。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</a:t>
            </a:r>
          </a:p>
          <a:p>
            <a:r>
              <a:t>[阶段] 条件揭示</a:t>
            </a:r>
          </a:p>
          <a:p>
            <a:r>
              <a:t>[教师逐字稿]</a:t>
            </a:r>
          </a:p>
          <a:p>
            <a:r>
              <a:t>两倍最高频率是一万二千Hz，八千并没有大于它。正常降采样要先低通，所以六千Hz这一分量会被滤除；未经滤波直接取样会产生混叠，留作教师延伸。提高采样率扩大可保留的频率范围，仍不能单凭更大的数字保证听感更好。</a:t>
            </a:r>
          </a:p>
          <a:p>
            <a:r>
              <a:t>[技术注解]</a:t>
            </a:r>
          </a:p>
          <a:p>
            <a:r>
              <a:t>使用严格大于避免把每周期恰好两个点说成普遍充分。这里是基带带限条件，实际实现需滤波过渡带。声音频率与采样率不能互相替换；试听不可闻不等于数学绝对零。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请沿三条已建立的分支，说明每个参数在数什么：采样率、秒数、存储位数、声道数。再用刚才的三万二与三万二千零四十四，区分样本数据和完整文件。先总结、引证，再补最后一条分支。</a:t>
            </a:r>
          </a:p>
          <a:p>
            <a:r>
              <a:t>[课堂操作]</a:t>
            </a:r>
          </a:p>
          <a:p>
            <a:r>
              <a:t>先收两位学生的总结及证据，再翻页。未来分支隐藏。此前知识的位置和字体在后续检查点保持不变。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增加计数分支：未压缩PCM样本数据量由样本数和实际存储位数算出，完整文件还包含结构信息。四条分支都在原位置。请用这个树检查编码是否等于压缩、WAV是否都未压缩，而不是只背三个名词。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独立评价</a:t>
            </a:r>
          </a:p>
          <a:p>
            <a:r>
              <a:t>[教师逐字稿]</a:t>
            </a:r>
          </a:p>
          <a:p>
            <a:r>
              <a:t>最后六十秒，独立作答，不讨论。第一题列出B的计数式，第二题改写错误说法并给一个本课例子。到时先收所有人的纸条，再翻到答案页。老师按算式与理由判断，不只看有没有报出答案。</a:t>
            </a:r>
          </a:p>
          <a:p>
            <a:r>
              <a:t>[评分标准，暂不朗读]</a:t>
            </a:r>
          </a:p>
          <a:p>
            <a:r>
              <a:t>第一题四因子和÷8正确、单位正确，得2分；第二题说明编码按约定表示量化结果且可不压缩，给本课3bit码字例，得2分。若漏声道或÷8，回到每时刻样本数及单位；若仍把编码等同压缩，回到Q9码字互读。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评价揭示</a:t>
            </a:r>
          </a:p>
          <a:p>
            <a:r>
              <a:t>[教师逐字稿]</a:t>
            </a:r>
          </a:p>
          <a:p>
            <a:r>
              <a:t>先确认纸条已经收齐。第一题一万六千乘二乘十六乘一除以八，六万四千B，数的是样本。第二题可写：编码按约定把量化结果表示为码字，编码可以不压缩。例如等级三用三位码字零一一表示，本例没有做压缩。结合纸条中的错误，下次回到对应的图或计数环节。</a:t>
            </a:r>
          </a:p>
          <a:p>
            <a:r>
              <a:t>[课后教师记录]</a:t>
            </a:r>
          </a:p>
          <a:p>
            <a:r>
              <a:t>记录学生证据、未解决误解与实际用时。本版目标是教师示范与纸笔推理；未实测课堂节奏。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82ad9722b49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b8045a8fcb4563" /><Relationship Type="http://schemas.openxmlformats.org/officeDocument/2006/relationships/slideLayout" Target="/ppt/slideLayouts/slideLayout1.xml" Id="Rb01b500e344445f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b01b500e344445f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37a21c95b4fe2" /><Relationship Type="http://schemas.openxmlformats.org/officeDocument/2006/relationships/notesSlide" Target="/ppt/notesSlides/notesSlide1.xml" Id="Re4ed933d461c45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02a98faa248bf" /><Relationship Type="http://schemas.openxmlformats.org/officeDocument/2006/relationships/notesSlide" Target="/ppt/notesSlides/notesSlide2.xml" Id="R6a71361e47084c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905c057ff45b2" /><Relationship Type="http://schemas.openxmlformats.org/officeDocument/2006/relationships/notesSlide" Target="/ppt/notesSlides/notesSlide3.xml" Id="R59ef240d954448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a6d6af30447ca" /><Relationship Type="http://schemas.openxmlformats.org/officeDocument/2006/relationships/notesSlide" Target="/ppt/notesSlides/notesSlide4.xml" Id="Rd8e844407c524a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1045809cd4183" /><Relationship Type="http://schemas.openxmlformats.org/officeDocument/2006/relationships/notesSlide" Target="/ppt/notesSlides/notesSlide5.xml" Id="R2791730f4cbd47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7c60acc864e9a" /><Relationship Type="http://schemas.openxmlformats.org/officeDocument/2006/relationships/notesSlide" Target="/ppt/notesSlides/notesSlide6.xml" Id="Rb363b188ea4d41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70c8f02d64643" /><Relationship Type="http://schemas.openxmlformats.org/officeDocument/2006/relationships/notesSlide" Target="/ppt/notesSlides/notesSlide7.xml" Id="Re5fe503e91b84b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91cb903e44111" /><Relationship Type="http://schemas.openxmlformats.org/officeDocument/2006/relationships/notesSlide" Target="/ppt/notesSlides/notesSlide8.xml" Id="R103a87cdec4a40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301f05835407e" /><Relationship Type="http://schemas.openxmlformats.org/officeDocument/2006/relationships/notesSlide" Target="/ppt/notesSlides/notesSlide9.xml" Id="R3484cb54678448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7de9e99e4456f" /><Relationship Type="http://schemas.openxmlformats.org/officeDocument/2006/relationships/notesSlide" Target="/ppt/notesSlides/notesSlide10.xml" Id="R2be93d95d2bf4b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57a8b258749ab" /><Relationship Type="http://schemas.openxmlformats.org/officeDocument/2006/relationships/notesSlide" Target="/ppt/notesSlides/notesSlide11.xml" Id="R9fd218788b6846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ee4c20d264605" /><Relationship Type="http://schemas.openxmlformats.org/officeDocument/2006/relationships/notesSlide" Target="/ppt/notesSlides/notesSlide12.xml" Id="R03e92c8d15a842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6c42cf74a45fb" /><Relationship Type="http://schemas.openxmlformats.org/officeDocument/2006/relationships/notesSlide" Target="/ppt/notesSlides/notesSlide13.xml" Id="R65f3e8f36c124a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bbd42fdb445c8" /><Relationship Type="http://schemas.openxmlformats.org/officeDocument/2006/relationships/notesSlide" Target="/ppt/notesSlides/notesSlide14.xml" Id="R92c6efc7e08641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b6d3d74dd4c6f" /><Relationship Type="http://schemas.openxmlformats.org/officeDocument/2006/relationships/notesSlide" Target="/ppt/notesSlides/notesSlide15.xml" Id="R71ee255f20c547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e2248e7ea434e" /><Relationship Type="http://schemas.openxmlformats.org/officeDocument/2006/relationships/notesSlide" Target="/ppt/notesSlides/notesSlide16.xml" Id="R265942db254f4f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d629165584496" /><Relationship Type="http://schemas.openxmlformats.org/officeDocument/2006/relationships/notesSlide" Target="/ppt/notesSlides/notesSlide17.xml" Id="R1a902fd8fe7c41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1cae9e5254a13" /><Relationship Type="http://schemas.openxmlformats.org/officeDocument/2006/relationships/notesSlide" Target="/ppt/notesSlides/notesSlide18.xml" Id="Rc34b1641d5804d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1dcfd82354e88" /><Relationship Type="http://schemas.openxmlformats.org/officeDocument/2006/relationships/notesSlide" Target="/ppt/notesSlides/notesSlide19.xml" Id="R6300c84964f248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efc7660d447b4" /><Relationship Type="http://schemas.openxmlformats.org/officeDocument/2006/relationships/notesSlide" Target="/ppt/notesSlides/notesSlide20.xml" Id="Rad2ca1051d644ec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3d260f4d94386" /><Relationship Type="http://schemas.openxmlformats.org/officeDocument/2006/relationships/notesSlide" Target="/ppt/notesSlides/notesSlide21.xml" Id="R930aff7bcea84c8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dadab2f824d35" /><Relationship Type="http://schemas.openxmlformats.org/officeDocument/2006/relationships/notesSlide" Target="/ppt/notesSlides/notesSlide22.xml" Id="R039d98a8c4ca4c1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f18f16aa2443d" /><Relationship Type="http://schemas.openxmlformats.org/officeDocument/2006/relationships/notesSlide" Target="/ppt/notesSlides/notesSlide23.xml" Id="R6ea0b967ec134f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574230a1c476f" /><Relationship Type="http://schemas.openxmlformats.org/officeDocument/2006/relationships/notesSlide" Target="/ppt/notesSlides/notesSlide24.xml" Id="Rb83d1d99801f45c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31e7accde4cbe" /><Relationship Type="http://schemas.openxmlformats.org/officeDocument/2006/relationships/notesSlide" Target="/ppt/notesSlides/notesSlide25.xml" Id="R994ccb66cbfb45f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772758d454ceb" /><Relationship Type="http://schemas.openxmlformats.org/officeDocument/2006/relationships/notesSlide" Target="/ppt/notesSlides/notesSlide26.xml" Id="Rb311dfced86841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e43c7e9a44e6e" /><Relationship Type="http://schemas.openxmlformats.org/officeDocument/2006/relationships/notesSlide" Target="/ppt/notesSlides/notesSlide27.xml" Id="R873dfc06362e4fa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98fc6c46a4a73" /><Relationship Type="http://schemas.openxmlformats.org/officeDocument/2006/relationships/notesSlide" Target="/ppt/notesSlides/notesSlide28.xml" Id="Re49f667a94ea495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db5f3c7504342" /><Relationship Type="http://schemas.openxmlformats.org/officeDocument/2006/relationships/notesSlide" Target="/ppt/notesSlides/notesSlide29.xml" Id="R2d573953a345495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8681c66c74d02" /><Relationship Type="http://schemas.openxmlformats.org/officeDocument/2006/relationships/notesSlide" Target="/ppt/notesSlides/notesSlide30.xml" Id="Rac50f76d89544f4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2e0ed25e24dfb" /><Relationship Type="http://schemas.openxmlformats.org/officeDocument/2006/relationships/notesSlide" Target="/ppt/notesSlides/notesSlide31.xml" Id="R337c6f12f71e475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8dfae431a4178" /><Relationship Type="http://schemas.openxmlformats.org/officeDocument/2006/relationships/notesSlide" Target="/ppt/notesSlides/notesSlide32.xml" Id="Rf0797fecace04ba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685f9ea13487a" /><Relationship Type="http://schemas.openxmlformats.org/officeDocument/2006/relationships/notesSlide" Target="/ppt/notesSlides/notesSlide33.xml" Id="R9032ccee68a449b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3f5198eca4649" /><Relationship Type="http://schemas.openxmlformats.org/officeDocument/2006/relationships/notesSlide" Target="/ppt/notesSlides/notesSlide34.xml" Id="R8b3392faeb9d49a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e50715cc047f6" /><Relationship Type="http://schemas.openxmlformats.org/officeDocument/2006/relationships/notesSlide" Target="/ppt/notesSlides/notesSlide35.xml" Id="Rc37f186ce08a43b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b3fc2c1ff4c13" /><Relationship Type="http://schemas.openxmlformats.org/officeDocument/2006/relationships/notesSlide" Target="/ppt/notesSlides/notesSlide36.xml" Id="R353602aa107a4f5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25b4351e2430d" /><Relationship Type="http://schemas.openxmlformats.org/officeDocument/2006/relationships/notesSlide" Target="/ppt/notesSlides/notesSlide37.xml" Id="Rf017fe50fd7f409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67ca90c0144c8" /><Relationship Type="http://schemas.openxmlformats.org/officeDocument/2006/relationships/notesSlide" Target="/ppt/notesSlides/notesSlide38.xml" Id="R0e5d17b1aa64447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772c96b0e4663" /><Relationship Type="http://schemas.openxmlformats.org/officeDocument/2006/relationships/notesSlide" Target="/ppt/notesSlides/notesSlide39.xml" Id="R0fdc771c4aad449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c14355c18485e" /><Relationship Type="http://schemas.openxmlformats.org/officeDocument/2006/relationships/notesSlide" Target="/ppt/notesSlides/notesSlide40.xml" Id="R9ef2144d92564e5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52188efae4507" /><Relationship Type="http://schemas.openxmlformats.org/officeDocument/2006/relationships/notesSlide" Target="/ppt/notesSlides/notesSlide41.xml" Id="R84a7763f68434e2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02f49e2354c65" /><Relationship Type="http://schemas.openxmlformats.org/officeDocument/2006/relationships/notesSlide" Target="/ppt/notesSlides/notesSlide42.xml" Id="R2e14d9feaf5b477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f7235375d4543" /><Relationship Type="http://schemas.openxmlformats.org/officeDocument/2006/relationships/notesSlide" Target="/ppt/notesSlides/notesSlide43.xml" Id="R75e88e07599c4ab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dc2aeb83541b6" /><Relationship Type="http://schemas.openxmlformats.org/officeDocument/2006/relationships/notesSlide" Target="/ppt/notesSlides/notesSlide44.xml" Id="Rab05492f76d549d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1a40d2d3649e6" /><Relationship Type="http://schemas.openxmlformats.org/officeDocument/2006/relationships/notesSlide" Target="/ppt/notesSlides/notesSlide45.xml" Id="R0e02666b7cc241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3B0D46C8-1EDE-4F26-A7BD-13E906A1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E80CF43-8029-49DF-878F-1A16933F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1FF03FE-8EEC-4FA6-9F3E-B81D5C12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AFC4AE9-5734-40D1-91E8-ACF81115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声音的数字化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C76B17F-1727-4140-955D-E6533D99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采样、量化与编码</a:t>
            </a:r>
          </a:p>
        </p:txBody>
      </p:sp>
    </p:spTree>
    <p:extLst>
      <p:ext uri="{BB962C8B-B14F-4D97-AF65-F5344CB8AC3E}">
        <p14:creationId xmlns:p14="http://schemas.microsoft.com/office/powerpoint/2010/main" val="841059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446FE1B2-2B82-4B57-BACF-3DB59BF6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AE91FE-7B83-4987-9AD4-D5D9F327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3551C41-72BB-45F1-89F6-43AFAD02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4B5ADFB-8459-47E5-B47D-64B850D5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graphicFrame>
        <p:nvGraphicFramePr>
          <p:cNvPr id="11" name="evidence-table"/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4E8C764-176B-4C1C-8B4B-D3E06408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</p:spTree>
    <p:extLst>
      <p:ext uri="{BB962C8B-B14F-4D97-AF65-F5344CB8AC3E}">
        <p14:creationId xmlns:p14="http://schemas.microsoft.com/office/powerpoint/2010/main" val="1253956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446FE1B2-2B82-4B57-BACF-3DB59BF6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AE91FE-7B83-4987-9AD4-D5D9F327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3551C41-72BB-45F1-89F6-43AFAD02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4B5ADFB-8459-47E5-B47D-64B850D5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graphicFrame>
        <p:nvGraphicFramePr>
          <p:cNvPr id="13" name="evidence-table"/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4E8C764-176B-4C1C-8B4B-D3E06408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5CC32F07-09A2-45E4-A4CD-E22FB1F8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同样长、同为未压缩，数据量仍可不同。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08AC9B3C-1866-4607-A3B2-AFCFD81A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先找出电脑记录了什么，再核对猜测。</a:t>
            </a:r>
          </a:p>
        </p:txBody>
      </p:sp>
    </p:spTree>
    <p:extLst>
      <p:ext uri="{BB962C8B-B14F-4D97-AF65-F5344CB8AC3E}">
        <p14:creationId xmlns:p14="http://schemas.microsoft.com/office/powerpoint/2010/main" val="1253956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8A427441-EEA8-4A13-88E1-E531E920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A4C9BD2-43C7-4C78-8D51-E818F0F3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0152FE9-06DA-476F-AD4B-5422EE4C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CE6B466-5491-4796-AF2B-87ED0E61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6CFB8701-42D4-4292-8841-AA80F753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E4F92390-3BCD-4D31-BD30-E96B8813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3BF1E216-CAF9-416B-A5DA-08B76020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F1945129-6269-4EFE-8624-2C5DFD71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27A4B36C-E90F-4752-9072-535F856A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横轴：________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7EFCF951-4D12-4F9A-8DDF-A3FB2231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纵轴：________</a:t>
            </a:r>
          </a:p>
        </p:txBody>
      </p:sp>
    </p:spTree>
    <p:extLst>
      <p:ext uri="{BB962C8B-B14F-4D97-AF65-F5344CB8AC3E}">
        <p14:creationId xmlns:p14="http://schemas.microsoft.com/office/powerpoint/2010/main" val="407288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8A427441-EEA8-4A13-88E1-E531E920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A4C9BD2-43C7-4C78-8D51-E818F0F3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0152FE9-06DA-476F-AD4B-5422EE4C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CE6B466-5491-4796-AF2B-87ED0E61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6CFB8701-42D4-4292-8841-AA80F753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E4F92390-3BCD-4D31-BD30-E96B8813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3BF1E216-CAF9-416B-A5DA-08B76020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F1945129-6269-4EFE-8624-2C5DFD71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27A4B36C-E90F-4752-9072-535F856A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横轴：时间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7EFCF951-4D12-4F9A-8DDF-A3FB2231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纵轴：信号幅度</a:t>
            </a:r>
          </a:p>
        </p:txBody>
      </p:sp>
      <p:sp>
        <p:nvSpPr>
          <p:cNvPr id="11" name="answer-1">
            <a:extLst xmlns:a="http://schemas.openxmlformats.org/drawingml/2006/main">
              <a:ext uri="{FF2B5EF4-FFF2-40B4-BE49-F238E27FC236}">
                <a16:creationId xmlns:a16="http://schemas.microsoft.com/office/drawing/2014/main" id="{8B5D6CAF-D5B6-4038-B788-13731761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零线上下表示相对零基准的正、负偏差。</a:t>
            </a:r>
          </a:p>
        </p:txBody>
      </p:sp>
    </p:spTree>
    <p:extLst>
      <p:ext uri="{BB962C8B-B14F-4D97-AF65-F5344CB8AC3E}">
        <p14:creationId xmlns:p14="http://schemas.microsoft.com/office/powerpoint/2010/main" val="4072880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B9CBB479-0070-48FA-A6E3-F133F7B0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372F53D-6F3F-474E-9BEF-B1BD3CC2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B6CE73D-54C1-49D6-B5BA-FCF8AAA9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8A88768-1BE1-47E7-9D10-6E537C57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BF21FABB-2094-4F9A-9460-11BFB75C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0E30148A-11A3-4812-A87D-7B811C4C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933C12E-D64F-435E-9216-F682A24B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92558594-2139-4083-BC69-1BEAAF6F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D2938563-D39F-40A0-9BA1-8980A509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D924330F-37AB-4968-831E-5BBB5613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69006478-D9B6-4C84-A97E-12AE8DAA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D883BE8B-8832-4D03-ADED-55733E21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C59C0131-C019-4A45-9799-0947043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A686EDC-6D77-4CBE-A984-F7EF9649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7D07AC49-1ACE-46B0-82CA-413B3415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29CD9E9D-B98E-44E4-806F-008D525C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21B71D2E-65DE-48A1-AD76-0B8ABAD2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9D963840-09AA-4475-ACF4-24580BD6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D309B77-B8F6-4130-B726-B74830E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2E1094EA-52CA-4597-BA3B-175B9392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149FF447-5E8F-41EB-A1EE-3738D361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49010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B9CBB479-0070-48FA-A6E3-F133F7B0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372F53D-6F3F-474E-9BEF-B1BD3CC2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B6CE73D-54C1-49D6-B5BA-FCF8AAA9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8A88768-1BE1-47E7-9D10-6E537C57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BF21FABB-2094-4F9A-9460-11BFB75C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0E30148A-11A3-4812-A87D-7B811C4C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933C12E-D64F-435E-9216-F682A24B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92558594-2139-4083-BC69-1BEAAF6F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D2938563-D39F-40A0-9BA1-8980A509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D924330F-37AB-4968-831E-5BBB5613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69006478-D9B6-4C84-A97E-12AE8DAA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D883BE8B-8832-4D03-ADED-55733E21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C59C0131-C019-4A45-9799-0947043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A686EDC-6D77-4CBE-A984-F7EF9649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7D07AC49-1ACE-46B0-82CA-413B3415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29CD9E9D-B98E-44E4-806F-008D525C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21B71D2E-65DE-48A1-AD76-0B8ABAD2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9D963840-09AA-4475-ACF4-24580BD6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D309B77-B8F6-4130-B726-B74830E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2E1094EA-52CA-4597-BA3B-175B9392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149FF447-5E8F-41EB-A1EE-3738D361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803819F2-22F1-40CD-A27D-983BD3EF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1A005144-9E65-470E-91F6-ECEBB10C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709B9289-E177-45BC-89D0-66AE436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85561"/>
            <a:ext cx="9525" cy="962501"/>
          </a:xfrm>
          <a:custGeom xmlns:a="http://schemas.openxmlformats.org/drawingml/2006/main">
            <a:pathLst>
              <a:path w="9525" h="962501">
                <a:moveTo>
                  <a:pt x="0" y="9625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AA3A2474-C650-4D40-AAFD-7648E268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2841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44FB1C6C-95CA-45DF-98EA-ACB1EA23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4166"/>
            <a:ext cx="9525" cy="693896"/>
          </a:xfrm>
          <a:custGeom xmlns:a="http://schemas.openxmlformats.org/drawingml/2006/main">
            <a:pathLst>
              <a:path w="9525" h="693896">
                <a:moveTo>
                  <a:pt x="0" y="6938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9B076BEC-7F55-465F-8415-29FBB037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970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028DEC4-FD46-40E9-B049-DDCE58AE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1C4AFD49-0978-479E-8B7A-6A98275B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F0229214-B975-4E70-9232-0A73DBF0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9525" cy="794623"/>
          </a:xfrm>
          <a:custGeom xmlns:a="http://schemas.openxmlformats.org/drawingml/2006/main">
            <a:pathLst>
              <a:path w="9525" h="794623">
                <a:moveTo>
                  <a:pt x="0" y="0"/>
                </a:moveTo>
                <a:lnTo>
                  <a:pt x="0" y="7946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D88A9699-4F73-4F70-951C-B40CFD03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553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41124EAF-A579-469C-B65E-2FA04A51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采样：按指定时刻读取信号幅度。</a:t>
            </a:r>
          </a:p>
        </p:txBody>
      </p:sp>
      <p:sp>
        <p:nvSpPr>
          <p:cNvPr id="33" name="answer-2">
            <a:extLst xmlns:a="http://schemas.openxmlformats.org/drawingml/2006/main">
              <a:ext uri="{FF2B5EF4-FFF2-40B4-BE49-F238E27FC236}">
                <a16:creationId xmlns:a16="http://schemas.microsoft.com/office/drawing/2014/main" id="{F3E424C6-BC42-42B1-9149-F9ACB019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本例0、1、2、3、4s，共5个样本。</a:t>
            </a:r>
          </a:p>
        </p:txBody>
      </p:sp>
    </p:spTree>
    <p:extLst>
      <p:ext uri="{BB962C8B-B14F-4D97-AF65-F5344CB8AC3E}">
        <p14:creationId xmlns:p14="http://schemas.microsoft.com/office/powerpoint/2010/main" val="649010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op-rail">
            <a:extLst xmlns:a="http://schemas.openxmlformats.org/drawingml/2006/main">
              <a:ext uri="{FF2B5EF4-FFF2-40B4-BE49-F238E27FC236}">
                <a16:creationId xmlns:a16="http://schemas.microsoft.com/office/drawing/2014/main" id="{0B65FEE1-6906-4EF6-8E1E-0B5CFF0B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0FE676A-7E8B-48C9-B427-B831BD39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B7A5D09-62C5-4D84-A9A8-758DEC3E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F659DE-B1B0-4C2A-86C3-24AA91FE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0C787C81-617B-495D-9D51-CAC5EC02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22CA5D5-F230-43A3-9279-A1A2B3CC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5BB3FB44-6053-4A8F-B354-C020461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58D9867C-2943-431E-B7A3-FC1C6A8F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8D92EF22-4227-4E18-A78C-C5F141AA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6A6F926-4A3E-467F-B536-255E5609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A44C1BC5-C1DD-497A-953D-CC0BF3A7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1D59C274-8FDB-4672-8404-037B0F6E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C6F293F7-8516-4319-AA40-D3EE6360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7763136C-45DB-41DE-B90E-225458D6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75991DB8-0331-423F-95FF-E4E7634B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591EE43E-8DA0-4452-B571-EEA933AF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908F6D1B-1D3A-4EBA-87A4-CB1E754A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C58B27CF-6E91-4E1E-8CA1-36DFF748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D654A80A-1C20-4174-B988-D3594701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90FB026B-82DF-4AA0-B2E5-968D3519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3D046558-F8CA-4912-929D-048607EE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442ADE4E-E08E-4E58-9397-8BD29FB8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3A681EBF-9626-46A7-BBB8-02BD3C83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9379E4C5-2C53-416E-B671-9D10D76A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E620A687-8036-466C-A7A3-038FFC2F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A3425968-F1C4-471D-BEF5-B26002F3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81E65DE4-D07C-4F0C-B597-BEBC79B6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3563B463-BBC6-4EFB-820A-283E31AB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CD39BB6E-63AB-4AE2-9FD6-B841520D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ACF696F4-9B8D-450C-B077-4F0BAC3A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FFA6642B-35BF-4CCD-B242-108E859A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DDF13AC8-D047-447C-9066-97098AE8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CB5A7C9C-BAAB-449E-862D-FD344D31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F70DDD6E-3D99-40F4-9B78-6027CC08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C5B0D745-D72F-4435-9E4E-B9140CD1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32C8DC54-D4D0-46A6-B919-CBCB6947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42F08226-0433-4F5B-B9C9-92B04D9C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85D2370D-B59A-49A5-B10F-4035BF4C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018F9064-34B5-4988-8A91-0BB3080B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3AA0FB73-4D77-4481-95CE-5F6533F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E36791C8-F169-4AE0-B090-1F6DA7B4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AB231D93-17CB-438B-B50E-97B9635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5F5276D3-4843-4F38-BFA8-34BB50D9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30246324-CE77-4F1A-824C-F6FD86A0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E4FB1A20-277C-4EAB-822C-52F25B36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6312FF7A-EA60-416D-A39A-1FD1BAFB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BE83DCE9-2BCE-4067-9F7B-03D6EBFD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80EEACF1-C014-4181-8824-433807B9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73146731-B232-4D5A-8CBB-D49E391B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990C49BD-28AA-4158-ACAC-B5A149E4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DADF8570-93B8-452E-BDC7-18ACE72D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0B4F0A92-657C-4BA3-ABDE-F15C5CB9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BBCF0089-B8EE-4435-A211-3FE9757A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5DF12018-2A46-4F05-B615-16789071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D983B112-C1A2-4A05-9436-5E190AB6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19D623E6-80AE-4E68-BF6D-129F21DB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8C1A87DA-587F-4A89-B213-C7E8408C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2201E43F-4BD0-4379-9CE0-9753B8F4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94DFDCB9-B790-4615-974D-85C15795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C9E2213D-0377-4650-AB8E-B592D60C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597250A7-1C59-40A3-BAC3-3D366043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ABB0B857-BCE8-4622-BF21-97633A84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CE85227D-7A49-451F-B1B4-E51C0E1A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63FD16E0-1AAE-4E43-AC3B-5D785EA3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156B1792-6818-43CF-9CAD-DCAE6A16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79572081-EBA9-494D-BE5F-CF19B146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B3EC63B1-FC6D-445B-B0EF-E431D156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54485AC6-0E5A-44E3-A7EC-89CD2818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322B72A1-ED69-4B25-91CD-5FF20525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74C245C6-5D20-4D3E-A959-206125F2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</p:spTree>
    <p:extLst>
      <p:ext uri="{BB962C8B-B14F-4D97-AF65-F5344CB8AC3E}">
        <p14:creationId xmlns:p14="http://schemas.microsoft.com/office/powerpoint/2010/main" val="4818081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op-rail">
            <a:extLst xmlns:a="http://schemas.openxmlformats.org/drawingml/2006/main">
              <a:ext uri="{FF2B5EF4-FFF2-40B4-BE49-F238E27FC236}">
                <a16:creationId xmlns:a16="http://schemas.microsoft.com/office/drawing/2014/main" id="{0B65FEE1-6906-4EF6-8E1E-0B5CFF0B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0FE676A-7E8B-48C9-B427-B831BD39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B7A5D09-62C5-4D84-A9A8-758DEC3E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F659DE-B1B0-4C2A-86C3-24AA91FE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0C787C81-617B-495D-9D51-CAC5EC02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22CA5D5-F230-43A3-9279-A1A2B3CC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5BB3FB44-6053-4A8F-B354-C020461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58D9867C-2943-431E-B7A3-FC1C6A8F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8D92EF22-4227-4E18-A78C-C5F141AA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6A6F926-4A3E-467F-B536-255E5609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A44C1BC5-C1DD-497A-953D-CC0BF3A7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1D59C274-8FDB-4672-8404-037B0F6E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C6F293F7-8516-4319-AA40-D3EE6360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7763136C-45DB-41DE-B90E-225458D6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75991DB8-0331-423F-95FF-E4E7634B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591EE43E-8DA0-4452-B571-EEA933AF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908F6D1B-1D3A-4EBA-87A4-CB1E754A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C58B27CF-6E91-4E1E-8CA1-36DFF748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D654A80A-1C20-4174-B988-D3594701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90FB026B-82DF-4AA0-B2E5-968D3519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3D046558-F8CA-4912-929D-048607EE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442ADE4E-E08E-4E58-9397-8BD29FB8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3A681EBF-9626-46A7-BBB8-02BD3C83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9379E4C5-2C53-416E-B671-9D10D76A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E620A687-8036-466C-A7A3-038FFC2F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A3425968-F1C4-471D-BEF5-B26002F3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81E65DE4-D07C-4F0C-B597-BEBC79B6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3563B463-BBC6-4EFB-820A-283E31AB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CD39BB6E-63AB-4AE2-9FD6-B841520D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ACF696F4-9B8D-450C-B077-4F0BAC3A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FFA6642B-35BF-4CCD-B242-108E859A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DDF13AC8-D047-447C-9066-97098AE8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CB5A7C9C-BAAB-449E-862D-FD344D31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F70DDD6E-3D99-40F4-9B78-6027CC08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C5B0D745-D72F-4435-9E4E-B9140CD1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32C8DC54-D4D0-46A6-B919-CBCB6947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42F08226-0433-4F5B-B9C9-92B04D9C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85D2370D-B59A-49A5-B10F-4035BF4C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018F9064-34B5-4988-8A91-0BB3080B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3AA0FB73-4D77-4481-95CE-5F6533F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E36791C8-F169-4AE0-B090-1F6DA7B4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AB231D93-17CB-438B-B50E-97B9635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5F5276D3-4843-4F38-BFA8-34BB50D9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30246324-CE77-4F1A-824C-F6FD86A0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E4FB1A20-277C-4EAB-822C-52F25B36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6312FF7A-EA60-416D-A39A-1FD1BAFB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BE83DCE9-2BCE-4067-9F7B-03D6EBFD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80EEACF1-C014-4181-8824-433807B9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73146731-B232-4D5A-8CBB-D49E391B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990C49BD-28AA-4158-ACAC-B5A149E4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DADF8570-93B8-452E-BDC7-18ACE72D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0B4F0A92-657C-4BA3-ABDE-F15C5CB9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BBCF0089-B8EE-4435-A211-3FE9757A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5DF12018-2A46-4F05-B615-16789071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D983B112-C1A2-4A05-9436-5E190AB6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19D623E6-80AE-4E68-BF6D-129F21DB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8C1A87DA-587F-4A89-B213-C7E8408C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2201E43F-4BD0-4379-9CE0-9753B8F4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94DFDCB9-B790-4615-974D-85C15795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C9E2213D-0377-4650-AB8E-B592D60C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597250A7-1C59-40A3-BAC3-3D366043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ABB0B857-BCE8-4622-BF21-97633A84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CE85227D-7A49-451F-B1B4-E51C0E1A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63FD16E0-1AAE-4E43-AC3B-5D785EA3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156B1792-6818-43CF-9CAD-DCAE6A16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79572081-EBA9-494D-BE5F-CF19B146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B3EC63B1-FC6D-445B-B0EF-E431D156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54485AC6-0E5A-44E3-A7EC-89CD2818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322B72A1-ED69-4B25-91CD-5FF20525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74C245C6-5D20-4D3E-A959-206125F2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  <p:sp>
        <p:nvSpPr>
          <p:cNvPr id="71" name="answer-1">
            <a:extLst xmlns:a="http://schemas.openxmlformats.org/drawingml/2006/main">
              <a:ext uri="{FF2B5EF4-FFF2-40B4-BE49-F238E27FC236}">
                <a16:creationId xmlns:a16="http://schemas.microsoft.com/office/drawing/2014/main" id="{B4AA314D-E701-4321-BB2A-9750800A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 Hz：5个样本；2 Hz：10个样本。</a:t>
            </a:r>
          </a:p>
        </p:txBody>
      </p:sp>
      <p:sp>
        <p:nvSpPr>
          <p:cNvPr id="72" name="answer-2">
            <a:extLst xmlns:a="http://schemas.openxmlformats.org/drawingml/2006/main">
              <a:ext uri="{FF2B5EF4-FFF2-40B4-BE49-F238E27FC236}">
                <a16:creationId xmlns:a16="http://schemas.microsoft.com/office/drawing/2014/main" id="{762F7742-63EC-47DA-9821-F03B6AF2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采样率＝每秒每声道取得的样本数。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4818081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CDEED4CA-E2C7-43F6-B57A-0511ACEB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57C116F-7CBE-4C27-A07C-B11B48FA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6DF3A3D-C7F7-4C65-BC34-D8EBD1BD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我们刚才按什么维度取值？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1BF8A860-0C6F-4F35-A81D-B3F96B36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4AB41812-A16A-4AE1-A252-2E719229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</p:spTree>
    <p:extLst>
      <p:ext uri="{BB962C8B-B14F-4D97-AF65-F5344CB8AC3E}">
        <p14:creationId xmlns:p14="http://schemas.microsoft.com/office/powerpoint/2010/main" val="5338880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">
            <a:extLst xmlns:a="http://schemas.openxmlformats.org/drawingml/2006/main">
              <a:ext uri="{FF2B5EF4-FFF2-40B4-BE49-F238E27FC236}">
                <a16:creationId xmlns:a16="http://schemas.microsoft.com/office/drawing/2014/main" id="{CDEED4CA-E2C7-43F6-B57A-0511ACEB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57C116F-7CBE-4C27-A07C-B11B48FA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6DF3A3D-C7F7-4C65-BC34-D8EBD1BD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我们刚才按什么维度取值？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1BF8A860-0C6F-4F35-A81D-B3F96B36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4AB41812-A16A-4AE1-A252-2E719229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58FE415-6B88-40D6-8A0E-138A3A6A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">
            <a:extLst xmlns:a="http://schemas.openxmlformats.org/drawingml/2006/main">
              <a:ext uri="{FF2B5EF4-FFF2-40B4-BE49-F238E27FC236}">
                <a16:creationId xmlns:a16="http://schemas.microsoft.com/office/drawing/2014/main" id="{CBD10D57-E44A-43A0-9F27-5EA8CAC6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D71C0AA1-3F3B-42D6-B232-77C75DE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555C0D28-671B-46D6-B891-F5CEEF04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020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DC3EB96F-C898-4E1A-A72E-FCA981EB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采样：按时刻取值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5FB8473E-529E-450A-B158-F559100F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8597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采样率＝每秒每声道样本数</a:t>
            </a:r>
          </a:p>
        </p:txBody>
      </p:sp>
      <p:sp>
        <p:nvSpPr>
          <p:cNvPr id="12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222D9E10-AF4E-49FA-8CC1-4DB2F29B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62100"/>
            <a:ext cx="6629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624C59E7-FB04-45B2-ACB2-405CAAD8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95475"/>
            <a:ext cx="72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5338880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5BC9BAFE-F3DA-490A-89BC-8AC7589B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4F3E0C-5287-404B-B9AB-363B687F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1DF8BDF-F9C1-4636-B52A-B14D183C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91E9A04-575A-4DE7-9DDD-84BF9282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11" name="evidence-table"/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evidence-table"/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8261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5BC9BAFE-F3DA-490A-89BC-8AC7589B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4F3E0C-5287-404B-B9AB-363B687F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1DF8BDF-F9C1-4636-B52A-B14D183C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91E9A04-575A-4DE7-9DDD-84BF9282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13" name="evidence-table"/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evidence-table"/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9D2BB904-B887-4998-9E5F-3C83AD0D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量化：把输入幅度近似为有限个等级。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117739BC-27DC-400E-843A-56F1BCA2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代表值是近似值；等级编号只是这一档的标签。</a:t>
            </a:r>
          </a:p>
        </p:txBody>
      </p:sp>
    </p:spTree>
    <p:extLst>
      <p:ext uri="{BB962C8B-B14F-4D97-AF65-F5344CB8AC3E}">
        <p14:creationId xmlns:p14="http://schemas.microsoft.com/office/powerpoint/2010/main" val="609826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top-rail">
            <a:extLst xmlns:a="http://schemas.openxmlformats.org/drawingml/2006/main">
              <a:ext uri="{FF2B5EF4-FFF2-40B4-BE49-F238E27FC236}">
                <a16:creationId xmlns:a16="http://schemas.microsoft.com/office/drawing/2014/main" id="{250CB5A0-E041-41CD-B7D3-898D555D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705A14D-73C8-44AE-8D4F-88CBDF5D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5419F5C-0CA2-4988-9D55-DF87B2D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D55D1C-20DE-40C2-8C38-DA0887D7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7A57067-D9D7-4C32-AD1F-05D2000D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AE2A51D2-5633-46FC-89C3-0F129841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E510976-8BDE-4C88-998D-4B46D2E3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DBA45D5-C205-4AC8-B09C-1C038DE2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97616F3-9FAF-4D5E-A8F2-8C294F3D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4EDF86D9-3FA5-4436-B75F-DDD7978B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EAC7946-3DB3-444E-A004-0E816A4C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47E795F7-1C29-4593-BE6A-99095911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92469B5F-023F-40F2-BABB-7EEA2EB3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AFF7F44A-5BC5-450E-832A-C509C492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1BBE966E-B715-473F-85A9-BBD3046B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E6147B8A-C56E-498C-90EE-8E65339A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CF1852A8-3C95-4AB5-B3F9-DF01A8E6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371D841C-B5D6-41B4-9237-32B4B145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7ACB3A2F-6756-4F01-B460-C18D25A2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50734075-0268-4F46-BCEA-BCDE1AF5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C71C8B83-495A-40AC-85A3-7875CF94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1A6CE202-1350-4123-919F-C88FC24E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6DC7548F-1429-4410-A28D-8FA417FE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27558753-187A-42A5-A00A-3A31C94C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BA30E750-ABEF-471E-B1AA-363CCAFE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BD30B665-50E2-466B-8A11-1C49D465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D0900608-3FA9-46D7-93BD-1AEC0A9B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C09D4597-A36E-4CFB-86CF-48CC10EC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0BDBCA70-33D0-453F-9C92-EBC98D84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965FFD7-A2E6-46AB-8D49-DF69F151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0EFB2F4-AC45-498A-9199-A174CE67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F6CBCA8-D452-4D8C-A4FB-62D817D2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5C91792-6542-43C5-BD78-C105A9D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5223FEC-93AC-43D5-B098-4DF3AAAB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810F67B-CFE7-4371-939F-4496FA70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5A9FE66-5233-4B7C-B32C-68C2E1E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87160E8-3A34-4349-B4AE-1EFDC8BC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C360262-806A-4FD0-BE31-21C3F05B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E2F754A-3C68-48E0-9AC1-951D8877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7E6ADA9-61FD-46F0-AA5F-2B291813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A939D57-A5FA-4410-BDCC-80881AE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4138A9D-857F-4D72-BE62-6B6FE128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D8CB133-A2D9-4481-95A0-EEE72B09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5E1B924-55A6-40A4-B1A4-8A21C63B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E54F1A7-756A-49BF-8EF6-74E7E35D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A377D39-1D76-422B-87B1-AB24CA45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47FB7DF-BF02-412F-AFAC-1EA96F2E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C662B76-EBA1-4308-9407-E03AA0ED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5AB2594-C150-4A55-B801-9111929A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A373B4D-F47C-44FB-AE17-F8097610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90F4890B-1EC4-40A2-AB25-DEC39603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B188364-9640-462A-809C-9E872BA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C89AD75-B6CA-409C-80BB-961DDDAF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2F42D21-0B28-4C23-996D-71E796C5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3AC745E-D445-4702-A749-84885930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7F97620-AF00-4E1F-85CC-2EBFA65A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D8B56CF-918B-4984-B2A2-0E275F68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6C0B8AB-FEDB-427D-A9F1-B195E277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52E881-7801-406B-BD3B-0768A80E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F05C349-7519-40E0-B724-F5B66B8D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ED499E58-F65C-4EB9-BD7E-B0C9DA7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1B6E26A-51F4-431C-A13A-41C457CF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A320DAC9-D567-4C24-B42C-82F9803C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BE7A89F-51E5-4646-B0D3-B99C0D0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2200359-940F-4ED3-8CF5-D927E29D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2B2A74E-E1E8-4E4C-BD89-3912D737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B3C4C82-2F41-4975-9556-BF56349A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FBB8588-2AC3-412A-AB47-E0E7673F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026656D-083A-47AA-9AA9-EABB0A71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AB22913-B33D-4882-A28F-C9E4C2DB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D714CBE-D01D-422C-95B5-02920003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08D372A-6102-4040-BBB9-10218EB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6AC29C3-C820-43ED-8CA4-DEAB1403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D5D4DEC2-B32F-4623-BC74-203889A4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93E65BC-9E4A-4C7B-96C9-B3EFF32D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817C55A-96D9-49A2-8518-EE25BB15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8248322-3257-448F-97FF-566D76AF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AE279709-3CF7-4D58-92A4-4EF489F0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0490455-A571-4165-BC94-112B26AE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7C47893C-37BF-4AB1-ADF5-0E82DD19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12F9597D-EBEF-46BC-A058-BBE9F7B8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17FDBA1D-A409-4DC7-A5F5-6CBC5ABD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9EE45371-FF31-47D9-9040-EA1FA879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B104153D-F3E6-4596-B53E-207D9C02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0F455081-CCC5-4285-822C-077098C9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7B17489B-63B9-446B-AADB-262435BD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CFB5572B-CB3B-4E5F-A962-DFF359BC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8DFACCB9-15F0-4FE9-A518-A2929D3E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52B10D12-AF72-4466-AE44-E28B61D3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5A6422BA-B9F2-4F81-9C4E-B5FA9638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7512F36F-E472-4D72-8D03-425904E2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75EE6A7E-8FD0-4D7D-8214-46B32F95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47A1827F-2476-46D9-86FE-9F79EFE8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7A0D2057-7EE0-428F-A817-BB531B85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04542E9-4A1C-4A6C-8244-B7998E94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7B5B1D1-B4A6-4D5D-AB3F-6A574AE9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4EE0802-2A60-4F14-90BC-D1A82B8A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1FCF812-57A4-4A0D-A868-D378FF3F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28CF07E-D2EF-4D22-B7C5-5D19008A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F6CB1BE-3EE1-42F0-B24C-69C20F8A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2CFBE3-5F18-44D3-85A2-52C07B44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5997830-566E-4589-BB5F-E4EA25A3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DB77208-4FCA-46C6-A36E-62F4962B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C06AF5D-1010-47BD-8C85-B526D5FE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CA872DF-B16E-4069-B7D4-2E186CE3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95885A6-BE8A-4AF0-860C-8AF1C16E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029E3AA-B08C-4C70-8CB3-8EC1D26C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8AAB375-52DF-4B7C-BF88-DF7CA199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7625E23-3642-407D-8268-FD07A323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8F9ED90-A40F-44A3-A55F-EDAE7891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ECC0DBF-689D-4903-8164-AB1D7FF0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6E71070-8237-441B-B9BA-59387AB6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81C9D9B-BC33-42A8-AE6A-E256B77F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175EF6D-A8E7-4178-AFAE-7F0A424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76069A4-EFA5-4E4E-AA23-1801775C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23BAF9C5-36DF-4BC3-8F3D-654CD157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50575B8-1718-4082-86B2-748A4F72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9BD451D-C368-4F38-B033-5A8C1B12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54C5E82-89F6-437B-802F-A5C7370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4369EF6-8781-4777-8A6F-D558A08E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DB4F549-5C84-4CAB-806F-5584D61B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BB7B66E-6B14-4F34-85F9-4BEE2FBF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00741AE-498C-44A7-9D5A-2C747EE8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A7EFA1F-6C61-4FDA-BD27-4AEAAF61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BED98DE-E732-48E4-BEFD-DB81A8E3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A472F859-2E55-4EF7-B45A-28662C82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F0989BD7-723D-4928-935E-2DF31214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0AD7C3C2-C24F-4426-91BB-3C323BB2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3C3CA634-FAC3-44DC-9496-3AE382B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14318A41-BCEA-4D2F-8C51-EBDFB85E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ED4DB30B-392C-43EA-BDA3-4B29BD48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76EACECA-4B34-4B37-8B9F-515560C2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</p:spTree>
    <p:extLst>
      <p:ext uri="{BB962C8B-B14F-4D97-AF65-F5344CB8AC3E}">
        <p14:creationId xmlns:p14="http://schemas.microsoft.com/office/powerpoint/2010/main" val="7649334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op-rail">
            <a:extLst xmlns:a="http://schemas.openxmlformats.org/drawingml/2006/main">
              <a:ext uri="{FF2B5EF4-FFF2-40B4-BE49-F238E27FC236}">
                <a16:creationId xmlns:a16="http://schemas.microsoft.com/office/drawing/2014/main" id="{250CB5A0-E041-41CD-B7D3-898D555D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705A14D-73C8-44AE-8D4F-88CBDF5D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5419F5C-0CA2-4988-9D55-DF87B2D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D55D1C-20DE-40C2-8C38-DA0887D7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7A57067-D9D7-4C32-AD1F-05D2000D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AE2A51D2-5633-46FC-89C3-0F129841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E510976-8BDE-4C88-998D-4B46D2E3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DBA45D5-C205-4AC8-B09C-1C038DE2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97616F3-9FAF-4D5E-A8F2-8C294F3D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4EDF86D9-3FA5-4436-B75F-DDD7978B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EAC7946-3DB3-444E-A004-0E816A4C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47E795F7-1C29-4593-BE6A-99095911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92469B5F-023F-40F2-BABB-7EEA2EB3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AFF7F44A-5BC5-450E-832A-C509C492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1BBE966E-B715-473F-85A9-BBD3046B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E6147B8A-C56E-498C-90EE-8E65339A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CF1852A8-3C95-4AB5-B3F9-DF01A8E6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371D841C-B5D6-41B4-9237-32B4B145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7ACB3A2F-6756-4F01-B460-C18D25A2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50734075-0268-4F46-BCEA-BCDE1AF5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C71C8B83-495A-40AC-85A3-7875CF94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1A6CE202-1350-4123-919F-C88FC24E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6DC7548F-1429-4410-A28D-8FA417FE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27558753-187A-42A5-A00A-3A31C94C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BA30E750-ABEF-471E-B1AA-363CCAFE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BD30B665-50E2-466B-8A11-1C49D465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D0900608-3FA9-46D7-93BD-1AEC0A9B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C09D4597-A36E-4CFB-86CF-48CC10EC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0BDBCA70-33D0-453F-9C92-EBC98D84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965FFD7-A2E6-46AB-8D49-DF69F151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0EFB2F4-AC45-498A-9199-A174CE67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F6CBCA8-D452-4D8C-A4FB-62D817D2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5C91792-6542-43C5-BD78-C105A9D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5223FEC-93AC-43D5-B098-4DF3AAAB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810F67B-CFE7-4371-939F-4496FA70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5A9FE66-5233-4B7C-B32C-68C2E1E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87160E8-3A34-4349-B4AE-1EFDC8BC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C360262-806A-4FD0-BE31-21C3F05B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E2F754A-3C68-48E0-9AC1-951D8877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7E6ADA9-61FD-46F0-AA5F-2B291813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A939D57-A5FA-4410-BDCC-80881AE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4138A9D-857F-4D72-BE62-6B6FE128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D8CB133-A2D9-4481-95A0-EEE72B09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5E1B924-55A6-40A4-B1A4-8A21C63B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E54F1A7-756A-49BF-8EF6-74E7E35D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A377D39-1D76-422B-87B1-AB24CA45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47FB7DF-BF02-412F-AFAC-1EA96F2E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C662B76-EBA1-4308-9407-E03AA0ED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5AB2594-C150-4A55-B801-9111929A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A373B4D-F47C-44FB-AE17-F8097610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90F4890B-1EC4-40A2-AB25-DEC39603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B188364-9640-462A-809C-9E872BA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C89AD75-B6CA-409C-80BB-961DDDAF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2F42D21-0B28-4C23-996D-71E796C5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3AC745E-D445-4702-A749-84885930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7F97620-AF00-4E1F-85CC-2EBFA65A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D8B56CF-918B-4984-B2A2-0E275F68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6C0B8AB-FEDB-427D-A9F1-B195E277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52E881-7801-406B-BD3B-0768A80E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F05C349-7519-40E0-B724-F5B66B8D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ED499E58-F65C-4EB9-BD7E-B0C9DA7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1B6E26A-51F4-431C-A13A-41C457CF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A320DAC9-D567-4C24-B42C-82F9803C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BE7A89F-51E5-4646-B0D3-B99C0D0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2200359-940F-4ED3-8CF5-D927E29D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2B2A74E-E1E8-4E4C-BD89-3912D737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B3C4C82-2F41-4975-9556-BF56349A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FBB8588-2AC3-412A-AB47-E0E7673F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026656D-083A-47AA-9AA9-EABB0A71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AB22913-B33D-4882-A28F-C9E4C2DB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D714CBE-D01D-422C-95B5-02920003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08D372A-6102-4040-BBB9-10218EB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6AC29C3-C820-43ED-8CA4-DEAB1403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D5D4DEC2-B32F-4623-BC74-203889A4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93E65BC-9E4A-4C7B-96C9-B3EFF32D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817C55A-96D9-49A2-8518-EE25BB15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8248322-3257-448F-97FF-566D76AF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AE279709-3CF7-4D58-92A4-4EF489F0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0490455-A571-4165-BC94-112B26AE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7C47893C-37BF-4AB1-ADF5-0E82DD19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12F9597D-EBEF-46BC-A058-BBE9F7B8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17FDBA1D-A409-4DC7-A5F5-6CBC5ABD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9EE45371-FF31-47D9-9040-EA1FA879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B104153D-F3E6-4596-B53E-207D9C02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0F455081-CCC5-4285-822C-077098C9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7B17489B-63B9-446B-AADB-262435BD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CFB5572B-CB3B-4E5F-A962-DFF359BC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8DFACCB9-15F0-4FE9-A518-A2929D3E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52B10D12-AF72-4466-AE44-E28B61D3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5A6422BA-B9F2-4F81-9C4E-B5FA9638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7512F36F-E472-4D72-8D03-425904E2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75EE6A7E-8FD0-4D7D-8214-46B32F95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47A1827F-2476-46D9-86FE-9F79EFE8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7A0D2057-7EE0-428F-A817-BB531B85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04542E9-4A1C-4A6C-8244-B7998E94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7B5B1D1-B4A6-4D5D-AB3F-6A574AE9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4EE0802-2A60-4F14-90BC-D1A82B8A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1FCF812-57A4-4A0D-A868-D378FF3F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28CF07E-D2EF-4D22-B7C5-5D19008A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F6CB1BE-3EE1-42F0-B24C-69C20F8A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2CFBE3-5F18-44D3-85A2-52C07B44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5997830-566E-4589-BB5F-E4EA25A3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DB77208-4FCA-46C6-A36E-62F4962B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C06AF5D-1010-47BD-8C85-B526D5FE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CA872DF-B16E-4069-B7D4-2E186CE3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95885A6-BE8A-4AF0-860C-8AF1C16E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029E3AA-B08C-4C70-8CB3-8EC1D26C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8AAB375-52DF-4B7C-BF88-DF7CA199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7625E23-3642-407D-8268-FD07A323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8F9ED90-A40F-44A3-A55F-EDAE7891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ECC0DBF-689D-4903-8164-AB1D7FF0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6E71070-8237-441B-B9BA-59387AB6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81C9D9B-BC33-42A8-AE6A-E256B77F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175EF6D-A8E7-4178-AFAE-7F0A424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76069A4-EFA5-4E4E-AA23-1801775C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23BAF9C5-36DF-4BC3-8F3D-654CD157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50575B8-1718-4082-86B2-748A4F72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9BD451D-C368-4F38-B033-5A8C1B12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54C5E82-89F6-437B-802F-A5C7370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4369EF6-8781-4777-8A6F-D558A08E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DB4F549-5C84-4CAB-806F-5584D61B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BB7B66E-6B14-4F34-85F9-4BEE2FBF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00741AE-498C-44A7-9D5A-2C747EE8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A7EFA1F-6C61-4FDA-BD27-4AEAAF61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BED98DE-E732-48E4-BEFD-DB81A8E3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A472F859-2E55-4EF7-B45A-28662C82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F0989BD7-723D-4928-935E-2DF31214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0AD7C3C2-C24F-4426-91BB-3C323BB2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3C3CA634-FAC3-44DC-9496-3AE382B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14318A41-BCEA-4D2F-8C51-EBDFB85E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ED4DB30B-392C-43EA-BDA3-4B29BD48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76EACECA-4B34-4B37-8B9F-515560C2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  <p:sp>
        <p:nvSpPr>
          <p:cNvPr id="133" name="answer-1">
            <a:extLst xmlns:a="http://schemas.openxmlformats.org/drawingml/2006/main">
              <a:ext uri="{FF2B5EF4-FFF2-40B4-BE49-F238E27FC236}">
                <a16:creationId xmlns:a16="http://schemas.microsoft.com/office/drawing/2014/main" id="{4175A105-8D16-4B87-BF29-6375EB08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采样时刻和输入幅度不变。</a:t>
            </a:r>
          </a:p>
        </p:txBody>
      </p:sp>
      <p:sp>
        <p:nvSpPr>
          <p:cNvPr id="134" name="answer-2">
            <a:extLst xmlns:a="http://schemas.openxmlformats.org/drawingml/2006/main">
              <a:ext uri="{FF2B5EF4-FFF2-40B4-BE49-F238E27FC236}">
                <a16:creationId xmlns:a16="http://schemas.microsoft.com/office/drawing/2014/main" id="{55EACF36-1733-4FFB-A553-EEF1B930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固定范围均匀分级：等级越多，步长越小。</a:t>
            </a:r>
          </a:p>
        </p:txBody>
      </p:sp>
    </p:spTree>
    <p:extLst>
      <p:ext uri="{BB962C8B-B14F-4D97-AF65-F5344CB8AC3E}">
        <p14:creationId xmlns:p14="http://schemas.microsoft.com/office/powerpoint/2010/main" val="7649334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66D1B2F6-713A-42C9-AFB0-9E7EE134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9C49FB0-8CCD-4B03-BFD5-1DFD9767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652E77F-E83D-4FB6-9806-9FCDBADD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611A05-4C99-4774-A25D-424CF0D7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输入幅度：−0.38；误差＝输入与代表值的绝对差。</a:t>
            </a:r>
          </a:p>
        </p:txBody>
      </p:sp>
      <p:graphicFrame>
        <p:nvGraphicFramePr>
          <p:cNvPr id="10" name="evidence-table"/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4266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66D1B2F6-713A-42C9-AFB0-9E7EE134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9C49FB0-8CCD-4B03-BFD5-1DFD9767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652E77F-E83D-4FB6-9806-9FCDBADD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611A05-4C99-4774-A25D-424CF0D7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输入幅度：−0.38；误差＝输入与代表值的绝对差。</a:t>
            </a:r>
          </a:p>
        </p:txBody>
      </p:sp>
      <p:graphicFrame>
        <p:nvGraphicFramePr>
          <p:cNvPr id="12" name="evidence-table"/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0.005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AD98F90C-5643-4C5B-87A1-DF8AD162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本例8档的误差更小。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D7CB25C3-F84C-4B2F-B36D-FFEDE25D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固定范围均匀量化：步长减小，误差上界减小。</a:t>
            </a:r>
          </a:p>
        </p:txBody>
      </p:sp>
    </p:spTree>
    <p:extLst>
      <p:ext uri="{BB962C8B-B14F-4D97-AF65-F5344CB8AC3E}">
        <p14:creationId xmlns:p14="http://schemas.microsoft.com/office/powerpoint/2010/main" val="15494266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B595533D-C4A2-4140-B3B0-1A127089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C901DD1-03D8-4561-BAF4-0F2F3C2A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068F84A-6733-44AA-9F48-70B723A2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9" name="evidence-table"/>
          <p:cNvGraphicFramePr/>
          <p:nvPr/>
        </p:nvGraphicFramePr>
        <p:xfrm>
          <a:off xmlns:a="http://schemas.openxmlformats.org/drawingml/2006/main" x="857250" y="2286000"/>
          <a:ext xmlns:a="http://schemas.openxmlformats.org/drawingml/2006/main" cx="4476750" cy="2857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428750"/>
                <a:gridCol w="3048000"/>
              </a:tblGrid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evidence-table"/>
          <p:cNvGraphicFramePr/>
          <p:nvPr/>
        </p:nvGraphicFramePr>
        <p:xfrm>
          <a:off xmlns:a="http://schemas.openxmlformats.org/drawingml/2006/main" x="6953250" y="2667000"/>
          <a:ext xmlns:a="http://schemas.openxmlformats.org/drawingml/2006/main" cx="409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47875"/>
                <a:gridCol w="2047875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911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B595533D-C4A2-4140-B3B0-1A127089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C901DD1-03D8-4561-BAF4-0F2F3C2A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068F84A-6733-44AA-9F48-70B723A2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12" name="evidence-table"/>
          <p:cNvGraphicFramePr/>
          <p:nvPr/>
        </p:nvGraphicFramePr>
        <p:xfrm>
          <a:off xmlns:a="http://schemas.openxmlformats.org/drawingml/2006/main" x="857250" y="2286000"/>
          <a:ext xmlns:a="http://schemas.openxmlformats.org/drawingml/2006/main" cx="4476750" cy="2857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428750"/>
                <a:gridCol w="3048000"/>
              </a:tblGrid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evidence-table"/>
          <p:cNvGraphicFramePr/>
          <p:nvPr/>
        </p:nvGraphicFramePr>
        <p:xfrm>
          <a:off xmlns:a="http://schemas.openxmlformats.org/drawingml/2006/main" x="6953250" y="2667000"/>
          <a:ext xmlns:a="http://schemas.openxmlformats.org/drawingml/2006/main" cx="409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47875"/>
                <a:gridCol w="2047875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alogy-conclusion">
            <a:extLst xmlns:a="http://schemas.openxmlformats.org/drawingml/2006/main">
              <a:ext uri="{FF2B5EF4-FFF2-40B4-BE49-F238E27FC236}">
                <a16:creationId xmlns:a16="http://schemas.microsoft.com/office/drawing/2014/main" id="{8861A9FD-4C42-4FDF-9F01-21454F1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分档更细，仍不能恢复原来的精确分数。</a:t>
            </a:r>
          </a:p>
        </p:txBody>
      </p:sp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D76A6E5F-C253-4226-B0A6-44A2E203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5档：A 90–100，B 80–89，C 70–79。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79882D8C-E1F9-439E-BF2B-0007817F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D 60–69，E 0–59；80→B，60→D。</a:t>
            </a:r>
          </a:p>
        </p:txBody>
      </p:sp>
    </p:spTree>
    <p:extLst>
      <p:ext uri="{BB962C8B-B14F-4D97-AF65-F5344CB8AC3E}">
        <p14:creationId xmlns:p14="http://schemas.microsoft.com/office/powerpoint/2010/main" val="1656911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4A02088C-31B7-48F7-9480-AB06F7AA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DFD84D4-26A8-4454-B194-D4269666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A7FD413-F67A-40DA-91C1-5E4C82EC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我们怎样保存读到的幅度？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AA3B0602-2D66-4EF8-B798-D941E50F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F2B650F3-19BA-4AAC-A1D4-A59AD382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187CCC4-B5B8-44A1-ADD7-CB243372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">
            <a:extLst xmlns:a="http://schemas.openxmlformats.org/drawingml/2006/main">
              <a:ext uri="{FF2B5EF4-FFF2-40B4-BE49-F238E27FC236}">
                <a16:creationId xmlns:a16="http://schemas.microsoft.com/office/drawing/2014/main" id="{8F81CFAA-435D-4D97-B247-08D5FDC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F51C0345-EDA7-43F3-88EE-5E9FC340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7FC0825-5068-4BDF-86EE-B5F1DC9F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020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97519FAA-18D7-4C6D-8867-40C1E2B4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采样：按时刻取值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CD2B0AF5-EC6D-4AC3-B060-D1FA92D1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8597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采样率＝每秒每声道样本数</a:t>
            </a:r>
          </a:p>
        </p:txBody>
      </p:sp>
    </p:spTree>
    <p:extLst>
      <p:ext uri="{BB962C8B-B14F-4D97-AF65-F5344CB8AC3E}">
        <p14:creationId xmlns:p14="http://schemas.microsoft.com/office/powerpoint/2010/main" val="7487720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">
            <a:extLst xmlns:a="http://schemas.openxmlformats.org/drawingml/2006/main">
              <a:ext uri="{FF2B5EF4-FFF2-40B4-BE49-F238E27FC236}">
                <a16:creationId xmlns:a16="http://schemas.microsoft.com/office/drawing/2014/main" id="{4A02088C-31B7-48F7-9480-AB06F7AA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DFD84D4-26A8-4454-B194-D4269666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A7FD413-F67A-40DA-91C1-5E4C82EC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我们怎样保存读到的幅度？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AA3B0602-2D66-4EF8-B798-D941E50F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F2B650F3-19BA-4AAC-A1D4-A59AD382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187CCC4-B5B8-44A1-ADD7-CB243372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">
            <a:extLst xmlns:a="http://schemas.openxmlformats.org/drawingml/2006/main">
              <a:ext uri="{FF2B5EF4-FFF2-40B4-BE49-F238E27FC236}">
                <a16:creationId xmlns:a16="http://schemas.microsoft.com/office/drawing/2014/main" id="{8F81CFAA-435D-4D97-B247-08D5FDC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F51C0345-EDA7-43F3-88EE-5E9FC340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7FC0825-5068-4BDF-86EE-B5F1DC9F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020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97519FAA-18D7-4C6D-8867-40C1E2B4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采样：按时刻取值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CD2B0AF5-EC6D-4AC3-B060-D1FA92D1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8597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采样率＝每秒每声道样本数</a:t>
            </a:r>
          </a:p>
        </p:txBody>
      </p:sp>
      <p:sp>
        <p:nvSpPr>
          <p:cNvPr id="12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28948196-FC89-41F3-8E4F-4741A613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ree-trunk">
            <a:extLst xmlns:a="http://schemas.openxmlformats.org/drawingml/2006/main">
              <a:ext uri="{FF2B5EF4-FFF2-40B4-BE49-F238E27FC236}">
                <a16:creationId xmlns:a16="http://schemas.microsoft.com/office/drawing/2014/main" id="{9683CBAB-5ECF-4BAF-83AF-016FD7FF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1123950"/>
          </a:xfrm>
          <a:custGeom xmlns:a="http://schemas.openxmlformats.org/drawingml/2006/main">
            <a:pathLst>
              <a:path w="9525" h="1123950">
                <a:moveTo>
                  <a:pt x="0" y="0"/>
                </a:moveTo>
                <a:lnTo>
                  <a:pt x="0" y="1123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4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BEBF257C-AFB1-43F9-8F81-7ECD508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7182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tree-node-1">
            <a:extLst xmlns:a="http://schemas.openxmlformats.org/drawingml/2006/main">
              <a:ext uri="{FF2B5EF4-FFF2-40B4-BE49-F238E27FC236}">
                <a16:creationId xmlns:a16="http://schemas.microsoft.com/office/drawing/2014/main" id="{783F1ED0-F3AF-46D5-999E-7D5AEC35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099F5851-5D49-4825-8343-6BB898D2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量化：幅度近似为有限个等级</a:t>
            </a:r>
          </a:p>
        </p:txBody>
      </p:sp>
      <p:sp>
        <p:nvSpPr>
          <p:cNvPr id="17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33A26809-4AEE-44DA-B072-7436E2D1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992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固定范围均匀分级：等级数决定步长</a:t>
            </a:r>
          </a:p>
        </p:txBody>
      </p:sp>
      <p:sp>
        <p:nvSpPr>
          <p:cNvPr id="18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39935ADA-C99A-4445-B28C-7E29D476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86050"/>
            <a:ext cx="6629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9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38F07424-2CB6-4326-A7C6-B103AE0E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019425"/>
            <a:ext cx="72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7487720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op-rail">
            <a:extLst xmlns:a="http://schemas.openxmlformats.org/drawingml/2006/main">
              <a:ext uri="{FF2B5EF4-FFF2-40B4-BE49-F238E27FC236}">
                <a16:creationId xmlns:a16="http://schemas.microsoft.com/office/drawing/2014/main" id="{F1EB49E3-40DC-41D4-879C-33911371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9B6908B-B378-4395-B565-E18017F2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966E1D5-63BF-48F1-B24F-1D377DAF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graphicFrame>
        <p:nvGraphicFramePr>
          <p:cNvPr id="8" name="evidence-table"/>
          <p:cNvGraphicFramePr/>
          <p:nvPr/>
        </p:nvGraphicFramePr>
        <p:xfrm>
          <a:off xmlns:a="http://schemas.openxmlformats.org/drawingml/2006/main" x="1714500" y="2667000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476500"/>
                <a:gridCol w="3143250"/>
                <a:gridCol w="314325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最少位数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765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F1EB49E3-40DC-41D4-879C-33911371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9B6908B-B378-4395-B565-E18017F2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966E1D5-63BF-48F1-B24F-1D377DAF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graphicFrame>
        <p:nvGraphicFramePr>
          <p:cNvPr id="9" name="evidence-table"/>
          <p:cNvGraphicFramePr/>
          <p:nvPr/>
        </p:nvGraphicFramePr>
        <p:xfrm>
          <a:off xmlns:a="http://schemas.openxmlformats.org/drawingml/2006/main" x="1714500" y="2667000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476500"/>
                <a:gridCol w="3143250"/>
                <a:gridCol w="314325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最少位数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ur-level-codes">
            <a:extLst xmlns:a="http://schemas.openxmlformats.org/drawingml/2006/main">
              <a:ext uri="{FF2B5EF4-FFF2-40B4-BE49-F238E27FC236}">
                <a16:creationId xmlns:a16="http://schemas.microsoft.com/office/drawing/2014/main" id="{0F942AA4-331B-475A-BDDD-2DB13D19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 → 00     1 → 01     2 → 10     3 → 11</a:t>
            </a:r>
          </a:p>
        </p:txBody>
      </p:sp>
    </p:spTree>
    <p:extLst>
      <p:ext uri="{BB962C8B-B14F-4D97-AF65-F5344CB8AC3E}">
        <p14:creationId xmlns:p14="http://schemas.microsoft.com/office/powerpoint/2010/main" val="4207765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F1EB49E3-40DC-41D4-879C-33911371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9B6908B-B378-4395-B565-E18017F2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966E1D5-63BF-48F1-B24F-1D377DAF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graphicFrame>
        <p:nvGraphicFramePr>
          <p:cNvPr id="10" name="evidence-table"/>
          <p:cNvGraphicFramePr/>
          <p:nvPr/>
        </p:nvGraphicFramePr>
        <p:xfrm>
          <a:off xmlns:a="http://schemas.openxmlformats.org/drawingml/2006/main" x="1714500" y="2667000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476500"/>
                <a:gridCol w="3143250"/>
                <a:gridCol w="314325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最少位数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ur-level-codes">
            <a:extLst xmlns:a="http://schemas.openxmlformats.org/drawingml/2006/main">
              <a:ext uri="{FF2B5EF4-FFF2-40B4-BE49-F238E27FC236}">
                <a16:creationId xmlns:a16="http://schemas.microsoft.com/office/drawing/2014/main" id="{0F942AA4-331B-475A-BDDD-2DB13D19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 → 00     1 → 01     2 → 10     3 → 11</a:t>
            </a:r>
          </a:p>
        </p:txBody>
      </p:sp>
      <p:sp>
        <p:nvSpPr>
          <p:cNvPr id="6" name="eight-level-answer">
            <a:extLst xmlns:a="http://schemas.openxmlformats.org/drawingml/2006/main">
              <a:ext uri="{FF2B5EF4-FFF2-40B4-BE49-F238E27FC236}">
                <a16:creationId xmlns:a16="http://schemas.microsoft.com/office/drawing/2014/main" id="{05EDE0B3-9255-4F78-8D65-3051F805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8级 → 3 bit；n bit可提供2^n个码字。</a:t>
            </a:r>
          </a:p>
        </p:txBody>
      </p:sp>
    </p:spTree>
    <p:extLst>
      <p:ext uri="{BB962C8B-B14F-4D97-AF65-F5344CB8AC3E}">
        <p14:creationId xmlns:p14="http://schemas.microsoft.com/office/powerpoint/2010/main" val="4207765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1109D2C2-3452-4B9B-BDE8-B90172B9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9DCF161-CCDE-4302-AFF4-2E821C12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98A195B-D372-4031-A1C0-B4AE1C58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这十个等级，怎样写成等长码字？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D8D0647-6238-483B-AB92-7BDECA06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8个等级；每个样本约定使用3 bit。</a:t>
            </a:r>
          </a:p>
        </p:txBody>
      </p:sp>
      <p:graphicFrame>
        <p:nvGraphicFramePr>
          <p:cNvPr id="10" name="evidence-table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4478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码字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90223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1109D2C2-3452-4B9B-BDE8-B90172B9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9DCF161-CCDE-4302-AFF4-2E821C12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98A195B-D372-4031-A1C0-B4AE1C58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这十个等级，怎样写成等长码字？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D8D0647-6238-483B-AB92-7BDECA06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8个等级；每个样本约定使用3 bit。</a:t>
            </a:r>
          </a:p>
        </p:txBody>
      </p:sp>
      <p:graphicFrame>
        <p:nvGraphicFramePr>
          <p:cNvPr id="13" name="evidence-table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4478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码字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ast-sample-focus">
            <a:extLst xmlns:a="http://schemas.openxmlformats.org/drawingml/2006/main">
              <a:ext uri="{FF2B5EF4-FFF2-40B4-BE49-F238E27FC236}">
                <a16:creationId xmlns:a16="http://schemas.microsoft.com/office/drawing/2014/main" id="{1D312EEE-2768-418D-90E2-B3988F86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095750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604D1436-11CA-4E4E-881A-811A8E76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编码：按约定，用码字表示量化等级。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0C9E8505-E7AD-4CF0-81AC-9A8315F9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编号3 → 011；本例编码没有执行压缩。</a:t>
            </a:r>
          </a:p>
        </p:txBody>
      </p:sp>
    </p:spTree>
    <p:extLst>
      <p:ext uri="{BB962C8B-B14F-4D97-AF65-F5344CB8AC3E}">
        <p14:creationId xmlns:p14="http://schemas.microsoft.com/office/powerpoint/2010/main" val="7590223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AD1D49F7-B11C-4972-8666-7DB9EC21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68DED22-A3A0-40E0-A534-27E77597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8C8B954-4875-4EB9-8E50-B9714F47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61B25BDD-8E2A-4741-A8CC-BC792B97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53B315A8-7B60-4884-8560-01A70469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5811E02E-7BF6-49C4-9C38-8F07EA8C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">
            <a:extLst xmlns:a="http://schemas.openxmlformats.org/drawingml/2006/main">
              <a:ext uri="{FF2B5EF4-FFF2-40B4-BE49-F238E27FC236}">
                <a16:creationId xmlns:a16="http://schemas.microsoft.com/office/drawing/2014/main" id="{11EDCADE-1641-431A-A27C-BE27F651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2C13EEDB-656B-4421-B6E3-FE31A725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CD47C90E-8D47-4ED2-9F68-FA678616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020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E1E287F4-B356-4F83-A19B-4B276C08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采样：按时刻取值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4BA78479-7C70-4F97-8B04-554B8EA4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8597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采样率＝每秒每声道样本数</a:t>
            </a:r>
          </a:p>
        </p:txBody>
      </p:sp>
      <p:sp>
        <p:nvSpPr>
          <p:cNvPr id="12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FB580ADA-DE2F-457F-9CC0-5E214E49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ree-trunk">
            <a:extLst xmlns:a="http://schemas.openxmlformats.org/drawingml/2006/main">
              <a:ext uri="{FF2B5EF4-FFF2-40B4-BE49-F238E27FC236}">
                <a16:creationId xmlns:a16="http://schemas.microsoft.com/office/drawing/2014/main" id="{3BE96833-445C-41A4-895F-25BE507B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1123950"/>
          </a:xfrm>
          <a:custGeom xmlns:a="http://schemas.openxmlformats.org/drawingml/2006/main">
            <a:pathLst>
              <a:path w="9525" h="1123950">
                <a:moveTo>
                  <a:pt x="0" y="0"/>
                </a:moveTo>
                <a:lnTo>
                  <a:pt x="0" y="1123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4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94668AD1-2F46-4013-94F1-ED168FD8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7182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tree-node-1">
            <a:extLst xmlns:a="http://schemas.openxmlformats.org/drawingml/2006/main">
              <a:ext uri="{FF2B5EF4-FFF2-40B4-BE49-F238E27FC236}">
                <a16:creationId xmlns:a16="http://schemas.microsoft.com/office/drawing/2014/main" id="{EA248434-72B5-4344-B15A-302D4503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72E203EA-9B7D-4DC8-98C0-B5664BF9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量化：幅度近似为有限个等级</a:t>
            </a:r>
          </a:p>
        </p:txBody>
      </p:sp>
      <p:sp>
        <p:nvSpPr>
          <p:cNvPr id="17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54C9A4BB-C1B4-4357-809D-63A57FE3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992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固定范围均匀分级：等级数决定步长</a:t>
            </a:r>
          </a:p>
        </p:txBody>
      </p:sp>
    </p:spTree>
    <p:extLst>
      <p:ext uri="{BB962C8B-B14F-4D97-AF65-F5344CB8AC3E}">
        <p14:creationId xmlns:p14="http://schemas.microsoft.com/office/powerpoint/2010/main" val="10158681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AD1D49F7-B11C-4972-8666-7DB9EC21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68DED22-A3A0-40E0-A534-27E77597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8C8B954-4875-4EB9-8E50-B9714F47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61B25BDD-8E2A-4741-A8CC-BC792B97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53B315A8-7B60-4884-8560-01A70469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5811E02E-7BF6-49C4-9C38-8F07EA8C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">
            <a:extLst xmlns:a="http://schemas.openxmlformats.org/drawingml/2006/main">
              <a:ext uri="{FF2B5EF4-FFF2-40B4-BE49-F238E27FC236}">
                <a16:creationId xmlns:a16="http://schemas.microsoft.com/office/drawing/2014/main" id="{11EDCADE-1641-431A-A27C-BE27F651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2C13EEDB-656B-4421-B6E3-FE31A725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CD47C90E-8D47-4ED2-9F68-FA678616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020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E1E287F4-B356-4F83-A19B-4B276C08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采样：按时刻取值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4BA78479-7C70-4F97-8B04-554B8EA4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8597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采样率＝每秒每声道样本数</a:t>
            </a:r>
          </a:p>
        </p:txBody>
      </p:sp>
      <p:sp>
        <p:nvSpPr>
          <p:cNvPr id="12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FB580ADA-DE2F-457F-9CC0-5E214E49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ree-trunk">
            <a:extLst xmlns:a="http://schemas.openxmlformats.org/drawingml/2006/main">
              <a:ext uri="{FF2B5EF4-FFF2-40B4-BE49-F238E27FC236}">
                <a16:creationId xmlns:a16="http://schemas.microsoft.com/office/drawing/2014/main" id="{3BE96833-445C-41A4-895F-25BE507B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1123950"/>
          </a:xfrm>
          <a:custGeom xmlns:a="http://schemas.openxmlformats.org/drawingml/2006/main">
            <a:pathLst>
              <a:path w="9525" h="1123950">
                <a:moveTo>
                  <a:pt x="0" y="0"/>
                </a:moveTo>
                <a:lnTo>
                  <a:pt x="0" y="1123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4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94668AD1-2F46-4013-94F1-ED168FD8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7182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tree-node-1">
            <a:extLst xmlns:a="http://schemas.openxmlformats.org/drawingml/2006/main">
              <a:ext uri="{FF2B5EF4-FFF2-40B4-BE49-F238E27FC236}">
                <a16:creationId xmlns:a16="http://schemas.microsoft.com/office/drawing/2014/main" id="{EA248434-72B5-4344-B15A-302D4503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72E203EA-9B7D-4DC8-98C0-B5664BF9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量化：幅度近似为有限个等级</a:t>
            </a:r>
          </a:p>
        </p:txBody>
      </p:sp>
      <p:sp>
        <p:nvSpPr>
          <p:cNvPr id="17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54C9A4BB-C1B4-4357-809D-63A57FE3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992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固定范围均匀分级：等级数决定步长</a:t>
            </a:r>
          </a:p>
        </p:txBody>
      </p:sp>
      <p:sp>
        <p:nvSpPr>
          <p:cNvPr id="18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0D36FB4D-52BF-4DCD-B7AE-ECA3DFBB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trunk">
            <a:extLst xmlns:a="http://schemas.openxmlformats.org/drawingml/2006/main">
              <a:ext uri="{FF2B5EF4-FFF2-40B4-BE49-F238E27FC236}">
                <a16:creationId xmlns:a16="http://schemas.microsoft.com/office/drawing/2014/main" id="{D657EAD3-77E4-4FDA-9478-6BC4CB24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2247900"/>
          </a:xfrm>
          <a:custGeom xmlns:a="http://schemas.openxmlformats.org/drawingml/2006/main">
            <a:pathLst>
              <a:path w="9525" h="2247900">
                <a:moveTo>
                  <a:pt x="0" y="0"/>
                </a:moveTo>
                <a:lnTo>
                  <a:pt x="0" y="2247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80E94D47-654F-4376-9943-3ACD3233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957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1" name="tree-node-2">
            <a:extLst xmlns:a="http://schemas.openxmlformats.org/drawingml/2006/main">
              <a:ext uri="{FF2B5EF4-FFF2-40B4-BE49-F238E27FC236}">
                <a16:creationId xmlns:a16="http://schemas.microsoft.com/office/drawing/2014/main" id="{F86DF92A-F5B5-4D4E-85D3-EB9BBFDD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4810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628C54E3-63F7-4005-843E-7DD96014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编码：按约定用码字表示等级</a:t>
            </a:r>
          </a:p>
        </p:txBody>
      </p:sp>
      <p:sp>
        <p:nvSpPr>
          <p:cNvPr id="23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761F8B50-DE8A-443D-80D5-83F231E6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3387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bit可提供2^n个码字；编码可以不压缩</a:t>
            </a:r>
          </a:p>
        </p:txBody>
      </p:sp>
      <p:sp>
        <p:nvSpPr>
          <p:cNvPr id="24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886E2457-70D7-45FC-96EB-9094230C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10000"/>
            <a:ext cx="6629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25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1C18EBBD-F086-43F8-83E2-559BA514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43375"/>
            <a:ext cx="72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0158681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E1CFAAC-5255-4BEE-A7C3-186F6132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2000B38-C4B1-4A86-9BFB-8B4FB1A3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1D4B7E-76E6-4EA3-879A-CA002C83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这些文件都在保存同一种数据吗？</a:t>
            </a:r>
          </a:p>
        </p:txBody>
      </p:sp>
      <p:sp>
        <p:nvSpPr>
          <p:cNvPr id="4" name="format-names">
            <a:extLst xmlns:a="http://schemas.openxmlformats.org/drawingml/2006/main">
              <a:ext uri="{FF2B5EF4-FFF2-40B4-BE49-F238E27FC236}">
                <a16:creationId xmlns:a16="http://schemas.microsoft.com/office/drawing/2014/main" id="{2F8D9466-01B7-475D-870F-D819AD6B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WAV       MP3       WMA       MIDI</a:t>
            </a:r>
          </a:p>
        </p:txBody>
      </p:sp>
      <p:graphicFrame>
        <p:nvGraphicFramePr>
          <p:cNvPr id="10" name="evidence-table"/>
          <p:cNvGraphicFramePr/>
          <p:nvPr/>
        </p:nvGraphicFramePr>
        <p:xfrm>
          <a:off xmlns:a="http://schemas.openxmlformats.org/drawingml/2006/main" x="1143000" y="3333750"/>
          <a:ext xmlns:a="http://schemas.openxmlformats.org/drawingml/2006/main" cx="9906000" cy="1809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4953000"/>
                <a:gridCol w="4953000"/>
              </a:tblGrid>
              <a:tr h="603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一类内容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另一类内容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录音中各时刻的样本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音符C4开始，持续1拍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按时间顺序排列的样本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乐器、速度等演奏指令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7008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4E1CFAAC-5255-4BEE-A7C3-186F6132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2000B38-C4B1-4A86-9BFB-8B4FB1A3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1D4B7E-76E6-4EA3-879A-CA002C83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这些文件都在保存同一种数据吗？</a:t>
            </a:r>
          </a:p>
        </p:txBody>
      </p:sp>
      <p:sp>
        <p:nvSpPr>
          <p:cNvPr id="4" name="format-names">
            <a:extLst xmlns:a="http://schemas.openxmlformats.org/drawingml/2006/main">
              <a:ext uri="{FF2B5EF4-FFF2-40B4-BE49-F238E27FC236}">
                <a16:creationId xmlns:a16="http://schemas.microsoft.com/office/drawing/2014/main" id="{2F8D9466-01B7-475D-870F-D819AD6B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WAV       MP3       WMA       MIDI</a:t>
            </a:r>
          </a:p>
        </p:txBody>
      </p:sp>
      <p:graphicFrame>
        <p:nvGraphicFramePr>
          <p:cNvPr id="12" name="evidence-table"/>
          <p:cNvGraphicFramePr/>
          <p:nvPr/>
        </p:nvGraphicFramePr>
        <p:xfrm>
          <a:off xmlns:a="http://schemas.openxmlformats.org/drawingml/2006/main" x="1143000" y="3333750"/>
          <a:ext xmlns:a="http://schemas.openxmlformats.org/drawingml/2006/main" cx="9906000" cy="1809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4953000"/>
                <a:gridCol w="4953000"/>
              </a:tblGrid>
              <a:tr h="603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一类内容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另一类内容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录音中各时刻的样本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音符C4开始，持续1拍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按时间顺序排列的样本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乐器、速度等演奏指令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653D5E13-0AE5-460E-96AC-26BFA8A5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WAV：容器；MP3／WMA：音频编码。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F81B1BA3-1626-47AF-B7E7-BA51641D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MIDI：演奏指令，与录音波形数据不同。</a:t>
            </a:r>
          </a:p>
        </p:txBody>
      </p:sp>
    </p:spTree>
    <p:extLst>
      <p:ext uri="{BB962C8B-B14F-4D97-AF65-F5344CB8AC3E}">
        <p14:creationId xmlns:p14="http://schemas.microsoft.com/office/powerpoint/2010/main" val="9107008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E22420A0-213C-4CD6-BC76-76994B2A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98AB6B6-AF08-4EED-A670-06AA8543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F807BDA-5A7C-4C4A-8838-1F893EF7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graphicFrame>
        <p:nvGraphicFramePr>
          <p:cNvPr id="9" name="evidence-table"/>
          <p:cNvGraphicFramePr/>
          <p:nvPr/>
        </p:nvGraphicFramePr>
        <p:xfrm>
          <a:off xmlns:a="http://schemas.openxmlformats.org/drawingml/2006/main" x="1238250" y="2762250"/>
          <a:ext xmlns:a="http://schemas.openxmlformats.org/drawingml/2006/main" cx="9715500" cy="2095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5143500"/>
                <a:gridCol w="4572000"/>
              </a:tblGrid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比较对象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每秒数据量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未压缩PCM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1,411,200 bit/s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MP3（本例固定码率）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128,000 bit/s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DB0DC2-1B54-4F38-AA94-4A91E48C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相同时长；仅比较数据，不计文件结构开销。</a:t>
            </a:r>
          </a:p>
        </p:txBody>
      </p:sp>
    </p:spTree>
    <p:extLst>
      <p:ext uri="{BB962C8B-B14F-4D97-AF65-F5344CB8AC3E}">
        <p14:creationId xmlns:p14="http://schemas.microsoft.com/office/powerpoint/2010/main" val="12809128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E22420A0-213C-4CD6-BC76-76994B2A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98AB6B6-AF08-4EED-A670-06AA8543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F807BDA-5A7C-4C4A-8838-1F893EF7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graphicFrame>
        <p:nvGraphicFramePr>
          <p:cNvPr id="11" name="evidence-table"/>
          <p:cNvGraphicFramePr/>
          <p:nvPr/>
        </p:nvGraphicFramePr>
        <p:xfrm>
          <a:off xmlns:a="http://schemas.openxmlformats.org/drawingml/2006/main" x="1238250" y="2762250"/>
          <a:ext xmlns:a="http://schemas.openxmlformats.org/drawingml/2006/main" cx="9715500" cy="2095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5143500"/>
                <a:gridCol w="4572000"/>
              </a:tblGrid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比较对象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每秒数据量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未压缩PCM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1,411,200 bit/s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MP3（本例固定码率）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128,000 bit/s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DB0DC2-1B54-4F38-AA94-4A91E48C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相同时长；仅比较数据，不计文件结构开销。</a:t>
            </a:r>
          </a:p>
        </p:txBody>
      </p:sp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71A6B1DF-428A-45C6-A0BF-8DF0A2B6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本例：128,000 ÷ 1,411,200 ≈ 9.1%。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42BA07EB-70DC-4CDE-8197-24DEE07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比例取决于参数与码率，不能固定为1/10。</a:t>
            </a:r>
          </a:p>
        </p:txBody>
      </p:sp>
    </p:spTree>
    <p:extLst>
      <p:ext uri="{BB962C8B-B14F-4D97-AF65-F5344CB8AC3E}">
        <p14:creationId xmlns:p14="http://schemas.microsoft.com/office/powerpoint/2010/main" val="128091285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3B8726AB-D4C8-4244-8E6C-6BCD48D0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C08634-2D03-47BA-9458-20C37C19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07ACB00-C6E4-4142-BCAF-34F07BE4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graphicFrame>
        <p:nvGraphicFramePr>
          <p:cNvPr id="9" name="evidence-table"/>
          <p:cNvGraphicFramePr/>
          <p:nvPr/>
        </p:nvGraphicFramePr>
        <p:xfrm>
          <a:off xmlns:a="http://schemas.openxmlformats.org/drawingml/2006/main" x="952500" y="2476500"/>
          <a:ext xmlns:a="http://schemas.openxmlformats.org/drawingml/2006/main" cx="10287000" cy="138112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476500"/>
                <a:gridCol w="2095500"/>
                <a:gridCol w="3619500"/>
                <a:gridCol w="2095500"/>
              </a:tblGrid>
              <a:tr h="690563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采样率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时长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实际存储位数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声道数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8,000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 bit / 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839203-CA34-49B5-8789-98E24C93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先数样本，再算bit，最后换成B。</a:t>
            </a:r>
          </a:p>
        </p:txBody>
      </p:sp>
    </p:spTree>
    <p:extLst>
      <p:ext uri="{BB962C8B-B14F-4D97-AF65-F5344CB8AC3E}">
        <p14:creationId xmlns:p14="http://schemas.microsoft.com/office/powerpoint/2010/main" val="72450468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3B8726AB-D4C8-4244-8E6C-6BCD48D0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C08634-2D03-47BA-9458-20C37C19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07ACB00-C6E4-4142-BCAF-34F07BE4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graphicFrame>
        <p:nvGraphicFramePr>
          <p:cNvPr id="11" name="evidence-table"/>
          <p:cNvGraphicFramePr/>
          <p:nvPr/>
        </p:nvGraphicFramePr>
        <p:xfrm>
          <a:off xmlns:a="http://schemas.openxmlformats.org/drawingml/2006/main" x="952500" y="2476500"/>
          <a:ext xmlns:a="http://schemas.openxmlformats.org/drawingml/2006/main" cx="10287000" cy="138112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476500"/>
                <a:gridCol w="2095500"/>
                <a:gridCol w="3619500"/>
                <a:gridCol w="2095500"/>
              </a:tblGrid>
              <a:tr h="690563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采样率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时长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实际存储位数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声道数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8,000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 bit / 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839203-CA34-49B5-8789-98E24C93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先数样本，再算bit，最后换成B。</a:t>
            </a:r>
          </a:p>
        </p:txBody>
      </p:sp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810B9273-A627-4558-8AB3-0F0A3716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× 2 × 1 = 16,000个样本。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9EAD713D-F27F-4D9E-9E17-BEE88EB6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16,000 × 16 = 256,000 bit。</a:t>
            </a:r>
          </a:p>
        </p:txBody>
      </p:sp>
    </p:spTree>
    <p:extLst>
      <p:ext uri="{BB962C8B-B14F-4D97-AF65-F5344CB8AC3E}">
        <p14:creationId xmlns:p14="http://schemas.microsoft.com/office/powerpoint/2010/main" val="7245046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3B8726AB-D4C8-4244-8E6C-6BCD48D0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C08634-2D03-47BA-9458-20C37C19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07ACB00-C6E4-4142-BCAF-34F07BE4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graphicFrame>
        <p:nvGraphicFramePr>
          <p:cNvPr id="12" name="evidence-table"/>
          <p:cNvGraphicFramePr/>
          <p:nvPr/>
        </p:nvGraphicFramePr>
        <p:xfrm>
          <a:off xmlns:a="http://schemas.openxmlformats.org/drawingml/2006/main" x="952500" y="2476500"/>
          <a:ext xmlns:a="http://schemas.openxmlformats.org/drawingml/2006/main" cx="10287000" cy="138112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476500"/>
                <a:gridCol w="2095500"/>
                <a:gridCol w="3619500"/>
                <a:gridCol w="2095500"/>
              </a:tblGrid>
              <a:tr h="690563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采样率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时长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实际存储位数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声道数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8,000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 bit / 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839203-CA34-49B5-8789-98E24C93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先数样本，再算bit，最后换成B。</a:t>
            </a:r>
          </a:p>
        </p:txBody>
      </p:sp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810B9273-A627-4558-8AB3-0F0A3716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× 2 × 1 = 16,000个样本。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9EAD713D-F27F-4D9E-9E17-BEE88EB6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16,000 × 16 = 256,000 bit。</a:t>
            </a:r>
          </a:p>
        </p:txBody>
      </p:sp>
      <p:sp>
        <p:nvSpPr>
          <p:cNvPr id="8" name="byte-result">
            <a:extLst xmlns:a="http://schemas.openxmlformats.org/drawingml/2006/main">
              <a:ext uri="{FF2B5EF4-FFF2-40B4-BE49-F238E27FC236}">
                <a16:creationId xmlns:a16="http://schemas.microsoft.com/office/drawing/2014/main" id="{92C77B25-0B8B-4B6B-A9A2-D5269C5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256,000 ÷ 8 = 32,000 B（样本数据）。</a:t>
            </a:r>
          </a:p>
        </p:txBody>
      </p:sp>
    </p:spTree>
    <p:extLst>
      <p:ext uri="{BB962C8B-B14F-4D97-AF65-F5344CB8AC3E}">
        <p14:creationId xmlns:p14="http://schemas.microsoft.com/office/powerpoint/2010/main" val="72450468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07B026CD-3F5B-4C23-B9C0-DC354F69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2506F73-86BA-4114-A621-D2DAF57E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D9EC59D-FB61-4662-98BA-34B82BBB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204655-9B83-456B-B589-ECCC50D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实际样例：8kHz、2秒、16bit、单声道PCM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732F16-84CC-4B36-83EC-C19A17B3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样本数据：32,000 B</a:t>
            </a:r>
          </a:p>
        </p:txBody>
      </p:sp>
      <p:sp>
        <p:nvSpPr>
          <p:cNvPr id="6" name="file-size-placeholder">
            <a:extLst xmlns:a="http://schemas.openxmlformats.org/drawingml/2006/main">
              <a:ext uri="{FF2B5EF4-FFF2-40B4-BE49-F238E27FC236}">
                <a16:creationId xmlns:a16="http://schemas.microsoft.com/office/drawing/2014/main" id="{3E8E1A4F-14FF-4829-B93B-EF2F3DEA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完整文件：________ B</a:t>
            </a:r>
          </a:p>
        </p:txBody>
      </p:sp>
    </p:spTree>
    <p:extLst>
      <p:ext uri="{BB962C8B-B14F-4D97-AF65-F5344CB8AC3E}">
        <p14:creationId xmlns:p14="http://schemas.microsoft.com/office/powerpoint/2010/main" val="12441465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07B026CD-3F5B-4C23-B9C0-DC354F69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2506F73-86BA-4114-A621-D2DAF57E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D9EC59D-FB61-4662-98BA-34B82BBB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204655-9B83-456B-B589-ECCC50D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实际样例：8kHz、2秒、16bit、单声道PCM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732F16-84CC-4B36-83EC-C19A17B3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样本数据：32,000 B</a:t>
            </a:r>
          </a:p>
        </p:txBody>
      </p:sp>
      <p:sp>
        <p:nvSpPr>
          <p:cNvPr id="6" name="file-size-placeholder">
            <a:extLst xmlns:a="http://schemas.openxmlformats.org/drawingml/2006/main">
              <a:ext uri="{FF2B5EF4-FFF2-40B4-BE49-F238E27FC236}">
                <a16:creationId xmlns:a16="http://schemas.microsoft.com/office/drawing/2014/main" id="{3E8E1A4F-14FF-4829-B93B-EF2F3DEA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完整文件：32,044 B</a:t>
            </a:r>
          </a:p>
        </p:txBody>
      </p:sp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F0527247-E210-4783-A8B2-45311747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样本数据＋本例44 B结构信息＝完整文件。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2AFF8709-E982-4720-8892-3CA2169B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 B只属于本例，不能推广到所有WAV。</a:t>
            </a:r>
          </a:p>
        </p:txBody>
      </p:sp>
    </p:spTree>
    <p:extLst>
      <p:ext uri="{BB962C8B-B14F-4D97-AF65-F5344CB8AC3E}">
        <p14:creationId xmlns:p14="http://schemas.microsoft.com/office/powerpoint/2010/main" val="12441465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DB244A60-A617-498F-A381-282E0010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5B12C89-8B60-450A-B626-FB8D102C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35890B8-FB3D-4538-AED1-36E37A9B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graphicFrame>
        <p:nvGraphicFramePr>
          <p:cNvPr id="9" name="evidence-table"/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047750"/>
                <a:gridCol w="2000250"/>
                <a:gridCol w="1285875"/>
                <a:gridCol w="1762125"/>
                <a:gridCol w="1047750"/>
                <a:gridCol w="3829050"/>
              </a:tblGrid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采样率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时长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存储位数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声道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完整大小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44,100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8,000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16266F0-11A9-4CE4-97F4-396081B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先列样本计数式，再检查你的开场猜测。</a:t>
            </a:r>
          </a:p>
        </p:txBody>
      </p:sp>
    </p:spTree>
    <p:extLst>
      <p:ext uri="{BB962C8B-B14F-4D97-AF65-F5344CB8AC3E}">
        <p14:creationId xmlns:p14="http://schemas.microsoft.com/office/powerpoint/2010/main" val="155005027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DB244A60-A617-498F-A381-282E0010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5B12C89-8B60-450A-B626-FB8D102C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35890B8-FB3D-4538-AED1-36E37A9B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graphicFrame>
        <p:nvGraphicFramePr>
          <p:cNvPr id="11" name="evidence-table"/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047750"/>
                <a:gridCol w="2000250"/>
                <a:gridCol w="1285875"/>
                <a:gridCol w="1762125"/>
                <a:gridCol w="1047750"/>
                <a:gridCol w="3829050"/>
              </a:tblGrid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采样率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时长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存储位数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声道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完整大小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44,100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8,000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16266F0-11A9-4CE4-97F4-396081B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先列样本计数式，再检查你的开场猜测。</a:t>
            </a:r>
          </a:p>
        </p:txBody>
      </p:sp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F11DA80D-E3D2-4415-80E3-650D8262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× 6 × 16 ÷ 8 = 529,200 B。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C1490176-80D6-4410-BA88-84BEA86D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B：8,000 × 6 × 16 ÷ 8 = 96,000 B。</a:t>
            </a:r>
          </a:p>
        </p:txBody>
      </p:sp>
    </p:spTree>
    <p:extLst>
      <p:ext uri="{BB962C8B-B14F-4D97-AF65-F5344CB8AC3E}">
        <p14:creationId xmlns:p14="http://schemas.microsoft.com/office/powerpoint/2010/main" val="15500502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2E6D6165-1D64-47BC-A476-D2E71FC7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62A548B-AEA5-40DC-8819-65DEB3C1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2BE66C7-C968-41C8-A436-63BBF14C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FBB716B-98FF-4633-B922-0B18D415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graphicFrame>
        <p:nvGraphicFramePr>
          <p:cNvPr id="11" name="evidence-table"/>
          <p:cNvGraphicFramePr/>
          <p:nvPr/>
        </p:nvGraphicFramePr>
        <p:xfrm>
          <a:off xmlns:a="http://schemas.openxmlformats.org/drawingml/2006/main" x="1476375" y="2857500"/>
          <a:ext xmlns:a="http://schemas.openxmlformats.org/drawingml/2006/main" cx="9239250" cy="1524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4619625"/>
                <a:gridCol w="4619625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声音最高频率 fmax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采样率 fs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6,000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8,000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31DFFDD-DAC4-4E8B-B4AA-A67D02E5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分别指出“振动次数”和“记录次数”，再判断。</a:t>
            </a:r>
          </a:p>
        </p:txBody>
      </p:sp>
    </p:spTree>
    <p:extLst>
      <p:ext uri="{BB962C8B-B14F-4D97-AF65-F5344CB8AC3E}">
        <p14:creationId xmlns:p14="http://schemas.microsoft.com/office/powerpoint/2010/main" val="40917389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2E6D6165-1D64-47BC-A476-D2E71FC7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62A548B-AEA5-40DC-8819-65DEB3C1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2BE66C7-C968-41C8-A436-63BBF14C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FBB716B-98FF-4633-B922-0B18D415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graphicFrame>
        <p:nvGraphicFramePr>
          <p:cNvPr id="13" name="evidence-table"/>
          <p:cNvGraphicFramePr/>
          <p:nvPr/>
        </p:nvGraphicFramePr>
        <p:xfrm>
          <a:off xmlns:a="http://schemas.openxmlformats.org/drawingml/2006/main" x="1476375" y="2857500"/>
          <a:ext xmlns:a="http://schemas.openxmlformats.org/drawingml/2006/main" cx="9239250" cy="1524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4619625"/>
                <a:gridCol w="4619625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声音最高频率 fmax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采样率 fs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6,000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8,000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31DFFDD-DAC4-4E8B-B4AA-A67D02E5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分别指出“振动次数”和“记录次数”，再判断。</a:t>
            </a:r>
          </a:p>
        </p:txBody>
      </p:sp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935B9388-8728-463C-B677-E6310157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需要fs &gt; 12,000 Hz；8,000 Hz不满足。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5F1E7D2A-A3D7-41E6-99A2-093C0EBF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正常降采样先低通；本例6kHz分量不能保留。</a:t>
            </a:r>
          </a:p>
        </p:txBody>
      </p:sp>
    </p:spTree>
    <p:extLst>
      <p:ext uri="{BB962C8B-B14F-4D97-AF65-F5344CB8AC3E}">
        <p14:creationId xmlns:p14="http://schemas.microsoft.com/office/powerpoint/2010/main" val="40917389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2465AC2E-C3B3-43F9-85F6-A1584551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4A36197-75B9-4DFB-A5AA-49EB99EF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F37C9F8-642E-44CD-8F97-64BD21B1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39853541-9244-4386-AD8E-E9DE84BE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C0D3B811-2527-46F5-8C55-139473D8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9AD822E3-86BF-43B7-AA8B-40FE24F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">
            <a:extLst xmlns:a="http://schemas.openxmlformats.org/drawingml/2006/main">
              <a:ext uri="{FF2B5EF4-FFF2-40B4-BE49-F238E27FC236}">
                <a16:creationId xmlns:a16="http://schemas.microsoft.com/office/drawing/2014/main" id="{A4D9D667-8299-463A-A627-9DC30E0B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64BB8C66-CEDA-409E-B8A8-55DE4E82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3F0CFA2E-B648-409B-A1AB-32CEA836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020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AAE59A7-676C-40B4-AD95-211F8F3E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采样：按时刻取值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6B1B55D0-8F3C-4715-B48F-072B506B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8597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采样率＝每秒每声道样本数</a:t>
            </a:r>
          </a:p>
        </p:txBody>
      </p:sp>
      <p:sp>
        <p:nvSpPr>
          <p:cNvPr id="12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8C384CBB-917A-432F-B347-56E89D25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ree-trunk">
            <a:extLst xmlns:a="http://schemas.openxmlformats.org/drawingml/2006/main">
              <a:ext uri="{FF2B5EF4-FFF2-40B4-BE49-F238E27FC236}">
                <a16:creationId xmlns:a16="http://schemas.microsoft.com/office/drawing/2014/main" id="{54147805-2F03-405B-9ACD-14E013F0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1123950"/>
          </a:xfrm>
          <a:custGeom xmlns:a="http://schemas.openxmlformats.org/drawingml/2006/main">
            <a:pathLst>
              <a:path w="9525" h="1123950">
                <a:moveTo>
                  <a:pt x="0" y="0"/>
                </a:moveTo>
                <a:lnTo>
                  <a:pt x="0" y="1123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4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4B83DBF1-FB77-4F79-A4A7-B94C8D4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7182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tree-node-1">
            <a:extLst xmlns:a="http://schemas.openxmlformats.org/drawingml/2006/main">
              <a:ext uri="{FF2B5EF4-FFF2-40B4-BE49-F238E27FC236}">
                <a16:creationId xmlns:a16="http://schemas.microsoft.com/office/drawing/2014/main" id="{1F41433B-7874-48E7-8062-F95B4C71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73F05C23-6A3B-4FCB-8D44-77BD4D64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量化：幅度近似为有限个等级</a:t>
            </a:r>
          </a:p>
        </p:txBody>
      </p:sp>
      <p:sp>
        <p:nvSpPr>
          <p:cNvPr id="17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178D78F7-7790-45DD-8911-9AD3189E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992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固定范围均匀分级：等级数决定步长</a:t>
            </a:r>
          </a:p>
        </p:txBody>
      </p:sp>
      <p:sp>
        <p:nvSpPr>
          <p:cNvPr id="18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024D210E-0C32-419C-B623-E5A1E687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trunk">
            <a:extLst xmlns:a="http://schemas.openxmlformats.org/drawingml/2006/main">
              <a:ext uri="{FF2B5EF4-FFF2-40B4-BE49-F238E27FC236}">
                <a16:creationId xmlns:a16="http://schemas.microsoft.com/office/drawing/2014/main" id="{FBA400A1-4776-48E5-ADA9-C58792A4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2247900"/>
          </a:xfrm>
          <a:custGeom xmlns:a="http://schemas.openxmlformats.org/drawingml/2006/main">
            <a:pathLst>
              <a:path w="9525" h="2247900">
                <a:moveTo>
                  <a:pt x="0" y="0"/>
                </a:moveTo>
                <a:lnTo>
                  <a:pt x="0" y="2247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46E41794-735C-4C49-886F-59A0DC6F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957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1" name="tree-node-2">
            <a:extLst xmlns:a="http://schemas.openxmlformats.org/drawingml/2006/main">
              <a:ext uri="{FF2B5EF4-FFF2-40B4-BE49-F238E27FC236}">
                <a16:creationId xmlns:a16="http://schemas.microsoft.com/office/drawing/2014/main" id="{59649235-D470-4141-8ABB-43F6D534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4810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0DAD9C24-3853-47A4-83D5-CD625097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编码：按约定用码字表示等级</a:t>
            </a:r>
          </a:p>
        </p:txBody>
      </p:sp>
      <p:sp>
        <p:nvSpPr>
          <p:cNvPr id="23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9470874F-E37F-41C6-A823-DA1F7EF9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3387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bit可提供2^n个码字；编码可以不压缩</a:t>
            </a:r>
          </a:p>
        </p:txBody>
      </p:sp>
    </p:spTree>
    <p:extLst>
      <p:ext uri="{BB962C8B-B14F-4D97-AF65-F5344CB8AC3E}">
        <p14:creationId xmlns:p14="http://schemas.microsoft.com/office/powerpoint/2010/main" val="100032460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">
            <a:extLst xmlns:a="http://schemas.openxmlformats.org/drawingml/2006/main">
              <a:ext uri="{FF2B5EF4-FFF2-40B4-BE49-F238E27FC236}">
                <a16:creationId xmlns:a16="http://schemas.microsoft.com/office/drawing/2014/main" id="{2465AC2E-C3B3-43F9-85F6-A1584551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4A36197-75B9-4DFB-A5AA-49EB99EF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F37C9F8-642E-44CD-8F97-64BD21B1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39853541-9244-4386-AD8E-E9DE84BE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C0D3B811-2527-46F5-8C55-139473D8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9AD822E3-86BF-43B7-AA8B-40FE24F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">
            <a:extLst xmlns:a="http://schemas.openxmlformats.org/drawingml/2006/main">
              <a:ext uri="{FF2B5EF4-FFF2-40B4-BE49-F238E27FC236}">
                <a16:creationId xmlns:a16="http://schemas.microsoft.com/office/drawing/2014/main" id="{A4D9D667-8299-463A-A627-9DC30E0B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64BB8C66-CEDA-409E-B8A8-55DE4E82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3F0CFA2E-B648-409B-A1AB-32CEA836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020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AAE59A7-676C-40B4-AD95-211F8F3E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采样：按时刻取值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6B1B55D0-8F3C-4715-B48F-072B506B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8597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采样率＝每秒每声道样本数</a:t>
            </a:r>
          </a:p>
        </p:txBody>
      </p:sp>
      <p:sp>
        <p:nvSpPr>
          <p:cNvPr id="12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8C384CBB-917A-432F-B347-56E89D25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ree-trunk">
            <a:extLst xmlns:a="http://schemas.openxmlformats.org/drawingml/2006/main">
              <a:ext uri="{FF2B5EF4-FFF2-40B4-BE49-F238E27FC236}">
                <a16:creationId xmlns:a16="http://schemas.microsoft.com/office/drawing/2014/main" id="{54147805-2F03-405B-9ACD-14E013F0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1123950"/>
          </a:xfrm>
          <a:custGeom xmlns:a="http://schemas.openxmlformats.org/drawingml/2006/main">
            <a:pathLst>
              <a:path w="9525" h="1123950">
                <a:moveTo>
                  <a:pt x="0" y="0"/>
                </a:moveTo>
                <a:lnTo>
                  <a:pt x="0" y="1123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4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4B83DBF1-FB77-4F79-A4A7-B94C8D4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7182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tree-node-1">
            <a:extLst xmlns:a="http://schemas.openxmlformats.org/drawingml/2006/main">
              <a:ext uri="{FF2B5EF4-FFF2-40B4-BE49-F238E27FC236}">
                <a16:creationId xmlns:a16="http://schemas.microsoft.com/office/drawing/2014/main" id="{1F41433B-7874-48E7-8062-F95B4C71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73F05C23-6A3B-4FCB-8D44-77BD4D64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量化：幅度近似为有限个等级</a:t>
            </a:r>
          </a:p>
        </p:txBody>
      </p:sp>
      <p:sp>
        <p:nvSpPr>
          <p:cNvPr id="17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178D78F7-7790-45DD-8911-9AD3189E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992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固定范围均匀分级：等级数决定步长</a:t>
            </a:r>
          </a:p>
        </p:txBody>
      </p:sp>
      <p:sp>
        <p:nvSpPr>
          <p:cNvPr id="18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024D210E-0C32-419C-B623-E5A1E687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trunk">
            <a:extLst xmlns:a="http://schemas.openxmlformats.org/drawingml/2006/main">
              <a:ext uri="{FF2B5EF4-FFF2-40B4-BE49-F238E27FC236}">
                <a16:creationId xmlns:a16="http://schemas.microsoft.com/office/drawing/2014/main" id="{FBA400A1-4776-48E5-ADA9-C58792A4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2247900"/>
          </a:xfrm>
          <a:custGeom xmlns:a="http://schemas.openxmlformats.org/drawingml/2006/main">
            <a:pathLst>
              <a:path w="9525" h="2247900">
                <a:moveTo>
                  <a:pt x="0" y="0"/>
                </a:moveTo>
                <a:lnTo>
                  <a:pt x="0" y="2247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46E41794-735C-4C49-886F-59A0DC6F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957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1" name="tree-node-2">
            <a:extLst xmlns:a="http://schemas.openxmlformats.org/drawingml/2006/main">
              <a:ext uri="{FF2B5EF4-FFF2-40B4-BE49-F238E27FC236}">
                <a16:creationId xmlns:a16="http://schemas.microsoft.com/office/drawing/2014/main" id="{59649235-D470-4141-8ABB-43F6D534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4810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0DAD9C24-3853-47A4-83D5-CD625097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编码：按约定用码字表示等级</a:t>
            </a:r>
          </a:p>
        </p:txBody>
      </p:sp>
      <p:sp>
        <p:nvSpPr>
          <p:cNvPr id="23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9470874F-E37F-41C6-A823-DA1F7EF9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3387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bit可提供2^n个码字；编码可以不压缩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C718C7F-64A3-417D-9648-CA0F84AA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">
            <a:extLst xmlns:a="http://schemas.openxmlformats.org/drawingml/2006/main">
              <a:ext uri="{FF2B5EF4-FFF2-40B4-BE49-F238E27FC236}">
                <a16:creationId xmlns:a16="http://schemas.microsoft.com/office/drawing/2014/main" id="{2DDBD4D8-E98C-4DD3-BF30-74E0CC2C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9525" cy="3371850"/>
          </a:xfrm>
          <a:custGeom xmlns:a="http://schemas.openxmlformats.org/drawingml/2006/main">
            <a:pathLst>
              <a:path w="9525" h="3371850">
                <a:moveTo>
                  <a:pt x="0" y="0"/>
                </a:moveTo>
                <a:lnTo>
                  <a:pt x="0" y="337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3">
            <a:extLst xmlns:a="http://schemas.openxmlformats.org/drawingml/2006/main">
              <a:ext uri="{FF2B5EF4-FFF2-40B4-BE49-F238E27FC236}">
                <a16:creationId xmlns:a16="http://schemas.microsoft.com/office/drawing/2014/main" id="{91FDB0BB-2829-4618-91E1-CA56B22C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1972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3">
            <a:extLst xmlns:a="http://schemas.openxmlformats.org/drawingml/2006/main">
              <a:ext uri="{FF2B5EF4-FFF2-40B4-BE49-F238E27FC236}">
                <a16:creationId xmlns:a16="http://schemas.microsoft.com/office/drawing/2014/main" id="{A86CB480-FF08-4F78-BCC5-206EDE66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72050"/>
            <a:ext cx="655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3">
            <a:extLst xmlns:a="http://schemas.openxmlformats.org/drawingml/2006/main">
              <a:ext uri="{FF2B5EF4-FFF2-40B4-BE49-F238E27FC236}">
                <a16:creationId xmlns:a16="http://schemas.microsoft.com/office/drawing/2014/main" id="{5263D1EF-574D-4385-A67C-B8532A69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6730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未压缩PCM：样本数据与文件开销</a:t>
            </a:r>
          </a:p>
        </p:txBody>
      </p:sp>
      <p:sp>
        <p:nvSpPr>
          <p:cNvPr id="29" name="tree-detail-3">
            <a:extLst xmlns:a="http://schemas.openxmlformats.org/drawingml/2006/main">
              <a:ext uri="{FF2B5EF4-FFF2-40B4-BE49-F238E27FC236}">
                <a16:creationId xmlns:a16="http://schemas.microsoft.com/office/drawing/2014/main" id="{0CDBAEDF-62C3-4D87-8CC4-8864A3BE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57825"/>
            <a:ext cx="624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采样率×秒数×存储位数×声道数÷8</a:t>
            </a:r>
          </a:p>
        </p:txBody>
      </p:sp>
      <p:sp>
        <p:nvSpPr>
          <p:cNvPr id="30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1A830646-D82E-47CF-8A9C-D0D9D4DF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33950"/>
            <a:ext cx="6629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31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632C62E4-A1D7-42D0-8050-E69A0EA8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67325"/>
            <a:ext cx="72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00032460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68B8F307-0796-42E3-BC92-486AE92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B716282-3A8D-43A0-A8D8-BF56B58E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92FC15-9AFF-4265-A8C5-CD6C62F7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AFF899-15A5-498A-8D31-6081E86D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16kHz、2秒、16bit、单声道未压缩PCM。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F1586F6-605D-44AE-A8E8-63BE4192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求样本数据量（B），写出完整算式。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1405F1A-ACC3-4C2D-813C-5CE55BE5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9FD46C-A236-4B98-87EF-2B91BFF3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1A1B5C-9AC0-4F55-860F-A85B984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</p:spTree>
    <p:extLst>
      <p:ext uri="{BB962C8B-B14F-4D97-AF65-F5344CB8AC3E}">
        <p14:creationId xmlns:p14="http://schemas.microsoft.com/office/powerpoint/2010/main" val="109546669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68B8F307-0796-42E3-BC92-486AE92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B716282-3A8D-43A0-A8D8-BF56B58E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92FC15-9AFF-4265-A8C5-CD6C62F7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AFF899-15A5-498A-8D31-6081E86D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16kHz、2秒、16bit、单声道未压缩PCM。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F1586F6-605D-44AE-A8E8-63BE4192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求样本数据量（B），写出完整算式。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1405F1A-ACC3-4C2D-813C-5CE55BE5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9FD46C-A236-4B98-87EF-2B91BFF3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1A1B5C-9AC0-4F55-860F-A85B984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  <p:sp>
        <p:nvSpPr>
          <p:cNvPr id="9" name="exit-answer-1">
            <a:extLst xmlns:a="http://schemas.openxmlformats.org/drawingml/2006/main">
              <a:ext uri="{FF2B5EF4-FFF2-40B4-BE49-F238E27FC236}">
                <a16:creationId xmlns:a16="http://schemas.microsoft.com/office/drawing/2014/main" id="{809431CA-6D0E-4362-9BC4-C78E3424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 × 2 × 16 × 1 ÷ 8 = 64,000 B。</a:t>
            </a:r>
          </a:p>
        </p:txBody>
      </p:sp>
      <p:sp>
        <p:nvSpPr>
          <p:cNvPr id="10" name="exit-answer-2">
            <a:extLst xmlns:a="http://schemas.openxmlformats.org/drawingml/2006/main">
              <a:ext uri="{FF2B5EF4-FFF2-40B4-BE49-F238E27FC236}">
                <a16:creationId xmlns:a16="http://schemas.microsoft.com/office/drawing/2014/main" id="{9BE755E2-0A96-478B-AD7B-F0E47AF6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按约定表示量化结果；编码可以不压缩。</a:t>
            </a:r>
          </a:p>
        </p:txBody>
      </p:sp>
    </p:spTree>
    <p:extLst>
      <p:ext uri="{BB962C8B-B14F-4D97-AF65-F5344CB8AC3E}">
        <p14:creationId xmlns:p14="http://schemas.microsoft.com/office/powerpoint/2010/main" val="1095466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creator>Walnut Exporter</dc:creator>
  <cp:lastModifiedBy>Walnut Exporter</cp:lastModifiedBy>
  <dc:title>声音数字化：采样、量化与编码（v2）</dc:title>
  <ns2:created xsi:type="dcterms:W3CDTF">2026-10-12T14:00:17.0340000Z</ns2:created>
  <ns2:modified xsi:type="dcterms:W3CDTF">2026-10-12T14:00:17.0340000Z</ns2:modified>
  <dc:subject>高中信息科技；教师演示与纸笔推理</dc:subject>
  <dc:description>audio-v2-20261012; 45 slides. pass: Q/reveal plan, editable diagrams/tables, staged knowledge tree, stage-specific notes, independent arithmetic, all-slide rendering and visual review, structural geometry/font checks. unverified: actual WPS/PowerPoint, projection, optional audio and classroom pacing. Scope: PPTX only; external course design and companions were not revised.</dc:description>
</cp:coreProperties>
</file>
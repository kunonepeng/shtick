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338" r:id="rId6"/>
    <p:sldId id="339" r:id="rId7"/>
    <p:sldId id="335" r:id="rId8"/>
    <p:sldId id="258" r:id="rId9"/>
    <p:sldId id="340"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33" r:id="rId51"/>
    <p:sldId id="334"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Lst>
  <p:sldSz cx="12191365" cy="6858000"/>
  <p:notesSz cx="6858000" cy="9144000"/>
  <p:defaultTextStyle>
    <a:defPPr>
      <a:buNone/>
    </a:defPPr>
    <a:lvl1pPr marL="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1pPr>
    <a:lvl2pPr marL="4572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2pPr>
    <a:lvl3pPr marL="9144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3pPr>
    <a:lvl4pPr marL="13716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4pPr>
    <a:lvl5pPr marL="18288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5pPr>
    <a:lvl6pPr marL="22860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6pPr>
    <a:lvl7pPr marL="27432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7pPr>
    <a:lvl8pPr marL="32004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8pPr>
    <a:lvl9pPr marL="36576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panose="00020600040101010101" charset="-122"/>
        <a:ea typeface="Alibaba PuHuiTi 3.0 55 Regular" panose="00020600040101010101" charset="-122"/>
        <a:cs typeface="Alibaba PuHuiTi 3.0 55 Regular" panose="00020600040101010101" charset="-122"/>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a:latin typeface="Alibaba PuHuiTi 3.0 55 Regular" panose="00020600040101010101" charset="-122"/>
                <a:ea typeface="Alibaba PuHuiTi 3.0 55 Regular" panose="00020600040101010101" charset="-122"/>
                <a:cs typeface="Alibaba PuHuiTi 3.0 55 Regular" panose="00020600040101010101" charset="-122"/>
              </a:rPr>
              <a:t>[问题] 声音和电脑里的音频文件，是同一种量吗？</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[内部编号] q4</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[阶段] 提问</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[教师逐字稿]</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先请每位学生独立预测或写出方法，停顿约15～20秒。请两人比较理由，暂不确认哪一个答案正确。学生作答后再翻页，用下一页的图或数据核对。先观察当前给出的条件，不提前讲后页的结论。</a:t>
            </a:r>
            <a:endParaRPr>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a:latin typeface="Alibaba PuHuiTi 3.0 55 Regular" panose="00020600040101010101" charset="-122"/>
                <a:ea typeface="Alibaba PuHuiTi 3.0 55 Regular" panose="00020600040101010101" charset="-122"/>
                <a:cs typeface="Alibaba PuHuiTi 3.0 55 Regular" panose="00020600040101010101" charset="-122"/>
              </a:rPr>
              <a:t>[问题] 声音和电脑里的音频文件，是同一种量吗？</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[内部编号] BASE-04</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[阶段] 证据／解释</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[教师逐字稿]</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【设计意图】先让学生表态：声波在时间上连续变化；文件保存的是离散数字。问麦克风前后，哪一阶段发生改变？</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【教师可以这样讲】请先判断：空气中的声音和电脑里的音频文件，是不是同一种东西？举一个理由。</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【预判回答与追问】“电脑播放出来还是声音，所以是模拟量”是可能的误解；分清存储形式和播放后的物理振动。</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【本页收束】声音属于物理模拟信号；数字文件以离散的数据保存音频。</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p>
            <a:r>
              <a:rPr>
                <a:latin typeface="Alibaba PuHuiTi 3.0 55 Regular" panose="00020600040101010101" charset="-122"/>
                <a:ea typeface="Alibaba PuHuiTi 3.0 55 Regular" panose="00020600040101010101" charset="-122"/>
                <a:cs typeface="Alibaba PuHuiTi 3.0 55 Regular" panose="00020600040101010101" charset="-122"/>
              </a:rPr>
              <a:t>对比模拟声波与文件中的数字，问连续变化的声音如何变成离散数据；先让学生说两者有何不同。</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p>
            <a:r>
              <a:rPr>
                <a:latin typeface="Alibaba PuHuiTi 3.0 55 Regular" panose="00020600040101010101" charset="-122"/>
                <a:ea typeface="Alibaba PuHuiTi 3.0 55 Regular" panose="00020600040101010101" charset="-122"/>
                <a:cs typeface="Alibaba PuHuiTi 3.0 55 Regular" panose="00020600040101010101" charset="-122"/>
              </a:rPr>
              <a:t>[视觉优化] 先让学生观察两图，自己说出波形与离散记录的区别。</a:t>
            </a:r>
            <a:endParaRPr>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a:latin typeface="Alibaba PuHuiTi 3.0 55 Regular" panose="00020600040101010101" charset="-122"/>
                <a:ea typeface="Alibaba PuHuiTi 3.0 55 Regular" panose="00020600040101010101" charset="-122"/>
                <a:cs typeface="Alibaba PuHuiTi 3.0 55 Regular" panose="00020600040101010101" charset="-122"/>
              </a:rPr>
              <a:t>[问题] 声音首先是什么？</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[内部编号] q3</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[阶段] 提问</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[教师逐字稿]</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先请每位学生独立预测或写出方法，停顿约15～20秒。请两人比较理由，暂不确认哪一个答案正确。学生作答后再翻页，用下一页的图或数据核对。先观察当前给出的条件，不提前讲后页的结论。</a:t>
            </a:r>
            <a:endParaRPr>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声音首先是什么？</a:t>
            </a:r>
          </a:p>
          <a:p>
            <a:r>
              <a:t>[内部编号] V81-03</a:t>
            </a:r>
          </a:p>
          <a:p>
            <a:r>
              <a:t>[阶段] 证据／解释</a:t>
            </a:r>
          </a:p>
          <a:p>
            <a:r>
              <a:t>[教师逐字稿]</a:t>
            </a:r>
          </a:p>
          <a:p>
            <a:r>
              <a:t>【教师讲述／组织】从实录1的振动声源、空气传播与耳膜经验出发。问：我们说话时什么振动？声音怎样到耳朵？要学生识别声音是物理现象。</a:t>
            </a:r>
          </a:p>
          <a:p>
            <a:r>
              <a:t>【反馈】先听学生如何解释，再决定是否揭示结论；注意控制本页停留时间。</a:t>
            </a:r>
          </a:p>
          <a:p/>
          <a:p>
            <a:r>
              <a:t>【视觉说明】重新组织v8.4.10声源示意与原Codex概念文字：上方三阶段对应下方音叉、空间声压变化和麦克风；以一句话收束。示意图的波弧是传播方向，不是“波形在空间弯曲传播”的路线。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rPr>
                <a:latin typeface="Alibaba PuHuiTi 3.0 55 Regular" panose="00020600040101010101" charset="-122"/>
                <a:ea typeface="Alibaba PuHuiTi 3.0 55 Regular" panose="00020600040101010101" charset="-122"/>
                <a:cs typeface="Alibaba PuHuiTi 3.0 55 Regular" panose="00020600040101010101" charset="-122"/>
              </a:rPr>
              <a:t>[问题] 麦克风把声波变成什么？</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[内部编号] q5</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[阶段] 提问</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[教师逐字稿]</a:t>
            </a:r>
            <a:endParaRPr>
              <a:latin typeface="Alibaba PuHuiTi 3.0 55 Regular" panose="00020600040101010101" charset="-122"/>
              <a:ea typeface="Alibaba PuHuiTi 3.0 55 Regular" panose="00020600040101010101" charset="-122"/>
              <a:cs typeface="Alibaba PuHuiTi 3.0 55 Regular" panose="00020600040101010101" charset="-122"/>
            </a:endParaRPr>
          </a:p>
          <a:p>
            <a:r>
              <a:rPr>
                <a:latin typeface="Alibaba PuHuiTi 3.0 55 Regular" panose="00020600040101010101" charset="-122"/>
                <a:ea typeface="Alibaba PuHuiTi 3.0 55 Regular" panose="00020600040101010101" charset="-122"/>
                <a:cs typeface="Alibaba PuHuiTi 3.0 55 Regular" panose="00020600040101010101" charset="-122"/>
              </a:rPr>
              <a:t>先请每位学生独立预测或写出方法，停顿约15～20秒。请两人比较理由，暂不确认哪一个答案正确。学生作答后再翻页，用下一页的图或数据核对。先观察当前给出的条件，不提前讲后页的结论。</a:t>
            </a:r>
            <a:endParaRPr>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p>
            <a:r>
              <a:t>麦克风负责把声压变化变成连续电信号；先预测“是数字还是模拟？”学生说出依据。</a:t>
            </a:r>
          </a:p>
          <a:p/>
          <a:p>
            <a:r>
              <a:t>【图片教学备注】OpenMoji microphone-studio.svg, CC BY-SA 4.0，https://github.com/hfg-gmuend/openmoji/blob/master/color/svg/1F399.svg 。图标帮助识别转换设备。不要说麦克风直接得到0和1。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把录音过程和播放过程接起来</a:t>
            </a:r>
          </a:p>
          <a:p>
            <a:r>
              <a:t>[内部编号] V81-07</a:t>
            </a:r>
          </a:p>
          <a:p>
            <a:r>
              <a:t>[阶段] 证据／解释</a:t>
            </a:r>
          </a:p>
          <a:p>
            <a:r>
              <a:t>[教师逐字稿]</a:t>
            </a:r>
          </a:p>
          <a:p>
            <a:r>
              <a:t>【教师讲述／组织】追问：存进去的0和1，为什么还能从扬声器变回声音？给出DAC作为反向转换，重点是两个方向的理解；不要展开电路。</a:t>
            </a:r>
          </a:p>
          <a:p>
            <a:r>
              <a:t>【反馈】先听学生如何解释，再决定是否揭示结论；注意控制本页停留时间。</a:t>
            </a:r>
          </a:p>
          <a:p/>
          <a:p>
            <a:r>
              <a:t>按录音顺序走一遍，再反向说播放顺序，确认DAC与ADC的作用不同。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波形图是声音的传播路线吗？</a:t>
            </a:r>
          </a:p>
          <a:p>
            <a:r>
              <a:t>[内部编号] V81-08</a:t>
            </a:r>
          </a:p>
          <a:p>
            <a:r>
              <a:t>[阶段] 证据／解释</a:t>
            </a:r>
          </a:p>
          <a:p>
            <a:r>
              <a:t>[教师逐字稿]</a:t>
            </a:r>
          </a:p>
          <a:p>
            <a:r>
              <a:t>【设计意图】学生易误解：上下起伏是空气中声波的传播轨迹。请先判断，再明确横轴时间、纵轴同一地点声压或电信号的变化。</a:t>
            </a:r>
          </a:p>
          <a:p>
            <a:r>
              <a:t>【教师可以这样讲】看到这条上下起伏的曲线，请猜：它是不是声音在空气里沿着波浪形路线前进？</a:t>
            </a:r>
          </a:p>
          <a:p>
            <a:r>
              <a:t>【预判回答与追问】提醒固定一个位置，横坐标向右代表时间，纵坐标上下代表压力或电信号偏离参考的变化。</a:t>
            </a:r>
          </a:p>
          <a:p>
            <a:r>
              <a:t>【本页收束】波形是“某处随时间变化”的图，不是空间中的传播路径。</a:t>
            </a:r>
          </a:p>
          <a:p/>
          <a:p>
            <a:r>
              <a:t>【v7 Demo A，约2分钟】先保留本页“传播路线吗”的问题，让学生预测；运行 notebooks/01_听见声音_看见波形.ipynb，在教室Windows浏览器中点击播放。指向红色时间光标：波形表示时间变化，不是空间传播路线。Mac不会播放声音，声音从Windows浏览器输出。网络异常时直接用本页静态图。</a:t>
            </a:r>
          </a:p>
          <a:p/>
          <a:p>
            <a:r>
              <a:t>【视觉说明】借用v8.4.10空间传播与固定测点时间波形的对照，前半是空间快照，后半不是声音弯曲路线。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演示B：放大后，能看见采样点吗？</a:t>
            </a:r>
          </a:p>
          <a:p>
            <a:r>
              <a:t>[内部编号] V81-12</a:t>
            </a:r>
          </a:p>
          <a:p>
            <a:r>
              <a:t>[阶段] 证据／解释</a:t>
            </a:r>
          </a:p>
          <a:p>
            <a:r>
              <a:t>[教师逐字稿]</a:t>
            </a:r>
          </a:p>
          <a:p>
            <a:r>
              <a:t>运行notebooks/02_放大波形_看见采样点.ipynb。先保持完整波形，再把局部显示范围切换到20毫秒和4毫秒。左侧是示意概览，右侧是局部实际样本思路；在Notebook里，右侧点取自真实生成的PCM数据。不要说采样点之间连线是扬声器实际波形。约3分钟。</a:t>
            </a:r>
          </a:p>
          <a:p/>
          <a:p>
            <a:r>
              <a:t>打开Notebook 02，把波形从100毫秒放大到4毫秒，点击蓝色样本，读出实际时间和幅度；区分极值概览和真实采样点。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p>
            <a:r>
              <a:t>【v7回扣】演示切换到本页后，要求学生解释采样率和每秒样本数之间的关系。Notebook中的4毫秒局部窗口只是观察尺度。</a:t>
            </a:r>
          </a:p>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a:p/>
          <a:p>
            <a:r>
              <a:t>【视觉说明】明确[0,1)秒、右端点不重复记。演示1 Hz取1点，2 Hz取2点；此为慢速教学模型。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p>
            <a:r>
              <a:t>【v7 Demo C预告】现在只解决了采样时刻；纵向幅度可能是任意连续值，需要量化，稍后用实验台在同一坐标中比较。</a:t>
            </a:r>
          </a:p>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把振幅划分成0～7，共几个等级？</a:t>
            </a:r>
          </a:p>
          <a:p>
            <a:r>
              <a:t>[内部编号] V81-16</a:t>
            </a:r>
          </a:p>
          <a:p>
            <a:r>
              <a:t>[阶段] 证据／解释</a:t>
            </a:r>
          </a:p>
          <a:p>
            <a:r>
              <a:t>[教师逐字稿]</a:t>
            </a:r>
          </a:p>
          <a:p>
            <a:r>
              <a:t>【设计意图】坚持实录2的首个量化模型：等级从0数到7含0，共八级。提醒这里是教学简化例，真实PCM可正可负。让学生先自己数等级。</a:t>
            </a:r>
          </a:p>
          <a:p>
            <a:r>
              <a:t>【教师可以这样讲】请同学数一数，从0到7一共几个数字。0算不算一个等级？</a:t>
            </a:r>
          </a:p>
          <a:p>
            <a:r>
              <a:t>【预判回答与追问】最容易出现7级的误答。让学生逐个数：0、1、2、3、4、5、6、7。</a:t>
            </a:r>
          </a:p>
          <a:p>
            <a:r>
              <a:t>【本页收束】共8个等级。这里是简化模型，并非真实声压只有非负值。</a:t>
            </a:r>
          </a:p>
          <a:p/>
          <a:p>
            <a:r>
              <a:t>讲授0~7是等级编号；不要把取样数、幅度值、等级编号混为一谈，先让学生预测。</a:t>
            </a:r>
          </a:p>
          <a:p/>
          <a:p>
            <a:r>
              <a:t>【视觉说明】此页只建立8个等级编号，暂不揭示需要3bit，以便后续由学生推导。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3.71 应记为等级3，还是等级4？</a:t>
            </a:r>
          </a:p>
          <a:p>
            <a:r>
              <a:t>[内部编号] V81-17</a:t>
            </a:r>
          </a:p>
          <a:p>
            <a:r>
              <a:t>[阶段] 提问／独立作答</a:t>
            </a:r>
          </a:p>
          <a:p>
            <a:r>
              <a:t>[教师逐字稿]</a:t>
            </a:r>
          </a:p>
          <a:p>
            <a:r>
              <a:t>先显示0~7八级，学生预测3.71是3或4。暂停50秒让学生说出推理规则。再用下页指定的分区规则解决分歧；勿预先提示答案。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量化：用有限代表值近似样本</a:t>
            </a:r>
          </a:p>
          <a:p>
            <a:r>
              <a:t>[内部编号] V81-18</a:t>
            </a:r>
          </a:p>
          <a:p>
            <a:r>
              <a:t>[阶段] 证据／解释</a:t>
            </a:r>
          </a:p>
          <a:p>
            <a:r>
              <a:t>[教师逐字稿]</a:t>
            </a:r>
          </a:p>
          <a:p>
            <a:r>
              <a:t>【设计意图】此页展示明确的取整规则：教学用向下取整（非真实所有PCM的唯一规则）；把3.71映射到3。解释损失了细节，产生量化误差。</a:t>
            </a:r>
          </a:p>
          <a:p>
            <a:r>
              <a:t>【教师可以这样讲】规定一个简化规则：向下取整。原值3.71会落在哪个等级？屏幕上的红点与蓝点哪个是原值？</a:t>
            </a:r>
          </a:p>
          <a:p>
            <a:r>
              <a:t>【预判回答与追问】可能误以为蓝点恰好是原始值。追问：3.71与3有什么不同？少了哪些信息？</a:t>
            </a:r>
          </a:p>
          <a:p>
            <a:r>
              <a:t>【本页收束】量化是用有限代表值近似原值，存在量化误差。</a:t>
            </a:r>
          </a:p>
          <a:p/>
          <a:p>
            <a:r>
              <a:t>这里按[n,n+1)归入Ln，3.71属于L3；量化代表值可取3.5。让学生回看先前错误猜测。</a:t>
            </a:r>
          </a:p>
          <a:p>
            <a:br/>
            <a:r>
              <a:t>[图示条件]</a:t>
            </a:r>
            <a:br/>
            <a:r>
              <a:t>横坐标表示输入幅度，区间[3,4)归为L3；以中点3.5近似3.71。等级编号3不是幅度代表值3.5。Demo C使用另一个幅度范围，不混用数值。</a:t>
            </a:r>
          </a:p>
          <a:p/>
          <a:p>
            <a:r>
              <a:t>【视觉说明】区间[3,4)对应L3，代表值为3.5，绝对差为0.21；这是本例量化误差，不是所有量化算法必然的结果。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a:p/>
          <a:p>
            <a:r>
              <a:t>【视觉说明】先看整行十组数据，再聚焦第一个样本，教师问三位码字如何由等级编号得到，不把它误看为样本数量。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把量化等级分得更细，会发生什么？</a:t>
            </a:r>
          </a:p>
          <a:p>
            <a:r>
              <a:t>[内部编号] V81-22</a:t>
            </a:r>
          </a:p>
          <a:p>
            <a:r>
              <a:t>[阶段] 证据／解释</a:t>
            </a:r>
          </a:p>
          <a:p>
            <a:r>
              <a:t>[教师逐字稿]</a:t>
            </a:r>
          </a:p>
          <a:p>
            <a:r>
              <a:t>【教师讲述／组织】引入实录2的尺子类比：原本分米刻度与厘米刻度，刻度更细通常误差更小。与采样率的时间密度作区分。</a:t>
            </a:r>
          </a:p>
          <a:p>
            <a:r>
              <a:t>【反馈】先听学生如何解释，再决定是否揭示结论；注意控制本页停留时间。</a:t>
            </a:r>
          </a:p>
          <a:p/>
          <a:p>
            <a:r>
              <a:t>十个样本的表先只聚焦第一列：样本编号、量化等级、3bit码字逐一对应，再请学生解释其它样本。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演示C：3bit变4bit，样本点会变多吗？</a:t>
            </a:r>
          </a:p>
          <a:p>
            <a:r>
              <a:t>[内部编号] V81-24</a:t>
            </a:r>
          </a:p>
          <a:p>
            <a:r>
              <a:t>[阶段] 证据／解释</a:t>
            </a:r>
          </a:p>
          <a:p>
            <a:r>
              <a:t>[教师逐字稿]</a:t>
            </a:r>
          </a:p>
          <a:p>
            <a:r>
              <a:t>在已理解3bit与8个等级后，先给学生两种预测。运行notebooks/03_采样_量化_编码实验台.ipynb，固定4 kHz，位数3→4。学生观察：采样时刻不变，纵向可选的量化代表值从8增加到16，码字长度相应变化。此图只是静态示意，真实数值以Notebook演示为准。约5分钟，不与第15～17页全部额外累加。</a:t>
            </a:r>
          </a:p>
          <a:p/>
          <a:p>
            <a:r>
              <a:t>分别指横轴时间密度与纵轴量化等级，要求学生指出哪一项由采样率/位数控制。</a:t>
            </a:r>
          </a:p>
          <a:p/>
          <a:p>
            <a:r>
              <a:t>【视觉说明】采样时刻相同，改变量化位数，横向样本点数量不变；更密集的是纵向可选择的代表值。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p>
            <a:r>
              <a:t>【v7实验台回扣】在实验台选择3 bit，点击一个点，要求学生报出等级编号和3 bit码字。注意实验台使用[-1,1]输入范围；本页0～7演示是另一种简化尺度，编码原理相同。</a:t>
            </a:r>
          </a:p>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PCM样本和WAV文件，是一回事吗？</a:t>
            </a:r>
          </a:p>
          <a:p>
            <a:r>
              <a:t>[内部编号] V81-27</a:t>
            </a:r>
          </a:p>
          <a:p>
            <a:r>
              <a:t>[阶段] 证据／解释</a:t>
            </a:r>
          </a:p>
          <a:p>
            <a:r>
              <a:t>[教师逐字稿]</a:t>
            </a:r>
          </a:p>
          <a:p>
            <a:r>
              <a:t>【教师讲述／组织】从实录与v4延展：PCM代表样本数据的编码表示，WAV是保存音频数据的文件容器之一。暂不讲复杂格式比较，示意文件头告诉播放器如何读数据。</a:t>
            </a:r>
          </a:p>
          <a:p>
            <a:r>
              <a:t>【反馈】先听学生如何解释，再决定是否揭示结论；注意控制本页停留时间。</a:t>
            </a:r>
          </a:p>
          <a:p/>
          <a:p>
            <a:r>
              <a:t>区分数字样本和WAV容器头的作用；WAV不等同于一种有损压缩方法。</a:t>
            </a:r>
          </a:p>
          <a:p>
            <a:br/>
            <a:r>
              <a:t>[来源] Microsoft RIFF overview（fmt/data chunks）, 2021-01-07，检索2026-10-13：https://learn.microsoft.com/en-us/windows/win32/xaudio2/resource-interchange-file-format--riff-</a:t>
            </a:r>
          </a:p>
          <a:p/>
          <a:p>
            <a:r>
              <a:t>【视觉说明】借用v8.4.10文件结构图；文件头是必要的格式信息，PCM样本是内容。每个小格仅为示意，不承诺WAV固定44Byte。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p>
            <a:r>
              <a:t>沿数字样本→DAC→扬声器→声音完成录放闭环，不在主线要求复述滤波细节。</a:t>
            </a:r>
          </a:p>
          <a:p/>
          <a:p>
            <a:r>
              <a:t>【图片教学备注】OpenMoji speaker-high.svg，CC BY-SA 4.0，https://github.com/hfg-gmuend/openmoji/blob/master/color/svg/1F50A.svg 。扬声器是物理输出设备；DAC先将数字数据变为模拟电信号。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未压缩PCM数据量公式，从哪里来？</a:t>
            </a:r>
          </a:p>
          <a:p>
            <a:r>
              <a:t>[内部编号] V81-31</a:t>
            </a:r>
          </a:p>
          <a:p>
            <a:r>
              <a:t>[阶段] 证据／解释</a:t>
            </a:r>
          </a:p>
          <a:p>
            <a:r>
              <a:t>[教师逐字稿]</a:t>
            </a:r>
          </a:p>
          <a:p>
            <a:r>
              <a:t>【设计意图】不要把数据量公式当背诵口令。请学生逐个解释每一项代表哪个物理意义。单位：Hz、bit、秒；/8得到字节。</a:t>
            </a:r>
          </a:p>
          <a:p>
            <a:r>
              <a:t>【教师可以这样讲】我们刚才为什么要把四个因素相乘？请逐一说出公式的单位和意义。</a:t>
            </a:r>
          </a:p>
          <a:p>
            <a:r>
              <a:t>【预判回答与追问】常见错误：1 kHz写成1024 Hz；bit和Byte混用；忘记把分钟换成秒。</a:t>
            </a:r>
          </a:p>
          <a:p>
            <a:r>
              <a:t>【本页收束】会用公式之前先能解释公式。</a:t>
            </a:r>
          </a:p>
          <a:p/>
          <a:p>
            <a:r>
              <a:t>为什么结果是Byte要÷8？把四因素分别对应实际样本数量与每样本bit数。</a:t>
            </a:r>
          </a:p>
          <a:p>
            <a:br/>
            <a:r>
              <a:t>[公式条件]</a:t>
            </a:r>
            <a:br/>
            <a:r>
              <a:t>固定宽度未压缩PCM，使用实际存储位宽，不使用有效量化模型位数。每声道样本数优先由实际帧数读取；本例整数时长用fs×秒数。样本数据不含文件结构。</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【教学目的】把已经得到的“音轨与声道不是同一个概念”迁移到真实Audacity界面。先观察，不要在此页直接说答案。上方是Mono Track（一条单声道音轨），下方是Stereo Track（一条含左右两路的立体声音轨）。总共两条编辑音轨，截图中共有三行波形显示；这不代表导出文件必定有三个声道。</a:t>
            </a:r>
          </a:p>
          <a:p>
            <a:r>
              <a:t>【图片来源】Audacity Manual contributors，audacity-multitrack-mixing.png，CC BY 3.0，https://github.com/audacity/audacity-manual/blob/master/manual/m/images/f/fb/tracks_for_mixing.png 。历史界面只为理解结构，不是最新版操作指南。</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先预测再揭示】请先停留上一页，让学生回答音轨和波形路数，再翻到本页。紫框：一条Mono音轨（一行波形）；蓝框：一条Stereo音轨（两行波形），因此两条轨道并不等于两路信号。请学生迁移：最后导出双声道文件时的PCM数据量取决于导出参数，而不是编辑音轨数。</a:t>
            </a:r>
          </a:p>
          <a:p>
            <a:r>
              <a:t>【来源】Audacity Manual contributors，CC BY 3.0，https://github.com/audacity/audacity-manual/blob/master/manual/m/images/f/fb/tracks_for_mixing.png 。</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a:p/>
          <a:p>
            <a:r>
              <a:t>【视觉说明】同一个时刻双声道需要两个样本，单声道一个样本。讨论仍需固定采样率、位数、时长才能得出样本字节数减半。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图像采样与声音采样，哪里相同？</a:t>
            </a:r>
          </a:p>
          <a:p>
            <a:r>
              <a:t>[内部编号] V81-44</a:t>
            </a:r>
          </a:p>
          <a:p>
            <a:r>
              <a:t>[阶段] 证据／解释</a:t>
            </a:r>
          </a:p>
          <a:p>
            <a:r>
              <a:t>[教师逐字稿]</a:t>
            </a:r>
          </a:p>
          <a:p>
            <a:r>
              <a:t>【教师讲述／组织】实录3转向视频前回顾图像和声音：图像在空间二维网格采样，声音在时间轴取值；量化都用有限等级记录。</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p>
            <a:r>
              <a:t>五帧是同一个运动小球在五个时刻的状态。帧率25fps是每秒25帧，不应解释为人眼严格生理阈值。</a:t>
            </a:r>
          </a:p>
          <a:p/>
          <a:p>
            <a:r>
              <a:t>球在每一帧的位置不同，同样场景取不同时间画面；fps是每秒帧数。</a:t>
            </a:r>
          </a:p>
          <a:p/>
          <a:p>
            <a:r>
              <a:t>【视觉说明】上一版第48页五帧的球处于同一水平位置，无法观察运动。本轮用相同边框坐标重绘，球心每帧向右变化；先预测下一帧球将在哪里。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视频文件为什么可能小于6.44 GiB？</a:t>
            </a:r>
          </a:p>
          <a:p>
            <a:r>
              <a:t>[内部编号] V81-49</a:t>
            </a:r>
          </a:p>
          <a:p>
            <a:r>
              <a:t>[阶段] 提问／独立作答</a:t>
            </a:r>
          </a:p>
          <a:p>
            <a:r>
              <a:t>[教师逐字稿]</a:t>
            </a:r>
          </a:p>
          <a:p>
            <a:r>
              <a:t>【设计意图】核心认知冲突，不要预先写“因为压缩”。问：是不是算错？为什么在线短视频能很快播放？给学生发言时间。</a:t>
            </a:r>
          </a:p>
          <a:p>
            <a:r>
              <a:t>【教师可以这样讲】请你对照刚刚算出的6.44 GiB。我们手机里十分钟的视频，为什么通常远小于它？难道计算公式错了？</a:t>
            </a:r>
          </a:p>
          <a:p>
            <a:r>
              <a:t>【预判回答与追问】学生可能回答分辨率不同、格式不同、压缩了。记录这几种可能，指出公式中的题设是未压缩逐帧存储。</a:t>
            </a:r>
          </a:p>
          <a:p>
            <a:r>
              <a:t>【本页收束】这是第二课时核心认知冲突，直到下一页再揭示压缩。</a:t>
            </a:r>
          </a:p>
          <a:p/>
          <a:p>
            <a:r>
              <a:t>先让学生用自己看视频的经验提出文件比估算小的解释，借助冲突引出编码压缩。</a:t>
            </a:r>
          </a:p>
          <a:p/>
          <a:p>
            <a:r>
              <a:t>【视觉说明】数值仅是本课逐帧未压缩的理论计算；不虚构“普通视频”必定多少MB，由压缩原理解释差别。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a:p/>
          <a:p>
            <a:r>
              <a:t>【图片教学备注】OpenMoji computer-disk.svg (1F4BD) 与 smartphone.svg (1F4F1)，CC BY-SA 4.0; https://github.com/hfg-gmuend/openmoji 。左侧代表本地保存数据，右侧代表设备之间的文件传输，二者不是压缩算法的图像证明。</a:t>
            </a:r>
          </a:p>
          <a:p/>
          <a:p>
            <a:r>
              <a:t>【图片教学备注】读图：图标表达场景，不等于“数据被减半”的证据；压缩收益仍需要数字比较。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p>
            <a:r>
              <a:t>【v7 Demo D】先预测两份原始都是1000 Byte的文件哪一个被压得更小，再运行 notebooks/04_压缩前先预测.ipynb。Python zlib在Mac执行，Windows浏览器只展示结果，不依赖音频或py5。</a:t>
            </a:r>
          </a:p>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p>
            <a:r>
              <a:t>【v7实际实验】Notebook 04使用确定性随机字节与重复字节，打印压缩前后真实长度。如果随机字节压缩后略大，是格式开销而非代码错误。让学生总结“能够用规律简洁表示的信息通常更容易压缩”。</a:t>
            </a:r>
          </a:p>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无损与有损：按什么区分？</a:t>
            </a:r>
          </a:p>
          <a:p>
            <a:r>
              <a:t>[内部编号] V81-58</a:t>
            </a:r>
          </a:p>
          <a:p>
            <a:r>
              <a:t>[阶段] 证据／解释</a:t>
            </a:r>
          </a:p>
          <a:p>
            <a:r>
              <a:t>[教师逐字稿]</a:t>
            </a:r>
          </a:p>
          <a:p>
            <a:r>
              <a:t>【设计意图】先提出是否可以还原原始信息，再定义无损有损。注意有损不一定人类完全无感，有时肉眼肉耳可觉察明显差异。</a:t>
            </a:r>
          </a:p>
          <a:p>
            <a:r>
              <a:t>【教师可以这样讲】请判断：压缩后解开，能不能100%恢复原始字节？把这个问题作为分类标准。</a:t>
            </a:r>
          </a:p>
          <a:p>
            <a:r>
              <a:t>【预判回答与追问】有损不等于“损坏文件”；它在可接受的前提下放弃部分原始信息。</a:t>
            </a:r>
          </a:p>
          <a:p>
            <a:r>
              <a:t>【本页收束】无损可完全恢复，有损则不能恢复到原数据完全一致。</a:t>
            </a:r>
          </a:p>
          <a:p/>
          <a:p>
            <a:r>
              <a:t>判别方法：是否能够完全恢复原字节，不用文件后缀或大小作为唯一标准。</a:t>
            </a:r>
          </a:p>
          <a:p/>
          <a:p>
            <a:r>
              <a:t>【视觉说明】像素图只是数学示意：原始与无损恢复逐值一致，有损近似允许不同。不能据此讲解JPEG的实际DCT步骤。</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同一张图：BMP与JPG有什么不同？</a:t>
            </a:r>
          </a:p>
          <a:p>
            <a:r>
              <a:t>[内部编号] V81-63</a:t>
            </a:r>
          </a:p>
          <a:p>
            <a:r>
              <a:t>[阶段] 证据／解释</a:t>
            </a:r>
          </a:p>
          <a:p>
            <a:r>
              <a:t>[教师逐字稿]</a:t>
            </a:r>
          </a:p>
          <a:p>
            <a:r>
              <a:t>【教师讲述／组织】实录3用同一花朵比较BMP和JPG。用简洁像素格子示意一张图被近似编码；JPEG不只是“删掉相似像素”，要避免这种错误的字面理解。也不能断言所有BMP必然未压缩。</a:t>
            </a:r>
          </a:p>
          <a:p>
            <a:r>
              <a:t>【反馈】先听学生如何解释，再决定是否揭示结论；注意控制本页停留时间。</a:t>
            </a:r>
          </a:p>
          <a:p/>
          <a:p>
            <a:r>
              <a:t>BMP这里只指未压缩实例，JPG通常有损；文件大小还取决于参数和内容。</a:t>
            </a:r>
          </a:p>
          <a:p/>
          <a:p>
            <a:r>
              <a:t>【视觉说明】借用v8.4.10同一局部的BMP/JPG示例；解释刻意极端的JPEG实验质量不代表常见JPG都如此模糊，且JPEG压缩情况受内容参数影响。</a:t>
            </a:r>
          </a:p>
          <a:p/>
          <a:p>
            <a:r>
              <a:t>【视觉说明】该图使用同一局部而非两张毫不相关的图；极端压缩用于观察差别，不推断所有JPEG都严重失真。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685800" y="2130425"/>
            <a:ext cx="7772400" cy="1470025"/>
          </a:xfrm>
        </p:spPr>
        <p:txBody>
          <a:bodyPr/>
          <a:lstStyle/>
          <a:p>
            <a: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p:txBody>
          <a:bodyPr/>
          <a:lstStyle>
            <a:lvl1pPr>
              <a:buNone/>
              <a:defRPr/>
            </a:lvl1pPr>
          </a:lstStyle>
          <a:p>
            <a: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5BCAD085-E8A6-8845-BD4E-CB4CCA059FC4}" type="datetimeFigureOut">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5BCAD085-E8A6-8845-BD4E-CB4CCA059FC4}" type="datetimeFigureOut">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5BCAD085-E8A6-8845-BD4E-CB4CCA059FC4}" type="datetimeFigureOut">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p:cNvSpPr>
            <a:spLocks noGrp="1"/>
          </p:cNvSpPr>
          <p:nvPr>
            <p:ph type="dt" idx="10"/>
          </p:nvPr>
        </p:nvSpPr>
        <p:spPr/>
        <p:txBody>
          <a:bodyPr/>
          <a:lstStyle/>
          <a:p>
            <a:fld id="{5BCAD085-E8A6-8845-BD4E-CB4CCA059FC4}" type="datetimeFigureOut">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5BCAD085-E8A6-8845-BD4E-CB4CCA059FC4}" type="datetimeFigureOut">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1FF6DA9-008F-8B48-92A6-B652298478BF}"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panose="00020600040101010101" charset="-122"/>
                <a:ea typeface="Alibaba PuHuiTi 3.0 55 Regular" panose="00020600040101010101" charset="-122"/>
                <a:cs typeface="Alibaba PuHuiTi 3.0 55 Regular" panose="00020600040101010101" charset="-122"/>
              </a:defRPr>
            </a:lvl1pPr>
          </a:lstStyle>
          <a:p>
            <a:fld id="{5BCAD085-E8A6-8845-BD4E-CB4CCA059FC4}" type="datetimeFigureOut">
              <a:rPr/>
            </a:fld>
            <a:endParaRPr/>
          </a:p>
        </p:txBody>
      </p:sp>
      <p:sp>
        <p:nvSpPr>
          <p:cNvPr id="5" name="Footer Placeholder 4"/>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panose="00020600040101010101" charset="-122"/>
                <a:ea typeface="Alibaba PuHuiTi 3.0 55 Regular" panose="00020600040101010101" charset="-122"/>
                <a:cs typeface="Alibaba PuHuiTi 3.0 55 Regular" panose="00020600040101010101" charset="-122"/>
              </a:defRPr>
            </a:lvl1pPr>
          </a:lstStyle>
          <a:p/>
        </p:txBody>
      </p:sp>
      <p:sp>
        <p:nvSpPr>
          <p:cNvPr id="6" name="Slide Number Placeholder 5"/>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panose="00020600040101010101" charset="-122"/>
                <a:ea typeface="Alibaba PuHuiTi 3.0 55 Regular" panose="00020600040101010101" charset="-122"/>
                <a:cs typeface="Alibaba PuHuiTi 3.0 55 Regular" panose="00020600040101010101" charset="-122"/>
              </a:defRPr>
            </a:lvl1pPr>
          </a:lstStyle>
          <a:p>
            <a:fld id="{C1FF6DA9-008F-8B48-92A6-B652298478BF}"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1pPr>
    </p:titleStyle>
    <p:bodyStyle>
      <a:lvl1pPr marL="342900" indent="-342900" algn="l" defTabSz="457200">
        <a:spcBef>
          <a:spcPct val="20000"/>
        </a:spcBef>
        <a:buFont typeface="Arial" panose="020B0604020202090204"/>
        <a:buChar char="•"/>
        <a:defRPr sz="32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1pPr>
      <a:lvl2pPr marL="742950" indent="-285750" algn="l" defTabSz="457200">
        <a:spcBef>
          <a:spcPct val="20000"/>
        </a:spcBef>
        <a:buFont typeface="Arial" panose="020B0604020202090204"/>
        <a:buChar char="–"/>
        <a:defRPr sz="2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2pPr>
      <a:lvl3pPr marL="1143000" indent="-228600" algn="l" defTabSz="457200">
        <a:spcBef>
          <a:spcPct val="20000"/>
        </a:spcBef>
        <a:buFont typeface="Arial" panose="020B0604020202090204"/>
        <a:buChar char="•"/>
        <a:defRPr sz="24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3pPr>
      <a:lvl4pPr marL="16002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4pPr>
      <a:lvl5pPr marL="20574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5pPr>
      <a:lvl6pPr marL="25146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6pPr>
      <a:lvl7pPr marL="29718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7pPr>
      <a:lvl8pPr marL="34290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8pPr>
      <a:lvl9pPr marL="3886200" indent="-228600" algn="l" defTabSz="457200">
        <a:spcBef>
          <a:spcPct val="20000"/>
        </a:spcBef>
        <a:buFont typeface="Arial" panose="020B0604020202090204"/>
        <a:buChar char="•"/>
        <a:defRPr sz="20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9pPr>
    </p:bodyStyle>
    <p:otherStyle>
      <a:lvl1pPr marL="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1pPr>
      <a:lvl2pPr marL="4572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2pPr>
      <a:lvl3pPr marL="9144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3pPr>
      <a:lvl4pPr marL="13716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4pPr>
      <a:lvl5pPr marL="18288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5pPr>
      <a:lvl6pPr marL="22860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6pPr>
      <a:lvl7pPr marL="27432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7pPr>
      <a:lvl8pPr marL="32004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8pPr>
      <a:lvl9pPr marL="3657600" algn="l" defTabSz="457200">
        <a:buNone/>
        <a:defRPr sz="1800" kern="1200">
          <a:solidFill>
            <a:schemeClr val="tx1"/>
          </a:solidFill>
          <a:latin typeface="Alibaba PuHuiTi 3.0 55 Regular" panose="00020600040101010101" charset="-122"/>
          <a:ea typeface="Alibaba PuHuiTi 3.0 55 Regular" panose="00020600040101010101" charset="-122"/>
          <a:cs typeface="Alibaba PuHuiTi 3.0 55 Regular" panose="00020600040101010101" charset="-122"/>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2114550"/>
            <a:ext cx="10972800" cy="1143000"/>
          </a:xfrm>
          <a:prstGeom prst="rect">
            <a:avLst/>
          </a:prstGeom>
          <a:noFill/>
        </p:spPr>
        <p:txBody>
          <a:bodyPr wrap="none" lIns="0" tIns="0" rIns="0" bIns="0" anchor="t">
            <a:noAutofit/>
          </a:bodyPr>
          <a:lstStyle>
            <a:defPPr algn="ctr">
              <a:def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声音怎样变成0和1？</a:t>
            </a:r>
            <a:endPara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608076" y="3714750"/>
            <a:ext cx="10972800" cy="742950"/>
          </a:xfrm>
          <a:prstGeom prst="rect">
            <a:avLst/>
          </a:prstGeom>
          <a:noFill/>
        </p:spPr>
        <p:txBody>
          <a:bodyPr wrap="none" lIns="0" tIns="0" rIns="0" bIns="0" anchor="t">
            <a:noAutofit/>
          </a:bodyPr>
          <a:lstStyle>
            <a:defPPr algn="ctr">
              <a:def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第一课时｜从声音到数字音频</a:t>
            </a:r>
            <a:endPara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文字、图像能编码，声音呢？</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known-text"/>
          <p:cNvSpPr>
            <a:spLocks noGrp="1"/>
          </p:cNvSpPr>
          <p:nvPr/>
        </p:nvSpPr>
        <p:spPr>
          <a:xfrm>
            <a:off x="609600" y="2143125"/>
            <a:ext cx="5238750" cy="571500"/>
          </a:xfrm>
          <a:prstGeom prst="rect">
            <a:avLst/>
          </a:prstGeom>
          <a:noFill/>
          <a:ln w="0">
            <a:noFill/>
          </a:ln>
        </p:spPr>
        <p:txBody>
          <a:bodyPr wrap="non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文字 → 编码</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known-image"/>
          <p:cNvSpPr>
            <a:spLocks noGrp="1"/>
          </p:cNvSpPr>
          <p:nvPr/>
        </p:nvSpPr>
        <p:spPr>
          <a:xfrm>
            <a:off x="609600" y="3190875"/>
            <a:ext cx="5238750" cy="571500"/>
          </a:xfrm>
          <a:prstGeom prst="rect">
            <a:avLst/>
          </a:prstGeom>
          <a:noFill/>
          <a:ln w="0">
            <a:noFill/>
          </a:ln>
        </p:spPr>
        <p:txBody>
          <a:bodyPr wrap="non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图像 → 编码</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urrent-question"/>
          <p:cNvSpPr>
            <a:spLocks noGrp="1"/>
          </p:cNvSpPr>
          <p:nvPr/>
        </p:nvSpPr>
        <p:spPr>
          <a:xfrm>
            <a:off x="609600" y="4238625"/>
            <a:ext cx="5238750" cy="571500"/>
          </a:xfrm>
          <a:prstGeom prst="rect">
            <a:avLst/>
          </a:prstGeom>
          <a:noFill/>
          <a:ln w="0">
            <a:noFill/>
          </a:ln>
        </p:spPr>
        <p:txBody>
          <a:bodyPr wrap="none" lIns="0" tIns="0" rIns="0" bIns="0" anchor="t">
            <a:noAutofit/>
          </a:bodyPr>
          <a:lstStyle>
            <a:defPPr algn="l">
              <a:defRPr sz="3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3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声音 → ？</a:t>
            </a:r>
            <a:endParaRPr sz="3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recording-question"/>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手机为什么能把说话声保存成文件？</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pic>
        <p:nvPicPr>
          <p:cNvPr id="9" name="Picture 8"/>
          <p:cNvPicPr>
            <a:picLocks noChangeAspect="1"/>
          </p:cNvPicPr>
          <p:nvPr/>
        </p:nvPicPr>
        <p:blipFill>
          <a:blip r:embed="rId1"/>
          <a:stretch>
            <a:fillRect/>
          </a:stretch>
        </p:blipFill>
        <p:spPr>
          <a:xfrm>
            <a:off x="6381750" y="1581150"/>
            <a:ext cx="5105400" cy="38290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 name="Rectangle 2"/>
          <p:cNvSpPr/>
          <p:nvPr/>
        </p:nvSpPr>
        <p:spPr>
          <a:xfrm>
            <a:off x="0" y="675640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608076" y="608076"/>
            <a:ext cx="10972800" cy="704850"/>
          </a:xfrm>
          <a:prstGeom prst="rect">
            <a:avLst/>
          </a:prstGeom>
          <a:noFill/>
        </p:spPr>
        <p:txBody>
          <a:bodyPr wrap="square" lIns="0" tIns="0" rIns="0" bIns="0">
            <a:noAutofit/>
          </a:bodyPr>
          <a:lstStyle/>
          <a:p>
            <a:pPr>
              <a:spcBef>
                <a:spcPts val="0"/>
              </a:spcBef>
              <a:spcAft>
                <a:spcPts val="200"/>
              </a:spcAft>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t>声音和电脑里的音频文件，是同一种量吗？</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 name="Rectangle 2"/>
          <p:cNvSpPr/>
          <p:nvPr/>
        </p:nvSpPr>
        <p:spPr>
          <a:xfrm>
            <a:off x="0" y="675640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608076" y="608076"/>
            <a:ext cx="10972800" cy="704850"/>
          </a:xfrm>
          <a:prstGeom prst="rect">
            <a:avLst/>
          </a:prstGeom>
          <a:noFill/>
        </p:spPr>
        <p:txBody>
          <a:bodyPr wrap="square" lIns="0" tIns="0" rIns="0" bIns="0">
            <a:noAutofit/>
          </a:bodyPr>
          <a:lstStyle/>
          <a:p>
            <a:pPr>
              <a:spcBef>
                <a:spcPts val="0"/>
              </a:spcBef>
              <a:spcAft>
                <a:spcPts val="200"/>
              </a:spcAft>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t>声音和电脑里的音频文件，是同一种量吗？</a:t>
            </a:r>
          </a:p>
        </p:txBody>
      </p:sp>
      <p:sp>
        <p:nvSpPr>
          <p:cNvPr id="5" name="TextBox 4"/>
          <p:cNvSpPr txBox="1"/>
          <p:nvPr/>
        </p:nvSpPr>
        <p:spPr>
          <a:xfrm>
            <a:off x="804672" y="1682496"/>
            <a:ext cx="4937760" cy="502920"/>
          </a:xfrm>
          <a:prstGeom prst="rect">
            <a:avLst/>
          </a:prstGeom>
          <a:noFill/>
        </p:spPr>
        <p:txBody>
          <a:bodyPr wrap="square" lIns="0" tIns="0" rIns="0" bIns="0" anchor="ctr">
            <a:noAutofit/>
          </a:bodyPr>
          <a:lstStyle/>
          <a:p>
            <a:pPr>
              <a:spcAft>
                <a:spcPts val="0"/>
              </a:spcAft>
              <a:defRPr sz="2500" b="1">
                <a:solidFill>
                  <a:srgbClr val="8C64E1"/>
                </a:solidFill>
                <a:latin typeface="Alibaba PuHuiTi 3.0 115 Black" panose="00020600040101010101" charset="-122"/>
                <a:ea typeface="Alibaba PuHuiTi 3.0 55 Regular" panose="00020600040101010101" charset="-122"/>
                <a:cs typeface="Alibaba PuHuiTi 3.0 55 Regular" panose="00020600040101010101" charset="-122"/>
              </a:defRPr>
            </a:pPr>
            <a:r>
              <a:t>现实声音：连续变化</a:t>
            </a:r>
          </a:p>
        </p:txBody>
      </p:sp>
      <p:sp>
        <p:nvSpPr>
          <p:cNvPr id="6" name="TextBox 5"/>
          <p:cNvSpPr txBox="1"/>
          <p:nvPr/>
        </p:nvSpPr>
        <p:spPr>
          <a:xfrm>
            <a:off x="6400800" y="1682496"/>
            <a:ext cx="4937760" cy="502920"/>
          </a:xfrm>
          <a:prstGeom prst="rect">
            <a:avLst/>
          </a:prstGeom>
          <a:noFill/>
        </p:spPr>
        <p:txBody>
          <a:bodyPr wrap="square" lIns="0" tIns="0" rIns="0" bIns="0" anchor="ctr">
            <a:noAutofit/>
          </a:bodyPr>
          <a:lstStyle/>
          <a:p>
            <a:pPr>
              <a:spcAft>
                <a:spcPts val="0"/>
              </a:spcAft>
              <a:defRPr sz="2500" b="1">
                <a:solidFill>
                  <a:srgbClr val="007C9B"/>
                </a:solidFill>
                <a:latin typeface="Alibaba PuHuiTi 3.0 115 Black" panose="00020600040101010101" charset="-122"/>
                <a:ea typeface="Alibaba PuHuiTi 3.0 55 Regular" panose="00020600040101010101" charset="-122"/>
                <a:cs typeface="Alibaba PuHuiTi 3.0 55 Regular" panose="00020600040101010101" charset="-122"/>
              </a:defRPr>
            </a:pPr>
            <a:r>
              <a:t>电脑保存：离散数字</a:t>
            </a:r>
          </a:p>
        </p:txBody>
      </p:sp>
      <p:cxnSp>
        <p:nvCxnSpPr>
          <p:cNvPr id="7" name="Connector 6"/>
          <p:cNvCxnSpPr/>
          <p:nvPr/>
        </p:nvCxnSpPr>
        <p:spPr>
          <a:xfrm>
            <a:off x="868680" y="4361688"/>
            <a:ext cx="4754880" cy="0"/>
          </a:xfrm>
          <a:prstGeom prst="line">
            <a:avLst/>
          </a:prstGeom>
          <a:ln w="19050">
            <a:solidFill>
              <a:srgbClr val="717171"/>
            </a:solidFill>
          </a:ln>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868680" y="2368296"/>
            <a:ext cx="0" cy="2112264"/>
          </a:xfrm>
          <a:prstGeom prst="line">
            <a:avLst/>
          </a:prstGeom>
          <a:ln w="16510">
            <a:solidFill>
              <a:srgbClr val="717171"/>
            </a:solidFill>
          </a:ln>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6446520" y="4361688"/>
            <a:ext cx="4754880" cy="0"/>
          </a:xfrm>
          <a:prstGeom prst="line">
            <a:avLst/>
          </a:prstGeom>
          <a:ln w="19050">
            <a:solidFill>
              <a:srgbClr val="717171"/>
            </a:solidFill>
          </a:ln>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a:off x="6446520" y="2368296"/>
            <a:ext cx="0" cy="2112264"/>
          </a:xfrm>
          <a:prstGeom prst="line">
            <a:avLst/>
          </a:prstGeom>
          <a:ln w="16510">
            <a:solidFill>
              <a:srgbClr val="717171"/>
            </a:solidFill>
          </a:ln>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V="1">
            <a:off x="960120" y="3280676"/>
            <a:ext cx="54648" cy="7060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V="1">
            <a:off x="1014768" y="3211125"/>
            <a:ext cx="54649" cy="6955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069417" y="3143656"/>
            <a:ext cx="54649" cy="6746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1124066" y="3079272"/>
            <a:ext cx="54649" cy="6438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V="1">
            <a:off x="1178715" y="3018930"/>
            <a:ext cx="54649" cy="6034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1233364" y="2963525"/>
            <a:ext cx="54649" cy="5540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88013" y="2913882"/>
            <a:ext cx="54648" cy="49643"/>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342661" y="2870737"/>
            <a:ext cx="54649" cy="4314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1397310" y="2834732"/>
            <a:ext cx="54649" cy="3600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1451959" y="2806401"/>
            <a:ext cx="54649" cy="2833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1506608" y="2786166"/>
            <a:ext cx="54649" cy="2023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1561257" y="2774327"/>
            <a:ext cx="54649" cy="1183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1615906" y="2771061"/>
            <a:ext cx="54649" cy="326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1670555" y="2771061"/>
            <a:ext cx="54648" cy="535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1725203" y="2776415"/>
            <a:ext cx="54649" cy="1389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1779852" y="2790310"/>
            <a:ext cx="54649" cy="2223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1834501" y="2812540"/>
            <a:ext cx="54649" cy="3023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1889150" y="2842774"/>
            <a:ext cx="54649" cy="3778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1943799" y="2880563"/>
            <a:ext cx="54649" cy="44783"/>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1998448" y="2925346"/>
            <a:ext cx="54648" cy="5111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2053096" y="2976458"/>
            <a:ext cx="54649" cy="5668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2107745" y="3033138"/>
            <a:ext cx="54649" cy="6140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2162394" y="3094545"/>
            <a:ext cx="54649" cy="6522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a:off x="2217043" y="3159766"/>
            <a:ext cx="54649" cy="6806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2271692" y="3227833"/>
            <a:ext cx="54649" cy="6990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2326341" y="3297734"/>
            <a:ext cx="54649" cy="7069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a:off x="2380990" y="3368431"/>
            <a:ext cx="54648" cy="7044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a:off x="2435638" y="3438872"/>
            <a:ext cx="54649" cy="6914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490287" y="3508012"/>
            <a:ext cx="54649" cy="6681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a:off x="2544936" y="3574824"/>
            <a:ext cx="54649" cy="6349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2599585" y="3638314"/>
            <a:ext cx="54649" cy="5922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a:off x="2654234" y="3697539"/>
            <a:ext cx="54649" cy="5408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a:off x="2708883" y="3751619"/>
            <a:ext cx="54648" cy="48133"/>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a:off x="2763531" y="3799752"/>
            <a:ext cx="54649" cy="4146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a:off x="2818180" y="3841221"/>
            <a:ext cx="54649" cy="3418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a:off x="2872829" y="3875410"/>
            <a:ext cx="54649" cy="2640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2927478" y="3901812"/>
            <a:ext cx="54649" cy="18223"/>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a:off x="2982127" y="3920035"/>
            <a:ext cx="54649" cy="977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3036776" y="3929807"/>
            <a:ext cx="54649" cy="117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3091425" y="3923546"/>
            <a:ext cx="54648" cy="743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V="1">
            <a:off x="3146073" y="3907607"/>
            <a:ext cx="54649" cy="1593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3200722" y="3883402"/>
            <a:ext cx="54649" cy="2420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V="1">
            <a:off x="3255371" y="3851290"/>
            <a:ext cx="54649" cy="3211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V="1">
            <a:off x="3310020" y="3811750"/>
            <a:ext cx="54649" cy="3954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V="1">
            <a:off x="3364669" y="3765368"/>
            <a:ext cx="54649" cy="4638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flipV="1">
            <a:off x="3419318" y="3712833"/>
            <a:ext cx="54648" cy="5253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flipV="1">
            <a:off x="3473966" y="3654927"/>
            <a:ext cx="54649" cy="5790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flipV="1">
            <a:off x="3528615" y="3592509"/>
            <a:ext cx="54649" cy="62418"/>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V="1">
            <a:off x="3583264" y="3526507"/>
            <a:ext cx="54649" cy="6600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flipV="1">
            <a:off x="3637913" y="3457901"/>
            <a:ext cx="54649" cy="6860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V="1">
            <a:off x="3692562" y="3387711"/>
            <a:ext cx="54649" cy="7019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V="1">
            <a:off x="3747211" y="3316980"/>
            <a:ext cx="54649" cy="7073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flipV="1">
            <a:off x="3801860" y="3246759"/>
            <a:ext cx="54648" cy="7022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flipV="1">
            <a:off x="3856508" y="3178090"/>
            <a:ext cx="54649" cy="6866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flipV="1">
            <a:off x="3911157" y="3111994"/>
            <a:ext cx="54649" cy="6609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3965806" y="3049454"/>
            <a:ext cx="54649" cy="6254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flipV="1">
            <a:off x="4020455" y="2991397"/>
            <a:ext cx="54649" cy="5805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flipV="1">
            <a:off x="4075104" y="2938688"/>
            <a:ext cx="54649" cy="5270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flipV="1">
            <a:off x="4129753" y="2892109"/>
            <a:ext cx="54648" cy="4657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4184401" y="2852352"/>
            <a:ext cx="54649" cy="3975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flipV="1">
            <a:off x="4239050" y="2820008"/>
            <a:ext cx="54649" cy="3234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flipV="1">
            <a:off x="4293699" y="2795558"/>
            <a:ext cx="54649" cy="2445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flipV="1">
            <a:off x="4348348" y="2779364"/>
            <a:ext cx="54649" cy="1619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flipV="1">
            <a:off x="4402997" y="2771667"/>
            <a:ext cx="54649" cy="769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4457646" y="2771667"/>
            <a:ext cx="54649" cy="91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512295" y="2772582"/>
            <a:ext cx="54648" cy="9513"/>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566943" y="2782095"/>
            <a:ext cx="54649" cy="1797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621592" y="2800065"/>
            <a:ext cx="54649" cy="26159"/>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4676241" y="2826224"/>
            <a:ext cx="54649" cy="3396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4730890" y="2860185"/>
            <a:ext cx="54649" cy="4125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4785539" y="2901442"/>
            <a:ext cx="54649" cy="4794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4840188" y="2949382"/>
            <a:ext cx="54648" cy="5391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4894836" y="3003294"/>
            <a:ext cx="54649" cy="5908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4949485" y="3062376"/>
            <a:ext cx="54649" cy="6337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5004134" y="3125750"/>
            <a:ext cx="54649" cy="6672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6" name="Connector 85"/>
          <p:cNvCxnSpPr/>
          <p:nvPr/>
        </p:nvCxnSpPr>
        <p:spPr>
          <a:xfrm>
            <a:off x="5058783" y="3192475"/>
            <a:ext cx="54649" cy="6908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7" name="Connector 86"/>
          <p:cNvCxnSpPr/>
          <p:nvPr/>
        </p:nvCxnSpPr>
        <p:spPr>
          <a:xfrm>
            <a:off x="5113432" y="3261559"/>
            <a:ext cx="54649" cy="70418"/>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8" name="Connector 87"/>
          <p:cNvCxnSpPr/>
          <p:nvPr/>
        </p:nvCxnSpPr>
        <p:spPr>
          <a:xfrm>
            <a:off x="5168081" y="3331977"/>
            <a:ext cx="54649" cy="70704"/>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89" name="Connector 88"/>
          <p:cNvCxnSpPr/>
          <p:nvPr/>
        </p:nvCxnSpPr>
        <p:spPr>
          <a:xfrm>
            <a:off x="5222730" y="3402681"/>
            <a:ext cx="54648" cy="69940"/>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5277378" y="3472621"/>
            <a:ext cx="54649" cy="68138"/>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5332027" y="3540759"/>
            <a:ext cx="54649" cy="65322"/>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5386676" y="3606081"/>
            <a:ext cx="54649" cy="61536"/>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3" name="Connector 92"/>
          <p:cNvCxnSpPr/>
          <p:nvPr/>
        </p:nvCxnSpPr>
        <p:spPr>
          <a:xfrm>
            <a:off x="5441325" y="3667617"/>
            <a:ext cx="54649" cy="56837"/>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4" name="Connector 93"/>
          <p:cNvCxnSpPr/>
          <p:nvPr/>
        </p:nvCxnSpPr>
        <p:spPr>
          <a:xfrm>
            <a:off x="5495974" y="3724454"/>
            <a:ext cx="54649" cy="51291"/>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5550623" y="3775745"/>
            <a:ext cx="54649" cy="44985"/>
          </a:xfrm>
          <a:prstGeom prst="line">
            <a:avLst/>
          </a:prstGeom>
          <a:ln w="25400">
            <a:solidFill>
              <a:srgbClr val="6251B1"/>
            </a:solidFill>
          </a:ln>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flipV="1">
            <a:off x="6537960" y="3280676"/>
            <a:ext cx="54541" cy="7060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flipV="1">
            <a:off x="6592501" y="3211125"/>
            <a:ext cx="54541" cy="6955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flipV="1">
            <a:off x="6647042" y="3143656"/>
            <a:ext cx="54541" cy="6746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flipV="1">
            <a:off x="6701583" y="3079272"/>
            <a:ext cx="54542" cy="6438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0" name="Connector 99"/>
          <p:cNvCxnSpPr/>
          <p:nvPr/>
        </p:nvCxnSpPr>
        <p:spPr>
          <a:xfrm flipV="1">
            <a:off x="6756125" y="3018930"/>
            <a:ext cx="54541" cy="6034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1" name="Connector 100"/>
          <p:cNvCxnSpPr/>
          <p:nvPr/>
        </p:nvCxnSpPr>
        <p:spPr>
          <a:xfrm flipV="1">
            <a:off x="6810666" y="2963525"/>
            <a:ext cx="54541" cy="5540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2" name="Connector 101"/>
          <p:cNvCxnSpPr/>
          <p:nvPr/>
        </p:nvCxnSpPr>
        <p:spPr>
          <a:xfrm flipV="1">
            <a:off x="6865207" y="2913882"/>
            <a:ext cx="54541" cy="49643"/>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3" name="Connector 102"/>
          <p:cNvCxnSpPr/>
          <p:nvPr/>
        </p:nvCxnSpPr>
        <p:spPr>
          <a:xfrm flipV="1">
            <a:off x="6919748" y="2870737"/>
            <a:ext cx="54542" cy="4314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4" name="Connector 103"/>
          <p:cNvCxnSpPr/>
          <p:nvPr/>
        </p:nvCxnSpPr>
        <p:spPr>
          <a:xfrm flipV="1">
            <a:off x="6974290" y="2834732"/>
            <a:ext cx="54541" cy="3600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5" name="Connector 104"/>
          <p:cNvCxnSpPr/>
          <p:nvPr/>
        </p:nvCxnSpPr>
        <p:spPr>
          <a:xfrm flipV="1">
            <a:off x="7028831" y="2806401"/>
            <a:ext cx="54541" cy="2833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6" name="Connector 105"/>
          <p:cNvCxnSpPr/>
          <p:nvPr/>
        </p:nvCxnSpPr>
        <p:spPr>
          <a:xfrm flipV="1">
            <a:off x="7083372" y="2786166"/>
            <a:ext cx="54541" cy="2023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7" name="Connector 106"/>
          <p:cNvCxnSpPr/>
          <p:nvPr/>
        </p:nvCxnSpPr>
        <p:spPr>
          <a:xfrm flipV="1">
            <a:off x="7137913" y="2774327"/>
            <a:ext cx="54542" cy="1183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flipV="1">
            <a:off x="7192455" y="2771061"/>
            <a:ext cx="54541" cy="326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09" name="Connector 108"/>
          <p:cNvCxnSpPr/>
          <p:nvPr/>
        </p:nvCxnSpPr>
        <p:spPr>
          <a:xfrm>
            <a:off x="7246996" y="2771061"/>
            <a:ext cx="54541" cy="535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0" name="Connector 109"/>
          <p:cNvCxnSpPr/>
          <p:nvPr/>
        </p:nvCxnSpPr>
        <p:spPr>
          <a:xfrm>
            <a:off x="7301537" y="2776415"/>
            <a:ext cx="54542" cy="1389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356079" y="2790310"/>
            <a:ext cx="54541" cy="2223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7410620" y="2812540"/>
            <a:ext cx="54541" cy="3023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3" name="Connector 112"/>
          <p:cNvCxnSpPr/>
          <p:nvPr/>
        </p:nvCxnSpPr>
        <p:spPr>
          <a:xfrm>
            <a:off x="7465161" y="2842774"/>
            <a:ext cx="54541" cy="3778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a:off x="7519702" y="2880563"/>
            <a:ext cx="54542" cy="44783"/>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5" name="Connector 114"/>
          <p:cNvCxnSpPr/>
          <p:nvPr/>
        </p:nvCxnSpPr>
        <p:spPr>
          <a:xfrm>
            <a:off x="7574244" y="2925346"/>
            <a:ext cx="54541" cy="5111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6" name="Connector 115"/>
          <p:cNvCxnSpPr/>
          <p:nvPr/>
        </p:nvCxnSpPr>
        <p:spPr>
          <a:xfrm>
            <a:off x="7628785" y="2976458"/>
            <a:ext cx="54541" cy="5668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7" name="Connector 116"/>
          <p:cNvCxnSpPr/>
          <p:nvPr/>
        </p:nvCxnSpPr>
        <p:spPr>
          <a:xfrm>
            <a:off x="7683326" y="3033138"/>
            <a:ext cx="54541" cy="6140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8" name="Connector 117"/>
          <p:cNvCxnSpPr/>
          <p:nvPr/>
        </p:nvCxnSpPr>
        <p:spPr>
          <a:xfrm>
            <a:off x="7737867" y="3094545"/>
            <a:ext cx="54542" cy="6522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792409" y="3159766"/>
            <a:ext cx="54541" cy="6806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0" name="Connector 119"/>
          <p:cNvCxnSpPr/>
          <p:nvPr/>
        </p:nvCxnSpPr>
        <p:spPr>
          <a:xfrm>
            <a:off x="7846950" y="3227833"/>
            <a:ext cx="54541" cy="6990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1" name="Connector 120"/>
          <p:cNvCxnSpPr/>
          <p:nvPr/>
        </p:nvCxnSpPr>
        <p:spPr>
          <a:xfrm>
            <a:off x="7901491" y="3297734"/>
            <a:ext cx="54542" cy="7069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a:off x="7956033" y="3368431"/>
            <a:ext cx="54541" cy="7044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3" name="Connector 122"/>
          <p:cNvCxnSpPr/>
          <p:nvPr/>
        </p:nvCxnSpPr>
        <p:spPr>
          <a:xfrm>
            <a:off x="8010574" y="3438872"/>
            <a:ext cx="54541" cy="6914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4" name="Connector 123"/>
          <p:cNvCxnSpPr/>
          <p:nvPr/>
        </p:nvCxnSpPr>
        <p:spPr>
          <a:xfrm>
            <a:off x="8065115" y="3508012"/>
            <a:ext cx="54541" cy="6681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5" name="Connector 124"/>
          <p:cNvCxnSpPr/>
          <p:nvPr/>
        </p:nvCxnSpPr>
        <p:spPr>
          <a:xfrm>
            <a:off x="8119656" y="3574824"/>
            <a:ext cx="54542" cy="6349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6" name="Connector 125"/>
          <p:cNvCxnSpPr/>
          <p:nvPr/>
        </p:nvCxnSpPr>
        <p:spPr>
          <a:xfrm>
            <a:off x="8174198" y="3638314"/>
            <a:ext cx="54541" cy="5922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7" name="Connector 126"/>
          <p:cNvCxnSpPr/>
          <p:nvPr/>
        </p:nvCxnSpPr>
        <p:spPr>
          <a:xfrm>
            <a:off x="8228739" y="3697539"/>
            <a:ext cx="54541" cy="5408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8" name="Connector 127"/>
          <p:cNvCxnSpPr/>
          <p:nvPr/>
        </p:nvCxnSpPr>
        <p:spPr>
          <a:xfrm>
            <a:off x="8283280" y="3751619"/>
            <a:ext cx="54541" cy="48133"/>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29" name="Connector 128"/>
          <p:cNvCxnSpPr/>
          <p:nvPr/>
        </p:nvCxnSpPr>
        <p:spPr>
          <a:xfrm>
            <a:off x="8337821" y="3799752"/>
            <a:ext cx="54542" cy="4146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0" name="Connector 129"/>
          <p:cNvCxnSpPr/>
          <p:nvPr/>
        </p:nvCxnSpPr>
        <p:spPr>
          <a:xfrm>
            <a:off x="8392363" y="3841221"/>
            <a:ext cx="54541" cy="3418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1" name="Connector 130"/>
          <p:cNvCxnSpPr/>
          <p:nvPr/>
        </p:nvCxnSpPr>
        <p:spPr>
          <a:xfrm>
            <a:off x="8446904" y="3875410"/>
            <a:ext cx="54541" cy="2640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2" name="Connector 131"/>
          <p:cNvCxnSpPr/>
          <p:nvPr/>
        </p:nvCxnSpPr>
        <p:spPr>
          <a:xfrm>
            <a:off x="8501445" y="3901812"/>
            <a:ext cx="54542" cy="18223"/>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3" name="Connector 132"/>
          <p:cNvCxnSpPr/>
          <p:nvPr/>
        </p:nvCxnSpPr>
        <p:spPr>
          <a:xfrm>
            <a:off x="8555987" y="3920035"/>
            <a:ext cx="54541" cy="977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4" name="Connector 133"/>
          <p:cNvCxnSpPr/>
          <p:nvPr/>
        </p:nvCxnSpPr>
        <p:spPr>
          <a:xfrm>
            <a:off x="8610528" y="3929807"/>
            <a:ext cx="54541" cy="117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5" name="Connector 134"/>
          <p:cNvCxnSpPr/>
          <p:nvPr/>
        </p:nvCxnSpPr>
        <p:spPr>
          <a:xfrm flipV="1">
            <a:off x="8665069" y="3923546"/>
            <a:ext cx="54541" cy="743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6" name="Connector 135"/>
          <p:cNvCxnSpPr/>
          <p:nvPr/>
        </p:nvCxnSpPr>
        <p:spPr>
          <a:xfrm flipV="1">
            <a:off x="8719610" y="3907607"/>
            <a:ext cx="54542" cy="1593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7" name="Connector 136"/>
          <p:cNvCxnSpPr/>
          <p:nvPr/>
        </p:nvCxnSpPr>
        <p:spPr>
          <a:xfrm flipV="1">
            <a:off x="8774152" y="3883402"/>
            <a:ext cx="54541" cy="2420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8" name="Connector 137"/>
          <p:cNvCxnSpPr/>
          <p:nvPr/>
        </p:nvCxnSpPr>
        <p:spPr>
          <a:xfrm flipV="1">
            <a:off x="8828693" y="3851290"/>
            <a:ext cx="54541" cy="3211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39" name="Connector 138"/>
          <p:cNvCxnSpPr/>
          <p:nvPr/>
        </p:nvCxnSpPr>
        <p:spPr>
          <a:xfrm flipV="1">
            <a:off x="8883234" y="3811750"/>
            <a:ext cx="54541" cy="3954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V="1">
            <a:off x="8937775" y="3765368"/>
            <a:ext cx="54542" cy="4638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8992317" y="3712833"/>
            <a:ext cx="54541" cy="5253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9046858" y="3654927"/>
            <a:ext cx="54541" cy="5790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3" name="Connector 142"/>
          <p:cNvCxnSpPr/>
          <p:nvPr/>
        </p:nvCxnSpPr>
        <p:spPr>
          <a:xfrm flipV="1">
            <a:off x="9101399" y="3592509"/>
            <a:ext cx="54541" cy="62418"/>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4" name="Connector 143"/>
          <p:cNvCxnSpPr/>
          <p:nvPr/>
        </p:nvCxnSpPr>
        <p:spPr>
          <a:xfrm flipV="1">
            <a:off x="9155940" y="3526507"/>
            <a:ext cx="54542" cy="6600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5" name="Connector 144"/>
          <p:cNvCxnSpPr/>
          <p:nvPr/>
        </p:nvCxnSpPr>
        <p:spPr>
          <a:xfrm flipV="1">
            <a:off x="9210482" y="3457901"/>
            <a:ext cx="54541" cy="6860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6" name="Connector 145"/>
          <p:cNvCxnSpPr/>
          <p:nvPr/>
        </p:nvCxnSpPr>
        <p:spPr>
          <a:xfrm flipV="1">
            <a:off x="9265023" y="3387711"/>
            <a:ext cx="54541" cy="7019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7" name="Connector 146"/>
          <p:cNvCxnSpPr/>
          <p:nvPr/>
        </p:nvCxnSpPr>
        <p:spPr>
          <a:xfrm flipV="1">
            <a:off x="9319564" y="3316980"/>
            <a:ext cx="54542" cy="7073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8" name="Connector 147"/>
          <p:cNvCxnSpPr/>
          <p:nvPr/>
        </p:nvCxnSpPr>
        <p:spPr>
          <a:xfrm flipV="1">
            <a:off x="9374106" y="3246759"/>
            <a:ext cx="54541" cy="7022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V="1">
            <a:off x="9428647" y="3178090"/>
            <a:ext cx="54541" cy="6866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0" name="Connector 149"/>
          <p:cNvCxnSpPr/>
          <p:nvPr/>
        </p:nvCxnSpPr>
        <p:spPr>
          <a:xfrm flipV="1">
            <a:off x="9483188" y="3111994"/>
            <a:ext cx="54541" cy="6609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1" name="Connector 150"/>
          <p:cNvCxnSpPr/>
          <p:nvPr/>
        </p:nvCxnSpPr>
        <p:spPr>
          <a:xfrm flipV="1">
            <a:off x="9537729" y="3049454"/>
            <a:ext cx="54542" cy="6254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2" name="Connector 151"/>
          <p:cNvCxnSpPr/>
          <p:nvPr/>
        </p:nvCxnSpPr>
        <p:spPr>
          <a:xfrm flipV="1">
            <a:off x="9592271" y="2991397"/>
            <a:ext cx="54541" cy="5805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3" name="Connector 152"/>
          <p:cNvCxnSpPr/>
          <p:nvPr/>
        </p:nvCxnSpPr>
        <p:spPr>
          <a:xfrm flipV="1">
            <a:off x="9646812" y="2938688"/>
            <a:ext cx="54541" cy="5270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4" name="Connector 153"/>
          <p:cNvCxnSpPr/>
          <p:nvPr/>
        </p:nvCxnSpPr>
        <p:spPr>
          <a:xfrm flipV="1">
            <a:off x="9701353" y="2892109"/>
            <a:ext cx="54541" cy="4657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5" name="Connector 154"/>
          <p:cNvCxnSpPr/>
          <p:nvPr/>
        </p:nvCxnSpPr>
        <p:spPr>
          <a:xfrm flipV="1">
            <a:off x="9755894" y="2852352"/>
            <a:ext cx="54542" cy="3975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6" name="Connector 155"/>
          <p:cNvCxnSpPr/>
          <p:nvPr/>
        </p:nvCxnSpPr>
        <p:spPr>
          <a:xfrm flipV="1">
            <a:off x="9810436" y="2820008"/>
            <a:ext cx="54541" cy="3234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7" name="Connector 156"/>
          <p:cNvCxnSpPr/>
          <p:nvPr/>
        </p:nvCxnSpPr>
        <p:spPr>
          <a:xfrm flipV="1">
            <a:off x="9864977" y="2795558"/>
            <a:ext cx="54541" cy="2445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8" name="Connector 157"/>
          <p:cNvCxnSpPr/>
          <p:nvPr/>
        </p:nvCxnSpPr>
        <p:spPr>
          <a:xfrm flipV="1">
            <a:off x="9919518" y="2779364"/>
            <a:ext cx="54542" cy="1619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59" name="Connector 158"/>
          <p:cNvCxnSpPr/>
          <p:nvPr/>
        </p:nvCxnSpPr>
        <p:spPr>
          <a:xfrm flipV="1">
            <a:off x="9974060" y="2771667"/>
            <a:ext cx="54541" cy="769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0" name="Connector 159"/>
          <p:cNvCxnSpPr/>
          <p:nvPr/>
        </p:nvCxnSpPr>
        <p:spPr>
          <a:xfrm>
            <a:off x="10028601" y="2771667"/>
            <a:ext cx="54541" cy="91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1" name="Connector 160"/>
          <p:cNvCxnSpPr/>
          <p:nvPr/>
        </p:nvCxnSpPr>
        <p:spPr>
          <a:xfrm>
            <a:off x="10083142" y="2772582"/>
            <a:ext cx="54541" cy="9513"/>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2" name="Connector 161"/>
          <p:cNvCxnSpPr/>
          <p:nvPr/>
        </p:nvCxnSpPr>
        <p:spPr>
          <a:xfrm>
            <a:off x="10137683" y="2782095"/>
            <a:ext cx="54542" cy="1797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3" name="Connector 162"/>
          <p:cNvCxnSpPr/>
          <p:nvPr/>
        </p:nvCxnSpPr>
        <p:spPr>
          <a:xfrm>
            <a:off x="10192225" y="2800065"/>
            <a:ext cx="54541" cy="26159"/>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4" name="Connector 163"/>
          <p:cNvCxnSpPr/>
          <p:nvPr/>
        </p:nvCxnSpPr>
        <p:spPr>
          <a:xfrm>
            <a:off x="10246766" y="2826224"/>
            <a:ext cx="54541" cy="3396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5" name="Connector 164"/>
          <p:cNvCxnSpPr/>
          <p:nvPr/>
        </p:nvCxnSpPr>
        <p:spPr>
          <a:xfrm>
            <a:off x="10301307" y="2860185"/>
            <a:ext cx="54541" cy="4125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6" name="Connector 165"/>
          <p:cNvCxnSpPr/>
          <p:nvPr/>
        </p:nvCxnSpPr>
        <p:spPr>
          <a:xfrm>
            <a:off x="10355848" y="2901442"/>
            <a:ext cx="54542" cy="4794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7" name="Connector 166"/>
          <p:cNvCxnSpPr/>
          <p:nvPr/>
        </p:nvCxnSpPr>
        <p:spPr>
          <a:xfrm>
            <a:off x="10410390" y="2949382"/>
            <a:ext cx="54541" cy="5391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8" name="Connector 167"/>
          <p:cNvCxnSpPr/>
          <p:nvPr/>
        </p:nvCxnSpPr>
        <p:spPr>
          <a:xfrm>
            <a:off x="10464931" y="3003294"/>
            <a:ext cx="54541" cy="5908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69" name="Connector 168"/>
          <p:cNvCxnSpPr/>
          <p:nvPr/>
        </p:nvCxnSpPr>
        <p:spPr>
          <a:xfrm>
            <a:off x="10519472" y="3062376"/>
            <a:ext cx="54542" cy="6337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0" name="Connector 169"/>
          <p:cNvCxnSpPr/>
          <p:nvPr/>
        </p:nvCxnSpPr>
        <p:spPr>
          <a:xfrm>
            <a:off x="10574014" y="3125750"/>
            <a:ext cx="54541" cy="6672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1" name="Connector 170"/>
          <p:cNvCxnSpPr/>
          <p:nvPr/>
        </p:nvCxnSpPr>
        <p:spPr>
          <a:xfrm>
            <a:off x="10628555" y="3192475"/>
            <a:ext cx="54541" cy="6908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2" name="Connector 171"/>
          <p:cNvCxnSpPr/>
          <p:nvPr/>
        </p:nvCxnSpPr>
        <p:spPr>
          <a:xfrm>
            <a:off x="10683096" y="3261559"/>
            <a:ext cx="54541" cy="70418"/>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3" name="Connector 172"/>
          <p:cNvCxnSpPr/>
          <p:nvPr/>
        </p:nvCxnSpPr>
        <p:spPr>
          <a:xfrm>
            <a:off x="10737637" y="3331977"/>
            <a:ext cx="54542" cy="70704"/>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4" name="Connector 173"/>
          <p:cNvCxnSpPr/>
          <p:nvPr/>
        </p:nvCxnSpPr>
        <p:spPr>
          <a:xfrm>
            <a:off x="10792179" y="3402681"/>
            <a:ext cx="54541" cy="69940"/>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5" name="Connector 174"/>
          <p:cNvCxnSpPr/>
          <p:nvPr/>
        </p:nvCxnSpPr>
        <p:spPr>
          <a:xfrm>
            <a:off x="10846720" y="3472621"/>
            <a:ext cx="54541" cy="68138"/>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6" name="Connector 175"/>
          <p:cNvCxnSpPr/>
          <p:nvPr/>
        </p:nvCxnSpPr>
        <p:spPr>
          <a:xfrm>
            <a:off x="10901261" y="3540759"/>
            <a:ext cx="54541" cy="65322"/>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7" name="Connector 176"/>
          <p:cNvCxnSpPr/>
          <p:nvPr/>
        </p:nvCxnSpPr>
        <p:spPr>
          <a:xfrm>
            <a:off x="10955802" y="3606081"/>
            <a:ext cx="54542" cy="61536"/>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8" name="Connector 177"/>
          <p:cNvCxnSpPr/>
          <p:nvPr/>
        </p:nvCxnSpPr>
        <p:spPr>
          <a:xfrm>
            <a:off x="11010344" y="3667617"/>
            <a:ext cx="54541" cy="56837"/>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79" name="Connector 178"/>
          <p:cNvCxnSpPr/>
          <p:nvPr/>
        </p:nvCxnSpPr>
        <p:spPr>
          <a:xfrm>
            <a:off x="11064885" y="3724454"/>
            <a:ext cx="54541" cy="51291"/>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80" name="Connector 179"/>
          <p:cNvCxnSpPr/>
          <p:nvPr/>
        </p:nvCxnSpPr>
        <p:spPr>
          <a:xfrm>
            <a:off x="11119426" y="3775745"/>
            <a:ext cx="54542" cy="44985"/>
          </a:xfrm>
          <a:prstGeom prst="line">
            <a:avLst/>
          </a:prstGeom>
          <a:ln w="25400">
            <a:solidFill>
              <a:srgbClr val="D0D0D5"/>
            </a:solidFill>
          </a:ln>
        </p:spPr>
        <p:style>
          <a:lnRef idx="2">
            <a:schemeClr val="accent1"/>
          </a:lnRef>
          <a:fillRef idx="0">
            <a:schemeClr val="accent1"/>
          </a:fillRef>
          <a:effectRef idx="0">
            <a:schemeClr val="accent1"/>
          </a:effectRef>
          <a:fontRef idx="minor">
            <a:schemeClr val="tx1"/>
          </a:fontRef>
        </p:style>
      </p:cxnSp>
      <p:cxnSp>
        <p:nvCxnSpPr>
          <p:cNvPr id="181" name="Connector 180"/>
          <p:cNvCxnSpPr/>
          <p:nvPr/>
        </p:nvCxnSpPr>
        <p:spPr>
          <a:xfrm flipV="1">
            <a:off x="6565392" y="3351276"/>
            <a:ext cx="0" cy="1010412"/>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82" name="Oval 181"/>
          <p:cNvSpPr/>
          <p:nvPr/>
        </p:nvSpPr>
        <p:spPr>
          <a:xfrm>
            <a:off x="6504127" y="3290011"/>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83" name="Connector 182"/>
          <p:cNvCxnSpPr/>
          <p:nvPr/>
        </p:nvCxnSpPr>
        <p:spPr>
          <a:xfrm flipV="1">
            <a:off x="6981028" y="2881821"/>
            <a:ext cx="0" cy="1479867"/>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84" name="Oval 183"/>
          <p:cNvSpPr/>
          <p:nvPr/>
        </p:nvSpPr>
        <p:spPr>
          <a:xfrm>
            <a:off x="6919763" y="2820556"/>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85" name="Connector 184"/>
          <p:cNvCxnSpPr/>
          <p:nvPr/>
        </p:nvCxnSpPr>
        <p:spPr>
          <a:xfrm flipV="1">
            <a:off x="7396664" y="2799398"/>
            <a:ext cx="0" cy="1562290"/>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86" name="Oval 185"/>
          <p:cNvSpPr/>
          <p:nvPr/>
        </p:nvSpPr>
        <p:spPr>
          <a:xfrm>
            <a:off x="7335399" y="2738133"/>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87" name="Connector 186"/>
          <p:cNvCxnSpPr/>
          <p:nvPr/>
        </p:nvCxnSpPr>
        <p:spPr>
          <a:xfrm flipV="1">
            <a:off x="7812301" y="3171960"/>
            <a:ext cx="0" cy="1189728"/>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88" name="Oval 187"/>
          <p:cNvSpPr/>
          <p:nvPr/>
        </p:nvSpPr>
        <p:spPr>
          <a:xfrm>
            <a:off x="7751036" y="3110695"/>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89" name="Connector 188"/>
          <p:cNvCxnSpPr/>
          <p:nvPr/>
        </p:nvCxnSpPr>
        <p:spPr>
          <a:xfrm flipV="1">
            <a:off x="8227937" y="3692354"/>
            <a:ext cx="0" cy="669334"/>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90" name="Oval 189"/>
          <p:cNvSpPr/>
          <p:nvPr/>
        </p:nvSpPr>
        <p:spPr>
          <a:xfrm>
            <a:off x="8166672" y="3631090"/>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91" name="Connector 190"/>
          <p:cNvCxnSpPr/>
          <p:nvPr/>
        </p:nvCxnSpPr>
        <p:spPr>
          <a:xfrm flipV="1">
            <a:off x="8643573" y="3931554"/>
            <a:ext cx="0" cy="430134"/>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92" name="Oval 191"/>
          <p:cNvSpPr/>
          <p:nvPr/>
        </p:nvSpPr>
        <p:spPr>
          <a:xfrm>
            <a:off x="8582309" y="3870289"/>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93" name="Connector 192"/>
          <p:cNvCxnSpPr/>
          <p:nvPr/>
        </p:nvCxnSpPr>
        <p:spPr>
          <a:xfrm flipV="1">
            <a:off x="9059210" y="3692354"/>
            <a:ext cx="0" cy="669334"/>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94" name="Oval 193"/>
          <p:cNvSpPr/>
          <p:nvPr/>
        </p:nvSpPr>
        <p:spPr>
          <a:xfrm>
            <a:off x="8997945" y="3631090"/>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95" name="Connector 194"/>
          <p:cNvCxnSpPr/>
          <p:nvPr/>
        </p:nvCxnSpPr>
        <p:spPr>
          <a:xfrm flipV="1">
            <a:off x="9474846" y="3171960"/>
            <a:ext cx="0" cy="1189728"/>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96" name="Oval 195"/>
          <p:cNvSpPr/>
          <p:nvPr/>
        </p:nvSpPr>
        <p:spPr>
          <a:xfrm>
            <a:off x="9413581" y="3110695"/>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97" name="Connector 196"/>
          <p:cNvCxnSpPr/>
          <p:nvPr/>
        </p:nvCxnSpPr>
        <p:spPr>
          <a:xfrm flipV="1">
            <a:off x="9890482" y="2799398"/>
            <a:ext cx="0" cy="1562290"/>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198" name="Oval 197"/>
          <p:cNvSpPr/>
          <p:nvPr/>
        </p:nvSpPr>
        <p:spPr>
          <a:xfrm>
            <a:off x="9829218" y="2738133"/>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199" name="Connector 198"/>
          <p:cNvCxnSpPr/>
          <p:nvPr/>
        </p:nvCxnSpPr>
        <p:spPr>
          <a:xfrm flipV="1">
            <a:off x="10306119" y="2881821"/>
            <a:ext cx="0" cy="1479867"/>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200" name="Oval 199"/>
          <p:cNvSpPr/>
          <p:nvPr/>
        </p:nvSpPr>
        <p:spPr>
          <a:xfrm>
            <a:off x="10244854" y="2820556"/>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201" name="Connector 200"/>
          <p:cNvCxnSpPr/>
          <p:nvPr/>
        </p:nvCxnSpPr>
        <p:spPr>
          <a:xfrm flipV="1">
            <a:off x="10721755" y="3351275"/>
            <a:ext cx="0" cy="1010413"/>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202" name="Oval 201"/>
          <p:cNvSpPr/>
          <p:nvPr/>
        </p:nvSpPr>
        <p:spPr>
          <a:xfrm>
            <a:off x="10660490" y="3290011"/>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cxnSp>
        <p:nvCxnSpPr>
          <p:cNvPr id="203" name="Connector 202"/>
          <p:cNvCxnSpPr/>
          <p:nvPr/>
        </p:nvCxnSpPr>
        <p:spPr>
          <a:xfrm flipV="1">
            <a:off x="11137392" y="3820730"/>
            <a:ext cx="0" cy="540958"/>
          </a:xfrm>
          <a:prstGeom prst="line">
            <a:avLst/>
          </a:prstGeom>
          <a:ln w="15240">
            <a:solidFill>
              <a:srgbClr val="00B0F0"/>
            </a:solidFill>
          </a:ln>
        </p:spPr>
        <p:style>
          <a:lnRef idx="2">
            <a:schemeClr val="accent1"/>
          </a:lnRef>
          <a:fillRef idx="0">
            <a:schemeClr val="accent1"/>
          </a:fillRef>
          <a:effectRef idx="0">
            <a:schemeClr val="accent1"/>
          </a:effectRef>
          <a:fontRef idx="minor">
            <a:schemeClr val="tx1"/>
          </a:fontRef>
        </p:style>
      </p:cxnSp>
      <p:sp>
        <p:nvSpPr>
          <p:cNvPr id="204" name="Oval 203"/>
          <p:cNvSpPr/>
          <p:nvPr/>
        </p:nvSpPr>
        <p:spPr>
          <a:xfrm>
            <a:off x="11076127" y="3759466"/>
            <a:ext cx="122529" cy="122529"/>
          </a:xfrm>
          <a:prstGeom prst="ellipse">
            <a:avLst/>
          </a:prstGeom>
          <a:solidFill>
            <a:srgbClr val="00B0F0"/>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5" name="TextBox 204"/>
          <p:cNvSpPr txBox="1"/>
          <p:nvPr/>
        </p:nvSpPr>
        <p:spPr>
          <a:xfrm>
            <a:off x="868680" y="4800600"/>
            <a:ext cx="4937760" cy="502920"/>
          </a:xfrm>
          <a:prstGeom prst="rect">
            <a:avLst/>
          </a:prstGeom>
          <a:noFill/>
        </p:spPr>
        <p:txBody>
          <a:bodyPr wrap="square" lIns="0" tIns="0" rIns="0" bIns="0" anchor="ctr">
            <a:noAutofit/>
          </a:bodyPr>
          <a:lstStyle/>
          <a:p>
            <a:pPr>
              <a:spcAft>
                <a:spcPts val="0"/>
              </a:spcAft>
              <a:defRPr sz="20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t>同一位置的信号随时间变化</a:t>
            </a:r>
          </a:p>
        </p:txBody>
      </p:sp>
      <p:sp>
        <p:nvSpPr>
          <p:cNvPr id="206" name="TextBox 205"/>
          <p:cNvSpPr txBox="1"/>
          <p:nvPr/>
        </p:nvSpPr>
        <p:spPr>
          <a:xfrm>
            <a:off x="6428232" y="4800600"/>
            <a:ext cx="4846320" cy="502920"/>
          </a:xfrm>
          <a:prstGeom prst="rect">
            <a:avLst/>
          </a:prstGeom>
          <a:noFill/>
        </p:spPr>
        <p:txBody>
          <a:bodyPr wrap="square" lIns="0" tIns="0" rIns="0" bIns="0" anchor="ctr">
            <a:noAutofit/>
          </a:bodyPr>
          <a:lstStyle/>
          <a:p>
            <a:pPr>
              <a:spcAft>
                <a:spcPts val="0"/>
              </a:spcAft>
              <a:defRPr sz="20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t>只记录特定时刻的一组数值</a:t>
            </a:r>
          </a:p>
        </p:txBody>
      </p:sp>
      <p:sp>
        <p:nvSpPr>
          <p:cNvPr id="207" name="TextBox 206"/>
          <p:cNvSpPr txBox="1"/>
          <p:nvPr/>
        </p:nvSpPr>
        <p:spPr>
          <a:xfrm>
            <a:off x="786384" y="5852160"/>
            <a:ext cx="10698480" cy="384048"/>
          </a:xfrm>
          <a:prstGeom prst="rect">
            <a:avLst/>
          </a:prstGeom>
          <a:noFill/>
        </p:spPr>
        <p:txBody>
          <a:bodyPr wrap="square" lIns="0" tIns="0" rIns="0" bIns="0" anchor="ctr">
            <a:noAutofit/>
          </a:bodyPr>
          <a:lstStyle/>
          <a:p>
            <a:pPr>
              <a:spcAft>
                <a:spcPts val="0"/>
              </a:spcAft>
              <a:defRPr sz="17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t>连续信号 → 等间隔采样 → 离散样本；图示是同一段信号。</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 name="Rectangle 1"/>
          <p:cNvSpPr/>
          <p:nvPr/>
        </p:nvSpPr>
        <p:spPr>
          <a:xfrm>
            <a:off x="0" y="675640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608076" y="608076"/>
            <a:ext cx="10972800" cy="704850"/>
          </a:xfrm>
          <a:prstGeom prst="rect">
            <a:avLst/>
          </a:prstGeom>
          <a:noFill/>
        </p:spPr>
        <p:txBody>
          <a:bodyPr wrap="square" lIns="0" tIns="0" rIns="0" bIns="0">
            <a:noAutofit/>
          </a:bodyPr>
          <a:lstStyle/>
          <a:p>
            <a:pPr>
              <a:spcBef>
                <a:spcPts val="0"/>
              </a:spcBef>
              <a:spcAft>
                <a:spcPts val="200"/>
              </a:spcAft>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t>声音首先是什么？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声音首先是什么？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777240" y="2286000"/>
            <a:ext cx="297180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850392" y="2404872"/>
            <a:ext cx="282549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声带振动</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777240" y="3291840"/>
            <a:ext cx="2971800" cy="335280"/>
          </a:xfrm>
          <a:prstGeom prst="rect">
            <a:avLst/>
          </a:prstGeom>
          <a:noFill/>
        </p:spPr>
        <p:txBody>
          <a:bodyPr wrap="square" lIns="0" tIns="0" rIns="0" bIns="0" anchor="t">
            <a:noAutofit/>
          </a:bodyPr>
          <a:lstStyle>
            <a:defPPr algn="ctr">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发出声音</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Connector 7"/>
          <p:cNvSpPr>
            <a:spLocks noGrp="1"/>
          </p:cNvSpPr>
          <p:nvPr/>
        </p:nvSpPr>
        <p:spPr>
          <a:xfrm>
            <a:off x="3831335" y="2615184"/>
            <a:ext cx="676657"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9" name="Rectangle 8"/>
          <p:cNvSpPr>
            <a:spLocks noGrp="1"/>
          </p:cNvSpPr>
          <p:nvPr/>
        </p:nvSpPr>
        <p:spPr>
          <a:xfrm>
            <a:off x="4617720" y="2286000"/>
            <a:ext cx="2971800"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TextBox 9"/>
          <p:cNvSpPr>
            <a:spLocks noGrp="1"/>
          </p:cNvSpPr>
          <p:nvPr/>
        </p:nvSpPr>
        <p:spPr>
          <a:xfrm>
            <a:off x="4690872" y="2404872"/>
            <a:ext cx="2825496"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空气传播</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TextBox 10"/>
          <p:cNvSpPr>
            <a:spLocks noGrp="1"/>
          </p:cNvSpPr>
          <p:nvPr/>
        </p:nvSpPr>
        <p:spPr>
          <a:xfrm>
            <a:off x="4617720" y="3291840"/>
            <a:ext cx="2971800" cy="335280"/>
          </a:xfrm>
          <a:prstGeom prst="rect">
            <a:avLst/>
          </a:prstGeom>
          <a:noFill/>
        </p:spPr>
        <p:txBody>
          <a:bodyPr wrap="square" lIns="0" tIns="0" rIns="0" bIns="0" anchor="t">
            <a:noAutofit/>
          </a:bodyPr>
          <a:lstStyle>
            <a:defPPr algn="ctr">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声压变化传开</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Connector 11"/>
          <p:cNvSpPr>
            <a:spLocks noGrp="1"/>
          </p:cNvSpPr>
          <p:nvPr/>
        </p:nvSpPr>
        <p:spPr>
          <a:xfrm>
            <a:off x="7671816" y="2615184"/>
            <a:ext cx="676655"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3" name="Rectangle 12"/>
          <p:cNvSpPr>
            <a:spLocks noGrp="1"/>
          </p:cNvSpPr>
          <p:nvPr/>
        </p:nvSpPr>
        <p:spPr>
          <a:xfrm>
            <a:off x="8458200" y="2286000"/>
            <a:ext cx="297180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 name="TextBox 13"/>
          <p:cNvSpPr>
            <a:spLocks noGrp="1"/>
          </p:cNvSpPr>
          <p:nvPr/>
        </p:nvSpPr>
        <p:spPr>
          <a:xfrm>
            <a:off x="8531352" y="2404872"/>
            <a:ext cx="282549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耳膜振动</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TextBox 14"/>
          <p:cNvSpPr>
            <a:spLocks noGrp="1"/>
          </p:cNvSpPr>
          <p:nvPr/>
        </p:nvSpPr>
        <p:spPr>
          <a:xfrm>
            <a:off x="8458200" y="3291840"/>
            <a:ext cx="2971800" cy="335280"/>
          </a:xfrm>
          <a:prstGeom prst="rect">
            <a:avLst/>
          </a:prstGeom>
          <a:noFill/>
        </p:spPr>
        <p:txBody>
          <a:bodyPr wrap="square" lIns="0" tIns="0" rIns="0" bIns="0" anchor="t">
            <a:noAutofit/>
          </a:bodyPr>
          <a:lstStyle>
            <a:defPPr algn="ctr">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听到声音</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6" name="TextBox 15"/>
          <p:cNvSpPr>
            <a:spLocks noGrp="1"/>
          </p:cNvSpPr>
          <p:nvPr/>
        </p:nvSpPr>
        <p:spPr>
          <a:xfrm>
            <a:off x="777240" y="5074920"/>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声音是一种在介质中传播的机械波。</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7" name="Rectangle 16"/>
          <p:cNvSpPr/>
          <p:nvPr/>
        </p:nvSpPr>
        <p:spPr>
          <a:xfrm>
            <a:off x="685800" y="1673352"/>
            <a:ext cx="10835640" cy="412394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32688" y="1874519"/>
            <a:ext cx="10469880" cy="521207"/>
          </a:xfrm>
          <a:prstGeom prst="rect">
            <a:avLst/>
          </a:prstGeom>
          <a:noFill/>
        </p:spPr>
        <p:txBody>
          <a:bodyPr wrap="square" lIns="0" tIns="0" rIns="0" bIns="0" anchor="ctr">
            <a:spAutoFit/>
          </a:bodyPr>
          <a:lstStyle/>
          <a:p>
            <a:pPr algn="ctr">
              <a:spcAft>
                <a:spcPts val="200"/>
              </a:spcAft>
              <a:defRPr sz="2400" b="1">
                <a:solidFill>
                  <a:srgbClr val="8C64E1"/>
                </a:solidFill>
                <a:latin typeface="Alibaba PuHuiTi 3.0 115 Black" panose="00020600040101010101" charset="-122"/>
              </a:defRPr>
            </a:pPr>
            <a:r>
              <a:t>声源振动      →      空气中传播      →      麦克风接收</a:t>
            </a:r>
          </a:p>
        </p:txBody>
      </p:sp>
      <p:pic>
        <p:nvPicPr>
          <p:cNvPr id="19" name="融合证据图_v8.4.10_原页3" descr="image.png"/>
          <p:cNvPicPr>
            <a:picLocks noChangeAspect="1"/>
          </p:cNvPicPr>
          <p:nvPr/>
        </p:nvPicPr>
        <p:blipFill>
          <a:blip r:embed="rId1"/>
          <a:stretch>
            <a:fillRect/>
          </a:stretch>
        </p:blipFill>
        <p:spPr>
          <a:xfrm>
            <a:off x="2240280" y="2560320"/>
            <a:ext cx="7818120" cy="2542032"/>
          </a:xfrm>
          <a:prstGeom prst="rect">
            <a:avLst/>
          </a:prstGeom>
        </p:spPr>
      </p:pic>
      <p:sp>
        <p:nvSpPr>
          <p:cNvPr id="20" name="TextBox 19"/>
          <p:cNvSpPr txBox="1"/>
          <p:nvPr/>
        </p:nvSpPr>
        <p:spPr>
          <a:xfrm>
            <a:off x="969264" y="5294376"/>
            <a:ext cx="10296144" cy="475488"/>
          </a:xfrm>
          <a:prstGeom prst="rect">
            <a:avLst/>
          </a:prstGeom>
          <a:noFill/>
        </p:spPr>
        <p:txBody>
          <a:bodyPr wrap="square" lIns="0" tIns="0" rIns="0" bIns="0" anchor="ctr">
            <a:spAutoFit/>
          </a:bodyPr>
          <a:lstStyle/>
          <a:p>
            <a:pPr algn="ctr">
              <a:spcAft>
                <a:spcPts val="200"/>
              </a:spcAft>
              <a:defRPr sz="2300" b="1">
                <a:solidFill>
                  <a:srgbClr val="8C64E1"/>
                </a:solidFill>
                <a:latin typeface="Alibaba PuHuiTi 3.0 115 Black" panose="00020600040101010101" charset="-122"/>
              </a:defRPr>
            </a:pPr>
            <a:r>
              <a:t>声音由振动产生，并通过介质传播。</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 name="Rectangle 2"/>
          <p:cNvSpPr/>
          <p:nvPr/>
        </p:nvSpPr>
        <p:spPr>
          <a:xfrm>
            <a:off x="0" y="6756400"/>
            <a:ext cx="12191695" cy="101600"/>
          </a:xfrm>
          <a:prstGeom prst="rect">
            <a:avLst/>
          </a:prstGeom>
          <a:solidFill>
            <a:srgbClr val="6251B1"/>
          </a:solidFill>
          <a:ln>
            <a:noFill/>
          </a:ln>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608076" y="608076"/>
            <a:ext cx="10972800" cy="704850"/>
          </a:xfrm>
          <a:prstGeom prst="rect">
            <a:avLst/>
          </a:prstGeom>
          <a:noFill/>
        </p:spPr>
        <p:txBody>
          <a:bodyPr wrap="square" lIns="0" tIns="0" rIns="0" bIns="0">
            <a:noAutofit/>
          </a:bodyPr>
          <a:lstStyle/>
          <a:p>
            <a:pPr>
              <a:spcBef>
                <a:spcPts val="0"/>
              </a:spcBef>
              <a:spcAft>
                <a:spcPts val="200"/>
              </a:spcAft>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t>麦克风把声波变成什么？</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麦克风把声波变成什么？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749808" y="2286000"/>
            <a:ext cx="310896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822959" y="2404872"/>
            <a:ext cx="296265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空气中的声音</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3986784" y="2624328"/>
            <a:ext cx="76809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8" name="Rectangle 7"/>
          <p:cNvSpPr>
            <a:spLocks noGrp="1"/>
          </p:cNvSpPr>
          <p:nvPr/>
        </p:nvSpPr>
        <p:spPr>
          <a:xfrm>
            <a:off x="4800600" y="2286000"/>
            <a:ext cx="2331720"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4873752" y="2404872"/>
            <a:ext cx="2185415"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麦克风</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a:off x="7251192" y="2624328"/>
            <a:ext cx="81381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1" name="Rectangle 10"/>
          <p:cNvSpPr>
            <a:spLocks noGrp="1"/>
          </p:cNvSpPr>
          <p:nvPr/>
        </p:nvSpPr>
        <p:spPr>
          <a:xfrm>
            <a:off x="8119872" y="2286000"/>
            <a:ext cx="297180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TextBox 11"/>
          <p:cNvSpPr>
            <a:spLocks noGrp="1"/>
          </p:cNvSpPr>
          <p:nvPr/>
        </p:nvSpPr>
        <p:spPr>
          <a:xfrm>
            <a:off x="8193024" y="2404872"/>
            <a:ext cx="282549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连续电信号</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TextBox 12"/>
          <p:cNvSpPr>
            <a:spLocks noGrp="1"/>
          </p:cNvSpPr>
          <p:nvPr/>
        </p:nvSpPr>
        <p:spPr>
          <a:xfrm>
            <a:off x="777240" y="4919472"/>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麦克风完成了“声波 → 电信号”，但信号仍然连续。</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pic>
        <p:nvPicPr>
          <p:cNvPr id="14" name="searched-images/microphone-studio.svg" descr="image.png"/>
          <p:cNvPicPr>
            <a:picLocks noChangeAspect="1"/>
          </p:cNvPicPr>
          <p:nvPr/>
        </p:nvPicPr>
        <p:blipFill>
          <a:blip r:embed="rId1"/>
          <a:stretch>
            <a:fillRect/>
          </a:stretch>
        </p:blipFill>
        <p:spPr>
          <a:xfrm>
            <a:off x="5330952" y="2990088"/>
            <a:ext cx="1389888" cy="13898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连续电信号，怎样变成数字？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804672" y="2286000"/>
            <a:ext cx="320040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877824" y="2404872"/>
            <a:ext cx="305409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模拟电信号</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4133087" y="2624328"/>
            <a:ext cx="603505"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8" name="Rectangle 7"/>
          <p:cNvSpPr>
            <a:spLocks noGrp="1"/>
          </p:cNvSpPr>
          <p:nvPr/>
        </p:nvSpPr>
        <p:spPr>
          <a:xfrm>
            <a:off x="4828032" y="2286000"/>
            <a:ext cx="2743200"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4901184" y="2404872"/>
            <a:ext cx="2596896"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声卡：ADC</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a:off x="7708392" y="2624328"/>
            <a:ext cx="612648"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1" name="Rectangle 10"/>
          <p:cNvSpPr>
            <a:spLocks noGrp="1"/>
          </p:cNvSpPr>
          <p:nvPr/>
        </p:nvSpPr>
        <p:spPr>
          <a:xfrm>
            <a:off x="8412480" y="2286000"/>
            <a:ext cx="274320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TextBox 11"/>
          <p:cNvSpPr>
            <a:spLocks noGrp="1"/>
          </p:cNvSpPr>
          <p:nvPr/>
        </p:nvSpPr>
        <p:spPr>
          <a:xfrm>
            <a:off x="8485632" y="2404872"/>
            <a:ext cx="2596896"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数字音频</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TextBox 12"/>
          <p:cNvSpPr>
            <a:spLocks noGrp="1"/>
          </p:cNvSpPr>
          <p:nvPr/>
        </p:nvSpPr>
        <p:spPr>
          <a:xfrm>
            <a:off x="960120" y="4069080"/>
            <a:ext cx="10515600" cy="381000"/>
          </a:xfrm>
          <a:prstGeom prst="rect">
            <a:avLst/>
          </a:prstGeom>
          <a:noFill/>
        </p:spPr>
        <p:txBody>
          <a:bodyPr wrap="square" lIns="0" tIns="0" rIns="0" bIns="0" anchor="t">
            <a:noAutofit/>
          </a:bodyPr>
          <a:lstStyle>
            <a:defPPr algn="l">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ADC = 模数转换（模拟信号 → 数字信号）</a:t>
            </a:r>
            <a:endPar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extBox 13"/>
          <p:cNvSpPr>
            <a:spLocks noGrp="1"/>
          </p:cNvSpPr>
          <p:nvPr/>
        </p:nvSpPr>
        <p:spPr>
          <a:xfrm>
            <a:off x="777240" y="5184648"/>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声卡负责完成这一转换；它不等于“存储音频文件”。</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把录音过程和播放过程接起来</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640080" y="2039112"/>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713231" y="2157984"/>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声音</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2999232" y="2368296"/>
            <a:ext cx="448055"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8" name="Rectangle 7"/>
          <p:cNvSpPr>
            <a:spLocks noGrp="1"/>
          </p:cNvSpPr>
          <p:nvPr/>
        </p:nvSpPr>
        <p:spPr>
          <a:xfrm>
            <a:off x="3493008" y="2039112"/>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3566160" y="2157984"/>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麦克风</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a:off x="5852160" y="2368296"/>
            <a:ext cx="44805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1" name="Rectangle 10"/>
          <p:cNvSpPr>
            <a:spLocks noGrp="1"/>
          </p:cNvSpPr>
          <p:nvPr/>
        </p:nvSpPr>
        <p:spPr>
          <a:xfrm>
            <a:off x="6345936" y="2039112"/>
            <a:ext cx="2304288"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TextBox 11"/>
          <p:cNvSpPr>
            <a:spLocks noGrp="1"/>
          </p:cNvSpPr>
          <p:nvPr/>
        </p:nvSpPr>
        <p:spPr>
          <a:xfrm>
            <a:off x="6419088" y="2157984"/>
            <a:ext cx="2157984"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ADC</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Connector 12"/>
          <p:cNvSpPr>
            <a:spLocks noGrp="1"/>
          </p:cNvSpPr>
          <p:nvPr/>
        </p:nvSpPr>
        <p:spPr>
          <a:xfrm>
            <a:off x="8705088" y="2368296"/>
            <a:ext cx="44805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4" name="Rectangle 13"/>
          <p:cNvSpPr>
            <a:spLocks noGrp="1"/>
          </p:cNvSpPr>
          <p:nvPr/>
        </p:nvSpPr>
        <p:spPr>
          <a:xfrm>
            <a:off x="9198863" y="2039112"/>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TextBox 14"/>
          <p:cNvSpPr>
            <a:spLocks noGrp="1"/>
          </p:cNvSpPr>
          <p:nvPr/>
        </p:nvSpPr>
        <p:spPr>
          <a:xfrm>
            <a:off x="9272015" y="2157984"/>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数字文件</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Rectangle 15"/>
          <p:cNvSpPr>
            <a:spLocks noGrp="1"/>
          </p:cNvSpPr>
          <p:nvPr/>
        </p:nvSpPr>
        <p:spPr>
          <a:xfrm>
            <a:off x="640080" y="3886200"/>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TextBox 16"/>
          <p:cNvSpPr>
            <a:spLocks noGrp="1"/>
          </p:cNvSpPr>
          <p:nvPr/>
        </p:nvSpPr>
        <p:spPr>
          <a:xfrm>
            <a:off x="713231" y="4005072"/>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数字文件</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Connector 17"/>
          <p:cNvSpPr>
            <a:spLocks noGrp="1"/>
          </p:cNvSpPr>
          <p:nvPr/>
        </p:nvSpPr>
        <p:spPr>
          <a:xfrm>
            <a:off x="2999232" y="4215384"/>
            <a:ext cx="448055"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9" name="Rectangle 18"/>
          <p:cNvSpPr>
            <a:spLocks noGrp="1"/>
          </p:cNvSpPr>
          <p:nvPr/>
        </p:nvSpPr>
        <p:spPr>
          <a:xfrm>
            <a:off x="3493008" y="3886200"/>
            <a:ext cx="2304288"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0" name="TextBox 19"/>
          <p:cNvSpPr>
            <a:spLocks noGrp="1"/>
          </p:cNvSpPr>
          <p:nvPr/>
        </p:nvSpPr>
        <p:spPr>
          <a:xfrm>
            <a:off x="3566160" y="4005072"/>
            <a:ext cx="2157984"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DAC</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1" name="Connector 20"/>
          <p:cNvSpPr>
            <a:spLocks noGrp="1"/>
          </p:cNvSpPr>
          <p:nvPr/>
        </p:nvSpPr>
        <p:spPr>
          <a:xfrm>
            <a:off x="5852160" y="4215384"/>
            <a:ext cx="44805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22" name="Rectangle 21"/>
          <p:cNvSpPr>
            <a:spLocks noGrp="1"/>
          </p:cNvSpPr>
          <p:nvPr/>
        </p:nvSpPr>
        <p:spPr>
          <a:xfrm>
            <a:off x="6345936" y="3886200"/>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 name="TextBox 22"/>
          <p:cNvSpPr>
            <a:spLocks noGrp="1"/>
          </p:cNvSpPr>
          <p:nvPr/>
        </p:nvSpPr>
        <p:spPr>
          <a:xfrm>
            <a:off x="6419088" y="4005072"/>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扬声器</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4" name="Connector 23"/>
          <p:cNvSpPr>
            <a:spLocks noGrp="1"/>
          </p:cNvSpPr>
          <p:nvPr/>
        </p:nvSpPr>
        <p:spPr>
          <a:xfrm>
            <a:off x="8705088" y="4215384"/>
            <a:ext cx="44805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25" name="Rectangle 24"/>
          <p:cNvSpPr>
            <a:spLocks noGrp="1"/>
          </p:cNvSpPr>
          <p:nvPr/>
        </p:nvSpPr>
        <p:spPr>
          <a:xfrm>
            <a:off x="9198863" y="3886200"/>
            <a:ext cx="2304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6" name="TextBox 25"/>
          <p:cNvSpPr>
            <a:spLocks noGrp="1"/>
          </p:cNvSpPr>
          <p:nvPr/>
        </p:nvSpPr>
        <p:spPr>
          <a:xfrm>
            <a:off x="9272015" y="4005072"/>
            <a:ext cx="2157984"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声音</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7" name="TextBox 26"/>
          <p:cNvSpPr>
            <a:spLocks noGrp="1"/>
          </p:cNvSpPr>
          <p:nvPr/>
        </p:nvSpPr>
        <p:spPr>
          <a:xfrm>
            <a:off x="768096" y="1517904"/>
            <a:ext cx="3931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录音（ADC）</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8" name="TextBox 27"/>
          <p:cNvSpPr>
            <a:spLocks noGrp="1"/>
          </p:cNvSpPr>
          <p:nvPr/>
        </p:nvSpPr>
        <p:spPr>
          <a:xfrm>
            <a:off x="768096" y="3364992"/>
            <a:ext cx="3931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播放（DAC）</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波形图是声音的传播路线吗？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1005840" y="3479291"/>
            <a:ext cx="9875520"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1097280" y="2075688"/>
            <a:ext cx="0" cy="2816352"/>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9" name="TextBox 8"/>
          <p:cNvSpPr>
            <a:spLocks noGrp="1"/>
          </p:cNvSpPr>
          <p:nvPr/>
        </p:nvSpPr>
        <p:spPr>
          <a:xfrm>
            <a:off x="1005840" y="1536192"/>
            <a:ext cx="98755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同一个位置，信号随时间变化</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flipV="1">
            <a:off x="1143000" y="3306954"/>
            <a:ext cx="91440" cy="13576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234440" y="3173553"/>
            <a:ext cx="91440" cy="13340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325880" y="3044831"/>
            <a:ext cx="91440" cy="12872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417320" y="2923027"/>
            <a:ext cx="91440" cy="12180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508760" y="2810256"/>
            <a:ext cx="91440" cy="11277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600200" y="2708482"/>
            <a:ext cx="91440" cy="1017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691640" y="2619471"/>
            <a:ext cx="91440" cy="8901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783080" y="2544773"/>
            <a:ext cx="91439" cy="7469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874519" y="2485684"/>
            <a:ext cx="91441" cy="5908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1965960" y="2443234"/>
            <a:ext cx="91440" cy="4245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57400" y="2418160"/>
            <a:ext cx="91440" cy="250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148840" y="2410897"/>
            <a:ext cx="91440" cy="726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a:off x="2240280" y="2410897"/>
            <a:ext cx="91440" cy="1067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2331720" y="2421572"/>
            <a:ext cx="91440" cy="2842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423160" y="2449999"/>
            <a:ext cx="91440" cy="4568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514600" y="2495684"/>
            <a:ext cx="91440" cy="6214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606040" y="2557833"/>
            <a:ext cx="91440" cy="7753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697480" y="2635366"/>
            <a:ext cx="91440" cy="9156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788920" y="2726934"/>
            <a:ext cx="91440" cy="10401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880360" y="2830946"/>
            <a:ext cx="91440" cy="11464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2971800" y="2945594"/>
            <a:ext cx="91440" cy="12328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063240" y="3068883"/>
            <a:ext cx="91440" cy="12978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154680" y="3198672"/>
            <a:ext cx="91440" cy="13403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246120" y="3332703"/>
            <a:ext cx="91440" cy="13594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337560" y="3468647"/>
            <a:ext cx="91440" cy="13549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429000" y="3604140"/>
            <a:ext cx="91440" cy="13268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520440" y="3736827"/>
            <a:ext cx="91440" cy="1275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611880" y="3864401"/>
            <a:ext cx="91440" cy="12024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703320" y="3984643"/>
            <a:ext cx="91440" cy="11082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794760" y="4095465"/>
            <a:ext cx="91440" cy="994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886200" y="4194939"/>
            <a:ext cx="91439" cy="8639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3977639" y="4281335"/>
            <a:ext cx="91441" cy="7181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069080" y="4353152"/>
            <a:ext cx="91440" cy="5599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160520" y="4409142"/>
            <a:ext cx="91440" cy="391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251960" y="4448330"/>
            <a:ext cx="91440" cy="2170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343400" y="4470036"/>
            <a:ext cx="91440" cy="384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flipV="1">
            <a:off x="4434840" y="4459803"/>
            <a:ext cx="91440" cy="1408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flipV="1">
            <a:off x="4526280" y="4428041"/>
            <a:ext cx="91440" cy="3176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flipV="1">
            <a:off x="4617720" y="4379149"/>
            <a:ext cx="91440" cy="4889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flipV="1">
            <a:off x="4709160" y="4313978"/>
            <a:ext cx="91440" cy="6517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flipV="1">
            <a:off x="4800600" y="4233660"/>
            <a:ext cx="91440" cy="8031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4892040" y="4139592"/>
            <a:ext cx="91440" cy="9406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4983480" y="4033408"/>
            <a:ext cx="91440" cy="10618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074920" y="3916956"/>
            <a:ext cx="91440" cy="11645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166360" y="3792259"/>
            <a:ext cx="91440" cy="12469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257800" y="3661486"/>
            <a:ext cx="91440" cy="13077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349240" y="3526909"/>
            <a:ext cx="91439" cy="13457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440679" y="3390868"/>
            <a:ext cx="91441" cy="13604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532120" y="3255729"/>
            <a:ext cx="91440" cy="13513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623560" y="3123841"/>
            <a:ext cx="91440" cy="1318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715000" y="2997496"/>
            <a:ext cx="91440" cy="12634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806440" y="2878891"/>
            <a:ext cx="91440" cy="11860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5897880" y="2770088"/>
            <a:ext cx="91440" cy="10880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5989320" y="2672979"/>
            <a:ext cx="91440" cy="9710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080760" y="2589251"/>
            <a:ext cx="91440" cy="8372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172200" y="2520360"/>
            <a:ext cx="91440" cy="6889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263640" y="2467505"/>
            <a:ext cx="91439" cy="5285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355079" y="2431603"/>
            <a:ext cx="91441" cy="3590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446520" y="2413279"/>
            <a:ext cx="91439" cy="1832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537959" y="2412851"/>
            <a:ext cx="91441" cy="42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a:off x="6629400" y="2412851"/>
            <a:ext cx="91440" cy="1747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a:off x="6720840" y="2430328"/>
            <a:ext cx="91440" cy="3507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a:off x="6812280" y="2465404"/>
            <a:ext cx="91440" cy="5206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a:off x="6903720" y="2517471"/>
            <a:ext cx="91440" cy="6815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a:off x="6995160" y="2585623"/>
            <a:ext cx="91440" cy="8305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a:off x="7086600" y="2668676"/>
            <a:ext cx="91440" cy="9650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a:off x="7178040" y="2765184"/>
            <a:ext cx="91440" cy="1082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a:off x="7269480" y="2873472"/>
            <a:ext cx="91440" cy="11818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7360920" y="2991656"/>
            <a:ext cx="91439" cy="12602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452359" y="3117681"/>
            <a:ext cx="91441" cy="13167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543800" y="3249357"/>
            <a:ext cx="91440" cy="13503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7635240" y="3384394"/>
            <a:ext cx="91439" cy="13605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7726679" y="3520445"/>
            <a:ext cx="91441" cy="13470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7818120" y="3655145"/>
            <a:ext cx="91440" cy="13100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7909560" y="3786152"/>
            <a:ext cx="91440" cy="12503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8001000" y="3911188"/>
            <a:ext cx="91440" cy="11689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092440" y="4028081"/>
            <a:ext cx="91439" cy="10671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183879" y="4134796"/>
            <a:ext cx="91441" cy="9468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275320" y="4229480"/>
            <a:ext cx="91440" cy="8100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366760" y="4310487"/>
            <a:ext cx="91440" cy="6592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458200" y="4376407"/>
            <a:ext cx="91440" cy="496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8549640" y="4426095"/>
            <a:ext cx="91440" cy="3259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641080" y="4458688"/>
            <a:ext cx="91439" cy="1493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flipV="1">
            <a:off x="8732519" y="4470626"/>
            <a:ext cx="91441" cy="299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flipV="1">
            <a:off x="8823960" y="4449764"/>
            <a:ext cx="91440" cy="2086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flipV="1">
            <a:off x="8915400" y="4411395"/>
            <a:ext cx="91440" cy="3836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flipV="1">
            <a:off x="9006840" y="4356186"/>
            <a:ext cx="91440" cy="5520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flipV="1">
            <a:off x="9098280" y="4285096"/>
            <a:ext cx="91440" cy="7109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flipV="1">
            <a:off x="9189720" y="4199362"/>
            <a:ext cx="91440" cy="8573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flipV="1">
            <a:off x="9281160" y="4100474"/>
            <a:ext cx="91440" cy="988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flipV="1">
            <a:off x="9372600" y="3990150"/>
            <a:ext cx="91440" cy="11032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flipV="1">
            <a:off x="9464040" y="3870310"/>
            <a:ext cx="91440" cy="11984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flipV="1">
            <a:off x="9555480" y="3743036"/>
            <a:ext cx="91440" cy="1272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flipV="1">
            <a:off x="9646920" y="3610541"/>
            <a:ext cx="91439" cy="13249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flipV="1">
            <a:off x="9738359" y="3475128"/>
            <a:ext cx="91441" cy="13541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flipV="1">
            <a:off x="9829800" y="3339152"/>
            <a:ext cx="91440" cy="13597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9921240" y="3204977"/>
            <a:ext cx="91440" cy="13417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10012680" y="3074934"/>
            <a:ext cx="91440" cy="13004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104120" y="2951285"/>
            <a:ext cx="91440" cy="12364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9" name="Connector 108"/>
          <p:cNvSpPr>
            <a:spLocks noGrp="1"/>
          </p:cNvSpPr>
          <p:nvPr/>
        </p:nvSpPr>
        <p:spPr>
          <a:xfrm flipV="1">
            <a:off x="10195560" y="2836180"/>
            <a:ext cx="91440" cy="11510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10" name="TextBox 10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波形不是声音在空间里走过的弯曲路线。</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1104900" y="2028825"/>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10382250" y="4924425"/>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1" name="Rectangle 110"/>
          <p:cNvSpPr/>
          <p:nvPr/>
        </p:nvSpPr>
        <p:spPr>
          <a:xfrm>
            <a:off x="713232" y="1435608"/>
            <a:ext cx="10789920" cy="3840480"/>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2" name="融合证据图_v8.4.10_原页8" descr="image.png"/>
          <p:cNvPicPr>
            <a:picLocks noChangeAspect="1"/>
          </p:cNvPicPr>
          <p:nvPr/>
        </p:nvPicPr>
        <p:blipFill>
          <a:blip r:embed="rId1"/>
          <a:stretch>
            <a:fillRect/>
          </a:stretch>
        </p:blipFill>
        <p:spPr>
          <a:xfrm>
            <a:off x="1847088" y="1920240"/>
            <a:ext cx="8412480" cy="3611880"/>
          </a:xfrm>
          <a:prstGeom prst="rect">
            <a:avLst/>
          </a:prstGeom>
        </p:spPr>
      </p:pic>
      <p:sp>
        <p:nvSpPr>
          <p:cNvPr id="113" name="TextBox 112"/>
          <p:cNvSpPr txBox="1"/>
          <p:nvPr/>
        </p:nvSpPr>
        <p:spPr>
          <a:xfrm>
            <a:off x="1069848" y="1645920"/>
            <a:ext cx="5029200" cy="329184"/>
          </a:xfrm>
          <a:prstGeom prst="rect">
            <a:avLst/>
          </a:prstGeom>
          <a:noFill/>
        </p:spPr>
        <p:txBody>
          <a:bodyPr wrap="square" lIns="0" tIns="0" rIns="0" bIns="0" anchor="ctr">
            <a:spAutoFit/>
          </a:bodyPr>
          <a:lstStyle/>
          <a:p>
            <a:pPr>
              <a:spcAft>
                <a:spcPts val="200"/>
              </a:spcAft>
              <a:defRPr sz="1700" b="1">
                <a:solidFill>
                  <a:srgbClr val="8C64E1"/>
                </a:solidFill>
                <a:latin typeface="Alibaba PuHuiTi 3.0 115 Black" panose="00020600040101010101" charset="-122"/>
              </a:defRPr>
            </a:pPr>
            <a:r>
              <a:t>空间里：扰动传到记录点</a:t>
            </a:r>
          </a:p>
        </p:txBody>
      </p:sp>
      <p:sp>
        <p:nvSpPr>
          <p:cNvPr id="114" name="TextBox 113"/>
          <p:cNvSpPr txBox="1"/>
          <p:nvPr/>
        </p:nvSpPr>
        <p:spPr>
          <a:xfrm>
            <a:off x="6437376" y="1645920"/>
            <a:ext cx="5120640" cy="329184"/>
          </a:xfrm>
          <a:prstGeom prst="rect">
            <a:avLst/>
          </a:prstGeom>
          <a:noFill/>
        </p:spPr>
        <p:txBody>
          <a:bodyPr wrap="square" lIns="0" tIns="0" rIns="0" bIns="0" anchor="ctr">
            <a:spAutoFit/>
          </a:bodyPr>
          <a:lstStyle/>
          <a:p>
            <a:pPr>
              <a:spcAft>
                <a:spcPts val="200"/>
              </a:spcAft>
              <a:defRPr sz="1700" b="1">
                <a:solidFill>
                  <a:srgbClr val="8C64E1"/>
                </a:solidFill>
                <a:latin typeface="Alibaba PuHuiTi 3.0 115 Black" panose="00020600040101010101" charset="-122"/>
              </a:defRPr>
            </a:pPr>
            <a:r>
              <a:t>固定位置：信号随时间变化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演示A：红线向右，表示什么？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86384" y="1517904"/>
            <a:ext cx="10698480" cy="381000"/>
          </a:xfrm>
          <a:prstGeom prst="rect">
            <a:avLst/>
          </a:prstGeom>
          <a:noFill/>
        </p:spPr>
        <p:txBody>
          <a:bodyPr wrap="square" lIns="0" tIns="0" rIns="0" bIns="0" anchor="t">
            <a:noAutofit/>
          </a:bodyPr>
          <a:lstStyle>
            <a:defPPr algn="l">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先预测：红线移动时，波形图的横轴表示什么？</a:t>
            </a:r>
            <a:endPar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Connector 5"/>
          <p:cNvSpPr>
            <a:spLocks noGrp="1"/>
          </p:cNvSpPr>
          <p:nvPr/>
        </p:nvSpPr>
        <p:spPr>
          <a:xfrm>
            <a:off x="941832" y="3712464"/>
            <a:ext cx="10222992" cy="0"/>
          </a:xfrm>
          <a:prstGeom prst="line">
            <a:avLst/>
          </a:prstGeom>
          <a:ln w="17780">
            <a:solidFill>
              <a:srgbClr val="808080"/>
            </a:solidFill>
          </a:ln>
        </p:spPr>
        <p:style>
          <a:lnRef idx="2">
            <a:schemeClr val="accent1"/>
          </a:lnRef>
          <a:fillRef idx="0">
            <a:schemeClr val="accent1"/>
          </a:fillRef>
          <a:effectRef idx="0">
            <a:srgbClr val="FFFFFF"/>
          </a:effectRef>
          <a:fontRef idx="minor">
            <a:schemeClr val="tx1"/>
          </a:fontRef>
        </p:style>
      </p:sp>
      <p:sp>
        <p:nvSpPr>
          <p:cNvPr id="7" name="Connector 6"/>
          <p:cNvSpPr>
            <a:spLocks noGrp="1"/>
          </p:cNvSpPr>
          <p:nvPr/>
        </p:nvSpPr>
        <p:spPr>
          <a:xfrm>
            <a:off x="987552" y="2523744"/>
            <a:ext cx="0" cy="2423160"/>
          </a:xfrm>
          <a:prstGeom prst="line">
            <a:avLst/>
          </a:prstGeom>
          <a:ln w="13970">
            <a:solidFill>
              <a:srgbClr val="808080"/>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flipV="1">
            <a:off x="1060704" y="3458819"/>
            <a:ext cx="98572" cy="1063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159276" y="3356450"/>
            <a:ext cx="98572" cy="1023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257848" y="3259695"/>
            <a:ext cx="98572" cy="967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356420" y="3170080"/>
            <a:ext cx="98573" cy="89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454993" y="3089019"/>
            <a:ext cx="98572" cy="8106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553565" y="3017791"/>
            <a:ext cx="98572" cy="7122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652137" y="2957517"/>
            <a:ext cx="98573" cy="6027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750710" y="2909150"/>
            <a:ext cx="98572" cy="483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849282" y="2873451"/>
            <a:ext cx="98572" cy="356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1947854" y="2850984"/>
            <a:ext cx="98573" cy="224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46427" y="2842104"/>
            <a:ext cx="98572" cy="888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a:off x="2144999" y="2842104"/>
            <a:ext cx="98572" cy="484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a:off x="2243571" y="2846949"/>
            <a:ext cx="98573" cy="1849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2342144" y="2865444"/>
            <a:ext cx="98572" cy="3185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440716" y="2897297"/>
            <a:ext cx="98572" cy="4470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539288" y="2942005"/>
            <a:ext cx="98573" cy="5685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637861" y="2998864"/>
            <a:ext cx="98572" cy="6811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736433" y="3066977"/>
            <a:ext cx="98572" cy="7829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835005" y="3145270"/>
            <a:ext cx="98573" cy="8723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933578" y="3232508"/>
            <a:ext cx="98572" cy="9480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3032150" y="3327315"/>
            <a:ext cx="98572" cy="1008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130722" y="3428196"/>
            <a:ext cx="98573" cy="10536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229295" y="3533560"/>
            <a:ext cx="98572" cy="10818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327867" y="3641745"/>
            <a:ext cx="98572" cy="10930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426439" y="3751046"/>
            <a:ext cx="98573" cy="1086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525012" y="3859738"/>
            <a:ext cx="98572" cy="1063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623584" y="3966108"/>
            <a:ext cx="98572" cy="1023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722156" y="4068477"/>
            <a:ext cx="98572" cy="967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820728" y="4165232"/>
            <a:ext cx="98573" cy="89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919301" y="4254847"/>
            <a:ext cx="98572" cy="8106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4017873" y="4335908"/>
            <a:ext cx="98572" cy="7122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4116445" y="4407136"/>
            <a:ext cx="98573" cy="6027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215018" y="4467410"/>
            <a:ext cx="98572" cy="483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313590" y="4515777"/>
            <a:ext cx="98572" cy="356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412162" y="4551476"/>
            <a:ext cx="98573" cy="224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510735" y="4573943"/>
            <a:ext cx="98572" cy="888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flipV="1">
            <a:off x="4609307" y="4577978"/>
            <a:ext cx="98572" cy="484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flipV="1">
            <a:off x="4707879" y="4559483"/>
            <a:ext cx="98573" cy="1849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flipV="1">
            <a:off x="4806452" y="4527630"/>
            <a:ext cx="98572" cy="3185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flipV="1">
            <a:off x="4905024" y="4482922"/>
            <a:ext cx="98572" cy="4470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flipV="1">
            <a:off x="5003596" y="4426063"/>
            <a:ext cx="98573" cy="5685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5102169" y="4357950"/>
            <a:ext cx="98572" cy="6811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5200741" y="4279657"/>
            <a:ext cx="98572" cy="7829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299313" y="4192419"/>
            <a:ext cx="98573" cy="8723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397886" y="4097612"/>
            <a:ext cx="98572" cy="9480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496458" y="3996731"/>
            <a:ext cx="98572" cy="1008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595030" y="3891367"/>
            <a:ext cx="98573" cy="10536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693603" y="3783182"/>
            <a:ext cx="98572" cy="10818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792175" y="3673881"/>
            <a:ext cx="98572" cy="10930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890747" y="3565189"/>
            <a:ext cx="98573" cy="1086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989320" y="3458819"/>
            <a:ext cx="98572" cy="1063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6087892" y="3356450"/>
            <a:ext cx="98572" cy="1023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6186464" y="3259695"/>
            <a:ext cx="98572" cy="967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6285036" y="3170080"/>
            <a:ext cx="98573" cy="89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383609" y="3089019"/>
            <a:ext cx="98572" cy="8106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482181" y="3017791"/>
            <a:ext cx="98572" cy="7122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580753" y="2957517"/>
            <a:ext cx="98573" cy="6027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679326" y="2909150"/>
            <a:ext cx="98572" cy="483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777898" y="2873451"/>
            <a:ext cx="98572" cy="356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876470" y="2850984"/>
            <a:ext cx="98573" cy="224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975043" y="2842104"/>
            <a:ext cx="98572" cy="888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a:off x="7073615" y="2842104"/>
            <a:ext cx="98572" cy="484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a:off x="7172187" y="2846949"/>
            <a:ext cx="98573" cy="1849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a:off x="7270760" y="2865444"/>
            <a:ext cx="98572" cy="3185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a:off x="7369332" y="2897297"/>
            <a:ext cx="98572" cy="4470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a:off x="7467904" y="2942005"/>
            <a:ext cx="98573" cy="5685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a:off x="7566477" y="2998864"/>
            <a:ext cx="98572" cy="6811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a:off x="7665049" y="3066977"/>
            <a:ext cx="98572" cy="7829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7763621" y="3145270"/>
            <a:ext cx="98573" cy="8723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862194" y="3232508"/>
            <a:ext cx="98572" cy="9480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960766" y="3327315"/>
            <a:ext cx="98572" cy="1008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8059338" y="3428196"/>
            <a:ext cx="98573" cy="10536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8157911" y="3533560"/>
            <a:ext cx="98572" cy="10818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8256483" y="3641745"/>
            <a:ext cx="98572" cy="10930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8355055" y="3751046"/>
            <a:ext cx="98573" cy="1086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8453628" y="3859738"/>
            <a:ext cx="98572" cy="1063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552200" y="3966108"/>
            <a:ext cx="98572" cy="1023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650772" y="4068477"/>
            <a:ext cx="98572" cy="967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749344" y="4165232"/>
            <a:ext cx="98573" cy="89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847917" y="4254847"/>
            <a:ext cx="98572" cy="8106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946489" y="4335908"/>
            <a:ext cx="98572" cy="7122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9045061" y="4407136"/>
            <a:ext cx="98573" cy="6027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9143634" y="4467410"/>
            <a:ext cx="98572" cy="483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9242206" y="4515777"/>
            <a:ext cx="98572" cy="356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9340778" y="4551476"/>
            <a:ext cx="98573" cy="224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9439351" y="4573943"/>
            <a:ext cx="98572" cy="888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flipV="1">
            <a:off x="9537923" y="4577978"/>
            <a:ext cx="98572" cy="484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flipV="1">
            <a:off x="9636495" y="4559483"/>
            <a:ext cx="98573" cy="1849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flipV="1">
            <a:off x="9735068" y="4527630"/>
            <a:ext cx="98572" cy="3185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flipV="1">
            <a:off x="9833640" y="4482922"/>
            <a:ext cx="98572" cy="4470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flipV="1">
            <a:off x="9932212" y="4426063"/>
            <a:ext cx="98573" cy="5685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flipV="1">
            <a:off x="10030785" y="4357950"/>
            <a:ext cx="98572" cy="6811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flipV="1">
            <a:off x="10129357" y="4279657"/>
            <a:ext cx="98572" cy="7829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flipV="1">
            <a:off x="10227929" y="4192419"/>
            <a:ext cx="98573" cy="8723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flipV="1">
            <a:off x="10326502" y="4097612"/>
            <a:ext cx="98572" cy="9480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flipV="1">
            <a:off x="10425074" y="3996731"/>
            <a:ext cx="98572" cy="1008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10523646" y="3891367"/>
            <a:ext cx="98573" cy="10536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10622219" y="3783182"/>
            <a:ext cx="98572" cy="10818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720791" y="3673881"/>
            <a:ext cx="98572" cy="10930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9" name="Connector 108"/>
          <p:cNvSpPr>
            <a:spLocks noGrp="1"/>
          </p:cNvSpPr>
          <p:nvPr/>
        </p:nvSpPr>
        <p:spPr>
          <a:xfrm flipV="1">
            <a:off x="10819363" y="3565189"/>
            <a:ext cx="98573" cy="1086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0" name="Connector 109"/>
          <p:cNvSpPr>
            <a:spLocks noGrp="1"/>
          </p:cNvSpPr>
          <p:nvPr/>
        </p:nvSpPr>
        <p:spPr>
          <a:xfrm>
            <a:off x="6638544" y="2587752"/>
            <a:ext cx="0" cy="2286000"/>
          </a:xfrm>
          <a:prstGeom prst="line">
            <a:avLst/>
          </a:prstGeom>
          <a:ln w="40640">
            <a:solidFill>
              <a:srgbClr val="FF0000"/>
            </a:solidFill>
          </a:ln>
        </p:spPr>
        <p:style>
          <a:lnRef idx="2">
            <a:schemeClr val="accent1"/>
          </a:lnRef>
          <a:fillRef idx="0">
            <a:schemeClr val="accent1"/>
          </a:fillRef>
          <a:effectRef idx="0">
            <a:srgbClr val="FFFFFF"/>
          </a:effectRef>
          <a:fontRef idx="minor">
            <a:schemeClr val="tx1"/>
          </a:fontRef>
        </p:style>
      </p:sp>
      <p:sp>
        <p:nvSpPr>
          <p:cNvPr id="111" name="TextBox 110"/>
          <p:cNvSpPr>
            <a:spLocks noGrp="1"/>
          </p:cNvSpPr>
          <p:nvPr/>
        </p:nvSpPr>
        <p:spPr>
          <a:xfrm>
            <a:off x="914400" y="5330952"/>
            <a:ext cx="5760720" cy="350520"/>
          </a:xfrm>
          <a:prstGeom prst="rect">
            <a:avLst/>
          </a:prstGeom>
          <a:noFill/>
        </p:spPr>
        <p:txBody>
          <a:bodyPr wrap="square" lIns="0" tIns="0" rIns="0" bIns="0" anchor="t">
            <a:noAutofit/>
          </a:bodyPr>
          <a:lstStyle>
            <a:defPPr algn="l">
              <a:defRPr sz="2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在教室浏览器播放</a:t>
            </a:r>
            <a:endParaRPr sz="23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941832" y="2093976"/>
            <a:ext cx="1143000" cy="25908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10334625" y="4981575"/>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只能留下有限个数字，该在哪些时刻取样？</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914400" y="3483864"/>
            <a:ext cx="10058400"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1005840" y="1956816"/>
            <a:ext cx="0" cy="3063239"/>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1033271" y="1645920"/>
            <a:ext cx="12801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10058400" y="3602736"/>
            <a:ext cx="8229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onnector 8"/>
          <p:cNvSpPr>
            <a:spLocks noGrp="1"/>
          </p:cNvSpPr>
          <p:nvPr/>
        </p:nvSpPr>
        <p:spPr>
          <a:xfrm flipV="1">
            <a:off x="1069848" y="3279400"/>
            <a:ext cx="93543" cy="12673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flipV="1">
            <a:off x="1163391" y="3154370"/>
            <a:ext cx="93543" cy="12503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256934" y="3032739"/>
            <a:ext cx="93543" cy="12163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350477" y="2916147"/>
            <a:ext cx="93543" cy="11659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444020" y="2806168"/>
            <a:ext cx="93543" cy="10997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537563" y="2704286"/>
            <a:ext cx="93543" cy="10188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631106" y="2611877"/>
            <a:ext cx="93543" cy="9240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724649" y="2530188"/>
            <a:ext cx="93543" cy="8168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818192" y="2460320"/>
            <a:ext cx="93544" cy="6986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911736" y="2403218"/>
            <a:ext cx="93543" cy="5710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2005279" y="2359651"/>
            <a:ext cx="93543" cy="4356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98822" y="2330208"/>
            <a:ext cx="93543" cy="2944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192365" y="2315286"/>
            <a:ext cx="93543" cy="1492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2285908" y="2315087"/>
            <a:ext cx="93543" cy="19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2379451" y="2315087"/>
            <a:ext cx="93543" cy="1452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472994" y="2329613"/>
            <a:ext cx="93543" cy="2905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566537" y="2358667"/>
            <a:ext cx="93544" cy="4319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660081" y="2401859"/>
            <a:ext cx="93543" cy="5674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753624" y="2458605"/>
            <a:ext cx="93543" cy="6953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847167" y="2528139"/>
            <a:ext cx="93543" cy="8138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940710" y="2609523"/>
            <a:ext cx="93543" cy="9213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3034253" y="2701658"/>
            <a:ext cx="93543" cy="10164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127796" y="2803301"/>
            <a:ext cx="93543" cy="10977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221339" y="2913080"/>
            <a:ext cx="93543" cy="11643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314882" y="3029514"/>
            <a:ext cx="93544" cy="12151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408426" y="3151031"/>
            <a:ext cx="93543" cy="12495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501969" y="3275990"/>
            <a:ext cx="93543" cy="12671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595512" y="3402706"/>
            <a:ext cx="93543" cy="12676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689055" y="3529469"/>
            <a:ext cx="93543" cy="12509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782598" y="3654567"/>
            <a:ext cx="93543" cy="12174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876141" y="3776312"/>
            <a:ext cx="93543" cy="11674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969684" y="3893061"/>
            <a:ext cx="93543" cy="11017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4063227" y="4003239"/>
            <a:ext cx="93543" cy="10211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156770" y="4105358"/>
            <a:ext cx="93544" cy="9268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250314" y="4198040"/>
            <a:ext cx="93543" cy="8199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343857" y="4280034"/>
            <a:ext cx="93543" cy="7020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437400" y="4350235"/>
            <a:ext cx="93543" cy="5745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4530943" y="4407693"/>
            <a:ext cx="93543" cy="4394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4624486" y="4451634"/>
            <a:ext cx="93543" cy="2983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a:off x="4718029" y="4481465"/>
            <a:ext cx="93543" cy="1531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a:off x="4811572" y="4496783"/>
            <a:ext cx="93543" cy="59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flipV="1">
            <a:off x="4905115" y="4483251"/>
            <a:ext cx="93544" cy="1413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4998659" y="4454585"/>
            <a:ext cx="93543" cy="2866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5092202" y="4411768"/>
            <a:ext cx="93543" cy="4281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185745" y="4355380"/>
            <a:ext cx="93543" cy="563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279288" y="4286180"/>
            <a:ext cx="93543" cy="6920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372831" y="4205102"/>
            <a:ext cx="93543" cy="8107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466374" y="4113242"/>
            <a:ext cx="93543" cy="9186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559917" y="4011838"/>
            <a:ext cx="93543" cy="10140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653460" y="3902260"/>
            <a:ext cx="93544" cy="10957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747004" y="3785986"/>
            <a:ext cx="93543" cy="11627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840547" y="3664585"/>
            <a:ext cx="93543" cy="12140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934090" y="3539697"/>
            <a:ext cx="93543" cy="1248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6027633" y="3413006"/>
            <a:ext cx="93543" cy="12669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6121176" y="3286222"/>
            <a:ext cx="93543" cy="12678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214719" y="3161057"/>
            <a:ext cx="93543" cy="12516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308262" y="3039199"/>
            <a:ext cx="93543" cy="12185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401805" y="2922294"/>
            <a:ext cx="93543" cy="11690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495348" y="2811918"/>
            <a:ext cx="93544" cy="11037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588892" y="2709563"/>
            <a:ext cx="93543" cy="10235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682435" y="2616609"/>
            <a:ext cx="93543" cy="9295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775978" y="2534310"/>
            <a:ext cx="93543" cy="8229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6869521" y="2463778"/>
            <a:ext cx="93543" cy="7053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6963064" y="2405964"/>
            <a:ext cx="93543" cy="5781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flipV="1">
            <a:off x="7056607" y="2361649"/>
            <a:ext cx="93543" cy="4431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flipV="1">
            <a:off x="7150150" y="2331431"/>
            <a:ext cx="93543" cy="3021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flipV="1">
            <a:off x="7243693" y="2315717"/>
            <a:ext cx="93544" cy="1571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flipV="1">
            <a:off x="7337237" y="2314720"/>
            <a:ext cx="93543" cy="99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a:off x="7430780" y="2314720"/>
            <a:ext cx="93543" cy="1373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7524323" y="2328453"/>
            <a:ext cx="93543" cy="2827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617866" y="2356731"/>
            <a:ext cx="93543" cy="4244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711409" y="2399172"/>
            <a:ext cx="93543" cy="56031"/>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7804952" y="2455203"/>
            <a:ext cx="93543" cy="6886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7898495" y="2524068"/>
            <a:ext cx="93543" cy="8077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7992038" y="2604838"/>
            <a:ext cx="93544" cy="9158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8085582" y="2696423"/>
            <a:ext cx="93543" cy="10116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8179125" y="2797586"/>
            <a:ext cx="93543" cy="10937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272668" y="2906962"/>
            <a:ext cx="93543" cy="11611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366211" y="3023076"/>
            <a:ext cx="93543" cy="12128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459754" y="3144359"/>
            <a:ext cx="93543" cy="12481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553297" y="3269175"/>
            <a:ext cx="93543" cy="12666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646840" y="3395840"/>
            <a:ext cx="93543" cy="126804"/>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8740383" y="3522644"/>
            <a:ext cx="93543" cy="12523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833926" y="3647876"/>
            <a:ext cx="93544" cy="12196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8927470" y="3769845"/>
            <a:ext cx="93543" cy="11706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9021013" y="3886905"/>
            <a:ext cx="93543" cy="11057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9114556" y="3997477"/>
            <a:ext cx="93543" cy="10259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9208099" y="4100067"/>
            <a:ext cx="93543" cy="9322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9301642" y="4193293"/>
            <a:ext cx="93543" cy="82602"/>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a:off x="9395185" y="4275895"/>
            <a:ext cx="93543" cy="7086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a:off x="9488728" y="4346758"/>
            <a:ext cx="93543" cy="5816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a:off x="9582271" y="4404926"/>
            <a:ext cx="93544" cy="44689"/>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a:off x="9675815" y="4449615"/>
            <a:ext cx="93543" cy="3060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a:off x="9769358" y="4480220"/>
            <a:ext cx="93543" cy="1611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a:off x="9862901" y="4496330"/>
            <a:ext cx="93543" cy="1396"/>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flipV="1">
            <a:off x="9956444" y="4484389"/>
            <a:ext cx="93543" cy="13337"/>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flipV="1">
            <a:off x="10049987" y="4456501"/>
            <a:ext cx="93543" cy="27888"/>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10143530" y="4414436"/>
            <a:ext cx="93543" cy="42065"/>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10237073" y="4358763"/>
            <a:ext cx="93543" cy="55673"/>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330616" y="4290233"/>
            <a:ext cx="93544" cy="68530"/>
          </a:xfrm>
          <a:prstGeom prst="line">
            <a:avLst/>
          </a:prstGeom>
          <a:ln w="33020">
            <a:solidFill>
              <a:srgbClr val="8C64E1"/>
            </a:solidFill>
          </a:ln>
        </p:spPr>
        <p:style>
          <a:lnRef idx="2">
            <a:schemeClr val="accent1"/>
          </a:lnRef>
          <a:fillRef idx="0">
            <a:schemeClr val="accent1"/>
          </a:fillRef>
          <a:effectRef idx="0">
            <a:srgbClr val="FFFFFF"/>
          </a:effectRef>
          <a:fontRef idx="minor">
            <a:schemeClr val="tx1"/>
          </a:fontRef>
        </p:style>
      </p:sp>
      <p:sp>
        <p:nvSpPr>
          <p:cNvPr id="109" name="TextBox 108"/>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请提出一个规则：怎样公平地选出一组采样时刻？</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每隔相同时间，取一个幅度值</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914400" y="3483864"/>
            <a:ext cx="10058400"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1005840" y="1956816"/>
            <a:ext cx="0" cy="3063239"/>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1033271" y="1645920"/>
            <a:ext cx="12801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10058400" y="3602736"/>
            <a:ext cx="8229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onnector 8"/>
          <p:cNvSpPr>
            <a:spLocks noGrp="1"/>
          </p:cNvSpPr>
          <p:nvPr/>
        </p:nvSpPr>
        <p:spPr>
          <a:xfrm flipV="1">
            <a:off x="1069848" y="3279400"/>
            <a:ext cx="93543" cy="12673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flipV="1">
            <a:off x="1163391" y="3154370"/>
            <a:ext cx="93543" cy="1250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256934" y="3032739"/>
            <a:ext cx="93543" cy="12163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350477" y="2916147"/>
            <a:ext cx="93543" cy="11659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444020" y="2806168"/>
            <a:ext cx="93543" cy="10997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537563" y="2704286"/>
            <a:ext cx="93543" cy="10188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631106" y="2611877"/>
            <a:ext cx="93543" cy="9240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724649" y="2530188"/>
            <a:ext cx="93543" cy="8168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818192" y="2460320"/>
            <a:ext cx="93544" cy="6986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911736" y="2403218"/>
            <a:ext cx="93543" cy="5710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2005279" y="2359651"/>
            <a:ext cx="93543" cy="4356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98822" y="2330208"/>
            <a:ext cx="93543" cy="2944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192365" y="2315286"/>
            <a:ext cx="93543" cy="1492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2285908" y="2315087"/>
            <a:ext cx="93543" cy="19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2379451" y="2315087"/>
            <a:ext cx="93543" cy="1452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472994" y="2329613"/>
            <a:ext cx="93543" cy="2905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566537" y="2358667"/>
            <a:ext cx="93544" cy="4319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660081" y="2401859"/>
            <a:ext cx="93543" cy="5674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753624" y="2458605"/>
            <a:ext cx="93543" cy="6953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847167" y="2528139"/>
            <a:ext cx="93543" cy="8138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940710" y="2609523"/>
            <a:ext cx="93543" cy="9213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3034253" y="2701658"/>
            <a:ext cx="93543" cy="10164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127796" y="2803301"/>
            <a:ext cx="93543" cy="10977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221339" y="2913080"/>
            <a:ext cx="93543" cy="11643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314882" y="3029514"/>
            <a:ext cx="93544" cy="12151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408426" y="3151031"/>
            <a:ext cx="93543" cy="12495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501969" y="3275990"/>
            <a:ext cx="93543" cy="12671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595512" y="3402706"/>
            <a:ext cx="93543" cy="12676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689055" y="3529469"/>
            <a:ext cx="93543" cy="12509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782598" y="3654567"/>
            <a:ext cx="93543" cy="12174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876141" y="3776312"/>
            <a:ext cx="93543" cy="11674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969684" y="3893061"/>
            <a:ext cx="93543" cy="11017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4063227" y="4003239"/>
            <a:ext cx="93543" cy="10211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156770" y="4105358"/>
            <a:ext cx="93544" cy="9268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250314" y="4198040"/>
            <a:ext cx="93543" cy="8199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343857" y="4280034"/>
            <a:ext cx="93543" cy="7020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437400" y="4350235"/>
            <a:ext cx="93543" cy="5745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4530943" y="4407693"/>
            <a:ext cx="93543" cy="4394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4624486" y="4451634"/>
            <a:ext cx="93543" cy="2983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a:off x="4718029" y="4481465"/>
            <a:ext cx="93543" cy="1531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a:off x="4811572" y="4496783"/>
            <a:ext cx="93543" cy="59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flipV="1">
            <a:off x="4905115" y="4483251"/>
            <a:ext cx="93544" cy="141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4998659" y="4454585"/>
            <a:ext cx="93543" cy="2866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5092202" y="4411768"/>
            <a:ext cx="93543" cy="4281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185745" y="4355380"/>
            <a:ext cx="93543" cy="5638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279288" y="4286180"/>
            <a:ext cx="93543" cy="6920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372831" y="4205102"/>
            <a:ext cx="93543" cy="8107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466374" y="4113242"/>
            <a:ext cx="93543" cy="9186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559917" y="4011838"/>
            <a:ext cx="93543" cy="10140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653460" y="3902260"/>
            <a:ext cx="93544" cy="10957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747004" y="3785986"/>
            <a:ext cx="93543" cy="11627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840547" y="3664585"/>
            <a:ext cx="93543" cy="12140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934090" y="3539697"/>
            <a:ext cx="93543" cy="12488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6027633" y="3413006"/>
            <a:ext cx="93543" cy="12669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6121176" y="3286222"/>
            <a:ext cx="93543" cy="12678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214719" y="3161057"/>
            <a:ext cx="93543" cy="12516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308262" y="3039199"/>
            <a:ext cx="93543" cy="12185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401805" y="2922294"/>
            <a:ext cx="93543" cy="11690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495348" y="2811918"/>
            <a:ext cx="93544" cy="11037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588892" y="2709563"/>
            <a:ext cx="93543" cy="10235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682435" y="2616609"/>
            <a:ext cx="93543" cy="9295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775978" y="2534310"/>
            <a:ext cx="93543" cy="8229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6869521" y="2463778"/>
            <a:ext cx="93543" cy="7053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6963064" y="2405964"/>
            <a:ext cx="93543" cy="5781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flipV="1">
            <a:off x="7056607" y="2361649"/>
            <a:ext cx="93543" cy="4431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flipV="1">
            <a:off x="7150150" y="2331431"/>
            <a:ext cx="93543" cy="3021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flipV="1">
            <a:off x="7243693" y="2315717"/>
            <a:ext cx="93544" cy="1571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flipV="1">
            <a:off x="7337237" y="2314720"/>
            <a:ext cx="93543" cy="99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a:off x="7430780" y="2314720"/>
            <a:ext cx="93543" cy="1373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7524323" y="2328453"/>
            <a:ext cx="93543" cy="2827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617866" y="2356731"/>
            <a:ext cx="93543" cy="4244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711409" y="2399172"/>
            <a:ext cx="93543" cy="5603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7804952" y="2455203"/>
            <a:ext cx="93543" cy="6886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7898495" y="2524068"/>
            <a:ext cx="93543" cy="8077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7992038" y="2604838"/>
            <a:ext cx="93544" cy="9158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8085582" y="2696423"/>
            <a:ext cx="93543" cy="10116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8179125" y="2797586"/>
            <a:ext cx="93543" cy="10937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272668" y="2906962"/>
            <a:ext cx="93543" cy="11611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366211" y="3023076"/>
            <a:ext cx="93543" cy="12128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459754" y="3144359"/>
            <a:ext cx="93543" cy="12481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553297" y="3269175"/>
            <a:ext cx="93543" cy="12666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646840" y="3395840"/>
            <a:ext cx="93543" cy="12680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8740383" y="3522644"/>
            <a:ext cx="93543" cy="12523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833926" y="3647876"/>
            <a:ext cx="93544" cy="12196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8927470" y="3769845"/>
            <a:ext cx="93543" cy="11706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9021013" y="3886905"/>
            <a:ext cx="93543" cy="11057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9114556" y="3997477"/>
            <a:ext cx="93543" cy="10259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9208099" y="4100067"/>
            <a:ext cx="93543" cy="9322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9301642" y="4193293"/>
            <a:ext cx="93543" cy="8260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a:off x="9395185" y="4275895"/>
            <a:ext cx="93543" cy="7086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a:off x="9488728" y="4346758"/>
            <a:ext cx="93543" cy="5816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a:off x="9582271" y="4404926"/>
            <a:ext cx="93544" cy="4468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a:off x="9675815" y="4449615"/>
            <a:ext cx="93543" cy="3060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a:off x="9769358" y="4480220"/>
            <a:ext cx="93543" cy="1611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a:off x="9862901" y="4496330"/>
            <a:ext cx="93543" cy="139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flipV="1">
            <a:off x="9956444" y="4484389"/>
            <a:ext cx="93543" cy="1333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flipV="1">
            <a:off x="10049987" y="4456501"/>
            <a:ext cx="93543" cy="2788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10143530" y="4414436"/>
            <a:ext cx="93543" cy="4206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10237073" y="4358763"/>
            <a:ext cx="93543" cy="5567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330616" y="4290233"/>
            <a:ext cx="93544" cy="685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9" name="Connector 108"/>
          <p:cNvSpPr>
            <a:spLocks noGrp="1"/>
          </p:cNvSpPr>
          <p:nvPr/>
        </p:nvSpPr>
        <p:spPr>
          <a:xfrm>
            <a:off x="1069848"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10" name="Oval 109"/>
          <p:cNvSpPr>
            <a:spLocks noGrp="1"/>
          </p:cNvSpPr>
          <p:nvPr/>
        </p:nvSpPr>
        <p:spPr>
          <a:xfrm>
            <a:off x="1008583" y="334487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1" name="Connector 110"/>
          <p:cNvSpPr>
            <a:spLocks noGrp="1"/>
          </p:cNvSpPr>
          <p:nvPr/>
        </p:nvSpPr>
        <p:spPr>
          <a:xfrm>
            <a:off x="1849374"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12" name="Oval 111"/>
          <p:cNvSpPr>
            <a:spLocks noGrp="1"/>
          </p:cNvSpPr>
          <p:nvPr/>
        </p:nvSpPr>
        <p:spPr>
          <a:xfrm>
            <a:off x="1788109" y="2444270"/>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3" name="Connector 112"/>
          <p:cNvSpPr>
            <a:spLocks noGrp="1"/>
          </p:cNvSpPr>
          <p:nvPr/>
        </p:nvSpPr>
        <p:spPr>
          <a:xfrm>
            <a:off x="2628900"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14" name="Oval 113"/>
          <p:cNvSpPr>
            <a:spLocks noGrp="1"/>
          </p:cNvSpPr>
          <p:nvPr/>
        </p:nvSpPr>
        <p:spPr>
          <a:xfrm>
            <a:off x="2567635" y="232465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5" name="Connector 114"/>
          <p:cNvSpPr>
            <a:spLocks noGrp="1"/>
          </p:cNvSpPr>
          <p:nvPr/>
        </p:nvSpPr>
        <p:spPr>
          <a:xfrm>
            <a:off x="3408426"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16" name="Oval 115"/>
          <p:cNvSpPr>
            <a:spLocks noGrp="1"/>
          </p:cNvSpPr>
          <p:nvPr/>
        </p:nvSpPr>
        <p:spPr>
          <a:xfrm>
            <a:off x="3347161" y="3089766"/>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7" name="Connector 116"/>
          <p:cNvSpPr>
            <a:spLocks noGrp="1"/>
          </p:cNvSpPr>
          <p:nvPr/>
        </p:nvSpPr>
        <p:spPr>
          <a:xfrm>
            <a:off x="4187952"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18" name="Oval 117"/>
          <p:cNvSpPr>
            <a:spLocks noGrp="1"/>
          </p:cNvSpPr>
          <p:nvPr/>
        </p:nvSpPr>
        <p:spPr>
          <a:xfrm>
            <a:off x="4126687" y="4076100"/>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9" name="Connector 118"/>
          <p:cNvSpPr>
            <a:spLocks noGrp="1"/>
          </p:cNvSpPr>
          <p:nvPr/>
        </p:nvSpPr>
        <p:spPr>
          <a:xfrm>
            <a:off x="4967478"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0" name="Oval 119"/>
          <p:cNvSpPr>
            <a:spLocks noGrp="1"/>
          </p:cNvSpPr>
          <p:nvPr/>
        </p:nvSpPr>
        <p:spPr>
          <a:xfrm>
            <a:off x="4906213" y="442832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1" name="Connector 120"/>
          <p:cNvSpPr>
            <a:spLocks noGrp="1"/>
          </p:cNvSpPr>
          <p:nvPr/>
        </p:nvSpPr>
        <p:spPr>
          <a:xfrm>
            <a:off x="5747004"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2" name="Oval 121"/>
          <p:cNvSpPr>
            <a:spLocks noGrp="1"/>
          </p:cNvSpPr>
          <p:nvPr/>
        </p:nvSpPr>
        <p:spPr>
          <a:xfrm>
            <a:off x="5685739" y="384099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3" name="Connector 122"/>
          <p:cNvSpPr>
            <a:spLocks noGrp="1"/>
          </p:cNvSpPr>
          <p:nvPr/>
        </p:nvSpPr>
        <p:spPr>
          <a:xfrm>
            <a:off x="6526530"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4" name="Oval 123"/>
          <p:cNvSpPr>
            <a:spLocks noGrp="1"/>
          </p:cNvSpPr>
          <p:nvPr/>
        </p:nvSpPr>
        <p:spPr>
          <a:xfrm>
            <a:off x="6465265" y="2823436"/>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5" name="Connector 124"/>
          <p:cNvSpPr>
            <a:spLocks noGrp="1"/>
          </p:cNvSpPr>
          <p:nvPr/>
        </p:nvSpPr>
        <p:spPr>
          <a:xfrm>
            <a:off x="7306056"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6" name="Oval 125"/>
          <p:cNvSpPr>
            <a:spLocks noGrp="1"/>
          </p:cNvSpPr>
          <p:nvPr/>
        </p:nvSpPr>
        <p:spPr>
          <a:xfrm>
            <a:off x="7244791" y="2258062"/>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7" name="Connector 126"/>
          <p:cNvSpPr>
            <a:spLocks noGrp="1"/>
          </p:cNvSpPr>
          <p:nvPr/>
        </p:nvSpPr>
        <p:spPr>
          <a:xfrm>
            <a:off x="8085582"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8" name="Oval 127"/>
          <p:cNvSpPr>
            <a:spLocks noGrp="1"/>
          </p:cNvSpPr>
          <p:nvPr/>
        </p:nvSpPr>
        <p:spPr>
          <a:xfrm>
            <a:off x="8024317" y="263515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9" name="Connector 128"/>
          <p:cNvSpPr>
            <a:spLocks noGrp="1"/>
          </p:cNvSpPr>
          <p:nvPr/>
        </p:nvSpPr>
        <p:spPr>
          <a:xfrm>
            <a:off x="8865108"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30" name="Oval 129"/>
          <p:cNvSpPr>
            <a:spLocks noGrp="1"/>
          </p:cNvSpPr>
          <p:nvPr/>
        </p:nvSpPr>
        <p:spPr>
          <a:xfrm>
            <a:off x="8803843" y="3627712"/>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1" name="Connector 130"/>
          <p:cNvSpPr>
            <a:spLocks noGrp="1"/>
          </p:cNvSpPr>
          <p:nvPr/>
        </p:nvSpPr>
        <p:spPr>
          <a:xfrm>
            <a:off x="9644634" y="1956815"/>
            <a:ext cx="0" cy="2916937"/>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32" name="Oval 131"/>
          <p:cNvSpPr>
            <a:spLocks noGrp="1"/>
          </p:cNvSpPr>
          <p:nvPr/>
        </p:nvSpPr>
        <p:spPr>
          <a:xfrm>
            <a:off x="9583369" y="437499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3" name="TextBox 132"/>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采样：在固定时刻取样，让时间上的记录变得离散。</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演示B：放大后，能看见采样点吗？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04672" y="1499616"/>
            <a:ext cx="10424160" cy="365760"/>
          </a:xfrm>
          <a:prstGeom prst="rect">
            <a:avLst/>
          </a:prstGeom>
          <a:noFill/>
        </p:spPr>
        <p:txBody>
          <a:bodyPr wrap="squar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同一段录音：左边看整体，右边看极短的一段。</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41248" y="2194560"/>
            <a:ext cx="4937760" cy="365760"/>
          </a:xfrm>
          <a:prstGeom prst="rect">
            <a:avLst/>
          </a:prstGeom>
          <a:noFill/>
        </p:spPr>
        <p:txBody>
          <a:bodyPr wrap="squar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整段波形</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46520" y="2194560"/>
            <a:ext cx="5120640" cy="365760"/>
          </a:xfrm>
          <a:prstGeom prst="rect">
            <a:avLst/>
          </a:prstGeom>
          <a:noFill/>
        </p:spPr>
        <p:txBody>
          <a:bodyPr wrap="squar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局部放大：真实样本点</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Connector 7"/>
          <p:cNvSpPr>
            <a:spLocks noGrp="1"/>
          </p:cNvSpPr>
          <p:nvPr/>
        </p:nvSpPr>
        <p:spPr>
          <a:xfrm>
            <a:off x="804672" y="3794760"/>
            <a:ext cx="5029200" cy="0"/>
          </a:xfrm>
          <a:prstGeom prst="line">
            <a:avLst/>
          </a:prstGeom>
          <a:ln w="17780">
            <a:solidFill>
              <a:srgbClr val="808080"/>
            </a:solidFill>
          </a:ln>
        </p:spPr>
        <p:style>
          <a:lnRef idx="2">
            <a:schemeClr val="accent1"/>
          </a:lnRef>
          <a:fillRef idx="0">
            <a:schemeClr val="accent1"/>
          </a:fillRef>
          <a:effectRef idx="0">
            <a:srgbClr val="FFFFFF"/>
          </a:effectRef>
          <a:fontRef idx="minor">
            <a:schemeClr val="tx1"/>
          </a:fontRef>
        </p:style>
      </p:sp>
      <p:sp>
        <p:nvSpPr>
          <p:cNvPr id="9" name="Connector 8"/>
          <p:cNvSpPr>
            <a:spLocks noGrp="1"/>
          </p:cNvSpPr>
          <p:nvPr/>
        </p:nvSpPr>
        <p:spPr>
          <a:xfrm>
            <a:off x="850392" y="2889504"/>
            <a:ext cx="0" cy="1856232"/>
          </a:xfrm>
          <a:prstGeom prst="line">
            <a:avLst/>
          </a:prstGeom>
          <a:ln w="1397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923544" y="3597279"/>
            <a:ext cx="46634" cy="828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970178" y="3517577"/>
            <a:ext cx="46634" cy="7970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016812" y="3442247"/>
            <a:ext cx="46635" cy="753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063447" y="3372475"/>
            <a:ext cx="46634" cy="69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110081" y="3309364"/>
            <a:ext cx="46635" cy="6311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156716" y="3253907"/>
            <a:ext cx="46634" cy="554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203350" y="3206980"/>
            <a:ext cx="46634" cy="4692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1249984" y="3169323"/>
            <a:ext cx="46635" cy="376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1296619" y="3141529"/>
            <a:ext cx="46634" cy="2779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1343253" y="3124037"/>
            <a:ext cx="46635" cy="174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1389888" y="3117122"/>
            <a:ext cx="46634" cy="69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1436522" y="3117122"/>
            <a:ext cx="46634" cy="3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1483156" y="3120894"/>
            <a:ext cx="46635" cy="144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1529791" y="3135294"/>
            <a:ext cx="46634" cy="248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1576425" y="3160094"/>
            <a:ext cx="46635" cy="3480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1623060" y="3194903"/>
            <a:ext cx="46634" cy="442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1669694" y="3239172"/>
            <a:ext cx="46634" cy="5303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1716328" y="3292203"/>
            <a:ext cx="46635" cy="6095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1762963" y="3353159"/>
            <a:ext cx="46634" cy="6792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1809597" y="3421080"/>
            <a:ext cx="46635" cy="738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1856232" y="3494894"/>
            <a:ext cx="46634" cy="7854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1902866" y="3573437"/>
            <a:ext cx="46634" cy="820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1949500" y="3655470"/>
            <a:ext cx="46635" cy="842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1996135" y="3739700"/>
            <a:ext cx="46634" cy="850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2042769" y="3824799"/>
            <a:ext cx="46635" cy="8462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2089404" y="3909423"/>
            <a:ext cx="46634" cy="828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2136038" y="3992240"/>
            <a:ext cx="46634" cy="7970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2182672" y="4071942"/>
            <a:ext cx="46635" cy="753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2229307" y="4147272"/>
            <a:ext cx="46634" cy="69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2275941" y="4217044"/>
            <a:ext cx="46635" cy="6311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2322576" y="4280155"/>
            <a:ext cx="46634" cy="554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2369210" y="4335612"/>
            <a:ext cx="46634" cy="4692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2415844" y="4382539"/>
            <a:ext cx="46635" cy="376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2462479" y="4420196"/>
            <a:ext cx="46634" cy="2779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2509113" y="4447990"/>
            <a:ext cx="46635" cy="174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2555748" y="4465482"/>
            <a:ext cx="46634" cy="69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flipV="1">
            <a:off x="2602382" y="4468625"/>
            <a:ext cx="46634" cy="3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flipV="1">
            <a:off x="2649016" y="4454225"/>
            <a:ext cx="46635" cy="144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flipV="1">
            <a:off x="2695651" y="4429425"/>
            <a:ext cx="46634" cy="248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2742285" y="4394616"/>
            <a:ext cx="46635" cy="3480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2788920" y="4350347"/>
            <a:ext cx="46634" cy="442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2835554" y="4297316"/>
            <a:ext cx="46634" cy="5303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2882188" y="4236360"/>
            <a:ext cx="46635" cy="6095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2928823" y="4168439"/>
            <a:ext cx="46634" cy="6792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2975457" y="4094625"/>
            <a:ext cx="46634" cy="738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3022091" y="4016082"/>
            <a:ext cx="46635" cy="7854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3068726" y="3934049"/>
            <a:ext cx="46634" cy="820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3115360" y="3849819"/>
            <a:ext cx="46635" cy="842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3161995" y="3764720"/>
            <a:ext cx="46634" cy="850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3208629" y="3680096"/>
            <a:ext cx="46634" cy="8462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3255263" y="3597279"/>
            <a:ext cx="46635" cy="828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3301898" y="3517577"/>
            <a:ext cx="46634" cy="7970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3348532" y="3442247"/>
            <a:ext cx="46635" cy="753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3395167" y="3372475"/>
            <a:ext cx="46634" cy="69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3441801" y="3309364"/>
            <a:ext cx="46635" cy="6311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3488436" y="3253907"/>
            <a:ext cx="46634" cy="554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3535070" y="3206980"/>
            <a:ext cx="46634" cy="4692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3581704" y="3169323"/>
            <a:ext cx="46635" cy="376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3628339" y="3141529"/>
            <a:ext cx="46634" cy="2779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3674973" y="3124037"/>
            <a:ext cx="46634" cy="174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3721607" y="3117122"/>
            <a:ext cx="46635" cy="69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a:off x="3768242" y="3117122"/>
            <a:ext cx="46634" cy="3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a:off x="3814876" y="3120894"/>
            <a:ext cx="46635" cy="144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a:off x="3861511" y="3135294"/>
            <a:ext cx="46634" cy="248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a:off x="3908145" y="3160094"/>
            <a:ext cx="46635" cy="3480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a:off x="3954780" y="3194903"/>
            <a:ext cx="46634" cy="442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4001414" y="3239172"/>
            <a:ext cx="46634" cy="5303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4048048" y="3292203"/>
            <a:ext cx="46635" cy="6095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4094683" y="3353159"/>
            <a:ext cx="46634" cy="6792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4141317" y="3421080"/>
            <a:ext cx="46634" cy="738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4187951" y="3494894"/>
            <a:ext cx="46635" cy="7854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4234586" y="3573437"/>
            <a:ext cx="46634" cy="820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4281220" y="3655470"/>
            <a:ext cx="46635" cy="842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4327855" y="3739700"/>
            <a:ext cx="46634" cy="850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4374489" y="3824799"/>
            <a:ext cx="46635" cy="8462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4421124" y="3909423"/>
            <a:ext cx="46634" cy="828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4467758" y="3992240"/>
            <a:ext cx="46634" cy="7970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4514392" y="4071942"/>
            <a:ext cx="46635" cy="753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4561027" y="4147272"/>
            <a:ext cx="46634" cy="69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4607661" y="4217044"/>
            <a:ext cx="46635" cy="6311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4654296" y="4280155"/>
            <a:ext cx="46634" cy="554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4700930" y="4335612"/>
            <a:ext cx="46634" cy="4692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4747564" y="4382539"/>
            <a:ext cx="46635" cy="3765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4794199" y="4420196"/>
            <a:ext cx="46634" cy="2779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4840833" y="4447990"/>
            <a:ext cx="46635" cy="174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4887468" y="4465482"/>
            <a:ext cx="46634" cy="69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flipV="1">
            <a:off x="4934102" y="4468625"/>
            <a:ext cx="46634" cy="37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flipV="1">
            <a:off x="4980736" y="4454225"/>
            <a:ext cx="46635" cy="144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flipV="1">
            <a:off x="5027371" y="4429425"/>
            <a:ext cx="46634" cy="2480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flipV="1">
            <a:off x="5074005" y="4394616"/>
            <a:ext cx="46635" cy="3480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flipV="1">
            <a:off x="5120640" y="4350347"/>
            <a:ext cx="46634" cy="442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flipV="1">
            <a:off x="5167274" y="4297316"/>
            <a:ext cx="46634" cy="5303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flipV="1">
            <a:off x="5213908" y="4236360"/>
            <a:ext cx="46635" cy="6095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flipV="1">
            <a:off x="5260543" y="4168439"/>
            <a:ext cx="46634" cy="6792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5307177" y="4094625"/>
            <a:ext cx="46635" cy="738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5353812" y="4016082"/>
            <a:ext cx="46634" cy="7854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5400446" y="3934049"/>
            <a:ext cx="46634" cy="820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09" name="Connector 108"/>
          <p:cNvSpPr>
            <a:spLocks noGrp="1"/>
          </p:cNvSpPr>
          <p:nvPr/>
        </p:nvSpPr>
        <p:spPr>
          <a:xfrm flipV="1">
            <a:off x="5447080" y="3849819"/>
            <a:ext cx="46635" cy="842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0" name="Connector 109"/>
          <p:cNvSpPr>
            <a:spLocks noGrp="1"/>
          </p:cNvSpPr>
          <p:nvPr/>
        </p:nvSpPr>
        <p:spPr>
          <a:xfrm flipV="1">
            <a:off x="5493715" y="3764720"/>
            <a:ext cx="46634" cy="850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1" name="Connector 110"/>
          <p:cNvSpPr>
            <a:spLocks noGrp="1"/>
          </p:cNvSpPr>
          <p:nvPr/>
        </p:nvSpPr>
        <p:spPr>
          <a:xfrm flipV="1">
            <a:off x="5540349" y="3680096"/>
            <a:ext cx="46634" cy="8462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2" name="Connector 111"/>
          <p:cNvSpPr>
            <a:spLocks noGrp="1"/>
          </p:cNvSpPr>
          <p:nvPr/>
        </p:nvSpPr>
        <p:spPr>
          <a:xfrm>
            <a:off x="6446520" y="3794760"/>
            <a:ext cx="4892039" cy="0"/>
          </a:xfrm>
          <a:prstGeom prst="line">
            <a:avLst/>
          </a:prstGeom>
          <a:ln w="17780">
            <a:solidFill>
              <a:srgbClr val="808080"/>
            </a:solidFill>
          </a:ln>
        </p:spPr>
        <p:style>
          <a:lnRef idx="2">
            <a:schemeClr val="accent1"/>
          </a:lnRef>
          <a:fillRef idx="0">
            <a:schemeClr val="accent1"/>
          </a:fillRef>
          <a:effectRef idx="0">
            <a:srgbClr val="FFFFFF"/>
          </a:effectRef>
          <a:fontRef idx="minor">
            <a:schemeClr val="tx1"/>
          </a:fontRef>
        </p:style>
      </p:sp>
      <p:sp>
        <p:nvSpPr>
          <p:cNvPr id="113" name="Connector 112"/>
          <p:cNvSpPr>
            <a:spLocks noGrp="1"/>
          </p:cNvSpPr>
          <p:nvPr/>
        </p:nvSpPr>
        <p:spPr>
          <a:xfrm>
            <a:off x="6492240" y="2889504"/>
            <a:ext cx="0" cy="1856232"/>
          </a:xfrm>
          <a:prstGeom prst="line">
            <a:avLst/>
          </a:prstGeom>
          <a:ln w="13970">
            <a:solidFill>
              <a:srgbClr val="808080"/>
            </a:solidFill>
          </a:ln>
        </p:spPr>
        <p:style>
          <a:lnRef idx="2">
            <a:schemeClr val="accent1"/>
          </a:lnRef>
          <a:fillRef idx="0">
            <a:schemeClr val="accent1"/>
          </a:fillRef>
          <a:effectRef idx="0">
            <a:srgbClr val="FFFFFF"/>
          </a:effectRef>
          <a:fontRef idx="minor">
            <a:schemeClr val="tx1"/>
          </a:fontRef>
        </p:style>
      </p:sp>
      <p:sp>
        <p:nvSpPr>
          <p:cNvPr id="116" name="Connector 115"/>
          <p:cNvSpPr>
            <a:spLocks noGrp="1"/>
          </p:cNvSpPr>
          <p:nvPr/>
        </p:nvSpPr>
        <p:spPr>
          <a:xfrm flipV="1">
            <a:off x="6565392" y="3621856"/>
            <a:ext cx="45262" cy="5824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7" name="Connector 116"/>
          <p:cNvSpPr>
            <a:spLocks noGrp="1"/>
          </p:cNvSpPr>
          <p:nvPr/>
        </p:nvSpPr>
        <p:spPr>
          <a:xfrm flipV="1">
            <a:off x="6610654" y="3564953"/>
            <a:ext cx="45263" cy="5690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8" name="Connector 117"/>
          <p:cNvSpPr>
            <a:spLocks noGrp="1"/>
          </p:cNvSpPr>
          <p:nvPr/>
        </p:nvSpPr>
        <p:spPr>
          <a:xfrm flipV="1">
            <a:off x="6655917" y="3509827"/>
            <a:ext cx="45263" cy="5512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19" name="Connector 118"/>
          <p:cNvSpPr>
            <a:spLocks noGrp="1"/>
          </p:cNvSpPr>
          <p:nvPr/>
        </p:nvSpPr>
        <p:spPr>
          <a:xfrm flipV="1">
            <a:off x="6701180" y="3456905"/>
            <a:ext cx="45263" cy="5292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0" name="Connector 119"/>
          <p:cNvSpPr>
            <a:spLocks noGrp="1"/>
          </p:cNvSpPr>
          <p:nvPr/>
        </p:nvSpPr>
        <p:spPr>
          <a:xfrm flipV="1">
            <a:off x="6746443" y="3406595"/>
            <a:ext cx="45262" cy="5031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1" name="Connector 120"/>
          <p:cNvSpPr>
            <a:spLocks noGrp="1"/>
          </p:cNvSpPr>
          <p:nvPr/>
        </p:nvSpPr>
        <p:spPr>
          <a:xfrm flipV="1">
            <a:off x="6791705" y="3359287"/>
            <a:ext cx="45263" cy="4730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2" name="Connector 121"/>
          <p:cNvSpPr>
            <a:spLocks noGrp="1"/>
          </p:cNvSpPr>
          <p:nvPr/>
        </p:nvSpPr>
        <p:spPr>
          <a:xfrm flipV="1">
            <a:off x="6836968" y="3315346"/>
            <a:ext cx="45263" cy="4394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3" name="Connector 122"/>
          <p:cNvSpPr>
            <a:spLocks noGrp="1"/>
          </p:cNvSpPr>
          <p:nvPr/>
        </p:nvSpPr>
        <p:spPr>
          <a:xfrm flipV="1">
            <a:off x="6882231" y="3275112"/>
            <a:ext cx="45263" cy="4023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4" name="Connector 123"/>
          <p:cNvSpPr>
            <a:spLocks noGrp="1"/>
          </p:cNvSpPr>
          <p:nvPr/>
        </p:nvSpPr>
        <p:spPr>
          <a:xfrm flipV="1">
            <a:off x="6927494" y="3238897"/>
            <a:ext cx="45263" cy="362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5" name="Connector 124"/>
          <p:cNvSpPr>
            <a:spLocks noGrp="1"/>
          </p:cNvSpPr>
          <p:nvPr/>
        </p:nvSpPr>
        <p:spPr>
          <a:xfrm flipV="1">
            <a:off x="6972757" y="3206980"/>
            <a:ext cx="45263" cy="319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6" name="Connector 125"/>
          <p:cNvSpPr>
            <a:spLocks noGrp="1"/>
          </p:cNvSpPr>
          <p:nvPr/>
        </p:nvSpPr>
        <p:spPr>
          <a:xfrm flipV="1">
            <a:off x="7018020" y="3179608"/>
            <a:ext cx="45262" cy="273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7" name="Connector 126"/>
          <p:cNvSpPr>
            <a:spLocks noGrp="1"/>
          </p:cNvSpPr>
          <p:nvPr/>
        </p:nvSpPr>
        <p:spPr>
          <a:xfrm flipV="1">
            <a:off x="7063282" y="3156993"/>
            <a:ext cx="45263" cy="22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8" name="Connector 127"/>
          <p:cNvSpPr>
            <a:spLocks noGrp="1"/>
          </p:cNvSpPr>
          <p:nvPr/>
        </p:nvSpPr>
        <p:spPr>
          <a:xfrm flipV="1">
            <a:off x="7108545" y="3139310"/>
            <a:ext cx="45263" cy="1768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29" name="Connector 128"/>
          <p:cNvSpPr>
            <a:spLocks noGrp="1"/>
          </p:cNvSpPr>
          <p:nvPr/>
        </p:nvSpPr>
        <p:spPr>
          <a:xfrm flipV="1">
            <a:off x="7153808" y="3126695"/>
            <a:ext cx="45263" cy="126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0" name="Connector 129"/>
          <p:cNvSpPr>
            <a:spLocks noGrp="1"/>
          </p:cNvSpPr>
          <p:nvPr/>
        </p:nvSpPr>
        <p:spPr>
          <a:xfrm flipV="1">
            <a:off x="7199071" y="3119246"/>
            <a:ext cx="45262" cy="744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1" name="Connector 130"/>
          <p:cNvSpPr>
            <a:spLocks noGrp="1"/>
          </p:cNvSpPr>
          <p:nvPr/>
        </p:nvSpPr>
        <p:spPr>
          <a:xfrm flipV="1">
            <a:off x="7244333" y="3117021"/>
            <a:ext cx="45263" cy="222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2" name="Connector 131"/>
          <p:cNvSpPr>
            <a:spLocks noGrp="1"/>
          </p:cNvSpPr>
          <p:nvPr/>
        </p:nvSpPr>
        <p:spPr>
          <a:xfrm>
            <a:off x="7289596" y="3117021"/>
            <a:ext cx="45263" cy="301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3" name="Connector 132"/>
          <p:cNvSpPr>
            <a:spLocks noGrp="1"/>
          </p:cNvSpPr>
          <p:nvPr/>
        </p:nvSpPr>
        <p:spPr>
          <a:xfrm>
            <a:off x="7334859" y="3120037"/>
            <a:ext cx="45263" cy="82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4" name="Connector 133"/>
          <p:cNvSpPr>
            <a:spLocks noGrp="1"/>
          </p:cNvSpPr>
          <p:nvPr/>
        </p:nvSpPr>
        <p:spPr>
          <a:xfrm>
            <a:off x="7380122" y="3128270"/>
            <a:ext cx="45263" cy="1338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5" name="Connector 134"/>
          <p:cNvSpPr>
            <a:spLocks noGrp="1"/>
          </p:cNvSpPr>
          <p:nvPr/>
        </p:nvSpPr>
        <p:spPr>
          <a:xfrm>
            <a:off x="7425385" y="3141657"/>
            <a:ext cx="45263" cy="1843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6" name="Connector 135"/>
          <p:cNvSpPr>
            <a:spLocks noGrp="1"/>
          </p:cNvSpPr>
          <p:nvPr/>
        </p:nvSpPr>
        <p:spPr>
          <a:xfrm>
            <a:off x="7470648" y="3160094"/>
            <a:ext cx="45262" cy="2334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7" name="Connector 136"/>
          <p:cNvSpPr>
            <a:spLocks noGrp="1"/>
          </p:cNvSpPr>
          <p:nvPr/>
        </p:nvSpPr>
        <p:spPr>
          <a:xfrm>
            <a:off x="7515910" y="3183439"/>
            <a:ext cx="45263" cy="280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8" name="Connector 137"/>
          <p:cNvSpPr>
            <a:spLocks noGrp="1"/>
          </p:cNvSpPr>
          <p:nvPr/>
        </p:nvSpPr>
        <p:spPr>
          <a:xfrm>
            <a:off x="7561173" y="3211511"/>
            <a:ext cx="45263" cy="3258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39" name="Connector 138"/>
          <p:cNvSpPr>
            <a:spLocks noGrp="1"/>
          </p:cNvSpPr>
          <p:nvPr/>
        </p:nvSpPr>
        <p:spPr>
          <a:xfrm>
            <a:off x="7606436" y="3244093"/>
            <a:ext cx="45263" cy="3684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0" name="Connector 139"/>
          <p:cNvSpPr>
            <a:spLocks noGrp="1"/>
          </p:cNvSpPr>
          <p:nvPr/>
        </p:nvSpPr>
        <p:spPr>
          <a:xfrm>
            <a:off x="7651699" y="3280934"/>
            <a:ext cx="45263" cy="4081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1" name="Connector 140"/>
          <p:cNvSpPr>
            <a:spLocks noGrp="1"/>
          </p:cNvSpPr>
          <p:nvPr/>
        </p:nvSpPr>
        <p:spPr>
          <a:xfrm>
            <a:off x="7696962" y="3321747"/>
            <a:ext cx="45262" cy="444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2" name="Connector 141"/>
          <p:cNvSpPr>
            <a:spLocks noGrp="1"/>
          </p:cNvSpPr>
          <p:nvPr/>
        </p:nvSpPr>
        <p:spPr>
          <a:xfrm>
            <a:off x="7742224" y="3366219"/>
            <a:ext cx="45263" cy="4778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3" name="Connector 142"/>
          <p:cNvSpPr>
            <a:spLocks noGrp="1"/>
          </p:cNvSpPr>
          <p:nvPr/>
        </p:nvSpPr>
        <p:spPr>
          <a:xfrm>
            <a:off x="7787487" y="3414004"/>
            <a:ext cx="45263" cy="507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4" name="Connector 143"/>
          <p:cNvSpPr>
            <a:spLocks noGrp="1"/>
          </p:cNvSpPr>
          <p:nvPr/>
        </p:nvSpPr>
        <p:spPr>
          <a:xfrm>
            <a:off x="7832750" y="3464734"/>
            <a:ext cx="45263" cy="532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5" name="Connector 144"/>
          <p:cNvSpPr>
            <a:spLocks noGrp="1"/>
          </p:cNvSpPr>
          <p:nvPr/>
        </p:nvSpPr>
        <p:spPr>
          <a:xfrm>
            <a:off x="7878013" y="3518015"/>
            <a:ext cx="45262" cy="5542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6" name="Connector 145"/>
          <p:cNvSpPr>
            <a:spLocks noGrp="1"/>
          </p:cNvSpPr>
          <p:nvPr/>
        </p:nvSpPr>
        <p:spPr>
          <a:xfrm>
            <a:off x="7923275" y="3573437"/>
            <a:ext cx="45263" cy="571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7" name="Connector 146"/>
          <p:cNvSpPr>
            <a:spLocks noGrp="1"/>
          </p:cNvSpPr>
          <p:nvPr/>
        </p:nvSpPr>
        <p:spPr>
          <a:xfrm>
            <a:off x="7968538" y="3630570"/>
            <a:ext cx="45263" cy="5840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8" name="Connector 147"/>
          <p:cNvSpPr>
            <a:spLocks noGrp="1"/>
          </p:cNvSpPr>
          <p:nvPr/>
        </p:nvSpPr>
        <p:spPr>
          <a:xfrm>
            <a:off x="8013801" y="3688973"/>
            <a:ext cx="45263" cy="5922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49" name="Connector 148"/>
          <p:cNvSpPr>
            <a:spLocks noGrp="1"/>
          </p:cNvSpPr>
          <p:nvPr/>
        </p:nvSpPr>
        <p:spPr>
          <a:xfrm>
            <a:off x="8059064" y="3748193"/>
            <a:ext cx="45263" cy="5958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0" name="Connector 149"/>
          <p:cNvSpPr>
            <a:spLocks noGrp="1"/>
          </p:cNvSpPr>
          <p:nvPr/>
        </p:nvSpPr>
        <p:spPr>
          <a:xfrm>
            <a:off x="8104327" y="3807774"/>
            <a:ext cx="45263" cy="5948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1" name="Connector 150"/>
          <p:cNvSpPr>
            <a:spLocks noGrp="1"/>
          </p:cNvSpPr>
          <p:nvPr/>
        </p:nvSpPr>
        <p:spPr>
          <a:xfrm>
            <a:off x="8149590" y="3867254"/>
            <a:ext cx="45262" cy="5892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2" name="Connector 151"/>
          <p:cNvSpPr>
            <a:spLocks noGrp="1"/>
          </p:cNvSpPr>
          <p:nvPr/>
        </p:nvSpPr>
        <p:spPr>
          <a:xfrm>
            <a:off x="8194852" y="3926174"/>
            <a:ext cx="45263" cy="5790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3" name="Connector 152"/>
          <p:cNvSpPr>
            <a:spLocks noGrp="1"/>
          </p:cNvSpPr>
          <p:nvPr/>
        </p:nvSpPr>
        <p:spPr>
          <a:xfrm>
            <a:off x="8240115" y="3984077"/>
            <a:ext cx="45263" cy="5643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4" name="Connector 153"/>
          <p:cNvSpPr>
            <a:spLocks noGrp="1"/>
          </p:cNvSpPr>
          <p:nvPr/>
        </p:nvSpPr>
        <p:spPr>
          <a:xfrm>
            <a:off x="8285378" y="4040516"/>
            <a:ext cx="45263" cy="5453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5" name="Connector 154"/>
          <p:cNvSpPr>
            <a:spLocks noGrp="1"/>
          </p:cNvSpPr>
          <p:nvPr/>
        </p:nvSpPr>
        <p:spPr>
          <a:xfrm>
            <a:off x="8330641" y="4095055"/>
            <a:ext cx="45263" cy="5221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6" name="Connector 155"/>
          <p:cNvSpPr>
            <a:spLocks noGrp="1"/>
          </p:cNvSpPr>
          <p:nvPr/>
        </p:nvSpPr>
        <p:spPr>
          <a:xfrm>
            <a:off x="8375904" y="4147272"/>
            <a:ext cx="45262" cy="4949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7" name="Connector 156"/>
          <p:cNvSpPr>
            <a:spLocks noGrp="1"/>
          </p:cNvSpPr>
          <p:nvPr/>
        </p:nvSpPr>
        <p:spPr>
          <a:xfrm>
            <a:off x="8421166" y="4196763"/>
            <a:ext cx="45263" cy="4638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8" name="Connector 157"/>
          <p:cNvSpPr>
            <a:spLocks noGrp="1"/>
          </p:cNvSpPr>
          <p:nvPr/>
        </p:nvSpPr>
        <p:spPr>
          <a:xfrm>
            <a:off x="8466429" y="4243146"/>
            <a:ext cx="45263" cy="429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59" name="Connector 158"/>
          <p:cNvSpPr>
            <a:spLocks noGrp="1"/>
          </p:cNvSpPr>
          <p:nvPr/>
        </p:nvSpPr>
        <p:spPr>
          <a:xfrm>
            <a:off x="8511692" y="4286061"/>
            <a:ext cx="45263" cy="3911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0" name="Connector 159"/>
          <p:cNvSpPr>
            <a:spLocks noGrp="1"/>
          </p:cNvSpPr>
          <p:nvPr/>
        </p:nvSpPr>
        <p:spPr>
          <a:xfrm>
            <a:off x="8556955" y="4325177"/>
            <a:ext cx="45262" cy="350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1" name="Connector 160"/>
          <p:cNvSpPr>
            <a:spLocks noGrp="1"/>
          </p:cNvSpPr>
          <p:nvPr/>
        </p:nvSpPr>
        <p:spPr>
          <a:xfrm>
            <a:off x="8602217" y="4360191"/>
            <a:ext cx="45263" cy="3064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2" name="Connector 161"/>
          <p:cNvSpPr>
            <a:spLocks noGrp="1"/>
          </p:cNvSpPr>
          <p:nvPr/>
        </p:nvSpPr>
        <p:spPr>
          <a:xfrm>
            <a:off x="8647480" y="4390833"/>
            <a:ext cx="45263" cy="2603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3" name="Connector 162"/>
          <p:cNvSpPr>
            <a:spLocks noGrp="1"/>
          </p:cNvSpPr>
          <p:nvPr/>
        </p:nvSpPr>
        <p:spPr>
          <a:xfrm>
            <a:off x="8692743" y="4416866"/>
            <a:ext cx="45263" cy="2122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4" name="Connector 163"/>
          <p:cNvSpPr>
            <a:spLocks noGrp="1"/>
          </p:cNvSpPr>
          <p:nvPr/>
        </p:nvSpPr>
        <p:spPr>
          <a:xfrm>
            <a:off x="8738006" y="4438088"/>
            <a:ext cx="45263" cy="1624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5" name="Connector 164"/>
          <p:cNvSpPr>
            <a:spLocks noGrp="1"/>
          </p:cNvSpPr>
          <p:nvPr/>
        </p:nvSpPr>
        <p:spPr>
          <a:xfrm>
            <a:off x="8783269" y="4454335"/>
            <a:ext cx="45263" cy="1114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6" name="Connector 165"/>
          <p:cNvSpPr>
            <a:spLocks noGrp="1"/>
          </p:cNvSpPr>
          <p:nvPr/>
        </p:nvSpPr>
        <p:spPr>
          <a:xfrm>
            <a:off x="8828532" y="4465482"/>
            <a:ext cx="45262" cy="596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7" name="Connector 166"/>
          <p:cNvSpPr>
            <a:spLocks noGrp="1"/>
          </p:cNvSpPr>
          <p:nvPr/>
        </p:nvSpPr>
        <p:spPr>
          <a:xfrm>
            <a:off x="8873794" y="4471443"/>
            <a:ext cx="45263" cy="72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8" name="Connector 167"/>
          <p:cNvSpPr>
            <a:spLocks noGrp="1"/>
          </p:cNvSpPr>
          <p:nvPr/>
        </p:nvSpPr>
        <p:spPr>
          <a:xfrm flipV="1">
            <a:off x="8919057" y="4467660"/>
            <a:ext cx="45263" cy="451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69" name="Connector 168"/>
          <p:cNvSpPr>
            <a:spLocks noGrp="1"/>
          </p:cNvSpPr>
          <p:nvPr/>
        </p:nvSpPr>
        <p:spPr>
          <a:xfrm flipV="1">
            <a:off x="8964320" y="4457946"/>
            <a:ext cx="45263" cy="971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0" name="Connector 169"/>
          <p:cNvSpPr>
            <a:spLocks noGrp="1"/>
          </p:cNvSpPr>
          <p:nvPr/>
        </p:nvSpPr>
        <p:spPr>
          <a:xfrm flipV="1">
            <a:off x="9009583" y="4443104"/>
            <a:ext cx="45263" cy="1484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1" name="Connector 170"/>
          <p:cNvSpPr>
            <a:spLocks noGrp="1"/>
          </p:cNvSpPr>
          <p:nvPr/>
        </p:nvSpPr>
        <p:spPr>
          <a:xfrm flipV="1">
            <a:off x="9054846" y="4423249"/>
            <a:ext cx="45262" cy="198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2" name="Connector 171"/>
          <p:cNvSpPr>
            <a:spLocks noGrp="1"/>
          </p:cNvSpPr>
          <p:nvPr/>
        </p:nvSpPr>
        <p:spPr>
          <a:xfrm flipV="1">
            <a:off x="9100108" y="4398533"/>
            <a:ext cx="45263" cy="2471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3" name="Connector 172"/>
          <p:cNvSpPr>
            <a:spLocks noGrp="1"/>
          </p:cNvSpPr>
          <p:nvPr/>
        </p:nvSpPr>
        <p:spPr>
          <a:xfrm flipV="1">
            <a:off x="9145371" y="4369149"/>
            <a:ext cx="45263" cy="2938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4" name="Connector 173"/>
          <p:cNvSpPr>
            <a:spLocks noGrp="1"/>
          </p:cNvSpPr>
          <p:nvPr/>
        </p:nvSpPr>
        <p:spPr>
          <a:xfrm flipV="1">
            <a:off x="9190634" y="4335323"/>
            <a:ext cx="45263" cy="3382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5" name="Connector 174"/>
          <p:cNvSpPr>
            <a:spLocks noGrp="1"/>
          </p:cNvSpPr>
          <p:nvPr/>
        </p:nvSpPr>
        <p:spPr>
          <a:xfrm flipV="1">
            <a:off x="9235897" y="4297316"/>
            <a:ext cx="45262" cy="3800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6" name="Connector 175"/>
          <p:cNvSpPr>
            <a:spLocks noGrp="1"/>
          </p:cNvSpPr>
          <p:nvPr/>
        </p:nvSpPr>
        <p:spPr>
          <a:xfrm flipV="1">
            <a:off x="9281159" y="4255424"/>
            <a:ext cx="45263" cy="4189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7" name="Connector 176"/>
          <p:cNvSpPr>
            <a:spLocks noGrp="1"/>
          </p:cNvSpPr>
          <p:nvPr/>
        </p:nvSpPr>
        <p:spPr>
          <a:xfrm flipV="1">
            <a:off x="9326422" y="4209970"/>
            <a:ext cx="45263" cy="4545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8" name="Connector 177"/>
          <p:cNvSpPr>
            <a:spLocks noGrp="1"/>
          </p:cNvSpPr>
          <p:nvPr/>
        </p:nvSpPr>
        <p:spPr>
          <a:xfrm flipV="1">
            <a:off x="9371685" y="4161304"/>
            <a:ext cx="45263" cy="4866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79" name="Connector 178"/>
          <p:cNvSpPr>
            <a:spLocks noGrp="1"/>
          </p:cNvSpPr>
          <p:nvPr/>
        </p:nvSpPr>
        <p:spPr>
          <a:xfrm flipV="1">
            <a:off x="9416948" y="4109805"/>
            <a:ext cx="45263" cy="514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0" name="Connector 179"/>
          <p:cNvSpPr>
            <a:spLocks noGrp="1"/>
          </p:cNvSpPr>
          <p:nvPr/>
        </p:nvSpPr>
        <p:spPr>
          <a:xfrm flipV="1">
            <a:off x="9462211" y="4055869"/>
            <a:ext cx="45263" cy="5393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1" name="Connector 180"/>
          <p:cNvSpPr>
            <a:spLocks noGrp="1"/>
          </p:cNvSpPr>
          <p:nvPr/>
        </p:nvSpPr>
        <p:spPr>
          <a:xfrm flipV="1">
            <a:off x="9507474" y="3999914"/>
            <a:ext cx="45262" cy="5595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2" name="Connector 181"/>
          <p:cNvSpPr>
            <a:spLocks noGrp="1"/>
          </p:cNvSpPr>
          <p:nvPr/>
        </p:nvSpPr>
        <p:spPr>
          <a:xfrm flipV="1">
            <a:off x="9552736" y="3942373"/>
            <a:ext cx="45263" cy="5754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3" name="Connector 182"/>
          <p:cNvSpPr>
            <a:spLocks noGrp="1"/>
          </p:cNvSpPr>
          <p:nvPr/>
        </p:nvSpPr>
        <p:spPr>
          <a:xfrm flipV="1">
            <a:off x="9597999" y="3883690"/>
            <a:ext cx="45263" cy="5868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4" name="Connector 183"/>
          <p:cNvSpPr>
            <a:spLocks noGrp="1"/>
          </p:cNvSpPr>
          <p:nvPr/>
        </p:nvSpPr>
        <p:spPr>
          <a:xfrm flipV="1">
            <a:off x="9643262" y="3824319"/>
            <a:ext cx="45263" cy="5937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5" name="Connector 184"/>
          <p:cNvSpPr>
            <a:spLocks noGrp="1"/>
          </p:cNvSpPr>
          <p:nvPr/>
        </p:nvSpPr>
        <p:spPr>
          <a:xfrm flipV="1">
            <a:off x="9688525" y="3764720"/>
            <a:ext cx="45263" cy="5959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6" name="Connector 185"/>
          <p:cNvSpPr>
            <a:spLocks noGrp="1"/>
          </p:cNvSpPr>
          <p:nvPr/>
        </p:nvSpPr>
        <p:spPr>
          <a:xfrm flipV="1">
            <a:off x="9733788" y="3705353"/>
            <a:ext cx="45262" cy="5936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7" name="Connector 186"/>
          <p:cNvSpPr>
            <a:spLocks noGrp="1"/>
          </p:cNvSpPr>
          <p:nvPr/>
        </p:nvSpPr>
        <p:spPr>
          <a:xfrm flipV="1">
            <a:off x="9779050" y="3646678"/>
            <a:ext cx="45263" cy="5867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8" name="Connector 187"/>
          <p:cNvSpPr>
            <a:spLocks noGrp="1"/>
          </p:cNvSpPr>
          <p:nvPr/>
        </p:nvSpPr>
        <p:spPr>
          <a:xfrm flipV="1">
            <a:off x="9824313" y="3589148"/>
            <a:ext cx="45263" cy="5753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89" name="Connector 188"/>
          <p:cNvSpPr>
            <a:spLocks noGrp="1"/>
          </p:cNvSpPr>
          <p:nvPr/>
        </p:nvSpPr>
        <p:spPr>
          <a:xfrm flipV="1">
            <a:off x="9869576" y="3533207"/>
            <a:ext cx="45263" cy="5594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0" name="Connector 189"/>
          <p:cNvSpPr>
            <a:spLocks noGrp="1"/>
          </p:cNvSpPr>
          <p:nvPr/>
        </p:nvSpPr>
        <p:spPr>
          <a:xfrm flipV="1">
            <a:off x="9914839" y="3479289"/>
            <a:ext cx="45262" cy="5391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1" name="Connector 190"/>
          <p:cNvSpPr>
            <a:spLocks noGrp="1"/>
          </p:cNvSpPr>
          <p:nvPr/>
        </p:nvSpPr>
        <p:spPr>
          <a:xfrm flipV="1">
            <a:off x="9960101" y="3427811"/>
            <a:ext cx="45263" cy="5147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2" name="Connector 191"/>
          <p:cNvSpPr>
            <a:spLocks noGrp="1"/>
          </p:cNvSpPr>
          <p:nvPr/>
        </p:nvSpPr>
        <p:spPr>
          <a:xfrm flipV="1">
            <a:off x="10005364" y="3379170"/>
            <a:ext cx="45263" cy="4864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3" name="Connector 192"/>
          <p:cNvSpPr>
            <a:spLocks noGrp="1"/>
          </p:cNvSpPr>
          <p:nvPr/>
        </p:nvSpPr>
        <p:spPr>
          <a:xfrm flipV="1">
            <a:off x="10050627" y="3333743"/>
            <a:ext cx="45263" cy="4542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4" name="Connector 193"/>
          <p:cNvSpPr>
            <a:spLocks noGrp="1"/>
          </p:cNvSpPr>
          <p:nvPr/>
        </p:nvSpPr>
        <p:spPr>
          <a:xfrm flipV="1">
            <a:off x="10095890" y="3291881"/>
            <a:ext cx="45263" cy="4186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5" name="Connector 194"/>
          <p:cNvSpPr>
            <a:spLocks noGrp="1"/>
          </p:cNvSpPr>
          <p:nvPr/>
        </p:nvSpPr>
        <p:spPr>
          <a:xfrm flipV="1">
            <a:off x="10141153" y="3253907"/>
            <a:ext cx="45262" cy="3797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6" name="Connector 195"/>
          <p:cNvSpPr>
            <a:spLocks noGrp="1"/>
          </p:cNvSpPr>
          <p:nvPr/>
        </p:nvSpPr>
        <p:spPr>
          <a:xfrm flipV="1">
            <a:off x="10186415" y="3220116"/>
            <a:ext cx="45263" cy="3379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7" name="Connector 196"/>
          <p:cNvSpPr>
            <a:spLocks noGrp="1"/>
          </p:cNvSpPr>
          <p:nvPr/>
        </p:nvSpPr>
        <p:spPr>
          <a:xfrm flipV="1">
            <a:off x="10231678" y="3190768"/>
            <a:ext cx="45263" cy="2934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8" name="Connector 197"/>
          <p:cNvSpPr>
            <a:spLocks noGrp="1"/>
          </p:cNvSpPr>
          <p:nvPr/>
        </p:nvSpPr>
        <p:spPr>
          <a:xfrm flipV="1">
            <a:off x="10276941" y="3166091"/>
            <a:ext cx="45263" cy="2467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199" name="Connector 198"/>
          <p:cNvSpPr>
            <a:spLocks noGrp="1"/>
          </p:cNvSpPr>
          <p:nvPr/>
        </p:nvSpPr>
        <p:spPr>
          <a:xfrm flipV="1">
            <a:off x="10322204" y="3146275"/>
            <a:ext cx="45263" cy="19816"/>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0" name="Connector 199"/>
          <p:cNvSpPr>
            <a:spLocks noGrp="1"/>
          </p:cNvSpPr>
          <p:nvPr/>
        </p:nvSpPr>
        <p:spPr>
          <a:xfrm flipV="1">
            <a:off x="10367467" y="3131474"/>
            <a:ext cx="45263" cy="14801"/>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1" name="Connector 200"/>
          <p:cNvSpPr>
            <a:spLocks noGrp="1"/>
          </p:cNvSpPr>
          <p:nvPr/>
        </p:nvSpPr>
        <p:spPr>
          <a:xfrm flipV="1">
            <a:off x="10412730" y="3121802"/>
            <a:ext cx="45262" cy="967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2" name="Connector 201"/>
          <p:cNvSpPr>
            <a:spLocks noGrp="1"/>
          </p:cNvSpPr>
          <p:nvPr/>
        </p:nvSpPr>
        <p:spPr>
          <a:xfrm flipV="1">
            <a:off x="10457992" y="3117333"/>
            <a:ext cx="45263" cy="446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3" name="Connector 202"/>
          <p:cNvSpPr>
            <a:spLocks noGrp="1"/>
          </p:cNvSpPr>
          <p:nvPr/>
        </p:nvSpPr>
        <p:spPr>
          <a:xfrm>
            <a:off x="10503255" y="3117333"/>
            <a:ext cx="45263" cy="7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4" name="Connector 203"/>
          <p:cNvSpPr>
            <a:spLocks noGrp="1"/>
          </p:cNvSpPr>
          <p:nvPr/>
        </p:nvSpPr>
        <p:spPr>
          <a:xfrm>
            <a:off x="10548518" y="3118103"/>
            <a:ext cx="45263" cy="6003"/>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5" name="Connector 204"/>
          <p:cNvSpPr>
            <a:spLocks noGrp="1"/>
          </p:cNvSpPr>
          <p:nvPr/>
        </p:nvSpPr>
        <p:spPr>
          <a:xfrm>
            <a:off x="10593781" y="3124106"/>
            <a:ext cx="45262" cy="1118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6" name="Connector 205"/>
          <p:cNvSpPr>
            <a:spLocks noGrp="1"/>
          </p:cNvSpPr>
          <p:nvPr/>
        </p:nvSpPr>
        <p:spPr>
          <a:xfrm>
            <a:off x="10639043" y="3135294"/>
            <a:ext cx="45263" cy="1628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7" name="Connector 206"/>
          <p:cNvSpPr>
            <a:spLocks noGrp="1"/>
          </p:cNvSpPr>
          <p:nvPr/>
        </p:nvSpPr>
        <p:spPr>
          <a:xfrm>
            <a:off x="10684306" y="3151582"/>
            <a:ext cx="45263" cy="21262"/>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8" name="Connector 207"/>
          <p:cNvSpPr>
            <a:spLocks noGrp="1"/>
          </p:cNvSpPr>
          <p:nvPr/>
        </p:nvSpPr>
        <p:spPr>
          <a:xfrm>
            <a:off x="10729569" y="3172844"/>
            <a:ext cx="45263" cy="26070"/>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09" name="Connector 208"/>
          <p:cNvSpPr>
            <a:spLocks noGrp="1"/>
          </p:cNvSpPr>
          <p:nvPr/>
        </p:nvSpPr>
        <p:spPr>
          <a:xfrm>
            <a:off x="10774832" y="3198914"/>
            <a:ext cx="45263" cy="3067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0" name="Connector 209"/>
          <p:cNvSpPr>
            <a:spLocks noGrp="1"/>
          </p:cNvSpPr>
          <p:nvPr/>
        </p:nvSpPr>
        <p:spPr>
          <a:xfrm>
            <a:off x="10820095" y="3229592"/>
            <a:ext cx="45262" cy="3504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1" name="Connector 210"/>
          <p:cNvSpPr>
            <a:spLocks noGrp="1"/>
          </p:cNvSpPr>
          <p:nvPr/>
        </p:nvSpPr>
        <p:spPr>
          <a:xfrm>
            <a:off x="10865357" y="3264641"/>
            <a:ext cx="45263" cy="39148"/>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2" name="Connector 211"/>
          <p:cNvSpPr>
            <a:spLocks noGrp="1"/>
          </p:cNvSpPr>
          <p:nvPr/>
        </p:nvSpPr>
        <p:spPr>
          <a:xfrm>
            <a:off x="10910620" y="3303789"/>
            <a:ext cx="45263" cy="42944"/>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3" name="Connector 212"/>
          <p:cNvSpPr>
            <a:spLocks noGrp="1"/>
          </p:cNvSpPr>
          <p:nvPr/>
        </p:nvSpPr>
        <p:spPr>
          <a:xfrm>
            <a:off x="10955883" y="3346733"/>
            <a:ext cx="45263" cy="46409"/>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4" name="Connector 213"/>
          <p:cNvSpPr>
            <a:spLocks noGrp="1"/>
          </p:cNvSpPr>
          <p:nvPr/>
        </p:nvSpPr>
        <p:spPr>
          <a:xfrm>
            <a:off x="11001146" y="3393142"/>
            <a:ext cx="45263" cy="49515"/>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5" name="Connector 214"/>
          <p:cNvSpPr>
            <a:spLocks noGrp="1"/>
          </p:cNvSpPr>
          <p:nvPr/>
        </p:nvSpPr>
        <p:spPr>
          <a:xfrm>
            <a:off x="11046409" y="3442657"/>
            <a:ext cx="45263" cy="52237"/>
          </a:xfrm>
          <a:prstGeom prst="line">
            <a:avLst/>
          </a:prstGeom>
          <a:ln w="21590">
            <a:solidFill>
              <a:srgbClr val="808080"/>
            </a:solidFill>
          </a:ln>
        </p:spPr>
        <p:style>
          <a:lnRef idx="2">
            <a:schemeClr val="accent1"/>
          </a:lnRef>
          <a:fillRef idx="0">
            <a:schemeClr val="accent1"/>
          </a:fillRef>
          <a:effectRef idx="0">
            <a:srgbClr val="FFFFFF"/>
          </a:effectRef>
          <a:fontRef idx="minor">
            <a:schemeClr val="tx1"/>
          </a:fontRef>
        </p:style>
      </p:sp>
      <p:sp>
        <p:nvSpPr>
          <p:cNvPr id="216" name="Oval 215"/>
          <p:cNvSpPr>
            <a:spLocks noGrp="1"/>
          </p:cNvSpPr>
          <p:nvPr/>
        </p:nvSpPr>
        <p:spPr>
          <a:xfrm>
            <a:off x="6507784" y="3622488"/>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7" name="Oval 216"/>
          <p:cNvSpPr>
            <a:spLocks noGrp="1"/>
          </p:cNvSpPr>
          <p:nvPr/>
        </p:nvSpPr>
        <p:spPr>
          <a:xfrm>
            <a:off x="6809536" y="3271990"/>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8" name="Oval 217"/>
          <p:cNvSpPr>
            <a:spLocks noGrp="1"/>
          </p:cNvSpPr>
          <p:nvPr/>
        </p:nvSpPr>
        <p:spPr>
          <a:xfrm>
            <a:off x="7111288" y="3076929"/>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9" name="Oval 218"/>
          <p:cNvSpPr>
            <a:spLocks noGrp="1"/>
          </p:cNvSpPr>
          <p:nvPr/>
        </p:nvSpPr>
        <p:spPr>
          <a:xfrm>
            <a:off x="7413040" y="3102487"/>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0" name="Oval 219"/>
          <p:cNvSpPr>
            <a:spLocks noGrp="1"/>
          </p:cNvSpPr>
          <p:nvPr/>
        </p:nvSpPr>
        <p:spPr>
          <a:xfrm>
            <a:off x="7714792" y="3340123"/>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1" name="Oval 220"/>
          <p:cNvSpPr>
            <a:spLocks noGrp="1"/>
          </p:cNvSpPr>
          <p:nvPr/>
        </p:nvSpPr>
        <p:spPr>
          <a:xfrm>
            <a:off x="8016544" y="3710429"/>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2" name="Oval 221"/>
          <p:cNvSpPr>
            <a:spLocks noGrp="1"/>
          </p:cNvSpPr>
          <p:nvPr/>
        </p:nvSpPr>
        <p:spPr>
          <a:xfrm>
            <a:off x="8318296" y="4089665"/>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3" name="Oval 222"/>
          <p:cNvSpPr>
            <a:spLocks noGrp="1"/>
          </p:cNvSpPr>
          <p:nvPr/>
        </p:nvSpPr>
        <p:spPr>
          <a:xfrm>
            <a:off x="8620048" y="4351107"/>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4" name="Oval 223"/>
          <p:cNvSpPr>
            <a:spLocks noGrp="1"/>
          </p:cNvSpPr>
          <p:nvPr/>
        </p:nvSpPr>
        <p:spPr>
          <a:xfrm>
            <a:off x="8921800" y="4407390"/>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5" name="Oval 224"/>
          <p:cNvSpPr>
            <a:spLocks noGrp="1"/>
          </p:cNvSpPr>
          <p:nvPr/>
        </p:nvSpPr>
        <p:spPr>
          <a:xfrm>
            <a:off x="9223552" y="4239709"/>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6" name="Oval 225"/>
          <p:cNvSpPr>
            <a:spLocks noGrp="1"/>
          </p:cNvSpPr>
          <p:nvPr/>
        </p:nvSpPr>
        <p:spPr>
          <a:xfrm>
            <a:off x="9525304" y="3904095"/>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7" name="Oval 226"/>
          <p:cNvSpPr>
            <a:spLocks noGrp="1"/>
          </p:cNvSpPr>
          <p:nvPr/>
        </p:nvSpPr>
        <p:spPr>
          <a:xfrm>
            <a:off x="9827056" y="3512695"/>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8" name="Oval 227"/>
          <p:cNvSpPr>
            <a:spLocks noGrp="1"/>
          </p:cNvSpPr>
          <p:nvPr/>
        </p:nvSpPr>
        <p:spPr>
          <a:xfrm>
            <a:off x="10128808" y="3196300"/>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9" name="Oval 228"/>
          <p:cNvSpPr>
            <a:spLocks noGrp="1"/>
          </p:cNvSpPr>
          <p:nvPr/>
        </p:nvSpPr>
        <p:spPr>
          <a:xfrm>
            <a:off x="10430560" y="3060634"/>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0" name="Oval 229"/>
          <p:cNvSpPr>
            <a:spLocks noGrp="1"/>
          </p:cNvSpPr>
          <p:nvPr/>
        </p:nvSpPr>
        <p:spPr>
          <a:xfrm>
            <a:off x="10732312" y="3151032"/>
            <a:ext cx="115214" cy="115214"/>
          </a:xfrm>
          <a:prstGeom prst="ellipse">
            <a:avLst/>
          </a:prstGeom>
          <a:solidFill>
            <a:srgbClr val="00B0F0"/>
          </a:solid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1" name="TextBox 230"/>
          <p:cNvSpPr>
            <a:spLocks noGrp="1"/>
          </p:cNvSpPr>
          <p:nvPr/>
        </p:nvSpPr>
        <p:spPr>
          <a:xfrm>
            <a:off x="877824" y="5458968"/>
            <a:ext cx="10515600"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先预测：放大到足够短的时间，会出现什么？</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1000125" y="2724150"/>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4" name="TextBox 113"/>
          <p:cNvSpPr>
            <a:spLocks noGrp="1"/>
          </p:cNvSpPr>
          <p:nvPr/>
        </p:nvSpPr>
        <p:spPr>
          <a:xfrm>
            <a:off x="6667500" y="2724150"/>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4905375" y="4657725"/>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5" name="TextBox 114"/>
          <p:cNvSpPr>
            <a:spLocks noGrp="1"/>
          </p:cNvSpPr>
          <p:nvPr/>
        </p:nvSpPr>
        <p:spPr>
          <a:xfrm>
            <a:off x="10429875" y="4657725"/>
            <a:ext cx="95250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1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 Hz和2 Hz，一秒内取几个样本？</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同一段信号；统计区间 [0,1)，不计右端点。</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rate-1"/>
          <p:cNvSpPr>
            <a:spLocks noGrp="1"/>
          </p:cNvSpPr>
          <p:nvPr/>
        </p:nvSpPr>
        <p:spPr>
          <a:xfrm>
            <a:off x="609600" y="2457450"/>
            <a:ext cx="1428750" cy="41910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1 Hz</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ime-axis-1"/>
          <p:cNvSpPr>
            <a:spLocks noGrp="1"/>
          </p:cNvSpPr>
          <p:nvPr/>
        </p:nvSpPr>
        <p:spPr>
          <a:xfrm>
            <a:off x="2238375" y="2643188"/>
            <a:ext cx="8001000" cy="9525"/>
          </a:xfrm>
          <a:custGeom>
            <a:avLst/>
            <a:gdLst/>
            <a:ahLst/>
            <a:cxnLst/>
            <a:pathLst>
              <a:path w="8001000" h="9525">
                <a:moveTo>
                  <a:pt x="0" y="0"/>
                </a:moveTo>
                <a:lnTo>
                  <a:pt x="8001000" y="0"/>
                </a:lnTo>
              </a:path>
            </a:pathLst>
          </a:custGeom>
          <a:noFill/>
          <a:ln w="11430">
            <a:solidFill>
              <a:srgbClr val="808080"/>
            </a:solidFill>
          </a:ln>
        </p:spPr>
      </p:sp>
      <p:sp>
        <p:nvSpPr>
          <p:cNvPr id="8" name="same-signal-1"/>
          <p:cNvSpPr>
            <a:spLocks noGrp="1"/>
          </p:cNvSpPr>
          <p:nvPr/>
        </p:nvSpPr>
        <p:spPr>
          <a:xfrm>
            <a:off x="2238375" y="2367916"/>
            <a:ext cx="8001000" cy="550544"/>
          </a:xfrm>
          <a:custGeom>
            <a:avLst/>
            <a:gdLst/>
            <a:ahLst/>
            <a:cxnLst/>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a:ln w="17145">
            <a:solidFill>
              <a:srgbClr val="808080"/>
            </a:solidFill>
          </a:ln>
        </p:spPr>
      </p:sp>
      <p:sp>
        <p:nvSpPr>
          <p:cNvPr id="9" name="tick-1-0"/>
          <p:cNvSpPr>
            <a:spLocks noGrp="1"/>
          </p:cNvSpPr>
          <p:nvPr/>
        </p:nvSpPr>
        <p:spPr>
          <a:xfrm>
            <a:off x="2238375" y="3086100"/>
            <a:ext cx="9525" cy="57150"/>
          </a:xfrm>
          <a:custGeom>
            <a:avLst/>
            <a:gdLst/>
            <a:ahLst/>
            <a:cxnLst/>
            <a:pathLst>
              <a:path w="9525" h="57150">
                <a:moveTo>
                  <a:pt x="0" y="0"/>
                </a:moveTo>
                <a:lnTo>
                  <a:pt x="0" y="57150"/>
                </a:lnTo>
              </a:path>
            </a:pathLst>
          </a:custGeom>
          <a:noFill/>
          <a:ln w="9525">
            <a:solidFill>
              <a:srgbClr val="808080"/>
            </a:solidFill>
          </a:ln>
        </p:spPr>
      </p:sp>
      <p:sp>
        <p:nvSpPr>
          <p:cNvPr id="10" name="time-1-0"/>
          <p:cNvSpPr>
            <a:spLocks noGrp="1"/>
          </p:cNvSpPr>
          <p:nvPr/>
        </p:nvSpPr>
        <p:spPr>
          <a:xfrm>
            <a:off x="1952625" y="32099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ick-1-0.5"/>
          <p:cNvSpPr>
            <a:spLocks noGrp="1"/>
          </p:cNvSpPr>
          <p:nvPr/>
        </p:nvSpPr>
        <p:spPr>
          <a:xfrm>
            <a:off x="6238875" y="3086100"/>
            <a:ext cx="9525" cy="57150"/>
          </a:xfrm>
          <a:custGeom>
            <a:avLst/>
            <a:gdLst/>
            <a:ahLst/>
            <a:cxnLst/>
            <a:pathLst>
              <a:path w="9525" h="57150">
                <a:moveTo>
                  <a:pt x="0" y="0"/>
                </a:moveTo>
                <a:lnTo>
                  <a:pt x="0" y="57150"/>
                </a:lnTo>
              </a:path>
            </a:pathLst>
          </a:custGeom>
          <a:noFill/>
          <a:ln w="9525">
            <a:solidFill>
              <a:srgbClr val="808080"/>
            </a:solidFill>
          </a:ln>
        </p:spPr>
      </p:sp>
      <p:sp>
        <p:nvSpPr>
          <p:cNvPr id="12" name="time-1-0.5"/>
          <p:cNvSpPr>
            <a:spLocks noGrp="1"/>
          </p:cNvSpPr>
          <p:nvPr/>
        </p:nvSpPr>
        <p:spPr>
          <a:xfrm>
            <a:off x="5953125" y="32099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3" name="tick-1-1"/>
          <p:cNvSpPr>
            <a:spLocks noGrp="1"/>
          </p:cNvSpPr>
          <p:nvPr/>
        </p:nvSpPr>
        <p:spPr>
          <a:xfrm>
            <a:off x="10239375" y="3086100"/>
            <a:ext cx="9525" cy="57150"/>
          </a:xfrm>
          <a:custGeom>
            <a:avLst/>
            <a:gdLst/>
            <a:ahLst/>
            <a:cxnLst/>
            <a:pathLst>
              <a:path w="9525" h="57150">
                <a:moveTo>
                  <a:pt x="0" y="0"/>
                </a:moveTo>
                <a:lnTo>
                  <a:pt x="0" y="57150"/>
                </a:lnTo>
              </a:path>
            </a:pathLst>
          </a:custGeom>
          <a:noFill/>
          <a:ln w="9525">
            <a:solidFill>
              <a:srgbClr val="808080"/>
            </a:solidFill>
          </a:ln>
        </p:spPr>
      </p:sp>
      <p:sp>
        <p:nvSpPr>
          <p:cNvPr id="14" name="time-1-1"/>
          <p:cNvSpPr>
            <a:spLocks noGrp="1"/>
          </p:cNvSpPr>
          <p:nvPr/>
        </p:nvSpPr>
        <p:spPr>
          <a:xfrm>
            <a:off x="9953625" y="32099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sample-stem-1-0"/>
          <p:cNvSpPr>
            <a:spLocks noGrp="1"/>
          </p:cNvSpPr>
          <p:nvPr/>
        </p:nvSpPr>
        <p:spPr>
          <a:xfrm>
            <a:off x="2238375" y="2535991"/>
            <a:ext cx="9525" cy="107196"/>
          </a:xfrm>
          <a:custGeom>
            <a:avLst/>
            <a:gdLst/>
            <a:ahLst/>
            <a:cxnLst/>
            <a:pathLst>
              <a:path w="9525" h="107196">
                <a:moveTo>
                  <a:pt x="0" y="107196"/>
                </a:moveTo>
                <a:lnTo>
                  <a:pt x="0" y="0"/>
                </a:lnTo>
              </a:path>
            </a:pathLst>
          </a:custGeom>
          <a:noFill/>
          <a:ln w="10478">
            <a:solidFill>
              <a:srgbClr val="D7D7DE"/>
            </a:solidFill>
          </a:ln>
        </p:spPr>
      </p:sp>
      <p:sp>
        <p:nvSpPr>
          <p:cNvPr id="16" name="sample-1-0"/>
          <p:cNvSpPr>
            <a:spLocks noGrp="1"/>
          </p:cNvSpPr>
          <p:nvPr/>
        </p:nvSpPr>
        <p:spPr>
          <a:xfrm>
            <a:off x="2171700" y="2469316"/>
            <a:ext cx="133350" cy="133350"/>
          </a:xfrm>
          <a:prstGeom prst="ellipse">
            <a:avLst/>
          </a:prstGeom>
          <a:solidFill>
            <a:srgbClr val="8C64E1"/>
          </a:solidFill>
          <a:ln w="0">
            <a:solidFill>
              <a:srgbClr val="8C64E1"/>
            </a:solidFill>
          </a:ln>
        </p:spPr>
      </p:sp>
      <p:sp>
        <p:nvSpPr>
          <p:cNvPr id="17" name="time-unit-1"/>
          <p:cNvSpPr>
            <a:spLocks noGrp="1"/>
          </p:cNvSpPr>
          <p:nvPr/>
        </p:nvSpPr>
        <p:spPr>
          <a:xfrm>
            <a:off x="10363200" y="2943225"/>
            <a:ext cx="1238250" cy="323850"/>
          </a:xfrm>
          <a:prstGeom prst="rect">
            <a:avLst/>
          </a:prstGeom>
          <a:noFill/>
          <a:ln w="0">
            <a:noFill/>
          </a:ln>
        </p:spPr>
        <p:txBody>
          <a:bodyPr wrap="non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 / s</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8" name="rate-2"/>
          <p:cNvSpPr>
            <a:spLocks noGrp="1"/>
          </p:cNvSpPr>
          <p:nvPr/>
        </p:nvSpPr>
        <p:spPr>
          <a:xfrm>
            <a:off x="609600" y="4171950"/>
            <a:ext cx="1428750" cy="41910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2 Hz</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9" name="time-axis-2"/>
          <p:cNvSpPr>
            <a:spLocks noGrp="1"/>
          </p:cNvSpPr>
          <p:nvPr/>
        </p:nvSpPr>
        <p:spPr>
          <a:xfrm>
            <a:off x="2238375" y="4357688"/>
            <a:ext cx="8001000" cy="9525"/>
          </a:xfrm>
          <a:custGeom>
            <a:avLst/>
            <a:gdLst/>
            <a:ahLst/>
            <a:cxnLst/>
            <a:pathLst>
              <a:path w="8001000" h="9525">
                <a:moveTo>
                  <a:pt x="0" y="0"/>
                </a:moveTo>
                <a:lnTo>
                  <a:pt x="8001000" y="0"/>
                </a:lnTo>
              </a:path>
            </a:pathLst>
          </a:custGeom>
          <a:noFill/>
          <a:ln w="11430">
            <a:solidFill>
              <a:srgbClr val="808080"/>
            </a:solidFill>
          </a:ln>
        </p:spPr>
      </p:sp>
      <p:sp>
        <p:nvSpPr>
          <p:cNvPr id="20" name="same-signal-2"/>
          <p:cNvSpPr>
            <a:spLocks noGrp="1"/>
          </p:cNvSpPr>
          <p:nvPr/>
        </p:nvSpPr>
        <p:spPr>
          <a:xfrm>
            <a:off x="2238375" y="4082416"/>
            <a:ext cx="8001000" cy="550544"/>
          </a:xfrm>
          <a:custGeom>
            <a:avLst/>
            <a:gdLst/>
            <a:ahLst/>
            <a:cxnLst/>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a:ln w="17145">
            <a:solidFill>
              <a:srgbClr val="808080"/>
            </a:solidFill>
          </a:ln>
        </p:spPr>
      </p:sp>
      <p:sp>
        <p:nvSpPr>
          <p:cNvPr id="21" name="tick-2-0"/>
          <p:cNvSpPr>
            <a:spLocks noGrp="1"/>
          </p:cNvSpPr>
          <p:nvPr/>
        </p:nvSpPr>
        <p:spPr>
          <a:xfrm>
            <a:off x="2238375" y="4800600"/>
            <a:ext cx="9525" cy="57150"/>
          </a:xfrm>
          <a:custGeom>
            <a:avLst/>
            <a:gdLst/>
            <a:ahLst/>
            <a:cxnLst/>
            <a:pathLst>
              <a:path w="9525" h="57150">
                <a:moveTo>
                  <a:pt x="0" y="0"/>
                </a:moveTo>
                <a:lnTo>
                  <a:pt x="0" y="57150"/>
                </a:lnTo>
              </a:path>
            </a:pathLst>
          </a:custGeom>
          <a:noFill/>
          <a:ln w="9525">
            <a:solidFill>
              <a:srgbClr val="808080"/>
            </a:solidFill>
          </a:ln>
        </p:spPr>
      </p:sp>
      <p:sp>
        <p:nvSpPr>
          <p:cNvPr id="22" name="time-2-0"/>
          <p:cNvSpPr>
            <a:spLocks noGrp="1"/>
          </p:cNvSpPr>
          <p:nvPr/>
        </p:nvSpPr>
        <p:spPr>
          <a:xfrm>
            <a:off x="1952625" y="49244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3" name="tick-2-0.5"/>
          <p:cNvSpPr>
            <a:spLocks noGrp="1"/>
          </p:cNvSpPr>
          <p:nvPr/>
        </p:nvSpPr>
        <p:spPr>
          <a:xfrm>
            <a:off x="6238875" y="4800600"/>
            <a:ext cx="9525" cy="57150"/>
          </a:xfrm>
          <a:custGeom>
            <a:avLst/>
            <a:gdLst/>
            <a:ahLst/>
            <a:cxnLst/>
            <a:pathLst>
              <a:path w="9525" h="57150">
                <a:moveTo>
                  <a:pt x="0" y="0"/>
                </a:moveTo>
                <a:lnTo>
                  <a:pt x="0" y="57150"/>
                </a:lnTo>
              </a:path>
            </a:pathLst>
          </a:custGeom>
          <a:noFill/>
          <a:ln w="9525">
            <a:solidFill>
              <a:srgbClr val="808080"/>
            </a:solidFill>
          </a:ln>
        </p:spPr>
      </p:sp>
      <p:sp>
        <p:nvSpPr>
          <p:cNvPr id="24" name="time-2-0.5"/>
          <p:cNvSpPr>
            <a:spLocks noGrp="1"/>
          </p:cNvSpPr>
          <p:nvPr/>
        </p:nvSpPr>
        <p:spPr>
          <a:xfrm>
            <a:off x="5953125" y="49244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5" name="tick-2-1"/>
          <p:cNvSpPr>
            <a:spLocks noGrp="1"/>
          </p:cNvSpPr>
          <p:nvPr/>
        </p:nvSpPr>
        <p:spPr>
          <a:xfrm>
            <a:off x="10239375" y="4800600"/>
            <a:ext cx="9525" cy="57150"/>
          </a:xfrm>
          <a:custGeom>
            <a:avLst/>
            <a:gdLst/>
            <a:ahLst/>
            <a:cxnLst/>
            <a:pathLst>
              <a:path w="9525" h="57150">
                <a:moveTo>
                  <a:pt x="0" y="0"/>
                </a:moveTo>
                <a:lnTo>
                  <a:pt x="0" y="57150"/>
                </a:lnTo>
              </a:path>
            </a:pathLst>
          </a:custGeom>
          <a:noFill/>
          <a:ln w="9525">
            <a:solidFill>
              <a:srgbClr val="808080"/>
            </a:solidFill>
          </a:ln>
        </p:spPr>
      </p:sp>
      <p:sp>
        <p:nvSpPr>
          <p:cNvPr id="26" name="time-2-1"/>
          <p:cNvSpPr>
            <a:spLocks noGrp="1"/>
          </p:cNvSpPr>
          <p:nvPr/>
        </p:nvSpPr>
        <p:spPr>
          <a:xfrm>
            <a:off x="9953625" y="4924425"/>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7" name="sample-stem-2-0"/>
          <p:cNvSpPr>
            <a:spLocks noGrp="1"/>
          </p:cNvSpPr>
          <p:nvPr/>
        </p:nvSpPr>
        <p:spPr>
          <a:xfrm>
            <a:off x="2238375" y="4250491"/>
            <a:ext cx="9525" cy="107196"/>
          </a:xfrm>
          <a:custGeom>
            <a:avLst/>
            <a:gdLst/>
            <a:ahLst/>
            <a:cxnLst/>
            <a:pathLst>
              <a:path w="9525" h="107196">
                <a:moveTo>
                  <a:pt x="0" y="107196"/>
                </a:moveTo>
                <a:lnTo>
                  <a:pt x="0" y="0"/>
                </a:lnTo>
              </a:path>
            </a:pathLst>
          </a:custGeom>
          <a:noFill/>
          <a:ln w="10478">
            <a:solidFill>
              <a:srgbClr val="D7D7DE"/>
            </a:solidFill>
          </a:ln>
        </p:spPr>
      </p:sp>
      <p:sp>
        <p:nvSpPr>
          <p:cNvPr id="28" name="sample-2-0"/>
          <p:cNvSpPr>
            <a:spLocks noGrp="1"/>
          </p:cNvSpPr>
          <p:nvPr/>
        </p:nvSpPr>
        <p:spPr>
          <a:xfrm>
            <a:off x="2171700" y="4183816"/>
            <a:ext cx="133350" cy="133350"/>
          </a:xfrm>
          <a:prstGeom prst="ellipse">
            <a:avLst/>
          </a:prstGeom>
          <a:solidFill>
            <a:srgbClr val="00B0F0"/>
          </a:solidFill>
          <a:ln w="0">
            <a:solidFill>
              <a:srgbClr val="00B0F0"/>
            </a:solidFill>
          </a:ln>
        </p:spPr>
      </p:sp>
      <p:sp>
        <p:nvSpPr>
          <p:cNvPr id="29" name="sample-stem-2-1"/>
          <p:cNvSpPr>
            <a:spLocks noGrp="1"/>
          </p:cNvSpPr>
          <p:nvPr/>
        </p:nvSpPr>
        <p:spPr>
          <a:xfrm>
            <a:off x="6238875" y="4357688"/>
            <a:ext cx="9525" cy="107196"/>
          </a:xfrm>
          <a:custGeom>
            <a:avLst/>
            <a:gdLst/>
            <a:ahLst/>
            <a:cxnLst/>
            <a:pathLst>
              <a:path w="9525" h="107196">
                <a:moveTo>
                  <a:pt x="0" y="0"/>
                </a:moveTo>
                <a:lnTo>
                  <a:pt x="0" y="107196"/>
                </a:lnTo>
              </a:path>
            </a:pathLst>
          </a:custGeom>
          <a:noFill/>
          <a:ln w="10478">
            <a:solidFill>
              <a:srgbClr val="D7D7DE"/>
            </a:solidFill>
          </a:ln>
        </p:spPr>
      </p:sp>
      <p:sp>
        <p:nvSpPr>
          <p:cNvPr id="30" name="sample-2-1"/>
          <p:cNvSpPr>
            <a:spLocks noGrp="1"/>
          </p:cNvSpPr>
          <p:nvPr/>
        </p:nvSpPr>
        <p:spPr>
          <a:xfrm>
            <a:off x="6172200" y="4398209"/>
            <a:ext cx="133350" cy="133350"/>
          </a:xfrm>
          <a:prstGeom prst="ellipse">
            <a:avLst/>
          </a:prstGeom>
          <a:solidFill>
            <a:srgbClr val="00B0F0"/>
          </a:solidFill>
          <a:ln w="0">
            <a:solidFill>
              <a:srgbClr val="00B0F0"/>
            </a:solidFill>
          </a:ln>
        </p:spPr>
      </p:sp>
      <p:sp>
        <p:nvSpPr>
          <p:cNvPr id="31" name="time-unit-2"/>
          <p:cNvSpPr>
            <a:spLocks noGrp="1"/>
          </p:cNvSpPr>
          <p:nvPr/>
        </p:nvSpPr>
        <p:spPr>
          <a:xfrm>
            <a:off x="10363200" y="4657725"/>
            <a:ext cx="1238250" cy="323850"/>
          </a:xfrm>
          <a:prstGeom prst="rect">
            <a:avLst/>
          </a:prstGeom>
          <a:noFill/>
          <a:ln w="0">
            <a:noFill/>
          </a:ln>
        </p:spPr>
        <p:txBody>
          <a:bodyPr wrap="non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 / s</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2" name="text"/>
          <p:cNvSpPr>
            <a:spLocks noGrp="1"/>
          </p:cNvSpPr>
          <p:nvPr/>
        </p:nvSpPr>
        <p:spPr>
          <a:xfrm>
            <a:off x="609600" y="5810250"/>
            <a:ext cx="109728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采样率：每秒、每声道采集的样本数。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3" name="TextBox 32"/>
          <p:cNvSpPr txBox="1"/>
          <p:nvPr/>
        </p:nvSpPr>
        <p:spPr>
          <a:xfrm>
            <a:off x="8577072" y="2221992"/>
            <a:ext cx="2962656" cy="438912"/>
          </a:xfrm>
          <a:prstGeom prst="rect">
            <a:avLst/>
          </a:prstGeom>
          <a:noFill/>
        </p:spPr>
        <p:txBody>
          <a:bodyPr wrap="square" lIns="0" tIns="0" rIns="0" bIns="0" anchor="ctr">
            <a:spAutoFit/>
          </a:bodyPr>
          <a:lstStyle/>
          <a:p>
            <a:pPr>
              <a:spcAft>
                <a:spcPts val="200"/>
              </a:spcAft>
              <a:defRPr sz="1800" b="1">
                <a:solidFill>
                  <a:srgbClr val="8C64E1"/>
                </a:solidFill>
                <a:latin typeface="Alibaba PuHuiTi 3.0 115 Black" panose="00020600040101010101" charset="-122"/>
              </a:defRPr>
            </a:pPr>
            <a:r>
              <a:t>在1秒内：1个采样点</a:t>
            </a:r>
          </a:p>
        </p:txBody>
      </p:sp>
      <p:sp>
        <p:nvSpPr>
          <p:cNvPr id="34" name="TextBox 33"/>
          <p:cNvSpPr txBox="1"/>
          <p:nvPr/>
        </p:nvSpPr>
        <p:spPr>
          <a:xfrm>
            <a:off x="8577072" y="3813048"/>
            <a:ext cx="2962656" cy="438912"/>
          </a:xfrm>
          <a:prstGeom prst="rect">
            <a:avLst/>
          </a:prstGeom>
          <a:noFill/>
        </p:spPr>
        <p:txBody>
          <a:bodyPr wrap="square" lIns="0" tIns="0" rIns="0" bIns="0" anchor="ctr">
            <a:spAutoFit/>
          </a:bodyPr>
          <a:lstStyle/>
          <a:p>
            <a:pPr>
              <a:spcAft>
                <a:spcPts val="200"/>
              </a:spcAft>
              <a:defRPr sz="1800" b="1">
                <a:solidFill>
                  <a:srgbClr val="007C9B"/>
                </a:solidFill>
                <a:latin typeface="Alibaba PuHuiTi 3.0 115 Black" panose="00020600040101010101" charset="-122"/>
              </a:defRPr>
            </a:pPr>
            <a:r>
              <a:t>在1秒内：2个采样点</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提高采样率，时间轴上的什么变了？</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1005840" y="2432304"/>
            <a:ext cx="9747504"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1097280" y="1737360"/>
            <a:ext cx="0" cy="1399032"/>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9" name="TextBox 8"/>
          <p:cNvSpPr>
            <a:spLocks noGrp="1"/>
          </p:cNvSpPr>
          <p:nvPr/>
        </p:nvSpPr>
        <p:spPr>
          <a:xfrm>
            <a:off x="1005840" y="1197864"/>
            <a:ext cx="9747504"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采样点较少</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flipV="1">
            <a:off x="1124712" y="2358641"/>
            <a:ext cx="91074" cy="599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215786" y="2299460"/>
            <a:ext cx="91074" cy="591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306860" y="2241802"/>
            <a:ext cx="91074" cy="5765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397934" y="2186403"/>
            <a:ext cx="91074" cy="553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489008" y="2133970"/>
            <a:ext cx="91075" cy="524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580083" y="2085174"/>
            <a:ext cx="91074" cy="4879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671157" y="2040638"/>
            <a:ext cx="91074" cy="4453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762231" y="2000931"/>
            <a:ext cx="91074" cy="397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853305" y="1966561"/>
            <a:ext cx="91075" cy="3437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1944380" y="1937966"/>
            <a:ext cx="91074" cy="285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35454" y="1915513"/>
            <a:ext cx="91074" cy="2245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126528" y="1899487"/>
            <a:ext cx="91074" cy="1602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2217602" y="1890094"/>
            <a:ext cx="91075" cy="93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flipV="1">
            <a:off x="2308677" y="1887454"/>
            <a:ext cx="91074" cy="264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399751" y="1887454"/>
            <a:ext cx="91074" cy="41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490825" y="1891601"/>
            <a:ext cx="91074" cy="108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581899" y="1902481"/>
            <a:ext cx="91075" cy="1747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672974" y="1919956"/>
            <a:ext cx="91074" cy="2384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764048" y="1943801"/>
            <a:ext cx="91074" cy="299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855122" y="1973714"/>
            <a:ext cx="91074" cy="3559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2946196" y="2009310"/>
            <a:ext cx="91075" cy="4082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037271" y="2050136"/>
            <a:ext cx="91074" cy="4553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128345" y="2095670"/>
            <a:ext cx="91074" cy="4966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219419" y="2145330"/>
            <a:ext cx="91074" cy="5315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310493" y="2198482"/>
            <a:ext cx="91075" cy="5596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401568" y="2254445"/>
            <a:ext cx="91074" cy="5806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492642" y="2312507"/>
            <a:ext cx="91074" cy="5941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583716" y="2371923"/>
            <a:ext cx="91074" cy="600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674790" y="2431936"/>
            <a:ext cx="91074" cy="5984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765864" y="2491778"/>
            <a:ext cx="91075" cy="589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856939" y="2550685"/>
            <a:ext cx="91074" cy="572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3948013" y="2607905"/>
            <a:ext cx="91074" cy="548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039087" y="2662705"/>
            <a:ext cx="91074" cy="516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130161" y="2714386"/>
            <a:ext cx="91075" cy="479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221236" y="2762287"/>
            <a:ext cx="91074" cy="4351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312310" y="2805797"/>
            <a:ext cx="91074" cy="3856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4403384" y="2844360"/>
            <a:ext cx="91074" cy="331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4494458" y="2877482"/>
            <a:ext cx="91075" cy="2725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a:off x="4585533" y="2904741"/>
            <a:ext cx="91074" cy="210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a:off x="4676607" y="2925788"/>
            <a:ext cx="91074" cy="1456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a:off x="4767681" y="2940354"/>
            <a:ext cx="91074" cy="78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a:off x="4858755" y="2948253"/>
            <a:ext cx="91075" cy="11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4949830" y="2943735"/>
            <a:ext cx="91074" cy="565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040904" y="2931374"/>
            <a:ext cx="91074" cy="1236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131978" y="2912461"/>
            <a:ext cx="91074" cy="189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223052" y="2887239"/>
            <a:ext cx="91075" cy="252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314127" y="2856027"/>
            <a:ext cx="91074" cy="3121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405201" y="2819227"/>
            <a:ext cx="91074" cy="368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496275" y="2777307"/>
            <a:ext cx="91074" cy="419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587349" y="2730804"/>
            <a:ext cx="91075" cy="4650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678424" y="2680312"/>
            <a:ext cx="91074" cy="5049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769498" y="2626475"/>
            <a:ext cx="91074" cy="5383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5860572" y="2569983"/>
            <a:ext cx="91074" cy="5649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5951646" y="2511555"/>
            <a:ext cx="91074" cy="584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042720" y="2451940"/>
            <a:ext cx="91075" cy="5961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133795" y="2391899"/>
            <a:ext cx="91074" cy="6004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224869" y="2332199"/>
            <a:ext cx="91074" cy="597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315943" y="2273602"/>
            <a:ext cx="91074" cy="585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407017" y="2216858"/>
            <a:ext cx="91075" cy="5674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498092" y="2162692"/>
            <a:ext cx="91074" cy="5416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589166" y="2111795"/>
            <a:ext cx="91074" cy="508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6680240" y="2064819"/>
            <a:ext cx="91074" cy="469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6771314" y="2022362"/>
            <a:ext cx="91075" cy="4245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flipV="1">
            <a:off x="6862389" y="1984969"/>
            <a:ext cx="91074" cy="373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flipV="1">
            <a:off x="6953463" y="1953115"/>
            <a:ext cx="91074" cy="3185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flipV="1">
            <a:off x="7044537" y="1927210"/>
            <a:ext cx="91074" cy="259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flipV="1">
            <a:off x="7135611" y="1907582"/>
            <a:ext cx="91075" cy="196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flipV="1">
            <a:off x="7226686" y="1894485"/>
            <a:ext cx="91074" cy="130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flipV="1">
            <a:off x="7317760" y="1888083"/>
            <a:ext cx="91074" cy="640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408834" y="1888083"/>
            <a:ext cx="91074" cy="37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499908" y="1888461"/>
            <a:ext cx="91075" cy="715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7590983" y="1895612"/>
            <a:ext cx="91074" cy="138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7682057" y="1909445"/>
            <a:ext cx="91074" cy="2033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7773131" y="1929783"/>
            <a:ext cx="91074" cy="2658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7864205" y="1956368"/>
            <a:ext cx="91075" cy="3249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7955280" y="1988858"/>
            <a:ext cx="91074" cy="379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046354" y="2026839"/>
            <a:ext cx="91074" cy="4298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137428" y="2069826"/>
            <a:ext cx="91074" cy="4744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228502" y="2117268"/>
            <a:ext cx="91074" cy="512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319576" y="2168561"/>
            <a:ext cx="91075" cy="5448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410651" y="2223049"/>
            <a:ext cx="91074" cy="569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8501725" y="2280035"/>
            <a:ext cx="91074" cy="5875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592799" y="2338791"/>
            <a:ext cx="91074" cy="597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8683873" y="2398567"/>
            <a:ext cx="91075" cy="600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8774948" y="2458599"/>
            <a:ext cx="91074" cy="5952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8866022" y="2518120"/>
            <a:ext cx="91074" cy="5824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8957096" y="2576369"/>
            <a:ext cx="91074" cy="562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9048170" y="2632601"/>
            <a:ext cx="91075" cy="534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a:off x="9139245" y="2686100"/>
            <a:ext cx="91074" cy="500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a:off x="9230319" y="2736180"/>
            <a:ext cx="91074" cy="460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a:off x="9321393" y="2782202"/>
            <a:ext cx="91074" cy="413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a:off x="9412467" y="2823578"/>
            <a:ext cx="91075" cy="362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a:off x="9503542" y="2859779"/>
            <a:ext cx="91074" cy="3056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a:off x="9594616" y="2890343"/>
            <a:ext cx="91074" cy="2453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a:off x="9685690" y="2914880"/>
            <a:ext cx="91074" cy="181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a:off x="9776764" y="2933075"/>
            <a:ext cx="91075" cy="1162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a:off x="9867839" y="2944696"/>
            <a:ext cx="91074" cy="48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9958913" y="2947709"/>
            <a:ext cx="91074" cy="18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049987" y="2939062"/>
            <a:ext cx="91074" cy="86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9" name="Connector 108"/>
          <p:cNvSpPr>
            <a:spLocks noGrp="1"/>
          </p:cNvSpPr>
          <p:nvPr/>
        </p:nvSpPr>
        <p:spPr>
          <a:xfrm flipV="1">
            <a:off x="10141061" y="2923765"/>
            <a:ext cx="91075" cy="152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10" name="Oval 109"/>
          <p:cNvSpPr>
            <a:spLocks noGrp="1"/>
          </p:cNvSpPr>
          <p:nvPr/>
        </p:nvSpPr>
        <p:spPr>
          <a:xfrm>
            <a:off x="1063447" y="2357323"/>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1" name="Oval 110"/>
          <p:cNvSpPr>
            <a:spLocks noGrp="1"/>
          </p:cNvSpPr>
          <p:nvPr/>
        </p:nvSpPr>
        <p:spPr>
          <a:xfrm>
            <a:off x="2201875" y="1832687"/>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2" name="Oval 111"/>
          <p:cNvSpPr>
            <a:spLocks noGrp="1"/>
          </p:cNvSpPr>
          <p:nvPr/>
        </p:nvSpPr>
        <p:spPr>
          <a:xfrm>
            <a:off x="3340303" y="2193181"/>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3" name="Oval 112"/>
          <p:cNvSpPr>
            <a:spLocks noGrp="1"/>
          </p:cNvSpPr>
          <p:nvPr/>
        </p:nvSpPr>
        <p:spPr>
          <a:xfrm>
            <a:off x="4478731" y="2830603"/>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4" name="Oval 113"/>
          <p:cNvSpPr>
            <a:spLocks noGrp="1"/>
          </p:cNvSpPr>
          <p:nvPr/>
        </p:nvSpPr>
        <p:spPr>
          <a:xfrm>
            <a:off x="5617159" y="2669540"/>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5" name="Oval 114"/>
          <p:cNvSpPr>
            <a:spLocks noGrp="1"/>
          </p:cNvSpPr>
          <p:nvPr/>
        </p:nvSpPr>
        <p:spPr>
          <a:xfrm>
            <a:off x="6755587" y="1981725"/>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6" name="Oval 115"/>
          <p:cNvSpPr>
            <a:spLocks noGrp="1"/>
          </p:cNvSpPr>
          <p:nvPr/>
        </p:nvSpPr>
        <p:spPr>
          <a:xfrm>
            <a:off x="7894015" y="1927593"/>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7" name="Oval 116"/>
          <p:cNvSpPr>
            <a:spLocks noGrp="1"/>
          </p:cNvSpPr>
          <p:nvPr/>
        </p:nvSpPr>
        <p:spPr>
          <a:xfrm>
            <a:off x="9032443" y="2598471"/>
            <a:ext cx="122529" cy="122529"/>
          </a:xfrm>
          <a:prstGeom prst="ellipse">
            <a:avLst/>
          </a:prstGeom>
          <a:solidFill>
            <a:srgbClr val="8C64E1"/>
          </a:solidFill>
          <a:ln w="127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8" name="Connector 117"/>
          <p:cNvSpPr>
            <a:spLocks noGrp="1"/>
          </p:cNvSpPr>
          <p:nvPr/>
        </p:nvSpPr>
        <p:spPr>
          <a:xfrm>
            <a:off x="1005840" y="4535424"/>
            <a:ext cx="9747504"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19" name="Connector 118"/>
          <p:cNvSpPr>
            <a:spLocks noGrp="1"/>
          </p:cNvSpPr>
          <p:nvPr/>
        </p:nvSpPr>
        <p:spPr>
          <a:xfrm>
            <a:off x="1097280" y="3840480"/>
            <a:ext cx="0" cy="1399032"/>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122" name="TextBox 121"/>
          <p:cNvSpPr>
            <a:spLocks noGrp="1"/>
          </p:cNvSpPr>
          <p:nvPr/>
        </p:nvSpPr>
        <p:spPr>
          <a:xfrm>
            <a:off x="1005840" y="3300984"/>
            <a:ext cx="9747504"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采样点较多</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3" name="Connector 122"/>
          <p:cNvSpPr>
            <a:spLocks noGrp="1"/>
          </p:cNvSpPr>
          <p:nvPr/>
        </p:nvSpPr>
        <p:spPr>
          <a:xfrm flipV="1">
            <a:off x="1124712" y="4461761"/>
            <a:ext cx="91074" cy="599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4" name="Connector 123"/>
          <p:cNvSpPr>
            <a:spLocks noGrp="1"/>
          </p:cNvSpPr>
          <p:nvPr/>
        </p:nvSpPr>
        <p:spPr>
          <a:xfrm flipV="1">
            <a:off x="1215786" y="4402580"/>
            <a:ext cx="91074" cy="591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5" name="Connector 124"/>
          <p:cNvSpPr>
            <a:spLocks noGrp="1"/>
          </p:cNvSpPr>
          <p:nvPr/>
        </p:nvSpPr>
        <p:spPr>
          <a:xfrm flipV="1">
            <a:off x="1306860" y="4344922"/>
            <a:ext cx="91074" cy="5765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6" name="Connector 125"/>
          <p:cNvSpPr>
            <a:spLocks noGrp="1"/>
          </p:cNvSpPr>
          <p:nvPr/>
        </p:nvSpPr>
        <p:spPr>
          <a:xfrm flipV="1">
            <a:off x="1397934" y="4289523"/>
            <a:ext cx="91074" cy="553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7" name="Connector 126"/>
          <p:cNvSpPr>
            <a:spLocks noGrp="1"/>
          </p:cNvSpPr>
          <p:nvPr/>
        </p:nvSpPr>
        <p:spPr>
          <a:xfrm flipV="1">
            <a:off x="1489008" y="4237090"/>
            <a:ext cx="91075" cy="524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8" name="Connector 127"/>
          <p:cNvSpPr>
            <a:spLocks noGrp="1"/>
          </p:cNvSpPr>
          <p:nvPr/>
        </p:nvSpPr>
        <p:spPr>
          <a:xfrm flipV="1">
            <a:off x="1580083" y="4188294"/>
            <a:ext cx="91074" cy="4879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9" name="Connector 128"/>
          <p:cNvSpPr>
            <a:spLocks noGrp="1"/>
          </p:cNvSpPr>
          <p:nvPr/>
        </p:nvSpPr>
        <p:spPr>
          <a:xfrm flipV="1">
            <a:off x="1671157" y="4143758"/>
            <a:ext cx="91074" cy="4453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0" name="Connector 129"/>
          <p:cNvSpPr>
            <a:spLocks noGrp="1"/>
          </p:cNvSpPr>
          <p:nvPr/>
        </p:nvSpPr>
        <p:spPr>
          <a:xfrm flipV="1">
            <a:off x="1762231" y="4104051"/>
            <a:ext cx="91074" cy="397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1" name="Connector 130"/>
          <p:cNvSpPr>
            <a:spLocks noGrp="1"/>
          </p:cNvSpPr>
          <p:nvPr/>
        </p:nvSpPr>
        <p:spPr>
          <a:xfrm flipV="1">
            <a:off x="1853305" y="4069681"/>
            <a:ext cx="91075" cy="3437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2" name="Connector 131"/>
          <p:cNvSpPr>
            <a:spLocks noGrp="1"/>
          </p:cNvSpPr>
          <p:nvPr/>
        </p:nvSpPr>
        <p:spPr>
          <a:xfrm flipV="1">
            <a:off x="1944380" y="4041086"/>
            <a:ext cx="91074" cy="285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3" name="Connector 132"/>
          <p:cNvSpPr>
            <a:spLocks noGrp="1"/>
          </p:cNvSpPr>
          <p:nvPr/>
        </p:nvSpPr>
        <p:spPr>
          <a:xfrm flipV="1">
            <a:off x="2035454" y="4018633"/>
            <a:ext cx="91074" cy="2245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4" name="Connector 133"/>
          <p:cNvSpPr>
            <a:spLocks noGrp="1"/>
          </p:cNvSpPr>
          <p:nvPr/>
        </p:nvSpPr>
        <p:spPr>
          <a:xfrm flipV="1">
            <a:off x="2126528" y="4002607"/>
            <a:ext cx="91074" cy="1602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5" name="Connector 134"/>
          <p:cNvSpPr>
            <a:spLocks noGrp="1"/>
          </p:cNvSpPr>
          <p:nvPr/>
        </p:nvSpPr>
        <p:spPr>
          <a:xfrm flipV="1">
            <a:off x="2217602" y="3993214"/>
            <a:ext cx="91075" cy="93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6" name="Connector 135"/>
          <p:cNvSpPr>
            <a:spLocks noGrp="1"/>
          </p:cNvSpPr>
          <p:nvPr/>
        </p:nvSpPr>
        <p:spPr>
          <a:xfrm flipV="1">
            <a:off x="2308677" y="3990574"/>
            <a:ext cx="91074" cy="264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7" name="Connector 136"/>
          <p:cNvSpPr>
            <a:spLocks noGrp="1"/>
          </p:cNvSpPr>
          <p:nvPr/>
        </p:nvSpPr>
        <p:spPr>
          <a:xfrm>
            <a:off x="2399751" y="3990574"/>
            <a:ext cx="91074" cy="41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8" name="Connector 137"/>
          <p:cNvSpPr>
            <a:spLocks noGrp="1"/>
          </p:cNvSpPr>
          <p:nvPr/>
        </p:nvSpPr>
        <p:spPr>
          <a:xfrm>
            <a:off x="2490825" y="3994721"/>
            <a:ext cx="91074" cy="108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9" name="Connector 138"/>
          <p:cNvSpPr>
            <a:spLocks noGrp="1"/>
          </p:cNvSpPr>
          <p:nvPr/>
        </p:nvSpPr>
        <p:spPr>
          <a:xfrm>
            <a:off x="2581899" y="4005601"/>
            <a:ext cx="91075" cy="1747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0" name="Connector 139"/>
          <p:cNvSpPr>
            <a:spLocks noGrp="1"/>
          </p:cNvSpPr>
          <p:nvPr/>
        </p:nvSpPr>
        <p:spPr>
          <a:xfrm>
            <a:off x="2672974" y="4023076"/>
            <a:ext cx="91074" cy="2384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1" name="Connector 140"/>
          <p:cNvSpPr>
            <a:spLocks noGrp="1"/>
          </p:cNvSpPr>
          <p:nvPr/>
        </p:nvSpPr>
        <p:spPr>
          <a:xfrm>
            <a:off x="2764048" y="4046921"/>
            <a:ext cx="91074" cy="299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2" name="Connector 141"/>
          <p:cNvSpPr>
            <a:spLocks noGrp="1"/>
          </p:cNvSpPr>
          <p:nvPr/>
        </p:nvSpPr>
        <p:spPr>
          <a:xfrm>
            <a:off x="2855122" y="4076834"/>
            <a:ext cx="91074" cy="3559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3" name="Connector 142"/>
          <p:cNvSpPr>
            <a:spLocks noGrp="1"/>
          </p:cNvSpPr>
          <p:nvPr/>
        </p:nvSpPr>
        <p:spPr>
          <a:xfrm>
            <a:off x="2946196" y="4112430"/>
            <a:ext cx="91075" cy="4082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4" name="Connector 143"/>
          <p:cNvSpPr>
            <a:spLocks noGrp="1"/>
          </p:cNvSpPr>
          <p:nvPr/>
        </p:nvSpPr>
        <p:spPr>
          <a:xfrm>
            <a:off x="3037271" y="4153256"/>
            <a:ext cx="91074" cy="4553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5" name="Connector 144"/>
          <p:cNvSpPr>
            <a:spLocks noGrp="1"/>
          </p:cNvSpPr>
          <p:nvPr/>
        </p:nvSpPr>
        <p:spPr>
          <a:xfrm>
            <a:off x="3128345" y="4198790"/>
            <a:ext cx="91074" cy="4966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6" name="Connector 145"/>
          <p:cNvSpPr>
            <a:spLocks noGrp="1"/>
          </p:cNvSpPr>
          <p:nvPr/>
        </p:nvSpPr>
        <p:spPr>
          <a:xfrm>
            <a:off x="3219419" y="4248450"/>
            <a:ext cx="91074" cy="5315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7" name="Connector 146"/>
          <p:cNvSpPr>
            <a:spLocks noGrp="1"/>
          </p:cNvSpPr>
          <p:nvPr/>
        </p:nvSpPr>
        <p:spPr>
          <a:xfrm>
            <a:off x="3310493" y="4301602"/>
            <a:ext cx="91075" cy="5596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8" name="Connector 147"/>
          <p:cNvSpPr>
            <a:spLocks noGrp="1"/>
          </p:cNvSpPr>
          <p:nvPr/>
        </p:nvSpPr>
        <p:spPr>
          <a:xfrm>
            <a:off x="3401568" y="4357565"/>
            <a:ext cx="91074" cy="5806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9" name="Connector 148"/>
          <p:cNvSpPr>
            <a:spLocks noGrp="1"/>
          </p:cNvSpPr>
          <p:nvPr/>
        </p:nvSpPr>
        <p:spPr>
          <a:xfrm>
            <a:off x="3492642" y="4415627"/>
            <a:ext cx="91074" cy="5941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0" name="Connector 149"/>
          <p:cNvSpPr>
            <a:spLocks noGrp="1"/>
          </p:cNvSpPr>
          <p:nvPr/>
        </p:nvSpPr>
        <p:spPr>
          <a:xfrm>
            <a:off x="3583716" y="4475043"/>
            <a:ext cx="91074" cy="600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1" name="Connector 150"/>
          <p:cNvSpPr>
            <a:spLocks noGrp="1"/>
          </p:cNvSpPr>
          <p:nvPr/>
        </p:nvSpPr>
        <p:spPr>
          <a:xfrm>
            <a:off x="3674790" y="4535056"/>
            <a:ext cx="91074" cy="5984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2" name="Connector 151"/>
          <p:cNvSpPr>
            <a:spLocks noGrp="1"/>
          </p:cNvSpPr>
          <p:nvPr/>
        </p:nvSpPr>
        <p:spPr>
          <a:xfrm>
            <a:off x="3765864" y="4594898"/>
            <a:ext cx="91075" cy="589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3" name="Connector 152"/>
          <p:cNvSpPr>
            <a:spLocks noGrp="1"/>
          </p:cNvSpPr>
          <p:nvPr/>
        </p:nvSpPr>
        <p:spPr>
          <a:xfrm>
            <a:off x="3856939" y="4653805"/>
            <a:ext cx="91074" cy="572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4" name="Connector 153"/>
          <p:cNvSpPr>
            <a:spLocks noGrp="1"/>
          </p:cNvSpPr>
          <p:nvPr/>
        </p:nvSpPr>
        <p:spPr>
          <a:xfrm>
            <a:off x="3948013" y="4711025"/>
            <a:ext cx="91074" cy="548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5" name="Connector 154"/>
          <p:cNvSpPr>
            <a:spLocks noGrp="1"/>
          </p:cNvSpPr>
          <p:nvPr/>
        </p:nvSpPr>
        <p:spPr>
          <a:xfrm>
            <a:off x="4039087" y="4765825"/>
            <a:ext cx="91074" cy="516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6" name="Connector 155"/>
          <p:cNvSpPr>
            <a:spLocks noGrp="1"/>
          </p:cNvSpPr>
          <p:nvPr/>
        </p:nvSpPr>
        <p:spPr>
          <a:xfrm>
            <a:off x="4130161" y="4817506"/>
            <a:ext cx="91075" cy="479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7" name="Connector 156"/>
          <p:cNvSpPr>
            <a:spLocks noGrp="1"/>
          </p:cNvSpPr>
          <p:nvPr/>
        </p:nvSpPr>
        <p:spPr>
          <a:xfrm>
            <a:off x="4221236" y="4865407"/>
            <a:ext cx="91074" cy="4351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8" name="Connector 157"/>
          <p:cNvSpPr>
            <a:spLocks noGrp="1"/>
          </p:cNvSpPr>
          <p:nvPr/>
        </p:nvSpPr>
        <p:spPr>
          <a:xfrm>
            <a:off x="4312310" y="4908917"/>
            <a:ext cx="91074" cy="3856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9" name="Connector 158"/>
          <p:cNvSpPr>
            <a:spLocks noGrp="1"/>
          </p:cNvSpPr>
          <p:nvPr/>
        </p:nvSpPr>
        <p:spPr>
          <a:xfrm>
            <a:off x="4403384" y="4947480"/>
            <a:ext cx="91074" cy="331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0" name="Connector 159"/>
          <p:cNvSpPr>
            <a:spLocks noGrp="1"/>
          </p:cNvSpPr>
          <p:nvPr/>
        </p:nvSpPr>
        <p:spPr>
          <a:xfrm>
            <a:off x="4494458" y="4980602"/>
            <a:ext cx="91075" cy="2725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1" name="Connector 160"/>
          <p:cNvSpPr>
            <a:spLocks noGrp="1"/>
          </p:cNvSpPr>
          <p:nvPr/>
        </p:nvSpPr>
        <p:spPr>
          <a:xfrm>
            <a:off x="4585533" y="5007861"/>
            <a:ext cx="91074" cy="210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2" name="Connector 161"/>
          <p:cNvSpPr>
            <a:spLocks noGrp="1"/>
          </p:cNvSpPr>
          <p:nvPr/>
        </p:nvSpPr>
        <p:spPr>
          <a:xfrm>
            <a:off x="4676607" y="5028908"/>
            <a:ext cx="91074" cy="1456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3" name="Connector 162"/>
          <p:cNvSpPr>
            <a:spLocks noGrp="1"/>
          </p:cNvSpPr>
          <p:nvPr/>
        </p:nvSpPr>
        <p:spPr>
          <a:xfrm>
            <a:off x="4767681" y="5043474"/>
            <a:ext cx="91074" cy="78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4" name="Connector 163"/>
          <p:cNvSpPr>
            <a:spLocks noGrp="1"/>
          </p:cNvSpPr>
          <p:nvPr/>
        </p:nvSpPr>
        <p:spPr>
          <a:xfrm>
            <a:off x="4858755" y="5051373"/>
            <a:ext cx="91075" cy="11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5" name="Connector 164"/>
          <p:cNvSpPr>
            <a:spLocks noGrp="1"/>
          </p:cNvSpPr>
          <p:nvPr/>
        </p:nvSpPr>
        <p:spPr>
          <a:xfrm flipV="1">
            <a:off x="4949830" y="5046855"/>
            <a:ext cx="91074" cy="565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6" name="Connector 165"/>
          <p:cNvSpPr>
            <a:spLocks noGrp="1"/>
          </p:cNvSpPr>
          <p:nvPr/>
        </p:nvSpPr>
        <p:spPr>
          <a:xfrm flipV="1">
            <a:off x="5040904" y="5034494"/>
            <a:ext cx="91074" cy="1236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7" name="Connector 166"/>
          <p:cNvSpPr>
            <a:spLocks noGrp="1"/>
          </p:cNvSpPr>
          <p:nvPr/>
        </p:nvSpPr>
        <p:spPr>
          <a:xfrm flipV="1">
            <a:off x="5131978" y="5015581"/>
            <a:ext cx="91074" cy="1891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8" name="Connector 167"/>
          <p:cNvSpPr>
            <a:spLocks noGrp="1"/>
          </p:cNvSpPr>
          <p:nvPr/>
        </p:nvSpPr>
        <p:spPr>
          <a:xfrm flipV="1">
            <a:off x="5223052" y="4990359"/>
            <a:ext cx="91075" cy="252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9" name="Connector 168"/>
          <p:cNvSpPr>
            <a:spLocks noGrp="1"/>
          </p:cNvSpPr>
          <p:nvPr/>
        </p:nvSpPr>
        <p:spPr>
          <a:xfrm flipV="1">
            <a:off x="5314127" y="4959147"/>
            <a:ext cx="91074" cy="3121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0" name="Connector 169"/>
          <p:cNvSpPr>
            <a:spLocks noGrp="1"/>
          </p:cNvSpPr>
          <p:nvPr/>
        </p:nvSpPr>
        <p:spPr>
          <a:xfrm flipV="1">
            <a:off x="5405201" y="4922347"/>
            <a:ext cx="91074" cy="368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1" name="Connector 170"/>
          <p:cNvSpPr>
            <a:spLocks noGrp="1"/>
          </p:cNvSpPr>
          <p:nvPr/>
        </p:nvSpPr>
        <p:spPr>
          <a:xfrm flipV="1">
            <a:off x="5496275" y="4880427"/>
            <a:ext cx="91074" cy="419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2" name="Connector 171"/>
          <p:cNvSpPr>
            <a:spLocks noGrp="1"/>
          </p:cNvSpPr>
          <p:nvPr/>
        </p:nvSpPr>
        <p:spPr>
          <a:xfrm flipV="1">
            <a:off x="5587349" y="4833924"/>
            <a:ext cx="91075" cy="4650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3" name="Connector 172"/>
          <p:cNvSpPr>
            <a:spLocks noGrp="1"/>
          </p:cNvSpPr>
          <p:nvPr/>
        </p:nvSpPr>
        <p:spPr>
          <a:xfrm flipV="1">
            <a:off x="5678424" y="4783432"/>
            <a:ext cx="91074" cy="5049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4" name="Connector 173"/>
          <p:cNvSpPr>
            <a:spLocks noGrp="1"/>
          </p:cNvSpPr>
          <p:nvPr/>
        </p:nvSpPr>
        <p:spPr>
          <a:xfrm flipV="1">
            <a:off x="5769498" y="4729595"/>
            <a:ext cx="91074" cy="5383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5" name="Connector 174"/>
          <p:cNvSpPr>
            <a:spLocks noGrp="1"/>
          </p:cNvSpPr>
          <p:nvPr/>
        </p:nvSpPr>
        <p:spPr>
          <a:xfrm flipV="1">
            <a:off x="5860572" y="4673103"/>
            <a:ext cx="91074" cy="5649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6" name="Connector 175"/>
          <p:cNvSpPr>
            <a:spLocks noGrp="1"/>
          </p:cNvSpPr>
          <p:nvPr/>
        </p:nvSpPr>
        <p:spPr>
          <a:xfrm flipV="1">
            <a:off x="5951646" y="4614675"/>
            <a:ext cx="91074" cy="584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7" name="Connector 176"/>
          <p:cNvSpPr>
            <a:spLocks noGrp="1"/>
          </p:cNvSpPr>
          <p:nvPr/>
        </p:nvSpPr>
        <p:spPr>
          <a:xfrm flipV="1">
            <a:off x="6042720" y="4555060"/>
            <a:ext cx="91075" cy="5961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8" name="Connector 177"/>
          <p:cNvSpPr>
            <a:spLocks noGrp="1"/>
          </p:cNvSpPr>
          <p:nvPr/>
        </p:nvSpPr>
        <p:spPr>
          <a:xfrm flipV="1">
            <a:off x="6133795" y="4495019"/>
            <a:ext cx="91074" cy="6004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9" name="Connector 178"/>
          <p:cNvSpPr>
            <a:spLocks noGrp="1"/>
          </p:cNvSpPr>
          <p:nvPr/>
        </p:nvSpPr>
        <p:spPr>
          <a:xfrm flipV="1">
            <a:off x="6224869" y="4435319"/>
            <a:ext cx="91074" cy="5970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0" name="Connector 179"/>
          <p:cNvSpPr>
            <a:spLocks noGrp="1"/>
          </p:cNvSpPr>
          <p:nvPr/>
        </p:nvSpPr>
        <p:spPr>
          <a:xfrm flipV="1">
            <a:off x="6315943" y="4376722"/>
            <a:ext cx="91074" cy="585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1" name="Connector 180"/>
          <p:cNvSpPr>
            <a:spLocks noGrp="1"/>
          </p:cNvSpPr>
          <p:nvPr/>
        </p:nvSpPr>
        <p:spPr>
          <a:xfrm flipV="1">
            <a:off x="6407017" y="4319978"/>
            <a:ext cx="91075" cy="5674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2" name="Connector 181"/>
          <p:cNvSpPr>
            <a:spLocks noGrp="1"/>
          </p:cNvSpPr>
          <p:nvPr/>
        </p:nvSpPr>
        <p:spPr>
          <a:xfrm flipV="1">
            <a:off x="6498092" y="4265812"/>
            <a:ext cx="91074" cy="5416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3" name="Connector 182"/>
          <p:cNvSpPr>
            <a:spLocks noGrp="1"/>
          </p:cNvSpPr>
          <p:nvPr/>
        </p:nvSpPr>
        <p:spPr>
          <a:xfrm flipV="1">
            <a:off x="6589166" y="4214915"/>
            <a:ext cx="91074" cy="508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4" name="Connector 183"/>
          <p:cNvSpPr>
            <a:spLocks noGrp="1"/>
          </p:cNvSpPr>
          <p:nvPr/>
        </p:nvSpPr>
        <p:spPr>
          <a:xfrm flipV="1">
            <a:off x="6680240" y="4167939"/>
            <a:ext cx="91074" cy="469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5" name="Connector 184"/>
          <p:cNvSpPr>
            <a:spLocks noGrp="1"/>
          </p:cNvSpPr>
          <p:nvPr/>
        </p:nvSpPr>
        <p:spPr>
          <a:xfrm flipV="1">
            <a:off x="6771314" y="4125482"/>
            <a:ext cx="91075" cy="4245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6" name="Connector 185"/>
          <p:cNvSpPr>
            <a:spLocks noGrp="1"/>
          </p:cNvSpPr>
          <p:nvPr/>
        </p:nvSpPr>
        <p:spPr>
          <a:xfrm flipV="1">
            <a:off x="6862389" y="4088089"/>
            <a:ext cx="91074" cy="373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7" name="Connector 186"/>
          <p:cNvSpPr>
            <a:spLocks noGrp="1"/>
          </p:cNvSpPr>
          <p:nvPr/>
        </p:nvSpPr>
        <p:spPr>
          <a:xfrm flipV="1">
            <a:off x="6953463" y="4056235"/>
            <a:ext cx="91074" cy="3185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8" name="Connector 187"/>
          <p:cNvSpPr>
            <a:spLocks noGrp="1"/>
          </p:cNvSpPr>
          <p:nvPr/>
        </p:nvSpPr>
        <p:spPr>
          <a:xfrm flipV="1">
            <a:off x="7044537" y="4030330"/>
            <a:ext cx="91074" cy="259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9" name="Connector 188"/>
          <p:cNvSpPr>
            <a:spLocks noGrp="1"/>
          </p:cNvSpPr>
          <p:nvPr/>
        </p:nvSpPr>
        <p:spPr>
          <a:xfrm flipV="1">
            <a:off x="7135611" y="4010702"/>
            <a:ext cx="91075" cy="196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0" name="Connector 189"/>
          <p:cNvSpPr>
            <a:spLocks noGrp="1"/>
          </p:cNvSpPr>
          <p:nvPr/>
        </p:nvSpPr>
        <p:spPr>
          <a:xfrm flipV="1">
            <a:off x="7226686" y="3997605"/>
            <a:ext cx="91074" cy="130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1" name="Connector 190"/>
          <p:cNvSpPr>
            <a:spLocks noGrp="1"/>
          </p:cNvSpPr>
          <p:nvPr/>
        </p:nvSpPr>
        <p:spPr>
          <a:xfrm flipV="1">
            <a:off x="7317760" y="3991203"/>
            <a:ext cx="91074" cy="640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2" name="Connector 191"/>
          <p:cNvSpPr>
            <a:spLocks noGrp="1"/>
          </p:cNvSpPr>
          <p:nvPr/>
        </p:nvSpPr>
        <p:spPr>
          <a:xfrm>
            <a:off x="7408834" y="3991203"/>
            <a:ext cx="91074" cy="37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3" name="Connector 192"/>
          <p:cNvSpPr>
            <a:spLocks noGrp="1"/>
          </p:cNvSpPr>
          <p:nvPr/>
        </p:nvSpPr>
        <p:spPr>
          <a:xfrm>
            <a:off x="7499908" y="3991581"/>
            <a:ext cx="91075" cy="715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4" name="Connector 193"/>
          <p:cNvSpPr>
            <a:spLocks noGrp="1"/>
          </p:cNvSpPr>
          <p:nvPr/>
        </p:nvSpPr>
        <p:spPr>
          <a:xfrm>
            <a:off x="7590983" y="3998732"/>
            <a:ext cx="91074" cy="138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5" name="Connector 194"/>
          <p:cNvSpPr>
            <a:spLocks noGrp="1"/>
          </p:cNvSpPr>
          <p:nvPr/>
        </p:nvSpPr>
        <p:spPr>
          <a:xfrm>
            <a:off x="7682057" y="4012565"/>
            <a:ext cx="91074" cy="2033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6" name="Connector 195"/>
          <p:cNvSpPr>
            <a:spLocks noGrp="1"/>
          </p:cNvSpPr>
          <p:nvPr/>
        </p:nvSpPr>
        <p:spPr>
          <a:xfrm>
            <a:off x="7773131" y="4032903"/>
            <a:ext cx="91074" cy="2658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7" name="Connector 196"/>
          <p:cNvSpPr>
            <a:spLocks noGrp="1"/>
          </p:cNvSpPr>
          <p:nvPr/>
        </p:nvSpPr>
        <p:spPr>
          <a:xfrm>
            <a:off x="7864205" y="4059488"/>
            <a:ext cx="91075" cy="3249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8" name="Connector 197"/>
          <p:cNvSpPr>
            <a:spLocks noGrp="1"/>
          </p:cNvSpPr>
          <p:nvPr/>
        </p:nvSpPr>
        <p:spPr>
          <a:xfrm>
            <a:off x="7955280" y="4091978"/>
            <a:ext cx="91074" cy="3798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9" name="Connector 198"/>
          <p:cNvSpPr>
            <a:spLocks noGrp="1"/>
          </p:cNvSpPr>
          <p:nvPr/>
        </p:nvSpPr>
        <p:spPr>
          <a:xfrm>
            <a:off x="8046354" y="4129959"/>
            <a:ext cx="91074" cy="4298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0" name="Connector 199"/>
          <p:cNvSpPr>
            <a:spLocks noGrp="1"/>
          </p:cNvSpPr>
          <p:nvPr/>
        </p:nvSpPr>
        <p:spPr>
          <a:xfrm>
            <a:off x="8137428" y="4172946"/>
            <a:ext cx="91074" cy="4744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1" name="Connector 200"/>
          <p:cNvSpPr>
            <a:spLocks noGrp="1"/>
          </p:cNvSpPr>
          <p:nvPr/>
        </p:nvSpPr>
        <p:spPr>
          <a:xfrm>
            <a:off x="8228502" y="4220388"/>
            <a:ext cx="91074" cy="512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2" name="Connector 201"/>
          <p:cNvSpPr>
            <a:spLocks noGrp="1"/>
          </p:cNvSpPr>
          <p:nvPr/>
        </p:nvSpPr>
        <p:spPr>
          <a:xfrm>
            <a:off x="8319576" y="4271681"/>
            <a:ext cx="91075" cy="5448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3" name="Connector 202"/>
          <p:cNvSpPr>
            <a:spLocks noGrp="1"/>
          </p:cNvSpPr>
          <p:nvPr/>
        </p:nvSpPr>
        <p:spPr>
          <a:xfrm>
            <a:off x="8410651" y="4326169"/>
            <a:ext cx="91074" cy="569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4" name="Connector 203"/>
          <p:cNvSpPr>
            <a:spLocks noGrp="1"/>
          </p:cNvSpPr>
          <p:nvPr/>
        </p:nvSpPr>
        <p:spPr>
          <a:xfrm>
            <a:off x="8501725" y="4383155"/>
            <a:ext cx="91074" cy="5875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5" name="Connector 204"/>
          <p:cNvSpPr>
            <a:spLocks noGrp="1"/>
          </p:cNvSpPr>
          <p:nvPr/>
        </p:nvSpPr>
        <p:spPr>
          <a:xfrm>
            <a:off x="8592799" y="4441911"/>
            <a:ext cx="91074" cy="597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6" name="Connector 205"/>
          <p:cNvSpPr>
            <a:spLocks noGrp="1"/>
          </p:cNvSpPr>
          <p:nvPr/>
        </p:nvSpPr>
        <p:spPr>
          <a:xfrm>
            <a:off x="8683873" y="4501687"/>
            <a:ext cx="91075" cy="600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7" name="Connector 206"/>
          <p:cNvSpPr>
            <a:spLocks noGrp="1"/>
          </p:cNvSpPr>
          <p:nvPr/>
        </p:nvSpPr>
        <p:spPr>
          <a:xfrm>
            <a:off x="8774948" y="4561719"/>
            <a:ext cx="91074" cy="5952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8" name="Connector 207"/>
          <p:cNvSpPr>
            <a:spLocks noGrp="1"/>
          </p:cNvSpPr>
          <p:nvPr/>
        </p:nvSpPr>
        <p:spPr>
          <a:xfrm>
            <a:off x="8866022" y="4621240"/>
            <a:ext cx="91074" cy="5824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9" name="Connector 208"/>
          <p:cNvSpPr>
            <a:spLocks noGrp="1"/>
          </p:cNvSpPr>
          <p:nvPr/>
        </p:nvSpPr>
        <p:spPr>
          <a:xfrm>
            <a:off x="8957096" y="4679489"/>
            <a:ext cx="91074" cy="5623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0" name="Connector 209"/>
          <p:cNvSpPr>
            <a:spLocks noGrp="1"/>
          </p:cNvSpPr>
          <p:nvPr/>
        </p:nvSpPr>
        <p:spPr>
          <a:xfrm>
            <a:off x="9048170" y="4735721"/>
            <a:ext cx="91075" cy="534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1" name="Connector 210"/>
          <p:cNvSpPr>
            <a:spLocks noGrp="1"/>
          </p:cNvSpPr>
          <p:nvPr/>
        </p:nvSpPr>
        <p:spPr>
          <a:xfrm>
            <a:off x="9139245" y="4789220"/>
            <a:ext cx="91074" cy="500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2" name="Connector 211"/>
          <p:cNvSpPr>
            <a:spLocks noGrp="1"/>
          </p:cNvSpPr>
          <p:nvPr/>
        </p:nvSpPr>
        <p:spPr>
          <a:xfrm>
            <a:off x="9230319" y="4839300"/>
            <a:ext cx="91074" cy="4602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3" name="Connector 212"/>
          <p:cNvSpPr>
            <a:spLocks noGrp="1"/>
          </p:cNvSpPr>
          <p:nvPr/>
        </p:nvSpPr>
        <p:spPr>
          <a:xfrm>
            <a:off x="9321393" y="4885322"/>
            <a:ext cx="91074" cy="413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4" name="Connector 213"/>
          <p:cNvSpPr>
            <a:spLocks noGrp="1"/>
          </p:cNvSpPr>
          <p:nvPr/>
        </p:nvSpPr>
        <p:spPr>
          <a:xfrm>
            <a:off x="9412467" y="4926698"/>
            <a:ext cx="91075" cy="362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5" name="Connector 214"/>
          <p:cNvSpPr>
            <a:spLocks noGrp="1"/>
          </p:cNvSpPr>
          <p:nvPr/>
        </p:nvSpPr>
        <p:spPr>
          <a:xfrm>
            <a:off x="9503542" y="4962899"/>
            <a:ext cx="91074" cy="3056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6" name="Connector 215"/>
          <p:cNvSpPr>
            <a:spLocks noGrp="1"/>
          </p:cNvSpPr>
          <p:nvPr/>
        </p:nvSpPr>
        <p:spPr>
          <a:xfrm>
            <a:off x="9594616" y="4993463"/>
            <a:ext cx="91074" cy="2453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7" name="Connector 216"/>
          <p:cNvSpPr>
            <a:spLocks noGrp="1"/>
          </p:cNvSpPr>
          <p:nvPr/>
        </p:nvSpPr>
        <p:spPr>
          <a:xfrm>
            <a:off x="9685690" y="5018000"/>
            <a:ext cx="91074" cy="181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8" name="Connector 217"/>
          <p:cNvSpPr>
            <a:spLocks noGrp="1"/>
          </p:cNvSpPr>
          <p:nvPr/>
        </p:nvSpPr>
        <p:spPr>
          <a:xfrm>
            <a:off x="9776764" y="5036195"/>
            <a:ext cx="91075" cy="1162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9" name="Connector 218"/>
          <p:cNvSpPr>
            <a:spLocks noGrp="1"/>
          </p:cNvSpPr>
          <p:nvPr/>
        </p:nvSpPr>
        <p:spPr>
          <a:xfrm>
            <a:off x="9867839" y="5047816"/>
            <a:ext cx="91074" cy="48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0" name="Connector 219"/>
          <p:cNvSpPr>
            <a:spLocks noGrp="1"/>
          </p:cNvSpPr>
          <p:nvPr/>
        </p:nvSpPr>
        <p:spPr>
          <a:xfrm flipV="1">
            <a:off x="9958913" y="5050829"/>
            <a:ext cx="91074" cy="18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1" name="Connector 220"/>
          <p:cNvSpPr>
            <a:spLocks noGrp="1"/>
          </p:cNvSpPr>
          <p:nvPr/>
        </p:nvSpPr>
        <p:spPr>
          <a:xfrm flipV="1">
            <a:off x="10049987" y="5042182"/>
            <a:ext cx="91074" cy="86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2" name="Connector 221"/>
          <p:cNvSpPr>
            <a:spLocks noGrp="1"/>
          </p:cNvSpPr>
          <p:nvPr/>
        </p:nvSpPr>
        <p:spPr>
          <a:xfrm flipV="1">
            <a:off x="10141061" y="5026885"/>
            <a:ext cx="91075" cy="152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3" name="Oval 222"/>
          <p:cNvSpPr>
            <a:spLocks noGrp="1"/>
          </p:cNvSpPr>
          <p:nvPr/>
        </p:nvSpPr>
        <p:spPr>
          <a:xfrm>
            <a:off x="1063447" y="446044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4" name="Oval 223"/>
          <p:cNvSpPr>
            <a:spLocks noGrp="1"/>
          </p:cNvSpPr>
          <p:nvPr/>
        </p:nvSpPr>
        <p:spPr>
          <a:xfrm>
            <a:off x="1518818" y="417582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5" name="Oval 224"/>
          <p:cNvSpPr>
            <a:spLocks noGrp="1"/>
          </p:cNvSpPr>
          <p:nvPr/>
        </p:nvSpPr>
        <p:spPr>
          <a:xfrm>
            <a:off x="1974189" y="3979821"/>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6" name="Oval 225"/>
          <p:cNvSpPr>
            <a:spLocks noGrp="1"/>
          </p:cNvSpPr>
          <p:nvPr/>
        </p:nvSpPr>
        <p:spPr>
          <a:xfrm>
            <a:off x="2429560" y="3933456"/>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7" name="Oval 226"/>
          <p:cNvSpPr>
            <a:spLocks noGrp="1"/>
          </p:cNvSpPr>
          <p:nvPr/>
        </p:nvSpPr>
        <p:spPr>
          <a:xfrm>
            <a:off x="2884932" y="405116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8" name="Oval 227"/>
          <p:cNvSpPr>
            <a:spLocks noGrp="1"/>
          </p:cNvSpPr>
          <p:nvPr/>
        </p:nvSpPr>
        <p:spPr>
          <a:xfrm>
            <a:off x="3340303" y="4296301"/>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9" name="Oval 228"/>
          <p:cNvSpPr>
            <a:spLocks noGrp="1"/>
          </p:cNvSpPr>
          <p:nvPr/>
        </p:nvSpPr>
        <p:spPr>
          <a:xfrm>
            <a:off x="3795674" y="4592541"/>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0" name="Oval 229"/>
          <p:cNvSpPr>
            <a:spLocks noGrp="1"/>
          </p:cNvSpPr>
          <p:nvPr/>
        </p:nvSpPr>
        <p:spPr>
          <a:xfrm>
            <a:off x="4251045" y="484765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1" name="Oval 230"/>
          <p:cNvSpPr>
            <a:spLocks noGrp="1"/>
          </p:cNvSpPr>
          <p:nvPr/>
        </p:nvSpPr>
        <p:spPr>
          <a:xfrm>
            <a:off x="4706416" y="498220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2" name="Oval 231"/>
          <p:cNvSpPr>
            <a:spLocks noGrp="1"/>
          </p:cNvSpPr>
          <p:nvPr/>
        </p:nvSpPr>
        <p:spPr>
          <a:xfrm>
            <a:off x="5161788" y="495431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3" name="Oval 232"/>
          <p:cNvSpPr>
            <a:spLocks noGrp="1"/>
          </p:cNvSpPr>
          <p:nvPr/>
        </p:nvSpPr>
        <p:spPr>
          <a:xfrm>
            <a:off x="5617159" y="4772660"/>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4" name="Oval 233"/>
          <p:cNvSpPr>
            <a:spLocks noGrp="1"/>
          </p:cNvSpPr>
          <p:nvPr/>
        </p:nvSpPr>
        <p:spPr>
          <a:xfrm>
            <a:off x="6072530" y="449379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5" name="Oval 234"/>
          <p:cNvSpPr>
            <a:spLocks noGrp="1"/>
          </p:cNvSpPr>
          <p:nvPr/>
        </p:nvSpPr>
        <p:spPr>
          <a:xfrm>
            <a:off x="6527901" y="420454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6" name="Oval 235"/>
          <p:cNvSpPr>
            <a:spLocks noGrp="1"/>
          </p:cNvSpPr>
          <p:nvPr/>
        </p:nvSpPr>
        <p:spPr>
          <a:xfrm>
            <a:off x="6983272" y="3994971"/>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7" name="Oval 236"/>
          <p:cNvSpPr>
            <a:spLocks noGrp="1"/>
          </p:cNvSpPr>
          <p:nvPr/>
        </p:nvSpPr>
        <p:spPr>
          <a:xfrm>
            <a:off x="7438644" y="3930316"/>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8" name="Oval 237"/>
          <p:cNvSpPr>
            <a:spLocks noGrp="1"/>
          </p:cNvSpPr>
          <p:nvPr/>
        </p:nvSpPr>
        <p:spPr>
          <a:xfrm>
            <a:off x="7894015" y="403071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9" name="Oval 238"/>
          <p:cNvSpPr>
            <a:spLocks noGrp="1"/>
          </p:cNvSpPr>
          <p:nvPr/>
        </p:nvSpPr>
        <p:spPr>
          <a:xfrm>
            <a:off x="8349386" y="4264904"/>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0" name="Oval 239"/>
          <p:cNvSpPr>
            <a:spLocks noGrp="1"/>
          </p:cNvSpPr>
          <p:nvPr/>
        </p:nvSpPr>
        <p:spPr>
          <a:xfrm>
            <a:off x="8804757" y="455997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1" name="Oval 240"/>
          <p:cNvSpPr>
            <a:spLocks noGrp="1"/>
          </p:cNvSpPr>
          <p:nvPr/>
        </p:nvSpPr>
        <p:spPr>
          <a:xfrm>
            <a:off x="9260128" y="482405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2" name="Oval 241"/>
          <p:cNvSpPr>
            <a:spLocks noGrp="1"/>
          </p:cNvSpPr>
          <p:nvPr/>
        </p:nvSpPr>
        <p:spPr>
          <a:xfrm>
            <a:off x="9715500" y="4974930"/>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3" name="TextBox 242"/>
          <p:cNvSpPr>
            <a:spLocks noGrp="1"/>
          </p:cNvSpPr>
          <p:nvPr/>
        </p:nvSpPr>
        <p:spPr>
          <a:xfrm>
            <a:off x="777240" y="5961888"/>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每秒记录的次数变多；数据量也会随之增加。</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609600" y="1857375"/>
            <a:ext cx="47625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0" name="TextBox 119"/>
          <p:cNvSpPr>
            <a:spLocks noGrp="1"/>
          </p:cNvSpPr>
          <p:nvPr/>
        </p:nvSpPr>
        <p:spPr>
          <a:xfrm>
            <a:off x="609600" y="3943350"/>
            <a:ext cx="47625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9838944" y="2551176"/>
            <a:ext cx="822960" cy="24384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1" name="TextBox 120"/>
          <p:cNvSpPr>
            <a:spLocks noGrp="1"/>
          </p:cNvSpPr>
          <p:nvPr/>
        </p:nvSpPr>
        <p:spPr>
          <a:xfrm>
            <a:off x="9838944" y="4654296"/>
            <a:ext cx="822960" cy="24384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采样值可能是3.71，怎样记录？</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868680" y="3346704"/>
            <a:ext cx="10149839"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960120" y="1956816"/>
            <a:ext cx="0" cy="2788920"/>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987552" y="1645920"/>
            <a:ext cx="12801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10104119" y="3465576"/>
            <a:ext cx="822960" cy="243840"/>
          </a:xfrm>
          <a:prstGeom prst="rect">
            <a:avLst/>
          </a:prstGeom>
          <a:noFill/>
        </p:spPr>
        <p:txBody>
          <a:bodyPr wrap="square" lIns="0" tIns="0" rIns="0" bIns="0" anchor="t">
            <a:noAutofit/>
          </a:bodyPr>
          <a:lstStyle>
            <a:defPPr algn="l">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onnector 8"/>
          <p:cNvSpPr>
            <a:spLocks noGrp="1"/>
          </p:cNvSpPr>
          <p:nvPr/>
        </p:nvSpPr>
        <p:spPr>
          <a:xfrm flipV="1">
            <a:off x="1005840" y="3235877"/>
            <a:ext cx="93451" cy="9711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flipV="1">
            <a:off x="1099291" y="3139629"/>
            <a:ext cx="93452" cy="9624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192743" y="3045096"/>
            <a:ext cx="93452" cy="945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286195" y="2953120"/>
            <a:ext cx="93451" cy="919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379646" y="2864515"/>
            <a:ext cx="93452" cy="886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473098" y="2780068"/>
            <a:ext cx="93452" cy="844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566550" y="2700528"/>
            <a:ext cx="93451" cy="7954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660001" y="2626603"/>
            <a:ext cx="93452" cy="7392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753453" y="2558948"/>
            <a:ext cx="93452" cy="6765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846905" y="2498163"/>
            <a:ext cx="93451" cy="6078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1940356" y="2444787"/>
            <a:ext cx="93452" cy="533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033808" y="2399296"/>
            <a:ext cx="93452" cy="4549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127260" y="2362092"/>
            <a:ext cx="93451" cy="3720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2220711" y="2333506"/>
            <a:ext cx="93452" cy="285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flipV="1">
            <a:off x="2314163" y="2313792"/>
            <a:ext cx="93452" cy="1971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flipV="1">
            <a:off x="2407615" y="2303123"/>
            <a:ext cx="93451" cy="1066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flipV="1">
            <a:off x="2501066" y="2301596"/>
            <a:ext cx="93452" cy="152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594518" y="2301596"/>
            <a:ext cx="93452" cy="76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687970" y="2309224"/>
            <a:ext cx="93451" cy="1671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781421" y="2325939"/>
            <a:ext cx="93452" cy="2565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874873" y="2351592"/>
            <a:ext cx="93452" cy="3436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2968325" y="2385956"/>
            <a:ext cx="93451" cy="4277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061776" y="2428726"/>
            <a:ext cx="93452" cy="507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155228" y="2479523"/>
            <a:ext cx="93452" cy="583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248680" y="2537895"/>
            <a:ext cx="93452" cy="6542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342132" y="2603324"/>
            <a:ext cx="93451" cy="719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435583" y="2675229"/>
            <a:ext cx="93452" cy="7774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529035" y="2752973"/>
            <a:ext cx="93452" cy="828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622487" y="2835866"/>
            <a:ext cx="93451" cy="8730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715938" y="2923170"/>
            <a:ext cx="93452" cy="9094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809390" y="3014113"/>
            <a:ext cx="93452" cy="937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902842" y="3107885"/>
            <a:ext cx="93451" cy="9577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3996293" y="3203656"/>
            <a:ext cx="93452" cy="9691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089745" y="3300575"/>
            <a:ext cx="93452" cy="9720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183197" y="3397781"/>
            <a:ext cx="93451" cy="9663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276648" y="3494412"/>
            <a:ext cx="93452" cy="951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370100" y="3589611"/>
            <a:ext cx="93452" cy="929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4463552" y="3682531"/>
            <a:ext cx="93451" cy="8981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4557003" y="3772349"/>
            <a:ext cx="93452" cy="8591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a:off x="4650455" y="3858268"/>
            <a:ext cx="93452" cy="8125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a:off x="4743907" y="3939523"/>
            <a:ext cx="93451" cy="758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a:off x="4837358" y="4015395"/>
            <a:ext cx="93452" cy="6981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a:off x="4930810" y="4085211"/>
            <a:ext cx="93452" cy="6313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a:off x="5024262" y="4148349"/>
            <a:ext cx="93451" cy="559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a:off x="5117713" y="4204250"/>
            <a:ext cx="93452" cy="4816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a:off x="5211165" y="4252417"/>
            <a:ext cx="93452" cy="400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a:off x="5304617" y="4292424"/>
            <a:ext cx="93451" cy="3149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a:off x="5398068" y="4323915"/>
            <a:ext cx="93452" cy="226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a:off x="5491520" y="4346610"/>
            <a:ext cx="93452" cy="1369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a:off x="5584972" y="4360308"/>
            <a:ext cx="93452" cy="45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678424" y="4360308"/>
            <a:ext cx="93451" cy="458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771875" y="4346610"/>
            <a:ext cx="93452" cy="1369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865327" y="4323915"/>
            <a:ext cx="93452" cy="2269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5958779" y="4292424"/>
            <a:ext cx="93451" cy="3149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6052230" y="4252417"/>
            <a:ext cx="93452" cy="4000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145682" y="4204250"/>
            <a:ext cx="93452" cy="4816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239134" y="4148349"/>
            <a:ext cx="93451" cy="5590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332585" y="4085211"/>
            <a:ext cx="93452" cy="6313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426037" y="4015395"/>
            <a:ext cx="93452" cy="6981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519489" y="3939523"/>
            <a:ext cx="93451" cy="758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612940" y="3858268"/>
            <a:ext cx="93452" cy="8125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706392" y="3772349"/>
            <a:ext cx="93452" cy="8591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6799844" y="3682531"/>
            <a:ext cx="93451" cy="8981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6893295" y="3589611"/>
            <a:ext cx="93452" cy="9292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flipV="1">
            <a:off x="6986747" y="3494412"/>
            <a:ext cx="93452" cy="9519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flipV="1">
            <a:off x="7080199" y="3397781"/>
            <a:ext cx="93451" cy="9663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flipV="1">
            <a:off x="7173650" y="3300575"/>
            <a:ext cx="93452" cy="9720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flipV="1">
            <a:off x="7267102" y="3203656"/>
            <a:ext cx="93452" cy="9691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flipV="1">
            <a:off x="7360554" y="3107885"/>
            <a:ext cx="93451" cy="9577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flipV="1">
            <a:off x="7454005" y="3014113"/>
            <a:ext cx="93452" cy="937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flipV="1">
            <a:off x="7547457" y="2923170"/>
            <a:ext cx="93452" cy="9094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flipV="1">
            <a:off x="7640909" y="2835866"/>
            <a:ext cx="93451" cy="8730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flipV="1">
            <a:off x="7734360" y="2752973"/>
            <a:ext cx="93452" cy="8289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flipV="1">
            <a:off x="7827812" y="2675229"/>
            <a:ext cx="93452" cy="7774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flipV="1">
            <a:off x="7921264" y="2603324"/>
            <a:ext cx="93452" cy="719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flipV="1">
            <a:off x="8014716" y="2537895"/>
            <a:ext cx="93451" cy="6542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flipV="1">
            <a:off x="8108167" y="2479523"/>
            <a:ext cx="93452" cy="58372"/>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flipV="1">
            <a:off x="8201619" y="2428726"/>
            <a:ext cx="93452" cy="5079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flipV="1">
            <a:off x="8295071" y="2385956"/>
            <a:ext cx="93451" cy="4277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flipV="1">
            <a:off x="8388522" y="2351592"/>
            <a:ext cx="93452" cy="3436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flipV="1">
            <a:off x="8481974" y="2325939"/>
            <a:ext cx="93452" cy="2565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flipV="1">
            <a:off x="8575426" y="2309224"/>
            <a:ext cx="93451" cy="1671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flipV="1">
            <a:off x="8668877" y="2301596"/>
            <a:ext cx="93452" cy="762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762329" y="2301596"/>
            <a:ext cx="93452" cy="152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8855781" y="2303123"/>
            <a:ext cx="93451" cy="10669"/>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8949232" y="2313792"/>
            <a:ext cx="93452" cy="1971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9042684" y="2333506"/>
            <a:ext cx="93452" cy="2858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9136136" y="2362092"/>
            <a:ext cx="93451" cy="37204"/>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9229587" y="2399296"/>
            <a:ext cx="93452" cy="45491"/>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a:off x="9323039" y="2444787"/>
            <a:ext cx="93452" cy="533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a:off x="9416491" y="2498163"/>
            <a:ext cx="93451" cy="6078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a:off x="9509942" y="2558948"/>
            <a:ext cx="93452" cy="6765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a:off x="9603394" y="2626603"/>
            <a:ext cx="93452" cy="7392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a:off x="9696846" y="2700528"/>
            <a:ext cx="93451" cy="7954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a:off x="9790297" y="2780068"/>
            <a:ext cx="93452" cy="84447"/>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a:off x="9883749" y="2864515"/>
            <a:ext cx="93452" cy="88605"/>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a:off x="9977201" y="2953120"/>
            <a:ext cx="93451" cy="91976"/>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a:off x="10070652" y="3045096"/>
            <a:ext cx="93452" cy="94533"/>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a:off x="10164104" y="3139629"/>
            <a:ext cx="93452" cy="96248"/>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a:off x="10257556" y="3235877"/>
            <a:ext cx="93452" cy="9711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109" name="Oval 108"/>
          <p:cNvSpPr>
            <a:spLocks noGrp="1"/>
          </p:cNvSpPr>
          <p:nvPr/>
        </p:nvSpPr>
        <p:spPr>
          <a:xfrm>
            <a:off x="944575" y="327172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0" name="Oval 109"/>
          <p:cNvSpPr>
            <a:spLocks noGrp="1"/>
          </p:cNvSpPr>
          <p:nvPr/>
        </p:nvSpPr>
        <p:spPr>
          <a:xfrm>
            <a:off x="1879091" y="243689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1" name="Oval 110"/>
          <p:cNvSpPr>
            <a:spLocks noGrp="1"/>
          </p:cNvSpPr>
          <p:nvPr/>
        </p:nvSpPr>
        <p:spPr>
          <a:xfrm>
            <a:off x="2813608" y="229032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2" name="Oval 111"/>
          <p:cNvSpPr>
            <a:spLocks noGrp="1"/>
          </p:cNvSpPr>
          <p:nvPr/>
        </p:nvSpPr>
        <p:spPr>
          <a:xfrm>
            <a:off x="3748125" y="295284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3" name="Oval 112"/>
          <p:cNvSpPr>
            <a:spLocks noGrp="1"/>
          </p:cNvSpPr>
          <p:nvPr/>
        </p:nvSpPr>
        <p:spPr>
          <a:xfrm>
            <a:off x="4682642" y="387825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4" name="Oval 113"/>
          <p:cNvSpPr>
            <a:spLocks noGrp="1"/>
          </p:cNvSpPr>
          <p:nvPr/>
        </p:nvSpPr>
        <p:spPr>
          <a:xfrm>
            <a:off x="5617159" y="430362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5" name="Oval 114"/>
          <p:cNvSpPr>
            <a:spLocks noGrp="1"/>
          </p:cNvSpPr>
          <p:nvPr/>
        </p:nvSpPr>
        <p:spPr>
          <a:xfrm>
            <a:off x="6551676" y="387825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6" name="Oval 115"/>
          <p:cNvSpPr>
            <a:spLocks noGrp="1"/>
          </p:cNvSpPr>
          <p:nvPr/>
        </p:nvSpPr>
        <p:spPr>
          <a:xfrm>
            <a:off x="7486192" y="295284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7" name="Oval 116"/>
          <p:cNvSpPr>
            <a:spLocks noGrp="1"/>
          </p:cNvSpPr>
          <p:nvPr/>
        </p:nvSpPr>
        <p:spPr>
          <a:xfrm>
            <a:off x="8420709" y="229032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8" name="Oval 117"/>
          <p:cNvSpPr>
            <a:spLocks noGrp="1"/>
          </p:cNvSpPr>
          <p:nvPr/>
        </p:nvSpPr>
        <p:spPr>
          <a:xfrm>
            <a:off x="9355226" y="243689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9" name="Oval 118"/>
          <p:cNvSpPr>
            <a:spLocks noGrp="1"/>
          </p:cNvSpPr>
          <p:nvPr/>
        </p:nvSpPr>
        <p:spPr>
          <a:xfrm>
            <a:off x="3690518" y="2895241"/>
            <a:ext cx="237744" cy="237744"/>
          </a:xfrm>
          <a:prstGeom prst="ellipse">
            <a:avLst/>
          </a:prstGeom>
          <a:solidFill>
            <a:srgbClr val="FFFFFF"/>
          </a:solidFill>
          <a:ln w="38100">
            <a:solidFill>
              <a:srgbClr val="FF000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0" name="TextBox 119"/>
          <p:cNvSpPr>
            <a:spLocks noGrp="1"/>
          </p:cNvSpPr>
          <p:nvPr/>
        </p:nvSpPr>
        <p:spPr>
          <a:xfrm>
            <a:off x="3973982" y="2611777"/>
            <a:ext cx="288036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某个样本：3.71</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1" name="TextBox 120"/>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新问题：如果只允许8个振幅等级，怎么记录这些值？</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把振幅划分成0～7，共几个等级？</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1600200" y="5394960"/>
            <a:ext cx="8001000" cy="0"/>
          </a:xfrm>
          <a:prstGeom prst="line">
            <a:avLst/>
          </a:prstGeom>
          <a:ln w="19050">
            <a:solidFill>
              <a:srgbClr val="8C64E1"/>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13816" y="5230368"/>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1600200" y="4910328"/>
            <a:ext cx="8001000" cy="0"/>
          </a:xfrm>
          <a:prstGeom prst="line">
            <a:avLst/>
          </a:prstGeom>
          <a:ln w="19050">
            <a:solidFill>
              <a:srgbClr val="E2E2E7"/>
            </a:solidFill>
          </a:ln>
        </p:spPr>
        <p:style>
          <a:lnRef idx="2">
            <a:schemeClr val="accent1"/>
          </a:lnRef>
          <a:fillRef idx="0">
            <a:schemeClr val="accent1"/>
          </a:fillRef>
          <a:effectRef idx="0">
            <a:srgbClr val="FFFFFF"/>
          </a:effectRef>
          <a:fontRef idx="minor">
            <a:schemeClr val="tx1"/>
          </a:fontRef>
        </p:style>
      </p:sp>
      <p:sp>
        <p:nvSpPr>
          <p:cNvPr id="8" name="TextBox 7"/>
          <p:cNvSpPr>
            <a:spLocks noGrp="1"/>
          </p:cNvSpPr>
          <p:nvPr/>
        </p:nvSpPr>
        <p:spPr>
          <a:xfrm>
            <a:off x="813816" y="4745736"/>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9" name="Connector 8"/>
          <p:cNvSpPr>
            <a:spLocks noGrp="1"/>
          </p:cNvSpPr>
          <p:nvPr/>
        </p:nvSpPr>
        <p:spPr>
          <a:xfrm>
            <a:off x="1600200" y="4425696"/>
            <a:ext cx="8001000" cy="0"/>
          </a:xfrm>
          <a:prstGeom prst="line">
            <a:avLst/>
          </a:prstGeom>
          <a:ln w="19050">
            <a:solidFill>
              <a:srgbClr val="8C64E1"/>
            </a:solidFill>
          </a:ln>
        </p:spPr>
        <p:style>
          <a:lnRef idx="2">
            <a:schemeClr val="accent1"/>
          </a:lnRef>
          <a:fillRef idx="0">
            <a:schemeClr val="accent1"/>
          </a:fillRef>
          <a:effectRef idx="0">
            <a:srgbClr val="FFFFFF"/>
          </a:effectRef>
          <a:fontRef idx="minor">
            <a:schemeClr val="tx1"/>
          </a:fontRef>
        </p:style>
      </p:sp>
      <p:sp>
        <p:nvSpPr>
          <p:cNvPr id="10" name="TextBox 9"/>
          <p:cNvSpPr>
            <a:spLocks noGrp="1"/>
          </p:cNvSpPr>
          <p:nvPr/>
        </p:nvSpPr>
        <p:spPr>
          <a:xfrm>
            <a:off x="813816" y="4261104"/>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2</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Connector 10"/>
          <p:cNvSpPr>
            <a:spLocks noGrp="1"/>
          </p:cNvSpPr>
          <p:nvPr/>
        </p:nvSpPr>
        <p:spPr>
          <a:xfrm>
            <a:off x="1600200" y="3941064"/>
            <a:ext cx="8001000" cy="0"/>
          </a:xfrm>
          <a:prstGeom prst="line">
            <a:avLst/>
          </a:prstGeom>
          <a:ln w="19050">
            <a:solidFill>
              <a:srgbClr val="E2E2E7"/>
            </a:solidFill>
          </a:ln>
        </p:spPr>
        <p:style>
          <a:lnRef idx="2">
            <a:schemeClr val="accent1"/>
          </a:lnRef>
          <a:fillRef idx="0">
            <a:schemeClr val="accent1"/>
          </a:fillRef>
          <a:effectRef idx="0">
            <a:srgbClr val="FFFFFF"/>
          </a:effectRef>
          <a:fontRef idx="minor">
            <a:schemeClr val="tx1"/>
          </a:fontRef>
        </p:style>
      </p:sp>
      <p:sp>
        <p:nvSpPr>
          <p:cNvPr id="12" name="TextBox 11"/>
          <p:cNvSpPr>
            <a:spLocks noGrp="1"/>
          </p:cNvSpPr>
          <p:nvPr/>
        </p:nvSpPr>
        <p:spPr>
          <a:xfrm>
            <a:off x="813816" y="3776472"/>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Connector 12"/>
          <p:cNvSpPr>
            <a:spLocks noGrp="1"/>
          </p:cNvSpPr>
          <p:nvPr/>
        </p:nvSpPr>
        <p:spPr>
          <a:xfrm>
            <a:off x="1600200" y="3456432"/>
            <a:ext cx="8001000" cy="0"/>
          </a:xfrm>
          <a:prstGeom prst="line">
            <a:avLst/>
          </a:prstGeom>
          <a:ln w="19050">
            <a:solidFill>
              <a:srgbClr val="8C64E1"/>
            </a:solidFill>
          </a:ln>
        </p:spPr>
        <p:style>
          <a:lnRef idx="2">
            <a:schemeClr val="accent1"/>
          </a:lnRef>
          <a:fillRef idx="0">
            <a:schemeClr val="accent1"/>
          </a:fillRef>
          <a:effectRef idx="0">
            <a:srgbClr val="FFFFFF"/>
          </a:effectRef>
          <a:fontRef idx="minor">
            <a:schemeClr val="tx1"/>
          </a:fontRef>
        </p:style>
      </p:sp>
      <p:sp>
        <p:nvSpPr>
          <p:cNvPr id="14" name="TextBox 13"/>
          <p:cNvSpPr>
            <a:spLocks noGrp="1"/>
          </p:cNvSpPr>
          <p:nvPr/>
        </p:nvSpPr>
        <p:spPr>
          <a:xfrm>
            <a:off x="813816" y="3291840"/>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4</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Connector 14"/>
          <p:cNvSpPr>
            <a:spLocks noGrp="1"/>
          </p:cNvSpPr>
          <p:nvPr/>
        </p:nvSpPr>
        <p:spPr>
          <a:xfrm>
            <a:off x="1600200" y="2971800"/>
            <a:ext cx="8001000" cy="0"/>
          </a:xfrm>
          <a:prstGeom prst="line">
            <a:avLst/>
          </a:prstGeom>
          <a:ln w="19050">
            <a:solidFill>
              <a:srgbClr val="E2E2E7"/>
            </a:solidFill>
          </a:ln>
        </p:spPr>
        <p:style>
          <a:lnRef idx="2">
            <a:schemeClr val="accent1"/>
          </a:lnRef>
          <a:fillRef idx="0">
            <a:schemeClr val="accent1"/>
          </a:fillRef>
          <a:effectRef idx="0">
            <a:srgbClr val="FFFFFF"/>
          </a:effectRef>
          <a:fontRef idx="minor">
            <a:schemeClr val="tx1"/>
          </a:fontRef>
        </p:style>
      </p:sp>
      <p:sp>
        <p:nvSpPr>
          <p:cNvPr id="16" name="TextBox 15"/>
          <p:cNvSpPr>
            <a:spLocks noGrp="1"/>
          </p:cNvSpPr>
          <p:nvPr/>
        </p:nvSpPr>
        <p:spPr>
          <a:xfrm>
            <a:off x="813816" y="2807208"/>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5</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7" name="Connector 16"/>
          <p:cNvSpPr>
            <a:spLocks noGrp="1"/>
          </p:cNvSpPr>
          <p:nvPr/>
        </p:nvSpPr>
        <p:spPr>
          <a:xfrm>
            <a:off x="1600200" y="2487168"/>
            <a:ext cx="8001000" cy="0"/>
          </a:xfrm>
          <a:prstGeom prst="line">
            <a:avLst/>
          </a:prstGeom>
          <a:ln w="19050">
            <a:solidFill>
              <a:srgbClr val="8C64E1"/>
            </a:solidFill>
          </a:ln>
        </p:spPr>
        <p:style>
          <a:lnRef idx="2">
            <a:schemeClr val="accent1"/>
          </a:lnRef>
          <a:fillRef idx="0">
            <a:schemeClr val="accent1"/>
          </a:fillRef>
          <a:effectRef idx="0">
            <a:srgbClr val="FFFFFF"/>
          </a:effectRef>
          <a:fontRef idx="minor">
            <a:schemeClr val="tx1"/>
          </a:fontRef>
        </p:style>
      </p:sp>
      <p:sp>
        <p:nvSpPr>
          <p:cNvPr id="18" name="TextBox 17"/>
          <p:cNvSpPr>
            <a:spLocks noGrp="1"/>
          </p:cNvSpPr>
          <p:nvPr/>
        </p:nvSpPr>
        <p:spPr>
          <a:xfrm>
            <a:off x="813816" y="2322576"/>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6</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9" name="Connector 18"/>
          <p:cNvSpPr>
            <a:spLocks noGrp="1"/>
          </p:cNvSpPr>
          <p:nvPr/>
        </p:nvSpPr>
        <p:spPr>
          <a:xfrm>
            <a:off x="1600200" y="2002536"/>
            <a:ext cx="8001000" cy="0"/>
          </a:xfrm>
          <a:prstGeom prst="line">
            <a:avLst/>
          </a:prstGeom>
          <a:ln w="19050">
            <a:solidFill>
              <a:srgbClr val="E2E2E7"/>
            </a:solidFill>
          </a:ln>
        </p:spPr>
        <p:style>
          <a:lnRef idx="2">
            <a:schemeClr val="accent1"/>
          </a:lnRef>
          <a:fillRef idx="0">
            <a:schemeClr val="accent1"/>
          </a:fillRef>
          <a:effectRef idx="0">
            <a:srgbClr val="FFFFFF"/>
          </a:effectRef>
          <a:fontRef idx="minor">
            <a:schemeClr val="tx1"/>
          </a:fontRef>
        </p:style>
      </p:sp>
      <p:sp>
        <p:nvSpPr>
          <p:cNvPr id="20" name="TextBox 19"/>
          <p:cNvSpPr>
            <a:spLocks noGrp="1"/>
          </p:cNvSpPr>
          <p:nvPr/>
        </p:nvSpPr>
        <p:spPr>
          <a:xfrm>
            <a:off x="813816" y="1837944"/>
            <a:ext cx="594360" cy="289560"/>
          </a:xfrm>
          <a:prstGeom prst="rect">
            <a:avLst/>
          </a:prstGeom>
          <a:noFill/>
        </p:spPr>
        <p:txBody>
          <a:bodyPr wrap="square" lIns="0" tIns="0" rIns="0" bIns="0" anchor="t">
            <a:noAutofit/>
          </a:bodyPr>
          <a:lstStyle>
            <a:defPPr algn="l">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7</a:t>
            </a:r>
            <a:endParaRPr sz="19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1" name="TextBox 20"/>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0也是一个等级，所以一共有8个等级。</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Rectangle 21"/>
          <p:cNvSpPr/>
          <p:nvPr/>
        </p:nvSpPr>
        <p:spPr>
          <a:xfrm>
            <a:off x="9784080" y="2523744"/>
            <a:ext cx="1591056" cy="210312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939528" y="2807208"/>
            <a:ext cx="1261872" cy="475488"/>
          </a:xfrm>
          <a:prstGeom prst="rect">
            <a:avLst/>
          </a:prstGeom>
          <a:noFill/>
        </p:spPr>
        <p:txBody>
          <a:bodyPr wrap="square" lIns="0" tIns="0" rIns="0" bIns="0" anchor="ctr">
            <a:spAutoFit/>
          </a:bodyPr>
          <a:lstStyle/>
          <a:p>
            <a:pPr algn="ctr">
              <a:spcAft>
                <a:spcPts val="200"/>
              </a:spcAft>
              <a:defRPr sz="2200" b="1">
                <a:solidFill>
                  <a:srgbClr val="8C64E1"/>
                </a:solidFill>
                <a:latin typeface="Alibaba PuHuiTi 3.0 115 Black" panose="00020600040101010101" charset="-122"/>
              </a:defRPr>
            </a:pPr>
            <a:r>
              <a:t>L0–L7</a:t>
            </a:r>
          </a:p>
        </p:txBody>
      </p:sp>
      <p:sp>
        <p:nvSpPr>
          <p:cNvPr id="24" name="TextBox 23"/>
          <p:cNvSpPr txBox="1"/>
          <p:nvPr/>
        </p:nvSpPr>
        <p:spPr>
          <a:xfrm>
            <a:off x="9939528" y="3611880"/>
            <a:ext cx="1261872" cy="502920"/>
          </a:xfrm>
          <a:prstGeom prst="rect">
            <a:avLst/>
          </a:prstGeom>
          <a:noFill/>
        </p:spPr>
        <p:txBody>
          <a:bodyPr wrap="square" lIns="0" tIns="0" rIns="0" bIns="0" anchor="ctr">
            <a:spAutoFit/>
          </a:bodyPr>
          <a:lstStyle/>
          <a:p>
            <a:pPr algn="ctr">
              <a:spcAft>
                <a:spcPts val="200"/>
              </a:spcAft>
              <a:defRPr sz="1900" b="1">
                <a:solidFill>
                  <a:srgbClr val="262626"/>
                </a:solidFill>
                <a:latin typeface="Alibaba PuHuiTi 3.0 115 Black" panose="00020600040101010101" charset="-122"/>
              </a:defRPr>
            </a:pPr>
            <a:r>
              <a:t>共 8 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3.71 应记为等级3，还是等级4？</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22960" y="1700784"/>
            <a:ext cx="10789920" cy="381000"/>
          </a:xfrm>
          <a:prstGeom prst="rect">
            <a:avLst/>
          </a:prstGeom>
          <a:noFill/>
        </p:spPr>
        <p:txBody>
          <a:bodyPr wrap="square" lIns="0" tIns="0" rIns="0" bIns="0" anchor="t">
            <a:noAutofit/>
          </a:bodyPr>
          <a:lstStyle>
            <a:defPPr algn="l">
              <a:defRPr sz="25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5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5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幅度范围 [0,8) 划成8段，等级编号为 0～7。</a:t>
            </a:r>
            <a:endParaRPr sz="25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Rectangle 5"/>
          <p:cNvSpPr>
            <a:spLocks noGrp="1"/>
          </p:cNvSpPr>
          <p:nvPr/>
        </p:nvSpPr>
        <p:spPr>
          <a:xfrm>
            <a:off x="868680"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TextBox 6"/>
          <p:cNvSpPr>
            <a:spLocks noGrp="1"/>
          </p:cNvSpPr>
          <p:nvPr/>
        </p:nvSpPr>
        <p:spPr>
          <a:xfrm>
            <a:off x="868680"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Rectangle 7"/>
          <p:cNvSpPr>
            <a:spLocks noGrp="1"/>
          </p:cNvSpPr>
          <p:nvPr/>
        </p:nvSpPr>
        <p:spPr>
          <a:xfrm>
            <a:off x="2240280"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2240280"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Rectangle 9"/>
          <p:cNvSpPr>
            <a:spLocks noGrp="1"/>
          </p:cNvSpPr>
          <p:nvPr/>
        </p:nvSpPr>
        <p:spPr>
          <a:xfrm>
            <a:off x="3611880"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 name="TextBox 10"/>
          <p:cNvSpPr>
            <a:spLocks noGrp="1"/>
          </p:cNvSpPr>
          <p:nvPr/>
        </p:nvSpPr>
        <p:spPr>
          <a:xfrm>
            <a:off x="3611880"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2</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Rectangle 11"/>
          <p:cNvSpPr>
            <a:spLocks noGrp="1"/>
          </p:cNvSpPr>
          <p:nvPr/>
        </p:nvSpPr>
        <p:spPr>
          <a:xfrm>
            <a:off x="4983480" y="2880360"/>
            <a:ext cx="1097280" cy="914400"/>
          </a:xfrm>
          <a:prstGeom prst="rect">
            <a:avLst/>
          </a:prstGeom>
          <a:no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 name="TextBox 12"/>
          <p:cNvSpPr>
            <a:spLocks noGrp="1"/>
          </p:cNvSpPr>
          <p:nvPr/>
        </p:nvSpPr>
        <p:spPr>
          <a:xfrm>
            <a:off x="4983480" y="3026664"/>
            <a:ext cx="1097280" cy="457200"/>
          </a:xfrm>
          <a:prstGeom prst="rect">
            <a:avLst/>
          </a:prstGeom>
          <a:noFill/>
        </p:spPr>
        <p:txBody>
          <a:bodyPr wrap="square" lIns="0" tIns="0" rIns="0" bIns="0" anchor="t">
            <a:noAutofit/>
          </a:bodyPr>
          <a:lstStyle>
            <a:defPPr algn="ctr">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a:t>
            </a:r>
            <a:endPar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Rectangle 13"/>
          <p:cNvSpPr>
            <a:spLocks noGrp="1"/>
          </p:cNvSpPr>
          <p:nvPr/>
        </p:nvSpPr>
        <p:spPr>
          <a:xfrm>
            <a:off x="6355080" y="2880360"/>
            <a:ext cx="1097280" cy="914400"/>
          </a:xfrm>
          <a:prstGeom prst="rect">
            <a:avLst/>
          </a:prstGeom>
          <a:no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TextBox 14"/>
          <p:cNvSpPr>
            <a:spLocks noGrp="1"/>
          </p:cNvSpPr>
          <p:nvPr/>
        </p:nvSpPr>
        <p:spPr>
          <a:xfrm>
            <a:off x="6355080" y="3026664"/>
            <a:ext cx="1097280" cy="457200"/>
          </a:xfrm>
          <a:prstGeom prst="rect">
            <a:avLst/>
          </a:prstGeom>
          <a:noFill/>
        </p:spPr>
        <p:txBody>
          <a:bodyPr wrap="square" lIns="0" tIns="0" rIns="0" bIns="0" anchor="t">
            <a:noAutofit/>
          </a:bodyPr>
          <a:lstStyle>
            <a:defPPr algn="ctr">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4</a:t>
            </a:r>
            <a:endPar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Rectangle 15"/>
          <p:cNvSpPr>
            <a:spLocks noGrp="1"/>
          </p:cNvSpPr>
          <p:nvPr/>
        </p:nvSpPr>
        <p:spPr>
          <a:xfrm>
            <a:off x="7726679"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TextBox 16"/>
          <p:cNvSpPr>
            <a:spLocks noGrp="1"/>
          </p:cNvSpPr>
          <p:nvPr/>
        </p:nvSpPr>
        <p:spPr>
          <a:xfrm>
            <a:off x="7726679"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5</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Rectangle 17"/>
          <p:cNvSpPr>
            <a:spLocks noGrp="1"/>
          </p:cNvSpPr>
          <p:nvPr/>
        </p:nvSpPr>
        <p:spPr>
          <a:xfrm>
            <a:off x="9098280"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TextBox 18"/>
          <p:cNvSpPr>
            <a:spLocks noGrp="1"/>
          </p:cNvSpPr>
          <p:nvPr/>
        </p:nvSpPr>
        <p:spPr>
          <a:xfrm>
            <a:off x="9098280"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6</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Rectangle 19"/>
          <p:cNvSpPr>
            <a:spLocks noGrp="1"/>
          </p:cNvSpPr>
          <p:nvPr/>
        </p:nvSpPr>
        <p:spPr>
          <a:xfrm>
            <a:off x="10469880" y="2880360"/>
            <a:ext cx="1097280" cy="914400"/>
          </a:xfrm>
          <a:prstGeom prst="rect">
            <a:avLst/>
          </a:prstGeom>
          <a:noFill/>
          <a:ln w="19050">
            <a:solidFill>
              <a:srgbClr val="DDDD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 name="TextBox 20"/>
          <p:cNvSpPr>
            <a:spLocks noGrp="1"/>
          </p:cNvSpPr>
          <p:nvPr/>
        </p:nvSpPr>
        <p:spPr>
          <a:xfrm>
            <a:off x="10469880" y="3026664"/>
            <a:ext cx="1097280" cy="457200"/>
          </a:xfrm>
          <a:prstGeom prst="rect">
            <a:avLst/>
          </a:prstGeom>
          <a:noFill/>
        </p:spPr>
        <p:txBody>
          <a:bodyPr wrap="square" lIns="0" tIns="0" rIns="0" bIns="0" anchor="t">
            <a:noAutofit/>
          </a:bodyPr>
          <a:lstStyle>
            <a:defPPr algn="ctr">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rPr>
              <a:t>7</a:t>
            </a:r>
            <a:endParaRPr sz="3000" b="1">
              <a:solidFill>
                <a:srgbClr val="828282"/>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2" name="TextBox 21"/>
          <p:cNvSpPr>
            <a:spLocks noGrp="1"/>
          </p:cNvSpPr>
          <p:nvPr/>
        </p:nvSpPr>
        <p:spPr>
          <a:xfrm>
            <a:off x="868680" y="4242816"/>
            <a:ext cx="4846320" cy="441960"/>
          </a:xfrm>
          <a:prstGeom prst="rect">
            <a:avLst/>
          </a:prstGeom>
          <a:noFill/>
        </p:spPr>
        <p:txBody>
          <a:bodyPr wrap="square" lIns="0" tIns="0" rIns="0" bIns="0" anchor="t">
            <a:noAutofit/>
          </a:bodyPr>
          <a:lstStyle>
            <a:defPPr algn="l">
              <a:def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采样值：3.71</a:t>
            </a:r>
            <a:endPara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extBox 22"/>
          <p:cNvSpPr>
            <a:spLocks noGrp="1"/>
          </p:cNvSpPr>
          <p:nvPr/>
        </p:nvSpPr>
        <p:spPr>
          <a:xfrm>
            <a:off x="868680" y="5129784"/>
            <a:ext cx="10515600" cy="411480"/>
          </a:xfrm>
          <a:prstGeom prst="rect">
            <a:avLst/>
          </a:prstGeom>
          <a:noFill/>
        </p:spPr>
        <p:txBody>
          <a:bodyPr wrap="squar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你预测：进入3号等级，还是4号等级？</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量化：用有限代表值近似样本</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范围 [0,8)；按 [n,n+1) 分档。</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quant-bin-0"/>
          <p:cNvSpPr>
            <a:spLocks noGrp="1"/>
          </p:cNvSpPr>
          <p:nvPr/>
        </p:nvSpPr>
        <p:spPr>
          <a:xfrm>
            <a:off x="1524000" y="2714625"/>
            <a:ext cx="1143000" cy="971550"/>
          </a:xfrm>
          <a:prstGeom prst="rect">
            <a:avLst/>
          </a:prstGeom>
          <a:noFill/>
          <a:ln w="9525">
            <a:solidFill>
              <a:srgbClr val="D7D7DE"/>
            </a:solidFill>
          </a:ln>
        </p:spPr>
      </p:sp>
      <p:sp>
        <p:nvSpPr>
          <p:cNvPr id="7" name="quant-grade-0"/>
          <p:cNvSpPr>
            <a:spLocks noGrp="1"/>
          </p:cNvSpPr>
          <p:nvPr/>
        </p:nvSpPr>
        <p:spPr>
          <a:xfrm>
            <a:off x="1524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L0</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quant-bin-1"/>
          <p:cNvSpPr>
            <a:spLocks noGrp="1"/>
          </p:cNvSpPr>
          <p:nvPr/>
        </p:nvSpPr>
        <p:spPr>
          <a:xfrm>
            <a:off x="2667000" y="2714625"/>
            <a:ext cx="1143000" cy="971550"/>
          </a:xfrm>
          <a:prstGeom prst="rect">
            <a:avLst/>
          </a:prstGeom>
          <a:noFill/>
          <a:ln w="9525">
            <a:solidFill>
              <a:srgbClr val="D7D7DE"/>
            </a:solidFill>
          </a:ln>
        </p:spPr>
      </p:sp>
      <p:sp>
        <p:nvSpPr>
          <p:cNvPr id="9" name="quant-grade-1"/>
          <p:cNvSpPr>
            <a:spLocks noGrp="1"/>
          </p:cNvSpPr>
          <p:nvPr/>
        </p:nvSpPr>
        <p:spPr>
          <a:xfrm>
            <a:off x="2667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L1</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quant-bin-2"/>
          <p:cNvSpPr>
            <a:spLocks noGrp="1"/>
          </p:cNvSpPr>
          <p:nvPr/>
        </p:nvSpPr>
        <p:spPr>
          <a:xfrm>
            <a:off x="3810000" y="2714625"/>
            <a:ext cx="1143000" cy="971550"/>
          </a:xfrm>
          <a:prstGeom prst="rect">
            <a:avLst/>
          </a:prstGeom>
          <a:noFill/>
          <a:ln w="9525">
            <a:solidFill>
              <a:srgbClr val="D7D7DE"/>
            </a:solidFill>
          </a:ln>
        </p:spPr>
      </p:sp>
      <p:sp>
        <p:nvSpPr>
          <p:cNvPr id="11" name="quant-grade-2"/>
          <p:cNvSpPr>
            <a:spLocks noGrp="1"/>
          </p:cNvSpPr>
          <p:nvPr/>
        </p:nvSpPr>
        <p:spPr>
          <a:xfrm>
            <a:off x="3810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L2</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quant-bin-3"/>
          <p:cNvSpPr>
            <a:spLocks noGrp="1"/>
          </p:cNvSpPr>
          <p:nvPr/>
        </p:nvSpPr>
        <p:spPr>
          <a:xfrm>
            <a:off x="4953000" y="2714625"/>
            <a:ext cx="1143000" cy="971550"/>
          </a:xfrm>
          <a:prstGeom prst="rect">
            <a:avLst/>
          </a:prstGeom>
          <a:noFill/>
          <a:ln w="28575">
            <a:solidFill>
              <a:srgbClr val="FF0000"/>
            </a:solidFill>
          </a:ln>
        </p:spPr>
      </p:sp>
      <p:sp>
        <p:nvSpPr>
          <p:cNvPr id="13" name="quant-grade-3"/>
          <p:cNvSpPr>
            <a:spLocks noGrp="1"/>
          </p:cNvSpPr>
          <p:nvPr/>
        </p:nvSpPr>
        <p:spPr>
          <a:xfrm>
            <a:off x="4953000" y="3876675"/>
            <a:ext cx="1143000" cy="381000"/>
          </a:xfrm>
          <a:prstGeom prst="rect">
            <a:avLst/>
          </a:prstGeom>
          <a:noFill/>
          <a:ln w="0">
            <a:noFill/>
          </a:ln>
        </p:spPr>
        <p:txBody>
          <a:bodyPr wrap="none" lIns="0" tIns="0" rIns="0" bIns="0" anchor="t">
            <a:noAutofit/>
          </a:bodyPr>
          <a:lstStyle>
            <a:defPPr algn="ctr">
              <a:defRPr sz="2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2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L3</a:t>
            </a:r>
            <a:endParaRPr sz="2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quant-bin-4"/>
          <p:cNvSpPr>
            <a:spLocks noGrp="1"/>
          </p:cNvSpPr>
          <p:nvPr/>
        </p:nvSpPr>
        <p:spPr>
          <a:xfrm>
            <a:off x="6096000" y="2714625"/>
            <a:ext cx="1143000" cy="971550"/>
          </a:xfrm>
          <a:prstGeom prst="rect">
            <a:avLst/>
          </a:prstGeom>
          <a:noFill/>
          <a:ln w="9525">
            <a:solidFill>
              <a:srgbClr val="D7D7DE"/>
            </a:solidFill>
          </a:ln>
        </p:spPr>
      </p:sp>
      <p:sp>
        <p:nvSpPr>
          <p:cNvPr id="15" name="quant-grade-4"/>
          <p:cNvSpPr>
            <a:spLocks noGrp="1"/>
          </p:cNvSpPr>
          <p:nvPr/>
        </p:nvSpPr>
        <p:spPr>
          <a:xfrm>
            <a:off x="6096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L4</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6" name="quant-bin-5"/>
          <p:cNvSpPr>
            <a:spLocks noGrp="1"/>
          </p:cNvSpPr>
          <p:nvPr/>
        </p:nvSpPr>
        <p:spPr>
          <a:xfrm>
            <a:off x="7239000" y="2714625"/>
            <a:ext cx="1143000" cy="971550"/>
          </a:xfrm>
          <a:prstGeom prst="rect">
            <a:avLst/>
          </a:prstGeom>
          <a:noFill/>
          <a:ln w="9525">
            <a:solidFill>
              <a:srgbClr val="D7D7DE"/>
            </a:solidFill>
          </a:ln>
        </p:spPr>
      </p:sp>
      <p:sp>
        <p:nvSpPr>
          <p:cNvPr id="17" name="quant-grade-5"/>
          <p:cNvSpPr>
            <a:spLocks noGrp="1"/>
          </p:cNvSpPr>
          <p:nvPr/>
        </p:nvSpPr>
        <p:spPr>
          <a:xfrm>
            <a:off x="7239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L5</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8" name="quant-bin-6"/>
          <p:cNvSpPr>
            <a:spLocks noGrp="1"/>
          </p:cNvSpPr>
          <p:nvPr/>
        </p:nvSpPr>
        <p:spPr>
          <a:xfrm>
            <a:off x="8382000" y="2714625"/>
            <a:ext cx="1143000" cy="971550"/>
          </a:xfrm>
          <a:prstGeom prst="rect">
            <a:avLst/>
          </a:prstGeom>
          <a:noFill/>
          <a:ln w="9525">
            <a:solidFill>
              <a:srgbClr val="D7D7DE"/>
            </a:solidFill>
          </a:ln>
        </p:spPr>
      </p:sp>
      <p:sp>
        <p:nvSpPr>
          <p:cNvPr id="19" name="quant-grade-6"/>
          <p:cNvSpPr>
            <a:spLocks noGrp="1"/>
          </p:cNvSpPr>
          <p:nvPr/>
        </p:nvSpPr>
        <p:spPr>
          <a:xfrm>
            <a:off x="8382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L6</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0" name="quant-bin-7"/>
          <p:cNvSpPr>
            <a:spLocks noGrp="1"/>
          </p:cNvSpPr>
          <p:nvPr/>
        </p:nvSpPr>
        <p:spPr>
          <a:xfrm>
            <a:off x="9525000" y="2714625"/>
            <a:ext cx="1143000" cy="971550"/>
          </a:xfrm>
          <a:prstGeom prst="rect">
            <a:avLst/>
          </a:prstGeom>
          <a:noFill/>
          <a:ln w="9525">
            <a:solidFill>
              <a:srgbClr val="D7D7DE"/>
            </a:solidFill>
          </a:ln>
        </p:spPr>
      </p:sp>
      <p:sp>
        <p:nvSpPr>
          <p:cNvPr id="21" name="quant-grade-7"/>
          <p:cNvSpPr>
            <a:spLocks noGrp="1"/>
          </p:cNvSpPr>
          <p:nvPr/>
        </p:nvSpPr>
        <p:spPr>
          <a:xfrm>
            <a:off x="9525000" y="3876675"/>
            <a:ext cx="1143000" cy="381000"/>
          </a:xfrm>
          <a:prstGeom prst="rect">
            <a:avLst/>
          </a:prstGeom>
          <a:noFill/>
          <a:ln w="0">
            <a:noFill/>
          </a:ln>
        </p:spPr>
        <p:txBody>
          <a:bodyPr wrap="none" lIns="0" tIns="0" rIns="0" bIns="0" anchor="t">
            <a:noAutofit/>
          </a:bodyPr>
          <a:lstStyle>
            <a:defPPr algn="ctr">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L7</a:t>
            </a:r>
            <a:endParaRPr sz="21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quant-boundary-0"/>
          <p:cNvSpPr>
            <a:spLocks noGrp="1"/>
          </p:cNvSpPr>
          <p:nvPr/>
        </p:nvSpPr>
        <p:spPr>
          <a:xfrm>
            <a:off x="1238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3" name="quant-boundary-1"/>
          <p:cNvSpPr>
            <a:spLocks noGrp="1"/>
          </p:cNvSpPr>
          <p:nvPr/>
        </p:nvSpPr>
        <p:spPr>
          <a:xfrm>
            <a:off x="2381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quant-boundary-2"/>
          <p:cNvSpPr>
            <a:spLocks noGrp="1"/>
          </p:cNvSpPr>
          <p:nvPr/>
        </p:nvSpPr>
        <p:spPr>
          <a:xfrm>
            <a:off x="3524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2</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5" name="quant-boundary-3"/>
          <p:cNvSpPr>
            <a:spLocks noGrp="1"/>
          </p:cNvSpPr>
          <p:nvPr/>
        </p:nvSpPr>
        <p:spPr>
          <a:xfrm>
            <a:off x="4667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3</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6" name="quant-boundary-4"/>
          <p:cNvSpPr>
            <a:spLocks noGrp="1"/>
          </p:cNvSpPr>
          <p:nvPr/>
        </p:nvSpPr>
        <p:spPr>
          <a:xfrm>
            <a:off x="5810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4</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7" name="quant-boundary-5"/>
          <p:cNvSpPr>
            <a:spLocks noGrp="1"/>
          </p:cNvSpPr>
          <p:nvPr/>
        </p:nvSpPr>
        <p:spPr>
          <a:xfrm>
            <a:off x="6953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8" name="quant-boundary-6"/>
          <p:cNvSpPr>
            <a:spLocks noGrp="1"/>
          </p:cNvSpPr>
          <p:nvPr/>
        </p:nvSpPr>
        <p:spPr>
          <a:xfrm>
            <a:off x="8096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6</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9" name="quant-boundary-7"/>
          <p:cNvSpPr>
            <a:spLocks noGrp="1"/>
          </p:cNvSpPr>
          <p:nvPr/>
        </p:nvSpPr>
        <p:spPr>
          <a:xfrm>
            <a:off x="9239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7</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0" name="quant-boundary-8"/>
          <p:cNvSpPr>
            <a:spLocks noGrp="1"/>
          </p:cNvSpPr>
          <p:nvPr/>
        </p:nvSpPr>
        <p:spPr>
          <a:xfrm>
            <a:off x="10382250" y="2333625"/>
            <a:ext cx="57150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8</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1" name="raw-3.71"/>
          <p:cNvSpPr>
            <a:spLocks noGrp="1"/>
          </p:cNvSpPr>
          <p:nvPr/>
        </p:nvSpPr>
        <p:spPr>
          <a:xfrm>
            <a:off x="5693093" y="2986088"/>
            <a:ext cx="142875" cy="142875"/>
          </a:xfrm>
          <a:prstGeom prst="ellipse">
            <a:avLst/>
          </a:prstGeom>
          <a:solidFill>
            <a:srgbClr val="FFFFFF"/>
          </a:solidFill>
          <a:ln w="19050">
            <a:solidFill>
              <a:srgbClr val="FF0000"/>
            </a:solidFill>
          </a:ln>
        </p:spPr>
      </p:sp>
      <p:sp>
        <p:nvSpPr>
          <p:cNvPr id="32" name="raw-label-guide"/>
          <p:cNvSpPr>
            <a:spLocks noGrp="1"/>
          </p:cNvSpPr>
          <p:nvPr/>
        </p:nvSpPr>
        <p:spPr>
          <a:xfrm>
            <a:off x="5764530" y="2190750"/>
            <a:ext cx="9525" cy="838200"/>
          </a:xfrm>
          <a:custGeom>
            <a:avLst/>
            <a:gdLst/>
            <a:ahLst/>
            <a:cxnLst/>
            <a:pathLst>
              <a:path w="9525" h="838200">
                <a:moveTo>
                  <a:pt x="0" y="838200"/>
                </a:moveTo>
                <a:lnTo>
                  <a:pt x="0" y="0"/>
                </a:lnTo>
              </a:path>
            </a:pathLst>
          </a:custGeom>
          <a:noFill/>
          <a:ln w="12383">
            <a:solidFill>
              <a:srgbClr val="FF0000"/>
            </a:solidFill>
          </a:ln>
        </p:spPr>
      </p:sp>
      <p:sp>
        <p:nvSpPr>
          <p:cNvPr id="33" name="raw-value-label"/>
          <p:cNvSpPr>
            <a:spLocks noGrp="1"/>
          </p:cNvSpPr>
          <p:nvPr/>
        </p:nvSpPr>
        <p:spPr>
          <a:xfrm>
            <a:off x="5907405" y="1990725"/>
            <a:ext cx="2286000" cy="40005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原值 3.71</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4" name="representative-3.5"/>
          <p:cNvSpPr>
            <a:spLocks noGrp="1"/>
          </p:cNvSpPr>
          <p:nvPr/>
        </p:nvSpPr>
        <p:spPr>
          <a:xfrm>
            <a:off x="5453063" y="3405188"/>
            <a:ext cx="142875" cy="142875"/>
          </a:xfrm>
          <a:prstGeom prst="ellipse">
            <a:avLst/>
          </a:prstGeom>
          <a:solidFill>
            <a:srgbClr val="00B0F0"/>
          </a:solidFill>
          <a:ln w="0">
            <a:solidFill>
              <a:srgbClr val="00B0F0"/>
            </a:solidFill>
          </a:ln>
        </p:spPr>
      </p:sp>
      <p:sp>
        <p:nvSpPr>
          <p:cNvPr id="35" name="representative-guide"/>
          <p:cNvSpPr>
            <a:spLocks noGrp="1"/>
          </p:cNvSpPr>
          <p:nvPr/>
        </p:nvSpPr>
        <p:spPr>
          <a:xfrm>
            <a:off x="5524500" y="3524250"/>
            <a:ext cx="9525" cy="171450"/>
          </a:xfrm>
          <a:custGeom>
            <a:avLst/>
            <a:gdLst/>
            <a:ahLst/>
            <a:cxnLst/>
            <a:pathLst>
              <a:path w="9525" h="171450">
                <a:moveTo>
                  <a:pt x="0" y="0"/>
                </a:moveTo>
                <a:lnTo>
                  <a:pt x="0" y="171450"/>
                </a:lnTo>
              </a:path>
            </a:pathLst>
          </a:custGeom>
          <a:noFill/>
          <a:ln w="12383">
            <a:solidFill>
              <a:srgbClr val="007C9B"/>
            </a:solidFill>
          </a:ln>
        </p:spPr>
      </p:sp>
      <p:sp>
        <p:nvSpPr>
          <p:cNvPr id="36" name="quant-mapping"/>
          <p:cNvSpPr>
            <a:spLocks noGrp="1"/>
          </p:cNvSpPr>
          <p:nvPr/>
        </p:nvSpPr>
        <p:spPr>
          <a:xfrm>
            <a:off x="3048000" y="4724400"/>
            <a:ext cx="7239000" cy="457200"/>
          </a:xfrm>
          <a:prstGeom prst="rect">
            <a:avLst/>
          </a:prstGeom>
          <a:noFill/>
          <a:ln w="0">
            <a:noFill/>
          </a:ln>
        </p:spPr>
        <p:txBody>
          <a:bodyPr wrap="none" lIns="0" tIns="0" rIns="0" bIns="0" anchor="t">
            <a:noAutofit/>
          </a:bodyPr>
          <a:lstStyle>
            <a:defPPr algn="ctr">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等级编号 L3；对应代表值 3.5</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7" name="text"/>
          <p:cNvSpPr>
            <a:spLocks noGrp="1"/>
          </p:cNvSpPr>
          <p:nvPr/>
        </p:nvSpPr>
        <p:spPr>
          <a:xfrm>
            <a:off x="609600" y="5810250"/>
            <a:ext cx="109728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编号表示哪一档；代表值用于近似原幅度。</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8" name="representative-label"/>
          <p:cNvSpPr>
            <a:spLocks noGrp="1"/>
          </p:cNvSpPr>
          <p:nvPr/>
        </p:nvSpPr>
        <p:spPr>
          <a:xfrm>
            <a:off x="6219825" y="3295650"/>
            <a:ext cx="2762250" cy="400050"/>
          </a:xfrm>
          <a:prstGeom prst="rect">
            <a:avLst/>
          </a:prstGeom>
          <a:noFill/>
          <a:ln w="0">
            <a:noFill/>
          </a:ln>
        </p:spPr>
        <p:txBody>
          <a:bodyPr wrap="none" lIns="0" tIns="0" rIns="0" bIns="0" anchor="t">
            <a:noAutofit/>
          </a:bodyPr>
          <a:lstStyle>
            <a:defPPr algn="l">
              <a:defRPr sz="22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rPr>
              <a:t>代表值 3.5</a:t>
            </a:r>
            <a:endParaRPr sz="22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9" name="representative-label-leader"/>
          <p:cNvSpPr>
            <a:spLocks noGrp="1"/>
          </p:cNvSpPr>
          <p:nvPr/>
        </p:nvSpPr>
        <p:spPr>
          <a:xfrm>
            <a:off x="5610225" y="3476625"/>
            <a:ext cx="476250" cy="9525"/>
          </a:xfrm>
          <a:custGeom>
            <a:avLst/>
            <a:gdLst/>
            <a:ahLst/>
            <a:cxnLst/>
            <a:pathLst>
              <a:path w="476250" h="9525">
                <a:moveTo>
                  <a:pt x="0" y="0"/>
                </a:moveTo>
                <a:lnTo>
                  <a:pt x="476250" y="0"/>
                </a:lnTo>
              </a:path>
            </a:pathLst>
          </a:custGeom>
          <a:noFill/>
          <a:ln w="11430">
            <a:solidFill>
              <a:srgbClr val="007C9B"/>
            </a:solidFill>
          </a:ln>
        </p:spPr>
      </p:sp>
      <p:sp>
        <p:nvSpPr>
          <p:cNvPr id="40" name="TextBox 39"/>
          <p:cNvSpPr txBox="1"/>
          <p:nvPr/>
        </p:nvSpPr>
        <p:spPr>
          <a:xfrm>
            <a:off x="7589520" y="5468112"/>
            <a:ext cx="3877056" cy="393192"/>
          </a:xfrm>
          <a:prstGeom prst="rect">
            <a:avLst/>
          </a:prstGeom>
          <a:noFill/>
        </p:spPr>
        <p:txBody>
          <a:bodyPr wrap="square" lIns="0" tIns="0" rIns="0" bIns="0" anchor="ctr">
            <a:spAutoFit/>
          </a:bodyPr>
          <a:lstStyle/>
          <a:p>
            <a:pPr>
              <a:spcAft>
                <a:spcPts val="200"/>
              </a:spcAft>
              <a:defRPr sz="1900" b="1">
                <a:solidFill>
                  <a:srgbClr val="8C64E1"/>
                </a:solidFill>
                <a:latin typeface="Alibaba PuHuiTi 3.0 115 Black" panose="00020600040101010101" charset="-122"/>
              </a:defRPr>
            </a:pPr>
            <a:r>
              <a:t>原值3.71 → 代表值3.50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10个样本，怎样依次编码？</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13232" y="1847088"/>
            <a:ext cx="182880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采样顺序</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713232" y="2816352"/>
            <a:ext cx="182880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量化等级</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713232" y="3776472"/>
            <a:ext cx="182880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bit码字</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2688336"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2688336"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2688336"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011</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Connector 10"/>
          <p:cNvSpPr>
            <a:spLocks noGrp="1"/>
          </p:cNvSpPr>
          <p:nvPr/>
        </p:nvSpPr>
        <p:spPr>
          <a:xfrm>
            <a:off x="3044952"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a:off x="3044952"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3" name="TextBox 12"/>
          <p:cNvSpPr>
            <a:spLocks noGrp="1"/>
          </p:cNvSpPr>
          <p:nvPr/>
        </p:nvSpPr>
        <p:spPr>
          <a:xfrm>
            <a:off x="3547872"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2</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4" name="TextBox 13"/>
          <p:cNvSpPr>
            <a:spLocks noGrp="1"/>
          </p:cNvSpPr>
          <p:nvPr/>
        </p:nvSpPr>
        <p:spPr>
          <a:xfrm>
            <a:off x="3547872"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5</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TextBox 14"/>
          <p:cNvSpPr>
            <a:spLocks noGrp="1"/>
          </p:cNvSpPr>
          <p:nvPr/>
        </p:nvSpPr>
        <p:spPr>
          <a:xfrm>
            <a:off x="3547872"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101</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Connector 15"/>
          <p:cNvSpPr>
            <a:spLocks noGrp="1"/>
          </p:cNvSpPr>
          <p:nvPr/>
        </p:nvSpPr>
        <p:spPr>
          <a:xfrm>
            <a:off x="3904487"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a:off x="3904487"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8" name="TextBox 17"/>
          <p:cNvSpPr>
            <a:spLocks noGrp="1"/>
          </p:cNvSpPr>
          <p:nvPr/>
        </p:nvSpPr>
        <p:spPr>
          <a:xfrm>
            <a:off x="4407408"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3</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extBox 18"/>
          <p:cNvSpPr>
            <a:spLocks noGrp="1"/>
          </p:cNvSpPr>
          <p:nvPr/>
        </p:nvSpPr>
        <p:spPr>
          <a:xfrm>
            <a:off x="4407408"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7</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TextBox 19"/>
          <p:cNvSpPr>
            <a:spLocks noGrp="1"/>
          </p:cNvSpPr>
          <p:nvPr/>
        </p:nvSpPr>
        <p:spPr>
          <a:xfrm>
            <a:off x="4407408"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111</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1" name="Connector 20"/>
          <p:cNvSpPr>
            <a:spLocks noGrp="1"/>
          </p:cNvSpPr>
          <p:nvPr/>
        </p:nvSpPr>
        <p:spPr>
          <a:xfrm>
            <a:off x="4764024"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a:off x="4764024"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3" name="TextBox 22"/>
          <p:cNvSpPr>
            <a:spLocks noGrp="1"/>
          </p:cNvSpPr>
          <p:nvPr/>
        </p:nvSpPr>
        <p:spPr>
          <a:xfrm>
            <a:off x="5266944"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4</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TextBox 23"/>
          <p:cNvSpPr>
            <a:spLocks noGrp="1"/>
          </p:cNvSpPr>
          <p:nvPr/>
        </p:nvSpPr>
        <p:spPr>
          <a:xfrm>
            <a:off x="5266944"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6</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5" name="TextBox 24"/>
          <p:cNvSpPr>
            <a:spLocks noGrp="1"/>
          </p:cNvSpPr>
          <p:nvPr/>
        </p:nvSpPr>
        <p:spPr>
          <a:xfrm>
            <a:off x="5266944"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110</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6" name="Connector 25"/>
          <p:cNvSpPr>
            <a:spLocks noGrp="1"/>
          </p:cNvSpPr>
          <p:nvPr/>
        </p:nvSpPr>
        <p:spPr>
          <a:xfrm>
            <a:off x="5623559"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5623559"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8" name="TextBox 27"/>
          <p:cNvSpPr>
            <a:spLocks noGrp="1"/>
          </p:cNvSpPr>
          <p:nvPr/>
        </p:nvSpPr>
        <p:spPr>
          <a:xfrm>
            <a:off x="6126479"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9" name="TextBox 28"/>
          <p:cNvSpPr>
            <a:spLocks noGrp="1"/>
          </p:cNvSpPr>
          <p:nvPr/>
        </p:nvSpPr>
        <p:spPr>
          <a:xfrm>
            <a:off x="6126479"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4</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0" name="TextBox 29"/>
          <p:cNvSpPr>
            <a:spLocks noGrp="1"/>
          </p:cNvSpPr>
          <p:nvPr/>
        </p:nvSpPr>
        <p:spPr>
          <a:xfrm>
            <a:off x="6126479"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100</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1" name="Connector 30"/>
          <p:cNvSpPr>
            <a:spLocks noGrp="1"/>
          </p:cNvSpPr>
          <p:nvPr/>
        </p:nvSpPr>
        <p:spPr>
          <a:xfrm>
            <a:off x="6483095"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6483095"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3" name="TextBox 32"/>
          <p:cNvSpPr>
            <a:spLocks noGrp="1"/>
          </p:cNvSpPr>
          <p:nvPr/>
        </p:nvSpPr>
        <p:spPr>
          <a:xfrm>
            <a:off x="6986015"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6</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4" name="TextBox 33"/>
          <p:cNvSpPr>
            <a:spLocks noGrp="1"/>
          </p:cNvSpPr>
          <p:nvPr/>
        </p:nvSpPr>
        <p:spPr>
          <a:xfrm>
            <a:off x="6986015"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2</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5" name="TextBox 34"/>
          <p:cNvSpPr>
            <a:spLocks noGrp="1"/>
          </p:cNvSpPr>
          <p:nvPr/>
        </p:nvSpPr>
        <p:spPr>
          <a:xfrm>
            <a:off x="6986015"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010</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6" name="Connector 35"/>
          <p:cNvSpPr>
            <a:spLocks noGrp="1"/>
          </p:cNvSpPr>
          <p:nvPr/>
        </p:nvSpPr>
        <p:spPr>
          <a:xfrm>
            <a:off x="7342631"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7342631"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8" name="TextBox 37"/>
          <p:cNvSpPr>
            <a:spLocks noGrp="1"/>
          </p:cNvSpPr>
          <p:nvPr/>
        </p:nvSpPr>
        <p:spPr>
          <a:xfrm>
            <a:off x="7845552"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7</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9" name="TextBox 38"/>
          <p:cNvSpPr>
            <a:spLocks noGrp="1"/>
          </p:cNvSpPr>
          <p:nvPr/>
        </p:nvSpPr>
        <p:spPr>
          <a:xfrm>
            <a:off x="7845552"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0" name="TextBox 39"/>
          <p:cNvSpPr>
            <a:spLocks noGrp="1"/>
          </p:cNvSpPr>
          <p:nvPr/>
        </p:nvSpPr>
        <p:spPr>
          <a:xfrm>
            <a:off x="7845552"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000</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1" name="Connector 40"/>
          <p:cNvSpPr>
            <a:spLocks noGrp="1"/>
          </p:cNvSpPr>
          <p:nvPr/>
        </p:nvSpPr>
        <p:spPr>
          <a:xfrm>
            <a:off x="8202168"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8202168"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43" name="TextBox 42"/>
          <p:cNvSpPr>
            <a:spLocks noGrp="1"/>
          </p:cNvSpPr>
          <p:nvPr/>
        </p:nvSpPr>
        <p:spPr>
          <a:xfrm>
            <a:off x="8705088"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8</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4" name="TextBox 43"/>
          <p:cNvSpPr>
            <a:spLocks noGrp="1"/>
          </p:cNvSpPr>
          <p:nvPr/>
        </p:nvSpPr>
        <p:spPr>
          <a:xfrm>
            <a:off x="8705088"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5" name="TextBox 44"/>
          <p:cNvSpPr>
            <a:spLocks noGrp="1"/>
          </p:cNvSpPr>
          <p:nvPr/>
        </p:nvSpPr>
        <p:spPr>
          <a:xfrm>
            <a:off x="8705088"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001</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6" name="Connector 45"/>
          <p:cNvSpPr>
            <a:spLocks noGrp="1"/>
          </p:cNvSpPr>
          <p:nvPr/>
        </p:nvSpPr>
        <p:spPr>
          <a:xfrm>
            <a:off x="9061704"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9061704"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48" name="TextBox 47"/>
          <p:cNvSpPr>
            <a:spLocks noGrp="1"/>
          </p:cNvSpPr>
          <p:nvPr/>
        </p:nvSpPr>
        <p:spPr>
          <a:xfrm>
            <a:off x="9564624"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9</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9" name="TextBox 48"/>
          <p:cNvSpPr>
            <a:spLocks noGrp="1"/>
          </p:cNvSpPr>
          <p:nvPr/>
        </p:nvSpPr>
        <p:spPr>
          <a:xfrm>
            <a:off x="9564624"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0" name="TextBox 49"/>
          <p:cNvSpPr>
            <a:spLocks noGrp="1"/>
          </p:cNvSpPr>
          <p:nvPr/>
        </p:nvSpPr>
        <p:spPr>
          <a:xfrm>
            <a:off x="9564624"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011</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1" name="Connector 50"/>
          <p:cNvSpPr>
            <a:spLocks noGrp="1"/>
          </p:cNvSpPr>
          <p:nvPr/>
        </p:nvSpPr>
        <p:spPr>
          <a:xfrm>
            <a:off x="9921240"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a:off x="9921240"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53" name="TextBox 52"/>
          <p:cNvSpPr>
            <a:spLocks noGrp="1"/>
          </p:cNvSpPr>
          <p:nvPr/>
        </p:nvSpPr>
        <p:spPr>
          <a:xfrm>
            <a:off x="10424159" y="1856231"/>
            <a:ext cx="731520" cy="274320"/>
          </a:xfrm>
          <a:prstGeom prst="rect">
            <a:avLst/>
          </a:prstGeom>
          <a:noFill/>
        </p:spPr>
        <p:txBody>
          <a:bodyPr wrap="squar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54" name="TextBox 53"/>
          <p:cNvSpPr>
            <a:spLocks noGrp="1"/>
          </p:cNvSpPr>
          <p:nvPr/>
        </p:nvSpPr>
        <p:spPr>
          <a:xfrm>
            <a:off x="10424159" y="2807208"/>
            <a:ext cx="731520"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4</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5" name="TextBox 54"/>
          <p:cNvSpPr>
            <a:spLocks noGrp="1"/>
          </p:cNvSpPr>
          <p:nvPr/>
        </p:nvSpPr>
        <p:spPr>
          <a:xfrm>
            <a:off x="10424159" y="3776472"/>
            <a:ext cx="731520" cy="289560"/>
          </a:xfrm>
          <a:prstGeom prst="rect">
            <a:avLst/>
          </a:prstGeom>
          <a:noFill/>
        </p:spPr>
        <p:txBody>
          <a:bodyPr wrap="square" lIns="0" tIns="0" rIns="0" bIns="0" anchor="t">
            <a:noAutofit/>
          </a:bodyPr>
          <a:lstStyle>
            <a:defPPr algn="ctr">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100</a:t>
            </a:r>
            <a:endParaRPr sz="19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6" name="Connector 55"/>
          <p:cNvSpPr>
            <a:spLocks noGrp="1"/>
          </p:cNvSpPr>
          <p:nvPr/>
        </p:nvSpPr>
        <p:spPr>
          <a:xfrm>
            <a:off x="10780776" y="2249424"/>
            <a:ext cx="0" cy="466344"/>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a:off x="10780776" y="3191256"/>
            <a:ext cx="0" cy="493776"/>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58" name="TextBox 57"/>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采样决定“什么时候记录”，量化决定“记录哪个等级”，编码决定“用哪些bit表示”。</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59" name="first-sample-focus"/>
          <p:cNvSpPr>
            <a:spLocks noGrp="1"/>
          </p:cNvSpPr>
          <p:nvPr/>
        </p:nvSpPr>
        <p:spPr>
          <a:xfrm>
            <a:off x="2771775" y="1704975"/>
            <a:ext cx="638175" cy="2466975"/>
          </a:xfrm>
          <a:prstGeom prst="rect">
            <a:avLst/>
          </a:prstGeom>
          <a:noFill/>
          <a:ln w="28575">
            <a:solidFill>
              <a:srgbClr val="FF0000"/>
            </a:solidFill>
          </a:ln>
        </p:spPr>
      </p:sp>
      <p:sp>
        <p:nvSpPr>
          <p:cNvPr id="60" name="Rectangle 59"/>
          <p:cNvSpPr/>
          <p:nvPr/>
        </p:nvSpPr>
        <p:spPr>
          <a:xfrm>
            <a:off x="2779776" y="4745736"/>
            <a:ext cx="6638544" cy="905256"/>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2907792" y="4937760"/>
            <a:ext cx="6400800" cy="475488"/>
          </a:xfrm>
          <a:prstGeom prst="rect">
            <a:avLst/>
          </a:prstGeom>
          <a:noFill/>
        </p:spPr>
        <p:txBody>
          <a:bodyPr wrap="square" lIns="0" tIns="0" rIns="0" bIns="0" anchor="ctr">
            <a:spAutoFit/>
          </a:bodyPr>
          <a:lstStyle/>
          <a:p>
            <a:pPr algn="ctr">
              <a:spcAft>
                <a:spcPts val="200"/>
              </a:spcAft>
              <a:defRPr sz="2300" b="1">
                <a:solidFill>
                  <a:srgbClr val="8C64E1"/>
                </a:solidFill>
                <a:latin typeface="Alibaba PuHuiTi 3.0 115 Black" panose="00020600040101010101" charset="-122"/>
              </a:defRPr>
            </a:pPr>
            <a:r>
              <a:t>样本1：等级 L3 → 3 bit码字 011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3.71为什么写成011，而不是100？</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749808" y="2249424"/>
            <a:ext cx="2432304" cy="1636776"/>
          </a:xfrm>
          <a:prstGeom prst="rect">
            <a:avLst/>
          </a:prstGeom>
          <a:solidFill>
            <a:srgbClr val="FFFFFF"/>
          </a:solid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841247" y="2441448"/>
            <a:ext cx="2267712" cy="335280"/>
          </a:xfrm>
          <a:prstGeom prst="rect">
            <a:avLst/>
          </a:prstGeom>
          <a:noFill/>
        </p:spPr>
        <p:txBody>
          <a:bodyPr wrap="square" lIns="0" tIns="0" rIns="0" bIns="0" anchor="t">
            <a:noAutofit/>
          </a:bodyPr>
          <a:lstStyle>
            <a:defPPr algn="ctr">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rPr>
              <a:t>采样原值</a:t>
            </a:r>
            <a:endPar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841247" y="2980944"/>
            <a:ext cx="2267712" cy="472440"/>
          </a:xfrm>
          <a:prstGeom prst="rect">
            <a:avLst/>
          </a:prstGeom>
          <a:noFill/>
        </p:spPr>
        <p:txBody>
          <a:bodyPr wrap="square" lIns="0" tIns="0" rIns="0" bIns="0" anchor="t">
            <a:noAutofit/>
          </a:bodyPr>
          <a:lstStyle>
            <a:defPPr algn="ctr">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3.71</a:t>
            </a:r>
            <a:endPar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Connector 7"/>
          <p:cNvSpPr>
            <a:spLocks noGrp="1"/>
          </p:cNvSpPr>
          <p:nvPr/>
        </p:nvSpPr>
        <p:spPr>
          <a:xfrm>
            <a:off x="3236976" y="3063240"/>
            <a:ext cx="329184" cy="0"/>
          </a:xfrm>
          <a:prstGeom prst="line">
            <a:avLst/>
          </a:prstGeom>
          <a:ln w="25400">
            <a:solidFill>
              <a:srgbClr val="8C64E1"/>
            </a:solidFill>
          </a:ln>
        </p:spPr>
        <p:style>
          <a:lnRef idx="2">
            <a:schemeClr val="accent1"/>
          </a:lnRef>
          <a:fillRef idx="0">
            <a:schemeClr val="accent1"/>
          </a:fillRef>
          <a:effectRef idx="0">
            <a:srgbClr val="FFFFFF"/>
          </a:effectRef>
          <a:fontRef idx="minor">
            <a:schemeClr val="tx1"/>
          </a:fontRef>
        </p:style>
      </p:sp>
      <p:sp>
        <p:nvSpPr>
          <p:cNvPr id="9" name="Rectangle 8"/>
          <p:cNvSpPr>
            <a:spLocks noGrp="1"/>
          </p:cNvSpPr>
          <p:nvPr/>
        </p:nvSpPr>
        <p:spPr>
          <a:xfrm>
            <a:off x="3630168" y="2249424"/>
            <a:ext cx="2432304" cy="1636776"/>
          </a:xfrm>
          <a:prstGeom prst="rect">
            <a:avLst/>
          </a:prstGeom>
          <a:solidFill>
            <a:srgbClr val="FFFFFF"/>
          </a:solid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TextBox 9"/>
          <p:cNvSpPr>
            <a:spLocks noGrp="1"/>
          </p:cNvSpPr>
          <p:nvPr/>
        </p:nvSpPr>
        <p:spPr>
          <a:xfrm>
            <a:off x="3721607" y="2441448"/>
            <a:ext cx="2267712" cy="335280"/>
          </a:xfrm>
          <a:prstGeom prst="rect">
            <a:avLst/>
          </a:prstGeom>
          <a:noFill/>
        </p:spPr>
        <p:txBody>
          <a:bodyPr wrap="square" lIns="0" tIns="0" rIns="0" bIns="0" anchor="t">
            <a:noAutofit/>
          </a:bodyPr>
          <a:lstStyle>
            <a:defPPr algn="ctr">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rPr>
              <a:t>输入范围</a:t>
            </a:r>
            <a:endPar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3721607" y="2980944"/>
            <a:ext cx="2267712" cy="472440"/>
          </a:xfrm>
          <a:prstGeom prst="rect">
            <a:avLst/>
          </a:prstGeom>
          <a:noFill/>
        </p:spPr>
        <p:txBody>
          <a:bodyPr wrap="square" lIns="0" tIns="0" rIns="0" bIns="0" anchor="t">
            <a:noAutofit/>
          </a:bodyPr>
          <a:lstStyle>
            <a:defPPr algn="ctr">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[3,4)</a:t>
            </a:r>
            <a:endPar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Connector 11"/>
          <p:cNvSpPr>
            <a:spLocks noGrp="1"/>
          </p:cNvSpPr>
          <p:nvPr/>
        </p:nvSpPr>
        <p:spPr>
          <a:xfrm>
            <a:off x="6117336" y="3063240"/>
            <a:ext cx="329184" cy="0"/>
          </a:xfrm>
          <a:prstGeom prst="line">
            <a:avLst/>
          </a:prstGeom>
          <a:ln w="25400">
            <a:solidFill>
              <a:srgbClr val="8C64E1"/>
            </a:solidFill>
          </a:ln>
        </p:spPr>
        <p:style>
          <a:lnRef idx="2">
            <a:schemeClr val="accent1"/>
          </a:lnRef>
          <a:fillRef idx="0">
            <a:schemeClr val="accent1"/>
          </a:fillRef>
          <a:effectRef idx="0">
            <a:srgbClr val="FFFFFF"/>
          </a:effectRef>
          <a:fontRef idx="minor">
            <a:schemeClr val="tx1"/>
          </a:fontRef>
        </p:style>
      </p:sp>
      <p:sp>
        <p:nvSpPr>
          <p:cNvPr id="13" name="Rectangle 12"/>
          <p:cNvSpPr>
            <a:spLocks noGrp="1"/>
          </p:cNvSpPr>
          <p:nvPr/>
        </p:nvSpPr>
        <p:spPr>
          <a:xfrm>
            <a:off x="6510528" y="2249424"/>
            <a:ext cx="2432304" cy="1636776"/>
          </a:xfrm>
          <a:prstGeom prst="rect">
            <a:avLst/>
          </a:prstGeom>
          <a:solidFill>
            <a:srgbClr val="FFFFFF"/>
          </a:solid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 name="TextBox 13"/>
          <p:cNvSpPr>
            <a:spLocks noGrp="1"/>
          </p:cNvSpPr>
          <p:nvPr/>
        </p:nvSpPr>
        <p:spPr>
          <a:xfrm>
            <a:off x="6601968" y="2441448"/>
            <a:ext cx="2267712" cy="335280"/>
          </a:xfrm>
          <a:prstGeom prst="rect">
            <a:avLst/>
          </a:prstGeom>
          <a:noFill/>
        </p:spPr>
        <p:txBody>
          <a:bodyPr wrap="square" lIns="0" tIns="0" rIns="0" bIns="0" anchor="t">
            <a:noAutofit/>
          </a:bodyPr>
          <a:lstStyle>
            <a:defPPr algn="ctr">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rPr>
              <a:t>量化等级</a:t>
            </a:r>
            <a:endPar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extBox 14"/>
          <p:cNvSpPr>
            <a:spLocks noGrp="1"/>
          </p:cNvSpPr>
          <p:nvPr/>
        </p:nvSpPr>
        <p:spPr>
          <a:xfrm>
            <a:off x="6601968" y="2980944"/>
            <a:ext cx="2267712" cy="472440"/>
          </a:xfrm>
          <a:prstGeom prst="rect">
            <a:avLst/>
          </a:prstGeom>
          <a:noFill/>
        </p:spPr>
        <p:txBody>
          <a:bodyPr wrap="square" lIns="0" tIns="0" rIns="0" bIns="0" anchor="t">
            <a:noAutofit/>
          </a:bodyPr>
          <a:lstStyle>
            <a:defPPr algn="ctr">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L3</a:t>
            </a:r>
            <a:endParaRPr sz="31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Connector 15"/>
          <p:cNvSpPr>
            <a:spLocks noGrp="1"/>
          </p:cNvSpPr>
          <p:nvPr/>
        </p:nvSpPr>
        <p:spPr>
          <a:xfrm>
            <a:off x="8997696" y="3063240"/>
            <a:ext cx="329184" cy="0"/>
          </a:xfrm>
          <a:prstGeom prst="line">
            <a:avLst/>
          </a:prstGeom>
          <a:ln w="25400">
            <a:solidFill>
              <a:srgbClr val="8C64E1"/>
            </a:solidFill>
          </a:ln>
        </p:spPr>
        <p:style>
          <a:lnRef idx="2">
            <a:schemeClr val="accent1"/>
          </a:lnRef>
          <a:fillRef idx="0">
            <a:schemeClr val="accent1"/>
          </a:fillRef>
          <a:effectRef idx="0">
            <a:srgbClr val="FFFFFF"/>
          </a:effectRef>
          <a:fontRef idx="minor">
            <a:schemeClr val="tx1"/>
          </a:fontRef>
        </p:style>
      </p:sp>
      <p:sp>
        <p:nvSpPr>
          <p:cNvPr id="17" name="Rectangle 16"/>
          <p:cNvSpPr>
            <a:spLocks noGrp="1"/>
          </p:cNvSpPr>
          <p:nvPr/>
        </p:nvSpPr>
        <p:spPr>
          <a:xfrm>
            <a:off x="9390888" y="2249424"/>
            <a:ext cx="2432304" cy="1636776"/>
          </a:xfrm>
          <a:prstGeom prst="rect">
            <a:avLst/>
          </a:prstGeom>
          <a:solidFill>
            <a:srgbClr val="F3EFFF"/>
          </a:solid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8" name="TextBox 17"/>
          <p:cNvSpPr>
            <a:spLocks noGrp="1"/>
          </p:cNvSpPr>
          <p:nvPr/>
        </p:nvSpPr>
        <p:spPr>
          <a:xfrm>
            <a:off x="9482328" y="2441448"/>
            <a:ext cx="2267712" cy="335280"/>
          </a:xfrm>
          <a:prstGeom prst="rect">
            <a:avLst/>
          </a:prstGeom>
          <a:noFill/>
        </p:spPr>
        <p:txBody>
          <a:bodyPr wrap="square" lIns="0" tIns="0" rIns="0" bIns="0" anchor="t">
            <a:noAutofit/>
          </a:bodyPr>
          <a:lstStyle>
            <a:defPPr algn="ctr">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rPr>
              <a:t>3 bit码字</a:t>
            </a:r>
            <a:endParaRPr sz="22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extBox 18"/>
          <p:cNvSpPr>
            <a:spLocks noGrp="1"/>
          </p:cNvSpPr>
          <p:nvPr/>
        </p:nvSpPr>
        <p:spPr>
          <a:xfrm>
            <a:off x="9482328" y="2980944"/>
            <a:ext cx="2267712" cy="472440"/>
          </a:xfrm>
          <a:prstGeom prst="rect">
            <a:avLst/>
          </a:prstGeom>
          <a:noFill/>
        </p:spPr>
        <p:txBody>
          <a:bodyPr wrap="square" lIns="0" tIns="0" rIns="0" bIns="0" anchor="t">
            <a:noAutofit/>
          </a:bodyPr>
          <a:lstStyle>
            <a:defPPr algn="ctr">
              <a:def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011</a:t>
            </a:r>
            <a:endPara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TextBox 19"/>
          <p:cNvSpPr>
            <a:spLocks noGrp="1"/>
          </p:cNvSpPr>
          <p:nvPr/>
        </p:nvSpPr>
        <p:spPr>
          <a:xfrm>
            <a:off x="786384" y="4663440"/>
            <a:ext cx="10652760" cy="365760"/>
          </a:xfrm>
          <a:prstGeom prst="rect">
            <a:avLst/>
          </a:prstGeom>
          <a:noFill/>
        </p:spPr>
        <p:txBody>
          <a:bodyPr wrap="squar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规则：按输入范围确定等级，再用固定长度的0和1记录等级编号。</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1" name="TextBox 20"/>
          <p:cNvSpPr>
            <a:spLocks noGrp="1"/>
          </p:cNvSpPr>
          <p:nvPr/>
        </p:nvSpPr>
        <p:spPr>
          <a:xfrm>
            <a:off x="795528" y="5824728"/>
            <a:ext cx="103327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验证：输入值4.15对应的码字是什么？</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一个样本需要几个二进制位？</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32104" y="1682496"/>
            <a:ext cx="6583680" cy="472440"/>
          </a:xfrm>
          <a:prstGeom prst="rect">
            <a:avLst/>
          </a:prstGeom>
          <a:noFill/>
        </p:spPr>
        <p:txBody>
          <a:bodyPr wrap="square" lIns="0" tIns="0" rIns="0" bIns="0" anchor="t">
            <a:noAutofit/>
          </a:bodyPr>
          <a:lstStyle>
            <a:defPPr algn="l">
              <a:def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8个等级 = 2³</a:t>
            </a:r>
            <a:endParaRPr sz="31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Rectangle 5"/>
          <p:cNvSpPr>
            <a:spLocks noGrp="1"/>
          </p:cNvSpPr>
          <p:nvPr/>
        </p:nvSpPr>
        <p:spPr>
          <a:xfrm>
            <a:off x="914400" y="2724912"/>
            <a:ext cx="226771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TextBox 6"/>
          <p:cNvSpPr>
            <a:spLocks noGrp="1"/>
          </p:cNvSpPr>
          <p:nvPr/>
        </p:nvSpPr>
        <p:spPr>
          <a:xfrm>
            <a:off x="987552" y="2843784"/>
            <a:ext cx="2121408"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0 → 000</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Rectangle 7"/>
          <p:cNvSpPr>
            <a:spLocks noGrp="1"/>
          </p:cNvSpPr>
          <p:nvPr/>
        </p:nvSpPr>
        <p:spPr>
          <a:xfrm>
            <a:off x="3703320" y="2724912"/>
            <a:ext cx="226771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3776472" y="2843784"/>
            <a:ext cx="2121408"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1 → 001</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Rectangle 9"/>
          <p:cNvSpPr>
            <a:spLocks noGrp="1"/>
          </p:cNvSpPr>
          <p:nvPr/>
        </p:nvSpPr>
        <p:spPr>
          <a:xfrm>
            <a:off x="6492240" y="2724912"/>
            <a:ext cx="226771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 name="TextBox 10"/>
          <p:cNvSpPr>
            <a:spLocks noGrp="1"/>
          </p:cNvSpPr>
          <p:nvPr/>
        </p:nvSpPr>
        <p:spPr>
          <a:xfrm>
            <a:off x="6565392" y="2843784"/>
            <a:ext cx="2121408"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2 → 010</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Rectangle 11"/>
          <p:cNvSpPr>
            <a:spLocks noGrp="1"/>
          </p:cNvSpPr>
          <p:nvPr/>
        </p:nvSpPr>
        <p:spPr>
          <a:xfrm>
            <a:off x="9281159" y="2724912"/>
            <a:ext cx="226771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 name="TextBox 12"/>
          <p:cNvSpPr>
            <a:spLocks noGrp="1"/>
          </p:cNvSpPr>
          <p:nvPr/>
        </p:nvSpPr>
        <p:spPr>
          <a:xfrm>
            <a:off x="9354311" y="2843784"/>
            <a:ext cx="2121408" cy="350520"/>
          </a:xfrm>
          <a:prstGeom prst="rect">
            <a:avLst/>
          </a:prstGeom>
          <a:noFill/>
        </p:spPr>
        <p:txBody>
          <a:bodyPr wrap="square" lIns="0" tIns="0" rIns="0" bIns="0" anchor="t">
            <a:noAutofit/>
          </a:bodyPr>
          <a:lstStyle>
            <a:defPPr algn="ctr">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 011</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Rectangle 13"/>
          <p:cNvSpPr>
            <a:spLocks noGrp="1"/>
          </p:cNvSpPr>
          <p:nvPr/>
        </p:nvSpPr>
        <p:spPr>
          <a:xfrm>
            <a:off x="914400" y="3913632"/>
            <a:ext cx="226771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TextBox 14"/>
          <p:cNvSpPr>
            <a:spLocks noGrp="1"/>
          </p:cNvSpPr>
          <p:nvPr/>
        </p:nvSpPr>
        <p:spPr>
          <a:xfrm>
            <a:off x="987552" y="4032504"/>
            <a:ext cx="2121408" cy="350520"/>
          </a:xfrm>
          <a:prstGeom prst="rect">
            <a:avLst/>
          </a:prstGeom>
          <a:noFill/>
        </p:spPr>
        <p:txBody>
          <a:bodyPr wrap="square" lIns="0" tIns="0" rIns="0" bIns="0" anchor="t">
            <a:noAutofit/>
          </a:bodyPr>
          <a:lstStyle>
            <a:defPPr algn="ctr">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4 → 100</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Rectangle 15"/>
          <p:cNvSpPr>
            <a:spLocks noGrp="1"/>
          </p:cNvSpPr>
          <p:nvPr/>
        </p:nvSpPr>
        <p:spPr>
          <a:xfrm>
            <a:off x="3703320" y="3913632"/>
            <a:ext cx="226771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TextBox 16"/>
          <p:cNvSpPr>
            <a:spLocks noGrp="1"/>
          </p:cNvSpPr>
          <p:nvPr/>
        </p:nvSpPr>
        <p:spPr>
          <a:xfrm>
            <a:off x="3776472" y="4032504"/>
            <a:ext cx="2121408" cy="350520"/>
          </a:xfrm>
          <a:prstGeom prst="rect">
            <a:avLst/>
          </a:prstGeom>
          <a:noFill/>
        </p:spPr>
        <p:txBody>
          <a:bodyPr wrap="square" lIns="0" tIns="0" rIns="0" bIns="0" anchor="t">
            <a:noAutofit/>
          </a:bodyPr>
          <a:lstStyle>
            <a:defPPr algn="ctr">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5 → 101</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Rectangle 17"/>
          <p:cNvSpPr>
            <a:spLocks noGrp="1"/>
          </p:cNvSpPr>
          <p:nvPr/>
        </p:nvSpPr>
        <p:spPr>
          <a:xfrm>
            <a:off x="6492240" y="3913632"/>
            <a:ext cx="226771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TextBox 18"/>
          <p:cNvSpPr>
            <a:spLocks noGrp="1"/>
          </p:cNvSpPr>
          <p:nvPr/>
        </p:nvSpPr>
        <p:spPr>
          <a:xfrm>
            <a:off x="6565392" y="4032504"/>
            <a:ext cx="2121408" cy="350520"/>
          </a:xfrm>
          <a:prstGeom prst="rect">
            <a:avLst/>
          </a:prstGeom>
          <a:noFill/>
        </p:spPr>
        <p:txBody>
          <a:bodyPr wrap="square" lIns="0" tIns="0" rIns="0" bIns="0" anchor="t">
            <a:noAutofit/>
          </a:bodyPr>
          <a:lstStyle>
            <a:defPPr algn="ctr">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6 → 110</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Rectangle 19"/>
          <p:cNvSpPr>
            <a:spLocks noGrp="1"/>
          </p:cNvSpPr>
          <p:nvPr/>
        </p:nvSpPr>
        <p:spPr>
          <a:xfrm>
            <a:off x="9281159" y="3913632"/>
            <a:ext cx="226771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 name="TextBox 20"/>
          <p:cNvSpPr>
            <a:spLocks noGrp="1"/>
          </p:cNvSpPr>
          <p:nvPr/>
        </p:nvSpPr>
        <p:spPr>
          <a:xfrm>
            <a:off x="9354311" y="4032504"/>
            <a:ext cx="2121408" cy="350520"/>
          </a:xfrm>
          <a:prstGeom prst="rect">
            <a:avLst/>
          </a:prstGeom>
          <a:noFill/>
        </p:spPr>
        <p:txBody>
          <a:bodyPr wrap="square" lIns="0" tIns="0" rIns="0" bIns="0" anchor="t">
            <a:noAutofit/>
          </a:bodyPr>
          <a:lstStyle>
            <a:defPPr algn="ctr">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7 → 111</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2" name="TextBox 21"/>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3 bit可以写出8种不同的编码：000～111。</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把量化等级分得更细，会发生什么？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1371600" y="1755648"/>
            <a:ext cx="4343400" cy="396240"/>
          </a:xfrm>
          <a:prstGeom prst="rect">
            <a:avLst/>
          </a:prstGeom>
          <a:noFill/>
        </p:spPr>
        <p:txBody>
          <a:bodyPr wrap="square" lIns="0" tIns="0" rIns="0" bIns="0" anchor="t">
            <a:noAutofit/>
          </a:bodyPr>
          <a:lstStyle>
            <a:defPPr algn="l">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 → 8级</a:t>
            </a:r>
            <a:endPar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Connector 5"/>
          <p:cNvSpPr>
            <a:spLocks noGrp="1"/>
          </p:cNvSpPr>
          <p:nvPr/>
        </p:nvSpPr>
        <p:spPr>
          <a:xfrm>
            <a:off x="1371600" y="5230368"/>
            <a:ext cx="4069080"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7" name="Connector 6"/>
          <p:cNvSpPr>
            <a:spLocks noGrp="1"/>
          </p:cNvSpPr>
          <p:nvPr/>
        </p:nvSpPr>
        <p:spPr>
          <a:xfrm>
            <a:off x="1371600" y="4828031"/>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8" name="Connector 7"/>
          <p:cNvSpPr>
            <a:spLocks noGrp="1"/>
          </p:cNvSpPr>
          <p:nvPr/>
        </p:nvSpPr>
        <p:spPr>
          <a:xfrm>
            <a:off x="1371600" y="4425696"/>
            <a:ext cx="4069080"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9" name="Connector 8"/>
          <p:cNvSpPr>
            <a:spLocks noGrp="1"/>
          </p:cNvSpPr>
          <p:nvPr/>
        </p:nvSpPr>
        <p:spPr>
          <a:xfrm>
            <a:off x="1371600" y="4023359"/>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a:off x="1371600" y="3621024"/>
            <a:ext cx="4069080"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a:off x="1371600" y="3218687"/>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a:off x="1371600" y="2816351"/>
            <a:ext cx="4069080"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a:off x="1371600" y="2414015"/>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4" name="TextBox 13"/>
          <p:cNvSpPr>
            <a:spLocks noGrp="1"/>
          </p:cNvSpPr>
          <p:nvPr/>
        </p:nvSpPr>
        <p:spPr>
          <a:xfrm>
            <a:off x="1371600" y="5486400"/>
            <a:ext cx="411480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可选代表值更密集</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extBox 14"/>
          <p:cNvSpPr>
            <a:spLocks noGrp="1"/>
          </p:cNvSpPr>
          <p:nvPr/>
        </p:nvSpPr>
        <p:spPr>
          <a:xfrm>
            <a:off x="6858000" y="1755648"/>
            <a:ext cx="4343400" cy="396240"/>
          </a:xfrm>
          <a:prstGeom prst="rect">
            <a:avLst/>
          </a:prstGeom>
          <a:noFill/>
        </p:spPr>
        <p:txBody>
          <a:bodyPr wrap="square" lIns="0" tIns="0" rIns="0" bIns="0" anchor="t">
            <a:noAutofit/>
          </a:bodyPr>
          <a:lstStyle>
            <a:defPPr algn="l">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4 bit → 16级</a:t>
            </a:r>
            <a:endPar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Connector 15"/>
          <p:cNvSpPr>
            <a:spLocks noGrp="1"/>
          </p:cNvSpPr>
          <p:nvPr/>
        </p:nvSpPr>
        <p:spPr>
          <a:xfrm>
            <a:off x="6858000" y="5230368"/>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a:off x="6858000" y="5042611"/>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a:off x="6858000" y="4854854"/>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a:off x="6858000" y="4667097"/>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a:off x="6858000" y="4479340"/>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a:off x="6858000" y="4291584"/>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a:off x="6858000" y="4103827"/>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6858000" y="3916070"/>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6858000" y="3728313"/>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6858000" y="3540556"/>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6858000" y="3352800"/>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6858000" y="3165043"/>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6858000" y="2977286"/>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6858000" y="2789529"/>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6858000" y="2601772"/>
            <a:ext cx="4069080"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6858000" y="2414015"/>
            <a:ext cx="4069080" cy="0"/>
          </a:xfrm>
          <a:prstGeom prst="line">
            <a:avLst/>
          </a:prstGeom>
          <a:ln w="12700">
            <a:solidFill>
              <a:srgbClr val="E2E2E7"/>
            </a:solidFill>
          </a:ln>
        </p:spPr>
        <p:style>
          <a:lnRef idx="2">
            <a:schemeClr val="accent1"/>
          </a:lnRef>
          <a:fillRef idx="0">
            <a:schemeClr val="accent1"/>
          </a:fillRef>
          <a:effectRef idx="0">
            <a:srgbClr val="FFFFFF"/>
          </a:effectRef>
          <a:fontRef idx="minor">
            <a:schemeClr val="tx1"/>
          </a:fontRef>
        </p:style>
      </p:sp>
      <p:sp>
        <p:nvSpPr>
          <p:cNvPr id="32" name="TextBox 31"/>
          <p:cNvSpPr>
            <a:spLocks noGrp="1"/>
          </p:cNvSpPr>
          <p:nvPr/>
        </p:nvSpPr>
        <p:spPr>
          <a:xfrm>
            <a:off x="6858000" y="5486400"/>
            <a:ext cx="411480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可选代表值更密集</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采样率与量化位数，分别控制什么？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969264" y="3291840"/>
            <a:ext cx="9784080" cy="0"/>
          </a:xfrm>
          <a:prstGeom prst="line">
            <a:avLst/>
          </a:prstGeom>
          <a:ln w="20320">
            <a:solidFill>
              <a:srgbClr val="808080"/>
            </a:solidFill>
          </a:ln>
        </p:spPr>
        <p:style>
          <a:lnRef idx="2">
            <a:schemeClr val="accent1"/>
          </a:lnRef>
          <a:fillRef idx="0">
            <a:schemeClr val="accent1"/>
          </a:fillRef>
          <a:effectRef idx="0">
            <a:srgbClr val="FFFFFF"/>
          </a:effectRef>
          <a:fontRef idx="minor">
            <a:schemeClr val="tx1"/>
          </a:fontRef>
        </p:style>
      </p:sp>
      <p:sp>
        <p:nvSpPr>
          <p:cNvPr id="6" name="Connector 5"/>
          <p:cNvSpPr>
            <a:spLocks noGrp="1"/>
          </p:cNvSpPr>
          <p:nvPr/>
        </p:nvSpPr>
        <p:spPr>
          <a:xfrm>
            <a:off x="1060704" y="1956816"/>
            <a:ext cx="0" cy="2679191"/>
          </a:xfrm>
          <a:prstGeom prst="line">
            <a:avLst/>
          </a:prstGeom>
          <a:ln w="16510">
            <a:solidFill>
              <a:srgbClr val="808080"/>
            </a:solidFill>
          </a:ln>
        </p:spPr>
        <p:style>
          <a:lnRef idx="2">
            <a:schemeClr val="accent1"/>
          </a:lnRef>
          <a:fillRef idx="0">
            <a:schemeClr val="accent1"/>
          </a:fillRef>
          <a:effectRef idx="0">
            <a:srgbClr val="FFFFFF"/>
          </a:effectRef>
          <a:fontRef idx="minor">
            <a:schemeClr val="tx1"/>
          </a:fontRef>
        </p:style>
      </p:sp>
      <p:sp>
        <p:nvSpPr>
          <p:cNvPr id="9" name="Connector 8"/>
          <p:cNvSpPr>
            <a:spLocks noGrp="1"/>
          </p:cNvSpPr>
          <p:nvPr/>
        </p:nvSpPr>
        <p:spPr>
          <a:xfrm flipV="1">
            <a:off x="1106424" y="3153678"/>
            <a:ext cx="91440" cy="1107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flipV="1">
            <a:off x="1197864" y="3044364"/>
            <a:ext cx="91440" cy="10931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flipV="1">
            <a:off x="1289304" y="2937861"/>
            <a:ext cx="91440" cy="10650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flipV="1">
            <a:off x="1380744" y="2835531"/>
            <a:ext cx="91440" cy="1023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flipV="1">
            <a:off x="1472184" y="2738680"/>
            <a:ext cx="91440" cy="9685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flipV="1">
            <a:off x="1563624" y="2648547"/>
            <a:ext cx="91440" cy="9013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5" name="Connector 14"/>
          <p:cNvSpPr>
            <a:spLocks noGrp="1"/>
          </p:cNvSpPr>
          <p:nvPr/>
        </p:nvSpPr>
        <p:spPr>
          <a:xfrm flipV="1">
            <a:off x="1655064" y="2566283"/>
            <a:ext cx="91440" cy="8226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6" name="Connector 15"/>
          <p:cNvSpPr>
            <a:spLocks noGrp="1"/>
          </p:cNvSpPr>
          <p:nvPr/>
        </p:nvSpPr>
        <p:spPr>
          <a:xfrm flipV="1">
            <a:off x="1746504" y="2492940"/>
            <a:ext cx="91439" cy="7334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7" name="Connector 16"/>
          <p:cNvSpPr>
            <a:spLocks noGrp="1"/>
          </p:cNvSpPr>
          <p:nvPr/>
        </p:nvSpPr>
        <p:spPr>
          <a:xfrm flipV="1">
            <a:off x="1837943" y="2429453"/>
            <a:ext cx="91441" cy="6348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8" name="Connector 17"/>
          <p:cNvSpPr>
            <a:spLocks noGrp="1"/>
          </p:cNvSpPr>
          <p:nvPr/>
        </p:nvSpPr>
        <p:spPr>
          <a:xfrm flipV="1">
            <a:off x="1929384" y="2376635"/>
            <a:ext cx="91440" cy="5281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9" name="Connector 18"/>
          <p:cNvSpPr>
            <a:spLocks noGrp="1"/>
          </p:cNvSpPr>
          <p:nvPr/>
        </p:nvSpPr>
        <p:spPr>
          <a:xfrm flipV="1">
            <a:off x="2020824" y="2335161"/>
            <a:ext cx="91440" cy="4147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0" name="Connector 19"/>
          <p:cNvSpPr>
            <a:spLocks noGrp="1"/>
          </p:cNvSpPr>
          <p:nvPr/>
        </p:nvSpPr>
        <p:spPr>
          <a:xfrm flipV="1">
            <a:off x="2112264" y="2305560"/>
            <a:ext cx="91440" cy="2960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1" name="Connector 20"/>
          <p:cNvSpPr>
            <a:spLocks noGrp="1"/>
          </p:cNvSpPr>
          <p:nvPr/>
        </p:nvSpPr>
        <p:spPr>
          <a:xfrm flipV="1">
            <a:off x="2203704" y="2288210"/>
            <a:ext cx="91440" cy="1735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2" name="Connector 21"/>
          <p:cNvSpPr>
            <a:spLocks noGrp="1"/>
          </p:cNvSpPr>
          <p:nvPr/>
        </p:nvSpPr>
        <p:spPr>
          <a:xfrm flipV="1">
            <a:off x="2295144" y="2283334"/>
            <a:ext cx="91440" cy="487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3" name="Connector 22"/>
          <p:cNvSpPr>
            <a:spLocks noGrp="1"/>
          </p:cNvSpPr>
          <p:nvPr/>
        </p:nvSpPr>
        <p:spPr>
          <a:xfrm>
            <a:off x="2386584" y="2283334"/>
            <a:ext cx="91440" cy="765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4" name="Connector 23"/>
          <p:cNvSpPr>
            <a:spLocks noGrp="1"/>
          </p:cNvSpPr>
          <p:nvPr/>
        </p:nvSpPr>
        <p:spPr>
          <a:xfrm>
            <a:off x="2478024" y="2290993"/>
            <a:ext cx="91440" cy="2009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5" name="Connector 24"/>
          <p:cNvSpPr>
            <a:spLocks noGrp="1"/>
          </p:cNvSpPr>
          <p:nvPr/>
        </p:nvSpPr>
        <p:spPr>
          <a:xfrm>
            <a:off x="2569464" y="2311090"/>
            <a:ext cx="91440" cy="3227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2660904" y="2343368"/>
            <a:ext cx="91440" cy="4404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2752344" y="2387414"/>
            <a:ext cx="91440" cy="5525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2843784" y="2442666"/>
            <a:ext cx="91440" cy="6575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2935224" y="2508418"/>
            <a:ext cx="91440" cy="7541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3026664" y="2583829"/>
            <a:ext cx="91440" cy="8410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118104" y="2667936"/>
            <a:ext cx="91440" cy="9172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209544" y="2759665"/>
            <a:ext cx="91440" cy="9817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300984" y="2857842"/>
            <a:ext cx="91440" cy="10337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392424" y="2961215"/>
            <a:ext cx="91440" cy="10724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483864" y="3068462"/>
            <a:ext cx="91440" cy="10975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575304" y="3178212"/>
            <a:ext cx="91440" cy="11085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666744" y="3289064"/>
            <a:ext cx="91439" cy="11053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758183" y="3399601"/>
            <a:ext cx="91441" cy="10880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849624" y="3508410"/>
            <a:ext cx="91440" cy="10569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941064" y="3614101"/>
            <a:ext cx="91440" cy="10122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1" name="Connector 40"/>
          <p:cNvSpPr>
            <a:spLocks noGrp="1"/>
          </p:cNvSpPr>
          <p:nvPr/>
        </p:nvSpPr>
        <p:spPr>
          <a:xfrm>
            <a:off x="4032504" y="3715325"/>
            <a:ext cx="91440" cy="9546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2" name="Connector 41"/>
          <p:cNvSpPr>
            <a:spLocks noGrp="1"/>
          </p:cNvSpPr>
          <p:nvPr/>
        </p:nvSpPr>
        <p:spPr>
          <a:xfrm>
            <a:off x="4123944" y="3810787"/>
            <a:ext cx="91440" cy="8848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3" name="Connector 42"/>
          <p:cNvSpPr>
            <a:spLocks noGrp="1"/>
          </p:cNvSpPr>
          <p:nvPr/>
        </p:nvSpPr>
        <p:spPr>
          <a:xfrm>
            <a:off x="4215384" y="3899267"/>
            <a:ext cx="91440" cy="8036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4" name="Connector 43"/>
          <p:cNvSpPr>
            <a:spLocks noGrp="1"/>
          </p:cNvSpPr>
          <p:nvPr/>
        </p:nvSpPr>
        <p:spPr>
          <a:xfrm>
            <a:off x="4306824" y="3979636"/>
            <a:ext cx="91440" cy="712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5" name="Connector 44"/>
          <p:cNvSpPr>
            <a:spLocks noGrp="1"/>
          </p:cNvSpPr>
          <p:nvPr/>
        </p:nvSpPr>
        <p:spPr>
          <a:xfrm>
            <a:off x="4398264" y="4050866"/>
            <a:ext cx="91440" cy="6118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6" name="Connector 45"/>
          <p:cNvSpPr>
            <a:spLocks noGrp="1"/>
          </p:cNvSpPr>
          <p:nvPr/>
        </p:nvSpPr>
        <p:spPr>
          <a:xfrm>
            <a:off x="4489704" y="4112047"/>
            <a:ext cx="91440" cy="5035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7" name="Connector 46"/>
          <p:cNvSpPr>
            <a:spLocks noGrp="1"/>
          </p:cNvSpPr>
          <p:nvPr/>
        </p:nvSpPr>
        <p:spPr>
          <a:xfrm>
            <a:off x="4581144" y="4162397"/>
            <a:ext cx="91440" cy="3887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8" name="Connector 47"/>
          <p:cNvSpPr>
            <a:spLocks noGrp="1"/>
          </p:cNvSpPr>
          <p:nvPr/>
        </p:nvSpPr>
        <p:spPr>
          <a:xfrm>
            <a:off x="4672584" y="4201274"/>
            <a:ext cx="91440" cy="2690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49" name="Connector 48"/>
          <p:cNvSpPr>
            <a:spLocks noGrp="1"/>
          </p:cNvSpPr>
          <p:nvPr/>
        </p:nvSpPr>
        <p:spPr>
          <a:xfrm>
            <a:off x="4764024" y="4228180"/>
            <a:ext cx="91440" cy="1459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0" name="Connector 49"/>
          <p:cNvSpPr>
            <a:spLocks noGrp="1"/>
          </p:cNvSpPr>
          <p:nvPr/>
        </p:nvSpPr>
        <p:spPr>
          <a:xfrm>
            <a:off x="4855464" y="4242771"/>
            <a:ext cx="91440" cy="209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1" name="Connector 50"/>
          <p:cNvSpPr>
            <a:spLocks noGrp="1"/>
          </p:cNvSpPr>
          <p:nvPr/>
        </p:nvSpPr>
        <p:spPr>
          <a:xfrm flipV="1">
            <a:off x="4946904" y="4234424"/>
            <a:ext cx="91440" cy="1043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2" name="Connector 51"/>
          <p:cNvSpPr>
            <a:spLocks noGrp="1"/>
          </p:cNvSpPr>
          <p:nvPr/>
        </p:nvSpPr>
        <p:spPr>
          <a:xfrm flipV="1">
            <a:off x="5038344" y="4211593"/>
            <a:ext cx="91440" cy="2283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3" name="Connector 52"/>
          <p:cNvSpPr>
            <a:spLocks noGrp="1"/>
          </p:cNvSpPr>
          <p:nvPr/>
        </p:nvSpPr>
        <p:spPr>
          <a:xfrm flipV="1">
            <a:off x="5129784" y="4176659"/>
            <a:ext cx="91440" cy="3493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4" name="Connector 53"/>
          <p:cNvSpPr>
            <a:spLocks noGrp="1"/>
          </p:cNvSpPr>
          <p:nvPr/>
        </p:nvSpPr>
        <p:spPr>
          <a:xfrm flipV="1">
            <a:off x="5221224" y="4130069"/>
            <a:ext cx="91440" cy="4659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5" name="Connector 54"/>
          <p:cNvSpPr>
            <a:spLocks noGrp="1"/>
          </p:cNvSpPr>
          <p:nvPr/>
        </p:nvSpPr>
        <p:spPr>
          <a:xfrm flipV="1">
            <a:off x="5312664" y="4072417"/>
            <a:ext cx="91439" cy="5765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6" name="Connector 55"/>
          <p:cNvSpPr>
            <a:spLocks noGrp="1"/>
          </p:cNvSpPr>
          <p:nvPr/>
        </p:nvSpPr>
        <p:spPr>
          <a:xfrm flipV="1">
            <a:off x="5404103" y="4004442"/>
            <a:ext cx="91441" cy="6797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7" name="Connector 56"/>
          <p:cNvSpPr>
            <a:spLocks noGrp="1"/>
          </p:cNvSpPr>
          <p:nvPr/>
        </p:nvSpPr>
        <p:spPr>
          <a:xfrm flipV="1">
            <a:off x="5495544" y="3927011"/>
            <a:ext cx="91440" cy="7743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8" name="Connector 57"/>
          <p:cNvSpPr>
            <a:spLocks noGrp="1"/>
          </p:cNvSpPr>
          <p:nvPr/>
        </p:nvSpPr>
        <p:spPr>
          <a:xfrm flipV="1">
            <a:off x="5586984" y="3841114"/>
            <a:ext cx="91440" cy="8589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59" name="Connector 58"/>
          <p:cNvSpPr>
            <a:spLocks noGrp="1"/>
          </p:cNvSpPr>
          <p:nvPr/>
        </p:nvSpPr>
        <p:spPr>
          <a:xfrm flipV="1">
            <a:off x="5678424" y="3747848"/>
            <a:ext cx="91440" cy="9326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0" name="Connector 59"/>
          <p:cNvSpPr>
            <a:spLocks noGrp="1"/>
          </p:cNvSpPr>
          <p:nvPr/>
        </p:nvSpPr>
        <p:spPr>
          <a:xfrm flipV="1">
            <a:off x="5769864" y="3648404"/>
            <a:ext cx="91440" cy="9944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1" name="Connector 60"/>
          <p:cNvSpPr>
            <a:spLocks noGrp="1"/>
          </p:cNvSpPr>
          <p:nvPr/>
        </p:nvSpPr>
        <p:spPr>
          <a:xfrm flipV="1">
            <a:off x="5861304" y="3544054"/>
            <a:ext cx="91440" cy="10435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2" name="Connector 61"/>
          <p:cNvSpPr>
            <a:spLocks noGrp="1"/>
          </p:cNvSpPr>
          <p:nvPr/>
        </p:nvSpPr>
        <p:spPr>
          <a:xfrm flipV="1">
            <a:off x="5952744" y="3436132"/>
            <a:ext cx="91440" cy="10792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3" name="Connector 62"/>
          <p:cNvSpPr>
            <a:spLocks noGrp="1"/>
          </p:cNvSpPr>
          <p:nvPr/>
        </p:nvSpPr>
        <p:spPr>
          <a:xfrm flipV="1">
            <a:off x="6044184" y="3326014"/>
            <a:ext cx="91440" cy="11011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4" name="Connector 63"/>
          <p:cNvSpPr>
            <a:spLocks noGrp="1"/>
          </p:cNvSpPr>
          <p:nvPr/>
        </p:nvSpPr>
        <p:spPr>
          <a:xfrm flipV="1">
            <a:off x="6135624" y="3215110"/>
            <a:ext cx="91440" cy="11090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5" name="Connector 64"/>
          <p:cNvSpPr>
            <a:spLocks noGrp="1"/>
          </p:cNvSpPr>
          <p:nvPr/>
        </p:nvSpPr>
        <p:spPr>
          <a:xfrm flipV="1">
            <a:off x="6227064" y="3104836"/>
            <a:ext cx="91439" cy="11027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6" name="Connector 65"/>
          <p:cNvSpPr>
            <a:spLocks noGrp="1"/>
          </p:cNvSpPr>
          <p:nvPr/>
        </p:nvSpPr>
        <p:spPr>
          <a:xfrm flipV="1">
            <a:off x="6318503" y="2996600"/>
            <a:ext cx="91441" cy="10823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7" name="Connector 66"/>
          <p:cNvSpPr>
            <a:spLocks noGrp="1"/>
          </p:cNvSpPr>
          <p:nvPr/>
        </p:nvSpPr>
        <p:spPr>
          <a:xfrm flipV="1">
            <a:off x="6409944" y="2891787"/>
            <a:ext cx="91439" cy="10481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8" name="Connector 67"/>
          <p:cNvSpPr>
            <a:spLocks noGrp="1"/>
          </p:cNvSpPr>
          <p:nvPr/>
        </p:nvSpPr>
        <p:spPr>
          <a:xfrm flipV="1">
            <a:off x="6501383" y="2791734"/>
            <a:ext cx="91441" cy="10005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69" name="Connector 68"/>
          <p:cNvSpPr>
            <a:spLocks noGrp="1"/>
          </p:cNvSpPr>
          <p:nvPr/>
        </p:nvSpPr>
        <p:spPr>
          <a:xfrm flipV="1">
            <a:off x="6592824" y="2697721"/>
            <a:ext cx="91440" cy="9401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0" name="Connector 69"/>
          <p:cNvSpPr>
            <a:spLocks noGrp="1"/>
          </p:cNvSpPr>
          <p:nvPr/>
        </p:nvSpPr>
        <p:spPr>
          <a:xfrm flipV="1">
            <a:off x="6684264" y="2610949"/>
            <a:ext cx="91440" cy="8677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1" name="Connector 70"/>
          <p:cNvSpPr>
            <a:spLocks noGrp="1"/>
          </p:cNvSpPr>
          <p:nvPr/>
        </p:nvSpPr>
        <p:spPr>
          <a:xfrm flipV="1">
            <a:off x="6775704" y="2532526"/>
            <a:ext cx="91440" cy="7842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2" name="Connector 71"/>
          <p:cNvSpPr>
            <a:spLocks noGrp="1"/>
          </p:cNvSpPr>
          <p:nvPr/>
        </p:nvSpPr>
        <p:spPr>
          <a:xfrm flipV="1">
            <a:off x="6867144" y="2463455"/>
            <a:ext cx="91440" cy="6907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3" name="Connector 72"/>
          <p:cNvSpPr>
            <a:spLocks noGrp="1"/>
          </p:cNvSpPr>
          <p:nvPr/>
        </p:nvSpPr>
        <p:spPr>
          <a:xfrm flipV="1">
            <a:off x="6958584" y="2404618"/>
            <a:ext cx="91440" cy="5883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4" name="Connector 73"/>
          <p:cNvSpPr>
            <a:spLocks noGrp="1"/>
          </p:cNvSpPr>
          <p:nvPr/>
        </p:nvSpPr>
        <p:spPr>
          <a:xfrm flipV="1">
            <a:off x="7050024" y="2356767"/>
            <a:ext cx="91440" cy="4785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5" name="Connector 74"/>
          <p:cNvSpPr>
            <a:spLocks noGrp="1"/>
          </p:cNvSpPr>
          <p:nvPr/>
        </p:nvSpPr>
        <p:spPr>
          <a:xfrm flipV="1">
            <a:off x="7141464" y="2320513"/>
            <a:ext cx="91440" cy="3625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6" name="Connector 75"/>
          <p:cNvSpPr>
            <a:spLocks noGrp="1"/>
          </p:cNvSpPr>
          <p:nvPr/>
        </p:nvSpPr>
        <p:spPr>
          <a:xfrm flipV="1">
            <a:off x="7232904" y="2296319"/>
            <a:ext cx="91440" cy="2419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7" name="Connector 76"/>
          <p:cNvSpPr>
            <a:spLocks noGrp="1"/>
          </p:cNvSpPr>
          <p:nvPr/>
        </p:nvSpPr>
        <p:spPr>
          <a:xfrm flipV="1">
            <a:off x="7324344" y="2284496"/>
            <a:ext cx="91439" cy="1182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8" name="Connector 77"/>
          <p:cNvSpPr>
            <a:spLocks noGrp="1"/>
          </p:cNvSpPr>
          <p:nvPr/>
        </p:nvSpPr>
        <p:spPr>
          <a:xfrm>
            <a:off x="7415783" y="2284496"/>
            <a:ext cx="91441" cy="69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79" name="Connector 78"/>
          <p:cNvSpPr>
            <a:spLocks noGrp="1"/>
          </p:cNvSpPr>
          <p:nvPr/>
        </p:nvSpPr>
        <p:spPr>
          <a:xfrm>
            <a:off x="7507224" y="2285192"/>
            <a:ext cx="91439" cy="1320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0" name="Connector 79"/>
          <p:cNvSpPr>
            <a:spLocks noGrp="1"/>
          </p:cNvSpPr>
          <p:nvPr/>
        </p:nvSpPr>
        <p:spPr>
          <a:xfrm>
            <a:off x="7598663" y="2298401"/>
            <a:ext cx="91441" cy="2555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1" name="Connector 80"/>
          <p:cNvSpPr>
            <a:spLocks noGrp="1"/>
          </p:cNvSpPr>
          <p:nvPr/>
        </p:nvSpPr>
        <p:spPr>
          <a:xfrm>
            <a:off x="7690104" y="2323953"/>
            <a:ext cx="91440" cy="3756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2" name="Connector 81"/>
          <p:cNvSpPr>
            <a:spLocks noGrp="1"/>
          </p:cNvSpPr>
          <p:nvPr/>
        </p:nvSpPr>
        <p:spPr>
          <a:xfrm>
            <a:off x="7781544" y="2361521"/>
            <a:ext cx="91439" cy="4910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3" name="Connector 82"/>
          <p:cNvSpPr>
            <a:spLocks noGrp="1"/>
          </p:cNvSpPr>
          <p:nvPr/>
        </p:nvSpPr>
        <p:spPr>
          <a:xfrm>
            <a:off x="7872983" y="2410626"/>
            <a:ext cx="91441" cy="6001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4" name="Connector 83"/>
          <p:cNvSpPr>
            <a:spLocks noGrp="1"/>
          </p:cNvSpPr>
          <p:nvPr/>
        </p:nvSpPr>
        <p:spPr>
          <a:xfrm>
            <a:off x="7964424" y="2470640"/>
            <a:ext cx="91439" cy="7015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5" name="Connector 84"/>
          <p:cNvSpPr>
            <a:spLocks noGrp="1"/>
          </p:cNvSpPr>
          <p:nvPr/>
        </p:nvSpPr>
        <p:spPr>
          <a:xfrm>
            <a:off x="8055863" y="2540796"/>
            <a:ext cx="91441" cy="7940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6" name="Connector 85"/>
          <p:cNvSpPr>
            <a:spLocks noGrp="1"/>
          </p:cNvSpPr>
          <p:nvPr/>
        </p:nvSpPr>
        <p:spPr>
          <a:xfrm>
            <a:off x="8147304" y="2620198"/>
            <a:ext cx="91440" cy="8763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7" name="Connector 86"/>
          <p:cNvSpPr>
            <a:spLocks noGrp="1"/>
          </p:cNvSpPr>
          <p:nvPr/>
        </p:nvSpPr>
        <p:spPr>
          <a:xfrm>
            <a:off x="8238744" y="2707831"/>
            <a:ext cx="91439" cy="9474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8" name="Connector 87"/>
          <p:cNvSpPr>
            <a:spLocks noGrp="1"/>
          </p:cNvSpPr>
          <p:nvPr/>
        </p:nvSpPr>
        <p:spPr>
          <a:xfrm>
            <a:off x="8330183" y="2802576"/>
            <a:ext cx="91441" cy="10064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89" name="Connector 88"/>
          <p:cNvSpPr>
            <a:spLocks noGrp="1"/>
          </p:cNvSpPr>
          <p:nvPr/>
        </p:nvSpPr>
        <p:spPr>
          <a:xfrm>
            <a:off x="8421624" y="2903222"/>
            <a:ext cx="91440" cy="10526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0" name="Connector 89"/>
          <p:cNvSpPr>
            <a:spLocks noGrp="1"/>
          </p:cNvSpPr>
          <p:nvPr/>
        </p:nvSpPr>
        <p:spPr>
          <a:xfrm>
            <a:off x="8513064" y="3008483"/>
            <a:ext cx="91440" cy="10853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1" name="Connector 90"/>
          <p:cNvSpPr>
            <a:spLocks noGrp="1"/>
          </p:cNvSpPr>
          <p:nvPr/>
        </p:nvSpPr>
        <p:spPr>
          <a:xfrm>
            <a:off x="8604504" y="3117013"/>
            <a:ext cx="91439" cy="11041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2" name="Connector 91"/>
          <p:cNvSpPr>
            <a:spLocks noGrp="1"/>
          </p:cNvSpPr>
          <p:nvPr/>
        </p:nvSpPr>
        <p:spPr>
          <a:xfrm>
            <a:off x="8695943" y="3227428"/>
            <a:ext cx="91441" cy="11088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3" name="Connector 92"/>
          <p:cNvSpPr>
            <a:spLocks noGrp="1"/>
          </p:cNvSpPr>
          <p:nvPr/>
        </p:nvSpPr>
        <p:spPr>
          <a:xfrm>
            <a:off x="8787384" y="3338314"/>
            <a:ext cx="91440" cy="10994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4" name="Connector 93"/>
          <p:cNvSpPr>
            <a:spLocks noGrp="1"/>
          </p:cNvSpPr>
          <p:nvPr/>
        </p:nvSpPr>
        <p:spPr>
          <a:xfrm>
            <a:off x="8878824" y="3448257"/>
            <a:ext cx="91439" cy="107593"/>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5" name="Connector 94"/>
          <p:cNvSpPr>
            <a:spLocks noGrp="1"/>
          </p:cNvSpPr>
          <p:nvPr/>
        </p:nvSpPr>
        <p:spPr>
          <a:xfrm>
            <a:off x="8970263" y="3555850"/>
            <a:ext cx="91441" cy="103870"/>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6" name="Connector 95"/>
          <p:cNvSpPr>
            <a:spLocks noGrp="1"/>
          </p:cNvSpPr>
          <p:nvPr/>
        </p:nvSpPr>
        <p:spPr>
          <a:xfrm>
            <a:off x="9061704" y="3659720"/>
            <a:ext cx="91440" cy="98818"/>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7" name="Connector 96"/>
          <p:cNvSpPr>
            <a:spLocks noGrp="1"/>
          </p:cNvSpPr>
          <p:nvPr/>
        </p:nvSpPr>
        <p:spPr>
          <a:xfrm>
            <a:off x="9153144" y="3758538"/>
            <a:ext cx="91440" cy="9250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8" name="Connector 97"/>
          <p:cNvSpPr>
            <a:spLocks noGrp="1"/>
          </p:cNvSpPr>
          <p:nvPr/>
        </p:nvSpPr>
        <p:spPr>
          <a:xfrm>
            <a:off x="9244584" y="3851043"/>
            <a:ext cx="91440" cy="8500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99" name="Connector 98"/>
          <p:cNvSpPr>
            <a:spLocks noGrp="1"/>
          </p:cNvSpPr>
          <p:nvPr/>
        </p:nvSpPr>
        <p:spPr>
          <a:xfrm>
            <a:off x="9336024" y="3936052"/>
            <a:ext cx="91439" cy="76427"/>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0" name="Connector 99"/>
          <p:cNvSpPr>
            <a:spLocks noGrp="1"/>
          </p:cNvSpPr>
          <p:nvPr/>
        </p:nvSpPr>
        <p:spPr>
          <a:xfrm>
            <a:off x="9427463" y="4012479"/>
            <a:ext cx="91441" cy="6686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1" name="Connector 100"/>
          <p:cNvSpPr>
            <a:spLocks noGrp="1"/>
          </p:cNvSpPr>
          <p:nvPr/>
        </p:nvSpPr>
        <p:spPr>
          <a:xfrm>
            <a:off x="9518904" y="4079348"/>
            <a:ext cx="91440" cy="5645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2" name="Connector 101"/>
          <p:cNvSpPr>
            <a:spLocks noGrp="1"/>
          </p:cNvSpPr>
          <p:nvPr/>
        </p:nvSpPr>
        <p:spPr>
          <a:xfrm>
            <a:off x="9610344" y="4135804"/>
            <a:ext cx="91440" cy="45321"/>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3" name="Connector 102"/>
          <p:cNvSpPr>
            <a:spLocks noGrp="1"/>
          </p:cNvSpPr>
          <p:nvPr/>
        </p:nvSpPr>
        <p:spPr>
          <a:xfrm>
            <a:off x="9701784" y="4181125"/>
            <a:ext cx="91440" cy="3360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4" name="Connector 103"/>
          <p:cNvSpPr>
            <a:spLocks noGrp="1"/>
          </p:cNvSpPr>
          <p:nvPr/>
        </p:nvSpPr>
        <p:spPr>
          <a:xfrm>
            <a:off x="9793224" y="4214734"/>
            <a:ext cx="91439" cy="21466"/>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5" name="Connector 104"/>
          <p:cNvSpPr>
            <a:spLocks noGrp="1"/>
          </p:cNvSpPr>
          <p:nvPr/>
        </p:nvSpPr>
        <p:spPr>
          <a:xfrm>
            <a:off x="9884663" y="4236200"/>
            <a:ext cx="91441" cy="9049"/>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6" name="Connector 105"/>
          <p:cNvSpPr>
            <a:spLocks noGrp="1"/>
          </p:cNvSpPr>
          <p:nvPr/>
        </p:nvSpPr>
        <p:spPr>
          <a:xfrm flipV="1">
            <a:off x="9976104" y="4241765"/>
            <a:ext cx="91440" cy="3484"/>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7" name="Connector 106"/>
          <p:cNvSpPr>
            <a:spLocks noGrp="1"/>
          </p:cNvSpPr>
          <p:nvPr/>
        </p:nvSpPr>
        <p:spPr>
          <a:xfrm flipV="1">
            <a:off x="10067544" y="4225793"/>
            <a:ext cx="91440" cy="15972"/>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8" name="Connector 107"/>
          <p:cNvSpPr>
            <a:spLocks noGrp="1"/>
          </p:cNvSpPr>
          <p:nvPr/>
        </p:nvSpPr>
        <p:spPr>
          <a:xfrm flipV="1">
            <a:off x="10158984" y="4197538"/>
            <a:ext cx="91440" cy="28255"/>
          </a:xfrm>
          <a:prstGeom prst="line">
            <a:avLst/>
          </a:prstGeom>
          <a:ln w="22860">
            <a:solidFill>
              <a:srgbClr val="808080"/>
            </a:solidFill>
          </a:ln>
        </p:spPr>
        <p:style>
          <a:lnRef idx="2">
            <a:schemeClr val="accent1"/>
          </a:lnRef>
          <a:fillRef idx="0">
            <a:schemeClr val="accent1"/>
          </a:fillRef>
          <a:effectRef idx="0">
            <a:srgbClr val="FFFFFF"/>
          </a:effectRef>
          <a:fontRef idx="minor">
            <a:schemeClr val="tx1"/>
          </a:fontRef>
        </p:style>
      </p:sp>
      <p:sp>
        <p:nvSpPr>
          <p:cNvPr id="109" name="Oval 108"/>
          <p:cNvSpPr>
            <a:spLocks noGrp="1"/>
          </p:cNvSpPr>
          <p:nvPr/>
        </p:nvSpPr>
        <p:spPr>
          <a:xfrm>
            <a:off x="1045159" y="320314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0" name="Oval 109"/>
          <p:cNvSpPr>
            <a:spLocks noGrp="1"/>
          </p:cNvSpPr>
          <p:nvPr/>
        </p:nvSpPr>
        <p:spPr>
          <a:xfrm>
            <a:off x="1748543" y="2453233"/>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1" name="Oval 110"/>
          <p:cNvSpPr>
            <a:spLocks noGrp="1"/>
          </p:cNvSpPr>
          <p:nvPr/>
        </p:nvSpPr>
        <p:spPr>
          <a:xfrm>
            <a:off x="2451928" y="2235996"/>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2" name="Oval 111"/>
          <p:cNvSpPr>
            <a:spLocks noGrp="1"/>
          </p:cNvSpPr>
          <p:nvPr/>
        </p:nvSpPr>
        <p:spPr>
          <a:xfrm>
            <a:off x="3155313" y="270573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3" name="Oval 112"/>
          <p:cNvSpPr>
            <a:spLocks noGrp="1"/>
          </p:cNvSpPr>
          <p:nvPr/>
        </p:nvSpPr>
        <p:spPr>
          <a:xfrm>
            <a:off x="3858697" y="3528794"/>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4" name="Oval 113"/>
          <p:cNvSpPr>
            <a:spLocks noGrp="1"/>
          </p:cNvSpPr>
          <p:nvPr/>
        </p:nvSpPr>
        <p:spPr>
          <a:xfrm>
            <a:off x="4562082" y="4120535"/>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5" name="Oval 114"/>
          <p:cNvSpPr>
            <a:spLocks noGrp="1"/>
          </p:cNvSpPr>
          <p:nvPr/>
        </p:nvSpPr>
        <p:spPr>
          <a:xfrm>
            <a:off x="5265466" y="4060637"/>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6" name="Oval 115"/>
          <p:cNvSpPr>
            <a:spLocks noGrp="1"/>
          </p:cNvSpPr>
          <p:nvPr/>
        </p:nvSpPr>
        <p:spPr>
          <a:xfrm>
            <a:off x="5968851" y="339164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7" name="Oval 116"/>
          <p:cNvSpPr>
            <a:spLocks noGrp="1"/>
          </p:cNvSpPr>
          <p:nvPr/>
        </p:nvSpPr>
        <p:spPr>
          <a:xfrm>
            <a:off x="6672236" y="2588760"/>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8" name="Oval 117"/>
          <p:cNvSpPr>
            <a:spLocks noGrp="1"/>
          </p:cNvSpPr>
          <p:nvPr/>
        </p:nvSpPr>
        <p:spPr>
          <a:xfrm>
            <a:off x="7375620" y="222227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9" name="Oval 118"/>
          <p:cNvSpPr>
            <a:spLocks noGrp="1"/>
          </p:cNvSpPr>
          <p:nvPr/>
        </p:nvSpPr>
        <p:spPr>
          <a:xfrm>
            <a:off x="8079005" y="255251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0" name="Oval 119"/>
          <p:cNvSpPr>
            <a:spLocks noGrp="1"/>
          </p:cNvSpPr>
          <p:nvPr/>
        </p:nvSpPr>
        <p:spPr>
          <a:xfrm>
            <a:off x="8782389" y="3344908"/>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1" name="Oval 120"/>
          <p:cNvSpPr>
            <a:spLocks noGrp="1"/>
          </p:cNvSpPr>
          <p:nvPr/>
        </p:nvSpPr>
        <p:spPr>
          <a:xfrm>
            <a:off x="9485774" y="4036599"/>
            <a:ext cx="122529" cy="12252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2" name="Connector 121"/>
          <p:cNvSpPr>
            <a:spLocks noGrp="1"/>
          </p:cNvSpPr>
          <p:nvPr/>
        </p:nvSpPr>
        <p:spPr>
          <a:xfrm>
            <a:off x="4023360" y="4754880"/>
            <a:ext cx="3200400" cy="0"/>
          </a:xfrm>
          <a:prstGeom prst="line">
            <a:avLst/>
          </a:prstGeom>
          <a:ln w="50800">
            <a:solidFill>
              <a:srgbClr val="00B0F0"/>
            </a:solidFill>
          </a:ln>
        </p:spPr>
        <p:style>
          <a:lnRef idx="2">
            <a:schemeClr val="accent1"/>
          </a:lnRef>
          <a:fillRef idx="0">
            <a:schemeClr val="accent1"/>
          </a:fillRef>
          <a:effectRef idx="0">
            <a:srgbClr val="FFFFFF"/>
          </a:effectRef>
          <a:fontRef idx="minor">
            <a:schemeClr val="tx1"/>
          </a:fontRef>
        </p:style>
      </p:sp>
      <p:sp>
        <p:nvSpPr>
          <p:cNvPr id="123" name="TextBox 122"/>
          <p:cNvSpPr>
            <a:spLocks noGrp="1"/>
          </p:cNvSpPr>
          <p:nvPr/>
        </p:nvSpPr>
        <p:spPr>
          <a:xfrm>
            <a:off x="3657600" y="5038344"/>
            <a:ext cx="4206240" cy="350520"/>
          </a:xfrm>
          <a:prstGeom prst="rect">
            <a:avLst/>
          </a:prstGeom>
          <a:noFill/>
        </p:spPr>
        <p:txBody>
          <a:bodyPr wrap="square" lIns="0" tIns="0" rIns="0" bIns="0" anchor="t">
            <a:noAutofit/>
          </a:bodyPr>
          <a:lstStyle>
            <a:defPPr algn="l">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采样率：时间方向</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4" name="Connector 123"/>
          <p:cNvSpPr>
            <a:spLocks noGrp="1"/>
          </p:cNvSpPr>
          <p:nvPr/>
        </p:nvSpPr>
        <p:spPr>
          <a:xfrm>
            <a:off x="10625328" y="2103120"/>
            <a:ext cx="0" cy="2395728"/>
          </a:xfrm>
          <a:prstGeom prst="line">
            <a:avLst/>
          </a:prstGeom>
          <a:ln w="50800">
            <a:solidFill>
              <a:srgbClr val="8C64E1"/>
            </a:solidFill>
          </a:ln>
        </p:spPr>
        <p:style>
          <a:lnRef idx="2">
            <a:schemeClr val="accent1"/>
          </a:lnRef>
          <a:fillRef idx="0">
            <a:schemeClr val="accent1"/>
          </a:fillRef>
          <a:effectRef idx="0">
            <a:srgbClr val="FFFFFF"/>
          </a:effectRef>
          <a:fontRef idx="minor">
            <a:schemeClr val="tx1"/>
          </a:fontRef>
        </p:style>
      </p:sp>
      <p:sp>
        <p:nvSpPr>
          <p:cNvPr id="125" name="TextBox 124"/>
          <p:cNvSpPr>
            <a:spLocks noGrp="1"/>
          </p:cNvSpPr>
          <p:nvPr/>
        </p:nvSpPr>
        <p:spPr>
          <a:xfrm>
            <a:off x="8905875" y="1952625"/>
            <a:ext cx="2047875" cy="809625"/>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量化位数</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幅度方向</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1088136" y="1645920"/>
            <a:ext cx="1280160" cy="24384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振幅</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9429750" y="4524375"/>
            <a:ext cx="1047750" cy="304800"/>
          </a:xfrm>
          <a:prstGeom prst="rect">
            <a:avLst/>
          </a:prstGeom>
          <a:solidFill>
            <a:srgbClr val="FFFFFF"/>
          </a:solidFill>
        </p:spPr>
        <p:txBody>
          <a:bodyPr wrap="square" lIns="0" tIns="0" rIns="0" bIns="0" anchor="t">
            <a:noAutofit/>
          </a:bodyPr>
          <a:lstStyle>
            <a:defPPr algn="l">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16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时间</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演示C：3bit变4bit，样本点会变多吗？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32104" y="1536192"/>
            <a:ext cx="10424160" cy="381000"/>
          </a:xfrm>
          <a:prstGeom prst="rect">
            <a:avLst/>
          </a:prstGeom>
          <a:noFill/>
        </p:spPr>
        <p:txBody>
          <a:bodyPr wrap="square" lIns="0" tIns="0" rIns="0" bIns="0" anchor="t">
            <a:noAutofit/>
          </a:bodyPr>
          <a:lstStyle>
            <a:defPPr algn="l">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保持采样时刻不变，只改变量化位数。</a:t>
            </a:r>
            <a:endPar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32104" y="2578608"/>
            <a:ext cx="274320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bit：8个等级</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3877056" y="2258568"/>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8" name="Connector 7"/>
          <p:cNvSpPr>
            <a:spLocks noGrp="1"/>
          </p:cNvSpPr>
          <p:nvPr/>
        </p:nvSpPr>
        <p:spPr>
          <a:xfrm>
            <a:off x="3877056" y="2453204"/>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9" name="Connector 8"/>
          <p:cNvSpPr>
            <a:spLocks noGrp="1"/>
          </p:cNvSpPr>
          <p:nvPr/>
        </p:nvSpPr>
        <p:spPr>
          <a:xfrm>
            <a:off x="3877056" y="2647841"/>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0" name="Connector 9"/>
          <p:cNvSpPr>
            <a:spLocks noGrp="1"/>
          </p:cNvSpPr>
          <p:nvPr/>
        </p:nvSpPr>
        <p:spPr>
          <a:xfrm>
            <a:off x="3877056" y="2842477"/>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1" name="Connector 10"/>
          <p:cNvSpPr>
            <a:spLocks noGrp="1"/>
          </p:cNvSpPr>
          <p:nvPr/>
        </p:nvSpPr>
        <p:spPr>
          <a:xfrm>
            <a:off x="3877056" y="3037114"/>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2" name="Connector 11"/>
          <p:cNvSpPr>
            <a:spLocks noGrp="1"/>
          </p:cNvSpPr>
          <p:nvPr/>
        </p:nvSpPr>
        <p:spPr>
          <a:xfrm>
            <a:off x="3877056" y="3231750"/>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3" name="Connector 12"/>
          <p:cNvSpPr>
            <a:spLocks noGrp="1"/>
          </p:cNvSpPr>
          <p:nvPr/>
        </p:nvSpPr>
        <p:spPr>
          <a:xfrm>
            <a:off x="3877056" y="3426387"/>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4" name="Connector 13"/>
          <p:cNvSpPr>
            <a:spLocks noGrp="1"/>
          </p:cNvSpPr>
          <p:nvPr/>
        </p:nvSpPr>
        <p:spPr>
          <a:xfrm>
            <a:off x="3877056" y="3621024"/>
            <a:ext cx="7205472" cy="0"/>
          </a:xfrm>
          <a:prstGeom prst="line">
            <a:avLst/>
          </a:prstGeom>
          <a:ln w="12700">
            <a:solidFill>
              <a:srgbClr val="8C64E1"/>
            </a:solidFill>
          </a:ln>
        </p:spPr>
        <p:style>
          <a:lnRef idx="2">
            <a:schemeClr val="accent1"/>
          </a:lnRef>
          <a:fillRef idx="0">
            <a:schemeClr val="accent1"/>
          </a:fillRef>
          <a:effectRef idx="0">
            <a:srgbClr val="FFFFFF"/>
          </a:effectRef>
          <a:fontRef idx="minor">
            <a:schemeClr val="tx1"/>
          </a:fontRef>
        </p:style>
      </p:sp>
      <p:sp>
        <p:nvSpPr>
          <p:cNvPr id="15" name="Oval 14"/>
          <p:cNvSpPr>
            <a:spLocks noGrp="1"/>
          </p:cNvSpPr>
          <p:nvPr/>
        </p:nvSpPr>
        <p:spPr>
          <a:xfrm>
            <a:off x="3823106" y="2757271"/>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 name="Oval 15"/>
          <p:cNvSpPr>
            <a:spLocks noGrp="1"/>
          </p:cNvSpPr>
          <p:nvPr/>
        </p:nvSpPr>
        <p:spPr>
          <a:xfrm>
            <a:off x="4723790" y="2520581"/>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Oval 16"/>
          <p:cNvSpPr>
            <a:spLocks noGrp="1"/>
          </p:cNvSpPr>
          <p:nvPr/>
        </p:nvSpPr>
        <p:spPr>
          <a:xfrm>
            <a:off x="5624474" y="2497858"/>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8" name="Oval 17"/>
          <p:cNvSpPr>
            <a:spLocks noGrp="1"/>
          </p:cNvSpPr>
          <p:nvPr/>
        </p:nvSpPr>
        <p:spPr>
          <a:xfrm>
            <a:off x="6525158" y="2702414"/>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Oval 18"/>
          <p:cNvSpPr>
            <a:spLocks noGrp="1"/>
          </p:cNvSpPr>
          <p:nvPr/>
        </p:nvSpPr>
        <p:spPr>
          <a:xfrm>
            <a:off x="7425842" y="3014421"/>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0" name="Oval 19"/>
          <p:cNvSpPr>
            <a:spLocks noGrp="1"/>
          </p:cNvSpPr>
          <p:nvPr/>
        </p:nvSpPr>
        <p:spPr>
          <a:xfrm>
            <a:off x="8326526" y="3251111"/>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 name="Oval 20"/>
          <p:cNvSpPr>
            <a:spLocks noGrp="1"/>
          </p:cNvSpPr>
          <p:nvPr/>
        </p:nvSpPr>
        <p:spPr>
          <a:xfrm>
            <a:off x="9227210" y="327383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 name="Oval 21"/>
          <p:cNvSpPr>
            <a:spLocks noGrp="1"/>
          </p:cNvSpPr>
          <p:nvPr/>
        </p:nvSpPr>
        <p:spPr>
          <a:xfrm>
            <a:off x="10127894" y="3069278"/>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 name="Oval 22"/>
          <p:cNvSpPr>
            <a:spLocks noGrp="1"/>
          </p:cNvSpPr>
          <p:nvPr/>
        </p:nvSpPr>
        <p:spPr>
          <a:xfrm>
            <a:off x="11028578" y="2757271"/>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 name="TextBox 23"/>
          <p:cNvSpPr>
            <a:spLocks noGrp="1"/>
          </p:cNvSpPr>
          <p:nvPr/>
        </p:nvSpPr>
        <p:spPr>
          <a:xfrm>
            <a:off x="832104" y="4343400"/>
            <a:ext cx="2743200" cy="335280"/>
          </a:xfrm>
          <a:prstGeom prst="rect">
            <a:avLst/>
          </a:prstGeom>
          <a:noFill/>
        </p:spPr>
        <p:txBody>
          <a:bodyPr wrap="squar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Aft>
                <a:spcPts val="3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4 bit：16个等级</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5" name="Connector 24"/>
          <p:cNvSpPr>
            <a:spLocks noGrp="1"/>
          </p:cNvSpPr>
          <p:nvPr/>
        </p:nvSpPr>
        <p:spPr>
          <a:xfrm>
            <a:off x="3877056" y="4023360"/>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6" name="Connector 25"/>
          <p:cNvSpPr>
            <a:spLocks noGrp="1"/>
          </p:cNvSpPr>
          <p:nvPr/>
        </p:nvSpPr>
        <p:spPr>
          <a:xfrm>
            <a:off x="3877056" y="4114190"/>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7" name="Connector 26"/>
          <p:cNvSpPr>
            <a:spLocks noGrp="1"/>
          </p:cNvSpPr>
          <p:nvPr/>
        </p:nvSpPr>
        <p:spPr>
          <a:xfrm>
            <a:off x="3877056" y="4205020"/>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8" name="Connector 27"/>
          <p:cNvSpPr>
            <a:spLocks noGrp="1"/>
          </p:cNvSpPr>
          <p:nvPr/>
        </p:nvSpPr>
        <p:spPr>
          <a:xfrm>
            <a:off x="3877056" y="4295851"/>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29" name="Connector 28"/>
          <p:cNvSpPr>
            <a:spLocks noGrp="1"/>
          </p:cNvSpPr>
          <p:nvPr/>
        </p:nvSpPr>
        <p:spPr>
          <a:xfrm>
            <a:off x="3877056" y="4386681"/>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0" name="Connector 29"/>
          <p:cNvSpPr>
            <a:spLocks noGrp="1"/>
          </p:cNvSpPr>
          <p:nvPr/>
        </p:nvSpPr>
        <p:spPr>
          <a:xfrm>
            <a:off x="3877056" y="4477512"/>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1" name="Connector 30"/>
          <p:cNvSpPr>
            <a:spLocks noGrp="1"/>
          </p:cNvSpPr>
          <p:nvPr/>
        </p:nvSpPr>
        <p:spPr>
          <a:xfrm>
            <a:off x="3877056" y="4568342"/>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2" name="Connector 31"/>
          <p:cNvSpPr>
            <a:spLocks noGrp="1"/>
          </p:cNvSpPr>
          <p:nvPr/>
        </p:nvSpPr>
        <p:spPr>
          <a:xfrm>
            <a:off x="3877056" y="4659172"/>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3" name="Connector 32"/>
          <p:cNvSpPr>
            <a:spLocks noGrp="1"/>
          </p:cNvSpPr>
          <p:nvPr/>
        </p:nvSpPr>
        <p:spPr>
          <a:xfrm>
            <a:off x="3877056" y="4750003"/>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4" name="Connector 33"/>
          <p:cNvSpPr>
            <a:spLocks noGrp="1"/>
          </p:cNvSpPr>
          <p:nvPr/>
        </p:nvSpPr>
        <p:spPr>
          <a:xfrm>
            <a:off x="3877056" y="4840833"/>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5" name="Connector 34"/>
          <p:cNvSpPr>
            <a:spLocks noGrp="1"/>
          </p:cNvSpPr>
          <p:nvPr/>
        </p:nvSpPr>
        <p:spPr>
          <a:xfrm>
            <a:off x="3877056" y="4931664"/>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6" name="Connector 35"/>
          <p:cNvSpPr>
            <a:spLocks noGrp="1"/>
          </p:cNvSpPr>
          <p:nvPr/>
        </p:nvSpPr>
        <p:spPr>
          <a:xfrm>
            <a:off x="3877056" y="5022494"/>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7" name="Connector 36"/>
          <p:cNvSpPr>
            <a:spLocks noGrp="1"/>
          </p:cNvSpPr>
          <p:nvPr/>
        </p:nvSpPr>
        <p:spPr>
          <a:xfrm>
            <a:off x="3877056" y="5113324"/>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8" name="Connector 37"/>
          <p:cNvSpPr>
            <a:spLocks noGrp="1"/>
          </p:cNvSpPr>
          <p:nvPr/>
        </p:nvSpPr>
        <p:spPr>
          <a:xfrm>
            <a:off x="3877056" y="5204155"/>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39" name="Connector 38"/>
          <p:cNvSpPr>
            <a:spLocks noGrp="1"/>
          </p:cNvSpPr>
          <p:nvPr/>
        </p:nvSpPr>
        <p:spPr>
          <a:xfrm>
            <a:off x="3877056" y="5294985"/>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40" name="Connector 39"/>
          <p:cNvSpPr>
            <a:spLocks noGrp="1"/>
          </p:cNvSpPr>
          <p:nvPr/>
        </p:nvSpPr>
        <p:spPr>
          <a:xfrm>
            <a:off x="3877056" y="5385816"/>
            <a:ext cx="7205472" cy="0"/>
          </a:xfrm>
          <a:prstGeom prst="line">
            <a:avLst/>
          </a:prstGeom>
          <a:ln w="12700">
            <a:solidFill>
              <a:srgbClr val="00B0F0"/>
            </a:solidFill>
          </a:ln>
        </p:spPr>
        <p:style>
          <a:lnRef idx="2">
            <a:schemeClr val="accent1"/>
          </a:lnRef>
          <a:fillRef idx="0">
            <a:schemeClr val="accent1"/>
          </a:fillRef>
          <a:effectRef idx="0">
            <a:srgbClr val="FFFFFF"/>
          </a:effectRef>
          <a:fontRef idx="minor">
            <a:schemeClr val="tx1"/>
          </a:fontRef>
        </p:style>
      </p:sp>
      <p:sp>
        <p:nvSpPr>
          <p:cNvPr id="41" name="Oval 40"/>
          <p:cNvSpPr>
            <a:spLocks noGrp="1"/>
          </p:cNvSpPr>
          <p:nvPr/>
        </p:nvSpPr>
        <p:spPr>
          <a:xfrm>
            <a:off x="3823106" y="452206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2" name="Oval 41"/>
          <p:cNvSpPr>
            <a:spLocks noGrp="1"/>
          </p:cNvSpPr>
          <p:nvPr/>
        </p:nvSpPr>
        <p:spPr>
          <a:xfrm>
            <a:off x="4723790" y="428537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3" name="Oval 42"/>
          <p:cNvSpPr>
            <a:spLocks noGrp="1"/>
          </p:cNvSpPr>
          <p:nvPr/>
        </p:nvSpPr>
        <p:spPr>
          <a:xfrm>
            <a:off x="5624474" y="4262650"/>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4" name="Oval 43"/>
          <p:cNvSpPr>
            <a:spLocks noGrp="1"/>
          </p:cNvSpPr>
          <p:nvPr/>
        </p:nvSpPr>
        <p:spPr>
          <a:xfrm>
            <a:off x="6525158" y="4467206"/>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5" name="Oval 44"/>
          <p:cNvSpPr>
            <a:spLocks noGrp="1"/>
          </p:cNvSpPr>
          <p:nvPr/>
        </p:nvSpPr>
        <p:spPr>
          <a:xfrm>
            <a:off x="7425842" y="477921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6" name="Oval 45"/>
          <p:cNvSpPr>
            <a:spLocks noGrp="1"/>
          </p:cNvSpPr>
          <p:nvPr/>
        </p:nvSpPr>
        <p:spPr>
          <a:xfrm>
            <a:off x="8326526" y="501590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7" name="Oval 46"/>
          <p:cNvSpPr>
            <a:spLocks noGrp="1"/>
          </p:cNvSpPr>
          <p:nvPr/>
        </p:nvSpPr>
        <p:spPr>
          <a:xfrm>
            <a:off x="9227210" y="5038625"/>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8" name="Oval 47"/>
          <p:cNvSpPr>
            <a:spLocks noGrp="1"/>
          </p:cNvSpPr>
          <p:nvPr/>
        </p:nvSpPr>
        <p:spPr>
          <a:xfrm>
            <a:off x="10127894" y="4834070"/>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9" name="Oval 48"/>
          <p:cNvSpPr>
            <a:spLocks noGrp="1"/>
          </p:cNvSpPr>
          <p:nvPr/>
        </p:nvSpPr>
        <p:spPr>
          <a:xfrm>
            <a:off x="11028578" y="4522063"/>
            <a:ext cx="107899" cy="107899"/>
          </a:xfrm>
          <a:prstGeom prst="ellipse">
            <a:avLst/>
          </a:prstGeom>
          <a:solidFill>
            <a:srgbClr val="808080"/>
          </a:solidFill>
          <a:ln w="19050">
            <a:solidFill>
              <a:srgbClr val="80808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0" name="TextBox 49"/>
          <p:cNvSpPr>
            <a:spLocks noGrp="1"/>
          </p:cNvSpPr>
          <p:nvPr/>
        </p:nvSpPr>
        <p:spPr>
          <a:xfrm>
            <a:off x="950976" y="6007608"/>
            <a:ext cx="1042416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Aft>
                <a:spcPts val="3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灰点的时间位置不变；变化的是纵向可选等级。</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51" name="TextBox 50"/>
          <p:cNvSpPr txBox="1"/>
          <p:nvPr/>
        </p:nvSpPr>
        <p:spPr>
          <a:xfrm>
            <a:off x="1965960" y="5522976"/>
            <a:ext cx="8321040" cy="384048"/>
          </a:xfrm>
          <a:prstGeom prst="rect">
            <a:avLst/>
          </a:prstGeom>
          <a:noFill/>
        </p:spPr>
        <p:txBody>
          <a:bodyPr wrap="square" lIns="0" tIns="0" rIns="0" bIns="0" anchor="ctr">
            <a:spAutoFit/>
          </a:bodyPr>
          <a:lstStyle/>
          <a:p>
            <a:pPr algn="ctr">
              <a:spcAft>
                <a:spcPts val="200"/>
              </a:spcAft>
              <a:defRPr sz="1800" b="1">
                <a:solidFill>
                  <a:srgbClr val="8C64E1"/>
                </a:solidFill>
                <a:latin typeface="Alibaba PuHuiTi 3.0 115 Black" panose="00020600040101010101" charset="-122"/>
              </a:defRPr>
            </a:pPr>
            <a:r>
              <a:t>横向：采样时刻不变；纵向：等级从8级增至16级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采样更多、等级更密，就一定听得更好吗？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914400" y="2194560"/>
            <a:ext cx="4206240" cy="457200"/>
          </a:xfrm>
          <a:prstGeom prst="rect">
            <a:avLst/>
          </a:prstGeom>
          <a:noFill/>
        </p:spPr>
        <p:txBody>
          <a:bodyPr wrap="square" lIns="0" tIns="0" rIns="0" bIns="0" anchor="t">
            <a:noAutofit/>
          </a:bodyPr>
          <a:lstStyle>
            <a:defPPr algn="l">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采样率 ↑</a:t>
            </a:r>
            <a:endPar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914400" y="2990088"/>
            <a:ext cx="4389120" cy="35052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每秒样本更多</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6492240" y="2194560"/>
            <a:ext cx="4297680" cy="457200"/>
          </a:xfrm>
          <a:prstGeom prst="rect">
            <a:avLst/>
          </a:prstGeom>
          <a:noFill/>
        </p:spPr>
        <p:txBody>
          <a:bodyPr wrap="square" lIns="0" tIns="0" rIns="0" bIns="0" anchor="t">
            <a:noAutofit/>
          </a:bodyPr>
          <a:lstStyle>
            <a:defPPr algn="l">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量化位数 ↑</a:t>
            </a:r>
            <a:endPar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6492240" y="2990088"/>
            <a:ext cx="4572000" cy="35052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每样本可选等级更多</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813816" y="5230368"/>
            <a:ext cx="9966960"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通常能提高记录的精细程度，但音质不会无限提高。</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3bit模型与16bit实际存储</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905256" y="2066543"/>
            <a:ext cx="4709160"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978408" y="2185415"/>
            <a:ext cx="4562856" cy="396240"/>
          </a:xfrm>
          <a:prstGeom prst="rect">
            <a:avLst/>
          </a:prstGeom>
          <a:noFill/>
        </p:spPr>
        <p:txBody>
          <a:bodyPr wrap="square" lIns="0" tIns="0" rIns="0" bIns="0" anchor="t">
            <a:noAutofit/>
          </a:bodyPr>
          <a:lstStyle>
            <a:defPPr algn="ctr">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课堂模型：3 bit</a:t>
            </a:r>
            <a:endPar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Rectangle 6"/>
          <p:cNvSpPr>
            <a:spLocks noGrp="1"/>
          </p:cNvSpPr>
          <p:nvPr/>
        </p:nvSpPr>
        <p:spPr>
          <a:xfrm>
            <a:off x="6528816" y="2066543"/>
            <a:ext cx="4626864"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 name="TextBox 7"/>
          <p:cNvSpPr>
            <a:spLocks noGrp="1"/>
          </p:cNvSpPr>
          <p:nvPr/>
        </p:nvSpPr>
        <p:spPr>
          <a:xfrm>
            <a:off x="6601968" y="2185415"/>
            <a:ext cx="4480559" cy="396240"/>
          </a:xfrm>
          <a:prstGeom prst="rect">
            <a:avLst/>
          </a:prstGeom>
          <a:noFill/>
        </p:spPr>
        <p:txBody>
          <a:bodyPr wrap="square" lIns="0" tIns="0" rIns="0" bIns="0" anchor="t">
            <a:noAutofit/>
          </a:bodyPr>
          <a:lstStyle>
            <a:defPPr algn="ctr">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PCM例子：16 bit</a:t>
            </a:r>
            <a:endPar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9" name="Rectangle 8"/>
          <p:cNvSpPr>
            <a:spLocks noGrp="1"/>
          </p:cNvSpPr>
          <p:nvPr/>
        </p:nvSpPr>
        <p:spPr>
          <a:xfrm>
            <a:off x="1005840" y="3429000"/>
            <a:ext cx="384048" cy="411480"/>
          </a:xfrm>
          <a:prstGeom prst="rect">
            <a:avLst/>
          </a:prstGeom>
          <a:solidFill>
            <a:srgbClr val="FFFFFF"/>
          </a:solid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TextBox 9"/>
          <p:cNvSpPr>
            <a:spLocks noGrp="1"/>
          </p:cNvSpPr>
          <p:nvPr/>
        </p:nvSpPr>
        <p:spPr>
          <a:xfrm>
            <a:off x="1097280"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Rectangle 10"/>
          <p:cNvSpPr>
            <a:spLocks noGrp="1"/>
          </p:cNvSpPr>
          <p:nvPr/>
        </p:nvSpPr>
        <p:spPr>
          <a:xfrm>
            <a:off x="1490472" y="3429000"/>
            <a:ext cx="384048" cy="411480"/>
          </a:xfrm>
          <a:prstGeom prst="rect">
            <a:avLst/>
          </a:prstGeom>
          <a:solidFill>
            <a:srgbClr val="FFFFFF"/>
          </a:solid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TextBox 11"/>
          <p:cNvSpPr>
            <a:spLocks noGrp="1"/>
          </p:cNvSpPr>
          <p:nvPr/>
        </p:nvSpPr>
        <p:spPr>
          <a:xfrm>
            <a:off x="1581912"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Rectangle 12"/>
          <p:cNvSpPr>
            <a:spLocks noGrp="1"/>
          </p:cNvSpPr>
          <p:nvPr/>
        </p:nvSpPr>
        <p:spPr>
          <a:xfrm>
            <a:off x="1975104" y="3429000"/>
            <a:ext cx="384048" cy="411480"/>
          </a:xfrm>
          <a:prstGeom prst="rect">
            <a:avLst/>
          </a:prstGeom>
          <a:solidFill>
            <a:srgbClr val="FFFFFF"/>
          </a:solid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 name="TextBox 13"/>
          <p:cNvSpPr>
            <a:spLocks noGrp="1"/>
          </p:cNvSpPr>
          <p:nvPr/>
        </p:nvSpPr>
        <p:spPr>
          <a:xfrm>
            <a:off x="2066544"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Rectangle 14"/>
          <p:cNvSpPr>
            <a:spLocks noGrp="1"/>
          </p:cNvSpPr>
          <p:nvPr/>
        </p:nvSpPr>
        <p:spPr>
          <a:xfrm>
            <a:off x="6611112"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 name="TextBox 15"/>
          <p:cNvSpPr>
            <a:spLocks noGrp="1"/>
          </p:cNvSpPr>
          <p:nvPr/>
        </p:nvSpPr>
        <p:spPr>
          <a:xfrm>
            <a:off x="6702552"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7" name="Rectangle 16"/>
          <p:cNvSpPr>
            <a:spLocks noGrp="1"/>
          </p:cNvSpPr>
          <p:nvPr/>
        </p:nvSpPr>
        <p:spPr>
          <a:xfrm>
            <a:off x="7095744"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8" name="TextBox 17"/>
          <p:cNvSpPr>
            <a:spLocks noGrp="1"/>
          </p:cNvSpPr>
          <p:nvPr/>
        </p:nvSpPr>
        <p:spPr>
          <a:xfrm>
            <a:off x="7187184"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9" name="Rectangle 18"/>
          <p:cNvSpPr>
            <a:spLocks noGrp="1"/>
          </p:cNvSpPr>
          <p:nvPr/>
        </p:nvSpPr>
        <p:spPr>
          <a:xfrm>
            <a:off x="7580376"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0" name="TextBox 19"/>
          <p:cNvSpPr>
            <a:spLocks noGrp="1"/>
          </p:cNvSpPr>
          <p:nvPr/>
        </p:nvSpPr>
        <p:spPr>
          <a:xfrm>
            <a:off x="7671816"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1" name="Rectangle 20"/>
          <p:cNvSpPr>
            <a:spLocks noGrp="1"/>
          </p:cNvSpPr>
          <p:nvPr/>
        </p:nvSpPr>
        <p:spPr>
          <a:xfrm>
            <a:off x="8065008"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 name="TextBox 21"/>
          <p:cNvSpPr>
            <a:spLocks noGrp="1"/>
          </p:cNvSpPr>
          <p:nvPr/>
        </p:nvSpPr>
        <p:spPr>
          <a:xfrm>
            <a:off x="8156448"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Rectangle 22"/>
          <p:cNvSpPr>
            <a:spLocks noGrp="1"/>
          </p:cNvSpPr>
          <p:nvPr/>
        </p:nvSpPr>
        <p:spPr>
          <a:xfrm>
            <a:off x="8549640"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 name="TextBox 23"/>
          <p:cNvSpPr>
            <a:spLocks noGrp="1"/>
          </p:cNvSpPr>
          <p:nvPr/>
        </p:nvSpPr>
        <p:spPr>
          <a:xfrm>
            <a:off x="8641080"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5" name="Rectangle 24"/>
          <p:cNvSpPr>
            <a:spLocks noGrp="1"/>
          </p:cNvSpPr>
          <p:nvPr/>
        </p:nvSpPr>
        <p:spPr>
          <a:xfrm>
            <a:off x="9034272"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6" name="TextBox 25"/>
          <p:cNvSpPr>
            <a:spLocks noGrp="1"/>
          </p:cNvSpPr>
          <p:nvPr/>
        </p:nvSpPr>
        <p:spPr>
          <a:xfrm>
            <a:off x="9125712"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7" name="Rectangle 26"/>
          <p:cNvSpPr>
            <a:spLocks noGrp="1"/>
          </p:cNvSpPr>
          <p:nvPr/>
        </p:nvSpPr>
        <p:spPr>
          <a:xfrm>
            <a:off x="9518904"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8" name="TextBox 27"/>
          <p:cNvSpPr>
            <a:spLocks noGrp="1"/>
          </p:cNvSpPr>
          <p:nvPr/>
        </p:nvSpPr>
        <p:spPr>
          <a:xfrm>
            <a:off x="9610344"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9" name="Rectangle 28"/>
          <p:cNvSpPr>
            <a:spLocks noGrp="1"/>
          </p:cNvSpPr>
          <p:nvPr/>
        </p:nvSpPr>
        <p:spPr>
          <a:xfrm>
            <a:off x="10003536" y="3429000"/>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0" name="TextBox 29"/>
          <p:cNvSpPr>
            <a:spLocks noGrp="1"/>
          </p:cNvSpPr>
          <p:nvPr/>
        </p:nvSpPr>
        <p:spPr>
          <a:xfrm>
            <a:off x="10094976" y="3461004"/>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1" name="Rectangle 30"/>
          <p:cNvSpPr>
            <a:spLocks noGrp="1"/>
          </p:cNvSpPr>
          <p:nvPr/>
        </p:nvSpPr>
        <p:spPr>
          <a:xfrm>
            <a:off x="6611112"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2" name="TextBox 31"/>
          <p:cNvSpPr>
            <a:spLocks noGrp="1"/>
          </p:cNvSpPr>
          <p:nvPr/>
        </p:nvSpPr>
        <p:spPr>
          <a:xfrm>
            <a:off x="6702552"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3" name="Rectangle 32"/>
          <p:cNvSpPr>
            <a:spLocks noGrp="1"/>
          </p:cNvSpPr>
          <p:nvPr/>
        </p:nvSpPr>
        <p:spPr>
          <a:xfrm>
            <a:off x="7095744"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4" name="TextBox 33"/>
          <p:cNvSpPr>
            <a:spLocks noGrp="1"/>
          </p:cNvSpPr>
          <p:nvPr/>
        </p:nvSpPr>
        <p:spPr>
          <a:xfrm>
            <a:off x="7187184"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5" name="Rectangle 34"/>
          <p:cNvSpPr>
            <a:spLocks noGrp="1"/>
          </p:cNvSpPr>
          <p:nvPr/>
        </p:nvSpPr>
        <p:spPr>
          <a:xfrm>
            <a:off x="7580376"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6" name="TextBox 35"/>
          <p:cNvSpPr>
            <a:spLocks noGrp="1"/>
          </p:cNvSpPr>
          <p:nvPr/>
        </p:nvSpPr>
        <p:spPr>
          <a:xfrm>
            <a:off x="7671816"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7" name="Rectangle 36"/>
          <p:cNvSpPr>
            <a:spLocks noGrp="1"/>
          </p:cNvSpPr>
          <p:nvPr/>
        </p:nvSpPr>
        <p:spPr>
          <a:xfrm>
            <a:off x="8065008"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8" name="TextBox 37"/>
          <p:cNvSpPr>
            <a:spLocks noGrp="1"/>
          </p:cNvSpPr>
          <p:nvPr/>
        </p:nvSpPr>
        <p:spPr>
          <a:xfrm>
            <a:off x="8156448"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9" name="Rectangle 38"/>
          <p:cNvSpPr>
            <a:spLocks noGrp="1"/>
          </p:cNvSpPr>
          <p:nvPr/>
        </p:nvSpPr>
        <p:spPr>
          <a:xfrm>
            <a:off x="8549640"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0" name="TextBox 39"/>
          <p:cNvSpPr>
            <a:spLocks noGrp="1"/>
          </p:cNvSpPr>
          <p:nvPr/>
        </p:nvSpPr>
        <p:spPr>
          <a:xfrm>
            <a:off x="8641080"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1" name="Rectangle 40"/>
          <p:cNvSpPr>
            <a:spLocks noGrp="1"/>
          </p:cNvSpPr>
          <p:nvPr/>
        </p:nvSpPr>
        <p:spPr>
          <a:xfrm>
            <a:off x="9034272"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2" name="TextBox 41"/>
          <p:cNvSpPr>
            <a:spLocks noGrp="1"/>
          </p:cNvSpPr>
          <p:nvPr/>
        </p:nvSpPr>
        <p:spPr>
          <a:xfrm>
            <a:off x="9125712"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3" name="Rectangle 42"/>
          <p:cNvSpPr>
            <a:spLocks noGrp="1"/>
          </p:cNvSpPr>
          <p:nvPr/>
        </p:nvSpPr>
        <p:spPr>
          <a:xfrm>
            <a:off x="9518904"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4" name="TextBox 43"/>
          <p:cNvSpPr>
            <a:spLocks noGrp="1"/>
          </p:cNvSpPr>
          <p:nvPr/>
        </p:nvSpPr>
        <p:spPr>
          <a:xfrm>
            <a:off x="9610344"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0</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5" name="Rectangle 44"/>
          <p:cNvSpPr>
            <a:spLocks noGrp="1"/>
          </p:cNvSpPr>
          <p:nvPr/>
        </p:nvSpPr>
        <p:spPr>
          <a:xfrm>
            <a:off x="10003536" y="4014215"/>
            <a:ext cx="384048" cy="411480"/>
          </a:xfrm>
          <a:prstGeom prst="rect">
            <a:avLst/>
          </a:prstGeom>
          <a:solidFill>
            <a:srgbClr val="FFFFFF"/>
          </a:solid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6" name="TextBox 45"/>
          <p:cNvSpPr>
            <a:spLocks noGrp="1"/>
          </p:cNvSpPr>
          <p:nvPr/>
        </p:nvSpPr>
        <p:spPr>
          <a:xfrm>
            <a:off x="10094976" y="4046220"/>
            <a:ext cx="228600" cy="243840"/>
          </a:xfrm>
          <a:prstGeom prst="rect">
            <a:avLst/>
          </a:prstGeom>
          <a:noFill/>
        </p:spPr>
        <p:txBody>
          <a:bodyPr wrap="square" lIns="0" tIns="0" rIns="0" bIns="0" anchor="t">
            <a:noAutofit/>
          </a:bodyPr>
          <a:lstStyle>
            <a:defPPr algn="l">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a:t>
            </a:r>
            <a:endParaRPr sz="1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7" name="TextBox 46"/>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位数越多，一份未压缩样本数据所占的空间也越大。</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48" name="stored-byte-1"/>
          <p:cNvSpPr>
            <a:spLocks noGrp="1"/>
          </p:cNvSpPr>
          <p:nvPr/>
        </p:nvSpPr>
        <p:spPr>
          <a:xfrm>
            <a:off x="4762500" y="3476625"/>
            <a:ext cx="1571625" cy="40005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8bit＝1B</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49" name="stored-byte-2"/>
          <p:cNvSpPr>
            <a:spLocks noGrp="1"/>
          </p:cNvSpPr>
          <p:nvPr/>
        </p:nvSpPr>
        <p:spPr>
          <a:xfrm>
            <a:off x="4762500" y="4143375"/>
            <a:ext cx="1571625" cy="40005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8bit＝1B</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0" name="stored-sample-bytes"/>
          <p:cNvSpPr>
            <a:spLocks noGrp="1"/>
          </p:cNvSpPr>
          <p:nvPr/>
        </p:nvSpPr>
        <p:spPr>
          <a:xfrm>
            <a:off x="6515100" y="5095875"/>
            <a:ext cx="4381500" cy="41910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共16bit＝2B</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PCM样本和WAV文件，是一回事吗？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914400" y="2176272"/>
            <a:ext cx="2898648" cy="1371600"/>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1152144" y="2569464"/>
            <a:ext cx="2468880" cy="381000"/>
          </a:xfrm>
          <a:prstGeom prst="rect">
            <a:avLst/>
          </a:prstGeom>
          <a:noFill/>
        </p:spPr>
        <p:txBody>
          <a:bodyPr wrap="square" lIns="0" tIns="0" rIns="0" bIns="0" anchor="t">
            <a:noAutofit/>
          </a:bodyPr>
          <a:lstStyle>
            <a:defPPr algn="l">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WAV文件头</a:t>
            </a:r>
            <a:endParaRPr sz="25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Rectangle 6"/>
          <p:cNvSpPr>
            <a:spLocks noGrp="1"/>
          </p:cNvSpPr>
          <p:nvPr/>
        </p:nvSpPr>
        <p:spPr>
          <a:xfrm>
            <a:off x="3986784" y="2176272"/>
            <a:ext cx="7059168" cy="1371600"/>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 name="TextBox 7"/>
          <p:cNvSpPr>
            <a:spLocks noGrp="1"/>
          </p:cNvSpPr>
          <p:nvPr/>
        </p:nvSpPr>
        <p:spPr>
          <a:xfrm>
            <a:off x="4434840" y="2569464"/>
            <a:ext cx="6272784" cy="381000"/>
          </a:xfrm>
          <a:prstGeom prst="rect">
            <a:avLst/>
          </a:prstGeom>
          <a:noFill/>
        </p:spPr>
        <p:txBody>
          <a:bodyPr wrap="square" lIns="0" tIns="0" rIns="0" bIns="0" anchor="t">
            <a:noAutofit/>
          </a:bodyPr>
          <a:lstStyle>
            <a:defPPr algn="l">
              <a:defRPr sz="25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PCM：一个个数字样本</a:t>
            </a:r>
            <a:endParaRPr sz="25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9" name="TextBox 8"/>
          <p:cNvSpPr>
            <a:spLocks noGrp="1"/>
          </p:cNvSpPr>
          <p:nvPr/>
        </p:nvSpPr>
        <p:spPr>
          <a:xfrm>
            <a:off x="933450" y="3857625"/>
            <a:ext cx="2571750" cy="904875"/>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采样率、声道</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等参数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4286250" y="3857625"/>
            <a:ext cx="6667500" cy="7620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例如：0010 1101 0110 …</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编码 ≠ 压缩；WAV常保存未压缩PCM，但并非只有这一种情况。</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Rectangle 11"/>
          <p:cNvSpPr/>
          <p:nvPr/>
        </p:nvSpPr>
        <p:spPr>
          <a:xfrm>
            <a:off x="713232" y="1883664"/>
            <a:ext cx="10725912" cy="332841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融合证据图_v8.4.10_原页27" descr="image.png"/>
          <p:cNvPicPr>
            <a:picLocks noChangeAspect="1"/>
          </p:cNvPicPr>
          <p:nvPr/>
        </p:nvPicPr>
        <p:blipFill>
          <a:blip r:embed="rId1"/>
          <a:stretch>
            <a:fillRect/>
          </a:stretch>
        </p:blipFill>
        <p:spPr>
          <a:xfrm>
            <a:off x="1097280" y="2103120"/>
            <a:ext cx="9966960" cy="3090672"/>
          </a:xfrm>
          <a:prstGeom prst="rect">
            <a:avLst/>
          </a:prstGeom>
        </p:spPr>
      </p:pic>
      <p:sp>
        <p:nvSpPr>
          <p:cNvPr id="14" name="TextBox 13"/>
          <p:cNvSpPr txBox="1"/>
          <p:nvPr/>
        </p:nvSpPr>
        <p:spPr>
          <a:xfrm>
            <a:off x="1170432" y="1993392"/>
            <a:ext cx="3703320" cy="329184"/>
          </a:xfrm>
          <a:prstGeom prst="rect">
            <a:avLst/>
          </a:prstGeom>
          <a:noFill/>
        </p:spPr>
        <p:txBody>
          <a:bodyPr wrap="square" lIns="0" tIns="0" rIns="0" bIns="0" anchor="ctr">
            <a:spAutoFit/>
          </a:bodyPr>
          <a:lstStyle/>
          <a:p>
            <a:pPr>
              <a:spcAft>
                <a:spcPts val="200"/>
              </a:spcAft>
              <a:defRPr sz="1700" b="1">
                <a:solidFill>
                  <a:srgbClr val="8C64E1"/>
                </a:solidFill>
                <a:latin typeface="Alibaba PuHuiTi 3.0 115 Black" panose="00020600040101010101" charset="-122"/>
              </a:defRPr>
            </a:pPr>
            <a:r>
              <a:t>描述如何解释音频数据</a:t>
            </a:r>
          </a:p>
        </p:txBody>
      </p:sp>
      <p:sp>
        <p:nvSpPr>
          <p:cNvPr id="15" name="TextBox 14"/>
          <p:cNvSpPr txBox="1"/>
          <p:nvPr/>
        </p:nvSpPr>
        <p:spPr>
          <a:xfrm>
            <a:off x="4608576" y="1993392"/>
            <a:ext cx="6126480" cy="329184"/>
          </a:xfrm>
          <a:prstGeom prst="rect">
            <a:avLst/>
          </a:prstGeom>
          <a:noFill/>
        </p:spPr>
        <p:txBody>
          <a:bodyPr wrap="square" lIns="0" tIns="0" rIns="0" bIns="0" anchor="ctr">
            <a:spAutoFit/>
          </a:bodyPr>
          <a:lstStyle/>
          <a:p>
            <a:pPr>
              <a:spcAft>
                <a:spcPts val="200"/>
              </a:spcAft>
              <a:defRPr sz="1700" b="1">
                <a:solidFill>
                  <a:srgbClr val="007C9B"/>
                </a:solidFill>
                <a:latin typeface="Alibaba PuHuiTi 3.0 115 Black" panose="00020600040101010101" charset="-122"/>
              </a:defRPr>
            </a:pPr>
            <a:r>
              <a:t>保存一系列数字样本</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播放时，数字样本怎样变成声音？</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704088" y="2258568"/>
            <a:ext cx="240487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777240" y="2377440"/>
            <a:ext cx="2258568"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数字样本</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3182112" y="2596896"/>
            <a:ext cx="35661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8" name="Rectangle 7"/>
          <p:cNvSpPr>
            <a:spLocks noGrp="1"/>
          </p:cNvSpPr>
          <p:nvPr/>
        </p:nvSpPr>
        <p:spPr>
          <a:xfrm>
            <a:off x="3630168" y="2258568"/>
            <a:ext cx="240487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3703320" y="2377440"/>
            <a:ext cx="2258568"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DAC</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Connector 9"/>
          <p:cNvSpPr>
            <a:spLocks noGrp="1"/>
          </p:cNvSpPr>
          <p:nvPr/>
        </p:nvSpPr>
        <p:spPr>
          <a:xfrm>
            <a:off x="6108192" y="2596896"/>
            <a:ext cx="35661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1" name="Rectangle 10"/>
          <p:cNvSpPr>
            <a:spLocks noGrp="1"/>
          </p:cNvSpPr>
          <p:nvPr/>
        </p:nvSpPr>
        <p:spPr>
          <a:xfrm>
            <a:off x="6556248" y="2258568"/>
            <a:ext cx="2404872"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TextBox 11"/>
          <p:cNvSpPr>
            <a:spLocks noGrp="1"/>
          </p:cNvSpPr>
          <p:nvPr/>
        </p:nvSpPr>
        <p:spPr>
          <a:xfrm>
            <a:off x="6629400" y="2377440"/>
            <a:ext cx="2258568"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连续电信号</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Connector 12"/>
          <p:cNvSpPr>
            <a:spLocks noGrp="1"/>
          </p:cNvSpPr>
          <p:nvPr/>
        </p:nvSpPr>
        <p:spPr>
          <a:xfrm>
            <a:off x="9034272" y="2596896"/>
            <a:ext cx="356616"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14" name="Rectangle 13"/>
          <p:cNvSpPr>
            <a:spLocks noGrp="1"/>
          </p:cNvSpPr>
          <p:nvPr/>
        </p:nvSpPr>
        <p:spPr>
          <a:xfrm>
            <a:off x="9482328" y="2258568"/>
            <a:ext cx="2404872"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TextBox 14"/>
          <p:cNvSpPr>
            <a:spLocks noGrp="1"/>
          </p:cNvSpPr>
          <p:nvPr/>
        </p:nvSpPr>
        <p:spPr>
          <a:xfrm>
            <a:off x="9555480" y="2377440"/>
            <a:ext cx="2258568"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扬声器</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TextBox 15"/>
          <p:cNvSpPr>
            <a:spLocks noGrp="1"/>
          </p:cNvSpPr>
          <p:nvPr/>
        </p:nvSpPr>
        <p:spPr>
          <a:xfrm>
            <a:off x="777240" y="4846320"/>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录音是模拟 → 数字；播放是数字 → 模拟。</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pic>
        <p:nvPicPr>
          <p:cNvPr id="17" name="searched-images/speaker-high.svg" descr="image.png"/>
          <p:cNvPicPr>
            <a:picLocks noChangeAspect="1"/>
          </p:cNvPicPr>
          <p:nvPr/>
        </p:nvPicPr>
        <p:blipFill>
          <a:blip r:embed="rId1"/>
          <a:stretch>
            <a:fillRect/>
          </a:stretch>
        </p:blipFill>
        <p:spPr>
          <a:xfrm>
            <a:off x="9592056" y="2953512"/>
            <a:ext cx="1426464" cy="1426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声音数据量为什么与四个参数有关？</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22960" y="1883664"/>
            <a:ext cx="4937760" cy="396240"/>
          </a:xfrm>
          <a:prstGeom prst="rect">
            <a:avLst/>
          </a:prstGeom>
          <a:noFill/>
        </p:spPr>
        <p:txBody>
          <a:bodyPr wrap="square" lIns="0" tIns="0" rIns="0" bIns="0" anchor="t">
            <a:noAutofit/>
          </a:bodyPr>
          <a:lstStyle>
            <a:defPPr algn="l">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采样率</a:t>
            </a:r>
            <a:endPar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22960" y="2468880"/>
            <a:ext cx="493776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每秒几个样本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6364224" y="1883664"/>
            <a:ext cx="4937760" cy="396240"/>
          </a:xfrm>
          <a:prstGeom prst="rect">
            <a:avLst/>
          </a:prstGeom>
          <a:noFill/>
        </p:spPr>
        <p:txBody>
          <a:bodyPr wrap="square" lIns="0" tIns="0" rIns="0" bIns="0" anchor="t">
            <a:noAutofit/>
          </a:bodyPr>
          <a:lstStyle>
            <a:defPPr algn="l">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存储位宽</a:t>
            </a:r>
            <a:endPar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6364224" y="2468880"/>
            <a:ext cx="493776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实际每样本占多少bit</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822960" y="3511296"/>
            <a:ext cx="4937760" cy="396240"/>
          </a:xfrm>
          <a:prstGeom prst="rect">
            <a:avLst/>
          </a:prstGeom>
          <a:noFill/>
        </p:spPr>
        <p:txBody>
          <a:bodyPr wrap="square" lIns="0" tIns="0" rIns="0" bIns="0" anchor="t">
            <a:noAutofit/>
          </a:bodyPr>
          <a:lstStyle>
            <a:defPPr algn="l">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声道数</a:t>
            </a:r>
            <a:endParaRPr sz="26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822960" y="4096511"/>
            <a:ext cx="493776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同一时刻几路</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6364224" y="3511296"/>
            <a:ext cx="4937760" cy="396240"/>
          </a:xfrm>
          <a:prstGeom prst="rect">
            <a:avLst/>
          </a:prstGeom>
          <a:noFill/>
        </p:spPr>
        <p:txBody>
          <a:bodyPr wrap="square" lIns="0" tIns="0" rIns="0" bIns="0" anchor="t">
            <a:noAutofit/>
          </a:bodyPr>
          <a:lstStyle>
            <a:defPPr algn="l">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时长</a:t>
            </a:r>
            <a:endPar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TextBox 11"/>
          <p:cNvSpPr>
            <a:spLocks noGrp="1"/>
          </p:cNvSpPr>
          <p:nvPr/>
        </p:nvSpPr>
        <p:spPr>
          <a:xfrm>
            <a:off x="6364224" y="4096511"/>
            <a:ext cx="4937760"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持续多少秒</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先数样本，再数bit，最后换成Byte</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22960" y="2076450"/>
            <a:ext cx="10789920" cy="533400"/>
          </a:xfrm>
          <a:prstGeom prst="rect">
            <a:avLst/>
          </a:prstGeom>
          <a:noFill/>
        </p:spPr>
        <p:txBody>
          <a:bodyPr wrap="square" lIns="0" tIns="0" rIns="0" bIns="0" anchor="t">
            <a:noAutofit/>
          </a:bodyPr>
          <a:lstStyle>
            <a:defPPr algn="l">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2 样本/秒 × 4 秒 × 1 声道 = 8 个样本</a:t>
            </a:r>
            <a:endPar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Rectangle 5"/>
          <p:cNvSpPr>
            <a:spLocks noGrp="1"/>
          </p:cNvSpPr>
          <p:nvPr/>
        </p:nvSpPr>
        <p:spPr>
          <a:xfrm>
            <a:off x="941832"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TextBox 6"/>
          <p:cNvSpPr>
            <a:spLocks noGrp="1"/>
          </p:cNvSpPr>
          <p:nvPr/>
        </p:nvSpPr>
        <p:spPr>
          <a:xfrm>
            <a:off x="1060704"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Rectangle 7"/>
          <p:cNvSpPr>
            <a:spLocks noGrp="1"/>
          </p:cNvSpPr>
          <p:nvPr/>
        </p:nvSpPr>
        <p:spPr>
          <a:xfrm>
            <a:off x="2231136"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2350008"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Rectangle 9"/>
          <p:cNvSpPr>
            <a:spLocks noGrp="1"/>
          </p:cNvSpPr>
          <p:nvPr/>
        </p:nvSpPr>
        <p:spPr>
          <a:xfrm>
            <a:off x="3520439"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 name="TextBox 10"/>
          <p:cNvSpPr>
            <a:spLocks noGrp="1"/>
          </p:cNvSpPr>
          <p:nvPr/>
        </p:nvSpPr>
        <p:spPr>
          <a:xfrm>
            <a:off x="3639311"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Rectangle 11"/>
          <p:cNvSpPr>
            <a:spLocks noGrp="1"/>
          </p:cNvSpPr>
          <p:nvPr/>
        </p:nvSpPr>
        <p:spPr>
          <a:xfrm>
            <a:off x="4809744"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 name="TextBox 12"/>
          <p:cNvSpPr>
            <a:spLocks noGrp="1"/>
          </p:cNvSpPr>
          <p:nvPr/>
        </p:nvSpPr>
        <p:spPr>
          <a:xfrm>
            <a:off x="4928616"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Rectangle 13"/>
          <p:cNvSpPr>
            <a:spLocks noGrp="1"/>
          </p:cNvSpPr>
          <p:nvPr/>
        </p:nvSpPr>
        <p:spPr>
          <a:xfrm>
            <a:off x="6099048"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TextBox 14"/>
          <p:cNvSpPr>
            <a:spLocks noGrp="1"/>
          </p:cNvSpPr>
          <p:nvPr/>
        </p:nvSpPr>
        <p:spPr>
          <a:xfrm>
            <a:off x="6217920"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6" name="Rectangle 15"/>
          <p:cNvSpPr>
            <a:spLocks noGrp="1"/>
          </p:cNvSpPr>
          <p:nvPr/>
        </p:nvSpPr>
        <p:spPr>
          <a:xfrm>
            <a:off x="7388352"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TextBox 16"/>
          <p:cNvSpPr>
            <a:spLocks noGrp="1"/>
          </p:cNvSpPr>
          <p:nvPr/>
        </p:nvSpPr>
        <p:spPr>
          <a:xfrm>
            <a:off x="7507224"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Rectangle 17"/>
          <p:cNvSpPr>
            <a:spLocks noGrp="1"/>
          </p:cNvSpPr>
          <p:nvPr/>
        </p:nvSpPr>
        <p:spPr>
          <a:xfrm>
            <a:off x="8677655"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TextBox 18"/>
          <p:cNvSpPr>
            <a:spLocks noGrp="1"/>
          </p:cNvSpPr>
          <p:nvPr/>
        </p:nvSpPr>
        <p:spPr>
          <a:xfrm>
            <a:off x="8796528"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Rectangle 19"/>
          <p:cNvSpPr>
            <a:spLocks noGrp="1"/>
          </p:cNvSpPr>
          <p:nvPr/>
        </p:nvSpPr>
        <p:spPr>
          <a:xfrm>
            <a:off x="9966959" y="2761488"/>
            <a:ext cx="1024128" cy="768096"/>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 name="TextBox 20"/>
          <p:cNvSpPr>
            <a:spLocks noGrp="1"/>
          </p:cNvSpPr>
          <p:nvPr/>
        </p:nvSpPr>
        <p:spPr>
          <a:xfrm>
            <a:off x="10085832" y="2999232"/>
            <a:ext cx="896112"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3 bit</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2" name="TextBox 21"/>
          <p:cNvSpPr>
            <a:spLocks noGrp="1"/>
          </p:cNvSpPr>
          <p:nvPr/>
        </p:nvSpPr>
        <p:spPr>
          <a:xfrm>
            <a:off x="832104" y="4389120"/>
            <a:ext cx="10698480" cy="411480"/>
          </a:xfrm>
          <a:prstGeom prst="rect">
            <a:avLst/>
          </a:prstGeom>
          <a:noFill/>
        </p:spPr>
        <p:txBody>
          <a:bodyPr wrap="square" lIns="0" tIns="0" rIns="0" bIns="0" anchor="t">
            <a:noAutofit/>
          </a:bodyPr>
          <a:lstStyle>
            <a:defPPr algn="l">
              <a:defRPr sz="27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7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8 个样本 × 3 bit = 24 bit = 3 Byte</a:t>
            </a:r>
            <a:endParaRPr sz="27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extBox 22"/>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不同声道要各自记录样本；声道数翻倍，未压缩样本数据量也翻倍。</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packed-model-condition"/>
          <p:cNvSpPr>
            <a:spLocks noGrp="1"/>
          </p:cNvSpPr>
          <p:nvPr/>
        </p:nvSpPr>
        <p:spPr>
          <a:xfrm>
            <a:off x="609600" y="1485900"/>
            <a:ext cx="109728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3bit教学模型：码字连续打包；不是实际16bit PCM文件。</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未压缩PCM数据量公式，从哪里来？</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未压缩、固定存储位宽；先算样本数量，再算每份大小。</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unt-heading"/>
          <p:cNvSpPr>
            <a:spLocks noGrp="1"/>
          </p:cNvSpPr>
          <p:nvPr/>
        </p:nvSpPr>
        <p:spPr>
          <a:xfrm>
            <a:off x="609600" y="2628900"/>
            <a:ext cx="4572000" cy="4381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每声道样本数</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unt-factors"/>
          <p:cNvSpPr>
            <a:spLocks noGrp="1"/>
          </p:cNvSpPr>
          <p:nvPr/>
        </p:nvSpPr>
        <p:spPr>
          <a:xfrm>
            <a:off x="609600" y="3276600"/>
            <a:ext cx="4572000" cy="457200"/>
          </a:xfrm>
          <a:prstGeom prst="rect">
            <a:avLst/>
          </a:prstGeom>
          <a:noFill/>
          <a:ln w="0">
            <a:noFill/>
          </a:ln>
        </p:spPr>
        <p:txBody>
          <a:bodyPr wrap="none" lIns="0" tIns="0" rIns="0" bIns="0" anchor="t">
            <a:noAutofit/>
          </a:bodyPr>
          <a:lstStyle>
            <a:defPPr algn="l">
              <a:def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采样率 × 秒数</a:t>
            </a:r>
            <a:endPara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width-heading"/>
          <p:cNvSpPr>
            <a:spLocks noGrp="1"/>
          </p:cNvSpPr>
          <p:nvPr/>
        </p:nvSpPr>
        <p:spPr>
          <a:xfrm>
            <a:off x="6515100" y="2628900"/>
            <a:ext cx="5067300" cy="4381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同一时刻的数据量</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9" name="width-factors"/>
          <p:cNvSpPr>
            <a:spLocks noGrp="1"/>
          </p:cNvSpPr>
          <p:nvPr/>
        </p:nvSpPr>
        <p:spPr>
          <a:xfrm>
            <a:off x="6515100" y="3276600"/>
            <a:ext cx="5067300" cy="9144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声道数 ×（存储位宽 ÷ 8）</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multiply-sign"/>
          <p:cNvSpPr>
            <a:spLocks noGrp="1"/>
          </p:cNvSpPr>
          <p:nvPr/>
        </p:nvSpPr>
        <p:spPr>
          <a:xfrm>
            <a:off x="5543550" y="3209925"/>
            <a:ext cx="609600" cy="647700"/>
          </a:xfrm>
          <a:prstGeom prst="rect">
            <a:avLst/>
          </a:prstGeom>
          <a:noFill/>
          <a:ln w="0">
            <a:noFill/>
          </a:ln>
        </p:spPr>
        <p:txBody>
          <a:bodyPr wrap="none" lIns="0" tIns="0" rIns="0" bIns="0" anchor="t">
            <a:noAutofit/>
          </a:bodyPr>
          <a:lstStyle>
            <a:defPPr algn="ctr">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payload-equation"/>
          <p:cNvSpPr>
            <a:spLocks noGrp="1"/>
          </p:cNvSpPr>
          <p:nvPr/>
        </p:nvSpPr>
        <p:spPr>
          <a:xfrm>
            <a:off x="609600" y="4981575"/>
            <a:ext cx="10972800" cy="5143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PCM样本字节数＝每声道样本数 × 每时刻字节数</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text"/>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Hz用每秒计数；时长用秒；8 bit＝1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1</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采样率 16,000 Hz，8 bit，双声道，录制5秒。</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未压缩PCM样本数据共有多少 Byte？</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先标出每个数字的含义。</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1</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采样率 16,000 Hz，8 bit，双声道，录制5秒。</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未压缩PCM样本数据共有多少 Byte？</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calculation-step-0"/>
          <p:cNvSpPr>
            <a:spLocks noGrp="1"/>
          </p:cNvSpPr>
          <p:nvPr/>
        </p:nvSpPr>
        <p:spPr>
          <a:xfrm>
            <a:off x="819150" y="35147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每声道：16,000 × 5＝80,000 个样本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calculation-step-1"/>
          <p:cNvSpPr>
            <a:spLocks noGrp="1"/>
          </p:cNvSpPr>
          <p:nvPr/>
        </p:nvSpPr>
        <p:spPr>
          <a:xfrm>
            <a:off x="819150" y="399097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每样本：8 bit ÷ 8＝1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alculation-step-2"/>
          <p:cNvSpPr>
            <a:spLocks noGrp="1"/>
          </p:cNvSpPr>
          <p:nvPr/>
        </p:nvSpPr>
        <p:spPr>
          <a:xfrm>
            <a:off x="819150" y="44672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双声道：80,000 × 2 × 1＝160,000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practice-answer"/>
          <p:cNvSpPr>
            <a:spLocks noGrp="1"/>
          </p:cNvSpPr>
          <p:nvPr/>
        </p:nvSpPr>
        <p:spPr>
          <a:xfrm>
            <a:off x="819150" y="5657850"/>
            <a:ext cx="10668000" cy="457200"/>
          </a:xfrm>
          <a:prstGeom prst="rect">
            <a:avLst/>
          </a:prstGeom>
          <a:noFill/>
          <a:ln w="0">
            <a:noFill/>
          </a:ln>
        </p:spPr>
        <p:txBody>
          <a:bodyPr wrap="non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答案：160,000 Byte</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本节课你能解释三件事吗？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声音怎样进入电脑？三个步骤各改变什么？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未压缩PCM的数据量从哪里来？</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本节课你能解释三件事吗？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声音怎样进入电脑？三个步骤各改变什么？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未压缩PCM的数据量从哪里来？</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红框：本次新增</a:t>
            </a: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23813">
            <a:solidFill>
              <a:srgbClr val="FF0000"/>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本节课你能解释三件事吗？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声音怎样进入电脑？三个步骤各改变什么？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未压缩PCM的数据量从哪里来？</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红框：本次新增</a:t>
            </a: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9525">
            <a:solidFill>
              <a:srgbClr val="D7D7DE"/>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ree-link-2"/>
          <p:cNvSpPr>
            <a:spLocks noGrp="1"/>
          </p:cNvSpPr>
          <p:nvPr/>
        </p:nvSpPr>
        <p:spPr>
          <a:xfrm>
            <a:off x="2914650" y="3600450"/>
            <a:ext cx="419100" cy="9525"/>
          </a:xfrm>
          <a:custGeom>
            <a:avLst/>
            <a:gdLst/>
            <a:ahLst/>
            <a:cxnLst/>
            <a:pathLst>
              <a:path w="419100" h="9525">
                <a:moveTo>
                  <a:pt x="0" y="0"/>
                </a:moveTo>
                <a:lnTo>
                  <a:pt x="419100" y="0"/>
                </a:lnTo>
              </a:path>
            </a:pathLst>
          </a:custGeom>
          <a:noFill/>
          <a:ln w="19050">
            <a:solidFill>
              <a:srgbClr val="8C64E1"/>
            </a:solidFill>
          </a:ln>
        </p:spPr>
      </p:sp>
      <p:sp>
        <p:nvSpPr>
          <p:cNvPr id="16" name="tree-focus-2"/>
          <p:cNvSpPr>
            <a:spLocks noGrp="1"/>
          </p:cNvSpPr>
          <p:nvPr/>
        </p:nvSpPr>
        <p:spPr>
          <a:xfrm>
            <a:off x="3333750" y="3295650"/>
            <a:ext cx="8248650" cy="704850"/>
          </a:xfrm>
          <a:prstGeom prst="rect">
            <a:avLst/>
          </a:prstGeom>
          <a:noFill/>
          <a:ln w="23813">
            <a:solidFill>
              <a:srgbClr val="FF0000"/>
            </a:solidFill>
          </a:ln>
        </p:spPr>
      </p:sp>
      <p:sp>
        <p:nvSpPr>
          <p:cNvPr id="17" name="tree-node-2"/>
          <p:cNvSpPr>
            <a:spLocks noGrp="1"/>
          </p:cNvSpPr>
          <p:nvPr/>
        </p:nvSpPr>
        <p:spPr>
          <a:xfrm>
            <a:off x="3476625" y="34575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采样、量化、编码</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tree-detail-2"/>
          <p:cNvSpPr>
            <a:spLocks noGrp="1"/>
          </p:cNvSpPr>
          <p:nvPr/>
        </p:nvSpPr>
        <p:spPr>
          <a:xfrm>
            <a:off x="6381750" y="33051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定时刻；定代表值；写码字</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本节课你能解释三件事吗？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声音怎样进入电脑？三个步骤各改变什么？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未压缩PCM的数据量从哪里来？</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红框：本次新增</a:t>
            </a: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9525">
            <a:solidFill>
              <a:srgbClr val="D7D7DE"/>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ree-link-2"/>
          <p:cNvSpPr>
            <a:spLocks noGrp="1"/>
          </p:cNvSpPr>
          <p:nvPr/>
        </p:nvSpPr>
        <p:spPr>
          <a:xfrm>
            <a:off x="2914650" y="3600450"/>
            <a:ext cx="419100" cy="9525"/>
          </a:xfrm>
          <a:custGeom>
            <a:avLst/>
            <a:gdLst/>
            <a:ahLst/>
            <a:cxnLst/>
            <a:pathLst>
              <a:path w="419100" h="9525">
                <a:moveTo>
                  <a:pt x="0" y="0"/>
                </a:moveTo>
                <a:lnTo>
                  <a:pt x="419100" y="0"/>
                </a:lnTo>
              </a:path>
            </a:pathLst>
          </a:custGeom>
          <a:noFill/>
          <a:ln w="19050">
            <a:solidFill>
              <a:srgbClr val="8C64E1"/>
            </a:solidFill>
          </a:ln>
        </p:spPr>
      </p:sp>
      <p:sp>
        <p:nvSpPr>
          <p:cNvPr id="16" name="tree-focus-2"/>
          <p:cNvSpPr>
            <a:spLocks noGrp="1"/>
          </p:cNvSpPr>
          <p:nvPr/>
        </p:nvSpPr>
        <p:spPr>
          <a:xfrm>
            <a:off x="3333750" y="3295650"/>
            <a:ext cx="8248650" cy="704850"/>
          </a:xfrm>
          <a:prstGeom prst="rect">
            <a:avLst/>
          </a:prstGeom>
          <a:noFill/>
          <a:ln w="9525">
            <a:solidFill>
              <a:srgbClr val="D7D7DE"/>
            </a:solidFill>
          </a:ln>
        </p:spPr>
      </p:sp>
      <p:sp>
        <p:nvSpPr>
          <p:cNvPr id="17" name="tree-node-2"/>
          <p:cNvSpPr>
            <a:spLocks noGrp="1"/>
          </p:cNvSpPr>
          <p:nvPr/>
        </p:nvSpPr>
        <p:spPr>
          <a:xfrm>
            <a:off x="3476625" y="34575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采样、量化、编码</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tree-detail-2"/>
          <p:cNvSpPr>
            <a:spLocks noGrp="1"/>
          </p:cNvSpPr>
          <p:nvPr/>
        </p:nvSpPr>
        <p:spPr>
          <a:xfrm>
            <a:off x="6381750" y="33051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定时刻；定代表值；写码字</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ree-link-3"/>
          <p:cNvSpPr>
            <a:spLocks noGrp="1"/>
          </p:cNvSpPr>
          <p:nvPr/>
        </p:nvSpPr>
        <p:spPr>
          <a:xfrm>
            <a:off x="2914650" y="4324350"/>
            <a:ext cx="419100" cy="9525"/>
          </a:xfrm>
          <a:custGeom>
            <a:avLst/>
            <a:gdLst/>
            <a:ahLst/>
            <a:cxnLst/>
            <a:pathLst>
              <a:path w="419100" h="9525">
                <a:moveTo>
                  <a:pt x="0" y="0"/>
                </a:moveTo>
                <a:lnTo>
                  <a:pt x="419100" y="0"/>
                </a:lnTo>
              </a:path>
            </a:pathLst>
          </a:custGeom>
          <a:noFill/>
          <a:ln w="19050">
            <a:solidFill>
              <a:srgbClr val="8C64E1"/>
            </a:solidFill>
          </a:ln>
        </p:spPr>
      </p:sp>
      <p:sp>
        <p:nvSpPr>
          <p:cNvPr id="20" name="tree-trunk-3"/>
          <p:cNvSpPr>
            <a:spLocks noGrp="1"/>
          </p:cNvSpPr>
          <p:nvPr/>
        </p:nvSpPr>
        <p:spPr>
          <a:xfrm>
            <a:off x="2914650" y="4105275"/>
            <a:ext cx="9525" cy="219075"/>
          </a:xfrm>
          <a:custGeom>
            <a:avLst/>
            <a:gdLst/>
            <a:ahLst/>
            <a:cxnLst/>
            <a:pathLst>
              <a:path w="9525" h="219075">
                <a:moveTo>
                  <a:pt x="0" y="0"/>
                </a:moveTo>
                <a:lnTo>
                  <a:pt x="0" y="219075"/>
                </a:lnTo>
              </a:path>
            </a:pathLst>
          </a:custGeom>
          <a:noFill/>
          <a:ln w="19050">
            <a:solidFill>
              <a:srgbClr val="8C64E1"/>
            </a:solidFill>
          </a:ln>
        </p:spPr>
      </p:sp>
      <p:sp>
        <p:nvSpPr>
          <p:cNvPr id="21" name="tree-focus-3"/>
          <p:cNvSpPr>
            <a:spLocks noGrp="1"/>
          </p:cNvSpPr>
          <p:nvPr/>
        </p:nvSpPr>
        <p:spPr>
          <a:xfrm>
            <a:off x="3333750" y="4019550"/>
            <a:ext cx="8248650" cy="704850"/>
          </a:xfrm>
          <a:prstGeom prst="rect">
            <a:avLst/>
          </a:prstGeom>
          <a:noFill/>
          <a:ln w="23813">
            <a:solidFill>
              <a:srgbClr val="FF0000"/>
            </a:solidFill>
          </a:ln>
        </p:spPr>
      </p:sp>
      <p:sp>
        <p:nvSpPr>
          <p:cNvPr id="22" name="tree-node-3"/>
          <p:cNvSpPr>
            <a:spLocks noGrp="1"/>
          </p:cNvSpPr>
          <p:nvPr/>
        </p:nvSpPr>
        <p:spPr>
          <a:xfrm>
            <a:off x="3476625" y="41814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未压缩PCM</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ree-detail-3"/>
          <p:cNvSpPr>
            <a:spLocks noGrp="1"/>
          </p:cNvSpPr>
          <p:nvPr/>
        </p:nvSpPr>
        <p:spPr>
          <a:xfrm>
            <a:off x="6381750" y="40290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每声道样本数×声道数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×每样本存储字节数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2114550"/>
            <a:ext cx="10972800" cy="1143000"/>
          </a:xfrm>
          <a:prstGeom prst="rect">
            <a:avLst/>
          </a:prstGeom>
          <a:noFill/>
        </p:spPr>
        <p:txBody>
          <a:bodyPr wrap="none" lIns="0" tIns="0" rIns="0" bIns="0" anchor="t">
            <a:noAutofit/>
          </a:bodyPr>
          <a:lstStyle>
            <a:defPPr algn="ctr">
              <a:def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为什么文件还需要压缩？</a:t>
            </a:r>
            <a:endParaRPr sz="6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608076" y="3714750"/>
            <a:ext cx="10972800" cy="742950"/>
          </a:xfrm>
          <a:prstGeom prst="rect">
            <a:avLst/>
          </a:prstGeom>
          <a:noFill/>
        </p:spPr>
        <p:txBody>
          <a:bodyPr wrap="none" lIns="0" tIns="0" rIns="0" bIns="0" anchor="t">
            <a:noAutofit/>
          </a:bodyPr>
          <a:lstStyle>
            <a:defPPr algn="ctr">
              <a:def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第二课时｜音频、视频编码与数据压缩</a:t>
            </a:r>
            <a:endParaRPr sz="37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先回忆：这四个数字，分别是什么意思？</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59536" y="1828800"/>
            <a:ext cx="4956048" cy="457200"/>
          </a:xfrm>
          <a:prstGeom prst="rect">
            <a:avLst/>
          </a:prstGeom>
          <a:noFill/>
        </p:spPr>
        <p:txBody>
          <a:bodyPr wrap="square" lIns="0" tIns="0" rIns="0" bIns="0" anchor="t">
            <a:noAutofit/>
          </a:bodyPr>
          <a:lstStyle>
            <a:defPPr algn="l">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48,000 Hz</a:t>
            </a:r>
            <a:endPar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59536" y="2551176"/>
            <a:ext cx="4956048"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每秒取样次数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6455664" y="1828800"/>
            <a:ext cx="4956048" cy="457200"/>
          </a:xfrm>
          <a:prstGeom prst="rect">
            <a:avLst/>
          </a:prstGeom>
          <a:noFill/>
        </p:spPr>
        <p:txBody>
          <a:bodyPr wrap="square" lIns="0" tIns="0" rIns="0" bIns="0" anchor="t">
            <a:noAutofit/>
          </a:bodyPr>
          <a:lstStyle>
            <a:defPPr algn="l">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16 bit</a:t>
            </a:r>
            <a:endPar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6455664" y="2551176"/>
            <a:ext cx="4956048"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每样本的位数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859536" y="3566160"/>
            <a:ext cx="4956048" cy="457200"/>
          </a:xfrm>
          <a:prstGeom prst="rect">
            <a:avLst/>
          </a:prstGeom>
          <a:noFill/>
        </p:spPr>
        <p:txBody>
          <a:bodyPr wrap="square" lIns="0" tIns="0" rIns="0" bIns="0" anchor="t">
            <a:noAutofit/>
          </a:bodyPr>
          <a:lstStyle>
            <a:defPPr algn="l">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2</a:t>
            </a:r>
            <a:endParaRPr sz="30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859536" y="4288536"/>
            <a:ext cx="4956048"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左右两个声道</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6455664" y="3566160"/>
            <a:ext cx="4956048" cy="457200"/>
          </a:xfrm>
          <a:prstGeom prst="rect">
            <a:avLst/>
          </a:prstGeom>
          <a:noFill/>
        </p:spPr>
        <p:txBody>
          <a:bodyPr wrap="square" lIns="0" tIns="0" rIns="0" bIns="0" anchor="t">
            <a:noAutofit/>
          </a:bodyPr>
          <a:lstStyle>
            <a:defPPr algn="l">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60 s</a:t>
            </a:r>
            <a:endParaRPr sz="30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2" name="TextBox 11"/>
          <p:cNvSpPr>
            <a:spLocks noGrp="1"/>
          </p:cNvSpPr>
          <p:nvPr/>
        </p:nvSpPr>
        <p:spPr>
          <a:xfrm>
            <a:off x="6455664" y="4288536"/>
            <a:ext cx="4956048"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音频持续时间</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3" name="TextBox 12"/>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提醒：1 MB（按1024²换算）在严格单位写法中应称MiB。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2</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1分钟未压缩PCM音频：48,000 Hz、16 bit、双声道。</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样本数据量约多少MiB？</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先列式，再做单位换算。</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2</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1分钟未压缩PCM音频：48,000 Hz、16 bit、双声道。</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样本数据量约多少MiB？</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calculation-step-0"/>
          <p:cNvSpPr>
            <a:spLocks noGrp="1"/>
          </p:cNvSpPr>
          <p:nvPr/>
        </p:nvSpPr>
        <p:spPr>
          <a:xfrm>
            <a:off x="819150" y="35147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每声道：48,000 × 60＝2,880,000 个样本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calculation-step-1"/>
          <p:cNvSpPr>
            <a:spLocks noGrp="1"/>
          </p:cNvSpPr>
          <p:nvPr/>
        </p:nvSpPr>
        <p:spPr>
          <a:xfrm>
            <a:off x="819150" y="399097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每样本：16 bit ÷ 8＝2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alculation-step-2"/>
          <p:cNvSpPr>
            <a:spLocks noGrp="1"/>
          </p:cNvSpPr>
          <p:nvPr/>
        </p:nvSpPr>
        <p:spPr>
          <a:xfrm>
            <a:off x="819150" y="44672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总量：2,880,000 × 2声道 × 2＝11,520,000 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calculation-step-3"/>
          <p:cNvSpPr>
            <a:spLocks noGrp="1"/>
          </p:cNvSpPr>
          <p:nvPr/>
        </p:nvSpPr>
        <p:spPr>
          <a:xfrm>
            <a:off x="819150" y="494347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换算：11,520,000 ÷ 1024² ≈ 10.99 MiB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practice-answer"/>
          <p:cNvSpPr>
            <a:spLocks noGrp="1"/>
          </p:cNvSpPr>
          <p:nvPr/>
        </p:nvSpPr>
        <p:spPr>
          <a:xfrm>
            <a:off x="819150" y="5657850"/>
            <a:ext cx="10668000" cy="457200"/>
          </a:xfrm>
          <a:prstGeom prst="rect">
            <a:avLst/>
          </a:prstGeom>
          <a:noFill/>
          <a:ln w="0">
            <a:noFill/>
          </a:ln>
        </p:spPr>
        <p:txBody>
          <a:bodyPr wrap="non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答案：约10.99 MiB</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3</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给5分钟的诗朗诵加入一条等时长背景音乐音轨。</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如果导出时仍为44.1 kHz、16 bit、双声道PCM，</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数据量会翻倍吗？</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先投票：翻倍 / 不变 / 说不清。</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两个看似有道理的答案，你支持哪一个？</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观点 A：不变</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观点 B：翻倍</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采样率没变，位数没变，时长没变，</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输出的声道数也没变。</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录音里多了一份音乐，</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是不是就需要多一份音频数据？</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争论的关键：编辑时的“音轨”，是不是导出时的“声道”？</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编辑音轨与输出声道，有什么不同？</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4095750" cy="41910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编辑时：两条音轨</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
          <p:cNvSpPr>
            <a:spLocks noGrp="1"/>
          </p:cNvSpPr>
          <p:nvPr/>
        </p:nvSpPr>
        <p:spPr>
          <a:xfrm>
            <a:off x="7905750" y="1581150"/>
            <a:ext cx="3676650" cy="41910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输出时：两个声道</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rack-0"/>
          <p:cNvSpPr>
            <a:spLocks noGrp="1"/>
          </p:cNvSpPr>
          <p:nvPr/>
        </p:nvSpPr>
        <p:spPr>
          <a:xfrm>
            <a:off x="609600" y="2619375"/>
            <a:ext cx="3476625" cy="723900"/>
          </a:xfrm>
          <a:prstGeom prst="rect">
            <a:avLst/>
          </a:prstGeom>
          <a:noFill/>
          <a:ln w="14288">
            <a:solidFill>
              <a:srgbClr val="8C64E1"/>
            </a:solidFill>
          </a:ln>
        </p:spPr>
      </p:sp>
      <p:sp>
        <p:nvSpPr>
          <p:cNvPr id="8" name="track-label-0"/>
          <p:cNvSpPr>
            <a:spLocks noGrp="1"/>
          </p:cNvSpPr>
          <p:nvPr/>
        </p:nvSpPr>
        <p:spPr>
          <a:xfrm>
            <a:off x="790575" y="2809875"/>
            <a:ext cx="30956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音轨1：诗朗诵</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rack-1"/>
          <p:cNvSpPr>
            <a:spLocks noGrp="1"/>
          </p:cNvSpPr>
          <p:nvPr/>
        </p:nvSpPr>
        <p:spPr>
          <a:xfrm>
            <a:off x="609600" y="4143375"/>
            <a:ext cx="3476625" cy="723900"/>
          </a:xfrm>
          <a:prstGeom prst="rect">
            <a:avLst/>
          </a:prstGeom>
          <a:noFill/>
          <a:ln w="14288">
            <a:solidFill>
              <a:srgbClr val="8C64E1"/>
            </a:solidFill>
          </a:ln>
        </p:spPr>
      </p:sp>
      <p:sp>
        <p:nvSpPr>
          <p:cNvPr id="10" name="track-label-1"/>
          <p:cNvSpPr>
            <a:spLocks noGrp="1"/>
          </p:cNvSpPr>
          <p:nvPr/>
        </p:nvSpPr>
        <p:spPr>
          <a:xfrm>
            <a:off x="790575" y="4333875"/>
            <a:ext cx="30956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音轨2：背景音乐</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mix-operation"/>
          <p:cNvSpPr>
            <a:spLocks noGrp="1"/>
          </p:cNvSpPr>
          <p:nvPr/>
        </p:nvSpPr>
        <p:spPr>
          <a:xfrm>
            <a:off x="5105400" y="3362325"/>
            <a:ext cx="1981200" cy="723900"/>
          </a:xfrm>
          <a:prstGeom prst="rect">
            <a:avLst/>
          </a:prstGeom>
          <a:noFill/>
          <a:ln w="14288">
            <a:solidFill>
              <a:srgbClr val="8C64E1"/>
            </a:solidFill>
          </a:ln>
        </p:spPr>
      </p:sp>
      <p:sp>
        <p:nvSpPr>
          <p:cNvPr id="12" name="mix-label"/>
          <p:cNvSpPr>
            <a:spLocks noGrp="1"/>
          </p:cNvSpPr>
          <p:nvPr/>
        </p:nvSpPr>
        <p:spPr>
          <a:xfrm>
            <a:off x="5248275" y="3552825"/>
            <a:ext cx="169545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混音导出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output-0"/>
          <p:cNvSpPr>
            <a:spLocks noGrp="1"/>
          </p:cNvSpPr>
          <p:nvPr/>
        </p:nvSpPr>
        <p:spPr>
          <a:xfrm>
            <a:off x="8096250" y="2619375"/>
            <a:ext cx="3486150" cy="723900"/>
          </a:xfrm>
          <a:prstGeom prst="rect">
            <a:avLst/>
          </a:prstGeom>
          <a:noFill/>
          <a:ln w="14288">
            <a:solidFill>
              <a:srgbClr val="00B0F0"/>
            </a:solidFill>
          </a:ln>
        </p:spPr>
      </p:sp>
      <p:sp>
        <p:nvSpPr>
          <p:cNvPr id="14" name="output-label-0"/>
          <p:cNvSpPr>
            <a:spLocks noGrp="1"/>
          </p:cNvSpPr>
          <p:nvPr/>
        </p:nvSpPr>
        <p:spPr>
          <a:xfrm>
            <a:off x="8258175" y="2809875"/>
            <a:ext cx="3143250" cy="41910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左声道 L</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split-0"/>
          <p:cNvSpPr>
            <a:spLocks noGrp="1"/>
          </p:cNvSpPr>
          <p:nvPr/>
        </p:nvSpPr>
        <p:spPr>
          <a:xfrm>
            <a:off x="7086600" y="3724275"/>
            <a:ext cx="609600" cy="9525"/>
          </a:xfrm>
          <a:custGeom>
            <a:avLst/>
            <a:gdLst/>
            <a:ahLst/>
            <a:cxnLst/>
            <a:pathLst>
              <a:path w="609600" h="9525">
                <a:moveTo>
                  <a:pt x="0" y="0"/>
                </a:moveTo>
                <a:lnTo>
                  <a:pt x="609600" y="0"/>
                </a:lnTo>
              </a:path>
            </a:pathLst>
          </a:custGeom>
          <a:noFill/>
          <a:ln w="19050">
            <a:solidFill>
              <a:srgbClr val="8C64E1"/>
            </a:solidFill>
          </a:ln>
        </p:spPr>
      </p:sp>
      <p:sp>
        <p:nvSpPr>
          <p:cNvPr id="16" name="split-branch-0"/>
          <p:cNvSpPr>
            <a:spLocks noGrp="1"/>
          </p:cNvSpPr>
          <p:nvPr/>
        </p:nvSpPr>
        <p:spPr>
          <a:xfrm>
            <a:off x="7696200" y="2981325"/>
            <a:ext cx="9525" cy="742950"/>
          </a:xfrm>
          <a:custGeom>
            <a:avLst/>
            <a:gdLst/>
            <a:ahLst/>
            <a:cxnLst/>
            <a:pathLst>
              <a:path w="9525" h="742950">
                <a:moveTo>
                  <a:pt x="0" y="742950"/>
                </a:moveTo>
                <a:lnTo>
                  <a:pt x="0" y="0"/>
                </a:lnTo>
              </a:path>
            </a:pathLst>
          </a:custGeom>
          <a:noFill/>
          <a:ln w="19050">
            <a:solidFill>
              <a:srgbClr val="8C64E1"/>
            </a:solidFill>
          </a:ln>
        </p:spPr>
      </p:sp>
      <p:sp>
        <p:nvSpPr>
          <p:cNvPr id="17" name="mapping-arrow"/>
          <p:cNvSpPr>
            <a:spLocks noGrp="1"/>
          </p:cNvSpPr>
          <p:nvPr/>
        </p:nvSpPr>
        <p:spPr>
          <a:xfrm>
            <a:off x="7705725" y="2886075"/>
            <a:ext cx="323850" cy="190500"/>
          </a:xfrm>
          <a:prstGeom prst="rightArrow">
            <a:avLst/>
          </a:prstGeom>
          <a:solidFill>
            <a:srgbClr val="8C64E1"/>
          </a:solidFill>
          <a:ln w="0">
            <a:noFill/>
          </a:ln>
        </p:spPr>
      </p:sp>
      <p:sp>
        <p:nvSpPr>
          <p:cNvPr id="18" name="output-1"/>
          <p:cNvSpPr>
            <a:spLocks noGrp="1"/>
          </p:cNvSpPr>
          <p:nvPr/>
        </p:nvSpPr>
        <p:spPr>
          <a:xfrm>
            <a:off x="8096250" y="4143375"/>
            <a:ext cx="3486150" cy="723900"/>
          </a:xfrm>
          <a:prstGeom prst="rect">
            <a:avLst/>
          </a:prstGeom>
          <a:noFill/>
          <a:ln w="14288">
            <a:solidFill>
              <a:srgbClr val="00B0F0"/>
            </a:solidFill>
          </a:ln>
        </p:spPr>
      </p:sp>
      <p:sp>
        <p:nvSpPr>
          <p:cNvPr id="19" name="output-label-1"/>
          <p:cNvSpPr>
            <a:spLocks noGrp="1"/>
          </p:cNvSpPr>
          <p:nvPr/>
        </p:nvSpPr>
        <p:spPr>
          <a:xfrm>
            <a:off x="8258175" y="4333875"/>
            <a:ext cx="3143250" cy="41910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右声道 R</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0" name="split-1"/>
          <p:cNvSpPr>
            <a:spLocks noGrp="1"/>
          </p:cNvSpPr>
          <p:nvPr/>
        </p:nvSpPr>
        <p:spPr>
          <a:xfrm>
            <a:off x="7086600" y="3724275"/>
            <a:ext cx="609600" cy="9525"/>
          </a:xfrm>
          <a:custGeom>
            <a:avLst/>
            <a:gdLst/>
            <a:ahLst/>
            <a:cxnLst/>
            <a:pathLst>
              <a:path w="609600" h="9525">
                <a:moveTo>
                  <a:pt x="0" y="0"/>
                </a:moveTo>
                <a:lnTo>
                  <a:pt x="609600" y="0"/>
                </a:lnTo>
              </a:path>
            </a:pathLst>
          </a:custGeom>
          <a:noFill/>
          <a:ln w="19050">
            <a:solidFill>
              <a:srgbClr val="8C64E1"/>
            </a:solidFill>
          </a:ln>
        </p:spPr>
      </p:sp>
      <p:sp>
        <p:nvSpPr>
          <p:cNvPr id="21" name="split-branch-1"/>
          <p:cNvSpPr>
            <a:spLocks noGrp="1"/>
          </p:cNvSpPr>
          <p:nvPr/>
        </p:nvSpPr>
        <p:spPr>
          <a:xfrm>
            <a:off x="7696200" y="3724275"/>
            <a:ext cx="9525" cy="781050"/>
          </a:xfrm>
          <a:custGeom>
            <a:avLst/>
            <a:gdLst/>
            <a:ahLst/>
            <a:cxnLst/>
            <a:pathLst>
              <a:path w="9525" h="781050">
                <a:moveTo>
                  <a:pt x="0" y="0"/>
                </a:moveTo>
                <a:lnTo>
                  <a:pt x="0" y="781050"/>
                </a:lnTo>
              </a:path>
            </a:pathLst>
          </a:custGeom>
          <a:noFill/>
          <a:ln w="19050">
            <a:solidFill>
              <a:srgbClr val="8C64E1"/>
            </a:solidFill>
          </a:ln>
        </p:spPr>
      </p:sp>
      <p:sp>
        <p:nvSpPr>
          <p:cNvPr id="22" name="mapping-arrow"/>
          <p:cNvSpPr>
            <a:spLocks noGrp="1"/>
          </p:cNvSpPr>
          <p:nvPr/>
        </p:nvSpPr>
        <p:spPr>
          <a:xfrm>
            <a:off x="7705725" y="4410075"/>
            <a:ext cx="323850" cy="190500"/>
          </a:xfrm>
          <a:prstGeom prst="rightArrow">
            <a:avLst/>
          </a:prstGeom>
          <a:solidFill>
            <a:srgbClr val="8C64E1"/>
          </a:solidFill>
          <a:ln w="0">
            <a:noFill/>
          </a:ln>
        </p:spPr>
      </p:sp>
      <p:sp>
        <p:nvSpPr>
          <p:cNvPr id="23" name="merge-upper"/>
          <p:cNvSpPr>
            <a:spLocks noGrp="1"/>
          </p:cNvSpPr>
          <p:nvPr/>
        </p:nvSpPr>
        <p:spPr>
          <a:xfrm>
            <a:off x="4086225" y="2981325"/>
            <a:ext cx="581025" cy="9525"/>
          </a:xfrm>
          <a:custGeom>
            <a:avLst/>
            <a:gdLst/>
            <a:ahLst/>
            <a:cxnLst/>
            <a:pathLst>
              <a:path w="581025" h="9525">
                <a:moveTo>
                  <a:pt x="0" y="0"/>
                </a:moveTo>
                <a:lnTo>
                  <a:pt x="581025" y="0"/>
                </a:lnTo>
              </a:path>
            </a:pathLst>
          </a:custGeom>
          <a:noFill/>
          <a:ln w="19050">
            <a:solidFill>
              <a:srgbClr val="8C64E1"/>
            </a:solidFill>
          </a:ln>
        </p:spPr>
      </p:sp>
      <p:sp>
        <p:nvSpPr>
          <p:cNvPr id="24" name="merge-lower"/>
          <p:cNvSpPr>
            <a:spLocks noGrp="1"/>
          </p:cNvSpPr>
          <p:nvPr/>
        </p:nvSpPr>
        <p:spPr>
          <a:xfrm>
            <a:off x="4086225" y="4505325"/>
            <a:ext cx="581025" cy="9525"/>
          </a:xfrm>
          <a:custGeom>
            <a:avLst/>
            <a:gdLst/>
            <a:ahLst/>
            <a:cxnLst/>
            <a:pathLst>
              <a:path w="581025" h="9525">
                <a:moveTo>
                  <a:pt x="0" y="0"/>
                </a:moveTo>
                <a:lnTo>
                  <a:pt x="581025" y="0"/>
                </a:lnTo>
              </a:path>
            </a:pathLst>
          </a:custGeom>
          <a:noFill/>
          <a:ln w="19050">
            <a:solidFill>
              <a:srgbClr val="8C64E1"/>
            </a:solidFill>
          </a:ln>
        </p:spPr>
      </p:sp>
      <p:sp>
        <p:nvSpPr>
          <p:cNvPr id="25" name="merge-branch"/>
          <p:cNvSpPr>
            <a:spLocks noGrp="1"/>
          </p:cNvSpPr>
          <p:nvPr/>
        </p:nvSpPr>
        <p:spPr>
          <a:xfrm>
            <a:off x="4667250" y="2981325"/>
            <a:ext cx="9525" cy="1524000"/>
          </a:xfrm>
          <a:custGeom>
            <a:avLst/>
            <a:gdLst/>
            <a:ahLst/>
            <a:cxnLst/>
            <a:pathLst>
              <a:path w="9525" h="1524000">
                <a:moveTo>
                  <a:pt x="0" y="0"/>
                </a:moveTo>
                <a:lnTo>
                  <a:pt x="0" y="1524000"/>
                </a:lnTo>
              </a:path>
            </a:pathLst>
          </a:custGeom>
          <a:noFill/>
          <a:ln w="19050">
            <a:solidFill>
              <a:srgbClr val="8C64E1"/>
            </a:solidFill>
          </a:ln>
        </p:spPr>
      </p:sp>
      <p:sp>
        <p:nvSpPr>
          <p:cNvPr id="26" name="mapping-arrow"/>
          <p:cNvSpPr>
            <a:spLocks noGrp="1"/>
          </p:cNvSpPr>
          <p:nvPr/>
        </p:nvSpPr>
        <p:spPr>
          <a:xfrm>
            <a:off x="4667250" y="3629025"/>
            <a:ext cx="381000" cy="190500"/>
          </a:xfrm>
          <a:prstGeom prst="rightArrow">
            <a:avLst/>
          </a:prstGeom>
          <a:solidFill>
            <a:srgbClr val="8C64E1"/>
          </a:solidFill>
          <a:ln w="0">
            <a:noFill/>
          </a:ln>
        </p:spPr>
      </p:sp>
      <p:sp>
        <p:nvSpPr>
          <p:cNvPr id="27" name="text"/>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两条音轨共同参与混音；输出仍可为 L、R 两路。</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41148"/>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0159"/>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594360"/>
            <a:ext cx="10972800" cy="722376"/>
          </a:xfrm>
          <a:prstGeom prst="rect">
            <a:avLst/>
          </a:prstGeom>
          <a:noFill/>
        </p:spPr>
        <p:txBody>
          <a:bodyPr wrap="square" lIns="0" tIns="0" rIns="0" bIns="0" anchor="ctr">
            <a:spAutoFit/>
          </a:bodyPr>
          <a:lstStyle/>
          <a:p>
            <a:pPr>
              <a:defRPr sz="3400" b="1">
                <a:solidFill>
                  <a:srgbClr val="262626"/>
                </a:solidFill>
                <a:latin typeface="Alibaba PuHuiTi 3.0 115 Black" panose="00020600040101010101" charset="-122"/>
              </a:defRPr>
            </a:pPr>
            <a:r>
              <a:t>软件里：一条音轨能包含几个声道？</a:t>
            </a:r>
          </a:p>
        </p:txBody>
      </p:sp>
      <p:sp>
        <p:nvSpPr>
          <p:cNvPr id="5" name="TextBox 4"/>
          <p:cNvSpPr txBox="1"/>
          <p:nvPr/>
        </p:nvSpPr>
        <p:spPr>
          <a:xfrm>
            <a:off x="768096" y="1444752"/>
            <a:ext cx="10515600" cy="502920"/>
          </a:xfrm>
          <a:prstGeom prst="rect">
            <a:avLst/>
          </a:prstGeom>
          <a:noFill/>
        </p:spPr>
        <p:txBody>
          <a:bodyPr wrap="square" lIns="0" tIns="0" rIns="0" bIns="0" anchor="ctr">
            <a:spAutoFit/>
          </a:bodyPr>
          <a:lstStyle/>
          <a:p>
            <a:pPr>
              <a:defRPr sz="2200" b="1">
                <a:solidFill>
                  <a:srgbClr val="8C64E1"/>
                </a:solidFill>
                <a:latin typeface="Alibaba PuHuiTi 3.0 115 Black" panose="00020600040101010101" charset="-122"/>
              </a:defRPr>
            </a:pPr>
            <a:r>
              <a:t>观察真实Audacity截图：请先数音轨，再数各音轨有几路波形。</a:t>
            </a:r>
          </a:p>
        </p:txBody>
      </p:sp>
      <p:pic>
        <p:nvPicPr>
          <p:cNvPr id="6" name="searched-images/audacity-multitrack-mixing.png" descr="image.png"/>
          <p:cNvPicPr>
            <a:picLocks noChangeAspect="1"/>
          </p:cNvPicPr>
          <p:nvPr/>
        </p:nvPicPr>
        <p:blipFill>
          <a:blip r:embed="rId1"/>
          <a:stretch>
            <a:fillRect/>
          </a:stretch>
        </p:blipFill>
        <p:spPr>
          <a:xfrm>
            <a:off x="896112" y="1965960"/>
            <a:ext cx="10378440" cy="3776472"/>
          </a:xfrm>
          <a:prstGeom prst="rect">
            <a:avLst/>
          </a:prstGeom>
        </p:spPr>
      </p:pic>
      <p:sp>
        <p:nvSpPr>
          <p:cNvPr id="7" name="TextBox 6"/>
          <p:cNvSpPr txBox="1"/>
          <p:nvPr/>
        </p:nvSpPr>
        <p:spPr>
          <a:xfrm>
            <a:off x="850392" y="5870448"/>
            <a:ext cx="10469880" cy="393192"/>
          </a:xfrm>
          <a:prstGeom prst="rect">
            <a:avLst/>
          </a:prstGeom>
          <a:noFill/>
        </p:spPr>
        <p:txBody>
          <a:bodyPr wrap="square" lIns="0" tIns="0" rIns="0" bIns="0" anchor="ctr">
            <a:spAutoFit/>
          </a:bodyPr>
          <a:lstStyle/>
          <a:p>
            <a:pPr>
              <a:defRPr sz="2000" b="0">
                <a:solidFill>
                  <a:srgbClr val="262626"/>
                </a:solidFill>
                <a:latin typeface="Alibaba PuHuiTi 3.0 55 Regular" panose="00020600040101010101" charset="-122"/>
              </a:defRPr>
            </a:pPr>
            <a:r>
              <a:t>问题：图中是两条音轨，还是三条？</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41148"/>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0159"/>
            <a:ext cx="12191695" cy="75895"/>
          </a:xfrm>
          <a:prstGeom prst="rect">
            <a:avLst/>
          </a:prstGeom>
          <a:solidFill>
            <a:srgbClr val="6251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594360"/>
            <a:ext cx="10972800" cy="722376"/>
          </a:xfrm>
          <a:prstGeom prst="rect">
            <a:avLst/>
          </a:prstGeom>
          <a:noFill/>
        </p:spPr>
        <p:txBody>
          <a:bodyPr wrap="square" lIns="0" tIns="0" rIns="0" bIns="0" anchor="ctr">
            <a:spAutoFit/>
          </a:bodyPr>
          <a:lstStyle/>
          <a:p>
            <a:pPr>
              <a:defRPr sz="3400" b="1">
                <a:solidFill>
                  <a:srgbClr val="262626"/>
                </a:solidFill>
                <a:latin typeface="Alibaba PuHuiTi 3.0 115 Black" panose="00020600040101010101" charset="-122"/>
              </a:defRPr>
            </a:pPr>
            <a:r>
              <a:t>软件里：一条音轨能包含几个声道？</a:t>
            </a:r>
          </a:p>
        </p:txBody>
      </p:sp>
      <p:sp>
        <p:nvSpPr>
          <p:cNvPr id="5" name="TextBox 4"/>
          <p:cNvSpPr txBox="1"/>
          <p:nvPr/>
        </p:nvSpPr>
        <p:spPr>
          <a:xfrm>
            <a:off x="768096" y="1444752"/>
            <a:ext cx="10424160" cy="502920"/>
          </a:xfrm>
          <a:prstGeom prst="rect">
            <a:avLst/>
          </a:prstGeom>
          <a:noFill/>
        </p:spPr>
        <p:txBody>
          <a:bodyPr wrap="square" lIns="0" tIns="0" rIns="0" bIns="0" anchor="ctr">
            <a:spAutoFit/>
          </a:bodyPr>
          <a:lstStyle/>
          <a:p>
            <a:pPr>
              <a:defRPr sz="2200" b="1">
                <a:solidFill>
                  <a:srgbClr val="8C64E1"/>
                </a:solidFill>
                <a:latin typeface="Alibaba PuHuiTi 3.0 115 Black" panose="00020600040101010101" charset="-122"/>
              </a:defRPr>
            </a:pPr>
            <a:r>
              <a:t>同一张截图：编辑音轨数 ≠ 波形通道数。</a:t>
            </a:r>
          </a:p>
        </p:txBody>
      </p:sp>
      <p:pic>
        <p:nvPicPr>
          <p:cNvPr id="6" name="searched-images/audacity-multitrack-mixing.png" descr="image.png"/>
          <p:cNvPicPr>
            <a:picLocks noChangeAspect="1"/>
          </p:cNvPicPr>
          <p:nvPr/>
        </p:nvPicPr>
        <p:blipFill>
          <a:blip r:embed="rId1"/>
          <a:stretch>
            <a:fillRect/>
          </a:stretch>
        </p:blipFill>
        <p:spPr>
          <a:xfrm>
            <a:off x="896112" y="1965960"/>
            <a:ext cx="10378440" cy="3776472"/>
          </a:xfrm>
          <a:prstGeom prst="rect">
            <a:avLst/>
          </a:prstGeom>
        </p:spPr>
      </p:pic>
      <p:sp>
        <p:nvSpPr>
          <p:cNvPr id="7" name="Rectangle 6"/>
          <p:cNvSpPr/>
          <p:nvPr/>
        </p:nvSpPr>
        <p:spPr>
          <a:xfrm>
            <a:off x="886968" y="1956816"/>
            <a:ext cx="10396728" cy="1929384"/>
          </a:xfrm>
          <a:prstGeom prst="rect">
            <a:avLst/>
          </a:prstGeom>
          <a:noFill/>
          <a:ln w="25400">
            <a:solidFill>
              <a:srgbClr val="8C6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86968" y="3886200"/>
            <a:ext cx="10396728" cy="1865376"/>
          </a:xfrm>
          <a:prstGeom prst="rect">
            <a:avLst/>
          </a:prstGeom>
          <a:noFill/>
          <a:ln w="25400">
            <a:solidFill>
              <a:srgbClr val="007C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5870448"/>
            <a:ext cx="10625328" cy="420624"/>
          </a:xfrm>
          <a:prstGeom prst="rect">
            <a:avLst/>
          </a:prstGeom>
          <a:noFill/>
        </p:spPr>
        <p:txBody>
          <a:bodyPr wrap="square" lIns="0" tIns="0" rIns="0" bIns="0" anchor="ctr">
            <a:spAutoFit/>
          </a:bodyPr>
          <a:lstStyle/>
          <a:p>
            <a:pPr>
              <a:defRPr sz="1900" b="1">
                <a:solidFill>
                  <a:srgbClr val="8C64E1"/>
                </a:solidFill>
                <a:latin typeface="Alibaba PuHuiTi 3.0 115 Black" panose="00020600040101010101" charset="-122"/>
              </a:defRPr>
            </a:pPr>
            <a:r>
              <a:t>上：1条单声道音轨；下：1条立体声音轨（含L/R两路）。</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3</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给5分钟的诗朗诵加入一条等时长背景音乐音轨。</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如果导出时仍为44.1 kHz、16 bit、双声道PCM，</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数据量会翻倍吗？</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074920"/>
            <a:ext cx="10515600"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答案：未压缩样本数据量不变。</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32104" y="5660136"/>
            <a:ext cx="1051560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内容变了，但采样率、位数、声道数、时长均未变。</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迁移：把双声道改成单声道，会怎样？</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相同采样率、存储位宽与时长；这里只改变声道数。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hannel-group-0"/>
          <p:cNvSpPr>
            <a:spLocks noGrp="1"/>
          </p:cNvSpPr>
          <p:nvPr/>
        </p:nvSpPr>
        <p:spPr>
          <a:xfrm>
            <a:off x="914400" y="2381250"/>
            <a:ext cx="4000500" cy="45720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双声道</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hannel-label-0-0"/>
          <p:cNvSpPr>
            <a:spLocks noGrp="1"/>
          </p:cNvSpPr>
          <p:nvPr/>
        </p:nvSpPr>
        <p:spPr>
          <a:xfrm>
            <a:off x="914400" y="3190875"/>
            <a:ext cx="6858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L</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channel-sample-0-0-0"/>
          <p:cNvSpPr>
            <a:spLocks noGrp="1"/>
          </p:cNvSpPr>
          <p:nvPr/>
        </p:nvSpPr>
        <p:spPr>
          <a:xfrm>
            <a:off x="1914525" y="3095625"/>
            <a:ext cx="666750" cy="590550"/>
          </a:xfrm>
          <a:prstGeom prst="rect">
            <a:avLst/>
          </a:prstGeom>
          <a:noFill/>
          <a:ln w="14288">
            <a:solidFill>
              <a:srgbClr val="8C64E1"/>
            </a:solidFill>
          </a:ln>
        </p:spPr>
      </p:sp>
      <p:sp>
        <p:nvSpPr>
          <p:cNvPr id="9" name="channel-value-0-0-0"/>
          <p:cNvSpPr>
            <a:spLocks noGrp="1"/>
          </p:cNvSpPr>
          <p:nvPr/>
        </p:nvSpPr>
        <p:spPr>
          <a:xfrm>
            <a:off x="193357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0.2</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channel-sample-0-0-1"/>
          <p:cNvSpPr>
            <a:spLocks noGrp="1"/>
          </p:cNvSpPr>
          <p:nvPr/>
        </p:nvSpPr>
        <p:spPr>
          <a:xfrm>
            <a:off x="2828925" y="3095625"/>
            <a:ext cx="666750" cy="590550"/>
          </a:xfrm>
          <a:prstGeom prst="rect">
            <a:avLst/>
          </a:prstGeom>
          <a:noFill/>
          <a:ln w="14288">
            <a:solidFill>
              <a:srgbClr val="8C64E1"/>
            </a:solidFill>
          </a:ln>
        </p:spPr>
      </p:sp>
      <p:sp>
        <p:nvSpPr>
          <p:cNvPr id="11" name="channel-value-0-0-1"/>
          <p:cNvSpPr>
            <a:spLocks noGrp="1"/>
          </p:cNvSpPr>
          <p:nvPr/>
        </p:nvSpPr>
        <p:spPr>
          <a:xfrm>
            <a:off x="284797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0.3</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channel-sample-0-0-2"/>
          <p:cNvSpPr>
            <a:spLocks noGrp="1"/>
          </p:cNvSpPr>
          <p:nvPr/>
        </p:nvSpPr>
        <p:spPr>
          <a:xfrm>
            <a:off x="3743325" y="3095625"/>
            <a:ext cx="666750" cy="590550"/>
          </a:xfrm>
          <a:prstGeom prst="rect">
            <a:avLst/>
          </a:prstGeom>
          <a:noFill/>
          <a:ln w="14288">
            <a:solidFill>
              <a:srgbClr val="8C64E1"/>
            </a:solidFill>
          </a:ln>
        </p:spPr>
      </p:sp>
      <p:sp>
        <p:nvSpPr>
          <p:cNvPr id="13" name="channel-value-0-0-2"/>
          <p:cNvSpPr>
            <a:spLocks noGrp="1"/>
          </p:cNvSpPr>
          <p:nvPr/>
        </p:nvSpPr>
        <p:spPr>
          <a:xfrm>
            <a:off x="376237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0.4</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4" name="channel-label-0-1"/>
          <p:cNvSpPr>
            <a:spLocks noGrp="1"/>
          </p:cNvSpPr>
          <p:nvPr/>
        </p:nvSpPr>
        <p:spPr>
          <a:xfrm>
            <a:off x="914400" y="4238625"/>
            <a:ext cx="6858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R</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channel-sample-0-1-0"/>
          <p:cNvSpPr>
            <a:spLocks noGrp="1"/>
          </p:cNvSpPr>
          <p:nvPr/>
        </p:nvSpPr>
        <p:spPr>
          <a:xfrm>
            <a:off x="1914525" y="4143375"/>
            <a:ext cx="666750" cy="590550"/>
          </a:xfrm>
          <a:prstGeom prst="rect">
            <a:avLst/>
          </a:prstGeom>
          <a:noFill/>
          <a:ln w="14288">
            <a:solidFill>
              <a:srgbClr val="8C64E1"/>
            </a:solidFill>
          </a:ln>
        </p:spPr>
      </p:sp>
      <p:sp>
        <p:nvSpPr>
          <p:cNvPr id="16" name="channel-value-0-1-0"/>
          <p:cNvSpPr>
            <a:spLocks noGrp="1"/>
          </p:cNvSpPr>
          <p:nvPr/>
        </p:nvSpPr>
        <p:spPr>
          <a:xfrm>
            <a:off x="1933575" y="427672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-0.3</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channel-sample-0-1-1"/>
          <p:cNvSpPr>
            <a:spLocks noGrp="1"/>
          </p:cNvSpPr>
          <p:nvPr/>
        </p:nvSpPr>
        <p:spPr>
          <a:xfrm>
            <a:off x="2828925" y="4143375"/>
            <a:ext cx="666750" cy="590550"/>
          </a:xfrm>
          <a:prstGeom prst="rect">
            <a:avLst/>
          </a:prstGeom>
          <a:noFill/>
          <a:ln w="14288">
            <a:solidFill>
              <a:srgbClr val="8C64E1"/>
            </a:solidFill>
          </a:ln>
        </p:spPr>
      </p:sp>
      <p:sp>
        <p:nvSpPr>
          <p:cNvPr id="18" name="channel-value-0-1-1"/>
          <p:cNvSpPr>
            <a:spLocks noGrp="1"/>
          </p:cNvSpPr>
          <p:nvPr/>
        </p:nvSpPr>
        <p:spPr>
          <a:xfrm>
            <a:off x="2847975" y="427672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-0.1</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channel-sample-0-1-2"/>
          <p:cNvSpPr>
            <a:spLocks noGrp="1"/>
          </p:cNvSpPr>
          <p:nvPr/>
        </p:nvSpPr>
        <p:spPr>
          <a:xfrm>
            <a:off x="3743325" y="4143375"/>
            <a:ext cx="666750" cy="590550"/>
          </a:xfrm>
          <a:prstGeom prst="rect">
            <a:avLst/>
          </a:prstGeom>
          <a:noFill/>
          <a:ln w="14288">
            <a:solidFill>
              <a:srgbClr val="8C64E1"/>
            </a:solidFill>
          </a:ln>
        </p:spPr>
      </p:sp>
      <p:sp>
        <p:nvSpPr>
          <p:cNvPr id="20" name="channel-value-0-1-2"/>
          <p:cNvSpPr>
            <a:spLocks noGrp="1"/>
          </p:cNvSpPr>
          <p:nvPr/>
        </p:nvSpPr>
        <p:spPr>
          <a:xfrm>
            <a:off x="3762375" y="427672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0.1</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1" name="channel-instant-0-0"/>
          <p:cNvSpPr>
            <a:spLocks noGrp="1"/>
          </p:cNvSpPr>
          <p:nvPr/>
        </p:nvSpPr>
        <p:spPr>
          <a:xfrm>
            <a:off x="191452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channel-instant-0-1"/>
          <p:cNvSpPr>
            <a:spLocks noGrp="1"/>
          </p:cNvSpPr>
          <p:nvPr/>
        </p:nvSpPr>
        <p:spPr>
          <a:xfrm>
            <a:off x="282892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3" name="channel-instant-0-2"/>
          <p:cNvSpPr>
            <a:spLocks noGrp="1"/>
          </p:cNvSpPr>
          <p:nvPr/>
        </p:nvSpPr>
        <p:spPr>
          <a:xfrm>
            <a:off x="374332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t2</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channel-group-1"/>
          <p:cNvSpPr>
            <a:spLocks noGrp="1"/>
          </p:cNvSpPr>
          <p:nvPr/>
        </p:nvSpPr>
        <p:spPr>
          <a:xfrm>
            <a:off x="6724650" y="2381250"/>
            <a:ext cx="4000500" cy="45720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单声道</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5" name="channel-label-1-0"/>
          <p:cNvSpPr>
            <a:spLocks noGrp="1"/>
          </p:cNvSpPr>
          <p:nvPr/>
        </p:nvSpPr>
        <p:spPr>
          <a:xfrm>
            <a:off x="6724650" y="3190875"/>
            <a:ext cx="6858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单路</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6" name="channel-sample-1-0-0"/>
          <p:cNvSpPr>
            <a:spLocks noGrp="1"/>
          </p:cNvSpPr>
          <p:nvPr/>
        </p:nvSpPr>
        <p:spPr>
          <a:xfrm>
            <a:off x="7724775" y="3095625"/>
            <a:ext cx="666750" cy="590550"/>
          </a:xfrm>
          <a:prstGeom prst="rect">
            <a:avLst/>
          </a:prstGeom>
          <a:noFill/>
          <a:ln w="14288">
            <a:solidFill>
              <a:srgbClr val="00B0F0"/>
            </a:solidFill>
          </a:ln>
        </p:spPr>
      </p:sp>
      <p:sp>
        <p:nvSpPr>
          <p:cNvPr id="27" name="channel-value-1-0-0"/>
          <p:cNvSpPr>
            <a:spLocks noGrp="1"/>
          </p:cNvSpPr>
          <p:nvPr/>
        </p:nvSpPr>
        <p:spPr>
          <a:xfrm>
            <a:off x="774382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0.2</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8" name="channel-sample-1-0-1"/>
          <p:cNvSpPr>
            <a:spLocks noGrp="1"/>
          </p:cNvSpPr>
          <p:nvPr/>
        </p:nvSpPr>
        <p:spPr>
          <a:xfrm>
            <a:off x="8639175" y="3095625"/>
            <a:ext cx="666750" cy="590550"/>
          </a:xfrm>
          <a:prstGeom prst="rect">
            <a:avLst/>
          </a:prstGeom>
          <a:noFill/>
          <a:ln w="14288">
            <a:solidFill>
              <a:srgbClr val="00B0F0"/>
            </a:solidFill>
          </a:ln>
        </p:spPr>
      </p:sp>
      <p:sp>
        <p:nvSpPr>
          <p:cNvPr id="29" name="channel-value-1-0-1"/>
          <p:cNvSpPr>
            <a:spLocks noGrp="1"/>
          </p:cNvSpPr>
          <p:nvPr/>
        </p:nvSpPr>
        <p:spPr>
          <a:xfrm>
            <a:off x="865822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0.3</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0" name="channel-sample-1-0-2"/>
          <p:cNvSpPr>
            <a:spLocks noGrp="1"/>
          </p:cNvSpPr>
          <p:nvPr/>
        </p:nvSpPr>
        <p:spPr>
          <a:xfrm>
            <a:off x="9553575" y="3095625"/>
            <a:ext cx="666750" cy="590550"/>
          </a:xfrm>
          <a:prstGeom prst="rect">
            <a:avLst/>
          </a:prstGeom>
          <a:noFill/>
          <a:ln w="14288">
            <a:solidFill>
              <a:srgbClr val="00B0F0"/>
            </a:solidFill>
          </a:ln>
        </p:spPr>
      </p:sp>
      <p:sp>
        <p:nvSpPr>
          <p:cNvPr id="31" name="channel-value-1-0-2"/>
          <p:cNvSpPr>
            <a:spLocks noGrp="1"/>
          </p:cNvSpPr>
          <p:nvPr/>
        </p:nvSpPr>
        <p:spPr>
          <a:xfrm>
            <a:off x="9572625" y="3228975"/>
            <a:ext cx="628650" cy="381000"/>
          </a:xfrm>
          <a:prstGeom prst="rect">
            <a:avLst/>
          </a:prstGeom>
          <a:noFill/>
          <a:ln w="0">
            <a:noFill/>
          </a:ln>
        </p:spPr>
        <p:txBody>
          <a:bodyPr wrap="none" lIns="0" tIns="0" rIns="0" bIns="0" anchor="t">
            <a:noAutofit/>
          </a:bodyPr>
          <a:lstStyle>
            <a:defPPr algn="ctr">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0.4</a:t>
            </a:r>
            <a:endParaRPr sz="1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2" name="channel-instant-1-0"/>
          <p:cNvSpPr>
            <a:spLocks noGrp="1"/>
          </p:cNvSpPr>
          <p:nvPr/>
        </p:nvSpPr>
        <p:spPr>
          <a:xfrm>
            <a:off x="772477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3" name="channel-instant-1-1"/>
          <p:cNvSpPr>
            <a:spLocks noGrp="1"/>
          </p:cNvSpPr>
          <p:nvPr/>
        </p:nvSpPr>
        <p:spPr>
          <a:xfrm>
            <a:off x="863917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4" name="channel-instant-1-2"/>
          <p:cNvSpPr>
            <a:spLocks noGrp="1"/>
          </p:cNvSpPr>
          <p:nvPr/>
        </p:nvSpPr>
        <p:spPr>
          <a:xfrm>
            <a:off x="9553575" y="2724150"/>
            <a:ext cx="666750" cy="30480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buNone/>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t2</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5" name="same-instant-stereo"/>
          <p:cNvSpPr>
            <a:spLocks noGrp="1"/>
          </p:cNvSpPr>
          <p:nvPr/>
        </p:nvSpPr>
        <p:spPr>
          <a:xfrm>
            <a:off x="1857375" y="3057525"/>
            <a:ext cx="790575" cy="1714500"/>
          </a:xfrm>
          <a:prstGeom prst="rect">
            <a:avLst/>
          </a:prstGeom>
          <a:noFill/>
          <a:ln w="28575">
            <a:solidFill>
              <a:srgbClr val="FF0000"/>
            </a:solidFill>
          </a:ln>
        </p:spPr>
      </p:sp>
      <p:sp>
        <p:nvSpPr>
          <p:cNvPr id="36" name="two-samples"/>
          <p:cNvSpPr>
            <a:spLocks noGrp="1"/>
          </p:cNvSpPr>
          <p:nvPr/>
        </p:nvSpPr>
        <p:spPr>
          <a:xfrm>
            <a:off x="914400" y="5162550"/>
            <a:ext cx="4000500" cy="419100"/>
          </a:xfrm>
          <a:prstGeom prst="rect">
            <a:avLst/>
          </a:prstGeom>
          <a:noFill/>
          <a:ln w="0">
            <a:noFill/>
          </a:ln>
        </p:spPr>
        <p:txBody>
          <a:bodyPr wrap="non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同一时刻：2个样本</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7" name="one-sample"/>
          <p:cNvSpPr>
            <a:spLocks noGrp="1"/>
          </p:cNvSpPr>
          <p:nvPr/>
        </p:nvSpPr>
        <p:spPr>
          <a:xfrm>
            <a:off x="6724650" y="5162550"/>
            <a:ext cx="4857750" cy="41910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同一时刻：1个样本</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8" name="text"/>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其他条件相同：单声道的PCM样本数据量为原来一半。</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39" name="Rectangle 38"/>
          <p:cNvSpPr/>
          <p:nvPr/>
        </p:nvSpPr>
        <p:spPr>
          <a:xfrm>
            <a:off x="731520" y="4928616"/>
            <a:ext cx="5065776" cy="59436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96112" y="5010912"/>
            <a:ext cx="4663440" cy="402336"/>
          </a:xfrm>
          <a:prstGeom prst="rect">
            <a:avLst/>
          </a:prstGeom>
          <a:noFill/>
        </p:spPr>
        <p:txBody>
          <a:bodyPr wrap="square" lIns="0" tIns="0" rIns="0" bIns="0" anchor="ctr">
            <a:spAutoFit/>
          </a:bodyPr>
          <a:lstStyle/>
          <a:p>
            <a:pPr>
              <a:spcAft>
                <a:spcPts val="200"/>
              </a:spcAft>
              <a:defRPr sz="1900" b="1">
                <a:solidFill>
                  <a:srgbClr val="8C64E1"/>
                </a:solidFill>
                <a:latin typeface="Alibaba PuHuiTi 3.0 115 Black" panose="00020600040101010101" charset="-122"/>
              </a:defRPr>
            </a:pPr>
            <a:r>
              <a:t>双声道：每时刻2个样本</a:t>
            </a:r>
          </a:p>
        </p:txBody>
      </p:sp>
      <p:sp>
        <p:nvSpPr>
          <p:cNvPr id="41" name="Rectangle 40"/>
          <p:cNvSpPr/>
          <p:nvPr/>
        </p:nvSpPr>
        <p:spPr>
          <a:xfrm>
            <a:off x="6108192" y="4928616"/>
            <a:ext cx="5065776" cy="594360"/>
          </a:xfrm>
          <a:prstGeom prst="rect">
            <a:avLst/>
          </a:prstGeom>
          <a:solidFill>
            <a:srgbClr val="F1FAFF"/>
          </a:solidFill>
          <a:ln w="12700">
            <a:solidFill>
              <a:srgbClr val="00B0F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272784" y="5010912"/>
            <a:ext cx="4663440" cy="402336"/>
          </a:xfrm>
          <a:prstGeom prst="rect">
            <a:avLst/>
          </a:prstGeom>
          <a:noFill/>
        </p:spPr>
        <p:txBody>
          <a:bodyPr wrap="square" lIns="0" tIns="0" rIns="0" bIns="0" anchor="ctr">
            <a:spAutoFit/>
          </a:bodyPr>
          <a:lstStyle/>
          <a:p>
            <a:pPr>
              <a:spcAft>
                <a:spcPts val="200"/>
              </a:spcAft>
              <a:defRPr sz="1900" b="1">
                <a:solidFill>
                  <a:srgbClr val="007C9B"/>
                </a:solidFill>
                <a:latin typeface="Alibaba PuHuiTi 3.0 115 Black" panose="00020600040101010101" charset="-122"/>
              </a:defRPr>
            </a:pPr>
            <a:r>
              <a:t>单声道：每时刻1个样本</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图像采样与声音采样，哪里相同？</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42950" y="2371725"/>
            <a:ext cx="2095500" cy="49530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取样位置</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3152775" y="23717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二维：行×列的像素</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7400925" y="23717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一维：时间点</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Connector 7"/>
          <p:cNvSpPr>
            <a:spLocks noGrp="1"/>
          </p:cNvSpPr>
          <p:nvPr/>
        </p:nvSpPr>
        <p:spPr>
          <a:xfrm>
            <a:off x="822960" y="3038475"/>
            <a:ext cx="10341864" cy="0"/>
          </a:xfrm>
          <a:prstGeom prst="line">
            <a:avLst/>
          </a:prstGeom>
          <a:ln w="15240">
            <a:solidFill>
              <a:srgbClr val="E2E2E7"/>
            </a:solidFill>
          </a:ln>
        </p:spPr>
        <p:style>
          <a:lnRef idx="2">
            <a:schemeClr val="accent1"/>
          </a:lnRef>
          <a:fillRef idx="0">
            <a:schemeClr val="accent1"/>
          </a:fillRef>
          <a:effectRef idx="0">
            <a:srgbClr val="FFFFFF"/>
          </a:effectRef>
          <a:fontRef idx="minor">
            <a:schemeClr val="tx1"/>
          </a:fontRef>
        </p:style>
      </p:sp>
      <p:sp>
        <p:nvSpPr>
          <p:cNvPr id="9" name="TextBox 8"/>
          <p:cNvSpPr>
            <a:spLocks noGrp="1"/>
          </p:cNvSpPr>
          <p:nvPr/>
        </p:nvSpPr>
        <p:spPr>
          <a:xfrm>
            <a:off x="742950" y="3476625"/>
            <a:ext cx="2095500" cy="49530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描述的量</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3152775" y="34766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像素的颜色信息</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7400925" y="34766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声音信号振幅</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Connector 11"/>
          <p:cNvSpPr>
            <a:spLocks noGrp="1"/>
          </p:cNvSpPr>
          <p:nvPr/>
        </p:nvSpPr>
        <p:spPr>
          <a:xfrm>
            <a:off x="822960" y="4143375"/>
            <a:ext cx="10341864" cy="0"/>
          </a:xfrm>
          <a:prstGeom prst="line">
            <a:avLst/>
          </a:prstGeom>
          <a:ln w="15240">
            <a:solidFill>
              <a:srgbClr val="E2E2E7"/>
            </a:solidFill>
          </a:ln>
        </p:spPr>
        <p:style>
          <a:lnRef idx="2">
            <a:schemeClr val="accent1"/>
          </a:lnRef>
          <a:fillRef idx="0">
            <a:schemeClr val="accent1"/>
          </a:fillRef>
          <a:effectRef idx="0">
            <a:srgbClr val="FFFFFF"/>
          </a:effectRef>
          <a:fontRef idx="minor">
            <a:schemeClr val="tx1"/>
          </a:fontRef>
        </p:style>
      </p:sp>
      <p:sp>
        <p:nvSpPr>
          <p:cNvPr id="13" name="TextBox 12"/>
          <p:cNvSpPr>
            <a:spLocks noGrp="1"/>
          </p:cNvSpPr>
          <p:nvPr/>
        </p:nvSpPr>
        <p:spPr>
          <a:xfrm>
            <a:off x="742950" y="4581525"/>
            <a:ext cx="2095500" cy="49530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数据量</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extBox 13"/>
          <p:cNvSpPr>
            <a:spLocks noGrp="1"/>
          </p:cNvSpPr>
          <p:nvPr/>
        </p:nvSpPr>
        <p:spPr>
          <a:xfrm>
            <a:off x="3152775" y="45815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像素数×每像素位数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extBox 14"/>
          <p:cNvSpPr>
            <a:spLocks noGrp="1"/>
          </p:cNvSpPr>
          <p:nvPr/>
        </p:nvSpPr>
        <p:spPr>
          <a:xfrm>
            <a:off x="7400925" y="4581525"/>
            <a:ext cx="4095750" cy="49530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样本数×每样本位数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6" name="TextBox 15"/>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这两种编码都有“选择样本”和“用有限数字表达样本”的过程。</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image-column-heading"/>
          <p:cNvSpPr>
            <a:spLocks noGrp="1"/>
          </p:cNvSpPr>
          <p:nvPr/>
        </p:nvSpPr>
        <p:spPr>
          <a:xfrm>
            <a:off x="3152775" y="1581150"/>
            <a:ext cx="3905250" cy="419100"/>
          </a:xfrm>
          <a:prstGeom prst="rect">
            <a:avLst/>
          </a:prstGeom>
          <a:noFill/>
          <a:ln w="0">
            <a:noFill/>
          </a:ln>
        </p:spPr>
        <p:txBody>
          <a:bodyPr wrap="non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图像：空间采样</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audio-column-heading"/>
          <p:cNvSpPr>
            <a:spLocks noGrp="1"/>
          </p:cNvSpPr>
          <p:nvPr/>
        </p:nvSpPr>
        <p:spPr>
          <a:xfrm>
            <a:off x="7400925" y="1581150"/>
            <a:ext cx="4181475" cy="419100"/>
          </a:xfrm>
          <a:prstGeom prst="rect">
            <a:avLst/>
          </a:prstGeom>
          <a:noFill/>
          <a:ln w="0">
            <a:noFill/>
          </a:ln>
        </p:spPr>
        <p:txBody>
          <a:bodyPr wrap="none" lIns="0" tIns="0" rIns="0" bIns="0" anchor="t">
            <a:noAutofit/>
          </a:bodyPr>
          <a:lstStyle>
            <a:defPPr algn="l">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声音：时间采样</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连续的图片，怎样让我们看到运动？</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609600" y="2084831"/>
            <a:ext cx="2009604" cy="2027389"/>
          </a:xfrm>
          <a:prstGeom prst="rect">
            <a:avLst/>
          </a:prstGeom>
          <a:noFill/>
          <a:ln w="19050">
            <a:solidFill>
              <a:srgbClr val="E2E2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Oval 5"/>
          <p:cNvSpPr>
            <a:spLocks noGrp="1"/>
          </p:cNvSpPr>
          <p:nvPr/>
        </p:nvSpPr>
        <p:spPr>
          <a:xfrm>
            <a:off x="787441" y="2867333"/>
            <a:ext cx="471279" cy="47127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TextBox 6"/>
          <p:cNvSpPr>
            <a:spLocks noGrp="1"/>
          </p:cNvSpPr>
          <p:nvPr/>
        </p:nvSpPr>
        <p:spPr>
          <a:xfrm>
            <a:off x="609600" y="4352544"/>
            <a:ext cx="2009604" cy="335280"/>
          </a:xfrm>
          <a:prstGeom prst="rect">
            <a:avLst/>
          </a:prstGeom>
          <a:noFill/>
        </p:spPr>
        <p:txBody>
          <a:bodyPr wrap="square" lIns="0" tIns="0" rIns="0" bIns="0" anchor="t">
            <a:noAutofit/>
          </a:bodyPr>
          <a:lstStyle>
            <a:defPPr algn="ctr">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第1帧</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Rectangle 7"/>
          <p:cNvSpPr>
            <a:spLocks noGrp="1"/>
          </p:cNvSpPr>
          <p:nvPr/>
        </p:nvSpPr>
        <p:spPr>
          <a:xfrm>
            <a:off x="2850399" y="2084831"/>
            <a:ext cx="2009604" cy="2027389"/>
          </a:xfrm>
          <a:prstGeom prst="rect">
            <a:avLst/>
          </a:prstGeom>
          <a:noFill/>
          <a:ln w="19050">
            <a:solidFill>
              <a:srgbClr val="E2E2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Oval 8"/>
          <p:cNvSpPr>
            <a:spLocks noGrp="1"/>
          </p:cNvSpPr>
          <p:nvPr/>
        </p:nvSpPr>
        <p:spPr>
          <a:xfrm>
            <a:off x="3277218" y="2867333"/>
            <a:ext cx="471279" cy="47127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TextBox 9"/>
          <p:cNvSpPr>
            <a:spLocks noGrp="1"/>
          </p:cNvSpPr>
          <p:nvPr/>
        </p:nvSpPr>
        <p:spPr>
          <a:xfrm>
            <a:off x="2850399" y="4352544"/>
            <a:ext cx="2009604" cy="335280"/>
          </a:xfrm>
          <a:prstGeom prst="rect">
            <a:avLst/>
          </a:prstGeom>
          <a:noFill/>
        </p:spPr>
        <p:txBody>
          <a:bodyPr wrap="square" lIns="0" tIns="0" rIns="0" bIns="0" anchor="t">
            <a:noAutofit/>
          </a:bodyPr>
          <a:lstStyle>
            <a:defPPr algn="ctr">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第2帧</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Rectangle 10"/>
          <p:cNvSpPr>
            <a:spLocks noGrp="1"/>
          </p:cNvSpPr>
          <p:nvPr/>
        </p:nvSpPr>
        <p:spPr>
          <a:xfrm>
            <a:off x="5091198" y="2084831"/>
            <a:ext cx="2009604" cy="2027389"/>
          </a:xfrm>
          <a:prstGeom prst="rect">
            <a:avLst/>
          </a:prstGeom>
          <a:noFill/>
          <a:ln w="19050">
            <a:solidFill>
              <a:srgbClr val="E2E2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Oval 11"/>
          <p:cNvSpPr>
            <a:spLocks noGrp="1"/>
          </p:cNvSpPr>
          <p:nvPr/>
        </p:nvSpPr>
        <p:spPr>
          <a:xfrm>
            <a:off x="5766994" y="2867333"/>
            <a:ext cx="471279" cy="47127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 name="TextBox 12"/>
          <p:cNvSpPr>
            <a:spLocks noGrp="1"/>
          </p:cNvSpPr>
          <p:nvPr/>
        </p:nvSpPr>
        <p:spPr>
          <a:xfrm>
            <a:off x="5091198" y="4352544"/>
            <a:ext cx="2009604" cy="335280"/>
          </a:xfrm>
          <a:prstGeom prst="rect">
            <a:avLst/>
          </a:prstGeom>
          <a:noFill/>
        </p:spPr>
        <p:txBody>
          <a:bodyPr wrap="square" lIns="0" tIns="0" rIns="0" bIns="0" anchor="t">
            <a:noAutofit/>
          </a:bodyPr>
          <a:lstStyle>
            <a:defPPr algn="ctr">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第3帧</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4" name="Rectangle 13"/>
          <p:cNvSpPr>
            <a:spLocks noGrp="1"/>
          </p:cNvSpPr>
          <p:nvPr/>
        </p:nvSpPr>
        <p:spPr>
          <a:xfrm>
            <a:off x="7331997" y="2084831"/>
            <a:ext cx="2009604" cy="2027389"/>
          </a:xfrm>
          <a:prstGeom prst="rect">
            <a:avLst/>
          </a:prstGeom>
          <a:noFill/>
          <a:ln w="19050">
            <a:solidFill>
              <a:srgbClr val="E2E2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Oval 14"/>
          <p:cNvSpPr>
            <a:spLocks noGrp="1"/>
          </p:cNvSpPr>
          <p:nvPr/>
        </p:nvSpPr>
        <p:spPr>
          <a:xfrm>
            <a:off x="8256771" y="2867333"/>
            <a:ext cx="471279" cy="47127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 name="TextBox 15"/>
          <p:cNvSpPr>
            <a:spLocks noGrp="1"/>
          </p:cNvSpPr>
          <p:nvPr/>
        </p:nvSpPr>
        <p:spPr>
          <a:xfrm>
            <a:off x="7331997" y="4352544"/>
            <a:ext cx="2009604" cy="335280"/>
          </a:xfrm>
          <a:prstGeom prst="rect">
            <a:avLst/>
          </a:prstGeom>
          <a:noFill/>
        </p:spPr>
        <p:txBody>
          <a:bodyPr wrap="square" lIns="0" tIns="0" rIns="0" bIns="0" anchor="t">
            <a:noAutofit/>
          </a:bodyPr>
          <a:lstStyle>
            <a:defPPr algn="ctr">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第4帧</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Rectangle 16"/>
          <p:cNvSpPr>
            <a:spLocks noGrp="1"/>
          </p:cNvSpPr>
          <p:nvPr/>
        </p:nvSpPr>
        <p:spPr>
          <a:xfrm>
            <a:off x="9572796" y="2084831"/>
            <a:ext cx="2009604" cy="2027389"/>
          </a:xfrm>
          <a:prstGeom prst="rect">
            <a:avLst/>
          </a:prstGeom>
          <a:noFill/>
          <a:ln w="19050">
            <a:solidFill>
              <a:srgbClr val="E2E2E7"/>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8" name="Oval 17"/>
          <p:cNvSpPr>
            <a:spLocks noGrp="1"/>
          </p:cNvSpPr>
          <p:nvPr/>
        </p:nvSpPr>
        <p:spPr>
          <a:xfrm>
            <a:off x="10746547" y="2867333"/>
            <a:ext cx="471279" cy="471279"/>
          </a:xfrm>
          <a:prstGeom prst="ellipse">
            <a:avLst/>
          </a:prstGeom>
          <a:solidFill>
            <a:srgbClr val="00B0F0"/>
          </a:solidFill>
          <a:ln w="127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TextBox 18"/>
          <p:cNvSpPr>
            <a:spLocks noGrp="1"/>
          </p:cNvSpPr>
          <p:nvPr/>
        </p:nvSpPr>
        <p:spPr>
          <a:xfrm>
            <a:off x="9572796" y="4352544"/>
            <a:ext cx="2009604" cy="335280"/>
          </a:xfrm>
          <a:prstGeom prst="rect">
            <a:avLst/>
          </a:prstGeom>
          <a:noFill/>
        </p:spPr>
        <p:txBody>
          <a:bodyPr wrap="square" lIns="0" tIns="0" rIns="0" bIns="0" anchor="t">
            <a:noAutofit/>
          </a:bodyPr>
          <a:lstStyle>
            <a:defPPr algn="ctr">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第5帧</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0" name="TextBox 1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帧率25 fps：每秒显示25张画面。</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1" name="TextBox 20"/>
          <p:cNvSpPr>
            <a:spLocks noGrp="1"/>
          </p:cNvSpPr>
          <p:nvPr/>
        </p:nvSpPr>
        <p:spPr>
          <a:xfrm>
            <a:off x="2130142" y="5056632"/>
            <a:ext cx="7602711"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球在画面中的位置逐帧变化</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2" name="Rectangle 21"/>
          <p:cNvSpPr/>
          <p:nvPr/>
        </p:nvSpPr>
        <p:spPr>
          <a:xfrm>
            <a:off x="594360" y="1837943"/>
            <a:ext cx="10936224" cy="3648456"/>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70408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841248"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4169663"/>
            <a:ext cx="2011680" cy="411480"/>
          </a:xfrm>
          <a:prstGeom prst="rect">
            <a:avLst/>
          </a:prstGeom>
          <a:noFill/>
        </p:spPr>
        <p:txBody>
          <a:bodyPr wrap="square" lIns="0" tIns="0" rIns="0" bIns="0" anchor="ctr">
            <a:spAutoFit/>
          </a:bodyPr>
          <a:lstStyle/>
          <a:p>
            <a:pPr algn="ctr">
              <a:spcAft>
                <a:spcPts val="200"/>
              </a:spcAft>
              <a:defRPr sz="1700" b="0">
                <a:solidFill>
                  <a:srgbClr val="7D7D7D"/>
                </a:solidFill>
                <a:latin typeface="Alibaba PuHuiTi 3.0 55 Regular" panose="00020600040101010101" charset="-122"/>
              </a:defRPr>
            </a:pPr>
            <a:r>
              <a:t>第1帧</a:t>
            </a:r>
          </a:p>
        </p:txBody>
      </p:sp>
      <p:sp>
        <p:nvSpPr>
          <p:cNvPr id="26" name="Rectangle 25"/>
          <p:cNvSpPr/>
          <p:nvPr/>
        </p:nvSpPr>
        <p:spPr>
          <a:xfrm>
            <a:off x="294436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3392424"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44368" y="4169663"/>
            <a:ext cx="2011680" cy="411480"/>
          </a:xfrm>
          <a:prstGeom prst="rect">
            <a:avLst/>
          </a:prstGeom>
          <a:noFill/>
        </p:spPr>
        <p:txBody>
          <a:bodyPr wrap="square" lIns="0" tIns="0" rIns="0" bIns="0" anchor="ctr">
            <a:spAutoFit/>
          </a:bodyPr>
          <a:lstStyle/>
          <a:p>
            <a:pPr algn="ctr">
              <a:spcAft>
                <a:spcPts val="200"/>
              </a:spcAft>
              <a:defRPr sz="1700" b="0">
                <a:solidFill>
                  <a:srgbClr val="7D7D7D"/>
                </a:solidFill>
                <a:latin typeface="Alibaba PuHuiTi 3.0 55 Regular" panose="00020600040101010101" charset="-122"/>
              </a:defRPr>
            </a:pPr>
            <a:r>
              <a:t>第2帧</a:t>
            </a:r>
          </a:p>
        </p:txBody>
      </p:sp>
      <p:sp>
        <p:nvSpPr>
          <p:cNvPr id="29" name="Rectangle 28"/>
          <p:cNvSpPr/>
          <p:nvPr/>
        </p:nvSpPr>
        <p:spPr>
          <a:xfrm>
            <a:off x="518464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val 29"/>
          <p:cNvSpPr/>
          <p:nvPr/>
        </p:nvSpPr>
        <p:spPr>
          <a:xfrm>
            <a:off x="5943599"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4648" y="4169663"/>
            <a:ext cx="2011680" cy="411480"/>
          </a:xfrm>
          <a:prstGeom prst="rect">
            <a:avLst/>
          </a:prstGeom>
          <a:noFill/>
        </p:spPr>
        <p:txBody>
          <a:bodyPr wrap="square" lIns="0" tIns="0" rIns="0" bIns="0" anchor="ctr">
            <a:spAutoFit/>
          </a:bodyPr>
          <a:lstStyle/>
          <a:p>
            <a:pPr algn="ctr">
              <a:spcAft>
                <a:spcPts val="200"/>
              </a:spcAft>
              <a:defRPr sz="1700" b="0">
                <a:solidFill>
                  <a:srgbClr val="7D7D7D"/>
                </a:solidFill>
                <a:latin typeface="Alibaba PuHuiTi 3.0 55 Regular" panose="00020600040101010101" charset="-122"/>
              </a:defRPr>
            </a:pPr>
            <a:r>
              <a:t>第3帧</a:t>
            </a:r>
          </a:p>
        </p:txBody>
      </p:sp>
      <p:sp>
        <p:nvSpPr>
          <p:cNvPr id="32" name="Rectangle 31"/>
          <p:cNvSpPr/>
          <p:nvPr/>
        </p:nvSpPr>
        <p:spPr>
          <a:xfrm>
            <a:off x="742492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8494776"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24928" y="4169663"/>
            <a:ext cx="2011680" cy="411480"/>
          </a:xfrm>
          <a:prstGeom prst="rect">
            <a:avLst/>
          </a:prstGeom>
          <a:noFill/>
        </p:spPr>
        <p:txBody>
          <a:bodyPr wrap="square" lIns="0" tIns="0" rIns="0" bIns="0" anchor="ctr">
            <a:spAutoFit/>
          </a:bodyPr>
          <a:lstStyle/>
          <a:p>
            <a:pPr algn="ctr">
              <a:spcAft>
                <a:spcPts val="200"/>
              </a:spcAft>
              <a:defRPr sz="1700" b="0">
                <a:solidFill>
                  <a:srgbClr val="7D7D7D"/>
                </a:solidFill>
                <a:latin typeface="Alibaba PuHuiTi 3.0 55 Regular" panose="00020600040101010101" charset="-122"/>
              </a:defRPr>
            </a:pPr>
            <a:r>
              <a:t>第4帧</a:t>
            </a:r>
          </a:p>
        </p:txBody>
      </p:sp>
      <p:sp>
        <p:nvSpPr>
          <p:cNvPr id="35" name="Rectangle 34"/>
          <p:cNvSpPr/>
          <p:nvPr/>
        </p:nvSpPr>
        <p:spPr>
          <a:xfrm>
            <a:off x="9665208" y="2139696"/>
            <a:ext cx="2011680" cy="1984248"/>
          </a:xfrm>
          <a:prstGeom prst="rect">
            <a:avLst/>
          </a:prstGeom>
          <a:solidFill>
            <a:srgbClr val="E6E6EC"/>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Oval 35"/>
          <p:cNvSpPr/>
          <p:nvPr/>
        </p:nvSpPr>
        <p:spPr>
          <a:xfrm>
            <a:off x="11045952" y="2971800"/>
            <a:ext cx="292608" cy="292608"/>
          </a:xfrm>
          <a:prstGeom prst="ellipse">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65208" y="4169663"/>
            <a:ext cx="2011680" cy="411480"/>
          </a:xfrm>
          <a:prstGeom prst="rect">
            <a:avLst/>
          </a:prstGeom>
          <a:noFill/>
        </p:spPr>
        <p:txBody>
          <a:bodyPr wrap="square" lIns="0" tIns="0" rIns="0" bIns="0" anchor="ctr">
            <a:spAutoFit/>
          </a:bodyPr>
          <a:lstStyle/>
          <a:p>
            <a:pPr algn="ctr">
              <a:spcAft>
                <a:spcPts val="200"/>
              </a:spcAft>
              <a:defRPr sz="1700" b="0">
                <a:solidFill>
                  <a:srgbClr val="7D7D7D"/>
                </a:solidFill>
                <a:latin typeface="Alibaba PuHuiTi 3.0 55 Regular" panose="00020600040101010101" charset="-122"/>
              </a:defRPr>
            </a:pPr>
            <a:r>
              <a:t>第5帧</a:t>
            </a:r>
          </a:p>
        </p:txBody>
      </p:sp>
      <p:sp>
        <p:nvSpPr>
          <p:cNvPr id="38" name="TextBox 37"/>
          <p:cNvSpPr txBox="1"/>
          <p:nvPr/>
        </p:nvSpPr>
        <p:spPr>
          <a:xfrm>
            <a:off x="1170432" y="4773168"/>
            <a:ext cx="9875520" cy="512064"/>
          </a:xfrm>
          <a:prstGeom prst="rect">
            <a:avLst/>
          </a:prstGeom>
          <a:noFill/>
        </p:spPr>
        <p:txBody>
          <a:bodyPr wrap="square" lIns="0" tIns="0" rIns="0" bIns="0" anchor="ctr">
            <a:spAutoFit/>
          </a:bodyPr>
          <a:lstStyle/>
          <a:p>
            <a:pPr algn="ctr">
              <a:spcAft>
                <a:spcPts val="200"/>
              </a:spcAft>
              <a:defRPr sz="2300" b="1">
                <a:solidFill>
                  <a:srgbClr val="8C64E1"/>
                </a:solidFill>
                <a:latin typeface="Alibaba PuHuiTi 3.0 115 Black" panose="00020600040101010101" charset="-122"/>
              </a:defRPr>
            </a:pPr>
            <a:r>
              <a:t>同一个球，位置随着时间由左向右变化。</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10分钟、25fps，要保存多少帧？</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68096" y="2048256"/>
            <a:ext cx="10789920" cy="411480"/>
          </a:xfrm>
          <a:prstGeom prst="rect">
            <a:avLst/>
          </a:prstGeom>
          <a:noFill/>
        </p:spPr>
        <p:txBody>
          <a:bodyPr wrap="square" lIns="0" tIns="0" rIns="0" bIns="0" anchor="t">
            <a:noAutofit/>
          </a:bodyPr>
          <a:lstStyle>
            <a:defPPr algn="l">
              <a:def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25帧/秒 × 60秒/分钟 × 10分钟</a:t>
            </a:r>
            <a:endParaRPr sz="27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41248" y="3264408"/>
            <a:ext cx="10515600" cy="640080"/>
          </a:xfrm>
          <a:prstGeom prst="rect">
            <a:avLst/>
          </a:prstGeom>
          <a:noFill/>
        </p:spPr>
        <p:txBody>
          <a:bodyPr wrap="square" lIns="0" tIns="0" rIns="0" bIns="0" anchor="t">
            <a:noAutofit/>
          </a:bodyPr>
          <a:lstStyle>
            <a:defPPr algn="l">
              <a:defRPr sz="4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4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4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 15,000 帧</a:t>
            </a:r>
            <a:endParaRPr sz="4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777240" y="4910328"/>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无压缩视频 = 单帧图像数据量 × 总帧数。</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4</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10分钟的无声视频：480×320像素，24 bit/像素，</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帧率25 fps。假设逐帧未压缩存储，</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总数据量约多少GiB？</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先独立作答，再说明依据。</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4</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10分钟的无声视频：480×320像素，24 bit/像素，</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帧率25 fps。假设逐帧未压缩存储，</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总数据量约多少GiB？</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calculation-step-0"/>
          <p:cNvSpPr>
            <a:spLocks noGrp="1"/>
          </p:cNvSpPr>
          <p:nvPr/>
        </p:nvSpPr>
        <p:spPr>
          <a:xfrm>
            <a:off x="819150" y="35147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单帧：480 × 320 × 24 ÷ 8＝460,800 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calculation-step-1"/>
          <p:cNvSpPr>
            <a:spLocks noGrp="1"/>
          </p:cNvSpPr>
          <p:nvPr/>
        </p:nvSpPr>
        <p:spPr>
          <a:xfrm>
            <a:off x="819150" y="399097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帧数：25 × 10 × 60＝15,000 帧</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calculation-step-2"/>
          <p:cNvSpPr>
            <a:spLocks noGrp="1"/>
          </p:cNvSpPr>
          <p:nvPr/>
        </p:nvSpPr>
        <p:spPr>
          <a:xfrm>
            <a:off x="819150" y="446722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总量：460,800 × 15,000＝6,912,000,000 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calculation-step-3"/>
          <p:cNvSpPr>
            <a:spLocks noGrp="1"/>
          </p:cNvSpPr>
          <p:nvPr/>
        </p:nvSpPr>
        <p:spPr>
          <a:xfrm>
            <a:off x="819150" y="4943475"/>
            <a:ext cx="106680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换算：6,912,000,000 ÷ 1024³ ≈ 6.44 GiB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practice-answer"/>
          <p:cNvSpPr>
            <a:spLocks noGrp="1"/>
          </p:cNvSpPr>
          <p:nvPr/>
        </p:nvSpPr>
        <p:spPr>
          <a:xfrm>
            <a:off x="819150" y="5657850"/>
            <a:ext cx="10668000" cy="457200"/>
          </a:xfrm>
          <a:prstGeom prst="rect">
            <a:avLst/>
          </a:prstGeom>
          <a:noFill/>
          <a:ln w="0">
            <a:noFill/>
          </a:ln>
        </p:spPr>
        <p:txBody>
          <a:bodyPr wrap="non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答案：约6.44 GiB</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视频文件为什么可能小于6.44 GiB？</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04672" y="1892807"/>
            <a:ext cx="10789920" cy="518160"/>
          </a:xfrm>
          <a:prstGeom prst="rect">
            <a:avLst/>
          </a:prstGeom>
          <a:noFill/>
        </p:spPr>
        <p:txBody>
          <a:bodyPr wrap="square" lIns="0" tIns="0" rIns="0" bIns="0" anchor="t">
            <a:noAutofit/>
          </a:bodyPr>
          <a:lstStyle>
            <a:defPPr algn="l">
              <a:defRPr sz="3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刚才的计算错了吗？</a:t>
            </a:r>
            <a:endParaRPr sz="3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22960" y="3300984"/>
            <a:ext cx="10698480" cy="426720"/>
          </a:xfrm>
          <a:prstGeom prst="rect">
            <a:avLst/>
          </a:prstGeom>
          <a:noFill/>
        </p:spPr>
        <p:txBody>
          <a:bodyPr wrap="square" lIns="0" tIns="0" rIns="0" bIns="0" anchor="t">
            <a:noAutofit/>
          </a:bodyPr>
          <a:lstStyle>
            <a:defPPr algn="l">
              <a:defRPr sz="2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如果公式没错，实际文件为什么可能小得多？</a:t>
            </a:r>
            <a:endParaRPr sz="28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TextBox 6"/>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请提出至少一种可以检验的解释。</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Rectangle 7"/>
          <p:cNvSpPr/>
          <p:nvPr/>
        </p:nvSpPr>
        <p:spPr>
          <a:xfrm>
            <a:off x="1005840" y="4187952"/>
            <a:ext cx="4718304" cy="1005840"/>
          </a:xfrm>
          <a:prstGeom prst="rect">
            <a:avLst/>
          </a:prstGeom>
          <a:solidFill>
            <a:srgbClr val="F6F3FF"/>
          </a:solidFill>
          <a:ln w="12700">
            <a:solidFill>
              <a:srgbClr val="8C64E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188720" y="4315968"/>
            <a:ext cx="4297680" cy="338328"/>
          </a:xfrm>
          <a:prstGeom prst="rect">
            <a:avLst/>
          </a:prstGeom>
          <a:noFill/>
        </p:spPr>
        <p:txBody>
          <a:bodyPr wrap="square" lIns="0" tIns="0" rIns="0" bIns="0" anchor="ctr">
            <a:spAutoFit/>
          </a:bodyPr>
          <a:lstStyle/>
          <a:p>
            <a:pPr algn="ctr">
              <a:spcAft>
                <a:spcPts val="200"/>
              </a:spcAft>
              <a:defRPr sz="1900" b="1">
                <a:solidFill>
                  <a:srgbClr val="8C64E1"/>
                </a:solidFill>
                <a:latin typeface="Alibaba PuHuiTi 3.0 115 Black" panose="00020600040101010101" charset="-122"/>
              </a:defRPr>
            </a:pPr>
            <a:r>
              <a:t>逐帧未压缩估算</a:t>
            </a:r>
          </a:p>
        </p:txBody>
      </p:sp>
      <p:sp>
        <p:nvSpPr>
          <p:cNvPr id="10" name="TextBox 9"/>
          <p:cNvSpPr txBox="1"/>
          <p:nvPr/>
        </p:nvSpPr>
        <p:spPr>
          <a:xfrm>
            <a:off x="1197864" y="4663440"/>
            <a:ext cx="4297680" cy="365760"/>
          </a:xfrm>
          <a:prstGeom prst="rect">
            <a:avLst/>
          </a:prstGeom>
          <a:noFill/>
        </p:spPr>
        <p:txBody>
          <a:bodyPr wrap="square" lIns="0" tIns="0" rIns="0" bIns="0" anchor="ctr">
            <a:spAutoFit/>
          </a:bodyPr>
          <a:lstStyle/>
          <a:p>
            <a:pPr algn="ctr">
              <a:spcAft>
                <a:spcPts val="200"/>
              </a:spcAft>
              <a:defRPr sz="2200" b="1">
                <a:solidFill>
                  <a:srgbClr val="262626"/>
                </a:solidFill>
                <a:latin typeface="Alibaba PuHuiTi 3.0 115 Black" panose="00020600040101010101" charset="-122"/>
              </a:defRPr>
            </a:pPr>
            <a:r>
              <a:t>约 6.44 GiB</a:t>
            </a:r>
          </a:p>
        </p:txBody>
      </p:sp>
      <p:sp>
        <p:nvSpPr>
          <p:cNvPr id="11" name="Rectangle 10"/>
          <p:cNvSpPr/>
          <p:nvPr/>
        </p:nvSpPr>
        <p:spPr>
          <a:xfrm>
            <a:off x="6510528" y="4187952"/>
            <a:ext cx="4672584" cy="1005840"/>
          </a:xfrm>
          <a:prstGeom prst="rect">
            <a:avLst/>
          </a:prstGeom>
          <a:solidFill>
            <a:srgbClr val="F1FAFF"/>
          </a:solidFill>
          <a:ln w="12700">
            <a:solidFill>
              <a:srgbClr val="007C9B"/>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47688" y="4315968"/>
            <a:ext cx="4334256" cy="338328"/>
          </a:xfrm>
          <a:prstGeom prst="rect">
            <a:avLst/>
          </a:prstGeom>
          <a:noFill/>
        </p:spPr>
        <p:txBody>
          <a:bodyPr wrap="square" lIns="0" tIns="0" rIns="0" bIns="0" anchor="ctr">
            <a:spAutoFit/>
          </a:bodyPr>
          <a:lstStyle/>
          <a:p>
            <a:pPr algn="ctr">
              <a:spcAft>
                <a:spcPts val="200"/>
              </a:spcAft>
              <a:defRPr sz="1900" b="1">
                <a:solidFill>
                  <a:srgbClr val="007C9B"/>
                </a:solidFill>
                <a:latin typeface="Alibaba PuHuiTi 3.0 115 Black" panose="00020600040101010101" charset="-122"/>
              </a:defRPr>
            </a:pPr>
            <a:r>
              <a:t>实际压缩文件</a:t>
            </a:r>
          </a:p>
        </p:txBody>
      </p:sp>
      <p:sp>
        <p:nvSpPr>
          <p:cNvPr id="13" name="TextBox 12"/>
          <p:cNvSpPr txBox="1"/>
          <p:nvPr/>
        </p:nvSpPr>
        <p:spPr>
          <a:xfrm>
            <a:off x="6647688" y="4663440"/>
            <a:ext cx="4334256" cy="365760"/>
          </a:xfrm>
          <a:prstGeom prst="rect">
            <a:avLst/>
          </a:prstGeom>
          <a:noFill/>
        </p:spPr>
        <p:txBody>
          <a:bodyPr wrap="square" lIns="0" tIns="0" rIns="0" bIns="0" anchor="ctr">
            <a:spAutoFit/>
          </a:bodyPr>
          <a:lstStyle/>
          <a:p>
            <a:pPr algn="ctr">
              <a:spcAft>
                <a:spcPts val="200"/>
              </a:spcAft>
              <a:defRPr sz="2200" b="1">
                <a:solidFill>
                  <a:srgbClr val="262626"/>
                </a:solidFill>
                <a:latin typeface="Alibaba PuHuiTi 3.0 115 Black" panose="00020600040101010101" charset="-122"/>
              </a:defRPr>
            </a:pPr>
            <a:r>
              <a:t>为什么可能小得多？</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刚才计算的是逐帧未压缩数据量</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Rectangle 4"/>
          <p:cNvSpPr>
            <a:spLocks noGrp="1"/>
          </p:cNvSpPr>
          <p:nvPr/>
        </p:nvSpPr>
        <p:spPr>
          <a:xfrm>
            <a:off x="832104" y="2267712"/>
            <a:ext cx="4590288" cy="667512"/>
          </a:xfrm>
          <a:prstGeom prst="rect">
            <a:avLst/>
          </a:prstGeom>
          <a:noFill/>
          <a:ln w="2540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 name="TextBox 5"/>
          <p:cNvSpPr>
            <a:spLocks noGrp="1"/>
          </p:cNvSpPr>
          <p:nvPr/>
        </p:nvSpPr>
        <p:spPr>
          <a:xfrm>
            <a:off x="905256" y="2386584"/>
            <a:ext cx="4443983" cy="335280"/>
          </a:xfrm>
          <a:prstGeom prst="rect">
            <a:avLst/>
          </a:prstGeom>
          <a:noFill/>
        </p:spPr>
        <p:txBody>
          <a:bodyPr wrap="square" lIns="0" tIns="0" rIns="0" bIns="0" anchor="t">
            <a:noAutofit/>
          </a:bodyPr>
          <a:lstStyle>
            <a:defPPr algn="ctr">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未压缩图像帧</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Connector 6"/>
          <p:cNvSpPr>
            <a:spLocks noGrp="1"/>
          </p:cNvSpPr>
          <p:nvPr/>
        </p:nvSpPr>
        <p:spPr>
          <a:xfrm>
            <a:off x="5513832" y="2606040"/>
            <a:ext cx="987552"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8" name="Rectangle 7"/>
          <p:cNvSpPr>
            <a:spLocks noGrp="1"/>
          </p:cNvSpPr>
          <p:nvPr/>
        </p:nvSpPr>
        <p:spPr>
          <a:xfrm>
            <a:off x="6574536" y="2267712"/>
            <a:ext cx="4663440" cy="667512"/>
          </a:xfrm>
          <a:prstGeom prst="rect">
            <a:avLst/>
          </a:prstGeom>
          <a:noFill/>
          <a:ln w="2540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TextBox 8"/>
          <p:cNvSpPr>
            <a:spLocks noGrp="1"/>
          </p:cNvSpPr>
          <p:nvPr/>
        </p:nvSpPr>
        <p:spPr>
          <a:xfrm>
            <a:off x="6647688" y="2386584"/>
            <a:ext cx="4517136" cy="335280"/>
          </a:xfrm>
          <a:prstGeom prst="rect">
            <a:avLst/>
          </a:prstGeom>
          <a:noFill/>
        </p:spPr>
        <p:txBody>
          <a:bodyPr wrap="square" lIns="0" tIns="0" rIns="0" bIns="0" anchor="t">
            <a:noAutofit/>
          </a:bodyPr>
          <a:lstStyle>
            <a:defPPr algn="ctr">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spcBef>
                <a:spcPts val="0"/>
              </a:spcBef>
              <a:spcAft>
                <a:spcPts val="200"/>
              </a:spcAft>
              <a:buNone/>
              <a:def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重新编码后的视频</a:t>
            </a:r>
            <a:endParaRPr sz="22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TextBox 9"/>
          <p:cNvSpPr>
            <a:spLocks noGrp="1"/>
          </p:cNvSpPr>
          <p:nvPr/>
        </p:nvSpPr>
        <p:spPr>
          <a:xfrm>
            <a:off x="859536" y="3712463"/>
            <a:ext cx="4599432"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每一帧都要保存完整的原始像素数据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extBox 10"/>
          <p:cNvSpPr>
            <a:spLocks noGrp="1"/>
          </p:cNvSpPr>
          <p:nvPr/>
        </p:nvSpPr>
        <p:spPr>
          <a:xfrm>
            <a:off x="6601968" y="3712463"/>
            <a:ext cx="4681728" cy="67056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利用帧间相似和更有效的编码，</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数据可能显著减小</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TextBox 11"/>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数据量计算仍正确，它描述的是题设中的“未压缩”情况。</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为什么要压缩？先想两种真实需求</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节省存储空间</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方便网络传输</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同样容量的手机或硬盘，</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可以保存更多数据。</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需要传输的数据更少，</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通常能更快下载或播放。</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压缩的两个目的：节省空间、提高传输效率。</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pic>
        <p:nvPicPr>
          <p:cNvPr id="11" name="searched-images/computer-disk.svg" descr="image.png"/>
          <p:cNvPicPr>
            <a:picLocks noChangeAspect="1"/>
          </p:cNvPicPr>
          <p:nvPr/>
        </p:nvPicPr>
        <p:blipFill>
          <a:blip r:embed="rId1"/>
          <a:stretch>
            <a:fillRect/>
          </a:stretch>
        </p:blipFill>
        <p:spPr>
          <a:xfrm>
            <a:off x="2468880" y="3721608"/>
            <a:ext cx="1316736" cy="1316736"/>
          </a:xfrm>
          <a:prstGeom prst="rect">
            <a:avLst/>
          </a:prstGeom>
        </p:spPr>
      </p:pic>
      <p:pic>
        <p:nvPicPr>
          <p:cNvPr id="12" name="searched-images/smartphone.svg" descr="image.png"/>
          <p:cNvPicPr>
            <a:picLocks noChangeAspect="1"/>
          </p:cNvPicPr>
          <p:nvPr/>
        </p:nvPicPr>
        <p:blipFill>
          <a:blip r:embed="rId2"/>
          <a:stretch>
            <a:fillRect/>
          </a:stretch>
        </p:blipFill>
        <p:spPr>
          <a:xfrm>
            <a:off x="8110727" y="3721608"/>
            <a:ext cx="1316736" cy="1316736"/>
          </a:xfrm>
          <a:prstGeom prst="rect">
            <a:avLst/>
          </a:prstGeom>
        </p:spPr>
      </p:pic>
      <p:sp>
        <p:nvSpPr>
          <p:cNvPr id="13" name="TextBox 12"/>
          <p:cNvSpPr txBox="1"/>
          <p:nvPr/>
        </p:nvSpPr>
        <p:spPr>
          <a:xfrm>
            <a:off x="2386584" y="4956048"/>
            <a:ext cx="1508760" cy="429768"/>
          </a:xfrm>
          <a:prstGeom prst="rect">
            <a:avLst/>
          </a:prstGeom>
          <a:noFill/>
        </p:spPr>
        <p:txBody>
          <a:bodyPr wrap="square" lIns="0" tIns="0" rIns="0" bIns="0" anchor="ctr">
            <a:spAutoFit/>
          </a:bodyPr>
          <a:lstStyle/>
          <a:p>
            <a:pPr algn="ctr">
              <a:defRPr sz="1700" b="1">
                <a:solidFill>
                  <a:srgbClr val="8C64E1"/>
                </a:solidFill>
                <a:latin typeface="Alibaba PuHuiTi 3.0 115 Black" panose="00020600040101010101" charset="-122"/>
              </a:defRPr>
            </a:pPr>
            <a:r>
              <a:t>本地存储</a:t>
            </a:r>
          </a:p>
        </p:txBody>
      </p:sp>
      <p:sp>
        <p:nvSpPr>
          <p:cNvPr id="14" name="TextBox 13"/>
          <p:cNvSpPr txBox="1"/>
          <p:nvPr/>
        </p:nvSpPr>
        <p:spPr>
          <a:xfrm>
            <a:off x="8010144" y="4956048"/>
            <a:ext cx="1508760" cy="429768"/>
          </a:xfrm>
          <a:prstGeom prst="rect">
            <a:avLst/>
          </a:prstGeom>
          <a:noFill/>
        </p:spPr>
        <p:txBody>
          <a:bodyPr wrap="square" lIns="0" tIns="0" rIns="0" bIns="0" anchor="ctr">
            <a:spAutoFit/>
          </a:bodyPr>
          <a:lstStyle/>
          <a:p>
            <a:pPr algn="ctr">
              <a:defRPr sz="1700" b="1">
                <a:solidFill>
                  <a:srgbClr val="007C9B"/>
                </a:solidFill>
                <a:latin typeface="Alibaba PuHuiTi 3.0 115 Black" panose="00020600040101010101" charset="-122"/>
              </a:defRPr>
            </a:pPr>
            <a:r>
              <a:t>在线传输</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“中国”重复100次，怎样写得更短？</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86384" y="1975104"/>
            <a:ext cx="10789920" cy="457200"/>
          </a:xfrm>
          <a:prstGeom prst="rect">
            <a:avLst/>
          </a:prstGeom>
          <a:noFill/>
        </p:spPr>
        <p:txBody>
          <a:bodyPr wrap="square" lIns="0" tIns="0" rIns="0" bIns="0" anchor="t">
            <a:noAutofit/>
          </a:bodyPr>
          <a:lstStyle>
            <a:defPPr algn="l">
              <a:defRPr sz="3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中国中国中国中国中国中国……</a:t>
            </a:r>
            <a:endParaRPr sz="30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Connector 5"/>
          <p:cNvSpPr>
            <a:spLocks noGrp="1"/>
          </p:cNvSpPr>
          <p:nvPr/>
        </p:nvSpPr>
        <p:spPr>
          <a:xfrm>
            <a:off x="3291840" y="3685032"/>
            <a:ext cx="3154680" cy="0"/>
          </a:xfrm>
          <a:prstGeom prst="line">
            <a:avLst/>
          </a:prstGeom>
          <a:ln w="38100">
            <a:solidFill>
              <a:srgbClr val="8C64E1"/>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6803136" y="3310128"/>
            <a:ext cx="4297680" cy="502920"/>
          </a:xfrm>
          <a:prstGeom prst="rect">
            <a:avLst/>
          </a:prstGeom>
          <a:noFill/>
        </p:spPr>
        <p:txBody>
          <a:bodyPr wrap="square" lIns="0" tIns="0" rIns="0" bIns="0" anchor="t">
            <a:noAutofit/>
          </a:bodyPr>
          <a:lstStyle>
            <a:defPPr algn="l">
              <a:defRPr sz="3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3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“中国” × 100</a:t>
            </a:r>
            <a:endParaRPr sz="3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在不改变内容的前提下，用规则和次数来表示重复部分。</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为什么重复内容更容易压缩？</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高度重复的内容</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变化复杂的内容</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110236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AAAAAAAAAA…</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容易用简短规则表示。</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110236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AX3Q9P8F2…</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难以找到同样简短的规则。</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冗余越多，使用合适的算法时，通常越容易压缩。</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两份都是1000Byte，压缩后谁更小？</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95528" y="2002536"/>
            <a:ext cx="4882896" cy="411480"/>
          </a:xfrm>
          <a:prstGeom prst="rect">
            <a:avLst/>
          </a:prstGeom>
          <a:noFill/>
        </p:spPr>
        <p:txBody>
          <a:bodyPr wrap="squar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文件A：1000个“A”</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6419088" y="2002536"/>
            <a:ext cx="4828032" cy="396240"/>
          </a:xfrm>
          <a:prstGeom prst="rect">
            <a:avLst/>
          </a:prstGeom>
          <a:noFill/>
        </p:spPr>
        <p:txBody>
          <a:bodyPr wrap="square" lIns="0" tIns="0" rIns="0" bIns="0" anchor="t">
            <a:noAutofit/>
          </a:bodyPr>
          <a:lstStyle>
            <a:defPPr algn="l">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文件B：1000个随机字节</a:t>
            </a:r>
            <a:endParaRPr sz="26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804672" y="3337560"/>
            <a:ext cx="10515600" cy="365760"/>
          </a:xfrm>
          <a:prstGeom prst="rect">
            <a:avLst/>
          </a:prstGeom>
          <a:noFill/>
        </p:spPr>
        <p:txBody>
          <a:bodyPr wrap="squar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原始大小相同，都等于1000 Byte。</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TextBox 7"/>
          <p:cNvSpPr>
            <a:spLocks noGrp="1"/>
          </p:cNvSpPr>
          <p:nvPr/>
        </p:nvSpPr>
        <p:spPr>
          <a:xfrm>
            <a:off x="777240" y="5065776"/>
            <a:ext cx="107899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请预测：压缩后 A、B 谁更小？能够完整恢复吗？</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演示D：同样1000Byte，压缩后会相同吗？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627965" y="1627632"/>
            <a:ext cx="10559598" cy="396240"/>
          </a:xfrm>
          <a:prstGeom prst="rect">
            <a:avLst/>
          </a:prstGeom>
          <a:noFill/>
        </p:spPr>
        <p:txBody>
          <a:bodyPr wrap="square" lIns="0" tIns="0" rIns="0" bIns="0" anchor="t">
            <a:noAutofit/>
          </a:bodyPr>
          <a:lstStyle>
            <a:defPPr algn="l">
              <a:defRPr sz="2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同样是 1000 Byte：</a:t>
            </a:r>
            <a:endParaRPr sz="2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Rectangle 5"/>
          <p:cNvSpPr>
            <a:spLocks noGrp="1"/>
          </p:cNvSpPr>
          <p:nvPr/>
        </p:nvSpPr>
        <p:spPr>
          <a:xfrm>
            <a:off x="627965" y="2589856"/>
            <a:ext cx="5123701" cy="1267152"/>
          </a:xfrm>
          <a:prstGeom prst="rect">
            <a:avLst/>
          </a:prstGeom>
          <a:noFill/>
          <a:ln w="19050">
            <a:solidFill>
              <a:srgbClr val="8C64E1"/>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TextBox 6"/>
          <p:cNvSpPr>
            <a:spLocks noGrp="1"/>
          </p:cNvSpPr>
          <p:nvPr/>
        </p:nvSpPr>
        <p:spPr>
          <a:xfrm>
            <a:off x="820792" y="2798064"/>
            <a:ext cx="1358974"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文件 A</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2152220" y="2798064"/>
            <a:ext cx="3287249"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1000个重复的字节“A”</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Rectangle 8"/>
          <p:cNvSpPr>
            <a:spLocks noGrp="1"/>
          </p:cNvSpPr>
          <p:nvPr/>
        </p:nvSpPr>
        <p:spPr>
          <a:xfrm>
            <a:off x="6458699" y="2589856"/>
            <a:ext cx="5123701" cy="1267152"/>
          </a:xfrm>
          <a:prstGeom prst="rect">
            <a:avLst/>
          </a:prstGeom>
          <a:noFill/>
          <a:ln w="19050">
            <a:solidFill>
              <a:srgbClr val="00B0F0"/>
            </a:solid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TextBox 9"/>
          <p:cNvSpPr>
            <a:spLocks noGrp="1"/>
          </p:cNvSpPr>
          <p:nvPr/>
        </p:nvSpPr>
        <p:spPr>
          <a:xfrm>
            <a:off x="6651527" y="2798064"/>
            <a:ext cx="1358974" cy="350520"/>
          </a:xfrm>
          <a:prstGeom prst="rect">
            <a:avLst/>
          </a:prstGeom>
          <a:noFill/>
        </p:spPr>
        <p:txBody>
          <a:bodyPr wrap="square" lIns="0" tIns="0" rIns="0" bIns="0" anchor="t">
            <a:noAutofit/>
          </a:bodyPr>
          <a:lstStyle>
            <a:defPPr algn="l">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文件 B</a:t>
            </a:r>
            <a:endParaRPr sz="23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TextBox 10"/>
          <p:cNvSpPr>
            <a:spLocks noGrp="1"/>
          </p:cNvSpPr>
          <p:nvPr/>
        </p:nvSpPr>
        <p:spPr>
          <a:xfrm>
            <a:off x="7982954" y="2798064"/>
            <a:ext cx="3287249"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1000个随机变化的字节</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TextBox 11"/>
          <p:cNvSpPr>
            <a:spLocks noGrp="1"/>
          </p:cNvSpPr>
          <p:nvPr/>
        </p:nvSpPr>
        <p:spPr>
          <a:xfrm>
            <a:off x="609600" y="4315968"/>
            <a:ext cx="10669785" cy="365760"/>
          </a:xfrm>
          <a:prstGeom prst="rect">
            <a:avLst/>
          </a:prstGeom>
          <a:noFill/>
        </p:spPr>
        <p:txBody>
          <a:bodyPr wrap="squar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① 先预测 → ② 运行Notebook的zlib压缩 → ③ 比较结果</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3" name="TextBox 12"/>
          <p:cNvSpPr>
            <a:spLocks noGrp="1"/>
          </p:cNvSpPr>
          <p:nvPr/>
        </p:nvSpPr>
        <p:spPr>
          <a:xfrm>
            <a:off x="609600" y="5559552"/>
            <a:ext cx="10559598" cy="3352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可追问：压缩后的文件有没有可能比原来更大？</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同样原始大小，压缩结果为何不同？</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mpression-header-0"/>
          <p:cNvSpPr>
            <a:spLocks noGrp="1"/>
          </p:cNvSpPr>
          <p:nvPr/>
        </p:nvSpPr>
        <p:spPr>
          <a:xfrm>
            <a:off x="609600" y="1590675"/>
            <a:ext cx="5181600" cy="5143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A：重复的内容</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original-count-0"/>
          <p:cNvSpPr>
            <a:spLocks noGrp="1"/>
          </p:cNvSpPr>
          <p:nvPr/>
        </p:nvSpPr>
        <p:spPr>
          <a:xfrm>
            <a:off x="609600" y="2409825"/>
            <a:ext cx="51816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原始：1000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original-bar-0"/>
          <p:cNvSpPr>
            <a:spLocks noGrp="1"/>
          </p:cNvSpPr>
          <p:nvPr/>
        </p:nvSpPr>
        <p:spPr>
          <a:xfrm>
            <a:off x="609600" y="2895600"/>
            <a:ext cx="4762500" cy="285750"/>
          </a:xfrm>
          <a:prstGeom prst="rect">
            <a:avLst/>
          </a:prstGeom>
          <a:solidFill>
            <a:srgbClr val="D7D7DE"/>
          </a:solidFill>
          <a:ln w="0">
            <a:noFill/>
          </a:ln>
        </p:spPr>
      </p:sp>
      <p:sp>
        <p:nvSpPr>
          <p:cNvPr id="8" name="compressed-count-0"/>
          <p:cNvSpPr>
            <a:spLocks noGrp="1"/>
          </p:cNvSpPr>
          <p:nvPr/>
        </p:nvSpPr>
        <p:spPr>
          <a:xfrm>
            <a:off x="609600" y="3667125"/>
            <a:ext cx="5181600" cy="41910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压缩后：17 Byte</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9" name="compressed-bar-0"/>
          <p:cNvSpPr>
            <a:spLocks noGrp="1"/>
          </p:cNvSpPr>
          <p:nvPr/>
        </p:nvSpPr>
        <p:spPr>
          <a:xfrm>
            <a:off x="609600" y="4219575"/>
            <a:ext cx="80963" cy="285750"/>
          </a:xfrm>
          <a:prstGeom prst="rect">
            <a:avLst/>
          </a:prstGeom>
          <a:solidFill>
            <a:srgbClr val="8C64E1"/>
          </a:solidFill>
          <a:ln w="0">
            <a:noFill/>
          </a:ln>
        </p:spPr>
      </p:sp>
      <p:sp>
        <p:nvSpPr>
          <p:cNvPr id="10" name="compression-header-1"/>
          <p:cNvSpPr>
            <a:spLocks noGrp="1"/>
          </p:cNvSpPr>
          <p:nvPr/>
        </p:nvSpPr>
        <p:spPr>
          <a:xfrm>
            <a:off x="6400800" y="1590675"/>
            <a:ext cx="5181600" cy="5143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B：复杂的内容</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original-count-1"/>
          <p:cNvSpPr>
            <a:spLocks noGrp="1"/>
          </p:cNvSpPr>
          <p:nvPr/>
        </p:nvSpPr>
        <p:spPr>
          <a:xfrm>
            <a:off x="6400800" y="2409825"/>
            <a:ext cx="51816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原始：1000 Byte</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original-bar-1"/>
          <p:cNvSpPr>
            <a:spLocks noGrp="1"/>
          </p:cNvSpPr>
          <p:nvPr/>
        </p:nvSpPr>
        <p:spPr>
          <a:xfrm>
            <a:off x="6400800" y="2895600"/>
            <a:ext cx="4762500" cy="285750"/>
          </a:xfrm>
          <a:prstGeom prst="rect">
            <a:avLst/>
          </a:prstGeom>
          <a:solidFill>
            <a:srgbClr val="D7D7DE"/>
          </a:solidFill>
          <a:ln w="0">
            <a:noFill/>
          </a:ln>
        </p:spPr>
      </p:sp>
      <p:sp>
        <p:nvSpPr>
          <p:cNvPr id="13" name="compressed-count-1"/>
          <p:cNvSpPr>
            <a:spLocks noGrp="1"/>
          </p:cNvSpPr>
          <p:nvPr/>
        </p:nvSpPr>
        <p:spPr>
          <a:xfrm>
            <a:off x="6400800" y="3667125"/>
            <a:ext cx="5181600" cy="41910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压缩后：1011 Byte</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compressed-bar-1"/>
          <p:cNvSpPr>
            <a:spLocks noGrp="1"/>
          </p:cNvSpPr>
          <p:nvPr/>
        </p:nvSpPr>
        <p:spPr>
          <a:xfrm>
            <a:off x="6400800" y="4219575"/>
            <a:ext cx="4814888" cy="285750"/>
          </a:xfrm>
          <a:prstGeom prst="rect">
            <a:avLst/>
          </a:prstGeom>
          <a:solidFill>
            <a:srgbClr val="007C9B"/>
          </a:solidFill>
          <a:ln w="0">
            <a:noFill/>
          </a:ln>
        </p:spPr>
      </p:sp>
      <p:sp>
        <p:nvSpPr>
          <p:cNvPr id="15" name="extra-eleven-bytes"/>
          <p:cNvSpPr>
            <a:spLocks noGrp="1"/>
          </p:cNvSpPr>
          <p:nvPr/>
        </p:nvSpPr>
        <p:spPr>
          <a:xfrm>
            <a:off x="11163300" y="4219575"/>
            <a:ext cx="52388" cy="285750"/>
          </a:xfrm>
          <a:prstGeom prst="rect">
            <a:avLst/>
          </a:prstGeom>
          <a:solidFill>
            <a:srgbClr val="FF0000"/>
          </a:solidFill>
          <a:ln w="0">
            <a:noFill/>
          </a:ln>
        </p:spPr>
      </p:sp>
      <p:sp>
        <p:nvSpPr>
          <p:cNvPr id="16" name="compression-extra"/>
          <p:cNvSpPr>
            <a:spLocks noGrp="1"/>
          </p:cNvSpPr>
          <p:nvPr/>
        </p:nvSpPr>
        <p:spPr>
          <a:xfrm>
            <a:off x="6400800" y="4762500"/>
            <a:ext cx="5181600" cy="400050"/>
          </a:xfrm>
          <a:prstGeom prst="rect">
            <a:avLst/>
          </a:prstGeom>
          <a:noFill/>
          <a:ln w="0">
            <a:noFill/>
          </a:ln>
        </p:spPr>
        <p:txBody>
          <a:bodyPr wrap="none" lIns="0" tIns="0" rIns="0" bIns="0" anchor="t">
            <a:noAutofit/>
          </a:bodyPr>
          <a:lstStyle>
            <a:defPPr algn="l">
              <a:defRPr sz="22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比原始多11 Byte</a:t>
            </a:r>
            <a:endParaRPr sz="22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 name="text"/>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同一比例尺；解压后都能逐字节恢复原始数据。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压缩到底改变了什么？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813816" y="1837943"/>
            <a:ext cx="10698480" cy="441960"/>
          </a:xfrm>
          <a:prstGeom prst="rect">
            <a:avLst/>
          </a:prstGeom>
          <a:noFill/>
        </p:spPr>
        <p:txBody>
          <a:bodyPr wrap="square" lIns="0" tIns="0" rIns="0" bIns="0" anchor="t">
            <a:noAutofit/>
          </a:bodyPr>
          <a:lstStyle>
            <a:defPPr algn="l">
              <a:def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数据本身在计算机中仍是0和1。</a:t>
            </a:r>
            <a:endParaRPr sz="29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832104" y="2999232"/>
            <a:ext cx="10698480" cy="411480"/>
          </a:xfrm>
          <a:prstGeom prst="rect">
            <a:avLst/>
          </a:prstGeom>
          <a:noFill/>
        </p:spPr>
        <p:txBody>
          <a:bodyPr wrap="square" lIns="0" tIns="0" rIns="0" bIns="0" anchor="t">
            <a:noAutofit/>
          </a:bodyPr>
          <a:lstStyle>
            <a:defPPr algn="l">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压缩：重新表示数据，目标是减少数据量。</a:t>
            </a:r>
            <a:endParaRPr sz="27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方法有很多，今天重点研究能不能完整还原。</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无损与有损：按什么区分？</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8" name="TextBox 7"/>
          <p:cNvSpPr>
            <a:spLocks noGrp="1"/>
          </p:cNvSpPr>
          <p:nvPr/>
        </p:nvSpPr>
        <p:spPr>
          <a:xfrm>
            <a:off x="822960" y="2743200"/>
            <a:ext cx="5010912" cy="110236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解压后与原始数据完全一致。</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适合：文档、程序、精确备份。</a:t>
            </a:r>
            <a:endParaRPr sz="220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1452880"/>
          </a:xfrm>
          <a:prstGeom prst="rect">
            <a:avLst/>
          </a:prstGeom>
          <a:noFill/>
        </p:spPr>
        <p:txBody>
          <a:bodyPr wrap="squar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解码后不能完全恢复原始数据。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适合：允许一定失真的音视频。</a:t>
            </a:r>
            <a:endParaRPr sz="220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判断标准：解码/解压后，能否完整得到原始数据？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compression-kind-无损压缩"/>
          <p:cNvSpPr>
            <a:spLocks noGrp="1"/>
          </p:cNvSpPr>
          <p:nvPr/>
        </p:nvSpPr>
        <p:spPr>
          <a:xfrm>
            <a:off x="822960" y="1737360"/>
            <a:ext cx="5076825" cy="552450"/>
          </a:xfrm>
          <a:prstGeom prst="rect">
            <a:avLst/>
          </a:prstGeom>
          <a:noFill/>
          <a:ln w="0">
            <a:noFill/>
          </a:ln>
        </p:spPr>
        <p:txBody>
          <a:bodyPr wrap="none" lIns="0" tIns="0" rIns="0" bIns="0" anchor="t">
            <a:noAutofit/>
          </a:bodyPr>
          <a:lstStyle>
            <a:defPPr algn="l">
              <a:defRPr sz="28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8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defRPr>
            </a:pPr>
            <a:r>
              <a:rPr sz="28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rPr>
              <a:t>无损压缩</a:t>
            </a:r>
            <a:endParaRPr sz="2800" b="0">
              <a:solidFill>
                <a:srgbClr val="8C64E1"/>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compression-kind-有损压缩"/>
          <p:cNvSpPr>
            <a:spLocks noGrp="1"/>
          </p:cNvSpPr>
          <p:nvPr/>
        </p:nvSpPr>
        <p:spPr>
          <a:xfrm>
            <a:off x="6437376" y="1737360"/>
            <a:ext cx="5076825" cy="552450"/>
          </a:xfrm>
          <a:prstGeom prst="rect">
            <a:avLst/>
          </a:prstGeom>
          <a:noFill/>
          <a:ln w="0">
            <a:noFill/>
          </a:ln>
        </p:spPr>
        <p:txBody>
          <a:bodyPr wrap="none" lIns="0" tIns="0" rIns="0" bIns="0" anchor="t">
            <a:noAutofit/>
          </a:bodyPr>
          <a:lstStyle>
            <a:defPPr algn="l">
              <a:defRPr sz="28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8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defRPr>
            </a:pPr>
            <a:r>
              <a:rPr sz="28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rPr>
              <a:t>有损压缩</a:t>
            </a:r>
            <a:endParaRPr sz="2800" b="0">
              <a:solidFill>
                <a:srgbClr val="007C9B"/>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3" name="TextBox 12"/>
          <p:cNvSpPr txBox="1"/>
          <p:nvPr/>
        </p:nvSpPr>
        <p:spPr>
          <a:xfrm>
            <a:off x="1463040" y="3438144"/>
            <a:ext cx="2743200" cy="365760"/>
          </a:xfrm>
          <a:prstGeom prst="rect">
            <a:avLst/>
          </a:prstGeom>
          <a:noFill/>
        </p:spPr>
        <p:txBody>
          <a:bodyPr wrap="square" lIns="0" tIns="0" rIns="0" bIns="0" anchor="ctr">
            <a:spAutoFit/>
          </a:bodyPr>
          <a:lstStyle/>
          <a:p>
            <a:pPr algn="ctr">
              <a:spcAft>
                <a:spcPts val="200"/>
              </a:spcAft>
              <a:defRPr sz="2100" b="1">
                <a:solidFill>
                  <a:srgbClr val="8C64E1"/>
                </a:solidFill>
                <a:latin typeface="Alibaba PuHuiTi 3.0 115 Black" panose="00020600040101010101" charset="-122"/>
              </a:defRPr>
            </a:pPr>
            <a:r>
              <a:t>原始</a:t>
            </a:r>
          </a:p>
        </p:txBody>
      </p:sp>
      <p:sp>
        <p:nvSpPr>
          <p:cNvPr id="14" name="Rectangle 13"/>
          <p:cNvSpPr/>
          <p:nvPr/>
        </p:nvSpPr>
        <p:spPr>
          <a:xfrm>
            <a:off x="14630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7739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20848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239572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270662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301752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332841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363931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14630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17739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0848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239572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270662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301752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332841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363931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14630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7739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20848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239572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270662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301752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332841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363931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14630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17739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20848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239572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270662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ectangle 42"/>
          <p:cNvSpPr/>
          <p:nvPr/>
        </p:nvSpPr>
        <p:spPr>
          <a:xfrm>
            <a:off x="301752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32841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ectangle 44"/>
          <p:cNvSpPr/>
          <p:nvPr/>
        </p:nvSpPr>
        <p:spPr>
          <a:xfrm>
            <a:off x="363931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5166360" y="3438144"/>
            <a:ext cx="2743200" cy="365760"/>
          </a:xfrm>
          <a:prstGeom prst="rect">
            <a:avLst/>
          </a:prstGeom>
          <a:noFill/>
        </p:spPr>
        <p:txBody>
          <a:bodyPr wrap="square" lIns="0" tIns="0" rIns="0" bIns="0" anchor="ctr">
            <a:spAutoFit/>
          </a:bodyPr>
          <a:lstStyle/>
          <a:p>
            <a:pPr algn="ctr">
              <a:spcAft>
                <a:spcPts val="200"/>
              </a:spcAft>
              <a:defRPr sz="2100" b="1">
                <a:solidFill>
                  <a:srgbClr val="8C64E1"/>
                </a:solidFill>
                <a:latin typeface="Alibaba PuHuiTi 3.0 115 Black" panose="00020600040101010101" charset="-122"/>
              </a:defRPr>
            </a:pPr>
            <a:r>
              <a:t>无损恢复</a:t>
            </a:r>
          </a:p>
        </p:txBody>
      </p:sp>
      <p:sp>
        <p:nvSpPr>
          <p:cNvPr id="47" name="Rectangle 46"/>
          <p:cNvSpPr/>
          <p:nvPr/>
        </p:nvSpPr>
        <p:spPr>
          <a:xfrm>
            <a:off x="516636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547725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57881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6099048"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6409944"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672084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703173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ectangle 53"/>
          <p:cNvSpPr/>
          <p:nvPr/>
        </p:nvSpPr>
        <p:spPr>
          <a:xfrm>
            <a:off x="734263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516636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ectangle 55"/>
          <p:cNvSpPr/>
          <p:nvPr/>
        </p:nvSpPr>
        <p:spPr>
          <a:xfrm>
            <a:off x="547725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ectangle 56"/>
          <p:cNvSpPr/>
          <p:nvPr/>
        </p:nvSpPr>
        <p:spPr>
          <a:xfrm>
            <a:off x="57881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6099048"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ectangle 58"/>
          <p:cNvSpPr/>
          <p:nvPr/>
        </p:nvSpPr>
        <p:spPr>
          <a:xfrm>
            <a:off x="6409944"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ectangle 59"/>
          <p:cNvSpPr/>
          <p:nvPr/>
        </p:nvSpPr>
        <p:spPr>
          <a:xfrm>
            <a:off x="672084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ectangle 60"/>
          <p:cNvSpPr/>
          <p:nvPr/>
        </p:nvSpPr>
        <p:spPr>
          <a:xfrm>
            <a:off x="703173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ectangle 61"/>
          <p:cNvSpPr/>
          <p:nvPr/>
        </p:nvSpPr>
        <p:spPr>
          <a:xfrm>
            <a:off x="734263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ectangle 62"/>
          <p:cNvSpPr/>
          <p:nvPr/>
        </p:nvSpPr>
        <p:spPr>
          <a:xfrm>
            <a:off x="516636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ectangle 63"/>
          <p:cNvSpPr/>
          <p:nvPr/>
        </p:nvSpPr>
        <p:spPr>
          <a:xfrm>
            <a:off x="547725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Rectangle 64"/>
          <p:cNvSpPr/>
          <p:nvPr/>
        </p:nvSpPr>
        <p:spPr>
          <a:xfrm>
            <a:off x="57881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Rectangle 65"/>
          <p:cNvSpPr/>
          <p:nvPr/>
        </p:nvSpPr>
        <p:spPr>
          <a:xfrm>
            <a:off x="6099048"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Rectangle 66"/>
          <p:cNvSpPr/>
          <p:nvPr/>
        </p:nvSpPr>
        <p:spPr>
          <a:xfrm>
            <a:off x="6409944"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ectangle 67"/>
          <p:cNvSpPr/>
          <p:nvPr/>
        </p:nvSpPr>
        <p:spPr>
          <a:xfrm>
            <a:off x="672084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ectangle 68"/>
          <p:cNvSpPr/>
          <p:nvPr/>
        </p:nvSpPr>
        <p:spPr>
          <a:xfrm>
            <a:off x="703173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ctangle 69"/>
          <p:cNvSpPr/>
          <p:nvPr/>
        </p:nvSpPr>
        <p:spPr>
          <a:xfrm>
            <a:off x="734263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ctangle 70"/>
          <p:cNvSpPr/>
          <p:nvPr/>
        </p:nvSpPr>
        <p:spPr>
          <a:xfrm>
            <a:off x="516636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ctangle 71"/>
          <p:cNvSpPr/>
          <p:nvPr/>
        </p:nvSpPr>
        <p:spPr>
          <a:xfrm>
            <a:off x="547725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ectangle 72"/>
          <p:cNvSpPr/>
          <p:nvPr/>
        </p:nvSpPr>
        <p:spPr>
          <a:xfrm>
            <a:off x="57881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ectangle 73"/>
          <p:cNvSpPr/>
          <p:nvPr/>
        </p:nvSpPr>
        <p:spPr>
          <a:xfrm>
            <a:off x="6099048"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ctangle 74"/>
          <p:cNvSpPr/>
          <p:nvPr/>
        </p:nvSpPr>
        <p:spPr>
          <a:xfrm>
            <a:off x="6409944"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ectangle 75"/>
          <p:cNvSpPr/>
          <p:nvPr/>
        </p:nvSpPr>
        <p:spPr>
          <a:xfrm>
            <a:off x="672084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ectangle 76"/>
          <p:cNvSpPr/>
          <p:nvPr/>
        </p:nvSpPr>
        <p:spPr>
          <a:xfrm>
            <a:off x="703173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ectangle 77"/>
          <p:cNvSpPr/>
          <p:nvPr/>
        </p:nvSpPr>
        <p:spPr>
          <a:xfrm>
            <a:off x="734263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8869680" y="3438144"/>
            <a:ext cx="2743200" cy="365760"/>
          </a:xfrm>
          <a:prstGeom prst="rect">
            <a:avLst/>
          </a:prstGeom>
          <a:noFill/>
        </p:spPr>
        <p:txBody>
          <a:bodyPr wrap="square" lIns="0" tIns="0" rIns="0" bIns="0" anchor="ctr">
            <a:spAutoFit/>
          </a:bodyPr>
          <a:lstStyle/>
          <a:p>
            <a:pPr algn="ctr">
              <a:spcAft>
                <a:spcPts val="200"/>
              </a:spcAft>
              <a:defRPr sz="2100" b="1">
                <a:solidFill>
                  <a:srgbClr val="007C9B"/>
                </a:solidFill>
                <a:latin typeface="Alibaba PuHuiTi 3.0 115 Black" panose="00020600040101010101" charset="-122"/>
              </a:defRPr>
            </a:pPr>
            <a:r>
              <a:t>有损近似</a:t>
            </a:r>
          </a:p>
        </p:txBody>
      </p:sp>
      <p:sp>
        <p:nvSpPr>
          <p:cNvPr id="80" name="Rectangle 79"/>
          <p:cNvSpPr/>
          <p:nvPr/>
        </p:nvSpPr>
        <p:spPr>
          <a:xfrm>
            <a:off x="8869680"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ectangle 80"/>
          <p:cNvSpPr/>
          <p:nvPr/>
        </p:nvSpPr>
        <p:spPr>
          <a:xfrm>
            <a:off x="9180576"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ctangle 81"/>
          <p:cNvSpPr/>
          <p:nvPr/>
        </p:nvSpPr>
        <p:spPr>
          <a:xfrm>
            <a:off x="949147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ectangle 82"/>
          <p:cNvSpPr/>
          <p:nvPr/>
        </p:nvSpPr>
        <p:spPr>
          <a:xfrm>
            <a:off x="9802367"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10113263"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10424159"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ectangle 85"/>
          <p:cNvSpPr/>
          <p:nvPr/>
        </p:nvSpPr>
        <p:spPr>
          <a:xfrm>
            <a:off x="10735055" y="395935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ectangle 86"/>
          <p:cNvSpPr/>
          <p:nvPr/>
        </p:nvSpPr>
        <p:spPr>
          <a:xfrm>
            <a:off x="11045952" y="395935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8869680"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9180576"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ectangle 89"/>
          <p:cNvSpPr/>
          <p:nvPr/>
        </p:nvSpPr>
        <p:spPr>
          <a:xfrm>
            <a:off x="949147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ectangle 90"/>
          <p:cNvSpPr/>
          <p:nvPr/>
        </p:nvSpPr>
        <p:spPr>
          <a:xfrm>
            <a:off x="9802367"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10113263"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10424159"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ectangle 93"/>
          <p:cNvSpPr/>
          <p:nvPr/>
        </p:nvSpPr>
        <p:spPr>
          <a:xfrm>
            <a:off x="10735055"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ectangle 94"/>
          <p:cNvSpPr/>
          <p:nvPr/>
        </p:nvSpPr>
        <p:spPr>
          <a:xfrm>
            <a:off x="11045952" y="427939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ectangle 95"/>
          <p:cNvSpPr/>
          <p:nvPr/>
        </p:nvSpPr>
        <p:spPr>
          <a:xfrm>
            <a:off x="8869680"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ectangle 96"/>
          <p:cNvSpPr/>
          <p:nvPr/>
        </p:nvSpPr>
        <p:spPr>
          <a:xfrm>
            <a:off x="9180576"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Rectangle 97"/>
          <p:cNvSpPr/>
          <p:nvPr/>
        </p:nvSpPr>
        <p:spPr>
          <a:xfrm>
            <a:off x="949147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ectangle 98"/>
          <p:cNvSpPr/>
          <p:nvPr/>
        </p:nvSpPr>
        <p:spPr>
          <a:xfrm>
            <a:off x="9802367" y="4599432"/>
            <a:ext cx="301752" cy="301752"/>
          </a:xfrm>
          <a:prstGeom prst="rect">
            <a:avLst/>
          </a:prstGeom>
          <a:solidFill>
            <a:srgbClr val="A4CCE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Rectangle 99"/>
          <p:cNvSpPr/>
          <p:nvPr/>
        </p:nvSpPr>
        <p:spPr>
          <a:xfrm>
            <a:off x="10113263"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Rectangle 100"/>
          <p:cNvSpPr/>
          <p:nvPr/>
        </p:nvSpPr>
        <p:spPr>
          <a:xfrm>
            <a:off x="10424159"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Rectangle 101"/>
          <p:cNvSpPr/>
          <p:nvPr/>
        </p:nvSpPr>
        <p:spPr>
          <a:xfrm>
            <a:off x="10735055"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Rectangle 102"/>
          <p:cNvSpPr/>
          <p:nvPr/>
        </p:nvSpPr>
        <p:spPr>
          <a:xfrm>
            <a:off x="11045952" y="459943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Rectangle 103"/>
          <p:cNvSpPr/>
          <p:nvPr/>
        </p:nvSpPr>
        <p:spPr>
          <a:xfrm>
            <a:off x="8869680"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Rectangle 104"/>
          <p:cNvSpPr/>
          <p:nvPr/>
        </p:nvSpPr>
        <p:spPr>
          <a:xfrm>
            <a:off x="9180576"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Rectangle 105"/>
          <p:cNvSpPr/>
          <p:nvPr/>
        </p:nvSpPr>
        <p:spPr>
          <a:xfrm>
            <a:off x="949147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9802367"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Rectangle 107"/>
          <p:cNvSpPr/>
          <p:nvPr/>
        </p:nvSpPr>
        <p:spPr>
          <a:xfrm>
            <a:off x="10113263"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Rectangle 108"/>
          <p:cNvSpPr/>
          <p:nvPr/>
        </p:nvSpPr>
        <p:spPr>
          <a:xfrm>
            <a:off x="10424159" y="4919472"/>
            <a:ext cx="301752" cy="301752"/>
          </a:xfrm>
          <a:prstGeom prst="rect">
            <a:avLst/>
          </a:prstGeom>
          <a:solidFill>
            <a:srgbClr val="5CAED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Rectangle 109"/>
          <p:cNvSpPr/>
          <p:nvPr/>
        </p:nvSpPr>
        <p:spPr>
          <a:xfrm>
            <a:off x="10735055"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Rectangle 110"/>
          <p:cNvSpPr/>
          <p:nvPr/>
        </p:nvSpPr>
        <p:spPr>
          <a:xfrm>
            <a:off x="11045952" y="4919472"/>
            <a:ext cx="301752" cy="301752"/>
          </a:xfrm>
          <a:prstGeom prst="rect">
            <a:avLst/>
          </a:prstGeom>
          <a:solidFill>
            <a:srgbClr val="307DB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TextBox 111"/>
          <p:cNvSpPr txBox="1"/>
          <p:nvPr/>
        </p:nvSpPr>
        <p:spPr>
          <a:xfrm>
            <a:off x="4507992" y="5330952"/>
            <a:ext cx="2148840" cy="356616"/>
          </a:xfrm>
          <a:prstGeom prst="rect">
            <a:avLst/>
          </a:prstGeom>
          <a:noFill/>
        </p:spPr>
        <p:txBody>
          <a:bodyPr wrap="square" lIns="0" tIns="0" rIns="0" bIns="0" anchor="ctr">
            <a:spAutoFit/>
          </a:bodyPr>
          <a:lstStyle/>
          <a:p>
            <a:pPr>
              <a:spcAft>
                <a:spcPts val="200"/>
              </a:spcAft>
              <a:defRPr sz="1800" b="1">
                <a:solidFill>
                  <a:srgbClr val="8C64E1"/>
                </a:solidFill>
                <a:latin typeface="Alibaba PuHuiTi 3.0 115 Black" panose="00020600040101010101" charset="-122"/>
              </a:defRPr>
            </a:pPr>
            <a:r>
              <a:t>逐格一致</a:t>
            </a:r>
          </a:p>
        </p:txBody>
      </p:sp>
      <p:sp>
        <p:nvSpPr>
          <p:cNvPr id="113" name="TextBox 112"/>
          <p:cNvSpPr txBox="1"/>
          <p:nvPr/>
        </p:nvSpPr>
        <p:spPr>
          <a:xfrm>
            <a:off x="8284464" y="5330952"/>
            <a:ext cx="2286000" cy="356616"/>
          </a:xfrm>
          <a:prstGeom prst="rect">
            <a:avLst/>
          </a:prstGeom>
          <a:noFill/>
        </p:spPr>
        <p:txBody>
          <a:bodyPr wrap="square" lIns="0" tIns="0" rIns="0" bIns="0" anchor="ctr">
            <a:spAutoFit/>
          </a:bodyPr>
          <a:lstStyle/>
          <a:p>
            <a:pPr>
              <a:spcAft>
                <a:spcPts val="200"/>
              </a:spcAft>
              <a:defRPr sz="1800" b="1">
                <a:solidFill>
                  <a:srgbClr val="007C9B"/>
                </a:solidFill>
                <a:latin typeface="Alibaba PuHuiTi 3.0 115 Black" panose="00020600040101010101" charset="-122"/>
              </a:defRPr>
            </a:pPr>
            <a:r>
              <a:t>部分细节变化</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ZIP、MP3、WAV、MP4，是同一层吗？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format-category-0"/>
          <p:cNvSpPr>
            <a:spLocks noGrp="1"/>
          </p:cNvSpPr>
          <p:nvPr/>
        </p:nvSpPr>
        <p:spPr>
          <a:xfrm>
            <a:off x="609600" y="2276475"/>
            <a:ext cx="2286000" cy="4762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归档格式</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format-example-0"/>
          <p:cNvSpPr>
            <a:spLocks noGrp="1"/>
          </p:cNvSpPr>
          <p:nvPr/>
        </p:nvSpPr>
        <p:spPr>
          <a:xfrm>
            <a:off x="3476625" y="2276475"/>
            <a:ext cx="3238500" cy="4762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ZIP / RAR</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format-qualification-0"/>
          <p:cNvSpPr>
            <a:spLocks noGrp="1"/>
          </p:cNvSpPr>
          <p:nvPr/>
        </p:nvSpPr>
        <p:spPr>
          <a:xfrm>
            <a:off x="7181850" y="2276475"/>
            <a:ext cx="4400550" cy="8191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常用无损压缩，恢复原始文件。</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8" name="format-divider-0"/>
          <p:cNvSpPr>
            <a:spLocks noGrp="1"/>
          </p:cNvSpPr>
          <p:nvPr/>
        </p:nvSpPr>
        <p:spPr>
          <a:xfrm>
            <a:off x="609600" y="3067050"/>
            <a:ext cx="10972800" cy="9525"/>
          </a:xfrm>
          <a:custGeom>
            <a:avLst/>
            <a:gdLst/>
            <a:ahLst/>
            <a:cxnLst/>
            <a:pathLst>
              <a:path w="10972800" h="9525">
                <a:moveTo>
                  <a:pt x="0" y="0"/>
                </a:moveTo>
                <a:lnTo>
                  <a:pt x="10972800" y="0"/>
                </a:lnTo>
              </a:path>
            </a:pathLst>
          </a:custGeom>
          <a:noFill/>
          <a:ln w="13335">
            <a:solidFill>
              <a:srgbClr val="D7D7DE"/>
            </a:solidFill>
          </a:ln>
        </p:spPr>
      </p:sp>
      <p:sp>
        <p:nvSpPr>
          <p:cNvPr id="9" name="format-category-1"/>
          <p:cNvSpPr>
            <a:spLocks noGrp="1"/>
          </p:cNvSpPr>
          <p:nvPr/>
        </p:nvSpPr>
        <p:spPr>
          <a:xfrm>
            <a:off x="609600" y="3381375"/>
            <a:ext cx="2286000" cy="4762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音频编码</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0" name="format-example-1"/>
          <p:cNvSpPr>
            <a:spLocks noGrp="1"/>
          </p:cNvSpPr>
          <p:nvPr/>
        </p:nvSpPr>
        <p:spPr>
          <a:xfrm>
            <a:off x="3476625" y="3381375"/>
            <a:ext cx="3238500" cy="4762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MP3</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 name="format-qualification-1"/>
          <p:cNvSpPr>
            <a:spLocks noGrp="1"/>
          </p:cNvSpPr>
          <p:nvPr/>
        </p:nvSpPr>
        <p:spPr>
          <a:xfrm>
            <a:off x="7181850" y="3381375"/>
            <a:ext cx="4400550" cy="8191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常见有损音频编码。</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format-divider-1"/>
          <p:cNvSpPr>
            <a:spLocks noGrp="1"/>
          </p:cNvSpPr>
          <p:nvPr/>
        </p:nvSpPr>
        <p:spPr>
          <a:xfrm>
            <a:off x="609600" y="4171950"/>
            <a:ext cx="10972800" cy="9525"/>
          </a:xfrm>
          <a:custGeom>
            <a:avLst/>
            <a:gdLst/>
            <a:ahLst/>
            <a:cxnLst/>
            <a:pathLst>
              <a:path w="10972800" h="9525">
                <a:moveTo>
                  <a:pt x="0" y="0"/>
                </a:moveTo>
                <a:lnTo>
                  <a:pt x="10972800" y="0"/>
                </a:lnTo>
              </a:path>
            </a:pathLst>
          </a:custGeom>
          <a:noFill/>
          <a:ln w="13335">
            <a:solidFill>
              <a:srgbClr val="D7D7DE"/>
            </a:solidFill>
          </a:ln>
        </p:spPr>
      </p:sp>
      <p:sp>
        <p:nvSpPr>
          <p:cNvPr id="13" name="format-category-2"/>
          <p:cNvSpPr>
            <a:spLocks noGrp="1"/>
          </p:cNvSpPr>
          <p:nvPr/>
        </p:nvSpPr>
        <p:spPr>
          <a:xfrm>
            <a:off x="609600" y="4486275"/>
            <a:ext cx="2286000" cy="4762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容器</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format-example-2"/>
          <p:cNvSpPr>
            <a:spLocks noGrp="1"/>
          </p:cNvSpPr>
          <p:nvPr/>
        </p:nvSpPr>
        <p:spPr>
          <a:xfrm>
            <a:off x="3476625" y="4486275"/>
            <a:ext cx="3238500" cy="4762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WAV / MP4</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5" name="format-qualification-2"/>
          <p:cNvSpPr>
            <a:spLocks noGrp="1"/>
          </p:cNvSpPr>
          <p:nvPr/>
        </p:nvSpPr>
        <p:spPr>
          <a:xfrm>
            <a:off x="7181850" y="4486275"/>
            <a:ext cx="4400550" cy="8191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WAV常装PCM；MP4可装音视频。</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6" name="text"/>
          <p:cNvSpPr>
            <a:spLocks noGrp="1"/>
          </p:cNvSpPr>
          <p:nvPr/>
        </p:nvSpPr>
        <p:spPr>
          <a:xfrm>
            <a:off x="609600" y="58102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容器名不能单独确定内部编码，也不能单独判断有损或无损。</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相同尺寸的三幅图，谁容易无损压缩？</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609600" y="1719072"/>
            <a:ext cx="3417757" cy="381000"/>
          </a:xfrm>
          <a:prstGeom prst="rect">
            <a:avLst/>
          </a:prstGeom>
          <a:noFill/>
        </p:spPr>
        <p:txBody>
          <a:bodyPr wrap="square" lIns="0" tIns="0" rIns="0" bIns="0" anchor="t">
            <a:noAutofit/>
          </a:bodyPr>
          <a:lstStyle>
            <a:defPPr algn="l">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A 纯色</a:t>
            </a:r>
            <a:endPar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Rectangle 5"/>
          <p:cNvSpPr>
            <a:spLocks noGrp="1"/>
          </p:cNvSpPr>
          <p:nvPr/>
        </p:nvSpPr>
        <p:spPr>
          <a:xfrm>
            <a:off x="60960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 name="Rectangle 6"/>
          <p:cNvSpPr>
            <a:spLocks noGrp="1"/>
          </p:cNvSpPr>
          <p:nvPr/>
        </p:nvSpPr>
        <p:spPr>
          <a:xfrm>
            <a:off x="96037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 name="Rectangle 7"/>
          <p:cNvSpPr>
            <a:spLocks noGrp="1"/>
          </p:cNvSpPr>
          <p:nvPr/>
        </p:nvSpPr>
        <p:spPr>
          <a:xfrm>
            <a:off x="131114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 name="Rectangle 8"/>
          <p:cNvSpPr>
            <a:spLocks noGrp="1"/>
          </p:cNvSpPr>
          <p:nvPr/>
        </p:nvSpPr>
        <p:spPr>
          <a:xfrm>
            <a:off x="166191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 name="Rectangle 9"/>
          <p:cNvSpPr>
            <a:spLocks noGrp="1"/>
          </p:cNvSpPr>
          <p:nvPr/>
        </p:nvSpPr>
        <p:spPr>
          <a:xfrm>
            <a:off x="201267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 name="Rectangle 10"/>
          <p:cNvSpPr>
            <a:spLocks noGrp="1"/>
          </p:cNvSpPr>
          <p:nvPr/>
        </p:nvSpPr>
        <p:spPr>
          <a:xfrm>
            <a:off x="236344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 name="Rectangle 11"/>
          <p:cNvSpPr>
            <a:spLocks noGrp="1"/>
          </p:cNvSpPr>
          <p:nvPr/>
        </p:nvSpPr>
        <p:spPr>
          <a:xfrm>
            <a:off x="271421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 name="Rectangle 12"/>
          <p:cNvSpPr>
            <a:spLocks noGrp="1"/>
          </p:cNvSpPr>
          <p:nvPr/>
        </p:nvSpPr>
        <p:spPr>
          <a:xfrm>
            <a:off x="306498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 name="Rectangle 13"/>
          <p:cNvSpPr>
            <a:spLocks noGrp="1"/>
          </p:cNvSpPr>
          <p:nvPr/>
        </p:nvSpPr>
        <p:spPr>
          <a:xfrm>
            <a:off x="341575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 name="Rectangle 14"/>
          <p:cNvSpPr>
            <a:spLocks noGrp="1"/>
          </p:cNvSpPr>
          <p:nvPr/>
        </p:nvSpPr>
        <p:spPr>
          <a:xfrm>
            <a:off x="60960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 name="Rectangle 15"/>
          <p:cNvSpPr>
            <a:spLocks noGrp="1"/>
          </p:cNvSpPr>
          <p:nvPr/>
        </p:nvSpPr>
        <p:spPr>
          <a:xfrm>
            <a:off x="96037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 name="Rectangle 16"/>
          <p:cNvSpPr>
            <a:spLocks noGrp="1"/>
          </p:cNvSpPr>
          <p:nvPr/>
        </p:nvSpPr>
        <p:spPr>
          <a:xfrm>
            <a:off x="131114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8" name="Rectangle 17"/>
          <p:cNvSpPr>
            <a:spLocks noGrp="1"/>
          </p:cNvSpPr>
          <p:nvPr/>
        </p:nvSpPr>
        <p:spPr>
          <a:xfrm>
            <a:off x="166191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9" name="Rectangle 18"/>
          <p:cNvSpPr>
            <a:spLocks noGrp="1"/>
          </p:cNvSpPr>
          <p:nvPr/>
        </p:nvSpPr>
        <p:spPr>
          <a:xfrm>
            <a:off x="201267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0" name="Rectangle 19"/>
          <p:cNvSpPr>
            <a:spLocks noGrp="1"/>
          </p:cNvSpPr>
          <p:nvPr/>
        </p:nvSpPr>
        <p:spPr>
          <a:xfrm>
            <a:off x="236344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1" name="Rectangle 20"/>
          <p:cNvSpPr>
            <a:spLocks noGrp="1"/>
          </p:cNvSpPr>
          <p:nvPr/>
        </p:nvSpPr>
        <p:spPr>
          <a:xfrm>
            <a:off x="271421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2" name="Rectangle 21"/>
          <p:cNvSpPr>
            <a:spLocks noGrp="1"/>
          </p:cNvSpPr>
          <p:nvPr/>
        </p:nvSpPr>
        <p:spPr>
          <a:xfrm>
            <a:off x="306498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3" name="Rectangle 22"/>
          <p:cNvSpPr>
            <a:spLocks noGrp="1"/>
          </p:cNvSpPr>
          <p:nvPr/>
        </p:nvSpPr>
        <p:spPr>
          <a:xfrm>
            <a:off x="341575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4" name="Rectangle 23"/>
          <p:cNvSpPr>
            <a:spLocks noGrp="1"/>
          </p:cNvSpPr>
          <p:nvPr/>
        </p:nvSpPr>
        <p:spPr>
          <a:xfrm>
            <a:off x="60960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5" name="Rectangle 24"/>
          <p:cNvSpPr>
            <a:spLocks noGrp="1"/>
          </p:cNvSpPr>
          <p:nvPr/>
        </p:nvSpPr>
        <p:spPr>
          <a:xfrm>
            <a:off x="96037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6" name="Rectangle 25"/>
          <p:cNvSpPr>
            <a:spLocks noGrp="1"/>
          </p:cNvSpPr>
          <p:nvPr/>
        </p:nvSpPr>
        <p:spPr>
          <a:xfrm>
            <a:off x="131114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7" name="Rectangle 26"/>
          <p:cNvSpPr>
            <a:spLocks noGrp="1"/>
          </p:cNvSpPr>
          <p:nvPr/>
        </p:nvSpPr>
        <p:spPr>
          <a:xfrm>
            <a:off x="166191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8" name="Rectangle 27"/>
          <p:cNvSpPr>
            <a:spLocks noGrp="1"/>
          </p:cNvSpPr>
          <p:nvPr/>
        </p:nvSpPr>
        <p:spPr>
          <a:xfrm>
            <a:off x="201267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29" name="Rectangle 28"/>
          <p:cNvSpPr>
            <a:spLocks noGrp="1"/>
          </p:cNvSpPr>
          <p:nvPr/>
        </p:nvSpPr>
        <p:spPr>
          <a:xfrm>
            <a:off x="236344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0" name="Rectangle 29"/>
          <p:cNvSpPr>
            <a:spLocks noGrp="1"/>
          </p:cNvSpPr>
          <p:nvPr/>
        </p:nvSpPr>
        <p:spPr>
          <a:xfrm>
            <a:off x="271421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1" name="Rectangle 30"/>
          <p:cNvSpPr>
            <a:spLocks noGrp="1"/>
          </p:cNvSpPr>
          <p:nvPr/>
        </p:nvSpPr>
        <p:spPr>
          <a:xfrm>
            <a:off x="306498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2" name="Rectangle 31"/>
          <p:cNvSpPr>
            <a:spLocks noGrp="1"/>
          </p:cNvSpPr>
          <p:nvPr/>
        </p:nvSpPr>
        <p:spPr>
          <a:xfrm>
            <a:off x="341575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3" name="Rectangle 32"/>
          <p:cNvSpPr>
            <a:spLocks noGrp="1"/>
          </p:cNvSpPr>
          <p:nvPr/>
        </p:nvSpPr>
        <p:spPr>
          <a:xfrm>
            <a:off x="609600"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4" name="Rectangle 33"/>
          <p:cNvSpPr>
            <a:spLocks noGrp="1"/>
          </p:cNvSpPr>
          <p:nvPr/>
        </p:nvSpPr>
        <p:spPr>
          <a:xfrm>
            <a:off x="960370"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5" name="Rectangle 34"/>
          <p:cNvSpPr>
            <a:spLocks noGrp="1"/>
          </p:cNvSpPr>
          <p:nvPr/>
        </p:nvSpPr>
        <p:spPr>
          <a:xfrm>
            <a:off x="1311140"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6" name="Rectangle 35"/>
          <p:cNvSpPr>
            <a:spLocks noGrp="1"/>
          </p:cNvSpPr>
          <p:nvPr/>
        </p:nvSpPr>
        <p:spPr>
          <a:xfrm>
            <a:off x="1661910"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7" name="Rectangle 36"/>
          <p:cNvSpPr>
            <a:spLocks noGrp="1"/>
          </p:cNvSpPr>
          <p:nvPr/>
        </p:nvSpPr>
        <p:spPr>
          <a:xfrm>
            <a:off x="2012679"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8" name="Rectangle 37"/>
          <p:cNvSpPr>
            <a:spLocks noGrp="1"/>
          </p:cNvSpPr>
          <p:nvPr/>
        </p:nvSpPr>
        <p:spPr>
          <a:xfrm>
            <a:off x="2363449"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9" name="Rectangle 38"/>
          <p:cNvSpPr>
            <a:spLocks noGrp="1"/>
          </p:cNvSpPr>
          <p:nvPr/>
        </p:nvSpPr>
        <p:spPr>
          <a:xfrm>
            <a:off x="2714219"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0" name="Rectangle 39"/>
          <p:cNvSpPr>
            <a:spLocks noGrp="1"/>
          </p:cNvSpPr>
          <p:nvPr/>
        </p:nvSpPr>
        <p:spPr>
          <a:xfrm>
            <a:off x="3064989"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1" name="Rectangle 40"/>
          <p:cNvSpPr>
            <a:spLocks noGrp="1"/>
          </p:cNvSpPr>
          <p:nvPr/>
        </p:nvSpPr>
        <p:spPr>
          <a:xfrm>
            <a:off x="3415759"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2" name="Rectangle 41"/>
          <p:cNvSpPr>
            <a:spLocks noGrp="1"/>
          </p:cNvSpPr>
          <p:nvPr/>
        </p:nvSpPr>
        <p:spPr>
          <a:xfrm>
            <a:off x="609600"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3" name="Rectangle 42"/>
          <p:cNvSpPr>
            <a:spLocks noGrp="1"/>
          </p:cNvSpPr>
          <p:nvPr/>
        </p:nvSpPr>
        <p:spPr>
          <a:xfrm>
            <a:off x="960370"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4" name="Rectangle 43"/>
          <p:cNvSpPr>
            <a:spLocks noGrp="1"/>
          </p:cNvSpPr>
          <p:nvPr/>
        </p:nvSpPr>
        <p:spPr>
          <a:xfrm>
            <a:off x="1311140"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5" name="Rectangle 44"/>
          <p:cNvSpPr>
            <a:spLocks noGrp="1"/>
          </p:cNvSpPr>
          <p:nvPr/>
        </p:nvSpPr>
        <p:spPr>
          <a:xfrm>
            <a:off x="1661910"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6" name="Rectangle 45"/>
          <p:cNvSpPr>
            <a:spLocks noGrp="1"/>
          </p:cNvSpPr>
          <p:nvPr/>
        </p:nvSpPr>
        <p:spPr>
          <a:xfrm>
            <a:off x="2012679"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7" name="Rectangle 46"/>
          <p:cNvSpPr>
            <a:spLocks noGrp="1"/>
          </p:cNvSpPr>
          <p:nvPr/>
        </p:nvSpPr>
        <p:spPr>
          <a:xfrm>
            <a:off x="2363449"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8" name="Rectangle 47"/>
          <p:cNvSpPr>
            <a:spLocks noGrp="1"/>
          </p:cNvSpPr>
          <p:nvPr/>
        </p:nvSpPr>
        <p:spPr>
          <a:xfrm>
            <a:off x="2714219"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9" name="Rectangle 48"/>
          <p:cNvSpPr>
            <a:spLocks noGrp="1"/>
          </p:cNvSpPr>
          <p:nvPr/>
        </p:nvSpPr>
        <p:spPr>
          <a:xfrm>
            <a:off x="3064989"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0" name="Rectangle 49"/>
          <p:cNvSpPr>
            <a:spLocks noGrp="1"/>
          </p:cNvSpPr>
          <p:nvPr/>
        </p:nvSpPr>
        <p:spPr>
          <a:xfrm>
            <a:off x="3415759"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1" name="Rectangle 50"/>
          <p:cNvSpPr>
            <a:spLocks noGrp="1"/>
          </p:cNvSpPr>
          <p:nvPr/>
        </p:nvSpPr>
        <p:spPr>
          <a:xfrm>
            <a:off x="609600"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2" name="Rectangle 51"/>
          <p:cNvSpPr>
            <a:spLocks noGrp="1"/>
          </p:cNvSpPr>
          <p:nvPr/>
        </p:nvSpPr>
        <p:spPr>
          <a:xfrm>
            <a:off x="960370"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3" name="Rectangle 52"/>
          <p:cNvSpPr>
            <a:spLocks noGrp="1"/>
          </p:cNvSpPr>
          <p:nvPr/>
        </p:nvSpPr>
        <p:spPr>
          <a:xfrm>
            <a:off x="1311140"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4" name="Rectangle 53"/>
          <p:cNvSpPr>
            <a:spLocks noGrp="1"/>
          </p:cNvSpPr>
          <p:nvPr/>
        </p:nvSpPr>
        <p:spPr>
          <a:xfrm>
            <a:off x="1661910"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5" name="Rectangle 54"/>
          <p:cNvSpPr>
            <a:spLocks noGrp="1"/>
          </p:cNvSpPr>
          <p:nvPr/>
        </p:nvSpPr>
        <p:spPr>
          <a:xfrm>
            <a:off x="2012679"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6" name="Rectangle 55"/>
          <p:cNvSpPr>
            <a:spLocks noGrp="1"/>
          </p:cNvSpPr>
          <p:nvPr/>
        </p:nvSpPr>
        <p:spPr>
          <a:xfrm>
            <a:off x="2363449"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7" name="Rectangle 56"/>
          <p:cNvSpPr>
            <a:spLocks noGrp="1"/>
          </p:cNvSpPr>
          <p:nvPr/>
        </p:nvSpPr>
        <p:spPr>
          <a:xfrm>
            <a:off x="2714219"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8" name="Rectangle 57"/>
          <p:cNvSpPr>
            <a:spLocks noGrp="1"/>
          </p:cNvSpPr>
          <p:nvPr/>
        </p:nvSpPr>
        <p:spPr>
          <a:xfrm>
            <a:off x="3064989"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59" name="Rectangle 58"/>
          <p:cNvSpPr>
            <a:spLocks noGrp="1"/>
          </p:cNvSpPr>
          <p:nvPr/>
        </p:nvSpPr>
        <p:spPr>
          <a:xfrm>
            <a:off x="3415759"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0" name="TextBox 59"/>
          <p:cNvSpPr>
            <a:spLocks noGrp="1"/>
          </p:cNvSpPr>
          <p:nvPr/>
        </p:nvSpPr>
        <p:spPr>
          <a:xfrm>
            <a:off x="609600" y="4946904"/>
            <a:ext cx="3327816" cy="335280"/>
          </a:xfrm>
          <a:prstGeom prst="rect">
            <a:avLst/>
          </a:prstGeom>
          <a:noFill/>
        </p:spPr>
        <p:txBody>
          <a:bodyPr wrap="square" lIns="0" tIns="0" rIns="0" bIns="0" anchor="t">
            <a:noAutofit/>
          </a:bodyPr>
          <a:lstStyle>
            <a:defPPr algn="l">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同一尺寸与位深</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1" name="TextBox 60"/>
          <p:cNvSpPr>
            <a:spLocks noGrp="1"/>
          </p:cNvSpPr>
          <p:nvPr/>
        </p:nvSpPr>
        <p:spPr>
          <a:xfrm>
            <a:off x="4387121" y="1719072"/>
            <a:ext cx="3417757" cy="381000"/>
          </a:xfrm>
          <a:prstGeom prst="rect">
            <a:avLst/>
          </a:prstGeom>
          <a:noFill/>
        </p:spPr>
        <p:txBody>
          <a:bodyPr wrap="square" lIns="0" tIns="0" rIns="0" bIns="0" anchor="t">
            <a:noAutofit/>
          </a:bodyPr>
          <a:lstStyle>
            <a:defPPr algn="l">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B 色块</a:t>
            </a:r>
            <a:endPar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2" name="Rectangle 61"/>
          <p:cNvSpPr>
            <a:spLocks noGrp="1"/>
          </p:cNvSpPr>
          <p:nvPr/>
        </p:nvSpPr>
        <p:spPr>
          <a:xfrm>
            <a:off x="4387121"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3" name="Rectangle 62"/>
          <p:cNvSpPr>
            <a:spLocks noGrp="1"/>
          </p:cNvSpPr>
          <p:nvPr/>
        </p:nvSpPr>
        <p:spPr>
          <a:xfrm>
            <a:off x="4737891"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4" name="Rectangle 63"/>
          <p:cNvSpPr>
            <a:spLocks noGrp="1"/>
          </p:cNvSpPr>
          <p:nvPr/>
        </p:nvSpPr>
        <p:spPr>
          <a:xfrm>
            <a:off x="5088661"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5" name="Rectangle 64"/>
          <p:cNvSpPr>
            <a:spLocks noGrp="1"/>
          </p:cNvSpPr>
          <p:nvPr/>
        </p:nvSpPr>
        <p:spPr>
          <a:xfrm>
            <a:off x="5439431"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6" name="Rectangle 65"/>
          <p:cNvSpPr>
            <a:spLocks noGrp="1"/>
          </p:cNvSpPr>
          <p:nvPr/>
        </p:nvSpPr>
        <p:spPr>
          <a:xfrm>
            <a:off x="5790201"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7" name="Rectangle 66"/>
          <p:cNvSpPr>
            <a:spLocks noGrp="1"/>
          </p:cNvSpPr>
          <p:nvPr/>
        </p:nvSpPr>
        <p:spPr>
          <a:xfrm>
            <a:off x="6140970"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8" name="Rectangle 67"/>
          <p:cNvSpPr>
            <a:spLocks noGrp="1"/>
          </p:cNvSpPr>
          <p:nvPr/>
        </p:nvSpPr>
        <p:spPr>
          <a:xfrm>
            <a:off x="649174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69" name="Rectangle 68"/>
          <p:cNvSpPr>
            <a:spLocks noGrp="1"/>
          </p:cNvSpPr>
          <p:nvPr/>
        </p:nvSpPr>
        <p:spPr>
          <a:xfrm>
            <a:off x="6842509"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0" name="Rectangle 69"/>
          <p:cNvSpPr>
            <a:spLocks noGrp="1"/>
          </p:cNvSpPr>
          <p:nvPr/>
        </p:nvSpPr>
        <p:spPr>
          <a:xfrm>
            <a:off x="7193280"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1" name="Rectangle 70"/>
          <p:cNvSpPr>
            <a:spLocks noGrp="1"/>
          </p:cNvSpPr>
          <p:nvPr/>
        </p:nvSpPr>
        <p:spPr>
          <a:xfrm>
            <a:off x="4387121"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2" name="Rectangle 71"/>
          <p:cNvSpPr>
            <a:spLocks noGrp="1"/>
          </p:cNvSpPr>
          <p:nvPr/>
        </p:nvSpPr>
        <p:spPr>
          <a:xfrm>
            <a:off x="4737891"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3" name="Rectangle 72"/>
          <p:cNvSpPr>
            <a:spLocks noGrp="1"/>
          </p:cNvSpPr>
          <p:nvPr/>
        </p:nvSpPr>
        <p:spPr>
          <a:xfrm>
            <a:off x="5088661"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4" name="Rectangle 73"/>
          <p:cNvSpPr>
            <a:spLocks noGrp="1"/>
          </p:cNvSpPr>
          <p:nvPr/>
        </p:nvSpPr>
        <p:spPr>
          <a:xfrm>
            <a:off x="5439431"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5" name="Rectangle 74"/>
          <p:cNvSpPr>
            <a:spLocks noGrp="1"/>
          </p:cNvSpPr>
          <p:nvPr/>
        </p:nvSpPr>
        <p:spPr>
          <a:xfrm>
            <a:off x="5790201"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6" name="Rectangle 75"/>
          <p:cNvSpPr>
            <a:spLocks noGrp="1"/>
          </p:cNvSpPr>
          <p:nvPr/>
        </p:nvSpPr>
        <p:spPr>
          <a:xfrm>
            <a:off x="6140970"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7" name="Rectangle 76"/>
          <p:cNvSpPr>
            <a:spLocks noGrp="1"/>
          </p:cNvSpPr>
          <p:nvPr/>
        </p:nvSpPr>
        <p:spPr>
          <a:xfrm>
            <a:off x="649174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8" name="Rectangle 77"/>
          <p:cNvSpPr>
            <a:spLocks noGrp="1"/>
          </p:cNvSpPr>
          <p:nvPr/>
        </p:nvSpPr>
        <p:spPr>
          <a:xfrm>
            <a:off x="6842509"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79" name="Rectangle 78"/>
          <p:cNvSpPr>
            <a:spLocks noGrp="1"/>
          </p:cNvSpPr>
          <p:nvPr/>
        </p:nvSpPr>
        <p:spPr>
          <a:xfrm>
            <a:off x="7193280"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0" name="Rectangle 79"/>
          <p:cNvSpPr>
            <a:spLocks noGrp="1"/>
          </p:cNvSpPr>
          <p:nvPr/>
        </p:nvSpPr>
        <p:spPr>
          <a:xfrm>
            <a:off x="4387121"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1" name="Rectangle 80"/>
          <p:cNvSpPr>
            <a:spLocks noGrp="1"/>
          </p:cNvSpPr>
          <p:nvPr/>
        </p:nvSpPr>
        <p:spPr>
          <a:xfrm>
            <a:off x="4737891"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2" name="Rectangle 81"/>
          <p:cNvSpPr>
            <a:spLocks noGrp="1"/>
          </p:cNvSpPr>
          <p:nvPr/>
        </p:nvSpPr>
        <p:spPr>
          <a:xfrm>
            <a:off x="5088661"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3" name="Rectangle 82"/>
          <p:cNvSpPr>
            <a:spLocks noGrp="1"/>
          </p:cNvSpPr>
          <p:nvPr/>
        </p:nvSpPr>
        <p:spPr>
          <a:xfrm>
            <a:off x="5439431"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4" name="Rectangle 83"/>
          <p:cNvSpPr>
            <a:spLocks noGrp="1"/>
          </p:cNvSpPr>
          <p:nvPr/>
        </p:nvSpPr>
        <p:spPr>
          <a:xfrm>
            <a:off x="5790201"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5" name="Rectangle 84"/>
          <p:cNvSpPr>
            <a:spLocks noGrp="1"/>
          </p:cNvSpPr>
          <p:nvPr/>
        </p:nvSpPr>
        <p:spPr>
          <a:xfrm>
            <a:off x="6140970"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6" name="Rectangle 85"/>
          <p:cNvSpPr>
            <a:spLocks noGrp="1"/>
          </p:cNvSpPr>
          <p:nvPr/>
        </p:nvSpPr>
        <p:spPr>
          <a:xfrm>
            <a:off x="649174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7" name="Rectangle 86"/>
          <p:cNvSpPr>
            <a:spLocks noGrp="1"/>
          </p:cNvSpPr>
          <p:nvPr/>
        </p:nvSpPr>
        <p:spPr>
          <a:xfrm>
            <a:off x="6842509"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8" name="Rectangle 87"/>
          <p:cNvSpPr>
            <a:spLocks noGrp="1"/>
          </p:cNvSpPr>
          <p:nvPr/>
        </p:nvSpPr>
        <p:spPr>
          <a:xfrm>
            <a:off x="7193280"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89" name="Rectangle 88"/>
          <p:cNvSpPr>
            <a:spLocks noGrp="1"/>
          </p:cNvSpPr>
          <p:nvPr/>
        </p:nvSpPr>
        <p:spPr>
          <a:xfrm>
            <a:off x="4387121"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0" name="Rectangle 89"/>
          <p:cNvSpPr>
            <a:spLocks noGrp="1"/>
          </p:cNvSpPr>
          <p:nvPr/>
        </p:nvSpPr>
        <p:spPr>
          <a:xfrm>
            <a:off x="4737891"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1" name="Rectangle 90"/>
          <p:cNvSpPr>
            <a:spLocks noGrp="1"/>
          </p:cNvSpPr>
          <p:nvPr/>
        </p:nvSpPr>
        <p:spPr>
          <a:xfrm>
            <a:off x="5088661"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2" name="Rectangle 91"/>
          <p:cNvSpPr>
            <a:spLocks noGrp="1"/>
          </p:cNvSpPr>
          <p:nvPr/>
        </p:nvSpPr>
        <p:spPr>
          <a:xfrm>
            <a:off x="5439431"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3" name="Rectangle 92"/>
          <p:cNvSpPr>
            <a:spLocks noGrp="1"/>
          </p:cNvSpPr>
          <p:nvPr/>
        </p:nvSpPr>
        <p:spPr>
          <a:xfrm>
            <a:off x="5790201"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4" name="Rectangle 93"/>
          <p:cNvSpPr>
            <a:spLocks noGrp="1"/>
          </p:cNvSpPr>
          <p:nvPr/>
        </p:nvSpPr>
        <p:spPr>
          <a:xfrm>
            <a:off x="6140970"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5" name="Rectangle 94"/>
          <p:cNvSpPr>
            <a:spLocks noGrp="1"/>
          </p:cNvSpPr>
          <p:nvPr/>
        </p:nvSpPr>
        <p:spPr>
          <a:xfrm>
            <a:off x="6491740"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6" name="Rectangle 95"/>
          <p:cNvSpPr>
            <a:spLocks noGrp="1"/>
          </p:cNvSpPr>
          <p:nvPr/>
        </p:nvSpPr>
        <p:spPr>
          <a:xfrm>
            <a:off x="6842509"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7" name="Rectangle 96"/>
          <p:cNvSpPr>
            <a:spLocks noGrp="1"/>
          </p:cNvSpPr>
          <p:nvPr/>
        </p:nvSpPr>
        <p:spPr>
          <a:xfrm>
            <a:off x="7193280"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8" name="Rectangle 97"/>
          <p:cNvSpPr>
            <a:spLocks noGrp="1"/>
          </p:cNvSpPr>
          <p:nvPr/>
        </p:nvSpPr>
        <p:spPr>
          <a:xfrm>
            <a:off x="4387121"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99" name="Rectangle 98"/>
          <p:cNvSpPr>
            <a:spLocks noGrp="1"/>
          </p:cNvSpPr>
          <p:nvPr/>
        </p:nvSpPr>
        <p:spPr>
          <a:xfrm>
            <a:off x="4737891"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0" name="Rectangle 99"/>
          <p:cNvSpPr>
            <a:spLocks noGrp="1"/>
          </p:cNvSpPr>
          <p:nvPr/>
        </p:nvSpPr>
        <p:spPr>
          <a:xfrm>
            <a:off x="5088661"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1" name="Rectangle 100"/>
          <p:cNvSpPr>
            <a:spLocks noGrp="1"/>
          </p:cNvSpPr>
          <p:nvPr/>
        </p:nvSpPr>
        <p:spPr>
          <a:xfrm>
            <a:off x="5439431"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2" name="Rectangle 101"/>
          <p:cNvSpPr>
            <a:spLocks noGrp="1"/>
          </p:cNvSpPr>
          <p:nvPr/>
        </p:nvSpPr>
        <p:spPr>
          <a:xfrm>
            <a:off x="5790201"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3" name="Rectangle 102"/>
          <p:cNvSpPr>
            <a:spLocks noGrp="1"/>
          </p:cNvSpPr>
          <p:nvPr/>
        </p:nvSpPr>
        <p:spPr>
          <a:xfrm>
            <a:off x="6140970"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4" name="Rectangle 103"/>
          <p:cNvSpPr>
            <a:spLocks noGrp="1"/>
          </p:cNvSpPr>
          <p:nvPr/>
        </p:nvSpPr>
        <p:spPr>
          <a:xfrm>
            <a:off x="6491740"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5" name="Rectangle 104"/>
          <p:cNvSpPr>
            <a:spLocks noGrp="1"/>
          </p:cNvSpPr>
          <p:nvPr/>
        </p:nvSpPr>
        <p:spPr>
          <a:xfrm>
            <a:off x="6842509"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6" name="Rectangle 105"/>
          <p:cNvSpPr>
            <a:spLocks noGrp="1"/>
          </p:cNvSpPr>
          <p:nvPr/>
        </p:nvSpPr>
        <p:spPr>
          <a:xfrm>
            <a:off x="7193280"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7" name="Rectangle 106"/>
          <p:cNvSpPr>
            <a:spLocks noGrp="1"/>
          </p:cNvSpPr>
          <p:nvPr/>
        </p:nvSpPr>
        <p:spPr>
          <a:xfrm>
            <a:off x="4387121"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8" name="Rectangle 107"/>
          <p:cNvSpPr>
            <a:spLocks noGrp="1"/>
          </p:cNvSpPr>
          <p:nvPr/>
        </p:nvSpPr>
        <p:spPr>
          <a:xfrm>
            <a:off x="4737891"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09" name="Rectangle 108"/>
          <p:cNvSpPr>
            <a:spLocks noGrp="1"/>
          </p:cNvSpPr>
          <p:nvPr/>
        </p:nvSpPr>
        <p:spPr>
          <a:xfrm>
            <a:off x="5088661"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0" name="Rectangle 109"/>
          <p:cNvSpPr>
            <a:spLocks noGrp="1"/>
          </p:cNvSpPr>
          <p:nvPr/>
        </p:nvSpPr>
        <p:spPr>
          <a:xfrm>
            <a:off x="5439431"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1" name="Rectangle 110"/>
          <p:cNvSpPr>
            <a:spLocks noGrp="1"/>
          </p:cNvSpPr>
          <p:nvPr/>
        </p:nvSpPr>
        <p:spPr>
          <a:xfrm>
            <a:off x="5790201"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2" name="Rectangle 111"/>
          <p:cNvSpPr>
            <a:spLocks noGrp="1"/>
          </p:cNvSpPr>
          <p:nvPr/>
        </p:nvSpPr>
        <p:spPr>
          <a:xfrm>
            <a:off x="6140970"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3" name="Rectangle 112"/>
          <p:cNvSpPr>
            <a:spLocks noGrp="1"/>
          </p:cNvSpPr>
          <p:nvPr/>
        </p:nvSpPr>
        <p:spPr>
          <a:xfrm>
            <a:off x="6491740"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4" name="Rectangle 113"/>
          <p:cNvSpPr>
            <a:spLocks noGrp="1"/>
          </p:cNvSpPr>
          <p:nvPr/>
        </p:nvSpPr>
        <p:spPr>
          <a:xfrm>
            <a:off x="6842509"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5" name="Rectangle 114"/>
          <p:cNvSpPr>
            <a:spLocks noGrp="1"/>
          </p:cNvSpPr>
          <p:nvPr/>
        </p:nvSpPr>
        <p:spPr>
          <a:xfrm>
            <a:off x="7193280"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6" name="TextBox 115"/>
          <p:cNvSpPr>
            <a:spLocks noGrp="1"/>
          </p:cNvSpPr>
          <p:nvPr/>
        </p:nvSpPr>
        <p:spPr>
          <a:xfrm>
            <a:off x="4387121" y="4946904"/>
            <a:ext cx="3327816" cy="335280"/>
          </a:xfrm>
          <a:prstGeom prst="rect">
            <a:avLst/>
          </a:prstGeom>
          <a:noFill/>
        </p:spPr>
        <p:txBody>
          <a:bodyPr wrap="square" lIns="0" tIns="0" rIns="0" bIns="0" anchor="t">
            <a:noAutofit/>
          </a:bodyPr>
          <a:lstStyle>
            <a:defPPr algn="l">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同一尺寸与位深</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7" name="TextBox 116"/>
          <p:cNvSpPr>
            <a:spLocks noGrp="1"/>
          </p:cNvSpPr>
          <p:nvPr/>
        </p:nvSpPr>
        <p:spPr>
          <a:xfrm>
            <a:off x="8164643" y="1719072"/>
            <a:ext cx="3417757" cy="381000"/>
          </a:xfrm>
          <a:prstGeom prst="rect">
            <a:avLst/>
          </a:prstGeom>
          <a:noFill/>
        </p:spPr>
        <p:txBody>
          <a:bodyPr wrap="square" lIns="0" tIns="0" rIns="0" bIns="0" anchor="t">
            <a:noAutofit/>
          </a:bodyPr>
          <a:lstStyle>
            <a:defPPr algn="l">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C 复杂图案</a:t>
            </a:r>
            <a:endParaRPr sz="25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18" name="Rectangle 117"/>
          <p:cNvSpPr>
            <a:spLocks noGrp="1"/>
          </p:cNvSpPr>
          <p:nvPr/>
        </p:nvSpPr>
        <p:spPr>
          <a:xfrm>
            <a:off x="8164643"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19" name="Rectangle 118"/>
          <p:cNvSpPr>
            <a:spLocks noGrp="1"/>
          </p:cNvSpPr>
          <p:nvPr/>
        </p:nvSpPr>
        <p:spPr>
          <a:xfrm>
            <a:off x="8515412"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0" name="Rectangle 119"/>
          <p:cNvSpPr>
            <a:spLocks noGrp="1"/>
          </p:cNvSpPr>
          <p:nvPr/>
        </p:nvSpPr>
        <p:spPr>
          <a:xfrm>
            <a:off x="8866182"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1" name="Rectangle 120"/>
          <p:cNvSpPr>
            <a:spLocks noGrp="1"/>
          </p:cNvSpPr>
          <p:nvPr/>
        </p:nvSpPr>
        <p:spPr>
          <a:xfrm>
            <a:off x="9216952"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2" name="Rectangle 121"/>
          <p:cNvSpPr>
            <a:spLocks noGrp="1"/>
          </p:cNvSpPr>
          <p:nvPr/>
        </p:nvSpPr>
        <p:spPr>
          <a:xfrm>
            <a:off x="9567722"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3" name="Rectangle 122"/>
          <p:cNvSpPr>
            <a:spLocks noGrp="1"/>
          </p:cNvSpPr>
          <p:nvPr/>
        </p:nvSpPr>
        <p:spPr>
          <a:xfrm>
            <a:off x="9918492"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4" name="Rectangle 123"/>
          <p:cNvSpPr>
            <a:spLocks noGrp="1"/>
          </p:cNvSpPr>
          <p:nvPr/>
        </p:nvSpPr>
        <p:spPr>
          <a:xfrm>
            <a:off x="10269262"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5" name="Rectangle 124"/>
          <p:cNvSpPr>
            <a:spLocks noGrp="1"/>
          </p:cNvSpPr>
          <p:nvPr/>
        </p:nvSpPr>
        <p:spPr>
          <a:xfrm>
            <a:off x="10620031" y="252554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6" name="Rectangle 125"/>
          <p:cNvSpPr>
            <a:spLocks noGrp="1"/>
          </p:cNvSpPr>
          <p:nvPr/>
        </p:nvSpPr>
        <p:spPr>
          <a:xfrm>
            <a:off x="10970801" y="252554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7" name="Rectangle 126"/>
          <p:cNvSpPr>
            <a:spLocks noGrp="1"/>
          </p:cNvSpPr>
          <p:nvPr/>
        </p:nvSpPr>
        <p:spPr>
          <a:xfrm>
            <a:off x="8164643"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8" name="Rectangle 127"/>
          <p:cNvSpPr>
            <a:spLocks noGrp="1"/>
          </p:cNvSpPr>
          <p:nvPr/>
        </p:nvSpPr>
        <p:spPr>
          <a:xfrm>
            <a:off x="8515412"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29" name="Rectangle 128"/>
          <p:cNvSpPr>
            <a:spLocks noGrp="1"/>
          </p:cNvSpPr>
          <p:nvPr/>
        </p:nvSpPr>
        <p:spPr>
          <a:xfrm>
            <a:off x="8866182"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0" name="Rectangle 129"/>
          <p:cNvSpPr>
            <a:spLocks noGrp="1"/>
          </p:cNvSpPr>
          <p:nvPr/>
        </p:nvSpPr>
        <p:spPr>
          <a:xfrm>
            <a:off x="9216952"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1" name="Rectangle 130"/>
          <p:cNvSpPr>
            <a:spLocks noGrp="1"/>
          </p:cNvSpPr>
          <p:nvPr/>
        </p:nvSpPr>
        <p:spPr>
          <a:xfrm>
            <a:off x="9567722"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2" name="Rectangle 131"/>
          <p:cNvSpPr>
            <a:spLocks noGrp="1"/>
          </p:cNvSpPr>
          <p:nvPr/>
        </p:nvSpPr>
        <p:spPr>
          <a:xfrm>
            <a:off x="9918492" y="2876313"/>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3" name="Rectangle 132"/>
          <p:cNvSpPr>
            <a:spLocks noGrp="1"/>
          </p:cNvSpPr>
          <p:nvPr/>
        </p:nvSpPr>
        <p:spPr>
          <a:xfrm>
            <a:off x="10269262"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4" name="Rectangle 133"/>
          <p:cNvSpPr>
            <a:spLocks noGrp="1"/>
          </p:cNvSpPr>
          <p:nvPr/>
        </p:nvSpPr>
        <p:spPr>
          <a:xfrm>
            <a:off x="10620031"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5" name="Rectangle 134"/>
          <p:cNvSpPr>
            <a:spLocks noGrp="1"/>
          </p:cNvSpPr>
          <p:nvPr/>
        </p:nvSpPr>
        <p:spPr>
          <a:xfrm>
            <a:off x="10970801" y="2876313"/>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6" name="Rectangle 135"/>
          <p:cNvSpPr>
            <a:spLocks noGrp="1"/>
          </p:cNvSpPr>
          <p:nvPr/>
        </p:nvSpPr>
        <p:spPr>
          <a:xfrm>
            <a:off x="8164643"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7" name="Rectangle 136"/>
          <p:cNvSpPr>
            <a:spLocks noGrp="1"/>
          </p:cNvSpPr>
          <p:nvPr/>
        </p:nvSpPr>
        <p:spPr>
          <a:xfrm>
            <a:off x="8515412"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8" name="Rectangle 137"/>
          <p:cNvSpPr>
            <a:spLocks noGrp="1"/>
          </p:cNvSpPr>
          <p:nvPr/>
        </p:nvSpPr>
        <p:spPr>
          <a:xfrm>
            <a:off x="8866182"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39" name="Rectangle 138"/>
          <p:cNvSpPr>
            <a:spLocks noGrp="1"/>
          </p:cNvSpPr>
          <p:nvPr/>
        </p:nvSpPr>
        <p:spPr>
          <a:xfrm>
            <a:off x="9216952"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0" name="Rectangle 139"/>
          <p:cNvSpPr>
            <a:spLocks noGrp="1"/>
          </p:cNvSpPr>
          <p:nvPr/>
        </p:nvSpPr>
        <p:spPr>
          <a:xfrm>
            <a:off x="9567722"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1" name="Rectangle 140"/>
          <p:cNvSpPr>
            <a:spLocks noGrp="1"/>
          </p:cNvSpPr>
          <p:nvPr/>
        </p:nvSpPr>
        <p:spPr>
          <a:xfrm>
            <a:off x="9918492"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2" name="Rectangle 141"/>
          <p:cNvSpPr>
            <a:spLocks noGrp="1"/>
          </p:cNvSpPr>
          <p:nvPr/>
        </p:nvSpPr>
        <p:spPr>
          <a:xfrm>
            <a:off x="10269262" y="322708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3" name="Rectangle 142"/>
          <p:cNvSpPr>
            <a:spLocks noGrp="1"/>
          </p:cNvSpPr>
          <p:nvPr/>
        </p:nvSpPr>
        <p:spPr>
          <a:xfrm>
            <a:off x="10620031"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4" name="Rectangle 143"/>
          <p:cNvSpPr>
            <a:spLocks noGrp="1"/>
          </p:cNvSpPr>
          <p:nvPr/>
        </p:nvSpPr>
        <p:spPr>
          <a:xfrm>
            <a:off x="10970801" y="322708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5" name="Rectangle 144"/>
          <p:cNvSpPr>
            <a:spLocks noGrp="1"/>
          </p:cNvSpPr>
          <p:nvPr/>
        </p:nvSpPr>
        <p:spPr>
          <a:xfrm>
            <a:off x="8164643"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6" name="Rectangle 145"/>
          <p:cNvSpPr>
            <a:spLocks noGrp="1"/>
          </p:cNvSpPr>
          <p:nvPr/>
        </p:nvSpPr>
        <p:spPr>
          <a:xfrm>
            <a:off x="8515412"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7" name="Rectangle 146"/>
          <p:cNvSpPr>
            <a:spLocks noGrp="1"/>
          </p:cNvSpPr>
          <p:nvPr/>
        </p:nvSpPr>
        <p:spPr>
          <a:xfrm>
            <a:off x="8866182"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8" name="Rectangle 147"/>
          <p:cNvSpPr>
            <a:spLocks noGrp="1"/>
          </p:cNvSpPr>
          <p:nvPr/>
        </p:nvSpPr>
        <p:spPr>
          <a:xfrm>
            <a:off x="9216952"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49" name="Rectangle 148"/>
          <p:cNvSpPr>
            <a:spLocks noGrp="1"/>
          </p:cNvSpPr>
          <p:nvPr/>
        </p:nvSpPr>
        <p:spPr>
          <a:xfrm>
            <a:off x="9567722"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0" name="Rectangle 149"/>
          <p:cNvSpPr>
            <a:spLocks noGrp="1"/>
          </p:cNvSpPr>
          <p:nvPr/>
        </p:nvSpPr>
        <p:spPr>
          <a:xfrm>
            <a:off x="9918492"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1" name="Rectangle 150"/>
          <p:cNvSpPr>
            <a:spLocks noGrp="1"/>
          </p:cNvSpPr>
          <p:nvPr/>
        </p:nvSpPr>
        <p:spPr>
          <a:xfrm>
            <a:off x="10269262"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2" name="Rectangle 151"/>
          <p:cNvSpPr>
            <a:spLocks noGrp="1"/>
          </p:cNvSpPr>
          <p:nvPr/>
        </p:nvSpPr>
        <p:spPr>
          <a:xfrm>
            <a:off x="10620031" y="357785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3" name="Rectangle 152"/>
          <p:cNvSpPr>
            <a:spLocks noGrp="1"/>
          </p:cNvSpPr>
          <p:nvPr/>
        </p:nvSpPr>
        <p:spPr>
          <a:xfrm>
            <a:off x="10970801" y="357785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4" name="Rectangle 153"/>
          <p:cNvSpPr>
            <a:spLocks noGrp="1"/>
          </p:cNvSpPr>
          <p:nvPr/>
        </p:nvSpPr>
        <p:spPr>
          <a:xfrm>
            <a:off x="8164643"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5" name="Rectangle 154"/>
          <p:cNvSpPr>
            <a:spLocks noGrp="1"/>
          </p:cNvSpPr>
          <p:nvPr/>
        </p:nvSpPr>
        <p:spPr>
          <a:xfrm>
            <a:off x="8515412"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6" name="Rectangle 155"/>
          <p:cNvSpPr>
            <a:spLocks noGrp="1"/>
          </p:cNvSpPr>
          <p:nvPr/>
        </p:nvSpPr>
        <p:spPr>
          <a:xfrm>
            <a:off x="8866182"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7" name="Rectangle 156"/>
          <p:cNvSpPr>
            <a:spLocks noGrp="1"/>
          </p:cNvSpPr>
          <p:nvPr/>
        </p:nvSpPr>
        <p:spPr>
          <a:xfrm>
            <a:off x="9216952"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8" name="Rectangle 157"/>
          <p:cNvSpPr>
            <a:spLocks noGrp="1"/>
          </p:cNvSpPr>
          <p:nvPr/>
        </p:nvSpPr>
        <p:spPr>
          <a:xfrm>
            <a:off x="9567722"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59" name="Rectangle 158"/>
          <p:cNvSpPr>
            <a:spLocks noGrp="1"/>
          </p:cNvSpPr>
          <p:nvPr/>
        </p:nvSpPr>
        <p:spPr>
          <a:xfrm>
            <a:off x="9918492"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0" name="Rectangle 159"/>
          <p:cNvSpPr>
            <a:spLocks noGrp="1"/>
          </p:cNvSpPr>
          <p:nvPr/>
        </p:nvSpPr>
        <p:spPr>
          <a:xfrm>
            <a:off x="10269262" y="392862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1" name="Rectangle 160"/>
          <p:cNvSpPr>
            <a:spLocks noGrp="1"/>
          </p:cNvSpPr>
          <p:nvPr/>
        </p:nvSpPr>
        <p:spPr>
          <a:xfrm>
            <a:off x="10620031"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2" name="Rectangle 161"/>
          <p:cNvSpPr>
            <a:spLocks noGrp="1"/>
          </p:cNvSpPr>
          <p:nvPr/>
        </p:nvSpPr>
        <p:spPr>
          <a:xfrm>
            <a:off x="10970801" y="392862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3" name="Rectangle 162"/>
          <p:cNvSpPr>
            <a:spLocks noGrp="1"/>
          </p:cNvSpPr>
          <p:nvPr/>
        </p:nvSpPr>
        <p:spPr>
          <a:xfrm>
            <a:off x="8164643"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4" name="Rectangle 163"/>
          <p:cNvSpPr>
            <a:spLocks noGrp="1"/>
          </p:cNvSpPr>
          <p:nvPr/>
        </p:nvSpPr>
        <p:spPr>
          <a:xfrm>
            <a:off x="8515412"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5" name="Rectangle 164"/>
          <p:cNvSpPr>
            <a:spLocks noGrp="1"/>
          </p:cNvSpPr>
          <p:nvPr/>
        </p:nvSpPr>
        <p:spPr>
          <a:xfrm>
            <a:off x="8866182"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6" name="Rectangle 165"/>
          <p:cNvSpPr>
            <a:spLocks noGrp="1"/>
          </p:cNvSpPr>
          <p:nvPr/>
        </p:nvSpPr>
        <p:spPr>
          <a:xfrm>
            <a:off x="9216952"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7" name="Rectangle 166"/>
          <p:cNvSpPr>
            <a:spLocks noGrp="1"/>
          </p:cNvSpPr>
          <p:nvPr/>
        </p:nvSpPr>
        <p:spPr>
          <a:xfrm>
            <a:off x="9567722"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8" name="Rectangle 167"/>
          <p:cNvSpPr>
            <a:spLocks noGrp="1"/>
          </p:cNvSpPr>
          <p:nvPr/>
        </p:nvSpPr>
        <p:spPr>
          <a:xfrm>
            <a:off x="9918492"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69" name="Rectangle 168"/>
          <p:cNvSpPr>
            <a:spLocks noGrp="1"/>
          </p:cNvSpPr>
          <p:nvPr/>
        </p:nvSpPr>
        <p:spPr>
          <a:xfrm>
            <a:off x="10269262"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0" name="Rectangle 169"/>
          <p:cNvSpPr>
            <a:spLocks noGrp="1"/>
          </p:cNvSpPr>
          <p:nvPr/>
        </p:nvSpPr>
        <p:spPr>
          <a:xfrm>
            <a:off x="10620031" y="4279392"/>
            <a:ext cx="328285" cy="328285"/>
          </a:xfrm>
          <a:prstGeom prst="rect">
            <a:avLst/>
          </a:prstGeom>
          <a:solidFill>
            <a:srgbClr val="00B0F0"/>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1" name="Rectangle 170"/>
          <p:cNvSpPr>
            <a:spLocks noGrp="1"/>
          </p:cNvSpPr>
          <p:nvPr/>
        </p:nvSpPr>
        <p:spPr>
          <a:xfrm>
            <a:off x="10970801" y="4279392"/>
            <a:ext cx="328285" cy="328285"/>
          </a:xfrm>
          <a:prstGeom prst="rect">
            <a:avLst/>
          </a:prstGeom>
          <a:solidFill>
            <a:srgbClr val="8C64E1"/>
          </a:solidFill>
          <a:ln>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172" name="TextBox 171"/>
          <p:cNvSpPr>
            <a:spLocks noGrp="1"/>
          </p:cNvSpPr>
          <p:nvPr/>
        </p:nvSpPr>
        <p:spPr>
          <a:xfrm>
            <a:off x="8164643" y="4946904"/>
            <a:ext cx="3327816" cy="335280"/>
          </a:xfrm>
          <a:prstGeom prst="rect">
            <a:avLst/>
          </a:prstGeom>
          <a:noFill/>
        </p:spPr>
        <p:txBody>
          <a:bodyPr wrap="square" lIns="0" tIns="0" rIns="0" bIns="0" anchor="t">
            <a:noAutofit/>
          </a:bodyPr>
          <a:lstStyle>
            <a:defPPr algn="l">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同一尺寸与位深</a:t>
            </a:r>
            <a:endParaRPr sz="22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73" name="TextBox 172"/>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想一想：哪幅图最容易用几条规则完整表示？</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5</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A纯色、B规则色块、C复杂花纹，尺寸与位深相同。</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分别用相同无损方法压缩，谁通常最小？为什么？</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先独立作答，再说明依据。</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5</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1762125"/>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A纯色、B规则色块、C复杂花纹，尺寸与位深相同。</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分别用相同无损方法压缩，谁通常最小？为什么？</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074920"/>
            <a:ext cx="10515600"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答案：A通常最小。</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32104" y="5660136"/>
            <a:ext cx="1051560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纯色图像的重复与规律性最强，一般更容易用简短规则表示。</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同一张图：BMP与JPG有什么不同？</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BMP（课堂例：未压缩）</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JPG（常见有损）</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110236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保存每个像素的颜色信息。</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可能占用较多空间。</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145288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对图像进行近似表示。</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文件可能明显更小，</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但不能逐像素完全还原。</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有损不等于看起来一定明显变差；质量与参数有关。</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Rectangle 10"/>
          <p:cNvSpPr/>
          <p:nvPr/>
        </p:nvSpPr>
        <p:spPr>
          <a:xfrm>
            <a:off x="713232" y="1664208"/>
            <a:ext cx="10744200" cy="3904487"/>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51560" y="1965960"/>
            <a:ext cx="4663440" cy="329184"/>
          </a:xfrm>
          <a:prstGeom prst="rect">
            <a:avLst/>
          </a:prstGeom>
          <a:noFill/>
        </p:spPr>
        <p:txBody>
          <a:bodyPr wrap="square" lIns="0" tIns="0" rIns="0" bIns="0" anchor="ctr">
            <a:spAutoFit/>
          </a:bodyPr>
          <a:lstStyle/>
          <a:p>
            <a:pPr>
              <a:spcAft>
                <a:spcPts val="200"/>
              </a:spcAft>
              <a:defRPr sz="1700" b="1">
                <a:solidFill>
                  <a:srgbClr val="8C64E1"/>
                </a:solidFill>
                <a:latin typeface="Alibaba PuHuiTi 3.0 115 Black" panose="00020600040101010101" charset="-122"/>
              </a:defRPr>
            </a:pPr>
            <a:r>
              <a:t>左：原始局部（放大）</a:t>
            </a:r>
          </a:p>
        </p:txBody>
      </p:sp>
      <p:sp>
        <p:nvSpPr>
          <p:cNvPr id="13" name="TextBox 12"/>
          <p:cNvSpPr txBox="1"/>
          <p:nvPr/>
        </p:nvSpPr>
        <p:spPr>
          <a:xfrm>
            <a:off x="6400800" y="1965960"/>
            <a:ext cx="4709160" cy="329184"/>
          </a:xfrm>
          <a:prstGeom prst="rect">
            <a:avLst/>
          </a:prstGeom>
          <a:noFill/>
        </p:spPr>
        <p:txBody>
          <a:bodyPr wrap="square" lIns="0" tIns="0" rIns="0" bIns="0" anchor="ctr">
            <a:spAutoFit/>
          </a:bodyPr>
          <a:lstStyle/>
          <a:p>
            <a:pPr>
              <a:spcAft>
                <a:spcPts val="200"/>
              </a:spcAft>
              <a:defRPr sz="1700" b="1">
                <a:solidFill>
                  <a:srgbClr val="007C9B"/>
                </a:solidFill>
                <a:latin typeface="Alibaba PuHuiTi 3.0 115 Black" panose="00020600040101010101" charset="-122"/>
              </a:defRPr>
            </a:pPr>
            <a:r>
              <a:t>右：低质量JPEG（放大）</a:t>
            </a:r>
          </a:p>
        </p:txBody>
      </p:sp>
      <p:pic>
        <p:nvPicPr>
          <p:cNvPr id="14" name="融合证据图_v8.4.10_原页63" descr="image.png"/>
          <p:cNvPicPr>
            <a:picLocks noChangeAspect="1"/>
          </p:cNvPicPr>
          <p:nvPr/>
        </p:nvPicPr>
        <p:blipFill>
          <a:blip r:embed="rId1"/>
          <a:stretch>
            <a:fillRect/>
          </a:stretch>
        </p:blipFill>
        <p:spPr>
          <a:xfrm>
            <a:off x="1078992" y="2432304"/>
            <a:ext cx="9966960" cy="2788920"/>
          </a:xfrm>
          <a:prstGeom prst="rect">
            <a:avLst/>
          </a:prstGeom>
        </p:spPr>
      </p:pic>
      <p:sp>
        <p:nvSpPr>
          <p:cNvPr id="15" name="Rectangle 14"/>
          <p:cNvSpPr/>
          <p:nvPr/>
        </p:nvSpPr>
        <p:spPr>
          <a:xfrm>
            <a:off x="1389888" y="5330952"/>
            <a:ext cx="9418320" cy="484632"/>
          </a:xfrm>
          <a:prstGeom prst="rect">
            <a:avLst/>
          </a:prstGeom>
          <a:solidFill>
            <a:srgbClr val="F6F3FF"/>
          </a:solidFill>
          <a:ln w="12700">
            <a:solidFill>
              <a:srgbClr val="E6E6E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517904" y="5376672"/>
            <a:ext cx="9180576" cy="384048"/>
          </a:xfrm>
          <a:prstGeom prst="rect">
            <a:avLst/>
          </a:prstGeom>
          <a:noFill/>
        </p:spPr>
        <p:txBody>
          <a:bodyPr wrap="square" lIns="0" tIns="0" rIns="0" bIns="0" anchor="ctr">
            <a:spAutoFit/>
          </a:bodyPr>
          <a:lstStyle/>
          <a:p>
            <a:pPr algn="ctr">
              <a:spcAft>
                <a:spcPts val="200"/>
              </a:spcAft>
              <a:defRPr sz="1800" b="1">
                <a:solidFill>
                  <a:srgbClr val="8C64E1"/>
                </a:solidFill>
                <a:latin typeface="Alibaba PuHuiTi 3.0 115 Black" panose="00020600040101010101" charset="-122"/>
              </a:defRPr>
            </a:pPr>
            <a:r>
              <a:t>对照条件：同一局部放大 · JPEG极低质量只为放大差别</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MP3、JPG再用RAR压缩，会怎样？</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第一次压缩</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再次压缩</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有些重复或不重要的信息</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被更简洁地表示，文件大幅减小。</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可进一步利用的冗余通常较少，</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RAR再压往往收效不大。</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注意：再次用有损编码重新保存，还可能累积质量损失。</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是不是压得越小就一定越好？</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backup-title"/>
          <p:cNvSpPr>
            <a:spLocks noGrp="1"/>
          </p:cNvSpPr>
          <p:nvPr/>
        </p:nvSpPr>
        <p:spPr>
          <a:xfrm>
            <a:off x="609600" y="1590675"/>
            <a:ext cx="5181600" cy="514350"/>
          </a:xfrm>
          <a:prstGeom prst="rect">
            <a:avLst/>
          </a:prstGeom>
          <a:noFill/>
          <a:ln w="0">
            <a:noFill/>
          </a:ln>
        </p:spPr>
        <p:txBody>
          <a:bodyPr wrap="none" lIns="0" tIns="0" rIns="0" bIns="0" anchor="t">
            <a:noAutofit/>
          </a:bodyPr>
          <a:lstStyle>
            <a:defPPr algn="l">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重要文档长期备份</a:t>
            </a:r>
            <a:endParaRPr sz="24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call-title"/>
          <p:cNvSpPr>
            <a:spLocks noGrp="1"/>
          </p:cNvSpPr>
          <p:nvPr/>
        </p:nvSpPr>
        <p:spPr>
          <a:xfrm>
            <a:off x="6400800" y="1590675"/>
            <a:ext cx="5181600" cy="514350"/>
          </a:xfrm>
          <a:prstGeom prst="rect">
            <a:avLst/>
          </a:prstGeom>
          <a:noFill/>
          <a:ln w="0">
            <a:noFill/>
          </a:ln>
        </p:spPr>
        <p:txBody>
          <a:bodyPr wrap="none" lIns="0" tIns="0" rIns="0" bIns="0" anchor="t">
            <a:noAutofit/>
          </a:bodyPr>
          <a:lstStyle>
            <a:defPPr algn="l">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buNone/>
              <a:def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实时视频通话</a:t>
            </a:r>
            <a:endParaRPr sz="24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pic>
        <p:nvPicPr>
          <p:cNvPr id="7" name="Picture 6"/>
          <p:cNvPicPr>
            <a:picLocks noChangeAspect="1"/>
          </p:cNvPicPr>
          <p:nvPr/>
        </p:nvPicPr>
        <p:blipFill>
          <a:blip r:embed="rId1"/>
          <a:stretch>
            <a:fillRect/>
          </a:stretch>
        </p:blipFill>
        <p:spPr>
          <a:xfrm>
            <a:off x="609621" y="2295525"/>
            <a:ext cx="5181559" cy="2800350"/>
          </a:xfrm>
          <a:prstGeom prst="rect">
            <a:avLst/>
          </a:prstGeom>
        </p:spPr>
      </p:pic>
      <p:pic>
        <p:nvPicPr>
          <p:cNvPr id="8" name="Picture 7"/>
          <p:cNvPicPr>
            <a:picLocks noChangeAspect="1"/>
          </p:cNvPicPr>
          <p:nvPr/>
        </p:nvPicPr>
        <p:blipFill>
          <a:blip r:embed="rId2"/>
          <a:stretch>
            <a:fillRect/>
          </a:stretch>
        </p:blipFill>
        <p:spPr>
          <a:xfrm>
            <a:off x="6400821" y="2295525"/>
            <a:ext cx="5181559" cy="2800350"/>
          </a:xfrm>
          <a:prstGeom prst="rect">
            <a:avLst/>
          </a:prstGeom>
        </p:spPr>
      </p:pic>
      <p:sp>
        <p:nvSpPr>
          <p:cNvPr id="9" name="backup-criteria"/>
          <p:cNvSpPr>
            <a:spLocks noGrp="1"/>
          </p:cNvSpPr>
          <p:nvPr/>
        </p:nvSpPr>
        <p:spPr>
          <a:xfrm>
            <a:off x="609600" y="5248275"/>
            <a:ext cx="5181600" cy="7620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优先：信息完整、能恢复、可靠保存。</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call-criteria"/>
          <p:cNvSpPr>
            <a:spLocks noGrp="1"/>
          </p:cNvSpPr>
          <p:nvPr/>
        </p:nvSpPr>
        <p:spPr>
          <a:xfrm>
            <a:off x="6400800" y="5248275"/>
            <a:ext cx="5181600" cy="7620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兼顾：延迟、流畅度、质量与传输量。</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6</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2571750"/>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下列说法，哪些正确？</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① 增加编辑音轨，未压缩PCM数据量必然翻倍。</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② 未压缩视频逐帧保存，数据量可能很大。</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③ ZIP解压后可以恢复原始文档。</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166360"/>
            <a:ext cx="10332720" cy="335280"/>
          </a:xfrm>
          <a:prstGeom prst="rect">
            <a:avLst/>
          </a:prstGeom>
          <a:noFill/>
        </p:spPr>
        <p:txBody>
          <a:bodyPr wrap="square" lIns="0" tIns="0" rIns="0" bIns="0" anchor="t">
            <a:noAutofit/>
          </a:bodyPr>
          <a:lstStyle>
            <a:defPPr algn="l">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逐条作答，并解释理由。</a:t>
            </a:r>
            <a:endParaRPr sz="22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练习题 6</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practice-givens"/>
          <p:cNvSpPr>
            <a:spLocks noGrp="1"/>
          </p:cNvSpPr>
          <p:nvPr/>
        </p:nvSpPr>
        <p:spPr>
          <a:xfrm>
            <a:off x="786384" y="1691640"/>
            <a:ext cx="10652760" cy="2571750"/>
          </a:xfrm>
          <a:prstGeom prst="rect">
            <a:avLst/>
          </a:prstGeom>
          <a:noFill/>
        </p:spPr>
        <p:txBody>
          <a:bodyPr wrap="square" lIns="0" tIns="0" rIns="0" bIns="0" anchor="t">
            <a:noAutofit/>
          </a:bodyPr>
          <a:lstStyle>
            <a:defPPr algn="l">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下列说法，哪些正确？</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① 增加编辑音轨，未压缩PCM数据量必然翻倍。</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② 未压缩视频逐帧保存，数据量可能很大。</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③ ZIP解压后可以恢复原始文档。</a:t>
            </a:r>
            <a:endParaRPr sz="27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onnector 5"/>
          <p:cNvSpPr>
            <a:spLocks noGrp="1"/>
          </p:cNvSpPr>
          <p:nvPr/>
        </p:nvSpPr>
        <p:spPr>
          <a:xfrm>
            <a:off x="822960" y="4919472"/>
            <a:ext cx="10259568" cy="0"/>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7" name="TextBox 6"/>
          <p:cNvSpPr>
            <a:spLocks noGrp="1"/>
          </p:cNvSpPr>
          <p:nvPr/>
        </p:nvSpPr>
        <p:spPr>
          <a:xfrm>
            <a:off x="832104" y="5074920"/>
            <a:ext cx="10515600" cy="350520"/>
          </a:xfrm>
          <a:prstGeom prst="rect">
            <a:avLst/>
          </a:prstGeom>
          <a:noFill/>
        </p:spPr>
        <p:txBody>
          <a:bodyPr wrap="square" lIns="0" tIns="0" rIns="0" bIns="0" anchor="t">
            <a:noAutofit/>
          </a:bodyPr>
          <a:lstStyle>
            <a:defPPr algn="l">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答案：①错；②对；③对。</a:t>
            </a:r>
            <a:endParaRPr sz="23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32104" y="5660136"/>
            <a:ext cx="1051560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①音轨不等于声道；②每帧的数据量相加可能很大；③ZIP为无损归档。</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离开课堂前，解释三个为什么</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Box 4"/>
          <p:cNvSpPr>
            <a:spLocks noGrp="1"/>
          </p:cNvSpPr>
          <p:nvPr/>
        </p:nvSpPr>
        <p:spPr>
          <a:xfrm>
            <a:off x="786384" y="1952625"/>
            <a:ext cx="10668000" cy="666750"/>
          </a:xfrm>
          <a:prstGeom prst="rect">
            <a:avLst/>
          </a:prstGeom>
          <a:noFill/>
        </p:spPr>
        <p:txBody>
          <a:bodyPr wrap="non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① 声音为什么能变成一组0和1？</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6" name="TextBox 5"/>
          <p:cNvSpPr>
            <a:spLocks noGrp="1"/>
          </p:cNvSpPr>
          <p:nvPr/>
        </p:nvSpPr>
        <p:spPr>
          <a:xfrm>
            <a:off x="786384" y="3381375"/>
            <a:ext cx="10668000" cy="666750"/>
          </a:xfrm>
          <a:prstGeom prst="rect">
            <a:avLst/>
          </a:prstGeom>
          <a:noFill/>
        </p:spPr>
        <p:txBody>
          <a:bodyPr wrap="non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② 小视频为什么可能算出6.44 GiB？</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786384" y="4810125"/>
            <a:ext cx="10668000" cy="666750"/>
          </a:xfrm>
          <a:prstGeom prst="rect">
            <a:avLst/>
          </a:prstGeom>
          <a:noFill/>
        </p:spPr>
        <p:txBody>
          <a:bodyPr wrap="none" lIns="0" tIns="0" rIns="0" bIns="0" anchor="t">
            <a:noAutofit/>
          </a:bodyPr>
          <a:lstStyle>
            <a:defPPr algn="l">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③ 有些文件为什么压缩后变化很小？</a:t>
            </a:r>
            <a:endParaRPr sz="24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用证据，把今天的关系补到树上</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视频数据量为什么可能很大？压缩改变什么？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请用计算或Demo D的结果说明。</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9525">
            <a:solidFill>
              <a:srgbClr val="D7D7DE"/>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ree-link-2"/>
          <p:cNvSpPr>
            <a:spLocks noGrp="1"/>
          </p:cNvSpPr>
          <p:nvPr/>
        </p:nvSpPr>
        <p:spPr>
          <a:xfrm>
            <a:off x="2914650" y="3600450"/>
            <a:ext cx="419100" cy="9525"/>
          </a:xfrm>
          <a:custGeom>
            <a:avLst/>
            <a:gdLst/>
            <a:ahLst/>
            <a:cxnLst/>
            <a:pathLst>
              <a:path w="419100" h="9525">
                <a:moveTo>
                  <a:pt x="0" y="0"/>
                </a:moveTo>
                <a:lnTo>
                  <a:pt x="419100" y="0"/>
                </a:lnTo>
              </a:path>
            </a:pathLst>
          </a:custGeom>
          <a:noFill/>
          <a:ln w="19050">
            <a:solidFill>
              <a:srgbClr val="8C64E1"/>
            </a:solidFill>
          </a:ln>
        </p:spPr>
      </p:sp>
      <p:sp>
        <p:nvSpPr>
          <p:cNvPr id="16" name="tree-focus-2"/>
          <p:cNvSpPr>
            <a:spLocks noGrp="1"/>
          </p:cNvSpPr>
          <p:nvPr/>
        </p:nvSpPr>
        <p:spPr>
          <a:xfrm>
            <a:off x="3333750" y="3295650"/>
            <a:ext cx="8248650" cy="704850"/>
          </a:xfrm>
          <a:prstGeom prst="rect">
            <a:avLst/>
          </a:prstGeom>
          <a:noFill/>
          <a:ln w="9525">
            <a:solidFill>
              <a:srgbClr val="D7D7DE"/>
            </a:solidFill>
          </a:ln>
        </p:spPr>
      </p:sp>
      <p:sp>
        <p:nvSpPr>
          <p:cNvPr id="17" name="tree-node-2"/>
          <p:cNvSpPr>
            <a:spLocks noGrp="1"/>
          </p:cNvSpPr>
          <p:nvPr/>
        </p:nvSpPr>
        <p:spPr>
          <a:xfrm>
            <a:off x="3476625" y="34575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采样、量化、编码</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tree-detail-2"/>
          <p:cNvSpPr>
            <a:spLocks noGrp="1"/>
          </p:cNvSpPr>
          <p:nvPr/>
        </p:nvSpPr>
        <p:spPr>
          <a:xfrm>
            <a:off x="6381750" y="33051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定时刻；定代表值；写码字</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ree-link-3"/>
          <p:cNvSpPr>
            <a:spLocks noGrp="1"/>
          </p:cNvSpPr>
          <p:nvPr/>
        </p:nvSpPr>
        <p:spPr>
          <a:xfrm>
            <a:off x="2914650" y="4324350"/>
            <a:ext cx="419100" cy="9525"/>
          </a:xfrm>
          <a:custGeom>
            <a:avLst/>
            <a:gdLst/>
            <a:ahLst/>
            <a:cxnLst/>
            <a:pathLst>
              <a:path w="419100" h="9525">
                <a:moveTo>
                  <a:pt x="0" y="0"/>
                </a:moveTo>
                <a:lnTo>
                  <a:pt x="419100" y="0"/>
                </a:lnTo>
              </a:path>
            </a:pathLst>
          </a:custGeom>
          <a:noFill/>
          <a:ln w="19050">
            <a:solidFill>
              <a:srgbClr val="8C64E1"/>
            </a:solidFill>
          </a:ln>
        </p:spPr>
      </p:sp>
      <p:sp>
        <p:nvSpPr>
          <p:cNvPr id="20" name="tree-trunk-3"/>
          <p:cNvSpPr>
            <a:spLocks noGrp="1"/>
          </p:cNvSpPr>
          <p:nvPr/>
        </p:nvSpPr>
        <p:spPr>
          <a:xfrm>
            <a:off x="2914650" y="4105275"/>
            <a:ext cx="9525" cy="219075"/>
          </a:xfrm>
          <a:custGeom>
            <a:avLst/>
            <a:gdLst/>
            <a:ahLst/>
            <a:cxnLst/>
            <a:pathLst>
              <a:path w="9525" h="219075">
                <a:moveTo>
                  <a:pt x="0" y="0"/>
                </a:moveTo>
                <a:lnTo>
                  <a:pt x="0" y="219075"/>
                </a:lnTo>
              </a:path>
            </a:pathLst>
          </a:custGeom>
          <a:noFill/>
          <a:ln w="19050">
            <a:solidFill>
              <a:srgbClr val="8C64E1"/>
            </a:solidFill>
          </a:ln>
        </p:spPr>
      </p:sp>
      <p:sp>
        <p:nvSpPr>
          <p:cNvPr id="21" name="tree-focus-3"/>
          <p:cNvSpPr>
            <a:spLocks noGrp="1"/>
          </p:cNvSpPr>
          <p:nvPr/>
        </p:nvSpPr>
        <p:spPr>
          <a:xfrm>
            <a:off x="3333750" y="4019550"/>
            <a:ext cx="8248650" cy="704850"/>
          </a:xfrm>
          <a:prstGeom prst="rect">
            <a:avLst/>
          </a:prstGeom>
          <a:noFill/>
          <a:ln w="9525">
            <a:solidFill>
              <a:srgbClr val="D7D7DE"/>
            </a:solidFill>
          </a:ln>
        </p:spPr>
      </p:sp>
      <p:sp>
        <p:nvSpPr>
          <p:cNvPr id="22" name="tree-node-3"/>
          <p:cNvSpPr>
            <a:spLocks noGrp="1"/>
          </p:cNvSpPr>
          <p:nvPr/>
        </p:nvSpPr>
        <p:spPr>
          <a:xfrm>
            <a:off x="3476625" y="41814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未压缩PCM</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ree-detail-3"/>
          <p:cNvSpPr>
            <a:spLocks noGrp="1"/>
          </p:cNvSpPr>
          <p:nvPr/>
        </p:nvSpPr>
        <p:spPr>
          <a:xfrm>
            <a:off x="6381750" y="40290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每声道样本数×声道数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×每样本存储字节数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用证据，把今天的关系补到树上</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视频数据量为什么可能很大？压缩改变什么？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请用计算或Demo D的结果说明。</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红框：本次新增</a:t>
            </a: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9525">
            <a:solidFill>
              <a:srgbClr val="D7D7DE"/>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ree-link-2"/>
          <p:cNvSpPr>
            <a:spLocks noGrp="1"/>
          </p:cNvSpPr>
          <p:nvPr/>
        </p:nvSpPr>
        <p:spPr>
          <a:xfrm>
            <a:off x="2914650" y="3600450"/>
            <a:ext cx="419100" cy="9525"/>
          </a:xfrm>
          <a:custGeom>
            <a:avLst/>
            <a:gdLst/>
            <a:ahLst/>
            <a:cxnLst/>
            <a:pathLst>
              <a:path w="419100" h="9525">
                <a:moveTo>
                  <a:pt x="0" y="0"/>
                </a:moveTo>
                <a:lnTo>
                  <a:pt x="419100" y="0"/>
                </a:lnTo>
              </a:path>
            </a:pathLst>
          </a:custGeom>
          <a:noFill/>
          <a:ln w="19050">
            <a:solidFill>
              <a:srgbClr val="8C64E1"/>
            </a:solidFill>
          </a:ln>
        </p:spPr>
      </p:sp>
      <p:sp>
        <p:nvSpPr>
          <p:cNvPr id="16" name="tree-focus-2"/>
          <p:cNvSpPr>
            <a:spLocks noGrp="1"/>
          </p:cNvSpPr>
          <p:nvPr/>
        </p:nvSpPr>
        <p:spPr>
          <a:xfrm>
            <a:off x="3333750" y="3295650"/>
            <a:ext cx="8248650" cy="704850"/>
          </a:xfrm>
          <a:prstGeom prst="rect">
            <a:avLst/>
          </a:prstGeom>
          <a:noFill/>
          <a:ln w="9525">
            <a:solidFill>
              <a:srgbClr val="D7D7DE"/>
            </a:solidFill>
          </a:ln>
        </p:spPr>
      </p:sp>
      <p:sp>
        <p:nvSpPr>
          <p:cNvPr id="17" name="tree-node-2"/>
          <p:cNvSpPr>
            <a:spLocks noGrp="1"/>
          </p:cNvSpPr>
          <p:nvPr/>
        </p:nvSpPr>
        <p:spPr>
          <a:xfrm>
            <a:off x="3476625" y="34575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采样、量化、编码</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tree-detail-2"/>
          <p:cNvSpPr>
            <a:spLocks noGrp="1"/>
          </p:cNvSpPr>
          <p:nvPr/>
        </p:nvSpPr>
        <p:spPr>
          <a:xfrm>
            <a:off x="6381750" y="33051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定时刻；定代表值；写码字</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ree-link-3"/>
          <p:cNvSpPr>
            <a:spLocks noGrp="1"/>
          </p:cNvSpPr>
          <p:nvPr/>
        </p:nvSpPr>
        <p:spPr>
          <a:xfrm>
            <a:off x="2914650" y="4324350"/>
            <a:ext cx="419100" cy="9525"/>
          </a:xfrm>
          <a:custGeom>
            <a:avLst/>
            <a:gdLst/>
            <a:ahLst/>
            <a:cxnLst/>
            <a:pathLst>
              <a:path w="419100" h="9525">
                <a:moveTo>
                  <a:pt x="0" y="0"/>
                </a:moveTo>
                <a:lnTo>
                  <a:pt x="419100" y="0"/>
                </a:lnTo>
              </a:path>
            </a:pathLst>
          </a:custGeom>
          <a:noFill/>
          <a:ln w="19050">
            <a:solidFill>
              <a:srgbClr val="8C64E1"/>
            </a:solidFill>
          </a:ln>
        </p:spPr>
      </p:sp>
      <p:sp>
        <p:nvSpPr>
          <p:cNvPr id="20" name="tree-trunk-3"/>
          <p:cNvSpPr>
            <a:spLocks noGrp="1"/>
          </p:cNvSpPr>
          <p:nvPr/>
        </p:nvSpPr>
        <p:spPr>
          <a:xfrm>
            <a:off x="2914650" y="4105275"/>
            <a:ext cx="9525" cy="219075"/>
          </a:xfrm>
          <a:custGeom>
            <a:avLst/>
            <a:gdLst/>
            <a:ahLst/>
            <a:cxnLst/>
            <a:pathLst>
              <a:path w="9525" h="219075">
                <a:moveTo>
                  <a:pt x="0" y="0"/>
                </a:moveTo>
                <a:lnTo>
                  <a:pt x="0" y="219075"/>
                </a:lnTo>
              </a:path>
            </a:pathLst>
          </a:custGeom>
          <a:noFill/>
          <a:ln w="19050">
            <a:solidFill>
              <a:srgbClr val="8C64E1"/>
            </a:solidFill>
          </a:ln>
        </p:spPr>
      </p:sp>
      <p:sp>
        <p:nvSpPr>
          <p:cNvPr id="21" name="tree-focus-3"/>
          <p:cNvSpPr>
            <a:spLocks noGrp="1"/>
          </p:cNvSpPr>
          <p:nvPr/>
        </p:nvSpPr>
        <p:spPr>
          <a:xfrm>
            <a:off x="3333750" y="4019550"/>
            <a:ext cx="8248650" cy="704850"/>
          </a:xfrm>
          <a:prstGeom prst="rect">
            <a:avLst/>
          </a:prstGeom>
          <a:noFill/>
          <a:ln w="9525">
            <a:solidFill>
              <a:srgbClr val="D7D7DE"/>
            </a:solidFill>
          </a:ln>
        </p:spPr>
      </p:sp>
      <p:sp>
        <p:nvSpPr>
          <p:cNvPr id="22" name="tree-node-3"/>
          <p:cNvSpPr>
            <a:spLocks noGrp="1"/>
          </p:cNvSpPr>
          <p:nvPr/>
        </p:nvSpPr>
        <p:spPr>
          <a:xfrm>
            <a:off x="3476625" y="41814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未压缩PCM</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ree-detail-3"/>
          <p:cNvSpPr>
            <a:spLocks noGrp="1"/>
          </p:cNvSpPr>
          <p:nvPr/>
        </p:nvSpPr>
        <p:spPr>
          <a:xfrm>
            <a:off x="6381750" y="40290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每声道样本数×声道数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×每样本存储字节数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tree-link-4"/>
          <p:cNvSpPr>
            <a:spLocks noGrp="1"/>
          </p:cNvSpPr>
          <p:nvPr/>
        </p:nvSpPr>
        <p:spPr>
          <a:xfrm>
            <a:off x="2914650" y="5048250"/>
            <a:ext cx="419100" cy="9525"/>
          </a:xfrm>
          <a:custGeom>
            <a:avLst/>
            <a:gdLst/>
            <a:ahLst/>
            <a:cxnLst/>
            <a:pathLst>
              <a:path w="419100" h="9525">
                <a:moveTo>
                  <a:pt x="0" y="0"/>
                </a:moveTo>
                <a:lnTo>
                  <a:pt x="419100" y="0"/>
                </a:lnTo>
              </a:path>
            </a:pathLst>
          </a:custGeom>
          <a:noFill/>
          <a:ln w="19050">
            <a:solidFill>
              <a:srgbClr val="8C64E1"/>
            </a:solidFill>
          </a:ln>
        </p:spPr>
      </p:sp>
      <p:sp>
        <p:nvSpPr>
          <p:cNvPr id="25" name="tree-trunk-4"/>
          <p:cNvSpPr>
            <a:spLocks noGrp="1"/>
          </p:cNvSpPr>
          <p:nvPr/>
        </p:nvSpPr>
        <p:spPr>
          <a:xfrm>
            <a:off x="2914650" y="4324350"/>
            <a:ext cx="9525" cy="723900"/>
          </a:xfrm>
          <a:custGeom>
            <a:avLst/>
            <a:gdLst/>
            <a:ahLst/>
            <a:cxnLst/>
            <a:pathLst>
              <a:path w="9525" h="723900">
                <a:moveTo>
                  <a:pt x="0" y="0"/>
                </a:moveTo>
                <a:lnTo>
                  <a:pt x="0" y="723900"/>
                </a:lnTo>
              </a:path>
            </a:pathLst>
          </a:custGeom>
          <a:noFill/>
          <a:ln w="19050">
            <a:solidFill>
              <a:srgbClr val="8C64E1"/>
            </a:solidFill>
          </a:ln>
        </p:spPr>
      </p:sp>
      <p:sp>
        <p:nvSpPr>
          <p:cNvPr id="26" name="tree-focus-4"/>
          <p:cNvSpPr>
            <a:spLocks noGrp="1"/>
          </p:cNvSpPr>
          <p:nvPr/>
        </p:nvSpPr>
        <p:spPr>
          <a:xfrm>
            <a:off x="3333750" y="4743450"/>
            <a:ext cx="8248650" cy="704850"/>
          </a:xfrm>
          <a:prstGeom prst="rect">
            <a:avLst/>
          </a:prstGeom>
          <a:noFill/>
          <a:ln w="23813">
            <a:solidFill>
              <a:srgbClr val="FF0000"/>
            </a:solidFill>
          </a:ln>
        </p:spPr>
      </p:sp>
      <p:sp>
        <p:nvSpPr>
          <p:cNvPr id="27" name="tree-node-4"/>
          <p:cNvSpPr>
            <a:spLocks noGrp="1"/>
          </p:cNvSpPr>
          <p:nvPr/>
        </p:nvSpPr>
        <p:spPr>
          <a:xfrm>
            <a:off x="3476625" y="49053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逐帧未压缩视频</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8" name="tree-detail-4"/>
          <p:cNvSpPr>
            <a:spLocks noGrp="1"/>
          </p:cNvSpPr>
          <p:nvPr/>
        </p:nvSpPr>
        <p:spPr>
          <a:xfrm>
            <a:off x="6381750" y="47529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单帧字节数×总帧数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用证据，把今天的关系补到树上</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ree-summary-prompt"/>
          <p:cNvSpPr>
            <a:spLocks noGrp="1"/>
          </p:cNvSpPr>
          <p:nvPr/>
        </p:nvSpPr>
        <p:spPr>
          <a:xfrm>
            <a:off x="609600" y="1571625"/>
            <a:ext cx="10972800" cy="952500"/>
          </a:xfrm>
          <a:prstGeom prst="rect">
            <a:avLst/>
          </a:prstGeom>
          <a:noFill/>
          <a:ln w="0">
            <a:noFill/>
          </a:ln>
        </p:spPr>
        <p:txBody>
          <a:bodyPr wrap="none" lIns="0" tIns="0" rIns="0" bIns="0" anchor="t">
            <a:noAutofit/>
          </a:bodyPr>
          <a:lstStyle>
            <a:def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视频数据量为什么可能很大？压缩改变什么？</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请用计算或Demo D的结果说明。</a:t>
            </a:r>
            <a:endParaRPr sz="24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tree-root-box"/>
          <p:cNvSpPr>
            <a:spLocks noGrp="1"/>
          </p:cNvSpPr>
          <p:nvPr/>
        </p:nvSpPr>
        <p:spPr>
          <a:xfrm>
            <a:off x="609600" y="3771900"/>
            <a:ext cx="2095500" cy="666750"/>
          </a:xfrm>
          <a:prstGeom prst="rect">
            <a:avLst/>
          </a:prstGeom>
          <a:noFill/>
          <a:ln w="19050">
            <a:solidFill>
              <a:srgbClr val="8C64E1"/>
            </a:solidFill>
          </a:ln>
        </p:spPr>
      </p:sp>
      <p:sp>
        <p:nvSpPr>
          <p:cNvPr id="7" name="tree-root"/>
          <p:cNvSpPr>
            <a:spLocks noGrp="1"/>
          </p:cNvSpPr>
          <p:nvPr/>
        </p:nvSpPr>
        <p:spPr>
          <a:xfrm>
            <a:off x="742950" y="3943350"/>
            <a:ext cx="1828800" cy="419100"/>
          </a:xfrm>
          <a:prstGeom prst="rect">
            <a:avLst/>
          </a:prstGeom>
          <a:noFill/>
          <a:ln w="0">
            <a:noFill/>
          </a:ln>
        </p:spPr>
        <p:txBody>
          <a:bodyPr wrap="none" lIns="0" tIns="0" rIns="0" bIns="0" anchor="t">
            <a:noAutofit/>
          </a:bodyPr>
          <a:lstStyle>
            <a:def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ctr">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数据的表示</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ree-root-link"/>
          <p:cNvSpPr>
            <a:spLocks noGrp="1"/>
          </p:cNvSpPr>
          <p:nvPr/>
        </p:nvSpPr>
        <p:spPr>
          <a:xfrm>
            <a:off x="2705100" y="4105275"/>
            <a:ext cx="209550" cy="9525"/>
          </a:xfrm>
          <a:custGeom>
            <a:avLst/>
            <a:gdLst/>
            <a:ahLst/>
            <a:cxnLst/>
            <a:pathLst>
              <a:path w="209550" h="9525">
                <a:moveTo>
                  <a:pt x="0" y="0"/>
                </a:moveTo>
                <a:lnTo>
                  <a:pt x="209550" y="0"/>
                </a:lnTo>
              </a:path>
            </a:pathLst>
          </a:custGeom>
          <a:noFill/>
          <a:ln w="19050">
            <a:solidFill>
              <a:srgbClr val="8C64E1"/>
            </a:solidFill>
          </a:ln>
        </p:spPr>
      </p:sp>
      <p:sp>
        <p:nvSpPr>
          <p:cNvPr id="9" name="tree-trunk-1"/>
          <p:cNvSpPr>
            <a:spLocks noGrp="1"/>
          </p:cNvSpPr>
          <p:nvPr/>
        </p:nvSpPr>
        <p:spPr>
          <a:xfrm>
            <a:off x="2914650" y="2876550"/>
            <a:ext cx="9525" cy="1228725"/>
          </a:xfrm>
          <a:custGeom>
            <a:avLst/>
            <a:gdLst/>
            <a:ahLst/>
            <a:cxnLst/>
            <a:pathLst>
              <a:path w="9525" h="1228725">
                <a:moveTo>
                  <a:pt x="0" y="0"/>
                </a:moveTo>
                <a:lnTo>
                  <a:pt x="0" y="1228725"/>
                </a:lnTo>
              </a:path>
            </a:pathLst>
          </a:custGeom>
          <a:noFill/>
          <a:ln w="19050">
            <a:solidFill>
              <a:srgbClr val="8C64E1"/>
            </a:solidFill>
          </a:ln>
        </p:spPr>
      </p:sp>
      <p:sp>
        <p:nvSpPr>
          <p:cNvPr id="10" name="tree-focus-cue"/>
          <p:cNvSpPr>
            <a:spLocks noGrp="1"/>
          </p:cNvSpPr>
          <p:nvPr/>
        </p:nvSpPr>
        <p:spPr>
          <a:xfrm>
            <a:off x="609600" y="5429250"/>
            <a:ext cx="2190750" cy="381000"/>
          </a:xfrm>
          <a:prstGeom prst="rect">
            <a:avLst/>
          </a:prstGeom>
          <a:noFill/>
          <a:ln w="0">
            <a:noFill/>
          </a:ln>
        </p:spPr>
        <p:txBody>
          <a:bodyPr wrap="none" lIns="0" tIns="0" rIns="0" bIns="0" anchor="t">
            <a:noAutofit/>
          </a:bodyPr>
          <a:lstStyle>
            <a:def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rPr>
              <a:t>红框：本次新增</a:t>
            </a:r>
            <a:endParaRPr sz="1800" b="0">
              <a:solidFill>
                <a:srgbClr val="FF000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tree-link-1"/>
          <p:cNvSpPr>
            <a:spLocks noGrp="1"/>
          </p:cNvSpPr>
          <p:nvPr/>
        </p:nvSpPr>
        <p:spPr>
          <a:xfrm>
            <a:off x="2914650" y="2876550"/>
            <a:ext cx="419100" cy="9525"/>
          </a:xfrm>
          <a:custGeom>
            <a:avLst/>
            <a:gdLst/>
            <a:ahLst/>
            <a:cxnLst/>
            <a:pathLst>
              <a:path w="419100" h="9525">
                <a:moveTo>
                  <a:pt x="0" y="0"/>
                </a:moveTo>
                <a:lnTo>
                  <a:pt x="419100" y="0"/>
                </a:lnTo>
              </a:path>
            </a:pathLst>
          </a:custGeom>
          <a:noFill/>
          <a:ln w="19050">
            <a:solidFill>
              <a:srgbClr val="8C64E1"/>
            </a:solidFill>
          </a:ln>
        </p:spPr>
      </p:sp>
      <p:sp>
        <p:nvSpPr>
          <p:cNvPr id="12" name="tree-focus-1"/>
          <p:cNvSpPr>
            <a:spLocks noGrp="1"/>
          </p:cNvSpPr>
          <p:nvPr/>
        </p:nvSpPr>
        <p:spPr>
          <a:xfrm>
            <a:off x="3333750" y="2571750"/>
            <a:ext cx="8248650" cy="704850"/>
          </a:xfrm>
          <a:prstGeom prst="rect">
            <a:avLst/>
          </a:prstGeom>
          <a:noFill/>
          <a:ln w="9525">
            <a:solidFill>
              <a:srgbClr val="D7D7DE"/>
            </a:solidFill>
          </a:ln>
        </p:spPr>
      </p:sp>
      <p:sp>
        <p:nvSpPr>
          <p:cNvPr id="13" name="tree-node-1"/>
          <p:cNvSpPr>
            <a:spLocks noGrp="1"/>
          </p:cNvSpPr>
          <p:nvPr/>
        </p:nvSpPr>
        <p:spPr>
          <a:xfrm>
            <a:off x="3476625" y="27336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录音与播放</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4" name="tree-detail-1"/>
          <p:cNvSpPr>
            <a:spLocks noGrp="1"/>
          </p:cNvSpPr>
          <p:nvPr/>
        </p:nvSpPr>
        <p:spPr>
          <a:xfrm>
            <a:off x="6381750" y="25812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麦克风→ADC→数字样本</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数字样本→DAC→扬声器</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tree-link-2"/>
          <p:cNvSpPr>
            <a:spLocks noGrp="1"/>
          </p:cNvSpPr>
          <p:nvPr/>
        </p:nvSpPr>
        <p:spPr>
          <a:xfrm>
            <a:off x="2914650" y="3600450"/>
            <a:ext cx="419100" cy="9525"/>
          </a:xfrm>
          <a:custGeom>
            <a:avLst/>
            <a:gdLst/>
            <a:ahLst/>
            <a:cxnLst/>
            <a:pathLst>
              <a:path w="419100" h="9525">
                <a:moveTo>
                  <a:pt x="0" y="0"/>
                </a:moveTo>
                <a:lnTo>
                  <a:pt x="419100" y="0"/>
                </a:lnTo>
              </a:path>
            </a:pathLst>
          </a:custGeom>
          <a:noFill/>
          <a:ln w="19050">
            <a:solidFill>
              <a:srgbClr val="8C64E1"/>
            </a:solidFill>
          </a:ln>
        </p:spPr>
      </p:sp>
      <p:sp>
        <p:nvSpPr>
          <p:cNvPr id="16" name="tree-focus-2"/>
          <p:cNvSpPr>
            <a:spLocks noGrp="1"/>
          </p:cNvSpPr>
          <p:nvPr/>
        </p:nvSpPr>
        <p:spPr>
          <a:xfrm>
            <a:off x="3333750" y="3295650"/>
            <a:ext cx="8248650" cy="704850"/>
          </a:xfrm>
          <a:prstGeom prst="rect">
            <a:avLst/>
          </a:prstGeom>
          <a:noFill/>
          <a:ln w="9525">
            <a:solidFill>
              <a:srgbClr val="D7D7DE"/>
            </a:solidFill>
          </a:ln>
        </p:spPr>
      </p:sp>
      <p:sp>
        <p:nvSpPr>
          <p:cNvPr id="17" name="tree-node-2"/>
          <p:cNvSpPr>
            <a:spLocks noGrp="1"/>
          </p:cNvSpPr>
          <p:nvPr/>
        </p:nvSpPr>
        <p:spPr>
          <a:xfrm>
            <a:off x="3476625" y="34575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采样、量化、编码</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18" name="tree-detail-2"/>
          <p:cNvSpPr>
            <a:spLocks noGrp="1"/>
          </p:cNvSpPr>
          <p:nvPr/>
        </p:nvSpPr>
        <p:spPr>
          <a:xfrm>
            <a:off x="6381750" y="33051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定时刻；定代表值；写码字</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tree-link-3"/>
          <p:cNvSpPr>
            <a:spLocks noGrp="1"/>
          </p:cNvSpPr>
          <p:nvPr/>
        </p:nvSpPr>
        <p:spPr>
          <a:xfrm>
            <a:off x="2914650" y="4324350"/>
            <a:ext cx="419100" cy="9525"/>
          </a:xfrm>
          <a:custGeom>
            <a:avLst/>
            <a:gdLst/>
            <a:ahLst/>
            <a:cxnLst/>
            <a:pathLst>
              <a:path w="419100" h="9525">
                <a:moveTo>
                  <a:pt x="0" y="0"/>
                </a:moveTo>
                <a:lnTo>
                  <a:pt x="419100" y="0"/>
                </a:lnTo>
              </a:path>
            </a:pathLst>
          </a:custGeom>
          <a:noFill/>
          <a:ln w="19050">
            <a:solidFill>
              <a:srgbClr val="8C64E1"/>
            </a:solidFill>
          </a:ln>
        </p:spPr>
      </p:sp>
      <p:sp>
        <p:nvSpPr>
          <p:cNvPr id="20" name="tree-trunk-3"/>
          <p:cNvSpPr>
            <a:spLocks noGrp="1"/>
          </p:cNvSpPr>
          <p:nvPr/>
        </p:nvSpPr>
        <p:spPr>
          <a:xfrm>
            <a:off x="2914650" y="4105275"/>
            <a:ext cx="9525" cy="219075"/>
          </a:xfrm>
          <a:custGeom>
            <a:avLst/>
            <a:gdLst/>
            <a:ahLst/>
            <a:cxnLst/>
            <a:pathLst>
              <a:path w="9525" h="219075">
                <a:moveTo>
                  <a:pt x="0" y="0"/>
                </a:moveTo>
                <a:lnTo>
                  <a:pt x="0" y="219075"/>
                </a:lnTo>
              </a:path>
            </a:pathLst>
          </a:custGeom>
          <a:noFill/>
          <a:ln w="19050">
            <a:solidFill>
              <a:srgbClr val="8C64E1"/>
            </a:solidFill>
          </a:ln>
        </p:spPr>
      </p:sp>
      <p:sp>
        <p:nvSpPr>
          <p:cNvPr id="21" name="tree-focus-3"/>
          <p:cNvSpPr>
            <a:spLocks noGrp="1"/>
          </p:cNvSpPr>
          <p:nvPr/>
        </p:nvSpPr>
        <p:spPr>
          <a:xfrm>
            <a:off x="3333750" y="4019550"/>
            <a:ext cx="8248650" cy="704850"/>
          </a:xfrm>
          <a:prstGeom prst="rect">
            <a:avLst/>
          </a:prstGeom>
          <a:noFill/>
          <a:ln w="9525">
            <a:solidFill>
              <a:srgbClr val="D7D7DE"/>
            </a:solidFill>
          </a:ln>
        </p:spPr>
      </p:sp>
      <p:sp>
        <p:nvSpPr>
          <p:cNvPr id="22" name="tree-node-3"/>
          <p:cNvSpPr>
            <a:spLocks noGrp="1"/>
          </p:cNvSpPr>
          <p:nvPr/>
        </p:nvSpPr>
        <p:spPr>
          <a:xfrm>
            <a:off x="3476625" y="41814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未压缩PCM</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3" name="tree-detail-3"/>
          <p:cNvSpPr>
            <a:spLocks noGrp="1"/>
          </p:cNvSpPr>
          <p:nvPr/>
        </p:nvSpPr>
        <p:spPr>
          <a:xfrm>
            <a:off x="6381750" y="40290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每声道样本数×声道数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×每样本存储字节数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4" name="tree-link-4"/>
          <p:cNvSpPr>
            <a:spLocks noGrp="1"/>
          </p:cNvSpPr>
          <p:nvPr/>
        </p:nvSpPr>
        <p:spPr>
          <a:xfrm>
            <a:off x="2914650" y="5048250"/>
            <a:ext cx="419100" cy="9525"/>
          </a:xfrm>
          <a:custGeom>
            <a:avLst/>
            <a:gdLst/>
            <a:ahLst/>
            <a:cxnLst/>
            <a:pathLst>
              <a:path w="419100" h="9525">
                <a:moveTo>
                  <a:pt x="0" y="0"/>
                </a:moveTo>
                <a:lnTo>
                  <a:pt x="419100" y="0"/>
                </a:lnTo>
              </a:path>
            </a:pathLst>
          </a:custGeom>
          <a:noFill/>
          <a:ln w="19050">
            <a:solidFill>
              <a:srgbClr val="8C64E1"/>
            </a:solidFill>
          </a:ln>
        </p:spPr>
      </p:sp>
      <p:sp>
        <p:nvSpPr>
          <p:cNvPr id="25" name="tree-trunk-4"/>
          <p:cNvSpPr>
            <a:spLocks noGrp="1"/>
          </p:cNvSpPr>
          <p:nvPr/>
        </p:nvSpPr>
        <p:spPr>
          <a:xfrm>
            <a:off x="2914650" y="4324350"/>
            <a:ext cx="9525" cy="723900"/>
          </a:xfrm>
          <a:custGeom>
            <a:avLst/>
            <a:gdLst/>
            <a:ahLst/>
            <a:cxnLst/>
            <a:pathLst>
              <a:path w="9525" h="723900">
                <a:moveTo>
                  <a:pt x="0" y="0"/>
                </a:moveTo>
                <a:lnTo>
                  <a:pt x="0" y="723900"/>
                </a:lnTo>
              </a:path>
            </a:pathLst>
          </a:custGeom>
          <a:noFill/>
          <a:ln w="19050">
            <a:solidFill>
              <a:srgbClr val="8C64E1"/>
            </a:solidFill>
          </a:ln>
        </p:spPr>
      </p:sp>
      <p:sp>
        <p:nvSpPr>
          <p:cNvPr id="26" name="tree-focus-4"/>
          <p:cNvSpPr>
            <a:spLocks noGrp="1"/>
          </p:cNvSpPr>
          <p:nvPr/>
        </p:nvSpPr>
        <p:spPr>
          <a:xfrm>
            <a:off x="3333750" y="4743450"/>
            <a:ext cx="8248650" cy="704850"/>
          </a:xfrm>
          <a:prstGeom prst="rect">
            <a:avLst/>
          </a:prstGeom>
          <a:noFill/>
          <a:ln w="9525">
            <a:solidFill>
              <a:srgbClr val="D7D7DE"/>
            </a:solidFill>
          </a:ln>
        </p:spPr>
      </p:sp>
      <p:sp>
        <p:nvSpPr>
          <p:cNvPr id="27" name="tree-node-4"/>
          <p:cNvSpPr>
            <a:spLocks noGrp="1"/>
          </p:cNvSpPr>
          <p:nvPr/>
        </p:nvSpPr>
        <p:spPr>
          <a:xfrm>
            <a:off x="3476625" y="49053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逐帧未压缩视频</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28" name="tree-detail-4"/>
          <p:cNvSpPr>
            <a:spLocks noGrp="1"/>
          </p:cNvSpPr>
          <p:nvPr/>
        </p:nvSpPr>
        <p:spPr>
          <a:xfrm>
            <a:off x="6381750" y="47529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单帧字节数×总帧数</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9" name="tree-link-5"/>
          <p:cNvSpPr>
            <a:spLocks noGrp="1"/>
          </p:cNvSpPr>
          <p:nvPr/>
        </p:nvSpPr>
        <p:spPr>
          <a:xfrm>
            <a:off x="2914650" y="5772150"/>
            <a:ext cx="419100" cy="9525"/>
          </a:xfrm>
          <a:custGeom>
            <a:avLst/>
            <a:gdLst/>
            <a:ahLst/>
            <a:cxnLst/>
            <a:pathLst>
              <a:path w="419100" h="9525">
                <a:moveTo>
                  <a:pt x="0" y="0"/>
                </a:moveTo>
                <a:lnTo>
                  <a:pt x="419100" y="0"/>
                </a:lnTo>
              </a:path>
            </a:pathLst>
          </a:custGeom>
          <a:noFill/>
          <a:ln w="19050">
            <a:solidFill>
              <a:srgbClr val="8C64E1"/>
            </a:solidFill>
          </a:ln>
        </p:spPr>
      </p:sp>
      <p:sp>
        <p:nvSpPr>
          <p:cNvPr id="30" name="tree-trunk-5"/>
          <p:cNvSpPr>
            <a:spLocks noGrp="1"/>
          </p:cNvSpPr>
          <p:nvPr/>
        </p:nvSpPr>
        <p:spPr>
          <a:xfrm>
            <a:off x="2914650" y="5048250"/>
            <a:ext cx="9525" cy="723900"/>
          </a:xfrm>
          <a:custGeom>
            <a:avLst/>
            <a:gdLst/>
            <a:ahLst/>
            <a:cxnLst/>
            <a:pathLst>
              <a:path w="9525" h="723900">
                <a:moveTo>
                  <a:pt x="0" y="0"/>
                </a:moveTo>
                <a:lnTo>
                  <a:pt x="0" y="723900"/>
                </a:lnTo>
              </a:path>
            </a:pathLst>
          </a:custGeom>
          <a:noFill/>
          <a:ln w="19050">
            <a:solidFill>
              <a:srgbClr val="8C64E1"/>
            </a:solidFill>
          </a:ln>
        </p:spPr>
      </p:sp>
      <p:sp>
        <p:nvSpPr>
          <p:cNvPr id="31" name="tree-focus-5"/>
          <p:cNvSpPr>
            <a:spLocks noGrp="1"/>
          </p:cNvSpPr>
          <p:nvPr/>
        </p:nvSpPr>
        <p:spPr>
          <a:xfrm>
            <a:off x="3333750" y="5467350"/>
            <a:ext cx="8248650" cy="704850"/>
          </a:xfrm>
          <a:prstGeom prst="rect">
            <a:avLst/>
          </a:prstGeom>
          <a:noFill/>
          <a:ln w="23813">
            <a:solidFill>
              <a:srgbClr val="FF0000"/>
            </a:solidFill>
          </a:ln>
        </p:spPr>
      </p:sp>
      <p:sp>
        <p:nvSpPr>
          <p:cNvPr id="32" name="tree-node-5"/>
          <p:cNvSpPr>
            <a:spLocks noGrp="1"/>
          </p:cNvSpPr>
          <p:nvPr/>
        </p:nvSpPr>
        <p:spPr>
          <a:xfrm>
            <a:off x="3476625" y="5629275"/>
            <a:ext cx="2667000" cy="419100"/>
          </a:xfrm>
          <a:prstGeom prst="rect">
            <a:avLst/>
          </a:prstGeom>
          <a:noFill/>
          <a:ln w="0">
            <a:noFill/>
          </a:ln>
        </p:spPr>
        <p:txBody>
          <a:bodyPr wrap="none" lIns="0" tIns="0" rIns="0" bIns="0" anchor="t">
            <a:noAutofit/>
          </a:bodyPr>
          <a:lstStyle>
            <a:def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def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压缩与恢复</a:t>
            </a:r>
            <a:endParaRPr sz="22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33" name="tree-detail-5"/>
          <p:cNvSpPr>
            <a:spLocks noGrp="1"/>
          </p:cNvSpPr>
          <p:nvPr/>
        </p:nvSpPr>
        <p:spPr>
          <a:xfrm>
            <a:off x="6381750" y="5476875"/>
            <a:ext cx="5067300" cy="6667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目标：减少数据量</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能否完整恢复，区分无损／有损</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可选拓展：这些采样值能唯一确定波形吗？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t＝0、0.5、1s；对应观测值依次为1、−1、1。</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andidate-0"/>
          <p:cNvSpPr>
            <a:spLocks noGrp="1"/>
          </p:cNvSpPr>
          <p:nvPr/>
        </p:nvSpPr>
        <p:spPr>
          <a:xfrm>
            <a:off x="609600" y="2724150"/>
            <a:ext cx="13811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候选A</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alias-axis-0"/>
          <p:cNvSpPr>
            <a:spLocks noGrp="1"/>
          </p:cNvSpPr>
          <p:nvPr/>
        </p:nvSpPr>
        <p:spPr>
          <a:xfrm>
            <a:off x="2238375" y="3000375"/>
            <a:ext cx="8096250" cy="9525"/>
          </a:xfrm>
          <a:custGeom>
            <a:avLst/>
            <a:gdLst/>
            <a:ahLst/>
            <a:cxnLst/>
            <a:pathLst>
              <a:path w="8096250" h="9525">
                <a:moveTo>
                  <a:pt x="0" y="0"/>
                </a:moveTo>
                <a:lnTo>
                  <a:pt x="8096250" y="0"/>
                </a:lnTo>
              </a:path>
            </a:pathLst>
          </a:custGeom>
          <a:noFill/>
          <a:ln w="11430">
            <a:solidFill>
              <a:srgbClr val="808080"/>
            </a:solidFill>
          </a:ln>
        </p:spPr>
      </p:sp>
      <p:sp>
        <p:nvSpPr>
          <p:cNvPr id="8" name="shared-sample-0-0"/>
          <p:cNvSpPr>
            <a:spLocks noGrp="1"/>
          </p:cNvSpPr>
          <p:nvPr/>
        </p:nvSpPr>
        <p:spPr>
          <a:xfrm>
            <a:off x="2181225" y="2324100"/>
            <a:ext cx="114300" cy="114300"/>
          </a:xfrm>
          <a:prstGeom prst="ellipse">
            <a:avLst/>
          </a:prstGeom>
          <a:solidFill>
            <a:srgbClr val="262626"/>
          </a:solidFill>
          <a:ln w="0">
            <a:solidFill>
              <a:srgbClr val="262626"/>
            </a:solidFill>
          </a:ln>
        </p:spPr>
      </p:sp>
      <p:sp>
        <p:nvSpPr>
          <p:cNvPr id="9" name="alias-tick-0-0"/>
          <p:cNvSpPr>
            <a:spLocks noGrp="1"/>
          </p:cNvSpPr>
          <p:nvPr/>
        </p:nvSpPr>
        <p:spPr>
          <a:xfrm>
            <a:off x="1952625"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shared-sample-0-1"/>
          <p:cNvSpPr>
            <a:spLocks noGrp="1"/>
          </p:cNvSpPr>
          <p:nvPr/>
        </p:nvSpPr>
        <p:spPr>
          <a:xfrm>
            <a:off x="6229350" y="3562350"/>
            <a:ext cx="114300" cy="114300"/>
          </a:xfrm>
          <a:prstGeom prst="ellipse">
            <a:avLst/>
          </a:prstGeom>
          <a:solidFill>
            <a:srgbClr val="262626"/>
          </a:solidFill>
          <a:ln w="0">
            <a:solidFill>
              <a:srgbClr val="262626"/>
            </a:solidFill>
          </a:ln>
        </p:spPr>
      </p:sp>
      <p:sp>
        <p:nvSpPr>
          <p:cNvPr id="11" name="alias-tick-0-1"/>
          <p:cNvSpPr>
            <a:spLocks noGrp="1"/>
          </p:cNvSpPr>
          <p:nvPr/>
        </p:nvSpPr>
        <p:spPr>
          <a:xfrm>
            <a:off x="6000750"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2" name="shared-sample-0-2"/>
          <p:cNvSpPr>
            <a:spLocks noGrp="1"/>
          </p:cNvSpPr>
          <p:nvPr/>
        </p:nvSpPr>
        <p:spPr>
          <a:xfrm>
            <a:off x="10277475" y="2324100"/>
            <a:ext cx="114300" cy="114300"/>
          </a:xfrm>
          <a:prstGeom prst="ellipse">
            <a:avLst/>
          </a:prstGeom>
          <a:solidFill>
            <a:srgbClr val="262626"/>
          </a:solidFill>
          <a:ln w="0">
            <a:solidFill>
              <a:srgbClr val="262626"/>
            </a:solidFill>
          </a:ln>
        </p:spPr>
      </p:sp>
      <p:sp>
        <p:nvSpPr>
          <p:cNvPr id="13" name="alias-tick-0-2"/>
          <p:cNvSpPr>
            <a:spLocks noGrp="1"/>
          </p:cNvSpPr>
          <p:nvPr/>
        </p:nvSpPr>
        <p:spPr>
          <a:xfrm>
            <a:off x="10048875"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4" name="candidate-1"/>
          <p:cNvSpPr>
            <a:spLocks noGrp="1"/>
          </p:cNvSpPr>
          <p:nvPr/>
        </p:nvSpPr>
        <p:spPr>
          <a:xfrm>
            <a:off x="609600" y="4438650"/>
            <a:ext cx="13811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候选B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alias-axis-1"/>
          <p:cNvSpPr>
            <a:spLocks noGrp="1"/>
          </p:cNvSpPr>
          <p:nvPr/>
        </p:nvSpPr>
        <p:spPr>
          <a:xfrm>
            <a:off x="2238375" y="4714875"/>
            <a:ext cx="8096250" cy="9525"/>
          </a:xfrm>
          <a:custGeom>
            <a:avLst/>
            <a:gdLst/>
            <a:ahLst/>
            <a:cxnLst/>
            <a:pathLst>
              <a:path w="8096250" h="9525">
                <a:moveTo>
                  <a:pt x="0" y="0"/>
                </a:moveTo>
                <a:lnTo>
                  <a:pt x="8096250" y="0"/>
                </a:lnTo>
              </a:path>
            </a:pathLst>
          </a:custGeom>
          <a:noFill/>
          <a:ln w="11430">
            <a:solidFill>
              <a:srgbClr val="808080"/>
            </a:solidFill>
          </a:ln>
        </p:spPr>
      </p:sp>
      <p:sp>
        <p:nvSpPr>
          <p:cNvPr id="16" name="shared-sample-1-0"/>
          <p:cNvSpPr>
            <a:spLocks noGrp="1"/>
          </p:cNvSpPr>
          <p:nvPr/>
        </p:nvSpPr>
        <p:spPr>
          <a:xfrm>
            <a:off x="2181225" y="4038600"/>
            <a:ext cx="114300" cy="114300"/>
          </a:xfrm>
          <a:prstGeom prst="ellipse">
            <a:avLst/>
          </a:prstGeom>
          <a:solidFill>
            <a:srgbClr val="262626"/>
          </a:solidFill>
          <a:ln w="0">
            <a:solidFill>
              <a:srgbClr val="262626"/>
            </a:solidFill>
          </a:ln>
        </p:spPr>
      </p:sp>
      <p:sp>
        <p:nvSpPr>
          <p:cNvPr id="17" name="alias-tick-1-0"/>
          <p:cNvSpPr>
            <a:spLocks noGrp="1"/>
          </p:cNvSpPr>
          <p:nvPr/>
        </p:nvSpPr>
        <p:spPr>
          <a:xfrm>
            <a:off x="1952625"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8" name="shared-sample-1-1"/>
          <p:cNvSpPr>
            <a:spLocks noGrp="1"/>
          </p:cNvSpPr>
          <p:nvPr/>
        </p:nvSpPr>
        <p:spPr>
          <a:xfrm>
            <a:off x="6229350" y="5276850"/>
            <a:ext cx="114300" cy="114300"/>
          </a:xfrm>
          <a:prstGeom prst="ellipse">
            <a:avLst/>
          </a:prstGeom>
          <a:solidFill>
            <a:srgbClr val="262626"/>
          </a:solidFill>
          <a:ln w="0">
            <a:solidFill>
              <a:srgbClr val="262626"/>
            </a:solidFill>
          </a:ln>
        </p:spPr>
      </p:sp>
      <p:sp>
        <p:nvSpPr>
          <p:cNvPr id="19" name="alias-tick-1-1"/>
          <p:cNvSpPr>
            <a:spLocks noGrp="1"/>
          </p:cNvSpPr>
          <p:nvPr/>
        </p:nvSpPr>
        <p:spPr>
          <a:xfrm>
            <a:off x="6000750"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0" name="shared-sample-1-2"/>
          <p:cNvSpPr>
            <a:spLocks noGrp="1"/>
          </p:cNvSpPr>
          <p:nvPr/>
        </p:nvSpPr>
        <p:spPr>
          <a:xfrm>
            <a:off x="10277475" y="4038600"/>
            <a:ext cx="114300" cy="114300"/>
          </a:xfrm>
          <a:prstGeom prst="ellipse">
            <a:avLst/>
          </a:prstGeom>
          <a:solidFill>
            <a:srgbClr val="262626"/>
          </a:solidFill>
          <a:ln w="0">
            <a:solidFill>
              <a:srgbClr val="262626"/>
            </a:solidFill>
          </a:ln>
        </p:spPr>
      </p:sp>
      <p:sp>
        <p:nvSpPr>
          <p:cNvPr id="21" name="alias-tick-1-2"/>
          <p:cNvSpPr>
            <a:spLocks noGrp="1"/>
          </p:cNvSpPr>
          <p:nvPr/>
        </p:nvSpPr>
        <p:spPr>
          <a:xfrm>
            <a:off x="10048875"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alias-prediction"/>
          <p:cNvSpPr>
            <a:spLocks noGrp="1"/>
          </p:cNvSpPr>
          <p:nvPr/>
        </p:nvSpPr>
        <p:spPr>
          <a:xfrm>
            <a:off x="609600" y="5810250"/>
            <a:ext cx="109728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先作出判断，再说明依据。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可选拓展：这些采样值能唯一确定波形吗？</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text"/>
          <p:cNvSpPr>
            <a:spLocks noGrp="1"/>
          </p:cNvSpPr>
          <p:nvPr/>
        </p:nvSpPr>
        <p:spPr>
          <a:xfrm>
            <a:off x="609600" y="1581150"/>
            <a:ext cx="10972800"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t＝0、0.5、1s；对应观测值依次为1、−1、1。</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6" name="candidate-0"/>
          <p:cNvSpPr>
            <a:spLocks noGrp="1"/>
          </p:cNvSpPr>
          <p:nvPr/>
        </p:nvSpPr>
        <p:spPr>
          <a:xfrm>
            <a:off x="609600" y="2724150"/>
            <a:ext cx="13811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候选A</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7" name="alias-axis-0"/>
          <p:cNvSpPr>
            <a:spLocks noGrp="1"/>
          </p:cNvSpPr>
          <p:nvPr/>
        </p:nvSpPr>
        <p:spPr>
          <a:xfrm>
            <a:off x="2238375" y="3000375"/>
            <a:ext cx="8096250" cy="9525"/>
          </a:xfrm>
          <a:custGeom>
            <a:avLst/>
            <a:gdLst/>
            <a:ahLst/>
            <a:cxnLst/>
            <a:pathLst>
              <a:path w="8096250" h="9525">
                <a:moveTo>
                  <a:pt x="0" y="0"/>
                </a:moveTo>
                <a:lnTo>
                  <a:pt x="8096250" y="0"/>
                </a:lnTo>
              </a:path>
            </a:pathLst>
          </a:custGeom>
          <a:noFill/>
          <a:ln w="11430">
            <a:solidFill>
              <a:srgbClr val="808080"/>
            </a:solidFill>
          </a:ln>
        </p:spPr>
      </p:sp>
      <p:sp>
        <p:nvSpPr>
          <p:cNvPr id="9" name="alias-tick-0-0"/>
          <p:cNvSpPr>
            <a:spLocks noGrp="1"/>
          </p:cNvSpPr>
          <p:nvPr/>
        </p:nvSpPr>
        <p:spPr>
          <a:xfrm>
            <a:off x="1952625"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1" name="alias-tick-0-1"/>
          <p:cNvSpPr>
            <a:spLocks noGrp="1"/>
          </p:cNvSpPr>
          <p:nvPr/>
        </p:nvSpPr>
        <p:spPr>
          <a:xfrm>
            <a:off x="6000750"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3" name="alias-tick-0-2"/>
          <p:cNvSpPr>
            <a:spLocks noGrp="1"/>
          </p:cNvSpPr>
          <p:nvPr/>
        </p:nvSpPr>
        <p:spPr>
          <a:xfrm>
            <a:off x="10048875" y="37147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4" name="candidate-1"/>
          <p:cNvSpPr>
            <a:spLocks noGrp="1"/>
          </p:cNvSpPr>
          <p:nvPr/>
        </p:nvSpPr>
        <p:spPr>
          <a:xfrm>
            <a:off x="609600" y="4438650"/>
            <a:ext cx="1381125" cy="41910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候选B</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5" name="alias-axis-1"/>
          <p:cNvSpPr>
            <a:spLocks noGrp="1"/>
          </p:cNvSpPr>
          <p:nvPr/>
        </p:nvSpPr>
        <p:spPr>
          <a:xfrm>
            <a:off x="2238375" y="4714875"/>
            <a:ext cx="8096250" cy="9525"/>
          </a:xfrm>
          <a:custGeom>
            <a:avLst/>
            <a:gdLst/>
            <a:ahLst/>
            <a:cxnLst/>
            <a:pathLst>
              <a:path w="8096250" h="9525">
                <a:moveTo>
                  <a:pt x="0" y="0"/>
                </a:moveTo>
                <a:lnTo>
                  <a:pt x="8096250" y="0"/>
                </a:lnTo>
              </a:path>
            </a:pathLst>
          </a:custGeom>
          <a:noFill/>
          <a:ln w="11430">
            <a:solidFill>
              <a:srgbClr val="808080"/>
            </a:solidFill>
          </a:ln>
        </p:spPr>
      </p:sp>
      <p:sp>
        <p:nvSpPr>
          <p:cNvPr id="17" name="alias-tick-1-0"/>
          <p:cNvSpPr>
            <a:spLocks noGrp="1"/>
          </p:cNvSpPr>
          <p:nvPr/>
        </p:nvSpPr>
        <p:spPr>
          <a:xfrm>
            <a:off x="1952625"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9" name="alias-tick-1-1"/>
          <p:cNvSpPr>
            <a:spLocks noGrp="1"/>
          </p:cNvSpPr>
          <p:nvPr/>
        </p:nvSpPr>
        <p:spPr>
          <a:xfrm>
            <a:off x="6000750"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0.5</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1" name="alias-tick-1-2"/>
          <p:cNvSpPr>
            <a:spLocks noGrp="1"/>
          </p:cNvSpPr>
          <p:nvPr/>
        </p:nvSpPr>
        <p:spPr>
          <a:xfrm>
            <a:off x="10048875" y="5429250"/>
            <a:ext cx="571500" cy="285750"/>
          </a:xfrm>
          <a:prstGeom prst="rect">
            <a:avLst/>
          </a:prstGeom>
          <a:noFill/>
          <a:ln w="0">
            <a:noFill/>
          </a:ln>
        </p:spPr>
        <p:txBody>
          <a:bodyPr wrap="none" lIns="0" tIns="0" rIns="0" bIns="0" anchor="t">
            <a:noAutofit/>
          </a:bodyPr>
          <a:lstStyle>
            <a:def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ctr">
              <a:def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defRPr>
            </a:pPr>
            <a:r>
              <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rPr>
              <a:t>1</a:t>
            </a:r>
            <a:endParaRPr sz="1800" b="0">
              <a:solidFill>
                <a:srgbClr val="808080"/>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2" name="alias-prediction"/>
          <p:cNvSpPr>
            <a:spLocks noGrp="1"/>
          </p:cNvSpPr>
          <p:nvPr/>
        </p:nvSpPr>
        <p:spPr>
          <a:xfrm>
            <a:off x="609600" y="5810250"/>
            <a:ext cx="10972800" cy="400050"/>
          </a:xfrm>
          <a:prstGeom prst="rect">
            <a:avLst/>
          </a:prstGeom>
          <a:noFill/>
          <a:ln w="0">
            <a:noFill/>
          </a:ln>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先作出判断，再说明依据。</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23" name="alias-wave-1"/>
          <p:cNvSpPr>
            <a:spLocks noGrp="1"/>
          </p:cNvSpPr>
          <p:nvPr/>
        </p:nvSpPr>
        <p:spPr>
          <a:xfrm>
            <a:off x="2238375" y="2381250"/>
            <a:ext cx="8096250" cy="1238250"/>
          </a:xfrm>
          <a:custGeom>
            <a:avLst/>
            <a:gdLst/>
            <a:ahLst/>
            <a:cxnLst/>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a:ln w="21908">
            <a:solidFill>
              <a:srgbClr val="8C64E1"/>
            </a:solidFill>
          </a:ln>
        </p:spPr>
      </p:sp>
      <p:sp>
        <p:nvSpPr>
          <p:cNvPr id="24" name="alias-wave-3"/>
          <p:cNvSpPr>
            <a:spLocks noGrp="1"/>
          </p:cNvSpPr>
          <p:nvPr/>
        </p:nvSpPr>
        <p:spPr>
          <a:xfrm>
            <a:off x="2238375" y="4095750"/>
            <a:ext cx="8096250" cy="1238250"/>
          </a:xfrm>
          <a:custGeom>
            <a:avLst/>
            <a:gdLst/>
            <a:ahLst/>
            <a:cxnLst/>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a:ln w="21908">
            <a:solidFill>
              <a:srgbClr val="00B0F0"/>
            </a:solidFill>
          </a:ln>
        </p:spPr>
      </p:sp>
      <p:sp>
        <p:nvSpPr>
          <p:cNvPr id="8" name="shared-sample-0-0"/>
          <p:cNvSpPr>
            <a:spLocks noGrp="1"/>
          </p:cNvSpPr>
          <p:nvPr/>
        </p:nvSpPr>
        <p:spPr>
          <a:xfrm>
            <a:off x="2181225" y="2324100"/>
            <a:ext cx="114300" cy="114300"/>
          </a:xfrm>
          <a:prstGeom prst="ellipse">
            <a:avLst/>
          </a:prstGeom>
          <a:solidFill>
            <a:srgbClr val="262626"/>
          </a:solidFill>
          <a:ln w="0">
            <a:solidFill>
              <a:srgbClr val="262626"/>
            </a:solidFill>
          </a:ln>
        </p:spPr>
      </p:sp>
      <p:sp>
        <p:nvSpPr>
          <p:cNvPr id="10" name="shared-sample-0-1"/>
          <p:cNvSpPr>
            <a:spLocks noGrp="1"/>
          </p:cNvSpPr>
          <p:nvPr/>
        </p:nvSpPr>
        <p:spPr>
          <a:xfrm>
            <a:off x="6229350" y="3562350"/>
            <a:ext cx="114300" cy="114300"/>
          </a:xfrm>
          <a:prstGeom prst="ellipse">
            <a:avLst/>
          </a:prstGeom>
          <a:solidFill>
            <a:srgbClr val="262626"/>
          </a:solidFill>
          <a:ln w="0">
            <a:solidFill>
              <a:srgbClr val="262626"/>
            </a:solidFill>
          </a:ln>
        </p:spPr>
      </p:sp>
      <p:sp>
        <p:nvSpPr>
          <p:cNvPr id="12" name="shared-sample-0-2"/>
          <p:cNvSpPr>
            <a:spLocks noGrp="1"/>
          </p:cNvSpPr>
          <p:nvPr/>
        </p:nvSpPr>
        <p:spPr>
          <a:xfrm>
            <a:off x="10277475" y="2324100"/>
            <a:ext cx="114300" cy="114300"/>
          </a:xfrm>
          <a:prstGeom prst="ellipse">
            <a:avLst/>
          </a:prstGeom>
          <a:solidFill>
            <a:srgbClr val="262626"/>
          </a:solidFill>
          <a:ln w="0">
            <a:solidFill>
              <a:srgbClr val="262626"/>
            </a:solidFill>
          </a:ln>
        </p:spPr>
      </p:sp>
      <p:sp>
        <p:nvSpPr>
          <p:cNvPr id="16" name="shared-sample-1-0"/>
          <p:cNvSpPr>
            <a:spLocks noGrp="1"/>
          </p:cNvSpPr>
          <p:nvPr/>
        </p:nvSpPr>
        <p:spPr>
          <a:xfrm>
            <a:off x="2181225" y="4038600"/>
            <a:ext cx="114300" cy="114300"/>
          </a:xfrm>
          <a:prstGeom prst="ellipse">
            <a:avLst/>
          </a:prstGeom>
          <a:solidFill>
            <a:srgbClr val="262626"/>
          </a:solidFill>
          <a:ln w="0">
            <a:solidFill>
              <a:srgbClr val="262626"/>
            </a:solidFill>
          </a:ln>
        </p:spPr>
      </p:sp>
      <p:sp>
        <p:nvSpPr>
          <p:cNvPr id="18" name="shared-sample-1-1"/>
          <p:cNvSpPr>
            <a:spLocks noGrp="1"/>
          </p:cNvSpPr>
          <p:nvPr/>
        </p:nvSpPr>
        <p:spPr>
          <a:xfrm>
            <a:off x="6229350" y="5276850"/>
            <a:ext cx="114300" cy="114300"/>
          </a:xfrm>
          <a:prstGeom prst="ellipse">
            <a:avLst/>
          </a:prstGeom>
          <a:solidFill>
            <a:srgbClr val="262626"/>
          </a:solidFill>
          <a:ln w="0">
            <a:solidFill>
              <a:srgbClr val="262626"/>
            </a:solidFill>
          </a:ln>
        </p:spPr>
      </p:sp>
      <p:sp>
        <p:nvSpPr>
          <p:cNvPr id="20" name="shared-sample-1-2"/>
          <p:cNvSpPr>
            <a:spLocks noGrp="1"/>
          </p:cNvSpPr>
          <p:nvPr/>
        </p:nvSpPr>
        <p:spPr>
          <a:xfrm>
            <a:off x="10277475" y="4038600"/>
            <a:ext cx="114300" cy="114300"/>
          </a:xfrm>
          <a:prstGeom prst="ellipse">
            <a:avLst/>
          </a:prstGeom>
          <a:solidFill>
            <a:srgbClr val="262626"/>
          </a:solidFill>
          <a:ln w="0">
            <a:solidFill>
              <a:srgbClr val="262626"/>
            </a:solidFill>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rail"/>
          <p:cNvSpPr>
            <a:spLocks noGrp="1"/>
          </p:cNvSpPr>
          <p:nvPr/>
        </p:nvSpPr>
        <p:spPr>
          <a:xfrm>
            <a:off x="0" y="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3" name="bottom-rail"/>
          <p:cNvSpPr>
            <a:spLocks noGrp="1"/>
          </p:cNvSpPr>
          <p:nvPr/>
        </p:nvSpPr>
        <p:spPr>
          <a:xfrm>
            <a:off x="0" y="6756400"/>
            <a:ext cx="12191695" cy="101600"/>
          </a:xfrm>
          <a:prstGeom prst="rect">
            <a:avLst/>
          </a:prstGeom>
          <a:solidFill>
            <a:srgbClr val="6251B1"/>
          </a:solidFill>
          <a:ln w="0">
            <a:noFill/>
          </a:ln>
        </p:spPr>
        <p:style>
          <a:lnRef idx="1">
            <a:schemeClr val="accent1"/>
          </a:lnRef>
          <a:fillRef idx="3">
            <a:schemeClr val="accent1"/>
          </a:fillRef>
          <a:effectRef idx="0">
            <a:srgbClr val="FFFFFF"/>
          </a:effectRef>
          <a:fontRef idx="minor">
            <a:schemeClr val="lt1"/>
          </a:fontRef>
        </p:style>
        <p:txBody>
          <a:bodyPr anchor="ctr"/>
          <a:lstStyle/>
          <a:p>
            <a:pPr algn="ctr">
              <a:buNone/>
            </a:pPr>
          </a:p>
        </p:txBody>
      </p:sp>
      <p:sp>
        <p:nvSpPr>
          <p:cNvPr id="4" name="question-title"/>
          <p:cNvSpPr>
            <a:spLocks noGrp="1"/>
          </p:cNvSpPr>
          <p:nvPr/>
        </p:nvSpPr>
        <p:spPr>
          <a:xfrm>
            <a:off x="608076" y="608076"/>
            <a:ext cx="10972800" cy="704850"/>
          </a:xfrm>
          <a:prstGeom prst="rect">
            <a:avLst/>
          </a:prstGeom>
          <a:noFill/>
        </p:spPr>
        <p:txBody>
          <a:bodyPr wrap="none" lIns="0" tIns="0" rIns="0" bIns="0" anchor="t">
            <a:noAutofit/>
          </a:bodyPr>
          <a:lstStyle>
            <a:defPPr algn="l">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defRPr>
            </a:pPr>
            <a:r>
              <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rPr>
              <a:t>可选拓展：编码与压缩不同</a:t>
            </a:r>
            <a:endParaRPr sz="3600" b="1">
              <a:solidFill>
                <a:srgbClr val="262626"/>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5" name="Connector 4"/>
          <p:cNvSpPr>
            <a:spLocks noGrp="1"/>
          </p:cNvSpPr>
          <p:nvPr/>
        </p:nvSpPr>
        <p:spPr>
          <a:xfrm>
            <a:off x="6080760" y="1627632"/>
            <a:ext cx="0" cy="3776472"/>
          </a:xfrm>
          <a:prstGeom prst="line">
            <a:avLst/>
          </a:prstGeom>
          <a:ln w="25400">
            <a:solidFill>
              <a:srgbClr val="E2E2E7"/>
            </a:solidFill>
          </a:ln>
        </p:spPr>
        <p:style>
          <a:lnRef idx="2">
            <a:schemeClr val="accent1"/>
          </a:lnRef>
          <a:fillRef idx="0">
            <a:schemeClr val="accent1"/>
          </a:fillRef>
          <a:effectRef idx="0">
            <a:srgbClr val="FFFFFF"/>
          </a:effectRef>
          <a:fontRef idx="minor">
            <a:schemeClr val="tx1"/>
          </a:fontRef>
        </p:style>
      </p:sp>
      <p:sp>
        <p:nvSpPr>
          <p:cNvPr id="6" name="TextBox 5"/>
          <p:cNvSpPr>
            <a:spLocks noGrp="1"/>
          </p:cNvSpPr>
          <p:nvPr/>
        </p:nvSpPr>
        <p:spPr>
          <a:xfrm>
            <a:off x="822960" y="1737360"/>
            <a:ext cx="5074920" cy="426720"/>
          </a:xfrm>
          <a:prstGeom prst="rect">
            <a:avLst/>
          </a:prstGeom>
          <a:noFill/>
        </p:spPr>
        <p:txBody>
          <a:bodyPr wrap="square" lIns="0" tIns="0" rIns="0" bIns="0" anchor="t">
            <a:noAutofit/>
          </a:bodyPr>
          <a:lstStyle>
            <a:defPPr algn="l">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rPr>
              <a:t>声音编码</a:t>
            </a:r>
            <a:endParaRPr sz="2800" b="1">
              <a:solidFill>
                <a:srgbClr val="8C64E1"/>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7" name="TextBox 6"/>
          <p:cNvSpPr>
            <a:spLocks noGrp="1"/>
          </p:cNvSpPr>
          <p:nvPr/>
        </p:nvSpPr>
        <p:spPr>
          <a:xfrm>
            <a:off x="6455664" y="1737360"/>
            <a:ext cx="4754880" cy="426720"/>
          </a:xfrm>
          <a:prstGeom prst="rect">
            <a:avLst/>
          </a:prstGeom>
          <a:noFill/>
        </p:spPr>
        <p:txBody>
          <a:bodyPr wrap="square" lIns="0" tIns="0" rIns="0" bIns="0" anchor="t">
            <a:noAutofit/>
          </a:bodyPr>
          <a:lstStyle>
            <a:defPPr algn="l">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defPPr>
          </a:lstStyle>
          <a:p>
            <a:pPr algn="l">
              <a:spcBef>
                <a:spcPts val="0"/>
              </a:spcBef>
              <a:spcAft>
                <a:spcPts val="200"/>
              </a:spcAft>
              <a:buNone/>
              <a:def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defRPr>
            </a:pPr>
            <a:r>
              <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rPr>
              <a:t>数据压缩</a:t>
            </a:r>
            <a:endParaRPr sz="2800" b="1">
              <a:solidFill>
                <a:srgbClr val="007C9B"/>
              </a:solidFill>
              <a:latin typeface="Alibaba PuHuiTi 3.0 115 Black" panose="00020600040101010101" charset="-122"/>
              <a:ea typeface="Alibaba PuHuiTi 3.0 115 Black" panose="00020600040101010101" charset="-122"/>
              <a:cs typeface="Alibaba PuHuiTi 3.0 115 Black" panose="00020600040101010101" charset="-122"/>
            </a:endParaRPr>
          </a:p>
        </p:txBody>
      </p:sp>
      <p:sp>
        <p:nvSpPr>
          <p:cNvPr id="8" name="TextBox 7"/>
          <p:cNvSpPr>
            <a:spLocks noGrp="1"/>
          </p:cNvSpPr>
          <p:nvPr/>
        </p:nvSpPr>
        <p:spPr>
          <a:xfrm>
            <a:off x="822960" y="2743200"/>
            <a:ext cx="501091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让连续声音能够用数字样本记录；</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也包括后续数据表示。</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9" name="TextBox 8"/>
          <p:cNvSpPr>
            <a:spLocks noGrp="1"/>
          </p:cNvSpPr>
          <p:nvPr/>
        </p:nvSpPr>
        <p:spPr>
          <a:xfrm>
            <a:off x="6455664" y="2743200"/>
            <a:ext cx="4873752" cy="701040"/>
          </a:xfrm>
          <a:prstGeom prst="rect">
            <a:avLst/>
          </a:prstGeom>
          <a:noFill/>
        </p:spPr>
        <p:txBody>
          <a:bodyPr wrap="square" lIns="0" tIns="0" rIns="0" bIns="0" anchor="t">
            <a:noAutofit/>
          </a:bodyPr>
          <a:lstStyle>
            <a:defPPr algn="l">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重新表示相同或近似相同的信息，</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a:p>
            <a:pPr algn="l">
              <a:spcBef>
                <a:spcPts val="0"/>
              </a:spcBef>
              <a:spcAft>
                <a:spcPts val="200"/>
              </a:spcAft>
              <a:buNone/>
              <a:def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目标是减少数据量。</a:t>
            </a:r>
            <a:endParaRPr sz="23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
        <p:nvSpPr>
          <p:cNvPr id="10" name="TextBox 9"/>
          <p:cNvSpPr>
            <a:spLocks noGrp="1"/>
          </p:cNvSpPr>
          <p:nvPr/>
        </p:nvSpPr>
        <p:spPr>
          <a:xfrm>
            <a:off x="777240" y="5879592"/>
            <a:ext cx="10789920" cy="335280"/>
          </a:xfrm>
          <a:prstGeom prst="rect">
            <a:avLst/>
          </a:prstGeom>
          <a:noFill/>
        </p:spPr>
        <p:txBody>
          <a:bodyPr wrap="none" lIns="0" tIns="0" rIns="0" bIns="0" anchor="t">
            <a:noAutofit/>
          </a:bodyPr>
          <a:lstStyle>
            <a:defPPr algn="l">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defPPr>
          </a:lstStyle>
          <a:p>
            <a:pPr algn="l">
              <a:spcBef>
                <a:spcPts val="0"/>
              </a:spcBef>
              <a:spcAft>
                <a:spcPts val="200"/>
              </a:spcAft>
              <a:buNone/>
              <a:def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defRPr>
            </a:pPr>
            <a:r>
              <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rPr>
              <a:t>数字化、容器封装、压缩，是相关但不同的概念。</a:t>
            </a:r>
            <a:endParaRPr sz="2200" b="0">
              <a:solidFill>
                <a:srgbClr val="262626"/>
              </a:solidFill>
              <a:latin typeface="Alibaba PuHuiTi 3.0 55 Regular" panose="00020600040101010101" charset="-122"/>
              <a:ea typeface="Alibaba PuHuiTi 3.0 55 Regular" panose="00020600040101010101" charset="-122"/>
              <a:cs typeface="Alibaba PuHuiTi 3.0 55 Regular" panose="00020600040101010101"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7244</Words>
  <Application>WPS Presentation</Application>
  <PresentationFormat>Converted Presentation</PresentationFormat>
  <Paragraphs>1352</Paragraphs>
  <Slides>82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82</vt:i4>
      </vt:variant>
    </vt:vector>
  </HeadingPairs>
  <TitlesOfParts>
    <vt:vector size="93" baseType="lpstr">
      <vt:lpstr>Arial</vt:lpstr>
      <vt:lpstr>SimSun</vt:lpstr>
      <vt:lpstr>Wingdings</vt:lpstr>
      <vt:lpstr>Alibaba PuHuiTi 3.0 55 Regular</vt:lpstr>
      <vt:lpstr>Arial</vt:lpstr>
      <vt:lpstr>Alibaba PuHuiTi 3.0 115 Black</vt:lpstr>
      <vt:lpstr>Microsoft YaHei</vt:lpstr>
      <vt:lpstr>方正雅意黑 GB18030L2</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声音数字化与压缩 v8.5.gpt｜Codex结构 × v8.4.10教学证据图</dc:title>
  <dc:creator>Walnut Exporter</dc:creator>
  <dc:subject>高中信息科技：融合图示与两课时问题链</dc:subject>
  <cp:lastModifiedBy>Peter Ran</cp:lastModifiedBy>
  <cp:revision>1</cp:revision>
  <dcterms:created xsi:type="dcterms:W3CDTF">2026-10-14T01:35:20Z</dcterms:created>
  <dcterms:modified xsi:type="dcterms:W3CDTF">2026-10-14T01:35:20Z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1033-12.1.28492.28492</vt:lpwstr>
  </property>
  <property fmtid="{D5CDD505-2E9C-101B-9397-08002B2CF9AE}" pid="3" name="ICV">
    <vt:lpwstr>73CEBB1F4370511458DCCE6A136F0D42_42</vt:lpwstr>
  </property>
</Properties>
</file>
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CodexSlide1"/>
    <p:sldId id="257" r:id="rIdCodexSlide2"/>
    <p:sldId id="258" r:id="rIdCodexSlide3"/>
    <p:sldId id="259" r:id="rIdCodexSlide4"/>
    <p:sldId id="260" r:id="rIdCodexSlide5"/>
    <p:sldId id="261" r:id="rIdCodexSlide6"/>
    <p:sldId id="262" r:id="rIdCodexSlide7"/>
    <p:sldId id="263" r:id="rIdCodexSlide8"/>
    <p:sldId id="264" r:id="rIdCodexSlide9"/>
    <p:sldId id="265" r:id="rIdCodexSlide10"/>
    <p:sldId id="266" r:id="rIdCodexSlide11"/>
    <p:sldId id="267" r:id="rIdCodexSlide12"/>
    <p:sldId id="268" r:id="rIdCodexSlide13"/>
    <p:sldId id="269" r:id="rIdCodexSlide14"/>
    <p:sldId id="270" r:id="rIdCodexSlide15"/>
    <p:sldId id="271" r:id="rIdCodexSlide16"/>
    <p:sldId id="272" r:id="rIdCodexSlide17"/>
    <p:sldId id="273" r:id="rIdCodexSlide18"/>
    <p:sldId id="274" r:id="rIdCodexSlide19"/>
    <p:sldId id="275" r:id="rIdCodexSlide20"/>
    <p:sldId id="276" r:id="rIdCodexSlide21"/>
    <p:sldId id="277" r:id="rIdCodexSlide22"/>
    <p:sldId id="278" r:id="rIdCodexSlide23"/>
    <p:sldId id="279" r:id="rIdCodexSlide24"/>
    <p:sldId id="280" r:id="rIdCodexSlide25"/>
    <p:sldId id="281" r:id="rIdCodexSlide26"/>
    <p:sldId id="282" r:id="rIdCodexSlide27"/>
    <p:sldId id="283" r:id="rIdCodexSlide28"/>
    <p:sldId id="284" r:id="rIdCodexSlide29"/>
    <p:sldId id="285" r:id="rIdCodexSlide30"/>
    <p:sldId id="286" r:id="rIdCodexSlide31"/>
    <p:sldId id="287" r:id="rIdCodexSlide32"/>
    <p:sldId id="288" r:id="rIdCodexSlide33"/>
    <p:sldId id="289" r:id="rIdCodexSlide34"/>
    <p:sldId id="290" r:id="rIdCodexSlide35"/>
    <p:sldId id="291" r:id="rIdCodexSlide36"/>
    <p:sldId id="292" r:id="rIdCodexSlide37"/>
    <p:sldId id="293" r:id="rIdCodexSlide38"/>
    <p:sldId id="294" r:id="rIdCodexSlide39"/>
    <p:sldId id="295" r:id="rIdCodexSlide40"/>
    <p:sldId id="296" r:id="rIdCodexSlide41"/>
    <p:sldId id="297" r:id="rIdCodexSlide42"/>
    <p:sldId id="298" r:id="rIdCodexSlide43"/>
    <p:sldId id="299" r:id="rIdCodexSlide44"/>
    <p:sldId id="300" r:id="rIdCodexSlide45"/>
    <p:sldId id="301" r:id="rIdCodexSlide46"/>
    <p:sldId id="302" r:id="rIdCodexSlide47"/>
    <p:sldId id="303" r:id="rIdCodexSlide48"/>
    <p:sldId id="304" r:id="rIdCodexSlide49"/>
    <p:sldId id="305" r:id="rIdCodexSlide50"/>
    <p:sldId id="306" r:id="rIdCodexSlide51"/>
    <p:sldId id="307" r:id="rIdCodexSlide52"/>
    <p:sldId id="308" r:id="rIdCodexSlide53"/>
    <p:sldId id="309" r:id="rIdCodexSlide54"/>
    <p:sldId id="310" r:id="rIdCodexSlide55"/>
    <p:sldId id="311" r:id="rIdCodexSlide56"/>
    <p:sldId id="312" r:id="rIdCodexSlide57"/>
    <p:sldId id="313" r:id="rIdCodexSlide58"/>
    <p:sldId id="314" r:id="rIdCodexSlide59"/>
    <p:sldId id="315" r:id="rIdCodexSlide60"/>
    <p:sldId id="316" r:id="rIdCodexSlide61"/>
    <p:sldId id="317" r:id="rIdCodexSlide62"/>
    <p:sldId id="318" r:id="rIdCodexSlide63"/>
    <p:sldId id="319" r:id="rIdCodexSlide64"/>
    <p:sldId id="320" r:id="rIdCodexSlide65"/>
    <p:sldId id="321" r:id="rIdCodexSlide66"/>
    <p:sldId id="322" r:id="rIdCodexSlide67"/>
    <p:sldId id="323" r:id="rIdCodexSlide68"/>
    <p:sldId id="324" r:id="rIdCodexSlide69"/>
    <p:sldId id="325" r:id="rIdCodexSlide70"/>
  </p:sldIdLst>
  <p:sldSz cx="12191695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CodexSlide1" Type="http://schemas.openxmlformats.org/officeDocument/2006/relationships/slide" Target="slides/slide1.xml"/><Relationship Id="rIdCodexSlide2" Type="http://schemas.openxmlformats.org/officeDocument/2006/relationships/slide" Target="slides/slide2.xml"/><Relationship Id="rIdCodexSlide3" Type="http://schemas.openxmlformats.org/officeDocument/2006/relationships/slide" Target="slides/slide3.xml"/><Relationship Id="rIdCodexSlide4" Type="http://schemas.openxmlformats.org/officeDocument/2006/relationships/slide" Target="slides/slide4.xml"/><Relationship Id="rIdCodexSlide5" Type="http://schemas.openxmlformats.org/officeDocument/2006/relationships/slide" Target="slides/slide5.xml"/><Relationship Id="rIdCodexSlide6" Type="http://schemas.openxmlformats.org/officeDocument/2006/relationships/slide" Target="slides/slide6.xml"/><Relationship Id="rIdCodexSlide7" Type="http://schemas.openxmlformats.org/officeDocument/2006/relationships/slide" Target="slides/slide7.xml"/><Relationship Id="rIdCodexSlide8" Type="http://schemas.openxmlformats.org/officeDocument/2006/relationships/slide" Target="slides/slide8.xml"/><Relationship Id="rIdCodexSlide9" Type="http://schemas.openxmlformats.org/officeDocument/2006/relationships/slide" Target="slides/slide9.xml"/><Relationship Id="rIdCodexSlide10" Type="http://schemas.openxmlformats.org/officeDocument/2006/relationships/slide" Target="slides/slide10.xml"/><Relationship Id="rIdCodexSlide11" Type="http://schemas.openxmlformats.org/officeDocument/2006/relationships/slide" Target="slides/slide11.xml"/><Relationship Id="rIdCodexSlide12" Type="http://schemas.openxmlformats.org/officeDocument/2006/relationships/slide" Target="slides/slide12.xml"/><Relationship Id="rIdCodexSlide13" Type="http://schemas.openxmlformats.org/officeDocument/2006/relationships/slide" Target="slides/slide13.xml"/><Relationship Id="rIdCodexSlide14" Type="http://schemas.openxmlformats.org/officeDocument/2006/relationships/slide" Target="slides/slide14.xml"/><Relationship Id="rIdCodexSlide15" Type="http://schemas.openxmlformats.org/officeDocument/2006/relationships/slide" Target="slides/slide15.xml"/><Relationship Id="rIdCodexSlide16" Type="http://schemas.openxmlformats.org/officeDocument/2006/relationships/slide" Target="slides/slide16.xml"/><Relationship Id="rIdCodexSlide17" Type="http://schemas.openxmlformats.org/officeDocument/2006/relationships/slide" Target="slides/slide17.xml"/><Relationship Id="rIdCodexSlide18" Type="http://schemas.openxmlformats.org/officeDocument/2006/relationships/slide" Target="slides/slide18.xml"/><Relationship Id="rIdCodexSlide19" Type="http://schemas.openxmlformats.org/officeDocument/2006/relationships/slide" Target="slides/slide19.xml"/><Relationship Id="rIdCodexSlide20" Type="http://schemas.openxmlformats.org/officeDocument/2006/relationships/slide" Target="slides/slide20.xml"/><Relationship Id="rIdCodexSlide21" Type="http://schemas.openxmlformats.org/officeDocument/2006/relationships/slide" Target="slides/slide21.xml"/><Relationship Id="rIdCodexSlide22" Type="http://schemas.openxmlformats.org/officeDocument/2006/relationships/slide" Target="slides/slide22.xml"/><Relationship Id="rIdCodexSlide23" Type="http://schemas.openxmlformats.org/officeDocument/2006/relationships/slide" Target="slides/slide23.xml"/><Relationship Id="rIdCodexSlide24" Type="http://schemas.openxmlformats.org/officeDocument/2006/relationships/slide" Target="slides/slide24.xml"/><Relationship Id="rIdCodexSlide25" Type="http://schemas.openxmlformats.org/officeDocument/2006/relationships/slide" Target="slides/slide25.xml"/><Relationship Id="rIdCodexSlide26" Type="http://schemas.openxmlformats.org/officeDocument/2006/relationships/slide" Target="slides/slide26.xml"/><Relationship Id="rIdCodexSlide27" Type="http://schemas.openxmlformats.org/officeDocument/2006/relationships/slide" Target="slides/slide27.xml"/><Relationship Id="rIdCodexSlide28" Type="http://schemas.openxmlformats.org/officeDocument/2006/relationships/slide" Target="slides/slide28.xml"/><Relationship Id="rIdCodexSlide29" Type="http://schemas.openxmlformats.org/officeDocument/2006/relationships/slide" Target="slides/slide29.xml"/><Relationship Id="rIdCodexSlide30" Type="http://schemas.openxmlformats.org/officeDocument/2006/relationships/slide" Target="slides/slide30.xml"/><Relationship Id="rIdCodexSlide31" Type="http://schemas.openxmlformats.org/officeDocument/2006/relationships/slide" Target="slides/slide31.xml"/><Relationship Id="rIdCodexSlide32" Type="http://schemas.openxmlformats.org/officeDocument/2006/relationships/slide" Target="slides/slide32.xml"/><Relationship Id="rIdCodexSlide33" Type="http://schemas.openxmlformats.org/officeDocument/2006/relationships/slide" Target="slides/slide33.xml"/><Relationship Id="rIdCodexSlide34" Type="http://schemas.openxmlformats.org/officeDocument/2006/relationships/slide" Target="slides/slide34.xml"/><Relationship Id="rIdCodexSlide35" Type="http://schemas.openxmlformats.org/officeDocument/2006/relationships/slide" Target="slides/slide35.xml"/><Relationship Id="rIdCodexSlide36" Type="http://schemas.openxmlformats.org/officeDocument/2006/relationships/slide" Target="slides/slide36.xml"/><Relationship Id="rIdCodexSlide37" Type="http://schemas.openxmlformats.org/officeDocument/2006/relationships/slide" Target="slides/slide37.xml"/><Relationship Id="rIdCodexSlide38" Type="http://schemas.openxmlformats.org/officeDocument/2006/relationships/slide" Target="slides/slide38.xml"/><Relationship Id="rIdCodexSlide39" Type="http://schemas.openxmlformats.org/officeDocument/2006/relationships/slide" Target="slides/slide39.xml"/><Relationship Id="rIdCodexSlide40" Type="http://schemas.openxmlformats.org/officeDocument/2006/relationships/slide" Target="slides/slide40.xml"/><Relationship Id="rIdCodexSlide41" Type="http://schemas.openxmlformats.org/officeDocument/2006/relationships/slide" Target="slides/slide41.xml"/><Relationship Id="rIdCodexSlide42" Type="http://schemas.openxmlformats.org/officeDocument/2006/relationships/slide" Target="slides/slide42.xml"/><Relationship Id="rIdCodexSlide43" Type="http://schemas.openxmlformats.org/officeDocument/2006/relationships/slide" Target="slides/slide43.xml"/><Relationship Id="rIdCodexSlide44" Type="http://schemas.openxmlformats.org/officeDocument/2006/relationships/slide" Target="slides/slide44.xml"/><Relationship Id="rIdCodexSlide45" Type="http://schemas.openxmlformats.org/officeDocument/2006/relationships/slide" Target="slides/slide45.xml"/><Relationship Id="rIdCodexSlide46" Type="http://schemas.openxmlformats.org/officeDocument/2006/relationships/slide" Target="slides/slide46.xml"/><Relationship Id="rIdCodexSlide47" Type="http://schemas.openxmlformats.org/officeDocument/2006/relationships/slide" Target="slides/slide47.xml"/><Relationship Id="rIdCodexSlide48" Type="http://schemas.openxmlformats.org/officeDocument/2006/relationships/slide" Target="slides/slide48.xml"/><Relationship Id="rIdCodexSlide49" Type="http://schemas.openxmlformats.org/officeDocument/2006/relationships/slide" Target="slides/slide49.xml"/><Relationship Id="rIdCodexSlide50" Type="http://schemas.openxmlformats.org/officeDocument/2006/relationships/slide" Target="slides/slide50.xml"/><Relationship Id="rIdCodexSlide51" Type="http://schemas.openxmlformats.org/officeDocument/2006/relationships/slide" Target="slides/slide51.xml"/><Relationship Id="rIdCodexSlide52" Type="http://schemas.openxmlformats.org/officeDocument/2006/relationships/slide" Target="slides/slide52.xml"/><Relationship Id="rIdCodexSlide53" Type="http://schemas.openxmlformats.org/officeDocument/2006/relationships/slide" Target="slides/slide53.xml"/><Relationship Id="rIdCodexSlide54" Type="http://schemas.openxmlformats.org/officeDocument/2006/relationships/slide" Target="slides/slide54.xml"/><Relationship Id="rIdCodexSlide55" Type="http://schemas.openxmlformats.org/officeDocument/2006/relationships/slide" Target="slides/slide55.xml"/><Relationship Id="rIdCodexSlide56" Type="http://schemas.openxmlformats.org/officeDocument/2006/relationships/slide" Target="slides/slide56.xml"/><Relationship Id="rIdCodexSlide57" Type="http://schemas.openxmlformats.org/officeDocument/2006/relationships/slide" Target="slides/slide57.xml"/><Relationship Id="rIdCodexSlide58" Type="http://schemas.openxmlformats.org/officeDocument/2006/relationships/slide" Target="slides/slide58.xml"/><Relationship Id="rIdCodexSlide59" Type="http://schemas.openxmlformats.org/officeDocument/2006/relationships/slide" Target="slides/slide59.xml"/><Relationship Id="rIdCodexSlide60" Type="http://schemas.openxmlformats.org/officeDocument/2006/relationships/slide" Target="slides/slide60.xml"/><Relationship Id="rIdCodexSlide61" Type="http://schemas.openxmlformats.org/officeDocument/2006/relationships/slide" Target="slides/slide61.xml"/><Relationship Id="rIdCodexSlide62" Type="http://schemas.openxmlformats.org/officeDocument/2006/relationships/slide" Target="slides/slide62.xml"/><Relationship Id="rIdCodexSlide63" Type="http://schemas.openxmlformats.org/officeDocument/2006/relationships/slide" Target="slides/slide63.xml"/><Relationship Id="rIdCodexSlide64" Type="http://schemas.openxmlformats.org/officeDocument/2006/relationships/slide" Target="slides/slide64.xml"/><Relationship Id="rIdCodexSlide65" Type="http://schemas.openxmlformats.org/officeDocument/2006/relationships/slide" Target="slides/slide65.xml"/><Relationship Id="rIdCodexSlide66" Type="http://schemas.openxmlformats.org/officeDocument/2006/relationships/slide" Target="slides/slide66.xml"/><Relationship Id="rIdCodexSlide67" Type="http://schemas.openxmlformats.org/officeDocument/2006/relationships/slide" Target="slides/slide67.xml"/><Relationship Id="rIdCodexSlide68" Type="http://schemas.openxmlformats.org/officeDocument/2006/relationships/slide" Target="slides/slide68.xml"/><Relationship Id="rIdCodexSlide69" Type="http://schemas.openxmlformats.org/officeDocument/2006/relationships/slide" Target="slides/slide69.xml"/><Relationship Id="rIdCodexSlide70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【预判回答与追问】有人会说只要“录下来”就行；追问“录下来”在计算机里究竟记录什么？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【本页收束】收束到核心问题：原来连续的声音如何变成数字。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先请学生复述文字和图片怎样编码，再让学生预测麦克风后是什么、计算机需要什么。教师不预告完整三步。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手机图只提供录音情境，不展示ADC答案。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[`assets/smartphone.svg`](assets/smartphone.svg) | 智能手机 | [OpenMoji / 1F4F1](https://github.com/hfg-gmuend/openmoji/blob/master/color/svg/1F4F1.svg)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【v8.1视觉引导】视觉依据是生成的“音叉—声压疏密变化—麦克风”图；为了投影清晰采用可缩放矢量绘制。它不是声波沿正弦路径传播的图。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[视觉改进提示] 提示学生辨认：振动产生声波，麦克风把声压变化转换成连续变化的电信号；此示意的波阵面不是传播轨迹。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【设计意图】先让学生表态：声波在时间上连续变化；文件保存的是离散数字。问麦克风前后，哪一阶段发生改变？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【教师可以这样讲】请先判断：空气中的声音和电脑里的音频文件，是不是同一种东西？举一个理由。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【预判回答与追问】“电脑播放出来还是声音，所以是模拟量”是可能的误解；分清存储形式和播放后的物理振动。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【本页收束】声音属于物理模拟信号；数字文件以离散的数据保存音频。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对比模拟声波与文件中的数字，问连续变化的声音如何变成离散数据；先让学生说两者有何不同。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【教师可以这样讲】请观察这条流程。麦克风是不是已经把声波变成0和1了？请指出转换前后各是什么。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【预判回答与追问】学生可能认为麦克风就是“录音机”。追问：麦克风输出的电压能否在每个时刻连续变化？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【本页收束】麦克风把声压变化变成模拟电信号，数字化还没有完成。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麦克风负责把声压变化变成连续电信号；先预测“是数字还是模拟？”学生说出依据。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波阵面而非传播路径。麦克风不是二进制编码器。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用麦克风插画标明接收设备；转换关系由原生图解释。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[`assets/microphone-studio.svg`](assets/microphone-studio.svg) | 录音麦克风 | [OpenMoji / 1F399](https://github.com/hfg-gmuend/openmoji/blob/master/color/svg/1F399.svg)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【教师可以这样讲】如果麦克风输出还是连续电信号，计算机怎样读懂它？需要什么设备？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【预判回答与追问】学生可能猜CPU，先认可其计算作用，再追问哪个音频部件把模拟信号变成离散样本。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【本页收束】声卡中的ADC完成模数转换。无需记电子线路结构。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按录音顺序走一遍，再反向说播放顺序，确认DAC与ADC的作用不同。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【教师可以这样讲】看到这条上下起伏的曲线，请猜：它是不是声音在空气里沿着波浪形路线前进？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【预判回答与追问】提醒固定一个位置，横坐标向右代表时间，纵坐标上下代表压力或电信号偏离参考的变化。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【本页收束】波形是“某处随时间变化”的图，不是空间中的传播路径。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[教师逐字稿补充] 请在图中分别指出“电信号曲线”和“扬声器周围的声波”。先请学生说横轴是什么，再解释曲线记录时间变化；空间传播图中圆弧是波阵面示意，空气质点不会沿曲线行进。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[图示边界] KyleThayer的同一动画0040帧。不是实测声场；数字曲线不是声压的空间轨迹。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KyleThayer；CC0 1.0；https://commons.wikimedia.org/wiki/File:Sound_wave_animation.gif 。同一动画帧；原PNG未修改。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[`assets/speaker-soundwave-0040.png`](assets/speaker-soundwave-0040.png) | 0040 | [KyleThayer / speaker diagram](https://github.com/kylethayer/wiki_diagrams/blob/main/speaker_diagram/pngs/sound%20wave%20%28Synfig%20Animation%29.0040.png)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【设计意图】先在波形上让学生指出选取若干时刻的方法，预测“隔一段时间取一个值”；不要急着宣布定义。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【教师可以这样讲】现在只允许保存若干个数字，你会在哪些时刻记录这条曲线？让同桌先各提出一条规则。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【预判回答与追问】有人会只选最高点和最低点。追问：如果换一段波形，这个规则是否容易统一实现？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【本页收束】用固定时间间隔连续记录，形成采样时刻。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【教师可以这样讲】我们按固定时间间隔记录了12个点。灰色曲线不再直接保存，每个点有自己的时间和值。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【预判回答与追问】学生可能把连点线当作新的连续信号。追问：文件实际存的是曲线，还是这些点对应的数字？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【本页收束】采样的结果是时间上离散的一组样本。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先观察时间刻度和蓝色点，教师追问记录的是什么量，说明在指定时刻记录幅度。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【教师可以这样讲】预测：1 Hz每秒几个点？2 Hz每秒几个点？都记录4秒，两个例子的样本数分别是多少？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【预判回答与追问】注意“赫兹”还可表示声音本身频率；本页说的是“采样的次数”。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【本页收束】采样率是每秒采样数；更密意味着相邻采样时刻间隔更短。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【v7回扣】演示切换到本页后，要求学生解释采样率和每秒样本数之间的关系。Notebook中的4毫秒局部窗口只是观察尺度。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1Hz=每秒1个记录点；2Hz=每秒2个。这里用于放大理解，绝非实际音频录制建议。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[计数条件] 统一使用[0,1)，含0不含1。1 Hz时刻0；2 Hz时刻0、0.5。下一秒的1不重复计入本秒。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上下保持同一条曲线不变，只改变时间方向的样本密度，让学生辨认控制变量。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【教师可以这样讲】假设某个时刻取得3.71这样的振幅值。如果设备只准记录8个整数等级，会怎么办？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【预判回答与追问】学生可能直接回答“四舍五入”，要追问必须先规定可用的代表值与映射规则。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【本页收束】量化解决幅度的离散化，下一页构建0到7的教学模型。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C预告】现在只解决了采样时刻；纵向幅度可能是任意连续值，需要量化，稍后用实验台在同一坐标中比较。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讨论3.71这样的幅度怎样用有限个等级近似记录，不让量化等同四舍五入。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【教师可以这样讲】请同学数一数，从0到7一共几个数字。0算不算一个等级？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【预判回答与追问】最容易出现7级的误答。让学生逐个数：0、1、2、3、4、5、6、7。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【本页收束】共8个等级。这里是简化模型，并非真实声压只有非负值。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讲授0~7是等级编号；不要把取样数、幅度值、等级编号混为一谈，先让学生预测。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【教师可以这样讲】规定一个简化规则：向下取整。原值3.71会落在哪个等级？屏幕上的红点与蓝点哪个是原值？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【预判回答与追问】可能误以为蓝点恰好是原始值。追问：3.71与3有什么不同？少了哪些信息？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【本页收束】量化是用有限代表值近似原值，存在量化误差。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这里按[n,n+1)归入Ln，3.71属于L3；量化代表值可取3.5。让学生回看先前错误猜测。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[技术边界] 本课非负幅度模型：8个区间覆盖[0,8)，L3对应[3,4)，中点3.5是代表幅度，编号3不是幅度值。真实PCM通常为有符号幅度。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【教师可以这样讲】刚才有8级，若只有两个二进制位可以表示多少种不同情况？三个呢？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【预判回答与追问】让学生亲自枚举00、01、10、11，然后观察000到111共有八种。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【本页收束】2^3=8，所以这八个等级可以用3 bit表示。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【教师可以这样讲】请从第3个样本找起：它的量化值是多少？对应的三位码字是什么？再找第7个。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【预判回答与追问】注意区分“样本数量10”和“等级数量8”，不能把十个样本说成十个等级。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【本页收束】编码按时间顺序保存各个样本的定长码字。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十个样本的表先只聚焦第一列：样本编号、量化等级、3bit码字逐一对应，再请学生解释其它样本。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【v8.1视觉引导】码字行放大并统一青色；先指出第1列，再读完全部10个样本。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[计算] 3 bit：Δ=1，3.71归入[3,4)，代表值3.5，误差0.21。4 bit：Δ=0.5，归入[3.5,4)，等级L7，代表值3.75，误差0.04。输入、范围、采样时刻相同。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【教师可以这样讲】请指出采样率与量化位数分别控制这张图的哪个方向。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【预判回答与追问】如学生认为量化位数决定点的多少，重新回看每一秒有几个采样时刻。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【本页收束】采样率决定时间方向的密度，量化位数决定幅度方向的精细程度。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【教师讲述／组织】避免从课堂3位例子跳到真实16位时困惑。说明用3位为了看清规律，不是说实际音乐普遍使用3位。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【教师可以这样讲】复盘完整流程：数字文件里的样本为什么还能被扬声器播放成声音？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【预判回答与追问】不要讲成简单把点连成折线。输出经过数模转换及适当的信号处理。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【本页收束】录音是ADC，播放是DAC，音频数字化形成闭环。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【教师可以这样讲】请口算每秒2个样本，录4秒，一路声道，共得到多少个样本？每个3位，要几个bit？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【预判回答与追问】学生可能直接乘完得到24 Byte。请指着八个框数，再从bit换到Byte。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【本页收束】8个样本、每个3bit，共24bit，等于3Byte。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【设计意图】不要把数据量公式当背诵口令。请学生逐个解释每一项代表哪个物理意义。单位：Hz、bit、秒；/8得到字节。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【教师可以这样讲】我们刚才为什么要把四个因素相乘？请逐一说出公式的单位和意义。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【预判回答与追问】常见错误：1 kHz写成1024 Hz；bit和Byte混用；忘记把分钟换成秒。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【本页收束】会用公式之前先能解释公式。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为什么结果是Byte要÷8？把四因素分别对应实际样本数量与每样本bit数。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从样本总数开始推导数据量，解释每个乘数的单位。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【教师讲述／组织】问题页。给学生独立列式。若学生写16×8×2×5，追问16kHz应等于多少Hz。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【教师讲述／组织】答案页。问：如果双声道改成单声道，结果会怎样？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答案160000 Byte。让学生先说思路，再对照上一页原位置的题干与下方答案。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【教师讲述／组织】实录3起手计算前，先让学生能解释参数。分组对答48,000Hz、16bit、2声道、60秒。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【教师讲述／组织】问题页。复现实录3的DVD参数题，强调对参数意义的解释，而不只是按键计算。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【教师讲述／组织】答案页。实录转写常写10.98MB，这是截断近似；按四舍五入保留两位应10.99 MiB。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约10.99 MiB；验证11520000 B/1048576。不把带少量文件头的WAV大小当作PCM样本大小。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【设计意图】问题页。先让学生预测。这是实录3较长的认知冲突案例，不要马上公布答案。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【教师可以这样讲】再次提问：多加了一条背景音乐音轨，新的未压缩PCM文件一定比原文件大吗？请先投票并说明依据。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【预判回答与追问】真实课堂里学生曾将音轨误认为声道；暂不判断两种观点谁对。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【本页收束】下一页让两种解释并存，定位分歧。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【教师可以这样讲】有人支持不变，有人支持翻倍。注意我们的目标不是投票决定真理，而是检验关键假设。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【预判回答与追问】追问：增加的是“编辑音轨”，还是“导出声道”？哪个出现在容量公式里？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【本页收束】到图示页验证音轨与声道不同。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【教师可以这样讲】请指向编辑左边两行，它们是两条音轨；再指向右边的L/R，这才是导出的两路声道。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【预判回答与追问】如果学生说“左音轨变左声道”，让他想一想人声与伴奏是否都能同时从左右扬声器传出。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【本页收束】混合不会自动增加声道数，保持四参数则未压缩样本数据量不变。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先看两条轨，再揭示混音之后仍可输出L/R两路数据。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波形为区别音轨与输出通道的示意图，不是混音运算曲线。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[教师逐字稿补充] 先在左侧数编辑音轨：有两个独立的音轨控制区。上轨为单声道，下轨为立体声，所以共有三条波形。再看右侧模型，两份输入可以混入L、R两路输出；不是把诗朗诵固定送左、音乐固定送右。容量按导出参数计算，截图不证明本题工程真的导出过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[模型] 两输出均示意sin(4πt)+0.5sin(10πt)，仅说明混合；未模拟声像、增益和削波。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Audacity Manual contributors；CC BY 3.0；https://raw.githubusercontent.com/audacity/audacity-manual/master/manual/index.html 。历史软件截图仅解释结构，非最新版操作说明；原PNG未修改。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[`assets/audacity-multitrack-mixing.png`](assets/audacity-multitrack-mixing.png) | 混音前的多个音轨 | [Audacity Manual](https://github.com/audacity/audacity-manual/blob/master/manual/m/images/f/fb/tracks_for_mixing.png)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回到初始投票，解释四个PCM参数保持不变，因此样本数据量不变。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【教师讲述／组织】让学生应用四因素公式。声道数2→1，其他不变，PCM样本数据量减半。音轨增减并不直接决定总量。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【教师可以这样讲】五张小图中蓝点位置发生变化，连续播放后我们会感到它在运动。你生活里见过翻页动画吗？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【预判回答与追问】不要把“视觉暂留0.024秒”当成唯一且固定的生理阈值。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【本页收束】视频可以用连续图像帧与帧率的概念来理解。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五帧是同一个运动小球在五个时刻的状态。帧率25fps是每秒25帧，不应解释为人眼严格生理阈值。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球在每一帧的位置不同，同样场景取不同时间画面；fps是每秒帧数。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【v8.1视觉引导】让学生比较同一小球相对于各帧相同参考线的位置，从第一帧到第五帧明显向右变化。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控制变量只有球的位置；动画效果来自连续帧的顺序。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【教师讲述／组织】从学生已经理解的“视频是连续图像”计算总帧数。先让学生口算25×60×10=15000帧。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【设计意图】问题页。来源实录3。不要把帧率误认为采样率，一帧是一张完整图。给3分钟列式，计算可用计算器。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【教师可以这样讲】先算一帧480×320像素，需要多少bit和Byte；再乘上25帧/秒和600秒。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【预判回答与追问】学生可能只乘25或只乘10。追问十分钟共有多少秒、多少帧？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【本页收束】未压缩视频等于单帧数据量乘总帧数。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【教师讲述／组织】答案页。把公式拆成两段并让学生自己解释。按十进制GB约6.912 GB。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答案约6.44GiB，检验帧数、bit转Byte以及B转GiB三步。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【教师可以这样讲】请你对照刚刚算出的6.44 GiB。我们手机里十分钟的视频，为什么通常远小于它？难道计算公式错了？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【本页收束】这是第二课时核心认知冲突，直到下一页再揭示压缩。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实际压缩技术还包括多种预测与表示方式；本课只要求理解重复规律允许节省比特，不学习具体codec算法。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【教师可以这样讲】两种写法能不能表示相同文字？“中国”重复一百次与“中国×100”，哪种通常更省符号？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【预判回答与追问】提醒这只是解释冗余的教学模型，不是真实RAR编码的说明。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【本页收束】规律、重复让人有机会用更短的规则表达同一内容。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【教师可以这样讲】两个数据各1000Byte：一个全是A，一个随机变化。请预测谁压缩后更小，以及能否恢复原数据。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【预判回答与追问】学生可能认为所有文件都会变小。下一页结果显示随机数据在容器开销下甚至略微变大。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【本页收束】测试无损压缩的冗余利用，而不是展示具体算法。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【设计意图】演示代码（Windows课堂pt环境，Python标准库即可）：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import zlib, random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a=b"A"*1000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r=random.Random(2026)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b=bytes(r.randrange(256) for _ in range(1000))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for name,x in [("A",a),("B",b)]: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    packed=zlib.compress(x)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    print(name,len(x),len(packed),zlib.decompress(packed)==x)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本次固定随机种子得到A=17 Byte，B=1011 Byte。学生关注重复和冗余；算法细节不展开。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【预判回答与追问】别把高熵文件变大误判为程序出错：压缩文件自身有格式开销。检查两者解压完全一致。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【本页收束】这是无损压缩，且压缩效果取决于可利用的规律与编码方式。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【教师可以这样讲】请判断：压缩后解开，能不能100%恢复原始字节？把这个问题作为分类标准。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【预判回答与追问】有损不等于“损坏文件”；它在可接受的前提下放弃部分原始信息。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【本页收束】无损可完全恢复，有损则不能恢复到原数据完全一致。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ZIP/RAR属于无损归档，MP3是有损音频编码，WAV和MP4属于容器（MP4常装有损编码视频）。文件后缀与编码算法不是完全同一层级。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【教师可以这样讲】这三幅图显示的是相同大小、相同位深的像素网格，哪张最容易找到重复的规律？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【预判回答与追问】强调“通常”和“对合适的算法而言”，避免将图像颜色多少当作绝对压缩决定因素。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【本页收束】纯色数据具有明显规律，适合无损压缩；比较结论再迁移到实际图像。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三图尺寸和位深一致，让学生预测哪个更规律，判断无损压缩的可能差异。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相同尺寸和色彩模式；内容结构不同。冗余与压缩算法共同决定结果。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【教师讲述／组织】问题页。此题迁移文字实验到图像。先解释冗余，再揭示。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【教师讲述／组织】答案页。强调不是一切文件和算法都绝对如此。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答案中的“通常”必须保留，不同压缩方案有例外。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BMP这里只指未压缩实例，JPG通常有损；文件大小还取决于参数和内容。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同一640×350 RGB程序生成图像以quality=3编码JPEG；有损差异随参数改变。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【教师可以这样讲】某个班级要长期备份源代码，另一个班级要用手机实时视频通话。两种场景需要的编码选择一样吗？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【预判回答与追问】引导学生考虑完整性、质量、延迟与存储，不要只说压缩得越小越好。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【本页收束】算法与压缩方法要与任务目标匹配。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文档备份要求完整，视频通话权衡时延/带宽/质量，反对越小必然越好。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【v8.1视觉引导】两组场景对比加大；让学生按完整性、带宽、延迟、质量权衡。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[图片用途] 文件夹和摄像机只表示两种任务。先请学生按任务说明哪些条件不能牺牲，再揭示对应取舍。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OpenMoji contributors / HfG Schwäbisch Gmünd；CC BY-SA 4.0；https://github.com/hfg-gmuend/openmoji#license 。SVG仅等比转换为720px透明PNG，未改色或改形。图片许可继续为CC BY-SA 4.0。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[`assets/video-camera.svg`](assets/video-camera.svg) | 摄像机 | [OpenMoji / 1F4F9](https://github.com/hfg-gmuend/openmoji/blob/master/color/svg/1F4F9.svg)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[`assets/folder.svg`](assets/folder.svg) | 文件夹 | [OpenMoji / 1F4C1](https://github.com/hfg-gmuend/openmoji/blob/master/color/svg/1F4C1.svg)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【教师讲述／组织】问题页。综合三种理解：音轨声道、原始视频大小、无损还原。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【教师讲述／组织】答案页。不接受只给三个对错而不给依据的回答。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先让学生口头解释，再展示①错②对③对，强化数据量与ZIP的两种知识。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【教师讲述／组织】出口评价：任选一个问题让学生用自己的话解释。重点检查概念因果：数字化、视频容量、压缩选择。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【反馈】先听学生如何解释，再决定是否揭示结论；注意控制本页停留时间。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分别指横轴时间密度与纵轴量化等级，要求学生指出哪一项由采样率/位数控制。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打开Notebook 02，把波形从100毫秒放大到4毫秒，点击蓝色样本，读出实际时间和幅度；区分极值概览和真实采样点。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[数学证据] 同一0.72sin(10πt+0.3)，右图确为左图[0.30,0.50]的放大；纵轴不变。50 Hz教学采样模型，j=15..25，共11个点；封闭观察窗含两端，不等同0.2秒新产生11个样本。非Notebook实录。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打开远程JupyterLab Notebook 01，在Windows浏览器播放声音，问红线向右是不是声波向右传播；让学生说横轴是时间。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[Demo操作] 先收预测，再切换原Demo A观察播放光标。静态红线仅示意播放位置，截图未给时间刻度，不据此读秒。软件例图与Notebook是不同音频，不能直接比较幅度或样本。若20秒无法运行，指着横向时间轴解释光标位置；没有实测扬声器。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[图片来源]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Audacity Manual contributors；CC BY 3.0；https://raw.githubusercontent.com/audacity/audacity-manual/master/manual/index.html 。历史软件截图仅解释结构，非最新版操作说明；原PNG未修改。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| [`assets/audacity-spectrogram-waveform.png`](assets/audacity-spectrogram-waveform.png) | 波形图 | [Audacity Manual](https://github.com/audacity/audacity-manual/blob/master/manual/m/images/6/6b/spectrogramview_waveform_display.png) |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[核验日期] 2026-10-14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先显示0~7八级，学生预测3.71是3或4。暂停50秒让学生说出推理规则。再用下页指定的分区规则解决分歧；勿预先提示答案。</a:t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/>
            </a:r>
          </a:p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[视觉优化] 让学生先预测，再到下一页验证[3,4)的区间归属。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>
                <a:latin typeface="Alibaba PuHuiTi 3.0 55 Regular"/>
                <a:ea typeface="Alibaba PuHuiTi 3.0 55 Regular"/>
                <a:cs typeface="Alibaba PuHuiTi 3.0 55 Regular"/>
              </a:rP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Codex3" Type="http://schemas.openxmlformats.org/officeDocument/2006/relationships/image" Target="../media/codex-d3942c2e24c2e2419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Codex3" Type="http://schemas.openxmlformats.org/officeDocument/2006/relationships/image" Target="../media/codex-b650f0791dbeec73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Codex3" Type="http://schemas.openxmlformats.org/officeDocument/2006/relationships/image" Target="../media/codex-f54f5deb59e001b88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Codex3" Type="http://schemas.openxmlformats.org/officeDocument/2006/relationships/image" Target="../media/codex-10fd712580e5d8288d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Codex3" Type="http://schemas.openxmlformats.org/officeDocument/2006/relationships/image" Target="../media/codex-d438828156baafa6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Codex3" Type="http://schemas.openxmlformats.org/officeDocument/2006/relationships/image" Target="../media/codex-4d06517be8fa9836c3.png"/><Relationship Id="rIdCodex4" Type="http://schemas.openxmlformats.org/officeDocument/2006/relationships/image" Target="../media/codex-2be49ea60573c6f0ca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  <p:pic>
        <p:nvPicPr>
          <p:cNvPr id="11" name="codex-p2-">
            <a:extLst>
              <a:ext uri="{FF2B5EF4-FFF2-40B4-BE49-F238E27FC236}">
                <a16:creationId xmlns:a16="http://schemas.microsoft.com/office/drawing/2014/main" id="{B9AE7FC2-E84D-41AB-AC26-B03345BCE15B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8448675" y="3048000"/>
            <a:ext cx="1809750" cy="1809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65376"/>
            <a:ext cx="1051560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振动声源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空气中的声压扰动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4910328"/>
            <a:ext cx="25603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43016"/>
            <a:ext cx="10744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从声源到麦克风：声压扰动向外传播，而不是沿蛇形路线行进。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  <p:pic>
        <p:nvPicPr>
          <p:cNvPr id="113" name="codex-p5-">
            <a:extLst>
              <a:ext uri="{FF2B5EF4-FFF2-40B4-BE49-F238E27FC236}">
                <a16:creationId xmlns:a16="http://schemas.microsoft.com/office/drawing/2014/main" id="{B83F2E1D-BB90-402C-B063-84BDC2F5CC04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5200650" y="2428875"/>
            <a:ext cx="161925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sp>
        <p:nvSpPr>
          <p:cNvPr id="5" name="codex-p8-image-caption">
            <a:extLst>
              <a:ext uri="{FF2B5EF4-FFF2-40B4-BE49-F238E27FC236}">
                <a16:creationId xmlns:a16="http://schemas.microsoft.com/office/drawing/2014/main" id="{0C42446E-43D9-415C-A1CA-633D25314F0A}"/>
              </a:ext>
            </a:extLst>
          </p:cNvPr>
          <p:cNvSpPr>
            <a:spLocks noGrp="1"/>
          </p:cNvSpPr>
          <p:nvPr/>
        </p:nvSpPr>
        <p:spPr>
          <a:xfrm>
            <a:off x="609600" y="1743075"/>
            <a:ext cx="54292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扬声器周围：空间中的传播</a:t>
            </a:r>
          </a:p>
        </p:txBody>
      </p:sp>
      <p:sp>
        <p:nvSpPr>
          <p:cNvPr id="6" name="codex-p8-image-caption">
            <a:extLst>
              <a:ext uri="{FF2B5EF4-FFF2-40B4-BE49-F238E27FC236}">
                <a16:creationId xmlns:a16="http://schemas.microsoft.com/office/drawing/2014/main" id="{C5065C73-DF63-425E-9E54-EEEAB7CBDFBF}"/>
              </a:ext>
            </a:extLst>
          </p:cNvPr>
          <p:cNvSpPr>
            <a:spLocks noGrp="1"/>
          </p:cNvSpPr>
          <p:nvPr/>
        </p:nvSpPr>
        <p:spPr>
          <a:xfrm>
            <a:off x="6724650" y="1743075"/>
            <a:ext cx="48577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同一位置：信号随时间变化</a:t>
            </a:r>
          </a:p>
        </p:txBody>
      </p:sp>
      <p:pic>
        <p:nvPicPr>
          <p:cNvPr id="7" name="codex-p8-">
            <a:extLst>
              <a:ext uri="{FF2B5EF4-FFF2-40B4-BE49-F238E27FC236}">
                <a16:creationId xmlns:a16="http://schemas.microsoft.com/office/drawing/2014/main" id="{99ADCFED-CE65-4DE3-B5EB-900EB7C0B0F4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609600" y="2628900"/>
            <a:ext cx="5276850" cy="2968228"/>
          </a:xfrm>
          <a:prstGeom prst="rect">
            <a:avLst/>
          </a:prstGeom>
        </p:spPr>
      </p:pic>
      <p:sp>
        <p:nvSpPr>
          <p:cNvPr id="8" name="codex-p8-relationship">
            <a:extLst>
              <a:ext uri="{FF2B5EF4-FFF2-40B4-BE49-F238E27FC236}">
                <a16:creationId xmlns:a16="http://schemas.microsoft.com/office/drawing/2014/main" id="{057AE058-9FAB-4A6A-9CE4-82F9DA4410FD}"/>
              </a:ext>
            </a:extLst>
          </p:cNvPr>
          <p:cNvSpPr>
            <a:spLocks noGrp="1"/>
          </p:cNvSpPr>
          <p:nvPr/>
        </p:nvSpPr>
        <p:spPr>
          <a:xfrm>
            <a:off x="7029450" y="4048125"/>
            <a:ext cx="4067175" cy="9525"/>
          </a:xfrm>
          <a:custGeom>
            <a:pathLst>
              <a:path w="4067175" h="9525">
                <a:moveTo>
                  <a:pt x="0" y="0"/>
                </a:moveTo>
                <a:lnTo>
                  <a:pt x="4067175" y="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9" name="codex-p8-relationship">
            <a:extLst>
              <a:ext uri="{FF2B5EF4-FFF2-40B4-BE49-F238E27FC236}">
                <a16:creationId xmlns:a16="http://schemas.microsoft.com/office/drawing/2014/main" id="{18386E1E-ADA8-46D2-97F7-2A9F6028E921}"/>
              </a:ext>
            </a:extLst>
          </p:cNvPr>
          <p:cNvSpPr>
            <a:spLocks noGrp="1"/>
          </p:cNvSpPr>
          <p:nvPr/>
        </p:nvSpPr>
        <p:spPr>
          <a:xfrm>
            <a:off x="7143750" y="2762250"/>
            <a:ext cx="9525" cy="2667000"/>
          </a:xfrm>
          <a:custGeom>
            <a:pathLst>
              <a:path w="9525"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noFill/>
          <a:ln w="14288">
            <a:solidFill>
              <a:srgbClr val="808080"/>
            </a:solidFill>
          </a:ln>
        </p:spPr>
      </p:sp>
      <p:sp>
        <p:nvSpPr>
          <p:cNvPr id="10" name="codex-p8-signal">
            <a:extLst>
              <a:ext uri="{FF2B5EF4-FFF2-40B4-BE49-F238E27FC236}">
                <a16:creationId xmlns:a16="http://schemas.microsoft.com/office/drawing/2014/main" id="{82F73B35-B580-4E59-A28B-6A8BE2FA87EC}"/>
              </a:ext>
            </a:extLst>
          </p:cNvPr>
          <p:cNvSpPr>
            <a:spLocks noGrp="1"/>
          </p:cNvSpPr>
          <p:nvPr/>
        </p:nvSpPr>
        <p:spPr>
          <a:xfrm>
            <a:off x="7239000" y="3267075"/>
            <a:ext cx="3752850" cy="1562100"/>
          </a:xfrm>
          <a:custGeom>
            <a:pathLst>
              <a:path w="3752850" h="1562100">
                <a:moveTo>
                  <a:pt x="0" y="781050"/>
                </a:moveTo>
                <a:lnTo>
                  <a:pt x="31274" y="699408"/>
                </a:lnTo>
                <a:lnTo>
                  <a:pt x="62548" y="618661"/>
                </a:lnTo>
                <a:lnTo>
                  <a:pt x="93821" y="539692"/>
                </a:lnTo>
                <a:lnTo>
                  <a:pt x="125095" y="463368"/>
                </a:lnTo>
                <a:lnTo>
                  <a:pt x="156369" y="390525"/>
                </a:lnTo>
                <a:lnTo>
                  <a:pt x="187643" y="321960"/>
                </a:lnTo>
                <a:lnTo>
                  <a:pt x="218916" y="258426"/>
                </a:lnTo>
                <a:lnTo>
                  <a:pt x="250190" y="200617"/>
                </a:lnTo>
                <a:lnTo>
                  <a:pt x="281464" y="149167"/>
                </a:lnTo>
                <a:lnTo>
                  <a:pt x="312738" y="104641"/>
                </a:lnTo>
                <a:lnTo>
                  <a:pt x="344011" y="67525"/>
                </a:lnTo>
                <a:lnTo>
                  <a:pt x="375285" y="38227"/>
                </a:lnTo>
                <a:lnTo>
                  <a:pt x="406559" y="17068"/>
                </a:lnTo>
                <a:lnTo>
                  <a:pt x="437833" y="4279"/>
                </a:lnTo>
                <a:lnTo>
                  <a:pt x="469106" y="0"/>
                </a:lnTo>
                <a:lnTo>
                  <a:pt x="500380" y="4279"/>
                </a:lnTo>
                <a:lnTo>
                  <a:pt x="531654" y="17068"/>
                </a:lnTo>
                <a:lnTo>
                  <a:pt x="562928" y="38227"/>
                </a:lnTo>
                <a:lnTo>
                  <a:pt x="594201" y="67525"/>
                </a:lnTo>
                <a:lnTo>
                  <a:pt x="625475" y="104641"/>
                </a:lnTo>
                <a:lnTo>
                  <a:pt x="656749" y="149167"/>
                </a:lnTo>
                <a:lnTo>
                  <a:pt x="688023" y="200617"/>
                </a:lnTo>
                <a:lnTo>
                  <a:pt x="719296" y="258426"/>
                </a:lnTo>
                <a:lnTo>
                  <a:pt x="750570" y="321960"/>
                </a:lnTo>
                <a:lnTo>
                  <a:pt x="781844" y="390525"/>
                </a:lnTo>
                <a:lnTo>
                  <a:pt x="813118" y="463368"/>
                </a:lnTo>
                <a:lnTo>
                  <a:pt x="844391" y="539692"/>
                </a:lnTo>
                <a:lnTo>
                  <a:pt x="875665" y="618661"/>
                </a:lnTo>
                <a:lnTo>
                  <a:pt x="906939" y="699408"/>
                </a:lnTo>
                <a:lnTo>
                  <a:pt x="938213" y="781050"/>
                </a:lnTo>
                <a:lnTo>
                  <a:pt x="969486" y="862692"/>
                </a:lnTo>
                <a:lnTo>
                  <a:pt x="1000760" y="943439"/>
                </a:lnTo>
                <a:lnTo>
                  <a:pt x="1032034" y="1022408"/>
                </a:lnTo>
                <a:lnTo>
                  <a:pt x="1063308" y="1098732"/>
                </a:lnTo>
                <a:lnTo>
                  <a:pt x="1094581" y="1171575"/>
                </a:lnTo>
                <a:lnTo>
                  <a:pt x="1125855" y="1240140"/>
                </a:lnTo>
                <a:lnTo>
                  <a:pt x="1157129" y="1303674"/>
                </a:lnTo>
                <a:lnTo>
                  <a:pt x="1188402" y="1361483"/>
                </a:lnTo>
                <a:lnTo>
                  <a:pt x="1219676" y="1412933"/>
                </a:lnTo>
                <a:lnTo>
                  <a:pt x="1250950" y="1457459"/>
                </a:lnTo>
                <a:lnTo>
                  <a:pt x="1282224" y="1494575"/>
                </a:lnTo>
                <a:lnTo>
                  <a:pt x="1313497" y="1523873"/>
                </a:lnTo>
                <a:lnTo>
                  <a:pt x="1344771" y="1545032"/>
                </a:lnTo>
                <a:lnTo>
                  <a:pt x="1376045" y="1557821"/>
                </a:lnTo>
                <a:lnTo>
                  <a:pt x="1407319" y="1562100"/>
                </a:lnTo>
                <a:lnTo>
                  <a:pt x="1438592" y="1557821"/>
                </a:lnTo>
                <a:lnTo>
                  <a:pt x="1469866" y="1545032"/>
                </a:lnTo>
                <a:lnTo>
                  <a:pt x="1501140" y="1523873"/>
                </a:lnTo>
                <a:lnTo>
                  <a:pt x="1532414" y="1494575"/>
                </a:lnTo>
                <a:lnTo>
                  <a:pt x="1563687" y="1457459"/>
                </a:lnTo>
                <a:lnTo>
                  <a:pt x="1594961" y="1412933"/>
                </a:lnTo>
                <a:lnTo>
                  <a:pt x="1626235" y="1361483"/>
                </a:lnTo>
                <a:lnTo>
                  <a:pt x="1657509" y="1303674"/>
                </a:lnTo>
                <a:lnTo>
                  <a:pt x="1688782" y="1240140"/>
                </a:lnTo>
                <a:lnTo>
                  <a:pt x="1720056" y="1171575"/>
                </a:lnTo>
                <a:lnTo>
                  <a:pt x="1751330" y="1098732"/>
                </a:lnTo>
                <a:lnTo>
                  <a:pt x="1782604" y="1022408"/>
                </a:lnTo>
                <a:lnTo>
                  <a:pt x="1813878" y="943439"/>
                </a:lnTo>
                <a:lnTo>
                  <a:pt x="1845151" y="862692"/>
                </a:lnTo>
                <a:lnTo>
                  <a:pt x="1876425" y="781050"/>
                </a:lnTo>
                <a:lnTo>
                  <a:pt x="1907699" y="699408"/>
                </a:lnTo>
                <a:lnTo>
                  <a:pt x="1938972" y="618661"/>
                </a:lnTo>
                <a:lnTo>
                  <a:pt x="1970246" y="539692"/>
                </a:lnTo>
                <a:lnTo>
                  <a:pt x="2001520" y="463368"/>
                </a:lnTo>
                <a:lnTo>
                  <a:pt x="2032794" y="390525"/>
                </a:lnTo>
                <a:lnTo>
                  <a:pt x="2064068" y="321960"/>
                </a:lnTo>
                <a:lnTo>
                  <a:pt x="2095341" y="258426"/>
                </a:lnTo>
                <a:lnTo>
                  <a:pt x="2126615" y="200617"/>
                </a:lnTo>
                <a:lnTo>
                  <a:pt x="2157889" y="149167"/>
                </a:lnTo>
                <a:lnTo>
                  <a:pt x="2189163" y="104641"/>
                </a:lnTo>
                <a:lnTo>
                  <a:pt x="2220436" y="67525"/>
                </a:lnTo>
                <a:lnTo>
                  <a:pt x="2251710" y="38227"/>
                </a:lnTo>
                <a:lnTo>
                  <a:pt x="2282984" y="17068"/>
                </a:lnTo>
                <a:lnTo>
                  <a:pt x="2314258" y="4279"/>
                </a:lnTo>
                <a:lnTo>
                  <a:pt x="2345531" y="0"/>
                </a:lnTo>
                <a:lnTo>
                  <a:pt x="2376805" y="4279"/>
                </a:lnTo>
                <a:lnTo>
                  <a:pt x="2408079" y="17068"/>
                </a:lnTo>
                <a:lnTo>
                  <a:pt x="2439353" y="38227"/>
                </a:lnTo>
                <a:lnTo>
                  <a:pt x="2470626" y="67525"/>
                </a:lnTo>
                <a:lnTo>
                  <a:pt x="2501900" y="104641"/>
                </a:lnTo>
                <a:lnTo>
                  <a:pt x="2533174" y="149167"/>
                </a:lnTo>
                <a:lnTo>
                  <a:pt x="2564448" y="200617"/>
                </a:lnTo>
                <a:lnTo>
                  <a:pt x="2595721" y="258426"/>
                </a:lnTo>
                <a:lnTo>
                  <a:pt x="2626995" y="321960"/>
                </a:lnTo>
                <a:lnTo>
                  <a:pt x="2658269" y="390525"/>
                </a:lnTo>
                <a:lnTo>
                  <a:pt x="2689543" y="463368"/>
                </a:lnTo>
                <a:lnTo>
                  <a:pt x="2720816" y="539692"/>
                </a:lnTo>
                <a:lnTo>
                  <a:pt x="2752090" y="618661"/>
                </a:lnTo>
                <a:lnTo>
                  <a:pt x="2783364" y="699408"/>
                </a:lnTo>
                <a:lnTo>
                  <a:pt x="2814638" y="781050"/>
                </a:lnTo>
                <a:lnTo>
                  <a:pt x="2845911" y="862692"/>
                </a:lnTo>
                <a:lnTo>
                  <a:pt x="2877185" y="943439"/>
                </a:lnTo>
                <a:lnTo>
                  <a:pt x="2908459" y="1022408"/>
                </a:lnTo>
                <a:lnTo>
                  <a:pt x="2939732" y="1098732"/>
                </a:lnTo>
                <a:lnTo>
                  <a:pt x="2971006" y="1171575"/>
                </a:lnTo>
                <a:lnTo>
                  <a:pt x="3002280" y="1240140"/>
                </a:lnTo>
                <a:lnTo>
                  <a:pt x="3033554" y="1303674"/>
                </a:lnTo>
                <a:lnTo>
                  <a:pt x="3064828" y="1361483"/>
                </a:lnTo>
                <a:lnTo>
                  <a:pt x="3096101" y="1412933"/>
                </a:lnTo>
                <a:lnTo>
                  <a:pt x="3127375" y="1457459"/>
                </a:lnTo>
                <a:lnTo>
                  <a:pt x="3158649" y="1494575"/>
                </a:lnTo>
                <a:lnTo>
                  <a:pt x="3189923" y="1523873"/>
                </a:lnTo>
                <a:lnTo>
                  <a:pt x="3221196" y="1545032"/>
                </a:lnTo>
                <a:lnTo>
                  <a:pt x="3252470" y="1557821"/>
                </a:lnTo>
                <a:lnTo>
                  <a:pt x="3283744" y="1562100"/>
                </a:lnTo>
                <a:lnTo>
                  <a:pt x="3315017" y="1557821"/>
                </a:lnTo>
                <a:lnTo>
                  <a:pt x="3346291" y="1545032"/>
                </a:lnTo>
                <a:lnTo>
                  <a:pt x="3377565" y="1523873"/>
                </a:lnTo>
                <a:lnTo>
                  <a:pt x="3408839" y="1494575"/>
                </a:lnTo>
                <a:lnTo>
                  <a:pt x="3440113" y="1457459"/>
                </a:lnTo>
                <a:lnTo>
                  <a:pt x="3471386" y="1412933"/>
                </a:lnTo>
                <a:lnTo>
                  <a:pt x="3502660" y="1361483"/>
                </a:lnTo>
                <a:lnTo>
                  <a:pt x="3533934" y="1303674"/>
                </a:lnTo>
                <a:lnTo>
                  <a:pt x="3565207" y="1240140"/>
                </a:lnTo>
                <a:lnTo>
                  <a:pt x="3596481" y="1171575"/>
                </a:lnTo>
                <a:lnTo>
                  <a:pt x="3627755" y="1098732"/>
                </a:lnTo>
                <a:lnTo>
                  <a:pt x="3659029" y="1022408"/>
                </a:lnTo>
                <a:lnTo>
                  <a:pt x="3690303" y="943439"/>
                </a:lnTo>
                <a:lnTo>
                  <a:pt x="3721576" y="862692"/>
                </a:lnTo>
                <a:lnTo>
                  <a:pt x="3752850" y="78105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1" name="codex-p8-image-caption">
            <a:extLst>
              <a:ext uri="{FF2B5EF4-FFF2-40B4-BE49-F238E27FC236}">
                <a16:creationId xmlns:a16="http://schemas.microsoft.com/office/drawing/2014/main" id="{7AFEA19C-AC30-4C9E-A3B8-FC7AA67D99CD}"/>
              </a:ext>
            </a:extLst>
          </p:cNvPr>
          <p:cNvSpPr>
            <a:spLocks noGrp="1"/>
          </p:cNvSpPr>
          <p:nvPr/>
        </p:nvSpPr>
        <p:spPr>
          <a:xfrm>
            <a:off x="7029450" y="2571750"/>
            <a:ext cx="952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幅度</a:t>
            </a:r>
          </a:p>
        </p:txBody>
      </p:sp>
      <p:sp>
        <p:nvSpPr>
          <p:cNvPr id="12" name="codex-p8-image-caption">
            <a:extLst>
              <a:ext uri="{FF2B5EF4-FFF2-40B4-BE49-F238E27FC236}">
                <a16:creationId xmlns:a16="http://schemas.microsoft.com/office/drawing/2014/main" id="{C03EFDA3-49CC-44E0-A9BF-7AD03C3994E6}"/>
              </a:ext>
            </a:extLst>
          </p:cNvPr>
          <p:cNvSpPr>
            <a:spLocks noGrp="1"/>
          </p:cNvSpPr>
          <p:nvPr/>
        </p:nvSpPr>
        <p:spPr>
          <a:xfrm>
            <a:off x="10287000" y="5476875"/>
            <a:ext cx="1143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时间</a:t>
            </a:r>
          </a:p>
        </p:txBody>
      </p:sp>
      <p:sp>
        <p:nvSpPr>
          <p:cNvPr id="13" name="codex-p8-image-caption">
            <a:extLst>
              <a:ext uri="{FF2B5EF4-FFF2-40B4-BE49-F238E27FC236}">
                <a16:creationId xmlns:a16="http://schemas.microsoft.com/office/drawing/2014/main" id="{6843A566-29B8-4BBB-B690-4344A80590A1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曲线横轴记录时间，不能把它当作空气的运动路径。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codex-p9-image-caption">
            <a:extLst>
              <a:ext uri="{FF2B5EF4-FFF2-40B4-BE49-F238E27FC236}">
                <a16:creationId xmlns:a16="http://schemas.microsoft.com/office/drawing/2014/main" id="{5752C8CD-D85A-4C11-A0EB-8BE023F1598C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109728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先预测：红色光标向右，表示声音向右传播吗？</a:t>
            </a:r>
          </a:p>
        </p:txBody>
      </p:sp>
      <p:pic>
        <p:nvPicPr>
          <p:cNvPr id="6" name="codex-p9-">
            <a:extLst>
              <a:ext uri="{FF2B5EF4-FFF2-40B4-BE49-F238E27FC236}">
                <a16:creationId xmlns:a16="http://schemas.microsoft.com/office/drawing/2014/main" id="{7647736B-66AB-4F09-9450-F862ABAA430A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1257300" y="2762262"/>
            <a:ext cx="9677400" cy="2423136"/>
          </a:xfrm>
          <a:prstGeom prst="rect">
            <a:avLst/>
          </a:prstGeom>
        </p:spPr>
      </p:pic>
      <p:sp>
        <p:nvSpPr>
          <p:cNvPr id="7" name="codex-p9-playback-cursor">
            <a:extLst>
              <a:ext uri="{FF2B5EF4-FFF2-40B4-BE49-F238E27FC236}">
                <a16:creationId xmlns:a16="http://schemas.microsoft.com/office/drawing/2014/main" id="{406B68A6-6822-4A0A-933A-23FC08DBE840}"/>
              </a:ext>
            </a:extLst>
          </p:cNvPr>
          <p:cNvSpPr>
            <a:spLocks noGrp="1"/>
          </p:cNvSpPr>
          <p:nvPr/>
        </p:nvSpPr>
        <p:spPr>
          <a:xfrm>
            <a:off x="7858125" y="2809875"/>
            <a:ext cx="9525" cy="2381250"/>
          </a:xfrm>
          <a:custGeom>
            <a:pathLst>
              <a:path w="9525" h="2381250">
                <a:moveTo>
                  <a:pt x="0" y="0"/>
                </a:moveTo>
                <a:lnTo>
                  <a:pt x="0" y="2381250"/>
                </a:lnTo>
              </a:path>
            </a:pathLst>
          </a:custGeom>
          <a:noFill/>
          <a:ln w="28575">
            <a:solidFill>
              <a:srgbClr val="FF0000"/>
            </a:solidFill>
          </a:ln>
        </p:spPr>
      </p:sp>
      <p:sp>
        <p:nvSpPr>
          <p:cNvPr id="8" name="codex-p9-image-caption">
            <a:extLst>
              <a:ext uri="{FF2B5EF4-FFF2-40B4-BE49-F238E27FC236}">
                <a16:creationId xmlns:a16="http://schemas.microsoft.com/office/drawing/2014/main" id="{739A802C-FEAB-41A4-A048-DA7D2F654467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波形显示（Audacity示例）</a:t>
            </a:r>
          </a:p>
        </p:txBody>
      </p:sp>
      <p:sp>
        <p:nvSpPr>
          <p:cNvPr id="9" name="codex-p9-image-caption">
            <a:extLst>
              <a:ext uri="{FF2B5EF4-FFF2-40B4-BE49-F238E27FC236}">
                <a16:creationId xmlns:a16="http://schemas.microsoft.com/office/drawing/2014/main" id="{44EE4B8A-BF89-4309-9C9D-EE1CF65910B2}"/>
              </a:ext>
            </a:extLst>
          </p:cNvPr>
          <p:cNvSpPr>
            <a:spLocks noGrp="1"/>
          </p:cNvSpPr>
          <p:nvPr/>
        </p:nvSpPr>
        <p:spPr>
          <a:xfrm>
            <a:off x="8096250" y="5334000"/>
            <a:ext cx="3429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播放时间方向</a:t>
            </a:r>
          </a:p>
        </p:txBody>
      </p:sp>
      <p:sp>
        <p:nvSpPr>
          <p:cNvPr id="10" name="codex-p9-image-caption">
            <a:extLst>
              <a:ext uri="{FF2B5EF4-FFF2-40B4-BE49-F238E27FC236}">
                <a16:creationId xmlns:a16="http://schemas.microsoft.com/office/drawing/2014/main" id="{6DAF5755-FE74-4B9E-9FA4-9B337F9EF40B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请观察：播放继续时，光标位置怎样变化？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输入范围 [0,8) 分成8段：每一段对应一个等级。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90525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217627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7627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4728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7413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18304" y="2907792"/>
            <a:ext cx="1234439" cy="658368"/>
          </a:xfrm>
          <a:prstGeom prst="rect">
            <a:avLst/>
          </a:prstGeom>
          <a:solidFill>
            <a:srgbClr val="EFE9FF"/>
          </a:solidFill>
          <a:ln w="381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8304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3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352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02367" y="2907792"/>
            <a:ext cx="1234439" cy="658368"/>
          </a:xfrm>
          <a:prstGeom prst="rect">
            <a:avLst/>
          </a:prstGeom>
          <a:solidFill>
            <a:srgbClr val="FFFFFF"/>
          </a:solidFill>
          <a:ln w="1524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7" y="2980944"/>
            <a:ext cx="12344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9215" y="3703320"/>
            <a:ext cx="32004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1088" y="3703320"/>
            <a:ext cx="4114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500" b="0">
                <a:solidFill>
                  <a:srgbClr val="262626"/>
                </a:solidFill>
                <a:latin typeface="Alibaba PuHuiTi 3.0 55 Regular"/>
              </a:defRPr>
            </a:pPr>
            <a:r>
              <a:t>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20725" y="2468880"/>
            <a:ext cx="0" cy="42062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552145" y="2382012"/>
            <a:ext cx="137160" cy="1371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101" y="1938528"/>
            <a:ext cx="93268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0000"/>
                </a:solidFill>
                <a:latin typeface="Alibaba PuHuiTi 3.0 115 Black"/>
              </a:defRPr>
            </a:pPr>
            <a:r>
              <a:t>3.71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343400"/>
            <a:ext cx="1024128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红点落在哪一段？请先独立判断等级编号。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先只预测，不公布答案；翻页再验证区间规则。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91056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数据量（Byte） = 采样率 × 时长 × 声道数 × 位数 ÷ 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19856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采多少秒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5976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同时记录几路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7152" y="3072384"/>
            <a:ext cx="27432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64624" y="2734056"/>
            <a:ext cx="2514600" cy="1408176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83496" y="2898648"/>
            <a:ext cx="2286000" cy="3931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419856"/>
            <a:ext cx="2359152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600" b="0">
                <a:solidFill>
                  <a:srgbClr val="262626"/>
                </a:solidFill>
                <a:latin typeface="Alibaba PuHuiTi 3.0 55 Regular"/>
              </a:defRPr>
            </a:pPr>
            <a:r>
              <a:t>每个样本多少bit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2688" y="4599432"/>
            <a:ext cx="10076688" cy="0"/>
          </a:xfrm>
          <a:prstGeom prst="line">
            <a:avLst/>
          </a:prstGeom>
          <a:ln w="1905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59536" y="4919472"/>
            <a:ext cx="106527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262626"/>
                </a:solidFill>
                <a:latin typeface="Alibaba PuHuiTi 3.0 115 Black"/>
              </a:defRPr>
            </a:pPr>
            <a:r>
              <a:t>前3项相乘 → 样本总数；再乘bit/样本 → bit；最后÷8 → Byte。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单位检验：Hz×s×声道×bit÷8，最终为什么得到Byte？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codex-p41-image-caption">
            <a:extLst>
              <a:ext uri="{FF2B5EF4-FFF2-40B4-BE49-F238E27FC236}">
                <a16:creationId xmlns:a16="http://schemas.microsoft.com/office/drawing/2014/main" id="{916CB221-5720-403B-8A3B-F9EAF70E4E7A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905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8C64E1"/>
                </a:solidFill>
                <a:latin typeface="Alibaba PuHuiTi 3.0 115 Black"/>
                <a:ea typeface="Alibaba PuHuiTi 3.0 115 Black"/>
                <a:cs typeface="Alibaba PuHuiTi 3.0 115 Black"/>
              </a:rPr>
              <a:t>编辑工程：2条音轨</a:t>
            </a:r>
          </a:p>
        </p:txBody>
      </p:sp>
      <p:sp>
        <p:nvSpPr>
          <p:cNvPr id="6" name="codex-p41-image-caption">
            <a:extLst>
              <a:ext uri="{FF2B5EF4-FFF2-40B4-BE49-F238E27FC236}">
                <a16:creationId xmlns:a16="http://schemas.microsoft.com/office/drawing/2014/main" id="{4EE585BC-76E0-4DE9-8DA0-E94753A64DCB}"/>
              </a:ext>
            </a:extLst>
          </p:cNvPr>
          <p:cNvSpPr>
            <a:spLocks noGrp="1"/>
          </p:cNvSpPr>
          <p:nvPr/>
        </p:nvSpPr>
        <p:spPr>
          <a:xfrm>
            <a:off x="6800850" y="17621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模型：导出2个声道</a:t>
            </a:r>
          </a:p>
        </p:txBody>
      </p:sp>
      <p:pic>
        <p:nvPicPr>
          <p:cNvPr id="7" name="codex-p41-">
            <a:extLst>
              <a:ext uri="{FF2B5EF4-FFF2-40B4-BE49-F238E27FC236}">
                <a16:creationId xmlns:a16="http://schemas.microsoft.com/office/drawing/2014/main" id="{0217087F-C3DE-4812-AAE6-26B1522A46BB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609600" y="2524125"/>
            <a:ext cx="5715000" cy="2080018"/>
          </a:xfrm>
          <a:prstGeom prst="rect">
            <a:avLst/>
          </a:prstGeom>
        </p:spPr>
      </p:pic>
      <p:sp>
        <p:nvSpPr>
          <p:cNvPr id="8" name="codex-p41-image-caption">
            <a:extLst>
              <a:ext uri="{FF2B5EF4-FFF2-40B4-BE49-F238E27FC236}">
                <a16:creationId xmlns:a16="http://schemas.microsoft.com/office/drawing/2014/main" id="{0892F8F3-1C87-4C23-BDD8-8200B403A546}"/>
              </a:ext>
            </a:extLst>
          </p:cNvPr>
          <p:cNvSpPr>
            <a:spLocks noGrp="1"/>
          </p:cNvSpPr>
          <p:nvPr/>
        </p:nvSpPr>
        <p:spPr>
          <a:xfrm>
            <a:off x="609600" y="5019675"/>
            <a:ext cx="57721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此例：1条单声道音轨 + 1条立体声音轨</a:t>
            </a:r>
          </a:p>
        </p:txBody>
      </p:sp>
      <p:sp>
        <p:nvSpPr>
          <p:cNvPr id="9" name="codex-p41-mixing-operation">
            <a:extLst>
              <a:ext uri="{FF2B5EF4-FFF2-40B4-BE49-F238E27FC236}">
                <a16:creationId xmlns:a16="http://schemas.microsoft.com/office/drawing/2014/main" id="{9B7356F8-681B-4AAE-A309-A6051D28E4B2}"/>
              </a:ext>
            </a:extLst>
          </p:cNvPr>
          <p:cNvSpPr>
            <a:spLocks noGrp="1"/>
          </p:cNvSpPr>
          <p:nvPr/>
        </p:nvSpPr>
        <p:spPr>
          <a:xfrm>
            <a:off x="7029450" y="2752725"/>
            <a:ext cx="1190625" cy="1514475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</p:sp>
      <p:sp>
        <p:nvSpPr>
          <p:cNvPr id="10" name="codex-p41-image-caption">
            <a:extLst>
              <a:ext uri="{FF2B5EF4-FFF2-40B4-BE49-F238E27FC236}">
                <a16:creationId xmlns:a16="http://schemas.microsoft.com/office/drawing/2014/main" id="{70A0DF2C-CB0E-4E48-9A72-68F5836804DF}"/>
              </a:ext>
            </a:extLst>
          </p:cNvPr>
          <p:cNvSpPr>
            <a:spLocks noGrp="1"/>
          </p:cNvSpPr>
          <p:nvPr/>
        </p:nvSpPr>
        <p:spPr>
          <a:xfrm>
            <a:off x="7191375" y="3295650"/>
            <a:ext cx="9715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混音</a:t>
            </a:r>
          </a:p>
        </p:txBody>
      </p:sp>
      <p:sp>
        <p:nvSpPr>
          <p:cNvPr id="11" name="codex-p41-relationship">
            <a:extLst>
              <a:ext uri="{FF2B5EF4-FFF2-40B4-BE49-F238E27FC236}">
                <a16:creationId xmlns:a16="http://schemas.microsoft.com/office/drawing/2014/main" id="{53CC314F-EA12-41A4-8CC2-6EBDC191D3E2}"/>
              </a:ext>
            </a:extLst>
          </p:cNvPr>
          <p:cNvSpPr>
            <a:spLocks noGrp="1"/>
          </p:cNvSpPr>
          <p:nvPr/>
        </p:nvSpPr>
        <p:spPr>
          <a:xfrm>
            <a:off x="6400800" y="2895600"/>
            <a:ext cx="609600" cy="285750"/>
          </a:xfrm>
          <a:custGeom>
            <a:pathLst>
              <a:path w="609600" h="285750">
                <a:moveTo>
                  <a:pt x="0" y="0"/>
                </a:moveTo>
                <a:lnTo>
                  <a:pt x="609600" y="28575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2" name="codex-p41-relationship">
            <a:extLst>
              <a:ext uri="{FF2B5EF4-FFF2-40B4-BE49-F238E27FC236}">
                <a16:creationId xmlns:a16="http://schemas.microsoft.com/office/drawing/2014/main" id="{05B7DE52-A806-480E-ABC0-34C105D07610}"/>
              </a:ext>
            </a:extLst>
          </p:cNvPr>
          <p:cNvSpPr>
            <a:spLocks noGrp="1"/>
          </p:cNvSpPr>
          <p:nvPr/>
        </p:nvSpPr>
        <p:spPr>
          <a:xfrm>
            <a:off x="6400800" y="3800475"/>
            <a:ext cx="609600" cy="304800"/>
          </a:xfrm>
          <a:custGeom>
            <a:pathLst>
              <a:path w="609600" h="304800">
                <a:moveTo>
                  <a:pt x="0" y="304800"/>
                </a:moveTo>
                <a:lnTo>
                  <a:pt x="609600" y="0"/>
                </a:lnTo>
              </a:path>
            </a:pathLst>
          </a:custGeom>
          <a:noFill/>
          <a:ln w="19050">
            <a:solidFill>
              <a:srgbClr val="007C9B"/>
            </a:solidFill>
          </a:ln>
        </p:spPr>
      </p:sp>
      <p:sp>
        <p:nvSpPr>
          <p:cNvPr id="13" name="codex-p41-relationship">
            <a:extLst>
              <a:ext uri="{FF2B5EF4-FFF2-40B4-BE49-F238E27FC236}">
                <a16:creationId xmlns:a16="http://schemas.microsoft.com/office/drawing/2014/main" id="{480524A5-E8D2-4087-B3C1-E0C70670F165}"/>
              </a:ext>
            </a:extLst>
          </p:cNvPr>
          <p:cNvSpPr>
            <a:spLocks noGrp="1"/>
          </p:cNvSpPr>
          <p:nvPr/>
        </p:nvSpPr>
        <p:spPr>
          <a:xfrm>
            <a:off x="8220075" y="3505200"/>
            <a:ext cx="342900" cy="9525"/>
          </a:xfrm>
          <a:custGeom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4" name="codex-p41-relationship">
            <a:extLst>
              <a:ext uri="{FF2B5EF4-FFF2-40B4-BE49-F238E27FC236}">
                <a16:creationId xmlns:a16="http://schemas.microsoft.com/office/drawing/2014/main" id="{8A43BD3F-124B-46A3-BDCE-74F18EF53FDA}"/>
              </a:ext>
            </a:extLst>
          </p:cNvPr>
          <p:cNvSpPr>
            <a:spLocks noGrp="1"/>
          </p:cNvSpPr>
          <p:nvPr/>
        </p:nvSpPr>
        <p:spPr>
          <a:xfrm>
            <a:off x="8562975" y="2905125"/>
            <a:ext cx="9525" cy="1266825"/>
          </a:xfrm>
          <a:custGeom>
            <a:pathLst>
              <a:path w="9525" h="1266825">
                <a:moveTo>
                  <a:pt x="0" y="0"/>
                </a:moveTo>
                <a:lnTo>
                  <a:pt x="0" y="1266825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5" name="codex-p41-relationship">
            <a:extLst>
              <a:ext uri="{FF2B5EF4-FFF2-40B4-BE49-F238E27FC236}">
                <a16:creationId xmlns:a16="http://schemas.microsoft.com/office/drawing/2014/main" id="{C08F508B-9ADF-41FE-ADB4-3276DA8AB320}"/>
              </a:ext>
            </a:extLst>
          </p:cNvPr>
          <p:cNvSpPr>
            <a:spLocks noGrp="1"/>
          </p:cNvSpPr>
          <p:nvPr/>
        </p:nvSpPr>
        <p:spPr>
          <a:xfrm>
            <a:off x="8562975" y="2905125"/>
            <a:ext cx="247650" cy="9525"/>
          </a:xfrm>
          <a:custGeom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6" name="codex-p41-relationship">
            <a:extLst>
              <a:ext uri="{FF2B5EF4-FFF2-40B4-BE49-F238E27FC236}">
                <a16:creationId xmlns:a16="http://schemas.microsoft.com/office/drawing/2014/main" id="{B072D903-BED1-4338-9CAB-FB79F97A7022}"/>
              </a:ext>
            </a:extLst>
          </p:cNvPr>
          <p:cNvSpPr>
            <a:spLocks noGrp="1"/>
          </p:cNvSpPr>
          <p:nvPr/>
        </p:nvSpPr>
        <p:spPr>
          <a:xfrm>
            <a:off x="8562975" y="4171950"/>
            <a:ext cx="247650" cy="9525"/>
          </a:xfrm>
          <a:custGeom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9050">
            <a:solidFill>
              <a:srgbClr val="8C64E1"/>
            </a:solidFill>
          </a:ln>
        </p:spPr>
      </p:sp>
      <p:sp>
        <p:nvSpPr>
          <p:cNvPr id="17" name="codex-p41-image-caption">
            <a:extLst>
              <a:ext uri="{FF2B5EF4-FFF2-40B4-BE49-F238E27FC236}">
                <a16:creationId xmlns:a16="http://schemas.microsoft.com/office/drawing/2014/main" id="{D12A0DA9-F7F8-43E7-8876-414F52D93AA1}"/>
              </a:ext>
            </a:extLst>
          </p:cNvPr>
          <p:cNvSpPr>
            <a:spLocks noGrp="1"/>
          </p:cNvSpPr>
          <p:nvPr/>
        </p:nvSpPr>
        <p:spPr>
          <a:xfrm>
            <a:off x="8724900" y="2447925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L</a:t>
            </a:r>
          </a:p>
        </p:txBody>
      </p:sp>
      <p:sp>
        <p:nvSpPr>
          <p:cNvPr id="18" name="codex-p41-mixed-output-0">
            <a:extLst>
              <a:ext uri="{FF2B5EF4-FFF2-40B4-BE49-F238E27FC236}">
                <a16:creationId xmlns:a16="http://schemas.microsoft.com/office/drawing/2014/main" id="{059F4452-9D9C-40B9-A038-7A5866A476D2}"/>
              </a:ext>
            </a:extLst>
          </p:cNvPr>
          <p:cNvSpPr>
            <a:spLocks noGrp="1"/>
          </p:cNvSpPr>
          <p:nvPr/>
        </p:nvSpPr>
        <p:spPr>
          <a:xfrm>
            <a:off x="9039225" y="2627411"/>
            <a:ext cx="2333625" cy="555428"/>
          </a:xfrm>
          <a:custGeom>
            <a:pathLst>
              <a:path w="2333625" h="555428">
                <a:moveTo>
                  <a:pt x="0" y="277714"/>
                </a:moveTo>
                <a:lnTo>
                  <a:pt x="23336" y="224404"/>
                </a:lnTo>
                <a:lnTo>
                  <a:pt x="46672" y="174352"/>
                </a:lnTo>
                <a:lnTo>
                  <a:pt x="70009" y="130527"/>
                </a:lnTo>
                <a:lnTo>
                  <a:pt x="93345" y="95352"/>
                </a:lnTo>
                <a:lnTo>
                  <a:pt x="116681" y="70491"/>
                </a:lnTo>
                <a:lnTo>
                  <a:pt x="140018" y="56719"/>
                </a:lnTo>
                <a:lnTo>
                  <a:pt x="163354" y="53872"/>
                </a:lnTo>
                <a:lnTo>
                  <a:pt x="186690" y="60883"/>
                </a:lnTo>
                <a:lnTo>
                  <a:pt x="210026" y="75910"/>
                </a:lnTo>
                <a:lnTo>
                  <a:pt x="233363" y="96538"/>
                </a:lnTo>
                <a:lnTo>
                  <a:pt x="256699" y="120022"/>
                </a:lnTo>
                <a:lnTo>
                  <a:pt x="280035" y="143576"/>
                </a:lnTo>
                <a:lnTo>
                  <a:pt x="303371" y="164649"/>
                </a:lnTo>
                <a:lnTo>
                  <a:pt x="326707" y="181176"/>
                </a:lnTo>
                <a:lnTo>
                  <a:pt x="350044" y="191788"/>
                </a:lnTo>
                <a:lnTo>
                  <a:pt x="373380" y="195932"/>
                </a:lnTo>
                <a:lnTo>
                  <a:pt x="396716" y="193928"/>
                </a:lnTo>
                <a:lnTo>
                  <a:pt x="420053" y="186918"/>
                </a:lnTo>
                <a:lnTo>
                  <a:pt x="443389" y="176741"/>
                </a:lnTo>
                <a:lnTo>
                  <a:pt x="466725" y="165741"/>
                </a:lnTo>
                <a:lnTo>
                  <a:pt x="490061" y="156506"/>
                </a:lnTo>
                <a:lnTo>
                  <a:pt x="513397" y="151600"/>
                </a:lnTo>
                <a:lnTo>
                  <a:pt x="536734" y="153280"/>
                </a:lnTo>
                <a:lnTo>
                  <a:pt x="560070" y="163250"/>
                </a:lnTo>
                <a:lnTo>
                  <a:pt x="583406" y="182464"/>
                </a:lnTo>
                <a:lnTo>
                  <a:pt x="606743" y="211002"/>
                </a:lnTo>
                <a:lnTo>
                  <a:pt x="630079" y="248030"/>
                </a:lnTo>
                <a:lnTo>
                  <a:pt x="653415" y="291855"/>
                </a:lnTo>
                <a:lnTo>
                  <a:pt x="676751" y="340054"/>
                </a:lnTo>
                <a:lnTo>
                  <a:pt x="700088" y="389687"/>
                </a:lnTo>
                <a:lnTo>
                  <a:pt x="723424" y="437554"/>
                </a:lnTo>
                <a:lnTo>
                  <a:pt x="746760" y="480483"/>
                </a:lnTo>
                <a:lnTo>
                  <a:pt x="770096" y="515617"/>
                </a:lnTo>
                <a:lnTo>
                  <a:pt x="793432" y="540672"/>
                </a:lnTo>
                <a:lnTo>
                  <a:pt x="816769" y="554140"/>
                </a:lnTo>
                <a:lnTo>
                  <a:pt x="840105" y="555428"/>
                </a:lnTo>
                <a:lnTo>
                  <a:pt x="863441" y="544897"/>
                </a:lnTo>
                <a:lnTo>
                  <a:pt x="886777" y="523824"/>
                </a:lnTo>
                <a:lnTo>
                  <a:pt x="910114" y="494273"/>
                </a:lnTo>
                <a:lnTo>
                  <a:pt x="933450" y="458890"/>
                </a:lnTo>
                <a:lnTo>
                  <a:pt x="956786" y="420650"/>
                </a:lnTo>
                <a:lnTo>
                  <a:pt x="980123" y="382572"/>
                </a:lnTo>
                <a:lnTo>
                  <a:pt x="1003459" y="347438"/>
                </a:lnTo>
                <a:lnTo>
                  <a:pt x="1026795" y="317532"/>
                </a:lnTo>
                <a:lnTo>
                  <a:pt x="1050131" y="294437"/>
                </a:lnTo>
                <a:lnTo>
                  <a:pt x="1073468" y="278900"/>
                </a:lnTo>
                <a:lnTo>
                  <a:pt x="1096804" y="270783"/>
                </a:lnTo>
                <a:lnTo>
                  <a:pt x="1120140" y="269103"/>
                </a:lnTo>
                <a:lnTo>
                  <a:pt x="1143476" y="272156"/>
                </a:lnTo>
                <a:lnTo>
                  <a:pt x="1166813" y="277714"/>
                </a:lnTo>
                <a:lnTo>
                  <a:pt x="1190149" y="283272"/>
                </a:lnTo>
                <a:lnTo>
                  <a:pt x="1213485" y="286325"/>
                </a:lnTo>
                <a:lnTo>
                  <a:pt x="1236821" y="284645"/>
                </a:lnTo>
                <a:lnTo>
                  <a:pt x="1260157" y="276528"/>
                </a:lnTo>
                <a:lnTo>
                  <a:pt x="1283494" y="260991"/>
                </a:lnTo>
                <a:lnTo>
                  <a:pt x="1306830" y="237896"/>
                </a:lnTo>
                <a:lnTo>
                  <a:pt x="1330166" y="207990"/>
                </a:lnTo>
                <a:lnTo>
                  <a:pt x="1353502" y="172856"/>
                </a:lnTo>
                <a:lnTo>
                  <a:pt x="1376839" y="134778"/>
                </a:lnTo>
                <a:lnTo>
                  <a:pt x="1400175" y="96538"/>
                </a:lnTo>
                <a:lnTo>
                  <a:pt x="1423511" y="61154"/>
                </a:lnTo>
                <a:lnTo>
                  <a:pt x="1446848" y="31603"/>
                </a:lnTo>
                <a:lnTo>
                  <a:pt x="1470184" y="10531"/>
                </a:lnTo>
                <a:lnTo>
                  <a:pt x="1493520" y="0"/>
                </a:lnTo>
                <a:lnTo>
                  <a:pt x="1516856" y="1288"/>
                </a:lnTo>
                <a:lnTo>
                  <a:pt x="1540193" y="14756"/>
                </a:lnTo>
                <a:lnTo>
                  <a:pt x="1563529" y="39811"/>
                </a:lnTo>
                <a:lnTo>
                  <a:pt x="1586865" y="74945"/>
                </a:lnTo>
                <a:lnTo>
                  <a:pt x="1610201" y="117874"/>
                </a:lnTo>
                <a:lnTo>
                  <a:pt x="1633538" y="165741"/>
                </a:lnTo>
                <a:lnTo>
                  <a:pt x="1656874" y="215374"/>
                </a:lnTo>
                <a:lnTo>
                  <a:pt x="1680210" y="263573"/>
                </a:lnTo>
                <a:lnTo>
                  <a:pt x="1703546" y="307397"/>
                </a:lnTo>
                <a:lnTo>
                  <a:pt x="1726882" y="344426"/>
                </a:lnTo>
                <a:lnTo>
                  <a:pt x="1750219" y="372964"/>
                </a:lnTo>
                <a:lnTo>
                  <a:pt x="1773555" y="392178"/>
                </a:lnTo>
                <a:lnTo>
                  <a:pt x="1796891" y="402148"/>
                </a:lnTo>
                <a:lnTo>
                  <a:pt x="1820227" y="403828"/>
                </a:lnTo>
                <a:lnTo>
                  <a:pt x="1843564" y="398922"/>
                </a:lnTo>
                <a:lnTo>
                  <a:pt x="1866900" y="389687"/>
                </a:lnTo>
                <a:lnTo>
                  <a:pt x="1890236" y="378686"/>
                </a:lnTo>
                <a:lnTo>
                  <a:pt x="1913573" y="368510"/>
                </a:lnTo>
                <a:lnTo>
                  <a:pt x="1936909" y="361499"/>
                </a:lnTo>
                <a:lnTo>
                  <a:pt x="1960245" y="359495"/>
                </a:lnTo>
                <a:lnTo>
                  <a:pt x="1983581" y="363640"/>
                </a:lnTo>
                <a:lnTo>
                  <a:pt x="2006918" y="374251"/>
                </a:lnTo>
                <a:lnTo>
                  <a:pt x="2030254" y="390779"/>
                </a:lnTo>
                <a:lnTo>
                  <a:pt x="2053590" y="411851"/>
                </a:lnTo>
                <a:lnTo>
                  <a:pt x="2076926" y="435406"/>
                </a:lnTo>
                <a:lnTo>
                  <a:pt x="2100263" y="458890"/>
                </a:lnTo>
                <a:lnTo>
                  <a:pt x="2123599" y="479517"/>
                </a:lnTo>
                <a:lnTo>
                  <a:pt x="2146935" y="494545"/>
                </a:lnTo>
                <a:lnTo>
                  <a:pt x="2170271" y="501555"/>
                </a:lnTo>
                <a:lnTo>
                  <a:pt x="2193607" y="498708"/>
                </a:lnTo>
                <a:lnTo>
                  <a:pt x="2216944" y="484937"/>
                </a:lnTo>
                <a:lnTo>
                  <a:pt x="2240280" y="460076"/>
                </a:lnTo>
                <a:lnTo>
                  <a:pt x="2263616" y="424900"/>
                </a:lnTo>
                <a:lnTo>
                  <a:pt x="2286952" y="381076"/>
                </a:lnTo>
                <a:lnTo>
                  <a:pt x="2310289" y="331024"/>
                </a:lnTo>
                <a:lnTo>
                  <a:pt x="2333625" y="277714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19" name="codex-p41-image-caption">
            <a:extLst>
              <a:ext uri="{FF2B5EF4-FFF2-40B4-BE49-F238E27FC236}">
                <a16:creationId xmlns:a16="http://schemas.microsoft.com/office/drawing/2014/main" id="{F952A60A-EDDA-4993-A750-B05B054D9583}"/>
              </a:ext>
            </a:extLst>
          </p:cNvPr>
          <p:cNvSpPr>
            <a:spLocks noGrp="1"/>
          </p:cNvSpPr>
          <p:nvPr/>
        </p:nvSpPr>
        <p:spPr>
          <a:xfrm>
            <a:off x="8724900" y="3714750"/>
            <a:ext cx="666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200" b="1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R</a:t>
            </a:r>
          </a:p>
        </p:txBody>
      </p:sp>
      <p:sp>
        <p:nvSpPr>
          <p:cNvPr id="20" name="codex-p41-mixed-output-1">
            <a:extLst>
              <a:ext uri="{FF2B5EF4-FFF2-40B4-BE49-F238E27FC236}">
                <a16:creationId xmlns:a16="http://schemas.microsoft.com/office/drawing/2014/main" id="{49A668CB-2267-4754-9E17-29950087F49D}"/>
              </a:ext>
            </a:extLst>
          </p:cNvPr>
          <p:cNvSpPr>
            <a:spLocks noGrp="1"/>
          </p:cNvSpPr>
          <p:nvPr/>
        </p:nvSpPr>
        <p:spPr>
          <a:xfrm>
            <a:off x="9039225" y="3894236"/>
            <a:ext cx="2333625" cy="555428"/>
          </a:xfrm>
          <a:custGeom>
            <a:pathLst>
              <a:path w="2333625" h="555428">
                <a:moveTo>
                  <a:pt x="0" y="277714"/>
                </a:moveTo>
                <a:lnTo>
                  <a:pt x="23336" y="224404"/>
                </a:lnTo>
                <a:lnTo>
                  <a:pt x="46672" y="174352"/>
                </a:lnTo>
                <a:lnTo>
                  <a:pt x="70009" y="130527"/>
                </a:lnTo>
                <a:lnTo>
                  <a:pt x="93345" y="95352"/>
                </a:lnTo>
                <a:lnTo>
                  <a:pt x="116681" y="70491"/>
                </a:lnTo>
                <a:lnTo>
                  <a:pt x="140018" y="56719"/>
                </a:lnTo>
                <a:lnTo>
                  <a:pt x="163354" y="53872"/>
                </a:lnTo>
                <a:lnTo>
                  <a:pt x="186690" y="60883"/>
                </a:lnTo>
                <a:lnTo>
                  <a:pt x="210026" y="75910"/>
                </a:lnTo>
                <a:lnTo>
                  <a:pt x="233363" y="96538"/>
                </a:lnTo>
                <a:lnTo>
                  <a:pt x="256699" y="120022"/>
                </a:lnTo>
                <a:lnTo>
                  <a:pt x="280035" y="143576"/>
                </a:lnTo>
                <a:lnTo>
                  <a:pt x="303371" y="164649"/>
                </a:lnTo>
                <a:lnTo>
                  <a:pt x="326707" y="181176"/>
                </a:lnTo>
                <a:lnTo>
                  <a:pt x="350044" y="191788"/>
                </a:lnTo>
                <a:lnTo>
                  <a:pt x="373380" y="195932"/>
                </a:lnTo>
                <a:lnTo>
                  <a:pt x="396716" y="193928"/>
                </a:lnTo>
                <a:lnTo>
                  <a:pt x="420053" y="186918"/>
                </a:lnTo>
                <a:lnTo>
                  <a:pt x="443389" y="176741"/>
                </a:lnTo>
                <a:lnTo>
                  <a:pt x="466725" y="165741"/>
                </a:lnTo>
                <a:lnTo>
                  <a:pt x="490061" y="156506"/>
                </a:lnTo>
                <a:lnTo>
                  <a:pt x="513397" y="151600"/>
                </a:lnTo>
                <a:lnTo>
                  <a:pt x="536734" y="153280"/>
                </a:lnTo>
                <a:lnTo>
                  <a:pt x="560070" y="163250"/>
                </a:lnTo>
                <a:lnTo>
                  <a:pt x="583406" y="182464"/>
                </a:lnTo>
                <a:lnTo>
                  <a:pt x="606743" y="211002"/>
                </a:lnTo>
                <a:lnTo>
                  <a:pt x="630079" y="248030"/>
                </a:lnTo>
                <a:lnTo>
                  <a:pt x="653415" y="291855"/>
                </a:lnTo>
                <a:lnTo>
                  <a:pt x="676751" y="340054"/>
                </a:lnTo>
                <a:lnTo>
                  <a:pt x="700088" y="389687"/>
                </a:lnTo>
                <a:lnTo>
                  <a:pt x="723424" y="437554"/>
                </a:lnTo>
                <a:lnTo>
                  <a:pt x="746760" y="480483"/>
                </a:lnTo>
                <a:lnTo>
                  <a:pt x="770096" y="515617"/>
                </a:lnTo>
                <a:lnTo>
                  <a:pt x="793432" y="540672"/>
                </a:lnTo>
                <a:lnTo>
                  <a:pt x="816769" y="554140"/>
                </a:lnTo>
                <a:lnTo>
                  <a:pt x="840105" y="555428"/>
                </a:lnTo>
                <a:lnTo>
                  <a:pt x="863441" y="544897"/>
                </a:lnTo>
                <a:lnTo>
                  <a:pt x="886777" y="523824"/>
                </a:lnTo>
                <a:lnTo>
                  <a:pt x="910114" y="494273"/>
                </a:lnTo>
                <a:lnTo>
                  <a:pt x="933450" y="458890"/>
                </a:lnTo>
                <a:lnTo>
                  <a:pt x="956786" y="420650"/>
                </a:lnTo>
                <a:lnTo>
                  <a:pt x="980123" y="382572"/>
                </a:lnTo>
                <a:lnTo>
                  <a:pt x="1003459" y="347438"/>
                </a:lnTo>
                <a:lnTo>
                  <a:pt x="1026795" y="317532"/>
                </a:lnTo>
                <a:lnTo>
                  <a:pt x="1050131" y="294437"/>
                </a:lnTo>
                <a:lnTo>
                  <a:pt x="1073468" y="278900"/>
                </a:lnTo>
                <a:lnTo>
                  <a:pt x="1096804" y="270783"/>
                </a:lnTo>
                <a:lnTo>
                  <a:pt x="1120140" y="269103"/>
                </a:lnTo>
                <a:lnTo>
                  <a:pt x="1143476" y="272156"/>
                </a:lnTo>
                <a:lnTo>
                  <a:pt x="1166813" y="277714"/>
                </a:lnTo>
                <a:lnTo>
                  <a:pt x="1190149" y="283272"/>
                </a:lnTo>
                <a:lnTo>
                  <a:pt x="1213485" y="286325"/>
                </a:lnTo>
                <a:lnTo>
                  <a:pt x="1236821" y="284645"/>
                </a:lnTo>
                <a:lnTo>
                  <a:pt x="1260157" y="276528"/>
                </a:lnTo>
                <a:lnTo>
                  <a:pt x="1283494" y="260991"/>
                </a:lnTo>
                <a:lnTo>
                  <a:pt x="1306830" y="237896"/>
                </a:lnTo>
                <a:lnTo>
                  <a:pt x="1330166" y="207990"/>
                </a:lnTo>
                <a:lnTo>
                  <a:pt x="1353502" y="172856"/>
                </a:lnTo>
                <a:lnTo>
                  <a:pt x="1376839" y="134778"/>
                </a:lnTo>
                <a:lnTo>
                  <a:pt x="1400175" y="96538"/>
                </a:lnTo>
                <a:lnTo>
                  <a:pt x="1423511" y="61154"/>
                </a:lnTo>
                <a:lnTo>
                  <a:pt x="1446848" y="31603"/>
                </a:lnTo>
                <a:lnTo>
                  <a:pt x="1470184" y="10531"/>
                </a:lnTo>
                <a:lnTo>
                  <a:pt x="1493520" y="0"/>
                </a:lnTo>
                <a:lnTo>
                  <a:pt x="1516856" y="1288"/>
                </a:lnTo>
                <a:lnTo>
                  <a:pt x="1540193" y="14756"/>
                </a:lnTo>
                <a:lnTo>
                  <a:pt x="1563529" y="39811"/>
                </a:lnTo>
                <a:lnTo>
                  <a:pt x="1586865" y="74945"/>
                </a:lnTo>
                <a:lnTo>
                  <a:pt x="1610201" y="117874"/>
                </a:lnTo>
                <a:lnTo>
                  <a:pt x="1633538" y="165741"/>
                </a:lnTo>
                <a:lnTo>
                  <a:pt x="1656874" y="215374"/>
                </a:lnTo>
                <a:lnTo>
                  <a:pt x="1680210" y="263573"/>
                </a:lnTo>
                <a:lnTo>
                  <a:pt x="1703546" y="307397"/>
                </a:lnTo>
                <a:lnTo>
                  <a:pt x="1726882" y="344426"/>
                </a:lnTo>
                <a:lnTo>
                  <a:pt x="1750219" y="372964"/>
                </a:lnTo>
                <a:lnTo>
                  <a:pt x="1773555" y="392178"/>
                </a:lnTo>
                <a:lnTo>
                  <a:pt x="1796891" y="402148"/>
                </a:lnTo>
                <a:lnTo>
                  <a:pt x="1820227" y="403828"/>
                </a:lnTo>
                <a:lnTo>
                  <a:pt x="1843564" y="398922"/>
                </a:lnTo>
                <a:lnTo>
                  <a:pt x="1866900" y="389687"/>
                </a:lnTo>
                <a:lnTo>
                  <a:pt x="1890236" y="378686"/>
                </a:lnTo>
                <a:lnTo>
                  <a:pt x="1913573" y="368510"/>
                </a:lnTo>
                <a:lnTo>
                  <a:pt x="1936909" y="361499"/>
                </a:lnTo>
                <a:lnTo>
                  <a:pt x="1960245" y="359495"/>
                </a:lnTo>
                <a:lnTo>
                  <a:pt x="1983581" y="363640"/>
                </a:lnTo>
                <a:lnTo>
                  <a:pt x="2006918" y="374251"/>
                </a:lnTo>
                <a:lnTo>
                  <a:pt x="2030254" y="390779"/>
                </a:lnTo>
                <a:lnTo>
                  <a:pt x="2053590" y="411851"/>
                </a:lnTo>
                <a:lnTo>
                  <a:pt x="2076926" y="435406"/>
                </a:lnTo>
                <a:lnTo>
                  <a:pt x="2100263" y="458890"/>
                </a:lnTo>
                <a:lnTo>
                  <a:pt x="2123599" y="479517"/>
                </a:lnTo>
                <a:lnTo>
                  <a:pt x="2146935" y="494545"/>
                </a:lnTo>
                <a:lnTo>
                  <a:pt x="2170271" y="501555"/>
                </a:lnTo>
                <a:lnTo>
                  <a:pt x="2193607" y="498708"/>
                </a:lnTo>
                <a:lnTo>
                  <a:pt x="2216944" y="484937"/>
                </a:lnTo>
                <a:lnTo>
                  <a:pt x="2240280" y="460076"/>
                </a:lnTo>
                <a:lnTo>
                  <a:pt x="2263616" y="424900"/>
                </a:lnTo>
                <a:lnTo>
                  <a:pt x="2286952" y="381076"/>
                </a:lnTo>
                <a:lnTo>
                  <a:pt x="2310289" y="331024"/>
                </a:lnTo>
                <a:lnTo>
                  <a:pt x="2333625" y="277714"/>
                </a:lnTo>
              </a:path>
            </a:pathLst>
          </a:custGeom>
          <a:noFill/>
          <a:ln w="19050">
            <a:solidFill>
              <a:srgbClr val="00B0F0"/>
            </a:solidFill>
          </a:ln>
        </p:spPr>
      </p:sp>
      <p:sp>
        <p:nvSpPr>
          <p:cNvPr id="21" name="codex-p41-image-caption">
            <a:extLst>
              <a:ext uri="{FF2B5EF4-FFF2-40B4-BE49-F238E27FC236}">
                <a16:creationId xmlns:a16="http://schemas.microsoft.com/office/drawing/2014/main" id="{78DC1F01-ED19-4A58-A32F-5F4DDF2F22CE}"/>
              </a:ext>
            </a:extLst>
          </p:cNvPr>
          <p:cNvSpPr>
            <a:spLocks noGrp="1"/>
          </p:cNvSpPr>
          <p:nvPr/>
        </p:nvSpPr>
        <p:spPr>
          <a:xfrm>
            <a:off x="6800850" y="5019675"/>
            <a:ext cx="4762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L、R都可包含两条音轨的内容</a:t>
            </a:r>
          </a:p>
        </p:txBody>
      </p:sp>
      <p:sp>
        <p:nvSpPr>
          <p:cNvPr id="22" name="codex-p41-image-caption">
            <a:extLst>
              <a:ext uri="{FF2B5EF4-FFF2-40B4-BE49-F238E27FC236}">
                <a16:creationId xmlns:a16="http://schemas.microsoft.com/office/drawing/2014/main" id="{A99242E1-53D2-4186-B2E5-C9FA7C6C10BD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容量由导出的声道数决定；编辑工程的音轨数另行统计。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09344"/>
            <a:ext cx="10570464" cy="5212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同一个球，在5个连续时刻的位置变化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86868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41248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第1帧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689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0896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3392423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第2帧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717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34924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943600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第3帧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7745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58952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494776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第4帧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6" y="3154680"/>
            <a:ext cx="3566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331720"/>
            <a:ext cx="1874519" cy="2075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DE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29800" y="3904487"/>
            <a:ext cx="1600200" cy="0"/>
          </a:xfrm>
          <a:prstGeom prst="line">
            <a:avLst/>
          </a:prstGeom>
          <a:ln w="16510">
            <a:solidFill>
              <a:srgbClr val="E2D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045952" y="3191256"/>
            <a:ext cx="329184" cy="329184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0" y="4526280"/>
            <a:ext cx="18745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262626"/>
                </a:solidFill>
                <a:latin typeface="Alibaba PuHuiTi 3.0 115 Black"/>
              </a:defRPr>
            </a:pPr>
            <a:r>
              <a:t>第5帧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166360"/>
            <a:ext cx="103327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位置逐帧变化（背景和球的大小不变）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25 fps = 每秒显示25帧；“帧”不是声道，也不是采样位数。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81912"/>
            <a:ext cx="106984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三幅图具有相同的宽、高与位深。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2176272"/>
            <a:ext cx="3310128" cy="2688336"/>
          </a:xfrm>
          <a:prstGeom prst="rect">
            <a:avLst/>
          </a:prstGeom>
          <a:solidFill>
            <a:srgbClr val="539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A：纯色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449884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884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12614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2614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2614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12614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2614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12614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2638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2638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2638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2638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2638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2638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40146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740146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40146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40146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0146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40146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53912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3912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53912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53912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53912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53912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67678" y="217627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67678" y="2624328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67678" y="3072384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67678" y="3520439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67678" y="3968496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67678" y="4416552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81444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81444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81444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81444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81444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1444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395210" y="217627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95210" y="2624328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95210" y="3072384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95210" y="3520439"/>
            <a:ext cx="417423" cy="451713"/>
          </a:xfrm>
          <a:prstGeom prst="rect">
            <a:avLst/>
          </a:prstGeom>
          <a:solidFill>
            <a:srgbClr val="BA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95210" y="3968496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95210" y="4416552"/>
            <a:ext cx="417423" cy="451713"/>
          </a:xfrm>
          <a:prstGeom prst="rect">
            <a:avLst/>
          </a:prstGeom>
          <a:solidFill>
            <a:srgbClr val="4C9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98848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B：规律色块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2176272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211311" y="2325623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211311" y="247497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11311" y="2624328"/>
            <a:ext cx="145237" cy="156667"/>
          </a:xfrm>
          <a:prstGeom prst="rect">
            <a:avLst/>
          </a:prstGeom>
          <a:solidFill>
            <a:srgbClr val="80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11311" y="2773680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211311" y="2923031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211311" y="3072384"/>
            <a:ext cx="145237" cy="156667"/>
          </a:xfrm>
          <a:prstGeom prst="rect">
            <a:avLst/>
          </a:prstGeom>
          <a:solidFill>
            <a:srgbClr val="7CB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11311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11311" y="3371088"/>
            <a:ext cx="145237" cy="156667"/>
          </a:xfrm>
          <a:prstGeom prst="rect">
            <a:avLst/>
          </a:prstGeom>
          <a:solidFill>
            <a:srgbClr val="799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11311" y="3520439"/>
            <a:ext cx="145237" cy="156667"/>
          </a:xfrm>
          <a:prstGeom prst="rect">
            <a:avLst/>
          </a:prstGeom>
          <a:solidFill>
            <a:srgbClr val="789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211311" y="3669792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211311" y="3819143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11311" y="396849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11311" y="4117847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211311" y="4267199"/>
            <a:ext cx="145237" cy="156667"/>
          </a:xfrm>
          <a:prstGeom prst="rect">
            <a:avLst/>
          </a:prstGeom>
          <a:solidFill>
            <a:srgbClr val="715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211311" y="4416552"/>
            <a:ext cx="145237" cy="156667"/>
          </a:xfrm>
          <a:prstGeom prst="rect">
            <a:avLst/>
          </a:prstGeom>
          <a:solidFill>
            <a:srgbClr val="704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1131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211311" y="471525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349233" y="217627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49233" y="2325623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49233" y="247497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49233" y="2624328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349233" y="2773680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49233" y="2923031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349233" y="3072384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349233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49233" y="337108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349233" y="3520439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49233" y="3669792"/>
            <a:ext cx="145237" cy="156667"/>
          </a:xfrm>
          <a:prstGeom prst="rect">
            <a:avLst/>
          </a:prstGeom>
          <a:solidFill>
            <a:srgbClr val="3CB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349233" y="3819143"/>
            <a:ext cx="145237" cy="156667"/>
          </a:xfrm>
          <a:prstGeom prst="rect">
            <a:avLst/>
          </a:prstGeom>
          <a:solidFill>
            <a:srgbClr val="5BB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349233" y="396849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349233" y="4117847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49233" y="4267199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49233" y="4416552"/>
            <a:ext cx="145237" cy="156667"/>
          </a:xfrm>
          <a:prstGeom prst="rect">
            <a:avLst/>
          </a:prstGeom>
          <a:solidFill>
            <a:srgbClr val="82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34923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49233" y="471525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487155" y="2176272"/>
            <a:ext cx="145237" cy="156667"/>
          </a:xfrm>
          <a:prstGeom prst="rect">
            <a:avLst/>
          </a:prstGeom>
          <a:solidFill>
            <a:srgbClr val="3158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87155" y="2325623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87155" y="247497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87155" y="2624328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87155" y="2773680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87155" y="2923031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87155" y="3072384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487155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487155" y="3371088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487155" y="3520439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487155" y="3669792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87155" y="3819143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487155" y="3968496"/>
            <a:ext cx="145237" cy="156667"/>
          </a:xfrm>
          <a:prstGeom prst="rect">
            <a:avLst/>
          </a:prstGeom>
          <a:solidFill>
            <a:srgbClr val="815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487155" y="4117847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487155" y="4267199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87155" y="4416552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8715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487155" y="4715256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625078" y="2176272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625078" y="2325623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625078" y="2474976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625078" y="2624328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25078" y="2773680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25078" y="2923031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25078" y="3072384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25078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25078" y="3371088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625078" y="3520439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25078" y="3669792"/>
            <a:ext cx="145237" cy="156667"/>
          </a:xfrm>
          <a:prstGeom prst="rect">
            <a:avLst/>
          </a:prstGeom>
          <a:solidFill>
            <a:srgbClr val="7260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8625078" y="3819143"/>
            <a:ext cx="145237" cy="156667"/>
          </a:xfrm>
          <a:prstGeom prst="rect">
            <a:avLst/>
          </a:prstGeom>
          <a:solidFill>
            <a:srgbClr val="7DC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625078" y="3968496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8625078" y="4117847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8625078" y="4267199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625078" y="4416552"/>
            <a:ext cx="145237" cy="156667"/>
          </a:xfrm>
          <a:prstGeom prst="rect">
            <a:avLst/>
          </a:prstGeom>
          <a:solidFill>
            <a:srgbClr val="536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62507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625078" y="471525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8762999" y="2176272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8762999" y="2325623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762999" y="247497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8762999" y="2624328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8762999" y="2773680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762999" y="2923031"/>
            <a:ext cx="145237" cy="156667"/>
          </a:xfrm>
          <a:prstGeom prst="rect">
            <a:avLst/>
          </a:prstGeom>
          <a:solidFill>
            <a:srgbClr val="604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762999" y="3072384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762999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762999" y="3371088"/>
            <a:ext cx="145237" cy="156667"/>
          </a:xfrm>
          <a:prstGeom prst="rect">
            <a:avLst/>
          </a:prstGeom>
          <a:solidFill>
            <a:srgbClr val="3791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762999" y="3520439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762999" y="3669792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762999" y="3819143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762999" y="396849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762999" y="4117847"/>
            <a:ext cx="145237" cy="156667"/>
          </a:xfrm>
          <a:prstGeom prst="rect">
            <a:avLst/>
          </a:prstGeom>
          <a:solidFill>
            <a:srgbClr val="6473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762999" y="4267199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762999" y="4416552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76299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762999" y="471525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900921" y="2176272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8900921" y="2325623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8900921" y="247497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8900921" y="262432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900921" y="2773680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8900921" y="2923031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900921" y="3072384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900921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900921" y="3371088"/>
            <a:ext cx="145237" cy="156667"/>
          </a:xfrm>
          <a:prstGeom prst="rect">
            <a:avLst/>
          </a:prstGeom>
          <a:solidFill>
            <a:srgbClr val="67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900921" y="3520439"/>
            <a:ext cx="145237" cy="156667"/>
          </a:xfrm>
          <a:prstGeom prst="rect">
            <a:avLst/>
          </a:prstGeom>
          <a:solidFill>
            <a:srgbClr val="5DC2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900921" y="3669792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900921" y="3819143"/>
            <a:ext cx="145237" cy="156667"/>
          </a:xfrm>
          <a:prstGeom prst="rect">
            <a:avLst/>
          </a:prstGeom>
          <a:solidFill>
            <a:srgbClr val="4AA5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900921" y="3968496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900921" y="4117847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8900921" y="4267199"/>
            <a:ext cx="145237" cy="156667"/>
          </a:xfrm>
          <a:prstGeom prst="rect">
            <a:avLst/>
          </a:prstGeom>
          <a:solidFill>
            <a:srgbClr val="825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8900921" y="4416552"/>
            <a:ext cx="145237" cy="156667"/>
          </a:xfrm>
          <a:prstGeom prst="rect">
            <a:avLst/>
          </a:prstGeom>
          <a:solidFill>
            <a:srgbClr val="789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90092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900921" y="471525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38843" y="217627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038843" y="2325623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038843" y="247497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9038843" y="2624328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9038843" y="2773680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9038843" y="2923031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9038843" y="3072384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9038843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9038843" y="3371088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038843" y="3520439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038843" y="3669792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38843" y="3819143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9038843" y="396849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9038843" y="4117847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38843" y="4267199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038843" y="4416552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03884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9038843" y="471525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9176766" y="217627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9176766" y="2325623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9176766" y="247497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9176766" y="2624328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9176766" y="2773680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9176766" y="2923031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9176766" y="3072384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9176766" y="3221736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9176766" y="3371088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9176766" y="3520439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176766" y="3669792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9176766" y="381914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176766" y="396849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9176766" y="4117847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76766" y="4267199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9176766" y="441655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917676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9176766" y="471525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314688" y="2176272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314688" y="2325623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9314688" y="2474976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9314688" y="2624328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9314688" y="2773680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9314688" y="2923031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314688" y="3072384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9314688" y="322173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314688" y="3371088"/>
            <a:ext cx="145237" cy="156667"/>
          </a:xfrm>
          <a:prstGeom prst="rect">
            <a:avLst/>
          </a:prstGeom>
          <a:solidFill>
            <a:srgbClr val="4BAE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9314688" y="3520439"/>
            <a:ext cx="145237" cy="156667"/>
          </a:xfrm>
          <a:prstGeom prst="rect">
            <a:avLst/>
          </a:prstGeom>
          <a:solidFill>
            <a:srgbClr val="4DC3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9314688" y="3669792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9314688" y="3819143"/>
            <a:ext cx="145237" cy="156667"/>
          </a:xfrm>
          <a:prstGeom prst="rect">
            <a:avLst/>
          </a:prstGeom>
          <a:solidFill>
            <a:srgbClr val="525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9314688" y="396849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9314688" y="4117847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314688" y="4267199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9314688" y="4416552"/>
            <a:ext cx="145237" cy="156667"/>
          </a:xfrm>
          <a:prstGeom prst="rect">
            <a:avLst/>
          </a:prstGeom>
          <a:solidFill>
            <a:srgbClr val="5BB0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314688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314688" y="4715256"/>
            <a:ext cx="145237" cy="156667"/>
          </a:xfrm>
          <a:prstGeom prst="rect">
            <a:avLst/>
          </a:prstGeom>
          <a:solidFill>
            <a:srgbClr val="6049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452609" y="2176272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52609" y="2325623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452609" y="247497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452609" y="2624328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452609" y="2773680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452609" y="2923031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452609" y="3072384"/>
            <a:ext cx="145237" cy="156667"/>
          </a:xfrm>
          <a:prstGeom prst="rect">
            <a:avLst/>
          </a:prstGeom>
          <a:solidFill>
            <a:srgbClr val="357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452609" y="322173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452609" y="3371088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452609" y="3520439"/>
            <a:ext cx="145237" cy="156667"/>
          </a:xfrm>
          <a:prstGeom prst="rect">
            <a:avLst/>
          </a:prstGeom>
          <a:solidFill>
            <a:srgbClr val="4893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52609" y="3669792"/>
            <a:ext cx="145237" cy="156667"/>
          </a:xfrm>
          <a:prstGeom prst="rect">
            <a:avLst/>
          </a:prstGeom>
          <a:solidFill>
            <a:srgbClr val="6AA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452609" y="3819143"/>
            <a:ext cx="145237" cy="156667"/>
          </a:xfrm>
          <a:prstGeom prst="rect">
            <a:avLst/>
          </a:prstGeom>
          <a:solidFill>
            <a:srgbClr val="389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452609" y="396849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452609" y="4117847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452609" y="4267199"/>
            <a:ext cx="145237" cy="156667"/>
          </a:xfrm>
          <a:prstGeom prst="rect">
            <a:avLst/>
          </a:prstGeom>
          <a:solidFill>
            <a:srgbClr val="4BB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452609" y="4416552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45260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452609" y="4715256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590531" y="2176272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590531" y="2325623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590531" y="247497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90531" y="2624328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90531" y="2773680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590531" y="2923031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590531" y="3072384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590531" y="3221736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590531" y="3371088"/>
            <a:ext cx="145237" cy="156667"/>
          </a:xfrm>
          <a:prstGeom prst="rect">
            <a:avLst/>
          </a:prstGeom>
          <a:solidFill>
            <a:srgbClr val="547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590531" y="3520439"/>
            <a:ext cx="145237" cy="156667"/>
          </a:xfrm>
          <a:prstGeom prst="rect">
            <a:avLst/>
          </a:prstGeom>
          <a:solidFill>
            <a:srgbClr val="4263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590531" y="3669792"/>
            <a:ext cx="145237" cy="156667"/>
          </a:xfrm>
          <a:prstGeom prst="rect">
            <a:avLst/>
          </a:prstGeom>
          <a:solidFill>
            <a:srgbClr val="305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590531" y="3819143"/>
            <a:ext cx="145237" cy="156667"/>
          </a:xfrm>
          <a:prstGeom prst="rect">
            <a:avLst/>
          </a:prstGeom>
          <a:solidFill>
            <a:srgbClr val="736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590531" y="396849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590531" y="4117847"/>
            <a:ext cx="145237" cy="156667"/>
          </a:xfrm>
          <a:prstGeom prst="rect">
            <a:avLst/>
          </a:prstGeom>
          <a:solidFill>
            <a:srgbClr val="4F47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590531" y="4267199"/>
            <a:ext cx="145237" cy="156667"/>
          </a:xfrm>
          <a:prstGeom prst="rect">
            <a:avLst/>
          </a:prstGeom>
          <a:solidFill>
            <a:srgbClr val="3DC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90531" y="4416552"/>
            <a:ext cx="145237" cy="156667"/>
          </a:xfrm>
          <a:prstGeom prst="rect">
            <a:avLst/>
          </a:prstGeom>
          <a:solidFill>
            <a:srgbClr val="804D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90531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590531" y="471525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28453" y="2176272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728453" y="2325623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728453" y="247497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728453" y="2624328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9728453" y="2773680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9728453" y="2923031"/>
            <a:ext cx="145237" cy="156667"/>
          </a:xfrm>
          <a:prstGeom prst="rect">
            <a:avLst/>
          </a:prstGeom>
          <a:solidFill>
            <a:srgbClr val="599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9728453" y="3072384"/>
            <a:ext cx="145237" cy="156667"/>
          </a:xfrm>
          <a:prstGeom prst="rect">
            <a:avLst/>
          </a:prstGeom>
          <a:solidFill>
            <a:srgbClr val="67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9728453" y="322173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9728453" y="3371088"/>
            <a:ext cx="145237" cy="156667"/>
          </a:xfrm>
          <a:prstGeom prst="rect">
            <a:avLst/>
          </a:prstGeom>
          <a:solidFill>
            <a:srgbClr val="2F4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9728453" y="3520439"/>
            <a:ext cx="145237" cy="156667"/>
          </a:xfrm>
          <a:prstGeom prst="rect">
            <a:avLst/>
          </a:prstGeom>
          <a:solidFill>
            <a:srgbClr val="3DC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9728453" y="3669792"/>
            <a:ext cx="145237" cy="156667"/>
          </a:xfrm>
          <a:prstGeom prst="rect">
            <a:avLst/>
          </a:prstGeom>
          <a:solidFill>
            <a:srgbClr val="4BB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9728453" y="3819143"/>
            <a:ext cx="145237" cy="156667"/>
          </a:xfrm>
          <a:prstGeom prst="rect">
            <a:avLst/>
          </a:prstGeom>
          <a:solidFill>
            <a:srgbClr val="5AA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9728453" y="3968496"/>
            <a:ext cx="145237" cy="156667"/>
          </a:xfrm>
          <a:prstGeom prst="rect">
            <a:avLst/>
          </a:prstGeom>
          <a:solidFill>
            <a:srgbClr val="689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9728453" y="4117847"/>
            <a:ext cx="145237" cy="156667"/>
          </a:xfrm>
          <a:prstGeom prst="rect">
            <a:avLst/>
          </a:prstGeom>
          <a:solidFill>
            <a:srgbClr val="768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9728453" y="4267199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9728453" y="4416552"/>
            <a:ext cx="145237" cy="156667"/>
          </a:xfrm>
          <a:prstGeom prst="rect">
            <a:avLst/>
          </a:prstGeom>
          <a:solidFill>
            <a:srgbClr val="3ECD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9728453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9728453" y="4715256"/>
            <a:ext cx="145237" cy="156667"/>
          </a:xfrm>
          <a:prstGeom prst="rect">
            <a:avLst/>
          </a:prstGeom>
          <a:solidFill>
            <a:srgbClr val="5BA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9866376" y="2176272"/>
            <a:ext cx="145237" cy="156667"/>
          </a:xfrm>
          <a:prstGeom prst="rect">
            <a:avLst/>
          </a:prstGeom>
          <a:solidFill>
            <a:srgbClr val="3DC1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866376" y="2325623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866376" y="2474976"/>
            <a:ext cx="145237" cy="156667"/>
          </a:xfrm>
          <a:prstGeom prst="rect">
            <a:avLst/>
          </a:prstGeom>
          <a:solidFill>
            <a:srgbClr val="457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866376" y="2624328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866376" y="2773680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866376" y="2923031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866376" y="3072384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866376" y="322173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866376" y="3371088"/>
            <a:ext cx="145237" cy="156667"/>
          </a:xfrm>
          <a:prstGeom prst="rect">
            <a:avLst/>
          </a:prstGeom>
          <a:solidFill>
            <a:srgbClr val="5EC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866376" y="3520439"/>
            <a:ext cx="145237" cy="156667"/>
          </a:xfrm>
          <a:prstGeom prst="rect">
            <a:avLst/>
          </a:prstGeom>
          <a:solidFill>
            <a:srgbClr val="389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866376" y="3669792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66376" y="3819143"/>
            <a:ext cx="145237" cy="156667"/>
          </a:xfrm>
          <a:prstGeom prst="rect">
            <a:avLst/>
          </a:prstGeom>
          <a:solidFill>
            <a:srgbClr val="404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6376" y="3968496"/>
            <a:ext cx="145237" cy="156667"/>
          </a:xfrm>
          <a:prstGeom prst="rect">
            <a:avLst/>
          </a:prstGeom>
          <a:solidFill>
            <a:srgbClr val="6FD0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866376" y="4117847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866376" y="4267199"/>
            <a:ext cx="145237" cy="156667"/>
          </a:xfrm>
          <a:prstGeom prst="rect">
            <a:avLst/>
          </a:prstGeom>
          <a:solidFill>
            <a:srgbClr val="778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866376" y="4416552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9866376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66376" y="4715256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004297" y="2176272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004297" y="2325623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004297" y="247497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004297" y="2624328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004297" y="2773680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004297" y="2923031"/>
            <a:ext cx="145237" cy="156667"/>
          </a:xfrm>
          <a:prstGeom prst="rect">
            <a:avLst/>
          </a:prstGeom>
          <a:solidFill>
            <a:srgbClr val="4AA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004297" y="3072384"/>
            <a:ext cx="145237" cy="156667"/>
          </a:xfrm>
          <a:prstGeom prst="rect">
            <a:avLst/>
          </a:prstGeom>
          <a:solidFill>
            <a:srgbClr val="447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004297" y="322173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004297" y="3371088"/>
            <a:ext cx="145237" cy="156667"/>
          </a:xfrm>
          <a:prstGeom prst="rect">
            <a:avLst/>
          </a:prstGeom>
          <a:solidFill>
            <a:srgbClr val="389A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004297" y="3520439"/>
            <a:ext cx="145237" cy="156667"/>
          </a:xfrm>
          <a:prstGeom prst="rect">
            <a:avLst/>
          </a:prstGeom>
          <a:solidFill>
            <a:srgbClr val="32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0004297" y="3669792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0004297" y="3819143"/>
            <a:ext cx="145237" cy="156667"/>
          </a:xfrm>
          <a:prstGeom prst="rect">
            <a:avLst/>
          </a:prstGeom>
          <a:solidFill>
            <a:srgbClr val="7BB1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0004297" y="3968496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0004297" y="4117847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0004297" y="4267199"/>
            <a:ext cx="145237" cy="156667"/>
          </a:xfrm>
          <a:prstGeom prst="rect">
            <a:avLst/>
          </a:prstGeom>
          <a:solidFill>
            <a:srgbClr val="69A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0004297" y="4416552"/>
            <a:ext cx="145237" cy="156667"/>
          </a:xfrm>
          <a:prstGeom prst="rect">
            <a:avLst/>
          </a:prstGeom>
          <a:solidFill>
            <a:srgbClr val="63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00429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0004297" y="4715256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142219" y="2176272"/>
            <a:ext cx="145237" cy="156667"/>
          </a:xfrm>
          <a:prstGeom prst="rect">
            <a:avLst/>
          </a:prstGeom>
          <a:solidFill>
            <a:srgbClr val="3F4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142219" y="2325623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0142219" y="2474976"/>
            <a:ext cx="145237" cy="156667"/>
          </a:xfrm>
          <a:prstGeom prst="rect">
            <a:avLst/>
          </a:prstGeom>
          <a:solidFill>
            <a:srgbClr val="7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0142219" y="2624328"/>
            <a:ext cx="145237" cy="156667"/>
          </a:xfrm>
          <a:prstGeom prst="rect">
            <a:avLst/>
          </a:prstGeom>
          <a:solidFill>
            <a:srgbClr val="39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0142219" y="2773680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0142219" y="2923031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0142219" y="3072384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42219" y="322173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142219" y="3371088"/>
            <a:ext cx="145237" cy="156667"/>
          </a:xfrm>
          <a:prstGeom prst="rect">
            <a:avLst/>
          </a:prstGeom>
          <a:solidFill>
            <a:srgbClr val="6891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142219" y="3520439"/>
            <a:ext cx="145237" cy="156667"/>
          </a:xfrm>
          <a:prstGeom prst="rect">
            <a:avLst/>
          </a:prstGeom>
          <a:solidFill>
            <a:srgbClr val="825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142219" y="3669792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142219" y="3819143"/>
            <a:ext cx="145237" cy="156667"/>
          </a:xfrm>
          <a:prstGeom prst="rect">
            <a:avLst/>
          </a:prstGeom>
          <a:solidFill>
            <a:srgbClr val="625B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142219" y="396849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142219" y="4117847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0142219" y="4267199"/>
            <a:ext cx="145237" cy="156667"/>
          </a:xfrm>
          <a:prstGeom prst="rect">
            <a:avLst/>
          </a:prstGeom>
          <a:solidFill>
            <a:srgbClr val="5CB6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0142219" y="4416552"/>
            <a:ext cx="145237" cy="156667"/>
          </a:xfrm>
          <a:prstGeom prst="rect">
            <a:avLst/>
          </a:prstGeom>
          <a:solidFill>
            <a:srgbClr val="768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014221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0142219" y="471525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0280142" y="2176272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280142" y="2325623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0280142" y="2474976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0280142" y="2624328"/>
            <a:ext cx="145237" cy="156667"/>
          </a:xfrm>
          <a:prstGeom prst="rect">
            <a:avLst/>
          </a:prstGeom>
          <a:solidFill>
            <a:srgbClr val="715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0280142" y="2773680"/>
            <a:ext cx="145237" cy="156667"/>
          </a:xfrm>
          <a:prstGeom prst="rect">
            <a:avLst/>
          </a:prstGeom>
          <a:solidFill>
            <a:srgbClr val="568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280142" y="2923031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280142" y="3072384"/>
            <a:ext cx="145237" cy="156667"/>
          </a:xfrm>
          <a:prstGeom prst="rect">
            <a:avLst/>
          </a:prstGeom>
          <a:solidFill>
            <a:srgbClr val="778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280142" y="322173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0280142" y="3371088"/>
            <a:ext cx="145237" cy="156667"/>
          </a:xfrm>
          <a:prstGeom prst="rect">
            <a:avLst/>
          </a:prstGeom>
          <a:solidFill>
            <a:srgbClr val="426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280142" y="3520439"/>
            <a:ext cx="145237" cy="156667"/>
          </a:xfrm>
          <a:prstGeom prst="rect">
            <a:avLst/>
          </a:prstGeom>
          <a:solidFill>
            <a:srgbClr val="7D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0280142" y="3669792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0280142" y="3819143"/>
            <a:ext cx="145237" cy="156667"/>
          </a:xfrm>
          <a:prstGeom prst="rect">
            <a:avLst/>
          </a:prstGeom>
          <a:solidFill>
            <a:srgbClr val="489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0280142" y="3968496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0280142" y="4117847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0280142" y="4267199"/>
            <a:ext cx="145237" cy="156667"/>
          </a:xfrm>
          <a:prstGeom prst="rect">
            <a:avLst/>
          </a:prstGeom>
          <a:solidFill>
            <a:srgbClr val="4ECC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0280142" y="4416552"/>
            <a:ext cx="145237" cy="156667"/>
          </a:xfrm>
          <a:prstGeom prst="rect">
            <a:avLst/>
          </a:prstGeom>
          <a:solidFill>
            <a:srgbClr val="347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028014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0280142" y="4715256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0418064" y="2176272"/>
            <a:ext cx="145237" cy="156667"/>
          </a:xfrm>
          <a:prstGeom prst="rect">
            <a:avLst/>
          </a:prstGeom>
          <a:solidFill>
            <a:srgbClr val="415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0418064" y="2325623"/>
            <a:ext cx="145237" cy="156667"/>
          </a:xfrm>
          <a:prstGeom prst="rect">
            <a:avLst/>
          </a:prstGeom>
          <a:solidFill>
            <a:srgbClr val="479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0418064" y="247497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418064" y="2624328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0418064" y="2773680"/>
            <a:ext cx="145237" cy="156667"/>
          </a:xfrm>
          <a:prstGeom prst="rect">
            <a:avLst/>
          </a:prstGeom>
          <a:solidFill>
            <a:srgbClr val="59A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0418064" y="2923031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0418064" y="3072384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0418064" y="3221736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0418064" y="3371088"/>
            <a:ext cx="145237" cy="156667"/>
          </a:xfrm>
          <a:prstGeom prst="rect">
            <a:avLst/>
          </a:prstGeom>
          <a:solidFill>
            <a:srgbClr val="7157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0418064" y="3520439"/>
            <a:ext cx="145237" cy="156667"/>
          </a:xfrm>
          <a:prstGeom prst="rect">
            <a:avLst/>
          </a:prstGeom>
          <a:solidFill>
            <a:srgbClr val="778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0418064" y="3669792"/>
            <a:ext cx="145237" cy="156667"/>
          </a:xfrm>
          <a:prstGeom prst="rect">
            <a:avLst/>
          </a:prstGeom>
          <a:solidFill>
            <a:srgbClr val="7DC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0418064" y="3819143"/>
            <a:ext cx="145237" cy="156667"/>
          </a:xfrm>
          <a:prstGeom prst="rect">
            <a:avLst/>
          </a:prstGeom>
          <a:solidFill>
            <a:srgbClr val="836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0418064" y="396849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0418064" y="4117847"/>
            <a:ext cx="145237" cy="156667"/>
          </a:xfrm>
          <a:prstGeom prst="rect">
            <a:avLst/>
          </a:prstGeom>
          <a:solidFill>
            <a:srgbClr val="3AAC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0418064" y="4267199"/>
            <a:ext cx="145237" cy="156667"/>
          </a:xfrm>
          <a:prstGeom prst="rect">
            <a:avLst/>
          </a:prstGeom>
          <a:solidFill>
            <a:srgbClr val="4051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0418064" y="4416552"/>
            <a:ext cx="145237" cy="156667"/>
          </a:xfrm>
          <a:prstGeom prst="rect">
            <a:avLst/>
          </a:prstGeom>
          <a:solidFill>
            <a:srgbClr val="4687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041806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418064" y="471525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0555985" y="2176272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10555985" y="232562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10555985" y="2474976"/>
            <a:ext cx="145237" cy="156667"/>
          </a:xfrm>
          <a:prstGeom prst="rect">
            <a:avLst/>
          </a:prstGeom>
          <a:solidFill>
            <a:srgbClr val="657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10555985" y="2624328"/>
            <a:ext cx="145237" cy="156667"/>
          </a:xfrm>
          <a:prstGeom prst="rect">
            <a:avLst/>
          </a:prstGeom>
          <a:solidFill>
            <a:srgbClr val="368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10555985" y="2773680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10555985" y="2923031"/>
            <a:ext cx="145237" cy="156667"/>
          </a:xfrm>
          <a:prstGeom prst="rect">
            <a:avLst/>
          </a:prstGeom>
          <a:solidFill>
            <a:srgbClr val="8362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10555985" y="3072384"/>
            <a:ext cx="145237" cy="156667"/>
          </a:xfrm>
          <a:prstGeom prst="rect">
            <a:avLst/>
          </a:prstGeom>
          <a:solidFill>
            <a:srgbClr val="5471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10555985" y="3221736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10555985" y="3371088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555985" y="3520439"/>
            <a:ext cx="145237" cy="156667"/>
          </a:xfrm>
          <a:prstGeom prst="rect">
            <a:avLst/>
          </a:prstGeom>
          <a:solidFill>
            <a:srgbClr val="725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10555985" y="3669792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10555985" y="3819143"/>
            <a:ext cx="145237" cy="156667"/>
          </a:xfrm>
          <a:prstGeom prst="rect">
            <a:avLst/>
          </a:prstGeom>
          <a:solidFill>
            <a:srgbClr val="6AA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555985" y="3968496"/>
            <a:ext cx="145237" cy="156667"/>
          </a:xfrm>
          <a:prstGeom prst="rect">
            <a:avLst/>
          </a:prstGeom>
          <a:solidFill>
            <a:srgbClr val="3BB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0555985" y="4117847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0555985" y="4267199"/>
            <a:ext cx="145237" cy="156667"/>
          </a:xfrm>
          <a:prstGeom prst="rect">
            <a:avLst/>
          </a:prstGeom>
          <a:solidFill>
            <a:srgbClr val="3367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555985" y="4416552"/>
            <a:ext cx="145237" cy="156667"/>
          </a:xfrm>
          <a:prstGeom prst="rect">
            <a:avLst/>
          </a:prstGeom>
          <a:solidFill>
            <a:srgbClr val="599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055598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0555985" y="4715256"/>
            <a:ext cx="145237" cy="156667"/>
          </a:xfrm>
          <a:prstGeom prst="rect">
            <a:avLst/>
          </a:prstGeom>
          <a:solidFill>
            <a:srgbClr val="51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0693907" y="2176272"/>
            <a:ext cx="145237" cy="156667"/>
          </a:xfrm>
          <a:prstGeom prst="rect">
            <a:avLst/>
          </a:prstGeom>
          <a:solidFill>
            <a:srgbClr val="44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0693907" y="2325623"/>
            <a:ext cx="145237" cy="156667"/>
          </a:xfrm>
          <a:prstGeom prst="rect">
            <a:avLst/>
          </a:prstGeom>
          <a:solidFill>
            <a:srgbClr val="357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693907" y="2474976"/>
            <a:ext cx="145237" cy="156667"/>
          </a:xfrm>
          <a:prstGeom prst="rect">
            <a:avLst/>
          </a:prstGeom>
          <a:solidFill>
            <a:srgbClr val="7C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0693907" y="2624328"/>
            <a:ext cx="145237" cy="156667"/>
          </a:xfrm>
          <a:prstGeom prst="rect">
            <a:avLst/>
          </a:prstGeom>
          <a:solidFill>
            <a:srgbClr val="6EC7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693907" y="2773680"/>
            <a:ext cx="145237" cy="156667"/>
          </a:xfrm>
          <a:prstGeom prst="rect">
            <a:avLst/>
          </a:prstGeom>
          <a:solidFill>
            <a:srgbClr val="5F4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0693907" y="2923031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0693907" y="3072384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0693907" y="3221736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0693907" y="3371088"/>
            <a:ext cx="145237" cy="156667"/>
          </a:xfrm>
          <a:prstGeom prst="rect">
            <a:avLst/>
          </a:prstGeom>
          <a:solidFill>
            <a:srgbClr val="7BAE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693907" y="3520439"/>
            <a:ext cx="145237" cy="156667"/>
          </a:xfrm>
          <a:prstGeom prst="rect">
            <a:avLst/>
          </a:prstGeom>
          <a:solidFill>
            <a:srgbClr val="6D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0693907" y="3669792"/>
            <a:ext cx="145237" cy="156667"/>
          </a:xfrm>
          <a:prstGeom prst="rect">
            <a:avLst/>
          </a:prstGeom>
          <a:solidFill>
            <a:srgbClr val="5EC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0693907" y="3819143"/>
            <a:ext cx="145237" cy="156667"/>
          </a:xfrm>
          <a:prstGeom prst="rect">
            <a:avLst/>
          </a:prstGeom>
          <a:solidFill>
            <a:srgbClr val="504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0693907" y="3968496"/>
            <a:ext cx="145237" cy="156667"/>
          </a:xfrm>
          <a:prstGeom prst="rect">
            <a:avLst/>
          </a:prstGeom>
          <a:solidFill>
            <a:srgbClr val="425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0693907" y="4117847"/>
            <a:ext cx="145237" cy="156667"/>
          </a:xfrm>
          <a:prstGeom prst="rect">
            <a:avLst/>
          </a:prstGeom>
          <a:solidFill>
            <a:srgbClr val="336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0693907" y="4267199"/>
            <a:ext cx="145237" cy="156667"/>
          </a:xfrm>
          <a:prstGeom prst="rect">
            <a:avLst/>
          </a:prstGeom>
          <a:solidFill>
            <a:srgbClr val="7AA5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0693907" y="4416552"/>
            <a:ext cx="145237" cy="156667"/>
          </a:xfrm>
          <a:prstGeom prst="rect">
            <a:avLst/>
          </a:prstGeom>
          <a:solidFill>
            <a:srgbClr val="6CB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69390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693907" y="471525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831829" y="2176272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831829" y="2325623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831829" y="2474976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831829" y="2624328"/>
            <a:ext cx="145237" cy="156667"/>
          </a:xfrm>
          <a:prstGeom prst="rect">
            <a:avLst/>
          </a:prstGeom>
          <a:solidFill>
            <a:srgbClr val="5050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831829" y="2773680"/>
            <a:ext cx="145237" cy="156667"/>
          </a:xfrm>
          <a:prstGeom prst="rect">
            <a:avLst/>
          </a:prstGeom>
          <a:solidFill>
            <a:srgbClr val="626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831829" y="2923031"/>
            <a:ext cx="145237" cy="156667"/>
          </a:xfrm>
          <a:prstGeom prst="rect">
            <a:avLst/>
          </a:prstGeom>
          <a:solidFill>
            <a:srgbClr val="7472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831829" y="3072384"/>
            <a:ext cx="145237" cy="156667"/>
          </a:xfrm>
          <a:prstGeom prst="rect">
            <a:avLst/>
          </a:prstGeom>
          <a:solidFill>
            <a:srgbClr val="315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831829" y="3221736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831829" y="3371088"/>
            <a:ext cx="145237" cy="156667"/>
          </a:xfrm>
          <a:prstGeom prst="rect">
            <a:avLst/>
          </a:prstGeom>
          <a:solidFill>
            <a:srgbClr val="557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831829" y="3520439"/>
            <a:ext cx="145237" cy="156667"/>
          </a:xfrm>
          <a:prstGeom prst="rect">
            <a:avLst/>
          </a:prstGeom>
          <a:solidFill>
            <a:srgbClr val="678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31829" y="3669792"/>
            <a:ext cx="145237" cy="156667"/>
          </a:xfrm>
          <a:prstGeom prst="rect">
            <a:avLst/>
          </a:prstGeom>
          <a:solidFill>
            <a:srgbClr val="799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31829" y="3819143"/>
            <a:ext cx="145237" cy="156667"/>
          </a:xfrm>
          <a:prstGeom prst="rect">
            <a:avLst/>
          </a:prstGeom>
          <a:solidFill>
            <a:srgbClr val="3688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831829" y="396849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0831829" y="4117847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0831829" y="4267199"/>
            <a:ext cx="145237" cy="156667"/>
          </a:xfrm>
          <a:prstGeom prst="rect">
            <a:avLst/>
          </a:prstGeom>
          <a:solidFill>
            <a:srgbClr val="6CB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0831829" y="4416552"/>
            <a:ext cx="145237" cy="156667"/>
          </a:xfrm>
          <a:prstGeom prst="rect">
            <a:avLst/>
          </a:prstGeom>
          <a:solidFill>
            <a:srgbClr val="7ECC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831829" y="4565904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0831829" y="4715256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0969752" y="2176272"/>
            <a:ext cx="145237" cy="156667"/>
          </a:xfrm>
          <a:prstGeom prst="rect">
            <a:avLst/>
          </a:prstGeom>
          <a:solidFill>
            <a:srgbClr val="468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0969752" y="2325623"/>
            <a:ext cx="145237" cy="156667"/>
          </a:xfrm>
          <a:prstGeom prst="rect">
            <a:avLst/>
          </a:prstGeom>
          <a:solidFill>
            <a:srgbClr val="789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0969752" y="247497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0969752" y="2624328"/>
            <a:ext cx="145237" cy="156667"/>
          </a:xfrm>
          <a:prstGeom prst="rect">
            <a:avLst/>
          </a:prstGeom>
          <a:solidFill>
            <a:srgbClr val="336A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0969752" y="2773680"/>
            <a:ext cx="145237" cy="156667"/>
          </a:xfrm>
          <a:prstGeom prst="rect">
            <a:avLst/>
          </a:prstGeom>
          <a:solidFill>
            <a:srgbClr val="657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0969752" y="2923031"/>
            <a:ext cx="145237" cy="156667"/>
          </a:xfrm>
          <a:prstGeom prst="rect">
            <a:avLst/>
          </a:prstGeom>
          <a:solidFill>
            <a:srgbClr val="436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0969752" y="3072384"/>
            <a:ext cx="145237" cy="156667"/>
          </a:xfrm>
          <a:prstGeom prst="rect">
            <a:avLst/>
          </a:prstGeom>
          <a:solidFill>
            <a:srgbClr val="757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0969752" y="3221736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0969752" y="3371088"/>
            <a:ext cx="145237" cy="156667"/>
          </a:xfrm>
          <a:prstGeom prst="rect">
            <a:avLst/>
          </a:prstGeom>
          <a:solidFill>
            <a:srgbClr val="30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0969752" y="3520439"/>
            <a:ext cx="145237" cy="156667"/>
          </a:xfrm>
          <a:prstGeom prst="rect">
            <a:avLst/>
          </a:prstGeom>
          <a:solidFill>
            <a:srgbClr val="625E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10969752" y="3669792"/>
            <a:ext cx="145237" cy="156667"/>
          </a:xfrm>
          <a:prstGeom prst="rect">
            <a:avLst/>
          </a:prstGeom>
          <a:solidFill>
            <a:srgbClr val="3F48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10969752" y="3819143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10969752" y="3968496"/>
            <a:ext cx="145237" cy="156667"/>
          </a:xfrm>
          <a:prstGeom prst="rect">
            <a:avLst/>
          </a:prstGeom>
          <a:solidFill>
            <a:srgbClr val="4F4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10969752" y="4117847"/>
            <a:ext cx="145237" cy="156667"/>
          </a:xfrm>
          <a:prstGeom prst="rect">
            <a:avLst/>
          </a:prstGeom>
          <a:solidFill>
            <a:srgbClr val="815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10969752" y="4267199"/>
            <a:ext cx="145237" cy="156667"/>
          </a:xfrm>
          <a:prstGeom prst="rect">
            <a:avLst/>
          </a:prstGeom>
          <a:solidFill>
            <a:srgbClr val="5FD1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10969752" y="4416552"/>
            <a:ext cx="145237" cy="156667"/>
          </a:xfrm>
          <a:prstGeom prst="rect">
            <a:avLst/>
          </a:prstGeom>
          <a:solidFill>
            <a:srgbClr val="3CB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0969752" y="4565904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10969752" y="4715256"/>
            <a:ext cx="145237" cy="156667"/>
          </a:xfrm>
          <a:prstGeom prst="rect">
            <a:avLst/>
          </a:prstGeom>
          <a:solidFill>
            <a:srgbClr val="4CB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11107674" y="2176272"/>
            <a:ext cx="145237" cy="156667"/>
          </a:xfrm>
          <a:prstGeom prst="rect">
            <a:avLst/>
          </a:prstGeom>
          <a:solidFill>
            <a:srgbClr val="725A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11107674" y="2325623"/>
            <a:ext cx="145237" cy="156667"/>
          </a:xfrm>
          <a:prstGeom prst="rect">
            <a:avLst/>
          </a:prstGeom>
          <a:solidFill>
            <a:srgbClr val="6F45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11107674" y="2474976"/>
            <a:ext cx="145237" cy="156667"/>
          </a:xfrm>
          <a:prstGeom prst="rect">
            <a:avLst/>
          </a:prstGeom>
          <a:solidFill>
            <a:srgbClr val="6DC1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11107674" y="2624328"/>
            <a:ext cx="145237" cy="156667"/>
          </a:xfrm>
          <a:prstGeom prst="rect">
            <a:avLst/>
          </a:prstGeom>
          <a:solidFill>
            <a:srgbClr val="6BA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11107674" y="2773680"/>
            <a:ext cx="145237" cy="156667"/>
          </a:xfrm>
          <a:prstGeom prst="rect">
            <a:avLst/>
          </a:prstGeom>
          <a:solidFill>
            <a:srgbClr val="689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11107674" y="2923031"/>
            <a:ext cx="145237" cy="156667"/>
          </a:xfrm>
          <a:prstGeom prst="rect">
            <a:avLst/>
          </a:prstGeom>
          <a:solidFill>
            <a:srgbClr val="668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11107674" y="3072384"/>
            <a:ext cx="145237" cy="156667"/>
          </a:xfrm>
          <a:prstGeom prst="rect">
            <a:avLst/>
          </a:prstGeom>
          <a:solidFill>
            <a:srgbClr val="646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11107674" y="3221736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11107674" y="3371088"/>
            <a:ext cx="145237" cy="156667"/>
          </a:xfrm>
          <a:prstGeom prst="rect">
            <a:avLst/>
          </a:prstGeom>
          <a:solidFill>
            <a:srgbClr val="5F4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11107674" y="3520439"/>
            <a:ext cx="145237" cy="156667"/>
          </a:xfrm>
          <a:prstGeom prst="rect">
            <a:avLst/>
          </a:prstGeom>
          <a:solidFill>
            <a:srgbClr val="5DB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11107674" y="3669792"/>
            <a:ext cx="145237" cy="156667"/>
          </a:xfrm>
          <a:prstGeom prst="rect">
            <a:avLst/>
          </a:prstGeom>
          <a:solidFill>
            <a:srgbClr val="5AAA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11107674" y="3819143"/>
            <a:ext cx="145237" cy="156667"/>
          </a:xfrm>
          <a:prstGeom prst="rect">
            <a:avLst/>
          </a:prstGeom>
          <a:solidFill>
            <a:srgbClr val="5895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11107674" y="3968496"/>
            <a:ext cx="145237" cy="156667"/>
          </a:xfrm>
          <a:prstGeom prst="rect">
            <a:avLst/>
          </a:prstGeom>
          <a:solidFill>
            <a:srgbClr val="568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11107674" y="4117847"/>
            <a:ext cx="145237" cy="156667"/>
          </a:xfrm>
          <a:prstGeom prst="rect">
            <a:avLst/>
          </a:prstGeom>
          <a:solidFill>
            <a:srgbClr val="536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1107674" y="4267199"/>
            <a:ext cx="145237" cy="156667"/>
          </a:xfrm>
          <a:prstGeom prst="rect">
            <a:avLst/>
          </a:prstGeom>
          <a:solidFill>
            <a:srgbClr val="5156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107674" y="4416552"/>
            <a:ext cx="145237" cy="156667"/>
          </a:xfrm>
          <a:prstGeom prst="rect">
            <a:avLst/>
          </a:prstGeom>
          <a:solidFill>
            <a:srgbClr val="4FD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1107674" y="4565904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1107674" y="4715256"/>
            <a:ext cx="145237" cy="156667"/>
          </a:xfrm>
          <a:prstGeom prst="rect">
            <a:avLst/>
          </a:prstGeom>
          <a:solidFill>
            <a:srgbClr val="4A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1245595" y="2176272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1245595" y="2325623"/>
            <a:ext cx="145237" cy="156667"/>
          </a:xfrm>
          <a:prstGeom prst="rect">
            <a:avLst/>
          </a:prstGeom>
          <a:solidFill>
            <a:srgbClr val="6685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11245595" y="2474976"/>
            <a:ext cx="145237" cy="156667"/>
          </a:xfrm>
          <a:prstGeom prst="rect">
            <a:avLst/>
          </a:prstGeom>
          <a:solidFill>
            <a:srgbClr val="2F4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11245595" y="2624328"/>
            <a:ext cx="145237" cy="156667"/>
          </a:xfrm>
          <a:prstGeom prst="rect">
            <a:avLst/>
          </a:prstGeom>
          <a:solidFill>
            <a:srgbClr val="4DC6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1245595" y="2773680"/>
            <a:ext cx="145237" cy="156667"/>
          </a:xfrm>
          <a:prstGeom prst="rect">
            <a:avLst/>
          </a:prstGeom>
          <a:solidFill>
            <a:srgbClr val="6BB2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11245595" y="2923031"/>
            <a:ext cx="145237" cy="156667"/>
          </a:xfrm>
          <a:prstGeom prst="rect">
            <a:avLst/>
          </a:prstGeom>
          <a:solidFill>
            <a:srgbClr val="347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11245595" y="3072384"/>
            <a:ext cx="145237" cy="156667"/>
          </a:xfrm>
          <a:prstGeom prst="rect">
            <a:avLst/>
          </a:prstGeom>
          <a:solidFill>
            <a:srgbClr val="526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11245595" y="3221736"/>
            <a:ext cx="145237" cy="156667"/>
          </a:xfrm>
          <a:prstGeom prst="rect">
            <a:avLst/>
          </a:prstGeom>
          <a:solidFill>
            <a:srgbClr val="704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11245595" y="3371088"/>
            <a:ext cx="145237" cy="156667"/>
          </a:xfrm>
          <a:prstGeom prst="rect">
            <a:avLst/>
          </a:prstGeom>
          <a:solidFill>
            <a:srgbClr val="39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11245595" y="3520439"/>
            <a:ext cx="145237" cy="156667"/>
          </a:xfrm>
          <a:prstGeom prst="rect">
            <a:avLst/>
          </a:prstGeom>
          <a:solidFill>
            <a:srgbClr val="578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11245595" y="3669792"/>
            <a:ext cx="145237" cy="156667"/>
          </a:xfrm>
          <a:prstGeom prst="rect">
            <a:avLst/>
          </a:prstGeom>
          <a:solidFill>
            <a:srgbClr val="75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11245595" y="3819143"/>
            <a:ext cx="145237" cy="156667"/>
          </a:xfrm>
          <a:prstGeom prst="rect">
            <a:avLst/>
          </a:prstGeom>
          <a:solidFill>
            <a:srgbClr val="3ED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11245595" y="3968496"/>
            <a:ext cx="145237" cy="156667"/>
          </a:xfrm>
          <a:prstGeom prst="rect">
            <a:avLst/>
          </a:prstGeom>
          <a:solidFill>
            <a:srgbClr val="5CB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1245595" y="4117847"/>
            <a:ext cx="145237" cy="156667"/>
          </a:xfrm>
          <a:prstGeom prst="rect">
            <a:avLst/>
          </a:prstGeom>
          <a:solidFill>
            <a:srgbClr val="7AA8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11245595" y="4267199"/>
            <a:ext cx="145237" cy="156667"/>
          </a:xfrm>
          <a:prstGeom prst="rect">
            <a:avLst/>
          </a:prstGeom>
          <a:solidFill>
            <a:srgbClr val="436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11245595" y="4416552"/>
            <a:ext cx="145237" cy="156667"/>
          </a:xfrm>
          <a:prstGeom prst="rect">
            <a:avLst/>
          </a:prstGeom>
          <a:solidFill>
            <a:srgbClr val="615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11245595" y="4565904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11245595" y="4715256"/>
            <a:ext cx="145237" cy="156667"/>
          </a:xfrm>
          <a:prstGeom prst="rect">
            <a:avLst/>
          </a:prstGeom>
          <a:solidFill>
            <a:srgbClr val="489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11383517" y="217627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11383517" y="2325623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11383517" y="247497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11383517" y="2624328"/>
            <a:ext cx="145237" cy="156667"/>
          </a:xfrm>
          <a:prstGeom prst="rect">
            <a:avLst/>
          </a:prstGeom>
          <a:solidFill>
            <a:srgbClr val="304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11383517" y="2773680"/>
            <a:ext cx="145237" cy="156667"/>
          </a:xfrm>
          <a:prstGeom prst="rect">
            <a:avLst/>
          </a:prstGeom>
          <a:solidFill>
            <a:srgbClr val="6ECD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11383517" y="2923031"/>
            <a:ext cx="145237" cy="156667"/>
          </a:xfrm>
          <a:prstGeom prst="rect">
            <a:avLst/>
          </a:prstGeom>
          <a:solidFill>
            <a:srgbClr val="589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11383517" y="3072384"/>
            <a:ext cx="145237" cy="156667"/>
          </a:xfrm>
          <a:prstGeom prst="rect">
            <a:avLst/>
          </a:prstGeom>
          <a:solidFill>
            <a:srgbClr val="415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11383517" y="3221736"/>
            <a:ext cx="145237" cy="156667"/>
          </a:xfrm>
          <a:prstGeom prst="rect">
            <a:avLst/>
          </a:prstGeom>
          <a:solidFill>
            <a:srgbClr val="7F4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11383517" y="3371088"/>
            <a:ext cx="145237" cy="156667"/>
          </a:xfrm>
          <a:prstGeom prst="rect">
            <a:avLst/>
          </a:prstGeom>
          <a:solidFill>
            <a:srgbClr val="699A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11383517" y="3520439"/>
            <a:ext cx="145237" cy="156667"/>
          </a:xfrm>
          <a:prstGeom prst="rect">
            <a:avLst/>
          </a:prstGeom>
          <a:solidFill>
            <a:srgbClr val="525F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11383517" y="3669792"/>
            <a:ext cx="145237" cy="156667"/>
          </a:xfrm>
          <a:prstGeom prst="rect">
            <a:avLst/>
          </a:prstGeom>
          <a:solidFill>
            <a:srgbClr val="3BB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11383517" y="3819143"/>
            <a:ext cx="145237" cy="156667"/>
          </a:xfrm>
          <a:prstGeom prst="rect">
            <a:avLst/>
          </a:prstGeom>
          <a:solidFill>
            <a:srgbClr val="7AA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11383517" y="3968496"/>
            <a:ext cx="145237" cy="156667"/>
          </a:xfrm>
          <a:prstGeom prst="rect">
            <a:avLst/>
          </a:prstGeom>
          <a:solidFill>
            <a:srgbClr val="63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11383517" y="4117847"/>
            <a:ext cx="145237" cy="156667"/>
          </a:xfrm>
          <a:prstGeom prst="rect">
            <a:avLst/>
          </a:prstGeom>
          <a:solidFill>
            <a:srgbClr val="4CB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11383517" y="4267199"/>
            <a:ext cx="145237" cy="156667"/>
          </a:xfrm>
          <a:prstGeom prst="rect">
            <a:avLst/>
          </a:prstGeom>
          <a:solidFill>
            <a:srgbClr val="3682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11383517" y="4416552"/>
            <a:ext cx="145237" cy="156667"/>
          </a:xfrm>
          <a:prstGeom prst="rect">
            <a:avLst/>
          </a:prstGeom>
          <a:solidFill>
            <a:srgbClr val="746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11383517" y="4565904"/>
            <a:ext cx="145237" cy="156667"/>
          </a:xfrm>
          <a:prstGeom prst="rect">
            <a:avLst/>
          </a:prstGeom>
          <a:solidFill>
            <a:srgbClr val="5DC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11383517" y="4715256"/>
            <a:ext cx="145237" cy="156667"/>
          </a:xfrm>
          <a:prstGeom prst="rect">
            <a:avLst/>
          </a:prstGeom>
          <a:solidFill>
            <a:srgbClr val="478A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extBox 488"/>
          <p:cNvSpPr txBox="1"/>
          <p:nvPr/>
        </p:nvSpPr>
        <p:spPr>
          <a:xfrm>
            <a:off x="8211311" y="4983480"/>
            <a:ext cx="331012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100" b="1">
                <a:solidFill>
                  <a:srgbClr val="6251B1"/>
                </a:solidFill>
                <a:latin typeface="Alibaba PuHuiTi 3.0 115 Black"/>
              </a:defRPr>
            </a:pPr>
            <a:r>
              <a:t>C：复杂变化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如果只允许无损压缩，哪张图最容易用更短的规则完整表示？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947672"/>
            <a:ext cx="5047488" cy="27614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47672"/>
            <a:ext cx="5047488" cy="2761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104" y="4892040"/>
            <a:ext cx="49834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同源原图（无损保存示意）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1656" y="4892040"/>
            <a:ext cx="495604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同一图像：低质量JPEG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两图尺寸相同；右图仅用于观察明显压缩伪影，不代表所有JPEG质量。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pic>
        <p:nvPicPr>
          <p:cNvPr id="5" name="codex-p65-">
            <a:extLst>
              <a:ext uri="{FF2B5EF4-FFF2-40B4-BE49-F238E27FC236}">
                <a16:creationId xmlns:a16="http://schemas.microsoft.com/office/drawing/2014/main" id="{8B9D4CA2-069A-43FE-8817-CCF44F485B07}"/>
              </a:ext>
            </a:extLst>
          </p:cNvPr>
          <p:cNvPicPr>
            <a:picLocks noChangeAspect="1"/>
          </p:cNvPicPr>
          <p:nvPr/>
        </p:nvPicPr>
        <p:blipFill>
          <a:blip r:embed="rIdCodex3"/>
          <a:stretch/>
        </p:blipFill>
        <p:spPr>
          <a:xfrm>
            <a:off x="1619250" y="2857500"/>
            <a:ext cx="1762125" cy="1762125"/>
          </a:xfrm>
          <a:prstGeom prst="rect">
            <a:avLst/>
          </a:prstGeom>
        </p:spPr>
      </p:pic>
      <p:pic>
        <p:nvPicPr>
          <p:cNvPr id="6" name="codex-p65-">
            <a:extLst>
              <a:ext uri="{FF2B5EF4-FFF2-40B4-BE49-F238E27FC236}">
                <a16:creationId xmlns:a16="http://schemas.microsoft.com/office/drawing/2014/main" id="{07A75AB5-F61A-4D35-A66C-419470C02FC8}"/>
              </a:ext>
            </a:extLst>
          </p:cNvPr>
          <p:cNvPicPr>
            <a:picLocks noChangeAspect="1"/>
          </p:cNvPicPr>
          <p:nvPr/>
        </p:nvPicPr>
        <p:blipFill>
          <a:blip r:embed="rIdCodex4"/>
          <a:stretch/>
        </p:blipFill>
        <p:spPr>
          <a:xfrm>
            <a:off x="7734300" y="2857500"/>
            <a:ext cx="1762125" cy="1762125"/>
          </a:xfrm>
          <a:prstGeom prst="rect">
            <a:avLst/>
          </a:prstGeom>
        </p:spPr>
      </p:pic>
      <p:sp>
        <p:nvSpPr>
          <p:cNvPr id="7" name="codex-p65-image-caption">
            <a:extLst>
              <a:ext uri="{FF2B5EF4-FFF2-40B4-BE49-F238E27FC236}">
                <a16:creationId xmlns:a16="http://schemas.microsoft.com/office/drawing/2014/main" id="{5F908C97-9DDD-47B4-A4D4-09A559D3CE05}"/>
              </a:ext>
            </a:extLst>
          </p:cNvPr>
          <p:cNvSpPr>
            <a:spLocks noGrp="1"/>
          </p:cNvSpPr>
          <p:nvPr/>
        </p:nvSpPr>
        <p:spPr>
          <a:xfrm>
            <a:off x="609600" y="1800225"/>
            <a:ext cx="5257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重要文档长期备份</a:t>
            </a:r>
          </a:p>
        </p:txBody>
      </p:sp>
      <p:sp>
        <p:nvSpPr>
          <p:cNvPr id="8" name="codex-p65-image-caption">
            <a:extLst>
              <a:ext uri="{FF2B5EF4-FFF2-40B4-BE49-F238E27FC236}">
                <a16:creationId xmlns:a16="http://schemas.microsoft.com/office/drawing/2014/main" id="{4188994E-AAE2-4BD0-A530-5395CA25345A}"/>
              </a:ext>
            </a:extLst>
          </p:cNvPr>
          <p:cNvSpPr>
            <a:spLocks noGrp="1"/>
          </p:cNvSpPr>
          <p:nvPr/>
        </p:nvSpPr>
        <p:spPr>
          <a:xfrm>
            <a:off x="6724650" y="1800225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defPPr>
          </a:lstStyle>
          <a:p>
            <a:pPr>
              <a:def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 b="1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实时视频通话</a:t>
            </a:r>
          </a:p>
        </p:txBody>
      </p:sp>
      <p:sp>
        <p:nvSpPr>
          <p:cNvPr id="9" name="codex-p65-image-caption">
            <a:extLst>
              <a:ext uri="{FF2B5EF4-FFF2-40B4-BE49-F238E27FC236}">
                <a16:creationId xmlns:a16="http://schemas.microsoft.com/office/drawing/2014/main" id="{FA028DED-0212-478C-97AE-3025BDD51F38}"/>
              </a:ext>
            </a:extLst>
          </p:cNvPr>
          <p:cNvSpPr>
            <a:spLocks noGrp="1"/>
          </p:cNvSpPr>
          <p:nvPr/>
        </p:nvSpPr>
        <p:spPr>
          <a:xfrm>
            <a:off x="609600" y="4924425"/>
            <a:ext cx="52578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优先完整恢复、可靠保存</a:t>
            </a:r>
          </a:p>
        </p:txBody>
      </p:sp>
      <p:sp>
        <p:nvSpPr>
          <p:cNvPr id="10" name="codex-p65-image-caption">
            <a:extLst>
              <a:ext uri="{FF2B5EF4-FFF2-40B4-BE49-F238E27FC236}">
                <a16:creationId xmlns:a16="http://schemas.microsoft.com/office/drawing/2014/main" id="{75615DA0-A3D5-40E7-8421-4E653804E4D3}"/>
              </a:ext>
            </a:extLst>
          </p:cNvPr>
          <p:cNvSpPr>
            <a:spLocks noGrp="1"/>
          </p:cNvSpPr>
          <p:nvPr/>
        </p:nvSpPr>
        <p:spPr>
          <a:xfrm>
            <a:off x="6724650" y="4924425"/>
            <a:ext cx="48577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兼顾质量、延迟与传输量</a:t>
            </a:r>
          </a:p>
        </p:txBody>
      </p:sp>
      <p:sp>
        <p:nvSpPr>
          <p:cNvPr id="11" name="codex-p65-image-caption">
            <a:extLst>
              <a:ext uri="{FF2B5EF4-FFF2-40B4-BE49-F238E27FC236}">
                <a16:creationId xmlns:a16="http://schemas.microsoft.com/office/drawing/2014/main" id="{AD9B1266-F1DD-499F-877B-862A19EDD566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defPPr>
          </a:lstStyle>
          <a:p>
            <a:pPr>
              <a:def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选择依据是任务要求，文件大小只是其中一个条件。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8C64E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 · 视觉迭代v8.3.1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
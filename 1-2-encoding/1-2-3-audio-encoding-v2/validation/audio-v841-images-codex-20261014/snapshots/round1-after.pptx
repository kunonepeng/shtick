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CodexSlide1"/>
    <p:sldId id="257" r:id="rIdCodexSlide2"/>
    <p:sldId id="258" r:id="rIdCodexSlide3"/>
    <p:sldId id="259" r:id="rIdCodexSlide4"/>
    <p:sldId id="260" r:id="rIdCodexSlide5"/>
    <p:sldId id="261" r:id="rIdCodexSlide6"/>
    <p:sldId id="262" r:id="rIdCodexSlide7"/>
    <p:sldId id="263" r:id="rIdCodexSlide8"/>
    <p:sldId id="264" r:id="rIdCodexSlide9"/>
    <p:sldId id="265" r:id="rIdCodexSlide10"/>
    <p:sldId id="266" r:id="rIdCodexSlide11"/>
    <p:sldId id="267" r:id="rIdCodexSlide12"/>
    <p:sldId id="268" r:id="rIdCodexSlide13"/>
    <p:sldId id="269" r:id="rIdCodexSlide14"/>
    <p:sldId id="270" r:id="rIdCodexSlide15"/>
    <p:sldId id="271" r:id="rIdCodexSlide16"/>
    <p:sldId id="272" r:id="rIdCodexSlide17"/>
    <p:sldId id="273" r:id="rIdCodexSlide18"/>
    <p:sldId id="274" r:id="rIdCodexSlide19"/>
    <p:sldId id="275" r:id="rIdCodexSlide20"/>
    <p:sldId id="276" r:id="rIdCodexSlide21"/>
    <p:sldId id="277" r:id="rIdCodexSlide22"/>
    <p:sldId id="278" r:id="rIdCodexSlide23"/>
    <p:sldId id="279" r:id="rIdCodexSlide24"/>
    <p:sldId id="280" r:id="rIdCodexSlide25"/>
    <p:sldId id="281" r:id="rIdCodexSlide26"/>
    <p:sldId id="282" r:id="rIdCodexSlide27"/>
    <p:sldId id="283" r:id="rIdCodexSlide28"/>
    <p:sldId id="284" r:id="rIdCodexSlide29"/>
    <p:sldId id="285" r:id="rIdCodexSlide30"/>
    <p:sldId id="286" r:id="rIdCodexSlide31"/>
    <p:sldId id="287" r:id="rIdCodexSlide32"/>
    <p:sldId id="288" r:id="rIdCodexSlide33"/>
    <p:sldId id="289" r:id="rIdCodexSlide34"/>
    <p:sldId id="290" r:id="rIdCodexSlide35"/>
    <p:sldId id="291" r:id="rIdCodexSlide36"/>
    <p:sldId id="292" r:id="rIdCodexSlide37"/>
    <p:sldId id="293" r:id="rIdCodexSlide38"/>
    <p:sldId id="294" r:id="rIdCodexSlide39"/>
    <p:sldId id="295" r:id="rIdCodexSlide40"/>
    <p:sldId id="296" r:id="rIdCodexSlide41"/>
    <p:sldId id="297" r:id="rIdCodexSlide42"/>
    <p:sldId id="298" r:id="rIdCodexSlide43"/>
    <p:sldId id="299" r:id="rIdCodexSlide44"/>
    <p:sldId id="300" r:id="rIdCodexSlide45"/>
    <p:sldId id="301" r:id="rIdCodexSlide46"/>
    <p:sldId id="302" r:id="rIdCodexSlide47"/>
    <p:sldId id="303" r:id="rIdCodexSlide48"/>
    <p:sldId id="304" r:id="rIdCodexSlide49"/>
    <p:sldId id="305" r:id="rIdCodexSlide50"/>
    <p:sldId id="306" r:id="rIdCodexSlide51"/>
    <p:sldId id="307" r:id="rIdCodexSlide52"/>
    <p:sldId id="308" r:id="rIdCodexSlide53"/>
    <p:sldId id="309" r:id="rIdCodexSlide54"/>
    <p:sldId id="310" r:id="rIdCodexSlide55"/>
    <p:sldId id="311" r:id="rIdCodexSlide56"/>
    <p:sldId id="312" r:id="rIdCodexSlide57"/>
    <p:sldId id="313" r:id="rIdCodexSlide58"/>
    <p:sldId id="314" r:id="rIdCodexSlide59"/>
    <p:sldId id="315" r:id="rIdCodexSlide60"/>
    <p:sldId id="316" r:id="rIdCodexSlide61"/>
    <p:sldId id="317" r:id="rIdCodexSlide62"/>
    <p:sldId id="318" r:id="rIdCodexSlide63"/>
    <p:sldId id="319" r:id="rIdCodexSlide64"/>
    <p:sldId id="320" r:id="rIdCodexSlide65"/>
    <p:sldId id="321" r:id="rIdCodexSlide66"/>
    <p:sldId id="322" r:id="rIdCodexSlide67"/>
    <p:sldId id="323" r:id="rIdCodexSlide68"/>
    <p:sldId id="324" r:id="rIdCodexSlide69"/>
    <p:sldId id="325" r:id="rIdCodexSlide70"/>
    <p:sldId id="326" r:id="rIdCodexSlide71"/>
    <p:sldId id="327" r:id="rIdCodexSlide72"/>
    <p:sldId id="328" r:id="rIdCodexSlide73"/>
    <p:sldId id="329" r:id="rIdCodexSlide74"/>
    <p:sldId id="330" r:id="rIdCodexSlide75"/>
    <p:sldId id="331" r:id="rIdCodexSlide76"/>
    <p:sldId id="332" r:id="rIdCodexSlide77"/>
    <p:sldId id="333" r:id="rIdCodexSlide78"/>
    <p:sldId id="334" r:id="rIdCodexSlide79"/>
    <p:sldId id="335" r:id="rIdCodexSlide80"/>
    <p:sldId id="336" r:id="rIdCodexSlide81"/>
    <p:sldId id="337" r:id="rIdCodexSlide82"/>
    <p:sldId id="338" r:id="rIdCodexSlide83"/>
    <p:sldId id="339" r:id="rIdCodexSlide84"/>
    <p:sldId id="340" r:id="rIdCodexSlide85"/>
    <p:sldId id="341" r:id="rIdCodexSlide86"/>
    <p:sldId id="342" r:id="rIdCodexSlide87"/>
    <p:sldId id="343" r:id="rIdCodexSlide88"/>
    <p:sldId id="344" r:id="rIdCodexSlide89"/>
    <p:sldId id="345" r:id="rIdCodexSlide90"/>
    <p:sldId id="346" r:id="rIdCodexSlide91"/>
    <p:sldId id="347" r:id="rIdCodexSlide92"/>
    <p:sldId id="348" r:id="rIdCodexSlide93"/>
    <p:sldId id="349" r:id="rIdCodexSlide94"/>
    <p:sldId id="350" r:id="rIdCodexSlide95"/>
    <p:sldId id="351" r:id="rIdCodexSlide96"/>
    <p:sldId id="352" r:id="rIdCodexSlide97"/>
    <p:sldId id="353" r:id="rIdCodexSlide98"/>
    <p:sldId id="354" r:id="rIdCodexSlide99"/>
    <p:sldId id="355" r:id="rIdCodexSlide100"/>
    <p:sldId id="356" r:id="rIdCodexSlide101"/>
    <p:sldId id="357" r:id="rIdCodexSlide102"/>
    <p:sldId id="358" r:id="rIdCodexSlide103"/>
    <p:sldId id="359" r:id="rIdCodexSlide104"/>
    <p:sldId id="360" r:id="rIdCodexSlide105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CodexSlide1" Type="http://schemas.openxmlformats.org/officeDocument/2006/relationships/slide" Target="slides/slide1.xml"/><Relationship Id="rIdCodexSlide2" Type="http://schemas.openxmlformats.org/officeDocument/2006/relationships/slide" Target="slides/slide2.xml"/><Relationship Id="rIdCodexSlide3" Type="http://schemas.openxmlformats.org/officeDocument/2006/relationships/slide" Target="slides/slide71.xml"/><Relationship Id="rIdCodexSlide4" Type="http://schemas.openxmlformats.org/officeDocument/2006/relationships/slide" Target="slides/slide3.xml"/><Relationship Id="rIdCodexSlide5" Type="http://schemas.openxmlformats.org/officeDocument/2006/relationships/slide" Target="slides/slide72.xml"/><Relationship Id="rIdCodexSlide6" Type="http://schemas.openxmlformats.org/officeDocument/2006/relationships/slide" Target="slides/slide4.xml"/><Relationship Id="rIdCodexSlide7" Type="http://schemas.openxmlformats.org/officeDocument/2006/relationships/slide" Target="slides/slide73.xml"/><Relationship Id="rIdCodexSlide8" Type="http://schemas.openxmlformats.org/officeDocument/2006/relationships/slide" Target="slides/slide5.xml"/><Relationship Id="rIdCodexSlide9" Type="http://schemas.openxmlformats.org/officeDocument/2006/relationships/slide" Target="slides/slide74.xml"/><Relationship Id="rIdCodexSlide10" Type="http://schemas.openxmlformats.org/officeDocument/2006/relationships/slide" Target="slides/slide6.xml"/><Relationship Id="rIdCodexSlide11" Type="http://schemas.openxmlformats.org/officeDocument/2006/relationships/slide" Target="slides/slide7.xml"/><Relationship Id="rIdCodexSlide12" Type="http://schemas.openxmlformats.org/officeDocument/2006/relationships/slide" Target="slides/slide75.xml"/><Relationship Id="rIdCodexSlide13" Type="http://schemas.openxmlformats.org/officeDocument/2006/relationships/slide" Target="slides/slide8.xml"/><Relationship Id="rIdCodexSlide14" Type="http://schemas.openxmlformats.org/officeDocument/2006/relationships/slide" Target="slides/slide9.xml"/><Relationship Id="rIdCodexSlide15" Type="http://schemas.openxmlformats.org/officeDocument/2006/relationships/slide" Target="slides/slide10.xml"/><Relationship Id="rIdCodexSlide16" Type="http://schemas.openxmlformats.org/officeDocument/2006/relationships/slide" Target="slides/slide11.xml"/><Relationship Id="rIdCodexSlide17" Type="http://schemas.openxmlformats.org/officeDocument/2006/relationships/slide" Target="slides/slide12.xml"/><Relationship Id="rIdCodexSlide18" Type="http://schemas.openxmlformats.org/officeDocument/2006/relationships/slide" Target="slides/slide76.xml"/><Relationship Id="rIdCodexSlide19" Type="http://schemas.openxmlformats.org/officeDocument/2006/relationships/slide" Target="slides/slide13.xml"/><Relationship Id="rIdCodexSlide20" Type="http://schemas.openxmlformats.org/officeDocument/2006/relationships/slide" Target="slides/slide77.xml"/><Relationship Id="rIdCodexSlide21" Type="http://schemas.openxmlformats.org/officeDocument/2006/relationships/slide" Target="slides/slide14.xml"/><Relationship Id="rIdCodexSlide22" Type="http://schemas.openxmlformats.org/officeDocument/2006/relationships/slide" Target="slides/slide15.xml"/><Relationship Id="rIdCodexSlide23" Type="http://schemas.openxmlformats.org/officeDocument/2006/relationships/slide" Target="slides/slide78.xml"/><Relationship Id="rIdCodexSlide24" Type="http://schemas.openxmlformats.org/officeDocument/2006/relationships/slide" Target="slides/slide16.xml"/><Relationship Id="rIdCodexSlide25" Type="http://schemas.openxmlformats.org/officeDocument/2006/relationships/slide" Target="slides/slide79.xml"/><Relationship Id="rIdCodexSlide26" Type="http://schemas.openxmlformats.org/officeDocument/2006/relationships/slide" Target="slides/slide17.xml"/><Relationship Id="rIdCodexSlide27" Type="http://schemas.openxmlformats.org/officeDocument/2006/relationships/slide" Target="slides/slide18.xml"/><Relationship Id="rIdCodexSlide28" Type="http://schemas.openxmlformats.org/officeDocument/2006/relationships/slide" Target="slides/slide80.xml"/><Relationship Id="rIdCodexSlide29" Type="http://schemas.openxmlformats.org/officeDocument/2006/relationships/slide" Target="slides/slide19.xml"/><Relationship Id="rIdCodexSlide30" Type="http://schemas.openxmlformats.org/officeDocument/2006/relationships/slide" Target="slides/slide20.xml"/><Relationship Id="rIdCodexSlide31" Type="http://schemas.openxmlformats.org/officeDocument/2006/relationships/slide" Target="slides/slide81.xml"/><Relationship Id="rIdCodexSlide32" Type="http://schemas.openxmlformats.org/officeDocument/2006/relationships/slide" Target="slides/slide21.xml"/><Relationship Id="rIdCodexSlide33" Type="http://schemas.openxmlformats.org/officeDocument/2006/relationships/slide" Target="slides/slide82.xml"/><Relationship Id="rIdCodexSlide34" Type="http://schemas.openxmlformats.org/officeDocument/2006/relationships/slide" Target="slides/slide22.xml"/><Relationship Id="rIdCodexSlide35" Type="http://schemas.openxmlformats.org/officeDocument/2006/relationships/slide" Target="slides/slide23.xml"/><Relationship Id="rIdCodexSlide36" Type="http://schemas.openxmlformats.org/officeDocument/2006/relationships/slide" Target="slides/slide24.xml"/><Relationship Id="rIdCodexSlide37" Type="http://schemas.openxmlformats.org/officeDocument/2006/relationships/slide" Target="slides/slide83.xml"/><Relationship Id="rIdCodexSlide38" Type="http://schemas.openxmlformats.org/officeDocument/2006/relationships/slide" Target="slides/slide25.xml"/><Relationship Id="rIdCodexSlide39" Type="http://schemas.openxmlformats.org/officeDocument/2006/relationships/slide" Target="slides/slide26.xml"/><Relationship Id="rIdCodexSlide40" Type="http://schemas.openxmlformats.org/officeDocument/2006/relationships/slide" Target="slides/slide84.xml"/><Relationship Id="rIdCodexSlide41" Type="http://schemas.openxmlformats.org/officeDocument/2006/relationships/slide" Target="slides/slide27.xml"/><Relationship Id="rIdCodexSlide42" Type="http://schemas.openxmlformats.org/officeDocument/2006/relationships/slide" Target="slides/slide28.xml"/><Relationship Id="rIdCodexSlide43" Type="http://schemas.openxmlformats.org/officeDocument/2006/relationships/slide" Target="slides/slide85.xml"/><Relationship Id="rIdCodexSlide44" Type="http://schemas.openxmlformats.org/officeDocument/2006/relationships/slide" Target="slides/slide29.xml"/><Relationship Id="rIdCodexSlide45" Type="http://schemas.openxmlformats.org/officeDocument/2006/relationships/slide" Target="slides/slide30.xml"/><Relationship Id="rIdCodexSlide46" Type="http://schemas.openxmlformats.org/officeDocument/2006/relationships/slide" Target="slides/slide86.xml"/><Relationship Id="rIdCodexSlide47" Type="http://schemas.openxmlformats.org/officeDocument/2006/relationships/slide" Target="slides/slide31.xml"/><Relationship Id="rIdCodexSlide48" Type="http://schemas.openxmlformats.org/officeDocument/2006/relationships/slide" Target="slides/slide32.xml"/><Relationship Id="rIdCodexSlide49" Type="http://schemas.openxmlformats.org/officeDocument/2006/relationships/slide" Target="slides/slide33.xml"/><Relationship Id="rIdCodexSlide50" Type="http://schemas.openxmlformats.org/officeDocument/2006/relationships/slide" Target="slides/slide34.xml"/><Relationship Id="rIdCodexSlide51" Type="http://schemas.openxmlformats.org/officeDocument/2006/relationships/slide" Target="slides/slide87.xml"/><Relationship Id="rIdCodexSlide52" Type="http://schemas.openxmlformats.org/officeDocument/2006/relationships/slide" Target="slides/slide88.xml"/><Relationship Id="rIdCodexSlide53" Type="http://schemas.openxmlformats.org/officeDocument/2006/relationships/slide" Target="slides/slide89.xml"/><Relationship Id="rIdCodexSlide54" Type="http://schemas.openxmlformats.org/officeDocument/2006/relationships/slide" Target="slides/slide35.xml"/><Relationship Id="rIdCodexSlide55" Type="http://schemas.openxmlformats.org/officeDocument/2006/relationships/slide" Target="slides/slide90.xml"/><Relationship Id="rIdCodexSlide56" Type="http://schemas.openxmlformats.org/officeDocument/2006/relationships/slide" Target="slides/slide36.xml"/><Relationship Id="rIdCodexSlide57" Type="http://schemas.openxmlformats.org/officeDocument/2006/relationships/slide" Target="slides/slide37.xml"/><Relationship Id="rIdCodexSlide58" Type="http://schemas.openxmlformats.org/officeDocument/2006/relationships/slide" Target="slides/slide38.xml"/><Relationship Id="rIdCodexSlide59" Type="http://schemas.openxmlformats.org/officeDocument/2006/relationships/slide" Target="slides/slide39.xml"/><Relationship Id="rIdCodexSlide60" Type="http://schemas.openxmlformats.org/officeDocument/2006/relationships/slide" Target="slides/slide40.xml"/><Relationship Id="rIdCodexSlide61" Type="http://schemas.openxmlformats.org/officeDocument/2006/relationships/slide" Target="slides/slide41.xml"/><Relationship Id="rIdCodexSlide62" Type="http://schemas.openxmlformats.org/officeDocument/2006/relationships/slide" Target="slides/slide42.xml"/><Relationship Id="rIdCodexSlide63" Type="http://schemas.openxmlformats.org/officeDocument/2006/relationships/slide" Target="slides/slide91.xml"/><Relationship Id="rIdCodexSlide64" Type="http://schemas.openxmlformats.org/officeDocument/2006/relationships/slide" Target="slides/slide43.xml"/><Relationship Id="rIdCodexSlide65" Type="http://schemas.openxmlformats.org/officeDocument/2006/relationships/slide" Target="slides/slide92.xml"/><Relationship Id="rIdCodexSlide66" Type="http://schemas.openxmlformats.org/officeDocument/2006/relationships/slide" Target="slides/slide44.xml"/><Relationship Id="rIdCodexSlide67" Type="http://schemas.openxmlformats.org/officeDocument/2006/relationships/slide" Target="slides/slide45.xml"/><Relationship Id="rIdCodexSlide68" Type="http://schemas.openxmlformats.org/officeDocument/2006/relationships/slide" Target="slides/slide93.xml"/><Relationship Id="rIdCodexSlide69" Type="http://schemas.openxmlformats.org/officeDocument/2006/relationships/slide" Target="slides/slide46.xml"/><Relationship Id="rIdCodexSlide70" Type="http://schemas.openxmlformats.org/officeDocument/2006/relationships/slide" Target="slides/slide47.xml"/><Relationship Id="rIdCodexSlide71" Type="http://schemas.openxmlformats.org/officeDocument/2006/relationships/slide" Target="slides/slide48.xml"/><Relationship Id="rIdCodexSlide72" Type="http://schemas.openxmlformats.org/officeDocument/2006/relationships/slide" Target="slides/slide49.xml"/><Relationship Id="rIdCodexSlide73" Type="http://schemas.openxmlformats.org/officeDocument/2006/relationships/slide" Target="slides/slide50.xml"/><Relationship Id="rIdCodexSlide74" Type="http://schemas.openxmlformats.org/officeDocument/2006/relationships/slide" Target="slides/slide94.xml"/><Relationship Id="rIdCodexSlide75" Type="http://schemas.openxmlformats.org/officeDocument/2006/relationships/slide" Target="slides/slide51.xml"/><Relationship Id="rIdCodexSlide76" Type="http://schemas.openxmlformats.org/officeDocument/2006/relationships/slide" Target="slides/slide95.xml"/><Relationship Id="rIdCodexSlide77" Type="http://schemas.openxmlformats.org/officeDocument/2006/relationships/slide" Target="slides/slide52.xml"/><Relationship Id="rIdCodexSlide78" Type="http://schemas.openxmlformats.org/officeDocument/2006/relationships/slide" Target="slides/slide96.xml"/><Relationship Id="rIdCodexSlide79" Type="http://schemas.openxmlformats.org/officeDocument/2006/relationships/slide" Target="slides/slide53.xml"/><Relationship Id="rIdCodexSlide80" Type="http://schemas.openxmlformats.org/officeDocument/2006/relationships/slide" Target="slides/slide54.xml"/><Relationship Id="rIdCodexSlide81" Type="http://schemas.openxmlformats.org/officeDocument/2006/relationships/slide" Target="slides/slide55.xml"/><Relationship Id="rIdCodexSlide82" Type="http://schemas.openxmlformats.org/officeDocument/2006/relationships/slide" Target="slides/slide56.xml"/><Relationship Id="rIdCodexSlide83" Type="http://schemas.openxmlformats.org/officeDocument/2006/relationships/slide" Target="slides/slide97.xml"/><Relationship Id="rIdCodexSlide84" Type="http://schemas.openxmlformats.org/officeDocument/2006/relationships/slide" Target="slides/slide57.xml"/><Relationship Id="rIdCodexSlide85" Type="http://schemas.openxmlformats.org/officeDocument/2006/relationships/slide" Target="slides/slide98.xml"/><Relationship Id="rIdCodexSlide86" Type="http://schemas.openxmlformats.org/officeDocument/2006/relationships/slide" Target="slides/slide58.xml"/><Relationship Id="rIdCodexSlide87" Type="http://schemas.openxmlformats.org/officeDocument/2006/relationships/slide" Target="slides/slide99.xml"/><Relationship Id="rIdCodexSlide88" Type="http://schemas.openxmlformats.org/officeDocument/2006/relationships/slide" Target="slides/slide59.xml"/><Relationship Id="rIdCodexSlide89" Type="http://schemas.openxmlformats.org/officeDocument/2006/relationships/slide" Target="slides/slide60.xml"/><Relationship Id="rIdCodexSlide90" Type="http://schemas.openxmlformats.org/officeDocument/2006/relationships/slide" Target="slides/slide61.xml"/><Relationship Id="rIdCodexSlide91" Type="http://schemas.openxmlformats.org/officeDocument/2006/relationships/slide" Target="slides/slide62.xml"/><Relationship Id="rIdCodexSlide92" Type="http://schemas.openxmlformats.org/officeDocument/2006/relationships/slide" Target="slides/slide100.xml"/><Relationship Id="rIdCodexSlide93" Type="http://schemas.openxmlformats.org/officeDocument/2006/relationships/slide" Target="slides/slide63.xml"/><Relationship Id="rIdCodexSlide94" Type="http://schemas.openxmlformats.org/officeDocument/2006/relationships/slide" Target="slides/slide101.xml"/><Relationship Id="rIdCodexSlide95" Type="http://schemas.openxmlformats.org/officeDocument/2006/relationships/slide" Target="slides/slide64.xml"/><Relationship Id="rIdCodexSlide96" Type="http://schemas.openxmlformats.org/officeDocument/2006/relationships/slide" Target="slides/slide102.xml"/><Relationship Id="rIdCodexSlide97" Type="http://schemas.openxmlformats.org/officeDocument/2006/relationships/slide" Target="slides/slide65.xml"/><Relationship Id="rIdCodexSlide98" Type="http://schemas.openxmlformats.org/officeDocument/2006/relationships/slide" Target="slides/slide66.xml"/><Relationship Id="rIdCodexSlide99" Type="http://schemas.openxmlformats.org/officeDocument/2006/relationships/slide" Target="slides/slide67.xml"/><Relationship Id="rIdCodexSlide100" Type="http://schemas.openxmlformats.org/officeDocument/2006/relationships/slide" Target="slides/slide68.xml"/><Relationship Id="rIdCodexSlide101" Type="http://schemas.openxmlformats.org/officeDocument/2006/relationships/slide" Target="slides/slide103.xml"/><Relationship Id="rIdCodexSlide102" Type="http://schemas.openxmlformats.org/officeDocument/2006/relationships/slide" Target="slides/slide104.xml"/><Relationship Id="rIdCodexSlide103" Type="http://schemas.openxmlformats.org/officeDocument/2006/relationships/slide" Target="slides/slide105.xml"/><Relationship Id="rIdCodexSlide104" Type="http://schemas.openxmlformats.org/officeDocument/2006/relationships/slide" Target="slides/slide69.xml"/><Relationship Id="rIdCodexSlide105" Type="http://schemas.openxmlformats.org/officeDocument/2006/relationships/slide" Target="slides/slide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声音怎样变成0和1？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BASE-01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我们会编码文字、图像，那声音呢？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BASE-02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独立作答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【预判回答与追问】有人会说只要“录下来”就行；追问“录下来”在计算机里究竟记录什么？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【本页收束】收束到核心问题：原来连续的声音如何变成数字。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先请学生复述文字和图片怎样编码，再让学生预测麦克风后是什么、计算机需要什么。教师不预告完整三步。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[图片用途] 手机图只提供录音情境，不展示ADC答案。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[图片来源]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OpenMoji contributors / HfG Schwäbisch Gmünd；CC BY-SA 4.0；https://github.com/hfg-gmuend/openmoji#license 。SVG仅等比转换为720px透明PNG，未改色或改形。图片许可继续为CC BY-SA 4.0。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[`assets/smartphone.svg`](assets/smartphone.svg) | 智能手机 | [OpenMoji / 1F4F1](https://github.com/hfg-gmuend/openmoji/blob/master/color/svg/1F4F1.svg)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[核验日期] 2026-10-14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声音首先是什么？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BASE-03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【v8.1视觉引导】视觉依据是生成的“音叉—声压疏密变化—麦克风”图；为了投影清晰采用可缩放矢量绘制。它不是声波沿正弦路径传播的图。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[视觉改进提示] 提示学生辨认：振动产生声波，麦克风把声压变化转换成连续变化的电信号；此示意的波阵面不是传播轨迹。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声音和电脑里的音频文件，是同一种量吗？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BASE-04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【设计意图】先让学生表态：声波在时间上连续变化；文件保存的是离散数字。问麦克风前后，哪一阶段发生改变？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【教师可以这样讲】请先判断：空气中的声音和电脑里的音频文件，是不是同一种东西？举一个理由。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【预判回答与追问】“电脑播放出来还是声音，所以是模拟量”是可能的误解；分清存储形式和播放后的物理振动。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【本页收束】声音属于物理模拟信号；数字文件以离散的数据保存音频。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对比模拟声波与文件中的数字，问连续变化的声音如何变成离散数据；先让学生说两者有何不同。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先让学生观察两图，自己说出波形与离散记录的区别。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麦克风把声波变成什么？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BASE-05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【教师可以这样讲】请观察这条流程。麦克风是不是已经把声波变成0和1了？请指出转换前后各是什么。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【预判回答与追问】学生可能认为麦克风就是“录音机”。追问：麦克风输出的电压能否在每个时刻连续变化？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【本页收束】麦克风把声压变化变成模拟电信号，数字化还没有完成。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麦克风负责把声压变化变成连续电信号；先预测“是数字还是模拟？”学生说出依据。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波阵面而非传播路径。麦克风不是二进制编码器。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[图片用途] 用麦克风插画标明接收设备；转换关系由原生图解释。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[图片来源]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OpenMoji contributors / HfG Schwäbisch Gmünd；CC BY-SA 4.0；https://github.com/hfg-gmuend/openmoji#license 。SVG仅等比转换为720px透明PNG，未改色或改形。图片许可继续为CC BY-SA 4.0。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[`assets/microphone-studio.svg`](assets/microphone-studio.svg) | 录音麦克风 | [OpenMoji / 1F399](https://github.com/hfg-gmuend/openmoji/blob/master/color/svg/1F399.svg)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[核验日期] 2026-10-14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连续电信号，怎样变成数字？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BASE-06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【教师可以这样讲】如果麦克风输出还是连续电信号，计算机怎样读懂它？需要什么设备？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【预判回答与追问】学生可能猜CPU，先认可其计算作用，再追问哪个音频部件把模拟信号变成离散样本。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【本页收束】声卡中的ADC完成模数转换。无需记电子线路结构。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把录音过程和播放过程接起来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BASE-07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按录音顺序走一遍，再反向说播放顺序，确认DAC与ADC的作用不同。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两条平行流程对应录音与播放。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波形图画的是“声音的传播路线”吗？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BASE-08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【教师可以这样讲】看到这条上下起伏的曲线，请猜：它是不是声音在空气里沿着波浪形路线前进？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【预判回答与追问】提醒固定一个位置，横坐标向右代表时间，纵坐标上下代表压力或电信号偏离参考的变化。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【本页收束】波形是“某处随时间变化”的图，不是空间中的传播路径。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【v8.1视觉引导】加强波形曲线投影对比；灰色线为信号示意，离散点是取样时刻的记录。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[教师逐字稿补充] 请在图中分别指出“电信号曲线”和“扬声器周围的声波”。先请学生说横轴是什么，再解释曲线记录时间变化；空间传播图中圆弧是波阵面示意，空气质点不会沿曲线行进。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[图示边界] KyleThayer的同一动画0180帧；原生裁剪仅保留x=440..800、y=125..335的扬声器与声波区域。不是实测声场；数字曲线不是声压的空间轨迹。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[图片来源]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KyleThayer；CC0 1.0；https://commons.wikimedia.org/wiki/File:Sound_wave_animation.gif 。同一动画帧；原PNG未修改。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[`assets/speaker-soundwave-0180.png`](assets/speaker-soundwave-0180.png) | 0180 | [KyleThayer / speaker diagram](https://github.com/kylethayer/wiki_diagrams/blob/main/speaker_diagram/pngs/sound%20wave%20%28Synfig%20Animation%29.0180.png)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[核验日期] 2026-10-14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只能记录有限个数字，选哪些时刻？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BASE-10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独立作答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【设计意图】先在波形上让学生指出选取若干时刻的方法，预测“隔一段时间取一个值”；不要急着宣布定义。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【教师可以这样讲】现在只允许保存若干个数字，你会在哪些时刻记录这条曲线？让同桌先各提出一条规则。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【预判回答与追问】有人会只选最高点和最低点。追问：如果换一段波形，这个规则是否容易统一实现？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【本页收束】用固定时间间隔连续记录，形成采样时刻。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每隔相同时间，取一个幅度值。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BASE-11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【教师可以这样讲】我们按固定时间间隔记录了12个点。灰色曲线不再直接保存，每个点有自己的时间和值。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【预判回答与追问】学生可能把连点线当作新的连续信号。追问：文件实际存的是曲线，还是这些点对应的数字？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【本页收束】采样的结果是时间上离散的一组样本。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先观察时间刻度和蓝色点，教师追问记录的是什么量，说明在指定时刻记录幅度。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1 Hz和2 Hz，一秒内取几个样本？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BASE-13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【教师可以这样讲】预测：1 Hz每秒几个点？2 Hz每秒几个点？都记录4秒，两个例子的样本数分别是多少？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【预判回答与追问】注意“赫兹”还可表示声音本身频率；本页说的是“采样的次数”。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【本页收束】采样率是每秒采样数；更密意味着相邻采样时刻间隔更短。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【v7回扣】演示切换到本页后，要求学生解释采样率和每秒样本数之间的关系。Notebook中的4毫秒局部窗口只是观察尺度。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1Hz=每秒1个记录点；2Hz=每秒2个。这里用于放大理解，绝非实际音频录制建议。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[计数条件] 统一使用[0,1)，含0不含1。1 Hz时刻0；2 Hz时刻0、0.5。下一秒的1不重复计入本秒。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提高采样率，改变的是时间轴上的什么？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BASE-14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上下保持同一条曲线不变，只改变时间方向的样本密度，让学生辨认控制变量。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采样点的值，可能是3.71这样的数。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BASE-15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【教师可以这样讲】假设某个时刻取得3.71这样的振幅值。如果设备只准记录8个整数等级，会怎么办？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【预判回答与追问】学生可能直接回答“四舍五入”，要追问必须先规定可用的代表值与映射规则。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【本页收束】量化解决幅度的离散化，下一页构建0到7的教学模型。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 Demo C预告】现在只解决了采样时刻；纵向幅度可能是任意连续值，需要量化，稍后用实验台在同一坐标中比较。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讨论3.71这样的幅度怎样用有限个等级近似记录，不让量化等同四舍五入。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把振幅划分成0～7，共几个等级？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BASE-16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【教师可以这样讲】请同学数一数，从0到7一共几个数字。0算不算一个等级？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【预判回答与追问】最容易出现7级的误答。让学生逐个数：0、1、2、3、4、5、6、7。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【本页收束】共8个等级。这里是简化模型，并非真实声压只有非负值。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讲授0~7是等级编号；不要把取样数、幅度值、等级编号混为一谈，先让学生预测。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【v8.1视觉引导】加深0至7的八条量化等级线，先数清等级再引入3 bit。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量化：把每个样本归入一个代表值。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BASE-18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【教师可以这样讲】规定一个简化规则：向下取整。原值3.71会落在哪个等级？屏幕上的红点与蓝点哪个是原值？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【预判回答与追问】可能误以为蓝点恰好是原始值。追问：3.71与3有什么不同？少了哪些信息？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【本页收束】量化是用有限代表值近似原值，存在量化误差。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这里按[n,n+1)归入Ln，3.71属于L3；量化代表值可取3.5。让学生回看先前错误猜测。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[技术边界] 本课非负幅度模型：8个区间覆盖[0,8)，L3对应[3,4)，中点3.5是代表幅度，编号3不是幅度值。真实PCM通常为有符号幅度。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一个样本需要几个二进制位？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BASE-21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【教师可以这样讲】刚才有8级，若只有两个二进制位可以表示多少种不同情况？三个呢？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【预判回答与追问】让学生亲自枚举00、01、10、11，然后观察000到111共有八种。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【本页收束】2^3=8，所以这八个等级可以用3 bit表示。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同一个声音的10个样本，怎样依次编码？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BASE-19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【教师可以这样讲】请从第3个样本找起：它的量化值是多少？对应的三位码字是什么？再找第7个。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【预判回答与追问】注意区分“样本数量10”和“等级数量8”，不能把十个样本说成十个等级。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【本页收束】编码按时间顺序保存各个样本的定长码字。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把量化等级分得更细，会发生什么？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BASE-22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十个样本的表先只聚焦第一列：样本编号、量化等级、3bit码字逐一对应，再请学生解释其它样本。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【v8.1视觉引导】码字行放大并统一青色；先指出第1列，再读完全部10个样本。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[计算] 3 bit：Δ=1，3.71归入[3,4)，代表值3.5，误差0.21。4 bit：Δ=0.5，归入[3.5,4)，等级L7，代表值3.75，误差0.04。输入、范围、采样时刻相同。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不要混淆：采样率和量化位数。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BASE-23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【教师可以这样讲】请指出采样率与量化位数分别控制这张图的哪个方向。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【预判回答与追问】如学生认为量化位数决定点的多少，重新回看每一秒有几个采样时刻。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【本页收束】采样率决定时间方向的密度，量化位数决定幅度方向的精细程度。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采样更多、等级更密，就一定听得更好吗？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BASE-25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3 bit是教学模型，真实录音常见16 bit。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BASE-26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【教师讲述／组织】避免从课堂3位例子跳到真实16位时困惑。说明用3位为了看清规律，不是说实际音乐普遍使用3位。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PCM样本和WAV文件，是一回事吗？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BASE-27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区分数字样本和WAV容器头的作用；WAV不等同于一种有损压缩方法。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播放时：数字样本怎样重新变成声音？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BASE-28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【教师可以这样讲】复盘完整流程：数字文件里的样本为什么还能被扬声器播放成声音？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【预判回答与追问】不要讲成简单把点连成折线。输出经过数模转换及适当的信号处理。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【本页收束】录音是ADC，播放是DAC，音频数字化形成闭环。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声音数据量为什么与四个参数有关？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BASE-29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先数样本，再数bit，最后换算成Byte。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BASE-30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【教师可以这样讲】请口算每秒2个样本，录4秒，一路声道，共得到多少个样本？每个3位，要几个bit？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【预判回答与追问】学生可能直接乘完得到24 Byte。请指着八个框数，再从bit换到Byte。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【本页收束】8个样本、每个3bit，共24bit，等于3Byte。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未压缩PCM数据量公式，从哪里来？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BASE-31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【设计意图】不要把数据量公式当背诵口令。请学生逐个解释每一项代表哪个物理意义。单位：Hz、bit、秒；/8得到字节。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【教师可以这样讲】我们刚才为什么要把四个因素相乘？请逐一说出公式的单位和意义。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【预判回答与追问】常见错误：1 kHz写成1024 Hz；bit和Byte混用；忘记把分钟换成秒。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【本页收束】会用公式之前先能解释公式。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为什么结果是Byte要÷8？把四因素分别对应实际样本数量与每样本bit数。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从样本总数开始推导数据量，解释每个乘数的单位。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练习题 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BASE-32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独立作答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【教师讲述／组织】问题页。给学生独立列式。若学生写16×8×2×5，追问16kHz应等于多少Hz。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练习题 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BASE-33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【教师讲述／组织】答案页。问：如果双声道改成单声道，结果会怎样？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答案160000 Byte。让学生先说思路，再对照上一页原位置的题干与下方答案。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本节课你能解释三件事吗？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BASE-34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学生总结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先给学生30秒独立整理，再请三人逐问解释并引用刚才的图或计算。此页只呈现问题，不公布总结。听完后再逐页揭示知识树。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[教师参考，仅总结后使用]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为什么文件还需要压缩？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BASE-35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先回忆：这四个数字，分别是什么意思？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BASE-36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【教师讲述／组织】实录3起手计算前，先让学生能解释参数。分组对答48,000Hz、16bit、2声道、60秒。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练习题 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BASE-37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独立作答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【教师讲述／组织】问题页。复现实录3的DVD参数题，强调对参数意义的解释，而不只是按键计算。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练习题 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BASE-38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【教师讲述／组织】答案页。实录转写常写10.98MB，这是截断近似；按四舍五入保留两位应10.99 MiB。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约10.99 MiB；验证11520000 B/1048576。不把带少量文件头的WAV大小当作PCM样本大小。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练习题 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BASE-39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独立作答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【设计意图】问题页。先让学生预测。这是实录3较长的认知冲突案例，不要马上公布答案。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【教师可以这样讲】再次提问：多加了一条背景音乐音轨，新的未压缩PCM文件一定比原文件大吗？请先投票并说明依据。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【预判回答与追问】真实课堂里学生曾将音轨误认为声道；暂不判断两种观点谁对。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【本页收束】下一页让两种解释并存，定位分歧。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两个看似有道理的答案，你支持哪一个？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BASE-40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【教师可以这样讲】有人支持不变，有人支持翻倍。注意我们的目标不是投票决定真理，而是检验关键假设。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【预判回答与追问】追问：增加的是“编辑音轨”，还是“导出声道”？哪个出现在容量公式里？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【本页收束】到图示页验证音轨与声道不同。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编辑音轨和输出声道，有什么不同？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BASE-41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【教师可以这样讲】请指向编辑左边两行，它们是两条音轨；再指向右边的L/R，这才是导出的两路声道。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【预判回答与追问】如果学生说“左音轨变左声道”，让他想一想人声与伴奏是否都能同时从左右扬声器传出。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【本页收束】混合不会自动增加声道数，保持四参数则未压缩样本数据量不变。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先看两条轨，再揭示混音之后仍可输出L/R两路数据。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波形为区别音轨与输出通道的示意图，不是混音运算曲线。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[教师逐字稿补充] 先在左侧数编辑音轨：有两个独立的音轨控制区。上轨为单声道，下轨为立体声，所以共有三条波形。再看右侧模型，两份输入可以混入L、R两路输出；不是把诗朗诵固定送左、音乐固定送右。容量按导出参数计算，截图不证明本题工程真的导出过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[模型] 两输出均示意sin(4πt)+0.5sin(10πt)，仅说明混合；未模拟声像、增益和削波。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[图片来源]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Audacity Manual contributors；CC BY 3.0；https://raw.githubusercontent.com/audacity/audacity-manual/master/manual/index.html 。历史软件截图仅解释结构，非最新版操作说明；原PNG未修改。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[`assets/audacity-multitrack-mixing.png`](assets/audacity-multitrack-mixing.png) | 混音前的多个音轨 | [Audacity Manual](https://github.com/audacity/audacity-manual/blob/master/manual/m/images/f/fb/tracks_for_mixing.png)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[核验日期] 2026-10-14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练习题 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BASE-42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回到初始投票，解释四个PCM参数保持不变，因此样本数据量不变。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迁移：把双声道改成单声道，会怎样？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BASE-43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【教师讲述／组织】让学生应用四因素公式。声道数2→1，其他不变，PCM样本数据量减半。音轨增减并不直接决定总量。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图像采样与声音采样，哪里相同？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BASE-44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一张张图片连续变化，就能让我们看到运动。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BASE-45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【教师可以这样讲】五张小图中蓝点位置发生变化，连续播放后我们会感到它在运动。你生活里见过翻页动画吗？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【预判回答与追问】不要把“视觉暂留0.024秒”当成唯一且固定的生理阈值。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【本页收束】视频可以用连续图像帧与帧率的概念来理解。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五帧是同一个运动小球在五个时刻的状态。帧率25fps是每秒25帧，不应解释为人眼严格生理阈值。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球在每一帧的位置不同，同样场景取不同时间画面；fps是每秒帧数。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【v8.1视觉引导】让学生比较同一小球相对于各帧相同参考线的位置，从第一帧到第五帧明显向右变化。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控制变量只有球的位置；动画效果来自连续帧的顺序。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10分钟、每秒25帧，要保存多少张画面？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BASE-46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【教师讲述／组织】从学生已经理解的“视频是连续图像”计算总帧数。先让学生口算25×60×10=15000帧。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练习题 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BASE-47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独立作答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【设计意图】问题页。来源实录3。不要把帧率误认为采样率，一帧是一张完整图。给3分钟列式，计算可用计算器。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【教师可以这样讲】先算一帧480×320像素，需要多少bit和Byte；再乘上25帧/秒和600秒。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【预判回答与追问】学生可能只乘25或只乘10。追问十分钟共有多少秒、多少帧？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【本页收束】未压缩视频等于单帧数据量乘总帧数。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练习题 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BASE-48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【教师讲述／组织】答案页。把公式拆成两段并让学生自己解释。按十进制GB约6.912 GB。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答案约6.44GiB，检验帧数、bit转Byte以及B转GiB三步。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10分钟视频，为什么远小于6.44 GiB？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BASE-49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【教师可以这样讲】请你对照刚刚算出的6.44 GiB。我们手机里十分钟的视频，为什么通常远小于它？难道计算公式错了？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【本页收束】这是第二课时核心认知冲突，直到下一页再揭示压缩。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先让学生用自己看视频的经验提出文件比估算小的解释，借助冲突引出编码压缩。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因为我们算的是“逐帧未压缩数据量”。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BASE-50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实际压缩技术还包括多种预测与表示方式；本课只要求理解重复规律允许节省比特，不学习具体codec算法。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为什么要压缩？先想两种真实需求。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BASE-51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“中国”重复100次，有没有更简短的写法？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BASE-52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【教师可以这样讲】两种写法能不能表示相同文字？“中国”重复一百次与“中国×100”，哪种通常更省符号？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【预判回答与追问】提醒这只是解释冗余的教学模型，不是真实RAR编码的说明。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【本页收束】规律、重复让人有机会用更短的规则表达同一内容。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为什么重复内容更容易压缩？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BASE-53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预测：两份都是1000 Byte，压缩后谁更小？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BASE-54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独立作答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【教师可以这样讲】两个数据各1000Byte：一个全是A，一个随机变化。请预测谁压缩后更小，以及能否恢复原数据。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【预判回答与追问】学生可能认为所有文件都会变小。下一页结果显示随机数据在容器开销下甚至略微变大。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【本页收束】测试无损压缩的冗余利用，而不是展示具体算法。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实验验证：为什么同样大小的文件效果不同？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BASE-56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【设计意图】演示代码（Windows课堂pt环境，Python标准库即可）：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import zlib, random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a=b"A"*1000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r=random.Random(2026)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b=bytes(r.randrange(256) for _ in range(1000))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for name,x in [("A",a),("B",b)]: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    packed=zlib.compress(x)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    print(name,len(x),len(packed),zlib.decompress(packed)==x)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本次固定随机种子得到A=17 Byte，B=1011 Byte。学生关注重复和冗余；算法细节不展开。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【预判回答与追问】别把高熵文件变大误判为程序出错：压缩文件自身有格式开销。检查两者解压完全一致。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【本页收束】这是无损压缩，且压缩效果取决于可利用的规律与编码方式。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压缩到底改变了什么？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BASE-57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两种压缩：怎样区分“无损”和“有损”？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BASE-58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【教师可以这样讲】请判断：压缩后解开，能不能100%恢复原始字节？把这个问题作为分类标准。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【预判回答与追问】有损不等于“损坏文件”；它在可接受的前提下放弃部分原始信息。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【本页收束】无损可完全恢复，有损则不能恢复到原数据完全一致。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判别方法：是否能够完全恢复原字节，不用文件后缀或大小作为唯一标准。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ZIP、MP3、WAV、MP4，它们属于同一类吗？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BASE-59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ZIP/RAR属于无损归档，MP3是有损音频编码，WAV和MP4属于容器（MP4常装有损编码视频）。文件后缀与编码算法不是完全同一层级。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三幅相同大小的图，谁通常最容易无损压缩？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BASE-60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独立作答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【教师可以这样讲】这三幅图显示的是相同大小、相同位深的像素网格，哪张最容易找到重复的规律？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【预判回答与追问】强调“通常”和“对合适的算法而言”，避免将图像颜色多少当作绝对压缩决定因素。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【本页收束】纯色数据具有明显规律，适合无损压缩；比较结论再迁移到实际图像。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三图尺寸和位深一致，让学生预测哪个更规律，判断无损压缩的可能差异。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相同尺寸和色彩模式；内容结构不同。冗余与压缩算法共同决定结果。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练习题 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BASE-61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独立作答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【教师讲述／组织】问题页。此题迁移文字实验到图像。先解释冗余，再揭示。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练习题 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BASE-62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【教师讲述／组织】答案页。强调不是一切文件和算法都绝对如此。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答案中的“通常”必须保留，不同压缩方案有例外。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同一张图：BMP与JPG有什么不同？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BASE-63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BMP这里只指未压缩实例，JPG通常有损；文件大小还取决于参数和内容。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同一640×350 RGB程序生成图像以quality=3编码JPEG；有损差异随参数改变。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已经压成MP3、JPG，再用RAR压一遍呢？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BASE-64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是不是压得越小就一定越好？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BASE-65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【教师可以这样讲】某个班级要长期备份源代码，另一个班级要用手机实时视频通话。两种场景需要的编码选择一样吗？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【预判回答与追问】引导学生考虑完整性、质量、延迟与存储，不要只说压缩得越小越好。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【本页收束】算法与压缩方法要与任务目标匹配。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文档备份要求完整，视频通话权衡时延/带宽/质量，反对越小必然越好。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【v8.1视觉引导】两组场景对比加大；让学生按完整性、带宽、延迟、质量权衡。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[图片用途] 文件夹和摄像机只表示两种任务。先请学生按任务说明哪些条件不能牺牲，再揭示对应取舍。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[图片来源]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OpenMoji contributors / HfG Schwäbisch Gmünd；CC BY-SA 4.0；https://github.com/hfg-gmuend/openmoji#license 。SVG仅等比转换为720px透明PNG，未改色或改形。图片许可继续为CC BY-SA 4.0。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[`assets/video-camera.svg`](assets/video-camera.svg) | 摄像机 | [OpenMoji / 1F4F9](https://github.com/hfg-gmuend/openmoji/blob/master/color/svg/1F4F9.svg)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[`assets/folder.svg`](assets/folder.svg) | 文件夹 | [OpenMoji / 1F4C1](https://github.com/hfg-gmuend/openmoji/blob/master/color/svg/1F4C1.svg)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[核验日期] 2026-10-14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练习题 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BASE-66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独立作答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【教师讲述／组织】问题页。综合三种理解：音轨声道、原始视频大小、无损还原。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练习题 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BASE-67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【教师讲述／组织】答案页。不接受只给三个对错而不给依据的回答。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先让学生口头解释，再展示①错②对③对，强化数据量与ZIP的两种知识。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离开课堂前，你能解释三个为什么吗？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BASE-68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独立退出评估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先收每位学生的三个书面解释，给约2分钟。不能只收志愿者回答。收齐后请学生引用证据概括两课时关系，再更新知识树。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[教师参考，仅收取后使用]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【教师讲述／组织】出口评价：任选一个问题让学生用自己的话解释。重点检查概念因果：数字化、视频容量、压缩选择。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可选拓展：采样不足时会发生什么？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BASE-69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可选拓展：编码与压缩有何区别？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BASE-70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演示C：3 bit变4 bit，样本会变多吗？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BASE-24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分别指横轴时间密度与纵轴量化等级，要求学生指出哪一项由采样率/位数控制。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看横向点与纵向线：要求学生分别解释对应的参数。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演示B：放大波形，会看见采样点吗？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BASE-12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打开Notebook 02，把波形从100毫秒放大到4毫秒，点击蓝色样本，读出实际时间和幅度；区分极值概览和真实采样点。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[数学证据] 同一0.72sin(10πt+0.3)，右图确为左图[0.30,0.50]的放大；纵轴不变。50 Hz教学采样模型，j=15..25，共11个点；封闭观察窗含两端，不等同0.2秒新产生11个样本。非Notebook实录。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演示A：听声音，波形上的红线如何移动？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BASE-09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打开远程JupyterLab Notebook 01，在Windows浏览器播放声音，问红线向右是不是声波向右传播；让学生说横轴是时间。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[Demo操作] 先收预测，再切换原Demo A观察播放光标。静态红线仅示意播放位置，截图未给时间刻度，不据此读秒。软件例图与Notebook是不同音频，不能直接比较幅度或样本。若20秒无法运行，指着横向时间轴解释光标位置；没有实测扬声器。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[图片来源]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Audacity Manual contributors；CC BY 3.0；https://raw.githubusercontent.com/audacity/audacity-manual/master/manual/index.html 。历史软件截图仅解释结构，非最新版操作说明；原PNG未修改。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[`assets/audacity-spectrogram-waveform.png`](assets/audacity-spectrogram-waveform.png) | 波形图 | [Audacity Manual](https://github.com/audacity/audacity-manual/blob/master/manual/m/images/6/6b/spectrogramview_waveform_display.png)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[核验日期] 2026-10-14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3.71 应记为等级3，还是等级4？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BASE-17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先显示0~7八级，学生预测3.71是3或4。暂停50秒让学生说出推理规则。再用下页指定的分区规则解决分歧；勿预先提示答案。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让学生先预测，再到下一页验证[3,4)的区间归属。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3.71 为什么写成 011，而不是 100？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BASE-20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演示D：同样1000 Byte，压缩后真的不同吗？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BASE-55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证据／解释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声音首先是什么？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声音和电脑里的音频文件，是同一种量吗？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麦克风把声波变成什么？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连续电信号，怎样变成数字？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波形图画的是“声音的传播路线”吗？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q8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1 Hz和2 Hz，一秒内取几个样本？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q13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提高采样率，改变的是时间轴上的什么？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q14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把振幅划分成0～7，共几个等级？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q16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3.71 应记为等级3，还是等级4？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q17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同一个声音的10个样本，怎样依次编码？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q19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一个样本需要几个二进制位？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q21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把量化等级分得更细，会发生什么？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q22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采样更多、等级更密，就一定听得更好吗？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q25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PCM样本和WAV文件，是一回事吗？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q27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声音数据量为什么与四个参数有关？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q29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未压缩PCM数据量公式，从哪里来？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q31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把证据连接起来：数据怎样表示？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tree1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知识树更新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先请学生用刚才的证据总结新增关系，其他同学补充理由。收到概括后再揭示红框，并说明它和先前节点怎样连接；旧节点保持可见。本次只增加一个分支。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[当前已建立] 前1个分支；不提前口述尚未建立的节点。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把证据连接起来：数据怎样表示？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tree2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知识树更新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先请学生用刚才的证据总结新增关系，其他同学补充理由。收到概括后再揭示红框，并说明它和先前节点怎样连接；旧节点保持可见。本次只增加一个分支。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[当前已建立] 前2个分支；不提前口述尚未建立的节点。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把证据连接起来：数据怎样表示？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tree3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知识树更新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先请学生用刚才的证据总结新增关系，其他同学补充理由。收到概括后再揭示红框，并说明它和先前节点怎样连接；旧节点保持可见。本次只增加一个分支。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[当前已建立] 前3个分支；不提前口述尚未建立的节点。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先回忆：这四个数字，分别是什么意思？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q36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迁移：把双声道改成单声道，会怎样？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q43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图像采样与声音采样，哪里相同？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q44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10分钟、每秒25帧，要保存多少张画面？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q46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为什么要压缩？先想两种真实需求。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q51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“中国”重复100次，有没有更简短的写法？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q52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为什么重复内容更容易压缩？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q53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压缩到底改变了什么？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q57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两种压缩：怎样区分“无损”和“有损”？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q58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ZIP、MP3、WAV、MP4，它们属于同一类吗？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q59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同一张图：BMP与JPG有什么不同？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q63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已经压成MP3、JPG，再用RAR压一遍呢？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q64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是不是压得越小就一定越好？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q65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提问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先看两种任务。请分别说出“绝不能丢什么”和“可以权衡什么”，停顿20秒。听理由后再揭示两种取舍；不要在此页宣布一种通用最佳方式。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[图片来源]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OpenMoji contributors / HfG Schwäbisch Gmünd；CC BY-SA 4.0；https://github.com/hfg-gmuend/openmoji#license 。SVG仅等比转换为720px透明PNG，未改色或改形。图片许可继续为CC BY-SA 4.0。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[`assets/video-camera.svg`](assets/video-camera.svg) | 摄像机 | [OpenMoji / 1F4F9](https://github.com/hfg-gmuend/openmoji/blob/master/color/svg/1F4F9.svg)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[`assets/folder.svg`](assets/folder.svg) | 文件夹 | [OpenMoji / 1F4C1](https://github.com/hfg-gmuend/openmoji/blob/master/color/svg/1F4C1.svg)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[核验日期] 2026-10-14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把证据连接起来：数据怎样表示？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tree4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知识树更新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先请学生用刚才的证据总结新增关系，其他同学补充理由。收到概括后再揭示红框，并说明它和先前节点怎样连接；旧节点保持可见。本次只增加一个分支。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[当前已建立] 前4个分支；不提前口述尚未建立的节点。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把证据连接起来：数据怎样表示？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tree5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知识树更新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先请学生用刚才的证据总结新增关系，其他同学补充理由。收到概括后再揭示红框，并说明它和先前节点怎样连接；旧节点保持可见。本次只增加一个分支。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[当前已建立] 前5个分支；不提前口述尚未建立的节点。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[问题] 把证据连接起来：数据怎样表示？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[内部编号] tree6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[阶段] 知识树更新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先请学生用刚才的证据总结新增关系，其他同学补充理由。收到概括后再揭示红框，并说明它和先前节点怎样连接；旧节点保持可见。本次只增加一个分支。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[当前已建立] 前6个分支；不提前口述尚未建立的节点。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Codex3" Type="http://schemas.openxmlformats.org/officeDocument/2006/relationships/image" Target="../media/codex-d3942c2e24c2e2419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Codex3" Type="http://schemas.openxmlformats.org/officeDocument/2006/relationships/image" Target="../media/codex-b650f0791dbeec73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Codex3" Type="http://schemas.openxmlformats.org/officeDocument/2006/relationships/image" Target="../media/codex-887cd62163d1e6621c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Relationship Id="rIdCodex3" Type="http://schemas.openxmlformats.org/officeDocument/2006/relationships/image" Target="../media/codex-10fd712580e5d8288d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Codex3" Type="http://schemas.openxmlformats.org/officeDocument/2006/relationships/image" Target="../media/codex-d438828156baafa64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Relationship Id="rIdCodex3" Type="http://schemas.openxmlformats.org/officeDocument/2006/relationships/image" Target="../media/codex-4d06517be8fa9836c3.png"/><Relationship Id="rIdCodex4" Type="http://schemas.openxmlformats.org/officeDocument/2006/relationships/image" Target="../media/codex-2be49ea60573c6f0ca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Relationship Id="rIdCodex3" Type="http://schemas.openxmlformats.org/officeDocument/2006/relationships/image" Target="../media/codex-b650f0791dbeec731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Relationship Id="rIdCodex3" Type="http://schemas.openxmlformats.org/officeDocument/2006/relationships/image" Target="../media/codex-887cd62163d1e6621c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Relationship Id="rIdCodex3" Type="http://schemas.openxmlformats.org/officeDocument/2006/relationships/image" Target="../media/codex-4d06517be8fa9836c3.png"/><Relationship Id="rIdCodex4" Type="http://schemas.openxmlformats.org/officeDocument/2006/relationships/image" Target="../media/codex-2be49ea60573c6f0ca.png"/><Relationship Id="rIdCodex5" Type="http://schemas.openxmlformats.org/officeDocument/2006/relationships/image" Target="../media/codex-4d06517be8fa9836c3.png"/><Relationship Id="rIdCodex6" Type="http://schemas.openxmlformats.org/officeDocument/2006/relationships/image" Target="../media/codex-2be49ea60573c6f0ca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核心问题：手机为什么可以把正在说的话保存成文件？</a:t>
            </a:r>
          </a:p>
        </p:txBody>
      </p:sp>
      <p:pic>
        <p:nvPicPr>
          <p:cNvPr id="11" name="codex-p2-">
            <a:extLst>
              <a:ext uri="{FF2B5EF4-FFF2-40B4-BE49-F238E27FC236}">
                <a16:creationId xmlns:a16="http://schemas.microsoft.com/office/drawing/2014/main" id="{1AAF984D-94C7-4AFF-93C7-9F438E9EEEFE}"/>
              </a:ext>
            </a:extLst>
          </p:cNvPr>
          <p:cNvPicPr>
            <a:picLocks noChangeAspect="1"/>
          </p:cNvPicPr>
          <p:nvPr/>
        </p:nvPicPr>
        <p:blipFill>
          <a:blip r:embed="rIdCodex3"/>
          <a:stretch/>
        </p:blipFill>
        <p:spPr>
          <a:xfrm>
            <a:off x="8448675" y="3048000"/>
            <a:ext cx="1809750" cy="1809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1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65376"/>
            <a:ext cx="1051560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振动声源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空气中的声压扰动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麦克风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从声源到麦克风：声压扰动向外传播，而不是沿蛇形路线行进。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704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麦克风感受声压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00784"/>
            <a:ext cx="3246120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输出连续电信号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9304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27048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4792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02536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2316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3246120"/>
            <a:ext cx="4846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3246120"/>
            <a:ext cx="1335024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38744" y="4160520"/>
            <a:ext cx="2898648" cy="0"/>
          </a:xfrm>
          <a:prstGeom prst="line">
            <a:avLst/>
          </a:prstGeom>
          <a:ln w="1524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47888" y="3256268"/>
            <a:ext cx="33994" cy="630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1882" y="3193891"/>
            <a:ext cx="33994" cy="62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5876" y="3132762"/>
            <a:ext cx="33994" cy="61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49870" y="3073489"/>
            <a:ext cx="33994" cy="592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83864" y="3016661"/>
            <a:ext cx="33994" cy="56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7858" y="2962845"/>
            <a:ext cx="33994" cy="538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1852" y="2912574"/>
            <a:ext cx="33995" cy="502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847" y="2866351"/>
            <a:ext cx="33994" cy="462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19841" y="2824634"/>
            <a:ext cx="33994" cy="417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53835" y="2787839"/>
            <a:ext cx="33994" cy="36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87829" y="2756331"/>
            <a:ext cx="33994" cy="31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21823" y="2730425"/>
            <a:ext cx="33994" cy="259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55817" y="2710378"/>
            <a:ext cx="33995" cy="200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9812" y="2696390"/>
            <a:ext cx="33994" cy="139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23806" y="2688599"/>
            <a:ext cx="33994" cy="77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57800" y="2687084"/>
            <a:ext cx="33994" cy="1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91794" y="2687084"/>
            <a:ext cx="33994" cy="47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25788" y="2691859"/>
            <a:ext cx="33994" cy="11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59782" y="2702877"/>
            <a:ext cx="33995" cy="171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93777" y="2720028"/>
            <a:ext cx="33994" cy="23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27771" y="2743142"/>
            <a:ext cx="33994" cy="288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765" y="2771988"/>
            <a:ext cx="33994" cy="342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95759" y="2806280"/>
            <a:ext cx="33994" cy="393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29753" y="2845676"/>
            <a:ext cx="33994" cy="44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63747" y="2889784"/>
            <a:ext cx="33995" cy="48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7742" y="2938166"/>
            <a:ext cx="33994" cy="521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31736" y="2990340"/>
            <a:ext cx="33994" cy="554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5730" y="3045787"/>
            <a:ext cx="33994" cy="581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99724" y="3103955"/>
            <a:ext cx="33994" cy="60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3718" y="3164265"/>
            <a:ext cx="33994" cy="618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712" y="3226118"/>
            <a:ext cx="33995" cy="62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1707" y="3288898"/>
            <a:ext cx="33994" cy="630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35701" y="3351980"/>
            <a:ext cx="33994" cy="627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695" y="3414736"/>
            <a:ext cx="33994" cy="618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03689" y="3476543"/>
            <a:ext cx="33994" cy="602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37683" y="3536784"/>
            <a:ext cx="33994" cy="580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71677" y="3594862"/>
            <a:ext cx="33995" cy="553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05672" y="3650197"/>
            <a:ext cx="33994" cy="520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39666" y="3702240"/>
            <a:ext cx="33994" cy="482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73660" y="3750472"/>
            <a:ext cx="33994" cy="439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7654" y="3794413"/>
            <a:ext cx="33994" cy="392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41648" y="3833627"/>
            <a:ext cx="33994" cy="340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75642" y="3867723"/>
            <a:ext cx="33995" cy="286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09637" y="3896361"/>
            <a:ext cx="33994" cy="22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43631" y="3919258"/>
            <a:ext cx="33994" cy="169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7625" y="3936184"/>
            <a:ext cx="33994" cy="107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1619" y="3946973"/>
            <a:ext cx="33994" cy="4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45613" y="3949767"/>
            <a:ext cx="33994" cy="1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79607" y="3941745"/>
            <a:ext cx="33995" cy="80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13602" y="3927529"/>
            <a:ext cx="33994" cy="142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7596" y="3907261"/>
            <a:ext cx="33994" cy="202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1590" y="3881143"/>
            <a:ext cx="33994" cy="26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15584" y="3849434"/>
            <a:ext cx="33994" cy="31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049578" y="3812449"/>
            <a:ext cx="33994" cy="36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083572" y="3770558"/>
            <a:ext cx="33995" cy="418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17567" y="3724176"/>
            <a:ext cx="33994" cy="46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151561" y="3673765"/>
            <a:ext cx="33994" cy="50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185555" y="3619827"/>
            <a:ext cx="33994" cy="539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19549" y="3562899"/>
            <a:ext cx="33994" cy="56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253543" y="3503546"/>
            <a:ext cx="33994" cy="59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87537" y="3442360"/>
            <a:ext cx="33995" cy="611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321532" y="3379949"/>
            <a:ext cx="33994" cy="62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55526" y="3316934"/>
            <a:ext cx="33994" cy="630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89520" y="3253943"/>
            <a:ext cx="33994" cy="629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23514" y="3191601"/>
            <a:ext cx="33994" cy="623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457508" y="3130530"/>
            <a:ext cx="33994" cy="61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91502" y="3071337"/>
            <a:ext cx="33995" cy="591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25497" y="3014611"/>
            <a:ext cx="33994" cy="56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59491" y="2960916"/>
            <a:ext cx="33994" cy="53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93485" y="2910787"/>
            <a:ext cx="33994" cy="50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27479" y="2864723"/>
            <a:ext cx="33994" cy="460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61473" y="2823181"/>
            <a:ext cx="33994" cy="41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95467" y="2786575"/>
            <a:ext cx="33995" cy="366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29462" y="2755270"/>
            <a:ext cx="33994" cy="313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763456" y="2729577"/>
            <a:ext cx="33994" cy="256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797450" y="2709751"/>
            <a:ext cx="33994" cy="198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31444" y="2695990"/>
            <a:ext cx="33994" cy="13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65438" y="2688431"/>
            <a:ext cx="33994" cy="75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99432" y="2687149"/>
            <a:ext cx="33995" cy="1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33427" y="2687149"/>
            <a:ext cx="33994" cy="50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967421" y="2692156"/>
            <a:ext cx="33994" cy="112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1415" y="2703404"/>
            <a:ext cx="33994" cy="173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35409" y="2720779"/>
            <a:ext cx="33994" cy="233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069403" y="2744109"/>
            <a:ext cx="33994" cy="290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103397" y="2773163"/>
            <a:ext cx="33995" cy="3448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96112" y="4782312"/>
            <a:ext cx="3017520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空气中的变化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81728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转换为电信号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57616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仍是连续变化的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麦克风完成“声压变化 → 电信号”；将模拟信号数字化由ADC完成。</a:t>
            </a:r>
          </a:p>
        </p:txBody>
      </p:sp>
      <p:pic>
        <p:nvPicPr>
          <p:cNvPr id="113" name="codex-p5-">
            <a:extLst>
              <a:ext uri="{FF2B5EF4-FFF2-40B4-BE49-F238E27FC236}">
                <a16:creationId xmlns:a16="http://schemas.microsoft.com/office/drawing/2014/main" id="{897F21AD-0F01-4867-9B48-9690B063082B}"/>
              </a:ext>
            </a:extLst>
          </p:cNvPr>
          <p:cNvPicPr>
            <a:picLocks noChangeAspect="1"/>
          </p:cNvPicPr>
          <p:nvPr/>
        </p:nvPicPr>
        <p:blipFill>
          <a:blip r:embed="rIdCodex3"/>
          <a:stretch/>
        </p:blipFill>
        <p:spPr>
          <a:xfrm>
            <a:off x="5200650" y="2428875"/>
            <a:ext cx="1619250" cy="1619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45336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录音：模拟 → 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22191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播放：数字 → 模拟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声波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66744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麦克风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79" y="2569464"/>
            <a:ext cx="740665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83096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ADC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85632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99448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数字文件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数字文件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66744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DAC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4818888"/>
            <a:ext cx="740665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83096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扬声器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99448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声音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思考：麦克风和扬声器、ADC和DAC，各负责什么转换？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波形图画的是“声音的传播路线”吗？</a:t>
            </a:r>
          </a:p>
        </p:txBody>
      </p:sp>
      <p:sp>
        <p:nvSpPr>
          <p:cNvPr id="5" name="codex-p8-image-caption">
            <a:extLst>
              <a:ext uri="{FF2B5EF4-FFF2-40B4-BE49-F238E27FC236}">
                <a16:creationId xmlns:a16="http://schemas.microsoft.com/office/drawing/2014/main" id="{26DD7184-FBCF-40B8-83F8-14C6541EECE6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54292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扬声器周围：空间中的传播</a:t>
            </a:r>
          </a:p>
        </p:txBody>
      </p:sp>
      <p:sp>
        <p:nvSpPr>
          <p:cNvPr id="6" name="codex-p8-image-caption">
            <a:extLst>
              <a:ext uri="{FF2B5EF4-FFF2-40B4-BE49-F238E27FC236}">
                <a16:creationId xmlns:a16="http://schemas.microsoft.com/office/drawing/2014/main" id="{6C5FB0CE-74C0-465C-BE2F-C0A1234D0793}"/>
              </a:ext>
            </a:extLst>
          </p:cNvPr>
          <p:cNvSpPr>
            <a:spLocks noGrp="1"/>
          </p:cNvSpPr>
          <p:nvPr/>
        </p:nvSpPr>
        <p:spPr>
          <a:xfrm>
            <a:off x="6724650" y="1743075"/>
            <a:ext cx="48577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同一位置：信号随时间变化</a:t>
            </a:r>
          </a:p>
        </p:txBody>
      </p:sp>
      <p:pic>
        <p:nvPicPr>
          <p:cNvPr id="7" name="codex-p8-">
            <a:extLst>
              <a:ext uri="{FF2B5EF4-FFF2-40B4-BE49-F238E27FC236}">
                <a16:creationId xmlns:a16="http://schemas.microsoft.com/office/drawing/2014/main" id="{6D3FC0EF-2A88-4720-88EB-B37426A1190C}"/>
              </a:ext>
            </a:extLst>
          </p:cNvPr>
          <p:cNvPicPr>
            <a:picLocks noChangeAspect="1"/>
          </p:cNvPicPr>
          <p:nvPr/>
        </p:nvPicPr>
        <p:blipFill>
          <a:blip r:embed="rIdCodex3"/>
          <a:srcRect l="55000" t="27778" r="0" b="25556"/>
          <a:stretch/>
        </p:blipFill>
        <p:spPr>
          <a:xfrm>
            <a:off x="609600" y="2524125"/>
            <a:ext cx="5181600" cy="3022597"/>
          </a:xfrm>
          <a:prstGeom prst="rect">
            <a:avLst/>
          </a:prstGeom>
        </p:spPr>
      </p:pic>
      <p:sp>
        <p:nvSpPr>
          <p:cNvPr id="8" name="codex-p8-image-caption">
            <a:extLst>
              <a:ext uri="{FF2B5EF4-FFF2-40B4-BE49-F238E27FC236}">
                <a16:creationId xmlns:a16="http://schemas.microsoft.com/office/drawing/2014/main" id="{36C1DE0A-DA44-4FF9-A6F0-45E2F4B38B19}"/>
              </a:ext>
            </a:extLst>
          </p:cNvPr>
          <p:cNvSpPr>
            <a:spLocks noGrp="1"/>
          </p:cNvSpPr>
          <p:nvPr/>
        </p:nvSpPr>
        <p:spPr>
          <a:xfrm>
            <a:off x="819150" y="5619750"/>
            <a:ext cx="2533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扬声器振膜</a:t>
            </a:r>
          </a:p>
        </p:txBody>
      </p:sp>
      <p:sp>
        <p:nvSpPr>
          <p:cNvPr id="9" name="codex-p8-image-caption">
            <a:extLst>
              <a:ext uri="{FF2B5EF4-FFF2-40B4-BE49-F238E27FC236}">
                <a16:creationId xmlns:a16="http://schemas.microsoft.com/office/drawing/2014/main" id="{C8F4528A-9923-49DF-BC71-CE5C3F51E7A2}"/>
              </a:ext>
            </a:extLst>
          </p:cNvPr>
          <p:cNvSpPr>
            <a:spLocks noGrp="1"/>
          </p:cNvSpPr>
          <p:nvPr/>
        </p:nvSpPr>
        <p:spPr>
          <a:xfrm>
            <a:off x="3867150" y="5619750"/>
            <a:ext cx="20193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声波扰动</a:t>
            </a:r>
          </a:p>
        </p:txBody>
      </p:sp>
      <p:sp>
        <p:nvSpPr>
          <p:cNvPr id="10" name="codex-p8-relationship">
            <a:extLst>
              <a:ext uri="{FF2B5EF4-FFF2-40B4-BE49-F238E27FC236}">
                <a16:creationId xmlns:a16="http://schemas.microsoft.com/office/drawing/2014/main" id="{AA541D62-309E-4D1D-9625-9A8E4DEC9F8B}"/>
              </a:ext>
            </a:extLst>
          </p:cNvPr>
          <p:cNvSpPr>
            <a:spLocks noGrp="1"/>
          </p:cNvSpPr>
          <p:nvPr/>
        </p:nvSpPr>
        <p:spPr>
          <a:xfrm>
            <a:off x="7029450" y="4048125"/>
            <a:ext cx="4067175" cy="9525"/>
          </a:xfrm>
          <a:custGeom>
            <a:pathLst>
              <a:path w="4067175" h="9525">
                <a:moveTo>
                  <a:pt x="0" y="0"/>
                </a:moveTo>
                <a:lnTo>
                  <a:pt x="4067175" y="0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11" name="codex-p8-relationship">
            <a:extLst>
              <a:ext uri="{FF2B5EF4-FFF2-40B4-BE49-F238E27FC236}">
                <a16:creationId xmlns:a16="http://schemas.microsoft.com/office/drawing/2014/main" id="{3217B80A-7CB6-405E-B6B7-C174A1222B8E}"/>
              </a:ext>
            </a:extLst>
          </p:cNvPr>
          <p:cNvSpPr>
            <a:spLocks noGrp="1"/>
          </p:cNvSpPr>
          <p:nvPr/>
        </p:nvSpPr>
        <p:spPr>
          <a:xfrm>
            <a:off x="7143750" y="2762250"/>
            <a:ext cx="9525" cy="2667000"/>
          </a:xfrm>
          <a:custGeom>
            <a:pathLst>
              <a:path w="9525" h="2667000">
                <a:moveTo>
                  <a:pt x="0" y="0"/>
                </a:moveTo>
                <a:lnTo>
                  <a:pt x="0" y="2667000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12" name="codex-p8-signal">
            <a:extLst>
              <a:ext uri="{FF2B5EF4-FFF2-40B4-BE49-F238E27FC236}">
                <a16:creationId xmlns:a16="http://schemas.microsoft.com/office/drawing/2014/main" id="{2FF61F8D-E452-48F5-8361-95D8107819A2}"/>
              </a:ext>
            </a:extLst>
          </p:cNvPr>
          <p:cNvSpPr>
            <a:spLocks noGrp="1"/>
          </p:cNvSpPr>
          <p:nvPr/>
        </p:nvSpPr>
        <p:spPr>
          <a:xfrm>
            <a:off x="7239000" y="3267075"/>
            <a:ext cx="3752850" cy="1562100"/>
          </a:xfrm>
          <a:custGeom>
            <a:pathLst>
              <a:path w="3752850" h="1562100">
                <a:moveTo>
                  <a:pt x="0" y="781050"/>
                </a:moveTo>
                <a:lnTo>
                  <a:pt x="31274" y="699408"/>
                </a:lnTo>
                <a:lnTo>
                  <a:pt x="62548" y="618661"/>
                </a:lnTo>
                <a:lnTo>
                  <a:pt x="93821" y="539692"/>
                </a:lnTo>
                <a:lnTo>
                  <a:pt x="125095" y="463368"/>
                </a:lnTo>
                <a:lnTo>
                  <a:pt x="156369" y="390525"/>
                </a:lnTo>
                <a:lnTo>
                  <a:pt x="187643" y="321960"/>
                </a:lnTo>
                <a:lnTo>
                  <a:pt x="218916" y="258426"/>
                </a:lnTo>
                <a:lnTo>
                  <a:pt x="250190" y="200617"/>
                </a:lnTo>
                <a:lnTo>
                  <a:pt x="281464" y="149167"/>
                </a:lnTo>
                <a:lnTo>
                  <a:pt x="312738" y="104641"/>
                </a:lnTo>
                <a:lnTo>
                  <a:pt x="344011" y="67525"/>
                </a:lnTo>
                <a:lnTo>
                  <a:pt x="375285" y="38227"/>
                </a:lnTo>
                <a:lnTo>
                  <a:pt x="406559" y="17068"/>
                </a:lnTo>
                <a:lnTo>
                  <a:pt x="437833" y="4279"/>
                </a:lnTo>
                <a:lnTo>
                  <a:pt x="469106" y="0"/>
                </a:lnTo>
                <a:lnTo>
                  <a:pt x="500380" y="4279"/>
                </a:lnTo>
                <a:lnTo>
                  <a:pt x="531654" y="17068"/>
                </a:lnTo>
                <a:lnTo>
                  <a:pt x="562928" y="38227"/>
                </a:lnTo>
                <a:lnTo>
                  <a:pt x="594201" y="67525"/>
                </a:lnTo>
                <a:lnTo>
                  <a:pt x="625475" y="104641"/>
                </a:lnTo>
                <a:lnTo>
                  <a:pt x="656749" y="149167"/>
                </a:lnTo>
                <a:lnTo>
                  <a:pt x="688023" y="200617"/>
                </a:lnTo>
                <a:lnTo>
                  <a:pt x="719296" y="258426"/>
                </a:lnTo>
                <a:lnTo>
                  <a:pt x="750570" y="321960"/>
                </a:lnTo>
                <a:lnTo>
                  <a:pt x="781844" y="390525"/>
                </a:lnTo>
                <a:lnTo>
                  <a:pt x="813118" y="463368"/>
                </a:lnTo>
                <a:lnTo>
                  <a:pt x="844391" y="539692"/>
                </a:lnTo>
                <a:lnTo>
                  <a:pt x="875665" y="618661"/>
                </a:lnTo>
                <a:lnTo>
                  <a:pt x="906939" y="699408"/>
                </a:lnTo>
                <a:lnTo>
                  <a:pt x="938213" y="781050"/>
                </a:lnTo>
                <a:lnTo>
                  <a:pt x="969486" y="862692"/>
                </a:lnTo>
                <a:lnTo>
                  <a:pt x="1000760" y="943439"/>
                </a:lnTo>
                <a:lnTo>
                  <a:pt x="1032034" y="1022408"/>
                </a:lnTo>
                <a:lnTo>
                  <a:pt x="1063308" y="1098732"/>
                </a:lnTo>
                <a:lnTo>
                  <a:pt x="1094581" y="1171575"/>
                </a:lnTo>
                <a:lnTo>
                  <a:pt x="1125855" y="1240140"/>
                </a:lnTo>
                <a:lnTo>
                  <a:pt x="1157129" y="1303674"/>
                </a:lnTo>
                <a:lnTo>
                  <a:pt x="1188402" y="1361483"/>
                </a:lnTo>
                <a:lnTo>
                  <a:pt x="1219676" y="1412933"/>
                </a:lnTo>
                <a:lnTo>
                  <a:pt x="1250950" y="1457459"/>
                </a:lnTo>
                <a:lnTo>
                  <a:pt x="1282224" y="1494575"/>
                </a:lnTo>
                <a:lnTo>
                  <a:pt x="1313497" y="1523873"/>
                </a:lnTo>
                <a:lnTo>
                  <a:pt x="1344771" y="1545032"/>
                </a:lnTo>
                <a:lnTo>
                  <a:pt x="1376045" y="1557821"/>
                </a:lnTo>
                <a:lnTo>
                  <a:pt x="1407319" y="1562100"/>
                </a:lnTo>
                <a:lnTo>
                  <a:pt x="1438592" y="1557821"/>
                </a:lnTo>
                <a:lnTo>
                  <a:pt x="1469866" y="1545032"/>
                </a:lnTo>
                <a:lnTo>
                  <a:pt x="1501140" y="1523873"/>
                </a:lnTo>
                <a:lnTo>
                  <a:pt x="1532414" y="1494575"/>
                </a:lnTo>
                <a:lnTo>
                  <a:pt x="1563687" y="1457459"/>
                </a:lnTo>
                <a:lnTo>
                  <a:pt x="1594961" y="1412933"/>
                </a:lnTo>
                <a:lnTo>
                  <a:pt x="1626235" y="1361483"/>
                </a:lnTo>
                <a:lnTo>
                  <a:pt x="1657509" y="1303674"/>
                </a:lnTo>
                <a:lnTo>
                  <a:pt x="1688782" y="1240140"/>
                </a:lnTo>
                <a:lnTo>
                  <a:pt x="1720056" y="1171575"/>
                </a:lnTo>
                <a:lnTo>
                  <a:pt x="1751330" y="1098732"/>
                </a:lnTo>
                <a:lnTo>
                  <a:pt x="1782604" y="1022408"/>
                </a:lnTo>
                <a:lnTo>
                  <a:pt x="1813878" y="943439"/>
                </a:lnTo>
                <a:lnTo>
                  <a:pt x="1845151" y="862692"/>
                </a:lnTo>
                <a:lnTo>
                  <a:pt x="1876425" y="781050"/>
                </a:lnTo>
                <a:lnTo>
                  <a:pt x="1907699" y="699408"/>
                </a:lnTo>
                <a:lnTo>
                  <a:pt x="1938972" y="618661"/>
                </a:lnTo>
                <a:lnTo>
                  <a:pt x="1970246" y="539692"/>
                </a:lnTo>
                <a:lnTo>
                  <a:pt x="2001520" y="463368"/>
                </a:lnTo>
                <a:lnTo>
                  <a:pt x="2032794" y="390525"/>
                </a:lnTo>
                <a:lnTo>
                  <a:pt x="2064068" y="321960"/>
                </a:lnTo>
                <a:lnTo>
                  <a:pt x="2095341" y="258426"/>
                </a:lnTo>
                <a:lnTo>
                  <a:pt x="2126615" y="200617"/>
                </a:lnTo>
                <a:lnTo>
                  <a:pt x="2157889" y="149167"/>
                </a:lnTo>
                <a:lnTo>
                  <a:pt x="2189163" y="104641"/>
                </a:lnTo>
                <a:lnTo>
                  <a:pt x="2220436" y="67525"/>
                </a:lnTo>
                <a:lnTo>
                  <a:pt x="2251710" y="38227"/>
                </a:lnTo>
                <a:lnTo>
                  <a:pt x="2282984" y="17068"/>
                </a:lnTo>
                <a:lnTo>
                  <a:pt x="2314258" y="4279"/>
                </a:lnTo>
                <a:lnTo>
                  <a:pt x="2345531" y="0"/>
                </a:lnTo>
                <a:lnTo>
                  <a:pt x="2376805" y="4279"/>
                </a:lnTo>
                <a:lnTo>
                  <a:pt x="2408079" y="17068"/>
                </a:lnTo>
                <a:lnTo>
                  <a:pt x="2439353" y="38227"/>
                </a:lnTo>
                <a:lnTo>
                  <a:pt x="2470626" y="67525"/>
                </a:lnTo>
                <a:lnTo>
                  <a:pt x="2501900" y="104641"/>
                </a:lnTo>
                <a:lnTo>
                  <a:pt x="2533174" y="149167"/>
                </a:lnTo>
                <a:lnTo>
                  <a:pt x="2564448" y="200617"/>
                </a:lnTo>
                <a:lnTo>
                  <a:pt x="2595721" y="258426"/>
                </a:lnTo>
                <a:lnTo>
                  <a:pt x="2626995" y="321960"/>
                </a:lnTo>
                <a:lnTo>
                  <a:pt x="2658269" y="390525"/>
                </a:lnTo>
                <a:lnTo>
                  <a:pt x="2689543" y="463368"/>
                </a:lnTo>
                <a:lnTo>
                  <a:pt x="2720816" y="539692"/>
                </a:lnTo>
                <a:lnTo>
                  <a:pt x="2752090" y="618661"/>
                </a:lnTo>
                <a:lnTo>
                  <a:pt x="2783364" y="699408"/>
                </a:lnTo>
                <a:lnTo>
                  <a:pt x="2814638" y="781050"/>
                </a:lnTo>
                <a:lnTo>
                  <a:pt x="2845911" y="862692"/>
                </a:lnTo>
                <a:lnTo>
                  <a:pt x="2877185" y="943439"/>
                </a:lnTo>
                <a:lnTo>
                  <a:pt x="2908459" y="1022408"/>
                </a:lnTo>
                <a:lnTo>
                  <a:pt x="2939732" y="1098732"/>
                </a:lnTo>
                <a:lnTo>
                  <a:pt x="2971006" y="1171575"/>
                </a:lnTo>
                <a:lnTo>
                  <a:pt x="3002280" y="1240140"/>
                </a:lnTo>
                <a:lnTo>
                  <a:pt x="3033554" y="1303674"/>
                </a:lnTo>
                <a:lnTo>
                  <a:pt x="3064828" y="1361483"/>
                </a:lnTo>
                <a:lnTo>
                  <a:pt x="3096101" y="1412933"/>
                </a:lnTo>
                <a:lnTo>
                  <a:pt x="3127375" y="1457459"/>
                </a:lnTo>
                <a:lnTo>
                  <a:pt x="3158649" y="1494575"/>
                </a:lnTo>
                <a:lnTo>
                  <a:pt x="3189923" y="1523873"/>
                </a:lnTo>
                <a:lnTo>
                  <a:pt x="3221196" y="1545032"/>
                </a:lnTo>
                <a:lnTo>
                  <a:pt x="3252470" y="1557821"/>
                </a:lnTo>
                <a:lnTo>
                  <a:pt x="3283744" y="1562100"/>
                </a:lnTo>
                <a:lnTo>
                  <a:pt x="3315017" y="1557821"/>
                </a:lnTo>
                <a:lnTo>
                  <a:pt x="3346291" y="1545032"/>
                </a:lnTo>
                <a:lnTo>
                  <a:pt x="3377565" y="1523873"/>
                </a:lnTo>
                <a:lnTo>
                  <a:pt x="3408839" y="1494575"/>
                </a:lnTo>
                <a:lnTo>
                  <a:pt x="3440113" y="1457459"/>
                </a:lnTo>
                <a:lnTo>
                  <a:pt x="3471386" y="1412933"/>
                </a:lnTo>
                <a:lnTo>
                  <a:pt x="3502660" y="1361483"/>
                </a:lnTo>
                <a:lnTo>
                  <a:pt x="3533934" y="1303674"/>
                </a:lnTo>
                <a:lnTo>
                  <a:pt x="3565207" y="1240140"/>
                </a:lnTo>
                <a:lnTo>
                  <a:pt x="3596481" y="1171575"/>
                </a:lnTo>
                <a:lnTo>
                  <a:pt x="3627755" y="1098732"/>
                </a:lnTo>
                <a:lnTo>
                  <a:pt x="3659029" y="1022408"/>
                </a:lnTo>
                <a:lnTo>
                  <a:pt x="3690303" y="943439"/>
                </a:lnTo>
                <a:lnTo>
                  <a:pt x="3721576" y="862692"/>
                </a:lnTo>
                <a:lnTo>
                  <a:pt x="3752850" y="78105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3" name="codex-p8-image-caption">
            <a:extLst>
              <a:ext uri="{FF2B5EF4-FFF2-40B4-BE49-F238E27FC236}">
                <a16:creationId xmlns:a16="http://schemas.microsoft.com/office/drawing/2014/main" id="{76834D78-34C9-4E91-88F3-8C67AD0D8D09}"/>
              </a:ext>
            </a:extLst>
          </p:cNvPr>
          <p:cNvSpPr>
            <a:spLocks noGrp="1"/>
          </p:cNvSpPr>
          <p:nvPr/>
        </p:nvSpPr>
        <p:spPr>
          <a:xfrm>
            <a:off x="7029450" y="2571750"/>
            <a:ext cx="952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</a:t>
            </a:r>
          </a:p>
        </p:txBody>
      </p:sp>
      <p:sp>
        <p:nvSpPr>
          <p:cNvPr id="14" name="codex-p8-image-caption">
            <a:extLst>
              <a:ext uri="{FF2B5EF4-FFF2-40B4-BE49-F238E27FC236}">
                <a16:creationId xmlns:a16="http://schemas.microsoft.com/office/drawing/2014/main" id="{8479E53A-175F-4E4E-95C9-42D8EEA8EF99}"/>
              </a:ext>
            </a:extLst>
          </p:cNvPr>
          <p:cNvSpPr>
            <a:spLocks noGrp="1"/>
          </p:cNvSpPr>
          <p:nvPr/>
        </p:nvSpPr>
        <p:spPr>
          <a:xfrm>
            <a:off x="10287000" y="5476875"/>
            <a:ext cx="1143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  <p:sp>
        <p:nvSpPr>
          <p:cNvPr id="15" name="codex-p8-image-caption">
            <a:extLst>
              <a:ext uri="{FF2B5EF4-FFF2-40B4-BE49-F238E27FC236}">
                <a16:creationId xmlns:a16="http://schemas.microsoft.com/office/drawing/2014/main" id="{37CA64F1-581F-4A7B-B222-80B1427D3C97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曲线横轴记录时间，不能把它当作空气的运动路径。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3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codex-p9-image-caption">
            <a:extLst>
              <a:ext uri="{FF2B5EF4-FFF2-40B4-BE49-F238E27FC236}">
                <a16:creationId xmlns:a16="http://schemas.microsoft.com/office/drawing/2014/main" id="{3B3E4933-A4BA-4D5D-87CD-5ED262374F8F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先预测：红色光标向右，表示声音向右传播吗？</a:t>
            </a:r>
          </a:p>
        </p:txBody>
      </p:sp>
      <p:pic>
        <p:nvPicPr>
          <p:cNvPr id="6" name="codex-p9-">
            <a:extLst>
              <a:ext uri="{FF2B5EF4-FFF2-40B4-BE49-F238E27FC236}">
                <a16:creationId xmlns:a16="http://schemas.microsoft.com/office/drawing/2014/main" id="{3963C614-E390-4499-85A5-59B85D9AD1CE}"/>
              </a:ext>
            </a:extLst>
          </p:cNvPr>
          <p:cNvPicPr>
            <a:picLocks noChangeAspect="1"/>
          </p:cNvPicPr>
          <p:nvPr/>
        </p:nvPicPr>
        <p:blipFill>
          <a:blip r:embed="rIdCodex3"/>
          <a:stretch/>
        </p:blipFill>
        <p:spPr>
          <a:xfrm>
            <a:off x="1257300" y="2762262"/>
            <a:ext cx="9677400" cy="2423136"/>
          </a:xfrm>
          <a:prstGeom prst="rect">
            <a:avLst/>
          </a:prstGeom>
        </p:spPr>
      </p:pic>
      <p:sp>
        <p:nvSpPr>
          <p:cNvPr id="7" name="codex-p9-playback-cursor">
            <a:extLst>
              <a:ext uri="{FF2B5EF4-FFF2-40B4-BE49-F238E27FC236}">
                <a16:creationId xmlns:a16="http://schemas.microsoft.com/office/drawing/2014/main" id="{98917B6D-C898-4507-9E94-1F4116AC7497}"/>
              </a:ext>
            </a:extLst>
          </p:cNvPr>
          <p:cNvSpPr>
            <a:spLocks noGrp="1"/>
          </p:cNvSpPr>
          <p:nvPr/>
        </p:nvSpPr>
        <p:spPr>
          <a:xfrm>
            <a:off x="7858125" y="2809875"/>
            <a:ext cx="9525" cy="2381250"/>
          </a:xfrm>
          <a:custGeom>
            <a:pathLst>
              <a:path w="9525" h="2381250">
                <a:moveTo>
                  <a:pt x="0" y="0"/>
                </a:moveTo>
                <a:lnTo>
                  <a:pt x="0" y="2381250"/>
                </a:lnTo>
              </a:path>
            </a:pathLst>
          </a:custGeom>
          <a:noFill/>
          <a:ln w="28575">
            <a:solidFill>
              <a:srgbClr val="FF0000"/>
            </a:solidFill>
          </a:ln>
        </p:spPr>
      </p:sp>
      <p:sp>
        <p:nvSpPr>
          <p:cNvPr id="8" name="codex-p9-image-caption">
            <a:extLst>
              <a:ext uri="{FF2B5EF4-FFF2-40B4-BE49-F238E27FC236}">
                <a16:creationId xmlns:a16="http://schemas.microsoft.com/office/drawing/2014/main" id="{7473A6D3-7F87-4186-895B-B784ACD59003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波形显示（Audacity示例）</a:t>
            </a:r>
          </a:p>
        </p:txBody>
      </p:sp>
      <p:sp>
        <p:nvSpPr>
          <p:cNvPr id="9" name="codex-p9-image-caption">
            <a:extLst>
              <a:ext uri="{FF2B5EF4-FFF2-40B4-BE49-F238E27FC236}">
                <a16:creationId xmlns:a16="http://schemas.microsoft.com/office/drawing/2014/main" id="{CDA2AA3F-0CC2-4FA1-9460-1FDFB97F4B7B}"/>
              </a:ext>
            </a:extLst>
          </p:cNvPr>
          <p:cNvSpPr>
            <a:spLocks noGrp="1"/>
          </p:cNvSpPr>
          <p:nvPr/>
        </p:nvSpPr>
        <p:spPr>
          <a:xfrm>
            <a:off x="8096250" y="5334000"/>
            <a:ext cx="3429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播放时间方向</a:t>
            </a:r>
          </a:p>
        </p:txBody>
      </p:sp>
      <p:sp>
        <p:nvSpPr>
          <p:cNvPr id="10" name="codex-p9-image-caption">
            <a:extLst>
              <a:ext uri="{FF2B5EF4-FFF2-40B4-BE49-F238E27FC236}">
                <a16:creationId xmlns:a16="http://schemas.microsoft.com/office/drawing/2014/main" id="{34B4B620-F321-4873-813E-EC8902ECC018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请观察：播放继续时，光标位置怎样变化？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只能记录有限个数字，选哪些时刻？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3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演示B：放大波形，会看见采样点吗？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99616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同一段录音：左边看整体，右边看极短的一段。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4937760" cy="4480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整段波形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194560"/>
            <a:ext cx="5120640" cy="4480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局部放大：真实样本点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4672" y="3794760"/>
            <a:ext cx="5029200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0392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4672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振幅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时间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923544" y="3597279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7017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1681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6344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008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671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0335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4998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29661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43253" y="3124037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89888" y="311712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3652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8315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2979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7642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2306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6969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71632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6296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09597" y="3421080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56232" y="3494894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90286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4950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99613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4276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8940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3603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8267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22930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7594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2257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6921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41584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46247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50911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5574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0238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64901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69565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4228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8892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83555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88218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92882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975457" y="4094625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022091" y="4016082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06872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11536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16199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20862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255263" y="3597279"/>
            <a:ext cx="46635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30189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34853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39516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4180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48843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53507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58170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62833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674973" y="3124037"/>
            <a:ext cx="46634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721607" y="3117122"/>
            <a:ext cx="46635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76824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81487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86151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90814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95478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00141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04804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09468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141317" y="3421080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187951" y="3494894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23458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28122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32785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37448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42112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46775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51439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56102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60766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65429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70093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74756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79419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84083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88746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93410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98073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02737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07400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12064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16727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521390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26054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5307177" y="4094625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353812" y="4016082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40044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44708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49371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54034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446520" y="3794760"/>
            <a:ext cx="4892039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492240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6446520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振幅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24159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时间</a:t>
            </a:r>
          </a:p>
        </p:txBody>
      </p:sp>
      <p:cxnSp>
        <p:nvCxnSpPr>
          <p:cNvPr id="116" name="Connector 115"/>
          <p:cNvCxnSpPr/>
          <p:nvPr/>
        </p:nvCxnSpPr>
        <p:spPr>
          <a:xfrm flipV="1">
            <a:off x="6565392" y="3621856"/>
            <a:ext cx="45262" cy="5824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610654" y="3564953"/>
            <a:ext cx="45263" cy="56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55917" y="3509827"/>
            <a:ext cx="45263" cy="551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701180" y="3456905"/>
            <a:ext cx="45263" cy="529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746443" y="3406595"/>
            <a:ext cx="45262" cy="5031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791705" y="3359287"/>
            <a:ext cx="45263" cy="473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836968" y="3315346"/>
            <a:ext cx="45263" cy="43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882231" y="3275112"/>
            <a:ext cx="45263" cy="4023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927494" y="3238897"/>
            <a:ext cx="45263" cy="362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972757" y="3206980"/>
            <a:ext cx="45263" cy="319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018020" y="3179608"/>
            <a:ext cx="45262" cy="273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063282" y="3156993"/>
            <a:ext cx="45263" cy="2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7108545" y="3139310"/>
            <a:ext cx="45263" cy="17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7153808" y="3126695"/>
            <a:ext cx="45263" cy="1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7199071" y="3119246"/>
            <a:ext cx="45262" cy="74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244333" y="3117021"/>
            <a:ext cx="45263" cy="222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289596" y="3117021"/>
            <a:ext cx="45263" cy="30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334859" y="3120037"/>
            <a:ext cx="45263" cy="82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380122" y="3128270"/>
            <a:ext cx="45263" cy="1338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425385" y="3141657"/>
            <a:ext cx="45263" cy="184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470648" y="3160094"/>
            <a:ext cx="45262" cy="233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515910" y="3183439"/>
            <a:ext cx="45263" cy="280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561173" y="3211511"/>
            <a:ext cx="45263" cy="3258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606436" y="3244093"/>
            <a:ext cx="45263" cy="368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651699" y="3280934"/>
            <a:ext cx="45263" cy="408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96962" y="3321747"/>
            <a:ext cx="45262" cy="444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742224" y="3366219"/>
            <a:ext cx="45263" cy="477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787487" y="3414004"/>
            <a:ext cx="45263" cy="507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32750" y="3464734"/>
            <a:ext cx="45263" cy="532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878013" y="3518015"/>
            <a:ext cx="45262" cy="554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7923275" y="3573437"/>
            <a:ext cx="45263" cy="571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7968538" y="3630570"/>
            <a:ext cx="45263" cy="584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013801" y="3688973"/>
            <a:ext cx="45263" cy="592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8059064" y="3748193"/>
            <a:ext cx="45263" cy="595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8104327" y="3807774"/>
            <a:ext cx="45263" cy="594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8149590" y="3867254"/>
            <a:ext cx="45262" cy="589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194852" y="3926174"/>
            <a:ext cx="45263" cy="57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240115" y="3984077"/>
            <a:ext cx="45263" cy="564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285378" y="4040516"/>
            <a:ext cx="45263" cy="545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8330641" y="4095055"/>
            <a:ext cx="45263" cy="522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375904" y="4147272"/>
            <a:ext cx="45262" cy="494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8421166" y="4196763"/>
            <a:ext cx="45263" cy="463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8466429" y="4243146"/>
            <a:ext cx="45263" cy="42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8511692" y="4286061"/>
            <a:ext cx="45263" cy="391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8556955" y="4325177"/>
            <a:ext cx="45262" cy="350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8602217" y="4360191"/>
            <a:ext cx="45263" cy="306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8647480" y="4390833"/>
            <a:ext cx="45263" cy="26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8692743" y="4416866"/>
            <a:ext cx="45263" cy="212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8738006" y="4438088"/>
            <a:ext cx="45263" cy="162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783269" y="4454335"/>
            <a:ext cx="45263" cy="111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828532" y="4465482"/>
            <a:ext cx="45262" cy="59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873794" y="4471443"/>
            <a:ext cx="45263" cy="7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8919057" y="4467660"/>
            <a:ext cx="45263" cy="45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8964320" y="4457946"/>
            <a:ext cx="45263" cy="97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009583" y="4443104"/>
            <a:ext cx="45263" cy="148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054846" y="4423249"/>
            <a:ext cx="45262" cy="198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9100108" y="4398533"/>
            <a:ext cx="45263" cy="247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145371" y="4369149"/>
            <a:ext cx="45263" cy="2938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190634" y="4335323"/>
            <a:ext cx="45263" cy="338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235897" y="4297316"/>
            <a:ext cx="45262" cy="380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281159" y="4255424"/>
            <a:ext cx="45263" cy="418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326422" y="4209970"/>
            <a:ext cx="45263" cy="4545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371685" y="4161304"/>
            <a:ext cx="45263" cy="4866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416948" y="4109805"/>
            <a:ext cx="45263" cy="514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462211" y="4055869"/>
            <a:ext cx="45263" cy="5393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9507474" y="3999914"/>
            <a:ext cx="45262" cy="559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9552736" y="3942373"/>
            <a:ext cx="45263" cy="575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9597999" y="3883690"/>
            <a:ext cx="45263" cy="58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9643262" y="3824319"/>
            <a:ext cx="45263" cy="5937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9688525" y="3764720"/>
            <a:ext cx="45263" cy="595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9733788" y="3705353"/>
            <a:ext cx="45262" cy="59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9779050" y="3646678"/>
            <a:ext cx="45263" cy="5867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9824313" y="3589148"/>
            <a:ext cx="45263" cy="575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9869576" y="3533207"/>
            <a:ext cx="45263" cy="55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9914839" y="3479289"/>
            <a:ext cx="45262" cy="5391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9960101" y="3427811"/>
            <a:ext cx="45263" cy="514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0005364" y="3379170"/>
            <a:ext cx="45263" cy="486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0050627" y="3333743"/>
            <a:ext cx="45263" cy="454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0095890" y="3291881"/>
            <a:ext cx="45263" cy="418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0141153" y="3253907"/>
            <a:ext cx="45262" cy="379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0186415" y="3220116"/>
            <a:ext cx="45263" cy="337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0231678" y="3190768"/>
            <a:ext cx="45263" cy="293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0276941" y="3166091"/>
            <a:ext cx="45263" cy="2467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0322204" y="3146275"/>
            <a:ext cx="45263" cy="198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0367467" y="3131474"/>
            <a:ext cx="45263" cy="148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0412730" y="3121802"/>
            <a:ext cx="45262" cy="96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0457992" y="3117333"/>
            <a:ext cx="45263" cy="44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0503255" y="3117333"/>
            <a:ext cx="45263" cy="7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0548518" y="3118103"/>
            <a:ext cx="45263" cy="60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0593781" y="3124106"/>
            <a:ext cx="45262" cy="111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0639043" y="3135294"/>
            <a:ext cx="45263" cy="162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0684306" y="3151582"/>
            <a:ext cx="45263" cy="212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10729569" y="3172844"/>
            <a:ext cx="45263" cy="260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0774832" y="3198914"/>
            <a:ext cx="45263" cy="306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0820095" y="3229592"/>
            <a:ext cx="45262" cy="350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0865357" y="3264641"/>
            <a:ext cx="45263" cy="391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0910620" y="3303789"/>
            <a:ext cx="45263" cy="4294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0955883" y="3346733"/>
            <a:ext cx="45263" cy="464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1001146" y="3393142"/>
            <a:ext cx="45263" cy="495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1046409" y="3442657"/>
            <a:ext cx="45263" cy="522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Oval 215"/>
          <p:cNvSpPr/>
          <p:nvPr/>
        </p:nvSpPr>
        <p:spPr>
          <a:xfrm>
            <a:off x="6507784" y="3622488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809536" y="32719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7111288" y="30769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413040" y="310248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714792" y="3340123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6544" y="37104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318296" y="408966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620048" y="435110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921800" y="44073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23552" y="423970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525304" y="39040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827056" y="35126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128808" y="319630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430560" y="3060634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732312" y="3151032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77824" y="5458968"/>
            <a:ext cx="10515600" cy="6126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先预测：放大到足够短的时间，会出现什么？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把振幅划分成0～7，共几个等级？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00200" y="539496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3816" y="523036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491032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3816" y="474573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442569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3816" y="426110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3941064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3816" y="377647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3456432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" y="329184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297180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" y="280720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00200" y="248716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3816" y="232257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00200" y="200253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3816" y="183794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0也是一个等级，所以一共有8个等级。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1"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5760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输入范围 [0,8) 分成8段：每一段对应一个等级。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8304" y="2907792"/>
            <a:ext cx="1234439" cy="658368"/>
          </a:xfrm>
          <a:prstGeom prst="rect">
            <a:avLst/>
          </a:prstGeom>
          <a:solidFill>
            <a:srgbClr val="EFE9FF"/>
          </a:solidFill>
          <a:ln w="381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3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35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0236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3703320"/>
            <a:ext cx="411480" cy="3017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20725" y="2468880"/>
            <a:ext cx="0" cy="4206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552145" y="2382012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00101" y="1938528"/>
            <a:ext cx="93268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FF0000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3.71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343400"/>
            <a:ext cx="10241280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红点落在哪一段？请先独立判断等级编号。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1"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把量化等级分得更细，会发生什么？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 bit → 8级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5230368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482803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4425696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402335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3621024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321868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1600" y="2816351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16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可选代表值更密集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4 bit → 16级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5230368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504261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854854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466709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447934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4291584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4103827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0" y="3916070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3728313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3540556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335280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3165043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2977286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78952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0" y="2601772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可选代表值更密集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3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演示C：3 bit变4 bit，样本会变多吗？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采样率：横向有多少次记录？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591056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量化位数：纵向有多少等级？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9264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1976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74688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27401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80113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32826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85538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38251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90963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43676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96388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49101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01813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54526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07238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59951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12663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65376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18088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70800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23513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76225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28938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81650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34363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87075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39788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92500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445213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97925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550638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03350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656063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08775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61488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14200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66912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19625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72337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25050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77762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130475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83187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235900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88612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341325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94037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46750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99462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52175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604887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57600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710312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63024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15737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68449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21162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73874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6587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9299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32012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724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7437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0149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2862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395574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448287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500999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553712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606424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659136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711849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764561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817274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869986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22699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5411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28124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80836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33549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186261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38974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291686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44399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97111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28816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28816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65392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618104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70816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23529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76241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28954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81666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34379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87091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39804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92516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45229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7941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250654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303366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356079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08791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1504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4216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66928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19641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72353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25066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77778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30491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883203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35916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988628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41341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094053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46766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99478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52191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04903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57616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10328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463040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15753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568465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621178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673890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726603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779315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832028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884740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937453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990165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042878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095590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148303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01015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253728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06440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359152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11865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464577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17290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570002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622715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675427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728140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780852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833565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886277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938990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991702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044415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097127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149840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202552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255264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307977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360689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413402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466114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518827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571539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624252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676964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729677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782389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835102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887814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940527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993239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905256" y="314096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353312" y="269005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801368" y="25445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249424" y="2803080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697480" y="329045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145536" y="3676571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593592" y="36998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041648" y="334458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489704" y="2851369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937760" y="255431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385816" y="265464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6537960" y="233172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537960" y="257860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537960" y="2825496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537960" y="3072384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537960" y="3319272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537960" y="356616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537960" y="381304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537960" y="4059935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868680" y="4864608"/>
            <a:ext cx="4983480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时间位置变密：样本个数变化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428232" y="4864608"/>
            <a:ext cx="4828032" cy="7132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代表值变密：每点存储位数变化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重要区别：位数变大，不等于同一时间里采样次数变多。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PCM样本和WAV文件，是一回事吗？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2898648" cy="13716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56946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WAV文件头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3986784" y="2176272"/>
            <a:ext cx="7059168" cy="13716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69464"/>
            <a:ext cx="627278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PCM：一个个数字样本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41063"/>
            <a:ext cx="3657600" cy="9509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采样率、声道等说明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3950208"/>
            <a:ext cx="6858000" cy="9509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例如：0010 1101 0110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编码 ≠ 压缩；WAV常保存未压缩PCM，但并非只有这一种情况。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91056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数据量（Byte） = 采样率 × 时长 × 声道数 × 位数 ÷ 8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采样率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每秒几个样本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7328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9624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采多少秒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5976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声道数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同时记录几路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64624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量化位数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每个样本多少bit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" y="4599432"/>
            <a:ext cx="10076688" cy="0"/>
          </a:xfrm>
          <a:prstGeom prst="line">
            <a:avLst/>
          </a:prstGeom>
          <a:ln w="1905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9536" y="4919472"/>
            <a:ext cx="10652760" cy="5852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前3项相乘 → 样本总数；再乘bit/样本 → bit；最后÷8 → Byte。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单位检验：Hz×s×声道×bit÷8，最终为什么得到Byte？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① 声音怎么进入电脑？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② 采样和量化有什么不同？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③ PCM为什么有大小差别？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编辑音轨和输出声道，有什么不同？</a:t>
            </a:r>
          </a:p>
        </p:txBody>
      </p:sp>
      <p:sp>
        <p:nvSpPr>
          <p:cNvPr id="5" name="codex-p41-image-caption">
            <a:extLst>
              <a:ext uri="{FF2B5EF4-FFF2-40B4-BE49-F238E27FC236}">
                <a16:creationId xmlns:a16="http://schemas.microsoft.com/office/drawing/2014/main" id="{64394259-7758-48CA-81BC-9F0132007191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905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编辑工程：2条音轨</a:t>
            </a:r>
          </a:p>
        </p:txBody>
      </p:sp>
      <p:sp>
        <p:nvSpPr>
          <p:cNvPr id="6" name="codex-p41-image-caption">
            <a:extLst>
              <a:ext uri="{FF2B5EF4-FFF2-40B4-BE49-F238E27FC236}">
                <a16:creationId xmlns:a16="http://schemas.microsoft.com/office/drawing/2014/main" id="{57950B1F-2ACA-4CDE-B006-95553658277F}"/>
              </a:ext>
            </a:extLst>
          </p:cNvPr>
          <p:cNvSpPr>
            <a:spLocks noGrp="1"/>
          </p:cNvSpPr>
          <p:nvPr/>
        </p:nvSpPr>
        <p:spPr>
          <a:xfrm>
            <a:off x="6800850" y="1762125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模型：导出2个声道</a:t>
            </a:r>
          </a:p>
        </p:txBody>
      </p:sp>
      <p:pic>
        <p:nvPicPr>
          <p:cNvPr id="7" name="codex-p41-">
            <a:extLst>
              <a:ext uri="{FF2B5EF4-FFF2-40B4-BE49-F238E27FC236}">
                <a16:creationId xmlns:a16="http://schemas.microsoft.com/office/drawing/2014/main" id="{BEBD5934-7F87-4B4D-B790-351FCAA9DC1E}"/>
              </a:ext>
            </a:extLst>
          </p:cNvPr>
          <p:cNvPicPr>
            <a:picLocks noChangeAspect="1"/>
          </p:cNvPicPr>
          <p:nvPr/>
        </p:nvPicPr>
        <p:blipFill>
          <a:blip r:embed="rIdCodex3"/>
          <a:stretch/>
        </p:blipFill>
        <p:spPr>
          <a:xfrm>
            <a:off x="609600" y="2524125"/>
            <a:ext cx="5715000" cy="2080018"/>
          </a:xfrm>
          <a:prstGeom prst="rect">
            <a:avLst/>
          </a:prstGeom>
        </p:spPr>
      </p:pic>
      <p:sp>
        <p:nvSpPr>
          <p:cNvPr id="8" name="codex-p41-image-caption">
            <a:extLst>
              <a:ext uri="{FF2B5EF4-FFF2-40B4-BE49-F238E27FC236}">
                <a16:creationId xmlns:a16="http://schemas.microsoft.com/office/drawing/2014/main" id="{C13EEC6A-F3F4-4F91-8457-BD5D530FDB9F}"/>
              </a:ext>
            </a:extLst>
          </p:cNvPr>
          <p:cNvSpPr>
            <a:spLocks noGrp="1"/>
          </p:cNvSpPr>
          <p:nvPr/>
        </p:nvSpPr>
        <p:spPr>
          <a:xfrm>
            <a:off x="609600" y="5019675"/>
            <a:ext cx="57721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此例：1条单声道音轨 + 1条立体声音轨</a:t>
            </a:r>
          </a:p>
        </p:txBody>
      </p:sp>
      <p:sp>
        <p:nvSpPr>
          <p:cNvPr id="9" name="codex-p41-mixing-operation">
            <a:extLst>
              <a:ext uri="{FF2B5EF4-FFF2-40B4-BE49-F238E27FC236}">
                <a16:creationId xmlns:a16="http://schemas.microsoft.com/office/drawing/2014/main" id="{E35C761C-CED4-40D9-9159-20935EAA0C16}"/>
              </a:ext>
            </a:extLst>
          </p:cNvPr>
          <p:cNvSpPr>
            <a:spLocks noGrp="1"/>
          </p:cNvSpPr>
          <p:nvPr/>
        </p:nvSpPr>
        <p:spPr>
          <a:xfrm>
            <a:off x="7029450" y="2752725"/>
            <a:ext cx="1190625" cy="1514475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</p:sp>
      <p:sp>
        <p:nvSpPr>
          <p:cNvPr id="10" name="codex-p41-image-caption">
            <a:extLst>
              <a:ext uri="{FF2B5EF4-FFF2-40B4-BE49-F238E27FC236}">
                <a16:creationId xmlns:a16="http://schemas.microsoft.com/office/drawing/2014/main" id="{70F50869-1B13-4F82-A104-BF074582D784}"/>
              </a:ext>
            </a:extLst>
          </p:cNvPr>
          <p:cNvSpPr>
            <a:spLocks noGrp="1"/>
          </p:cNvSpPr>
          <p:nvPr/>
        </p:nvSpPr>
        <p:spPr>
          <a:xfrm>
            <a:off x="7191375" y="3295650"/>
            <a:ext cx="9715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混音</a:t>
            </a:r>
          </a:p>
        </p:txBody>
      </p:sp>
      <p:sp>
        <p:nvSpPr>
          <p:cNvPr id="11" name="codex-p41-relationship">
            <a:extLst>
              <a:ext uri="{FF2B5EF4-FFF2-40B4-BE49-F238E27FC236}">
                <a16:creationId xmlns:a16="http://schemas.microsoft.com/office/drawing/2014/main" id="{6FAD91FE-3BC5-4F10-8F2D-45DE6FE82F7A}"/>
              </a:ext>
            </a:extLst>
          </p:cNvPr>
          <p:cNvSpPr>
            <a:spLocks noGrp="1"/>
          </p:cNvSpPr>
          <p:nvPr/>
        </p:nvSpPr>
        <p:spPr>
          <a:xfrm>
            <a:off x="6400800" y="2895600"/>
            <a:ext cx="609600" cy="285750"/>
          </a:xfrm>
          <a:custGeom>
            <a:pathLst>
              <a:path w="609600" h="285750">
                <a:moveTo>
                  <a:pt x="0" y="0"/>
                </a:moveTo>
                <a:lnTo>
                  <a:pt x="609600" y="28575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2" name="codex-p41-relationship">
            <a:extLst>
              <a:ext uri="{FF2B5EF4-FFF2-40B4-BE49-F238E27FC236}">
                <a16:creationId xmlns:a16="http://schemas.microsoft.com/office/drawing/2014/main" id="{6714A124-3FBA-42D1-8781-48F6902C70BE}"/>
              </a:ext>
            </a:extLst>
          </p:cNvPr>
          <p:cNvSpPr>
            <a:spLocks noGrp="1"/>
          </p:cNvSpPr>
          <p:nvPr/>
        </p:nvSpPr>
        <p:spPr>
          <a:xfrm>
            <a:off x="6400800" y="3800475"/>
            <a:ext cx="609600" cy="304800"/>
          </a:xfrm>
          <a:custGeom>
            <a:pathLst>
              <a:path w="609600" h="304800">
                <a:moveTo>
                  <a:pt x="0" y="304800"/>
                </a:moveTo>
                <a:lnTo>
                  <a:pt x="609600" y="0"/>
                </a:lnTo>
              </a:path>
            </a:pathLst>
          </a:custGeom>
          <a:noFill/>
          <a:ln w="19050">
            <a:solidFill>
              <a:srgbClr val="007C9B"/>
            </a:solidFill>
          </a:ln>
        </p:spPr>
      </p:sp>
      <p:sp>
        <p:nvSpPr>
          <p:cNvPr id="13" name="codex-p41-relationship">
            <a:extLst>
              <a:ext uri="{FF2B5EF4-FFF2-40B4-BE49-F238E27FC236}">
                <a16:creationId xmlns:a16="http://schemas.microsoft.com/office/drawing/2014/main" id="{7E11380A-E3B6-4B13-89FA-A3034D6A02E2}"/>
              </a:ext>
            </a:extLst>
          </p:cNvPr>
          <p:cNvSpPr>
            <a:spLocks noGrp="1"/>
          </p:cNvSpPr>
          <p:nvPr/>
        </p:nvSpPr>
        <p:spPr>
          <a:xfrm>
            <a:off x="8220075" y="3505200"/>
            <a:ext cx="342900" cy="9525"/>
          </a:xfrm>
          <a:custGeom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4" name="codex-p41-relationship">
            <a:extLst>
              <a:ext uri="{FF2B5EF4-FFF2-40B4-BE49-F238E27FC236}">
                <a16:creationId xmlns:a16="http://schemas.microsoft.com/office/drawing/2014/main" id="{0D10886E-B3CE-4617-8164-71C5BB7B4759}"/>
              </a:ext>
            </a:extLst>
          </p:cNvPr>
          <p:cNvSpPr>
            <a:spLocks noGrp="1"/>
          </p:cNvSpPr>
          <p:nvPr/>
        </p:nvSpPr>
        <p:spPr>
          <a:xfrm>
            <a:off x="8562975" y="2905125"/>
            <a:ext cx="9525" cy="1266825"/>
          </a:xfrm>
          <a:custGeom>
            <a:pathLst>
              <a:path w="9525" h="1266825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5" name="codex-p41-relationship">
            <a:extLst>
              <a:ext uri="{FF2B5EF4-FFF2-40B4-BE49-F238E27FC236}">
                <a16:creationId xmlns:a16="http://schemas.microsoft.com/office/drawing/2014/main" id="{B52A2306-5555-4EB4-BAE9-9D81FF0EA97D}"/>
              </a:ext>
            </a:extLst>
          </p:cNvPr>
          <p:cNvSpPr>
            <a:spLocks noGrp="1"/>
          </p:cNvSpPr>
          <p:nvPr/>
        </p:nvSpPr>
        <p:spPr>
          <a:xfrm>
            <a:off x="8562975" y="2905125"/>
            <a:ext cx="247650" cy="9525"/>
          </a:xfrm>
          <a:custGeom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6" name="codex-p41-relationship">
            <a:extLst>
              <a:ext uri="{FF2B5EF4-FFF2-40B4-BE49-F238E27FC236}">
                <a16:creationId xmlns:a16="http://schemas.microsoft.com/office/drawing/2014/main" id="{6E098BF4-94BB-42E4-A0E8-4917CD88458E}"/>
              </a:ext>
            </a:extLst>
          </p:cNvPr>
          <p:cNvSpPr>
            <a:spLocks noGrp="1"/>
          </p:cNvSpPr>
          <p:nvPr/>
        </p:nvSpPr>
        <p:spPr>
          <a:xfrm>
            <a:off x="8562975" y="4171950"/>
            <a:ext cx="247650" cy="9525"/>
          </a:xfrm>
          <a:custGeom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7" name="codex-p41-image-caption">
            <a:extLst>
              <a:ext uri="{FF2B5EF4-FFF2-40B4-BE49-F238E27FC236}">
                <a16:creationId xmlns:a16="http://schemas.microsoft.com/office/drawing/2014/main" id="{B7CC732A-8834-4B9F-BCAB-17D81FD57ABF}"/>
              </a:ext>
            </a:extLst>
          </p:cNvPr>
          <p:cNvSpPr>
            <a:spLocks noGrp="1"/>
          </p:cNvSpPr>
          <p:nvPr/>
        </p:nvSpPr>
        <p:spPr>
          <a:xfrm>
            <a:off x="8724900" y="2447925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L</a:t>
            </a:r>
          </a:p>
        </p:txBody>
      </p:sp>
      <p:sp>
        <p:nvSpPr>
          <p:cNvPr id="18" name="codex-p41-mixed-output-0">
            <a:extLst>
              <a:ext uri="{FF2B5EF4-FFF2-40B4-BE49-F238E27FC236}">
                <a16:creationId xmlns:a16="http://schemas.microsoft.com/office/drawing/2014/main" id="{478BB851-6490-49FF-94CB-F62A41DA3FD4}"/>
              </a:ext>
            </a:extLst>
          </p:cNvPr>
          <p:cNvSpPr>
            <a:spLocks noGrp="1"/>
          </p:cNvSpPr>
          <p:nvPr/>
        </p:nvSpPr>
        <p:spPr>
          <a:xfrm>
            <a:off x="9039225" y="2627411"/>
            <a:ext cx="2333625" cy="555428"/>
          </a:xfrm>
          <a:custGeom>
            <a:pathLst>
              <a:path w="2333625" h="555428">
                <a:moveTo>
                  <a:pt x="0" y="277714"/>
                </a:moveTo>
                <a:lnTo>
                  <a:pt x="23336" y="224404"/>
                </a:lnTo>
                <a:lnTo>
                  <a:pt x="46672" y="174352"/>
                </a:lnTo>
                <a:lnTo>
                  <a:pt x="70009" y="130527"/>
                </a:lnTo>
                <a:lnTo>
                  <a:pt x="93345" y="95352"/>
                </a:lnTo>
                <a:lnTo>
                  <a:pt x="116681" y="70491"/>
                </a:lnTo>
                <a:lnTo>
                  <a:pt x="140018" y="56719"/>
                </a:lnTo>
                <a:lnTo>
                  <a:pt x="163354" y="53872"/>
                </a:lnTo>
                <a:lnTo>
                  <a:pt x="186690" y="60883"/>
                </a:lnTo>
                <a:lnTo>
                  <a:pt x="210026" y="75910"/>
                </a:lnTo>
                <a:lnTo>
                  <a:pt x="233363" y="96538"/>
                </a:lnTo>
                <a:lnTo>
                  <a:pt x="256699" y="120022"/>
                </a:lnTo>
                <a:lnTo>
                  <a:pt x="280035" y="143576"/>
                </a:lnTo>
                <a:lnTo>
                  <a:pt x="303371" y="164649"/>
                </a:lnTo>
                <a:lnTo>
                  <a:pt x="326707" y="181176"/>
                </a:lnTo>
                <a:lnTo>
                  <a:pt x="350044" y="191788"/>
                </a:lnTo>
                <a:lnTo>
                  <a:pt x="373380" y="195932"/>
                </a:lnTo>
                <a:lnTo>
                  <a:pt x="396716" y="193928"/>
                </a:lnTo>
                <a:lnTo>
                  <a:pt x="420053" y="186918"/>
                </a:lnTo>
                <a:lnTo>
                  <a:pt x="443389" y="176741"/>
                </a:lnTo>
                <a:lnTo>
                  <a:pt x="466725" y="165741"/>
                </a:lnTo>
                <a:lnTo>
                  <a:pt x="490061" y="156506"/>
                </a:lnTo>
                <a:lnTo>
                  <a:pt x="513397" y="151600"/>
                </a:lnTo>
                <a:lnTo>
                  <a:pt x="536734" y="153280"/>
                </a:lnTo>
                <a:lnTo>
                  <a:pt x="560070" y="163250"/>
                </a:lnTo>
                <a:lnTo>
                  <a:pt x="583406" y="182464"/>
                </a:lnTo>
                <a:lnTo>
                  <a:pt x="606743" y="211002"/>
                </a:lnTo>
                <a:lnTo>
                  <a:pt x="630079" y="248030"/>
                </a:lnTo>
                <a:lnTo>
                  <a:pt x="653415" y="291855"/>
                </a:lnTo>
                <a:lnTo>
                  <a:pt x="676751" y="340054"/>
                </a:lnTo>
                <a:lnTo>
                  <a:pt x="700088" y="389687"/>
                </a:lnTo>
                <a:lnTo>
                  <a:pt x="723424" y="437554"/>
                </a:lnTo>
                <a:lnTo>
                  <a:pt x="746760" y="480483"/>
                </a:lnTo>
                <a:lnTo>
                  <a:pt x="770096" y="515617"/>
                </a:lnTo>
                <a:lnTo>
                  <a:pt x="793432" y="540672"/>
                </a:lnTo>
                <a:lnTo>
                  <a:pt x="816769" y="554140"/>
                </a:lnTo>
                <a:lnTo>
                  <a:pt x="840105" y="555428"/>
                </a:lnTo>
                <a:lnTo>
                  <a:pt x="863441" y="544897"/>
                </a:lnTo>
                <a:lnTo>
                  <a:pt x="886777" y="523824"/>
                </a:lnTo>
                <a:lnTo>
                  <a:pt x="910114" y="494273"/>
                </a:lnTo>
                <a:lnTo>
                  <a:pt x="933450" y="458890"/>
                </a:lnTo>
                <a:lnTo>
                  <a:pt x="956786" y="420650"/>
                </a:lnTo>
                <a:lnTo>
                  <a:pt x="980123" y="382572"/>
                </a:lnTo>
                <a:lnTo>
                  <a:pt x="1003459" y="347438"/>
                </a:lnTo>
                <a:lnTo>
                  <a:pt x="1026795" y="317532"/>
                </a:lnTo>
                <a:lnTo>
                  <a:pt x="1050131" y="294437"/>
                </a:lnTo>
                <a:lnTo>
                  <a:pt x="1073468" y="278900"/>
                </a:lnTo>
                <a:lnTo>
                  <a:pt x="1096804" y="270783"/>
                </a:lnTo>
                <a:lnTo>
                  <a:pt x="1120140" y="269103"/>
                </a:lnTo>
                <a:lnTo>
                  <a:pt x="1143476" y="272156"/>
                </a:lnTo>
                <a:lnTo>
                  <a:pt x="1166813" y="277714"/>
                </a:lnTo>
                <a:lnTo>
                  <a:pt x="1190149" y="283272"/>
                </a:lnTo>
                <a:lnTo>
                  <a:pt x="1213485" y="286325"/>
                </a:lnTo>
                <a:lnTo>
                  <a:pt x="1236821" y="284645"/>
                </a:lnTo>
                <a:lnTo>
                  <a:pt x="1260157" y="276528"/>
                </a:lnTo>
                <a:lnTo>
                  <a:pt x="1283494" y="260991"/>
                </a:lnTo>
                <a:lnTo>
                  <a:pt x="1306830" y="237896"/>
                </a:lnTo>
                <a:lnTo>
                  <a:pt x="1330166" y="207990"/>
                </a:lnTo>
                <a:lnTo>
                  <a:pt x="1353502" y="172856"/>
                </a:lnTo>
                <a:lnTo>
                  <a:pt x="1376839" y="134778"/>
                </a:lnTo>
                <a:lnTo>
                  <a:pt x="1400175" y="96538"/>
                </a:lnTo>
                <a:lnTo>
                  <a:pt x="1423511" y="61154"/>
                </a:lnTo>
                <a:lnTo>
                  <a:pt x="1446848" y="31603"/>
                </a:lnTo>
                <a:lnTo>
                  <a:pt x="1470184" y="10531"/>
                </a:lnTo>
                <a:lnTo>
                  <a:pt x="1493520" y="0"/>
                </a:lnTo>
                <a:lnTo>
                  <a:pt x="1516856" y="1288"/>
                </a:lnTo>
                <a:lnTo>
                  <a:pt x="1540193" y="14756"/>
                </a:lnTo>
                <a:lnTo>
                  <a:pt x="1563529" y="39811"/>
                </a:lnTo>
                <a:lnTo>
                  <a:pt x="1586865" y="74945"/>
                </a:lnTo>
                <a:lnTo>
                  <a:pt x="1610201" y="117874"/>
                </a:lnTo>
                <a:lnTo>
                  <a:pt x="1633538" y="165741"/>
                </a:lnTo>
                <a:lnTo>
                  <a:pt x="1656874" y="215374"/>
                </a:lnTo>
                <a:lnTo>
                  <a:pt x="1680210" y="263573"/>
                </a:lnTo>
                <a:lnTo>
                  <a:pt x="1703546" y="307397"/>
                </a:lnTo>
                <a:lnTo>
                  <a:pt x="1726882" y="344426"/>
                </a:lnTo>
                <a:lnTo>
                  <a:pt x="1750219" y="372964"/>
                </a:lnTo>
                <a:lnTo>
                  <a:pt x="1773555" y="392178"/>
                </a:lnTo>
                <a:lnTo>
                  <a:pt x="1796891" y="402148"/>
                </a:lnTo>
                <a:lnTo>
                  <a:pt x="1820227" y="403828"/>
                </a:lnTo>
                <a:lnTo>
                  <a:pt x="1843564" y="398922"/>
                </a:lnTo>
                <a:lnTo>
                  <a:pt x="1866900" y="389687"/>
                </a:lnTo>
                <a:lnTo>
                  <a:pt x="1890236" y="378686"/>
                </a:lnTo>
                <a:lnTo>
                  <a:pt x="1913573" y="368510"/>
                </a:lnTo>
                <a:lnTo>
                  <a:pt x="1936909" y="361499"/>
                </a:lnTo>
                <a:lnTo>
                  <a:pt x="1960245" y="359495"/>
                </a:lnTo>
                <a:lnTo>
                  <a:pt x="1983581" y="363640"/>
                </a:lnTo>
                <a:lnTo>
                  <a:pt x="2006918" y="374251"/>
                </a:lnTo>
                <a:lnTo>
                  <a:pt x="2030254" y="390779"/>
                </a:lnTo>
                <a:lnTo>
                  <a:pt x="2053590" y="411851"/>
                </a:lnTo>
                <a:lnTo>
                  <a:pt x="2076926" y="435406"/>
                </a:lnTo>
                <a:lnTo>
                  <a:pt x="2100263" y="458890"/>
                </a:lnTo>
                <a:lnTo>
                  <a:pt x="2123599" y="479517"/>
                </a:lnTo>
                <a:lnTo>
                  <a:pt x="2146935" y="494545"/>
                </a:lnTo>
                <a:lnTo>
                  <a:pt x="2170271" y="501555"/>
                </a:lnTo>
                <a:lnTo>
                  <a:pt x="2193607" y="498708"/>
                </a:lnTo>
                <a:lnTo>
                  <a:pt x="2216944" y="484937"/>
                </a:lnTo>
                <a:lnTo>
                  <a:pt x="2240280" y="460076"/>
                </a:lnTo>
                <a:lnTo>
                  <a:pt x="2263616" y="424900"/>
                </a:lnTo>
                <a:lnTo>
                  <a:pt x="2286952" y="381076"/>
                </a:lnTo>
                <a:lnTo>
                  <a:pt x="2310289" y="331024"/>
                </a:lnTo>
                <a:lnTo>
                  <a:pt x="2333625" y="277714"/>
                </a:lnTo>
              </a:path>
            </a:pathLst>
          </a:custGeom>
          <a:noFill/>
          <a:ln w="19050">
            <a:solidFill>
              <a:srgbClr val="00B0F0"/>
            </a:solidFill>
          </a:ln>
        </p:spPr>
      </p:sp>
      <p:sp>
        <p:nvSpPr>
          <p:cNvPr id="19" name="codex-p41-image-caption">
            <a:extLst>
              <a:ext uri="{FF2B5EF4-FFF2-40B4-BE49-F238E27FC236}">
                <a16:creationId xmlns:a16="http://schemas.microsoft.com/office/drawing/2014/main" id="{1FAFB3B4-3BA9-42BA-9F2C-4CE5AE04C343}"/>
              </a:ext>
            </a:extLst>
          </p:cNvPr>
          <p:cNvSpPr>
            <a:spLocks noGrp="1"/>
          </p:cNvSpPr>
          <p:nvPr/>
        </p:nvSpPr>
        <p:spPr>
          <a:xfrm>
            <a:off x="8724900" y="3714750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R</a:t>
            </a:r>
          </a:p>
        </p:txBody>
      </p:sp>
      <p:sp>
        <p:nvSpPr>
          <p:cNvPr id="20" name="codex-p41-mixed-output-1">
            <a:extLst>
              <a:ext uri="{FF2B5EF4-FFF2-40B4-BE49-F238E27FC236}">
                <a16:creationId xmlns:a16="http://schemas.microsoft.com/office/drawing/2014/main" id="{4C32B8DC-9295-44EA-8C9B-5F5AA6AC7C61}"/>
              </a:ext>
            </a:extLst>
          </p:cNvPr>
          <p:cNvSpPr>
            <a:spLocks noGrp="1"/>
          </p:cNvSpPr>
          <p:nvPr/>
        </p:nvSpPr>
        <p:spPr>
          <a:xfrm>
            <a:off x="9039225" y="3894236"/>
            <a:ext cx="2333625" cy="555428"/>
          </a:xfrm>
          <a:custGeom>
            <a:pathLst>
              <a:path w="2333625" h="555428">
                <a:moveTo>
                  <a:pt x="0" y="277714"/>
                </a:moveTo>
                <a:lnTo>
                  <a:pt x="23336" y="224404"/>
                </a:lnTo>
                <a:lnTo>
                  <a:pt x="46672" y="174352"/>
                </a:lnTo>
                <a:lnTo>
                  <a:pt x="70009" y="130527"/>
                </a:lnTo>
                <a:lnTo>
                  <a:pt x="93345" y="95352"/>
                </a:lnTo>
                <a:lnTo>
                  <a:pt x="116681" y="70491"/>
                </a:lnTo>
                <a:lnTo>
                  <a:pt x="140018" y="56719"/>
                </a:lnTo>
                <a:lnTo>
                  <a:pt x="163354" y="53872"/>
                </a:lnTo>
                <a:lnTo>
                  <a:pt x="186690" y="60883"/>
                </a:lnTo>
                <a:lnTo>
                  <a:pt x="210026" y="75910"/>
                </a:lnTo>
                <a:lnTo>
                  <a:pt x="233363" y="96538"/>
                </a:lnTo>
                <a:lnTo>
                  <a:pt x="256699" y="120022"/>
                </a:lnTo>
                <a:lnTo>
                  <a:pt x="280035" y="143576"/>
                </a:lnTo>
                <a:lnTo>
                  <a:pt x="303371" y="164649"/>
                </a:lnTo>
                <a:lnTo>
                  <a:pt x="326707" y="181176"/>
                </a:lnTo>
                <a:lnTo>
                  <a:pt x="350044" y="191788"/>
                </a:lnTo>
                <a:lnTo>
                  <a:pt x="373380" y="195932"/>
                </a:lnTo>
                <a:lnTo>
                  <a:pt x="396716" y="193928"/>
                </a:lnTo>
                <a:lnTo>
                  <a:pt x="420053" y="186918"/>
                </a:lnTo>
                <a:lnTo>
                  <a:pt x="443389" y="176741"/>
                </a:lnTo>
                <a:lnTo>
                  <a:pt x="466725" y="165741"/>
                </a:lnTo>
                <a:lnTo>
                  <a:pt x="490061" y="156506"/>
                </a:lnTo>
                <a:lnTo>
                  <a:pt x="513397" y="151600"/>
                </a:lnTo>
                <a:lnTo>
                  <a:pt x="536734" y="153280"/>
                </a:lnTo>
                <a:lnTo>
                  <a:pt x="560070" y="163250"/>
                </a:lnTo>
                <a:lnTo>
                  <a:pt x="583406" y="182464"/>
                </a:lnTo>
                <a:lnTo>
                  <a:pt x="606743" y="211002"/>
                </a:lnTo>
                <a:lnTo>
                  <a:pt x="630079" y="248030"/>
                </a:lnTo>
                <a:lnTo>
                  <a:pt x="653415" y="291855"/>
                </a:lnTo>
                <a:lnTo>
                  <a:pt x="676751" y="340054"/>
                </a:lnTo>
                <a:lnTo>
                  <a:pt x="700088" y="389687"/>
                </a:lnTo>
                <a:lnTo>
                  <a:pt x="723424" y="437554"/>
                </a:lnTo>
                <a:lnTo>
                  <a:pt x="746760" y="480483"/>
                </a:lnTo>
                <a:lnTo>
                  <a:pt x="770096" y="515617"/>
                </a:lnTo>
                <a:lnTo>
                  <a:pt x="793432" y="540672"/>
                </a:lnTo>
                <a:lnTo>
                  <a:pt x="816769" y="554140"/>
                </a:lnTo>
                <a:lnTo>
                  <a:pt x="840105" y="555428"/>
                </a:lnTo>
                <a:lnTo>
                  <a:pt x="863441" y="544897"/>
                </a:lnTo>
                <a:lnTo>
                  <a:pt x="886777" y="523824"/>
                </a:lnTo>
                <a:lnTo>
                  <a:pt x="910114" y="494273"/>
                </a:lnTo>
                <a:lnTo>
                  <a:pt x="933450" y="458890"/>
                </a:lnTo>
                <a:lnTo>
                  <a:pt x="956786" y="420650"/>
                </a:lnTo>
                <a:lnTo>
                  <a:pt x="980123" y="382572"/>
                </a:lnTo>
                <a:lnTo>
                  <a:pt x="1003459" y="347438"/>
                </a:lnTo>
                <a:lnTo>
                  <a:pt x="1026795" y="317532"/>
                </a:lnTo>
                <a:lnTo>
                  <a:pt x="1050131" y="294437"/>
                </a:lnTo>
                <a:lnTo>
                  <a:pt x="1073468" y="278900"/>
                </a:lnTo>
                <a:lnTo>
                  <a:pt x="1096804" y="270783"/>
                </a:lnTo>
                <a:lnTo>
                  <a:pt x="1120140" y="269103"/>
                </a:lnTo>
                <a:lnTo>
                  <a:pt x="1143476" y="272156"/>
                </a:lnTo>
                <a:lnTo>
                  <a:pt x="1166813" y="277714"/>
                </a:lnTo>
                <a:lnTo>
                  <a:pt x="1190149" y="283272"/>
                </a:lnTo>
                <a:lnTo>
                  <a:pt x="1213485" y="286325"/>
                </a:lnTo>
                <a:lnTo>
                  <a:pt x="1236821" y="284645"/>
                </a:lnTo>
                <a:lnTo>
                  <a:pt x="1260157" y="276528"/>
                </a:lnTo>
                <a:lnTo>
                  <a:pt x="1283494" y="260991"/>
                </a:lnTo>
                <a:lnTo>
                  <a:pt x="1306830" y="237896"/>
                </a:lnTo>
                <a:lnTo>
                  <a:pt x="1330166" y="207990"/>
                </a:lnTo>
                <a:lnTo>
                  <a:pt x="1353502" y="172856"/>
                </a:lnTo>
                <a:lnTo>
                  <a:pt x="1376839" y="134778"/>
                </a:lnTo>
                <a:lnTo>
                  <a:pt x="1400175" y="96538"/>
                </a:lnTo>
                <a:lnTo>
                  <a:pt x="1423511" y="61154"/>
                </a:lnTo>
                <a:lnTo>
                  <a:pt x="1446848" y="31603"/>
                </a:lnTo>
                <a:lnTo>
                  <a:pt x="1470184" y="10531"/>
                </a:lnTo>
                <a:lnTo>
                  <a:pt x="1493520" y="0"/>
                </a:lnTo>
                <a:lnTo>
                  <a:pt x="1516856" y="1288"/>
                </a:lnTo>
                <a:lnTo>
                  <a:pt x="1540193" y="14756"/>
                </a:lnTo>
                <a:lnTo>
                  <a:pt x="1563529" y="39811"/>
                </a:lnTo>
                <a:lnTo>
                  <a:pt x="1586865" y="74945"/>
                </a:lnTo>
                <a:lnTo>
                  <a:pt x="1610201" y="117874"/>
                </a:lnTo>
                <a:lnTo>
                  <a:pt x="1633538" y="165741"/>
                </a:lnTo>
                <a:lnTo>
                  <a:pt x="1656874" y="215374"/>
                </a:lnTo>
                <a:lnTo>
                  <a:pt x="1680210" y="263573"/>
                </a:lnTo>
                <a:lnTo>
                  <a:pt x="1703546" y="307397"/>
                </a:lnTo>
                <a:lnTo>
                  <a:pt x="1726882" y="344426"/>
                </a:lnTo>
                <a:lnTo>
                  <a:pt x="1750219" y="372964"/>
                </a:lnTo>
                <a:lnTo>
                  <a:pt x="1773555" y="392178"/>
                </a:lnTo>
                <a:lnTo>
                  <a:pt x="1796891" y="402148"/>
                </a:lnTo>
                <a:lnTo>
                  <a:pt x="1820227" y="403828"/>
                </a:lnTo>
                <a:lnTo>
                  <a:pt x="1843564" y="398922"/>
                </a:lnTo>
                <a:lnTo>
                  <a:pt x="1866900" y="389687"/>
                </a:lnTo>
                <a:lnTo>
                  <a:pt x="1890236" y="378686"/>
                </a:lnTo>
                <a:lnTo>
                  <a:pt x="1913573" y="368510"/>
                </a:lnTo>
                <a:lnTo>
                  <a:pt x="1936909" y="361499"/>
                </a:lnTo>
                <a:lnTo>
                  <a:pt x="1960245" y="359495"/>
                </a:lnTo>
                <a:lnTo>
                  <a:pt x="1983581" y="363640"/>
                </a:lnTo>
                <a:lnTo>
                  <a:pt x="2006918" y="374251"/>
                </a:lnTo>
                <a:lnTo>
                  <a:pt x="2030254" y="390779"/>
                </a:lnTo>
                <a:lnTo>
                  <a:pt x="2053590" y="411851"/>
                </a:lnTo>
                <a:lnTo>
                  <a:pt x="2076926" y="435406"/>
                </a:lnTo>
                <a:lnTo>
                  <a:pt x="2100263" y="458890"/>
                </a:lnTo>
                <a:lnTo>
                  <a:pt x="2123599" y="479517"/>
                </a:lnTo>
                <a:lnTo>
                  <a:pt x="2146935" y="494545"/>
                </a:lnTo>
                <a:lnTo>
                  <a:pt x="2170271" y="501555"/>
                </a:lnTo>
                <a:lnTo>
                  <a:pt x="2193607" y="498708"/>
                </a:lnTo>
                <a:lnTo>
                  <a:pt x="2216944" y="484937"/>
                </a:lnTo>
                <a:lnTo>
                  <a:pt x="2240280" y="460076"/>
                </a:lnTo>
                <a:lnTo>
                  <a:pt x="2263616" y="424900"/>
                </a:lnTo>
                <a:lnTo>
                  <a:pt x="2286952" y="381076"/>
                </a:lnTo>
                <a:lnTo>
                  <a:pt x="2310289" y="331024"/>
                </a:lnTo>
                <a:lnTo>
                  <a:pt x="2333625" y="277714"/>
                </a:lnTo>
              </a:path>
            </a:pathLst>
          </a:custGeom>
          <a:noFill/>
          <a:ln w="19050">
            <a:solidFill>
              <a:srgbClr val="00B0F0"/>
            </a:solidFill>
          </a:ln>
        </p:spPr>
      </p:sp>
      <p:sp>
        <p:nvSpPr>
          <p:cNvPr id="21" name="codex-p41-image-caption">
            <a:extLst>
              <a:ext uri="{FF2B5EF4-FFF2-40B4-BE49-F238E27FC236}">
                <a16:creationId xmlns:a16="http://schemas.microsoft.com/office/drawing/2014/main" id="{6073D8B6-E297-4AAE-9693-F8A45F322341}"/>
              </a:ext>
            </a:extLst>
          </p:cNvPr>
          <p:cNvSpPr>
            <a:spLocks noGrp="1"/>
          </p:cNvSpPr>
          <p:nvPr/>
        </p:nvSpPr>
        <p:spPr>
          <a:xfrm>
            <a:off x="6800850" y="5019675"/>
            <a:ext cx="4762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L、R都可包含两条音轨的内容</a:t>
            </a:r>
          </a:p>
        </p:txBody>
      </p:sp>
      <p:sp>
        <p:nvSpPr>
          <p:cNvPr id="22" name="codex-p41-image-caption">
            <a:extLst>
              <a:ext uri="{FF2B5EF4-FFF2-40B4-BE49-F238E27FC236}">
                <a16:creationId xmlns:a16="http://schemas.microsoft.com/office/drawing/2014/main" id="{8F21A240-A86E-40A2-AD2F-4B387153BE49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容量由导出的声道数决定；编辑工程的音轨数另行统计。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6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9344"/>
            <a:ext cx="10570464" cy="521207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同一个球，在5个连续时刻的位置变化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6868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41248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第1帧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0896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92423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第2帧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34924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43600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第3帧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58952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494776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第4帧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82980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1045952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第5帧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16636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位置逐帧变化（背景和球的大小不变）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25 fps = 每秒显示25帧；“帧”不是声道，也不是采样位数。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10分钟视频，为什么远小于6.44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刚才的计算错了吗？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如果公式没错，实际文件为什么可能小得多？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请提出至少一种可以检验的解释。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1"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1" sz="2300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两种压缩：怎样区分“无损”和“有损”？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无损压缩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有损压缩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还原以后，与原始数据完全一致。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适合：文档、程序、精确备份。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还原以后，无法与原始数据完全一致。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适合：可接受部分失真的音视频。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30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sz="30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81912"/>
            <a:ext cx="1069848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62626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三幅图具有相同的宽、高与位深。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2176272"/>
            <a:ext cx="3310128" cy="2688336"/>
          </a:xfrm>
          <a:prstGeom prst="rect">
            <a:avLst/>
          </a:prstGeom>
          <a:solidFill>
            <a:srgbClr val="539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A：纯色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884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884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12614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2614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2614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2614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12614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12614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38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2638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2638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2638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2638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2638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40146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40146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40146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40146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40146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40146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53912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3912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3912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53912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53912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3912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6767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6767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6767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6767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6767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6767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81444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81444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81444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81444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81444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81444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9521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9521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9521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9521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9521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9521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98848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B：规律色块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11311" y="2176272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11311" y="2325623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11311" y="247497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11311" y="2624328"/>
            <a:ext cx="145237" cy="156667"/>
          </a:xfrm>
          <a:prstGeom prst="rect">
            <a:avLst/>
          </a:prstGeom>
          <a:solidFill>
            <a:srgbClr val="80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11311" y="2773680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11311" y="2923031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11311" y="3072384"/>
            <a:ext cx="145237" cy="156667"/>
          </a:xfrm>
          <a:prstGeom prst="rect">
            <a:avLst/>
          </a:prstGeom>
          <a:solidFill>
            <a:srgbClr val="7C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11311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11311" y="3371088"/>
            <a:ext cx="145237" cy="156667"/>
          </a:xfrm>
          <a:prstGeom prst="rect">
            <a:avLst/>
          </a:prstGeom>
          <a:solidFill>
            <a:srgbClr val="799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1" y="3520439"/>
            <a:ext cx="145237" cy="156667"/>
          </a:xfrm>
          <a:prstGeom prst="rect">
            <a:avLst/>
          </a:prstGeom>
          <a:solidFill>
            <a:srgbClr val="789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11311" y="3669792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11311" y="3819143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11311" y="396849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11311" y="4117847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11311" y="4267199"/>
            <a:ext cx="145237" cy="156667"/>
          </a:xfrm>
          <a:prstGeom prst="rect">
            <a:avLst/>
          </a:prstGeom>
          <a:solidFill>
            <a:srgbClr val="71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11311" y="4416552"/>
            <a:ext cx="145237" cy="156667"/>
          </a:xfrm>
          <a:prstGeom prst="rect">
            <a:avLst/>
          </a:prstGeom>
          <a:solidFill>
            <a:srgbClr val="704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1131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11311" y="471525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49233" y="217627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49233" y="2325623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349233" y="247497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49233" y="2624328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49233" y="2773680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49233" y="2923031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349233" y="3072384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349233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349233" y="337108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349233" y="3520439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49233" y="3669792"/>
            <a:ext cx="145237" cy="156667"/>
          </a:xfrm>
          <a:prstGeom prst="rect">
            <a:avLst/>
          </a:prstGeom>
          <a:solidFill>
            <a:srgbClr val="3C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349233" y="3819143"/>
            <a:ext cx="145237" cy="156667"/>
          </a:xfrm>
          <a:prstGeom prst="rect">
            <a:avLst/>
          </a:prstGeom>
          <a:solidFill>
            <a:srgbClr val="5BB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9233" y="396849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349233" y="4117847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49233" y="4267199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349233" y="4416552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34923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49233" y="471525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487155" y="2176272"/>
            <a:ext cx="145237" cy="156667"/>
          </a:xfrm>
          <a:prstGeom prst="rect">
            <a:avLst/>
          </a:prstGeom>
          <a:solidFill>
            <a:srgbClr val="31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87155" y="2325623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87155" y="247497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87155" y="2624328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87155" y="2773680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487155" y="2923031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87155" y="3072384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87155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487155" y="3371088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487155" y="3520439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487155" y="3669792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487155" y="3819143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487155" y="396849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487155" y="4117847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487155" y="4267199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487155" y="4416552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48715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487155" y="4715256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625078" y="2176272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625078" y="2325623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625078" y="2474976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625078" y="2624328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625078" y="2773680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25078" y="2923031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25078" y="3072384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25078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25078" y="3371088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625078" y="3520439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25078" y="3669792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625078" y="3819143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625078" y="3968496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625078" y="4117847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625078" y="4267199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625078" y="4416552"/>
            <a:ext cx="145237" cy="156667"/>
          </a:xfrm>
          <a:prstGeom prst="rect">
            <a:avLst/>
          </a:prstGeom>
          <a:solidFill>
            <a:srgbClr val="536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62507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625078" y="471525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762999" y="2176272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762999" y="2325623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762999" y="247497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762999" y="2624328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762999" y="2773680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762999" y="2923031"/>
            <a:ext cx="145237" cy="156667"/>
          </a:xfrm>
          <a:prstGeom prst="rect">
            <a:avLst/>
          </a:prstGeom>
          <a:solidFill>
            <a:srgbClr val="604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762999" y="3072384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762999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762999" y="3371088"/>
            <a:ext cx="145237" cy="156667"/>
          </a:xfrm>
          <a:prstGeom prst="rect">
            <a:avLst/>
          </a:prstGeom>
          <a:solidFill>
            <a:srgbClr val="37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762999" y="3520439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762999" y="3669792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62999" y="3819143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762999" y="396849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762999" y="4117847"/>
            <a:ext cx="145237" cy="156667"/>
          </a:xfrm>
          <a:prstGeom prst="rect">
            <a:avLst/>
          </a:prstGeom>
          <a:solidFill>
            <a:srgbClr val="64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762999" y="4267199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762999" y="4416552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76299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762999" y="471525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900921" y="2176272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900921" y="2325623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900921" y="247497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900921" y="262432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900921" y="2773680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900921" y="2923031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900921" y="3072384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900921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900921" y="3371088"/>
            <a:ext cx="145237" cy="156667"/>
          </a:xfrm>
          <a:prstGeom prst="rect">
            <a:avLst/>
          </a:prstGeom>
          <a:solidFill>
            <a:srgbClr val="67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900921" y="3520439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900921" y="3669792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900921" y="3819143"/>
            <a:ext cx="145237" cy="156667"/>
          </a:xfrm>
          <a:prstGeom prst="rect">
            <a:avLst/>
          </a:prstGeom>
          <a:solidFill>
            <a:srgbClr val="4A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900921" y="3968496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900921" y="4117847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900921" y="4267199"/>
            <a:ext cx="145237" cy="156667"/>
          </a:xfrm>
          <a:prstGeom prst="rect">
            <a:avLst/>
          </a:prstGeom>
          <a:solidFill>
            <a:srgbClr val="825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8900921" y="4416552"/>
            <a:ext cx="145237" cy="156667"/>
          </a:xfrm>
          <a:prstGeom prst="rect">
            <a:avLst/>
          </a:prstGeom>
          <a:solidFill>
            <a:srgbClr val="789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90092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900921" y="471525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038843" y="217627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038843" y="2325623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038843" y="247497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038843" y="2624328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038843" y="2773680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038843" y="2923031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038843" y="3072384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038843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038843" y="3371088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038843" y="3520439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038843" y="3669792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038843" y="3819143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038843" y="396849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038843" y="4117847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9038843" y="4267199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9038843" y="441655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903884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9038843" y="471525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9176766" y="217627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9176766" y="2325623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9176766" y="247497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176766" y="2624328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176766" y="2773680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176766" y="2923031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176766" y="3072384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9176766" y="322173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176766" y="3371088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9176766" y="3520439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176766" y="3669792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9176766" y="381914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176766" y="396849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176766" y="4117847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176766" y="4267199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9176766" y="441655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917676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9176766" y="471525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314688" y="2176272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314688" y="2325623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314688" y="2474976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314688" y="2624328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314688" y="2773680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314688" y="2923031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314688" y="3072384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9314688" y="322173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9314688" y="3371088"/>
            <a:ext cx="145237" cy="156667"/>
          </a:xfrm>
          <a:prstGeom prst="rect">
            <a:avLst/>
          </a:prstGeom>
          <a:solidFill>
            <a:srgbClr val="4BA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9314688" y="3520439"/>
            <a:ext cx="145237" cy="156667"/>
          </a:xfrm>
          <a:prstGeom prst="rect">
            <a:avLst/>
          </a:prstGeom>
          <a:solidFill>
            <a:srgbClr val="4DC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9314688" y="3669792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314688" y="3819143"/>
            <a:ext cx="145237" cy="156667"/>
          </a:xfrm>
          <a:prstGeom prst="rect">
            <a:avLst/>
          </a:prstGeom>
          <a:solidFill>
            <a:srgbClr val="525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314688" y="396849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314688" y="4117847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9314688" y="4267199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9314688" y="4416552"/>
            <a:ext cx="145237" cy="156667"/>
          </a:xfrm>
          <a:prstGeom prst="rect">
            <a:avLst/>
          </a:prstGeom>
          <a:solidFill>
            <a:srgbClr val="5BB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31468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314688" y="4715256"/>
            <a:ext cx="145237" cy="156667"/>
          </a:xfrm>
          <a:prstGeom prst="rect">
            <a:avLst/>
          </a:prstGeom>
          <a:solidFill>
            <a:srgbClr val="60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452609" y="2176272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452609" y="2325623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452609" y="247497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452609" y="2624328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452609" y="2773680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452609" y="2923031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452609" y="3072384"/>
            <a:ext cx="145237" cy="156667"/>
          </a:xfrm>
          <a:prstGeom prst="rect">
            <a:avLst/>
          </a:prstGeom>
          <a:solidFill>
            <a:srgbClr val="35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452609" y="322173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452609" y="3371088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452609" y="3520439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452609" y="3669792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452609" y="3819143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452609" y="396849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452609" y="4117847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452609" y="4267199"/>
            <a:ext cx="145237" cy="156667"/>
          </a:xfrm>
          <a:prstGeom prst="rect">
            <a:avLst/>
          </a:prstGeom>
          <a:solidFill>
            <a:srgbClr val="4BB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452609" y="4416552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45260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452609" y="4715256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590531" y="2176272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9590531" y="2325623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9590531" y="247497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590531" y="2624328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9590531" y="2773680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9590531" y="2923031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590531" y="3072384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590531" y="322173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590531" y="3371088"/>
            <a:ext cx="145237" cy="156667"/>
          </a:xfrm>
          <a:prstGeom prst="rect">
            <a:avLst/>
          </a:prstGeom>
          <a:solidFill>
            <a:srgbClr val="54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590531" y="3520439"/>
            <a:ext cx="145237" cy="156667"/>
          </a:xfrm>
          <a:prstGeom prst="rect">
            <a:avLst/>
          </a:prstGeom>
          <a:solidFill>
            <a:srgbClr val="426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9590531" y="3669792"/>
            <a:ext cx="145237" cy="156667"/>
          </a:xfrm>
          <a:prstGeom prst="rect">
            <a:avLst/>
          </a:prstGeom>
          <a:solidFill>
            <a:srgbClr val="305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590531" y="3819143"/>
            <a:ext cx="145237" cy="156667"/>
          </a:xfrm>
          <a:prstGeom prst="rect">
            <a:avLst/>
          </a:prstGeom>
          <a:solidFill>
            <a:srgbClr val="73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590531" y="396849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590531" y="4117847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590531" y="4267199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590531" y="4416552"/>
            <a:ext cx="145237" cy="156667"/>
          </a:xfrm>
          <a:prstGeom prst="rect">
            <a:avLst/>
          </a:prstGeom>
          <a:solidFill>
            <a:srgbClr val="804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59053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590531" y="471525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728453" y="2176272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728453" y="2325623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728453" y="247497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728453" y="2624328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728453" y="2773680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728453" y="2923031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728453" y="3072384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9728453" y="322173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728453" y="3371088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728453" y="3520439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728453" y="3669792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9728453" y="3819143"/>
            <a:ext cx="145237" cy="156667"/>
          </a:xfrm>
          <a:prstGeom prst="rect">
            <a:avLst/>
          </a:prstGeom>
          <a:solidFill>
            <a:srgbClr val="5AA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728453" y="396849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728453" y="4117847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9728453" y="4267199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728453" y="4416552"/>
            <a:ext cx="145237" cy="156667"/>
          </a:xfrm>
          <a:prstGeom prst="rect">
            <a:avLst/>
          </a:prstGeom>
          <a:solidFill>
            <a:srgbClr val="3EC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972845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9728453" y="471525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9866376" y="2176272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9866376" y="232562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9866376" y="2474976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866376" y="2624328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866376" y="2773680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9866376" y="2923031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866376" y="3072384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9866376" y="322173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866376" y="3371088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866376" y="3520439"/>
            <a:ext cx="145237" cy="156667"/>
          </a:xfrm>
          <a:prstGeom prst="rect">
            <a:avLst/>
          </a:prstGeom>
          <a:solidFill>
            <a:srgbClr val="389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9866376" y="3669792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866376" y="3819143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866376" y="3968496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9866376" y="4117847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866376" y="4267199"/>
            <a:ext cx="145237" cy="156667"/>
          </a:xfrm>
          <a:prstGeom prst="rect">
            <a:avLst/>
          </a:prstGeom>
          <a:solidFill>
            <a:srgbClr val="77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9866376" y="4416552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986637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866376" y="4715256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0004297" y="2176272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0004297" y="2325623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004297" y="247497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0004297" y="2624328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004297" y="2773680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004297" y="2923031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004297" y="3072384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004297" y="322173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0004297" y="3371088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0004297" y="3520439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0004297" y="3669792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0004297" y="3819143"/>
            <a:ext cx="145237" cy="156667"/>
          </a:xfrm>
          <a:prstGeom prst="rect">
            <a:avLst/>
          </a:prstGeom>
          <a:solidFill>
            <a:srgbClr val="7BB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0004297" y="396849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0004297" y="4117847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0004297" y="4267199"/>
            <a:ext cx="145237" cy="156667"/>
          </a:xfrm>
          <a:prstGeom prst="rect">
            <a:avLst/>
          </a:prstGeom>
          <a:solidFill>
            <a:srgbClr val="69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0004297" y="4416552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000429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0004297" y="471525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0142219" y="2176272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0142219" y="2325623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0142219" y="247497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0142219" y="2624328"/>
            <a:ext cx="145237" cy="156667"/>
          </a:xfrm>
          <a:prstGeom prst="rect">
            <a:avLst/>
          </a:prstGeom>
          <a:solidFill>
            <a:srgbClr val="39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142219" y="2773680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0142219" y="2923031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0142219" y="3072384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0142219" y="322173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0142219" y="3371088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142219" y="3520439"/>
            <a:ext cx="145237" cy="156667"/>
          </a:xfrm>
          <a:prstGeom prst="rect">
            <a:avLst/>
          </a:prstGeom>
          <a:solidFill>
            <a:srgbClr val="825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0142219" y="3669792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0142219" y="3819143"/>
            <a:ext cx="145237" cy="156667"/>
          </a:xfrm>
          <a:prstGeom prst="rect">
            <a:avLst/>
          </a:prstGeom>
          <a:solidFill>
            <a:srgbClr val="62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0142219" y="396849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0142219" y="4117847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0142219" y="4267199"/>
            <a:ext cx="145237" cy="156667"/>
          </a:xfrm>
          <a:prstGeom prst="rect">
            <a:avLst/>
          </a:prstGeom>
          <a:solidFill>
            <a:srgbClr val="5C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0142219" y="4416552"/>
            <a:ext cx="145237" cy="156667"/>
          </a:xfrm>
          <a:prstGeom prst="rect">
            <a:avLst/>
          </a:prstGeom>
          <a:solidFill>
            <a:srgbClr val="7681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014221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0142219" y="471525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280142" y="2176272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0280142" y="2325623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0280142" y="2474976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0280142" y="2624328"/>
            <a:ext cx="145237" cy="156667"/>
          </a:xfrm>
          <a:prstGeom prst="rect">
            <a:avLst/>
          </a:prstGeom>
          <a:solidFill>
            <a:srgbClr val="71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0280142" y="2773680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0280142" y="2923031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0280142" y="3072384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0280142" y="322173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0280142" y="337108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0280142" y="3520439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0280142" y="3669792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0280142" y="3819143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10280142" y="396849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10280142" y="4117847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0280142" y="4267199"/>
            <a:ext cx="145237" cy="156667"/>
          </a:xfrm>
          <a:prstGeom prst="rect">
            <a:avLst/>
          </a:prstGeom>
          <a:solidFill>
            <a:srgbClr val="4EC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0280142" y="4416552"/>
            <a:ext cx="145237" cy="156667"/>
          </a:xfrm>
          <a:prstGeom prst="rect">
            <a:avLst/>
          </a:prstGeom>
          <a:solidFill>
            <a:srgbClr val="34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028014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0280142" y="471525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10418064" y="2176272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10418064" y="2325623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10418064" y="247497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0418064" y="262432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0418064" y="2773680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0418064" y="2923031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0418064" y="3072384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0418064" y="322173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0418064" y="3371088"/>
            <a:ext cx="145237" cy="156667"/>
          </a:xfrm>
          <a:prstGeom prst="rect">
            <a:avLst/>
          </a:prstGeom>
          <a:solidFill>
            <a:srgbClr val="715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0418064" y="3520439"/>
            <a:ext cx="145237" cy="156667"/>
          </a:xfrm>
          <a:prstGeom prst="rect">
            <a:avLst/>
          </a:prstGeom>
          <a:solidFill>
            <a:srgbClr val="778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0418064" y="3669792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0418064" y="3819143"/>
            <a:ext cx="145237" cy="156667"/>
          </a:xfrm>
          <a:prstGeom prst="rect">
            <a:avLst/>
          </a:prstGeom>
          <a:solidFill>
            <a:srgbClr val="836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0418064" y="396849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10418064" y="4117847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10418064" y="4267199"/>
            <a:ext cx="145237" cy="156667"/>
          </a:xfrm>
          <a:prstGeom prst="rect">
            <a:avLst/>
          </a:prstGeom>
          <a:solidFill>
            <a:srgbClr val="405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10418064" y="4416552"/>
            <a:ext cx="145237" cy="156667"/>
          </a:xfrm>
          <a:prstGeom prst="rect">
            <a:avLst/>
          </a:prstGeom>
          <a:solidFill>
            <a:srgbClr val="468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041806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0418064" y="471525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10555985" y="2176272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10555985" y="232562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10555985" y="247497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10555985" y="2624328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10555985" y="2773680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10555985" y="2923031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0555985" y="3072384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0555985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0555985" y="3371088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0555985" y="3520439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0555985" y="3669792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555985" y="3819143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0555985" y="3968496"/>
            <a:ext cx="145237" cy="156667"/>
          </a:xfrm>
          <a:prstGeom prst="rect">
            <a:avLst/>
          </a:prstGeom>
          <a:solidFill>
            <a:srgbClr val="3BB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0555985" y="4117847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0555985" y="4267199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0555985" y="4416552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055598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0555985" y="4715256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0693907" y="2176272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0693907" y="2325623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693907" y="247497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693907" y="2624328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693907" y="2773680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0693907" y="2923031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0693907" y="3072384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0693907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0693907" y="3371088"/>
            <a:ext cx="145237" cy="156667"/>
          </a:xfrm>
          <a:prstGeom prst="rect">
            <a:avLst/>
          </a:prstGeom>
          <a:solidFill>
            <a:srgbClr val="7B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0693907" y="3520439"/>
            <a:ext cx="145237" cy="156667"/>
          </a:xfrm>
          <a:prstGeom prst="rect">
            <a:avLst/>
          </a:prstGeom>
          <a:solidFill>
            <a:srgbClr val="6D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0693907" y="3669792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0693907" y="3819143"/>
            <a:ext cx="145237" cy="156667"/>
          </a:xfrm>
          <a:prstGeom prst="rect">
            <a:avLst/>
          </a:prstGeom>
          <a:solidFill>
            <a:srgbClr val="50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0693907" y="3968496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0693907" y="4117847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0693907" y="4267199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693907" y="4416552"/>
            <a:ext cx="145237" cy="156667"/>
          </a:xfrm>
          <a:prstGeom prst="rect">
            <a:avLst/>
          </a:prstGeom>
          <a:solidFill>
            <a:srgbClr val="6CB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69390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0693907" y="471525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10831829" y="2176272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0831829" y="2325623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0831829" y="247497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0831829" y="2624328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0831829" y="2773680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0831829" y="2923031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0831829" y="3072384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10831829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10831829" y="3371088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831829" y="3520439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0831829" y="3669792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0831829" y="3819143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0831829" y="396849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0831829" y="4117847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10831829" y="4267199"/>
            <a:ext cx="145237" cy="156667"/>
          </a:xfrm>
          <a:prstGeom prst="rect">
            <a:avLst/>
          </a:prstGeom>
          <a:solidFill>
            <a:srgbClr val="6CB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10831829" y="4416552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83182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10831829" y="471525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10969752" y="2176272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0969752" y="2325623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10969752" y="247497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10969752" y="2624328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10969752" y="2773680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10969752" y="2923031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10969752" y="3072384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10969752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10969752" y="3371088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10969752" y="3520439"/>
            <a:ext cx="145237" cy="156667"/>
          </a:xfrm>
          <a:prstGeom prst="rect">
            <a:avLst/>
          </a:prstGeom>
          <a:solidFill>
            <a:srgbClr val="625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10969752" y="3669792"/>
            <a:ext cx="145237" cy="156667"/>
          </a:xfrm>
          <a:prstGeom prst="rect">
            <a:avLst/>
          </a:prstGeom>
          <a:solidFill>
            <a:srgbClr val="3F4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10969752" y="3819143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10969752" y="396849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10969752" y="4117847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10969752" y="4267199"/>
            <a:ext cx="145237" cy="156667"/>
          </a:xfrm>
          <a:prstGeom prst="rect">
            <a:avLst/>
          </a:prstGeom>
          <a:solidFill>
            <a:srgbClr val="5FD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10969752" y="4416552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096975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10969752" y="471525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11107674" y="2176272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11107674" y="2325623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11107674" y="247497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11107674" y="2624328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11107674" y="2773680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11107674" y="2923031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11107674" y="3072384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11107674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11107674" y="3371088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11107674" y="3520439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11107674" y="366979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11107674" y="3819143"/>
            <a:ext cx="145237" cy="156667"/>
          </a:xfrm>
          <a:prstGeom prst="rect">
            <a:avLst/>
          </a:prstGeom>
          <a:solidFill>
            <a:srgbClr val="589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11107674" y="396849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11107674" y="4117847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11107674" y="4267199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11107674" y="4416552"/>
            <a:ext cx="145237" cy="156667"/>
          </a:xfrm>
          <a:prstGeom prst="rect">
            <a:avLst/>
          </a:prstGeom>
          <a:solidFill>
            <a:srgbClr val="4FD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1110767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11107674" y="4715256"/>
            <a:ext cx="145237" cy="156667"/>
          </a:xfrm>
          <a:prstGeom prst="rect">
            <a:avLst/>
          </a:prstGeom>
          <a:solidFill>
            <a:srgbClr val="4AA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11245595" y="217627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11245595" y="2325623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11245595" y="247497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11245595" y="2624328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11245595" y="2773680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11245595" y="2923031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11245595" y="3072384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11245595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11245595" y="3371088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11245595" y="3520439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11245595" y="3669792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11245595" y="381914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11245595" y="396849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11245595" y="4117847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11245595" y="4267199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11245595" y="441655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1124559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11245595" y="471525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11383517" y="217627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11383517" y="2325623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11383517" y="247497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11383517" y="2624328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11383517" y="2773680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11383517" y="2923031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11383517" y="3072384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11383517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11383517" y="3371088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11383517" y="3520439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11383517" y="3669792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11383517" y="3819143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11383517" y="396849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11383517" y="4117847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11383517" y="4267199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11383517" y="441655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1138351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11383517" y="471525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8211311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6251B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C：复杂变化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如果只允许无损压缩，哪张图最容易用更短的规则完整表示？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同一张图：BMP与JPG有什么不同？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47672"/>
            <a:ext cx="5047488" cy="276148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947672"/>
            <a:ext cx="5047488" cy="2761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" y="4892040"/>
            <a:ext cx="498348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同源原图（无损保存示意）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1656" y="4892040"/>
            <a:ext cx="4956048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同一图像：低质量JPEG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两图尺寸相同；右图仅用于观察明显压缩伪影，不代表所有JPEG质量。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是不是压得越小就一定越好？</a:t>
            </a:r>
          </a:p>
        </p:txBody>
      </p:sp>
      <p:pic>
        <p:nvPicPr>
          <p:cNvPr id="5" name="codex-p65-">
            <a:extLst>
              <a:ext uri="{FF2B5EF4-FFF2-40B4-BE49-F238E27FC236}">
                <a16:creationId xmlns:a16="http://schemas.microsoft.com/office/drawing/2014/main" id="{7A59E7DE-085C-4061-B2D4-AD50D9182BD0}"/>
              </a:ext>
            </a:extLst>
          </p:cNvPr>
          <p:cNvPicPr>
            <a:picLocks noChangeAspect="1"/>
          </p:cNvPicPr>
          <p:nvPr/>
        </p:nvPicPr>
        <p:blipFill>
          <a:blip r:embed="rIdCodex3"/>
          <a:stretch/>
        </p:blipFill>
        <p:spPr>
          <a:xfrm>
            <a:off x="1619250" y="2857500"/>
            <a:ext cx="1762125" cy="1762125"/>
          </a:xfrm>
          <a:prstGeom prst="rect">
            <a:avLst/>
          </a:prstGeom>
        </p:spPr>
      </p:pic>
      <p:pic>
        <p:nvPicPr>
          <p:cNvPr id="6" name="codex-p65-">
            <a:extLst>
              <a:ext uri="{FF2B5EF4-FFF2-40B4-BE49-F238E27FC236}">
                <a16:creationId xmlns:a16="http://schemas.microsoft.com/office/drawing/2014/main" id="{A3B21368-C5DA-4332-90F9-886DA1F1AC3F}"/>
              </a:ext>
            </a:extLst>
          </p:cNvPr>
          <p:cNvPicPr>
            <a:picLocks noChangeAspect="1"/>
          </p:cNvPicPr>
          <p:nvPr/>
        </p:nvPicPr>
        <p:blipFill>
          <a:blip r:embed="rIdCodex4"/>
          <a:stretch/>
        </p:blipFill>
        <p:spPr>
          <a:xfrm>
            <a:off x="7734300" y="2857500"/>
            <a:ext cx="1762125" cy="1762125"/>
          </a:xfrm>
          <a:prstGeom prst="rect">
            <a:avLst/>
          </a:prstGeom>
        </p:spPr>
      </p:pic>
      <p:sp>
        <p:nvSpPr>
          <p:cNvPr id="7" name="codex-p65-image-caption">
            <a:extLst>
              <a:ext uri="{FF2B5EF4-FFF2-40B4-BE49-F238E27FC236}">
                <a16:creationId xmlns:a16="http://schemas.microsoft.com/office/drawing/2014/main" id="{CD1F74C4-4340-416E-B10C-BF524263FC81}"/>
              </a:ext>
            </a:extLst>
          </p:cNvPr>
          <p:cNvSpPr>
            <a:spLocks noGrp="1"/>
          </p:cNvSpPr>
          <p:nvPr/>
        </p:nvSpPr>
        <p:spPr>
          <a:xfrm>
            <a:off x="609600" y="1800225"/>
            <a:ext cx="5257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重要文档长期备份</a:t>
            </a:r>
          </a:p>
        </p:txBody>
      </p:sp>
      <p:sp>
        <p:nvSpPr>
          <p:cNvPr id="8" name="codex-p65-image-caption">
            <a:extLst>
              <a:ext uri="{FF2B5EF4-FFF2-40B4-BE49-F238E27FC236}">
                <a16:creationId xmlns:a16="http://schemas.microsoft.com/office/drawing/2014/main" id="{8991460A-9929-424C-B29A-C3812064F62C}"/>
              </a:ext>
            </a:extLst>
          </p:cNvPr>
          <p:cNvSpPr>
            <a:spLocks noGrp="1"/>
          </p:cNvSpPr>
          <p:nvPr/>
        </p:nvSpPr>
        <p:spPr>
          <a:xfrm>
            <a:off x="6724650" y="1800225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实时视频通话</a:t>
            </a:r>
          </a:p>
        </p:txBody>
      </p:sp>
      <p:sp>
        <p:nvSpPr>
          <p:cNvPr id="9" name="codex-p65-image-caption">
            <a:extLst>
              <a:ext uri="{FF2B5EF4-FFF2-40B4-BE49-F238E27FC236}">
                <a16:creationId xmlns:a16="http://schemas.microsoft.com/office/drawing/2014/main" id="{7B1A15C0-C392-4F56-9CA0-D40830841E89}"/>
              </a:ext>
            </a:extLst>
          </p:cNvPr>
          <p:cNvSpPr>
            <a:spLocks noGrp="1"/>
          </p:cNvSpPr>
          <p:nvPr/>
        </p:nvSpPr>
        <p:spPr>
          <a:xfrm>
            <a:off x="609600" y="4924425"/>
            <a:ext cx="52578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优先完整恢复、可靠保存</a:t>
            </a:r>
          </a:p>
        </p:txBody>
      </p:sp>
      <p:sp>
        <p:nvSpPr>
          <p:cNvPr id="10" name="codex-p65-image-caption">
            <a:extLst>
              <a:ext uri="{FF2B5EF4-FFF2-40B4-BE49-F238E27FC236}">
                <a16:creationId xmlns:a16="http://schemas.microsoft.com/office/drawing/2014/main" id="{6A645458-4D8A-4235-9A67-A173AC20A99D}"/>
              </a:ext>
            </a:extLst>
          </p:cNvPr>
          <p:cNvSpPr>
            <a:spLocks noGrp="1"/>
          </p:cNvSpPr>
          <p:nvPr/>
        </p:nvSpPr>
        <p:spPr>
          <a:xfrm>
            <a:off x="6724650" y="4924425"/>
            <a:ext cx="48577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兼顾质量、延迟与传输量</a:t>
            </a:r>
          </a:p>
        </p:txBody>
      </p:sp>
      <p:sp>
        <p:nvSpPr>
          <p:cNvPr id="11" name="codex-p65-image-caption">
            <a:extLst>
              <a:ext uri="{FF2B5EF4-FFF2-40B4-BE49-F238E27FC236}">
                <a16:creationId xmlns:a16="http://schemas.microsoft.com/office/drawing/2014/main" id="{D4403B38-158E-46C3-8F59-6CFEE73D136A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选择依据是任务要求，文件大小只是其中一个条件。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可选拓展：编码与压缩有何区别？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7C9B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  <a:ea typeface="Alibaba PuHuiTi 3.0 55 Regular"/>
                <a:cs typeface="Alibaba PuHuiTi 3.0 55 Regular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1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声音首先是什么？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声音和电脑里的音频文件，是同一种量吗？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麦克风把声波变成什么？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连续电信号，怎样变成数字？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波形图画的是“声音的传播路线”吗？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1 Hz和2 Hz，一秒内取几个样本？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提高采样率，改变的是时间轴上的什么？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把振幅划分成0～7，共几个等级？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b="1"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codex-q17-image-caption">
            <a:extLst>
              <a:ext uri="{FF2B5EF4-FFF2-40B4-BE49-F238E27FC236}">
                <a16:creationId xmlns:a16="http://schemas.microsoft.com/office/drawing/2014/main" id="{B243F579-D6E0-444E-8003-371A51EBB803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范围 [0,8) 分成8段。第n段是 [n,n+1)，编号为n。</a:t>
            </a:r>
          </a:p>
          <a:p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请独立判断3.71所在的区间，并说明依据。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codex-q19-image-caption">
            <a:extLst>
              <a:ext uri="{FF2B5EF4-FFF2-40B4-BE49-F238E27FC236}">
                <a16:creationId xmlns:a16="http://schemas.microsoft.com/office/drawing/2014/main" id="{8CA54D07-4CE4-47F9-8BC7-80C3FA64E09D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已量化的10个等级：</a:t>
            </a:r>
          </a:p>
        </p:txBody>
      </p:sp>
      <p:sp>
        <p:nvSpPr>
          <p:cNvPr id="6" name="codex-q19-image-caption">
            <a:extLst>
              <a:ext uri="{FF2B5EF4-FFF2-40B4-BE49-F238E27FC236}">
                <a16:creationId xmlns:a16="http://schemas.microsoft.com/office/drawing/2014/main" id="{F3A0049C-A5C5-4E8A-9A83-3E235E8BDA05}"/>
              </a:ext>
            </a:extLst>
          </p:cNvPr>
          <p:cNvSpPr>
            <a:spLocks noGrp="1"/>
          </p:cNvSpPr>
          <p:nvPr/>
        </p:nvSpPr>
        <p:spPr>
          <a:xfrm>
            <a:off x="723900" y="2914650"/>
            <a:ext cx="904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7" name="codex-q19-image-caption">
            <a:extLst>
              <a:ext uri="{FF2B5EF4-FFF2-40B4-BE49-F238E27FC236}">
                <a16:creationId xmlns:a16="http://schemas.microsoft.com/office/drawing/2014/main" id="{07FBCB4E-454A-4F54-9B91-DB2AB91A1A8A}"/>
              </a:ext>
            </a:extLst>
          </p:cNvPr>
          <p:cNvSpPr>
            <a:spLocks noGrp="1"/>
          </p:cNvSpPr>
          <p:nvPr/>
        </p:nvSpPr>
        <p:spPr>
          <a:xfrm>
            <a:off x="723900" y="3600450"/>
            <a:ext cx="9048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8" name="codex-q19-image-caption">
            <a:extLst>
              <a:ext uri="{FF2B5EF4-FFF2-40B4-BE49-F238E27FC236}">
                <a16:creationId xmlns:a16="http://schemas.microsoft.com/office/drawing/2014/main" id="{5943BC55-976B-435A-8D3F-3BA9FF05F04D}"/>
              </a:ext>
            </a:extLst>
          </p:cNvPr>
          <p:cNvSpPr>
            <a:spLocks noGrp="1"/>
          </p:cNvSpPr>
          <p:nvPr/>
        </p:nvSpPr>
        <p:spPr>
          <a:xfrm>
            <a:off x="1790700" y="2914650"/>
            <a:ext cx="904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9" name="codex-q19-image-caption">
            <a:extLst>
              <a:ext uri="{FF2B5EF4-FFF2-40B4-BE49-F238E27FC236}">
                <a16:creationId xmlns:a16="http://schemas.microsoft.com/office/drawing/2014/main" id="{535F1148-F534-4C0B-B622-5165EC65798D}"/>
              </a:ext>
            </a:extLst>
          </p:cNvPr>
          <p:cNvSpPr>
            <a:spLocks noGrp="1"/>
          </p:cNvSpPr>
          <p:nvPr/>
        </p:nvSpPr>
        <p:spPr>
          <a:xfrm>
            <a:off x="1790700" y="3600450"/>
            <a:ext cx="9048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10" name="codex-q19-image-caption">
            <a:extLst>
              <a:ext uri="{FF2B5EF4-FFF2-40B4-BE49-F238E27FC236}">
                <a16:creationId xmlns:a16="http://schemas.microsoft.com/office/drawing/2014/main" id="{0FED6AF8-CA07-466F-925C-BAA734CB5DA9}"/>
              </a:ext>
            </a:extLst>
          </p:cNvPr>
          <p:cNvSpPr>
            <a:spLocks noGrp="1"/>
          </p:cNvSpPr>
          <p:nvPr/>
        </p:nvSpPr>
        <p:spPr>
          <a:xfrm>
            <a:off x="2857500" y="2914650"/>
            <a:ext cx="904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1" name="codex-q19-image-caption">
            <a:extLst>
              <a:ext uri="{FF2B5EF4-FFF2-40B4-BE49-F238E27FC236}">
                <a16:creationId xmlns:a16="http://schemas.microsoft.com/office/drawing/2014/main" id="{35544883-B84A-4612-99C2-B06AB47C19D9}"/>
              </a:ext>
            </a:extLst>
          </p:cNvPr>
          <p:cNvSpPr>
            <a:spLocks noGrp="1"/>
          </p:cNvSpPr>
          <p:nvPr/>
        </p:nvSpPr>
        <p:spPr>
          <a:xfrm>
            <a:off x="2857500" y="3600450"/>
            <a:ext cx="9048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7</a:t>
            </a:r>
          </a:p>
        </p:txBody>
      </p:sp>
      <p:sp>
        <p:nvSpPr>
          <p:cNvPr id="12" name="codex-q19-image-caption">
            <a:extLst>
              <a:ext uri="{FF2B5EF4-FFF2-40B4-BE49-F238E27FC236}">
                <a16:creationId xmlns:a16="http://schemas.microsoft.com/office/drawing/2014/main" id="{6F52D7A7-1839-45CD-A518-7B03BE714125}"/>
              </a:ext>
            </a:extLst>
          </p:cNvPr>
          <p:cNvSpPr>
            <a:spLocks noGrp="1"/>
          </p:cNvSpPr>
          <p:nvPr/>
        </p:nvSpPr>
        <p:spPr>
          <a:xfrm>
            <a:off x="3924300" y="2914650"/>
            <a:ext cx="904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13" name="codex-q19-image-caption">
            <a:extLst>
              <a:ext uri="{FF2B5EF4-FFF2-40B4-BE49-F238E27FC236}">
                <a16:creationId xmlns:a16="http://schemas.microsoft.com/office/drawing/2014/main" id="{7F729066-970C-4D16-B256-4F025F71D734}"/>
              </a:ext>
            </a:extLst>
          </p:cNvPr>
          <p:cNvSpPr>
            <a:spLocks noGrp="1"/>
          </p:cNvSpPr>
          <p:nvPr/>
        </p:nvSpPr>
        <p:spPr>
          <a:xfrm>
            <a:off x="3924300" y="3600450"/>
            <a:ext cx="9048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</a:t>
            </a:r>
          </a:p>
        </p:txBody>
      </p:sp>
      <p:sp>
        <p:nvSpPr>
          <p:cNvPr id="14" name="codex-q19-image-caption">
            <a:extLst>
              <a:ext uri="{FF2B5EF4-FFF2-40B4-BE49-F238E27FC236}">
                <a16:creationId xmlns:a16="http://schemas.microsoft.com/office/drawing/2014/main" id="{D6746E68-56A0-44A7-B6B4-96BE1158CE1D}"/>
              </a:ext>
            </a:extLst>
          </p:cNvPr>
          <p:cNvSpPr>
            <a:spLocks noGrp="1"/>
          </p:cNvSpPr>
          <p:nvPr/>
        </p:nvSpPr>
        <p:spPr>
          <a:xfrm>
            <a:off x="4991100" y="2914650"/>
            <a:ext cx="904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15" name="codex-q19-image-caption">
            <a:extLst>
              <a:ext uri="{FF2B5EF4-FFF2-40B4-BE49-F238E27FC236}">
                <a16:creationId xmlns:a16="http://schemas.microsoft.com/office/drawing/2014/main" id="{F5879EDE-216C-4545-A9D8-AC746E615690}"/>
              </a:ext>
            </a:extLst>
          </p:cNvPr>
          <p:cNvSpPr>
            <a:spLocks noGrp="1"/>
          </p:cNvSpPr>
          <p:nvPr/>
        </p:nvSpPr>
        <p:spPr>
          <a:xfrm>
            <a:off x="4991100" y="3600450"/>
            <a:ext cx="9048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16" name="codex-q19-image-caption">
            <a:extLst>
              <a:ext uri="{FF2B5EF4-FFF2-40B4-BE49-F238E27FC236}">
                <a16:creationId xmlns:a16="http://schemas.microsoft.com/office/drawing/2014/main" id="{F1FF3A99-D0AC-41E3-B6FD-6587FE1E15C4}"/>
              </a:ext>
            </a:extLst>
          </p:cNvPr>
          <p:cNvSpPr>
            <a:spLocks noGrp="1"/>
          </p:cNvSpPr>
          <p:nvPr/>
        </p:nvSpPr>
        <p:spPr>
          <a:xfrm>
            <a:off x="6057900" y="2914650"/>
            <a:ext cx="904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6</a:t>
            </a:r>
          </a:p>
        </p:txBody>
      </p:sp>
      <p:sp>
        <p:nvSpPr>
          <p:cNvPr id="17" name="codex-q19-image-caption">
            <a:extLst>
              <a:ext uri="{FF2B5EF4-FFF2-40B4-BE49-F238E27FC236}">
                <a16:creationId xmlns:a16="http://schemas.microsoft.com/office/drawing/2014/main" id="{9F8590C3-2F54-4AB8-9869-8C3BC1564FB6}"/>
              </a:ext>
            </a:extLst>
          </p:cNvPr>
          <p:cNvSpPr>
            <a:spLocks noGrp="1"/>
          </p:cNvSpPr>
          <p:nvPr/>
        </p:nvSpPr>
        <p:spPr>
          <a:xfrm>
            <a:off x="6057900" y="3600450"/>
            <a:ext cx="9048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8" name="codex-q19-image-caption">
            <a:extLst>
              <a:ext uri="{FF2B5EF4-FFF2-40B4-BE49-F238E27FC236}">
                <a16:creationId xmlns:a16="http://schemas.microsoft.com/office/drawing/2014/main" id="{848DACF1-9CAE-4BE4-AE6E-60F7D7C01940}"/>
              </a:ext>
            </a:extLst>
          </p:cNvPr>
          <p:cNvSpPr>
            <a:spLocks noGrp="1"/>
          </p:cNvSpPr>
          <p:nvPr/>
        </p:nvSpPr>
        <p:spPr>
          <a:xfrm>
            <a:off x="7124700" y="2914650"/>
            <a:ext cx="904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7</a:t>
            </a:r>
          </a:p>
        </p:txBody>
      </p:sp>
      <p:sp>
        <p:nvSpPr>
          <p:cNvPr id="19" name="codex-q19-image-caption">
            <a:extLst>
              <a:ext uri="{FF2B5EF4-FFF2-40B4-BE49-F238E27FC236}">
                <a16:creationId xmlns:a16="http://schemas.microsoft.com/office/drawing/2014/main" id="{DFB14D8B-B93B-432B-B974-D9912CCF720A}"/>
              </a:ext>
            </a:extLst>
          </p:cNvPr>
          <p:cNvSpPr>
            <a:spLocks noGrp="1"/>
          </p:cNvSpPr>
          <p:nvPr/>
        </p:nvSpPr>
        <p:spPr>
          <a:xfrm>
            <a:off x="7124700" y="3600450"/>
            <a:ext cx="9048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0" name="codex-q19-image-caption">
            <a:extLst>
              <a:ext uri="{FF2B5EF4-FFF2-40B4-BE49-F238E27FC236}">
                <a16:creationId xmlns:a16="http://schemas.microsoft.com/office/drawing/2014/main" id="{3C5B9B69-083D-4689-9DC8-4F7D9187DBB7}"/>
              </a:ext>
            </a:extLst>
          </p:cNvPr>
          <p:cNvSpPr>
            <a:spLocks noGrp="1"/>
          </p:cNvSpPr>
          <p:nvPr/>
        </p:nvSpPr>
        <p:spPr>
          <a:xfrm>
            <a:off x="8191500" y="2914650"/>
            <a:ext cx="904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8</a:t>
            </a:r>
          </a:p>
        </p:txBody>
      </p:sp>
      <p:sp>
        <p:nvSpPr>
          <p:cNvPr id="21" name="codex-q19-image-caption">
            <a:extLst>
              <a:ext uri="{FF2B5EF4-FFF2-40B4-BE49-F238E27FC236}">
                <a16:creationId xmlns:a16="http://schemas.microsoft.com/office/drawing/2014/main" id="{334F7545-347E-42EB-8529-EEF58EFB63EA}"/>
              </a:ext>
            </a:extLst>
          </p:cNvPr>
          <p:cNvSpPr>
            <a:spLocks noGrp="1"/>
          </p:cNvSpPr>
          <p:nvPr/>
        </p:nvSpPr>
        <p:spPr>
          <a:xfrm>
            <a:off x="8191500" y="3600450"/>
            <a:ext cx="9048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2" name="codex-q19-image-caption">
            <a:extLst>
              <a:ext uri="{FF2B5EF4-FFF2-40B4-BE49-F238E27FC236}">
                <a16:creationId xmlns:a16="http://schemas.microsoft.com/office/drawing/2014/main" id="{7A20B909-CD84-490F-850D-B198AC1D944E}"/>
              </a:ext>
            </a:extLst>
          </p:cNvPr>
          <p:cNvSpPr>
            <a:spLocks noGrp="1"/>
          </p:cNvSpPr>
          <p:nvPr/>
        </p:nvSpPr>
        <p:spPr>
          <a:xfrm>
            <a:off x="9258300" y="2914650"/>
            <a:ext cx="904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9</a:t>
            </a:r>
          </a:p>
        </p:txBody>
      </p:sp>
      <p:sp>
        <p:nvSpPr>
          <p:cNvPr id="23" name="codex-q19-image-caption">
            <a:extLst>
              <a:ext uri="{FF2B5EF4-FFF2-40B4-BE49-F238E27FC236}">
                <a16:creationId xmlns:a16="http://schemas.microsoft.com/office/drawing/2014/main" id="{E6A7FB32-90A7-4C05-97AD-2485C206F8BB}"/>
              </a:ext>
            </a:extLst>
          </p:cNvPr>
          <p:cNvSpPr>
            <a:spLocks noGrp="1"/>
          </p:cNvSpPr>
          <p:nvPr/>
        </p:nvSpPr>
        <p:spPr>
          <a:xfrm>
            <a:off x="9258300" y="3600450"/>
            <a:ext cx="9048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24" name="codex-q19-image-caption">
            <a:extLst>
              <a:ext uri="{FF2B5EF4-FFF2-40B4-BE49-F238E27FC236}">
                <a16:creationId xmlns:a16="http://schemas.microsoft.com/office/drawing/2014/main" id="{825D9C9F-C941-4F6A-A5A4-3768326EA3B2}"/>
              </a:ext>
            </a:extLst>
          </p:cNvPr>
          <p:cNvSpPr>
            <a:spLocks noGrp="1"/>
          </p:cNvSpPr>
          <p:nvPr/>
        </p:nvSpPr>
        <p:spPr>
          <a:xfrm>
            <a:off x="10325100" y="2914650"/>
            <a:ext cx="9048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25" name="codex-q19-image-caption">
            <a:extLst>
              <a:ext uri="{FF2B5EF4-FFF2-40B4-BE49-F238E27FC236}">
                <a16:creationId xmlns:a16="http://schemas.microsoft.com/office/drawing/2014/main" id="{2F8B4BFD-AE16-45A5-A5EA-50BA25C0391B}"/>
              </a:ext>
            </a:extLst>
          </p:cNvPr>
          <p:cNvSpPr>
            <a:spLocks noGrp="1"/>
          </p:cNvSpPr>
          <p:nvPr/>
        </p:nvSpPr>
        <p:spPr>
          <a:xfrm>
            <a:off x="10325100" y="3600450"/>
            <a:ext cx="9048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6" name="codex-q19-image-caption">
            <a:extLst>
              <a:ext uri="{FF2B5EF4-FFF2-40B4-BE49-F238E27FC236}">
                <a16:creationId xmlns:a16="http://schemas.microsoft.com/office/drawing/2014/main" id="{CB8541CD-8AF1-402C-B05F-0A57E038B6FD}"/>
              </a:ext>
            </a:extLst>
          </p:cNvPr>
          <p:cNvSpPr>
            <a:spLocks noGrp="1"/>
          </p:cNvSpPr>
          <p:nvPr/>
        </p:nvSpPr>
        <p:spPr>
          <a:xfrm>
            <a:off x="609600" y="4981575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沿采样顺序，写出每个等级对应的码字。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codex-q21-image-caption">
            <a:extLst>
              <a:ext uri="{FF2B5EF4-FFF2-40B4-BE49-F238E27FC236}">
                <a16:creationId xmlns:a16="http://schemas.microsoft.com/office/drawing/2014/main" id="{D77D9B67-9EE3-4AE6-AD15-A55D2172E2D7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需要表示0～7这8个不同等级。</a:t>
            </a:r>
          </a:p>
          <a:p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至少需要多少bit？请写出你计算的方法。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把量化等级分得更细，会发生什么？</a:t>
            </a:r>
          </a:p>
        </p:txBody>
      </p:sp>
      <p:sp>
        <p:nvSpPr>
          <p:cNvPr id="5" name="codex-q22-image-caption">
            <a:extLst>
              <a:ext uri="{FF2B5EF4-FFF2-40B4-BE49-F238E27FC236}">
                <a16:creationId xmlns:a16="http://schemas.microsoft.com/office/drawing/2014/main" id="{97AD153B-83F1-4932-AF52-E8DD8E5651B4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输入范围和采样时刻不变。</a:t>
            </a:r>
          </a:p>
          <a:p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把8个等级改为16个等级，会改变什么？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采样更多、等级更密，就一定听得更好吗？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PCM样本和WAV文件，是一回事吗？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codex-q29-image-caption">
            <a:extLst>
              <a:ext uri="{FF2B5EF4-FFF2-40B4-BE49-F238E27FC236}">
                <a16:creationId xmlns:a16="http://schemas.microsoft.com/office/drawing/2014/main" id="{A56EC531-2225-4E84-B0E5-0769C2F3F76B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采样率、存储位宽、声道数、时长。</a:t>
            </a:r>
          </a:p>
          <a:p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这四个参数各在数什么？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未压缩PCM数据量公式，从哪里来？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把证据连接起来：数据怎样表示？</a:t>
            </a:r>
          </a:p>
        </p:txBody>
      </p:sp>
      <p:sp>
        <p:nvSpPr>
          <p:cNvPr id="5" name="codex-tree1-tree-root">
            <a:extLst>
              <a:ext uri="{FF2B5EF4-FFF2-40B4-BE49-F238E27FC236}">
                <a16:creationId xmlns:a16="http://schemas.microsoft.com/office/drawing/2014/main" id="{08C46EB2-2A32-4DB6-A98B-4B9691AADA96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数据的表示</a:t>
            </a:r>
          </a:p>
        </p:txBody>
      </p:sp>
      <p:sp>
        <p:nvSpPr>
          <p:cNvPr id="6" name="codex-tree1-tree-root-edge">
            <a:extLst>
              <a:ext uri="{FF2B5EF4-FFF2-40B4-BE49-F238E27FC236}">
                <a16:creationId xmlns:a16="http://schemas.microsoft.com/office/drawing/2014/main" id="{62D52267-0A67-4EC0-B5C2-F92FBE39CBE8}"/>
              </a:ext>
            </a:extLst>
          </p:cNvPr>
          <p:cNvSpPr>
            <a:spLocks noGrp="1"/>
          </p:cNvSpPr>
          <p:nvPr/>
        </p:nvSpPr>
        <p:spPr>
          <a:xfrm>
            <a:off x="2914650" y="1981200"/>
            <a:ext cx="466725" cy="9525"/>
          </a:xfrm>
          <a:custGeom>
            <a:pathLst>
              <a:path w="466725" h="952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7" name="codex-tree1-tree-spine">
            <a:extLst>
              <a:ext uri="{FF2B5EF4-FFF2-40B4-BE49-F238E27FC236}">
                <a16:creationId xmlns:a16="http://schemas.microsoft.com/office/drawing/2014/main" id="{CEF49FA9-F0D0-4D19-9FDB-653574C3BD60}"/>
              </a:ext>
            </a:extLst>
          </p:cNvPr>
          <p:cNvSpPr>
            <a:spLocks noGrp="1"/>
          </p:cNvSpPr>
          <p:nvPr/>
        </p:nvSpPr>
        <p:spPr>
          <a:xfrm>
            <a:off x="3381375" y="1981200"/>
            <a:ext cx="9525" cy="3800475"/>
          </a:xfrm>
          <a:custGeom>
            <a:pathLst>
              <a:path w="9525" h="3800475">
                <a:moveTo>
                  <a:pt x="0" y="0"/>
                </a:moveTo>
                <a:lnTo>
                  <a:pt x="0" y="3800475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8" name="codex-tree1-tree-edge-0">
            <a:extLst>
              <a:ext uri="{FF2B5EF4-FFF2-40B4-BE49-F238E27FC236}">
                <a16:creationId xmlns:a16="http://schemas.microsoft.com/office/drawing/2014/main" id="{4296A9E8-75A6-49AF-88B2-0328D3CF2A0D}"/>
              </a:ext>
            </a:extLst>
          </p:cNvPr>
          <p:cNvSpPr>
            <a:spLocks noGrp="1"/>
          </p:cNvSpPr>
          <p:nvPr/>
        </p:nvSpPr>
        <p:spPr>
          <a:xfrm>
            <a:off x="3381375" y="1990725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9" name="codex-tree1-tree-node-0">
            <a:extLst>
              <a:ext uri="{FF2B5EF4-FFF2-40B4-BE49-F238E27FC236}">
                <a16:creationId xmlns:a16="http://schemas.microsoft.com/office/drawing/2014/main" id="{DF992627-A13C-4F7A-9DE5-AF625F82FCBD}"/>
              </a:ext>
            </a:extLst>
          </p:cNvPr>
          <p:cNvSpPr>
            <a:spLocks noGrp="1"/>
          </p:cNvSpPr>
          <p:nvPr/>
        </p:nvSpPr>
        <p:spPr>
          <a:xfrm>
            <a:off x="3752850" y="176212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录音与播放</a:t>
            </a:r>
          </a:p>
        </p:txBody>
      </p:sp>
      <p:sp>
        <p:nvSpPr>
          <p:cNvPr id="10" name="codex-tree1-tree-description-0">
            <a:extLst>
              <a:ext uri="{FF2B5EF4-FFF2-40B4-BE49-F238E27FC236}">
                <a16:creationId xmlns:a16="http://schemas.microsoft.com/office/drawing/2014/main" id="{55EC51D8-1ECC-4DED-ACAD-21D448C319F4}"/>
              </a:ext>
            </a:extLst>
          </p:cNvPr>
          <p:cNvSpPr>
            <a:spLocks noGrp="1"/>
          </p:cNvSpPr>
          <p:nvPr/>
        </p:nvSpPr>
        <p:spPr>
          <a:xfrm>
            <a:off x="6772275" y="176212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 / ADC；DAC / 扬声器</a:t>
            </a:r>
          </a:p>
        </p:txBody>
      </p:sp>
      <p:sp>
        <p:nvSpPr>
          <p:cNvPr id="11" name="codex-tree1-tree-new-focus">
            <a:extLst>
              <a:ext uri="{FF2B5EF4-FFF2-40B4-BE49-F238E27FC236}">
                <a16:creationId xmlns:a16="http://schemas.microsoft.com/office/drawing/2014/main" id="{7775C081-BE66-4B3B-8C00-0F5DEFB82796}"/>
              </a:ext>
            </a:extLst>
          </p:cNvPr>
          <p:cNvSpPr>
            <a:spLocks noGrp="1"/>
          </p:cNvSpPr>
          <p:nvPr/>
        </p:nvSpPr>
        <p:spPr>
          <a:xfrm>
            <a:off x="3667125" y="1676400"/>
            <a:ext cx="7915275" cy="628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</p:sp>
      <p:sp>
        <p:nvSpPr>
          <p:cNvPr id="12" name="codex-tree1-tree-focus-label">
            <a:extLst>
              <a:ext uri="{FF2B5EF4-FFF2-40B4-BE49-F238E27FC236}">
                <a16:creationId xmlns:a16="http://schemas.microsoft.com/office/drawing/2014/main" id="{2217986F-7496-47E2-ADAB-1FAAA5A428E8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本次新增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把证据连接起来：数据怎样表示？</a:t>
            </a:r>
          </a:p>
        </p:txBody>
      </p:sp>
      <p:sp>
        <p:nvSpPr>
          <p:cNvPr id="5" name="codex-tree2-tree-root">
            <a:extLst>
              <a:ext uri="{FF2B5EF4-FFF2-40B4-BE49-F238E27FC236}">
                <a16:creationId xmlns:a16="http://schemas.microsoft.com/office/drawing/2014/main" id="{2366DFD4-1A66-4464-B126-CD6E18F8ABB2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数据的表示</a:t>
            </a:r>
          </a:p>
        </p:txBody>
      </p:sp>
      <p:sp>
        <p:nvSpPr>
          <p:cNvPr id="6" name="codex-tree2-tree-root-edge">
            <a:extLst>
              <a:ext uri="{FF2B5EF4-FFF2-40B4-BE49-F238E27FC236}">
                <a16:creationId xmlns:a16="http://schemas.microsoft.com/office/drawing/2014/main" id="{FD075560-362F-4612-AE6D-E3C7EEB31D90}"/>
              </a:ext>
            </a:extLst>
          </p:cNvPr>
          <p:cNvSpPr>
            <a:spLocks noGrp="1"/>
          </p:cNvSpPr>
          <p:nvPr/>
        </p:nvSpPr>
        <p:spPr>
          <a:xfrm>
            <a:off x="2914650" y="1981200"/>
            <a:ext cx="466725" cy="9525"/>
          </a:xfrm>
          <a:custGeom>
            <a:pathLst>
              <a:path w="466725" h="952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7" name="codex-tree2-tree-spine">
            <a:extLst>
              <a:ext uri="{FF2B5EF4-FFF2-40B4-BE49-F238E27FC236}">
                <a16:creationId xmlns:a16="http://schemas.microsoft.com/office/drawing/2014/main" id="{6A78F9DC-568A-4375-A19E-A84597FDC8CB}"/>
              </a:ext>
            </a:extLst>
          </p:cNvPr>
          <p:cNvSpPr>
            <a:spLocks noGrp="1"/>
          </p:cNvSpPr>
          <p:nvPr/>
        </p:nvSpPr>
        <p:spPr>
          <a:xfrm>
            <a:off x="3381375" y="1981200"/>
            <a:ext cx="9525" cy="3800475"/>
          </a:xfrm>
          <a:custGeom>
            <a:pathLst>
              <a:path w="9525" h="3800475">
                <a:moveTo>
                  <a:pt x="0" y="0"/>
                </a:moveTo>
                <a:lnTo>
                  <a:pt x="0" y="3800475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8" name="codex-tree2-tree-edge-0">
            <a:extLst>
              <a:ext uri="{FF2B5EF4-FFF2-40B4-BE49-F238E27FC236}">
                <a16:creationId xmlns:a16="http://schemas.microsoft.com/office/drawing/2014/main" id="{4B54A09A-0E64-45F0-93AF-0E0FDC9FBBA0}"/>
              </a:ext>
            </a:extLst>
          </p:cNvPr>
          <p:cNvSpPr>
            <a:spLocks noGrp="1"/>
          </p:cNvSpPr>
          <p:nvPr/>
        </p:nvSpPr>
        <p:spPr>
          <a:xfrm>
            <a:off x="3381375" y="1990725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9" name="codex-tree2-tree-node-0">
            <a:extLst>
              <a:ext uri="{FF2B5EF4-FFF2-40B4-BE49-F238E27FC236}">
                <a16:creationId xmlns:a16="http://schemas.microsoft.com/office/drawing/2014/main" id="{77A1F532-C4CE-4DDF-A45A-FBD2333FAFC3}"/>
              </a:ext>
            </a:extLst>
          </p:cNvPr>
          <p:cNvSpPr>
            <a:spLocks noGrp="1"/>
          </p:cNvSpPr>
          <p:nvPr/>
        </p:nvSpPr>
        <p:spPr>
          <a:xfrm>
            <a:off x="3752850" y="176212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录音与播放</a:t>
            </a:r>
          </a:p>
        </p:txBody>
      </p:sp>
      <p:sp>
        <p:nvSpPr>
          <p:cNvPr id="10" name="codex-tree2-tree-description-0">
            <a:extLst>
              <a:ext uri="{FF2B5EF4-FFF2-40B4-BE49-F238E27FC236}">
                <a16:creationId xmlns:a16="http://schemas.microsoft.com/office/drawing/2014/main" id="{9FBA9AF4-7166-457E-93FC-B886FE393602}"/>
              </a:ext>
            </a:extLst>
          </p:cNvPr>
          <p:cNvSpPr>
            <a:spLocks noGrp="1"/>
          </p:cNvSpPr>
          <p:nvPr/>
        </p:nvSpPr>
        <p:spPr>
          <a:xfrm>
            <a:off x="6772275" y="176212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 / ADC；DAC / 扬声器</a:t>
            </a:r>
          </a:p>
        </p:txBody>
      </p:sp>
      <p:sp>
        <p:nvSpPr>
          <p:cNvPr id="11" name="codex-tree2-tree-edge-1">
            <a:extLst>
              <a:ext uri="{FF2B5EF4-FFF2-40B4-BE49-F238E27FC236}">
                <a16:creationId xmlns:a16="http://schemas.microsoft.com/office/drawing/2014/main" id="{AE737231-3C00-40C2-AFA1-B9ECC7168A1B}"/>
              </a:ext>
            </a:extLst>
          </p:cNvPr>
          <p:cNvSpPr>
            <a:spLocks noGrp="1"/>
          </p:cNvSpPr>
          <p:nvPr/>
        </p:nvSpPr>
        <p:spPr>
          <a:xfrm>
            <a:off x="3381375" y="2686050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2" name="codex-tree2-tree-node-1">
            <a:extLst>
              <a:ext uri="{FF2B5EF4-FFF2-40B4-BE49-F238E27FC236}">
                <a16:creationId xmlns:a16="http://schemas.microsoft.com/office/drawing/2014/main" id="{09A32CAB-B369-4679-9345-22591AC1CBB2}"/>
              </a:ext>
            </a:extLst>
          </p:cNvPr>
          <p:cNvSpPr>
            <a:spLocks noGrp="1"/>
          </p:cNvSpPr>
          <p:nvPr/>
        </p:nvSpPr>
        <p:spPr>
          <a:xfrm>
            <a:off x="3752850" y="24574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数字化与表示</a:t>
            </a:r>
          </a:p>
        </p:txBody>
      </p:sp>
      <p:sp>
        <p:nvSpPr>
          <p:cNvPr id="13" name="codex-tree2-tree-description-1">
            <a:extLst>
              <a:ext uri="{FF2B5EF4-FFF2-40B4-BE49-F238E27FC236}">
                <a16:creationId xmlns:a16="http://schemas.microsoft.com/office/drawing/2014/main" id="{6A019BC7-C492-40DF-A75C-CD917ADCB80A}"/>
              </a:ext>
            </a:extLst>
          </p:cNvPr>
          <p:cNvSpPr>
            <a:spLocks noGrp="1"/>
          </p:cNvSpPr>
          <p:nvPr/>
        </p:nvSpPr>
        <p:spPr>
          <a:xfrm>
            <a:off x="6772275" y="245745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采样定时刻；量化定代表值；码字表示</a:t>
            </a:r>
          </a:p>
        </p:txBody>
      </p:sp>
      <p:sp>
        <p:nvSpPr>
          <p:cNvPr id="14" name="codex-tree2-tree-new-focus">
            <a:extLst>
              <a:ext uri="{FF2B5EF4-FFF2-40B4-BE49-F238E27FC236}">
                <a16:creationId xmlns:a16="http://schemas.microsoft.com/office/drawing/2014/main" id="{00BC90E1-7BC1-47C4-B2A3-68FE3F187E1E}"/>
              </a:ext>
            </a:extLst>
          </p:cNvPr>
          <p:cNvSpPr>
            <a:spLocks noGrp="1"/>
          </p:cNvSpPr>
          <p:nvPr/>
        </p:nvSpPr>
        <p:spPr>
          <a:xfrm>
            <a:off x="3667125" y="2371725"/>
            <a:ext cx="7915275" cy="628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</p:sp>
      <p:sp>
        <p:nvSpPr>
          <p:cNvPr id="15" name="codex-tree2-tree-focus-label">
            <a:extLst>
              <a:ext uri="{FF2B5EF4-FFF2-40B4-BE49-F238E27FC236}">
                <a16:creationId xmlns:a16="http://schemas.microsoft.com/office/drawing/2014/main" id="{95845F07-5D8F-4DC3-BF72-09ACCBFD1F6E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本次新增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把证据连接起来：数据怎样表示？</a:t>
            </a:r>
          </a:p>
        </p:txBody>
      </p:sp>
      <p:sp>
        <p:nvSpPr>
          <p:cNvPr id="5" name="codex-tree3-tree-root">
            <a:extLst>
              <a:ext uri="{FF2B5EF4-FFF2-40B4-BE49-F238E27FC236}">
                <a16:creationId xmlns:a16="http://schemas.microsoft.com/office/drawing/2014/main" id="{44125840-4404-4715-A0F3-4388C51E6EE9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数据的表示</a:t>
            </a:r>
          </a:p>
        </p:txBody>
      </p:sp>
      <p:sp>
        <p:nvSpPr>
          <p:cNvPr id="6" name="codex-tree3-tree-root-edge">
            <a:extLst>
              <a:ext uri="{FF2B5EF4-FFF2-40B4-BE49-F238E27FC236}">
                <a16:creationId xmlns:a16="http://schemas.microsoft.com/office/drawing/2014/main" id="{3022F986-18FE-4192-9BCD-6271773C77C8}"/>
              </a:ext>
            </a:extLst>
          </p:cNvPr>
          <p:cNvSpPr>
            <a:spLocks noGrp="1"/>
          </p:cNvSpPr>
          <p:nvPr/>
        </p:nvSpPr>
        <p:spPr>
          <a:xfrm>
            <a:off x="2914650" y="1981200"/>
            <a:ext cx="466725" cy="9525"/>
          </a:xfrm>
          <a:custGeom>
            <a:pathLst>
              <a:path w="466725" h="952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7" name="codex-tree3-tree-spine">
            <a:extLst>
              <a:ext uri="{FF2B5EF4-FFF2-40B4-BE49-F238E27FC236}">
                <a16:creationId xmlns:a16="http://schemas.microsoft.com/office/drawing/2014/main" id="{05AFE393-F5DA-419A-8C31-AA7986F88720}"/>
              </a:ext>
            </a:extLst>
          </p:cNvPr>
          <p:cNvSpPr>
            <a:spLocks noGrp="1"/>
          </p:cNvSpPr>
          <p:nvPr/>
        </p:nvSpPr>
        <p:spPr>
          <a:xfrm>
            <a:off x="3381375" y="1981200"/>
            <a:ext cx="9525" cy="3800475"/>
          </a:xfrm>
          <a:custGeom>
            <a:pathLst>
              <a:path w="9525" h="3800475">
                <a:moveTo>
                  <a:pt x="0" y="0"/>
                </a:moveTo>
                <a:lnTo>
                  <a:pt x="0" y="3800475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8" name="codex-tree3-tree-edge-0">
            <a:extLst>
              <a:ext uri="{FF2B5EF4-FFF2-40B4-BE49-F238E27FC236}">
                <a16:creationId xmlns:a16="http://schemas.microsoft.com/office/drawing/2014/main" id="{560D44DF-BB72-40FF-A936-97E3191E96E8}"/>
              </a:ext>
            </a:extLst>
          </p:cNvPr>
          <p:cNvSpPr>
            <a:spLocks noGrp="1"/>
          </p:cNvSpPr>
          <p:nvPr/>
        </p:nvSpPr>
        <p:spPr>
          <a:xfrm>
            <a:off x="3381375" y="1990725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9" name="codex-tree3-tree-node-0">
            <a:extLst>
              <a:ext uri="{FF2B5EF4-FFF2-40B4-BE49-F238E27FC236}">
                <a16:creationId xmlns:a16="http://schemas.microsoft.com/office/drawing/2014/main" id="{D1948AB7-844B-4975-9178-F1D34EECBC2C}"/>
              </a:ext>
            </a:extLst>
          </p:cNvPr>
          <p:cNvSpPr>
            <a:spLocks noGrp="1"/>
          </p:cNvSpPr>
          <p:nvPr/>
        </p:nvSpPr>
        <p:spPr>
          <a:xfrm>
            <a:off x="3752850" y="176212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录音与播放</a:t>
            </a:r>
          </a:p>
        </p:txBody>
      </p:sp>
      <p:sp>
        <p:nvSpPr>
          <p:cNvPr id="10" name="codex-tree3-tree-description-0">
            <a:extLst>
              <a:ext uri="{FF2B5EF4-FFF2-40B4-BE49-F238E27FC236}">
                <a16:creationId xmlns:a16="http://schemas.microsoft.com/office/drawing/2014/main" id="{6E6EBF53-5B99-4116-A902-1C816C8DFA04}"/>
              </a:ext>
            </a:extLst>
          </p:cNvPr>
          <p:cNvSpPr>
            <a:spLocks noGrp="1"/>
          </p:cNvSpPr>
          <p:nvPr/>
        </p:nvSpPr>
        <p:spPr>
          <a:xfrm>
            <a:off x="6772275" y="176212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 / ADC；DAC / 扬声器</a:t>
            </a:r>
          </a:p>
        </p:txBody>
      </p:sp>
      <p:sp>
        <p:nvSpPr>
          <p:cNvPr id="11" name="codex-tree3-tree-edge-1">
            <a:extLst>
              <a:ext uri="{FF2B5EF4-FFF2-40B4-BE49-F238E27FC236}">
                <a16:creationId xmlns:a16="http://schemas.microsoft.com/office/drawing/2014/main" id="{A178B125-2C82-45D4-AE5B-6E0B46726084}"/>
              </a:ext>
            </a:extLst>
          </p:cNvPr>
          <p:cNvSpPr>
            <a:spLocks noGrp="1"/>
          </p:cNvSpPr>
          <p:nvPr/>
        </p:nvSpPr>
        <p:spPr>
          <a:xfrm>
            <a:off x="3381375" y="2686050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2" name="codex-tree3-tree-node-1">
            <a:extLst>
              <a:ext uri="{FF2B5EF4-FFF2-40B4-BE49-F238E27FC236}">
                <a16:creationId xmlns:a16="http://schemas.microsoft.com/office/drawing/2014/main" id="{B7C5399D-1377-41E3-909B-B9D1255183AF}"/>
              </a:ext>
            </a:extLst>
          </p:cNvPr>
          <p:cNvSpPr>
            <a:spLocks noGrp="1"/>
          </p:cNvSpPr>
          <p:nvPr/>
        </p:nvSpPr>
        <p:spPr>
          <a:xfrm>
            <a:off x="3752850" y="24574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数字化与表示</a:t>
            </a:r>
          </a:p>
        </p:txBody>
      </p:sp>
      <p:sp>
        <p:nvSpPr>
          <p:cNvPr id="13" name="codex-tree3-tree-description-1">
            <a:extLst>
              <a:ext uri="{FF2B5EF4-FFF2-40B4-BE49-F238E27FC236}">
                <a16:creationId xmlns:a16="http://schemas.microsoft.com/office/drawing/2014/main" id="{C9D5B12B-31F5-4807-8075-43F85CB355A4}"/>
              </a:ext>
            </a:extLst>
          </p:cNvPr>
          <p:cNvSpPr>
            <a:spLocks noGrp="1"/>
          </p:cNvSpPr>
          <p:nvPr/>
        </p:nvSpPr>
        <p:spPr>
          <a:xfrm>
            <a:off x="6772275" y="245745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采样定时刻；量化定代表值；码字表示</a:t>
            </a:r>
          </a:p>
        </p:txBody>
      </p:sp>
      <p:sp>
        <p:nvSpPr>
          <p:cNvPr id="14" name="codex-tree3-tree-edge-2">
            <a:extLst>
              <a:ext uri="{FF2B5EF4-FFF2-40B4-BE49-F238E27FC236}">
                <a16:creationId xmlns:a16="http://schemas.microsoft.com/office/drawing/2014/main" id="{6E7A59A6-6BE0-4189-B97B-2EE5C6167998}"/>
              </a:ext>
            </a:extLst>
          </p:cNvPr>
          <p:cNvSpPr>
            <a:spLocks noGrp="1"/>
          </p:cNvSpPr>
          <p:nvPr/>
        </p:nvSpPr>
        <p:spPr>
          <a:xfrm>
            <a:off x="3381375" y="3381375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5" name="codex-tree3-tree-node-2">
            <a:extLst>
              <a:ext uri="{FF2B5EF4-FFF2-40B4-BE49-F238E27FC236}">
                <a16:creationId xmlns:a16="http://schemas.microsoft.com/office/drawing/2014/main" id="{1A74F602-45D4-432E-A7CC-3DFA1F6E8A5A}"/>
              </a:ext>
            </a:extLst>
          </p:cNvPr>
          <p:cNvSpPr>
            <a:spLocks noGrp="1"/>
          </p:cNvSpPr>
          <p:nvPr/>
        </p:nvSpPr>
        <p:spPr>
          <a:xfrm>
            <a:off x="3752850" y="31527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PCM样本数据量</a:t>
            </a:r>
          </a:p>
        </p:txBody>
      </p:sp>
      <p:sp>
        <p:nvSpPr>
          <p:cNvPr id="16" name="codex-tree3-tree-description-2">
            <a:extLst>
              <a:ext uri="{FF2B5EF4-FFF2-40B4-BE49-F238E27FC236}">
                <a16:creationId xmlns:a16="http://schemas.microsoft.com/office/drawing/2014/main" id="{3F45F036-9659-4A5B-906E-8CCA0A17469E}"/>
              </a:ext>
            </a:extLst>
          </p:cNvPr>
          <p:cNvSpPr>
            <a:spLocks noGrp="1"/>
          </p:cNvSpPr>
          <p:nvPr/>
        </p:nvSpPr>
        <p:spPr>
          <a:xfrm>
            <a:off x="6772275" y="315277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 × 时长 × 声道数 × 存储位宽 ÷ 8</a:t>
            </a:r>
          </a:p>
        </p:txBody>
      </p:sp>
      <p:sp>
        <p:nvSpPr>
          <p:cNvPr id="17" name="codex-tree3-tree-new-focus">
            <a:extLst>
              <a:ext uri="{FF2B5EF4-FFF2-40B4-BE49-F238E27FC236}">
                <a16:creationId xmlns:a16="http://schemas.microsoft.com/office/drawing/2014/main" id="{B4926C0B-F3F8-4185-84D0-34C1551E54CB}"/>
              </a:ext>
            </a:extLst>
          </p:cNvPr>
          <p:cNvSpPr>
            <a:spLocks noGrp="1"/>
          </p:cNvSpPr>
          <p:nvPr/>
        </p:nvSpPr>
        <p:spPr>
          <a:xfrm>
            <a:off x="3667125" y="3067050"/>
            <a:ext cx="7915275" cy="628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</p:sp>
      <p:sp>
        <p:nvSpPr>
          <p:cNvPr id="18" name="codex-tree3-tree-focus-label">
            <a:extLst>
              <a:ext uri="{FF2B5EF4-FFF2-40B4-BE49-F238E27FC236}">
                <a16:creationId xmlns:a16="http://schemas.microsoft.com/office/drawing/2014/main" id="{5414798E-18AB-4998-93BB-1E0BB139F5D4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本次新增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codex-q36-image-caption">
            <a:extLst>
              <a:ext uri="{FF2B5EF4-FFF2-40B4-BE49-F238E27FC236}">
                <a16:creationId xmlns:a16="http://schemas.microsoft.com/office/drawing/2014/main" id="{EFD3A11C-C236-41FD-9272-9791FA7FE534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4857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48,000 Hz</a:t>
            </a:r>
          </a:p>
        </p:txBody>
      </p:sp>
      <p:sp>
        <p:nvSpPr>
          <p:cNvPr id="6" name="codex-q36-image-caption">
            <a:extLst>
              <a:ext uri="{FF2B5EF4-FFF2-40B4-BE49-F238E27FC236}">
                <a16:creationId xmlns:a16="http://schemas.microsoft.com/office/drawing/2014/main" id="{AD7A5FB3-D722-456C-910E-617943D5D7C9}"/>
              </a:ext>
            </a:extLst>
          </p:cNvPr>
          <p:cNvSpPr>
            <a:spLocks noGrp="1"/>
          </p:cNvSpPr>
          <p:nvPr/>
        </p:nvSpPr>
        <p:spPr>
          <a:xfrm>
            <a:off x="6724650" y="2381250"/>
            <a:ext cx="4857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7" name="codex-q36-image-caption">
            <a:extLst>
              <a:ext uri="{FF2B5EF4-FFF2-40B4-BE49-F238E27FC236}">
                <a16:creationId xmlns:a16="http://schemas.microsoft.com/office/drawing/2014/main" id="{BEE1EF24-F466-449B-813B-60682C1065B7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4857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8" name="codex-q36-image-caption">
            <a:extLst>
              <a:ext uri="{FF2B5EF4-FFF2-40B4-BE49-F238E27FC236}">
                <a16:creationId xmlns:a16="http://schemas.microsoft.com/office/drawing/2014/main" id="{88E0B8CC-24C5-4BBD-86C1-2B70D2B09D53}"/>
              </a:ext>
            </a:extLst>
          </p:cNvPr>
          <p:cNvSpPr>
            <a:spLocks noGrp="1"/>
          </p:cNvSpPr>
          <p:nvPr/>
        </p:nvSpPr>
        <p:spPr>
          <a:xfrm>
            <a:off x="6724650" y="4286250"/>
            <a:ext cx="4857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60 s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codex-q43-image-caption">
            <a:extLst>
              <a:ext uri="{FF2B5EF4-FFF2-40B4-BE49-F238E27FC236}">
                <a16:creationId xmlns:a16="http://schemas.microsoft.com/office/drawing/2014/main" id="{68F9363E-F310-4964-8560-73EDE43BE728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同一录音，采样率、存储位宽和时长都不变。</a:t>
            </a:r>
          </a:p>
          <a:p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只将输出由双声道改为单声道。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图像采样与声音采样，哪里相同？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10分钟、每秒25帧，要保存多少张画面？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为什么要压缩？先想两种真实需求。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“中国”重复100次，有没有更简短的写法？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为什么重复内容更容易压缩？</a:t>
            </a:r>
          </a:p>
        </p:txBody>
      </p:sp>
      <p:sp>
        <p:nvSpPr>
          <p:cNvPr id="5" name="codex-q53-image-caption">
            <a:extLst>
              <a:ext uri="{FF2B5EF4-FFF2-40B4-BE49-F238E27FC236}">
                <a16:creationId xmlns:a16="http://schemas.microsoft.com/office/drawing/2014/main" id="{188686DF-4455-4BF5-B83C-D60921470EB1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A：AAAAAAAAAA…</a:t>
            </a:r>
          </a:p>
          <a:p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B：AX3Q9P8F2…</a:t>
            </a:r>
          </a:p>
          <a:p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请分别提出一种简短而能完整恢复的表示方法。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压缩到底改变了什么？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两种压缩：怎样区分“无损”和“有损”？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codex-q59-image-caption">
            <a:extLst>
              <a:ext uri="{FF2B5EF4-FFF2-40B4-BE49-F238E27FC236}">
                <a16:creationId xmlns:a16="http://schemas.microsoft.com/office/drawing/2014/main" id="{3CFB1FF8-6EB8-4CCF-B95B-631536739C68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476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ZIP / RAR</a:t>
            </a:r>
          </a:p>
        </p:txBody>
      </p:sp>
      <p:sp>
        <p:nvSpPr>
          <p:cNvPr id="6" name="codex-q59-image-caption">
            <a:extLst>
              <a:ext uri="{FF2B5EF4-FFF2-40B4-BE49-F238E27FC236}">
                <a16:creationId xmlns:a16="http://schemas.microsoft.com/office/drawing/2014/main" id="{FDCDA049-3B9A-4159-ACCF-130B36D415BA}"/>
              </a:ext>
            </a:extLst>
          </p:cNvPr>
          <p:cNvSpPr>
            <a:spLocks noGrp="1"/>
          </p:cNvSpPr>
          <p:nvPr/>
        </p:nvSpPr>
        <p:spPr>
          <a:xfrm>
            <a:off x="6724650" y="2381250"/>
            <a:ext cx="476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</a:t>
            </a:r>
          </a:p>
        </p:txBody>
      </p:sp>
      <p:sp>
        <p:nvSpPr>
          <p:cNvPr id="7" name="codex-q59-image-caption">
            <a:extLst>
              <a:ext uri="{FF2B5EF4-FFF2-40B4-BE49-F238E27FC236}">
                <a16:creationId xmlns:a16="http://schemas.microsoft.com/office/drawing/2014/main" id="{DCC62149-C458-475D-8E6E-FA1E4614DF00}"/>
              </a:ext>
            </a:extLst>
          </p:cNvPr>
          <p:cNvSpPr>
            <a:spLocks noGrp="1"/>
          </p:cNvSpPr>
          <p:nvPr/>
        </p:nvSpPr>
        <p:spPr>
          <a:xfrm>
            <a:off x="609600" y="3952875"/>
            <a:ext cx="476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WAV</a:t>
            </a:r>
          </a:p>
        </p:txBody>
      </p:sp>
      <p:sp>
        <p:nvSpPr>
          <p:cNvPr id="8" name="codex-q59-image-caption">
            <a:extLst>
              <a:ext uri="{FF2B5EF4-FFF2-40B4-BE49-F238E27FC236}">
                <a16:creationId xmlns:a16="http://schemas.microsoft.com/office/drawing/2014/main" id="{9509DF03-86F1-470F-81A2-EA5D6B4D32C9}"/>
              </a:ext>
            </a:extLst>
          </p:cNvPr>
          <p:cNvSpPr>
            <a:spLocks noGrp="1"/>
          </p:cNvSpPr>
          <p:nvPr/>
        </p:nvSpPr>
        <p:spPr>
          <a:xfrm>
            <a:off x="6724650" y="3952875"/>
            <a:ext cx="4762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MP4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同一张图：BMP与JPG有什么不同？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47672"/>
            <a:ext cx="5047488" cy="276148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947672"/>
            <a:ext cx="5047488" cy="2761488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已经压成MP3、JPG，再用RAR压一遍呢？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是不是压得越小就一定越好？</a:t>
            </a:r>
          </a:p>
        </p:txBody>
      </p:sp>
      <p:pic>
        <p:nvPicPr>
          <p:cNvPr id="5" name="codex-q65-">
            <a:extLst>
              <a:ext uri="{FF2B5EF4-FFF2-40B4-BE49-F238E27FC236}">
                <a16:creationId xmlns:a16="http://schemas.microsoft.com/office/drawing/2014/main" id="{4DB0BDF9-3ABA-4A07-A012-854BA91CEE90}"/>
              </a:ext>
            </a:extLst>
          </p:cNvPr>
          <p:cNvPicPr>
            <a:picLocks noChangeAspect="1"/>
          </p:cNvPicPr>
          <p:nvPr/>
        </p:nvPicPr>
        <p:blipFill>
          <a:blip r:embed="rIdCodex5"/>
          <a:stretch/>
        </p:blipFill>
        <p:spPr>
          <a:xfrm>
            <a:off x="1619250" y="2857500"/>
            <a:ext cx="1762125" cy="1762125"/>
          </a:xfrm>
          <a:prstGeom prst="rect">
            <a:avLst/>
          </a:prstGeom>
        </p:spPr>
      </p:pic>
      <p:pic>
        <p:nvPicPr>
          <p:cNvPr id="6" name="codex-q65-">
            <a:extLst>
              <a:ext uri="{FF2B5EF4-FFF2-40B4-BE49-F238E27FC236}">
                <a16:creationId xmlns:a16="http://schemas.microsoft.com/office/drawing/2014/main" id="{4412912D-2A38-4EAE-8CE8-629F9B4A53B2}"/>
              </a:ext>
            </a:extLst>
          </p:cNvPr>
          <p:cNvPicPr>
            <a:picLocks noChangeAspect="1"/>
          </p:cNvPicPr>
          <p:nvPr/>
        </p:nvPicPr>
        <p:blipFill>
          <a:blip r:embed="rIdCodex6"/>
          <a:stretch/>
        </p:blipFill>
        <p:spPr>
          <a:xfrm>
            <a:off x="7734300" y="2857500"/>
            <a:ext cx="1762125" cy="1762125"/>
          </a:xfrm>
          <a:prstGeom prst="rect">
            <a:avLst/>
          </a:prstGeom>
        </p:spPr>
      </p:pic>
      <p:sp>
        <p:nvSpPr>
          <p:cNvPr id="7" name="codex-q65-image-caption">
            <a:extLst>
              <a:ext uri="{FF2B5EF4-FFF2-40B4-BE49-F238E27FC236}">
                <a16:creationId xmlns:a16="http://schemas.microsoft.com/office/drawing/2014/main" id="{3ED270C2-B6E2-4B15-B929-7030717D21D6}"/>
              </a:ext>
            </a:extLst>
          </p:cNvPr>
          <p:cNvSpPr>
            <a:spLocks noGrp="1"/>
          </p:cNvSpPr>
          <p:nvPr/>
        </p:nvSpPr>
        <p:spPr>
          <a:xfrm>
            <a:off x="609600" y="1800225"/>
            <a:ext cx="5257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重要文档长期备份</a:t>
            </a:r>
          </a:p>
        </p:txBody>
      </p:sp>
      <p:sp>
        <p:nvSpPr>
          <p:cNvPr id="8" name="codex-q65-image-caption">
            <a:extLst>
              <a:ext uri="{FF2B5EF4-FFF2-40B4-BE49-F238E27FC236}">
                <a16:creationId xmlns:a16="http://schemas.microsoft.com/office/drawing/2014/main" id="{BDF0DC19-E7C4-4096-B47B-3892BDC344A1}"/>
              </a:ext>
            </a:extLst>
          </p:cNvPr>
          <p:cNvSpPr>
            <a:spLocks noGrp="1"/>
          </p:cNvSpPr>
          <p:nvPr/>
        </p:nvSpPr>
        <p:spPr>
          <a:xfrm>
            <a:off x="6724650" y="1800225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实时视频通话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把证据连接起来：数据怎样表示？</a:t>
            </a:r>
          </a:p>
        </p:txBody>
      </p:sp>
      <p:sp>
        <p:nvSpPr>
          <p:cNvPr id="5" name="codex-tree4-tree-root">
            <a:extLst>
              <a:ext uri="{FF2B5EF4-FFF2-40B4-BE49-F238E27FC236}">
                <a16:creationId xmlns:a16="http://schemas.microsoft.com/office/drawing/2014/main" id="{B8953BDD-0CE5-4F6E-A51C-1B3A1CB0735F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数据的表示</a:t>
            </a:r>
          </a:p>
        </p:txBody>
      </p:sp>
      <p:sp>
        <p:nvSpPr>
          <p:cNvPr id="6" name="codex-tree4-tree-root-edge">
            <a:extLst>
              <a:ext uri="{FF2B5EF4-FFF2-40B4-BE49-F238E27FC236}">
                <a16:creationId xmlns:a16="http://schemas.microsoft.com/office/drawing/2014/main" id="{235AAD11-6AEF-42BF-969A-3B4F8A9B1833}"/>
              </a:ext>
            </a:extLst>
          </p:cNvPr>
          <p:cNvSpPr>
            <a:spLocks noGrp="1"/>
          </p:cNvSpPr>
          <p:nvPr/>
        </p:nvSpPr>
        <p:spPr>
          <a:xfrm>
            <a:off x="2914650" y="1981200"/>
            <a:ext cx="466725" cy="9525"/>
          </a:xfrm>
          <a:custGeom>
            <a:pathLst>
              <a:path w="466725" h="952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7" name="codex-tree4-tree-spine">
            <a:extLst>
              <a:ext uri="{FF2B5EF4-FFF2-40B4-BE49-F238E27FC236}">
                <a16:creationId xmlns:a16="http://schemas.microsoft.com/office/drawing/2014/main" id="{09E4C5ED-7924-41F1-9431-889DBFF61F92}"/>
              </a:ext>
            </a:extLst>
          </p:cNvPr>
          <p:cNvSpPr>
            <a:spLocks noGrp="1"/>
          </p:cNvSpPr>
          <p:nvPr/>
        </p:nvSpPr>
        <p:spPr>
          <a:xfrm>
            <a:off x="3381375" y="1981200"/>
            <a:ext cx="9525" cy="3800475"/>
          </a:xfrm>
          <a:custGeom>
            <a:pathLst>
              <a:path w="9525" h="3800475">
                <a:moveTo>
                  <a:pt x="0" y="0"/>
                </a:moveTo>
                <a:lnTo>
                  <a:pt x="0" y="3800475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8" name="codex-tree4-tree-edge-0">
            <a:extLst>
              <a:ext uri="{FF2B5EF4-FFF2-40B4-BE49-F238E27FC236}">
                <a16:creationId xmlns:a16="http://schemas.microsoft.com/office/drawing/2014/main" id="{95259D95-947C-47DF-AA8C-74DE408B2EC6}"/>
              </a:ext>
            </a:extLst>
          </p:cNvPr>
          <p:cNvSpPr>
            <a:spLocks noGrp="1"/>
          </p:cNvSpPr>
          <p:nvPr/>
        </p:nvSpPr>
        <p:spPr>
          <a:xfrm>
            <a:off x="3381375" y="1990725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9" name="codex-tree4-tree-node-0">
            <a:extLst>
              <a:ext uri="{FF2B5EF4-FFF2-40B4-BE49-F238E27FC236}">
                <a16:creationId xmlns:a16="http://schemas.microsoft.com/office/drawing/2014/main" id="{77522EDC-C626-4FE8-A300-B5875C34F5FA}"/>
              </a:ext>
            </a:extLst>
          </p:cNvPr>
          <p:cNvSpPr>
            <a:spLocks noGrp="1"/>
          </p:cNvSpPr>
          <p:nvPr/>
        </p:nvSpPr>
        <p:spPr>
          <a:xfrm>
            <a:off x="3752850" y="176212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录音与播放</a:t>
            </a:r>
          </a:p>
        </p:txBody>
      </p:sp>
      <p:sp>
        <p:nvSpPr>
          <p:cNvPr id="10" name="codex-tree4-tree-description-0">
            <a:extLst>
              <a:ext uri="{FF2B5EF4-FFF2-40B4-BE49-F238E27FC236}">
                <a16:creationId xmlns:a16="http://schemas.microsoft.com/office/drawing/2014/main" id="{515C0A9B-D38A-408F-99A3-F41C7D9A8616}"/>
              </a:ext>
            </a:extLst>
          </p:cNvPr>
          <p:cNvSpPr>
            <a:spLocks noGrp="1"/>
          </p:cNvSpPr>
          <p:nvPr/>
        </p:nvSpPr>
        <p:spPr>
          <a:xfrm>
            <a:off x="6772275" y="176212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 / ADC；DAC / 扬声器</a:t>
            </a:r>
          </a:p>
        </p:txBody>
      </p:sp>
      <p:sp>
        <p:nvSpPr>
          <p:cNvPr id="11" name="codex-tree4-tree-edge-1">
            <a:extLst>
              <a:ext uri="{FF2B5EF4-FFF2-40B4-BE49-F238E27FC236}">
                <a16:creationId xmlns:a16="http://schemas.microsoft.com/office/drawing/2014/main" id="{CA5807C5-A868-4F5A-AAFE-282447FCF210}"/>
              </a:ext>
            </a:extLst>
          </p:cNvPr>
          <p:cNvSpPr>
            <a:spLocks noGrp="1"/>
          </p:cNvSpPr>
          <p:nvPr/>
        </p:nvSpPr>
        <p:spPr>
          <a:xfrm>
            <a:off x="3381375" y="2686050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2" name="codex-tree4-tree-node-1">
            <a:extLst>
              <a:ext uri="{FF2B5EF4-FFF2-40B4-BE49-F238E27FC236}">
                <a16:creationId xmlns:a16="http://schemas.microsoft.com/office/drawing/2014/main" id="{4360D289-E892-42DE-A880-10AD26C8D46C}"/>
              </a:ext>
            </a:extLst>
          </p:cNvPr>
          <p:cNvSpPr>
            <a:spLocks noGrp="1"/>
          </p:cNvSpPr>
          <p:nvPr/>
        </p:nvSpPr>
        <p:spPr>
          <a:xfrm>
            <a:off x="3752850" y="24574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数字化与表示</a:t>
            </a:r>
          </a:p>
        </p:txBody>
      </p:sp>
      <p:sp>
        <p:nvSpPr>
          <p:cNvPr id="13" name="codex-tree4-tree-description-1">
            <a:extLst>
              <a:ext uri="{FF2B5EF4-FFF2-40B4-BE49-F238E27FC236}">
                <a16:creationId xmlns:a16="http://schemas.microsoft.com/office/drawing/2014/main" id="{9AF82144-5E20-4891-85E4-9FA774268C53}"/>
              </a:ext>
            </a:extLst>
          </p:cNvPr>
          <p:cNvSpPr>
            <a:spLocks noGrp="1"/>
          </p:cNvSpPr>
          <p:nvPr/>
        </p:nvSpPr>
        <p:spPr>
          <a:xfrm>
            <a:off x="6772275" y="245745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采样定时刻；量化定代表值；码字表示</a:t>
            </a:r>
          </a:p>
        </p:txBody>
      </p:sp>
      <p:sp>
        <p:nvSpPr>
          <p:cNvPr id="14" name="codex-tree4-tree-edge-2">
            <a:extLst>
              <a:ext uri="{FF2B5EF4-FFF2-40B4-BE49-F238E27FC236}">
                <a16:creationId xmlns:a16="http://schemas.microsoft.com/office/drawing/2014/main" id="{573440BD-28C8-4AB5-8FA1-8846D4F419FE}"/>
              </a:ext>
            </a:extLst>
          </p:cNvPr>
          <p:cNvSpPr>
            <a:spLocks noGrp="1"/>
          </p:cNvSpPr>
          <p:nvPr/>
        </p:nvSpPr>
        <p:spPr>
          <a:xfrm>
            <a:off x="3381375" y="3381375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5" name="codex-tree4-tree-node-2">
            <a:extLst>
              <a:ext uri="{FF2B5EF4-FFF2-40B4-BE49-F238E27FC236}">
                <a16:creationId xmlns:a16="http://schemas.microsoft.com/office/drawing/2014/main" id="{E6B7F2D8-3A98-4D9A-A233-64670630BAEB}"/>
              </a:ext>
            </a:extLst>
          </p:cNvPr>
          <p:cNvSpPr>
            <a:spLocks noGrp="1"/>
          </p:cNvSpPr>
          <p:nvPr/>
        </p:nvSpPr>
        <p:spPr>
          <a:xfrm>
            <a:off x="3752850" y="31527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PCM样本数据量</a:t>
            </a:r>
          </a:p>
        </p:txBody>
      </p:sp>
      <p:sp>
        <p:nvSpPr>
          <p:cNvPr id="16" name="codex-tree4-tree-description-2">
            <a:extLst>
              <a:ext uri="{FF2B5EF4-FFF2-40B4-BE49-F238E27FC236}">
                <a16:creationId xmlns:a16="http://schemas.microsoft.com/office/drawing/2014/main" id="{E69A5C31-D651-41E6-8BA0-866E9800C2E3}"/>
              </a:ext>
            </a:extLst>
          </p:cNvPr>
          <p:cNvSpPr>
            <a:spLocks noGrp="1"/>
          </p:cNvSpPr>
          <p:nvPr/>
        </p:nvSpPr>
        <p:spPr>
          <a:xfrm>
            <a:off x="6772275" y="315277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 × 时长 × 声道数 × 存储位宽 ÷ 8</a:t>
            </a:r>
          </a:p>
        </p:txBody>
      </p:sp>
      <p:sp>
        <p:nvSpPr>
          <p:cNvPr id="17" name="codex-tree4-tree-edge-3">
            <a:extLst>
              <a:ext uri="{FF2B5EF4-FFF2-40B4-BE49-F238E27FC236}">
                <a16:creationId xmlns:a16="http://schemas.microsoft.com/office/drawing/2014/main" id="{7623448D-DE5F-4755-B7E8-DF00E5E4A2DE}"/>
              </a:ext>
            </a:extLst>
          </p:cNvPr>
          <p:cNvSpPr>
            <a:spLocks noGrp="1"/>
          </p:cNvSpPr>
          <p:nvPr/>
        </p:nvSpPr>
        <p:spPr>
          <a:xfrm>
            <a:off x="3381375" y="4076700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8" name="codex-tree4-tree-node-3">
            <a:extLst>
              <a:ext uri="{FF2B5EF4-FFF2-40B4-BE49-F238E27FC236}">
                <a16:creationId xmlns:a16="http://schemas.microsoft.com/office/drawing/2014/main" id="{AE893414-8912-4BA5-8B53-CD3D2C7E91BF}"/>
              </a:ext>
            </a:extLst>
          </p:cNvPr>
          <p:cNvSpPr>
            <a:spLocks noGrp="1"/>
          </p:cNvSpPr>
          <p:nvPr/>
        </p:nvSpPr>
        <p:spPr>
          <a:xfrm>
            <a:off x="3752850" y="384810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逐帧未压缩视频</a:t>
            </a:r>
          </a:p>
        </p:txBody>
      </p:sp>
      <p:sp>
        <p:nvSpPr>
          <p:cNvPr id="19" name="codex-tree4-tree-description-3">
            <a:extLst>
              <a:ext uri="{FF2B5EF4-FFF2-40B4-BE49-F238E27FC236}">
                <a16:creationId xmlns:a16="http://schemas.microsoft.com/office/drawing/2014/main" id="{2772CE8E-605C-45F9-B805-17BF5D99FCD7}"/>
              </a:ext>
            </a:extLst>
          </p:cNvPr>
          <p:cNvSpPr>
            <a:spLocks noGrp="1"/>
          </p:cNvSpPr>
          <p:nvPr/>
        </p:nvSpPr>
        <p:spPr>
          <a:xfrm>
            <a:off x="6772275" y="384810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单帧像素数据量 × 总帧数</a:t>
            </a:r>
          </a:p>
        </p:txBody>
      </p:sp>
      <p:sp>
        <p:nvSpPr>
          <p:cNvPr id="20" name="codex-tree4-tree-new-focus">
            <a:extLst>
              <a:ext uri="{FF2B5EF4-FFF2-40B4-BE49-F238E27FC236}">
                <a16:creationId xmlns:a16="http://schemas.microsoft.com/office/drawing/2014/main" id="{AE98FE09-F108-4593-8A99-D2B66ACBEA4E}"/>
              </a:ext>
            </a:extLst>
          </p:cNvPr>
          <p:cNvSpPr>
            <a:spLocks noGrp="1"/>
          </p:cNvSpPr>
          <p:nvPr/>
        </p:nvSpPr>
        <p:spPr>
          <a:xfrm>
            <a:off x="3667125" y="3762375"/>
            <a:ext cx="7915275" cy="628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</p:sp>
      <p:sp>
        <p:nvSpPr>
          <p:cNvPr id="21" name="codex-tree4-tree-focus-label">
            <a:extLst>
              <a:ext uri="{FF2B5EF4-FFF2-40B4-BE49-F238E27FC236}">
                <a16:creationId xmlns:a16="http://schemas.microsoft.com/office/drawing/2014/main" id="{60D1957B-CF4C-47F4-A608-2326F3AF14D3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本次新增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把证据连接起来：数据怎样表示？</a:t>
            </a:r>
          </a:p>
        </p:txBody>
      </p:sp>
      <p:sp>
        <p:nvSpPr>
          <p:cNvPr id="5" name="codex-tree5-tree-root">
            <a:extLst>
              <a:ext uri="{FF2B5EF4-FFF2-40B4-BE49-F238E27FC236}">
                <a16:creationId xmlns:a16="http://schemas.microsoft.com/office/drawing/2014/main" id="{00EF4EC0-9AA1-4A70-AD46-13779F3921CE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数据的表示</a:t>
            </a:r>
          </a:p>
        </p:txBody>
      </p:sp>
      <p:sp>
        <p:nvSpPr>
          <p:cNvPr id="6" name="codex-tree5-tree-root-edge">
            <a:extLst>
              <a:ext uri="{FF2B5EF4-FFF2-40B4-BE49-F238E27FC236}">
                <a16:creationId xmlns:a16="http://schemas.microsoft.com/office/drawing/2014/main" id="{AB883B63-B6D1-47E1-A747-E73C1094CC35}"/>
              </a:ext>
            </a:extLst>
          </p:cNvPr>
          <p:cNvSpPr>
            <a:spLocks noGrp="1"/>
          </p:cNvSpPr>
          <p:nvPr/>
        </p:nvSpPr>
        <p:spPr>
          <a:xfrm>
            <a:off x="2914650" y="1981200"/>
            <a:ext cx="466725" cy="9525"/>
          </a:xfrm>
          <a:custGeom>
            <a:pathLst>
              <a:path w="466725" h="952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7" name="codex-tree5-tree-spine">
            <a:extLst>
              <a:ext uri="{FF2B5EF4-FFF2-40B4-BE49-F238E27FC236}">
                <a16:creationId xmlns:a16="http://schemas.microsoft.com/office/drawing/2014/main" id="{8B460A85-E24F-471B-BAF0-E8AD80DFE566}"/>
              </a:ext>
            </a:extLst>
          </p:cNvPr>
          <p:cNvSpPr>
            <a:spLocks noGrp="1"/>
          </p:cNvSpPr>
          <p:nvPr/>
        </p:nvSpPr>
        <p:spPr>
          <a:xfrm>
            <a:off x="3381375" y="1981200"/>
            <a:ext cx="9525" cy="3800475"/>
          </a:xfrm>
          <a:custGeom>
            <a:pathLst>
              <a:path w="9525" h="3800475">
                <a:moveTo>
                  <a:pt x="0" y="0"/>
                </a:moveTo>
                <a:lnTo>
                  <a:pt x="0" y="3800475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8" name="codex-tree5-tree-edge-0">
            <a:extLst>
              <a:ext uri="{FF2B5EF4-FFF2-40B4-BE49-F238E27FC236}">
                <a16:creationId xmlns:a16="http://schemas.microsoft.com/office/drawing/2014/main" id="{B29DED5D-DDC2-47BA-97B7-9070B9E58D05}"/>
              </a:ext>
            </a:extLst>
          </p:cNvPr>
          <p:cNvSpPr>
            <a:spLocks noGrp="1"/>
          </p:cNvSpPr>
          <p:nvPr/>
        </p:nvSpPr>
        <p:spPr>
          <a:xfrm>
            <a:off x="3381375" y="1990725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9" name="codex-tree5-tree-node-0">
            <a:extLst>
              <a:ext uri="{FF2B5EF4-FFF2-40B4-BE49-F238E27FC236}">
                <a16:creationId xmlns:a16="http://schemas.microsoft.com/office/drawing/2014/main" id="{7324DE80-E7EA-4A5A-9BC8-16A86CF751F3}"/>
              </a:ext>
            </a:extLst>
          </p:cNvPr>
          <p:cNvSpPr>
            <a:spLocks noGrp="1"/>
          </p:cNvSpPr>
          <p:nvPr/>
        </p:nvSpPr>
        <p:spPr>
          <a:xfrm>
            <a:off x="3752850" y="176212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录音与播放</a:t>
            </a:r>
          </a:p>
        </p:txBody>
      </p:sp>
      <p:sp>
        <p:nvSpPr>
          <p:cNvPr id="10" name="codex-tree5-tree-description-0">
            <a:extLst>
              <a:ext uri="{FF2B5EF4-FFF2-40B4-BE49-F238E27FC236}">
                <a16:creationId xmlns:a16="http://schemas.microsoft.com/office/drawing/2014/main" id="{55CCC6B0-3FE5-4DC7-B77C-CC54B048C079}"/>
              </a:ext>
            </a:extLst>
          </p:cNvPr>
          <p:cNvSpPr>
            <a:spLocks noGrp="1"/>
          </p:cNvSpPr>
          <p:nvPr/>
        </p:nvSpPr>
        <p:spPr>
          <a:xfrm>
            <a:off x="6772275" y="176212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 / ADC；DAC / 扬声器</a:t>
            </a:r>
          </a:p>
        </p:txBody>
      </p:sp>
      <p:sp>
        <p:nvSpPr>
          <p:cNvPr id="11" name="codex-tree5-tree-edge-1">
            <a:extLst>
              <a:ext uri="{FF2B5EF4-FFF2-40B4-BE49-F238E27FC236}">
                <a16:creationId xmlns:a16="http://schemas.microsoft.com/office/drawing/2014/main" id="{FF082369-E063-4BDE-B3FB-B80B722AD6E8}"/>
              </a:ext>
            </a:extLst>
          </p:cNvPr>
          <p:cNvSpPr>
            <a:spLocks noGrp="1"/>
          </p:cNvSpPr>
          <p:nvPr/>
        </p:nvSpPr>
        <p:spPr>
          <a:xfrm>
            <a:off x="3381375" y="2686050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2" name="codex-tree5-tree-node-1">
            <a:extLst>
              <a:ext uri="{FF2B5EF4-FFF2-40B4-BE49-F238E27FC236}">
                <a16:creationId xmlns:a16="http://schemas.microsoft.com/office/drawing/2014/main" id="{F39A616C-BB88-45F1-857A-2BD74BE5C401}"/>
              </a:ext>
            </a:extLst>
          </p:cNvPr>
          <p:cNvSpPr>
            <a:spLocks noGrp="1"/>
          </p:cNvSpPr>
          <p:nvPr/>
        </p:nvSpPr>
        <p:spPr>
          <a:xfrm>
            <a:off x="3752850" y="24574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数字化与表示</a:t>
            </a:r>
          </a:p>
        </p:txBody>
      </p:sp>
      <p:sp>
        <p:nvSpPr>
          <p:cNvPr id="13" name="codex-tree5-tree-description-1">
            <a:extLst>
              <a:ext uri="{FF2B5EF4-FFF2-40B4-BE49-F238E27FC236}">
                <a16:creationId xmlns:a16="http://schemas.microsoft.com/office/drawing/2014/main" id="{D46A62FB-DC30-4128-8CDA-D6765ADE3FB3}"/>
              </a:ext>
            </a:extLst>
          </p:cNvPr>
          <p:cNvSpPr>
            <a:spLocks noGrp="1"/>
          </p:cNvSpPr>
          <p:nvPr/>
        </p:nvSpPr>
        <p:spPr>
          <a:xfrm>
            <a:off x="6772275" y="245745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采样定时刻；量化定代表值；码字表示</a:t>
            </a:r>
          </a:p>
        </p:txBody>
      </p:sp>
      <p:sp>
        <p:nvSpPr>
          <p:cNvPr id="14" name="codex-tree5-tree-edge-2">
            <a:extLst>
              <a:ext uri="{FF2B5EF4-FFF2-40B4-BE49-F238E27FC236}">
                <a16:creationId xmlns:a16="http://schemas.microsoft.com/office/drawing/2014/main" id="{B3C7D75F-CE9B-4298-BBBE-01F9C2317D15}"/>
              </a:ext>
            </a:extLst>
          </p:cNvPr>
          <p:cNvSpPr>
            <a:spLocks noGrp="1"/>
          </p:cNvSpPr>
          <p:nvPr/>
        </p:nvSpPr>
        <p:spPr>
          <a:xfrm>
            <a:off x="3381375" y="3381375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5" name="codex-tree5-tree-node-2">
            <a:extLst>
              <a:ext uri="{FF2B5EF4-FFF2-40B4-BE49-F238E27FC236}">
                <a16:creationId xmlns:a16="http://schemas.microsoft.com/office/drawing/2014/main" id="{D709BC6A-9899-4AE3-B0AB-BA596EC92D80}"/>
              </a:ext>
            </a:extLst>
          </p:cNvPr>
          <p:cNvSpPr>
            <a:spLocks noGrp="1"/>
          </p:cNvSpPr>
          <p:nvPr/>
        </p:nvSpPr>
        <p:spPr>
          <a:xfrm>
            <a:off x="3752850" y="31527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PCM样本数据量</a:t>
            </a:r>
          </a:p>
        </p:txBody>
      </p:sp>
      <p:sp>
        <p:nvSpPr>
          <p:cNvPr id="16" name="codex-tree5-tree-description-2">
            <a:extLst>
              <a:ext uri="{FF2B5EF4-FFF2-40B4-BE49-F238E27FC236}">
                <a16:creationId xmlns:a16="http://schemas.microsoft.com/office/drawing/2014/main" id="{0F405EC4-F24C-47F5-B48D-9C87279200CF}"/>
              </a:ext>
            </a:extLst>
          </p:cNvPr>
          <p:cNvSpPr>
            <a:spLocks noGrp="1"/>
          </p:cNvSpPr>
          <p:nvPr/>
        </p:nvSpPr>
        <p:spPr>
          <a:xfrm>
            <a:off x="6772275" y="315277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 × 时长 × 声道数 × 存储位宽 ÷ 8</a:t>
            </a:r>
          </a:p>
        </p:txBody>
      </p:sp>
      <p:sp>
        <p:nvSpPr>
          <p:cNvPr id="17" name="codex-tree5-tree-edge-3">
            <a:extLst>
              <a:ext uri="{FF2B5EF4-FFF2-40B4-BE49-F238E27FC236}">
                <a16:creationId xmlns:a16="http://schemas.microsoft.com/office/drawing/2014/main" id="{D0D6D297-1247-4B2E-A706-EBCBC7157C68}"/>
              </a:ext>
            </a:extLst>
          </p:cNvPr>
          <p:cNvSpPr>
            <a:spLocks noGrp="1"/>
          </p:cNvSpPr>
          <p:nvPr/>
        </p:nvSpPr>
        <p:spPr>
          <a:xfrm>
            <a:off x="3381375" y="4076700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8" name="codex-tree5-tree-node-3">
            <a:extLst>
              <a:ext uri="{FF2B5EF4-FFF2-40B4-BE49-F238E27FC236}">
                <a16:creationId xmlns:a16="http://schemas.microsoft.com/office/drawing/2014/main" id="{32A4DE32-7C06-4D25-9C57-E012201EC408}"/>
              </a:ext>
            </a:extLst>
          </p:cNvPr>
          <p:cNvSpPr>
            <a:spLocks noGrp="1"/>
          </p:cNvSpPr>
          <p:nvPr/>
        </p:nvSpPr>
        <p:spPr>
          <a:xfrm>
            <a:off x="3752850" y="384810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逐帧未压缩视频</a:t>
            </a:r>
          </a:p>
        </p:txBody>
      </p:sp>
      <p:sp>
        <p:nvSpPr>
          <p:cNvPr id="19" name="codex-tree5-tree-description-3">
            <a:extLst>
              <a:ext uri="{FF2B5EF4-FFF2-40B4-BE49-F238E27FC236}">
                <a16:creationId xmlns:a16="http://schemas.microsoft.com/office/drawing/2014/main" id="{8D7A09FD-6341-45C7-B1E8-064EA1DEDF5C}"/>
              </a:ext>
            </a:extLst>
          </p:cNvPr>
          <p:cNvSpPr>
            <a:spLocks noGrp="1"/>
          </p:cNvSpPr>
          <p:nvPr/>
        </p:nvSpPr>
        <p:spPr>
          <a:xfrm>
            <a:off x="6772275" y="384810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单帧像素数据量 × 总帧数</a:t>
            </a:r>
          </a:p>
        </p:txBody>
      </p:sp>
      <p:sp>
        <p:nvSpPr>
          <p:cNvPr id="20" name="codex-tree5-tree-edge-4">
            <a:extLst>
              <a:ext uri="{FF2B5EF4-FFF2-40B4-BE49-F238E27FC236}">
                <a16:creationId xmlns:a16="http://schemas.microsoft.com/office/drawing/2014/main" id="{DAE90878-874B-473B-BD7D-CDDF128ED550}"/>
              </a:ext>
            </a:extLst>
          </p:cNvPr>
          <p:cNvSpPr>
            <a:spLocks noGrp="1"/>
          </p:cNvSpPr>
          <p:nvPr/>
        </p:nvSpPr>
        <p:spPr>
          <a:xfrm>
            <a:off x="3381375" y="4772025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21" name="codex-tree5-tree-node-4">
            <a:extLst>
              <a:ext uri="{FF2B5EF4-FFF2-40B4-BE49-F238E27FC236}">
                <a16:creationId xmlns:a16="http://schemas.microsoft.com/office/drawing/2014/main" id="{97026B3A-20C2-4253-9AFE-54A2C1D87530}"/>
              </a:ext>
            </a:extLst>
          </p:cNvPr>
          <p:cNvSpPr>
            <a:spLocks noGrp="1"/>
          </p:cNvSpPr>
          <p:nvPr/>
        </p:nvSpPr>
        <p:spPr>
          <a:xfrm>
            <a:off x="3752850" y="454342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压缩的目的</a:t>
            </a:r>
          </a:p>
        </p:txBody>
      </p:sp>
      <p:sp>
        <p:nvSpPr>
          <p:cNvPr id="22" name="codex-tree5-tree-description-4">
            <a:extLst>
              <a:ext uri="{FF2B5EF4-FFF2-40B4-BE49-F238E27FC236}">
                <a16:creationId xmlns:a16="http://schemas.microsoft.com/office/drawing/2014/main" id="{97B17E1F-A3E2-4D67-94E5-D4EBAE76C56E}"/>
              </a:ext>
            </a:extLst>
          </p:cNvPr>
          <p:cNvSpPr>
            <a:spLocks noGrp="1"/>
          </p:cNvSpPr>
          <p:nvPr/>
        </p:nvSpPr>
        <p:spPr>
          <a:xfrm>
            <a:off x="6772275" y="454342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节省空间；减少传输数据量</a:t>
            </a:r>
          </a:p>
        </p:txBody>
      </p:sp>
      <p:sp>
        <p:nvSpPr>
          <p:cNvPr id="23" name="codex-tree5-tree-new-focus">
            <a:extLst>
              <a:ext uri="{FF2B5EF4-FFF2-40B4-BE49-F238E27FC236}">
                <a16:creationId xmlns:a16="http://schemas.microsoft.com/office/drawing/2014/main" id="{1E58FAC9-4935-484B-BDD9-C15FAC282715}"/>
              </a:ext>
            </a:extLst>
          </p:cNvPr>
          <p:cNvSpPr>
            <a:spLocks noGrp="1"/>
          </p:cNvSpPr>
          <p:nvPr/>
        </p:nvSpPr>
        <p:spPr>
          <a:xfrm>
            <a:off x="3667125" y="4457700"/>
            <a:ext cx="7915275" cy="628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</p:sp>
      <p:sp>
        <p:nvSpPr>
          <p:cNvPr id="24" name="codex-tree5-tree-focus-label">
            <a:extLst>
              <a:ext uri="{FF2B5EF4-FFF2-40B4-BE49-F238E27FC236}">
                <a16:creationId xmlns:a16="http://schemas.microsoft.com/office/drawing/2014/main" id="{60C142E1-802E-4E24-AB0A-13B379822B1B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本次新增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t>把证据连接起来：数据怎样表示？</a:t>
            </a:r>
          </a:p>
        </p:txBody>
      </p:sp>
      <p:sp>
        <p:nvSpPr>
          <p:cNvPr id="5" name="codex-tree6-tree-root">
            <a:extLst>
              <a:ext uri="{FF2B5EF4-FFF2-40B4-BE49-F238E27FC236}">
                <a16:creationId xmlns:a16="http://schemas.microsoft.com/office/drawing/2014/main" id="{331D61B0-4676-4E9A-AA2F-CB967CFD0714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7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数据的表示</a:t>
            </a:r>
          </a:p>
        </p:txBody>
      </p:sp>
      <p:sp>
        <p:nvSpPr>
          <p:cNvPr id="6" name="codex-tree6-tree-root-edge">
            <a:extLst>
              <a:ext uri="{FF2B5EF4-FFF2-40B4-BE49-F238E27FC236}">
                <a16:creationId xmlns:a16="http://schemas.microsoft.com/office/drawing/2014/main" id="{9274E0B6-73A7-4F6B-A1E4-736FA36B2CE1}"/>
              </a:ext>
            </a:extLst>
          </p:cNvPr>
          <p:cNvSpPr>
            <a:spLocks noGrp="1"/>
          </p:cNvSpPr>
          <p:nvPr/>
        </p:nvSpPr>
        <p:spPr>
          <a:xfrm>
            <a:off x="2914650" y="1981200"/>
            <a:ext cx="466725" cy="9525"/>
          </a:xfrm>
          <a:custGeom>
            <a:pathLst>
              <a:path w="466725" h="952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7" name="codex-tree6-tree-spine">
            <a:extLst>
              <a:ext uri="{FF2B5EF4-FFF2-40B4-BE49-F238E27FC236}">
                <a16:creationId xmlns:a16="http://schemas.microsoft.com/office/drawing/2014/main" id="{B0A98A5C-B408-4D79-9284-BE5FEE69122D}"/>
              </a:ext>
            </a:extLst>
          </p:cNvPr>
          <p:cNvSpPr>
            <a:spLocks noGrp="1"/>
          </p:cNvSpPr>
          <p:nvPr/>
        </p:nvSpPr>
        <p:spPr>
          <a:xfrm>
            <a:off x="3381375" y="1981200"/>
            <a:ext cx="9525" cy="3800475"/>
          </a:xfrm>
          <a:custGeom>
            <a:pathLst>
              <a:path w="9525" h="3800475">
                <a:moveTo>
                  <a:pt x="0" y="0"/>
                </a:moveTo>
                <a:lnTo>
                  <a:pt x="0" y="3800475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8" name="codex-tree6-tree-edge-0">
            <a:extLst>
              <a:ext uri="{FF2B5EF4-FFF2-40B4-BE49-F238E27FC236}">
                <a16:creationId xmlns:a16="http://schemas.microsoft.com/office/drawing/2014/main" id="{6F1F5F4B-3F2F-4383-90C1-60DF8CA709CF}"/>
              </a:ext>
            </a:extLst>
          </p:cNvPr>
          <p:cNvSpPr>
            <a:spLocks noGrp="1"/>
          </p:cNvSpPr>
          <p:nvPr/>
        </p:nvSpPr>
        <p:spPr>
          <a:xfrm>
            <a:off x="3381375" y="1990725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9" name="codex-tree6-tree-node-0">
            <a:extLst>
              <a:ext uri="{FF2B5EF4-FFF2-40B4-BE49-F238E27FC236}">
                <a16:creationId xmlns:a16="http://schemas.microsoft.com/office/drawing/2014/main" id="{74F028DB-D6FC-4F27-A1B6-D7C6B4BEB165}"/>
              </a:ext>
            </a:extLst>
          </p:cNvPr>
          <p:cNvSpPr>
            <a:spLocks noGrp="1"/>
          </p:cNvSpPr>
          <p:nvPr/>
        </p:nvSpPr>
        <p:spPr>
          <a:xfrm>
            <a:off x="3752850" y="176212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录音与播放</a:t>
            </a:r>
          </a:p>
        </p:txBody>
      </p:sp>
      <p:sp>
        <p:nvSpPr>
          <p:cNvPr id="10" name="codex-tree6-tree-description-0">
            <a:extLst>
              <a:ext uri="{FF2B5EF4-FFF2-40B4-BE49-F238E27FC236}">
                <a16:creationId xmlns:a16="http://schemas.microsoft.com/office/drawing/2014/main" id="{4B2EF93F-2960-42F2-A020-6BE87CD30CBD}"/>
              </a:ext>
            </a:extLst>
          </p:cNvPr>
          <p:cNvSpPr>
            <a:spLocks noGrp="1"/>
          </p:cNvSpPr>
          <p:nvPr/>
        </p:nvSpPr>
        <p:spPr>
          <a:xfrm>
            <a:off x="6772275" y="176212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 / ADC；DAC / 扬声器</a:t>
            </a:r>
          </a:p>
        </p:txBody>
      </p:sp>
      <p:sp>
        <p:nvSpPr>
          <p:cNvPr id="11" name="codex-tree6-tree-edge-1">
            <a:extLst>
              <a:ext uri="{FF2B5EF4-FFF2-40B4-BE49-F238E27FC236}">
                <a16:creationId xmlns:a16="http://schemas.microsoft.com/office/drawing/2014/main" id="{41242C54-B28E-4809-A66C-0AA8970CB42C}"/>
              </a:ext>
            </a:extLst>
          </p:cNvPr>
          <p:cNvSpPr>
            <a:spLocks noGrp="1"/>
          </p:cNvSpPr>
          <p:nvPr/>
        </p:nvSpPr>
        <p:spPr>
          <a:xfrm>
            <a:off x="3381375" y="2686050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2" name="codex-tree6-tree-node-1">
            <a:extLst>
              <a:ext uri="{FF2B5EF4-FFF2-40B4-BE49-F238E27FC236}">
                <a16:creationId xmlns:a16="http://schemas.microsoft.com/office/drawing/2014/main" id="{1D41855C-304E-4BCE-A14B-9920F320BDA9}"/>
              </a:ext>
            </a:extLst>
          </p:cNvPr>
          <p:cNvSpPr>
            <a:spLocks noGrp="1"/>
          </p:cNvSpPr>
          <p:nvPr/>
        </p:nvSpPr>
        <p:spPr>
          <a:xfrm>
            <a:off x="3752850" y="24574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数字化与表示</a:t>
            </a:r>
          </a:p>
        </p:txBody>
      </p:sp>
      <p:sp>
        <p:nvSpPr>
          <p:cNvPr id="13" name="codex-tree6-tree-description-1">
            <a:extLst>
              <a:ext uri="{FF2B5EF4-FFF2-40B4-BE49-F238E27FC236}">
                <a16:creationId xmlns:a16="http://schemas.microsoft.com/office/drawing/2014/main" id="{9A8134EB-6060-42EE-B9D7-4D9B941737F1}"/>
              </a:ext>
            </a:extLst>
          </p:cNvPr>
          <p:cNvSpPr>
            <a:spLocks noGrp="1"/>
          </p:cNvSpPr>
          <p:nvPr/>
        </p:nvSpPr>
        <p:spPr>
          <a:xfrm>
            <a:off x="6772275" y="245745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采样定时刻；量化定代表值；码字表示</a:t>
            </a:r>
          </a:p>
        </p:txBody>
      </p:sp>
      <p:sp>
        <p:nvSpPr>
          <p:cNvPr id="14" name="codex-tree6-tree-edge-2">
            <a:extLst>
              <a:ext uri="{FF2B5EF4-FFF2-40B4-BE49-F238E27FC236}">
                <a16:creationId xmlns:a16="http://schemas.microsoft.com/office/drawing/2014/main" id="{E7DB6568-4444-4202-B567-A1912C5CF89E}"/>
              </a:ext>
            </a:extLst>
          </p:cNvPr>
          <p:cNvSpPr>
            <a:spLocks noGrp="1"/>
          </p:cNvSpPr>
          <p:nvPr/>
        </p:nvSpPr>
        <p:spPr>
          <a:xfrm>
            <a:off x="3381375" y="3381375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5" name="codex-tree6-tree-node-2">
            <a:extLst>
              <a:ext uri="{FF2B5EF4-FFF2-40B4-BE49-F238E27FC236}">
                <a16:creationId xmlns:a16="http://schemas.microsoft.com/office/drawing/2014/main" id="{77A6B455-6F43-463B-B642-906954A59C91}"/>
              </a:ext>
            </a:extLst>
          </p:cNvPr>
          <p:cNvSpPr>
            <a:spLocks noGrp="1"/>
          </p:cNvSpPr>
          <p:nvPr/>
        </p:nvSpPr>
        <p:spPr>
          <a:xfrm>
            <a:off x="3752850" y="31527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PCM样本数据量</a:t>
            </a:r>
          </a:p>
        </p:txBody>
      </p:sp>
      <p:sp>
        <p:nvSpPr>
          <p:cNvPr id="16" name="codex-tree6-tree-description-2">
            <a:extLst>
              <a:ext uri="{FF2B5EF4-FFF2-40B4-BE49-F238E27FC236}">
                <a16:creationId xmlns:a16="http://schemas.microsoft.com/office/drawing/2014/main" id="{548D050C-C1A0-4885-9AD4-4BB1486291A6}"/>
              </a:ext>
            </a:extLst>
          </p:cNvPr>
          <p:cNvSpPr>
            <a:spLocks noGrp="1"/>
          </p:cNvSpPr>
          <p:nvPr/>
        </p:nvSpPr>
        <p:spPr>
          <a:xfrm>
            <a:off x="6772275" y="315277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 × 时长 × 声道数 × 存储位宽 ÷ 8</a:t>
            </a:r>
          </a:p>
        </p:txBody>
      </p:sp>
      <p:sp>
        <p:nvSpPr>
          <p:cNvPr id="17" name="codex-tree6-tree-edge-3">
            <a:extLst>
              <a:ext uri="{FF2B5EF4-FFF2-40B4-BE49-F238E27FC236}">
                <a16:creationId xmlns:a16="http://schemas.microsoft.com/office/drawing/2014/main" id="{AFFF22EB-F8FC-4BDE-BA03-12DF708300B8}"/>
              </a:ext>
            </a:extLst>
          </p:cNvPr>
          <p:cNvSpPr>
            <a:spLocks noGrp="1"/>
          </p:cNvSpPr>
          <p:nvPr/>
        </p:nvSpPr>
        <p:spPr>
          <a:xfrm>
            <a:off x="3381375" y="4076700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8" name="codex-tree6-tree-node-3">
            <a:extLst>
              <a:ext uri="{FF2B5EF4-FFF2-40B4-BE49-F238E27FC236}">
                <a16:creationId xmlns:a16="http://schemas.microsoft.com/office/drawing/2014/main" id="{F5DF7C30-CA8F-4B03-A115-72793F3B3C56}"/>
              </a:ext>
            </a:extLst>
          </p:cNvPr>
          <p:cNvSpPr>
            <a:spLocks noGrp="1"/>
          </p:cNvSpPr>
          <p:nvPr/>
        </p:nvSpPr>
        <p:spPr>
          <a:xfrm>
            <a:off x="3752850" y="384810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逐帧未压缩视频</a:t>
            </a:r>
          </a:p>
        </p:txBody>
      </p:sp>
      <p:sp>
        <p:nvSpPr>
          <p:cNvPr id="19" name="codex-tree6-tree-description-3">
            <a:extLst>
              <a:ext uri="{FF2B5EF4-FFF2-40B4-BE49-F238E27FC236}">
                <a16:creationId xmlns:a16="http://schemas.microsoft.com/office/drawing/2014/main" id="{9733038F-1908-4F2C-ABF6-BF3642634367}"/>
              </a:ext>
            </a:extLst>
          </p:cNvPr>
          <p:cNvSpPr>
            <a:spLocks noGrp="1"/>
          </p:cNvSpPr>
          <p:nvPr/>
        </p:nvSpPr>
        <p:spPr>
          <a:xfrm>
            <a:off x="6772275" y="384810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单帧像素数据量 × 总帧数</a:t>
            </a:r>
          </a:p>
        </p:txBody>
      </p:sp>
      <p:sp>
        <p:nvSpPr>
          <p:cNvPr id="20" name="codex-tree6-tree-edge-4">
            <a:extLst>
              <a:ext uri="{FF2B5EF4-FFF2-40B4-BE49-F238E27FC236}">
                <a16:creationId xmlns:a16="http://schemas.microsoft.com/office/drawing/2014/main" id="{E5FD56FC-C6C5-4897-8CA3-E915CFCA12FE}"/>
              </a:ext>
            </a:extLst>
          </p:cNvPr>
          <p:cNvSpPr>
            <a:spLocks noGrp="1"/>
          </p:cNvSpPr>
          <p:nvPr/>
        </p:nvSpPr>
        <p:spPr>
          <a:xfrm>
            <a:off x="3381375" y="4772025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21" name="codex-tree6-tree-node-4">
            <a:extLst>
              <a:ext uri="{FF2B5EF4-FFF2-40B4-BE49-F238E27FC236}">
                <a16:creationId xmlns:a16="http://schemas.microsoft.com/office/drawing/2014/main" id="{A0D3E20C-9C53-405D-941C-A09BB3887727}"/>
              </a:ext>
            </a:extLst>
          </p:cNvPr>
          <p:cNvSpPr>
            <a:spLocks noGrp="1"/>
          </p:cNvSpPr>
          <p:nvPr/>
        </p:nvSpPr>
        <p:spPr>
          <a:xfrm>
            <a:off x="3752850" y="454342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压缩的目的</a:t>
            </a:r>
          </a:p>
        </p:txBody>
      </p:sp>
      <p:sp>
        <p:nvSpPr>
          <p:cNvPr id="22" name="codex-tree6-tree-description-4">
            <a:extLst>
              <a:ext uri="{FF2B5EF4-FFF2-40B4-BE49-F238E27FC236}">
                <a16:creationId xmlns:a16="http://schemas.microsoft.com/office/drawing/2014/main" id="{16B03400-D897-4944-83C4-CD2F9A58FE01}"/>
              </a:ext>
            </a:extLst>
          </p:cNvPr>
          <p:cNvSpPr>
            <a:spLocks noGrp="1"/>
          </p:cNvSpPr>
          <p:nvPr/>
        </p:nvSpPr>
        <p:spPr>
          <a:xfrm>
            <a:off x="6772275" y="454342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节省空间；减少传输数据量</a:t>
            </a:r>
          </a:p>
        </p:txBody>
      </p:sp>
      <p:sp>
        <p:nvSpPr>
          <p:cNvPr id="23" name="codex-tree6-tree-edge-5">
            <a:extLst>
              <a:ext uri="{FF2B5EF4-FFF2-40B4-BE49-F238E27FC236}">
                <a16:creationId xmlns:a16="http://schemas.microsoft.com/office/drawing/2014/main" id="{78CEDCED-FE90-4347-B611-5F2EFE75803B}"/>
              </a:ext>
            </a:extLst>
          </p:cNvPr>
          <p:cNvSpPr>
            <a:spLocks noGrp="1"/>
          </p:cNvSpPr>
          <p:nvPr/>
        </p:nvSpPr>
        <p:spPr>
          <a:xfrm>
            <a:off x="3381375" y="5467350"/>
            <a:ext cx="266700" cy="9525"/>
          </a:xfrm>
          <a:custGeom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24" name="codex-tree6-tree-node-5">
            <a:extLst>
              <a:ext uri="{FF2B5EF4-FFF2-40B4-BE49-F238E27FC236}">
                <a16:creationId xmlns:a16="http://schemas.microsoft.com/office/drawing/2014/main" id="{0E08227F-0020-4A0E-A347-8A2330F7F51F}"/>
              </a:ext>
            </a:extLst>
          </p:cNvPr>
          <p:cNvSpPr>
            <a:spLocks noGrp="1"/>
          </p:cNvSpPr>
          <p:nvPr/>
        </p:nvSpPr>
        <p:spPr>
          <a:xfrm>
            <a:off x="3752850" y="52387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压缩的恢复标准</a:t>
            </a:r>
          </a:p>
        </p:txBody>
      </p:sp>
      <p:sp>
        <p:nvSpPr>
          <p:cNvPr id="25" name="codex-tree6-tree-description-5">
            <a:extLst>
              <a:ext uri="{FF2B5EF4-FFF2-40B4-BE49-F238E27FC236}">
                <a16:creationId xmlns:a16="http://schemas.microsoft.com/office/drawing/2014/main" id="{991242C2-C58F-4B56-AC32-4DCE0FBB5650}"/>
              </a:ext>
            </a:extLst>
          </p:cNvPr>
          <p:cNvSpPr>
            <a:spLocks noGrp="1"/>
          </p:cNvSpPr>
          <p:nvPr/>
        </p:nvSpPr>
        <p:spPr>
          <a:xfrm>
            <a:off x="6772275" y="523875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无损：逐字节一致；有损：允许损失</a:t>
            </a:r>
          </a:p>
        </p:txBody>
      </p:sp>
      <p:sp>
        <p:nvSpPr>
          <p:cNvPr id="26" name="codex-tree6-tree-new-focus">
            <a:extLst>
              <a:ext uri="{FF2B5EF4-FFF2-40B4-BE49-F238E27FC236}">
                <a16:creationId xmlns:a16="http://schemas.microsoft.com/office/drawing/2014/main" id="{FDAE72A6-E861-4BD8-9D12-9CD208944E2D}"/>
              </a:ext>
            </a:extLst>
          </p:cNvPr>
          <p:cNvSpPr>
            <a:spLocks noGrp="1"/>
          </p:cNvSpPr>
          <p:nvPr/>
        </p:nvSpPr>
        <p:spPr>
          <a:xfrm>
            <a:off x="3667125" y="5153025"/>
            <a:ext cx="7915275" cy="628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</p:sp>
      <p:sp>
        <p:nvSpPr>
          <p:cNvPr id="27" name="codex-tree6-tree-focus-label">
            <a:extLst>
              <a:ext uri="{FF2B5EF4-FFF2-40B4-BE49-F238E27FC236}">
                <a16:creationId xmlns:a16="http://schemas.microsoft.com/office/drawing/2014/main" id="{521033D1-3831-4F19-B12B-3D77737E46AA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本次新增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105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 · 视觉迭代v8.3.1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
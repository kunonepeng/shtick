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322" r:id="rId74"/>
    <p:sldId id="264" r:id="rId16"/>
    <p:sldId id="265" r:id="rId17"/>
    <p:sldId id="321" r:id="rId73"/>
    <p:sldId id="266" r:id="rId18"/>
    <p:sldId id="267" r:id="rId19"/>
    <p:sldId id="268" r:id="rId20"/>
    <p:sldId id="269" r:id="rId21"/>
    <p:sldId id="323" r:id="rId75"/>
    <p:sldId id="270" r:id="rId22"/>
    <p:sldId id="272" r:id="rId24"/>
    <p:sldId id="324" r:id="rId76"/>
    <p:sldId id="271" r:id="rId23"/>
    <p:sldId id="273" r:id="rId25"/>
    <p:sldId id="274" r:id="rId26"/>
    <p:sldId id="320" r:id="rId72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25" r:id="rId77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slide" Target="slides/slide22.xml"/><Relationship Id="rId73" Type="http://schemas.openxmlformats.org/officeDocument/2006/relationships/slide" Target="slides/slide12.xml"/><Relationship Id="rId74" Type="http://schemas.openxmlformats.org/officeDocument/2006/relationships/slide" Target="slides/slide9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t>【预判回答与追问】有人会说只要“录下来”就行；追问“录下来”在计算机里究竟记录什么？</a:t>
            </a:r>
          </a:p>
          <a:p>
            <a:r>
              <a:t>【本页收束】收束到核心问题：原来连续的声音如何变成数字。</a:t>
            </a:r>
          </a:p>
          <a:p/>
          <a:p>
            <a:r>
              <a:t>先请学生复述文字和图片怎样编码，再让学生预测麦克风后是什么、计算机需要什么。教师不预告完整三步。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【设计意图】先让学生表态：声波在时间上连续变化；文件保存的是离散数字。问麦克风前后，哪一阶段发生改变？</a:t>
            </a:r>
          </a:p>
          <a:p>
            <a:r>
              <a:t>【教师可以这样讲】请先判断：空气中的声音和电脑里的音频文件，是不是同一种东西？举一个理由。</a:t>
            </a:r>
          </a:p>
          <a:p>
            <a:r>
              <a:t>【预判回答与追问】“电脑播放出来还是声音，所以是模拟量”是可能的误解；分清存储形式和播放后的物理振动。</a:t>
            </a:r>
          </a:p>
          <a:p>
            <a:r>
              <a:t>【本页收束】声音属于物理模拟信号；数字文件以离散的数据保存音频。</a:t>
            </a:r>
          </a:p>
          <a:p/>
          <a:p>
            <a:r>
              <a:t>对比模拟声波与文件中的数字，问连续变化的声音如何变成离散数据；先让学生说两者有何不同。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t>【教师可以这样讲】请观察这条流程。麦克风是不是已经把声波变成0和1了？请指出转换前后各是什么。</a:t>
            </a:r>
          </a:p>
          <a:p>
            <a:r>
              <a:t>【预判回答与追问】学生可能认为麦克风就是“录音机”。追问：麦克风输出的电压能否在每个时刻连续变化？</a:t>
            </a:r>
          </a:p>
          <a:p>
            <a:r>
              <a:t>【本页收束】麦克风把声压变化变成模拟电信号，数字化还没有完成。</a:t>
            </a:r>
          </a:p>
          <a:p/>
          <a:p>
            <a:r>
              <a:t>麦克风负责把声压变化变成连续电信号；先预测“是数字还是模拟？”学生说出依据。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t>【教师可以这样讲】如果麦克风输出还是连续电信号，计算机怎样读懂它？需要什么设备？</a:t>
            </a:r>
          </a:p>
          <a:p>
            <a:r>
              <a:t>【预判回答与追问】学生可能猜CPU，先认可其计算作用，再追问哪个音频部件把模拟信号变成离散样本。</a:t>
            </a:r>
          </a:p>
          <a:p>
            <a:r>
              <a:t>【本页收束】声卡中的ADC完成模数转换。无需记电子线路结构。</a:t>
            </a:r>
          </a:p>
          <a:p/>
          <a:p>
            <a:r>
              <a:t>声卡ADC把模拟信号变为数字数据；不要求硬件电路细节，用前后变化解释。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按录音顺序走一遍，再反向说播放顺序，确认DAC与ADC的作用不同。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t>【教师可以这样讲】看到这条上下起伏的曲线，请猜：它是不是声音在空气里沿着波浪形路线前进？</a:t>
            </a:r>
          </a:p>
          <a:p>
            <a:r>
              <a:t>【预判回答与追问】提醒固定一个位置，横坐标向右代表时间，纵坐标上下代表压力或电信号偏离参考的变化。</a:t>
            </a:r>
          </a:p>
          <a:p>
            <a:r>
              <a:t>【本页收束】波形是“某处随时间变化”的图，不是空间中的传播路径。</a:t>
            </a:r>
          </a:p>
          <a:p/>
          <a:p>
            <a:r>
              <a:t>【v7 Demo A，约2分钟】先保留本页“传播路线吗”的问题，让学生预测；运行 notebooks/01_听见声音_看见波形.ipynb，在教室Windows浏览器中点击播放。指向红色时间光标：波形表示时间变化，不是空间传播路线。Mac不会播放声音，声音从Windows浏览器输出。网络异常时直接用本页静态图。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【设计意图】先在波形上让学生指出选取若干时刻的方法，预测“隔一段时间取一个值”；不要急着宣布定义。</a:t>
            </a:r>
          </a:p>
          <a:p>
            <a:r>
              <a:t>【教师可以这样讲】现在只允许保存若干个数字，你会在哪些时刻记录这条曲线？让同桌先各提出一条规则。</a:t>
            </a:r>
          </a:p>
          <a:p>
            <a:r>
              <a:t>【预判回答与追问】有人会只选最高点和最低点。追问：如果换一段波形，这个规则是否容易统一实现？</a:t>
            </a:r>
          </a:p>
          <a:p>
            <a:r>
              <a:t>【本页收束】用固定时间间隔连续记录，形成采样时刻。</a:t>
            </a:r>
          </a:p>
          <a:p/>
          <a:p>
            <a:r>
              <a:t>请学生先在波形上建议记录时刻，再比较哪种规则稳定；引出等时间间隔采样。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t>【教师可以这样讲】我们按固定时间间隔记录了12个点。灰色曲线不再直接保存，每个点有自己的时间和值。</a:t>
            </a:r>
          </a:p>
          <a:p>
            <a:r>
              <a:t>【预判回答与追问】学生可能把连点线当作新的连续信号。追问：文件实际存的是曲线，还是这些点对应的数字？</a:t>
            </a:r>
          </a:p>
          <a:p>
            <a:r>
              <a:t>【本页收束】采样的结果是时间上离散的一组样本。</a:t>
            </a:r>
          </a:p>
          <a:p/>
          <a:p>
            <a: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</a:p>
          <a:p/>
          <a:p>
            <a:r>
              <a:t>先观察时间刻度和蓝色点，教师追问记录的是什么量，说明在指定时刻记录幅度。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t>【教师可以这样讲】预测：1 Hz每秒几个点？2 Hz每秒几个点？都记录4秒，两个例子的样本数分别是多少？</a:t>
            </a:r>
          </a:p>
          <a:p>
            <a:r>
              <a:t>【预判回答与追问】注意“赫兹”还可表示声音本身频率；本页说的是“采样的次数”。</a:t>
            </a:r>
          </a:p>
          <a:p>
            <a:r>
              <a:t>【本页收束】采样率是每秒采样数；更密意味着相邻采样时刻间隔更短。</a:t>
            </a:r>
          </a:p>
          <a:p/>
          <a:p>
            <a:r>
              <a:t>【v7回扣】演示切换到本页后，要求学生解释采样率和每秒样本数之间的关系。Notebook中的4毫秒局部窗口只是观察尺度。</a:t>
            </a:r>
          </a:p>
          <a:p/>
          <a:p>
            <a:r>
              <a:t>1Hz=每秒1个记录点；2Hz=每秒2个。这里用于放大理解，绝非实际音频录制建议。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上下保持同一条曲线不变，只改变时间方向的样本密度，让学生辨认控制变量。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t>【教师可以这样讲】假设某个时刻取得3.71这样的振幅值。如果设备只准记录8个整数等级，会怎么办？</a:t>
            </a:r>
          </a:p>
          <a:p>
            <a:r>
              <a:t>【预判回答与追问】学生可能直接回答“四舍五入”，要追问必须先规定可用的代表值与映射规则。</a:t>
            </a:r>
          </a:p>
          <a:p>
            <a:r>
              <a:t>【本页收束】量化解决幅度的离散化，下一页构建0到7的教学模型。</a:t>
            </a:r>
          </a:p>
          <a:p/>
          <a:p>
            <a:r>
              <a:t>【v7 Demo C预告】现在只解决了采样时刻；纵向幅度可能是任意连续值，需要量化，稍后用实验台在同一坐标中比较。</a:t>
            </a:r>
          </a:p>
          <a:p/>
          <a:p>
            <a:r>
              <a:t>讨论3.71这样的幅度怎样用有限个等级近似记录，不让量化等同四舍五入。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t>【教师可以这样讲】请同学数一数，从0到7一共几个数字。0算不算一个等级？</a:t>
            </a:r>
          </a:p>
          <a:p>
            <a:r>
              <a:t>【预判回答与追问】最容易出现7级的误答。让学生逐个数：0、1、2、3、4、5、6、7。</a:t>
            </a:r>
          </a:p>
          <a:p>
            <a:r>
              <a:t>【本页收束】共8个等级。这里是简化模型，并非真实声压只有非负值。</a:t>
            </a:r>
          </a:p>
          <a:p/>
          <a:p>
            <a:r>
              <a:t>讲授0~7是等级编号；不要把取样数、幅度值、等级编号混为一谈，先让学生预测。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t>【教师可以这样讲】规定一个简化规则：向下取整。原值3.71会落在哪个等级？屏幕上的红点与蓝点哪个是原值？</a:t>
            </a:r>
          </a:p>
          <a:p>
            <a:r>
              <a:t>【预判回答与追问】可能误以为蓝点恰好是原始值。追问：3.71与3有什么不同？少了哪些信息？</a:t>
            </a:r>
          </a:p>
          <a:p>
            <a:r>
              <a:t>【本页收束】量化是用有限代表值近似原值，存在量化误差。</a:t>
            </a:r>
          </a:p>
          <a:p/>
          <a:p>
            <a:r>
              <a:t>这里按[n,n+1)归入Ln，3.71属于L3；量化代表值可取3.5。让学生回看先前错误猜测。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t>【教师可以这样讲】刚才有8级，若只有两个二进制位可以表示多少种不同情况？三个呢？</a:t>
            </a:r>
          </a:p>
          <a:p>
            <a:r>
              <a:t>【预判回答与追问】让学生亲自枚举00、01、10、11，然后观察000到111共有八种。</a:t>
            </a:r>
          </a:p>
          <a:p>
            <a:r>
              <a:t>【本页收束】2^3=8，所以这八个等级可以用3 bit表示。</a:t>
            </a:r>
          </a:p>
          <a:p/>
          <a:p>
            <a:r>
              <a:t>该比较图与Notebook 03采用不同示例幅度范围，但都是先采样、划区间、记录等级；先建立3bit=8级再操作。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t>【教师可以这样讲】请从第3个样本找起：它的量化值是多少？对应的三位码字是什么？再找第7个。</a:t>
            </a:r>
          </a:p>
          <a:p>
            <a:r>
              <a:t>【预判回答与追问】注意区分“样本数量10”和“等级数量8”，不能把十个样本说成十个等级。</a:t>
            </a:r>
          </a:p>
          <a:p>
            <a:r>
              <a:t>【本页收束】编码按时间顺序保存各个样本的定长码字。</a:t>
            </a:r>
          </a:p>
          <a:p/>
          <a:p>
            <a:r>
              <a:t>三位二进制可以表达8种组合；先问学生最少需要几bit，再揭示全部码字。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十个样本的表先只聚焦第一列：样本编号、量化等级、3bit码字逐一对应，再请学生解释其它样本。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t>【教师可以这样讲】请指出采样率与量化位数分别控制这张图的哪个方向。</a:t>
            </a:r>
          </a:p>
          <a:p>
            <a:r>
              <a:t>【预判回答与追问】如学生认为量化位数决定点的多少，重新回看每一秒有几个采样时刻。</a:t>
            </a:r>
          </a:p>
          <a:p>
            <a:r>
              <a:t>【本页收束】采样率决定时间方向的密度，量化位数决定幅度方向的精细程度。</a:t>
            </a:r>
          </a:p>
          <a:p/>
          <a:p>
            <a: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</a:p>
          <a:p/>
          <a:p>
            <a:r>
              <a:t>对比3bit与4bit的等级数，先让学生预测会不会增加样本点个数；解释是纵向可选值更密。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【v7实验台回扣】在实验台选择3 bit，点击一个点，要求学生报出等级编号和3 bit码字。注意实验台使用[-1,1]输入范围；本页0～7演示是另一种简化尺度，编码原理相同。</a:t>
            </a:r>
          </a:p>
          <a:p/>
          <a:p>
            <a:r>
              <a:t>纠正“设置越高听觉效果必然越好”的绝对化说法，讨论保真能力与具体条件。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【教师讲述／组织】避免从课堂3位例子跳到真实16位时困惑。说明用3位为了看清规律，不是说实际音乐普遍使用3位。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区分数字样本和WAV容器头的作用；WAV不等同于一种有损压缩方法。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t>【教师可以这样讲】复盘完整流程：数字文件里的样本为什么还能被扬声器播放成声音？</a:t>
            </a:r>
          </a:p>
          <a:p>
            <a:r>
              <a:t>【预判回答与追问】不要讲成简单把点连成折线。输出经过数模转换及适当的信号处理。</a:t>
            </a:r>
          </a:p>
          <a:p>
            <a:r>
              <a:t>【本页收束】录音是ADC，播放是DAC，音频数字化形成闭环。</a:t>
            </a:r>
          </a:p>
          <a:p/>
          <a:p>
            <a:r>
              <a:t>沿数字样本→DAC→扬声器→声音完成录放闭环，不在主线要求复述滤波细节。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先让学生自己说PCM数据量四个因素，而不是直接背公式。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t>【教师可以这样讲】请口算每秒2个样本，录4秒，一路声道，共得到多少个样本？每个3位，要几个bit？</a:t>
            </a:r>
          </a:p>
          <a:p>
            <a:r>
              <a:t>【预判回答与追问】学生可能直接乘完得到24 Byte。请指着八个框数，再从bit换到Byte。</a:t>
            </a:r>
          </a:p>
          <a:p>
            <a:r>
              <a:t>【本页收束】8个样本、每个3bit，共24bit，等于3Byte。</a:t>
            </a:r>
          </a:p>
          <a:p/>
          <a:p>
            <a:r>
              <a:t>让学生数8个样本，每个3bit共24bit，除8得到3Byte，单位帮助理解公式。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【设计意图】不要把数据量公式当背诵口令。请学生逐个解释每一项代表哪个物理意义。单位：Hz、bit、秒；/8得到字节。</a:t>
            </a:r>
          </a:p>
          <a:p>
            <a:r>
              <a:t>【教师可以这样讲】我们刚才为什么要把四个因素相乘？请逐一说出公式的单位和意义。</a:t>
            </a:r>
          </a:p>
          <a:p>
            <a:r>
              <a:t>【预判回答与追问】常见错误：1 kHz写成1024 Hz；bit和Byte混用；忘记把分钟换成秒。</a:t>
            </a:r>
          </a:p>
          <a:p>
            <a:r>
              <a:t>【本页收束】会用公式之前先能解释公式。</a:t>
            </a:r>
          </a:p>
          <a:p/>
          <a:p>
            <a:r>
              <a:t>为什么结果是Byte要÷8？把四因素分别对应实际样本数量与每样本bit数。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【教师讲述／组织】问题页。给学生独立列式。若学生写16×8×2×5，追问16kHz应等于多少Hz。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独立列式后再揭示；提问哪一个乘数是双声道、为什么还要除以8。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【教师讲述／组织】答案页。问：如果双声道改成单声道，结果会怎样？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答案160000 Byte。让学生先说思路，再对照上一页原位置的题干与下方答案。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【v7时间控制】本课新增的三个演示分别约2、3、5分钟，应替换原有重复的静态口头描述；并非在原45分钟上增加10分钟。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【教师讲述／组织】实录3起手计算前，先让学生能解释参数。分组对答48,000Hz、16bit、2声道、60秒。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先只看48000、16、2、60，要求学生用自己的话说明每个参数是什么。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【教师讲述／组织】问题页。复现实录3的DVD参数题，强调对参数意义的解释，而不只是按键计算。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先从PCM字节数算起，再转换MiB；强调1024²与1000²换算不同。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【教师讲述／组织】答案页。实录转写常写10.98MB，这是截断近似；按四舍五入保留两位应10.99 MiB。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约10.99 MiB；验证11520000 B/1048576。不把带少量文件头的WAV大小当作PCM样本大小。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【设计意图】问题页。先让学生预测。这是实录3较长的认知冲突案例，不要马上公布答案。</a:t>
            </a:r>
          </a:p>
          <a:p>
            <a:r>
              <a:t>【教师可以这样讲】再次提问：多加了一条背景音乐音轨，新的未压缩PCM文件一定比原文件大吗？请先投票并说明依据。</a:t>
            </a:r>
          </a:p>
          <a:p>
            <a:r>
              <a:t>【预判回答与追问】真实课堂里学生曾将音轨误认为声道；暂不判断两种观点谁对。</a:t>
            </a:r>
          </a:p>
          <a:p>
            <a:r>
              <a:t>【本页收束】下一页让两种解释并存，定位分歧。</a:t>
            </a:r>
          </a:p>
          <a:p/>
          <a:p>
            <a:r>
              <a:t>投票多一条编辑音轨容量是否翻倍；不同学生给出理由，暂不揭示正确答案。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t>【教师可以这样讲】有人支持不变，有人支持翻倍。注意我们的目标不是投票决定真理，而是检验关键假设。</a:t>
            </a:r>
          </a:p>
          <a:p>
            <a:r>
              <a:t>【预判回答与追问】追问：增加的是“编辑音轨”，还是“导出声道”？哪个出现在容量公式里？</a:t>
            </a:r>
          </a:p>
          <a:p>
            <a:r>
              <a:t>【本页收束】到图示页验证音轨与声道不同。</a:t>
            </a:r>
          </a:p>
          <a:p/>
          <a:p>
            <a:r>
              <a:t>两种观点的矛盾来自把编辑音轨当作输出声道。追问最后导出文件是几声道。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t>【教师可以这样讲】请指向编辑左边两行，它们是两条音轨；再指向右边的L/R，这才是导出的两路声道。</a:t>
            </a:r>
          </a:p>
          <a:p>
            <a:r>
              <a:t>【预判回答与追问】如果学生说“左音轨变左声道”，让他想一想人声与伴奏是否都能同时从左右扬声器传出。</a:t>
            </a:r>
          </a:p>
          <a:p>
            <a:r>
              <a:t>【本页收束】混合不会自动增加声道数，保持四参数则未压缩样本数据量不变。</a:t>
            </a:r>
          </a:p>
          <a:p/>
          <a:p>
            <a:r>
              <a:t>先看两条轨，再揭示混音之后仍可输出L/R两路数据。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回到初始投票，解释四个PCM参数保持不变，因此样本数据量不变。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【教师讲述／组织】让学生应用四因素公式。声道数2→1，其他不变，PCM样本数据量减半。音轨增减并不直接决定总量。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迁移：把立体声变成单声道，其他参数相同，PCM样本数据量减半。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t>【教师可以这样讲】五张小图中蓝点位置发生变化，连续播放后我们会感到它在运动。你生活里见过翻页动画吗？</a:t>
            </a:r>
          </a:p>
          <a:p>
            <a:r>
              <a:t>【预判回答与追问】不要把“视觉暂留0.024秒”当成唯一且固定的生理阈值。</a:t>
            </a:r>
          </a:p>
          <a:p>
            <a:r>
              <a:t>【本页收束】视频可以用连续图像帧与帧率的概念来理解。</a:t>
            </a:r>
          </a:p>
          <a:p/>
          <a:p>
            <a:r>
              <a:t>五帧是同一个运动小球在五个时刻的状态。帧率25fps是每秒25帧，不应解释为人眼严格生理阈值。</a:t>
            </a:r>
          </a:p>
          <a:p/>
          <a:p>
            <a:r>
              <a:t>球在每一帧的位置不同，同样场景取不同时间画面；fps是每秒帧数。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【教师讲述／组织】从学生已经理解的“视频是连续图像”计算总帧数。先让学生口算25×60×10=15000帧。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【设计意图】问题页。来源实录3。不要把帧率误认为采样率，一帧是一张完整图。给3分钟列式，计算可用计算器。</a:t>
            </a:r>
          </a:p>
          <a:p>
            <a:r>
              <a:t>【教师可以这样讲】先算一帧480×320像素，需要多少bit和Byte；再乘上25帧/秒和600秒。</a:t>
            </a:r>
          </a:p>
          <a:p>
            <a:r>
              <a:t>【预判回答与追问】学生可能只乘25或只乘10。追问十分钟共有多少秒、多少帧？</a:t>
            </a:r>
          </a:p>
          <a:p>
            <a:r>
              <a:t>【本页收束】未压缩视频等于单帧数据量乘总帧数。</a:t>
            </a:r>
          </a:p>
          <a:p/>
          <a:p>
            <a:r>
              <a:t>10分钟无声逐帧未压缩视频，先算单帧字节，再算15000帧，单位换算为GiB。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【教师讲述／组织】答案页。把公式拆成两段并让学生自己解释。按十进制GB约6.912 GB。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答案约6.44GiB，检验帧数、bit转Byte以及B转GiB三步。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t>【教师可以这样讲】请你对照刚刚算出的6.44 GiB。我们手机里十分钟的视频，为什么通常远小于它？难道计算公式错了？</a:t>
            </a:r>
          </a:p>
          <a:p>
            <a: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t>【本页收束】这是第二课时核心认知冲突，直到下一页再揭示压缩。</a:t>
            </a:r>
          </a:p>
          <a:p/>
          <a:p>
            <a:r>
              <a:t>先让学生用自己看视频的经验提出文件比估算小的解释，借助冲突引出编码压缩。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实际压缩技术还包括多种预测与表示方式；本课只要求理解重复规律允许节省比特，不学习具体codec算法。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t>【教师可以这样讲】两种写法能不能表示相同文字？“中国”重复一百次与“中国×100”，哪种通常更省符号？</a:t>
            </a:r>
          </a:p>
          <a:p>
            <a:r>
              <a:t>【预判回答与追问】提醒这只是解释冗余的教学模型，不是真实RAR编码的说明。</a:t>
            </a:r>
          </a:p>
          <a:p>
            <a:r>
              <a:t>【本页收束】规律、重复让人有机会用更短的规则表达同一内容。</a:t>
            </a:r>
          </a:p>
          <a:p/>
          <a:p>
            <a:r>
              <a:t>中国重复100次只用“字词×次数”表达是思想模型，不代表RAR或zlib唯一工作机制。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重复多往往可用更短的规则表示，但实际压缩要看数据及算法。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t>【教师可以这样讲】两个数据各1000Byte：一个全是A，一个随机变化。请预测谁压缩后更小，以及能否恢复原数据。</a:t>
            </a:r>
          </a:p>
          <a:p>
            <a:r>
              <a:t>【预判回答与追问】学生可能认为所有文件都会变小。下一页结果显示随机数据在容器开销下甚至略微变大。</a:t>
            </a:r>
          </a:p>
          <a:p>
            <a:r>
              <a:t>【本页收束】测试无损压缩的冗余利用，而不是展示具体算法。</a:t>
            </a:r>
          </a:p>
          <a:p/>
          <a:p>
            <a:r>
              <a:t>【v7 Demo D】先预测两份原始都是1000 Byte的文件哪一个被压得更小，再运行 notebooks/04_压缩前先预测.ipynb。Python zlib在Mac执行，Windows浏览器只展示结果，不依赖音频或py5。</a:t>
            </a:r>
          </a:p>
          <a:p/>
          <a:p>
            <a:r>
              <a:t>A和B均1000Byte，学生先预测谁更省空间、B是否可能压完更大。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【设计意图】演示代码（Windows课堂pt环境，Python标准库即可）：</a:t>
            </a:r>
          </a:p>
          <a:p>
            <a:r>
              <a:t>import zlib, random</a:t>
            </a:r>
          </a:p>
          <a:p>
            <a:r>
              <a:t>a=b"A"*1000</a:t>
            </a:r>
          </a:p>
          <a:p>
            <a:r>
              <a:t>r=random.Random(2026)</a:t>
            </a:r>
          </a:p>
          <a:p>
            <a:r>
              <a:t>b=bytes(r.randrange(256) for _ in range(1000))</a:t>
            </a:r>
          </a:p>
          <a:p>
            <a:r>
              <a:t>for name,x in [("A",a),("B",b)]:</a:t>
            </a:r>
          </a:p>
          <a:p>
            <a:r>
              <a:t>    packed=zlib.compress(x)</a:t>
            </a:r>
          </a:p>
          <a:p>
            <a:r>
              <a:t>    print(name,len(x),len(packed),zlib.decompress(packed)==x)</a:t>
            </a:r>
          </a:p>
          <a:p>
            <a:r>
              <a:t>本次固定随机种子得到A=17 Byte，B=1011 Byte。学生关注重复和冗余；算法细节不展开。</a:t>
            </a:r>
          </a:p>
          <a:p>
            <a: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t>【预判回答与追问】别把高熵文件变大误判为程序出错：压缩文件自身有格式开销。检查两者解压完全一致。</a:t>
            </a:r>
          </a:p>
          <a:p>
            <a:r>
              <a:t>【本页收束】这是无损压缩，且压缩效果取决于可利用的规律与编码方式。</a:t>
            </a:r>
          </a:p>
          <a:p/>
          <a:p>
            <a: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</a:p>
          <a:p/>
          <a:p>
            <a:r>
              <a:t>17Byte与1011Byte是采用Python标准库zlib、固定随机种子的这一次课堂实验结果。数值取决于内容与算法，不是普遍常数；B数据因格式开销而可能变大。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归纳数据压缩是更高效的表示；要不要完整恢复决定无损与有损路径。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t>【教师可以这样讲】请判断：压缩后解开，能不能100%恢复原始字节？把这个问题作为分类标准。</a:t>
            </a:r>
          </a:p>
          <a:p>
            <a:r>
              <a:t>【预判回答与追问】有损不等于“损坏文件”；它在可接受的前提下放弃部分原始信息。</a:t>
            </a:r>
          </a:p>
          <a:p>
            <a:r>
              <a:t>【本页收束】无损可完全恢复，有损则不能恢复到原数据完全一致。</a:t>
            </a:r>
          </a:p>
          <a:p/>
          <a:p>
            <a:r>
              <a:t>判别方法：是否能够完全恢复原字节，不用文件后缀或大小作为唯一标准。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ZIP/RAR属于无损归档，MP3是有损音频编码，WAV和MP4属于容器（MP4常装有损编码视频）。文件后缀与编码算法不是完全同一层级。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t>【教师可以这样讲】这三幅图显示的是相同大小、相同位深的像素网格，哪张最容易找到重复的规律？</a:t>
            </a:r>
          </a:p>
          <a:p>
            <a:r>
              <a:t>【预判回答与追问】强调“通常”和“对合适的算法而言”，避免将图像颜色多少当作绝对压缩决定因素。</a:t>
            </a:r>
          </a:p>
          <a:p>
            <a:r>
              <a:t>【本页收束】纯色数据具有明显规律，适合无损压缩；比较结论再迁移到实际图像。</a:t>
            </a:r>
          </a:p>
          <a:p/>
          <a:p>
            <a:r>
              <a:t>三图尺寸和位深一致，让学生预测哪个更规律，判断无损压缩的可能差异。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【教师讲述／组织】问题页。此题迁移文字实验到图像。先解释冗余，再揭示。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练习答案不能只选A，要解释重复和规律性带来更多可利用冗余。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【教师讲述／组织】答案页。强调不是一切文件和算法都绝对如此。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答案中的“通常”必须保留，不同压缩方案有例外。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BMP这里只指未压缩实例，JPG通常有损；文件大小还取决于参数和内容。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已经是MP3/JPG，用RAR压缩通常收益有限，再次有损编码还可能降低质量。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t>【教师可以这样讲】某个班级要长期备份源代码，另一个班级要用手机实时视频通话。两种场景需要的编码选择一样吗？</a:t>
            </a:r>
          </a:p>
          <a:p>
            <a:r>
              <a:t>【预判回答与追问】引导学生考虑完整性、质量、延迟与存储，不要只说压缩得越小越好。</a:t>
            </a:r>
          </a:p>
          <a:p>
            <a:r>
              <a:t>【本页收束】算法与压缩方法要与任务目标匹配。</a:t>
            </a:r>
          </a:p>
          <a:p/>
          <a:p>
            <a:r>
              <a:t>文档备份要求完整，视频通话权衡时延/带宽/质量，反对越小必然越好。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【教师讲述／组织】问题页。综合三种理解：音轨声道、原始视频大小、无损还原。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请学生独立判断三句话，指明每句对应的模型或证据。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【教师讲述／组织】答案页。不接受只给三个对错而不给依据的回答。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先让学生口头解释，再展示①错②对③对，强化数据量与ZIP的两种知识。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【教师讲述／组织】出口评价：任选一个问题让学生用自己的话解释。重点检查概念因果：数字化、视频容量、压缩选择。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退出条检查解释能力而非术语背诵；答不出则回到图示逐步重建。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  <a:p/>
          <a:p>
            <a:r>
              <a:t>分别指横轴时间密度与纵轴量化等级，要求学生指出哪一项由采样率/位数控制。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</a:p>
          <a:p/>
          <a:p>
            <a:r>
              <a:t>打开Notebook 02，把波形从100毫秒放大到4毫秒，点击蓝色样本，读出实际时间和幅度；区分极值概览和真实采样点。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</a:p>
          <a:p/>
          <a:p>
            <a:r>
              <a:t>打开远程JupyterLab Notebook 01，在Windows浏览器播放声音，问红线向右是不是声波向右传播；让学生说横轴是时间。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先显示0~7八级，学生预测3.71是3或4。暂停50秒让学生说出推理规则。再用下页指定的分区规则解决分歧；勿预先提示答案。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逐步指着四个框引导：输入原值3.71，属于区间[3,4)，所以等级编号是3；把3写成三位等长码字011。反例4.15属于L4，码字100。本例幅度[0,8)，Demo C用[-1,1]，逻辑完全相同。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运行remote-demos-v7/notebooks/04_压缩前先预测.ipynb（Mac计算zlib，教室Windows浏览器呈现结果）。学生先猜，再运行，再对照下一页17Byte/1011Byte。B可能变大，包含必要编码开销。zlib不是RAR算法本身。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200" b="1">
                <a:solidFill>
                  <a:srgbClr val="262626"/>
                </a:solidFill>
                <a:latin typeface="Alibaba PuHuiTi 3.0 115 Black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核心问题：手机为什么可以把正在说的话保存成文件？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声音首先是什么？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286000"/>
            <a:ext cx="29718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2404872"/>
            <a:ext cx="28254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声带振动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291840"/>
            <a:ext cx="2971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发出声音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831335" y="2615184"/>
            <a:ext cx="676657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617720" y="2286000"/>
            <a:ext cx="29718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90872" y="2404872"/>
            <a:ext cx="28254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空气传播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3291840"/>
            <a:ext cx="2971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声压变化传开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71816" y="2615184"/>
            <a:ext cx="67665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458200" y="2286000"/>
            <a:ext cx="29718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31352" y="2404872"/>
            <a:ext cx="28254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耳膜振动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3291840"/>
            <a:ext cx="2971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听到声音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0749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声音是一种在介质中传播的机械波。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声音和电脑里的音频文件，是同一种量吗？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自然界的声音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电脑中的音频文件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空气中的声压随时间连续变化。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这是模拟量。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计算机记录一串数值。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这是数字量。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我们的任务：让连续的声音变成计算机能够记录的数字。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麦克风把声波变成什么？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86000"/>
            <a:ext cx="31089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404872"/>
            <a:ext cx="29626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空气中的声音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986784" y="2624328"/>
            <a:ext cx="76809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00600" y="2286000"/>
            <a:ext cx="233172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73752" y="2404872"/>
            <a:ext cx="2185415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251192" y="2624328"/>
            <a:ext cx="8138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119872" y="2286000"/>
            <a:ext cx="29718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93024" y="2404872"/>
            <a:ext cx="28254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1947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麦克风完成了“声波 → 电信号”，但信号仍然连续。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把录音过程和播放过程接起来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39112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1" y="2157984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声音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99232" y="2368296"/>
            <a:ext cx="44805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493008" y="2039112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157984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52160" y="2368296"/>
            <a:ext cx="44805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345936" y="2039112"/>
            <a:ext cx="2304288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157984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ADC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705088" y="2368296"/>
            <a:ext cx="44805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198863" y="2039112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72015" y="2157984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886200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1" y="4005072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99232" y="4215384"/>
            <a:ext cx="44805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493008" y="3886200"/>
            <a:ext cx="2304288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4005072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852160" y="4215384"/>
            <a:ext cx="44805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6345936" y="3886200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9088" y="4005072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705088" y="4215384"/>
            <a:ext cx="44805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9198863" y="3886200"/>
            <a:ext cx="2304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72015" y="4005072"/>
            <a:ext cx="215798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声音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1517904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录音（ADC）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8096" y="3364992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播放（DAC）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波形图画的是“声音的传播路线”吗？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3479291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2075688"/>
            <a:ext cx="0" cy="281635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76479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3598163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36192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同一个位置，信号随时间变化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43000" y="3306954"/>
            <a:ext cx="91440" cy="13576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34440" y="3173553"/>
            <a:ext cx="91440" cy="133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25880" y="3044831"/>
            <a:ext cx="91440" cy="1287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17320" y="2923027"/>
            <a:ext cx="91440" cy="121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08760" y="2810256"/>
            <a:ext cx="91440" cy="11277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00200" y="2708482"/>
            <a:ext cx="91440" cy="1017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91640" y="2619471"/>
            <a:ext cx="91440" cy="8901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83080" y="2544773"/>
            <a:ext cx="91439" cy="746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74519" y="2485684"/>
            <a:ext cx="91441" cy="590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65960" y="2443234"/>
            <a:ext cx="91440" cy="4245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57400" y="2418160"/>
            <a:ext cx="91440" cy="250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8840" y="2410897"/>
            <a:ext cx="91440" cy="72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0280" y="2410897"/>
            <a:ext cx="91440" cy="1067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31720" y="2421572"/>
            <a:ext cx="91440" cy="2842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23160" y="2449999"/>
            <a:ext cx="91440" cy="456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14600" y="2495684"/>
            <a:ext cx="91440" cy="621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06040" y="2557833"/>
            <a:ext cx="91440" cy="775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97480" y="2635366"/>
            <a:ext cx="91440" cy="915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8920" y="2726934"/>
            <a:ext cx="91440" cy="10401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80360" y="2830946"/>
            <a:ext cx="91440" cy="11464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71800" y="2945594"/>
            <a:ext cx="91440" cy="1232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3240" y="3068883"/>
            <a:ext cx="91440" cy="1297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4680" y="3198672"/>
            <a:ext cx="91440" cy="134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6120" y="3332703"/>
            <a:ext cx="91440" cy="13594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37560" y="3468647"/>
            <a:ext cx="91440" cy="13549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29000" y="3604140"/>
            <a:ext cx="91440" cy="13268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0440" y="3736827"/>
            <a:ext cx="91440" cy="1275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11880" y="3864401"/>
            <a:ext cx="91440" cy="12024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03320" y="3984643"/>
            <a:ext cx="91440" cy="1108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94760" y="4095465"/>
            <a:ext cx="91440" cy="994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86200" y="4194939"/>
            <a:ext cx="91439" cy="86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77639" y="4281335"/>
            <a:ext cx="91441" cy="71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69080" y="4353152"/>
            <a:ext cx="91440" cy="559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60520" y="4409142"/>
            <a:ext cx="91440" cy="391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51960" y="4448330"/>
            <a:ext cx="91440" cy="2170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43400" y="4470036"/>
            <a:ext cx="91440" cy="384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434840" y="4459803"/>
            <a:ext cx="91440" cy="1408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526280" y="4428041"/>
            <a:ext cx="91440" cy="3176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617720" y="4379149"/>
            <a:ext cx="91440" cy="488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709160" y="4313978"/>
            <a:ext cx="91440" cy="6517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800600" y="4233660"/>
            <a:ext cx="91440" cy="80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892040" y="4139592"/>
            <a:ext cx="91440" cy="940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83480" y="4033408"/>
            <a:ext cx="91440" cy="1061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74920" y="3916956"/>
            <a:ext cx="91440" cy="11645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66360" y="3792259"/>
            <a:ext cx="91440" cy="1246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57800" y="3661486"/>
            <a:ext cx="91440" cy="1307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49240" y="3526909"/>
            <a:ext cx="91439" cy="13457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40679" y="3390868"/>
            <a:ext cx="91441" cy="1360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32120" y="3255729"/>
            <a:ext cx="91440" cy="1351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23560" y="3123841"/>
            <a:ext cx="91440" cy="131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15000" y="2997496"/>
            <a:ext cx="91440" cy="1263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06440" y="2878891"/>
            <a:ext cx="91440" cy="118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97880" y="2770088"/>
            <a:ext cx="91440" cy="10880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89320" y="2672979"/>
            <a:ext cx="91440" cy="971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80760" y="2589251"/>
            <a:ext cx="91440" cy="8372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72200" y="2520360"/>
            <a:ext cx="91440" cy="688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63640" y="2467505"/>
            <a:ext cx="91439" cy="528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55079" y="2431603"/>
            <a:ext cx="91441" cy="359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46520" y="2413279"/>
            <a:ext cx="91439" cy="1832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37959" y="2412851"/>
            <a:ext cx="91441" cy="42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629400" y="2412851"/>
            <a:ext cx="91440" cy="1747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720840" y="2430328"/>
            <a:ext cx="91440" cy="350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812280" y="2465404"/>
            <a:ext cx="91440" cy="520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903720" y="2517471"/>
            <a:ext cx="91440" cy="6815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995160" y="2585623"/>
            <a:ext cx="91440" cy="8305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086600" y="2668676"/>
            <a:ext cx="91440" cy="9650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178040" y="2765184"/>
            <a:ext cx="91440" cy="1082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269480" y="2873472"/>
            <a:ext cx="91440" cy="1181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360920" y="2991656"/>
            <a:ext cx="91439" cy="12602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52359" y="3117681"/>
            <a:ext cx="91441" cy="1316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43800" y="3249357"/>
            <a:ext cx="91440" cy="1350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35240" y="3384394"/>
            <a:ext cx="91439" cy="13605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26679" y="3520445"/>
            <a:ext cx="91441" cy="1347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18120" y="3655145"/>
            <a:ext cx="91440" cy="13100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09560" y="3786152"/>
            <a:ext cx="91440" cy="12503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01000" y="3911188"/>
            <a:ext cx="91440" cy="11689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92440" y="4028081"/>
            <a:ext cx="91439" cy="1067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83879" y="4134796"/>
            <a:ext cx="91441" cy="946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75320" y="4229480"/>
            <a:ext cx="91440" cy="8100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66760" y="4310487"/>
            <a:ext cx="91440" cy="6592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58200" y="4376407"/>
            <a:ext cx="91440" cy="496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49640" y="4426095"/>
            <a:ext cx="91440" cy="3259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41080" y="4458688"/>
            <a:ext cx="91439" cy="149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732519" y="4470626"/>
            <a:ext cx="91441" cy="29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823960" y="4449764"/>
            <a:ext cx="91440" cy="2086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915400" y="4411395"/>
            <a:ext cx="91440" cy="383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006840" y="4356186"/>
            <a:ext cx="91440" cy="552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098280" y="4285096"/>
            <a:ext cx="91440" cy="710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189720" y="4199362"/>
            <a:ext cx="91440" cy="857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281160" y="4100474"/>
            <a:ext cx="91440" cy="98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372600" y="3990150"/>
            <a:ext cx="91440" cy="11032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464040" y="3870310"/>
            <a:ext cx="91440" cy="11984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555480" y="3743036"/>
            <a:ext cx="91440" cy="127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646920" y="3610541"/>
            <a:ext cx="91439" cy="13249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738359" y="3475128"/>
            <a:ext cx="91441" cy="13541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829800" y="3339152"/>
            <a:ext cx="91440" cy="1359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21240" y="3204977"/>
            <a:ext cx="91440" cy="13417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12680" y="3074934"/>
            <a:ext cx="91440" cy="1300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04120" y="2951285"/>
            <a:ext cx="91440" cy="1236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95560" y="2836180"/>
            <a:ext cx="91440" cy="1151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波形不是声音在空间里走过的弯曲路线。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演示A：听声音，波形上的红线如何移动？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17904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先预测：红色光标向右，表示声音向右传播吗？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1832" y="3712464"/>
            <a:ext cx="10222992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7552" y="2523744"/>
            <a:ext cx="0" cy="2423160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" y="209397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0424" y="384048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060704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59276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57848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56420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54993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53565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52137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0710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9282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7854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46427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4999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3571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42144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40716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39288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37861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36433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35005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3578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2150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30722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9295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27867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26439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25012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23584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22156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20728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19301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17873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16445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15018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13590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12162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10735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09307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707879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806452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05024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003596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02169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200741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299313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397886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496458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595030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93603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792175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890747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989320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087892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186464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285036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383609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482181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580753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679326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777898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876470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75043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073615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172187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270760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369332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467904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566477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665049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63621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862194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960766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059338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157911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256483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355055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453628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52200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50772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749344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847917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946489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045061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43634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242206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340778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439351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537923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636495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735068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833640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932212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030785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129357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227929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326502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425074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523646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622219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0791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19363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638544" y="2587752"/>
            <a:ext cx="0" cy="2286000"/>
          </a:xfrm>
          <a:prstGeom prst="line">
            <a:avLst/>
          </a:prstGeom>
          <a:ln w="406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914400" y="5330952"/>
            <a:ext cx="57607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▶ 由教室浏览器播放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26679" y="5330952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时间继续向右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如果只能记录有限个数字，应该记录哪些时刻？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演示B：把波形放大，能看见一个个采样点吗？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99616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同一段录音：左边看整体，右边看极短的一段。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194560"/>
            <a:ext cx="49377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整段波形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194560"/>
            <a:ext cx="512064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局部放大：真实样本点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4672" y="3794760"/>
            <a:ext cx="5029200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0392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4672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923544" y="3597279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7017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1681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6344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008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671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20335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24998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29661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343253" y="3124037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89888" y="311712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3652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8315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2979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57642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2306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6969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71632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6296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09597" y="3421080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56232" y="3494894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90286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4950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99613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4276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08940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3603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18267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22930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27594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2257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6921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41584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46247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50911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5574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60238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64901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69565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74228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78892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83555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88218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92882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975457" y="4094625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022091" y="4016082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06872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11536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16199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20862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255263" y="3597279"/>
            <a:ext cx="46635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30189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34853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39516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44180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48843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53507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58170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62833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674973" y="3124037"/>
            <a:ext cx="46634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721607" y="3117122"/>
            <a:ext cx="46635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76824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81487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86151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90814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95478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00141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04804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09468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141317" y="3421080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187951" y="3494894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23458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28122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32785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37448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42112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46775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51439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56102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60766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65429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70093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74756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79419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84083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88746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93410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98073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02737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07400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12064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16727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521390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526054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5307177" y="4094625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353812" y="4016082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540044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44708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549371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54034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446520" y="3794760"/>
            <a:ext cx="4892039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492240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6446520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24159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16" name="Connector 115"/>
          <p:cNvCxnSpPr/>
          <p:nvPr/>
        </p:nvCxnSpPr>
        <p:spPr>
          <a:xfrm flipV="1">
            <a:off x="6565392" y="3621856"/>
            <a:ext cx="45262" cy="5824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610654" y="3564953"/>
            <a:ext cx="45263" cy="56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55917" y="3509827"/>
            <a:ext cx="45263" cy="551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6701180" y="3456905"/>
            <a:ext cx="45263" cy="529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746443" y="3406595"/>
            <a:ext cx="45262" cy="5031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6791705" y="3359287"/>
            <a:ext cx="45263" cy="473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836968" y="3315346"/>
            <a:ext cx="45263" cy="43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6882231" y="3275112"/>
            <a:ext cx="45263" cy="4023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927494" y="3238897"/>
            <a:ext cx="45263" cy="362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972757" y="3206980"/>
            <a:ext cx="45263" cy="319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7018020" y="3179608"/>
            <a:ext cx="45262" cy="273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063282" y="3156993"/>
            <a:ext cx="45263" cy="2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7108545" y="3139310"/>
            <a:ext cx="45263" cy="17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7153808" y="3126695"/>
            <a:ext cx="45263" cy="1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7199071" y="3119246"/>
            <a:ext cx="45262" cy="74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7244333" y="3117021"/>
            <a:ext cx="45263" cy="222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289596" y="3117021"/>
            <a:ext cx="45263" cy="30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334859" y="3120037"/>
            <a:ext cx="45263" cy="82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380122" y="3128270"/>
            <a:ext cx="45263" cy="1338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425385" y="3141657"/>
            <a:ext cx="45263" cy="184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470648" y="3160094"/>
            <a:ext cx="45262" cy="233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7515910" y="3183439"/>
            <a:ext cx="45263" cy="280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561173" y="3211511"/>
            <a:ext cx="45263" cy="3258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606436" y="3244093"/>
            <a:ext cx="45263" cy="368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651699" y="3280934"/>
            <a:ext cx="45263" cy="408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96962" y="3321747"/>
            <a:ext cx="45262" cy="444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7742224" y="3366219"/>
            <a:ext cx="45263" cy="477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7787487" y="3414004"/>
            <a:ext cx="45263" cy="507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32750" y="3464734"/>
            <a:ext cx="45263" cy="532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7878013" y="3518015"/>
            <a:ext cx="45262" cy="554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7923275" y="3573437"/>
            <a:ext cx="45263" cy="571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7968538" y="3630570"/>
            <a:ext cx="45263" cy="584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8013801" y="3688973"/>
            <a:ext cx="45263" cy="592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8059064" y="3748193"/>
            <a:ext cx="45263" cy="595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8104327" y="3807774"/>
            <a:ext cx="45263" cy="594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8149590" y="3867254"/>
            <a:ext cx="45262" cy="589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8194852" y="3926174"/>
            <a:ext cx="45263" cy="57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8240115" y="3984077"/>
            <a:ext cx="45263" cy="564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8285378" y="4040516"/>
            <a:ext cx="45263" cy="545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8330641" y="4095055"/>
            <a:ext cx="45263" cy="522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375904" y="4147272"/>
            <a:ext cx="45262" cy="494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8421166" y="4196763"/>
            <a:ext cx="45263" cy="463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8466429" y="4243146"/>
            <a:ext cx="45263" cy="42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8511692" y="4286061"/>
            <a:ext cx="45263" cy="391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8556955" y="4325177"/>
            <a:ext cx="45262" cy="350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8602217" y="4360191"/>
            <a:ext cx="45263" cy="306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8647480" y="4390833"/>
            <a:ext cx="45263" cy="26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8692743" y="4416866"/>
            <a:ext cx="45263" cy="212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8738006" y="4438088"/>
            <a:ext cx="45263" cy="162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8783269" y="4454335"/>
            <a:ext cx="45263" cy="111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828532" y="4465482"/>
            <a:ext cx="45262" cy="59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8873794" y="4471443"/>
            <a:ext cx="45263" cy="7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8919057" y="4467660"/>
            <a:ext cx="45263" cy="45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8964320" y="4457946"/>
            <a:ext cx="45263" cy="97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9009583" y="4443104"/>
            <a:ext cx="45263" cy="148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9054846" y="4423249"/>
            <a:ext cx="45262" cy="198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9100108" y="4398533"/>
            <a:ext cx="45263" cy="247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145371" y="4369149"/>
            <a:ext cx="45263" cy="2938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9190634" y="4335323"/>
            <a:ext cx="45263" cy="338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9235897" y="4297316"/>
            <a:ext cx="45262" cy="380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9281159" y="4255424"/>
            <a:ext cx="45263" cy="418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9326422" y="4209970"/>
            <a:ext cx="45263" cy="4545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9371685" y="4161304"/>
            <a:ext cx="45263" cy="4866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9416948" y="4109805"/>
            <a:ext cx="45263" cy="514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9462211" y="4055869"/>
            <a:ext cx="45263" cy="5393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9507474" y="3999914"/>
            <a:ext cx="45262" cy="559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9552736" y="3942373"/>
            <a:ext cx="45263" cy="575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9597999" y="3883690"/>
            <a:ext cx="45263" cy="58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9643262" y="3824319"/>
            <a:ext cx="45263" cy="5937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9688525" y="3764720"/>
            <a:ext cx="45263" cy="595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9733788" y="3705353"/>
            <a:ext cx="45262" cy="59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9779050" y="3646678"/>
            <a:ext cx="45263" cy="5867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9824313" y="3589148"/>
            <a:ext cx="45263" cy="575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9869576" y="3533207"/>
            <a:ext cx="45263" cy="55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9914839" y="3479289"/>
            <a:ext cx="45262" cy="5391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9960101" y="3427811"/>
            <a:ext cx="45263" cy="514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0005364" y="3379170"/>
            <a:ext cx="45263" cy="486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0050627" y="3333743"/>
            <a:ext cx="45263" cy="454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0095890" y="3291881"/>
            <a:ext cx="45263" cy="418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0141153" y="3253907"/>
            <a:ext cx="45262" cy="379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0186415" y="3220116"/>
            <a:ext cx="45263" cy="337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0231678" y="3190768"/>
            <a:ext cx="45263" cy="293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0276941" y="3166091"/>
            <a:ext cx="45263" cy="2467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0322204" y="3146275"/>
            <a:ext cx="45263" cy="198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0367467" y="3131474"/>
            <a:ext cx="45263" cy="148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0412730" y="3121802"/>
            <a:ext cx="45262" cy="96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0457992" y="3117333"/>
            <a:ext cx="45263" cy="44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10503255" y="3117333"/>
            <a:ext cx="45263" cy="7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0548518" y="3118103"/>
            <a:ext cx="45263" cy="60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10593781" y="3124106"/>
            <a:ext cx="45262" cy="111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10639043" y="3135294"/>
            <a:ext cx="45263" cy="162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10684306" y="3151582"/>
            <a:ext cx="45263" cy="212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10729569" y="3172844"/>
            <a:ext cx="45263" cy="260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0774832" y="3198914"/>
            <a:ext cx="45263" cy="306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0820095" y="3229592"/>
            <a:ext cx="45262" cy="350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0865357" y="3264641"/>
            <a:ext cx="45263" cy="391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0910620" y="3303789"/>
            <a:ext cx="45263" cy="4294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0955883" y="3346733"/>
            <a:ext cx="45263" cy="464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1001146" y="3393142"/>
            <a:ext cx="45263" cy="495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1046409" y="3442657"/>
            <a:ext cx="45263" cy="522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Oval 215"/>
          <p:cNvSpPr/>
          <p:nvPr/>
        </p:nvSpPr>
        <p:spPr>
          <a:xfrm>
            <a:off x="6507784" y="3622488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809536" y="32719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7111288" y="30769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413040" y="310248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714792" y="3340123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016544" y="37104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318296" y="408966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620048" y="435110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921800" y="44073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223552" y="423970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525304" y="39040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827056" y="35126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128808" y="319630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430560" y="3060634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732312" y="3151032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877824" y="5458968"/>
            <a:ext cx="1051560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先预测：放大到足够短的时间，会出现什么？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 Hz和2 Hz，一秒内取几个样本？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0976" y="2478024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1819656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" y="1508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2096" y="25968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2801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1 Hz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4875" y="1922068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0801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71155" y="285658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0976" y="4443983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6" y="3785615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9848" y="3474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4562855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461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2 Hz</a:t>
            </a:r>
          </a:p>
        </p:txBody>
      </p:sp>
      <p:sp>
        <p:nvSpPr>
          <p:cNvPr id="19" name="Oval 18"/>
          <p:cNvSpPr/>
          <p:nvPr/>
        </p:nvSpPr>
        <p:spPr>
          <a:xfrm>
            <a:off x="108173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1330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44875" y="388802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644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0801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958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1155" y="482254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272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采样率：每秒采集多少个样本，单位为Hz。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提高采样率，改变的是时间轴上的什么？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43230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173736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42646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25511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9786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采样点较少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24712" y="2358641"/>
            <a:ext cx="91074" cy="599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15786" y="2299460"/>
            <a:ext cx="91074" cy="5918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06860" y="2241802"/>
            <a:ext cx="91074" cy="5765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7934" y="2186403"/>
            <a:ext cx="91074" cy="553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89008" y="2133970"/>
            <a:ext cx="91075" cy="5243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80083" y="2085174"/>
            <a:ext cx="91074" cy="4879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71157" y="2040638"/>
            <a:ext cx="91074" cy="4453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62231" y="2000931"/>
            <a:ext cx="91074" cy="3970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53305" y="1966561"/>
            <a:ext cx="91075" cy="3437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4380" y="1937966"/>
            <a:ext cx="91074" cy="2859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5454" y="1915513"/>
            <a:ext cx="91074" cy="2245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6528" y="1899487"/>
            <a:ext cx="91074" cy="1602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17602" y="1890094"/>
            <a:ext cx="91075" cy="93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8677" y="1887454"/>
            <a:ext cx="91074" cy="264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99751" y="1887454"/>
            <a:ext cx="91074" cy="41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90825" y="1891601"/>
            <a:ext cx="91074" cy="1088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81899" y="1902481"/>
            <a:ext cx="91075" cy="1747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2974" y="1919956"/>
            <a:ext cx="91074" cy="2384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4048" y="1943801"/>
            <a:ext cx="91074" cy="2991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5122" y="1973714"/>
            <a:ext cx="91074" cy="3559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46196" y="2009310"/>
            <a:ext cx="91075" cy="4082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37271" y="2050136"/>
            <a:ext cx="91074" cy="4553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8345" y="2095670"/>
            <a:ext cx="91074" cy="4966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19419" y="2145330"/>
            <a:ext cx="91074" cy="5315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10493" y="2198482"/>
            <a:ext cx="91075" cy="5596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01568" y="2254445"/>
            <a:ext cx="91074" cy="5806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92642" y="2312507"/>
            <a:ext cx="91074" cy="5941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83716" y="2371923"/>
            <a:ext cx="91074" cy="6001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74790" y="2431936"/>
            <a:ext cx="91074" cy="5984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65864" y="2491778"/>
            <a:ext cx="91075" cy="5890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56939" y="2550685"/>
            <a:ext cx="91074" cy="5722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48013" y="2607905"/>
            <a:ext cx="91074" cy="5480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39087" y="2662705"/>
            <a:ext cx="91074" cy="5168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30161" y="2714386"/>
            <a:ext cx="91075" cy="4790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21236" y="2762287"/>
            <a:ext cx="91074" cy="4351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12310" y="2805797"/>
            <a:ext cx="91074" cy="3856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03384" y="2844360"/>
            <a:ext cx="91074" cy="3312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94458" y="2877482"/>
            <a:ext cx="91075" cy="2725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85533" y="2904741"/>
            <a:ext cx="91074" cy="210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76607" y="2925788"/>
            <a:ext cx="91074" cy="1456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67681" y="2940354"/>
            <a:ext cx="91074" cy="78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58755" y="2948253"/>
            <a:ext cx="91075" cy="113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49830" y="2943735"/>
            <a:ext cx="91074" cy="565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40904" y="2931374"/>
            <a:ext cx="91074" cy="1236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31978" y="2912461"/>
            <a:ext cx="91074" cy="1891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23052" y="2887239"/>
            <a:ext cx="91075" cy="2522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14127" y="2856027"/>
            <a:ext cx="91074" cy="3121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05201" y="2819227"/>
            <a:ext cx="91074" cy="3680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496275" y="2777307"/>
            <a:ext cx="91074" cy="4192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87349" y="2730804"/>
            <a:ext cx="91075" cy="4650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678424" y="2680312"/>
            <a:ext cx="91074" cy="5049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69498" y="2626475"/>
            <a:ext cx="91074" cy="5383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60572" y="2569983"/>
            <a:ext cx="91074" cy="5649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51646" y="2511555"/>
            <a:ext cx="91074" cy="5842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42720" y="2451940"/>
            <a:ext cx="91075" cy="5961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33795" y="2391899"/>
            <a:ext cx="91074" cy="6004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24869" y="2332199"/>
            <a:ext cx="91074" cy="5970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15943" y="2273602"/>
            <a:ext cx="91074" cy="585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07017" y="2216858"/>
            <a:ext cx="91075" cy="5674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98092" y="2162692"/>
            <a:ext cx="91074" cy="5416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89166" y="2111795"/>
            <a:ext cx="91074" cy="508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80240" y="2064819"/>
            <a:ext cx="91074" cy="469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71314" y="2022362"/>
            <a:ext cx="91075" cy="4245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62389" y="1984969"/>
            <a:ext cx="91074" cy="373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953463" y="1953115"/>
            <a:ext cx="91074" cy="3185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044537" y="1927210"/>
            <a:ext cx="91074" cy="2590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35611" y="1907582"/>
            <a:ext cx="91075" cy="1962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26686" y="1894485"/>
            <a:ext cx="91074" cy="130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317760" y="1888083"/>
            <a:ext cx="91074" cy="640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08834" y="1888083"/>
            <a:ext cx="91074" cy="37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99908" y="1888461"/>
            <a:ext cx="91075" cy="715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90983" y="1895612"/>
            <a:ext cx="91074" cy="1383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2057" y="1909445"/>
            <a:ext cx="91074" cy="2033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73131" y="1929783"/>
            <a:ext cx="91074" cy="2658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64205" y="1956368"/>
            <a:ext cx="91075" cy="3249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955280" y="1988858"/>
            <a:ext cx="91074" cy="3798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46354" y="2026839"/>
            <a:ext cx="91074" cy="4298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37428" y="2069826"/>
            <a:ext cx="91074" cy="4744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28502" y="2117268"/>
            <a:ext cx="91074" cy="512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19576" y="2168561"/>
            <a:ext cx="91075" cy="5448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10651" y="2223049"/>
            <a:ext cx="91074" cy="5698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1725" y="2280035"/>
            <a:ext cx="91074" cy="5875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92799" y="2338791"/>
            <a:ext cx="91074" cy="597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83873" y="2398567"/>
            <a:ext cx="91075" cy="6003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74948" y="2458599"/>
            <a:ext cx="91074" cy="5952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66022" y="2518120"/>
            <a:ext cx="91074" cy="5824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096" y="2576369"/>
            <a:ext cx="91074" cy="5623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48170" y="2632601"/>
            <a:ext cx="91075" cy="534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39245" y="2686100"/>
            <a:ext cx="91074" cy="5008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30319" y="2736180"/>
            <a:ext cx="91074" cy="4602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21393" y="2782202"/>
            <a:ext cx="91074" cy="413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12467" y="2823578"/>
            <a:ext cx="91075" cy="3620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03542" y="2859779"/>
            <a:ext cx="91074" cy="3056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94616" y="2890343"/>
            <a:ext cx="91074" cy="2453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85690" y="2914880"/>
            <a:ext cx="91074" cy="1819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76764" y="2933075"/>
            <a:ext cx="91075" cy="1162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867839" y="2944696"/>
            <a:ext cx="91074" cy="48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958913" y="2947709"/>
            <a:ext cx="91074" cy="188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049987" y="2939062"/>
            <a:ext cx="91074" cy="86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1061" y="2923765"/>
            <a:ext cx="91075" cy="152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63447" y="235732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201875" y="183268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40303" y="219318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478731" y="283060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2669540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755587" y="198172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894015" y="192759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032443" y="259847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005840" y="453542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97280" y="384048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124712" y="352958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38944" y="4654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" y="330098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采样点较多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1124712" y="4461761"/>
            <a:ext cx="91074" cy="599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215786" y="4402580"/>
            <a:ext cx="91074" cy="5918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06860" y="4344922"/>
            <a:ext cx="91074" cy="5765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397934" y="4289523"/>
            <a:ext cx="91074" cy="553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89008" y="4237090"/>
            <a:ext cx="91075" cy="5243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580083" y="4188294"/>
            <a:ext cx="91074" cy="4879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71157" y="4143758"/>
            <a:ext cx="91074" cy="4453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762231" y="4104051"/>
            <a:ext cx="91074" cy="3970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53305" y="4069681"/>
            <a:ext cx="91075" cy="3437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944380" y="4041086"/>
            <a:ext cx="91074" cy="2859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035454" y="4018633"/>
            <a:ext cx="91074" cy="2245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126528" y="4002607"/>
            <a:ext cx="91074" cy="1602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217602" y="3993214"/>
            <a:ext cx="91075" cy="93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08677" y="3990574"/>
            <a:ext cx="91074" cy="264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399751" y="3990574"/>
            <a:ext cx="91074" cy="41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490825" y="3994721"/>
            <a:ext cx="91074" cy="1088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581899" y="4005601"/>
            <a:ext cx="91075" cy="1747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672974" y="4023076"/>
            <a:ext cx="91074" cy="2384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764048" y="4046921"/>
            <a:ext cx="91074" cy="2991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855122" y="4076834"/>
            <a:ext cx="91074" cy="3559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946196" y="4112430"/>
            <a:ext cx="91075" cy="4082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37271" y="4153256"/>
            <a:ext cx="91074" cy="4553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28345" y="4198790"/>
            <a:ext cx="91074" cy="4966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219419" y="4248450"/>
            <a:ext cx="91074" cy="5315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310493" y="4301602"/>
            <a:ext cx="91075" cy="5596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01568" y="4357565"/>
            <a:ext cx="91074" cy="5806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492642" y="4415627"/>
            <a:ext cx="91074" cy="5941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83716" y="4475043"/>
            <a:ext cx="91074" cy="6001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74790" y="4535056"/>
            <a:ext cx="91074" cy="5984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5864" y="4594898"/>
            <a:ext cx="91075" cy="5890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56939" y="4653805"/>
            <a:ext cx="91074" cy="5722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948013" y="4711025"/>
            <a:ext cx="91074" cy="5480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039087" y="4765825"/>
            <a:ext cx="91074" cy="5168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130161" y="4817506"/>
            <a:ext cx="91075" cy="4790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221236" y="4865407"/>
            <a:ext cx="91074" cy="4351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312310" y="4908917"/>
            <a:ext cx="91074" cy="3856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403384" y="4947480"/>
            <a:ext cx="91074" cy="3312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494458" y="4980602"/>
            <a:ext cx="91075" cy="2725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585533" y="5007861"/>
            <a:ext cx="91074" cy="210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676607" y="5028908"/>
            <a:ext cx="91074" cy="1456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767681" y="5043474"/>
            <a:ext cx="91074" cy="78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858755" y="5051373"/>
            <a:ext cx="91075" cy="113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949830" y="5046855"/>
            <a:ext cx="91074" cy="565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040904" y="5034494"/>
            <a:ext cx="91074" cy="1236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131978" y="5015581"/>
            <a:ext cx="91074" cy="1891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223052" y="4990359"/>
            <a:ext cx="91075" cy="2522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14127" y="4959147"/>
            <a:ext cx="91074" cy="3121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405201" y="4922347"/>
            <a:ext cx="91074" cy="3680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496275" y="4880427"/>
            <a:ext cx="91074" cy="4192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87349" y="4833924"/>
            <a:ext cx="91075" cy="4650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678424" y="4783432"/>
            <a:ext cx="91074" cy="5049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769498" y="4729595"/>
            <a:ext cx="91074" cy="5383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860572" y="4673103"/>
            <a:ext cx="91074" cy="5649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951646" y="4614675"/>
            <a:ext cx="91074" cy="5842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042720" y="4555060"/>
            <a:ext cx="91075" cy="5961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133795" y="4495019"/>
            <a:ext cx="91074" cy="6004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224869" y="4435319"/>
            <a:ext cx="91074" cy="5970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15943" y="4376722"/>
            <a:ext cx="91074" cy="585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407017" y="4319978"/>
            <a:ext cx="91075" cy="5674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498092" y="4265812"/>
            <a:ext cx="91074" cy="5416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589166" y="4214915"/>
            <a:ext cx="91074" cy="508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80240" y="4167939"/>
            <a:ext cx="91074" cy="469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771314" y="4125482"/>
            <a:ext cx="91075" cy="4245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862389" y="4088089"/>
            <a:ext cx="91074" cy="373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953463" y="4056235"/>
            <a:ext cx="91074" cy="3185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044537" y="4030330"/>
            <a:ext cx="91074" cy="2590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135611" y="4010702"/>
            <a:ext cx="91075" cy="1962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226686" y="3997605"/>
            <a:ext cx="91074" cy="130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317760" y="3991203"/>
            <a:ext cx="91074" cy="640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408834" y="3991203"/>
            <a:ext cx="91074" cy="37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499908" y="3991581"/>
            <a:ext cx="91075" cy="715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90983" y="3998732"/>
            <a:ext cx="91074" cy="1383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682057" y="4012565"/>
            <a:ext cx="91074" cy="2033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773131" y="4032903"/>
            <a:ext cx="91074" cy="2658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864205" y="4059488"/>
            <a:ext cx="91075" cy="3249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955280" y="4091978"/>
            <a:ext cx="91074" cy="3798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046354" y="4129959"/>
            <a:ext cx="91074" cy="4298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137428" y="4172946"/>
            <a:ext cx="91074" cy="4744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228502" y="4220388"/>
            <a:ext cx="91074" cy="512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319576" y="4271681"/>
            <a:ext cx="91075" cy="5448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410651" y="4326169"/>
            <a:ext cx="91074" cy="5698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501725" y="4383155"/>
            <a:ext cx="91074" cy="5875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592799" y="4441911"/>
            <a:ext cx="91074" cy="597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683873" y="4501687"/>
            <a:ext cx="91075" cy="6003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774948" y="4561719"/>
            <a:ext cx="91074" cy="5952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866022" y="4621240"/>
            <a:ext cx="91074" cy="5824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957096" y="4679489"/>
            <a:ext cx="91074" cy="5623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048170" y="4735721"/>
            <a:ext cx="91075" cy="534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39245" y="4789220"/>
            <a:ext cx="91074" cy="5008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230319" y="4839300"/>
            <a:ext cx="91074" cy="4602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321393" y="4885322"/>
            <a:ext cx="91074" cy="413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412467" y="4926698"/>
            <a:ext cx="91075" cy="3620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3542" y="4962899"/>
            <a:ext cx="91074" cy="3056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94616" y="4993463"/>
            <a:ext cx="91074" cy="2453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685690" y="5018000"/>
            <a:ext cx="91074" cy="1819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776764" y="5036195"/>
            <a:ext cx="91075" cy="1162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867839" y="5047816"/>
            <a:ext cx="91074" cy="48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958913" y="5050829"/>
            <a:ext cx="91074" cy="188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049987" y="5042182"/>
            <a:ext cx="91074" cy="86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141061" y="5026885"/>
            <a:ext cx="91075" cy="152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Oval 222"/>
          <p:cNvSpPr/>
          <p:nvPr/>
        </p:nvSpPr>
        <p:spPr>
          <a:xfrm>
            <a:off x="1063447" y="44604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18818" y="41758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974189" y="397982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429560" y="393345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884932" y="405116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340303" y="429630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795674" y="459254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251045" y="484765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706416" y="498220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161788" y="495431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17159" y="47726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072530" y="44937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6527901" y="420454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6983272" y="399497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438644" y="393031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94015" y="403071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49386" y="426490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804757" y="45599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260128" y="482405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715500" y="497493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7724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每秒记录的次数变多；数据量也会随之增加。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把振幅划分成0～7，共几个等级？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00200" y="5394960"/>
            <a:ext cx="8001000" cy="0"/>
          </a:xfrm>
          <a:prstGeom prst="line">
            <a:avLst/>
          </a:prstGeom>
          <a:ln w="190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13816" y="523036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00200" y="4910328"/>
            <a:ext cx="8001000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13816" y="474573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4425696"/>
            <a:ext cx="8001000" cy="0"/>
          </a:xfrm>
          <a:prstGeom prst="line">
            <a:avLst/>
          </a:prstGeom>
          <a:ln w="190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3816" y="426110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00200" y="3941064"/>
            <a:ext cx="8001000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3816" y="377647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00200" y="3456432"/>
            <a:ext cx="8001000" cy="0"/>
          </a:xfrm>
          <a:prstGeom prst="line">
            <a:avLst/>
          </a:prstGeom>
          <a:ln w="190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" y="329184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00200" y="2971800"/>
            <a:ext cx="8001000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3816" y="280720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00200" y="2487168"/>
            <a:ext cx="8001000" cy="0"/>
          </a:xfrm>
          <a:prstGeom prst="line">
            <a:avLst/>
          </a:prstGeom>
          <a:ln w="190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3816" y="232257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00200" y="2002536"/>
            <a:ext cx="8001000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3816" y="183794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0也是一个等级，所以一共有8个等级。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量化：把每个样本归入一个代表值。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1952" y="5257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" y="5093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4800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8992" y="4636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4343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8992" y="41788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38862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34290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" y="32644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1952" y="2971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2807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01952" y="2514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78992" y="2350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1952" y="2057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189280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3474720"/>
            <a:ext cx="173736" cy="1737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0" y="3799332"/>
            <a:ext cx="173736" cy="17373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662172"/>
            <a:ext cx="0" cy="123443"/>
          </a:xfrm>
          <a:prstGeom prst="line">
            <a:avLst/>
          </a:prstGeom>
          <a:ln w="3429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31501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262626"/>
                </a:solidFill>
                <a:latin typeface="Alibaba PuHuiTi 3.0 115 Black"/>
              </a:defRPr>
            </a:pPr>
            <a:r>
              <a:t>原值 3.71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922776"/>
            <a:ext cx="22860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等级 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量化：用有限个等级来近似表示样本的振幅。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1800">
                <a:solidFill>
                  <a:srgbClr val="8C64E1"/>
                </a:solidFill>
                <a:latin typeface="Alibaba PuHuiTi 3.0 115 Black"/>
              </a:defRPr>
            </a:pPr>
            <a:r>
              <a:t>规则：[3,4) → L3；区间代表值可取 3.5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</a:defRPr>
            </a:pPr>
            <a:r>
              <a:t>8个等级 = 2³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3 bit可以写出8种不同的编码：000～111。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量化等级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 bit码字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5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采样决定“什么时候记录”，量化决定“记录哪个等级”，编码决定“用哪些bit表示”。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把量化等级分得更细，会发生什么？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3 bit → 8级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" y="5230368"/>
            <a:ext cx="4069080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4828031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4425696"/>
            <a:ext cx="4069080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4023359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3621024"/>
            <a:ext cx="4069080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3218687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71600" y="2816351"/>
            <a:ext cx="4069080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71600" y="2414015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716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4 bit → 16级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5230368"/>
            <a:ext cx="406908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0" y="5042611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854854"/>
            <a:ext cx="406908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4667097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4479340"/>
            <a:ext cx="406908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8000" y="4291584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0" y="4103827"/>
            <a:ext cx="406908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58000" y="3916070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3728313"/>
            <a:ext cx="406908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3540556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58000" y="3352800"/>
            <a:ext cx="406908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3165043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0" y="2977286"/>
            <a:ext cx="406908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0" y="2789529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8000" y="2601772"/>
            <a:ext cx="4069080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2414015"/>
            <a:ext cx="4069080" cy="0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演示C：3 bit变4 bit，横向的点会变多吗？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536192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保持采样时刻不变，只改变量化位数。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578608"/>
            <a:ext cx="27432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3 bit：8个等级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877056" y="2258568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877056" y="2453204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877056" y="2647841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877056" y="2842477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877056" y="3037114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877056" y="3231750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877056" y="3426387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877056" y="3621024"/>
            <a:ext cx="7205472" cy="0"/>
          </a:xfrm>
          <a:prstGeom prst="line">
            <a:avLst/>
          </a:prstGeom>
          <a:ln w="127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3823106" y="275727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23790" y="252058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24474" y="2497858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25158" y="2702414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425842" y="301442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26526" y="325111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227210" y="327383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27894" y="3069278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028578" y="2757271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" y="4343400"/>
            <a:ext cx="27432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4 bit：16个等级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877056" y="4023360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877056" y="4114190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3877056" y="4205020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877056" y="4295851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3877056" y="4386681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877056" y="4477512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877056" y="4568342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877056" y="4659172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877056" y="4750003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877056" y="4840833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877056" y="4931664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877056" y="5022494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877056" y="5113324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77056" y="5204155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7056" y="5294985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77056" y="5385816"/>
            <a:ext cx="7205472" cy="0"/>
          </a:xfrm>
          <a:prstGeom prst="line">
            <a:avLst/>
          </a:prstGeom>
          <a:ln w="127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3823106" y="452206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723790" y="428537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5624474" y="4262650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525158" y="4467206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7425842" y="477921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326526" y="501590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227210" y="5038625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0127894" y="4834070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1028578" y="4522063"/>
            <a:ext cx="107899" cy="107899"/>
          </a:xfrm>
          <a:prstGeom prst="ellipse">
            <a:avLst/>
          </a:prstGeom>
          <a:solidFill>
            <a:srgbClr val="808080"/>
          </a:solidFill>
          <a:ln w="190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" y="6007608"/>
            <a:ext cx="10424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灰点的时间位置不变；变化的是纵向可选等级。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066543"/>
            <a:ext cx="47091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8816" y="2066543"/>
            <a:ext cx="4626864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PCM例子：16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位数越多，一份未压缩样本数据所占的空间也越大。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PCM样本和WAV文件，是一回事吗？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76272"/>
            <a:ext cx="2898648" cy="13716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256946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WAV文件头</a:t>
            </a:r>
          </a:p>
        </p:txBody>
      </p:sp>
      <p:sp>
        <p:nvSpPr>
          <p:cNvPr id="7" name="Rectangle 6"/>
          <p:cNvSpPr/>
          <p:nvPr/>
        </p:nvSpPr>
        <p:spPr>
          <a:xfrm>
            <a:off x="3986784" y="2176272"/>
            <a:ext cx="7059168" cy="13716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569464"/>
            <a:ext cx="62727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PCM：一个个数字样本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941063"/>
            <a:ext cx="36576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采样率、声道等说明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3950208"/>
            <a:ext cx="68580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例如：0010 1101 0110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编码 ≠ 压缩；WAV常保存未压缩PCM，但并非只有这一种情况。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数字样本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3016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819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5624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3427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8232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录音是模拟 → 数字；播放是数字 → 模拟。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未压缩PCM数据量公式，从哪里来？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965960"/>
            <a:ext cx="106984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8C64E1"/>
                </a:solidFill>
                <a:latin typeface="Alibaba PuHuiTi 3.0 115 Black"/>
              </a:defRPr>
            </a:pPr>
            <a:r>
              <a:t>字节数 = 采样率 × 位数 × 声道数 × 秒数 ÷ 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3255264"/>
            <a:ext cx="10341864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3602736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Hz：每秒采多少次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3602736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bit：每个样本用几位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17136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声道：有几组数据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2" y="4517136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秒：记录多久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692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1 kHz=1000 Hz；8 bit=1 Byte。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074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>
                <a:solidFill>
                  <a:srgbClr val="6251B1"/>
                </a:solidFill>
              </a:rPr>
              <a:t>答案：160,000 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5660136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16,000 × 8 × 2 × 5 ÷ 8 = 160,000 Byte。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① 声音怎么进入电脑？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0008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麦克风 → ADC → 数字数据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② 采样和量化有什么不同？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48456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前者定时刻，后者定代表值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③ PCM为什么有大小差别？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469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每样本bit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000" b="1">
                <a:solidFill>
                  <a:srgbClr val="262626"/>
                </a:solidFill>
                <a:latin typeface="Alibaba PuHuiTi 3.0 115 Black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提醒：1 MB（按1024²换算）在严格单位写法中应称MiB。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074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>
                <a:solidFill>
                  <a:srgbClr val="6251B1"/>
                </a:solidFill>
              </a:rPr>
              <a:t>答案：约10.99 MiB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5660136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48,000×16×2×60÷8=11,520,000 B；÷1024²≈10.99 MiB。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音轨是编辑时的层，声道是输出时的通道。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2148840"/>
            <a:ext cx="3767328" cy="6858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2286000"/>
            <a:ext cx="34930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音轨1：诗朗诵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3081528"/>
            <a:ext cx="37673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3218688"/>
            <a:ext cx="34930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音轨2：背景音乐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10328" y="2944368"/>
            <a:ext cx="1426464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11496" y="233172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混音导出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48840"/>
            <a:ext cx="42245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8312" y="2286000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左声道 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3081528"/>
            <a:ext cx="42245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68312" y="3218688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右声道 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937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编辑有两条音轨，导出仍然可以只有两个声道。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074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>
                <a:solidFill>
                  <a:srgbClr val="6251B1"/>
                </a:solidFill>
              </a:rP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5660136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内容变了，但采样率、位数、声道数、时长均未变。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双声道：2路数据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38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单声道：1路数据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145536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3721608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3438144"/>
            <a:ext cx="3694176" cy="41148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未压缩PCM：声道数变成一半，样本数据量也变成一半。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图像采样与声音采样，哪里相同？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892807"/>
            <a:ext cx="23134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取样位置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63824" y="1892807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二维：行×列的像素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1892807"/>
            <a:ext cx="3794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一维：时间点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60" y="2697479"/>
            <a:ext cx="10332720" cy="0"/>
          </a:xfrm>
          <a:prstGeom prst="line">
            <a:avLst/>
          </a:prstGeom>
          <a:ln w="1524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49808" y="3008376"/>
            <a:ext cx="23134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描述的量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63824" y="3008376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像素的颜色信息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3008376"/>
            <a:ext cx="3794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声音信号振幅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22960" y="3813048"/>
            <a:ext cx="10332720" cy="0"/>
          </a:xfrm>
          <a:prstGeom prst="line">
            <a:avLst/>
          </a:prstGeom>
          <a:ln w="1524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49808" y="4123944"/>
            <a:ext cx="231343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数据量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63824" y="4123944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像素数×每像素位数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4123944"/>
            <a:ext cx="3794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样本数×每样本位数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这两种编码都有“选择样本”和“用有限数字表达样本”的过程。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" y="2889504"/>
            <a:ext cx="484632" cy="484632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第1帧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6664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465576" y="2889504"/>
            <a:ext cx="484632" cy="484632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26664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第2帧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0952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25896" y="2889504"/>
            <a:ext cx="484632" cy="484632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0952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第3帧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586216" y="2889504"/>
            <a:ext cx="484632" cy="484632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第4帧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39528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146536" y="2889504"/>
            <a:ext cx="484632" cy="484632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9528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第5帧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帧率25 fps：每秒显示25张画面。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056632"/>
            <a:ext cx="78181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2200">
                <a:solidFill>
                  <a:srgbClr val="8C64E1"/>
                </a:solidFill>
                <a:latin typeface="Alibaba PuHuiTi 3.0 115 Black"/>
              </a:defRPr>
            </a:pPr>
            <a:r>
              <a:t>球在画面中的位置逐帧变化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074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>
                <a:solidFill>
                  <a:srgbClr val="6251B1"/>
                </a:solidFill>
              </a:rPr>
              <a:t>答案：约6.44 GiB。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5660136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480×320×24÷8×25×600 = 6,912,000,000 B；÷1024³≈6.44 GiB。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可是我们看的10分钟视频，为什么远没有6.44 GiB？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92807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8C64E1"/>
                </a:solidFill>
                <a:latin typeface="Alibaba PuHuiTi 3.0 115 Black"/>
              </a:defRPr>
            </a:pPr>
            <a:r>
              <a:t>刚才的计算错了吗？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00984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0">
                <a:solidFill>
                  <a:srgbClr val="262626"/>
                </a:solidFill>
                <a:latin typeface="Alibaba PuHuiTi 3.0 55 Regular"/>
              </a:defRPr>
            </a:pPr>
            <a:r>
              <a:t>如果公式没错，实际文件为什么可能小得多？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请提出至少一种可以检验的解释。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未压缩图像帧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重新编码后的视频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每一帧都要保存完整的原始像素数据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利用帧间相似和更有效的编码，数据可能显著减小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为什么重复内容更容易压缩？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高度重复的内容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变化复杂的内容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AAAAAAAAAA…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容易用简短规则表示。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AX3Q9P8F2…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难以找到同样简短的规则。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冗余越多，使用合适的算法时，通常越容易压缩。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两种压缩：怎样区分“无损”和“有损”？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无损压缩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有损压缩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适合：文档、程序、精确备份。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还原以后，无法与原始数据完全一致。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适合：可接受部分失真的音视频。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判断标准：解码/解压后，能否完整得到原始数据？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ZIP / 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通常为无损归档格式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MP3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常见有损音频编码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容器；常见未压缩PCM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容器；常装有损视频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A 纯色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700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6362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2024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76856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3347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9008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670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0332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700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6362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2024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76856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3347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9008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4670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0332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039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0700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6362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2024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76856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3347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9008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4670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0332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039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700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6362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2024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76856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3347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9008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4670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0332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039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7008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56362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92024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7685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3347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90088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4670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70332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039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07008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563624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92024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7685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63347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990088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46704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70332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9087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B 色块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4748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0410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760720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17336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73952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83056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87183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54380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69087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04748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40410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76072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17336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73952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83056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87183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54380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69087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04748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40410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76072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17336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473952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3056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187183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4380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69087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04748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404104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76072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117336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47395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83056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187183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543800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69087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04748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404104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76072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11733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47395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83056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187183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543800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690872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04748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40410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76072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11733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7395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83056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187183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543800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69087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53135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C 复杂图案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53135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887968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244584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60120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957816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314432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671048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027664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38428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53135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88796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244584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60120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957816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31443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671048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027664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38428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531352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88796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24458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60120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957816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031443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67104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1027664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138428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53135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88796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924458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60120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957816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031443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067104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102766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1384280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53135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88796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244584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60120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95781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031443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067104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102766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138428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53135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88796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24458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601200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95781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031443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067104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102766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38428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53135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想一想：哪幅图最容易用几条规则完整表示？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074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>
                <a:solidFill>
                  <a:srgbClr val="6251B1"/>
                </a:solidFill>
              </a:rPr>
              <a:t>答案：A通常最小。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5660136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纯色图像的重复与规律性最强，一般更容易用简短规则表示。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同一张图：BMP与JPG有什么不同？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BMP（课堂例：未压缩）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JPG（常见有损）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保存每个像素的颜色信息。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可能占用较多空间。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对图像进行近似表示。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文件可能明显更小，但不能逐像素完全还原。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有损不等于看起来一定明显变差；质量与参数有关。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是不是压得越小就一定越好？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重要文档长期备份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实时视频通话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优先考虑信息完整、能够恢复，以及可靠保存。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优先兼顾流畅度、延迟、声音画面质量和传输量。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选择编码与压缩方式，要看具体任务，而不是只比文件大小。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0749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>
                <a:solidFill>
                  <a:srgbClr val="6251B1"/>
                </a:solidFill>
              </a:rPr>
              <a:t>答案：①错；②对；③对。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5660136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①音轨不等于声道；②每帧的数据量相加可能很大；③ZIP为无损归档。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可选拓展：采样不足时会发生什么？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468880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1810512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14996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5877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71016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88720" y="2369440"/>
            <a:ext cx="87325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76045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63370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50695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8020" y="2198979"/>
            <a:ext cx="87326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25346" y="2160216"/>
            <a:ext cx="87325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2671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99996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87321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74646" y="2030817"/>
            <a:ext cx="87326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61972" y="2006317"/>
            <a:ext cx="87325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929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3662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2394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11272" y="1946188"/>
            <a:ext cx="87326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98598" y="1941291"/>
            <a:ext cx="87325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85923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3248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0573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47898" y="1951764"/>
            <a:ext cx="87326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35224" y="1963539"/>
            <a:ext cx="87325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22549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9874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97199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84524" y="2049055"/>
            <a:ext cx="87326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71850" y="2079088"/>
            <a:ext cx="87325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59175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46500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33825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21150" y="2225903"/>
            <a:ext cx="87326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08476" y="2267647"/>
            <a:ext cx="87325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95801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83126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70451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57776" y="2443757"/>
            <a:ext cx="87326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5102" y="2488112"/>
            <a:ext cx="87325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3242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1975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0707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94402" y="2655128"/>
            <a:ext cx="87326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1728" y="2692425"/>
            <a:ext cx="87325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69053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56378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43703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31028" y="2813939"/>
            <a:ext cx="87326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18354" y="2836049"/>
            <a:ext cx="87325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5679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93004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80329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67654" y="2885573"/>
            <a:ext cx="87326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54980" y="2885573"/>
            <a:ext cx="87325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42305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29630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16955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904280" y="2836049"/>
            <a:ext cx="87326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991606" y="2813939"/>
            <a:ext cx="87325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078931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166256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253581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40906" y="2692425"/>
            <a:ext cx="87326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428232" y="2655128"/>
            <a:ext cx="87325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1555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0288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9020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777532" y="2488112"/>
            <a:ext cx="87326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864858" y="2443757"/>
            <a:ext cx="87325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952183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039508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126833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214158" y="2267647"/>
            <a:ext cx="87326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301484" y="2225903"/>
            <a:ext cx="87325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388809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476134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563459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650784" y="2079088"/>
            <a:ext cx="87326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738110" y="2049055"/>
            <a:ext cx="87325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25435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912760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00085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87410" y="1963539"/>
            <a:ext cx="87326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74736" y="1951764"/>
            <a:ext cx="87325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62061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49386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436711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24036" y="1941291"/>
            <a:ext cx="87326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611362" y="1946188"/>
            <a:ext cx="87325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9868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78601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7333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60662" y="2006317"/>
            <a:ext cx="87326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47988" y="2030817"/>
            <a:ext cx="87325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35313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222638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09963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97288" y="2160216"/>
            <a:ext cx="87326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84614" y="2198979"/>
            <a:ext cx="87325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71939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59264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746589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833914" y="2369440"/>
            <a:ext cx="87326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97280" y="4425696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88720" y="3767328"/>
            <a:ext cx="0" cy="132587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216152" y="34564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92640" y="454456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322783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B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188720" y="4267506"/>
            <a:ext cx="87325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276045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63370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450695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538020" y="3948798"/>
            <a:ext cx="87326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25346" y="3912053"/>
            <a:ext cx="87325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712671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799996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87321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74646" y="3936129"/>
            <a:ext cx="87326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061972" y="3987633"/>
            <a:ext cx="87325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14929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23662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32394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411272" y="4341090"/>
            <a:ext cx="87326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98598" y="4444928"/>
            <a:ext cx="87325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585923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673248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760573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47898" y="4778530"/>
            <a:ext cx="87326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35224" y="4821308"/>
            <a:ext cx="87325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022549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109874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97199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284524" y="4705759"/>
            <a:ext cx="87326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371850" y="4624631"/>
            <a:ext cx="87325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459175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546500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633825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721150" y="4224463"/>
            <a:ext cx="87326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808476" y="4129719"/>
            <a:ext cx="87325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895801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983126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70451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157776" y="3903004"/>
            <a:ext cx="87326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245102" y="3898107"/>
            <a:ext cx="87325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33242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41975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50707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594402" y="4015534"/>
            <a:ext cx="87326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681728" y="4092422"/>
            <a:ext cx="87325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69053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856378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943703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031028" y="4488626"/>
            <a:ext cx="87326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118354" y="4585868"/>
            <a:ext cx="87325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205679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293004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80329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67654" y="4833083"/>
            <a:ext cx="87326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554980" y="4833083"/>
            <a:ext cx="87325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642305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729630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816955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904280" y="4585868"/>
            <a:ext cx="87326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991606" y="4488626"/>
            <a:ext cx="87325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078931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166256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253581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340906" y="4092422"/>
            <a:ext cx="87326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428232" y="4015534"/>
            <a:ext cx="87325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51555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0288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9020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777532" y="3898107"/>
            <a:ext cx="87326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864858" y="3903004"/>
            <a:ext cx="87325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952183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039508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126833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14158" y="4129719"/>
            <a:ext cx="87326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301484" y="4224463"/>
            <a:ext cx="87325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388809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476134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563459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650784" y="4624631"/>
            <a:ext cx="87326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738110" y="4705759"/>
            <a:ext cx="87325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825435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912760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000085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087410" y="4821308"/>
            <a:ext cx="87326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174736" y="4778530"/>
            <a:ext cx="87325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62061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49386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436711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524036" y="4444928"/>
            <a:ext cx="87326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611362" y="4341090"/>
            <a:ext cx="87325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69868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78601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87333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960662" y="3987633"/>
            <a:ext cx="87326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47988" y="3936129"/>
            <a:ext cx="87325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35313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222638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309963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397288" y="3912053"/>
            <a:ext cx="87326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484614" y="3948798"/>
            <a:ext cx="87325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571939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659264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46589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833914" y="4267506"/>
            <a:ext cx="87326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77240" y="584301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拓展问题：少量离散样本，是否足以唯一确定连续信号？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可选拓展：编码和压缩不是同一件事。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应记为等级3，还是等级4？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500">
                <a:solidFill>
                  <a:srgbClr val="262626"/>
                </a:solidFill>
                <a:latin typeface="Alibaba PuHuiTi 3.0 55 Regular"/>
              </a:defRPr>
            </a:pPr>
            <a:r>
              <a:t>幅度范围 [0,8) 划成8段，等级编号为 0～7。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80" y="2880360"/>
            <a:ext cx="1097280" cy="914400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880360"/>
            <a:ext cx="1097280" cy="914400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698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698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242816"/>
            <a:ext cx="48463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900">
                <a:solidFill>
                  <a:srgbClr val="262626"/>
                </a:solidFill>
                <a:latin typeface="Alibaba PuHuiTi 3.0 115 Black"/>
              </a:defRPr>
            </a:pPr>
            <a:r>
              <a:t>采样值：3.71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12978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700">
                <a:solidFill>
                  <a:srgbClr val="8C64E1"/>
                </a:solidFill>
                <a:latin typeface="Alibaba PuHuiTi 3.0 115 Black"/>
              </a:defRPr>
            </a:pPr>
            <a:r>
              <a:t>你预测：进入3号等级，还是4号等级？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为什么写成 011，而不是 100？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采样原值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3.71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697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3016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输入范围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[3,4)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733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1052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量化等级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L3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9769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390888" y="2249424"/>
            <a:ext cx="2432304" cy="1636776"/>
          </a:xfrm>
          <a:prstGeom prst="rect">
            <a:avLst/>
          </a:prstGeom>
          <a:solidFill>
            <a:srgbClr val="F3E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3 bit码字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8C64E1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63440"/>
            <a:ext cx="10652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262626"/>
                </a:solidFill>
                <a:latin typeface="Alibaba PuHuiTi 3.0 115 Black"/>
              </a:defRPr>
            </a:pPr>
            <a:r>
              <a:t>规则：按输入范围确定等级，再用固定长度的0和1记录等级编号。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24728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验证：输入值4.15对应的码字是什么？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演示D：同样1000 Byte，压缩后真的不同吗？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600">
                <a:solidFill>
                  <a:srgbClr val="262626"/>
                </a:solidFill>
                <a:latin typeface="Alibaba PuHuiTi 3.0 115 Black"/>
              </a:defRPr>
            </a:pPr>
            <a:r>
              <a:t>同样是 1000 Byte：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87752"/>
            <a:ext cx="5102352" cy="1261872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8C64E1"/>
                </a:solidFill>
                <a:latin typeface="Alibaba PuHuiTi 3.0 115 Black"/>
              </a:defRPr>
            </a:pPr>
            <a:r>
              <a:t>文件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1000个重复的字节“A”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87752"/>
            <a:ext cx="5102352" cy="12618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00B0F0"/>
                </a:solidFill>
                <a:latin typeface="Alibaba PuHuiTi 3.0 115 Black"/>
              </a:defRPr>
            </a:pPr>
            <a:r>
              <a:t>文件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1000个随机变化的字节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15968"/>
            <a:ext cx="10625328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8C64E1"/>
                </a:solidFill>
                <a:latin typeface="Alibaba PuHuiTi 3.0 115 Black"/>
              </a:defRPr>
            </a:pPr>
            <a:r>
              <a:t>① 先预测 → ② 运行Notebook的zlib压缩 → ③ 比较结果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5955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262626"/>
                </a:solidFill>
                <a:latin typeface="Alibaba PuHuiTi 3.0 55 Regular"/>
              </a:defRPr>
            </a:pPr>
            <a:r>
              <a:t>可追问：压缩后的文件有没有可能比原来更大？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声音的数字化、音频视频编码与数据压缩 v8｜两课时课堂版</dc:title>
  <dc:subject>高中信息科技：声音数字化与数据压缩</dc:subject>
  <dc:creator/>
  <cp:keywords>采样,量化,编码,PCM,声道,音轨,数据压缩,冗余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
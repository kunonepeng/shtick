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27632"/>
            <a:ext cx="10652760" cy="353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202936"/>
            <a:ext cx="2971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① 音叉振动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520293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② 空气中的声压变化传开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5202936"/>
            <a:ext cx="30175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③ 麦克风接收声音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43600"/>
            <a:ext cx="10652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6251B1"/>
                </a:solidFill>
                <a:latin typeface="Alibaba PuHuiTi 3.0 55 Regular"/>
              </a:defRPr>
            </a:pPr>
            <a:r>
              <a:t>注意：声波不是一条在空间里弯曲前进的线。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99232" y="2368296"/>
            <a:ext cx="4480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493008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368296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45936" y="2039112"/>
            <a:ext cx="2304288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05088" y="2368296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98863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5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1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99232" y="4215384"/>
            <a:ext cx="4480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93008" y="3886200"/>
            <a:ext cx="2304288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4215384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345936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05088" y="4215384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198863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5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151790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录音（ADC）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36499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播放（DAC）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500">
                <a:solidFill>
                  <a:srgbClr val="262626"/>
                </a:solidFill>
                <a:latin typeface="Alibaba PuHuiTi 3.0 55 Regular"/>
              </a:defRPr>
            </a:pPr>
            <a:r>
              <a:t>幅度范围 [0,8) 划成8段，等级编号为 0～7。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2880360"/>
            <a:ext cx="1097280" cy="9144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880360"/>
            <a:ext cx="1097280" cy="9144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698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98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42816"/>
            <a:ext cx="4846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900">
                <a:solidFill>
                  <a:srgbClr val="262626"/>
                </a:solidFill>
                <a:latin typeface="Alibaba PuHuiTi 3.0 115 Black"/>
              </a:defRPr>
            </a:pPr>
            <a:r>
              <a:t>采样值：3.71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297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700">
                <a:solidFill>
                  <a:srgbClr val="8C64E1"/>
                </a:solidFill>
                <a:latin typeface="Alibaba PuHuiTi 3.0 115 Black"/>
              </a:defRPr>
            </a:pPr>
            <a:r>
              <a:t>你预测：进入3号等级，还是4号等级？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536192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保持采样时刻不变，只改变量化位数。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578608"/>
            <a:ext cx="27432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3 bit：8个等级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77056" y="2258568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77056" y="245320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77056" y="2647841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77056" y="284247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77056" y="303711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77056" y="3231750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77056" y="342638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77056" y="362102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823106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23790" y="252058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24474" y="249785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25158" y="2702414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25842" y="301442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6526" y="325111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27210" y="327383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27894" y="306927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28578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343400"/>
            <a:ext cx="27432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4 bit：16个等级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77056" y="402336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77056" y="411419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77056" y="420502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77056" y="429585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77056" y="438668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77056" y="447751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877056" y="456834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77056" y="465917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77056" y="475000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77056" y="484083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77056" y="493166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77056" y="502249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877056" y="511332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77056" y="520415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7056" y="529498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77056" y="5385816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823106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23790" y="428537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24474" y="426265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25158" y="4467206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25842" y="477921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26526" y="501590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27210" y="5038625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27894" y="483407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28578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6007608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灰点的时间位置不变；变化的是纵向可选等级。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965960"/>
            <a:ext cx="106984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8C64E1"/>
                </a:solidFill>
                <a:latin typeface="Alibaba PuHuiTi 3.0 115 Black"/>
              </a:defRPr>
            </a:pPr>
            <a:r>
              <a:t>字节数 = 采样率 × 位数 × 声道数 × 秒数 ÷ 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255264"/>
            <a:ext cx="10341864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6027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Hz：每秒采多少次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36027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bit：每个样本用几位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171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声道：有几组数据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45171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秒：记录多久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1 kHz=1000 Hz；8 bit=1 Byte。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148840"/>
            <a:ext cx="3767328" cy="6858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286000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081528"/>
            <a:ext cx="37673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3218688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0328" y="2944368"/>
            <a:ext cx="1426464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11496" y="23317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混音导出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48840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2860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081528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32186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编辑有两条音轨，导出仍然可以只有两个声道。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第1帧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6664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64992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第2帧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07024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第3帧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4905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第4帧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9528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0937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第5帧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帧率25 fps：每秒显示25张画面。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56632"/>
            <a:ext cx="78181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2200">
                <a:solidFill>
                  <a:srgbClr val="8C64E1"/>
                </a:solidFill>
                <a:latin typeface="Alibaba PuHuiTi 3.0 115 Black"/>
              </a:defRPr>
            </a:pPr>
            <a:r>
              <a:t>球在画面中的位置逐帧变化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9848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74136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78424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82712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87000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BMP（课堂例：未压缩）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JPG（常见有损）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保存每个像素的颜色信息。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可能占用较多空间。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对图像进行近似表示。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文件可能明显更小，但不能逐像素完全还原。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有损不等于看起来一定明显变差；质量与参数有关。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声音编码与数据压缩·视觉迭代v8.3.2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
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322" r:id="rId74"/>
    <p:sldId id="264" r:id="rId16"/>
    <p:sldId id="265" r:id="rId17"/>
    <p:sldId id="321" r:id="rId73"/>
    <p:sldId id="266" r:id="rId18"/>
    <p:sldId id="267" r:id="rId19"/>
    <p:sldId id="268" r:id="rId20"/>
    <p:sldId id="269" r:id="rId21"/>
    <p:sldId id="323" r:id="rId75"/>
    <p:sldId id="270" r:id="rId22"/>
    <p:sldId id="272" r:id="rId24"/>
    <p:sldId id="324" r:id="rId76"/>
    <p:sldId id="271" r:id="rId23"/>
    <p:sldId id="273" r:id="rId25"/>
    <p:sldId id="274" r:id="rId26"/>
    <p:sldId id="320" r:id="rId72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25" r:id="rId77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8.xml"/><Relationship Id="rId23" Type="http://schemas.openxmlformats.org/officeDocument/2006/relationships/slide" Target="slides/slide21.xml"/><Relationship Id="rId24" Type="http://schemas.openxmlformats.org/officeDocument/2006/relationships/slide" Target="slides/slide19.xml"/><Relationship Id="rId25" Type="http://schemas.openxmlformats.org/officeDocument/2006/relationships/slide" Target="slides/slide22.xml"/><Relationship Id="rId26" Type="http://schemas.openxmlformats.org/officeDocument/2006/relationships/slide" Target="slides/slide23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slide" Target="slides/slide27.xml"/><Relationship Id="rId30" Type="http://schemas.openxmlformats.org/officeDocument/2006/relationships/slide" Target="slides/slide28.xml"/><Relationship Id="rId31" Type="http://schemas.openxmlformats.org/officeDocument/2006/relationships/slide" Target="slides/slide29.xml"/><Relationship Id="rId32" Type="http://schemas.openxmlformats.org/officeDocument/2006/relationships/slide" Target="slides/slide30.xml"/><Relationship Id="rId33" Type="http://schemas.openxmlformats.org/officeDocument/2006/relationships/slide" Target="slides/slide31.xml"/><Relationship Id="rId34" Type="http://schemas.openxmlformats.org/officeDocument/2006/relationships/slide" Target="slides/slide32.xml"/><Relationship Id="rId35" Type="http://schemas.openxmlformats.org/officeDocument/2006/relationships/slide" Target="slides/slide33.xml"/><Relationship Id="rId36" Type="http://schemas.openxmlformats.org/officeDocument/2006/relationships/slide" Target="slides/slide34.xml"/><Relationship Id="rId37" Type="http://schemas.openxmlformats.org/officeDocument/2006/relationships/slide" Target="slides/slide35.xml"/><Relationship Id="rId38" Type="http://schemas.openxmlformats.org/officeDocument/2006/relationships/slide" Target="slides/slide36.xml"/><Relationship Id="rId39" Type="http://schemas.openxmlformats.org/officeDocument/2006/relationships/slide" Target="slides/slide37.xml"/><Relationship Id="rId40" Type="http://schemas.openxmlformats.org/officeDocument/2006/relationships/slide" Target="slides/slide38.xml"/><Relationship Id="rId41" Type="http://schemas.openxmlformats.org/officeDocument/2006/relationships/slide" Target="slides/slide39.xml"/><Relationship Id="rId42" Type="http://schemas.openxmlformats.org/officeDocument/2006/relationships/slide" Target="slides/slide40.xml"/><Relationship Id="rId43" Type="http://schemas.openxmlformats.org/officeDocument/2006/relationships/slide" Target="slides/slide41.xml"/><Relationship Id="rId44" Type="http://schemas.openxmlformats.org/officeDocument/2006/relationships/slide" Target="slides/slide42.xml"/><Relationship Id="rId45" Type="http://schemas.openxmlformats.org/officeDocument/2006/relationships/slide" Target="slides/slide43.xml"/><Relationship Id="rId46" Type="http://schemas.openxmlformats.org/officeDocument/2006/relationships/slide" Target="slides/slide44.xml"/><Relationship Id="rId47" Type="http://schemas.openxmlformats.org/officeDocument/2006/relationships/slide" Target="slides/slide45.xml"/><Relationship Id="rId48" Type="http://schemas.openxmlformats.org/officeDocument/2006/relationships/slide" Target="slides/slide46.xml"/><Relationship Id="rId49" Type="http://schemas.openxmlformats.org/officeDocument/2006/relationships/slide" Target="slides/slide47.xml"/><Relationship Id="rId50" Type="http://schemas.openxmlformats.org/officeDocument/2006/relationships/slide" Target="slides/slide48.xml"/><Relationship Id="rId51" Type="http://schemas.openxmlformats.org/officeDocument/2006/relationships/slide" Target="slides/slide49.xml"/><Relationship Id="rId52" Type="http://schemas.openxmlformats.org/officeDocument/2006/relationships/slide" Target="slides/slide50.xml"/><Relationship Id="rId53" Type="http://schemas.openxmlformats.org/officeDocument/2006/relationships/slide" Target="slides/slide51.xml"/><Relationship Id="rId54" Type="http://schemas.openxmlformats.org/officeDocument/2006/relationships/slide" Target="slides/slide52.xml"/><Relationship Id="rId55" Type="http://schemas.openxmlformats.org/officeDocument/2006/relationships/slide" Target="slides/slide53.xml"/><Relationship Id="rId56" Type="http://schemas.openxmlformats.org/officeDocument/2006/relationships/slide" Target="slides/slide54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24.xml"/><Relationship Id="rId73" Type="http://schemas.openxmlformats.org/officeDocument/2006/relationships/slide" Target="slides/slide12.xml"/><Relationship Id="rId74" Type="http://schemas.openxmlformats.org/officeDocument/2006/relationships/slide" Target="slides/slide9.xml"/><Relationship Id="rId75" Type="http://schemas.openxmlformats.org/officeDocument/2006/relationships/slide" Target="slides/slide17.xml"/><Relationship Id="rId76" Type="http://schemas.openxmlformats.org/officeDocument/2006/relationships/slide" Target="slides/slide20.xml"/><Relationship Id="rId77" Type="http://schemas.openxmlformats.org/officeDocument/2006/relationships/slide" Target="slides/slide5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5.xml"/></Relationships>
</file>

<file path=ppt/notesSlides/_rels/notesSlide4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6.xml"/></Relationships>
</file>

<file path=ppt/notesSlides/_rels/notesSlide4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7.xml"/></Relationships>
</file>

<file path=ppt/notesSlides/_rels/notesSlide4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8.xml"/></Relationships>
</file>

<file path=ppt/notesSlides/_rels/notesSlide4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9.xml"/></Relationships>
</file>

<file path=ppt/notesSlides/_rels/notesSlide4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0.xml"/></Relationships>
</file>

<file path=ppt/notesSlides/_rels/notesSlide4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4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2.xml"/></Relationships>
</file>

<file path=ppt/notesSlides/_rels/notesSlide4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3.xml"/></Relationships>
</file>

<file path=ppt/notesSlides/_rels/notesSlide4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4.xml"/></Relationships>
</file>

<file path=ppt/notesSlides/_rels/notesSlide5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6.xml"/></Relationships>
</file>

<file path=ppt/notesSlides/_rels/notesSlide5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7.xml"/></Relationships>
</file>

<file path=ppt/notesSlides/_rels/notesSlide5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5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5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5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5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5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5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_rels/notesSlide5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6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6.xml"/></Relationships>
</file>

<file path=ppt/notesSlides/_rels/notesSlide6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7.xml"/></Relationships>
</file>

<file path=ppt/notesSlides/_rels/notesSlide6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8.xml"/></Relationships>
</file>

<file path=ppt/notesSlides/_rels/notesSlide6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9.xml"/></Relationships>
</file>

<file path=ppt/notesSlides/_rels/notesSlide6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6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6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6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6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7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【教师讲述／组织】开场。问：“上一节课学习了图像编码。那么在手机里录下我们的声音，计算机保存的到底是什么？”不要直接报出采样、量化、编码，先让学生提出问题。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【设计意图】回忆旧知识：字符编码记录符号，图像编码记录像素。请学生预测：自然声音没有像素，计算机怎么办？指向本课总问题，不求答对。</a:t>
            </a:r>
          </a:p>
          <a:p>
            <a:r>
              <a:t>【教师可以这样讲】大家想一想，我们能把一个汉字或一张图片保存进电脑。那么正在说话的声音是不是也能保存？它与图像的最大区别在哪里？</a:t>
            </a:r>
          </a:p>
          <a:p>
            <a:r>
              <a:t>【预判回答与追问】有人会说只要“录下来”就行；追问“录下来”在计算机里究竟记录什么？</a:t>
            </a:r>
          </a:p>
          <a:p>
            <a:r>
              <a:t>【本页收束】收束到核心问题：原来连续的声音如何变成数字。</a:t>
            </a:r>
          </a:p>
          <a:p/>
          <a:p>
            <a:r>
              <a:t>先请学生复述文字和图片怎样编码，再让学生预测麦克风后是什么、计算机需要什么。教师不预告完整三步。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【教师讲述／组织】从实录1的振动声源、空气传播与耳膜经验出发。问：我们说话时什么振动？声音怎样到耳朵？要学生识别声音是物理现象。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【v8.1视觉引导】视觉依据是生成的“音叉—声压疏密变化—麦克风”图；为了投影清晰采用可缩放矢量绘制。它不是声波沿正弦路径传播的图。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【设计意图】先让学生表态：声波在时间上连续变化；文件保存的是离散数字。问麦克风前后，哪一阶段发生改变？</a:t>
            </a:r>
          </a:p>
          <a:p>
            <a:r>
              <a:t>【教师可以这样讲】请先判断：空气中的声音和电脑里的音频文件，是不是同一种东西？举一个理由。</a:t>
            </a:r>
          </a:p>
          <a:p>
            <a:r>
              <a:t>【预判回答与追问】“电脑播放出来还是声音，所以是模拟量”是可能的误解；分清存储形式和播放后的物理振动。</a:t>
            </a:r>
          </a:p>
          <a:p>
            <a:r>
              <a:t>【本页收束】声音属于物理模拟信号；数字文件以离散的数据保存音频。</a:t>
            </a:r>
          </a:p>
          <a:p/>
          <a:p>
            <a:r>
              <a:t>对比模拟声波与文件中的数字，问连续变化的声音如何变成离散数据；先让学生说两者有何不同。</a:t>
            </a:r>
          </a:p>
          <a:p/>
          <a:p>
            <a:r>
              <a:t>[视觉优化] 先让学生观察两图，自己说出波形与离散记录的区别。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【设计意图】承接实录1：猜需要哪些设备。麦克风将声压变化转为连续电信号；此时仍是模拟信号。不要说麦克风直接保存WAV。</a:t>
            </a:r>
          </a:p>
          <a:p>
            <a:r>
              <a:t>【教师可以这样讲】请观察这条流程。麦克风是不是已经把声波变成0和1了？请指出转换前后各是什么。</a:t>
            </a:r>
          </a:p>
          <a:p>
            <a:r>
              <a:t>【预判回答与追问】学生可能认为麦克风就是“录音机”。追问：麦克风输出的电压能否在每个时刻连续变化？</a:t>
            </a:r>
          </a:p>
          <a:p>
            <a:r>
              <a:t>【本页收束】麦克风把声压变化变成模拟电信号，数字化还没有完成。</a:t>
            </a:r>
          </a:p>
          <a:p/>
          <a:p>
            <a:r>
              <a:t>麦克风负责把声压变化变成连续电信号；先预测“是数字还是模拟？”学生说出依据。</a:t>
            </a:r>
          </a:p>
          <a:p/>
          <a:p>
            <a:r>
              <a:t>[视觉优化] 波阵面而非传播路径。麦克风不是二进制编码器。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【设计意图】先问：谁来把模拟电信号转换成0和1？鼓励学生猜CPU、麦克风等。展示声卡音频接口或画流程，以ADC为答案。设备可集成在主板或外置。</a:t>
            </a:r>
          </a:p>
          <a:p>
            <a:r>
              <a:t>【教师可以这样讲】如果麦克风输出还是连续电信号，计算机怎样读懂它？需要什么设备？</a:t>
            </a:r>
          </a:p>
          <a:p>
            <a:r>
              <a:t>【预判回答与追问】学生可能猜CPU，先认可其计算作用，再追问哪个音频部件把模拟信号变成离散样本。</a:t>
            </a:r>
          </a:p>
          <a:p>
            <a:r>
              <a:t>【本页收束】声卡中的ADC完成模数转换。无需记电子线路结构。</a:t>
            </a:r>
          </a:p>
          <a:p/>
          <a:p>
            <a:r>
              <a:t>声卡ADC把模拟信号变为数字数据；不要求硬件电路细节，用前后变化解释。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【教师讲述／组织】追问：存进去的0和1，为什么还能从扬声器变回声音？给出DAC作为反向转换，重点是两个方向的理解；不要展开电路。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按录音顺序走一遍，再反向说播放顺序，确认DAC与ADC的作用不同。</a:t>
            </a:r>
          </a:p>
          <a:p/>
          <a:p>
            <a:r>
              <a:t>[视觉优化] 两条平行流程对应录音与播放。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【设计意图】学生易误解：上下起伏是空气中声波的传播轨迹。请先判断，再明确横轴时间、纵轴同一地点声压或电信号的变化。</a:t>
            </a:r>
          </a:p>
          <a:p>
            <a:r>
              <a:t>【教师可以这样讲】看到这条上下起伏的曲线，请猜：它是不是声音在空气里沿着波浪形路线前进？</a:t>
            </a:r>
          </a:p>
          <a:p>
            <a:r>
              <a:t>【预判回答与追问】提醒固定一个位置，横坐标向右代表时间，纵坐标上下代表压力或电信号偏离参考的变化。</a:t>
            </a:r>
          </a:p>
          <a:p>
            <a:r>
              <a:t>【本页收束】波形是“某处随时间变化”的图，不是空间中的传播路径。</a:t>
            </a:r>
          </a:p>
          <a:p/>
          <a:p>
            <a:r>
              <a:t>【v7 Demo A，约2分钟】先保留本页“传播路线吗”的问题，让学生预测；运行 notebooks/01_听见声音_看见波形.ipynb，在教室Windows浏览器中点击播放。指向红色时间光标：波形表示时间变化，不是空间传播路线。Mac不会播放声音，声音从Windows浏览器输出。网络异常时直接用本页静态图。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【设计意图】先在波形上让学生指出选取若干时刻的方法，预测“隔一段时间取一个值”；不要急着宣布定义。</a:t>
            </a:r>
          </a:p>
          <a:p>
            <a:r>
              <a:t>【教师可以这样讲】现在只允许保存若干个数字，你会在哪些时刻记录这条曲线？让同桌先各提出一条规则。</a:t>
            </a:r>
          </a:p>
          <a:p>
            <a:r>
              <a:t>【预判回答与追问】有人会只选最高点和最低点。追问：如果换一段波形，这个规则是否容易统一实现？</a:t>
            </a:r>
          </a:p>
          <a:p>
            <a:r>
              <a:t>【本页收束】用固定时间间隔连续记录，形成采样时刻。</a:t>
            </a:r>
          </a:p>
          <a:p/>
          <a:p>
            <a:r>
              <a:t>请学生先在波形上建议记录时刻，再比较哪种规则稳定；引出等时间间隔采样。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【设计意图】保留前页坐标与波形，叠加等间隔采样点。追问：采样之后还保留每个时刻的原始值吗？概括“时间上离散”。</a:t>
            </a:r>
          </a:p>
          <a:p>
            <a:r>
              <a:t>【教师可以这样讲】我们按固定时间间隔记录了12个点。灰色曲线不再直接保存，每个点有自己的时间和值。</a:t>
            </a:r>
          </a:p>
          <a:p>
            <a:r>
              <a:t>【预判回答与追问】学生可能把连点线当作新的连续信号。追问：文件实际存的是曲线，还是这些点对应的数字？</a:t>
            </a:r>
          </a:p>
          <a:p>
            <a:r>
              <a:t>【本页收束】采样的结果是时间上离散的一组样本。</a:t>
            </a:r>
          </a:p>
          <a:p/>
          <a:p>
            <a:r>
              <a:t>【v7 Demo B，约3分钟】运行 notebooks/02_放大波形_看见采样点.ipynb，将观察范围从100毫秒缩至20、4毫秒，直到看见一个个真实样本点。与完整波形极值包络对照，不要把包络竖线叫采样点。先问“看似连续的曲线，计算机究竟保存了什么？”</a:t>
            </a:r>
          </a:p>
          <a:p/>
          <a:p>
            <a:r>
              <a:t>先观察时间刻度和蓝色点，教师追问记录的是什么量，说明在指定时刻记录幅度。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【设计意图】先让学生预测1 Hz、2 Hz分别表示每秒几个点；同一时间范围，不同点数。讲采样率=单位时间样本数，间隔Δt=1/fs。</a:t>
            </a:r>
          </a:p>
          <a:p>
            <a:r>
              <a:t>【教师可以这样讲】预测：1 Hz每秒几个点？2 Hz每秒几个点？都记录4秒，两个例子的样本数分别是多少？</a:t>
            </a:r>
          </a:p>
          <a:p>
            <a:r>
              <a:t>【预判回答与追问】注意“赫兹”还可表示声音本身频率；本页说的是“采样的次数”。</a:t>
            </a:r>
          </a:p>
          <a:p>
            <a:r>
              <a:t>【本页收束】采样率是每秒采样数；更密意味着相邻采样时刻间隔更短。</a:t>
            </a:r>
          </a:p>
          <a:p/>
          <a:p>
            <a:r>
              <a:t>【v7回扣】演示切换到本页后，要求学生解释采样率和每秒样本数之间的关系。Notebook中的4毫秒局部窗口只是观察尺度。</a:t>
            </a:r>
          </a:p>
          <a:p/>
          <a:p>
            <a:r>
              <a:t>1Hz=每秒1个记录点；2Hz=每秒2个。这里用于放大理解，绝非实际音频录制建议。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【教师讲述／组织】同一波形、同一个时长，采样点由少到多。先比较时间方向的点密度，不谈“采样后连线就完全恢复”。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上下保持同一条曲线不变，只改变时间方向的样本密度，让学生辨认控制变量。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【设计意图】实录2第二步：采样点的振幅可在连续范围取值，设备却计划使用有限等级。让学生意识到有第二个问题尚未解决。</a:t>
            </a:r>
          </a:p>
          <a:p>
            <a:r>
              <a:t>【教师可以这样讲】假设某个时刻取得3.71这样的振幅值。如果设备只准记录8个整数等级，会怎么办？</a:t>
            </a:r>
          </a:p>
          <a:p>
            <a:r>
              <a:t>【预判回答与追问】学生可能直接回答“四舍五入”，要追问必须先规定可用的代表值与映射规则。</a:t>
            </a:r>
          </a:p>
          <a:p>
            <a:r>
              <a:t>【本页收束】量化解决幅度的离散化，下一页构建0到7的教学模型。</a:t>
            </a:r>
          </a:p>
          <a:p/>
          <a:p>
            <a:r>
              <a:t>【v7 Demo C预告】现在只解决了采样时刻；纵向幅度可能是任意连续值，需要量化，稍后用实验台在同一坐标中比较。</a:t>
            </a:r>
          </a:p>
          <a:p/>
          <a:p>
            <a:r>
              <a:t>讨论3.71这样的幅度怎样用有限个等级近似记录，不让量化等同四舍五入。</a:t>
            </a:r>
          </a:p>
          <a:p/>
          <a:p>
            <a:r>
              <a:t>【v8.1视觉引导】加强波形曲线投影对比；灰色线为信号示意，离散点是取样时刻的记录。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【设计意图】坚持实录2的首个量化模型：等级从0数到7含0，共八级。提醒这里是教学简化例，真实PCM可正可负。让学生先自己数等级。</a:t>
            </a:r>
          </a:p>
          <a:p>
            <a:r>
              <a:t>【教师可以这样讲】请同学数一数，从0到7一共几个数字。0算不算一个等级？</a:t>
            </a:r>
          </a:p>
          <a:p>
            <a:r>
              <a:t>【预判回答与追问】最容易出现7级的误答。让学生逐个数：0、1、2、3、4、5、6、7。</a:t>
            </a:r>
          </a:p>
          <a:p>
            <a:r>
              <a:t>【本页收束】共8个等级。这里是简化模型，并非真实声压只有非负值。</a:t>
            </a:r>
          </a:p>
          <a:p/>
          <a:p>
            <a:r>
              <a:t>讲授0~7是等级编号；不要把取样数、幅度值、等级编号混为一谈，先让学生预测。</a:t>
            </a:r>
          </a:p>
          <a:p/>
          <a:p>
            <a:r>
              <a:t>【v8.1视觉引导】加深0至7的八条量化等级线，先数清等级再引入3 bit。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【设计意图】此页展示明确的取整规则：教学用向下取整（非真实所有PCM的唯一规则）；把3.71映射到3。解释损失了细节，产生量化误差。</a:t>
            </a:r>
          </a:p>
          <a:p>
            <a:r>
              <a:t>【教师可以这样讲】规定一个简化规则：向下取整。原值3.71会落在哪个等级？屏幕上的红点与蓝点哪个是原值？</a:t>
            </a:r>
          </a:p>
          <a:p>
            <a:r>
              <a:t>【预判回答与追问】可能误以为蓝点恰好是原始值。追问：3.71与3有什么不同？少了哪些信息？</a:t>
            </a:r>
          </a:p>
          <a:p>
            <a:r>
              <a:t>【本页收束】量化是用有限代表值近似原值，存在量化误差。</a:t>
            </a:r>
          </a:p>
          <a:p/>
          <a:p>
            <a:r>
              <a:t>这里按[n,n+1)归入Ln，3.71属于L3；量化代表值可取3.5。让学生回看先前错误猜测。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【设计意图】出选择：8个等级需要2位、3位还是8位？请学生复习2的n次方。按最简单映射列出对应表，避免一次上来10个样本。</a:t>
            </a:r>
          </a:p>
          <a:p>
            <a:r>
              <a:t>【教师可以这样讲】刚才有8级，若只有两个二进制位可以表示多少种不同情况？三个呢？</a:t>
            </a:r>
          </a:p>
          <a:p>
            <a:r>
              <a:t>【预判回答与追问】让学生亲自枚举00、01、10、11，然后观察000到111共有八种。</a:t>
            </a:r>
          </a:p>
          <a:p>
            <a:r>
              <a:t>【本页收束】2^3=8，所以这八个等级可以用3 bit表示。</a:t>
            </a:r>
          </a:p>
          <a:p/>
          <a:p>
            <a:r>
              <a:t>该比较图与Notebook 03采用不同示例幅度范围，但都是先采样、划区间、记录等级；先建立3bit=8级再操作。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【设计意图】引导从单样本迁移到样本序列：强调时间先后、量化值与3位二进制对应。不要把10个样本误说为10个量化等级。</a:t>
            </a:r>
          </a:p>
          <a:p>
            <a:r>
              <a:t>【教师可以这样讲】请从第3个样本找起：它的量化值是多少？对应的三位码字是什么？再找第7个。</a:t>
            </a:r>
          </a:p>
          <a:p>
            <a:r>
              <a:t>【预判回答与追问】注意区分“样本数量10”和“等级数量8”，不能把十个样本说成十个等级。</a:t>
            </a:r>
          </a:p>
          <a:p>
            <a:r>
              <a:t>【本页收束】编码按时间顺序保存各个样本的定长码字。</a:t>
            </a:r>
          </a:p>
          <a:p/>
          <a:p>
            <a:r>
              <a:t>三位二进制可以表达8种组合；先问学生最少需要几bit，再揭示全部码字。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【教师讲述／组织】引入实录2的尺子类比：原本分米刻度与厘米刻度，刻度更细通常误差更小。与采样率的时间密度作区分。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十个样本的表先只聚焦第一列：样本编号、量化等级、3bit码字逐一对应，再请学生解释其它样本。</a:t>
            </a:r>
          </a:p>
          <a:p/>
          <a:p>
            <a:r>
              <a:t>【v8.1视觉引导】码字行放大并统一青色；先指出第1列，再读完全部10个样本。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【设计意图】学生两两互问：采样率改变什么方向？量化位数改变什么方向？画时间与幅度两个方向的粗箭头，对照两种概念。</a:t>
            </a:r>
          </a:p>
          <a:p>
            <a:r>
              <a:t>【教师可以这样讲】请指出采样率与量化位数分别控制这张图的哪个方向。</a:t>
            </a:r>
          </a:p>
          <a:p>
            <a:r>
              <a:t>【预判回答与追问】如学生认为量化位数决定点的多少，重新回看每一秒有几个采样时刻。</a:t>
            </a:r>
          </a:p>
          <a:p>
            <a:r>
              <a:t>【本页收束】采样率决定时间方向的密度，量化位数决定幅度方向的精细程度。</a:t>
            </a:r>
          </a:p>
          <a:p/>
          <a:p>
            <a:r>
              <a:t>【v7 Demo C，约5分钟】运行 notebooks/03_采样_量化_编码实验台.ipynb，按①原波形→②采样→③量化→④编码进行。学生先预测调高采样率会变哪些点，再预测保持采样率改bit数时横向点数会否变化。实验台使用归一化-1到1幅度，量化等级编号仍为0～2^n-1，与本页0～7教学例的单位尺度不同。</a:t>
            </a:r>
          </a:p>
          <a:p/>
          <a:p>
            <a:r>
              <a:t>对比3bit与4bit的等级数，先让学生预测会不会增加样本点个数；解释是纵向可选值更密。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【教师讲述／组织】技术纠偏：在其他条件一致且原先不足时通常改善还原保真度；但达到合理条件后并非“数字越大越好”，设备、声源、听觉与滤波都会限制。中学只需掌握趋势和条件。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【v7实验台回扣】在实验台选择3 bit，点击一个点，要求学生报出等级编号和3 bit码字。注意实验台使用[-1,1]输入范围；本页0～7演示是另一种简化尺度，编码原理相同。</a:t>
            </a:r>
          </a:p>
          <a:p/>
          <a:p>
            <a:r>
              <a:t>纠正“设置越高听觉效果必然越好”的绝对化说法，讨论保真能力与具体条件。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【教师讲述／组织】避免从课堂3位例子跳到真实16位时困惑。说明用3位为了看清规律，不是说实际音乐普遍使用3位。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【v7学习证据】让学生说出：“采样确定何时记录，量化决定用哪个代表值，编码将编号写成固定长度的二进制码字。”如果答不出，回实验台查看同一个样本，避免只背步骤名称。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【教师讲述／组织】从实录与v4延展：PCM代表样本数据的编码表示，WAV是保存音频数据的文件容器之一。暂不讲复杂格式比较，示意文件头告诉播放器如何读数据。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区分数字样本和WAV容器头的作用；WAV不等同于一种有损压缩方法。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【设计意图】回扣开场录音/播放闭环：读PCM样本→转换为连续电信号→推动扬声器振动；波形经过重建，不是简单用折线连接采样点。</a:t>
            </a:r>
          </a:p>
          <a:p>
            <a:r>
              <a:t>【教师可以这样讲】复盘完整流程：数字文件里的样本为什么还能被扬声器播放成声音？</a:t>
            </a:r>
          </a:p>
          <a:p>
            <a:r>
              <a:t>【预判回答与追问】不要讲成简单把点连成折线。输出经过数模转换及适当的信号处理。</a:t>
            </a:r>
          </a:p>
          <a:p>
            <a:r>
              <a:t>【本页收束】录音是ADC，播放是DAC，音频数字化形成闭环。</a:t>
            </a:r>
          </a:p>
          <a:p/>
          <a:p>
            <a:r>
              <a:t>沿数字样本→DAC→扬声器→声音完成录放闭环，不在主线要求复述滤波细节。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【教师讲述／组织】从实录2由学生提出因素：越长录音越大，每秒越多点越大，每个点越多bit越大，左右两路各记录一次。请先预测四项，不马上展示公式。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先让学生自己说PCM数据量四个因素，而不是直接背公式。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【设计意图】用小模型实推：每秒2个样本×4秒×1声道=8个样本，每样本3bit共24bit=3Byte。用8个小方块表示样本，而不是一上来给公式。</a:t>
            </a:r>
          </a:p>
          <a:p>
            <a:r>
              <a:t>【教师可以这样讲】请口算每秒2个样本，录4秒，一路声道，共得到多少个样本？每个3位，要几个bit？</a:t>
            </a:r>
          </a:p>
          <a:p>
            <a:r>
              <a:t>【预判回答与追问】学生可能直接乘完得到24 Byte。请指着八个框数，再从bit换到Byte。</a:t>
            </a:r>
          </a:p>
          <a:p>
            <a:r>
              <a:t>【本页收束】8个样本、每个3bit，共24bit，等于3Byte。</a:t>
            </a:r>
          </a:p>
          <a:p/>
          <a:p>
            <a:r>
              <a:t>让学生数8个样本，每个3bit共24bit，除8得到3Byte，单位帮助理解公式。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【设计意图】不要把数据量公式当背诵口令。请学生逐个解释每一项代表哪个物理意义。单位：Hz、bit、秒；/8得到字节。</a:t>
            </a:r>
          </a:p>
          <a:p>
            <a:r>
              <a:t>【教师可以这样讲】我们刚才为什么要把四个因素相乘？请逐一说出公式的单位和意义。</a:t>
            </a:r>
          </a:p>
          <a:p>
            <a:r>
              <a:t>【预判回答与追问】常见错误：1 kHz写成1024 Hz；bit和Byte混用；忘记把分钟换成秒。</a:t>
            </a:r>
          </a:p>
          <a:p>
            <a:r>
              <a:t>【本页收束】会用公式之前先能解释公式。</a:t>
            </a:r>
          </a:p>
          <a:p/>
          <a:p>
            <a:r>
              <a:t>为什么结果是Byte要÷8？把四因素分别对应实际样本数量与每样本bit数。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【教师讲述／组织】问题页。给学生独立列式。若学生写16×8×2×5，追问16kHz应等于多少Hz。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独立列式后再揭示；提问哪一个乘数是双声道、为什么还要除以8。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【教师讲述／组织】答案页。问：如果双声道改成单声道，结果会怎样？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答案160000 Byte。让学生先说思路，再对照上一页原位置的题干与下方答案。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【教师讲述／组织】第一课时退出评价。随机请学生说出完整录音链；指一个点说采样与量化区别；算一条小PCM数据量。没掌握则下节开头再复习，不拖到所有附录。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【v7时间控制】本课新增的三个演示分别约2、3、5分钟，应替换原有重复的静态口头描述；并非在原45分钟上增加10分钟。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【教师讲述／组织】第二课时导入。说明第一节学的是数字化与PCM数据量，第二节学数据量计算、音轨和声道、视频数据量冲突及压缩。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【教师讲述／组织】实录3起手计算前，先让学生能解释参数。分组对答48,000Hz、16bit、2声道、60秒。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先只看48000、16、2、60，要求学生用自己的话说明每个参数是什么。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【教师讲述／组织】问题页。复现实录3的DVD参数题，强调对参数意义的解释，而不只是按键计算。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先从PCM字节数算起，再转换MiB；强调1024²与1000²换算不同。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【教师讲述／组织】答案页。实录转写常写10.98MB，这是截断近似；按四舍五入保留两位应10.99 MiB。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约10.99 MiB；验证11520000 B/1048576。不把带少量文件头的WAV大小当作PCM样本大小。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【设计意图】问题页。先让学生预测。这是实录3较长的认知冲突案例，不要马上公布答案。</a:t>
            </a:r>
          </a:p>
          <a:p>
            <a:r>
              <a:t>【教师可以这样讲】再次提问：多加了一条背景音乐音轨，新的未压缩PCM文件一定比原文件大吗？请先投票并说明依据。</a:t>
            </a:r>
          </a:p>
          <a:p>
            <a:r>
              <a:t>【预判回答与追问】真实课堂里学生曾将音轨误认为声道；暂不判断两种观点谁对。</a:t>
            </a:r>
          </a:p>
          <a:p>
            <a:r>
              <a:t>【本页收束】下一页让两种解释并存，定位分歧。</a:t>
            </a:r>
          </a:p>
          <a:p/>
          <a:p>
            <a:r>
              <a:t>投票多一条编辑音轨容量是否翻倍；不同学生给出理由，暂不揭示正确答案。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【设计意图】把实录中两位学生的理由换一种说法重现。引导学生指出分歧其实在“音轨和声道是不是一回事”。仍不公布答案。</a:t>
            </a:r>
          </a:p>
          <a:p>
            <a:r>
              <a:t>【教师可以这样讲】有人支持不变，有人支持翻倍。注意我们的目标不是投票决定真理，而是检验关键假设。</a:t>
            </a:r>
          </a:p>
          <a:p>
            <a:r>
              <a:t>【预判回答与追问】追问：增加的是“编辑音轨”，还是“导出声道”？哪个出现在容量公式里？</a:t>
            </a:r>
          </a:p>
          <a:p>
            <a:r>
              <a:t>【本页收束】到图示页验证音轨与声道不同。</a:t>
            </a:r>
          </a:p>
          <a:p/>
          <a:p>
            <a:r>
              <a:t>两种观点的矛盾来自把编辑音轨当作输出声道。追问最后导出文件是几声道。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【设计意图】直观图示：两条音轨经混音成为两个输出声道，注意不是左右各有一条编辑音轨。解释可单声道或双声道输出。</a:t>
            </a:r>
          </a:p>
          <a:p>
            <a:r>
              <a:t>【教师可以这样讲】请指向编辑左边两行，它们是两条音轨；再指向右边的L/R，这才是导出的两路声道。</a:t>
            </a:r>
          </a:p>
          <a:p>
            <a:r>
              <a:t>【预判回答与追问】如果学生说“左音轨变左声道”，让他想一想人声与伴奏是否都能同时从左右扬声器传出。</a:t>
            </a:r>
          </a:p>
          <a:p>
            <a:r>
              <a:t>【本页收束】混合不会自动增加声道数，保持四参数则未压缩样本数据量不变。</a:t>
            </a:r>
          </a:p>
          <a:p/>
          <a:p>
            <a:r>
              <a:t>先看两条轨，再揭示混音之后仍可输出L/R两路数据。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【教师讲述／组织】答案页。让学生回看第一个预测，承认纠正了哪一个概念。提醒不同格式和压缩参数会影响最终文件大小。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回到初始投票，解释四个PCM参数保持不变，因此样本数据量不变。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【教师讲述／组织】让学生应用四因素公式。声道数2→1，其他不变，PCM样本数据量减半。音轨增减并不直接决定总量。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迁移：把立体声变成单声道，其他参数相同，PCM样本数据量减半。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【教师讲述／组织】实录3转向视频前回顾图像和声音：图像在空间二维网格采样，声音在时间轴取值；量化都用有限等级记录。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【v8.1视觉引导】重新排列三条对照，文字达到22pt，学生先指出“位置”不同，再比较数据量结构。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【设计意图】借鉴实录3翻页小人的经验。每一帧呈现同一圆的位置改变。问学生：视频需保存几个画面？帧率如何描述？不用严格视觉暂留时间阈值。</a:t>
            </a:r>
          </a:p>
          <a:p>
            <a:r>
              <a:t>【教师可以这样讲】五张小图中蓝点位置发生变化，连续播放后我们会感到它在运动。你生活里见过翻页动画吗？</a:t>
            </a:r>
          </a:p>
          <a:p>
            <a:r>
              <a:t>【预判回答与追问】不要把“视觉暂留0.024秒”当成唯一且固定的生理阈值。</a:t>
            </a:r>
          </a:p>
          <a:p>
            <a:r>
              <a:t>【本页收束】视频可以用连续图像帧与帧率的概念来理解。</a:t>
            </a:r>
          </a:p>
          <a:p/>
          <a:p>
            <a:r>
              <a:t>五帧是同一个运动小球在五个时刻的状态。帧率25fps是每秒25帧，不应解释为人眼严格生理阈值。</a:t>
            </a:r>
          </a:p>
          <a:p/>
          <a:p>
            <a:r>
              <a:t>球在每一帧的位置不同，同样场景取不同时间画面；fps是每秒帧数。</a:t>
            </a:r>
          </a:p>
          <a:p/>
          <a:p>
            <a:r>
              <a:t>【v8.1视觉引导】让学生比较同一小球相对于各帧相同参考线的位置，从第一帧到第五帧明显向右变化。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【教师讲述／组织】从学生已经理解的“视频是连续图像”计算总帧数。先让学生口算25×60×10=15000帧。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【设计意图】问题页。来源实录3。不要把帧率误认为采样率，一帧是一张完整图。给3分钟列式，计算可用计算器。</a:t>
            </a:r>
          </a:p>
          <a:p>
            <a:r>
              <a:t>【教师可以这样讲】先算一帧480×320像素，需要多少bit和Byte；再乘上25帧/秒和600秒。</a:t>
            </a:r>
          </a:p>
          <a:p>
            <a:r>
              <a:t>【预判回答与追问】学生可能只乘25或只乘10。追问十分钟共有多少秒、多少帧？</a:t>
            </a:r>
          </a:p>
          <a:p>
            <a:r>
              <a:t>【本页收束】未压缩视频等于单帧数据量乘总帧数。</a:t>
            </a:r>
          </a:p>
          <a:p/>
          <a:p>
            <a:r>
              <a:t>10分钟无声逐帧未压缩视频，先算单帧字节，再算15000帧，单位换算为GiB。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【教师讲述／组织】答案页。把公式拆成两段并让学生自己解释。按十进制GB约6.912 GB。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答案约6.44GiB，检验帧数、bit转Byte以及B转GiB三步。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【设计意图】核心认知冲突，不要预先写“因为压缩”。问：是不是算错？为什么在线短视频能很快播放？给学生发言时间。</a:t>
            </a:r>
          </a:p>
          <a:p>
            <a:r>
              <a:t>【教师可以这样讲】请你对照刚刚算出的6.44 GiB。我们手机里十分钟的视频，为什么通常远小于它？难道计算公式错了？</a:t>
            </a:r>
          </a:p>
          <a:p>
            <a:r>
              <a:t>【预判回答与追问】学生可能回答分辨率不同、格式不同、压缩了。记录这几种可能，指出公式中的题设是未压缩逐帧存储。</a:t>
            </a:r>
          </a:p>
          <a:p>
            <a:r>
              <a:t>【本页收束】这是第二课时核心认知冲突，直到下一页再揭示压缩。</a:t>
            </a:r>
          </a:p>
          <a:p/>
          <a:p>
            <a:r>
              <a:t>先让学生用自己看视频的经验提出文件比估算小的解释，借助冲突引出编码压缩。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【教师讲述／组织】强调不是估计所有真实视频的固定大小。实际视频通常通过压缩编码，如利用相邻帧相似部分与人眼不敏感的某些信息。高中只解释为什么可能缩小。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实际压缩技术还包括多种预测与表示方式；本课只要求理解重复规律允许节省比特，不学习具体codec算法。</a:t>
            </a:r>
          </a:p>
          <a:p/>
          <a:p>
            <a:r>
              <a:t>【v8.1视觉引导】将关键概念和对照放大；不能将视频压缩简化为“直接删除几帧”。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【教师讲述／组织】实录3行李箱类比：整理行李节约空间；通过网络分享文件缩短传输时间。学生可以自举例，不要说压缩必然提升感知画质。</a:t>
            </a:r>
          </a:p>
          <a:p>
            <a:r>
              <a:t>【反馈】先听学生如何解释，再决定是否揭示结论；注意控制本页停留时间。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【设计意图】实录3的经典冗余案例。向学生展示短短的“（中国）×100”与重复文字。说明这仅是启发性的编码例子，不代表真实RAR算法。</a:t>
            </a:r>
          </a:p>
          <a:p>
            <a:r>
              <a:t>【教师可以这样讲】两种写法能不能表示相同文字？“中国”重复一百次与“中国×100”，哪种通常更省符号？</a:t>
            </a:r>
          </a:p>
          <a:p>
            <a:r>
              <a:t>【预判回答与追问】提醒这只是解释冗余的教学模型，不是真实RAR编码的说明。</a:t>
            </a:r>
          </a:p>
          <a:p>
            <a:r>
              <a:t>【本页收束】规律、重复让人有机会用更短的规则表达同一内容。</a:t>
            </a:r>
          </a:p>
          <a:p/>
          <a:p>
            <a:r>
              <a:t>中国重复100次只用“字词×次数”表达是思想模型，不代表RAR或zlib唯一工作机制。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【教师讲述／组织】把“冗余”与重复的内容联系：A有规律，B无规律，但原长度相同。实际压缩算法实现不同，因此“通常更易”而非必然。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重复多往往可用更短的规则表示，但实际压缩要看数据及算法。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【设计意图】可以用Python标准库zlib演示，代码放Notes。生成1000个A与1000个伪随机字节（固定seed），比较同一无损压缩方法所得字节数并检验完全还原。先预测再运行。</a:t>
            </a:r>
          </a:p>
          <a:p>
            <a:r>
              <a:t>【教师可以这样讲】两个数据各1000Byte：一个全是A，一个随机变化。请预测谁压缩后更小，以及能否恢复原数据。</a:t>
            </a:r>
          </a:p>
          <a:p>
            <a:r>
              <a:t>【预判回答与追问】学生可能认为所有文件都会变小。下一页结果显示随机数据在容器开销下甚至略微变大。</a:t>
            </a:r>
          </a:p>
          <a:p>
            <a:r>
              <a:t>【本页收束】测试无损压缩的冗余利用，而不是展示具体算法。</a:t>
            </a:r>
          </a:p>
          <a:p/>
          <a:p>
            <a:r>
              <a:t>【v7 Demo D】先预测两份原始都是1000 Byte的文件哪一个被压得更小，再运行 notebooks/04_压缩前先预测.ipynb。Python zlib在Mac执行，Windows浏览器只展示结果，不依赖音频或py5。</a:t>
            </a:r>
          </a:p>
          <a:p/>
          <a:p>
            <a:r>
              <a:t>A和B均1000Byte，学生先预测谁更省空间、B是否可能压完更大。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【设计意图】演示代码（Windows课堂pt环境，Python标准库即可）：</a:t>
            </a:r>
          </a:p>
          <a:p>
            <a:r>
              <a:t>import zlib, random</a:t>
            </a:r>
          </a:p>
          <a:p>
            <a:r>
              <a:t>a=b"A"*1000</a:t>
            </a:r>
          </a:p>
          <a:p>
            <a:r>
              <a:t>r=random.Random(2026)</a:t>
            </a:r>
          </a:p>
          <a:p>
            <a:r>
              <a:t>b=bytes(r.randrange(256) for _ in range(1000))</a:t>
            </a:r>
          </a:p>
          <a:p>
            <a:r>
              <a:t>for name,x in [("A",a),("B",b)]:</a:t>
            </a:r>
          </a:p>
          <a:p>
            <a:r>
              <a:t>    packed=zlib.compress(x)</a:t>
            </a:r>
          </a:p>
          <a:p>
            <a:r>
              <a:t>    print(name,len(x),len(packed),zlib.decompress(packed)==x)</a:t>
            </a:r>
          </a:p>
          <a:p>
            <a:r>
              <a:t>本次固定随机种子得到A=17 Byte，B=1011 Byte。学生关注重复和冗余；算法细节不展开。</a:t>
            </a:r>
          </a:p>
          <a:p>
            <a:r>
              <a:t>【教师可以这样讲】运行标准库实验或直接展示结果：重复内容1000Byte压后17Byte，随机内容1000Byte压后1011Byte。为什么会这样？</a:t>
            </a:r>
          </a:p>
          <a:p>
            <a:r>
              <a:t>【预判回答与追问】别把高熵文件变大误判为程序出错：压缩文件自身有格式开销。检查两者解压完全一致。</a:t>
            </a:r>
          </a:p>
          <a:p>
            <a:r>
              <a:t>【本页收束】这是无损压缩，且压缩效果取决于可利用的规律与编码方式。</a:t>
            </a:r>
          </a:p>
          <a:p/>
          <a:p>
            <a:r>
              <a:t>【v7实际实验】Notebook 04使用确定性随机字节与重复字节，打印压缩前后真实长度。如果随机字节压缩后略大，是格式开销而非代码错误。让学生总结“能够用规律简洁表示的信息通常更容易压缩”。</a:t>
            </a:r>
          </a:p>
          <a:p/>
          <a:p>
            <a:r>
              <a:t>17Byte与1011Byte是采用Python标准库zlib、固定随机种子的这一次课堂实验结果。数值取决于内容与算法，不是普遍常数；B数据因格式开销而可能变大。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【教师讲述／组织】实录3解释重新编码：数据压缩主要是改变表示方式，无损靠高效编码，允许有损时还可舍弃部分信息。目的与实质分开讲。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归纳数据压缩是更高效的表示；要不要完整恢复决定无损与有损路径。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【设计意图】先提出是否可以还原原始信息，再定义无损有损。注意有损不一定人类完全无感，有时肉眼肉耳可觉察明显差异。</a:t>
            </a:r>
          </a:p>
          <a:p>
            <a:r>
              <a:t>【教师可以这样讲】请判断：压缩后解开，能不能100%恢复原始字节？把这个问题作为分类标准。</a:t>
            </a:r>
          </a:p>
          <a:p>
            <a:r>
              <a:t>【预判回答与追问】有损不等于“损坏文件”；它在可接受的前提下放弃部分原始信息。</a:t>
            </a:r>
          </a:p>
          <a:p>
            <a:r>
              <a:t>【本页收束】无损可完全恢复，有损则不能恢复到原数据完全一致。</a:t>
            </a:r>
          </a:p>
          <a:p/>
          <a:p>
            <a:r>
              <a:t>判别方法：是否能够完全恢复原字节，不用文件后缀或大小作为唯一标准。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【教师讲述／组织】从实录拓展一点格式分层：ZIP/RAR是典型无损归档，MP3是常见有损音频编码，WAV是音频容器可装PCM，MP4是多媒体容器可含有损或无损编码。不要说全部文件扩展名都代表一种压缩算法。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ZIP/RAR属于无损归档，MP3是有损音频编码，WAV和MP4属于容器（MP4常装有损编码视频）。文件后缀与编码算法不是完全同一层级。</a:t>
            </a:r>
          </a:p>
          <a:p/>
          <a:p>
            <a:r>
              <a:t>【v8.1视觉引导】大字号提示学生区分归档格式、压缩编码与文件容器；颜色是视觉分组而非“都同一类”。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【设计意图】实录3三种图像案例。画同尺寸位图：纯色、规则色块、较复杂花纹（不是声称真实风景照片）。首先预测排序，再归纳冗余。</a:t>
            </a:r>
          </a:p>
          <a:p>
            <a:r>
              <a:t>【教师可以这样讲】这三幅图显示的是相同大小、相同位深的像素网格，哪张最容易找到重复的规律？</a:t>
            </a:r>
          </a:p>
          <a:p>
            <a:r>
              <a:t>【预判回答与追问】强调“通常”和“对合适的算法而言”，避免将图像颜色多少当作绝对压缩决定因素。</a:t>
            </a:r>
          </a:p>
          <a:p>
            <a:r>
              <a:t>【本页收束】纯色数据具有明显规律，适合无损压缩；比较结论再迁移到实际图像。</a:t>
            </a:r>
          </a:p>
          <a:p/>
          <a:p>
            <a:r>
              <a:t>三图尺寸和位深一致，让学生预测哪个更规律，判断无损压缩的可能差异。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【教师讲述／组织】问题页。此题迁移文字实验到图像。先解释冗余，再揭示。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练习答案不能只选A，要解释重复和规律性带来更多可利用冗余。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【教师讲述／组织】答案页。强调不是一切文件和算法都绝对如此。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答案中的“通常”必须保留，不同压缩方案有例外。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【教师讲述／组织】实录3用同一花朵比较BMP和JPG。用简洁像素格子示意一张图被近似编码；JPEG不只是“删掉相似像素”，要避免这种错误的字面理解。也不能断言所有BMP必然未压缩。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BMP这里只指未压缩实例，JPG通常有损；文件大小还取决于参数和内容。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【教师讲述／组织】实录3脱水比喻，但不把其当算法。说明高效压缩过的数据通常不容易进一步缩小，可能因为已缺少可利用冗余。再次有损转码可能进一步恶化质量。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已经是MP3/JPG，用RAR压缩通常收益有限，再次有损编码还可能降低质量。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【设计意图】实录3结尾的情境决策：长期备份要完整可还原；实时通话要平衡延迟和质量。用对比培养信息社会责任意识，不只追求压缩比。</a:t>
            </a:r>
          </a:p>
          <a:p>
            <a:r>
              <a:t>【教师可以这样讲】某个班级要长期备份源代码，另一个班级要用手机实时视频通话。两种场景需要的编码选择一样吗？</a:t>
            </a:r>
          </a:p>
          <a:p>
            <a:r>
              <a:t>【预判回答与追问】引导学生考虑完整性、质量、延迟与存储，不要只说压缩得越小越好。</a:t>
            </a:r>
          </a:p>
          <a:p>
            <a:r>
              <a:t>【本页收束】算法与压缩方法要与任务目标匹配。</a:t>
            </a:r>
          </a:p>
          <a:p/>
          <a:p>
            <a:r>
              <a:t>文档备份要求完整，视频通话权衡时延/带宽/质量，反对越小必然越好。</a:t>
            </a:r>
          </a:p>
          <a:p/>
          <a:p>
            <a:r>
              <a:t>【v8.1视觉引导】两组场景对比加大；让学生按完整性、带宽、延迟、质量权衡。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【教师讲述／组织】问题页。综合三种理解：音轨声道、原始视频大小、无损还原。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请学生独立判断三句话，指明每句对应的模型或证据。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【教师讲述／组织】答案页。不接受只给三个对错而不给依据的回答。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先让学生口头解释，再展示①错②对③对，强化数据量与ZIP的两种知识。</a:t>
            </a:r>
          </a:p>
          <a:p/>
          <a:p>
            <a:r>
              <a:t>【v8.1视觉引导】题干完全保留原位置，仅答案区浅紫底原位揭示；注意先等待学生回应再翻页。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【教师讲述／组织】出口评价：任选一个问题让学生用自己的话解释。重点检查概念因果：数字化、视频容量、压缩选择。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退出条检查解释能力而非术语背诵；答不出则回到图示逐步重建。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【教师讲述／组织】本页只作为选讲：混叠。同一离散采样点可能对应不同连续波形，所以低采样率不仅“点稀疏”，可能无法区分某些信号。深入公式留到拓展课程，不作为主线。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【教师讲述／组织】这一页可留作下一单元。PCM编码是样本的表示方式；压缩编码改变数据表示量。部分WAV容器可以保存其他编码形式，不能仅凭扩展名断言完全未压缩。</a:t>
            </a:r>
          </a:p>
          <a:p>
            <a:r>
              <a:t>【反馈】先听学生如何解释，再决定是否揭示结论；注意控制本页停留时间。</a:t>
            </a:r>
          </a:p>
          <a:p/>
          <a:p>
            <a:r>
              <a:t>可选拓展：不是45分钟主线必讲内容，有时间且学生已完成必要理解才展示。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在已理解3bit与8个等级后，先给学生两种预测。运行notebooks/03_采样_量化_编码实验台.ipynb，固定4 kHz，位数3→4。学生观察：采样时刻不变，纵向可选的量化代表值从8增加到16，码字长度相应变化。此图只是静态示意，真实数值以Notebook演示为准。约5分钟，不与第15～17页全部额外累加。</a:t>
            </a:r>
          </a:p>
          <a:p/>
          <a:p>
            <a:r>
              <a:t>分别指横轴时间密度与纵轴量化等级，要求学生指出哪一项由采样率/位数控制。</a:t>
            </a:r>
          </a:p>
          <a:p/>
          <a:p>
            <a:r>
              <a:t>[视觉优化] 看横向点与纵向线：要求学生分别解释对应的参数。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02_放大波形_看见采样点.ipynb。先保持完整波形，再把局部显示范围切换到20毫秒和4毫秒。左侧是示意概览，右侧是局部实际样本思路；在Notebook里，右侧点取自真实生成的PCM数据。不要说采样点之间连线是扬声器实际波形。约3分钟。</a:t>
            </a:r>
          </a:p>
          <a:p/>
          <a:p>
            <a:r>
              <a:t>打开Notebook 02，把波形从100毫秒放大到4毫秒，点击蓝色样本，读出实际时间和幅度；区分极值概览和真实采样点。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notebooks/01_听见声音_看见波形.ipynb。请教师从Windows浏览器直接点击播放；让学生预测红线表示空间位置还是播放时间，然后暂停再播放。观察教室音箱发声，Mac只是运算和提供数据。约2分钟。网络失败时直接使用本页示意和原第8页。</a:t>
            </a:r>
          </a:p>
          <a:p/>
          <a:p>
            <a:r>
              <a:t>打开远程JupyterLab Notebook 01，在Windows浏览器播放声音，问红线向右是不是声波向右传播；让学生说横轴是时间。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先显示0~7八级，学生预测3.71是3或4。暂停50秒让学生说出推理规则。再用下页指定的分区规则解决分歧；勿预先提示答案。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逐步指着四个框引导：输入原值3.71，属于区间[3,4)，所以等级编号是3；把3写成三位等长码字011。反例4.15属于L4，码字100。本例幅度[0,8)，Demo C用[-1,1]，逻辑完全相同。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运行remote-demos-v7/notebooks/04_压缩前先预测.ipynb（Mac计算zlib，教室Windows浏览器呈现结果）。学生先猜，再运行，再对照下一页17Byte/1011Byte。B可能变大，包含必要编码开销。zlib不是RAR算法本身。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8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1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3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4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5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6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8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9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0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0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1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2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3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4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5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6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8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9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0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1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2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3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2057400"/>
            <a:ext cx="10881360" cy="11612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200" b="1">
                <a:solidFill>
                  <a:srgbClr val="262626"/>
                </a:solidFill>
                <a:latin typeface="Alibaba PuHuiTi 3.0 115 Black"/>
              </a:defRPr>
            </a:pPr>
            <a:r>
              <a:t>声音怎样变成0和1？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703320"/>
            <a:ext cx="9966960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0">
                <a:solidFill>
                  <a:srgbClr val="808080"/>
                </a:solidFill>
                <a:latin typeface="Alibaba PuHuiTi 3.0 55 Regular"/>
              </a:defRPr>
            </a:pPr>
            <a:r>
              <a:t>第一课时｜从声音到数字音频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我们会编码文字、图像，那声音呢？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86384" y="20574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文字 → 编码</a:t>
            </a:r>
          </a:p>
        </p:txBody>
      </p:sp>
      <p:sp>
        <p:nvSpPr>
          <p:cNvPr id="7" name="Rectangle 6"/>
          <p:cNvSpPr/>
          <p:nvPr/>
        </p:nvSpPr>
        <p:spPr>
          <a:xfrm>
            <a:off x="4526280" y="2057400"/>
            <a:ext cx="32004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99432" y="21762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图像 → 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49056" y="2011680"/>
            <a:ext cx="301752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200" b="1">
                <a:solidFill>
                  <a:srgbClr val="8C64E1"/>
                </a:solidFill>
                <a:latin typeface="Alibaba PuHuiTi 3.0 115 Black"/>
              </a:defRPr>
            </a:pPr>
            <a:r>
              <a:t>声音 → 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9834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核心问题：手机为什么可以把正在说的话保存成文件？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声音首先是什么？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8096" y="1627632"/>
            <a:ext cx="10652760" cy="353872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86384" y="5202936"/>
            <a:ext cx="297180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① 音叉振动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96512" y="5202936"/>
            <a:ext cx="40690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② 空气中的声压变化传开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39327" y="5202936"/>
            <a:ext cx="301752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③ 麦克风接收声音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5943600"/>
            <a:ext cx="1065276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900" b="0">
                <a:solidFill>
                  <a:srgbClr val="6251B1"/>
                </a:solidFill>
                <a:latin typeface="Alibaba PuHuiTi 3.0 55 Regular"/>
              </a:defRPr>
            </a:pPr>
            <a:r>
              <a:t>注意：声波不是一条在空间里弯曲前进的线。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声音和电脑里的音频文件，是同一种量吗？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现实声音：连续变化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682496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电脑保存：离散数字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86868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86868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446520" y="4361688"/>
            <a:ext cx="4754880" cy="0"/>
          </a:xfrm>
          <a:prstGeom prst="line">
            <a:avLst/>
          </a:prstGeom>
          <a:ln w="1905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446520" y="2368296"/>
            <a:ext cx="0" cy="2112264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960120" y="3280676"/>
            <a:ext cx="54648" cy="7060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014768" y="3211125"/>
            <a:ext cx="54649" cy="6955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069417" y="3143656"/>
            <a:ext cx="54649" cy="67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124066" y="3079272"/>
            <a:ext cx="54649" cy="643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178715" y="3018930"/>
            <a:ext cx="54649" cy="6034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233364" y="2963525"/>
            <a:ext cx="54649" cy="554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288013" y="2913882"/>
            <a:ext cx="54648" cy="4964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342661" y="2870737"/>
            <a:ext cx="54649" cy="4314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397310" y="2834732"/>
            <a:ext cx="54649" cy="360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451959" y="2806401"/>
            <a:ext cx="54649" cy="283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506608" y="2786166"/>
            <a:ext cx="54649" cy="202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561257" y="2774327"/>
            <a:ext cx="54649" cy="118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615906" y="2771061"/>
            <a:ext cx="54649" cy="326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670555" y="2771061"/>
            <a:ext cx="54648" cy="535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725203" y="2776415"/>
            <a:ext cx="54649" cy="1389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779852" y="2790310"/>
            <a:ext cx="54649" cy="2223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834501" y="2812540"/>
            <a:ext cx="54649" cy="3023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889150" y="2842774"/>
            <a:ext cx="54649" cy="377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943799" y="2880563"/>
            <a:ext cx="54649" cy="4478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998448" y="2925346"/>
            <a:ext cx="54648" cy="51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053096" y="2976458"/>
            <a:ext cx="54649" cy="566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07745" y="3033138"/>
            <a:ext cx="54649" cy="6140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162394" y="3094545"/>
            <a:ext cx="54649" cy="65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17043" y="3159766"/>
            <a:ext cx="54649" cy="6806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271692" y="3227833"/>
            <a:ext cx="54649" cy="6990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26341" y="3297734"/>
            <a:ext cx="54649" cy="70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380990" y="3368431"/>
            <a:ext cx="54648" cy="7044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35638" y="3438872"/>
            <a:ext cx="54649" cy="691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490287" y="3508012"/>
            <a:ext cx="54649" cy="668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544936" y="3574824"/>
            <a:ext cx="54649" cy="634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599585" y="3638314"/>
            <a:ext cx="54649" cy="592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654234" y="3697539"/>
            <a:ext cx="54649" cy="5408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08883" y="3751619"/>
            <a:ext cx="54648" cy="4813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763531" y="3799752"/>
            <a:ext cx="54649" cy="414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18180" y="3841221"/>
            <a:ext cx="54649" cy="3418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872829" y="3875410"/>
            <a:ext cx="54649" cy="264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27478" y="3901812"/>
            <a:ext cx="54649" cy="1822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2982127" y="3920035"/>
            <a:ext cx="54649" cy="977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36776" y="3929807"/>
            <a:ext cx="54649" cy="117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3091425" y="3923546"/>
            <a:ext cx="54648" cy="74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3146073" y="3907607"/>
            <a:ext cx="54649" cy="1593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3200722" y="3883402"/>
            <a:ext cx="54649" cy="2420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3255371" y="3851290"/>
            <a:ext cx="54649" cy="321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3310020" y="3811750"/>
            <a:ext cx="54649" cy="39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3364669" y="3765368"/>
            <a:ext cx="54649" cy="463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19318" y="3712833"/>
            <a:ext cx="54648" cy="5253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73966" y="3654927"/>
            <a:ext cx="54649" cy="579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28615" y="3592509"/>
            <a:ext cx="54649" cy="62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583264" y="3526507"/>
            <a:ext cx="54649" cy="6600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37913" y="3457901"/>
            <a:ext cx="54649" cy="6860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692562" y="3387711"/>
            <a:ext cx="54649" cy="7019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47211" y="3316980"/>
            <a:ext cx="54649" cy="7073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01860" y="3246759"/>
            <a:ext cx="54648" cy="7022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56508" y="3178090"/>
            <a:ext cx="54649" cy="6866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11157" y="3111994"/>
            <a:ext cx="54649" cy="6609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65806" y="3049454"/>
            <a:ext cx="54649" cy="625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0455" y="2991397"/>
            <a:ext cx="54649" cy="580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5104" y="2938688"/>
            <a:ext cx="54649" cy="5270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29753" y="2892109"/>
            <a:ext cx="54648" cy="4657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401" y="2852352"/>
            <a:ext cx="54649" cy="397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9050" y="2820008"/>
            <a:ext cx="54649" cy="3234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3699" y="2795558"/>
            <a:ext cx="54649" cy="2445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8348" y="2779364"/>
            <a:ext cx="54649" cy="1619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402997" y="2771667"/>
            <a:ext cx="54649" cy="769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4457646" y="2771667"/>
            <a:ext cx="54649" cy="91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4512295" y="2772582"/>
            <a:ext cx="54648" cy="9513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4566943" y="2782095"/>
            <a:ext cx="54649" cy="1797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621592" y="2800065"/>
            <a:ext cx="54649" cy="26159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676241" y="2826224"/>
            <a:ext cx="54649" cy="3396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730890" y="2860185"/>
            <a:ext cx="54649" cy="4125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785539" y="2901442"/>
            <a:ext cx="54649" cy="47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840188" y="2949382"/>
            <a:ext cx="54648" cy="5391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894836" y="3003294"/>
            <a:ext cx="54649" cy="5908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949485" y="3062376"/>
            <a:ext cx="54649" cy="6337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5004134" y="3125750"/>
            <a:ext cx="54649" cy="6672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5058783" y="3192475"/>
            <a:ext cx="54649" cy="6908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5113432" y="3261559"/>
            <a:ext cx="54649" cy="7041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68081" y="3331977"/>
            <a:ext cx="54649" cy="70704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222730" y="3402681"/>
            <a:ext cx="54648" cy="69940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77378" y="3472621"/>
            <a:ext cx="54649" cy="68138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332027" y="3540759"/>
            <a:ext cx="54649" cy="65322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86676" y="3606081"/>
            <a:ext cx="54649" cy="61536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441325" y="3667617"/>
            <a:ext cx="54649" cy="56837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5495974" y="3724454"/>
            <a:ext cx="54649" cy="51291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5550623" y="3775745"/>
            <a:ext cx="54649" cy="44985"/>
          </a:xfrm>
          <a:prstGeom prst="line">
            <a:avLst/>
          </a:prstGeom>
          <a:ln w="25400">
            <a:solidFill>
              <a:srgbClr val="6251B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37960" y="3280676"/>
            <a:ext cx="54541" cy="7060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592501" y="3211125"/>
            <a:ext cx="54541" cy="6955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47042" y="3143656"/>
            <a:ext cx="54541" cy="67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01583" y="3079272"/>
            <a:ext cx="54542" cy="643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56125" y="3018930"/>
            <a:ext cx="54541" cy="6034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10666" y="2963525"/>
            <a:ext cx="54541" cy="554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65207" y="2913882"/>
            <a:ext cx="54541" cy="4964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19748" y="2870737"/>
            <a:ext cx="54542" cy="4314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74290" y="2834732"/>
            <a:ext cx="54541" cy="360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28831" y="2806401"/>
            <a:ext cx="54541" cy="283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83372" y="2786166"/>
            <a:ext cx="54541" cy="202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37913" y="2774327"/>
            <a:ext cx="54542" cy="118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2455" y="2771061"/>
            <a:ext cx="54541" cy="326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7246996" y="2771061"/>
            <a:ext cx="54541" cy="535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7301537" y="2776415"/>
            <a:ext cx="54542" cy="1389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7356079" y="2790310"/>
            <a:ext cx="54541" cy="2223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10620" y="2812540"/>
            <a:ext cx="54541" cy="3023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5161" y="2842774"/>
            <a:ext cx="54541" cy="377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9702" y="2880563"/>
            <a:ext cx="54542" cy="4478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74244" y="2925346"/>
            <a:ext cx="54541" cy="51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28785" y="2976458"/>
            <a:ext cx="54541" cy="566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83326" y="3033138"/>
            <a:ext cx="54541" cy="6140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37867" y="3094545"/>
            <a:ext cx="54542" cy="65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92409" y="3159766"/>
            <a:ext cx="54541" cy="6806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46950" y="3227833"/>
            <a:ext cx="54541" cy="6990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901491" y="3297734"/>
            <a:ext cx="54542" cy="70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56033" y="3368431"/>
            <a:ext cx="54541" cy="7044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8010574" y="3438872"/>
            <a:ext cx="54541" cy="691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65115" y="3508012"/>
            <a:ext cx="54541" cy="668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119656" y="3574824"/>
            <a:ext cx="54542" cy="634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74198" y="3638314"/>
            <a:ext cx="54541" cy="592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228739" y="3697539"/>
            <a:ext cx="54541" cy="5408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83280" y="3751619"/>
            <a:ext cx="54541" cy="4813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37821" y="3799752"/>
            <a:ext cx="54542" cy="414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92363" y="3841221"/>
            <a:ext cx="54541" cy="3418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46904" y="3875410"/>
            <a:ext cx="54541" cy="264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501445" y="3901812"/>
            <a:ext cx="54542" cy="1822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55987" y="3920035"/>
            <a:ext cx="54541" cy="977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610528" y="3929807"/>
            <a:ext cx="54541" cy="117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8665069" y="3923546"/>
            <a:ext cx="54541" cy="74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8719610" y="3907607"/>
            <a:ext cx="54542" cy="1593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8774152" y="3883402"/>
            <a:ext cx="54541" cy="2420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8828693" y="3851290"/>
            <a:ext cx="54541" cy="321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8883234" y="3811750"/>
            <a:ext cx="54541" cy="39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8937775" y="3765368"/>
            <a:ext cx="54542" cy="463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8992317" y="3712833"/>
            <a:ext cx="54541" cy="5253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9046858" y="3654927"/>
            <a:ext cx="54541" cy="579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101399" y="3592509"/>
            <a:ext cx="54541" cy="62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155940" y="3526507"/>
            <a:ext cx="54542" cy="6600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210482" y="3457901"/>
            <a:ext cx="54541" cy="6860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65023" y="3387711"/>
            <a:ext cx="54541" cy="7019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319564" y="3316980"/>
            <a:ext cx="54542" cy="7073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74106" y="3246759"/>
            <a:ext cx="54541" cy="7022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428647" y="3178090"/>
            <a:ext cx="54541" cy="6866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83188" y="3111994"/>
            <a:ext cx="54541" cy="6609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537729" y="3049454"/>
            <a:ext cx="54542" cy="625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92271" y="2991397"/>
            <a:ext cx="54541" cy="580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646812" y="2938688"/>
            <a:ext cx="54541" cy="5270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701353" y="2892109"/>
            <a:ext cx="54541" cy="4657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755894" y="2852352"/>
            <a:ext cx="54542" cy="397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810436" y="2820008"/>
            <a:ext cx="54541" cy="3234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864977" y="2795558"/>
            <a:ext cx="54541" cy="2445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919518" y="2779364"/>
            <a:ext cx="54542" cy="1619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974060" y="2771667"/>
            <a:ext cx="54541" cy="769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0028601" y="2771667"/>
            <a:ext cx="54541" cy="91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0083142" y="2772582"/>
            <a:ext cx="54541" cy="9513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10137683" y="2782095"/>
            <a:ext cx="54542" cy="1797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10192225" y="2800065"/>
            <a:ext cx="54541" cy="26159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10246766" y="2826224"/>
            <a:ext cx="54541" cy="3396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10301307" y="2860185"/>
            <a:ext cx="54541" cy="4125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0355848" y="2901442"/>
            <a:ext cx="54542" cy="47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0410390" y="2949382"/>
            <a:ext cx="54541" cy="5391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>
            <a:off x="10464931" y="3003294"/>
            <a:ext cx="54541" cy="5908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>
            <a:off x="10519472" y="3062376"/>
            <a:ext cx="54542" cy="6337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>
            <a:off x="10574014" y="3125750"/>
            <a:ext cx="54541" cy="6672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>
            <a:off x="10628555" y="3192475"/>
            <a:ext cx="54541" cy="6908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0683096" y="3261559"/>
            <a:ext cx="54541" cy="7041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0737637" y="3331977"/>
            <a:ext cx="54542" cy="70704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>
            <a:off x="10792179" y="3402681"/>
            <a:ext cx="54541" cy="69940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846720" y="3472621"/>
            <a:ext cx="54541" cy="68138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901261" y="3540759"/>
            <a:ext cx="54541" cy="65322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955802" y="3606081"/>
            <a:ext cx="54542" cy="61536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1010344" y="3667617"/>
            <a:ext cx="54541" cy="56837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1064885" y="3724454"/>
            <a:ext cx="54541" cy="51291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1119426" y="3775745"/>
            <a:ext cx="54542" cy="44985"/>
          </a:xfrm>
          <a:prstGeom prst="line">
            <a:avLst/>
          </a:prstGeom>
          <a:ln w="25400">
            <a:solidFill>
              <a:srgbClr val="D0D0D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565392" y="3351276"/>
            <a:ext cx="0" cy="1010412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2" name="Oval 181"/>
          <p:cNvSpPr/>
          <p:nvPr/>
        </p:nvSpPr>
        <p:spPr>
          <a:xfrm>
            <a:off x="6504127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3" name="Connector 182"/>
          <p:cNvCxnSpPr/>
          <p:nvPr/>
        </p:nvCxnSpPr>
        <p:spPr>
          <a:xfrm flipV="1">
            <a:off x="6981028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4" name="Oval 183"/>
          <p:cNvSpPr/>
          <p:nvPr/>
        </p:nvSpPr>
        <p:spPr>
          <a:xfrm>
            <a:off x="6919763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5" name="Connector 184"/>
          <p:cNvCxnSpPr/>
          <p:nvPr/>
        </p:nvCxnSpPr>
        <p:spPr>
          <a:xfrm flipV="1">
            <a:off x="7396664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Oval 185"/>
          <p:cNvSpPr/>
          <p:nvPr/>
        </p:nvSpPr>
        <p:spPr>
          <a:xfrm>
            <a:off x="7335399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7" name="Connector 186"/>
          <p:cNvCxnSpPr/>
          <p:nvPr/>
        </p:nvCxnSpPr>
        <p:spPr>
          <a:xfrm flipV="1">
            <a:off x="7812301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8" name="Oval 187"/>
          <p:cNvSpPr/>
          <p:nvPr/>
        </p:nvSpPr>
        <p:spPr>
          <a:xfrm>
            <a:off x="7751036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9" name="Connector 188"/>
          <p:cNvCxnSpPr/>
          <p:nvPr/>
        </p:nvCxnSpPr>
        <p:spPr>
          <a:xfrm flipV="1">
            <a:off x="8227937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0" name="Oval 189"/>
          <p:cNvSpPr/>
          <p:nvPr/>
        </p:nvSpPr>
        <p:spPr>
          <a:xfrm>
            <a:off x="8166672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1" name="Connector 190"/>
          <p:cNvCxnSpPr/>
          <p:nvPr/>
        </p:nvCxnSpPr>
        <p:spPr>
          <a:xfrm flipV="1">
            <a:off x="8643573" y="3931554"/>
            <a:ext cx="0" cy="4301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2" name="Oval 191"/>
          <p:cNvSpPr/>
          <p:nvPr/>
        </p:nvSpPr>
        <p:spPr>
          <a:xfrm>
            <a:off x="8582309" y="3870289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3" name="Connector 192"/>
          <p:cNvCxnSpPr/>
          <p:nvPr/>
        </p:nvCxnSpPr>
        <p:spPr>
          <a:xfrm flipV="1">
            <a:off x="9059210" y="3692354"/>
            <a:ext cx="0" cy="669334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4" name="Oval 193"/>
          <p:cNvSpPr/>
          <p:nvPr/>
        </p:nvSpPr>
        <p:spPr>
          <a:xfrm>
            <a:off x="8997945" y="3631090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5" name="Connector 194"/>
          <p:cNvCxnSpPr/>
          <p:nvPr/>
        </p:nvCxnSpPr>
        <p:spPr>
          <a:xfrm flipV="1">
            <a:off x="9474846" y="3171960"/>
            <a:ext cx="0" cy="118972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6" name="Oval 195"/>
          <p:cNvSpPr/>
          <p:nvPr/>
        </p:nvSpPr>
        <p:spPr>
          <a:xfrm>
            <a:off x="9413581" y="3110695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7" name="Connector 196"/>
          <p:cNvCxnSpPr/>
          <p:nvPr/>
        </p:nvCxnSpPr>
        <p:spPr>
          <a:xfrm flipV="1">
            <a:off x="9890482" y="2799398"/>
            <a:ext cx="0" cy="1562290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8" name="Oval 197"/>
          <p:cNvSpPr/>
          <p:nvPr/>
        </p:nvSpPr>
        <p:spPr>
          <a:xfrm>
            <a:off x="9829218" y="2738133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9" name="Connector 198"/>
          <p:cNvCxnSpPr/>
          <p:nvPr/>
        </p:nvCxnSpPr>
        <p:spPr>
          <a:xfrm flipV="1">
            <a:off x="10306119" y="2881821"/>
            <a:ext cx="0" cy="1479867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Oval 199"/>
          <p:cNvSpPr/>
          <p:nvPr/>
        </p:nvSpPr>
        <p:spPr>
          <a:xfrm>
            <a:off x="10244854" y="282055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1" name="Connector 200"/>
          <p:cNvCxnSpPr/>
          <p:nvPr/>
        </p:nvCxnSpPr>
        <p:spPr>
          <a:xfrm flipV="1">
            <a:off x="10721755" y="3351275"/>
            <a:ext cx="0" cy="1010413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2" name="Oval 201"/>
          <p:cNvSpPr/>
          <p:nvPr/>
        </p:nvSpPr>
        <p:spPr>
          <a:xfrm>
            <a:off x="10660490" y="3290011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3" name="Connector 202"/>
          <p:cNvCxnSpPr/>
          <p:nvPr/>
        </p:nvCxnSpPr>
        <p:spPr>
          <a:xfrm flipV="1">
            <a:off x="11137392" y="3820730"/>
            <a:ext cx="0" cy="540958"/>
          </a:xfrm>
          <a:prstGeom prst="line">
            <a:avLst/>
          </a:prstGeom>
          <a:ln w="152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4" name="Oval 203"/>
          <p:cNvSpPr/>
          <p:nvPr/>
        </p:nvSpPr>
        <p:spPr>
          <a:xfrm>
            <a:off x="11076127" y="3759466"/>
            <a:ext cx="122529" cy="12252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TextBox 204"/>
          <p:cNvSpPr txBox="1"/>
          <p:nvPr/>
        </p:nvSpPr>
        <p:spPr>
          <a:xfrm>
            <a:off x="868680" y="4800600"/>
            <a:ext cx="493776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同一位置的信号随时间变化</a:t>
            </a:r>
          </a:p>
        </p:txBody>
      </p:sp>
      <p:sp>
        <p:nvSpPr>
          <p:cNvPr id="206" name="TextBox 205"/>
          <p:cNvSpPr txBox="1"/>
          <p:nvPr/>
        </p:nvSpPr>
        <p:spPr>
          <a:xfrm>
            <a:off x="6428232" y="4800600"/>
            <a:ext cx="48463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只记录特定时刻的一组数值</a:t>
            </a:r>
          </a:p>
        </p:txBody>
      </p:sp>
      <p:sp>
        <p:nvSpPr>
          <p:cNvPr id="207" name="TextBox 206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连续信号 → 等间隔采样 → 离散样本；图示是同一段信号。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麦克风把声波变成什么？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声源振动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9704" y="1700784"/>
            <a:ext cx="333756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麦克风感受声压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47888" y="1700784"/>
            <a:ext cx="32461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输出连续电信号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051560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289304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527048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764792" y="2980944"/>
            <a:ext cx="0" cy="758952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2002536" y="2834640"/>
            <a:ext cx="0" cy="105156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242316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H="1">
            <a:off x="242316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83464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283464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246120" y="2779776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H="1">
            <a:off x="3246120" y="3108960"/>
            <a:ext cx="146304" cy="329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3886200" y="3246120"/>
            <a:ext cx="48463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Oval 19"/>
          <p:cNvSpPr/>
          <p:nvPr/>
        </p:nvSpPr>
        <p:spPr>
          <a:xfrm>
            <a:off x="5440679" y="2843784"/>
            <a:ext cx="950976" cy="950976"/>
          </a:xfrm>
          <a:prstGeom prst="ellipse">
            <a:avLst/>
          </a:prstGeom>
          <a:solidFill>
            <a:srgbClr val="E9E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1" name="Connector 20"/>
          <p:cNvCxnSpPr/>
          <p:nvPr/>
        </p:nvCxnSpPr>
        <p:spPr>
          <a:xfrm>
            <a:off x="5916168" y="3794760"/>
            <a:ext cx="0" cy="393192"/>
          </a:xfrm>
          <a:prstGeom prst="line">
            <a:avLst/>
          </a:prstGeom>
          <a:ln w="381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629400" y="3246120"/>
            <a:ext cx="1335024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8238744" y="4160520"/>
            <a:ext cx="2898648" cy="0"/>
          </a:xfrm>
          <a:prstGeom prst="line">
            <a:avLst/>
          </a:prstGeom>
          <a:ln w="1524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8247888" y="3256268"/>
            <a:ext cx="33994" cy="6300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8281882" y="3193891"/>
            <a:ext cx="33994" cy="6237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8315876" y="3132762"/>
            <a:ext cx="33994" cy="61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8349870" y="3073489"/>
            <a:ext cx="33994" cy="5927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8383864" y="3016661"/>
            <a:ext cx="33994" cy="568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V="1">
            <a:off x="8417858" y="2962845"/>
            <a:ext cx="33994" cy="538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V="1">
            <a:off x="8451852" y="2912574"/>
            <a:ext cx="33995" cy="502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 flipV="1">
            <a:off x="8485847" y="2866351"/>
            <a:ext cx="33994" cy="4622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V="1">
            <a:off x="8519841" y="2824634"/>
            <a:ext cx="33994" cy="4171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 flipV="1">
            <a:off x="8553835" y="2787839"/>
            <a:ext cx="33994" cy="367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 flipV="1">
            <a:off x="8587829" y="2756331"/>
            <a:ext cx="33994" cy="315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V="1">
            <a:off x="8621823" y="2730425"/>
            <a:ext cx="33994" cy="259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V="1">
            <a:off x="8655817" y="2710378"/>
            <a:ext cx="33995" cy="200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V="1">
            <a:off x="8689812" y="2696390"/>
            <a:ext cx="33994" cy="1398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8723806" y="2688599"/>
            <a:ext cx="33994" cy="77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 flipV="1">
            <a:off x="8757800" y="2687084"/>
            <a:ext cx="33994" cy="15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8791794" y="2687084"/>
            <a:ext cx="33994" cy="47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8825788" y="2691859"/>
            <a:ext cx="33994" cy="110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859782" y="2702877"/>
            <a:ext cx="33995" cy="1715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8893777" y="2720028"/>
            <a:ext cx="33994" cy="231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8927771" y="2743142"/>
            <a:ext cx="33994" cy="2884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961765" y="2771988"/>
            <a:ext cx="33994" cy="3429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8995759" y="2806280"/>
            <a:ext cx="33994" cy="393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29753" y="2845676"/>
            <a:ext cx="33994" cy="4410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9063747" y="2889784"/>
            <a:ext cx="33995" cy="48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9097742" y="2938166"/>
            <a:ext cx="33994" cy="5217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9131736" y="2990340"/>
            <a:ext cx="33994" cy="5544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9165730" y="3045787"/>
            <a:ext cx="33994" cy="581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199724" y="3103955"/>
            <a:ext cx="33994" cy="6031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9233718" y="3164265"/>
            <a:ext cx="33994" cy="618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9267712" y="3226118"/>
            <a:ext cx="33995" cy="6278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9301707" y="3288898"/>
            <a:ext cx="33994" cy="630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9335701" y="3351980"/>
            <a:ext cx="33994" cy="6275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9369695" y="3414736"/>
            <a:ext cx="33994" cy="618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9403689" y="3476543"/>
            <a:ext cx="33994" cy="602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9437683" y="3536784"/>
            <a:ext cx="33994" cy="5807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>
            <a:off x="9471677" y="3594862"/>
            <a:ext cx="33995" cy="5533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>
            <a:off x="9505672" y="3650197"/>
            <a:ext cx="33994" cy="5204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>
            <a:off x="9539666" y="3702240"/>
            <a:ext cx="33994" cy="4823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9573660" y="3750472"/>
            <a:ext cx="33994" cy="4394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9607654" y="3794413"/>
            <a:ext cx="33994" cy="3921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9641648" y="3833627"/>
            <a:ext cx="33994" cy="3409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>
            <a:off x="9675642" y="3867723"/>
            <a:ext cx="33995" cy="286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>
            <a:off x="9709637" y="3896361"/>
            <a:ext cx="33994" cy="2289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9743631" y="3919258"/>
            <a:ext cx="33994" cy="169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9777625" y="3936184"/>
            <a:ext cx="33994" cy="1078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9811619" y="3946973"/>
            <a:ext cx="33994" cy="4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9845613" y="3949767"/>
            <a:ext cx="33994" cy="17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9879607" y="3941745"/>
            <a:ext cx="33995" cy="802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9913602" y="3927529"/>
            <a:ext cx="33994" cy="1421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9947596" y="3907261"/>
            <a:ext cx="33994" cy="2026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9981590" y="3881143"/>
            <a:ext cx="33994" cy="2611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10015584" y="3849434"/>
            <a:ext cx="33994" cy="3170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10049578" y="3812449"/>
            <a:ext cx="33994" cy="3698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10083572" y="3770558"/>
            <a:ext cx="33995" cy="418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10117567" y="3724176"/>
            <a:ext cx="33994" cy="463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10151561" y="3673765"/>
            <a:ext cx="33994" cy="50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10185555" y="3619827"/>
            <a:ext cx="33994" cy="5393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10219549" y="3562899"/>
            <a:ext cx="33994" cy="5692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10253543" y="3503546"/>
            <a:ext cx="33994" cy="5935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10287537" y="3442360"/>
            <a:ext cx="33995" cy="6118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10321532" y="3379949"/>
            <a:ext cx="33994" cy="6241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10355526" y="3316934"/>
            <a:ext cx="33994" cy="6301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10389520" y="3253943"/>
            <a:ext cx="33994" cy="6299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10423514" y="3191601"/>
            <a:ext cx="33994" cy="623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10457508" y="3130530"/>
            <a:ext cx="33994" cy="6107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10491502" y="3071337"/>
            <a:ext cx="33995" cy="591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10525497" y="3014611"/>
            <a:ext cx="33994" cy="567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10559491" y="2960916"/>
            <a:ext cx="33994" cy="5369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10593485" y="2910787"/>
            <a:ext cx="33994" cy="5012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10627479" y="2864723"/>
            <a:ext cx="33994" cy="4606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10661473" y="2823181"/>
            <a:ext cx="33994" cy="4154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10695467" y="2786575"/>
            <a:ext cx="33995" cy="3660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10729462" y="2755270"/>
            <a:ext cx="33994" cy="3130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10763456" y="2729577"/>
            <a:ext cx="33994" cy="25693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10797450" y="2709751"/>
            <a:ext cx="33994" cy="19826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10831444" y="2695990"/>
            <a:ext cx="33994" cy="13761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865438" y="2688431"/>
            <a:ext cx="33994" cy="7559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899432" y="2687149"/>
            <a:ext cx="33995" cy="1282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10933427" y="2687149"/>
            <a:ext cx="33994" cy="500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10967421" y="2692156"/>
            <a:ext cx="33994" cy="11248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11001415" y="2703404"/>
            <a:ext cx="33994" cy="17375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1035409" y="2720779"/>
            <a:ext cx="33994" cy="23330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1069403" y="2744109"/>
            <a:ext cx="33994" cy="29054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1103397" y="2773163"/>
            <a:ext cx="33995" cy="34487"/>
          </a:xfrm>
          <a:prstGeom prst="line">
            <a:avLst/>
          </a:prstGeom>
          <a:ln w="254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896112" y="4782312"/>
            <a:ext cx="301752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空气中的变化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4681728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转换为电信号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357616" y="4782312"/>
            <a:ext cx="2834640" cy="4846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t>仍是连续变化的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麦克风完成“声压变化 → 电信号”；将模拟信号数字化由ADC完成。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连续电信号，怎样变成数字？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804672" y="2286000"/>
            <a:ext cx="32004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77824" y="2404872"/>
            <a:ext cx="30540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模拟电信号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4133087" y="2624328"/>
            <a:ext cx="603505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828032" y="2286000"/>
            <a:ext cx="274320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901184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声卡：ADC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708392" y="2624328"/>
            <a:ext cx="612648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8412480" y="2286000"/>
            <a:ext cx="274320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85632" y="2404872"/>
            <a:ext cx="259689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数字音频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069080"/>
            <a:ext cx="10515600" cy="76809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ADC = 模数转换（模拟信号 → 数字信号）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518464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声卡负责完成这一转换；它不等于“存储音频文件”。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把录音过程和播放过程接起来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545336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录音：模拟 → 数字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822191"/>
            <a:ext cx="457200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播放：数字 → 模拟</a:t>
            </a:r>
          </a:p>
        </p:txBody>
      </p:sp>
      <p:sp>
        <p:nvSpPr>
          <p:cNvPr id="7" name="Rectangle 6"/>
          <p:cNvSpPr/>
          <p:nvPr/>
        </p:nvSpPr>
        <p:spPr>
          <a:xfrm>
            <a:off x="850392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50392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声波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852928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666744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66744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麦克风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669279" y="2569464"/>
            <a:ext cx="740665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483096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83096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ADC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485632" y="2569464"/>
            <a:ext cx="740664" cy="0"/>
          </a:xfrm>
          <a:prstGeom prst="line">
            <a:avLst/>
          </a:prstGeom>
          <a:ln w="2794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9299448" y="2249424"/>
            <a:ext cx="1965960" cy="649224"/>
          </a:xfrm>
          <a:prstGeom prst="rect">
            <a:avLst/>
          </a:prstGeom>
          <a:solidFill>
            <a:srgbClr val="F8F6FE"/>
          </a:solidFill>
          <a:ln w="1778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99448" y="2368296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50392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392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数字文件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852928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666744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66744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669279" y="4818888"/>
            <a:ext cx="740665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6483096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3096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485632" y="4818888"/>
            <a:ext cx="740664" cy="0"/>
          </a:xfrm>
          <a:prstGeom prst="line">
            <a:avLst/>
          </a:prstGeom>
          <a:ln w="2794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9299448" y="4498848"/>
            <a:ext cx="1965960" cy="649224"/>
          </a:xfrm>
          <a:prstGeom prst="rect">
            <a:avLst/>
          </a:prstGeom>
          <a:solidFill>
            <a:srgbClr val="FFFFFF"/>
          </a:solidFill>
          <a:ln w="1778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299448" y="4617720"/>
            <a:ext cx="196596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  <a:defRPr sz="2000" b="1">
                <a:solidFill>
                  <a:srgbClr val="00B0F0"/>
                </a:solidFill>
                <a:latin typeface="Alibaba PuHuiTi 3.0 115 Black"/>
              </a:defRPr>
            </a:pPr>
            <a:r>
              <a:t>声音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思考：麦克风和扬声器、ADC和DAC，各负责什么转换？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波形图画的是“声音的传播路线”吗？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3479291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2075688"/>
            <a:ext cx="0" cy="281635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" y="176479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66960" y="3598163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536192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同一个位置，信号随时间变化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43000" y="3306954"/>
            <a:ext cx="91440" cy="13576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34440" y="3173553"/>
            <a:ext cx="91440" cy="13340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25880" y="3044831"/>
            <a:ext cx="91440" cy="12872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17320" y="2923027"/>
            <a:ext cx="91440" cy="12180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08760" y="2810256"/>
            <a:ext cx="91440" cy="11277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00200" y="2708482"/>
            <a:ext cx="91440" cy="1017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91640" y="2619471"/>
            <a:ext cx="91440" cy="8901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83080" y="2544773"/>
            <a:ext cx="91439" cy="7469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74519" y="2485684"/>
            <a:ext cx="91441" cy="590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65960" y="2443234"/>
            <a:ext cx="91440" cy="4245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57400" y="2418160"/>
            <a:ext cx="91440" cy="250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48840" y="2410897"/>
            <a:ext cx="91440" cy="726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40280" y="2410897"/>
            <a:ext cx="91440" cy="1067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31720" y="2421572"/>
            <a:ext cx="91440" cy="2842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23160" y="2449999"/>
            <a:ext cx="91440" cy="4568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14600" y="2495684"/>
            <a:ext cx="91440" cy="621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06040" y="2557833"/>
            <a:ext cx="91440" cy="7753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97480" y="2635366"/>
            <a:ext cx="91440" cy="9156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8920" y="2726934"/>
            <a:ext cx="91440" cy="10401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80360" y="2830946"/>
            <a:ext cx="91440" cy="11464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71800" y="2945594"/>
            <a:ext cx="91440" cy="1232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3240" y="3068883"/>
            <a:ext cx="91440" cy="12978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4680" y="3198672"/>
            <a:ext cx="91440" cy="13403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6120" y="3332703"/>
            <a:ext cx="91440" cy="13594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37560" y="3468647"/>
            <a:ext cx="91440" cy="1354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29000" y="3604140"/>
            <a:ext cx="91440" cy="13268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0440" y="3736827"/>
            <a:ext cx="91440" cy="1275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11880" y="3864401"/>
            <a:ext cx="91440" cy="12024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03320" y="3984643"/>
            <a:ext cx="91440" cy="11082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94760" y="4095465"/>
            <a:ext cx="91440" cy="994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86200" y="4194939"/>
            <a:ext cx="91439" cy="8639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77639" y="4281335"/>
            <a:ext cx="91441" cy="7181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69080" y="4353152"/>
            <a:ext cx="91440" cy="559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60520" y="4409142"/>
            <a:ext cx="91440" cy="391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51960" y="4448330"/>
            <a:ext cx="91440" cy="2170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43400" y="4470036"/>
            <a:ext cx="91440" cy="384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434840" y="4459803"/>
            <a:ext cx="91440" cy="1408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526280" y="4428041"/>
            <a:ext cx="91440" cy="3176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617720" y="4379149"/>
            <a:ext cx="91440" cy="4889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709160" y="4313978"/>
            <a:ext cx="91440" cy="6517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800600" y="4233660"/>
            <a:ext cx="91440" cy="8031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892040" y="4139592"/>
            <a:ext cx="91440" cy="9406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83480" y="4033408"/>
            <a:ext cx="91440" cy="106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074920" y="3916956"/>
            <a:ext cx="91440" cy="11645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166360" y="3792259"/>
            <a:ext cx="91440" cy="12469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57800" y="3661486"/>
            <a:ext cx="91440" cy="13077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49240" y="3526909"/>
            <a:ext cx="91439" cy="13457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40679" y="3390868"/>
            <a:ext cx="91441" cy="13604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32120" y="3255729"/>
            <a:ext cx="91440" cy="13513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23560" y="3123841"/>
            <a:ext cx="91440" cy="1318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15000" y="2997496"/>
            <a:ext cx="91440" cy="12634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06440" y="2878891"/>
            <a:ext cx="91440" cy="11860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897880" y="2770088"/>
            <a:ext cx="91440" cy="10880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89320" y="2672979"/>
            <a:ext cx="91440" cy="9710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80760" y="2589251"/>
            <a:ext cx="91440" cy="8372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172200" y="2520360"/>
            <a:ext cx="91440" cy="6889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263640" y="2467505"/>
            <a:ext cx="91439" cy="5285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355079" y="2431603"/>
            <a:ext cx="91441" cy="3590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46520" y="2413279"/>
            <a:ext cx="91439" cy="183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37959" y="2412851"/>
            <a:ext cx="91441" cy="42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6629400" y="2412851"/>
            <a:ext cx="91440" cy="1747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6720840" y="2430328"/>
            <a:ext cx="91440" cy="350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6812280" y="2465404"/>
            <a:ext cx="91440" cy="5206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6903720" y="2517471"/>
            <a:ext cx="91440" cy="6815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6995160" y="2585623"/>
            <a:ext cx="91440" cy="8305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086600" y="2668676"/>
            <a:ext cx="91440" cy="9650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178040" y="2765184"/>
            <a:ext cx="91440" cy="1082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269480" y="2873472"/>
            <a:ext cx="91440" cy="1181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360920" y="2991656"/>
            <a:ext cx="91439" cy="12602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52359" y="3117681"/>
            <a:ext cx="91441" cy="1316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43800" y="3249357"/>
            <a:ext cx="91440" cy="13503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35240" y="3384394"/>
            <a:ext cx="91439" cy="136051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26679" y="3520445"/>
            <a:ext cx="91441" cy="13470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18120" y="3655145"/>
            <a:ext cx="91440" cy="1310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09560" y="3786152"/>
            <a:ext cx="91440" cy="12503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01000" y="3911188"/>
            <a:ext cx="91440" cy="1168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92440" y="4028081"/>
            <a:ext cx="91439" cy="10671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83879" y="4134796"/>
            <a:ext cx="91441" cy="9468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275320" y="4229480"/>
            <a:ext cx="91440" cy="81007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366760" y="4310487"/>
            <a:ext cx="91440" cy="6592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458200" y="4376407"/>
            <a:ext cx="91440" cy="496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49640" y="4426095"/>
            <a:ext cx="91440" cy="3259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41080" y="4458688"/>
            <a:ext cx="91439" cy="1493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 flipV="1">
            <a:off x="8732519" y="4470626"/>
            <a:ext cx="91441" cy="299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 flipV="1">
            <a:off x="8823960" y="4449764"/>
            <a:ext cx="91440" cy="20862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 flipV="1">
            <a:off x="8915400" y="4411395"/>
            <a:ext cx="91440" cy="3836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006840" y="4356186"/>
            <a:ext cx="91440" cy="5520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098280" y="4285096"/>
            <a:ext cx="91440" cy="7109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189720" y="4199362"/>
            <a:ext cx="91440" cy="8573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281160" y="4100474"/>
            <a:ext cx="91440" cy="98888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372600" y="3990150"/>
            <a:ext cx="91440" cy="11032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9464040" y="3870310"/>
            <a:ext cx="91440" cy="11984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9555480" y="3743036"/>
            <a:ext cx="91440" cy="127274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9646920" y="3610541"/>
            <a:ext cx="91439" cy="13249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738359" y="3475128"/>
            <a:ext cx="91441" cy="13541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9829800" y="3339152"/>
            <a:ext cx="91440" cy="135976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21240" y="3204977"/>
            <a:ext cx="91440" cy="13417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12680" y="3074934"/>
            <a:ext cx="91440" cy="130043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04120" y="2951285"/>
            <a:ext cx="91440" cy="123649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95560" y="2836180"/>
            <a:ext cx="91440" cy="115105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TextBox 10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波形不是声音在空间里走过的弯曲路线。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演示A：听声音，波形上的红线如何移动？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17904"/>
            <a:ext cx="1069848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先预测：红色光标向右，表示声音向右传播吗？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41832" y="3712464"/>
            <a:ext cx="10222992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87552" y="2523744"/>
            <a:ext cx="0" cy="2423160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941832" y="209397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50424" y="3840480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060704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59276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57848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56420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54993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53565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52137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0710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9282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7854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46427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2144999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2243571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42144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40716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39288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37861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36433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35005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3578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2150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30722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9295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27867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26439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25012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623584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722156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820728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919301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4017873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116445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215018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313590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412162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510735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V="1">
            <a:off x="4609307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 flipV="1">
            <a:off x="4707879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4806452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4905024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5003596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5102169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200741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299313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397886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496458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595030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693603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792175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890747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989320" y="3458819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6087892" y="3356450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186464" y="3259695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285036" y="3170080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383609" y="3089019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482181" y="3017791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580753" y="2957517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679326" y="290915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777898" y="2873451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876470" y="2850984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975043" y="2842104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7073615" y="2842104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7172187" y="2846949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7270760" y="2865444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7369332" y="2897297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7467904" y="2942005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7566477" y="2998864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665049" y="306697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763621" y="3145270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862194" y="3232508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960766" y="3327315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8059338" y="3428196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8157911" y="3533560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8256483" y="3641745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355055" y="3751046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453628" y="3859738"/>
            <a:ext cx="98572" cy="1063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552200" y="3966108"/>
            <a:ext cx="98572" cy="1023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650772" y="4068477"/>
            <a:ext cx="98572" cy="967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749344" y="4165232"/>
            <a:ext cx="98573" cy="89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847917" y="4254847"/>
            <a:ext cx="98572" cy="810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946489" y="4335908"/>
            <a:ext cx="98572" cy="712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9045061" y="4407136"/>
            <a:ext cx="98573" cy="602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9143634" y="4467410"/>
            <a:ext cx="98572" cy="48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9242206" y="4515777"/>
            <a:ext cx="98572" cy="356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340778" y="4551476"/>
            <a:ext cx="98573" cy="224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439351" y="4573943"/>
            <a:ext cx="98572" cy="88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9537923" y="4577978"/>
            <a:ext cx="98572" cy="48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9636495" y="4559483"/>
            <a:ext cx="98573" cy="1849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9735068" y="4527630"/>
            <a:ext cx="98572" cy="3185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9833640" y="4482922"/>
            <a:ext cx="98572" cy="447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9932212" y="4426063"/>
            <a:ext cx="98573" cy="5685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10030785" y="4357950"/>
            <a:ext cx="98572" cy="681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10129357" y="4279657"/>
            <a:ext cx="98572" cy="7829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10227929" y="4192419"/>
            <a:ext cx="98573" cy="8723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10326502" y="4097612"/>
            <a:ext cx="98572" cy="948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425074" y="3996731"/>
            <a:ext cx="98572" cy="1008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523646" y="3891367"/>
            <a:ext cx="98573" cy="10536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622219" y="3783182"/>
            <a:ext cx="98572" cy="1081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720791" y="3673881"/>
            <a:ext cx="98572" cy="1093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819363" y="3565189"/>
            <a:ext cx="98573" cy="1086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6638544" y="2587752"/>
            <a:ext cx="0" cy="2286000"/>
          </a:xfrm>
          <a:prstGeom prst="line">
            <a:avLst/>
          </a:prstGeom>
          <a:ln w="4064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914400" y="5330952"/>
            <a:ext cx="576072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262626"/>
                </a:solidFill>
                <a:latin typeface="Alibaba PuHuiTi 3.0 115 Black"/>
              </a:defRPr>
            </a:pPr>
            <a:r>
              <a:t>▶ 由教室浏览器播放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726679" y="5330952"/>
            <a:ext cx="3108960" cy="4937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时间继续向右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如果只能记录有限个数字，应该记录哪些时刻？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330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TextBox 108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请提出一个规则：怎样公平地选出一组采样时刻？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每隔相同时间，取一个幅度值。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483864"/>
            <a:ext cx="1005840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05840" y="1956816"/>
            <a:ext cx="0" cy="306323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33271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0" y="360273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69848" y="3279400"/>
            <a:ext cx="93543" cy="12673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63391" y="3154370"/>
            <a:ext cx="93543" cy="1250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56934" y="3032739"/>
            <a:ext cx="93543" cy="121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50477" y="2916147"/>
            <a:ext cx="93543" cy="1165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44020" y="2806168"/>
            <a:ext cx="93543" cy="1099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7563" y="2704286"/>
            <a:ext cx="93543" cy="1018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31106" y="2611877"/>
            <a:ext cx="93543" cy="9240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24649" y="2530188"/>
            <a:ext cx="93543" cy="81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18192" y="2460320"/>
            <a:ext cx="93544" cy="698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11736" y="2403218"/>
            <a:ext cx="93543" cy="571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05279" y="2359651"/>
            <a:ext cx="93543" cy="435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98822" y="2330208"/>
            <a:ext cx="93543" cy="294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92365" y="2315286"/>
            <a:ext cx="93543" cy="149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85908" y="2315087"/>
            <a:ext cx="93543" cy="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79451" y="2315087"/>
            <a:ext cx="93543" cy="145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2994" y="2329613"/>
            <a:ext cx="93543" cy="290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6537" y="2358667"/>
            <a:ext cx="93544" cy="431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081" y="2401859"/>
            <a:ext cx="93543" cy="5674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3624" y="2458605"/>
            <a:ext cx="93543" cy="69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7167" y="2528139"/>
            <a:ext cx="93543" cy="813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40710" y="2609523"/>
            <a:ext cx="93543" cy="9213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34253" y="2701658"/>
            <a:ext cx="93543" cy="1016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27796" y="2803301"/>
            <a:ext cx="93543" cy="10977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21339" y="2913080"/>
            <a:ext cx="93543" cy="1164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14882" y="3029514"/>
            <a:ext cx="93544" cy="1215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408426" y="3151031"/>
            <a:ext cx="93543" cy="1249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501969" y="3275990"/>
            <a:ext cx="93543" cy="1267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95512" y="3402706"/>
            <a:ext cx="93543" cy="1267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89055" y="3529469"/>
            <a:ext cx="93543" cy="1250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82598" y="3654567"/>
            <a:ext cx="93543" cy="1217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76141" y="3776312"/>
            <a:ext cx="93543" cy="1167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69684" y="3893061"/>
            <a:ext cx="93543" cy="1101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63227" y="4003239"/>
            <a:ext cx="93543" cy="1021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56770" y="4105358"/>
            <a:ext cx="93544" cy="9268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50314" y="4198040"/>
            <a:ext cx="93543" cy="8199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43857" y="4280034"/>
            <a:ext cx="93543" cy="70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437400" y="4350235"/>
            <a:ext cx="93543" cy="574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530943" y="4407693"/>
            <a:ext cx="93543" cy="439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624486" y="4451634"/>
            <a:ext cx="93543" cy="298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718029" y="4481465"/>
            <a:ext cx="93543" cy="153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811572" y="4496783"/>
            <a:ext cx="93543" cy="5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4905115" y="4483251"/>
            <a:ext cx="93544" cy="141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98659" y="4454585"/>
            <a:ext cx="93543" cy="286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92202" y="4411768"/>
            <a:ext cx="93543" cy="4281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85745" y="4355380"/>
            <a:ext cx="93543" cy="563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79288" y="4286180"/>
            <a:ext cx="93543" cy="692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72831" y="4205102"/>
            <a:ext cx="93543" cy="810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66374" y="4113242"/>
            <a:ext cx="93543" cy="918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559917" y="4011838"/>
            <a:ext cx="93543" cy="1014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653460" y="3902260"/>
            <a:ext cx="93544" cy="1095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747004" y="3785986"/>
            <a:ext cx="93543" cy="11627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840547" y="3664585"/>
            <a:ext cx="93543" cy="1214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934090" y="3539697"/>
            <a:ext cx="93543" cy="124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6027633" y="3413006"/>
            <a:ext cx="93543" cy="1266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121176" y="3286222"/>
            <a:ext cx="93543" cy="12678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214719" y="3161057"/>
            <a:ext cx="93543" cy="1251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308262" y="3039199"/>
            <a:ext cx="93543" cy="1218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401805" y="2922294"/>
            <a:ext cx="93543" cy="116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95348" y="2811918"/>
            <a:ext cx="93544" cy="110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88892" y="2709563"/>
            <a:ext cx="93543" cy="1023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82435" y="2616609"/>
            <a:ext cx="93543" cy="929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75978" y="2534310"/>
            <a:ext cx="93543" cy="822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869521" y="2463778"/>
            <a:ext cx="93543" cy="705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963064" y="2405964"/>
            <a:ext cx="93543" cy="578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7056607" y="2361649"/>
            <a:ext cx="93543" cy="443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150150" y="2331431"/>
            <a:ext cx="93543" cy="302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243693" y="2315717"/>
            <a:ext cx="93544" cy="15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337237" y="2314720"/>
            <a:ext cx="93543" cy="9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7430780" y="2314720"/>
            <a:ext cx="93543" cy="137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524323" y="2328453"/>
            <a:ext cx="93543" cy="282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617866" y="2356731"/>
            <a:ext cx="93543" cy="424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711409" y="2399172"/>
            <a:ext cx="93543" cy="560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804952" y="2455203"/>
            <a:ext cx="93543" cy="688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898495" y="2524068"/>
            <a:ext cx="93543" cy="80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992038" y="2604838"/>
            <a:ext cx="93544" cy="91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8085582" y="2696423"/>
            <a:ext cx="93543" cy="1011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179125" y="2797586"/>
            <a:ext cx="93543" cy="109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272668" y="2906962"/>
            <a:ext cx="93543" cy="1161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366211" y="3023076"/>
            <a:ext cx="93543" cy="12128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459754" y="3144359"/>
            <a:ext cx="93543" cy="124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553297" y="3269175"/>
            <a:ext cx="93543" cy="1266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646840" y="3395840"/>
            <a:ext cx="93543" cy="1268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740383" y="3522644"/>
            <a:ext cx="93543" cy="125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833926" y="3647876"/>
            <a:ext cx="93544" cy="1219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927470" y="3769845"/>
            <a:ext cx="93543" cy="1170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9021013" y="3886905"/>
            <a:ext cx="93543" cy="1105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114556" y="3997477"/>
            <a:ext cx="93543" cy="1025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208099" y="4100067"/>
            <a:ext cx="93543" cy="932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301642" y="4193293"/>
            <a:ext cx="93543" cy="826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95185" y="4275895"/>
            <a:ext cx="93543" cy="708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88728" y="4346758"/>
            <a:ext cx="93543" cy="5816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82271" y="4404926"/>
            <a:ext cx="93544" cy="4468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75815" y="4449615"/>
            <a:ext cx="93543" cy="30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769358" y="4480220"/>
            <a:ext cx="93543" cy="16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862901" y="4496330"/>
            <a:ext cx="93543" cy="13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9956444" y="4484389"/>
            <a:ext cx="93543" cy="133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10049987" y="4456501"/>
            <a:ext cx="93543" cy="278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10143530" y="4414436"/>
            <a:ext cx="93543" cy="4206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237073" y="4358763"/>
            <a:ext cx="93543" cy="5567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330616" y="4290233"/>
            <a:ext cx="93544" cy="6853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06984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08583" y="33448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184937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Oval 111"/>
          <p:cNvSpPr/>
          <p:nvPr/>
        </p:nvSpPr>
        <p:spPr>
          <a:xfrm>
            <a:off x="1788109" y="244427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3" name="Connector 112"/>
          <p:cNvCxnSpPr/>
          <p:nvPr/>
        </p:nvCxnSpPr>
        <p:spPr>
          <a:xfrm>
            <a:off x="262890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Oval 113"/>
          <p:cNvSpPr/>
          <p:nvPr/>
        </p:nvSpPr>
        <p:spPr>
          <a:xfrm>
            <a:off x="2567635" y="23246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5" name="Connector 114"/>
          <p:cNvCxnSpPr/>
          <p:nvPr/>
        </p:nvCxnSpPr>
        <p:spPr>
          <a:xfrm>
            <a:off x="340842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Oval 115"/>
          <p:cNvSpPr/>
          <p:nvPr/>
        </p:nvSpPr>
        <p:spPr>
          <a:xfrm>
            <a:off x="3347161" y="308976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>
            <a:off x="418795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8" name="Oval 117"/>
          <p:cNvSpPr/>
          <p:nvPr/>
        </p:nvSpPr>
        <p:spPr>
          <a:xfrm>
            <a:off x="4126687" y="407610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9" name="Connector 118"/>
          <p:cNvCxnSpPr/>
          <p:nvPr/>
        </p:nvCxnSpPr>
        <p:spPr>
          <a:xfrm>
            <a:off x="496747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Oval 119"/>
          <p:cNvSpPr/>
          <p:nvPr/>
        </p:nvSpPr>
        <p:spPr>
          <a:xfrm>
            <a:off x="4906213" y="44283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1" name="Connector 120"/>
          <p:cNvCxnSpPr/>
          <p:nvPr/>
        </p:nvCxnSpPr>
        <p:spPr>
          <a:xfrm>
            <a:off x="574700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2" name="Oval 121"/>
          <p:cNvSpPr/>
          <p:nvPr/>
        </p:nvSpPr>
        <p:spPr>
          <a:xfrm>
            <a:off x="5685739" y="38409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>
            <a:off x="6526530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4" name="Oval 123"/>
          <p:cNvSpPr/>
          <p:nvPr/>
        </p:nvSpPr>
        <p:spPr>
          <a:xfrm>
            <a:off x="6465265" y="282343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5" name="Connector 124"/>
          <p:cNvCxnSpPr/>
          <p:nvPr/>
        </p:nvCxnSpPr>
        <p:spPr>
          <a:xfrm>
            <a:off x="7306056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Oval 125"/>
          <p:cNvSpPr/>
          <p:nvPr/>
        </p:nvSpPr>
        <p:spPr>
          <a:xfrm>
            <a:off x="7244791" y="225806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7" name="Connector 126"/>
          <p:cNvCxnSpPr/>
          <p:nvPr/>
        </p:nvCxnSpPr>
        <p:spPr>
          <a:xfrm>
            <a:off x="8085582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8" name="Oval 127"/>
          <p:cNvSpPr/>
          <p:nvPr/>
        </p:nvSpPr>
        <p:spPr>
          <a:xfrm>
            <a:off x="8024317" y="263515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8865108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0" name="Oval 129"/>
          <p:cNvSpPr/>
          <p:nvPr/>
        </p:nvSpPr>
        <p:spPr>
          <a:xfrm>
            <a:off x="8803843" y="3627712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1" name="Connector 130"/>
          <p:cNvCxnSpPr/>
          <p:nvPr/>
        </p:nvCxnSpPr>
        <p:spPr>
          <a:xfrm>
            <a:off x="9644634" y="1956815"/>
            <a:ext cx="0" cy="2916937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Oval 131"/>
          <p:cNvSpPr/>
          <p:nvPr/>
        </p:nvSpPr>
        <p:spPr>
          <a:xfrm>
            <a:off x="9583369" y="437499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采样：在固定时刻取样，让时间上的记录变得离散。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演示B：把波形放大，能看见一个个采样点吗？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499616"/>
            <a:ext cx="1042416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同一段录音：左边看整体，右边看极短的一段。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2194560"/>
            <a:ext cx="493776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整段波形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46520" y="2194560"/>
            <a:ext cx="512064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400" b="1">
                <a:solidFill>
                  <a:srgbClr val="262626"/>
                </a:solidFill>
                <a:latin typeface="Alibaba PuHuiTi 3.0 115 Black"/>
              </a:defRPr>
            </a:pPr>
            <a:r>
              <a:t>局部放大：真实样本点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04672" y="3794760"/>
            <a:ext cx="5029200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50392" y="2889504"/>
            <a:ext cx="0" cy="1856232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04672" y="245973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9472" y="39227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923544" y="3597279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970178" y="3517577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016812" y="3442247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063447" y="3372475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110081" y="330936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156716" y="3253907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203350" y="3206980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249984" y="3169323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296619" y="3141529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343253" y="3124037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389888" y="311712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1436522" y="3117122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483156" y="3120894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529791" y="3135294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576425" y="3160094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623060" y="3194903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69694" y="3239172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1716328" y="3292203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1762963" y="335315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809597" y="3421080"/>
            <a:ext cx="46635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1856232" y="3494894"/>
            <a:ext cx="46634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902866" y="3573437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1949500" y="3655470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1996135" y="373970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042769" y="3824799"/>
            <a:ext cx="46635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089404" y="3909423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136038" y="3992240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182672" y="4071942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229307" y="4147272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275941" y="421704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322576" y="4280155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369210" y="4335612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415844" y="4382539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462479" y="4420196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509113" y="4447990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555748" y="446548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 flipV="1">
            <a:off x="2602382" y="4468625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 flipV="1">
            <a:off x="2649016" y="4454225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 flipV="1">
            <a:off x="2695651" y="4429425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2742285" y="4394616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2788920" y="4350347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2835554" y="4297316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882188" y="4236360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2928823" y="416843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2975457" y="4094625"/>
            <a:ext cx="46634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022091" y="4016082"/>
            <a:ext cx="46635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068726" y="3934049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115360" y="3849819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161995" y="376472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208629" y="3680096"/>
            <a:ext cx="46634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255263" y="3597279"/>
            <a:ext cx="46635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301898" y="3517577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348532" y="3442247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395167" y="3372475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441801" y="330936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3488436" y="3253907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3535070" y="3206980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3581704" y="3169323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3628339" y="3141529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3674973" y="3124037"/>
            <a:ext cx="46634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3721607" y="3117122"/>
            <a:ext cx="46635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>
            <a:off x="3768242" y="3117122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3814876" y="3120894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3861511" y="3135294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3908145" y="3160094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3954780" y="3194903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4001414" y="3239172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4048048" y="3292203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094683" y="335315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4141317" y="3421080"/>
            <a:ext cx="46634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4187951" y="3494894"/>
            <a:ext cx="46635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4234586" y="3573437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4281220" y="3655470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4327855" y="373970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4374489" y="3824799"/>
            <a:ext cx="46635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4421124" y="3909423"/>
            <a:ext cx="46634" cy="828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4467758" y="3992240"/>
            <a:ext cx="46634" cy="7970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4514392" y="4071942"/>
            <a:ext cx="46635" cy="753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4561027" y="4147272"/>
            <a:ext cx="46634" cy="69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4607661" y="4217044"/>
            <a:ext cx="46635" cy="631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4654296" y="4280155"/>
            <a:ext cx="46634" cy="554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4700930" y="4335612"/>
            <a:ext cx="46634" cy="469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747564" y="4382539"/>
            <a:ext cx="46635" cy="3765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4794199" y="4420196"/>
            <a:ext cx="46634" cy="2779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4840833" y="4447990"/>
            <a:ext cx="46635" cy="174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4887468" y="4465482"/>
            <a:ext cx="46634" cy="6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4934102" y="4468625"/>
            <a:ext cx="46634" cy="37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4980736" y="4454225"/>
            <a:ext cx="46635" cy="144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5027371" y="4429425"/>
            <a:ext cx="46634" cy="2480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5074005" y="4394616"/>
            <a:ext cx="46635" cy="348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5120640" y="4350347"/>
            <a:ext cx="46634" cy="442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5167274" y="4297316"/>
            <a:ext cx="46634" cy="5303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5213908" y="4236360"/>
            <a:ext cx="46635" cy="6095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5260543" y="4168439"/>
            <a:ext cx="46634" cy="6792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5307177" y="4094625"/>
            <a:ext cx="46635" cy="738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5353812" y="4016082"/>
            <a:ext cx="46634" cy="7854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5400446" y="3934049"/>
            <a:ext cx="46634" cy="82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5447080" y="3849819"/>
            <a:ext cx="46635" cy="842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5493715" y="3764720"/>
            <a:ext cx="46634" cy="850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5540349" y="3680096"/>
            <a:ext cx="46634" cy="8462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6446520" y="3794760"/>
            <a:ext cx="4892039" cy="0"/>
          </a:xfrm>
          <a:prstGeom prst="line">
            <a:avLst/>
          </a:prstGeom>
          <a:ln w="1778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6492240" y="2889504"/>
            <a:ext cx="0" cy="1856232"/>
          </a:xfrm>
          <a:prstGeom prst="line">
            <a:avLst/>
          </a:prstGeom>
          <a:ln w="1397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TextBox 113"/>
          <p:cNvSpPr txBox="1"/>
          <p:nvPr/>
        </p:nvSpPr>
        <p:spPr>
          <a:xfrm>
            <a:off x="6446520" y="2459736"/>
            <a:ext cx="1143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0424159" y="39227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17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116" name="Connector 115"/>
          <p:cNvCxnSpPr/>
          <p:nvPr/>
        </p:nvCxnSpPr>
        <p:spPr>
          <a:xfrm flipV="1">
            <a:off x="6565392" y="3621856"/>
            <a:ext cx="45262" cy="5824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6610654" y="3564953"/>
            <a:ext cx="45263" cy="569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6655917" y="3509827"/>
            <a:ext cx="45263" cy="5512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6701180" y="3456905"/>
            <a:ext cx="45263" cy="529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6746443" y="3406595"/>
            <a:ext cx="45262" cy="5031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6791705" y="3359287"/>
            <a:ext cx="45263" cy="4730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 flipV="1">
            <a:off x="6836968" y="3315346"/>
            <a:ext cx="45263" cy="439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 flipV="1">
            <a:off x="6882231" y="3275112"/>
            <a:ext cx="45263" cy="4023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6927494" y="3238897"/>
            <a:ext cx="45263" cy="362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6972757" y="3206980"/>
            <a:ext cx="45263" cy="319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7018020" y="3179608"/>
            <a:ext cx="45262" cy="273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7063282" y="3156993"/>
            <a:ext cx="45263" cy="22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7108545" y="3139310"/>
            <a:ext cx="45263" cy="176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7153808" y="3126695"/>
            <a:ext cx="45263" cy="126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7199071" y="3119246"/>
            <a:ext cx="45262" cy="744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7244333" y="3117021"/>
            <a:ext cx="45263" cy="222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7289596" y="3117021"/>
            <a:ext cx="45263" cy="30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7334859" y="3120037"/>
            <a:ext cx="45263" cy="82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7380122" y="3128270"/>
            <a:ext cx="45263" cy="1338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7425385" y="3141657"/>
            <a:ext cx="45263" cy="1843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7470648" y="3160094"/>
            <a:ext cx="45262" cy="2334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7515910" y="3183439"/>
            <a:ext cx="45263" cy="280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7561173" y="3211511"/>
            <a:ext cx="45263" cy="3258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7606436" y="3244093"/>
            <a:ext cx="45263" cy="368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7651699" y="3280934"/>
            <a:ext cx="45263" cy="4081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7696962" y="3321747"/>
            <a:ext cx="45262" cy="444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7742224" y="3366219"/>
            <a:ext cx="45263" cy="4778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7787487" y="3414004"/>
            <a:ext cx="45263" cy="507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7832750" y="3464734"/>
            <a:ext cx="45263" cy="532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7878013" y="3518015"/>
            <a:ext cx="45262" cy="554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7923275" y="3573437"/>
            <a:ext cx="45263" cy="571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7968538" y="3630570"/>
            <a:ext cx="45263" cy="584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8013801" y="3688973"/>
            <a:ext cx="45263" cy="5922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8059064" y="3748193"/>
            <a:ext cx="45263" cy="5958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8104327" y="3807774"/>
            <a:ext cx="45263" cy="5948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8149590" y="3867254"/>
            <a:ext cx="45262" cy="5892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8194852" y="3926174"/>
            <a:ext cx="45263" cy="579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8240115" y="3984077"/>
            <a:ext cx="45263" cy="5643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8285378" y="4040516"/>
            <a:ext cx="45263" cy="5453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8330641" y="4095055"/>
            <a:ext cx="45263" cy="5221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8375904" y="4147272"/>
            <a:ext cx="45262" cy="4949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8421166" y="4196763"/>
            <a:ext cx="45263" cy="463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8466429" y="4243146"/>
            <a:ext cx="45263" cy="429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8511692" y="4286061"/>
            <a:ext cx="45263" cy="391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8556955" y="4325177"/>
            <a:ext cx="45262" cy="350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8602217" y="4360191"/>
            <a:ext cx="45263" cy="3064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8647480" y="4390833"/>
            <a:ext cx="45263" cy="2603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8692743" y="4416866"/>
            <a:ext cx="45263" cy="2122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8738006" y="4438088"/>
            <a:ext cx="45263" cy="1624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>
            <a:off x="8783269" y="4454335"/>
            <a:ext cx="45263" cy="1114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8828532" y="4465482"/>
            <a:ext cx="45262" cy="596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8873794" y="4471443"/>
            <a:ext cx="45263" cy="72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8919057" y="4467660"/>
            <a:ext cx="45263" cy="451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8964320" y="4457946"/>
            <a:ext cx="45263" cy="971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9009583" y="4443104"/>
            <a:ext cx="45263" cy="1484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9054846" y="4423249"/>
            <a:ext cx="45262" cy="198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9100108" y="4398533"/>
            <a:ext cx="45263" cy="247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9145371" y="4369149"/>
            <a:ext cx="45263" cy="2938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9190634" y="4335323"/>
            <a:ext cx="45263" cy="3382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9235897" y="4297316"/>
            <a:ext cx="45262" cy="3800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9281159" y="4255424"/>
            <a:ext cx="45263" cy="4189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9326422" y="4209970"/>
            <a:ext cx="45263" cy="4545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9371685" y="4161304"/>
            <a:ext cx="45263" cy="4866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9416948" y="4109805"/>
            <a:ext cx="45263" cy="514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9462211" y="4055869"/>
            <a:ext cx="45263" cy="5393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9507474" y="3999914"/>
            <a:ext cx="45262" cy="5595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9552736" y="3942373"/>
            <a:ext cx="45263" cy="575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9597999" y="3883690"/>
            <a:ext cx="45263" cy="5868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9643262" y="3824319"/>
            <a:ext cx="45263" cy="5937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9688525" y="3764720"/>
            <a:ext cx="45263" cy="5959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9733788" y="3705353"/>
            <a:ext cx="45262" cy="5936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9779050" y="3646678"/>
            <a:ext cx="45263" cy="5867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9824313" y="3589148"/>
            <a:ext cx="45263" cy="5753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9869576" y="3533207"/>
            <a:ext cx="45263" cy="559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9914839" y="3479289"/>
            <a:ext cx="45262" cy="5391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9960101" y="3427811"/>
            <a:ext cx="45263" cy="5147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 flipV="1">
            <a:off x="10005364" y="3379170"/>
            <a:ext cx="45263" cy="4864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 flipV="1">
            <a:off x="10050627" y="3333743"/>
            <a:ext cx="45263" cy="4542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10095890" y="3291881"/>
            <a:ext cx="45263" cy="4186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10141153" y="3253907"/>
            <a:ext cx="45262" cy="3797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10186415" y="3220116"/>
            <a:ext cx="45263" cy="3379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10231678" y="3190768"/>
            <a:ext cx="45263" cy="2934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10276941" y="3166091"/>
            <a:ext cx="45263" cy="2467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10322204" y="3146275"/>
            <a:ext cx="45263" cy="19816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10367467" y="3131474"/>
            <a:ext cx="45263" cy="14801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10412730" y="3121802"/>
            <a:ext cx="45262" cy="967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10457992" y="3117333"/>
            <a:ext cx="45263" cy="446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10503255" y="3117333"/>
            <a:ext cx="45263" cy="7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10548518" y="3118103"/>
            <a:ext cx="45263" cy="6003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10593781" y="3124106"/>
            <a:ext cx="45262" cy="1118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10639043" y="3135294"/>
            <a:ext cx="45263" cy="1628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10684306" y="3151582"/>
            <a:ext cx="45263" cy="21262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10729569" y="3172844"/>
            <a:ext cx="45263" cy="26070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10774832" y="3198914"/>
            <a:ext cx="45263" cy="3067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10820095" y="3229592"/>
            <a:ext cx="45262" cy="3504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10865357" y="3264641"/>
            <a:ext cx="45263" cy="39148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10910620" y="3303789"/>
            <a:ext cx="45263" cy="42944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10955883" y="3346733"/>
            <a:ext cx="45263" cy="46409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11001146" y="3393142"/>
            <a:ext cx="45263" cy="49515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11046409" y="3442657"/>
            <a:ext cx="45263" cy="52237"/>
          </a:xfrm>
          <a:prstGeom prst="line">
            <a:avLst/>
          </a:prstGeom>
          <a:ln w="2159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6" name="Oval 215"/>
          <p:cNvSpPr/>
          <p:nvPr/>
        </p:nvSpPr>
        <p:spPr>
          <a:xfrm>
            <a:off x="6507784" y="3622488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6809536" y="327199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7111288" y="307692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7413040" y="3102487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7714792" y="3340123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8016544" y="371042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8318296" y="408966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8620048" y="4351107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8921800" y="440739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9223552" y="4239709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9525304" y="390409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9827056" y="3512695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128808" y="3196300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430560" y="3060634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732312" y="3151032"/>
            <a:ext cx="115214" cy="115214"/>
          </a:xfrm>
          <a:prstGeom prst="ellipse">
            <a:avLst/>
          </a:prstGeom>
          <a:solidFill>
            <a:srgbClr val="00B0F0"/>
          </a:solidFill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TextBox 230"/>
          <p:cNvSpPr txBox="1"/>
          <p:nvPr/>
        </p:nvSpPr>
        <p:spPr>
          <a:xfrm>
            <a:off x="877824" y="5458968"/>
            <a:ext cx="1051560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先预测：放大到足够短的时间，会出现什么？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 Hz和2 Hz，一秒内取几个样本？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50976" y="2478024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42416" y="1819656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69848" y="150876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912096" y="25968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0976" y="128016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1 Hz</a:t>
            </a:r>
          </a:p>
        </p:txBody>
      </p:sp>
      <p:sp>
        <p:nvSpPr>
          <p:cNvPr id="10" name="Oval 9"/>
          <p:cNvSpPr/>
          <p:nvPr/>
        </p:nvSpPr>
        <p:spPr>
          <a:xfrm>
            <a:off x="108173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344875" y="1922068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608015" y="238932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871155" y="285658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50976" y="4443983"/>
            <a:ext cx="987552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42416" y="3785615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69848" y="34747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12096" y="4562855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50976" y="3246120"/>
            <a:ext cx="98755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2 Hz</a:t>
            </a:r>
          </a:p>
        </p:txBody>
      </p:sp>
      <p:sp>
        <p:nvSpPr>
          <p:cNvPr id="19" name="Oval 18"/>
          <p:cNvSpPr/>
          <p:nvPr/>
        </p:nvSpPr>
        <p:spPr>
          <a:xfrm>
            <a:off x="108173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21330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3344875" y="388802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476445" y="402488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608015" y="435528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73958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871155" y="482254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9002725" y="468568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7240" y="580644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采样率：每秒采集多少个样本，单位为Hz。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提高采样率，改变的是时间轴上的什么？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05840" y="243230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97280" y="173736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124712" y="142646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25511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119786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采样点较少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24712" y="235864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15786" y="229946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06860" y="224180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97934" y="218640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89008" y="213397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80083" y="208517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71157" y="204063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62231" y="200093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53305" y="196656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4380" y="193796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5454" y="191551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6528" y="189948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17602" y="189009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08677" y="188745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399751" y="188745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490825" y="189160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81899" y="190248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2974" y="191995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4048" y="194380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55122" y="197371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46196" y="200931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37271" y="205013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28345" y="209567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19419" y="214533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10493" y="219848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01568" y="225444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92642" y="231250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83716" y="237192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74790" y="243193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65864" y="249177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56939" y="255068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48013" y="260790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39087" y="266270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30161" y="271438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21236" y="276228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12310" y="280579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03384" y="284436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94458" y="287748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85533" y="290474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676607" y="292578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767681" y="294035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858755" y="294825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4949830" y="294373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040904" y="293137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131978" y="291246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223052" y="288723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314127" y="285602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05201" y="281922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496275" y="277730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587349" y="273080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678424" y="268031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769498" y="262647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860572" y="256998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951646" y="251155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042720" y="245194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133795" y="239189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224869" y="233219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315943" y="227360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407017" y="221685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498092" y="216269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589166" y="211179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680240" y="206481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771314" y="202236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862389" y="198496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953463" y="195311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044537" y="192721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135611" y="190758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226686" y="189448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317760" y="188808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408834" y="188808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499908" y="188846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590983" y="189561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682057" y="190944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773131" y="192978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864205" y="195636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7955280" y="198885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046354" y="202683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137428" y="206982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228502" y="211726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319576" y="216856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410651" y="222304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501725" y="228003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592799" y="233879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683873" y="239856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774948" y="245859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866022" y="251812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957096" y="257636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048170" y="263260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139245" y="268610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230319" y="273618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321393" y="278220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412467" y="282357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503542" y="285977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594616" y="289034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685690" y="291488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776764" y="293307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867839" y="294469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958913" y="294770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049987" y="293906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10141061" y="292376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0" name="Oval 109"/>
          <p:cNvSpPr/>
          <p:nvPr/>
        </p:nvSpPr>
        <p:spPr>
          <a:xfrm>
            <a:off x="1063447" y="235732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201875" y="1832687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340303" y="219318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478731" y="283060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2669540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755587" y="1981725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894015" y="1927593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9032443" y="2598471"/>
            <a:ext cx="122529" cy="122529"/>
          </a:xfrm>
          <a:prstGeom prst="ellipse">
            <a:avLst/>
          </a:prstGeom>
          <a:solidFill>
            <a:srgbClr val="8C64E1"/>
          </a:solidFill>
          <a:ln w="127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8" name="Connector 117"/>
          <p:cNvCxnSpPr/>
          <p:nvPr/>
        </p:nvCxnSpPr>
        <p:spPr>
          <a:xfrm>
            <a:off x="1005840" y="4535424"/>
            <a:ext cx="9747504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1097280" y="3840480"/>
            <a:ext cx="0" cy="1399032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TextBox 119"/>
          <p:cNvSpPr txBox="1"/>
          <p:nvPr/>
        </p:nvSpPr>
        <p:spPr>
          <a:xfrm>
            <a:off x="1124712" y="352958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9838944" y="465429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22" name="TextBox 121"/>
          <p:cNvSpPr txBox="1"/>
          <p:nvPr/>
        </p:nvSpPr>
        <p:spPr>
          <a:xfrm>
            <a:off x="1005840" y="3300984"/>
            <a:ext cx="9747504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采样点较多</a:t>
            </a:r>
          </a:p>
        </p:txBody>
      </p:sp>
      <p:cxnSp>
        <p:nvCxnSpPr>
          <p:cNvPr id="123" name="Connector 122"/>
          <p:cNvCxnSpPr/>
          <p:nvPr/>
        </p:nvCxnSpPr>
        <p:spPr>
          <a:xfrm flipV="1">
            <a:off x="1124712" y="4461761"/>
            <a:ext cx="91074" cy="599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 flipV="1">
            <a:off x="1215786" y="4402580"/>
            <a:ext cx="91074" cy="591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 flipV="1">
            <a:off x="1306860" y="4344922"/>
            <a:ext cx="91074" cy="5765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 flipV="1">
            <a:off x="1397934" y="4289523"/>
            <a:ext cx="91074" cy="553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 flipV="1">
            <a:off x="1489008" y="4237090"/>
            <a:ext cx="91075" cy="524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 flipV="1">
            <a:off x="1580083" y="4188294"/>
            <a:ext cx="91074" cy="487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 flipV="1">
            <a:off x="1671157" y="4143758"/>
            <a:ext cx="91074" cy="4453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 flipV="1">
            <a:off x="1762231" y="4104051"/>
            <a:ext cx="91074" cy="397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 flipV="1">
            <a:off x="1853305" y="4069681"/>
            <a:ext cx="91075" cy="343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 flipV="1">
            <a:off x="1944380" y="4041086"/>
            <a:ext cx="91074" cy="285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 flipV="1">
            <a:off x="2035454" y="4018633"/>
            <a:ext cx="91074" cy="224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 flipV="1">
            <a:off x="2126528" y="4002607"/>
            <a:ext cx="91074" cy="160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 flipV="1">
            <a:off x="2217602" y="3993214"/>
            <a:ext cx="91075" cy="9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2308677" y="3990574"/>
            <a:ext cx="91074" cy="26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2399751" y="3990574"/>
            <a:ext cx="91074" cy="41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2490825" y="3994721"/>
            <a:ext cx="91074" cy="108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2581899" y="4005601"/>
            <a:ext cx="91075" cy="1747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2672974" y="4023076"/>
            <a:ext cx="91074" cy="2384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2764048" y="4046921"/>
            <a:ext cx="91074" cy="29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2855122" y="4076834"/>
            <a:ext cx="91074" cy="3559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2946196" y="4112430"/>
            <a:ext cx="91075" cy="4082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>
            <a:off x="3037271" y="4153256"/>
            <a:ext cx="91074" cy="4553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>
            <a:off x="3128345" y="4198790"/>
            <a:ext cx="91074" cy="4966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>
            <a:off x="3219419" y="4248450"/>
            <a:ext cx="91074" cy="5315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>
            <a:off x="3310493" y="4301602"/>
            <a:ext cx="91075" cy="559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3401568" y="4357565"/>
            <a:ext cx="91074" cy="5806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3492642" y="4415627"/>
            <a:ext cx="91074" cy="594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>
            <a:off x="3583716" y="4475043"/>
            <a:ext cx="91074" cy="600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3674790" y="4535056"/>
            <a:ext cx="91074" cy="598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3765864" y="4594898"/>
            <a:ext cx="91075" cy="589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3856939" y="4653805"/>
            <a:ext cx="91074" cy="572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3948013" y="4711025"/>
            <a:ext cx="91074" cy="54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039087" y="4765825"/>
            <a:ext cx="91074" cy="516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130161" y="4817506"/>
            <a:ext cx="91075" cy="47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221236" y="4865407"/>
            <a:ext cx="91074" cy="435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312310" y="4908917"/>
            <a:ext cx="91074" cy="3856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4403384" y="4947480"/>
            <a:ext cx="91074" cy="331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4494458" y="4980602"/>
            <a:ext cx="91075" cy="2725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4585533" y="5007861"/>
            <a:ext cx="91074" cy="210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4676607" y="5028908"/>
            <a:ext cx="91074" cy="145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4767681" y="5043474"/>
            <a:ext cx="91074" cy="7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4858755" y="5051373"/>
            <a:ext cx="91075" cy="11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4949830" y="5046855"/>
            <a:ext cx="91074" cy="565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040904" y="5034494"/>
            <a:ext cx="91074" cy="1236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131978" y="5015581"/>
            <a:ext cx="91074" cy="1891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223052" y="4990359"/>
            <a:ext cx="91075" cy="252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314127" y="4959147"/>
            <a:ext cx="91074" cy="3121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405201" y="4922347"/>
            <a:ext cx="91074" cy="368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5496275" y="4880427"/>
            <a:ext cx="91074" cy="41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5587349" y="4833924"/>
            <a:ext cx="91075" cy="4650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5678424" y="4783432"/>
            <a:ext cx="91074" cy="50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5769498" y="4729595"/>
            <a:ext cx="91074" cy="538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5860572" y="4673103"/>
            <a:ext cx="91074" cy="5649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5951646" y="4614675"/>
            <a:ext cx="91074" cy="584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042720" y="4555060"/>
            <a:ext cx="91075" cy="596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133795" y="4495019"/>
            <a:ext cx="91074" cy="6004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 flipV="1">
            <a:off x="6224869" y="4435319"/>
            <a:ext cx="91074" cy="5970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 flipV="1">
            <a:off x="6315943" y="4376722"/>
            <a:ext cx="91074" cy="585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 flipV="1">
            <a:off x="6407017" y="4319978"/>
            <a:ext cx="91075" cy="56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6498092" y="4265812"/>
            <a:ext cx="91074" cy="5416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6589166" y="4214915"/>
            <a:ext cx="91074" cy="508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6680240" y="4167939"/>
            <a:ext cx="91074" cy="46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6771314" y="4125482"/>
            <a:ext cx="91075" cy="4245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 flipV="1">
            <a:off x="6862389" y="4088089"/>
            <a:ext cx="91074" cy="373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 flipV="1">
            <a:off x="6953463" y="4056235"/>
            <a:ext cx="91074" cy="3185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 flipV="1">
            <a:off x="7044537" y="4030330"/>
            <a:ext cx="91074" cy="25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 flipV="1">
            <a:off x="7135611" y="4010702"/>
            <a:ext cx="91075" cy="19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 flipV="1">
            <a:off x="7226686" y="3997605"/>
            <a:ext cx="91074" cy="130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 flipV="1">
            <a:off x="7317760" y="3991203"/>
            <a:ext cx="91074" cy="640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408834" y="3991203"/>
            <a:ext cx="91074" cy="37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7499908" y="3991581"/>
            <a:ext cx="91075" cy="715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7590983" y="3998732"/>
            <a:ext cx="91074" cy="138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7682057" y="4012565"/>
            <a:ext cx="91074" cy="203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7773131" y="4032903"/>
            <a:ext cx="91074" cy="265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7864205" y="4059488"/>
            <a:ext cx="91075" cy="3249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7955280" y="4091978"/>
            <a:ext cx="91074" cy="3798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8046354" y="4129959"/>
            <a:ext cx="91074" cy="4298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>
            <a:off x="8137428" y="4172946"/>
            <a:ext cx="91074" cy="4744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>
            <a:off x="8228502" y="4220388"/>
            <a:ext cx="91074" cy="512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>
            <a:off x="8319576" y="4271681"/>
            <a:ext cx="91075" cy="5448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>
            <a:off x="8410651" y="4326169"/>
            <a:ext cx="91074" cy="569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>
            <a:off x="8501725" y="4383155"/>
            <a:ext cx="91074" cy="5875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>
            <a:off x="8592799" y="4441911"/>
            <a:ext cx="91074" cy="597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>
            <a:off x="8683873" y="4501687"/>
            <a:ext cx="91075" cy="600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>
            <a:off x="8774948" y="4561719"/>
            <a:ext cx="91074" cy="595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8866022" y="4621240"/>
            <a:ext cx="91074" cy="5824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8957096" y="4679489"/>
            <a:ext cx="91074" cy="5623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048170" y="4735721"/>
            <a:ext cx="91075" cy="534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139245" y="4789220"/>
            <a:ext cx="91074" cy="500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230319" y="4839300"/>
            <a:ext cx="91074" cy="4602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321393" y="4885322"/>
            <a:ext cx="91074" cy="41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412467" y="4926698"/>
            <a:ext cx="91075" cy="362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5" name="Connector 214"/>
          <p:cNvCxnSpPr/>
          <p:nvPr/>
        </p:nvCxnSpPr>
        <p:spPr>
          <a:xfrm>
            <a:off x="9503542" y="4962899"/>
            <a:ext cx="91074" cy="305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6" name="Connector 215"/>
          <p:cNvCxnSpPr/>
          <p:nvPr/>
        </p:nvCxnSpPr>
        <p:spPr>
          <a:xfrm>
            <a:off x="9594616" y="4993463"/>
            <a:ext cx="91074" cy="2453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7" name="Connector 216"/>
          <p:cNvCxnSpPr/>
          <p:nvPr/>
        </p:nvCxnSpPr>
        <p:spPr>
          <a:xfrm>
            <a:off x="9685690" y="5018000"/>
            <a:ext cx="91074" cy="181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8" name="Connector 217"/>
          <p:cNvCxnSpPr/>
          <p:nvPr/>
        </p:nvCxnSpPr>
        <p:spPr>
          <a:xfrm>
            <a:off x="9776764" y="5036195"/>
            <a:ext cx="91075" cy="1162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9" name="Connector 218"/>
          <p:cNvCxnSpPr/>
          <p:nvPr/>
        </p:nvCxnSpPr>
        <p:spPr>
          <a:xfrm>
            <a:off x="9867839" y="5047816"/>
            <a:ext cx="91074" cy="48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0" name="Connector 219"/>
          <p:cNvCxnSpPr/>
          <p:nvPr/>
        </p:nvCxnSpPr>
        <p:spPr>
          <a:xfrm flipV="1">
            <a:off x="9958913" y="5050829"/>
            <a:ext cx="91074" cy="18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1" name="Connector 220"/>
          <p:cNvCxnSpPr/>
          <p:nvPr/>
        </p:nvCxnSpPr>
        <p:spPr>
          <a:xfrm flipV="1">
            <a:off x="10049987" y="5042182"/>
            <a:ext cx="91074" cy="86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2" name="Connector 221"/>
          <p:cNvCxnSpPr/>
          <p:nvPr/>
        </p:nvCxnSpPr>
        <p:spPr>
          <a:xfrm flipV="1">
            <a:off x="10141061" y="5026885"/>
            <a:ext cx="91075" cy="152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3" name="Oval 222"/>
          <p:cNvSpPr/>
          <p:nvPr/>
        </p:nvSpPr>
        <p:spPr>
          <a:xfrm>
            <a:off x="1063447" y="44604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518818" y="417582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974189" y="397982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2429560" y="393345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2884932" y="405116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3340303" y="429630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3795674" y="459254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4251045" y="484765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4706416" y="498220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5161788" y="495431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5617159" y="47726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6072530" y="449379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6527901" y="420454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6983272" y="3994971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7438644" y="393031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7894015" y="403071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8349386" y="426490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8804757" y="455997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9260128" y="482405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9715500" y="497493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TextBox 242"/>
          <p:cNvSpPr txBox="1"/>
          <p:nvPr/>
        </p:nvSpPr>
        <p:spPr>
          <a:xfrm>
            <a:off x="777240" y="596188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每秒记录的次数变多；数据量也会随之增加。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采样点的值，可能是3.71这样的数。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868680" y="3346704"/>
            <a:ext cx="10149839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60120" y="1956816"/>
            <a:ext cx="0" cy="278892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87552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104119" y="3465576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005840" y="3235877"/>
            <a:ext cx="93451" cy="9711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99291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192743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286195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379646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473098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566550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660001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53453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46905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40356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33808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27260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20711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14163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07615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501066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594518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87970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81421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74873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68325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61776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55228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248680" y="2537895"/>
            <a:ext cx="93452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42132" y="2603324"/>
            <a:ext cx="93451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35583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29035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22487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15938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09390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02842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996293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089745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183197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276648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70100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63552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57003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50455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43907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37358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930810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024262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117713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211165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304617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398068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491520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584972" y="4360308"/>
            <a:ext cx="93452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4360308"/>
            <a:ext cx="93451" cy="458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71875" y="4346610"/>
            <a:ext cx="93452" cy="1369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5327" y="4323915"/>
            <a:ext cx="93452" cy="2269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8779" y="4292424"/>
            <a:ext cx="93451" cy="31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52230" y="4252417"/>
            <a:ext cx="93452" cy="4000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45682" y="4204250"/>
            <a:ext cx="93452" cy="4816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39134" y="4148349"/>
            <a:ext cx="93451" cy="5590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32585" y="4085211"/>
            <a:ext cx="93452" cy="6313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26037" y="4015395"/>
            <a:ext cx="93452" cy="6981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19489" y="3939523"/>
            <a:ext cx="93451" cy="758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612940" y="3858268"/>
            <a:ext cx="93452" cy="812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706392" y="3772349"/>
            <a:ext cx="93452" cy="85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99844" y="3682531"/>
            <a:ext cx="93451" cy="8981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93295" y="3589611"/>
            <a:ext cx="93452" cy="9292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86747" y="3494412"/>
            <a:ext cx="93452" cy="9519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80199" y="3397781"/>
            <a:ext cx="93451" cy="9663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73650" y="3300575"/>
            <a:ext cx="93452" cy="9720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67102" y="3203656"/>
            <a:ext cx="93452" cy="9691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60554" y="3107885"/>
            <a:ext cx="93451" cy="9577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454005" y="3014113"/>
            <a:ext cx="93452" cy="937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547457" y="2923170"/>
            <a:ext cx="93452" cy="9094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640909" y="2835866"/>
            <a:ext cx="93451" cy="873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734360" y="2752973"/>
            <a:ext cx="93452" cy="8289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827812" y="2675229"/>
            <a:ext cx="93452" cy="7774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921264" y="2603324"/>
            <a:ext cx="93452" cy="719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8014716" y="2537895"/>
            <a:ext cx="93451" cy="6542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8108167" y="2479523"/>
            <a:ext cx="93452" cy="58372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8201619" y="2428726"/>
            <a:ext cx="93452" cy="5079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8295071" y="2385956"/>
            <a:ext cx="93451" cy="4277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388522" y="2351592"/>
            <a:ext cx="93452" cy="3436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481974" y="2325939"/>
            <a:ext cx="93452" cy="2565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575426" y="2309224"/>
            <a:ext cx="93451" cy="1671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668877" y="2301596"/>
            <a:ext cx="93452" cy="762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762329" y="2301596"/>
            <a:ext cx="93452" cy="152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855781" y="2303123"/>
            <a:ext cx="93451" cy="10669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949232" y="2313792"/>
            <a:ext cx="93452" cy="1971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9042684" y="2333506"/>
            <a:ext cx="93452" cy="2858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136136" y="2362092"/>
            <a:ext cx="93451" cy="37204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229587" y="2399296"/>
            <a:ext cx="93452" cy="45491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323039" y="2444787"/>
            <a:ext cx="93452" cy="533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416491" y="2498163"/>
            <a:ext cx="93451" cy="6078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509942" y="2558948"/>
            <a:ext cx="93452" cy="6765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603394" y="2626603"/>
            <a:ext cx="93452" cy="7392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96846" y="2700528"/>
            <a:ext cx="93451" cy="7954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90297" y="2780068"/>
            <a:ext cx="93452" cy="84447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883749" y="2864515"/>
            <a:ext cx="93452" cy="88605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977201" y="2953120"/>
            <a:ext cx="93451" cy="91976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10070652" y="3045096"/>
            <a:ext cx="93452" cy="94533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10164104" y="3139629"/>
            <a:ext cx="93452" cy="96248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0257556" y="3235877"/>
            <a:ext cx="93452" cy="97110"/>
          </a:xfrm>
          <a:prstGeom prst="line">
            <a:avLst/>
          </a:prstGeom>
          <a:ln w="2540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944575" y="32717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879091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813608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748125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4682642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617159" y="430362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6551676" y="387825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7486192" y="29528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8420709" y="229032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9355226" y="243689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3690518" y="2895241"/>
            <a:ext cx="237744" cy="237744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973982" y="2611777"/>
            <a:ext cx="2880360" cy="4846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某个样本：3.71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新问题：如果只允许8个振幅等级，怎么记录这些值？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把振幅划分成0～7，共几个等级？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600200" y="5394960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13816" y="523036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600200" y="4910328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813816" y="4745736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600200" y="4425696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813816" y="4261104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600200" y="3941064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13816" y="3776472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600200" y="3456432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813816" y="3291840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600200" y="2971800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813816" y="2807208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600200" y="2487168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13816" y="2322576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600200" y="2002536"/>
            <a:ext cx="8001000" cy="0"/>
          </a:xfrm>
          <a:prstGeom prst="line">
            <a:avLst/>
          </a:prstGeom>
          <a:ln w="3175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13816" y="1837944"/>
            <a:ext cx="59436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rPr sz="2300" b="1">
                <a:solidFill>
                  <a:srgbClr val="6251B1"/>
                </a:solidFill>
                <a:latin typeface="Alibaba PuHuiTi 3.0 115 Black"/>
              </a:rPr>
              <a:t>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0也是一个等级，所以一共有8个等级。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应记为等级3，还是等级4？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00784"/>
            <a:ext cx="1078992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500">
                <a:solidFill>
                  <a:srgbClr val="262626"/>
                </a:solidFill>
                <a:latin typeface="Alibaba PuHuiTi 3.0 55 Regular"/>
              </a:defRPr>
            </a:pPr>
            <a:r>
              <a:t>幅度范围 [0,8) 划成8段，等级编号为 0～7。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2880360"/>
            <a:ext cx="1097280" cy="914400"/>
          </a:xfrm>
          <a:prstGeom prst="rect">
            <a:avLst/>
          </a:prstGeom>
          <a:noFill/>
          <a:ln w="19050">
            <a:solidFill>
              <a:srgbClr val="DD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28282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0280" y="2880360"/>
            <a:ext cx="1097280" cy="914400"/>
          </a:xfrm>
          <a:prstGeom prst="rect">
            <a:avLst/>
          </a:prstGeom>
          <a:noFill/>
          <a:ln w="19050">
            <a:solidFill>
              <a:srgbClr val="DD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80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28282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11880" y="2880360"/>
            <a:ext cx="1097280" cy="914400"/>
          </a:xfrm>
          <a:prstGeom prst="rect">
            <a:avLst/>
          </a:prstGeom>
          <a:noFill/>
          <a:ln w="19050">
            <a:solidFill>
              <a:srgbClr val="DD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28282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83480" y="2880360"/>
            <a:ext cx="1097280" cy="914400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83480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2880360"/>
            <a:ext cx="1097280" cy="914400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26679" y="2880360"/>
            <a:ext cx="1097280" cy="914400"/>
          </a:xfrm>
          <a:prstGeom prst="rect">
            <a:avLst/>
          </a:prstGeom>
          <a:noFill/>
          <a:ln w="19050">
            <a:solidFill>
              <a:srgbClr val="DD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79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28282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98280" y="2880360"/>
            <a:ext cx="1097280" cy="914400"/>
          </a:xfrm>
          <a:prstGeom prst="rect">
            <a:avLst/>
          </a:prstGeom>
          <a:noFill/>
          <a:ln w="19050">
            <a:solidFill>
              <a:srgbClr val="DD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98280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28282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469880" y="2880360"/>
            <a:ext cx="1097280" cy="914400"/>
          </a:xfrm>
          <a:prstGeom prst="rect">
            <a:avLst/>
          </a:prstGeom>
          <a:noFill/>
          <a:ln w="19050">
            <a:solidFill>
              <a:srgbClr val="DDDD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469880" y="3026664"/>
            <a:ext cx="1097280" cy="4846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000">
                <a:solidFill>
                  <a:srgbClr val="828282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242816"/>
            <a:ext cx="4846320" cy="6766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900">
                <a:solidFill>
                  <a:srgbClr val="262626"/>
                </a:solidFill>
                <a:latin typeface="Alibaba PuHuiTi 3.0 115 Black"/>
              </a:defRPr>
            </a:pPr>
            <a:r>
              <a:t>采样值：3.71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129784"/>
            <a:ext cx="1051560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700">
                <a:solidFill>
                  <a:srgbClr val="8C64E1"/>
                </a:solidFill>
                <a:latin typeface="Alibaba PuHuiTi 3.0 115 Black"/>
              </a:defRPr>
            </a:pPr>
            <a:r>
              <a:t>你预测：进入3号等级，还是4号等级？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量化：把每个样本归入一个代表值。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901952" y="5257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078992" y="5093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901952" y="4800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1078992" y="4636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901952" y="4343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78992" y="41788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901952" y="38862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1078992" y="37216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01952" y="34290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078992" y="32644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901952" y="29718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78992" y="28072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901952" y="25146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78992" y="2350008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901952" y="2057400"/>
            <a:ext cx="7059168" cy="0"/>
          </a:xfrm>
          <a:prstGeom prst="line">
            <a:avLst/>
          </a:prstGeom>
          <a:ln w="1905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1078992" y="1892807"/>
            <a:ext cx="64008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1" name="Oval 20"/>
          <p:cNvSpPr/>
          <p:nvPr/>
        </p:nvSpPr>
        <p:spPr>
          <a:xfrm>
            <a:off x="5577840" y="3474720"/>
            <a:ext cx="173736" cy="173736"/>
          </a:xfrm>
          <a:prstGeom prst="ellipse">
            <a:avLst/>
          </a:prstGeom>
          <a:solidFill>
            <a:srgbClr val="FFFFFF"/>
          </a:solidFill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5577840" y="3799332"/>
            <a:ext cx="173736" cy="173736"/>
          </a:xfrm>
          <a:prstGeom prst="ellipse">
            <a:avLst/>
          </a:prstGeom>
          <a:solidFill>
            <a:srgbClr val="00B0F0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3" name="Connector 22"/>
          <p:cNvCxnSpPr/>
          <p:nvPr/>
        </p:nvCxnSpPr>
        <p:spPr>
          <a:xfrm>
            <a:off x="5669280" y="3662172"/>
            <a:ext cx="0" cy="123443"/>
          </a:xfrm>
          <a:prstGeom prst="line">
            <a:avLst/>
          </a:prstGeom>
          <a:ln w="3429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080760" y="3150108"/>
            <a:ext cx="2743200" cy="4206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262626"/>
                </a:solidFill>
                <a:latin typeface="Alibaba PuHuiTi 3.0 115 Black"/>
              </a:defRPr>
            </a:pPr>
            <a:r>
              <a:t>原值 3.71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80760" y="3922776"/>
            <a:ext cx="22860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等级 L3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量化：用有限个等级来近似表示样本的振幅。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5394960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1800">
                <a:solidFill>
                  <a:srgbClr val="8C64E1"/>
                </a:solidFill>
                <a:latin typeface="Alibaba PuHuiTi 3.0 115 Black"/>
              </a:defRPr>
            </a:pPr>
            <a:r>
              <a:t>规则：[3,4) → L3；区间代表值可取 3.5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同一个声音的10个样本，怎样依次编码？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847088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采样顺序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1635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量化等级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76472"/>
            <a:ext cx="18288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8C64E1"/>
                </a:solidFill>
                <a:latin typeface="Alibaba PuHuiTi 3.0 115 Black"/>
              </a:defRPr>
            </a:pPr>
            <a:r>
              <a:t>3 bit码字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88336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88336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88336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44952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3044952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54787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787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787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101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904487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3904487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0740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0740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111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476402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476402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26694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6694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6694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110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623559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623559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12647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7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647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483095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6483095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6986015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86015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86015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010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342631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7342631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7845552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7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845552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845552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000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8202168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8202168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705088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8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05088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705088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001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9061704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061704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9564624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564624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64624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011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921240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9921240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10424159" y="1856231"/>
            <a:ext cx="731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800" b="0">
                <a:solidFill>
                  <a:srgbClr val="808080"/>
                </a:solidFill>
                <a:latin typeface="Alibaba PuHuiTi 3.0 55 Regular"/>
              </a:defRPr>
            </a:pPr>
            <a:r>
              <a:t>10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424159" y="2807208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4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424159" y="3776472"/>
            <a:ext cx="7315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1900" b="1">
                <a:solidFill>
                  <a:srgbClr val="00B0F0"/>
                </a:solidFill>
                <a:latin typeface="Alibaba PuHuiTi 3.0 115 Black"/>
              </a:defRPr>
            </a:pPr>
            <a:r>
              <a:t>100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780776" y="2249424"/>
            <a:ext cx="0" cy="466344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10780776" y="3191256"/>
            <a:ext cx="0" cy="493776"/>
          </a:xfrm>
          <a:prstGeom prst="line">
            <a:avLst/>
          </a:prstGeom>
          <a:ln w="127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TextBox 5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采样决定“什么时候记录”，量化决定“记录哪个等级”，编码决定“用哪些bit表示”。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3.71 为什么写成 011，而不是 100？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4124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采样原值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3.71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23697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63016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21607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输入范围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21607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[3,4)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1733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ectangle 12"/>
          <p:cNvSpPr/>
          <p:nvPr/>
        </p:nvSpPr>
        <p:spPr>
          <a:xfrm>
            <a:off x="6510528" y="2249424"/>
            <a:ext cx="2432304" cy="1636776"/>
          </a:xfrm>
          <a:prstGeom prst="rect">
            <a:avLst/>
          </a:prstGeom>
          <a:solidFill>
            <a:srgbClr val="FFF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196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量化等级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196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262626"/>
                </a:solidFill>
                <a:latin typeface="Alibaba PuHuiTi 3.0 115 Black"/>
              </a:defRPr>
            </a:pPr>
            <a:r>
              <a:t>L3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8997696" y="3063240"/>
            <a:ext cx="329184" cy="0"/>
          </a:xfrm>
          <a:prstGeom prst="line">
            <a:avLst/>
          </a:prstGeom>
          <a:ln w="254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9390888" y="2249424"/>
            <a:ext cx="2432304" cy="1636776"/>
          </a:xfrm>
          <a:prstGeom prst="rect">
            <a:avLst/>
          </a:prstGeom>
          <a:solidFill>
            <a:srgbClr val="F3EFFF"/>
          </a:solidFill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482328" y="2441448"/>
            <a:ext cx="2267712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3 bit码字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482328" y="2980944"/>
            <a:ext cx="2267712" cy="5943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3100">
                <a:solidFill>
                  <a:srgbClr val="8C64E1"/>
                </a:solidFill>
                <a:latin typeface="Alibaba PuHuiTi 3.0 115 Black"/>
              </a:defRPr>
            </a:pPr>
            <a:r>
              <a:t>011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6384" y="4663440"/>
            <a:ext cx="10652760" cy="7315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262626"/>
                </a:solidFill>
                <a:latin typeface="Alibaba PuHuiTi 3.0 115 Black"/>
              </a:defRPr>
            </a:pPr>
            <a:r>
              <a:t>规则：按输入范围确定等级，再用固定长度的0和1记录等级编号。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8" y="5824728"/>
            <a:ext cx="1033272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8C64E1"/>
                </a:solidFill>
                <a:latin typeface="Alibaba PuHuiTi 3.0 55 Regular"/>
              </a:defRPr>
            </a:pPr>
            <a:r>
              <a:t>验证：输入值4.15对应的码字是什么？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一个样本需要几个二进制位？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2104" y="1682496"/>
            <a:ext cx="6583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100" b="1">
                <a:solidFill>
                  <a:srgbClr val="8C64E1"/>
                </a:solidFill>
                <a:latin typeface="Alibaba PuHuiTi 3.0 115 Black"/>
              </a:defRPr>
            </a:pPr>
            <a:r>
              <a:t>8个等级 = 2³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8755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0 → 000</a:t>
            </a:r>
          </a:p>
        </p:txBody>
      </p:sp>
      <p:sp>
        <p:nvSpPr>
          <p:cNvPr id="8" name="Rectangle 7"/>
          <p:cNvSpPr/>
          <p:nvPr/>
        </p:nvSpPr>
        <p:spPr>
          <a:xfrm>
            <a:off x="370332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7647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1 → 001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65392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2 → 010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281159" y="2724912"/>
            <a:ext cx="226771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354311" y="284378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3 → 011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1440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4 → 100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70332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77647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5 → 101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92240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6 → 110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281159" y="3913632"/>
            <a:ext cx="226771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54311" y="4032504"/>
            <a:ext cx="21214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7 → 111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3 bit可以写出8种不同的编码：000～111。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把量化等级分得更细，会发生什么？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755648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3 bit → 8级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1371600" y="5230368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371600" y="4828031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1371600" y="4425696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1371600" y="4023359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371600" y="3621024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371600" y="3218687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371600" y="2816351"/>
            <a:ext cx="4069080" cy="0"/>
          </a:xfrm>
          <a:prstGeom prst="line">
            <a:avLst/>
          </a:prstGeom>
          <a:ln w="2032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1371600" y="2414015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371600" y="5486400"/>
            <a:ext cx="41148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可选代表值更密集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1755648"/>
            <a:ext cx="434340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4 bit → 16级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858000" y="5230368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6858000" y="5042611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6858000" y="4854854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6858000" y="4667097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6858000" y="4479340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6858000" y="4291584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6858000" y="4103827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6858000" y="3916070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6858000" y="3728313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858000" y="3540556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6858000" y="3352800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3165043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58000" y="2977286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6858000" y="2789529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6858000" y="2601772"/>
            <a:ext cx="4069080" cy="0"/>
          </a:xfrm>
          <a:prstGeom prst="line">
            <a:avLst/>
          </a:prstGeom>
          <a:ln w="2032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6858000" y="2414015"/>
            <a:ext cx="4069080" cy="0"/>
          </a:xfrm>
          <a:prstGeom prst="line">
            <a:avLst/>
          </a:prstGeom>
          <a:ln w="2032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858000" y="5486400"/>
            <a:ext cx="411480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可选代表值更密集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不要混淆：采样率和量化位数。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69264" y="3291840"/>
            <a:ext cx="978408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060704" y="1956816"/>
            <a:ext cx="0" cy="2679191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88136" y="1645920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38944" y="341071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cxnSp>
        <p:nvCxnSpPr>
          <p:cNvPr id="9" name="Connector 8"/>
          <p:cNvCxnSpPr/>
          <p:nvPr/>
        </p:nvCxnSpPr>
        <p:spPr>
          <a:xfrm flipV="1">
            <a:off x="1106424" y="3153678"/>
            <a:ext cx="91440" cy="1107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197864" y="3044364"/>
            <a:ext cx="91440" cy="1093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89304" y="2937861"/>
            <a:ext cx="91440" cy="10650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80744" y="2835531"/>
            <a:ext cx="91440" cy="1023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72184" y="2738680"/>
            <a:ext cx="91440" cy="96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63624" y="2648547"/>
            <a:ext cx="91440" cy="901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55064" y="2566283"/>
            <a:ext cx="91440" cy="8226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46504" y="2492940"/>
            <a:ext cx="91439" cy="733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837943" y="2429453"/>
            <a:ext cx="91441" cy="6348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929384" y="2376635"/>
            <a:ext cx="91440" cy="52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2020824" y="2335161"/>
            <a:ext cx="91440" cy="414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112264" y="2305560"/>
            <a:ext cx="91440" cy="2960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203704" y="2288210"/>
            <a:ext cx="91440" cy="17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95144" y="2283334"/>
            <a:ext cx="91440" cy="487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2386584" y="2283334"/>
            <a:ext cx="91440" cy="765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2478024" y="2290993"/>
            <a:ext cx="91440" cy="200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2569464" y="2311090"/>
            <a:ext cx="91440" cy="3227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2660904" y="2343368"/>
            <a:ext cx="91440" cy="440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752344" y="2387414"/>
            <a:ext cx="91440" cy="552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843784" y="2442666"/>
            <a:ext cx="91440" cy="657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935224" y="2508418"/>
            <a:ext cx="91440" cy="7541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026664" y="2583829"/>
            <a:ext cx="91440" cy="8410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118104" y="2667936"/>
            <a:ext cx="91440" cy="9172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209544" y="2759665"/>
            <a:ext cx="91440" cy="981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300984" y="2857842"/>
            <a:ext cx="91440" cy="10337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392424" y="2961215"/>
            <a:ext cx="91440" cy="10724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483864" y="3068462"/>
            <a:ext cx="91440" cy="1097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575304" y="3178212"/>
            <a:ext cx="91440" cy="1108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666744" y="3289064"/>
            <a:ext cx="91439" cy="1105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758183" y="3399601"/>
            <a:ext cx="91441" cy="1088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849624" y="3508410"/>
            <a:ext cx="91440" cy="1056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941064" y="3614101"/>
            <a:ext cx="91440" cy="10122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4032504" y="3715325"/>
            <a:ext cx="91440" cy="9546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4123944" y="3810787"/>
            <a:ext cx="91440" cy="8848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215384" y="3899267"/>
            <a:ext cx="91440" cy="803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306824" y="3979636"/>
            <a:ext cx="91440" cy="712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398264" y="4050866"/>
            <a:ext cx="91440" cy="6118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489704" y="4112047"/>
            <a:ext cx="91440" cy="50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581144" y="4162397"/>
            <a:ext cx="91440" cy="3887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672584" y="4201274"/>
            <a:ext cx="91440" cy="2690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764024" y="4228180"/>
            <a:ext cx="91440" cy="145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855464" y="4242771"/>
            <a:ext cx="91440" cy="209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 flipV="1">
            <a:off x="4946904" y="4234424"/>
            <a:ext cx="91440" cy="1043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 flipV="1">
            <a:off x="5038344" y="4211593"/>
            <a:ext cx="91440" cy="228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 flipV="1">
            <a:off x="5129784" y="4176659"/>
            <a:ext cx="91440" cy="3493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5221224" y="4130069"/>
            <a:ext cx="91440" cy="4659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 flipV="1">
            <a:off x="5312664" y="4072417"/>
            <a:ext cx="91439" cy="576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5404103" y="4004442"/>
            <a:ext cx="91441" cy="6797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5495544" y="3927011"/>
            <a:ext cx="91440" cy="7743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5586984" y="3841114"/>
            <a:ext cx="91440" cy="8589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5678424" y="3747848"/>
            <a:ext cx="91440" cy="932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769864" y="3648404"/>
            <a:ext cx="91440" cy="9944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861304" y="3544054"/>
            <a:ext cx="91440" cy="10435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952744" y="3436132"/>
            <a:ext cx="91440" cy="10792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6044184" y="3326014"/>
            <a:ext cx="91440" cy="1101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6135624" y="3215110"/>
            <a:ext cx="91440" cy="11090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6227064" y="3104836"/>
            <a:ext cx="91439" cy="11027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318503" y="2996600"/>
            <a:ext cx="91441" cy="10823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409944" y="2891787"/>
            <a:ext cx="91439" cy="1048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501383" y="2791734"/>
            <a:ext cx="91441" cy="10005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592824" y="2697721"/>
            <a:ext cx="91440" cy="9401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684264" y="2610949"/>
            <a:ext cx="91440" cy="867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775704" y="2532526"/>
            <a:ext cx="91440" cy="784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867144" y="2463455"/>
            <a:ext cx="91440" cy="6907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958584" y="2404618"/>
            <a:ext cx="91440" cy="5883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7050024" y="2356767"/>
            <a:ext cx="91440" cy="4785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7141464" y="2320513"/>
            <a:ext cx="91440" cy="3625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7232904" y="2296319"/>
            <a:ext cx="91440" cy="2419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324344" y="2284496"/>
            <a:ext cx="91439" cy="1182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7415783" y="2284496"/>
            <a:ext cx="91441" cy="69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7507224" y="2285192"/>
            <a:ext cx="91439" cy="132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7598663" y="2298401"/>
            <a:ext cx="91441" cy="2555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>
            <a:off x="7690104" y="2323953"/>
            <a:ext cx="91440" cy="3756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7781544" y="2361521"/>
            <a:ext cx="91439" cy="491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7872983" y="2410626"/>
            <a:ext cx="91441" cy="6001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>
            <a:off x="7964424" y="2470640"/>
            <a:ext cx="91439" cy="701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>
            <a:off x="8055863" y="2540796"/>
            <a:ext cx="91441" cy="7940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>
            <a:off x="8147304" y="2620198"/>
            <a:ext cx="91440" cy="8763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>
            <a:off x="8238744" y="2707831"/>
            <a:ext cx="91439" cy="9474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8330183" y="2802576"/>
            <a:ext cx="91441" cy="10064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8421624" y="2903222"/>
            <a:ext cx="91440" cy="10526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8513064" y="3008483"/>
            <a:ext cx="91440" cy="10853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8604504" y="3117013"/>
            <a:ext cx="91439" cy="11041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8695943" y="3227428"/>
            <a:ext cx="91441" cy="11088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787384" y="3338314"/>
            <a:ext cx="91440" cy="10994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878824" y="3448257"/>
            <a:ext cx="91439" cy="107593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970263" y="3555850"/>
            <a:ext cx="91441" cy="103870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9061704" y="3659720"/>
            <a:ext cx="91440" cy="98818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9153144" y="3758538"/>
            <a:ext cx="91440" cy="9250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9244584" y="3851043"/>
            <a:ext cx="91440" cy="850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9336024" y="3936052"/>
            <a:ext cx="91439" cy="76427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427463" y="4012479"/>
            <a:ext cx="91441" cy="6686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518904" y="4079348"/>
            <a:ext cx="91440" cy="5645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610344" y="4135804"/>
            <a:ext cx="91440" cy="45321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701784" y="4181125"/>
            <a:ext cx="91440" cy="3360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793224" y="4214734"/>
            <a:ext cx="91439" cy="21466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884663" y="4236200"/>
            <a:ext cx="91441" cy="9049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976104" y="4241765"/>
            <a:ext cx="91440" cy="3484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10067544" y="4225793"/>
            <a:ext cx="91440" cy="15972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10158984" y="4197538"/>
            <a:ext cx="91440" cy="28255"/>
          </a:xfrm>
          <a:prstGeom prst="line">
            <a:avLst/>
          </a:prstGeom>
          <a:ln w="2286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9" name="Oval 108"/>
          <p:cNvSpPr/>
          <p:nvPr/>
        </p:nvSpPr>
        <p:spPr>
          <a:xfrm>
            <a:off x="1045159" y="320314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1748543" y="2453233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2451928" y="2235996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3155313" y="270573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3858697" y="3528794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4562082" y="4120535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265466" y="4060637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968851" y="339164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6672236" y="2588760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7375620" y="222227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8079005" y="255251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8782389" y="3344908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9485774" y="4036599"/>
            <a:ext cx="122529" cy="122529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2" name="Connector 121"/>
          <p:cNvCxnSpPr/>
          <p:nvPr/>
        </p:nvCxnSpPr>
        <p:spPr>
          <a:xfrm>
            <a:off x="4023360" y="4754880"/>
            <a:ext cx="3200400" cy="0"/>
          </a:xfrm>
          <a:prstGeom prst="line">
            <a:avLst/>
          </a:prstGeom>
          <a:ln w="5080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3" name="TextBox 122"/>
          <p:cNvSpPr txBox="1"/>
          <p:nvPr/>
        </p:nvSpPr>
        <p:spPr>
          <a:xfrm>
            <a:off x="3657600" y="5038344"/>
            <a:ext cx="420624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00B0F0"/>
                </a:solidFill>
                <a:latin typeface="Alibaba PuHuiTi 3.0 115 Black"/>
              </a:defRPr>
            </a:pPr>
            <a:r>
              <a:t>采样率：时间方向</a:t>
            </a:r>
          </a:p>
        </p:txBody>
      </p:sp>
      <p:cxnSp>
        <p:nvCxnSpPr>
          <p:cNvPr id="124" name="Connector 123"/>
          <p:cNvCxnSpPr/>
          <p:nvPr/>
        </p:nvCxnSpPr>
        <p:spPr>
          <a:xfrm>
            <a:off x="10625328" y="2103120"/>
            <a:ext cx="0" cy="2395728"/>
          </a:xfrm>
          <a:prstGeom prst="line">
            <a:avLst/>
          </a:prstGeom>
          <a:ln w="508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9098280" y="1874519"/>
            <a:ext cx="2103120" cy="104241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量化位数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幅度方向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3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演示C：3 bit变4 bit，横向的点会变多吗？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91056"/>
            <a:ext cx="512064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采样率：横向有多少次记录？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91072" y="1591056"/>
            <a:ext cx="53035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4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量化位数：纵向有多少等级？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32688" y="4297680"/>
            <a:ext cx="4553712" cy="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932688" y="2240280"/>
            <a:ext cx="0" cy="219456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969264" y="3145084"/>
            <a:ext cx="52712" cy="5988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21976" y="3085791"/>
            <a:ext cx="52712" cy="5929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074688" y="3027685"/>
            <a:ext cx="52713" cy="581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127401" y="2971343"/>
            <a:ext cx="52712" cy="5634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180113" y="2917325"/>
            <a:ext cx="52713" cy="540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232826" y="2866170"/>
            <a:ext cx="52712" cy="5115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285538" y="2818386"/>
            <a:ext cx="52713" cy="4778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338251" y="2774448"/>
            <a:ext cx="52712" cy="4393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390963" y="2734794"/>
            <a:ext cx="52713" cy="396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443676" y="2699818"/>
            <a:ext cx="52712" cy="349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496388" y="2669869"/>
            <a:ext cx="52713" cy="2994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1549101" y="2645244"/>
            <a:ext cx="52712" cy="24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601813" y="2626188"/>
            <a:ext cx="52713" cy="190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1654526" y="2612892"/>
            <a:ext cx="52712" cy="132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707238" y="2605487"/>
            <a:ext cx="52713" cy="74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1759951" y="2604046"/>
            <a:ext cx="52712" cy="14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1812663" y="2604046"/>
            <a:ext cx="52713" cy="453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865376" y="2608585"/>
            <a:ext cx="52712" cy="1047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918088" y="2619058"/>
            <a:ext cx="52712" cy="1630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970800" y="2635361"/>
            <a:ext cx="52713" cy="2197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023513" y="2657332"/>
            <a:ext cx="52712" cy="274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076225" y="2684751"/>
            <a:ext cx="52713" cy="325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2128938" y="2717347"/>
            <a:ext cx="52712" cy="3744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2181650" y="2754795"/>
            <a:ext cx="52713" cy="419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2234363" y="2796722"/>
            <a:ext cx="52712" cy="459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2287075" y="2842712"/>
            <a:ext cx="52713" cy="4959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2339788" y="2892306"/>
            <a:ext cx="52712" cy="527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2392500" y="2945011"/>
            <a:ext cx="52713" cy="552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2445213" y="3000302"/>
            <a:ext cx="52712" cy="5732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497925" y="3057630"/>
            <a:ext cx="52713" cy="58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2550638" y="3116425"/>
            <a:ext cx="52712" cy="596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2603350" y="3176100"/>
            <a:ext cx="52713" cy="599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2656063" y="3236062"/>
            <a:ext cx="52712" cy="5965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2708775" y="3295715"/>
            <a:ext cx="52713" cy="587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2761488" y="3354466"/>
            <a:ext cx="52712" cy="572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2814200" y="3411728"/>
            <a:ext cx="52712" cy="552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2866912" y="3466934"/>
            <a:ext cx="52713" cy="5259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919625" y="3519533"/>
            <a:ext cx="52712" cy="4946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972337" y="3569002"/>
            <a:ext cx="52713" cy="4584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3025050" y="3614849"/>
            <a:ext cx="52712" cy="4176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3077762" y="3656617"/>
            <a:ext cx="52713" cy="372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3130475" y="3693892"/>
            <a:ext cx="52712" cy="3240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3183187" y="3726301"/>
            <a:ext cx="52713" cy="2722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3235900" y="3753524"/>
            <a:ext cx="52712" cy="2176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3288612" y="3775288"/>
            <a:ext cx="52713" cy="160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3341325" y="3791378"/>
            <a:ext cx="52712" cy="102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3394037" y="3801632"/>
            <a:ext cx="52713" cy="43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 flipV="1">
            <a:off x="3446750" y="3804288"/>
            <a:ext cx="52712" cy="16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 flipV="1">
            <a:off x="3499462" y="3796663"/>
            <a:ext cx="52713" cy="7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 flipV="1">
            <a:off x="3552175" y="3783150"/>
            <a:ext cx="52712" cy="1351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 flipV="1">
            <a:off x="3604887" y="3763885"/>
            <a:ext cx="52713" cy="1926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3657600" y="3739058"/>
            <a:ext cx="52712" cy="248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3710312" y="3708917"/>
            <a:ext cx="52712" cy="301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3763024" y="3673761"/>
            <a:ext cx="52713" cy="351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3815737" y="3633942"/>
            <a:ext cx="52712" cy="398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3868449" y="3589853"/>
            <a:ext cx="52713" cy="4408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3921162" y="3541935"/>
            <a:ext cx="52712" cy="479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3973874" y="3490665"/>
            <a:ext cx="52713" cy="5127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4026587" y="3436551"/>
            <a:ext cx="52712" cy="5411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4079299" y="3380134"/>
            <a:ext cx="52713" cy="564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4132012" y="3321973"/>
            <a:ext cx="52712" cy="5816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4184724" y="3262648"/>
            <a:ext cx="52713" cy="593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4237437" y="3202750"/>
            <a:ext cx="52712" cy="5989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4290149" y="3142873"/>
            <a:ext cx="52713" cy="5987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4342862" y="3083615"/>
            <a:ext cx="52712" cy="592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4395574" y="3025564"/>
            <a:ext cx="52713" cy="580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4448287" y="2969298"/>
            <a:ext cx="52712" cy="5626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4500999" y="2915377"/>
            <a:ext cx="52713" cy="5392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4553712" y="2864337"/>
            <a:ext cx="52712" cy="5104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4606424" y="2816687"/>
            <a:ext cx="52712" cy="4765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4659136" y="2772900"/>
            <a:ext cx="52713" cy="437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4711849" y="2733413"/>
            <a:ext cx="52712" cy="394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4764561" y="2698618"/>
            <a:ext cx="52713" cy="34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4817274" y="2668860"/>
            <a:ext cx="52712" cy="297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4869986" y="2644438"/>
            <a:ext cx="52713" cy="2442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4922699" y="2625592"/>
            <a:ext cx="52712" cy="1884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4975411" y="2612512"/>
            <a:ext cx="52713" cy="1308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5028124" y="2605327"/>
            <a:ext cx="52712" cy="718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5080836" y="2604108"/>
            <a:ext cx="52713" cy="12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5133549" y="2604108"/>
            <a:ext cx="52712" cy="476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5186261" y="2608868"/>
            <a:ext cx="52713" cy="106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>
            <a:off x="5238974" y="2619559"/>
            <a:ext cx="52712" cy="1651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>
            <a:off x="5291686" y="2636075"/>
            <a:ext cx="52713" cy="221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>
            <a:off x="5344399" y="2658251"/>
            <a:ext cx="52712" cy="276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5397111" y="2685868"/>
            <a:ext cx="52713" cy="3278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6528816" y="4297680"/>
            <a:ext cx="4553712" cy="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6528816" y="2240280"/>
            <a:ext cx="0" cy="2194560"/>
          </a:xfrm>
          <a:prstGeom prst="line">
            <a:avLst/>
          </a:prstGeom>
          <a:ln w="1651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 flipV="1">
            <a:off x="6565392" y="3145084"/>
            <a:ext cx="52712" cy="5988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 flipV="1">
            <a:off x="6618104" y="3085791"/>
            <a:ext cx="52712" cy="5929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 flipV="1">
            <a:off x="6670816" y="3027685"/>
            <a:ext cx="52713" cy="581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 flipV="1">
            <a:off x="6723529" y="2971343"/>
            <a:ext cx="52712" cy="5634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 flipV="1">
            <a:off x="6776241" y="2917325"/>
            <a:ext cx="52713" cy="540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6828954" y="2866170"/>
            <a:ext cx="52712" cy="5115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6881666" y="2818386"/>
            <a:ext cx="52713" cy="4778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6934379" y="2774448"/>
            <a:ext cx="52712" cy="4393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6987091" y="2734794"/>
            <a:ext cx="52713" cy="396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39804" y="2699818"/>
            <a:ext cx="52712" cy="349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92516" y="2669869"/>
            <a:ext cx="52713" cy="2994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145229" y="2645244"/>
            <a:ext cx="52712" cy="24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197941" y="2626188"/>
            <a:ext cx="52713" cy="190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V="1">
            <a:off x="7250654" y="2612892"/>
            <a:ext cx="52712" cy="132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7303366" y="2605487"/>
            <a:ext cx="52713" cy="74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7356079" y="2604046"/>
            <a:ext cx="52712" cy="14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7408791" y="2604046"/>
            <a:ext cx="52713" cy="453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7461504" y="2608585"/>
            <a:ext cx="52712" cy="1047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>
            <a:off x="7514216" y="2619058"/>
            <a:ext cx="52712" cy="1630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5" name="Connector 114"/>
          <p:cNvCxnSpPr/>
          <p:nvPr/>
        </p:nvCxnSpPr>
        <p:spPr>
          <a:xfrm>
            <a:off x="7566928" y="2635361"/>
            <a:ext cx="52713" cy="2197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>
            <a:off x="7619641" y="2657332"/>
            <a:ext cx="52712" cy="274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>
            <a:off x="7672353" y="2684751"/>
            <a:ext cx="52713" cy="3259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7725066" y="2717347"/>
            <a:ext cx="52712" cy="3744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7777778" y="2754795"/>
            <a:ext cx="52713" cy="419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>
            <a:off x="7830491" y="2796722"/>
            <a:ext cx="52712" cy="459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>
            <a:off x="7883203" y="2842712"/>
            <a:ext cx="52713" cy="4959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7935916" y="2892306"/>
            <a:ext cx="52712" cy="5270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7988628" y="2945011"/>
            <a:ext cx="52713" cy="552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8041341" y="3000302"/>
            <a:ext cx="52712" cy="5732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8094053" y="3057630"/>
            <a:ext cx="52713" cy="58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8146766" y="3116425"/>
            <a:ext cx="52712" cy="596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8199478" y="3176100"/>
            <a:ext cx="52713" cy="599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8252191" y="3236062"/>
            <a:ext cx="52712" cy="5965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8304903" y="3295715"/>
            <a:ext cx="52713" cy="587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8357616" y="3354466"/>
            <a:ext cx="52712" cy="572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8410328" y="3411728"/>
            <a:ext cx="52712" cy="5520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8463040" y="3466934"/>
            <a:ext cx="52713" cy="5259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8515753" y="3519533"/>
            <a:ext cx="52712" cy="4946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8568465" y="3569002"/>
            <a:ext cx="52713" cy="4584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8621178" y="3614849"/>
            <a:ext cx="52712" cy="4176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8673890" y="3656617"/>
            <a:ext cx="52713" cy="3727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8726603" y="3693892"/>
            <a:ext cx="52712" cy="3240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>
            <a:off x="8779315" y="3726301"/>
            <a:ext cx="52713" cy="2722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>
            <a:off x="8832028" y="3753524"/>
            <a:ext cx="52712" cy="2176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>
            <a:off x="8884740" y="3775288"/>
            <a:ext cx="52713" cy="1609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>
            <a:off x="8937453" y="3791378"/>
            <a:ext cx="52712" cy="1025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8990165" y="3801632"/>
            <a:ext cx="52713" cy="43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9042878" y="3804288"/>
            <a:ext cx="52712" cy="166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9095590" y="3796663"/>
            <a:ext cx="52713" cy="76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9148303" y="3783150"/>
            <a:ext cx="52712" cy="13513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9201015" y="3763885"/>
            <a:ext cx="52713" cy="1926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9253728" y="3739058"/>
            <a:ext cx="52712" cy="2482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9306440" y="3708917"/>
            <a:ext cx="52712" cy="3014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9359152" y="3673761"/>
            <a:ext cx="52713" cy="3515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9411865" y="3633942"/>
            <a:ext cx="52712" cy="398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 flipV="1">
            <a:off x="9464577" y="3589853"/>
            <a:ext cx="52713" cy="4408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 flipV="1">
            <a:off x="9517290" y="3541935"/>
            <a:ext cx="52712" cy="4791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 flipV="1">
            <a:off x="9570002" y="3490665"/>
            <a:ext cx="52713" cy="5127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 flipV="1">
            <a:off x="9622715" y="3436551"/>
            <a:ext cx="52712" cy="54114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 flipV="1">
            <a:off x="9675427" y="3380134"/>
            <a:ext cx="52713" cy="564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 flipV="1">
            <a:off x="9728140" y="3321973"/>
            <a:ext cx="52712" cy="5816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 flipV="1">
            <a:off x="9780852" y="3262648"/>
            <a:ext cx="52713" cy="5932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 flipV="1">
            <a:off x="9833565" y="3202750"/>
            <a:ext cx="52712" cy="5989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 flipV="1">
            <a:off x="9886277" y="3142873"/>
            <a:ext cx="52713" cy="5987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 flipV="1">
            <a:off x="9938990" y="3083615"/>
            <a:ext cx="52712" cy="592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 flipV="1">
            <a:off x="9991702" y="3025564"/>
            <a:ext cx="52713" cy="5805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 flipV="1">
            <a:off x="10044415" y="2969298"/>
            <a:ext cx="52712" cy="5626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 flipV="1">
            <a:off x="10097127" y="2915377"/>
            <a:ext cx="52713" cy="5392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 flipV="1">
            <a:off x="10149840" y="2864337"/>
            <a:ext cx="52712" cy="5104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10202552" y="2816687"/>
            <a:ext cx="52712" cy="4765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10255264" y="2772900"/>
            <a:ext cx="52713" cy="437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10307977" y="2733413"/>
            <a:ext cx="52712" cy="3948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10360689" y="2698618"/>
            <a:ext cx="52713" cy="3479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10413402" y="2668860"/>
            <a:ext cx="52712" cy="29758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10466114" y="2644438"/>
            <a:ext cx="52713" cy="2442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10518827" y="2625592"/>
            <a:ext cx="52712" cy="1884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10571539" y="2612512"/>
            <a:ext cx="52713" cy="1308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10624252" y="2605327"/>
            <a:ext cx="52712" cy="7185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10676964" y="2604108"/>
            <a:ext cx="52713" cy="1219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>
            <a:off x="10729677" y="2604108"/>
            <a:ext cx="52712" cy="4760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>
            <a:off x="10782389" y="2608868"/>
            <a:ext cx="52713" cy="10691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>
            <a:off x="10835102" y="2619559"/>
            <a:ext cx="52712" cy="1651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0887814" y="2636075"/>
            <a:ext cx="52713" cy="22176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0940527" y="2658251"/>
            <a:ext cx="52712" cy="27617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10993239" y="2685868"/>
            <a:ext cx="52713" cy="32782"/>
          </a:xfrm>
          <a:prstGeom prst="line">
            <a:avLst/>
          </a:prstGeom>
          <a:ln w="25400">
            <a:solidFill>
              <a:srgbClr val="71717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1" name="Oval 180"/>
          <p:cNvSpPr/>
          <p:nvPr/>
        </p:nvSpPr>
        <p:spPr>
          <a:xfrm>
            <a:off x="905256" y="3140964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1353312" y="2690052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1801368" y="2544577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2249424" y="2803080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2697480" y="3290458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3145536" y="3676571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3593592" y="3699877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4041648" y="3344588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4489704" y="2851369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4937760" y="2554314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5385816" y="2654642"/>
            <a:ext cx="128016" cy="128016"/>
          </a:xfrm>
          <a:prstGeom prst="ellipse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92" name="Connector 191"/>
          <p:cNvCxnSpPr/>
          <p:nvPr/>
        </p:nvCxnSpPr>
        <p:spPr>
          <a:xfrm>
            <a:off x="6537960" y="2331720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6537960" y="2578608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>
            <a:off x="6537960" y="2825496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>
            <a:off x="6537960" y="3072384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>
            <a:off x="6537960" y="3319272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>
            <a:off x="6537960" y="3566160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>
            <a:off x="6537960" y="3813048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>
            <a:off x="6537960" y="4059935"/>
            <a:ext cx="4544568" cy="0"/>
          </a:xfrm>
          <a:prstGeom prst="line">
            <a:avLst/>
          </a:prstGeom>
          <a:ln w="1905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0" name="TextBox 199"/>
          <p:cNvSpPr txBox="1"/>
          <p:nvPr/>
        </p:nvSpPr>
        <p:spPr>
          <a:xfrm>
            <a:off x="868680" y="4864608"/>
            <a:ext cx="498348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时间位置变密：样本个数变化</a:t>
            </a:r>
          </a:p>
        </p:txBody>
      </p:sp>
      <p:sp>
        <p:nvSpPr>
          <p:cNvPr id="201" name="TextBox 200"/>
          <p:cNvSpPr txBox="1"/>
          <p:nvPr/>
        </p:nvSpPr>
        <p:spPr>
          <a:xfrm>
            <a:off x="6428232" y="4864608"/>
            <a:ext cx="4828032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代表值变密：每点存储位数变化</a:t>
            </a:r>
          </a:p>
        </p:txBody>
      </p:sp>
      <p:sp>
        <p:nvSpPr>
          <p:cNvPr id="202" name="TextBox 201"/>
          <p:cNvSpPr txBox="1"/>
          <p:nvPr/>
        </p:nvSpPr>
        <p:spPr>
          <a:xfrm>
            <a:off x="786384" y="5852160"/>
            <a:ext cx="1069848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spcAft>
                <a:spcPts val="0"/>
              </a:spcAft>
              <a:defRPr sz="1700" b="0">
                <a:solidFill>
                  <a:srgbClr val="8C64E1"/>
                </a:solidFill>
                <a:latin typeface="Alibaba PuHuiTi 3.0 55 Regular"/>
              </a:defRPr>
            </a:pPr>
            <a:r>
              <a:t>重要区别：位数变大，不等于同一时间里采样次数变多。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采样更多、等级更密，就一定听得更好吗？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94560"/>
            <a:ext cx="420624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采样率 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990088"/>
            <a:ext cx="4389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每秒样本更多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92240" y="2194560"/>
            <a:ext cx="4297680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 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2990088"/>
            <a:ext cx="45720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每样本可选等级更多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" y="5230368"/>
            <a:ext cx="996696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t>通常能提高记录的精细程度，但音质不会无限提高。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3 bit是教学模型，真实录音常见16 bit。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905256" y="2066543"/>
            <a:ext cx="4709160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78408" y="2185415"/>
            <a:ext cx="456285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课堂模型：3 bit</a:t>
            </a:r>
          </a:p>
        </p:txBody>
      </p:sp>
      <p:sp>
        <p:nvSpPr>
          <p:cNvPr id="7" name="Rectangle 6"/>
          <p:cNvSpPr/>
          <p:nvPr/>
        </p:nvSpPr>
        <p:spPr>
          <a:xfrm>
            <a:off x="6528816" y="2066543"/>
            <a:ext cx="4626864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601968" y="2185415"/>
            <a:ext cx="4480559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PCM例子：16 bit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058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904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819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9751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0665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1111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70255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9574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8718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8037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7181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65008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56448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49640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41080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34272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25712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18904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10344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003536" y="3429000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094976" y="3461004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61111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70255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09574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18718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58037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67181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65008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156448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549640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641080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34272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125712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518904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610344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0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003536" y="4014215"/>
            <a:ext cx="384048" cy="411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094976" y="4046220"/>
            <a:ext cx="2286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1">
                <a:solidFill>
                  <a:srgbClr val="262626"/>
                </a:solidFill>
                <a:latin typeface="Alibaba PuHuiTi 3.0 115 Black"/>
              </a:defRPr>
            </a:pPr>
            <a:r>
              <a:t>1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位数越多，一份未压缩样本数据所占的空间也越大。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PCM样本和WAV文件，是一回事吗？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2176272"/>
            <a:ext cx="2898648" cy="137160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2144" y="2569464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8C64E1"/>
                </a:solidFill>
                <a:latin typeface="Alibaba PuHuiTi 3.0 115 Black"/>
              </a:defRPr>
            </a:pPr>
            <a:r>
              <a:t>WAV文件头</a:t>
            </a:r>
          </a:p>
        </p:txBody>
      </p:sp>
      <p:sp>
        <p:nvSpPr>
          <p:cNvPr id="7" name="Rectangle 6"/>
          <p:cNvSpPr/>
          <p:nvPr/>
        </p:nvSpPr>
        <p:spPr>
          <a:xfrm>
            <a:off x="3986784" y="2176272"/>
            <a:ext cx="7059168" cy="13716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34840" y="2569464"/>
            <a:ext cx="6272784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00B0F0"/>
                </a:solidFill>
                <a:latin typeface="Alibaba PuHuiTi 3.0 115 Black"/>
              </a:defRPr>
            </a:pPr>
            <a:r>
              <a:t>PCM：一个个数字样本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941063"/>
            <a:ext cx="36576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262626"/>
                </a:solidFill>
                <a:latin typeface="Alibaba PuHuiTi 3.0 55 Regular"/>
              </a:defRPr>
            </a:pPr>
            <a:r>
              <a:t>采样率、声道等说明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33087" y="3950208"/>
            <a:ext cx="6858000" cy="95097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例如：0010 1101 0110 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编码 ≠ 压缩；WAV常保存未压缩PCM，但并非只有这一种情况。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播放时：数字样本怎样重新变成声音？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70408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数字样本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18211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63016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0332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DAC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610819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6556248" y="2258568"/>
            <a:ext cx="2404872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连续电信号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9034272" y="2596896"/>
            <a:ext cx="356616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9482328" y="2258568"/>
            <a:ext cx="2404872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555480" y="2377440"/>
            <a:ext cx="225856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t>扬声器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484632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录音是模拟 → 数字；播放是数字 → 模拟。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声音数据量为什么与四个参数有关？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采样率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每秒几个样本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64224" y="1883664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量化位数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64224" y="2468880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每样本多少bit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声道数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同一时刻几路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64224" y="3511296"/>
            <a:ext cx="49377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时长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64224" y="4096511"/>
            <a:ext cx="493776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持续多少秒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先数样本，再数bit，最后换算成Byte。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737360"/>
            <a:ext cx="107899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2 样本/秒 × 4 秒 × 1 声道 = 8 个样本</a:t>
            </a:r>
          </a:p>
        </p:txBody>
      </p:sp>
      <p:sp>
        <p:nvSpPr>
          <p:cNvPr id="6" name="Rectangle 5"/>
          <p:cNvSpPr/>
          <p:nvPr/>
        </p:nvSpPr>
        <p:spPr>
          <a:xfrm>
            <a:off x="94183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6070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8" name="Rectangle 7"/>
          <p:cNvSpPr/>
          <p:nvPr/>
        </p:nvSpPr>
        <p:spPr>
          <a:xfrm>
            <a:off x="2231136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5000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0" name="Rectangle 9"/>
          <p:cNvSpPr/>
          <p:nvPr/>
        </p:nvSpPr>
        <p:spPr>
          <a:xfrm>
            <a:off x="352043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39311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9744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28616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099048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88352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07224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77655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96528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966959" y="2761488"/>
            <a:ext cx="1024128" cy="768096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085832" y="2999232"/>
            <a:ext cx="8961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800" b="1">
                <a:solidFill>
                  <a:srgbClr val="8C64E1"/>
                </a:solidFill>
                <a:latin typeface="Alibaba PuHuiTi 3.0 115 Black"/>
              </a:defRPr>
            </a:pPr>
            <a:r>
              <a:t>3 bit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2104" y="4389120"/>
            <a:ext cx="10698480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8 个样本 × 3 bit = 24 bit = 3 Byte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不同声道要各自记录样本；声道数翻倍，未压缩样本数据量也翻倍。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未压缩PCM数据量公式，从哪里来？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1965960"/>
            <a:ext cx="1069848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1">
                <a:solidFill>
                  <a:srgbClr val="8C64E1"/>
                </a:solidFill>
                <a:latin typeface="Alibaba PuHuiTi 3.0 115 Black"/>
              </a:defRPr>
            </a:pPr>
            <a:r>
              <a:t>字节数 = 采样率 × 位数 × 声道数 × 秒数 ÷ 8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41248" y="3255264"/>
            <a:ext cx="10341864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14400" y="3602736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Hz：每秒采多少次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99632" y="3602736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bit：每个样本用几位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517136"/>
            <a:ext cx="466344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声道：有几组数据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99632" y="4517136"/>
            <a:ext cx="475488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秒：记录多久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669280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1 kHz=1000 Hz；8 bit=1 Byte。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先标出每个数字的含义。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采样率 16,000 Hz，8 bit，双声道，录制5秒。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未压缩PCM样本数据共有多少 Byte？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答案：160,000 Byte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16,000 × 8 × 2 × 5 ÷ 8 = 160,000 Byte。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本节课你能解释三件事吗？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783080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① 声音怎么进入电脑？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2350008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麦克风 → ADC → 数字数据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081528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② 采样和量化有什么不同？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648456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前者定时刻，后者定代表值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" y="4379976"/>
            <a:ext cx="10789920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1">
                <a:solidFill>
                  <a:srgbClr val="8C64E1"/>
                </a:solidFill>
                <a:latin typeface="Alibaba PuHuiTi 3.0 115 Black"/>
              </a:defRPr>
            </a:pPr>
            <a:r>
              <a:t>③ PCM为什么有大小差别？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946904"/>
            <a:ext cx="10515600" cy="4754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每样本bit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1993392"/>
            <a:ext cx="10881360" cy="12070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5000" b="1">
                <a:solidFill>
                  <a:srgbClr val="262626"/>
                </a:solidFill>
                <a:latin typeface="Alibaba PuHuiTi 3.0 115 Black"/>
              </a:defRPr>
            </a:pPr>
            <a:r>
              <a:t>为什么文件还需要压缩？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2376" y="3730752"/>
            <a:ext cx="1069848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0">
                <a:solidFill>
                  <a:srgbClr val="808080"/>
                </a:solidFill>
                <a:latin typeface="Alibaba PuHuiTi 3.0 55 Regular"/>
              </a:defRPr>
            </a:pPr>
            <a:r>
              <a:t>第二课时｜音频、视频编码与数据压缩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先回忆：这四个数字，分别是什么意思？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9536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48,000 Hz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9536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每秒取样次数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82880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16 bit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5664" y="255117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每样本的位数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9536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8C64E1"/>
                </a:solidFill>
                <a:latin typeface="Alibaba PuHuiTi 3.0 115 Black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左右两个声道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55664" y="3566160"/>
            <a:ext cx="4956048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00B0F0"/>
                </a:solidFill>
                <a:latin typeface="Alibaba PuHuiTi 3.0 115 Black"/>
              </a:defRPr>
            </a:pPr>
            <a:r>
              <a:t>60 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5664" y="4288536"/>
            <a:ext cx="4956048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音频持续时间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提醒：1 MB（按1024²换算）在严格单位写法中应称MiB。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先列式，再做单位换算。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1分钟未压缩PCM音频：48,000 Hz、16 bit、双声道。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样本数据量约多少MiB？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答案：约10.99 MiB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48,000×16×2×60÷8=11,520,000 B；÷1024²≈10.99 MiB。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先投票：翻倍 / 不变 / 说不清。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两个看似有道理的答案，你支持哪一个？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观点 A：不变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观点 B：翻倍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采样率没变，位数没变，时长没变，输出的声道数也没变。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录音里多了一份音乐，是不是就需要多一份音频数据？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争论的关键：编辑时的“音轨”，是不是导出时的“声道”？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音轨是编辑时的层，声道是输出时的通道。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59536" y="2148840"/>
            <a:ext cx="3767328" cy="68580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" y="2286000"/>
            <a:ext cx="34930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8C64E1"/>
                </a:solidFill>
                <a:latin typeface="Alibaba PuHuiTi 3.0 115 Black"/>
              </a:defRPr>
            </a:pPr>
            <a:r>
              <a:t>音轨1：诗朗诵</a:t>
            </a:r>
          </a:p>
        </p:txBody>
      </p:sp>
      <p:sp>
        <p:nvSpPr>
          <p:cNvPr id="7" name="Rectangle 6"/>
          <p:cNvSpPr/>
          <p:nvPr/>
        </p:nvSpPr>
        <p:spPr>
          <a:xfrm>
            <a:off x="859536" y="3081528"/>
            <a:ext cx="3767328" cy="6858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14984" y="3218688"/>
            <a:ext cx="3493008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音轨2：背景音乐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910328" y="2944368"/>
            <a:ext cx="1426464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111496" y="2331720"/>
            <a:ext cx="192024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混音导出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48840"/>
            <a:ext cx="4224528" cy="6858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68312" y="2286000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左声道 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766560" y="3081528"/>
            <a:ext cx="4224528" cy="68580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68312" y="3218688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1">
                <a:solidFill>
                  <a:srgbClr val="00B0F0"/>
                </a:solidFill>
                <a:latin typeface="Alibaba PuHuiTi 3.0 115 Black"/>
              </a:defRPr>
            </a:pPr>
            <a:r>
              <a:t>右声道 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51937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编辑有两条音轨，导出仍然可以只有两个声道。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给5分钟的诗朗诵加入一条等时长背景音乐音轨。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如果导出时仍为44.1 kHz、16 bit、双声道PCM，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数据量会翻倍吗？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答案：未压缩样本数据量不变。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内容变了，但采样率、位数、声道数、时长均未变。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迁移：把双声道改成单声道，会怎样？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782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双声道：2路数据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01384" y="2185416"/>
            <a:ext cx="49377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t>单声道：1路数据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1115568" y="3145536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15568" y="3721608"/>
            <a:ext cx="3694176" cy="411480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29984" y="3438144"/>
            <a:ext cx="3694176" cy="411480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未压缩PCM：声道数变成一半，样本数据量也变成一半。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图像采样与声音采样，哪里相同？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这两种编码都有“选择样本”和“用有限数字表达样本”的过程。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1600200"/>
            <a:ext cx="213055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400" b="1">
                <a:solidFill>
                  <a:srgbClr val="6251B1"/>
                </a:solidFill>
                <a:latin typeface="Alibaba PuHuiTi 3.0 115 Black"/>
              </a:defRPr>
            </a:pPr>
            <a:r>
              <a:t>比较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27248" y="1600200"/>
            <a:ext cx="3822191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6251B1"/>
                </a:solidFill>
                <a:latin typeface="Alibaba PuHuiTi 3.0 115 Black"/>
              </a:defRPr>
            </a:pPr>
            <a:r>
              <a:t>图像：空间采样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79208" y="1600200"/>
            <a:ext cx="3968496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声音：时间采样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68096" y="232257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77240" y="247802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① 取样位置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136392" y="247802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二维：行×列的像素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88352" y="247802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一维：时间点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68096" y="341985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777240" y="3575304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② 记录什么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136392" y="3575304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像素颜色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88352" y="3575304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信号幅度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68096" y="4517136"/>
            <a:ext cx="10488168" cy="0"/>
          </a:xfrm>
          <a:prstGeom prst="line">
            <a:avLst/>
          </a:prstGeom>
          <a:ln w="1524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77240" y="4672583"/>
            <a:ext cx="2267712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1">
                <a:solidFill>
                  <a:srgbClr val="6251B1"/>
                </a:solidFill>
                <a:latin typeface="Alibaba PuHuiTi 3.0 115 Black"/>
              </a:defRPr>
            </a:pPr>
            <a:r>
              <a:t>③ 数据量怎么算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136392" y="4672583"/>
            <a:ext cx="3767328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像素数 × 每像素位数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388352" y="4672583"/>
            <a:ext cx="3977639" cy="704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200" b="0">
                <a:solidFill>
                  <a:srgbClr val="262626"/>
                </a:solidFill>
                <a:latin typeface="Alibaba PuHuiTi 3.0 55 Regular"/>
              </a:defRPr>
            </a:pPr>
            <a:r>
              <a:t>样本数 × 每样本位数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一张张图片连续变化，就能让我们看到运动。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722376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41248" y="2798064"/>
            <a:ext cx="658368" cy="6583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第1帧</a:t>
            </a:r>
          </a:p>
        </p:txBody>
      </p:sp>
      <p:sp>
        <p:nvSpPr>
          <p:cNvPr id="8" name="Rectangle 7"/>
          <p:cNvSpPr/>
          <p:nvPr/>
        </p:nvSpPr>
        <p:spPr>
          <a:xfrm>
            <a:off x="3026664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364992" y="2798064"/>
            <a:ext cx="658368" cy="6583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26664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第2帧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330952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07024" y="2798064"/>
            <a:ext cx="658368" cy="6583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30952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第3帧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635240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449056" y="2798064"/>
            <a:ext cx="658368" cy="6583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35240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第4帧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939528" y="2084831"/>
            <a:ext cx="2066543" cy="2084831"/>
          </a:xfrm>
          <a:prstGeom prst="rect">
            <a:avLst/>
          </a:prstGeom>
          <a:noFill/>
          <a:ln w="19050">
            <a:solidFill>
              <a:srgbClr val="E2E2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1009376" y="2798064"/>
            <a:ext cx="658368" cy="658368"/>
          </a:xfrm>
          <a:prstGeom prst="ellipse">
            <a:avLst/>
          </a:prstGeom>
          <a:solidFill>
            <a:srgbClr val="00B0F0"/>
          </a:solidFill>
          <a:ln w="127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939528" y="4352544"/>
            <a:ext cx="206654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000" b="0">
                <a:solidFill>
                  <a:srgbClr val="808080"/>
                </a:solidFill>
                <a:latin typeface="Alibaba PuHuiTi 3.0 55 Regular"/>
              </a:defRPr>
            </a:pPr>
            <a:r>
              <a:t>第5帧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帧率25 fps：每秒显示25张画面。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5056632"/>
            <a:ext cx="781812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defRPr b="1" sz="2200">
                <a:solidFill>
                  <a:srgbClr val="8C64E1"/>
                </a:solidFill>
                <a:latin typeface="Alibaba PuHuiTi 3.0 115 Black"/>
              </a:defRPr>
            </a:pPr>
            <a:r>
              <a:t>球在画面中的位置逐帧变化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69848" y="2450592"/>
            <a:ext cx="0" cy="1444752"/>
          </a:xfrm>
          <a:prstGeom prst="line">
            <a:avLst/>
          </a:prstGeom>
          <a:ln w="1270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3374136" y="2450592"/>
            <a:ext cx="0" cy="1444752"/>
          </a:xfrm>
          <a:prstGeom prst="line">
            <a:avLst/>
          </a:prstGeom>
          <a:ln w="1270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5678424" y="2450592"/>
            <a:ext cx="0" cy="1444752"/>
          </a:xfrm>
          <a:prstGeom prst="line">
            <a:avLst/>
          </a:prstGeom>
          <a:ln w="1270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7982712" y="2450592"/>
            <a:ext cx="0" cy="1444752"/>
          </a:xfrm>
          <a:prstGeom prst="line">
            <a:avLst/>
          </a:prstGeom>
          <a:ln w="1270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10287000" y="2450592"/>
            <a:ext cx="0" cy="1444752"/>
          </a:xfrm>
          <a:prstGeom prst="line">
            <a:avLst/>
          </a:prstGeom>
          <a:ln w="12700">
            <a:solidFill>
              <a:srgbClr val="E0DD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10分钟、每秒25帧，要保存多少张画面？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8096" y="2048256"/>
            <a:ext cx="107899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262626"/>
                </a:solidFill>
                <a:latin typeface="Alibaba PuHuiTi 3.0 115 Black"/>
              </a:defRPr>
            </a:pPr>
            <a:r>
              <a:t>25帧/秒 × 60秒/分钟 × 10分钟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3264408"/>
            <a:ext cx="1051560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4200" b="1">
                <a:solidFill>
                  <a:srgbClr val="8C64E1"/>
                </a:solidFill>
                <a:latin typeface="Alibaba PuHuiTi 3.0 115 Black"/>
              </a:defRPr>
            </a:pPr>
            <a:r>
              <a:t>= 15,000 帧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910328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无压缩视频 = 单帧图像数据量 × 总帧数。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先算每帧，再算总帧数。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10分钟的无声视频：480×320像素，24 bit/像素，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帧率25 fps。假设逐帧未压缩存储，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总数据量约多少GiB？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答案：约6.44 GiB。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480×320×24÷8×25×600 = 6,912,000,000 B；÷1024³≈6.44 GiB。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可是我们看的10分钟视频，为什么远没有6.44 GiB？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1892807"/>
            <a:ext cx="10789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8C64E1"/>
                </a:solidFill>
                <a:latin typeface="Alibaba PuHuiTi 3.0 115 Black"/>
              </a:defRPr>
            </a:pPr>
            <a:r>
              <a:t>刚才的计算错了吗？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00984"/>
            <a:ext cx="10698480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0">
                <a:solidFill>
                  <a:srgbClr val="262626"/>
                </a:solidFill>
                <a:latin typeface="Alibaba PuHuiTi 3.0 55 Regular"/>
              </a:defRPr>
            </a:pPr>
            <a:r>
              <a:t>如果公式没错，实际文件为什么可能小得多？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请提出至少一种可以检验的解释。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因为我们算的是“逐帧未压缩数据量”。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832104" y="2267712"/>
            <a:ext cx="4590288" cy="667512"/>
          </a:xfrm>
          <a:prstGeom prst="rect">
            <a:avLst/>
          </a:prstGeom>
          <a:noFill/>
          <a:ln w="2540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5256" y="2386584"/>
            <a:ext cx="4443983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未压缩图像帧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5513832" y="2606040"/>
            <a:ext cx="987552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6574536" y="2267712"/>
            <a:ext cx="4663440" cy="66751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2386584"/>
            <a:ext cx="4517136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00B0F0"/>
                </a:solidFill>
                <a:latin typeface="Alibaba PuHuiTi 3.0 115 Black"/>
              </a:defRPr>
            </a:pPr>
            <a:r>
              <a:rPr sz="2500" b="1">
                <a:solidFill>
                  <a:srgbClr val="6251B1"/>
                </a:solidFill>
                <a:latin typeface="Alibaba PuHuiTi 3.0 115 Black"/>
              </a:rPr>
              <a:t>重新编码后的视频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3712463"/>
            <a:ext cx="4599432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每一帧都要保存完整的原始像素数据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1968" y="3712463"/>
            <a:ext cx="4681728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利用帧间相似和更有效的编码，数据可能显著减小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数据量计算仍正确，它描述的是题设中的“未压缩”情况。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为什么要压缩？先想两种真实需求。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节省存储空间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方便网络传输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同样容量的手机或硬盘，可以保存更多数据。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需要传输的数据更少，通常能更快下载或播放。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压缩的两个目的：节省空间、提高传输效率。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“中国”重复100次，有没有更简短的写法？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975104"/>
            <a:ext cx="1078992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000" b="1">
                <a:solidFill>
                  <a:srgbClr val="262626"/>
                </a:solidFill>
                <a:latin typeface="Alibaba PuHuiTi 3.0 115 Black"/>
              </a:defRPr>
            </a:pPr>
            <a:r>
              <a:t>中国中国中国中国中国中国……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291840" y="3685032"/>
            <a:ext cx="3154680" cy="0"/>
          </a:xfrm>
          <a:prstGeom prst="line">
            <a:avLst/>
          </a:prstGeom>
          <a:ln w="3810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6803136" y="3310128"/>
            <a:ext cx="4297680" cy="10241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300" b="1">
                <a:solidFill>
                  <a:srgbClr val="8C64E1"/>
                </a:solidFill>
                <a:latin typeface="Alibaba PuHuiTi 3.0 115 Black"/>
              </a:defRPr>
            </a:pPr>
            <a:r>
              <a:t>“中国” × 100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在不改变内容的前提下，用规则和次数来表示重复部分。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为什么重复内容更容易压缩？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高度重复的内容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变化复杂的内容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AAAAAAAAAA…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容易用简短规则表示。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AX3Q9P8F2…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难以找到同样简短的规则。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冗余越多，使用合适的算法时，通常越容易压缩。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预测：两份都是1000 Byte，压缩后谁更小？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528" y="2002536"/>
            <a:ext cx="4882896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文件A：1000个“A”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19088" y="2002536"/>
            <a:ext cx="4828032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文件B：1000个随机字节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337560"/>
            <a:ext cx="1051560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4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原始大小相同，都等于1000 Byte。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06577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请预测：压缩后 A、B 谁更小？能够完整恢复吗？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8076" y="585216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3500">
                <a:solidFill>
                  <a:srgbClr val="262626"/>
                </a:solidFill>
                <a:latin typeface="Alibaba PuHuiTi 3.0 115 Black"/>
              </a:defRPr>
            </a:pPr>
            <a:r>
              <a:t>演示D：同样1000 Byte，压缩后真的不同吗？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27632"/>
            <a:ext cx="10515600" cy="6400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600">
                <a:solidFill>
                  <a:srgbClr val="262626"/>
                </a:solidFill>
                <a:latin typeface="Alibaba PuHuiTi 3.0 115 Black"/>
              </a:defRPr>
            </a:pPr>
            <a:r>
              <a:t>同样是 1000 Byte：</a:t>
            </a:r>
          </a:p>
        </p:txBody>
      </p:sp>
      <p:sp>
        <p:nvSpPr>
          <p:cNvPr id="6" name="Rectangle 5"/>
          <p:cNvSpPr/>
          <p:nvPr/>
        </p:nvSpPr>
        <p:spPr>
          <a:xfrm>
            <a:off x="822960" y="2587752"/>
            <a:ext cx="5102352" cy="1261872"/>
          </a:xfrm>
          <a:prstGeom prst="rect">
            <a:avLst/>
          </a:prstGeom>
          <a:noFill/>
          <a:ln w="19050">
            <a:solidFill>
              <a:srgbClr val="8C64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1498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8C64E1"/>
                </a:solidFill>
                <a:latin typeface="Alibaba PuHuiTi 3.0 115 Black"/>
              </a:defRPr>
            </a:pPr>
            <a:r>
              <a:t>文件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4086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1000个重复的字节“A”</a:t>
            </a:r>
          </a:p>
        </p:txBody>
      </p:sp>
      <p:sp>
        <p:nvSpPr>
          <p:cNvPr id="9" name="Rectangle 8"/>
          <p:cNvSpPr/>
          <p:nvPr/>
        </p:nvSpPr>
        <p:spPr>
          <a:xfrm>
            <a:off x="6629400" y="2587752"/>
            <a:ext cx="5102352" cy="1261872"/>
          </a:xfrm>
          <a:prstGeom prst="rect">
            <a:avLst/>
          </a:prstGeom>
          <a:noFill/>
          <a:ln w="19050">
            <a:solidFill>
              <a:srgbClr val="00B0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21424" y="2798064"/>
            <a:ext cx="135331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300">
                <a:solidFill>
                  <a:srgbClr val="00B0F0"/>
                </a:solidFill>
                <a:latin typeface="Alibaba PuHuiTi 3.0 115 Black"/>
              </a:defRPr>
            </a:pPr>
            <a:r>
              <a:t>文件 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47304" y="2798064"/>
            <a:ext cx="3273552" cy="521207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1900">
                <a:solidFill>
                  <a:srgbClr val="262626"/>
                </a:solidFill>
                <a:latin typeface="Alibaba PuHuiTi 3.0 55 Regular"/>
              </a:defRPr>
            </a:pPr>
            <a:r>
              <a:t>1000个随机变化的字节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" y="4315968"/>
            <a:ext cx="10625328" cy="8503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1" sz="2400">
                <a:solidFill>
                  <a:srgbClr val="8C64E1"/>
                </a:solidFill>
                <a:latin typeface="Alibaba PuHuiTi 3.0 115 Black"/>
              </a:defRPr>
            </a:pPr>
            <a:r>
              <a:t>① 先预测 → ② 运行Notebook的zlib压缩 → ③ 比较结果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5559552"/>
            <a:ext cx="10515600" cy="53035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>
              <a:defRPr b="0" sz="2100">
                <a:solidFill>
                  <a:srgbClr val="262626"/>
                </a:solidFill>
                <a:latin typeface="Alibaba PuHuiTi 3.0 55 Regular"/>
              </a:defRPr>
            </a:pPr>
            <a:r>
              <a:t>可追问：压缩后的文件有没有可能比原来更大？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实验验证：为什么同样大小的文件效果不同？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A：重复的内容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B：复杂的内容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压缩后：17 Byte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原始大小：1000 Byte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压缩后：1011 Byte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两者解压后都能一字节不差地还原：这就是无损压缩。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压缩到底改变了什么？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3816" y="1837943"/>
            <a:ext cx="106984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900" b="1">
                <a:solidFill>
                  <a:srgbClr val="262626"/>
                </a:solidFill>
                <a:latin typeface="Alibaba PuHuiTi 3.0 115 Black"/>
              </a:defRPr>
            </a:pPr>
            <a:r>
              <a:t>数据本身在计算机中仍是0和1。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2104" y="2999232"/>
            <a:ext cx="10698480" cy="12161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t>压缩：用更少的比特，重新表示相同或近似相同的内容。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方法有很多，今天重点研究能不能完整还原。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两种压缩：怎样区分“无损”和“有损”？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无损压缩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有损压缩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适合：文档、程序、精确备份。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还原以后，无法与原始数据完全一致。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适合：可接受部分失真的音视频。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判断标准：解码/解压后，能否完整得到原始数据？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ZIP、MP3、WAV、MP4，它们属于同一类吗？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ZIP / RAR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通常为无损归档格式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865376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441448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常见有损音频编码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8C64E1"/>
                </a:solidFill>
                <a:latin typeface="Alibaba PuHuiTi 3.0 115 Black"/>
              </a:defRPr>
            </a:pPr>
            <a:r>
              <a:rPr sz="3000" b="1">
                <a:solidFill>
                  <a:srgbClr val="6251B1"/>
                </a:solidFill>
                <a:latin typeface="Alibaba PuHuiTi 3.0 115 Black"/>
              </a:rPr>
              <a:t>WAV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容器；常见未压缩PCM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3502152"/>
            <a:ext cx="4846320" cy="5120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1">
                <a:solidFill>
                  <a:srgbClr val="00B0F0"/>
                </a:solidFill>
                <a:latin typeface="Alibaba PuHuiTi 3.0 115 Black"/>
              </a:defRPr>
            </a:pPr>
            <a:r>
              <a:rPr sz="3000" b="1">
                <a:solidFill>
                  <a:srgbClr val="00B0F0"/>
                </a:solidFill>
                <a:latin typeface="Alibaba PuHuiTi 3.0 115 Black"/>
              </a:rPr>
              <a:t>MP4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4078224"/>
            <a:ext cx="4873752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100" b="0">
                <a:solidFill>
                  <a:srgbClr val="262626"/>
                </a:solidFill>
                <a:latin typeface="Alibaba PuHuiTi 3.0 55 Regular"/>
              </a:defRPr>
            </a:pPr>
            <a:r>
              <a:rPr sz="2200" b="0">
                <a:solidFill>
                  <a:srgbClr val="262626"/>
                </a:solidFill>
                <a:latin typeface="Alibaba PuHuiTi 3.0 55 Regular"/>
              </a:rPr>
              <a:t>容器；常装有损视频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格式名和压缩方法不总是一回事。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三幅相同大小的图，谁通常最容易无损压缩？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50392" y="1719072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A 纯色</a:t>
            </a:r>
          </a:p>
        </p:txBody>
      </p:sp>
      <p:sp>
        <p:nvSpPr>
          <p:cNvPr id="6" name="Rectangle 5"/>
          <p:cNvSpPr/>
          <p:nvPr/>
        </p:nvSpPr>
        <p:spPr>
          <a:xfrm>
            <a:off x="85039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0700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563624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2024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276856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3347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9008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346704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0332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5039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20700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563624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20240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276856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3347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99008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346704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703320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039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20700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56362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920240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76856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263347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99008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34670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03320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50392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207008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56362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192024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276856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2633472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990088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4670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70332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50392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1207008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1563624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192024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2276856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633472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2990088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346704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70332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5039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207008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563624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192024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276856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63347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990088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346704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70332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50392" y="4946904"/>
            <a:ext cx="33832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808080"/>
                </a:solidFill>
                <a:latin typeface="Alibaba PuHuiTi 3.0 55 Regular"/>
              </a:defRPr>
            </a:pPr>
            <a:r>
              <a:t>同一尺寸与位深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690872" y="1719072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B 色块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69087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504748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5404104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5760720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6117336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6473952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6830568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7187183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754380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69087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04748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404104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760720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6117336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6473952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683056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7187183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7543800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469087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504748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540410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5760720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6117336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6473952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683056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7187183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7543800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690872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5047488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5404104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576072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6117336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6473952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6830568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187183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7543800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690872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504748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404104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76072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6117336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6473952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683056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7187183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543800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4690872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504748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404104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576072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6117336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647395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683056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7187183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7543800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4690872" y="4946904"/>
            <a:ext cx="33832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808080"/>
                </a:solidFill>
                <a:latin typeface="Alibaba PuHuiTi 3.0 55 Regular"/>
              </a:defRPr>
            </a:pPr>
            <a:r>
              <a:t>同一尺寸与位深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8531352" y="1719072"/>
            <a:ext cx="347472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500" b="1">
                <a:solidFill>
                  <a:srgbClr val="262626"/>
                </a:solidFill>
                <a:latin typeface="Alibaba PuHuiTi 3.0 115 Black"/>
              </a:defRPr>
            </a:pPr>
            <a:r>
              <a:t>C 复杂图案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531352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8887968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9244584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960120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9957816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10314432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10671048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11027664" y="253288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11384280" y="253288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853135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8887968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9244584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9601200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9957816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10314432" y="2889504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10671048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11027664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11384280" y="2889504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8531352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888796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9244584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9601200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9957816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0314432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0671048" y="3246120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11027664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11384280" y="3246120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531352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8887968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924458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9601200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9957816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10314432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10671048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11027664" y="3602736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11384280" y="3602736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8531352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888796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9244584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960120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9957816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10314432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10671048" y="3959352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11027664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11384280" y="3959352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853135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888796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9244584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9601200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957816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10314432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0671048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1027664" y="4315968"/>
            <a:ext cx="333756" cy="333756"/>
          </a:xfrm>
          <a:prstGeom prst="rect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1384280" y="4315968"/>
            <a:ext cx="333756" cy="333756"/>
          </a:xfrm>
          <a:prstGeom prst="rect">
            <a:avLst/>
          </a:prstGeom>
          <a:solidFill>
            <a:srgbClr val="8C64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8531352" y="4946904"/>
            <a:ext cx="338328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808080"/>
                </a:solidFill>
                <a:latin typeface="Alibaba PuHuiTi 3.0 55 Regular"/>
              </a:defRPr>
            </a:pPr>
            <a:r>
              <a:t>同一尺寸与位深</a:t>
            </a:r>
          </a:p>
        </p:txBody>
      </p:sp>
      <p:sp>
        <p:nvSpPr>
          <p:cNvPr id="173" name="TextBox 172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想一想：哪幅图最容易用几条规则完整表示？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不仅选择，还要解释“重复”和“规律”。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A纯色、B规则色块、C复杂花纹，尺寸与位深相同。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分别用相同无损方法压缩，谁通常最小？为什么？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答案：A通常最小。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纯色图像的重复与规律性最强，一般更容易用简短规则表示。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同一张图：BMP与JPG有什么不同？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BMP（课堂例：未压缩）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JPG（常见有损）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保存每个像素的颜色信息。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可能占用较多空间。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对图像进行近似表示。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</a:p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文件可能明显更小，但不能逐像素完全还原。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有损不等于看起来一定明显变差；质量与参数有关。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已经压成MP3、JPG，再用RAR压一遍呢？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第一次压缩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再次压缩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有些重复或不重要的信息被更简洁地表示，文件大幅减小。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可进一步利用的冗余通常较少，RAR再压往往收效不大。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注意：再次用有损编码重新保存，还可能累积质量损失。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是不是压得越小就一定越好？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rPr sz="2700" b="1">
                <a:solidFill>
                  <a:srgbClr val="6251B1"/>
                </a:solidFill>
                <a:latin typeface="Alibaba PuHuiTi 3.0 115 Black"/>
              </a:rPr>
              <a:t>重要文档长期备份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rPr sz="2700" b="1">
                <a:solidFill>
                  <a:srgbClr val="00B0F0"/>
                </a:solidFill>
                <a:latin typeface="Alibaba PuHuiTi 3.0 115 Black"/>
              </a:rPr>
              <a:t>实时视频通话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优先考虑信息完整、能够恢复，以及可靠保存。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rPr sz="2300">
                <a:latin typeface="Alibaba PuHuiTi 3.0 55 Regular"/>
              </a:rPr>
              <a:t>优先兼顾流畅度、延迟、声音画面质量和传输量。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选择编码与压缩方式，要看具体任务，而不是只比文件大小。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832104" y="5166360"/>
            <a:ext cx="10332720" cy="6766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逐条作答，并解释理由。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77240" y="5010912"/>
            <a:ext cx="10661904" cy="1261872"/>
          </a:xfrm>
          <a:prstGeom prst="rect">
            <a:avLst/>
          </a:prstGeom>
          <a:solidFill>
            <a:srgbClr val="F6F3FF"/>
          </a:solidFill>
          <a:ln w="8890">
            <a:solidFill>
              <a:srgbClr val="E0DD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" y="5010912"/>
            <a:ext cx="68580" cy="1261872"/>
          </a:xfrm>
          <a:prstGeom prst="rect">
            <a:avLst/>
          </a:prstGeom>
          <a:solidFill>
            <a:srgbClr val="6251B1"/>
          </a:solidFill>
          <a:ln w="8890">
            <a:solidFill>
              <a:srgbClr val="6251B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练习题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691640"/>
            <a:ext cx="10652760" cy="3035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下列说法，哪些正确？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① 增加编辑音轨，未压缩PCM数据量必然翻倍。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② 未压缩视频逐帧保存，数据量可能很大。</a:t>
            </a:r>
          </a:p>
          <a:p>
            <a:pPr>
              <a:spcBef>
                <a:spcPts val="0"/>
              </a:spcBef>
              <a:spcAft>
                <a:spcPts val="200"/>
              </a:spcAft>
              <a:defRPr sz="2700" b="0">
                <a:solidFill>
                  <a:srgbClr val="262626"/>
                </a:solidFill>
                <a:latin typeface="Alibaba PuHuiTi 3.0 55 Regular"/>
              </a:defRPr>
            </a:pPr>
            <a:r>
              <a:t>③ ZIP解压后可以恢复原始文档。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22960" y="4919472"/>
            <a:ext cx="10259568" cy="0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05840" y="5111496"/>
            <a:ext cx="10241280" cy="52120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1">
                <a:solidFill>
                  <a:srgbClr val="8C64E1"/>
                </a:solidFill>
                <a:latin typeface="Alibaba PuHuiTi 3.0 115 Black"/>
              </a:defRPr>
            </a:pPr>
            <a:r>
              <a:rPr b="1" sz="2600">
                <a:solidFill>
                  <a:srgbClr val="6251B1"/>
                </a:solidFill>
                <a:latin typeface="Alibaba PuHuiTi 3.0 115 Black"/>
              </a:rPr>
              <a:t>答案：①错；②对；③对。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660136"/>
            <a:ext cx="10241280" cy="60350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900" b="0">
                <a:solidFill>
                  <a:srgbClr val="262626"/>
                </a:solidFill>
                <a:latin typeface="Alibaba PuHuiTi 3.0 55 Regular"/>
              </a:defRPr>
            </a:pPr>
            <a:r>
              <a:rPr sz="1800" b="0">
                <a:solidFill>
                  <a:srgbClr val="262626"/>
                </a:solidFill>
                <a:latin typeface="Alibaba PuHuiTi 3.0 55 Regular"/>
              </a:rPr>
              <a:t>①音轨不等于声道；②每帧的数据量相加可能很大；③ZIP为无损归档。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离开课堂前，你能解释三个为什么吗？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82880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① 声音为什么能变成一组0和1？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" y="306324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00B0F0"/>
                </a:solidFill>
                <a:latin typeface="Alibaba PuHuiTi 3.0 115 Black"/>
              </a:defRPr>
            </a:pPr>
            <a:r>
              <a:t>② 小视频为什么可能算出6.44 GiB？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86384" y="4297680"/>
            <a:ext cx="1088136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600" b="1">
                <a:solidFill>
                  <a:srgbClr val="8C64E1"/>
                </a:solidFill>
                <a:latin typeface="Alibaba PuHuiTi 3.0 115 Black"/>
              </a:defRPr>
            </a:pPr>
            <a:r>
              <a:t>③ 有些文件为什么压缩后变化很小？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可选拓展：采样不足时会发生什么？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097280" y="2468880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1188720" y="1810512"/>
            <a:ext cx="0" cy="1325880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216152" y="1499616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0" y="2587752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271016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A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1188720" y="2369440"/>
            <a:ext cx="87325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276045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V="1">
            <a:off x="1363370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V="1">
            <a:off x="1450695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1538020" y="2198979"/>
            <a:ext cx="87326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1625346" y="2160216"/>
            <a:ext cx="87325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V="1">
            <a:off x="1712671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 flipV="1">
            <a:off x="1799996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1887321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V="1">
            <a:off x="1974646" y="2030817"/>
            <a:ext cx="87326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 flipV="1">
            <a:off x="2061972" y="2006317"/>
            <a:ext cx="87325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214929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223662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232394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2411272" y="1946188"/>
            <a:ext cx="87326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2498598" y="1941291"/>
            <a:ext cx="87325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2585923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2673248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2760573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2847898" y="1951764"/>
            <a:ext cx="87326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2935224" y="1963539"/>
            <a:ext cx="87325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022549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3109874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3197199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or 33"/>
          <p:cNvCxnSpPr/>
          <p:nvPr/>
        </p:nvCxnSpPr>
        <p:spPr>
          <a:xfrm>
            <a:off x="3284524" y="2049055"/>
            <a:ext cx="87326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>
            <a:off x="3371850" y="2079088"/>
            <a:ext cx="87325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3459175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3546500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3633825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3721150" y="2225903"/>
            <a:ext cx="87326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3808476" y="2267647"/>
            <a:ext cx="87325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or 40"/>
          <p:cNvCxnSpPr/>
          <p:nvPr/>
        </p:nvCxnSpPr>
        <p:spPr>
          <a:xfrm>
            <a:off x="3895801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>
            <a:off x="3983126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4070451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>
            <a:off x="4157776" y="2443757"/>
            <a:ext cx="87326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4245102" y="2488112"/>
            <a:ext cx="87325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433242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441975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450707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9" name="Connector 48"/>
          <p:cNvCxnSpPr/>
          <p:nvPr/>
        </p:nvCxnSpPr>
        <p:spPr>
          <a:xfrm>
            <a:off x="4594402" y="2655128"/>
            <a:ext cx="87326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0" name="Connector 49"/>
          <p:cNvCxnSpPr/>
          <p:nvPr/>
        </p:nvCxnSpPr>
        <p:spPr>
          <a:xfrm>
            <a:off x="4681728" y="2692425"/>
            <a:ext cx="87325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Connector 50"/>
          <p:cNvCxnSpPr/>
          <p:nvPr/>
        </p:nvCxnSpPr>
        <p:spPr>
          <a:xfrm>
            <a:off x="4769053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4856378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4943703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>
            <a:off x="5031028" y="2813939"/>
            <a:ext cx="87326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5118354" y="2836049"/>
            <a:ext cx="87325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Connector 55"/>
          <p:cNvCxnSpPr/>
          <p:nvPr/>
        </p:nvCxnSpPr>
        <p:spPr>
          <a:xfrm>
            <a:off x="5205679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 56"/>
          <p:cNvCxnSpPr/>
          <p:nvPr/>
        </p:nvCxnSpPr>
        <p:spPr>
          <a:xfrm>
            <a:off x="5293004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5380329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5467654" y="2885573"/>
            <a:ext cx="87326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nector 59"/>
          <p:cNvCxnSpPr/>
          <p:nvPr/>
        </p:nvCxnSpPr>
        <p:spPr>
          <a:xfrm flipV="1">
            <a:off x="5554980" y="2885573"/>
            <a:ext cx="87325" cy="210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 60"/>
          <p:cNvCxnSpPr/>
          <p:nvPr/>
        </p:nvCxnSpPr>
        <p:spPr>
          <a:xfrm flipV="1">
            <a:off x="5642305" y="2879285"/>
            <a:ext cx="87325" cy="62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Connector 61"/>
          <p:cNvCxnSpPr/>
          <p:nvPr/>
        </p:nvCxnSpPr>
        <p:spPr>
          <a:xfrm flipV="1">
            <a:off x="5729630" y="2868867"/>
            <a:ext cx="87325" cy="1041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 flipV="1">
            <a:off x="5816955" y="2854413"/>
            <a:ext cx="87325" cy="1445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 flipV="1">
            <a:off x="5904280" y="2836049"/>
            <a:ext cx="87326" cy="1836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 flipV="1">
            <a:off x="5991606" y="2813939"/>
            <a:ext cx="87325" cy="221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6" name="Connector 65"/>
          <p:cNvCxnSpPr/>
          <p:nvPr/>
        </p:nvCxnSpPr>
        <p:spPr>
          <a:xfrm flipV="1">
            <a:off x="6078931" y="2788280"/>
            <a:ext cx="87325" cy="2565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7" name="Connector 66"/>
          <p:cNvCxnSpPr/>
          <p:nvPr/>
        </p:nvCxnSpPr>
        <p:spPr>
          <a:xfrm flipV="1">
            <a:off x="6166256" y="2759298"/>
            <a:ext cx="87325" cy="2898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 flipV="1">
            <a:off x="6253581" y="2727252"/>
            <a:ext cx="87325" cy="3204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 flipV="1">
            <a:off x="6340906" y="2692425"/>
            <a:ext cx="87326" cy="3482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 flipV="1">
            <a:off x="6428232" y="2655128"/>
            <a:ext cx="87325" cy="372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 flipV="1">
            <a:off x="6515557" y="2615690"/>
            <a:ext cx="87325" cy="3943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 flipV="1">
            <a:off x="6602882" y="2574462"/>
            <a:ext cx="87325" cy="4122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V="1">
            <a:off x="6690207" y="2531810"/>
            <a:ext cx="87325" cy="4265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 flipV="1">
            <a:off x="6777532" y="2488112"/>
            <a:ext cx="87326" cy="4369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 flipV="1">
            <a:off x="6864858" y="2443757"/>
            <a:ext cx="87325" cy="443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6952183" y="2399138"/>
            <a:ext cx="87325" cy="446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7039508" y="2354650"/>
            <a:ext cx="87325" cy="4448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7126833" y="2310690"/>
            <a:ext cx="87325" cy="4396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7214158" y="2267647"/>
            <a:ext cx="87326" cy="4304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 flipV="1">
            <a:off x="7301484" y="2225903"/>
            <a:ext cx="87325" cy="4174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1" name="Connector 80"/>
          <p:cNvCxnSpPr/>
          <p:nvPr/>
        </p:nvCxnSpPr>
        <p:spPr>
          <a:xfrm flipV="1">
            <a:off x="7388809" y="2185828"/>
            <a:ext cx="87325" cy="400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 flipV="1">
            <a:off x="7476134" y="2147780"/>
            <a:ext cx="87325" cy="38048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V="1">
            <a:off x="7563459" y="2112094"/>
            <a:ext cx="87325" cy="3568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4" name="Connector 83"/>
          <p:cNvCxnSpPr/>
          <p:nvPr/>
        </p:nvCxnSpPr>
        <p:spPr>
          <a:xfrm flipV="1">
            <a:off x="7650784" y="2079088"/>
            <a:ext cx="87326" cy="3300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5" name="Connector 84"/>
          <p:cNvCxnSpPr/>
          <p:nvPr/>
        </p:nvCxnSpPr>
        <p:spPr>
          <a:xfrm flipV="1">
            <a:off x="7738110" y="2049055"/>
            <a:ext cx="87325" cy="300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6" name="Connector 85"/>
          <p:cNvCxnSpPr/>
          <p:nvPr/>
        </p:nvCxnSpPr>
        <p:spPr>
          <a:xfrm flipV="1">
            <a:off x="7825435" y="2022261"/>
            <a:ext cx="87325" cy="2679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7" name="Connector 86"/>
          <p:cNvCxnSpPr/>
          <p:nvPr/>
        </p:nvCxnSpPr>
        <p:spPr>
          <a:xfrm flipV="1">
            <a:off x="7912760" y="1998945"/>
            <a:ext cx="87325" cy="23316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 flipV="1">
            <a:off x="8000085" y="1979313"/>
            <a:ext cx="87325" cy="1963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 flipV="1">
            <a:off x="8087410" y="1963539"/>
            <a:ext cx="87326" cy="15774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0" name="Connector 89"/>
          <p:cNvCxnSpPr/>
          <p:nvPr/>
        </p:nvCxnSpPr>
        <p:spPr>
          <a:xfrm flipV="1">
            <a:off x="8174736" y="1951764"/>
            <a:ext cx="87325" cy="117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1" name="Connector 90"/>
          <p:cNvCxnSpPr/>
          <p:nvPr/>
        </p:nvCxnSpPr>
        <p:spPr>
          <a:xfrm flipV="1">
            <a:off x="8262061" y="1944091"/>
            <a:ext cx="87325" cy="767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2" name="Connector 91"/>
          <p:cNvCxnSpPr/>
          <p:nvPr/>
        </p:nvCxnSpPr>
        <p:spPr>
          <a:xfrm flipV="1">
            <a:off x="8349386" y="1940590"/>
            <a:ext cx="87325" cy="35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3" name="Connector 92"/>
          <p:cNvCxnSpPr/>
          <p:nvPr/>
        </p:nvCxnSpPr>
        <p:spPr>
          <a:xfrm>
            <a:off x="8436711" y="1940590"/>
            <a:ext cx="87325" cy="7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8524036" y="1941291"/>
            <a:ext cx="87326" cy="489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8611362" y="1946188"/>
            <a:ext cx="87325" cy="904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Connector 95"/>
          <p:cNvCxnSpPr/>
          <p:nvPr/>
        </p:nvCxnSpPr>
        <p:spPr>
          <a:xfrm>
            <a:off x="8698687" y="1955237"/>
            <a:ext cx="87325" cy="1312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8786012" y="1968359"/>
            <a:ext cx="87325" cy="17077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8873337" y="1985436"/>
            <a:ext cx="87325" cy="2088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8960662" y="2006317"/>
            <a:ext cx="87326" cy="2450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9047988" y="2030817"/>
            <a:ext cx="87325" cy="2790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9135313" y="2058718"/>
            <a:ext cx="87325" cy="3105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9222638" y="2089773"/>
            <a:ext cx="87325" cy="3393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9309963" y="2123706"/>
            <a:ext cx="87325" cy="36510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9397288" y="2160216"/>
            <a:ext cx="87326" cy="38763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484614" y="2198979"/>
            <a:ext cx="87325" cy="40671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571939" y="2239650"/>
            <a:ext cx="87325" cy="4221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659264" y="2281869"/>
            <a:ext cx="87325" cy="43392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9746589" y="2325261"/>
            <a:ext cx="87325" cy="44179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833914" y="2369440"/>
            <a:ext cx="87326" cy="44575"/>
          </a:xfrm>
          <a:prstGeom prst="line">
            <a:avLst/>
          </a:prstGeom>
          <a:ln w="24130">
            <a:solidFill>
              <a:srgbClr val="8C64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1097280" y="4425696"/>
            <a:ext cx="9509760" cy="0"/>
          </a:xfrm>
          <a:prstGeom prst="line">
            <a:avLst/>
          </a:prstGeom>
          <a:ln w="2032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>
            <a:off x="1188720" y="3767328"/>
            <a:ext cx="0" cy="1325879"/>
          </a:xfrm>
          <a:prstGeom prst="line">
            <a:avLst/>
          </a:prstGeom>
          <a:ln w="16510">
            <a:solidFill>
              <a:srgbClr val="80808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1216152" y="345643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振幅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9692640" y="4544568"/>
            <a:ext cx="82296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1600" b="0">
                <a:solidFill>
                  <a:srgbClr val="808080"/>
                </a:solidFill>
                <a:latin typeface="Alibaba PuHuiTi 3.0 55 Regular"/>
              </a:defRPr>
            </a:pPr>
            <a:r>
              <a:t>时间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97280" y="3227832"/>
            <a:ext cx="9509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200" b="1">
                <a:solidFill>
                  <a:srgbClr val="8C64E1"/>
                </a:solidFill>
                <a:latin typeface="Alibaba PuHuiTi 3.0 115 Black"/>
              </a:defRPr>
            </a:pPr>
            <a:r>
              <a:t>波形 B</a:t>
            </a:r>
          </a:p>
        </p:txBody>
      </p:sp>
      <p:cxnSp>
        <p:nvCxnSpPr>
          <p:cNvPr id="115" name="Connector 114"/>
          <p:cNvCxnSpPr/>
          <p:nvPr/>
        </p:nvCxnSpPr>
        <p:spPr>
          <a:xfrm flipV="1">
            <a:off x="1188720" y="4267506"/>
            <a:ext cx="87325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6" name="Connector 115"/>
          <p:cNvCxnSpPr/>
          <p:nvPr/>
        </p:nvCxnSpPr>
        <p:spPr>
          <a:xfrm flipV="1">
            <a:off x="1276045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Connector 116"/>
          <p:cNvCxnSpPr/>
          <p:nvPr/>
        </p:nvCxnSpPr>
        <p:spPr>
          <a:xfrm flipV="1">
            <a:off x="1363370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 flipV="1">
            <a:off x="1450695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 flipV="1">
            <a:off x="1538020" y="3948798"/>
            <a:ext cx="87326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Connector 119"/>
          <p:cNvCxnSpPr/>
          <p:nvPr/>
        </p:nvCxnSpPr>
        <p:spPr>
          <a:xfrm flipV="1">
            <a:off x="1625346" y="3912053"/>
            <a:ext cx="87325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1" name="Connector 120"/>
          <p:cNvCxnSpPr/>
          <p:nvPr/>
        </p:nvCxnSpPr>
        <p:spPr>
          <a:xfrm flipV="1">
            <a:off x="1712671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2" name="Connector 121"/>
          <p:cNvCxnSpPr/>
          <p:nvPr/>
        </p:nvCxnSpPr>
        <p:spPr>
          <a:xfrm>
            <a:off x="1799996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3" name="Connector 122"/>
          <p:cNvCxnSpPr/>
          <p:nvPr/>
        </p:nvCxnSpPr>
        <p:spPr>
          <a:xfrm>
            <a:off x="1887321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1974646" y="3936129"/>
            <a:ext cx="87326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2061972" y="3987633"/>
            <a:ext cx="87325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6" name="Connector 125"/>
          <p:cNvCxnSpPr/>
          <p:nvPr/>
        </p:nvCxnSpPr>
        <p:spPr>
          <a:xfrm>
            <a:off x="214929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7" name="Connector 126"/>
          <p:cNvCxnSpPr/>
          <p:nvPr/>
        </p:nvCxnSpPr>
        <p:spPr>
          <a:xfrm>
            <a:off x="223662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8" name="Connector 127"/>
          <p:cNvCxnSpPr/>
          <p:nvPr/>
        </p:nvCxnSpPr>
        <p:spPr>
          <a:xfrm>
            <a:off x="232394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9" name="Connector 128"/>
          <p:cNvCxnSpPr/>
          <p:nvPr/>
        </p:nvCxnSpPr>
        <p:spPr>
          <a:xfrm>
            <a:off x="2411272" y="4341090"/>
            <a:ext cx="87326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2498598" y="4444928"/>
            <a:ext cx="87325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2585923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Connector 131"/>
          <p:cNvCxnSpPr/>
          <p:nvPr/>
        </p:nvCxnSpPr>
        <p:spPr>
          <a:xfrm>
            <a:off x="2673248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3" name="Connector 132"/>
          <p:cNvCxnSpPr/>
          <p:nvPr/>
        </p:nvCxnSpPr>
        <p:spPr>
          <a:xfrm>
            <a:off x="2760573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4" name="Connector 133"/>
          <p:cNvCxnSpPr/>
          <p:nvPr/>
        </p:nvCxnSpPr>
        <p:spPr>
          <a:xfrm>
            <a:off x="2847898" y="4778530"/>
            <a:ext cx="87326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5" name="Connector 134"/>
          <p:cNvCxnSpPr/>
          <p:nvPr/>
        </p:nvCxnSpPr>
        <p:spPr>
          <a:xfrm>
            <a:off x="2935224" y="4821308"/>
            <a:ext cx="87325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 flipV="1">
            <a:off x="3022549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 flipV="1">
            <a:off x="3109874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8" name="Connector 137"/>
          <p:cNvCxnSpPr/>
          <p:nvPr/>
        </p:nvCxnSpPr>
        <p:spPr>
          <a:xfrm flipV="1">
            <a:off x="3197199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9" name="Connector 138"/>
          <p:cNvCxnSpPr/>
          <p:nvPr/>
        </p:nvCxnSpPr>
        <p:spPr>
          <a:xfrm flipV="1">
            <a:off x="3284524" y="4705759"/>
            <a:ext cx="87326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0" name="Connector 139"/>
          <p:cNvCxnSpPr/>
          <p:nvPr/>
        </p:nvCxnSpPr>
        <p:spPr>
          <a:xfrm flipV="1">
            <a:off x="3371850" y="4624631"/>
            <a:ext cx="87325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1" name="Connector 140"/>
          <p:cNvCxnSpPr/>
          <p:nvPr/>
        </p:nvCxnSpPr>
        <p:spPr>
          <a:xfrm flipV="1">
            <a:off x="3459175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 flipV="1">
            <a:off x="3546500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 flipV="1">
            <a:off x="3633825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4" name="Connector 143"/>
          <p:cNvCxnSpPr/>
          <p:nvPr/>
        </p:nvCxnSpPr>
        <p:spPr>
          <a:xfrm flipV="1">
            <a:off x="3721150" y="4224463"/>
            <a:ext cx="87326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5" name="Connector 144"/>
          <p:cNvCxnSpPr/>
          <p:nvPr/>
        </p:nvCxnSpPr>
        <p:spPr>
          <a:xfrm flipV="1">
            <a:off x="3808476" y="4129719"/>
            <a:ext cx="87325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Connector 145"/>
          <p:cNvCxnSpPr/>
          <p:nvPr/>
        </p:nvCxnSpPr>
        <p:spPr>
          <a:xfrm flipV="1">
            <a:off x="3895801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7" name="Connector 146"/>
          <p:cNvCxnSpPr/>
          <p:nvPr/>
        </p:nvCxnSpPr>
        <p:spPr>
          <a:xfrm flipV="1">
            <a:off x="3983126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 flipV="1">
            <a:off x="4070451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 flipV="1">
            <a:off x="4157776" y="3903004"/>
            <a:ext cx="87326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0" name="Connector 149"/>
          <p:cNvCxnSpPr/>
          <p:nvPr/>
        </p:nvCxnSpPr>
        <p:spPr>
          <a:xfrm flipV="1">
            <a:off x="4245102" y="3898107"/>
            <a:ext cx="87325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1" name="Connector 150"/>
          <p:cNvCxnSpPr/>
          <p:nvPr/>
        </p:nvCxnSpPr>
        <p:spPr>
          <a:xfrm>
            <a:off x="433242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2" name="Connector 151"/>
          <p:cNvCxnSpPr/>
          <p:nvPr/>
        </p:nvCxnSpPr>
        <p:spPr>
          <a:xfrm>
            <a:off x="441975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Connector 152"/>
          <p:cNvCxnSpPr/>
          <p:nvPr/>
        </p:nvCxnSpPr>
        <p:spPr>
          <a:xfrm>
            <a:off x="450707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4594402" y="4015534"/>
            <a:ext cx="87326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4681728" y="4092422"/>
            <a:ext cx="87325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6" name="Connector 155"/>
          <p:cNvCxnSpPr/>
          <p:nvPr/>
        </p:nvCxnSpPr>
        <p:spPr>
          <a:xfrm>
            <a:off x="4769053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7" name="Connector 156"/>
          <p:cNvCxnSpPr/>
          <p:nvPr/>
        </p:nvCxnSpPr>
        <p:spPr>
          <a:xfrm>
            <a:off x="4856378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Connector 157"/>
          <p:cNvCxnSpPr/>
          <p:nvPr/>
        </p:nvCxnSpPr>
        <p:spPr>
          <a:xfrm>
            <a:off x="4943703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9" name="Connector 158"/>
          <p:cNvCxnSpPr/>
          <p:nvPr/>
        </p:nvCxnSpPr>
        <p:spPr>
          <a:xfrm>
            <a:off x="5031028" y="4488626"/>
            <a:ext cx="87326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5118354" y="4585868"/>
            <a:ext cx="87325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5205679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2" name="Connector 161"/>
          <p:cNvCxnSpPr/>
          <p:nvPr/>
        </p:nvCxnSpPr>
        <p:spPr>
          <a:xfrm>
            <a:off x="5293004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3" name="Connector 162"/>
          <p:cNvCxnSpPr/>
          <p:nvPr/>
        </p:nvCxnSpPr>
        <p:spPr>
          <a:xfrm>
            <a:off x="5380329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4" name="Connector 163"/>
          <p:cNvCxnSpPr/>
          <p:nvPr/>
        </p:nvCxnSpPr>
        <p:spPr>
          <a:xfrm>
            <a:off x="5467654" y="4833083"/>
            <a:ext cx="87326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Connector 164"/>
          <p:cNvCxnSpPr/>
          <p:nvPr/>
        </p:nvCxnSpPr>
        <p:spPr>
          <a:xfrm flipV="1">
            <a:off x="5554980" y="4833083"/>
            <a:ext cx="87325" cy="1140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 flipV="1">
            <a:off x="5642305" y="4799411"/>
            <a:ext cx="87325" cy="3367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 flipV="1">
            <a:off x="5729630" y="4745096"/>
            <a:ext cx="87325" cy="5431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8" name="Connector 167"/>
          <p:cNvCxnSpPr/>
          <p:nvPr/>
        </p:nvCxnSpPr>
        <p:spPr>
          <a:xfrm flipV="1">
            <a:off x="5816955" y="4672753"/>
            <a:ext cx="87325" cy="723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9" name="Connector 168"/>
          <p:cNvCxnSpPr/>
          <p:nvPr/>
        </p:nvCxnSpPr>
        <p:spPr>
          <a:xfrm flipV="1">
            <a:off x="5904280" y="4585868"/>
            <a:ext cx="87326" cy="8688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0" name="Connector 169"/>
          <p:cNvCxnSpPr/>
          <p:nvPr/>
        </p:nvCxnSpPr>
        <p:spPr>
          <a:xfrm flipV="1">
            <a:off x="5991606" y="4488626"/>
            <a:ext cx="87325" cy="9724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1" name="Connector 170"/>
          <p:cNvCxnSpPr/>
          <p:nvPr/>
        </p:nvCxnSpPr>
        <p:spPr>
          <a:xfrm flipV="1">
            <a:off x="6078931" y="4385709"/>
            <a:ext cx="87325" cy="10291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 flipV="1">
            <a:off x="6166256" y="4282077"/>
            <a:ext cx="87325" cy="10363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 flipV="1">
            <a:off x="6253581" y="4182719"/>
            <a:ext cx="87325" cy="9935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4" name="Connector 173"/>
          <p:cNvCxnSpPr/>
          <p:nvPr/>
        </p:nvCxnSpPr>
        <p:spPr>
          <a:xfrm flipV="1">
            <a:off x="6340906" y="4092422"/>
            <a:ext cx="87326" cy="902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5" name="Connector 174"/>
          <p:cNvCxnSpPr/>
          <p:nvPr/>
        </p:nvCxnSpPr>
        <p:spPr>
          <a:xfrm flipV="1">
            <a:off x="6428232" y="4015534"/>
            <a:ext cx="87325" cy="7688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6" name="Connector 175"/>
          <p:cNvCxnSpPr/>
          <p:nvPr/>
        </p:nvCxnSpPr>
        <p:spPr>
          <a:xfrm flipV="1">
            <a:off x="6515557" y="3955761"/>
            <a:ext cx="87325" cy="597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7" name="Connector 176"/>
          <p:cNvCxnSpPr/>
          <p:nvPr/>
        </p:nvCxnSpPr>
        <p:spPr>
          <a:xfrm flipV="1">
            <a:off x="6602882" y="3915980"/>
            <a:ext cx="87325" cy="397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 flipV="1">
            <a:off x="6690207" y="3898107"/>
            <a:ext cx="87325" cy="178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6777532" y="3898107"/>
            <a:ext cx="87326" cy="489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0" name="Connector 179"/>
          <p:cNvCxnSpPr/>
          <p:nvPr/>
        </p:nvCxnSpPr>
        <p:spPr>
          <a:xfrm>
            <a:off x="6864858" y="3903004"/>
            <a:ext cx="87325" cy="274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1" name="Connector 180"/>
          <p:cNvCxnSpPr/>
          <p:nvPr/>
        </p:nvCxnSpPr>
        <p:spPr>
          <a:xfrm>
            <a:off x="6952183" y="3930434"/>
            <a:ext cx="87325" cy="4864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>
            <a:off x="7039508" y="3979077"/>
            <a:ext cx="87325" cy="6751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>
            <a:off x="7126833" y="4046589"/>
            <a:ext cx="87325" cy="8313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>
            <a:off x="7214158" y="4129719"/>
            <a:ext cx="87326" cy="9474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>
            <a:off x="7301484" y="4224463"/>
            <a:ext cx="87325" cy="10179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6" name="Connector 185"/>
          <p:cNvCxnSpPr/>
          <p:nvPr/>
        </p:nvCxnSpPr>
        <p:spPr>
          <a:xfrm>
            <a:off x="7388809" y="4326256"/>
            <a:ext cx="87325" cy="1039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7" name="Connector 186"/>
          <p:cNvCxnSpPr/>
          <p:nvPr/>
        </p:nvCxnSpPr>
        <p:spPr>
          <a:xfrm>
            <a:off x="7476134" y="4430197"/>
            <a:ext cx="87325" cy="10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8" name="Connector 187"/>
          <p:cNvCxnSpPr/>
          <p:nvPr/>
        </p:nvCxnSpPr>
        <p:spPr>
          <a:xfrm>
            <a:off x="7563459" y="4531278"/>
            <a:ext cx="87325" cy="9335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9" name="Connector 188"/>
          <p:cNvCxnSpPr/>
          <p:nvPr/>
        </p:nvCxnSpPr>
        <p:spPr>
          <a:xfrm>
            <a:off x="7650784" y="4624631"/>
            <a:ext cx="87326" cy="8112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0" name="Connector 189"/>
          <p:cNvCxnSpPr/>
          <p:nvPr/>
        </p:nvCxnSpPr>
        <p:spPr>
          <a:xfrm>
            <a:off x="7738110" y="4705759"/>
            <a:ext cx="87325" cy="6499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Connector 190"/>
          <p:cNvCxnSpPr/>
          <p:nvPr/>
        </p:nvCxnSpPr>
        <p:spPr>
          <a:xfrm>
            <a:off x="7825435" y="4770755"/>
            <a:ext cx="87325" cy="457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2" name="Connector 191"/>
          <p:cNvCxnSpPr/>
          <p:nvPr/>
        </p:nvCxnSpPr>
        <p:spPr>
          <a:xfrm>
            <a:off x="7912760" y="4816488"/>
            <a:ext cx="87325" cy="2426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3" name="Connector 192"/>
          <p:cNvCxnSpPr/>
          <p:nvPr/>
        </p:nvCxnSpPr>
        <p:spPr>
          <a:xfrm>
            <a:off x="8000085" y="4840756"/>
            <a:ext cx="87325" cy="163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4" name="Connector 193"/>
          <p:cNvCxnSpPr/>
          <p:nvPr/>
        </p:nvCxnSpPr>
        <p:spPr>
          <a:xfrm flipV="1">
            <a:off x="8087410" y="4821308"/>
            <a:ext cx="87326" cy="2108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5" name="Connector 194"/>
          <p:cNvCxnSpPr/>
          <p:nvPr/>
        </p:nvCxnSpPr>
        <p:spPr>
          <a:xfrm flipV="1">
            <a:off x="8174736" y="4778530"/>
            <a:ext cx="87325" cy="4277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6" name="Connector 195"/>
          <p:cNvCxnSpPr/>
          <p:nvPr/>
        </p:nvCxnSpPr>
        <p:spPr>
          <a:xfrm flipV="1">
            <a:off x="8262061" y="4716114"/>
            <a:ext cx="87325" cy="6241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7" name="Connector 196"/>
          <p:cNvCxnSpPr/>
          <p:nvPr/>
        </p:nvCxnSpPr>
        <p:spPr>
          <a:xfrm flipV="1">
            <a:off x="8349386" y="4637067"/>
            <a:ext cx="87325" cy="790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8" name="Connector 197"/>
          <p:cNvCxnSpPr/>
          <p:nvPr/>
        </p:nvCxnSpPr>
        <p:spPr>
          <a:xfrm flipV="1">
            <a:off x="8436711" y="4545197"/>
            <a:ext cx="87325" cy="91870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9" name="Connector 198"/>
          <p:cNvCxnSpPr/>
          <p:nvPr/>
        </p:nvCxnSpPr>
        <p:spPr>
          <a:xfrm flipV="1">
            <a:off x="8524036" y="4444928"/>
            <a:ext cx="87326" cy="10026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0" name="Connector 199"/>
          <p:cNvCxnSpPr/>
          <p:nvPr/>
        </p:nvCxnSpPr>
        <p:spPr>
          <a:xfrm flipV="1">
            <a:off x="8611362" y="4341090"/>
            <a:ext cx="87325" cy="103838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1" name="Connector 200"/>
          <p:cNvCxnSpPr/>
          <p:nvPr/>
        </p:nvCxnSpPr>
        <p:spPr>
          <a:xfrm flipV="1">
            <a:off x="8698687" y="4238685"/>
            <a:ext cx="87325" cy="10240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2" name="Connector 201"/>
          <p:cNvCxnSpPr/>
          <p:nvPr/>
        </p:nvCxnSpPr>
        <p:spPr>
          <a:xfrm flipV="1">
            <a:off x="8786012" y="4142644"/>
            <a:ext cx="87325" cy="9604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3" name="Connector 202"/>
          <p:cNvCxnSpPr/>
          <p:nvPr/>
        </p:nvCxnSpPr>
        <p:spPr>
          <a:xfrm flipV="1">
            <a:off x="8873337" y="4057595"/>
            <a:ext cx="87325" cy="850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4" name="Connector 203"/>
          <p:cNvCxnSpPr/>
          <p:nvPr/>
        </p:nvCxnSpPr>
        <p:spPr>
          <a:xfrm flipV="1">
            <a:off x="8960662" y="3987633"/>
            <a:ext cx="87326" cy="69962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5" name="Connector 204"/>
          <p:cNvCxnSpPr/>
          <p:nvPr/>
        </p:nvCxnSpPr>
        <p:spPr>
          <a:xfrm flipV="1">
            <a:off x="9047988" y="3936129"/>
            <a:ext cx="87325" cy="51504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6" name="Connector 205"/>
          <p:cNvCxnSpPr/>
          <p:nvPr/>
        </p:nvCxnSpPr>
        <p:spPr>
          <a:xfrm flipV="1">
            <a:off x="9135313" y="3905562"/>
            <a:ext cx="87325" cy="3056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7" name="Connector 206"/>
          <p:cNvCxnSpPr/>
          <p:nvPr/>
        </p:nvCxnSpPr>
        <p:spPr>
          <a:xfrm flipV="1">
            <a:off x="9222638" y="3897406"/>
            <a:ext cx="87325" cy="815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8" name="Connector 207"/>
          <p:cNvCxnSpPr/>
          <p:nvPr/>
        </p:nvCxnSpPr>
        <p:spPr>
          <a:xfrm>
            <a:off x="9309963" y="3897406"/>
            <a:ext cx="87325" cy="14647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9" name="Connector 208"/>
          <p:cNvCxnSpPr/>
          <p:nvPr/>
        </p:nvCxnSpPr>
        <p:spPr>
          <a:xfrm>
            <a:off x="9397288" y="3912053"/>
            <a:ext cx="87326" cy="3674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0" name="Connector 209"/>
          <p:cNvCxnSpPr/>
          <p:nvPr/>
        </p:nvCxnSpPr>
        <p:spPr>
          <a:xfrm>
            <a:off x="9484614" y="3948798"/>
            <a:ext cx="87325" cy="57073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1" name="Connector 210"/>
          <p:cNvCxnSpPr/>
          <p:nvPr/>
        </p:nvCxnSpPr>
        <p:spPr>
          <a:xfrm>
            <a:off x="9571939" y="4005871"/>
            <a:ext cx="87325" cy="74651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2" name="Connector 211"/>
          <p:cNvCxnSpPr/>
          <p:nvPr/>
        </p:nvCxnSpPr>
        <p:spPr>
          <a:xfrm>
            <a:off x="9659264" y="4080522"/>
            <a:ext cx="87325" cy="88635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3" name="Connector 212"/>
          <p:cNvCxnSpPr/>
          <p:nvPr/>
        </p:nvCxnSpPr>
        <p:spPr>
          <a:xfrm>
            <a:off x="9746589" y="4169157"/>
            <a:ext cx="87325" cy="98349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4" name="Connector 213"/>
          <p:cNvCxnSpPr/>
          <p:nvPr/>
        </p:nvCxnSpPr>
        <p:spPr>
          <a:xfrm>
            <a:off x="9833914" y="4267506"/>
            <a:ext cx="87326" cy="103326"/>
          </a:xfrm>
          <a:prstGeom prst="line">
            <a:avLst/>
          </a:prstGeom>
          <a:ln w="24130">
            <a:solidFill>
              <a:srgbClr val="00B0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5" name="TextBox 214"/>
          <p:cNvSpPr txBox="1"/>
          <p:nvPr/>
        </p:nvSpPr>
        <p:spPr>
          <a:xfrm>
            <a:off x="777240" y="5843016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拓展问题：少量离散样本，是否足以唯一确定连续信号？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3657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57416"/>
            <a:ext cx="12191695" cy="73152"/>
          </a:xfrm>
          <a:prstGeom prst="rect">
            <a:avLst/>
          </a:prstGeom>
          <a:solidFill>
            <a:srgbClr val="6251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576072"/>
            <a:ext cx="109728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3400" b="1">
                <a:solidFill>
                  <a:srgbClr val="262626"/>
                </a:solidFill>
                <a:latin typeface="Alibaba PuHuiTi 3.0 115 Black"/>
              </a:defRPr>
            </a:pPr>
            <a:r>
              <a:t>可选拓展：编码和压缩不是同一件事。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080760" y="1627632"/>
            <a:ext cx="0" cy="3776472"/>
          </a:xfrm>
          <a:prstGeom prst="line">
            <a:avLst/>
          </a:prstGeom>
          <a:ln w="25400">
            <a:solidFill>
              <a:srgbClr val="E2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1737360"/>
            <a:ext cx="507492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8C64E1"/>
                </a:solidFill>
                <a:latin typeface="Alibaba PuHuiTi 3.0 115 Black"/>
              </a:defRPr>
            </a:pPr>
            <a:r>
              <a:t>声音编码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55664" y="1737360"/>
            <a:ext cx="4754880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800" b="1">
                <a:solidFill>
                  <a:srgbClr val="00B0F0"/>
                </a:solidFill>
                <a:latin typeface="Alibaba PuHuiTi 3.0 115 Black"/>
              </a:defRPr>
            </a:pPr>
            <a:r>
              <a:t>数据压缩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43200"/>
            <a:ext cx="501091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让连续声音能够用数字样本记录；也包括后续数据表示。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5664" y="2743200"/>
            <a:ext cx="4873752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300" b="0">
                <a:solidFill>
                  <a:srgbClr val="262626"/>
                </a:solidFill>
                <a:latin typeface="Alibaba PuHuiTi 3.0 55 Regular"/>
              </a:defRPr>
            </a:pPr>
            <a:r>
              <a:t>用更少的比特表达相同或近似相同的信息。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879592"/>
            <a:ext cx="107899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00"/>
              </a:spcAft>
              <a:defRPr sz="2000" b="1">
                <a:solidFill>
                  <a:srgbClr val="8C64E1"/>
                </a:solidFill>
                <a:latin typeface="Alibaba PuHuiTi 3.0 115 Black"/>
              </a:defRPr>
            </a:pPr>
            <a:r>
              <a:t>数字化、容器封装、压缩，是相关但不同的概念。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声音编码与数据压缩·视觉迭代v8.3.4</dc:title>
  <dc:subject>高中信息科技：声音数字化与数据压缩</dc:subject>
  <dc:creator/>
  <cp:keywords>采样,量化,编码,PCM,声道,音轨,数据压缩,冗余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
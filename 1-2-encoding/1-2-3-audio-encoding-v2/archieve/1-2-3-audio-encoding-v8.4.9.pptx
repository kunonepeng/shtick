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24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17.xml"/><Relationship Id="rId76" Type="http://schemas.openxmlformats.org/officeDocument/2006/relationships/slide" Target="slides/slide20.xml"/><Relationship Id="rId77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【v8.1视觉引导】视觉依据是生成的“音叉—声压疏密变化—麦克风”图；为了投影清晰采用可缩放矢量绘制。它不是声波沿正弦路径传播的图。</a:t>
            </a:r>
          </a:p>
          <a:p/>
          <a:p>
            <a:r>
              <a:t>[视觉改进提示] 提示学生辨认：振动产生声波，麦克风把声压变化转换成连续变化的电信号；此示意的波阵面不是传播轨迹。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  <a:p/>
          <a:p>
            <a: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  <a:p/>
          <a:p>
            <a:r>
              <a:t>[视觉优化] 波阵面而非传播路径。麦克风不是二进制编码器。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  <a:p/>
          <a:p>
            <a:r>
              <a:t>[视觉优化] 两条平行流程对应录音与播放。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  <a:p/>
          <a:p>
            <a:r>
              <a:t>[视觉改进提示] 右图的横轴是时间；左图是空间波阵面，不能说声音像绳子一样上下弯曲前进。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  <a:p/>
          <a:p>
            <a:r>
              <a:t>【v8.1视觉引导】加深0至7的八条量化等级线，先数清等级再引入3 bit。</a:t>
            </a:r>
          </a:p>
          <a:p/>
          <a:p>
            <a:r>
              <a:t>[视觉改进提示] 本页只强调L0～L7共8级，绝不泄露下一页3.71归入哪个区间的答案。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  <a:p/>
          <a:p>
            <a:r>
              <a:t>【v8.1视觉引导】码字行放大并统一青色；先指出第1列，再读完全部10个样本。</a:t>
            </a:r>
          </a:p>
          <a:p/>
          <a:p>
            <a:r>
              <a:t>[视觉改进提示] 让学生按时间顺序逐个对照等级和码字；第3个样本L7→111，绝不把10个样本说成10个等级。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  <a:p/>
          <a:p>
            <a:r>
              <a:t>[视觉改进提示] 文件头为说明数据的字段，数据块才记录音频样本。WAV可存储PCM及其他表示，不是压缩算法。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  <a:p/>
          <a:p>
            <a:r>
              <a:t>[视觉优化] 从样本总数开始推导数据量，解释每个乘数的单位。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  <a:p/>
          <a:p>
            <a:r>
              <a:t>[视觉优化] 波形为区别音轨与输出通道的示意图，不是混音运算曲线。</a:t>
            </a:r>
          </a:p>
          <a:p/>
          <a:p>
            <a:r>
              <a:t>[视觉改进提示] 不要把音轨1理解成左声道、音轨2理解成右声道；各个输出都可包含两条素材的混合。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  <a:p/>
          <a:p>
            <a:r>
              <a:t>【v8.1视觉引导】让学生比较同一小球相对于各帧相同参考线的位置，从第一帧到第五帧明显向右变化。</a:t>
            </a:r>
          </a:p>
          <a:p/>
          <a:p>
            <a:r>
              <a:t>[视觉优化] 控制变量只有球的位置；动画效果来自连续帧的顺序。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  <a:p/>
          <a:p>
            <a:r>
              <a:t>[视觉改进提示] 先提出文件大小冲突，不要提前揭示压缩答案；右侧图仅用作不同表示的问号，不按比例绘制，也不提供虚构的文件大小。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  <a:p/>
          <a:p>
            <a: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  <a:p/>
          <a:p>
            <a:r>
              <a:t>[视觉改进提示] 有损图的两处颜色差异是为了课堂观察而夸大，实际编码的误差不一定如此明显。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  <a:p/>
          <a:p>
            <a: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  <a:p/>
          <a:p>
            <a:r>
              <a:t>[视觉优化] 相同尺寸和色彩模式；内容结构不同。冗余与压缩算法共同决定结果。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  <a:p/>
          <a:p>
            <a:r>
              <a:t>[视觉优化] 同一640×350 RGB程序生成图像以quality=3编码JPEG；有损差异随参数改变。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  <a:p/>
          <a:p>
            <a:r>
              <a:t>【v8.1视觉引导】两组场景对比加大；让学生按完整性、带宽、延迟、质量权衡。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  <a:p/>
          <a:p>
            <a:r>
              <a:t>[视觉优化] 看横向点与纵向线：要求学生分别解释对应的参数。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  <a:p/>
          <a:p>
            <a:r>
              <a:t>[视觉改进提示] 从概览图放大到短时窗口。需与Notebook 02关联；示意形状本身不是录音实测。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  <a:p/>
          <a:p>
            <a:r>
              <a:t>[视觉优化] 让学生先预测，再到下一页验证[3,4)的区间归属。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65376"/>
            <a:ext cx="105156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振动声源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空气中的声压扰动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从声源到麦克风：声压扰动向外传播，而不是沿蛇形路线行进。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40679" y="2843784"/>
            <a:ext cx="950976" cy="950976"/>
          </a:xfrm>
          <a:prstGeom prst="ellipse">
            <a:avLst/>
          </a:prstGeom>
          <a:solidFill>
            <a:srgbClr val="E9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16168" y="3794760"/>
            <a:ext cx="0" cy="393192"/>
          </a:xfrm>
          <a:prstGeom prst="line">
            <a:avLst/>
          </a:prstGeom>
          <a:ln w="381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10735056" cy="2898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" y="1600200"/>
            <a:ext cx="50292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空气中传播：波阵面的位置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1384" y="1600200"/>
            <a:ext cx="49377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固定位置：幅度随时间变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同一物理过程，两种描述：空间中的传播 vs 记录点上的时间变化。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29968"/>
            <a:ext cx="10716768" cy="3264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6112" y="1508760"/>
            <a:ext cx="5010912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全局概览：波形整体趋势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0528" y="1508760"/>
            <a:ext cx="48463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局部蓝点才是可逐个读出的数字样本；灰色连线只是阅读辅助。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10442448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3864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64624" y="2926080"/>
            <a:ext cx="987552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4608576"/>
            <a:ext cx="103327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编号从 0 到 7：0 也是一个等级，所以一共有 8 级。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先学会数出8个等级。下一页请预测3.71的归属，再揭示区间规则。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输入范围 [0,8) 分成8段：每一段对应一个等级。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8304" y="2907792"/>
            <a:ext cx="1234439" cy="658368"/>
          </a:xfrm>
          <a:prstGeom prst="rect">
            <a:avLst/>
          </a:prstGeom>
          <a:solidFill>
            <a:srgbClr val="EFE9FF"/>
          </a:solidFill>
          <a:ln w="381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3703320"/>
            <a:ext cx="4114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20725" y="2468880"/>
            <a:ext cx="0" cy="4206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552145" y="2382012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0101" y="1938528"/>
            <a:ext cx="93268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FF0000"/>
                </a:solidFill>
                <a:latin typeface="Alibaba PuHuiTi 3.0 115 Black"/>
              </a:defRPr>
            </a:pPr>
            <a:r>
              <a:t>3.71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343400"/>
            <a:ext cx="10241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红点落在哪一段？请先独立判断等级编号。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先只预测，不公布答案；翻页再验证区间规则。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194560"/>
            <a:ext cx="10744200" cy="2432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224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8224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7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7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3184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3184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73184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52176" y="1618488"/>
            <a:ext cx="98755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17171"/>
                </a:solidFill>
                <a:latin typeface="Alibaba PuHuiTi 3.0 115 Black"/>
              </a:defRPr>
            </a:pPr>
            <a:r>
              <a:t>样本10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52176" y="2898648"/>
            <a:ext cx="1005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L4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176" y="4782312"/>
            <a:ext cx="100584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从左到右按采样时刻排列：10个样本×3 bit = 30 bit码流。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采样率：横向有多少次记录？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591056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量化位数：纵向有多少等级？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9264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1976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74688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27401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80113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32826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5538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38251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0963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43676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96388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49101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1813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54526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07238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59951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12663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18088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0800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23513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76225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28938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81650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34363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7075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39788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92500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45213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97925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550638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03350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56063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08775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61488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14200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66912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19625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72337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25050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7762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30475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83187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35900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88612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341325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94037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46750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99462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52175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04887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57600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710312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63024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15737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68449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21162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73874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6587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9299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32012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724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7437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0149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2862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95574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48287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500999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53712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606424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659136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711849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764561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817274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869986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22699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5411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28124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80836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33549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186261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38974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291686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44399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97111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28816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28816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65392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18104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70816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23529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76241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28954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81666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34379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87091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39804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92516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45229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7941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250654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303366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356079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08791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1504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4216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66928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19641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72353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25066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77778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30491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883203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35916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88628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41341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094053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46766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99478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52191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04903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57616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10328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463040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15753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568465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621178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673890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726603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779315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32028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84740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937453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990165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042878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095590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148303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01015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253728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06440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359152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11865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464577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17290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570002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622715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675427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728140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780852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833565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886277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938990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991702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044415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097127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149840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202552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255264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307977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360689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413402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466114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518827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571539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624252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676964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729677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782389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835102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87814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940527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993239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905256" y="314096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53312" y="269005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801368" y="25445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249424" y="2803080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697480" y="329045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145536" y="3676571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593592" y="36998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041648" y="334458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489704" y="2851369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937760" y="255431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385816" y="265464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6537960" y="233172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537960" y="257860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537960" y="2825496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537960" y="3072384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537960" y="3319272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537960" y="356616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537960" y="381304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537960" y="4059935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868680" y="4864608"/>
            <a:ext cx="4983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时间位置变密：样本个数变化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28232" y="4864608"/>
            <a:ext cx="48280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代表值变密：每点存储位数变化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重要区别：位数变大，不等于同一时间里采样次数变多。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28800"/>
            <a:ext cx="10698480" cy="3218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43584" y="2779776"/>
            <a:ext cx="2779776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355848"/>
            <a:ext cx="2880360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采样率、位数、声道等描述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843784"/>
            <a:ext cx="615391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PCM：按时间顺序保存的数字样本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WAV是容器；PCM表示音频样本。编码 ≠ 压缩。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91056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数据量（Byte） = 采样率 × 时长 × 声道数 × 位数 ÷ 8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采多少秒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5976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同时记录几路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64624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每个样本多少bit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4599432"/>
            <a:ext cx="10076688" cy="0"/>
          </a:xfrm>
          <a:prstGeom prst="line">
            <a:avLst/>
          </a:prstGeom>
          <a:ln w="1905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9536" y="4919472"/>
            <a:ext cx="10652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262626"/>
                </a:solidFill>
                <a:latin typeface="Alibaba PuHuiTi 3.0 115 Black"/>
              </a:defRPr>
            </a:pPr>
            <a:r>
              <a:t>前3项相乘 → 样本总数；再乘bit/样本 → bit；最后÷8 → Byte。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单位检验：Hz×s×声道×bit÷8，最终为什么得到Byte？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93392"/>
            <a:ext cx="10671048" cy="35935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55448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编辑工程：两条音轨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混合后输出：左、右声道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两条“编辑层”可以混合为左右两路输出；决定PCM大小的是最终声道数。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9344"/>
            <a:ext cx="10570464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同一个球，在5个连续时刻的位置变化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6868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41248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第1帧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92423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第2帧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34924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43600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第3帧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58952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494776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第4帧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82980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1045952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第5帧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6636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位置逐帧变化（背景和球的大小不变）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25 fps = 每秒显示25帧；“帧”不是声道，也不是采样位数。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0280"/>
            <a:ext cx="10497312" cy="30266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" y="1581912"/>
            <a:ext cx="7772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逐帧未压缩：题设计算约 6.44 GiB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591056"/>
            <a:ext cx="2834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日常视频可能更小？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想一想：未压缩的计算没有错，为什么日常视频可能远小于这个大小？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975104"/>
            <a:ext cx="10469880" cy="3218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544" y="1508760"/>
            <a:ext cx="3511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717171"/>
                </a:solidFill>
                <a:latin typeface="Alibaba PuHuiTi 3.0 115 Black"/>
              </a:defRPr>
            </a:pPr>
            <a:r>
              <a:t>原始数据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4296" y="1508760"/>
            <a:ext cx="3511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无损解压：完全一致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1508760"/>
            <a:ext cx="35112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有损解码：细节变化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区分依据：能否逐字节、逐像素恢复到原始数据，而不是谁的文件更小。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81912"/>
            <a:ext cx="10698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三幅图具有相同的宽、高与位深。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2176272"/>
            <a:ext cx="3310128" cy="2688336"/>
          </a:xfrm>
          <a:prstGeom prst="rect">
            <a:avLst/>
          </a:prstGeom>
          <a:solidFill>
            <a:srgbClr val="539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A：纯色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884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12614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2614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2614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2614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2614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2614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38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2638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2638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2638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2638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2638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40146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40146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40146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40146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40146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40146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53912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3912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53912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3912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6767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6767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6767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6767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6767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6767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81444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81444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81444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81444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81444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81444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9521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9521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9521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9521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9521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9521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98848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B：规律色块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11311" y="2176272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11311" y="2325623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11311" y="247497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11311" y="2624328"/>
            <a:ext cx="145237" cy="156667"/>
          </a:xfrm>
          <a:prstGeom prst="rect">
            <a:avLst/>
          </a:prstGeom>
          <a:solidFill>
            <a:srgbClr val="80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11311" y="2773680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11311" y="2923031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11311" y="3072384"/>
            <a:ext cx="145237" cy="156667"/>
          </a:xfrm>
          <a:prstGeom prst="rect">
            <a:avLst/>
          </a:prstGeom>
          <a:solidFill>
            <a:srgbClr val="7C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11311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11311" y="3371088"/>
            <a:ext cx="145237" cy="156667"/>
          </a:xfrm>
          <a:prstGeom prst="rect">
            <a:avLst/>
          </a:prstGeom>
          <a:solidFill>
            <a:srgbClr val="799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1" y="3520439"/>
            <a:ext cx="145237" cy="156667"/>
          </a:xfrm>
          <a:prstGeom prst="rect">
            <a:avLst/>
          </a:prstGeom>
          <a:solidFill>
            <a:srgbClr val="789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11311" y="3669792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11311" y="3819143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11311" y="396849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11311" y="4117847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11311" y="4267199"/>
            <a:ext cx="145237" cy="156667"/>
          </a:xfrm>
          <a:prstGeom prst="rect">
            <a:avLst/>
          </a:prstGeom>
          <a:solidFill>
            <a:srgbClr val="71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11311" y="4416552"/>
            <a:ext cx="145237" cy="156667"/>
          </a:xfrm>
          <a:prstGeom prst="rect">
            <a:avLst/>
          </a:prstGeom>
          <a:solidFill>
            <a:srgbClr val="704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1131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11311" y="471525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49233" y="217627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49233" y="2325623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349233" y="247497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49233" y="2624328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49233" y="2773680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49233" y="2923031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349233" y="3072384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49233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349233" y="337108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49233" y="3520439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49233" y="3669792"/>
            <a:ext cx="145237" cy="156667"/>
          </a:xfrm>
          <a:prstGeom prst="rect">
            <a:avLst/>
          </a:prstGeom>
          <a:solidFill>
            <a:srgbClr val="3C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349233" y="3819143"/>
            <a:ext cx="145237" cy="156667"/>
          </a:xfrm>
          <a:prstGeom prst="rect">
            <a:avLst/>
          </a:prstGeom>
          <a:solidFill>
            <a:srgbClr val="5BB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9233" y="396849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349233" y="4117847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49233" y="4267199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349233" y="4416552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34923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49233" y="471525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487155" y="2176272"/>
            <a:ext cx="145237" cy="156667"/>
          </a:xfrm>
          <a:prstGeom prst="rect">
            <a:avLst/>
          </a:prstGeom>
          <a:solidFill>
            <a:srgbClr val="31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87155" y="2325623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87155" y="247497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87155" y="2624328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87155" y="2773680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487155" y="2923031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87155" y="3072384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87155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487155" y="3371088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487155" y="3520439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487155" y="3669792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487155" y="3819143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487155" y="396849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487155" y="4117847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487155" y="4267199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487155" y="4416552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48715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487155" y="4715256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25078" y="2176272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625078" y="2325623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625078" y="2474976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625078" y="2624328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625078" y="2773680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25078" y="2923031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25078" y="3072384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25078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25078" y="3371088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625078" y="3520439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25078" y="3669792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625078" y="3819143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625078" y="3968496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625078" y="4117847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625078" y="4267199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625078" y="4416552"/>
            <a:ext cx="145237" cy="156667"/>
          </a:xfrm>
          <a:prstGeom prst="rect">
            <a:avLst/>
          </a:prstGeom>
          <a:solidFill>
            <a:srgbClr val="536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62507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625078" y="471525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762999" y="2176272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762999" y="2325623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762999" y="247497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762999" y="2624328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762999" y="2773680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762999" y="2923031"/>
            <a:ext cx="145237" cy="156667"/>
          </a:xfrm>
          <a:prstGeom prst="rect">
            <a:avLst/>
          </a:prstGeom>
          <a:solidFill>
            <a:srgbClr val="604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762999" y="3072384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762999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762999" y="3371088"/>
            <a:ext cx="145237" cy="156667"/>
          </a:xfrm>
          <a:prstGeom prst="rect">
            <a:avLst/>
          </a:prstGeom>
          <a:solidFill>
            <a:srgbClr val="37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762999" y="3520439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762999" y="3669792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62999" y="3819143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762999" y="396849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762999" y="4117847"/>
            <a:ext cx="145237" cy="156667"/>
          </a:xfrm>
          <a:prstGeom prst="rect">
            <a:avLst/>
          </a:prstGeom>
          <a:solidFill>
            <a:srgbClr val="64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762999" y="4267199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762999" y="4416552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76299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762999" y="471525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900921" y="2176272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900921" y="2325623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900921" y="247497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900921" y="262432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900921" y="2773680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900921" y="2923031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900921" y="3072384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900921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900921" y="3371088"/>
            <a:ext cx="145237" cy="156667"/>
          </a:xfrm>
          <a:prstGeom prst="rect">
            <a:avLst/>
          </a:prstGeom>
          <a:solidFill>
            <a:srgbClr val="67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900921" y="3520439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900921" y="3669792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900921" y="3819143"/>
            <a:ext cx="145237" cy="156667"/>
          </a:xfrm>
          <a:prstGeom prst="rect">
            <a:avLst/>
          </a:prstGeom>
          <a:solidFill>
            <a:srgbClr val="4A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900921" y="3968496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900921" y="4117847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900921" y="4267199"/>
            <a:ext cx="145237" cy="156667"/>
          </a:xfrm>
          <a:prstGeom prst="rect">
            <a:avLst/>
          </a:prstGeom>
          <a:solidFill>
            <a:srgbClr val="825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900921" y="4416552"/>
            <a:ext cx="145237" cy="156667"/>
          </a:xfrm>
          <a:prstGeom prst="rect">
            <a:avLst/>
          </a:prstGeom>
          <a:solidFill>
            <a:srgbClr val="789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90092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900921" y="471525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038843" y="217627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038843" y="2325623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038843" y="247497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038843" y="2624328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038843" y="2773680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038843" y="2923031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038843" y="3072384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038843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038843" y="3371088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038843" y="3520439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038843" y="3669792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038843" y="3819143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038843" y="396849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038843" y="4117847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038843" y="4267199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038843" y="441655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903884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9038843" y="471525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9176766" y="217627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9176766" y="2325623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9176766" y="247497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176766" y="2624328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176766" y="2773680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176766" y="2923031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176766" y="3072384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176766" y="322173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176766" y="3371088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176766" y="3520439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176766" y="3669792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9176766" y="381914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176766" y="396849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176766" y="4117847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176766" y="4267199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9176766" y="441655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917676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9176766" y="471525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314688" y="2176272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314688" y="2325623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314688" y="2474976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314688" y="2624328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314688" y="2773680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314688" y="2923031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314688" y="3072384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314688" y="322173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9314688" y="3371088"/>
            <a:ext cx="145237" cy="156667"/>
          </a:xfrm>
          <a:prstGeom prst="rect">
            <a:avLst/>
          </a:prstGeom>
          <a:solidFill>
            <a:srgbClr val="4BA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9314688" y="3520439"/>
            <a:ext cx="145237" cy="156667"/>
          </a:xfrm>
          <a:prstGeom prst="rect">
            <a:avLst/>
          </a:prstGeom>
          <a:solidFill>
            <a:srgbClr val="4DC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314688" y="3669792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314688" y="3819143"/>
            <a:ext cx="145237" cy="156667"/>
          </a:xfrm>
          <a:prstGeom prst="rect">
            <a:avLst/>
          </a:prstGeom>
          <a:solidFill>
            <a:srgbClr val="525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314688" y="396849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314688" y="4117847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314688" y="4267199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314688" y="4416552"/>
            <a:ext cx="145237" cy="156667"/>
          </a:xfrm>
          <a:prstGeom prst="rect">
            <a:avLst/>
          </a:prstGeom>
          <a:solidFill>
            <a:srgbClr val="5BB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31468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314688" y="4715256"/>
            <a:ext cx="145237" cy="156667"/>
          </a:xfrm>
          <a:prstGeom prst="rect">
            <a:avLst/>
          </a:prstGeom>
          <a:solidFill>
            <a:srgbClr val="60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452609" y="2176272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452609" y="2325623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452609" y="247497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452609" y="2624328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452609" y="2773680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452609" y="2923031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452609" y="3072384"/>
            <a:ext cx="145237" cy="156667"/>
          </a:xfrm>
          <a:prstGeom prst="rect">
            <a:avLst/>
          </a:prstGeom>
          <a:solidFill>
            <a:srgbClr val="35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452609" y="322173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452609" y="3371088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452609" y="3520439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452609" y="3669792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452609" y="3819143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452609" y="396849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452609" y="4117847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452609" y="4267199"/>
            <a:ext cx="145237" cy="156667"/>
          </a:xfrm>
          <a:prstGeom prst="rect">
            <a:avLst/>
          </a:prstGeom>
          <a:solidFill>
            <a:srgbClr val="4BB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452609" y="4416552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45260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452609" y="4715256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590531" y="2176272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590531" y="2325623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590531" y="247497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590531" y="2624328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590531" y="2773680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590531" y="2923031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590531" y="3072384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590531" y="322173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590531" y="3371088"/>
            <a:ext cx="145237" cy="156667"/>
          </a:xfrm>
          <a:prstGeom prst="rect">
            <a:avLst/>
          </a:prstGeom>
          <a:solidFill>
            <a:srgbClr val="54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590531" y="3520439"/>
            <a:ext cx="145237" cy="156667"/>
          </a:xfrm>
          <a:prstGeom prst="rect">
            <a:avLst/>
          </a:prstGeom>
          <a:solidFill>
            <a:srgbClr val="426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9590531" y="3669792"/>
            <a:ext cx="145237" cy="156667"/>
          </a:xfrm>
          <a:prstGeom prst="rect">
            <a:avLst/>
          </a:prstGeom>
          <a:solidFill>
            <a:srgbClr val="305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590531" y="3819143"/>
            <a:ext cx="145237" cy="156667"/>
          </a:xfrm>
          <a:prstGeom prst="rect">
            <a:avLst/>
          </a:prstGeom>
          <a:solidFill>
            <a:srgbClr val="73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590531" y="396849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590531" y="4117847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590531" y="4267199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590531" y="4416552"/>
            <a:ext cx="145237" cy="156667"/>
          </a:xfrm>
          <a:prstGeom prst="rect">
            <a:avLst/>
          </a:prstGeom>
          <a:solidFill>
            <a:srgbClr val="804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59053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590531" y="471525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728453" y="2176272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728453" y="2325623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728453" y="247497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728453" y="2624328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728453" y="2773680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728453" y="2923031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728453" y="3072384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728453" y="322173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728453" y="3371088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728453" y="3520439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728453" y="3669792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728453" y="3819143"/>
            <a:ext cx="145237" cy="156667"/>
          </a:xfrm>
          <a:prstGeom prst="rect">
            <a:avLst/>
          </a:prstGeom>
          <a:solidFill>
            <a:srgbClr val="5AA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728453" y="396849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728453" y="4117847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728453" y="4267199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728453" y="4416552"/>
            <a:ext cx="145237" cy="156667"/>
          </a:xfrm>
          <a:prstGeom prst="rect">
            <a:avLst/>
          </a:prstGeom>
          <a:solidFill>
            <a:srgbClr val="3EC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972845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9728453" y="471525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866376" y="2176272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866376" y="232562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866376" y="2474976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866376" y="2624328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866376" y="2773680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866376" y="2923031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866376" y="3072384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9866376" y="322173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866376" y="3371088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866376" y="3520439"/>
            <a:ext cx="145237" cy="156667"/>
          </a:xfrm>
          <a:prstGeom prst="rect">
            <a:avLst/>
          </a:prstGeom>
          <a:solidFill>
            <a:srgbClr val="389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866376" y="3669792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866376" y="3819143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866376" y="3968496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866376" y="4117847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866376" y="4267199"/>
            <a:ext cx="145237" cy="156667"/>
          </a:xfrm>
          <a:prstGeom prst="rect">
            <a:avLst/>
          </a:prstGeom>
          <a:solidFill>
            <a:srgbClr val="77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9866376" y="4416552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86637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866376" y="4715256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0004297" y="2176272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0004297" y="2325623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004297" y="247497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0004297" y="2624328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004297" y="2773680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004297" y="2923031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004297" y="3072384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004297" y="322173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004297" y="3371088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004297" y="3520439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0004297" y="3669792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004297" y="3819143"/>
            <a:ext cx="145237" cy="156667"/>
          </a:xfrm>
          <a:prstGeom prst="rect">
            <a:avLst/>
          </a:prstGeom>
          <a:solidFill>
            <a:srgbClr val="7BB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0004297" y="396849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0004297" y="4117847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0004297" y="4267199"/>
            <a:ext cx="145237" cy="156667"/>
          </a:xfrm>
          <a:prstGeom prst="rect">
            <a:avLst/>
          </a:prstGeom>
          <a:solidFill>
            <a:srgbClr val="69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0004297" y="4416552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00429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0004297" y="471525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0142219" y="2176272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142219" y="2325623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0142219" y="247497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0142219" y="2624328"/>
            <a:ext cx="145237" cy="156667"/>
          </a:xfrm>
          <a:prstGeom prst="rect">
            <a:avLst/>
          </a:prstGeom>
          <a:solidFill>
            <a:srgbClr val="39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142219" y="2773680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142219" y="2923031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0142219" y="3072384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0142219" y="322173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0142219" y="3371088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142219" y="3520439"/>
            <a:ext cx="145237" cy="156667"/>
          </a:xfrm>
          <a:prstGeom prst="rect">
            <a:avLst/>
          </a:prstGeom>
          <a:solidFill>
            <a:srgbClr val="82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0142219" y="3669792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142219" y="3819143"/>
            <a:ext cx="145237" cy="156667"/>
          </a:xfrm>
          <a:prstGeom prst="rect">
            <a:avLst/>
          </a:prstGeom>
          <a:solidFill>
            <a:srgbClr val="62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0142219" y="396849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0142219" y="4117847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142219" y="4267199"/>
            <a:ext cx="145237" cy="156667"/>
          </a:xfrm>
          <a:prstGeom prst="rect">
            <a:avLst/>
          </a:prstGeom>
          <a:solidFill>
            <a:srgbClr val="5C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0142219" y="4416552"/>
            <a:ext cx="145237" cy="156667"/>
          </a:xfrm>
          <a:prstGeom prst="rect">
            <a:avLst/>
          </a:prstGeom>
          <a:solidFill>
            <a:srgbClr val="7681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14221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142219" y="471525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280142" y="2176272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0280142" y="2325623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280142" y="2474976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0280142" y="2624328"/>
            <a:ext cx="145237" cy="156667"/>
          </a:xfrm>
          <a:prstGeom prst="rect">
            <a:avLst/>
          </a:prstGeom>
          <a:solidFill>
            <a:srgbClr val="71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0280142" y="2773680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0280142" y="2923031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0280142" y="3072384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0280142" y="322173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0280142" y="337108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0280142" y="3520439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0280142" y="3669792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0280142" y="3819143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0280142" y="396849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0280142" y="4117847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0280142" y="4267199"/>
            <a:ext cx="145237" cy="156667"/>
          </a:xfrm>
          <a:prstGeom prst="rect">
            <a:avLst/>
          </a:prstGeom>
          <a:solidFill>
            <a:srgbClr val="4EC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0280142" y="4416552"/>
            <a:ext cx="145237" cy="156667"/>
          </a:xfrm>
          <a:prstGeom prst="rect">
            <a:avLst/>
          </a:prstGeom>
          <a:solidFill>
            <a:srgbClr val="34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028014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0280142" y="471525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10418064" y="2176272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10418064" y="2325623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0418064" y="247497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0418064" y="262432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0418064" y="2773680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418064" y="2923031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418064" y="3072384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0418064" y="322173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0418064" y="3371088"/>
            <a:ext cx="145237" cy="156667"/>
          </a:xfrm>
          <a:prstGeom prst="rect">
            <a:avLst/>
          </a:prstGeom>
          <a:solidFill>
            <a:srgbClr val="715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0418064" y="3520439"/>
            <a:ext cx="145237" cy="156667"/>
          </a:xfrm>
          <a:prstGeom prst="rect">
            <a:avLst/>
          </a:prstGeom>
          <a:solidFill>
            <a:srgbClr val="778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0418064" y="3669792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0418064" y="3819143"/>
            <a:ext cx="145237" cy="156667"/>
          </a:xfrm>
          <a:prstGeom prst="rect">
            <a:avLst/>
          </a:prstGeom>
          <a:solidFill>
            <a:srgbClr val="836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0418064" y="396849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0418064" y="4117847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0418064" y="4267199"/>
            <a:ext cx="145237" cy="156667"/>
          </a:xfrm>
          <a:prstGeom prst="rect">
            <a:avLst/>
          </a:prstGeom>
          <a:solidFill>
            <a:srgbClr val="405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0418064" y="4416552"/>
            <a:ext cx="145237" cy="156667"/>
          </a:xfrm>
          <a:prstGeom prst="rect">
            <a:avLst/>
          </a:prstGeom>
          <a:solidFill>
            <a:srgbClr val="468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041806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418064" y="471525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0555985" y="2176272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0555985" y="232562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0555985" y="247497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10555985" y="2624328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0555985" y="2773680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0555985" y="2923031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0555985" y="3072384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0555985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555985" y="3371088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555985" y="3520439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555985" y="3669792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555985" y="3819143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555985" y="3968496"/>
            <a:ext cx="145237" cy="156667"/>
          </a:xfrm>
          <a:prstGeom prst="rect">
            <a:avLst/>
          </a:prstGeom>
          <a:solidFill>
            <a:srgbClr val="3BB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0555985" y="4117847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0555985" y="4267199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555985" y="4416552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055598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0555985" y="4715256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0693907" y="2176272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0693907" y="2325623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693907" y="247497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693907" y="2624328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693907" y="2773680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0693907" y="2923031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0693907" y="3072384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0693907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0693907" y="3371088"/>
            <a:ext cx="145237" cy="156667"/>
          </a:xfrm>
          <a:prstGeom prst="rect">
            <a:avLst/>
          </a:prstGeom>
          <a:solidFill>
            <a:srgbClr val="7B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0693907" y="3520439"/>
            <a:ext cx="145237" cy="156667"/>
          </a:xfrm>
          <a:prstGeom prst="rect">
            <a:avLst/>
          </a:prstGeom>
          <a:solidFill>
            <a:srgbClr val="6D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693907" y="3669792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0693907" y="3819143"/>
            <a:ext cx="145237" cy="156667"/>
          </a:xfrm>
          <a:prstGeom prst="rect">
            <a:avLst/>
          </a:prstGeom>
          <a:solidFill>
            <a:srgbClr val="50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0693907" y="3968496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0693907" y="4117847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0693907" y="4267199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693907" y="4416552"/>
            <a:ext cx="145237" cy="156667"/>
          </a:xfrm>
          <a:prstGeom prst="rect">
            <a:avLst/>
          </a:prstGeom>
          <a:solidFill>
            <a:srgbClr val="6CB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69390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0693907" y="471525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0831829" y="2176272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831829" y="2325623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0831829" y="247497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0831829" y="2624328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0831829" y="2773680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0831829" y="2923031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831829" y="3072384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0831829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10831829" y="3371088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831829" y="3520439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0831829" y="3669792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831829" y="3819143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0831829" y="396849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0831829" y="4117847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0831829" y="4267199"/>
            <a:ext cx="145237" cy="156667"/>
          </a:xfrm>
          <a:prstGeom prst="rect">
            <a:avLst/>
          </a:prstGeom>
          <a:solidFill>
            <a:srgbClr val="6CB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0831829" y="4416552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83182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10831829" y="471525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0969752" y="2176272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0969752" y="2325623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0969752" y="247497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10969752" y="2624328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0969752" y="2773680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10969752" y="2923031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10969752" y="3072384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10969752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10969752" y="3371088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10969752" y="3520439"/>
            <a:ext cx="145237" cy="156667"/>
          </a:xfrm>
          <a:prstGeom prst="rect">
            <a:avLst/>
          </a:prstGeom>
          <a:solidFill>
            <a:srgbClr val="625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10969752" y="3669792"/>
            <a:ext cx="145237" cy="156667"/>
          </a:xfrm>
          <a:prstGeom prst="rect">
            <a:avLst/>
          </a:prstGeom>
          <a:solidFill>
            <a:srgbClr val="3F4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10969752" y="3819143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10969752" y="396849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10969752" y="4117847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10969752" y="4267199"/>
            <a:ext cx="145237" cy="156667"/>
          </a:xfrm>
          <a:prstGeom prst="rect">
            <a:avLst/>
          </a:prstGeom>
          <a:solidFill>
            <a:srgbClr val="5FD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0969752" y="4416552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096975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0969752" y="471525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1107674" y="2176272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11107674" y="2325623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11107674" y="247497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11107674" y="2624328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11107674" y="2773680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11107674" y="2923031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11107674" y="3072384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11107674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11107674" y="3371088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11107674" y="3520439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11107674" y="366979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11107674" y="3819143"/>
            <a:ext cx="145237" cy="156667"/>
          </a:xfrm>
          <a:prstGeom prst="rect">
            <a:avLst/>
          </a:prstGeom>
          <a:solidFill>
            <a:srgbClr val="589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11107674" y="396849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11107674" y="4117847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11107674" y="4267199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11107674" y="4416552"/>
            <a:ext cx="145237" cy="156667"/>
          </a:xfrm>
          <a:prstGeom prst="rect">
            <a:avLst/>
          </a:prstGeom>
          <a:solidFill>
            <a:srgbClr val="4FD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1110767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11107674" y="4715256"/>
            <a:ext cx="145237" cy="156667"/>
          </a:xfrm>
          <a:prstGeom prst="rect">
            <a:avLst/>
          </a:prstGeom>
          <a:solidFill>
            <a:srgbClr val="4AA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11245595" y="217627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1245595" y="2325623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11245595" y="247497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11245595" y="2624328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11245595" y="2773680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11245595" y="2923031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11245595" y="3072384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11245595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11245595" y="3371088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11245595" y="3520439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11245595" y="3669792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11245595" y="381914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11245595" y="396849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1245595" y="4117847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11245595" y="4267199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11245595" y="441655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1124559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11245595" y="471525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11383517" y="217627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11383517" y="2325623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11383517" y="247497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11383517" y="2624328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11383517" y="2773680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11383517" y="2923031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11383517" y="3072384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11383517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11383517" y="3371088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11383517" y="3520439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11383517" y="3669792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11383517" y="3819143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11383517" y="396849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11383517" y="4117847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11383517" y="4267199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11383517" y="441655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1138351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11383517" y="471525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8211311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6251B1"/>
                </a:solidFill>
                <a:latin typeface="Alibaba PuHuiTi 3.0 115 Black"/>
              </a:defRPr>
            </a:pPr>
            <a:r>
              <a:t>C：复杂变化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如果只允许无损压缩，哪张图最容易用更短的规则完整表示？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47672"/>
            <a:ext cx="5047488" cy="276148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947672"/>
            <a:ext cx="5047488" cy="2761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" y="4892040"/>
            <a:ext cx="49834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同源原图（无损保存示意）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1656" y="4892040"/>
            <a:ext cx="49560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同一图像：低质量JPEG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两图尺寸相同；右图仅用于观察明显压缩伪影，不代表所有JPEG质量。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rPr sz="2700" b="1">
                <a:solidFill>
                  <a:srgbClr val="6251B1"/>
                </a:solidFill>
                <a:latin typeface="Alibaba PuHuiTi 3.0 115 Black"/>
              </a:rP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rPr sz="2700" b="1">
                <a:solidFill>
                  <a:srgbClr val="00B0F0"/>
                </a:solidFill>
                <a:latin typeface="Alibaba PuHuiTi 3.0 115 Black"/>
              </a:rP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 · 视觉迭代v8.3.9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
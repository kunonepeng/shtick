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322" r:id="rId74"/>
    <p:sldId id="264" r:id="rId16"/>
    <p:sldId id="265" r:id="rId17"/>
    <p:sldId id="321" r:id="rId73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320" r:id="rId72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【教师讲述／组织】开场。问：“上一节课学习了图像编码。那么在手机里录下我们的声音，计算机保存的到底是什么？”不要直接报出采样、量化、编码，先让学生提出问题。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【设计意图】回忆旧知识：字符编码记录符号，图像编码记录像素。请学生预测：自然声音没有像素，计算机怎么办？指向本课总问题，不求答对。</a:t>
            </a:r>
          </a:p>
          <a:p>
            <a:r>
              <a:t>【教师可以这样讲】大家想一想，我们能把一个汉字或一张图片保存进电脑。那么正在说话的声音是不是也能保存？它与图像的最大区别在哪里？</a:t>
            </a:r>
          </a:p>
          <a:p>
            <a:r>
              <a:t>【预判回答与追问】有人会说只要“录下来”就行；追问“录下来”在计算机里究竟记录什么？</a:t>
            </a:r>
          </a:p>
          <a:p>
            <a:r>
              <a:t>【本页收束】收束到核心问题：原来连续的声音如何变成数字。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【教师讲述／组织】从实录1的振动声源、空气传播与耳膜经验出发。问：我们说话时什么振动？声音怎样到耳朵？要学生识别声音是物理现象。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【设计意图】先让学生表态：声波在时间上连续变化；文件保存的是离散数字。问麦克风前后，哪一阶段发生改变？</a:t>
            </a:r>
          </a:p>
          <a:p>
            <a:r>
              <a:t>【教师可以这样讲】请先判断：空气中的声音和电脑里的音频文件，是不是同一种东西？举一个理由。</a:t>
            </a:r>
          </a:p>
          <a:p>
            <a:r>
              <a:t>【预判回答与追问】“电脑播放出来还是声音，所以是模拟量”是可能的误解；分清存储形式和播放后的物理振动。</a:t>
            </a:r>
          </a:p>
          <a:p>
            <a:r>
              <a:t>【本页收束】声音属于物理模拟信号；数字文件以离散的数据保存音频。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【设计意图】承接实录1：猜需要哪些设备。麦克风将声压变化转为连续电信号；此时仍是模拟信号。不要说麦克风直接保存WAV。</a:t>
            </a:r>
          </a:p>
          <a:p>
            <a:r>
              <a:t>【教师可以这样讲】请观察这条流程。麦克风是不是已经把声波变成0和1了？请指出转换前后各是什么。</a:t>
            </a:r>
          </a:p>
          <a:p>
            <a:r>
              <a:t>【预判回答与追问】学生可能认为麦克风就是“录音机”。追问：麦克风输出的电压能否在每个时刻连续变化？</a:t>
            </a:r>
          </a:p>
          <a:p>
            <a:r>
              <a:t>【本页收束】麦克风把声压变化变成模拟电信号，数字化还没有完成。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【设计意图】先问：谁来把模拟电信号转换成0和1？鼓励学生猜CPU、麦克风等。展示声卡音频接口或画流程，以ADC为答案。设备可集成在主板或外置。</a:t>
            </a:r>
          </a:p>
          <a:p>
            <a:r>
              <a:t>【教师可以这样讲】如果麦克风输出还是连续电信号，计算机怎样读懂它？需要什么设备？</a:t>
            </a:r>
          </a:p>
          <a:p>
            <a:r>
              <a:t>【预判回答与追问】学生可能猜CPU，先认可其计算作用，再追问哪个音频部件把模拟信号变成离散样本。</a:t>
            </a:r>
          </a:p>
          <a:p>
            <a:r>
              <a:t>【本页收束】声卡中的ADC完成模数转换。无需记电子线路结构。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【教师讲述／组织】追问：存进去的0和1，为什么还能从扬声器变回声音？给出DAC作为反向转换，重点是两个方向的理解；不要展开电路。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【设计意图】学生易误解：上下起伏是空气中声波的传播轨迹。请先判断，再明确横轴时间、纵轴同一地点声压或电信号的变化。</a:t>
            </a:r>
          </a:p>
          <a:p>
            <a:r>
              <a:t>【教师可以这样讲】看到这条上下起伏的曲线，请猜：它是不是声音在空气里沿着波浪形路线前进？</a:t>
            </a:r>
          </a:p>
          <a:p>
            <a:r>
              <a:t>【预判回答与追问】提醒固定一个位置，横坐标向右代表时间，纵坐标上下代表压力或电信号偏离参考的变化。</a:t>
            </a:r>
          </a:p>
          <a:p>
            <a:r>
              <a:t>【本页收束】波形是“某处随时间变化”的图，不是空间中的传播路径。</a:t>
            </a:r>
          </a:p>
          <a:p/>
          <a:p>
            <a:r>
              <a:t>【v7 Demo A，约2分钟】先保留本页“传播路线吗”的问题，让学生预测；运行 notebooks/01_听见声音_看见波形.ipynb，在教室Windows浏览器中点击播放。指向红色时间光标：波形表示时间变化，不是空间传播路线。Mac不会播放声音，声音从Windows浏览器输出。网络异常时直接用本页静态图。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【设计意图】先在波形上让学生指出选取若干时刻的方法，预测“隔一段时间取一个值”；不要急着宣布定义。</a:t>
            </a:r>
          </a:p>
          <a:p>
            <a:r>
              <a:t>【教师可以这样讲】现在只允许保存若干个数字，你会在哪些时刻记录这条曲线？让同桌先各提出一条规则。</a:t>
            </a:r>
          </a:p>
          <a:p>
            <a:r>
              <a:t>【预判回答与追问】有人会只选最高点和最低点。追问：如果换一段波形，这个规则是否容易统一实现？</a:t>
            </a:r>
          </a:p>
          <a:p>
            <a:r>
              <a:t>【本页收束】用固定时间间隔连续记录，形成采样时刻。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【设计意图】保留前页坐标与波形，叠加等间隔采样点。追问：采样之后还保留每个时刻的原始值吗？概括“时间上离散”。</a:t>
            </a:r>
          </a:p>
          <a:p>
            <a:r>
              <a:t>【教师可以这样讲】我们按固定时间间隔记录了12个点。灰色曲线不再直接保存，每个点有自己的时间和值。</a:t>
            </a:r>
          </a:p>
          <a:p>
            <a:r>
              <a:t>【预判回答与追问】学生可能把连点线当作新的连续信号。追问：文件实际存的是曲线，还是这些点对应的数字？</a:t>
            </a:r>
          </a:p>
          <a:p>
            <a:r>
              <a:t>【本页收束】采样的结果是时间上离散的一组样本。</a:t>
            </a:r>
          </a:p>
          <a:p/>
          <a:p>
            <a:r>
              <a:t>【v7 Demo B，约3分钟】运行 notebooks/02_放大波形_看见采样点.ipynb，将观察范围从100毫秒缩至20、4毫秒，直到看见一个个真实样本点。与完整波形极值包络对照，不要把包络竖线叫采样点。先问“看似连续的曲线，计算机究竟保存了什么？”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【设计意图】先让学生预测1 Hz、2 Hz分别表示每秒几个点；同一时间范围，不同点数。讲采样率=单位时间样本数，间隔Δt=1/fs。</a:t>
            </a:r>
          </a:p>
          <a:p>
            <a:r>
              <a:t>【教师可以这样讲】预测：1 Hz每秒几个点？2 Hz每秒几个点？都记录4秒，两个例子的样本数分别是多少？</a:t>
            </a:r>
          </a:p>
          <a:p>
            <a:r>
              <a:t>【预判回答与追问】注意“赫兹”还可表示声音本身频率；本页说的是“采样的次数”。</a:t>
            </a:r>
          </a:p>
          <a:p>
            <a:r>
              <a:t>【本页收束】采样率是每秒采样数；更密意味着相邻采样时刻间隔更短。</a:t>
            </a:r>
          </a:p>
          <a:p/>
          <a:p>
            <a:r>
              <a:t>【v7回扣】演示切换到本页后，要求学生解释采样率和每秒样本数之间的关系。Notebook中的4毫秒局部窗口只是观察尺度。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【教师讲述／组织】同一波形、同一个时长，采样点由少到多。先比较时间方向的点密度，不谈“采样后连线就完全恢复”。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【设计意图】实录2第二步：采样点的振幅可在连续范围取值，设备却计划使用有限等级。让学生意识到有第二个问题尚未解决。</a:t>
            </a:r>
          </a:p>
          <a:p>
            <a:r>
              <a:t>【教师可以这样讲】假设某个时刻取得3.71这样的振幅值。如果设备只准记录8个整数等级，会怎么办？</a:t>
            </a:r>
          </a:p>
          <a:p>
            <a:r>
              <a:t>【预判回答与追问】学生可能直接回答“四舍五入”，要追问必须先规定可用的代表值与映射规则。</a:t>
            </a:r>
          </a:p>
          <a:p>
            <a:r>
              <a:t>【本页收束】量化解决幅度的离散化，下一页构建0到7的教学模型。</a:t>
            </a:r>
          </a:p>
          <a:p/>
          <a:p>
            <a:r>
              <a:t>【v7 Demo C预告】现在只解决了采样时刻；纵向幅度可能是任意连续值，需要量化，稍后用实验台在同一坐标中比较。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【设计意图】坚持实录2的首个量化模型：等级从0数到7含0，共八级。提醒这里是教学简化例，真实PCM可正可负。让学生先自己数等级。</a:t>
            </a:r>
          </a:p>
          <a:p>
            <a:r>
              <a:t>【教师可以这样讲】请同学数一数，从0到7一共几个数字。0算不算一个等级？</a:t>
            </a:r>
          </a:p>
          <a:p>
            <a:r>
              <a:t>【预判回答与追问】最容易出现7级的误答。让学生逐个数：0、1、2、3、4、5、6、7。</a:t>
            </a:r>
          </a:p>
          <a:p>
            <a:r>
              <a:t>【本页收束】共8个等级。这里是简化模型，并非真实声压只有非负值。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【设计意图】此页展示明确的取整规则：教学用向下取整（非真实所有PCM的唯一规则）；把3.71映射到3。解释损失了细节，产生量化误差。</a:t>
            </a:r>
          </a:p>
          <a:p>
            <a:r>
              <a:t>【教师可以这样讲】规定一个简化规则：向下取整。原值3.71会落在哪个等级？屏幕上的红点与蓝点哪个是原值？</a:t>
            </a:r>
          </a:p>
          <a:p>
            <a:r>
              <a:t>【预判回答与追问】可能误以为蓝点恰好是原始值。追问：3.71与3有什么不同？少了哪些信息？</a:t>
            </a:r>
          </a:p>
          <a:p>
            <a:r>
              <a:t>【本页收束】量化是用有限代表值近似原值，存在量化误差。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【设计意图】出选择：8个等级需要2位、3位还是8位？请学生复习2的n次方。按最简单映射列出对应表，避免一次上来10个样本。</a:t>
            </a:r>
          </a:p>
          <a:p>
            <a:r>
              <a:t>【教师可以这样讲】刚才有8级，若只有两个二进制位可以表示多少种不同情况？三个呢？</a:t>
            </a:r>
          </a:p>
          <a:p>
            <a:r>
              <a:t>【预判回答与追问】让学生亲自枚举00、01、10、11，然后观察000到111共有八种。</a:t>
            </a:r>
          </a:p>
          <a:p>
            <a:r>
              <a:t>【本页收束】2^3=8，所以这八个等级可以用3 bit表示。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【设计意图】引导从单样本迁移到样本序列：强调时间先后、量化值与3位二进制对应。不要把10个样本误说为10个量化等级。</a:t>
            </a:r>
          </a:p>
          <a:p>
            <a:r>
              <a:t>【教师可以这样讲】请从第3个样本找起：它的量化值是多少？对应的三位码字是什么？再找第7个。</a:t>
            </a:r>
          </a:p>
          <a:p>
            <a:r>
              <a:t>【预判回答与追问】注意区分“样本数量10”和“等级数量8”，不能把十个样本说成十个等级。</a:t>
            </a:r>
          </a:p>
          <a:p>
            <a:r>
              <a:t>【本页收束】编码按时间顺序保存各个样本的定长码字。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【教师讲述／组织】引入实录2的尺子类比：原本分米刻度与厘米刻度，刻度更细通常误差更小。与采样率的时间密度作区分。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【设计意图】学生两两互问：采样率改变什么方向？量化位数改变什么方向？画时间与幅度两个方向的粗箭头，对照两种概念。</a:t>
            </a:r>
          </a:p>
          <a:p>
            <a:r>
              <a:t>【教师可以这样讲】请指出采样率与量化位数分别控制这张图的哪个方向。</a:t>
            </a:r>
          </a:p>
          <a:p>
            <a:r>
              <a:t>【预判回答与追问】如学生认为量化位数决定点的多少，重新回看每一秒有几个采样时刻。</a:t>
            </a:r>
          </a:p>
          <a:p>
            <a:r>
              <a:t>【本页收束】采样率决定时间方向的密度，量化位数决定幅度方向的精细程度。</a:t>
            </a:r>
          </a:p>
          <a:p/>
          <a:p>
            <a:r>
              <a:t>【v7 Demo C，约5分钟】运行 notebooks/03_采样_量化_编码实验台.ipynb，按①原波形→②采样→③量化→④编码进行。学生先预测调高采样率会变哪些点，再预测保持采样率改bit数时横向点数会否变化。实验台使用归一化-1到1幅度，量化等级编号仍为0～2^n-1，与本页0～7教学例的单位尺度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【教师讲述／组织】技术纠偏：在其他条件一致且原先不足时通常改善还原保真度；但达到合理条件后并非“数字越大越好”，设备、声源、听觉与滤波都会限制。中学只需掌握趋势和条件。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【v7实验台回扣】在实验台选择3 bit，点击一个点，要求学生报出等级编号和3 bit码字。注意实验台使用[-1,1]输入范围；本页0～7演示是另一种简化尺度，编码原理相同。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【教师讲述／组织】避免从课堂3位例子跳到真实16位时困惑。说明用3位为了看清规律，不是说实际音乐普遍使用3位。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【v7学习证据】让学生说出：“采样确定何时记录，量化决定用哪个代表值，编码将编号写成固定长度的二进制码字。”如果答不出，回实验台查看同一个样本，避免只背步骤名称。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【教师讲述／组织】从实录与v4延展：PCM代表样本数据的编码表示，WAV是保存音频数据的文件容器之一。暂不讲复杂格式比较，示意文件头告诉播放器如何读数据。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【设计意图】回扣开场录音/播放闭环：读PCM样本→转换为连续电信号→推动扬声器振动；波形经过重建，不是简单用折线连接采样点。</a:t>
            </a:r>
          </a:p>
          <a:p>
            <a:r>
              <a:t>【教师可以这样讲】复盘完整流程：数字文件里的样本为什么还能被扬声器播放成声音？</a:t>
            </a:r>
          </a:p>
          <a:p>
            <a:r>
              <a:t>【预判回答与追问】不要讲成简单把点连成折线。输出经过数模转换及适当的信号处理。</a:t>
            </a:r>
          </a:p>
          <a:p>
            <a:r>
              <a:t>【本页收束】录音是ADC，播放是DAC，音频数字化形成闭环。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【教师讲述／组织】从实录2由学生提出因素：越长录音越大，每秒越多点越大，每个点越多bit越大，左右两路各记录一次。请先预测四项，不马上展示公式。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【设计意图】用小模型实推：每秒2个样本×4秒×1声道=8个样本，每样本3bit共24bit=3Byte。用8个小方块表示样本，而不是一上来给公式。</a:t>
            </a:r>
          </a:p>
          <a:p>
            <a:r>
              <a:t>【教师可以这样讲】请口算每秒2个样本，录4秒，一路声道，共得到多少个样本？每个3位，要几个bit？</a:t>
            </a:r>
          </a:p>
          <a:p>
            <a:r>
              <a:t>【预判回答与追问】学生可能直接乘完得到24 Byte。请指着八个框数，再从bit换到Byte。</a:t>
            </a:r>
          </a:p>
          <a:p>
            <a:r>
              <a:t>【本页收束】8个样本、每个3bit，共24bit，等于3Byte。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【设计意图】不要把数据量公式当背诵口令。请学生逐个解释每一项代表哪个物理意义。单位：Hz、bit、秒；/8得到字节。</a:t>
            </a:r>
          </a:p>
          <a:p>
            <a:r>
              <a:t>【教师可以这样讲】我们刚才为什么要把四个因素相乘？请逐一说出公式的单位和意义。</a:t>
            </a:r>
          </a:p>
          <a:p>
            <a:r>
              <a:t>【预判回答与追问】常见错误：1 kHz写成1024 Hz；bit和Byte混用；忘记把分钟换成秒。</a:t>
            </a:r>
          </a:p>
          <a:p>
            <a:r>
              <a:t>【本页收束】会用公式之前先能解释公式。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【教师讲述／组织】问题页。给学生独立列式。若学生写16×8×2×5，追问16kHz应等于多少Hz。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【教师讲述／组织】答案页。问：如果双声道改成单声道，结果会怎样？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【教师讲述／组织】第一课时退出评价。随机请学生说出完整录音链；指一个点说采样与量化区别；算一条小PCM数据量。没掌握则下节开头再复习，不拖到所有附录。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【v7时间控制】本课新增的三个演示分别约2、3、5分钟，应替换原有重复的静态口头描述；并非在原45分钟上增加10分钟。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【教师讲述／组织】第二课时导入。说明第一节学的是数字化与PCM数据量，第二节学数据量计算、音轨和声道、视频数据量冲突及压缩。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【教师讲述／组织】实录3起手计算前，先让学生能解释参数。分组对答48,000Hz、16bit、2声道、60秒。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【教师讲述／组织】问题页。复现实录3的DVD参数题，强调对参数意义的解释，而不只是按键计算。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【教师讲述／组织】答案页。实录转写常写10.98MB，这是截断近似；按四舍五入保留两位应10.99 MiB。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【设计意图】问题页。先让学生预测。这是实录3较长的认知冲突案例，不要马上公布答案。</a:t>
            </a:r>
          </a:p>
          <a:p>
            <a:r>
              <a:t>【教师可以这样讲】再次提问：多加了一条背景音乐音轨，新的未压缩PCM文件一定比原文件大吗？请先投票并说明依据。</a:t>
            </a:r>
          </a:p>
          <a:p>
            <a:r>
              <a:t>【预判回答与追问】真实课堂里学生曾将音轨误认为声道；暂不判断两种观点谁对。</a:t>
            </a:r>
          </a:p>
          <a:p>
            <a:r>
              <a:t>【本页收束】下一页让两种解释并存，定位分歧。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【设计意图】把实录中两位学生的理由换一种说法重现。引导学生指出分歧其实在“音轨和声道是不是一回事”。仍不公布答案。</a:t>
            </a:r>
          </a:p>
          <a:p>
            <a:r>
              <a:t>【教师可以这样讲】有人支持不变，有人支持翻倍。注意我们的目标不是投票决定真理，而是检验关键假设。</a:t>
            </a:r>
          </a:p>
          <a:p>
            <a:r>
              <a:t>【预判回答与追问】追问：增加的是“编辑音轨”，还是“导出声道”？哪个出现在容量公式里？</a:t>
            </a:r>
          </a:p>
          <a:p>
            <a:r>
              <a:t>【本页收束】到图示页验证音轨与声道不同。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【设计意图】直观图示：两条音轨经混音成为两个输出声道，注意不是左右各有一条编辑音轨。解释可单声道或双声道输出。</a:t>
            </a:r>
          </a:p>
          <a:p>
            <a:r>
              <a:t>【教师可以这样讲】请指向编辑左边两行，它们是两条音轨；再指向右边的L/R，这才是导出的两路声道。</a:t>
            </a:r>
          </a:p>
          <a:p>
            <a:r>
              <a:t>【预判回答与追问】如果学生说“左音轨变左声道”，让他想一想人声与伴奏是否都能同时从左右扬声器传出。</a:t>
            </a:r>
          </a:p>
          <a:p>
            <a:r>
              <a:t>【本页收束】混合不会自动增加声道数，保持四参数则未压缩样本数据量不变。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【教师讲述／组织】答案页。让学生回看第一个预测，承认纠正了哪一个概念。提醒不同格式和压缩参数会影响最终文件大小。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【教师讲述／组织】让学生应用四因素公式。声道数2→1，其他不变，PCM样本数据量减半。音轨增减并不直接决定总量。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【教师讲述／组织】实录3转向视频前回顾图像和声音：图像在空间二维网格采样，声音在时间轴取值；量化都用有限等级记录。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【设计意图】借鉴实录3翻页小人的经验。每一帧呈现同一圆的位置改变。问学生：视频需保存几个画面？帧率如何描述？不用严格视觉暂留时间阈值。</a:t>
            </a:r>
          </a:p>
          <a:p>
            <a:r>
              <a:t>【教师可以这样讲】五张小图中蓝点位置发生变化，连续播放后我们会感到它在运动。你生活里见过翻页动画吗？</a:t>
            </a:r>
          </a:p>
          <a:p>
            <a:r>
              <a:t>【预判回答与追问】不要把“视觉暂留0.024秒”当成唯一且固定的生理阈值。</a:t>
            </a:r>
          </a:p>
          <a:p>
            <a:r>
              <a:t>【本页收束】视频可以用连续图像帧与帧率的概念来理解。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【教师讲述／组织】从学生已经理解的“视频是连续图像”计算总帧数。先让学生口算25×60×10=15000帧。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【设计意图】问题页。来源实录3。不要把帧率误认为采样率，一帧是一张完整图。给3分钟列式，计算可用计算器。</a:t>
            </a:r>
          </a:p>
          <a:p>
            <a:r>
              <a:t>【教师可以这样讲】先算一帧480×320像素，需要多少bit和Byte；再乘上25帧/秒和600秒。</a:t>
            </a:r>
          </a:p>
          <a:p>
            <a:r>
              <a:t>【预判回答与追问】学生可能只乘25或只乘10。追问十分钟共有多少秒、多少帧？</a:t>
            </a:r>
          </a:p>
          <a:p>
            <a:r>
              <a:t>【本页收束】未压缩视频等于单帧数据量乘总帧数。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【教师讲述／组织】答案页。把公式拆成两段并让学生自己解释。按十进制GB约6.912 GB。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【设计意图】核心认知冲突，不要预先写“因为压缩”。问：是不是算错？为什么在线短视频能很快播放？给学生发言时间。</a:t>
            </a:r>
          </a:p>
          <a:p>
            <a:r>
              <a:t>【教师可以这样讲】请你对照刚刚算出的6.44 GiB。我们手机里十分钟的视频，为什么通常远小于它？难道计算公式错了？</a:t>
            </a:r>
          </a:p>
          <a:p>
            <a:r>
              <a:t>【预判回答与追问】学生可能回答分辨率不同、格式不同、压缩了。记录这几种可能，指出公式中的题设是未压缩逐帧存储。</a:t>
            </a:r>
          </a:p>
          <a:p>
            <a:r>
              <a:t>【本页收束】这是第二课时核心认知冲突，直到下一页再揭示压缩。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【教师讲述／组织】强调不是估计所有真实视频的固定大小。实际视频通常通过压缩编码，如利用相邻帧相似部分与人眼不敏感的某些信息。高中只解释为什么可能缩小。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【教师讲述／组织】实录3行李箱类比：整理行李节约空间；通过网络分享文件缩短传输时间。学生可以自举例，不要说压缩必然提升感知画质。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【设计意图】实录3的经典冗余案例。向学生展示短短的“（中国）×100”与重复文字。说明这仅是启发性的编码例子，不代表真实RAR算法。</a:t>
            </a:r>
          </a:p>
          <a:p>
            <a:r>
              <a:t>【教师可以这样讲】两种写法能不能表示相同文字？“中国”重复一百次与“中国×100”，哪种通常更省符号？</a:t>
            </a:r>
          </a:p>
          <a:p>
            <a:r>
              <a:t>【预判回答与追问】提醒这只是解释冗余的教学模型，不是真实RAR编码的说明。</a:t>
            </a:r>
          </a:p>
          <a:p>
            <a:r>
              <a:t>【本页收束】规律、重复让人有机会用更短的规则表达同一内容。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【教师讲述／组织】把“冗余”与重复的内容联系：A有规律，B无规律，但原长度相同。实际压缩算法实现不同，因此“通常更易”而非必然。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【设计意图】可以用Python标准库zlib演示，代码放Notes。生成1000个A与1000个伪随机字节（固定seed），比较同一无损压缩方法所得字节数并检验完全还原。先预测再运行。</a:t>
            </a:r>
          </a:p>
          <a:p>
            <a:r>
              <a:t>【教师可以这样讲】两个数据各1000Byte：一个全是A，一个随机变化。请预测谁压缩后更小，以及能否恢复原数据。</a:t>
            </a:r>
          </a:p>
          <a:p>
            <a:r>
              <a:t>【预判回答与追问】学生可能认为所有文件都会变小。下一页结果显示随机数据在容器开销下甚至略微变大。</a:t>
            </a:r>
          </a:p>
          <a:p>
            <a:r>
              <a:t>【本页收束】测试无损压缩的冗余利用，而不是展示具体算法。</a:t>
            </a:r>
          </a:p>
          <a:p/>
          <a:p>
            <a:r>
              <a:t>【v7 Demo D】先预测两份原始都是1000 Byte的文件哪一个被压得更小，再运行 notebooks/04_压缩前先预测.ipynb。Python zlib在Mac执行，Windows浏览器只展示结果，不依赖音频或py5。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【设计意图】演示代码（Windows课堂pt环境，Python标准库即可）：</a:t>
            </a:r>
          </a:p>
          <a:p>
            <a:r>
              <a:t>import zlib, random</a:t>
            </a:r>
          </a:p>
          <a:p>
            <a:r>
              <a:t>a=b"A"*1000</a:t>
            </a:r>
          </a:p>
          <a:p>
            <a:r>
              <a:t>r=random.Random(2026)</a:t>
            </a:r>
          </a:p>
          <a:p>
            <a:r>
              <a:t>b=bytes(r.randrange(256) for _ in range(1000))</a:t>
            </a:r>
          </a:p>
          <a:p>
            <a:r>
              <a:t>for name,x in [("A",a),("B",b)]:</a:t>
            </a:r>
          </a:p>
          <a:p>
            <a:r>
              <a:t>    packed=zlib.compress(x)</a:t>
            </a:r>
          </a:p>
          <a:p>
            <a:r>
              <a:t>    print(name,len(x),len(packed),zlib.decompress(packed)==x)</a:t>
            </a:r>
          </a:p>
          <a:p>
            <a:r>
              <a:t>本次固定随机种子得到A=17 Byte，B=1011 Byte。学生关注重复和冗余；算法细节不展开。</a:t>
            </a:r>
          </a:p>
          <a:p>
            <a:r>
              <a:t>【教师可以这样讲】运行标准库实验或直接展示结果：重复内容1000Byte压后17Byte，随机内容1000Byte压后1011Byte。为什么会这样？</a:t>
            </a:r>
          </a:p>
          <a:p>
            <a:r>
              <a:t>【预判回答与追问】别把高熵文件变大误判为程序出错：压缩文件自身有格式开销。检查两者解压完全一致。</a:t>
            </a:r>
          </a:p>
          <a:p>
            <a:r>
              <a:t>【本页收束】这是无损压缩，且压缩效果取决于可利用的规律与编码方式。</a:t>
            </a:r>
          </a:p>
          <a:p/>
          <a:p>
            <a:r>
              <a:t>【v7实际实验】Notebook 04使用确定性随机字节与重复字节，打印压缩前后真实长度。如果随机字节压缩后略大，是格式开销而非代码错误。让学生总结“能够用规律简洁表示的信息通常更容易压缩”。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【教师讲述／组织】实录3解释重新编码：数据压缩主要是改变表示方式，无损靠高效编码，允许有损时还可舍弃部分信息。目的与实质分开讲。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【设计意图】先提出是否可以还原原始信息，再定义无损有损。注意有损不一定人类完全无感，有时肉眼肉耳可觉察明显差异。</a:t>
            </a:r>
          </a:p>
          <a:p>
            <a:r>
              <a:t>【教师可以这样讲】请判断：压缩后解开，能不能100%恢复原始字节？把这个问题作为分类标准。</a:t>
            </a:r>
          </a:p>
          <a:p>
            <a:r>
              <a:t>【预判回答与追问】有损不等于“损坏文件”；它在可接受的前提下放弃部分原始信息。</a:t>
            </a:r>
          </a:p>
          <a:p>
            <a:r>
              <a:t>【本页收束】无损可完全恢复，有损则不能恢复到原数据完全一致。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【教师讲述／组织】从实录拓展一点格式分层：ZIP/RAR是典型无损归档，MP3是常见有损音频编码，WAV是音频容器可装PCM，MP4是多媒体容器可含有损或无损编码。不要说全部文件扩展名都代表一种压缩算法。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【设计意图】实录3三种图像案例。画同尺寸位图：纯色、规则色块、较复杂花纹（不是声称真实风景照片）。首先预测排序，再归纳冗余。</a:t>
            </a:r>
          </a:p>
          <a:p>
            <a:r>
              <a:t>【教师可以这样讲】这三幅图显示的是相同大小、相同位深的像素网格，哪张最容易找到重复的规律？</a:t>
            </a:r>
          </a:p>
          <a:p>
            <a:r>
              <a:t>【预判回答与追问】强调“通常”和“对合适的算法而言”，避免将图像颜色多少当作绝对压缩决定因素。</a:t>
            </a:r>
          </a:p>
          <a:p>
            <a:r>
              <a:t>【本页收束】纯色数据具有明显规律，适合无损压缩；比较结论再迁移到实际图像。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【教师讲述／组织】问题页。此题迁移文字实验到图像。先解释冗余，再揭示。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【教师讲述／组织】答案页。强调不是一切文件和算法都绝对如此。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【教师讲述／组织】实录3用同一花朵比较BMP和JPG。用简洁像素格子示意一张图被近似编码；JPEG不只是“删掉相似像素”，要避免这种错误的字面理解。也不能断言所有BMP必然未压缩。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【教师讲述／组织】实录3脱水比喻，但不把其当算法。说明高效压缩过的数据通常不容易进一步缩小，可能因为已缺少可利用冗余。再次有损转码可能进一步恶化质量。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【设计意图】实录3结尾的情境决策：长期备份要完整可还原；实时通话要平衡延迟和质量。用对比培养信息社会责任意识，不只追求压缩比。</a:t>
            </a:r>
          </a:p>
          <a:p>
            <a:r>
              <a:t>【教师可以这样讲】某个班级要长期备份源代码，另一个班级要用手机实时视频通话。两种场景需要的编码选择一样吗？</a:t>
            </a:r>
          </a:p>
          <a:p>
            <a:r>
              <a:t>【预判回答与追问】引导学生考虑完整性、质量、延迟与存储，不要只说压缩得越小越好。</a:t>
            </a:r>
          </a:p>
          <a:p>
            <a:r>
              <a:t>【本页收束】算法与压缩方法要与任务目标匹配。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【教师讲述／组织】问题页。综合三种理解：音轨声道、原始视频大小、无损还原。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【教师讲述／组织】答案页。不接受只给三个对错而不给依据的回答。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【教师讲述／组织】出口评价：任选一个问题让学生用自己的话解释。重点检查概念因果：数字化、视频容量、压缩选择。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【教师讲述／组织】本页只作为选讲：混叠。同一离散采样点可能对应不同连续波形，所以低采样率不仅“点稀疏”，可能无法区分某些信号。深入公式留到拓展课程，不作为主线。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【教师讲述／组织】这一页可留作下一单元。PCM编码是样本的表示方式；压缩编码改变数据表示量。部分WAV容器可以保存其他编码形式，不能仅凭扩展名断言完全未压缩。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在已理解3bit与8个等级后，先给学生两种预测。运行notebooks/03_采样_量化_编码实验台.ipynb，固定4 kHz，位数3→4。学生观察：采样时刻不变，纵向可选的量化代表值从8增加到16，码字长度相应变化。此图只是静态示意，真实数值以Notebook演示为准。约5分钟，不与第15～17页全部额外累加。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行notebooks/02_放大波形_看见采样点.ipynb。先保持完整波形，再把局部显示范围切换到20毫秒和4毫秒。左侧是示意概览，右侧是局部实际样本思路；在Notebook里，右侧点取自真实生成的PCM数据。不要说采样点之间连线是扬声器实际波形。约3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行notebooks/01_听见声音_看见波形.ipynb。请教师从Windows浏览器直接点击播放；让学生预测红线表示空间位置还是播放时间，然后暂停再播放。观察教室音箱发声，Mac只是运算和提供数据。约2分钟。网络失败时直接使用本页示意和原第8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57400"/>
            <a:ext cx="10881360" cy="1161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5200" b="1">
                <a:solidFill>
                  <a:srgbClr val="262626"/>
                </a:solidFill>
                <a:latin typeface="Alibaba PuHuiTi 3.0 115 Black"/>
              </a:defRPr>
            </a:pPr>
            <a:r>
              <a:t>声音怎样变成0和1？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03320"/>
            <a:ext cx="9966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100" b="0">
                <a:solidFill>
                  <a:srgbClr val="808080"/>
                </a:solidFill>
                <a:latin typeface="Alibaba PuHuiTi 3.0 55 Regular"/>
              </a:defRPr>
            </a:pPr>
            <a:r>
              <a:t>第一课时｜从声音到数字音频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我们会编码文字、图像，那声音呢？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2057400"/>
            <a:ext cx="32004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1762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文字 → 编码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6280" y="2057400"/>
            <a:ext cx="320040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2" y="21762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图像 → 编码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49056" y="201168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200" b="1">
                <a:solidFill>
                  <a:srgbClr val="8C64E1"/>
                </a:solidFill>
                <a:latin typeface="Alibaba PuHuiTi 3.0 115 Black"/>
              </a:defRPr>
            </a:pPr>
            <a:r>
              <a:t>声音 → 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核心问题：手机为什么可以把正在说的话保存成文件？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声音首先是什么？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286000"/>
            <a:ext cx="29718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2404872"/>
            <a:ext cx="28254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声带振动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91840"/>
            <a:ext cx="2971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发出声音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831335" y="2615184"/>
            <a:ext cx="676657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617720" y="2286000"/>
            <a:ext cx="297180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90872" y="2404872"/>
            <a:ext cx="28254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空气传播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3291840"/>
            <a:ext cx="2971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声压变化传开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671816" y="2615184"/>
            <a:ext cx="676655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8458200" y="2286000"/>
            <a:ext cx="29718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31352" y="2404872"/>
            <a:ext cx="28254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耳膜振动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3291840"/>
            <a:ext cx="2971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听到声音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07492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声音是一种在介质中传播的机械波。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声音和电脑里的音频文件，是同一种量吗？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自然界的声音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电脑中的音频文件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空气中的声压随时间连续变化。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这是模拟量。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计算机记录一串数值。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这是数字量。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我们的任务：让连续的声音变成计算机能够记录的数字。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麦克风把声波变成什么？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2286000"/>
            <a:ext cx="310896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404872"/>
            <a:ext cx="29626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空气中的声音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86784" y="2624328"/>
            <a:ext cx="76809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800600" y="2286000"/>
            <a:ext cx="233172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73752" y="2404872"/>
            <a:ext cx="2185415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麦克风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251192" y="2624328"/>
            <a:ext cx="8138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119872" y="2286000"/>
            <a:ext cx="29718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93024" y="2404872"/>
            <a:ext cx="28254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连续电信号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91947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麦克风完成了“声波 → 电信号”，但信号仍然连续。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连续电信号，怎样变成数字？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" y="2286000"/>
            <a:ext cx="32004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24048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模拟电信号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33087" y="2624328"/>
            <a:ext cx="603505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828032" y="2286000"/>
            <a:ext cx="274320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01184" y="2404872"/>
            <a:ext cx="25968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声卡：ADC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08392" y="2624328"/>
            <a:ext cx="612648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412480" y="2286000"/>
            <a:ext cx="27432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85632" y="2404872"/>
            <a:ext cx="25968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数字音频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069080"/>
            <a:ext cx="1051560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ADC = 模数转换（模拟信号 → 数字信号）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18464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声卡负责完成这一转换；它不等于“存储音频文件”。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把录音过程和播放过程接起来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39112"/>
            <a:ext cx="2304288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1" y="2157984"/>
            <a:ext cx="215798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声音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99232" y="2368296"/>
            <a:ext cx="448055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493008" y="2039112"/>
            <a:ext cx="2304288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157984"/>
            <a:ext cx="215798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麦克风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52160" y="2368296"/>
            <a:ext cx="44805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345936" y="2039112"/>
            <a:ext cx="2304288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2157984"/>
            <a:ext cx="215798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ADC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705088" y="2368296"/>
            <a:ext cx="44805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198863" y="2039112"/>
            <a:ext cx="2304288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72015" y="2157984"/>
            <a:ext cx="215798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数字文件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886200"/>
            <a:ext cx="2304288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1" y="4005072"/>
            <a:ext cx="215798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数字文件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999232" y="4215384"/>
            <a:ext cx="448055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493008" y="3886200"/>
            <a:ext cx="2304288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4005072"/>
            <a:ext cx="215798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DAC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852160" y="4215384"/>
            <a:ext cx="44805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6345936" y="3886200"/>
            <a:ext cx="2304288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4005072"/>
            <a:ext cx="215798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扬声器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05088" y="4215384"/>
            <a:ext cx="44805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9198863" y="3886200"/>
            <a:ext cx="2304288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72015" y="4005072"/>
            <a:ext cx="215798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声音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1517904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录音（ADC）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" y="3364992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播放（DAC）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波形图画的是“声音的传播路线”吗？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05840" y="3479291"/>
            <a:ext cx="987552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97280" y="2075688"/>
            <a:ext cx="0" cy="2816352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24712" y="176479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3598163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536192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同一个位置，信号随时间变化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143000" y="3306954"/>
            <a:ext cx="91440" cy="13576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34440" y="3173553"/>
            <a:ext cx="91440" cy="13340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25880" y="3044831"/>
            <a:ext cx="91440" cy="12872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17320" y="2923027"/>
            <a:ext cx="91440" cy="12180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08760" y="2810256"/>
            <a:ext cx="91440" cy="11277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00200" y="2708482"/>
            <a:ext cx="91440" cy="10177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91640" y="2619471"/>
            <a:ext cx="91440" cy="8901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83080" y="2544773"/>
            <a:ext cx="91439" cy="7469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74519" y="2485684"/>
            <a:ext cx="91441" cy="5908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65960" y="2443234"/>
            <a:ext cx="91440" cy="4245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57400" y="2418160"/>
            <a:ext cx="91440" cy="2507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48840" y="2410897"/>
            <a:ext cx="91440" cy="72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240280" y="2410897"/>
            <a:ext cx="91440" cy="1067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31720" y="2421572"/>
            <a:ext cx="91440" cy="2842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23160" y="2449999"/>
            <a:ext cx="91440" cy="4568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14600" y="2495684"/>
            <a:ext cx="91440" cy="6214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06040" y="2557833"/>
            <a:ext cx="91440" cy="7753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97480" y="2635366"/>
            <a:ext cx="91440" cy="9156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88920" y="2726934"/>
            <a:ext cx="91440" cy="10401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80360" y="2830946"/>
            <a:ext cx="91440" cy="11464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71800" y="2945594"/>
            <a:ext cx="91440" cy="12328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63240" y="3068883"/>
            <a:ext cx="91440" cy="12978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54680" y="3198672"/>
            <a:ext cx="91440" cy="1340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46120" y="3332703"/>
            <a:ext cx="91440" cy="13594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37560" y="3468647"/>
            <a:ext cx="91440" cy="13549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29000" y="3604140"/>
            <a:ext cx="91440" cy="13268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20440" y="3736827"/>
            <a:ext cx="91440" cy="12757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11880" y="3864401"/>
            <a:ext cx="91440" cy="12024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03320" y="3984643"/>
            <a:ext cx="91440" cy="11082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94760" y="4095465"/>
            <a:ext cx="91440" cy="9947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86200" y="4194939"/>
            <a:ext cx="91439" cy="8639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977639" y="4281335"/>
            <a:ext cx="91441" cy="7181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069080" y="4353152"/>
            <a:ext cx="91440" cy="5599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160520" y="4409142"/>
            <a:ext cx="91440" cy="391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51960" y="4448330"/>
            <a:ext cx="91440" cy="2170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43400" y="4470036"/>
            <a:ext cx="91440" cy="384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434840" y="4459803"/>
            <a:ext cx="91440" cy="1408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526280" y="4428041"/>
            <a:ext cx="91440" cy="3176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617720" y="4379149"/>
            <a:ext cx="91440" cy="4889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709160" y="4313978"/>
            <a:ext cx="91440" cy="6517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800600" y="4233660"/>
            <a:ext cx="91440" cy="8031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892040" y="4139592"/>
            <a:ext cx="91440" cy="9406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983480" y="4033408"/>
            <a:ext cx="91440" cy="10618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074920" y="3916956"/>
            <a:ext cx="91440" cy="11645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166360" y="3792259"/>
            <a:ext cx="91440" cy="12469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257800" y="3661486"/>
            <a:ext cx="91440" cy="13077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349240" y="3526909"/>
            <a:ext cx="91439" cy="13457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440679" y="3390868"/>
            <a:ext cx="91441" cy="13604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532120" y="3255729"/>
            <a:ext cx="91440" cy="13513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623560" y="3123841"/>
            <a:ext cx="91440" cy="1318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715000" y="2997496"/>
            <a:ext cx="91440" cy="12634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806440" y="2878891"/>
            <a:ext cx="91440" cy="11860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897880" y="2770088"/>
            <a:ext cx="91440" cy="10880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989320" y="2672979"/>
            <a:ext cx="91440" cy="9710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080760" y="2589251"/>
            <a:ext cx="91440" cy="8372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172200" y="2520360"/>
            <a:ext cx="91440" cy="6889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263640" y="2467505"/>
            <a:ext cx="91439" cy="5285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355079" y="2431603"/>
            <a:ext cx="91441" cy="3590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446520" y="2413279"/>
            <a:ext cx="91439" cy="1832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537959" y="2412851"/>
            <a:ext cx="91441" cy="42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6629400" y="2412851"/>
            <a:ext cx="91440" cy="1747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6720840" y="2430328"/>
            <a:ext cx="91440" cy="3507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6812280" y="2465404"/>
            <a:ext cx="91440" cy="5206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6903720" y="2517471"/>
            <a:ext cx="91440" cy="6815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6995160" y="2585623"/>
            <a:ext cx="91440" cy="8305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7086600" y="2668676"/>
            <a:ext cx="91440" cy="9650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7178040" y="2765184"/>
            <a:ext cx="91440" cy="1082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269480" y="2873472"/>
            <a:ext cx="91440" cy="11818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360920" y="2991656"/>
            <a:ext cx="91439" cy="12602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452359" y="3117681"/>
            <a:ext cx="91441" cy="13167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543800" y="3249357"/>
            <a:ext cx="91440" cy="13503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635240" y="3384394"/>
            <a:ext cx="91439" cy="13605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726679" y="3520445"/>
            <a:ext cx="91441" cy="13470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818120" y="3655145"/>
            <a:ext cx="91440" cy="13100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909560" y="3786152"/>
            <a:ext cx="91440" cy="12503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001000" y="3911188"/>
            <a:ext cx="91440" cy="11689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092440" y="4028081"/>
            <a:ext cx="91439" cy="10671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183879" y="4134796"/>
            <a:ext cx="91441" cy="9468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275320" y="4229480"/>
            <a:ext cx="91440" cy="8100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366760" y="4310487"/>
            <a:ext cx="91440" cy="6592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458200" y="4376407"/>
            <a:ext cx="91440" cy="496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549640" y="4426095"/>
            <a:ext cx="91440" cy="3259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641080" y="4458688"/>
            <a:ext cx="91439" cy="149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8732519" y="4470626"/>
            <a:ext cx="91441" cy="299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8823960" y="4449764"/>
            <a:ext cx="91440" cy="2086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8915400" y="4411395"/>
            <a:ext cx="91440" cy="3836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9006840" y="4356186"/>
            <a:ext cx="91440" cy="5520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9098280" y="4285096"/>
            <a:ext cx="91440" cy="7109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9189720" y="4199362"/>
            <a:ext cx="91440" cy="8573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9281160" y="4100474"/>
            <a:ext cx="91440" cy="988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9372600" y="3990150"/>
            <a:ext cx="91440" cy="11032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9464040" y="3870310"/>
            <a:ext cx="91440" cy="11984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9555480" y="3743036"/>
            <a:ext cx="91440" cy="12727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9646920" y="3610541"/>
            <a:ext cx="91439" cy="13249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738359" y="3475128"/>
            <a:ext cx="91441" cy="13541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9829800" y="3339152"/>
            <a:ext cx="91440" cy="13597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9921240" y="3204977"/>
            <a:ext cx="91440" cy="13417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012680" y="3074934"/>
            <a:ext cx="91440" cy="13004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104120" y="2951285"/>
            <a:ext cx="91440" cy="12364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195560" y="2836180"/>
            <a:ext cx="91440" cy="11510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波形不是声音在空间里走过的弯曲路线。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如果只能记录有限个数字，应该记录哪些时刻？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3483864"/>
            <a:ext cx="1005840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05840" y="1956816"/>
            <a:ext cx="0" cy="306323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33271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360273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69848" y="3279400"/>
            <a:ext cx="93543" cy="12673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63391" y="3154370"/>
            <a:ext cx="93543" cy="1250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56934" y="3032739"/>
            <a:ext cx="93543" cy="1216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50477" y="2916147"/>
            <a:ext cx="93543" cy="11659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44020" y="2806168"/>
            <a:ext cx="93543" cy="10997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7563" y="2704286"/>
            <a:ext cx="93543" cy="10188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31106" y="2611877"/>
            <a:ext cx="93543" cy="9240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24649" y="2530188"/>
            <a:ext cx="93543" cy="8168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18192" y="2460320"/>
            <a:ext cx="93544" cy="6986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11736" y="2403218"/>
            <a:ext cx="93543" cy="5710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05279" y="2359651"/>
            <a:ext cx="93543" cy="4356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98822" y="2330208"/>
            <a:ext cx="93543" cy="2944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92365" y="2315286"/>
            <a:ext cx="93543" cy="1492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85908" y="2315087"/>
            <a:ext cx="93543" cy="19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79451" y="2315087"/>
            <a:ext cx="93543" cy="1452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2994" y="2329613"/>
            <a:ext cx="93543" cy="2905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6537" y="2358667"/>
            <a:ext cx="93544" cy="4319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081" y="2401859"/>
            <a:ext cx="93543" cy="5674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3624" y="2458605"/>
            <a:ext cx="93543" cy="6953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7167" y="2528139"/>
            <a:ext cx="93543" cy="8138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40710" y="2609523"/>
            <a:ext cx="93543" cy="9213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4253" y="2701658"/>
            <a:ext cx="93543" cy="10164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27796" y="2803301"/>
            <a:ext cx="93543" cy="10977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1339" y="2913080"/>
            <a:ext cx="93543" cy="11643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14882" y="3029514"/>
            <a:ext cx="93544" cy="12151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08426" y="3151031"/>
            <a:ext cx="93543" cy="12495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01969" y="3275990"/>
            <a:ext cx="93543" cy="12671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95512" y="3402706"/>
            <a:ext cx="93543" cy="1267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89055" y="3529469"/>
            <a:ext cx="93543" cy="12509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82598" y="3654567"/>
            <a:ext cx="93543" cy="12174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76141" y="3776312"/>
            <a:ext cx="93543" cy="11674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69684" y="3893061"/>
            <a:ext cx="93543" cy="1101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63227" y="4003239"/>
            <a:ext cx="93543" cy="10211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56770" y="4105358"/>
            <a:ext cx="93544" cy="9268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50314" y="4198040"/>
            <a:ext cx="93543" cy="8199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43857" y="4280034"/>
            <a:ext cx="93543" cy="7020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437400" y="4350235"/>
            <a:ext cx="93543" cy="5745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530943" y="4407693"/>
            <a:ext cx="93543" cy="4394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624486" y="4451634"/>
            <a:ext cx="93543" cy="298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718029" y="4481465"/>
            <a:ext cx="93543" cy="1531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811572" y="4496783"/>
            <a:ext cx="93543" cy="59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905115" y="4483251"/>
            <a:ext cx="93544" cy="141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98659" y="4454585"/>
            <a:ext cx="93543" cy="2866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92202" y="4411768"/>
            <a:ext cx="93543" cy="4281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85745" y="4355380"/>
            <a:ext cx="93543" cy="563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79288" y="4286180"/>
            <a:ext cx="93543" cy="6920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72831" y="4205102"/>
            <a:ext cx="93543" cy="810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66374" y="4113242"/>
            <a:ext cx="93543" cy="9186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559917" y="4011838"/>
            <a:ext cx="93543" cy="10140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653460" y="3902260"/>
            <a:ext cx="93544" cy="1095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747004" y="3785986"/>
            <a:ext cx="93543" cy="11627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840547" y="3664585"/>
            <a:ext cx="93543" cy="12140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934090" y="3539697"/>
            <a:ext cx="93543" cy="1248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027633" y="3413006"/>
            <a:ext cx="93543" cy="12669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121176" y="3286222"/>
            <a:ext cx="93543" cy="12678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214719" y="3161057"/>
            <a:ext cx="93543" cy="1251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308262" y="3039199"/>
            <a:ext cx="93543" cy="12185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401805" y="2922294"/>
            <a:ext cx="93543" cy="11690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95348" y="2811918"/>
            <a:ext cx="93544" cy="11037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88892" y="2709563"/>
            <a:ext cx="93543" cy="10235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82435" y="2616609"/>
            <a:ext cx="93543" cy="9295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75978" y="2534310"/>
            <a:ext cx="93543" cy="8229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869521" y="2463778"/>
            <a:ext cx="93543" cy="7053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963064" y="2405964"/>
            <a:ext cx="93543" cy="578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056607" y="2361649"/>
            <a:ext cx="93543" cy="4431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150150" y="2331431"/>
            <a:ext cx="93543" cy="3021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243693" y="2315717"/>
            <a:ext cx="93544" cy="157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337237" y="2314720"/>
            <a:ext cx="93543" cy="99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430780" y="2314720"/>
            <a:ext cx="93543" cy="1373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524323" y="2328453"/>
            <a:ext cx="93543" cy="282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617866" y="2356731"/>
            <a:ext cx="93543" cy="4244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711409" y="2399172"/>
            <a:ext cx="93543" cy="560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804952" y="2455203"/>
            <a:ext cx="93543" cy="688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898495" y="2524068"/>
            <a:ext cx="93543" cy="8077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992038" y="2604838"/>
            <a:ext cx="93544" cy="9158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085582" y="2696423"/>
            <a:ext cx="93543" cy="1011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179125" y="2797586"/>
            <a:ext cx="93543" cy="10937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272668" y="2906962"/>
            <a:ext cx="93543" cy="1161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366211" y="3023076"/>
            <a:ext cx="93543" cy="12128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459754" y="3144359"/>
            <a:ext cx="93543" cy="12481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553297" y="3269175"/>
            <a:ext cx="93543" cy="1266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646840" y="3395840"/>
            <a:ext cx="93543" cy="12680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740383" y="3522644"/>
            <a:ext cx="93543" cy="12523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833926" y="3647876"/>
            <a:ext cx="93544" cy="12196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927470" y="3769845"/>
            <a:ext cx="93543" cy="11706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021013" y="3886905"/>
            <a:ext cx="93543" cy="11057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114556" y="3997477"/>
            <a:ext cx="93543" cy="10259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208099" y="4100067"/>
            <a:ext cx="93543" cy="9322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301642" y="4193293"/>
            <a:ext cx="93543" cy="8260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95185" y="4275895"/>
            <a:ext cx="93543" cy="708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88728" y="4346758"/>
            <a:ext cx="93543" cy="5816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82271" y="4404926"/>
            <a:ext cx="93544" cy="4468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75815" y="4449615"/>
            <a:ext cx="93543" cy="3060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769358" y="4480220"/>
            <a:ext cx="93543" cy="1611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862901" y="4496330"/>
            <a:ext cx="93543" cy="139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956444" y="4484389"/>
            <a:ext cx="93543" cy="1333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049987" y="4456501"/>
            <a:ext cx="93543" cy="278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143530" y="4414436"/>
            <a:ext cx="93543" cy="420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237073" y="4358763"/>
            <a:ext cx="93543" cy="5567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330616" y="4290233"/>
            <a:ext cx="93544" cy="685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请提出一个规则：怎样公平地选出一组采样时刻？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每隔相同时间，取一个幅度值。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3483864"/>
            <a:ext cx="1005840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05840" y="1956816"/>
            <a:ext cx="0" cy="306323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33271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360273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69848" y="3279400"/>
            <a:ext cx="93543" cy="12673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63391" y="3154370"/>
            <a:ext cx="93543" cy="1250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56934" y="3032739"/>
            <a:ext cx="93543" cy="12163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50477" y="2916147"/>
            <a:ext cx="93543" cy="11659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44020" y="2806168"/>
            <a:ext cx="93543" cy="10997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7563" y="2704286"/>
            <a:ext cx="93543" cy="10188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31106" y="2611877"/>
            <a:ext cx="93543" cy="924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24649" y="2530188"/>
            <a:ext cx="93543" cy="8168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18192" y="2460320"/>
            <a:ext cx="93544" cy="6986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11736" y="2403218"/>
            <a:ext cx="93543" cy="5710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05279" y="2359651"/>
            <a:ext cx="93543" cy="4356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98822" y="2330208"/>
            <a:ext cx="93543" cy="2944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92365" y="2315286"/>
            <a:ext cx="93543" cy="1492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85908" y="2315087"/>
            <a:ext cx="93543" cy="19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79451" y="2315087"/>
            <a:ext cx="93543" cy="1452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2994" y="2329613"/>
            <a:ext cx="93543" cy="2905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6537" y="2358667"/>
            <a:ext cx="93544" cy="4319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081" y="2401859"/>
            <a:ext cx="93543" cy="5674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3624" y="2458605"/>
            <a:ext cx="93543" cy="6953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7167" y="2528139"/>
            <a:ext cx="93543" cy="8138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40710" y="2609523"/>
            <a:ext cx="93543" cy="9213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4253" y="2701658"/>
            <a:ext cx="93543" cy="10164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27796" y="2803301"/>
            <a:ext cx="93543" cy="10977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1339" y="2913080"/>
            <a:ext cx="93543" cy="11643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14882" y="3029514"/>
            <a:ext cx="93544" cy="12151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08426" y="3151031"/>
            <a:ext cx="93543" cy="12495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01969" y="3275990"/>
            <a:ext cx="93543" cy="12671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95512" y="3402706"/>
            <a:ext cx="93543" cy="12676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89055" y="3529469"/>
            <a:ext cx="93543" cy="12509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82598" y="3654567"/>
            <a:ext cx="93543" cy="12174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76141" y="3776312"/>
            <a:ext cx="93543" cy="11674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69684" y="3893061"/>
            <a:ext cx="93543" cy="11017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63227" y="4003239"/>
            <a:ext cx="93543" cy="10211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56770" y="4105358"/>
            <a:ext cx="93544" cy="9268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50314" y="4198040"/>
            <a:ext cx="93543" cy="8199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43857" y="4280034"/>
            <a:ext cx="93543" cy="7020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437400" y="4350235"/>
            <a:ext cx="93543" cy="5745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530943" y="4407693"/>
            <a:ext cx="93543" cy="4394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624486" y="4451634"/>
            <a:ext cx="93543" cy="2983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718029" y="4481465"/>
            <a:ext cx="93543" cy="153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811572" y="4496783"/>
            <a:ext cx="93543" cy="59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905115" y="4483251"/>
            <a:ext cx="93544" cy="141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98659" y="4454585"/>
            <a:ext cx="93543" cy="2866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92202" y="4411768"/>
            <a:ext cx="93543" cy="4281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85745" y="4355380"/>
            <a:ext cx="93543" cy="5638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79288" y="4286180"/>
            <a:ext cx="93543" cy="6920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72831" y="4205102"/>
            <a:ext cx="93543" cy="8107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66374" y="4113242"/>
            <a:ext cx="93543" cy="9186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559917" y="4011838"/>
            <a:ext cx="93543" cy="10140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653460" y="3902260"/>
            <a:ext cx="93544" cy="10957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747004" y="3785986"/>
            <a:ext cx="93543" cy="11627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840547" y="3664585"/>
            <a:ext cx="93543" cy="12140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934090" y="3539697"/>
            <a:ext cx="93543" cy="12488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027633" y="3413006"/>
            <a:ext cx="93543" cy="1266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121176" y="3286222"/>
            <a:ext cx="93543" cy="12678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214719" y="3161057"/>
            <a:ext cx="93543" cy="12516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308262" y="3039199"/>
            <a:ext cx="93543" cy="12185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401805" y="2922294"/>
            <a:ext cx="93543" cy="11690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95348" y="2811918"/>
            <a:ext cx="93544" cy="11037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88892" y="2709563"/>
            <a:ext cx="93543" cy="10235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82435" y="2616609"/>
            <a:ext cx="93543" cy="9295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75978" y="2534310"/>
            <a:ext cx="93543" cy="8229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869521" y="2463778"/>
            <a:ext cx="93543" cy="7053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963064" y="2405964"/>
            <a:ext cx="93543" cy="5781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056607" y="2361649"/>
            <a:ext cx="93543" cy="4431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150150" y="2331431"/>
            <a:ext cx="93543" cy="302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243693" y="2315717"/>
            <a:ext cx="93544" cy="1571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337237" y="2314720"/>
            <a:ext cx="93543" cy="99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430780" y="2314720"/>
            <a:ext cx="93543" cy="1373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524323" y="2328453"/>
            <a:ext cx="93543" cy="2827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617866" y="2356731"/>
            <a:ext cx="93543" cy="4244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711409" y="2399172"/>
            <a:ext cx="93543" cy="5603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804952" y="2455203"/>
            <a:ext cx="93543" cy="6886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898495" y="2524068"/>
            <a:ext cx="93543" cy="8077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992038" y="2604838"/>
            <a:ext cx="93544" cy="9158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085582" y="2696423"/>
            <a:ext cx="93543" cy="10116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179125" y="2797586"/>
            <a:ext cx="93543" cy="10937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272668" y="2906962"/>
            <a:ext cx="93543" cy="11611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366211" y="3023076"/>
            <a:ext cx="93543" cy="12128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459754" y="3144359"/>
            <a:ext cx="93543" cy="12481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553297" y="3269175"/>
            <a:ext cx="93543" cy="12666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646840" y="3395840"/>
            <a:ext cx="93543" cy="12680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740383" y="3522644"/>
            <a:ext cx="93543" cy="12523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833926" y="3647876"/>
            <a:ext cx="93544" cy="12196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927470" y="3769845"/>
            <a:ext cx="93543" cy="11706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021013" y="3886905"/>
            <a:ext cx="93543" cy="11057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114556" y="3997477"/>
            <a:ext cx="93543" cy="10259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208099" y="4100067"/>
            <a:ext cx="93543" cy="9322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301642" y="4193293"/>
            <a:ext cx="93543" cy="8260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95185" y="4275895"/>
            <a:ext cx="93543" cy="7086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88728" y="4346758"/>
            <a:ext cx="93543" cy="5816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82271" y="4404926"/>
            <a:ext cx="93544" cy="4468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75815" y="4449615"/>
            <a:ext cx="93543" cy="3060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769358" y="4480220"/>
            <a:ext cx="93543" cy="1611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862901" y="4496330"/>
            <a:ext cx="93543" cy="139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956444" y="4484389"/>
            <a:ext cx="93543" cy="1333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049987" y="4456501"/>
            <a:ext cx="93543" cy="2788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143530" y="4414436"/>
            <a:ext cx="93543" cy="4206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237073" y="4358763"/>
            <a:ext cx="93543" cy="5567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330616" y="4290233"/>
            <a:ext cx="93544" cy="685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106984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1008583" y="334487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1" name="Connector 110"/>
          <p:cNvCxnSpPr/>
          <p:nvPr/>
        </p:nvCxnSpPr>
        <p:spPr>
          <a:xfrm>
            <a:off x="184937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Oval 111"/>
          <p:cNvSpPr/>
          <p:nvPr/>
        </p:nvSpPr>
        <p:spPr>
          <a:xfrm>
            <a:off x="1788109" y="244427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3" name="Connector 112"/>
          <p:cNvCxnSpPr/>
          <p:nvPr/>
        </p:nvCxnSpPr>
        <p:spPr>
          <a:xfrm>
            <a:off x="2628900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Oval 113"/>
          <p:cNvSpPr/>
          <p:nvPr/>
        </p:nvSpPr>
        <p:spPr>
          <a:xfrm>
            <a:off x="2567635" y="23246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5" name="Connector 114"/>
          <p:cNvCxnSpPr/>
          <p:nvPr/>
        </p:nvCxnSpPr>
        <p:spPr>
          <a:xfrm>
            <a:off x="3408426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Oval 115"/>
          <p:cNvSpPr/>
          <p:nvPr/>
        </p:nvSpPr>
        <p:spPr>
          <a:xfrm>
            <a:off x="3347161" y="308976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7" name="Connector 116"/>
          <p:cNvCxnSpPr/>
          <p:nvPr/>
        </p:nvCxnSpPr>
        <p:spPr>
          <a:xfrm>
            <a:off x="4187952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Oval 117"/>
          <p:cNvSpPr/>
          <p:nvPr/>
        </p:nvSpPr>
        <p:spPr>
          <a:xfrm>
            <a:off x="4126687" y="407610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9" name="Connector 118"/>
          <p:cNvCxnSpPr/>
          <p:nvPr/>
        </p:nvCxnSpPr>
        <p:spPr>
          <a:xfrm>
            <a:off x="496747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Oval 119"/>
          <p:cNvSpPr/>
          <p:nvPr/>
        </p:nvSpPr>
        <p:spPr>
          <a:xfrm>
            <a:off x="4906213" y="442832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1" name="Connector 120"/>
          <p:cNvCxnSpPr/>
          <p:nvPr/>
        </p:nvCxnSpPr>
        <p:spPr>
          <a:xfrm>
            <a:off x="574700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Oval 121"/>
          <p:cNvSpPr/>
          <p:nvPr/>
        </p:nvSpPr>
        <p:spPr>
          <a:xfrm>
            <a:off x="5685739" y="384099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3" name="Connector 122"/>
          <p:cNvCxnSpPr/>
          <p:nvPr/>
        </p:nvCxnSpPr>
        <p:spPr>
          <a:xfrm>
            <a:off x="6526530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Oval 123"/>
          <p:cNvSpPr/>
          <p:nvPr/>
        </p:nvSpPr>
        <p:spPr>
          <a:xfrm>
            <a:off x="6465265" y="282343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5" name="Connector 124"/>
          <p:cNvCxnSpPr/>
          <p:nvPr/>
        </p:nvCxnSpPr>
        <p:spPr>
          <a:xfrm>
            <a:off x="7306056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Oval 125"/>
          <p:cNvSpPr/>
          <p:nvPr/>
        </p:nvSpPr>
        <p:spPr>
          <a:xfrm>
            <a:off x="7244791" y="2258062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7" name="Connector 126"/>
          <p:cNvCxnSpPr/>
          <p:nvPr/>
        </p:nvCxnSpPr>
        <p:spPr>
          <a:xfrm>
            <a:off x="8085582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Oval 127"/>
          <p:cNvSpPr/>
          <p:nvPr/>
        </p:nvSpPr>
        <p:spPr>
          <a:xfrm>
            <a:off x="8024317" y="263515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9" name="Connector 128"/>
          <p:cNvCxnSpPr/>
          <p:nvPr/>
        </p:nvCxnSpPr>
        <p:spPr>
          <a:xfrm>
            <a:off x="886510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Oval 129"/>
          <p:cNvSpPr/>
          <p:nvPr/>
        </p:nvSpPr>
        <p:spPr>
          <a:xfrm>
            <a:off x="8803843" y="3627712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1" name="Connector 130"/>
          <p:cNvCxnSpPr/>
          <p:nvPr/>
        </p:nvCxnSpPr>
        <p:spPr>
          <a:xfrm>
            <a:off x="964463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Oval 131"/>
          <p:cNvSpPr/>
          <p:nvPr/>
        </p:nvSpPr>
        <p:spPr>
          <a:xfrm>
            <a:off x="9583369" y="437499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采样：在固定时刻取样，让时间上的记录变得离散。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1 Hz和2 Hz，一秒内取几个样本？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50976" y="2478024"/>
            <a:ext cx="987552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1819656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69848" y="150876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12096" y="259689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128016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1 Hz</a:t>
            </a:r>
          </a:p>
        </p:txBody>
      </p:sp>
      <p:sp>
        <p:nvSpPr>
          <p:cNvPr id="10" name="Oval 9"/>
          <p:cNvSpPr/>
          <p:nvPr/>
        </p:nvSpPr>
        <p:spPr>
          <a:xfrm>
            <a:off x="1081735" y="238932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344875" y="1922068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08015" y="238932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871155" y="2856585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950976" y="4443983"/>
            <a:ext cx="987552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42416" y="3785615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69848" y="34747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12096" y="4562855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324612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2 Hz</a:t>
            </a:r>
          </a:p>
        </p:txBody>
      </p:sp>
      <p:sp>
        <p:nvSpPr>
          <p:cNvPr id="19" name="Oval 18"/>
          <p:cNvSpPr/>
          <p:nvPr/>
        </p:nvSpPr>
        <p:spPr>
          <a:xfrm>
            <a:off x="1081735" y="435528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13305" y="402488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344875" y="388802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476445" y="402488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08015" y="435528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739585" y="468568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871155" y="482254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002725" y="468568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80644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采样率：每秒采集多少个样本，单位为Hz。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提高采样率，改变的是时间轴上的什么？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05840" y="2432304"/>
            <a:ext cx="9747504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97280" y="1737360"/>
            <a:ext cx="0" cy="1399032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24712" y="1426464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38944" y="25511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197864"/>
            <a:ext cx="974750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采样点较少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124712" y="2358641"/>
            <a:ext cx="91074" cy="5994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15786" y="2299460"/>
            <a:ext cx="91074" cy="5918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06860" y="2241802"/>
            <a:ext cx="91074" cy="57658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97934" y="2186403"/>
            <a:ext cx="91074" cy="55399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89008" y="2133970"/>
            <a:ext cx="91075" cy="5243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80083" y="2085174"/>
            <a:ext cx="91074" cy="4879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71157" y="2040638"/>
            <a:ext cx="91074" cy="4453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62231" y="2000931"/>
            <a:ext cx="91074" cy="3970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53305" y="1966561"/>
            <a:ext cx="91075" cy="3437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4380" y="1937966"/>
            <a:ext cx="91074" cy="2859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35454" y="1915513"/>
            <a:ext cx="91074" cy="2245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26528" y="1899487"/>
            <a:ext cx="91074" cy="1602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17602" y="1890094"/>
            <a:ext cx="91075" cy="939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08677" y="1887454"/>
            <a:ext cx="91074" cy="264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399751" y="1887454"/>
            <a:ext cx="91074" cy="414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490825" y="1891601"/>
            <a:ext cx="91074" cy="1088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581899" y="1902481"/>
            <a:ext cx="91075" cy="1747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72974" y="1919956"/>
            <a:ext cx="91074" cy="2384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64048" y="1943801"/>
            <a:ext cx="91074" cy="2991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55122" y="1973714"/>
            <a:ext cx="91074" cy="3559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46196" y="2009310"/>
            <a:ext cx="91075" cy="4082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37271" y="2050136"/>
            <a:ext cx="91074" cy="45534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28345" y="2095670"/>
            <a:ext cx="91074" cy="4966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19419" y="2145330"/>
            <a:ext cx="91074" cy="5315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10493" y="2198482"/>
            <a:ext cx="91075" cy="5596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01568" y="2254445"/>
            <a:ext cx="91074" cy="5806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492642" y="2312507"/>
            <a:ext cx="91074" cy="5941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583716" y="2371923"/>
            <a:ext cx="91074" cy="6001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674790" y="2431936"/>
            <a:ext cx="91074" cy="5984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65864" y="2491778"/>
            <a:ext cx="91075" cy="5890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56939" y="2550685"/>
            <a:ext cx="91074" cy="5722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948013" y="2607905"/>
            <a:ext cx="91074" cy="5480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039087" y="2662705"/>
            <a:ext cx="91074" cy="5168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130161" y="2714386"/>
            <a:ext cx="91075" cy="4790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21236" y="2762287"/>
            <a:ext cx="91074" cy="4351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12310" y="2805797"/>
            <a:ext cx="91074" cy="3856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03384" y="2844360"/>
            <a:ext cx="91074" cy="3312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494458" y="2877482"/>
            <a:ext cx="91075" cy="27259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585533" y="2904741"/>
            <a:ext cx="91074" cy="2104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676607" y="2925788"/>
            <a:ext cx="91074" cy="1456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767681" y="2940354"/>
            <a:ext cx="91074" cy="7899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858755" y="2948253"/>
            <a:ext cx="91075" cy="113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949830" y="2943735"/>
            <a:ext cx="91074" cy="565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040904" y="2931374"/>
            <a:ext cx="91074" cy="1236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131978" y="2912461"/>
            <a:ext cx="91074" cy="1891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223052" y="2887239"/>
            <a:ext cx="91075" cy="2522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314127" y="2856027"/>
            <a:ext cx="91074" cy="3121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405201" y="2819227"/>
            <a:ext cx="91074" cy="3680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496275" y="2777307"/>
            <a:ext cx="91074" cy="4192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587349" y="2730804"/>
            <a:ext cx="91075" cy="4650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678424" y="2680312"/>
            <a:ext cx="91074" cy="5049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769498" y="2626475"/>
            <a:ext cx="91074" cy="5383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860572" y="2569983"/>
            <a:ext cx="91074" cy="5649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951646" y="2511555"/>
            <a:ext cx="91074" cy="58428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042720" y="2451940"/>
            <a:ext cx="91075" cy="5961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133795" y="2391899"/>
            <a:ext cx="91074" cy="6004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224869" y="2332199"/>
            <a:ext cx="91074" cy="5970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315943" y="2273602"/>
            <a:ext cx="91074" cy="5859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407017" y="2216858"/>
            <a:ext cx="91075" cy="56744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498092" y="2162692"/>
            <a:ext cx="91074" cy="5416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589166" y="2111795"/>
            <a:ext cx="91074" cy="5089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680240" y="2064819"/>
            <a:ext cx="91074" cy="4697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771314" y="2022362"/>
            <a:ext cx="91075" cy="4245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862389" y="1984969"/>
            <a:ext cx="91074" cy="3739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953463" y="1953115"/>
            <a:ext cx="91074" cy="31854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044537" y="1927210"/>
            <a:ext cx="91074" cy="2590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135611" y="1907582"/>
            <a:ext cx="91075" cy="19628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226686" y="1894485"/>
            <a:ext cx="91074" cy="1309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317760" y="1888083"/>
            <a:ext cx="91074" cy="640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408834" y="1888083"/>
            <a:ext cx="91074" cy="378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499908" y="1888461"/>
            <a:ext cx="91075" cy="715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590983" y="1895612"/>
            <a:ext cx="91074" cy="1383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682057" y="1909445"/>
            <a:ext cx="91074" cy="20338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773131" y="1929783"/>
            <a:ext cx="91074" cy="2658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864205" y="1956368"/>
            <a:ext cx="91075" cy="3249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7955280" y="1988858"/>
            <a:ext cx="91074" cy="3798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046354" y="2026839"/>
            <a:ext cx="91074" cy="4298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137428" y="2069826"/>
            <a:ext cx="91074" cy="4744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228502" y="2117268"/>
            <a:ext cx="91074" cy="5129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319576" y="2168561"/>
            <a:ext cx="91075" cy="54488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410651" y="2223049"/>
            <a:ext cx="91074" cy="5698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501725" y="2280035"/>
            <a:ext cx="91074" cy="5875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592799" y="2338791"/>
            <a:ext cx="91074" cy="5977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683873" y="2398567"/>
            <a:ext cx="91075" cy="6003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774948" y="2458599"/>
            <a:ext cx="91074" cy="5952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866022" y="2518120"/>
            <a:ext cx="91074" cy="58249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957096" y="2576369"/>
            <a:ext cx="91074" cy="5623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048170" y="2632601"/>
            <a:ext cx="91075" cy="53499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139245" y="2686100"/>
            <a:ext cx="91074" cy="5008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230319" y="2736180"/>
            <a:ext cx="91074" cy="4602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321393" y="2782202"/>
            <a:ext cx="91074" cy="4137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412467" y="2823578"/>
            <a:ext cx="91075" cy="3620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503542" y="2859779"/>
            <a:ext cx="91074" cy="30564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594616" y="2890343"/>
            <a:ext cx="91074" cy="2453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685690" y="2914880"/>
            <a:ext cx="91074" cy="1819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776764" y="2933075"/>
            <a:ext cx="91075" cy="1162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867839" y="2944696"/>
            <a:ext cx="91074" cy="4899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9958913" y="2947709"/>
            <a:ext cx="91074" cy="188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049987" y="2939062"/>
            <a:ext cx="91074" cy="864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141061" y="2923765"/>
            <a:ext cx="91075" cy="1529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1063447" y="235732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201875" y="183268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340303" y="2193181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478731" y="283060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617159" y="2669540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755587" y="1981725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7894015" y="192759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9032443" y="2598471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8" name="Connector 117"/>
          <p:cNvCxnSpPr/>
          <p:nvPr/>
        </p:nvCxnSpPr>
        <p:spPr>
          <a:xfrm>
            <a:off x="1005840" y="4535424"/>
            <a:ext cx="9747504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1097280" y="3840480"/>
            <a:ext cx="0" cy="1399032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1124712" y="3529584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838944" y="465429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05840" y="3300984"/>
            <a:ext cx="974750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采样点较多</a:t>
            </a:r>
          </a:p>
        </p:txBody>
      </p:sp>
      <p:cxnSp>
        <p:nvCxnSpPr>
          <p:cNvPr id="123" name="Connector 122"/>
          <p:cNvCxnSpPr/>
          <p:nvPr/>
        </p:nvCxnSpPr>
        <p:spPr>
          <a:xfrm flipV="1">
            <a:off x="1124712" y="4461761"/>
            <a:ext cx="91074" cy="5994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1215786" y="4402580"/>
            <a:ext cx="91074" cy="5918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1306860" y="4344922"/>
            <a:ext cx="91074" cy="57658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1397934" y="4289523"/>
            <a:ext cx="91074" cy="55399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1489008" y="4237090"/>
            <a:ext cx="91075" cy="5243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1580083" y="4188294"/>
            <a:ext cx="91074" cy="4879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1671157" y="4143758"/>
            <a:ext cx="91074" cy="4453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1762231" y="4104051"/>
            <a:ext cx="91074" cy="3970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1853305" y="4069681"/>
            <a:ext cx="91075" cy="3437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1944380" y="4041086"/>
            <a:ext cx="91074" cy="2859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2035454" y="4018633"/>
            <a:ext cx="91074" cy="2245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2126528" y="4002607"/>
            <a:ext cx="91074" cy="1602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2217602" y="3993214"/>
            <a:ext cx="91075" cy="939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2308677" y="3990574"/>
            <a:ext cx="91074" cy="264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2399751" y="3990574"/>
            <a:ext cx="91074" cy="414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2490825" y="3994721"/>
            <a:ext cx="91074" cy="1088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2581899" y="4005601"/>
            <a:ext cx="91075" cy="1747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2672974" y="4023076"/>
            <a:ext cx="91074" cy="2384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2764048" y="4046921"/>
            <a:ext cx="91074" cy="2991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2855122" y="4076834"/>
            <a:ext cx="91074" cy="3559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2946196" y="4112430"/>
            <a:ext cx="91075" cy="4082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3037271" y="4153256"/>
            <a:ext cx="91074" cy="45534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3128345" y="4198790"/>
            <a:ext cx="91074" cy="4966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3219419" y="4248450"/>
            <a:ext cx="91074" cy="5315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3310493" y="4301602"/>
            <a:ext cx="91075" cy="5596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3401568" y="4357565"/>
            <a:ext cx="91074" cy="5806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3492642" y="4415627"/>
            <a:ext cx="91074" cy="5941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3583716" y="4475043"/>
            <a:ext cx="91074" cy="6001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3674790" y="4535056"/>
            <a:ext cx="91074" cy="5984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3765864" y="4594898"/>
            <a:ext cx="91075" cy="5890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3856939" y="4653805"/>
            <a:ext cx="91074" cy="5722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3948013" y="4711025"/>
            <a:ext cx="91074" cy="5480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4039087" y="4765825"/>
            <a:ext cx="91074" cy="5168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4130161" y="4817506"/>
            <a:ext cx="91075" cy="4790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4221236" y="4865407"/>
            <a:ext cx="91074" cy="4351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4312310" y="4908917"/>
            <a:ext cx="91074" cy="3856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4403384" y="4947480"/>
            <a:ext cx="91074" cy="3312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4494458" y="4980602"/>
            <a:ext cx="91075" cy="27259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4585533" y="5007861"/>
            <a:ext cx="91074" cy="2104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4676607" y="5028908"/>
            <a:ext cx="91074" cy="1456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4767681" y="5043474"/>
            <a:ext cx="91074" cy="7899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4858755" y="5051373"/>
            <a:ext cx="91075" cy="113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4949830" y="5046855"/>
            <a:ext cx="91074" cy="565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5040904" y="5034494"/>
            <a:ext cx="91074" cy="1236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5131978" y="5015581"/>
            <a:ext cx="91074" cy="1891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5223052" y="4990359"/>
            <a:ext cx="91075" cy="2522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5314127" y="4959147"/>
            <a:ext cx="91074" cy="3121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5405201" y="4922347"/>
            <a:ext cx="91074" cy="3680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5496275" y="4880427"/>
            <a:ext cx="91074" cy="4192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5587349" y="4833924"/>
            <a:ext cx="91075" cy="4650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5678424" y="4783432"/>
            <a:ext cx="91074" cy="5049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5769498" y="4729595"/>
            <a:ext cx="91074" cy="5383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5860572" y="4673103"/>
            <a:ext cx="91074" cy="5649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5951646" y="4614675"/>
            <a:ext cx="91074" cy="58428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6042720" y="4555060"/>
            <a:ext cx="91075" cy="5961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6133795" y="4495019"/>
            <a:ext cx="91074" cy="6004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6224869" y="4435319"/>
            <a:ext cx="91074" cy="5970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6315943" y="4376722"/>
            <a:ext cx="91074" cy="5859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6407017" y="4319978"/>
            <a:ext cx="91075" cy="56744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6498092" y="4265812"/>
            <a:ext cx="91074" cy="5416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6589166" y="4214915"/>
            <a:ext cx="91074" cy="5089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6680240" y="4167939"/>
            <a:ext cx="91074" cy="4697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6771314" y="4125482"/>
            <a:ext cx="91075" cy="4245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6862389" y="4088089"/>
            <a:ext cx="91074" cy="3739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6953463" y="4056235"/>
            <a:ext cx="91074" cy="31854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7044537" y="4030330"/>
            <a:ext cx="91074" cy="2590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7135611" y="4010702"/>
            <a:ext cx="91075" cy="19628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7226686" y="3997605"/>
            <a:ext cx="91074" cy="1309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7317760" y="3991203"/>
            <a:ext cx="91074" cy="640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7408834" y="3991203"/>
            <a:ext cx="91074" cy="378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7499908" y="3991581"/>
            <a:ext cx="91075" cy="715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7590983" y="3998732"/>
            <a:ext cx="91074" cy="1383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7682057" y="4012565"/>
            <a:ext cx="91074" cy="20338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7773131" y="4032903"/>
            <a:ext cx="91074" cy="2658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7864205" y="4059488"/>
            <a:ext cx="91075" cy="3249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7955280" y="4091978"/>
            <a:ext cx="91074" cy="3798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8046354" y="4129959"/>
            <a:ext cx="91074" cy="4298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8137428" y="4172946"/>
            <a:ext cx="91074" cy="4744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8228502" y="4220388"/>
            <a:ext cx="91074" cy="5129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8319576" y="4271681"/>
            <a:ext cx="91075" cy="54488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8410651" y="4326169"/>
            <a:ext cx="91074" cy="5698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8501725" y="4383155"/>
            <a:ext cx="91074" cy="5875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8592799" y="4441911"/>
            <a:ext cx="91074" cy="5977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8683873" y="4501687"/>
            <a:ext cx="91075" cy="6003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8774948" y="4561719"/>
            <a:ext cx="91074" cy="5952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8866022" y="4621240"/>
            <a:ext cx="91074" cy="58249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8957096" y="4679489"/>
            <a:ext cx="91074" cy="5623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9048170" y="4735721"/>
            <a:ext cx="91075" cy="53499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9139245" y="4789220"/>
            <a:ext cx="91074" cy="5008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9230319" y="4839300"/>
            <a:ext cx="91074" cy="4602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9321393" y="4885322"/>
            <a:ext cx="91074" cy="4137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9412467" y="4926698"/>
            <a:ext cx="91075" cy="3620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9503542" y="4962899"/>
            <a:ext cx="91074" cy="30564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9594616" y="4993463"/>
            <a:ext cx="91074" cy="2453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9685690" y="5018000"/>
            <a:ext cx="91074" cy="1819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9776764" y="5036195"/>
            <a:ext cx="91075" cy="1162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9867839" y="5047816"/>
            <a:ext cx="91074" cy="4899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9958913" y="5050829"/>
            <a:ext cx="91074" cy="188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10049987" y="5042182"/>
            <a:ext cx="91074" cy="864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10141061" y="5026885"/>
            <a:ext cx="91075" cy="1529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Oval 222"/>
          <p:cNvSpPr/>
          <p:nvPr/>
        </p:nvSpPr>
        <p:spPr>
          <a:xfrm>
            <a:off x="1063447" y="446044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518818" y="417582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974189" y="397982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2429560" y="393345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2884932" y="405116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3340303" y="429630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3795674" y="459254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4251045" y="484765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4706416" y="498220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5161788" y="495431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5617159" y="477266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6072530" y="449379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6527901" y="420454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6983272" y="399497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7438644" y="393031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7894015" y="403071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8349386" y="4264904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8804757" y="455997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9260128" y="482405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9715500" y="497493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777240" y="596188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每秒记录的次数变多；数据量也会随之增加。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采样点的值，可能是3.71这样的数。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3346704"/>
            <a:ext cx="10149839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60120" y="1956816"/>
            <a:ext cx="0" cy="278892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87552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04119" y="34655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05840" y="3235877"/>
            <a:ext cx="93451" cy="9711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99291" y="3139629"/>
            <a:ext cx="93452" cy="96248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192743" y="3045096"/>
            <a:ext cx="93452" cy="9453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286195" y="2953120"/>
            <a:ext cx="93451" cy="9197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79646" y="2864515"/>
            <a:ext cx="93452" cy="8860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73098" y="2780068"/>
            <a:ext cx="93452" cy="8444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66550" y="2700528"/>
            <a:ext cx="93451" cy="7954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60001" y="2626603"/>
            <a:ext cx="93452" cy="7392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53453" y="2558948"/>
            <a:ext cx="93452" cy="6765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46905" y="2498163"/>
            <a:ext cx="93451" cy="6078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0356" y="2444787"/>
            <a:ext cx="93452" cy="5337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33808" y="2399296"/>
            <a:ext cx="93452" cy="4549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27260" y="2362092"/>
            <a:ext cx="93451" cy="37204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20711" y="2333506"/>
            <a:ext cx="93452" cy="2858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14163" y="2313792"/>
            <a:ext cx="93452" cy="19714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407615" y="2303123"/>
            <a:ext cx="93451" cy="10669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501066" y="2301596"/>
            <a:ext cx="93452" cy="152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594518" y="2301596"/>
            <a:ext cx="93452" cy="7628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87970" y="2309224"/>
            <a:ext cx="93451" cy="1671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81421" y="2325939"/>
            <a:ext cx="93452" cy="2565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74873" y="2351592"/>
            <a:ext cx="93452" cy="34364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68325" y="2385956"/>
            <a:ext cx="93451" cy="4277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61776" y="2428726"/>
            <a:ext cx="93452" cy="5079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55228" y="2479523"/>
            <a:ext cx="93452" cy="5837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48680" y="2537895"/>
            <a:ext cx="93452" cy="65429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42132" y="2603324"/>
            <a:ext cx="93451" cy="7190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35583" y="2675229"/>
            <a:ext cx="93452" cy="77744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29035" y="2752973"/>
            <a:ext cx="93452" cy="8289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22487" y="2835866"/>
            <a:ext cx="93451" cy="87304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15938" y="2923170"/>
            <a:ext cx="93452" cy="9094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09390" y="3014113"/>
            <a:ext cx="93452" cy="9377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02842" y="3107885"/>
            <a:ext cx="93451" cy="9577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996293" y="3203656"/>
            <a:ext cx="93452" cy="96919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089745" y="3300575"/>
            <a:ext cx="93452" cy="9720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183197" y="3397781"/>
            <a:ext cx="93451" cy="9663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76648" y="3494412"/>
            <a:ext cx="93452" cy="95199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70100" y="3589611"/>
            <a:ext cx="93452" cy="9292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63552" y="3682531"/>
            <a:ext cx="93451" cy="89818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557003" y="3772349"/>
            <a:ext cx="93452" cy="85919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650455" y="3858268"/>
            <a:ext cx="93452" cy="8125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743907" y="3939523"/>
            <a:ext cx="93451" cy="7587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837358" y="4015395"/>
            <a:ext cx="93452" cy="6981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930810" y="4085211"/>
            <a:ext cx="93452" cy="63138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024262" y="4148349"/>
            <a:ext cx="93451" cy="5590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5117713" y="4204250"/>
            <a:ext cx="93452" cy="4816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211165" y="4252417"/>
            <a:ext cx="93452" cy="4000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304617" y="4292424"/>
            <a:ext cx="93451" cy="3149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398068" y="4323915"/>
            <a:ext cx="93452" cy="2269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491520" y="4346610"/>
            <a:ext cx="93452" cy="13698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584972" y="4360308"/>
            <a:ext cx="93452" cy="458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678424" y="4360308"/>
            <a:ext cx="93451" cy="458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771875" y="4346610"/>
            <a:ext cx="93452" cy="13698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865327" y="4323915"/>
            <a:ext cx="93452" cy="2269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958779" y="4292424"/>
            <a:ext cx="93451" cy="3149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052230" y="4252417"/>
            <a:ext cx="93452" cy="4000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145682" y="4204250"/>
            <a:ext cx="93452" cy="4816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239134" y="4148349"/>
            <a:ext cx="93451" cy="5590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332585" y="4085211"/>
            <a:ext cx="93452" cy="63138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26037" y="4015395"/>
            <a:ext cx="93452" cy="6981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19489" y="3939523"/>
            <a:ext cx="93451" cy="7587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12940" y="3858268"/>
            <a:ext cx="93452" cy="8125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06392" y="3772349"/>
            <a:ext cx="93452" cy="85919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799844" y="3682531"/>
            <a:ext cx="93451" cy="89818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893295" y="3589611"/>
            <a:ext cx="93452" cy="9292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986747" y="3494412"/>
            <a:ext cx="93452" cy="95199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080199" y="3397781"/>
            <a:ext cx="93451" cy="9663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173650" y="3300575"/>
            <a:ext cx="93452" cy="9720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267102" y="3203656"/>
            <a:ext cx="93452" cy="96919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360554" y="3107885"/>
            <a:ext cx="93451" cy="9577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454005" y="3014113"/>
            <a:ext cx="93452" cy="9377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7547457" y="2923170"/>
            <a:ext cx="93452" cy="9094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7640909" y="2835866"/>
            <a:ext cx="93451" cy="87304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7734360" y="2752973"/>
            <a:ext cx="93452" cy="8289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7827812" y="2675229"/>
            <a:ext cx="93452" cy="77744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7921264" y="2603324"/>
            <a:ext cx="93452" cy="7190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8014716" y="2537895"/>
            <a:ext cx="93451" cy="65429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8108167" y="2479523"/>
            <a:ext cx="93452" cy="5837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8201619" y="2428726"/>
            <a:ext cx="93452" cy="5079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8295071" y="2385956"/>
            <a:ext cx="93451" cy="4277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388522" y="2351592"/>
            <a:ext cx="93452" cy="34364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481974" y="2325939"/>
            <a:ext cx="93452" cy="2565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575426" y="2309224"/>
            <a:ext cx="93451" cy="1671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8668877" y="2301596"/>
            <a:ext cx="93452" cy="7628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762329" y="2301596"/>
            <a:ext cx="93452" cy="152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855781" y="2303123"/>
            <a:ext cx="93451" cy="10669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949232" y="2313792"/>
            <a:ext cx="93452" cy="19714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042684" y="2333506"/>
            <a:ext cx="93452" cy="2858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136136" y="2362092"/>
            <a:ext cx="93451" cy="37204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229587" y="2399296"/>
            <a:ext cx="93452" cy="4549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23039" y="2444787"/>
            <a:ext cx="93452" cy="5337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16491" y="2498163"/>
            <a:ext cx="93451" cy="6078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09942" y="2558948"/>
            <a:ext cx="93452" cy="6765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03394" y="2626603"/>
            <a:ext cx="93452" cy="7392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696846" y="2700528"/>
            <a:ext cx="93451" cy="7954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790297" y="2780068"/>
            <a:ext cx="93452" cy="8444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883749" y="2864515"/>
            <a:ext cx="93452" cy="8860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977201" y="2953120"/>
            <a:ext cx="93451" cy="9197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10070652" y="3045096"/>
            <a:ext cx="93452" cy="9453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10164104" y="3139629"/>
            <a:ext cx="93452" cy="96248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10257556" y="3235877"/>
            <a:ext cx="93452" cy="9711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944575" y="327172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879091" y="243689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813608" y="229032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748125" y="29528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682642" y="38782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617159" y="430362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551676" y="38782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7486192" y="29528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8420709" y="229032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9355226" y="243689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3690518" y="2895241"/>
            <a:ext cx="237744" cy="237744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973982" y="2611777"/>
            <a:ext cx="28803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某个样本：3.71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新问题：如果只允许8个振幅等级，怎么记录这些值？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把振幅划分成0～7，共几个等级？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600200" y="5394960"/>
            <a:ext cx="8001000" cy="0"/>
          </a:xfrm>
          <a:prstGeom prst="line">
            <a:avLst/>
          </a:prstGeom>
          <a:ln w="190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13816" y="5230368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600200" y="4910328"/>
            <a:ext cx="8001000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13816" y="4745736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00200" y="4425696"/>
            <a:ext cx="8001000" cy="0"/>
          </a:xfrm>
          <a:prstGeom prst="line">
            <a:avLst/>
          </a:prstGeom>
          <a:ln w="190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13816" y="4261104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600200" y="3941064"/>
            <a:ext cx="8001000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13816" y="3776472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600200" y="3456432"/>
            <a:ext cx="8001000" cy="0"/>
          </a:xfrm>
          <a:prstGeom prst="line">
            <a:avLst/>
          </a:prstGeom>
          <a:ln w="190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13816" y="3291840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00200" y="2971800"/>
            <a:ext cx="8001000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13816" y="2807208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00200" y="2487168"/>
            <a:ext cx="8001000" cy="0"/>
          </a:xfrm>
          <a:prstGeom prst="line">
            <a:avLst/>
          </a:prstGeom>
          <a:ln w="190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13816" y="2322576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600200" y="2002536"/>
            <a:ext cx="8001000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13816" y="1837944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0也是一个等级，所以一共有8个等级。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量化：把每个样本归入一个代表值。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901952" y="52578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" y="50932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01952" y="48006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78992" y="46360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01952" y="43434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78992" y="41788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01952" y="38862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78992" y="37216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01952" y="34290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78992" y="32644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901952" y="29718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78992" y="28072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01952" y="25146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78992" y="23500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901952" y="20574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78992" y="1892807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1" name="Oval 20"/>
          <p:cNvSpPr/>
          <p:nvPr/>
        </p:nvSpPr>
        <p:spPr>
          <a:xfrm>
            <a:off x="5577840" y="3474720"/>
            <a:ext cx="173736" cy="17373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77840" y="3799332"/>
            <a:ext cx="173736" cy="173736"/>
          </a:xfrm>
          <a:prstGeom prst="ellipse">
            <a:avLst/>
          </a:prstGeom>
          <a:solidFill>
            <a:srgbClr val="00B0F0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5669280" y="3662172"/>
            <a:ext cx="0" cy="123443"/>
          </a:xfrm>
          <a:prstGeom prst="line">
            <a:avLst/>
          </a:prstGeom>
          <a:ln w="3429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080760" y="3150108"/>
            <a:ext cx="27432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262626"/>
                </a:solidFill>
                <a:latin typeface="Alibaba PuHuiTi 3.0 115 Black"/>
              </a:defRPr>
            </a:pPr>
            <a:r>
              <a:t>原值 3.71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3922776"/>
            <a:ext cx="22860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记录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量化：用有限个等级来近似表示样本的振幅。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一个样本需要几个二进制位？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" y="1682496"/>
            <a:ext cx="658368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100" b="1">
                <a:solidFill>
                  <a:srgbClr val="8C64E1"/>
                </a:solidFill>
                <a:latin typeface="Alibaba PuHuiTi 3.0 115 Black"/>
              </a:defRPr>
            </a:pPr>
            <a:r>
              <a:t>8个等级 = 2³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0 → 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370332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647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1 → 001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2 → 010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81159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54311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 → 011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4 → 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7647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5 → 101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6 → 110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81159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54311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7 → 111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3 bit可以写出8种不同的编码：000～111。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同一个声音的10个样本，怎样依次编码？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47088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采样顺序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816352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量化等级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76472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3 bit码字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88336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88336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88336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011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44952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044952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547872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101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04487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904487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407408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111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764024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764024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266944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6944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6944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110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623559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623559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126479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79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79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100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83095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483095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986015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86015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86015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010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342631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342631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845552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45552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45552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000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202168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202168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705088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05088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05088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001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061704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061704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564624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64624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64624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011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921240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921240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10424159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24159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24159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100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0780776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780776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采样决定“什么时候记录”，量化决定“记录哪个等级”，编码决定“用哪些bit表示”。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把量化等级分得更细，会发生什么？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755648"/>
            <a:ext cx="43434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3 bit → 8级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371600" y="5230368"/>
            <a:ext cx="4069080" cy="0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371600" y="4828031"/>
            <a:ext cx="4069080" cy="0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371600" y="4425696"/>
            <a:ext cx="4069080" cy="0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71600" y="4023359"/>
            <a:ext cx="4069080" cy="0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371600" y="3621024"/>
            <a:ext cx="4069080" cy="0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371600" y="3218687"/>
            <a:ext cx="4069080" cy="0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371600" y="2816351"/>
            <a:ext cx="4069080" cy="0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371600" y="2414015"/>
            <a:ext cx="4069080" cy="0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371600" y="5486400"/>
            <a:ext cx="411480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可选代表值更密集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755648"/>
            <a:ext cx="43434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4 bit → 16级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0" y="5230368"/>
            <a:ext cx="4069080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858000" y="5042611"/>
            <a:ext cx="4069080" cy="0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858000" y="4854854"/>
            <a:ext cx="4069080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858000" y="4667097"/>
            <a:ext cx="4069080" cy="0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858000" y="4479340"/>
            <a:ext cx="4069080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858000" y="4291584"/>
            <a:ext cx="4069080" cy="0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858000" y="4103827"/>
            <a:ext cx="4069080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858000" y="3916070"/>
            <a:ext cx="4069080" cy="0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3728313"/>
            <a:ext cx="4069080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858000" y="3540556"/>
            <a:ext cx="4069080" cy="0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858000" y="3352800"/>
            <a:ext cx="4069080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858000" y="3165043"/>
            <a:ext cx="4069080" cy="0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858000" y="2977286"/>
            <a:ext cx="4069080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858000" y="2789529"/>
            <a:ext cx="4069080" cy="0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858000" y="2601772"/>
            <a:ext cx="4069080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2414015"/>
            <a:ext cx="4069080" cy="0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858000" y="5486400"/>
            <a:ext cx="411480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可选代表值更密集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不要混淆：采样率和量化位数。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69264" y="3291840"/>
            <a:ext cx="978408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0704" y="1956816"/>
            <a:ext cx="0" cy="2679191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88136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38944" y="3410712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106424" y="3153678"/>
            <a:ext cx="91440" cy="1107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97864" y="3044364"/>
            <a:ext cx="91440" cy="10931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89304" y="2937861"/>
            <a:ext cx="91440" cy="10650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80744" y="2835531"/>
            <a:ext cx="91440" cy="1023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72184" y="2738680"/>
            <a:ext cx="91440" cy="9685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63624" y="2648547"/>
            <a:ext cx="91440" cy="9013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55064" y="2566283"/>
            <a:ext cx="91440" cy="8226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46504" y="2492940"/>
            <a:ext cx="91439" cy="7334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37943" y="2429453"/>
            <a:ext cx="91441" cy="6348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29384" y="2376635"/>
            <a:ext cx="91440" cy="528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20824" y="2335161"/>
            <a:ext cx="91440" cy="4147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112264" y="2305560"/>
            <a:ext cx="91440" cy="2960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203704" y="2288210"/>
            <a:ext cx="91440" cy="17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95144" y="2283334"/>
            <a:ext cx="91440" cy="487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86584" y="2283334"/>
            <a:ext cx="91440" cy="765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8024" y="2290993"/>
            <a:ext cx="91440" cy="2009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9464" y="2311090"/>
            <a:ext cx="91440" cy="3227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904" y="2343368"/>
            <a:ext cx="91440" cy="4404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2344" y="2387414"/>
            <a:ext cx="91440" cy="552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3784" y="2442666"/>
            <a:ext cx="91440" cy="657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35224" y="2508418"/>
            <a:ext cx="91440" cy="7541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26664" y="2583829"/>
            <a:ext cx="91440" cy="8410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18104" y="2667936"/>
            <a:ext cx="91440" cy="9172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09544" y="2759665"/>
            <a:ext cx="91440" cy="9817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00984" y="2857842"/>
            <a:ext cx="91440" cy="10337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92424" y="2961215"/>
            <a:ext cx="91440" cy="10724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83864" y="3068462"/>
            <a:ext cx="91440" cy="1097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75304" y="3178212"/>
            <a:ext cx="91440" cy="1108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66744" y="3289064"/>
            <a:ext cx="91439" cy="11053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58183" y="3399601"/>
            <a:ext cx="91441" cy="1088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49624" y="3508410"/>
            <a:ext cx="91440" cy="1056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41064" y="3614101"/>
            <a:ext cx="91440" cy="10122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32504" y="3715325"/>
            <a:ext cx="91440" cy="9546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23944" y="3810787"/>
            <a:ext cx="91440" cy="8848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15384" y="3899267"/>
            <a:ext cx="91440" cy="8036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06824" y="3979636"/>
            <a:ext cx="91440" cy="712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98264" y="4050866"/>
            <a:ext cx="91440" cy="6118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89704" y="4112047"/>
            <a:ext cx="91440" cy="50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581144" y="4162397"/>
            <a:ext cx="91440" cy="3887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672584" y="4201274"/>
            <a:ext cx="91440" cy="2690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764024" y="4228180"/>
            <a:ext cx="91440" cy="145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855464" y="4242771"/>
            <a:ext cx="91440" cy="20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46904" y="4234424"/>
            <a:ext cx="91440" cy="1043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38344" y="4211593"/>
            <a:ext cx="91440" cy="2283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29784" y="4176659"/>
            <a:ext cx="91440" cy="3493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21224" y="4130069"/>
            <a:ext cx="91440" cy="4659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12664" y="4072417"/>
            <a:ext cx="91439" cy="576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04103" y="4004442"/>
            <a:ext cx="91441" cy="6797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495544" y="3927011"/>
            <a:ext cx="91440" cy="7743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586984" y="3841114"/>
            <a:ext cx="91440" cy="8589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678424" y="3747848"/>
            <a:ext cx="91440" cy="9326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769864" y="3648404"/>
            <a:ext cx="91440" cy="9944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861304" y="3544054"/>
            <a:ext cx="91440" cy="104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952744" y="3436132"/>
            <a:ext cx="91440" cy="10792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044184" y="3326014"/>
            <a:ext cx="91440" cy="1101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135624" y="3215110"/>
            <a:ext cx="91440" cy="11090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227064" y="3104836"/>
            <a:ext cx="91439" cy="11027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318503" y="2996600"/>
            <a:ext cx="91441" cy="10823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09944" y="2891787"/>
            <a:ext cx="91439" cy="10481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01383" y="2791734"/>
            <a:ext cx="91441" cy="10005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592824" y="2697721"/>
            <a:ext cx="91440" cy="9401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684264" y="2610949"/>
            <a:ext cx="91440" cy="8677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775704" y="2532526"/>
            <a:ext cx="91440" cy="7842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867144" y="2463455"/>
            <a:ext cx="91440" cy="6907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958584" y="2404618"/>
            <a:ext cx="91440" cy="5883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050024" y="2356767"/>
            <a:ext cx="91440" cy="4785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141464" y="2320513"/>
            <a:ext cx="91440" cy="3625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232904" y="2296319"/>
            <a:ext cx="91440" cy="2419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324344" y="2284496"/>
            <a:ext cx="91439" cy="1182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415783" y="2284496"/>
            <a:ext cx="91441" cy="69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507224" y="2285192"/>
            <a:ext cx="91439" cy="132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598663" y="2298401"/>
            <a:ext cx="91441" cy="255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690104" y="2323953"/>
            <a:ext cx="91440" cy="3756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781544" y="2361521"/>
            <a:ext cx="91439" cy="4910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872983" y="2410626"/>
            <a:ext cx="91441" cy="6001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964424" y="2470640"/>
            <a:ext cx="91439" cy="7015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055863" y="2540796"/>
            <a:ext cx="91441" cy="7940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147304" y="2620198"/>
            <a:ext cx="91440" cy="8763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238744" y="2707831"/>
            <a:ext cx="91439" cy="9474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330183" y="2802576"/>
            <a:ext cx="91441" cy="10064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421624" y="2903222"/>
            <a:ext cx="91440" cy="10526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513064" y="3008483"/>
            <a:ext cx="91440" cy="1085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604504" y="3117013"/>
            <a:ext cx="91439" cy="11041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695943" y="3227428"/>
            <a:ext cx="91441" cy="11088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787384" y="3338314"/>
            <a:ext cx="91440" cy="10994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878824" y="3448257"/>
            <a:ext cx="91439" cy="10759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970263" y="3555850"/>
            <a:ext cx="91441" cy="10387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061704" y="3659720"/>
            <a:ext cx="91440" cy="988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153144" y="3758538"/>
            <a:ext cx="91440" cy="9250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244584" y="3851043"/>
            <a:ext cx="91440" cy="850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336024" y="3936052"/>
            <a:ext cx="91439" cy="7642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427463" y="4012479"/>
            <a:ext cx="91441" cy="6686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518904" y="4079348"/>
            <a:ext cx="91440" cy="5645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610344" y="4135804"/>
            <a:ext cx="91440" cy="4532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701784" y="4181125"/>
            <a:ext cx="91440" cy="336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793224" y="4214734"/>
            <a:ext cx="91439" cy="2146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884663" y="4236200"/>
            <a:ext cx="91441" cy="904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9976104" y="4241765"/>
            <a:ext cx="91440" cy="348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067544" y="4225793"/>
            <a:ext cx="91440" cy="1597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158984" y="4197538"/>
            <a:ext cx="91440" cy="2825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1045159" y="320314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748543" y="245323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451928" y="223599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155313" y="270573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3858697" y="3528794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4562082" y="412053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265466" y="406063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968851" y="33916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6672236" y="258876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7375620" y="222227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8079005" y="255251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782389" y="334490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9485774" y="403659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2" name="Connector 121"/>
          <p:cNvCxnSpPr/>
          <p:nvPr/>
        </p:nvCxnSpPr>
        <p:spPr>
          <a:xfrm>
            <a:off x="4023360" y="4754880"/>
            <a:ext cx="3200400" cy="0"/>
          </a:xfrm>
          <a:prstGeom prst="line">
            <a:avLst/>
          </a:prstGeom>
          <a:ln w="508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3657600" y="5038344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采样率：时间方向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10625328" y="2103120"/>
            <a:ext cx="0" cy="2395728"/>
          </a:xfrm>
          <a:prstGeom prst="line">
            <a:avLst/>
          </a:prstGeom>
          <a:ln w="508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9098280" y="1874519"/>
            <a:ext cx="2103120" cy="10424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量化位数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幅度方向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采样更多、等级更密，就一定听得更好吗？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420624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</a:defRPr>
            </a:pPr>
            <a:r>
              <a:t>采样率 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90088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每秒样本更多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194560"/>
            <a:ext cx="429768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B0F0"/>
                </a:solidFill>
                <a:latin typeface="Alibaba PuHuiTi 3.0 115 Black"/>
              </a:defRPr>
            </a:pPr>
            <a:r>
              <a:t>量化位数 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99008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每样本可选等级更多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5230368"/>
            <a:ext cx="996696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通常能提高记录的精细程度，但音质不会无限提高。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3 bit是教学模型，真实录音常见16 bit。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905256" y="2066543"/>
            <a:ext cx="470916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185415"/>
            <a:ext cx="45628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课堂模型：3 bit</a:t>
            </a:r>
          </a:p>
        </p:txBody>
      </p:sp>
      <p:sp>
        <p:nvSpPr>
          <p:cNvPr id="7" name="Rectangle 6"/>
          <p:cNvSpPr/>
          <p:nvPr/>
        </p:nvSpPr>
        <p:spPr>
          <a:xfrm>
            <a:off x="6528816" y="2066543"/>
            <a:ext cx="4626864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01968" y="2185415"/>
            <a:ext cx="448055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PCM例子：16 bit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9047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8191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7510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6654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1111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0255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9574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8718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0376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71816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65008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56448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41080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3427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571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1890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1034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03536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94976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11112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02552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95744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87184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80376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71816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65008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56448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49640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41080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34272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25712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518904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10344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03536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94976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位数越多，一份未压缩样本数据所占的空间也越大。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PCM样本和WAV文件，是一回事吗？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176272"/>
            <a:ext cx="2898648" cy="137160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2144" y="2569464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WAV文件头</a:t>
            </a:r>
          </a:p>
        </p:txBody>
      </p:sp>
      <p:sp>
        <p:nvSpPr>
          <p:cNvPr id="7" name="Rectangle 6"/>
          <p:cNvSpPr/>
          <p:nvPr/>
        </p:nvSpPr>
        <p:spPr>
          <a:xfrm>
            <a:off x="3986784" y="2176272"/>
            <a:ext cx="7059168" cy="137160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2569464"/>
            <a:ext cx="627278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PCM：一个个数字样本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941063"/>
            <a:ext cx="3657600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采样率、声道等说明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33087" y="3950208"/>
            <a:ext cx="6858000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例如：0010 1101 0110 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编码 ≠ 压缩；WAV常保存未压缩PCM，但并非只有这一种情况。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播放时：数字样本怎样重新变成声音？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2258568"/>
            <a:ext cx="240487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数字样本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8211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630168" y="2258568"/>
            <a:ext cx="240487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DAC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10819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556248" y="2258568"/>
            <a:ext cx="240487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连续电信号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03427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482328" y="2258568"/>
            <a:ext cx="240487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5548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扬声器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4632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录音是模拟 → 数字；播放是数字 → 模拟。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声音数据量为什么与四个参数有关？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83664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采样率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每秒几个样本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64224" y="1883664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量化位数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64224" y="2468880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每样本多少bit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11296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声道数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96511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同一时刻几路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4224" y="3511296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时长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4096511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持续多少秒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先数样本，再数bit，最后换算成Byte。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2 样本/秒 × 4 秒 × 1 声道 = 8 个样本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8" name="Rectangle 7"/>
          <p:cNvSpPr/>
          <p:nvPr/>
        </p:nvSpPr>
        <p:spPr>
          <a:xfrm>
            <a:off x="2231136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50008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39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1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9744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28616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9048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88352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07224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7655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96528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66959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85832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" y="4389120"/>
            <a:ext cx="1069848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t>8 个样本 × 3 bit = 24 bit = 3 Byte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不同声道要各自记录样本；声道数翻倍，未压缩样本数据量也翻倍。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未压缩PCM数据量公式，从哪里来？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965960"/>
            <a:ext cx="1069848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900" b="1">
                <a:solidFill>
                  <a:srgbClr val="8C64E1"/>
                </a:solidFill>
                <a:latin typeface="Alibaba PuHuiTi 3.0 115 Black"/>
              </a:defRPr>
            </a:pPr>
            <a:r>
              <a:t>字节数 = 采样率 × 位数 × 声道数 × 秒数 ÷ 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41248" y="3255264"/>
            <a:ext cx="10341864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3602736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Hz：每秒采多少次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9632" y="3602736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bit：每个样本用几位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17136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声道：有几组数据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9632" y="4517136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秒：记录多久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6928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1 kHz=1000 Hz；8 bit=1 Byte。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采样率 16,000 Hz，8 bit，双声道，录制5秒。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未压缩PCM样本数据共有多少 Byte？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先标出每个数字的含义。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采样率 16,000 Hz，8 bit，双声道，录制5秒。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未压缩PCM样本数据共有多少 Byte？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0749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答案：160,000 Byte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5660136"/>
            <a:ext cx="105156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16,000 × 8 × 2 × 5 ÷ 8 = 160,000 Byte。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本节课你能解释三件事吗？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783080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① 声音怎么进入电脑？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50008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麦克风 → ADC → 数字数据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081528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② 采样和量化有什么不同？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648456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前者定时刻，后者定代表值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379976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③ PCM为什么有大小差别？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946904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样本数 × 每样本bit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1993392"/>
            <a:ext cx="10881360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5000" b="1">
                <a:solidFill>
                  <a:srgbClr val="262626"/>
                </a:solidFill>
                <a:latin typeface="Alibaba PuHuiTi 3.0 115 Black"/>
              </a:defRPr>
            </a:pPr>
            <a:r>
              <a:t>为什么文件还需要压缩？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3730752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900" b="0">
                <a:solidFill>
                  <a:srgbClr val="808080"/>
                </a:solidFill>
                <a:latin typeface="Alibaba PuHuiTi 3.0 55 Regular"/>
              </a:defRPr>
            </a:pPr>
            <a:r>
              <a:t>第二课时｜音频、视频编码与数据压缩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先回忆：这四个数字，分别是什么意思？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182880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</a:defRPr>
            </a:pPr>
            <a:r>
              <a:t>48,000 Hz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55117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每秒取样次数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82880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B0F0"/>
                </a:solidFill>
                <a:latin typeface="Alibaba PuHuiTi 3.0 115 Black"/>
              </a:defRPr>
            </a:pPr>
            <a:r>
              <a:t>16 bit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55664" y="255117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每样本的位数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56616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428853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左右两个声道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356616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B0F0"/>
                </a:solidFill>
                <a:latin typeface="Alibaba PuHuiTi 3.0 115 Black"/>
              </a:defRPr>
            </a:pPr>
            <a:r>
              <a:t>60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428853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音频持续时间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提醒：1 MB（按1024²换算）在严格单位写法中应称MiB。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1分钟未压缩PCM音频：48,000 Hz、16 bit、双声道。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样本数据量约多少MiB？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先列式，再做单位换算。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1分钟未压缩PCM音频：48,000 Hz、16 bit、双声道。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样本数据量约多少MiB？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0749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答案：约10.99 MiB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5660136"/>
            <a:ext cx="105156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48,000×16×2×60÷8=11,520,000 B；÷1024²≈10.99 MiB。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给5分钟的诗朗诵加入一条等时长背景音乐音轨。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如果导出时仍为44.1 kHz、16 bit、双声道PCM，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数据量会翻倍吗？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先投票：翻倍 / 不变 / 说不清。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两个看似有道理的答案，你支持哪一个？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观点 A：不变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观点 B：翻倍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采样率没变，位数没变，时长没变，输出的声道数也没变。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录音里多了一份音乐，是不是就需要多一份音频数据？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争论的关键：编辑时的“音轨”，是不是导出时的“声道”？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音轨是编辑时的层，声道是输出时的通道。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59536" y="2148840"/>
            <a:ext cx="3767328" cy="68580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4" y="2286000"/>
            <a:ext cx="34930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音轨1：诗朗诵</a:t>
            </a:r>
          </a:p>
        </p:txBody>
      </p:sp>
      <p:sp>
        <p:nvSpPr>
          <p:cNvPr id="7" name="Rectangle 6"/>
          <p:cNvSpPr/>
          <p:nvPr/>
        </p:nvSpPr>
        <p:spPr>
          <a:xfrm>
            <a:off x="859536" y="3081528"/>
            <a:ext cx="3767328" cy="68580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4" y="3218688"/>
            <a:ext cx="34930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00B0F0"/>
                </a:solidFill>
                <a:latin typeface="Alibaba PuHuiTi 3.0 115 Black"/>
              </a:defRPr>
            </a:pPr>
            <a:r>
              <a:t>音轨2：背景音乐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910328" y="2944368"/>
            <a:ext cx="1426464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111496" y="2331720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混音导出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48840"/>
            <a:ext cx="4224528" cy="68580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68312" y="2286000"/>
            <a:ext cx="36576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00B0F0"/>
                </a:solidFill>
                <a:latin typeface="Alibaba PuHuiTi 3.0 115 Black"/>
              </a:defRPr>
            </a:pPr>
            <a:r>
              <a:t>左声道 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3081528"/>
            <a:ext cx="4224528" cy="68580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68312" y="3218688"/>
            <a:ext cx="36576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00B0F0"/>
                </a:solidFill>
                <a:latin typeface="Alibaba PuHuiTi 3.0 115 Black"/>
              </a:defRPr>
            </a:pPr>
            <a:r>
              <a:t>右声道 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937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编辑有两条音轨，导出仍然可以只有两个声道。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给5分钟的诗朗诵加入一条等时长背景音乐音轨。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如果导出时仍为44.1 kHz、16 bit、双声道PCM，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数据量会翻倍吗？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0749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答案：未压缩样本数据量不变。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5660136"/>
            <a:ext cx="105156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内容变了，但采样率、位数、声道数、时长均未变。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迁移：把双声道改成单声道，会怎样？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2185416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双声道：2路数据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01384" y="2185416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t>单声道：1路数据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5568" y="3145536"/>
            <a:ext cx="3694176" cy="41148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5568" y="3721608"/>
            <a:ext cx="3694176" cy="41148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29984" y="3438144"/>
            <a:ext cx="3694176" cy="41148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未压缩PCM：声道数变成一半，样本数据量也变成一半。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图像采样与声音采样，哪里相同？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892807"/>
            <a:ext cx="231343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取样位置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63824" y="1892807"/>
            <a:ext cx="4023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二维：行×列的像素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892807"/>
            <a:ext cx="3794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一维：时间点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2697479"/>
            <a:ext cx="10332720" cy="0"/>
          </a:xfrm>
          <a:prstGeom prst="line">
            <a:avLst/>
          </a:prstGeom>
          <a:ln w="1524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49808" y="3008376"/>
            <a:ext cx="231343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描述的量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3824" y="3008376"/>
            <a:ext cx="4023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像素的颜色信息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3008376"/>
            <a:ext cx="3794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声音信号振幅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22960" y="3813048"/>
            <a:ext cx="10332720" cy="0"/>
          </a:xfrm>
          <a:prstGeom prst="line">
            <a:avLst/>
          </a:prstGeom>
          <a:ln w="1524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49808" y="4123944"/>
            <a:ext cx="231343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数据量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63824" y="4123944"/>
            <a:ext cx="4023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像素数×每像素位数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4123944"/>
            <a:ext cx="3794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样本数×每样本位数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这两种编码都有“选择样本”和“用有限数字表达样本”的过程。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一张张图片连续变化，就能让我们看到运动。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376" y="2084831"/>
            <a:ext cx="2066543" cy="2084831"/>
          </a:xfrm>
          <a:prstGeom prst="rect">
            <a:avLst/>
          </a:prstGeom>
          <a:noFill/>
          <a:ln w="19050">
            <a:solidFill>
              <a:srgbClr val="E2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5256" y="2889504"/>
            <a:ext cx="484632" cy="484632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4352544"/>
            <a:ext cx="206654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808080"/>
                </a:solidFill>
                <a:latin typeface="Alibaba PuHuiTi 3.0 55 Regular"/>
              </a:defRPr>
            </a:pPr>
            <a:r>
              <a:t>第1帧</a:t>
            </a:r>
          </a:p>
        </p:txBody>
      </p:sp>
      <p:sp>
        <p:nvSpPr>
          <p:cNvPr id="8" name="Rectangle 7"/>
          <p:cNvSpPr/>
          <p:nvPr/>
        </p:nvSpPr>
        <p:spPr>
          <a:xfrm>
            <a:off x="3026664" y="2084831"/>
            <a:ext cx="2066543" cy="2084831"/>
          </a:xfrm>
          <a:prstGeom prst="rect">
            <a:avLst/>
          </a:prstGeom>
          <a:noFill/>
          <a:ln w="19050">
            <a:solidFill>
              <a:srgbClr val="E2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65576" y="2889504"/>
            <a:ext cx="484632" cy="484632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26664" y="4352544"/>
            <a:ext cx="206654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808080"/>
                </a:solidFill>
                <a:latin typeface="Alibaba PuHuiTi 3.0 55 Regular"/>
              </a:defRPr>
            </a:pPr>
            <a:r>
              <a:t>第2帧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30952" y="2084831"/>
            <a:ext cx="2066543" cy="2084831"/>
          </a:xfrm>
          <a:prstGeom prst="rect">
            <a:avLst/>
          </a:prstGeom>
          <a:noFill/>
          <a:ln w="19050">
            <a:solidFill>
              <a:srgbClr val="E2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025896" y="2889504"/>
            <a:ext cx="484632" cy="484632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30952" y="4352544"/>
            <a:ext cx="206654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808080"/>
                </a:solidFill>
                <a:latin typeface="Alibaba PuHuiTi 3.0 55 Regular"/>
              </a:defRPr>
            </a:pPr>
            <a:r>
              <a:t>第3帧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35240" y="2084831"/>
            <a:ext cx="2066543" cy="2084831"/>
          </a:xfrm>
          <a:prstGeom prst="rect">
            <a:avLst/>
          </a:prstGeom>
          <a:noFill/>
          <a:ln w="19050">
            <a:solidFill>
              <a:srgbClr val="E2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586216" y="2889504"/>
            <a:ext cx="484632" cy="484632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5240" y="4352544"/>
            <a:ext cx="206654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808080"/>
                </a:solidFill>
                <a:latin typeface="Alibaba PuHuiTi 3.0 55 Regular"/>
              </a:defRPr>
            </a:pPr>
            <a:r>
              <a:t>第4帧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39528" y="2084831"/>
            <a:ext cx="2066543" cy="2084831"/>
          </a:xfrm>
          <a:prstGeom prst="rect">
            <a:avLst/>
          </a:prstGeom>
          <a:noFill/>
          <a:ln w="19050">
            <a:solidFill>
              <a:srgbClr val="E2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146536" y="2889504"/>
            <a:ext cx="484632" cy="484632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39528" y="4352544"/>
            <a:ext cx="206654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808080"/>
                </a:solidFill>
                <a:latin typeface="Alibaba PuHuiTi 3.0 55 Regular"/>
              </a:defRPr>
            </a:pPr>
            <a:r>
              <a:t>第5帧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帧率25 fps：每秒显示25张画面。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10分钟、每秒25帧，要保存多少张画面？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048256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262626"/>
                </a:solidFill>
                <a:latin typeface="Alibaba PuHuiTi 3.0 115 Black"/>
              </a:defRPr>
            </a:pPr>
            <a:r>
              <a:t>25帧/秒 × 60秒/分钟 × 10分钟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264408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4200" b="1">
                <a:solidFill>
                  <a:srgbClr val="8C64E1"/>
                </a:solidFill>
                <a:latin typeface="Alibaba PuHuiTi 3.0 115 Black"/>
              </a:defRPr>
            </a:pPr>
            <a:r>
              <a:t>= 15,000 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91032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无压缩视频 = 单帧图像数据量 × 总帧数。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10分钟的无声视频：480×320像素，24 bit/像素，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帧率25 fps。假设逐帧未压缩存储，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总数据量约多少GiB？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先算每帧，再算总帧数。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10分钟的无声视频：480×320像素，24 bit/像素，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帧率25 fps。假设逐帧未压缩存储，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总数据量约多少GiB？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0749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答案：约6.44 GiB。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5660136"/>
            <a:ext cx="105156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480×320×24÷8×25×600 = 6,912,000,000 B；÷1024³≈6.44 GiB。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可是我们看的10分钟视频，为什么远没有6.44 GiB？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892807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8C64E1"/>
                </a:solidFill>
                <a:latin typeface="Alibaba PuHuiTi 3.0 115 Black"/>
              </a:defRPr>
            </a:pPr>
            <a:r>
              <a:t>刚才的计算错了吗？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00984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0">
                <a:solidFill>
                  <a:srgbClr val="262626"/>
                </a:solidFill>
                <a:latin typeface="Alibaba PuHuiTi 3.0 55 Regular"/>
              </a:defRPr>
            </a:pPr>
            <a:r>
              <a:t>如果公式没错，实际文件为什么可能小得多？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请提出至少一种可以检验的解释。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因为我们算的是“逐帧未压缩数据量”。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32104" y="2267712"/>
            <a:ext cx="4590288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386584"/>
            <a:ext cx="444398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未压缩图像帧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513832" y="2606040"/>
            <a:ext cx="987552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74536" y="2267712"/>
            <a:ext cx="466344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47688" y="2386584"/>
            <a:ext cx="451713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重新编码后的视频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712463"/>
            <a:ext cx="4599432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每一帧都要保存完整的原始像素数据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3712463"/>
            <a:ext cx="4681728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省去大量重复表示，数据可能显著减小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数据量计算仍正确，它描述的是题设中的“未压缩”情况。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为什么要压缩？先想两种真实需求。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节省存储空间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方便网络传输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同样容量的手机或硬盘，可以保存更多数据。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需要传输的数据更少，通常能更快下载或播放。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压缩的两个目的：节省空间、提高传输效率。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“中国”重复100次，有没有更简短的写法？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975104"/>
            <a:ext cx="1078992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262626"/>
                </a:solidFill>
                <a:latin typeface="Alibaba PuHuiTi 3.0 115 Black"/>
              </a:defRPr>
            </a:pPr>
            <a:r>
              <a:t>中国中国中国中国中国中国……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91840" y="3685032"/>
            <a:ext cx="3154680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03136" y="3310128"/>
            <a:ext cx="429768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300" b="1">
                <a:solidFill>
                  <a:srgbClr val="8C64E1"/>
                </a:solidFill>
                <a:latin typeface="Alibaba PuHuiTi 3.0 115 Black"/>
              </a:defRPr>
            </a:pPr>
            <a:r>
              <a:t>“中国” × 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在不改变内容的前提下，用规则和次数来表示重复部分。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为什么重复内容更容易压缩？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高度重复的内容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变化复杂的内容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AAAAAAAAAA…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容易用简短规则表示。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AX3Q9P8F2…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难以找到同样简短的规则。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冗余越多，使用合适的算法时，通常越容易压缩。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预测：两份都是1000 Byte，压缩后谁更小？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2002536"/>
            <a:ext cx="488289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文件A：1000个“A”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19088" y="2002536"/>
            <a:ext cx="482803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文件B：1000个随机字节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337560"/>
            <a:ext cx="105156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0">
                <a:solidFill>
                  <a:srgbClr val="262626"/>
                </a:solidFill>
                <a:latin typeface="Alibaba PuHuiTi 3.0 55 Regular"/>
              </a:defRPr>
            </a:pPr>
            <a:r>
              <a:t>原始大小相同，都等于1000 Byte。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065776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请预测：压缩后 A、B 谁更小？能够完整恢复吗？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实验验证：为什么同样大小的文件效果不同？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A：重复的内容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B：复杂的内容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原始大小：1000 Byte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压缩后：17 Byte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原始大小：1000 Byte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压缩后：1011 Byte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两者解压后都能一字节不差地还原：这就是无损压缩。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压缩到底改变了什么？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1837943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900" b="1">
                <a:solidFill>
                  <a:srgbClr val="262626"/>
                </a:solidFill>
                <a:latin typeface="Alibaba PuHuiTi 3.0 115 Black"/>
              </a:defRPr>
            </a:pPr>
            <a:r>
              <a:t>数据本身在计算机中仍是0和1。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2999232"/>
            <a:ext cx="10698480" cy="1216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压缩：用更少的比特，重新表示相同或近似相同的内容。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方法有很多，今天重点研究能不能完整还原。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两种压缩：怎样区分“无损”和“有损”？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无损压缩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有损压缩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还原以后，与原始数据完全一致。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适合：文档、程序、精确备份。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还原以后，无法与原始数据完全一致。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适合：可接受部分失真的音视频。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判断标准：解码/解压后，能否完整得到原始数据？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ZIP、MP3、WAV、MP4，它们属于同一类吗？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65376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ZIP / RAR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41448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通常为无损归档格式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65376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t>MP3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441448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常见有损音频编码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02152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WAV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78224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容器；常见未压缩PCM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502152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t>MP4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078224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容器；常装有损视频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格式名和压缩方法不总是一回事。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三幅相同大小的图，谁通常最容易无损压缩？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1719072"/>
            <a:ext cx="34747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A 纯色</a:t>
            </a:r>
          </a:p>
        </p:txBody>
      </p:sp>
      <p:sp>
        <p:nvSpPr>
          <p:cNvPr id="6" name="Rectangle 5"/>
          <p:cNvSpPr/>
          <p:nvPr/>
        </p:nvSpPr>
        <p:spPr>
          <a:xfrm>
            <a:off x="850392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07008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63624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920240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76856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33472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90088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46704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03320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0392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7008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63624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20240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76856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33472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990088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46704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03320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0392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207008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563624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920240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276856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633472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990088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46704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03320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0392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207008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563624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920240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276856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633472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990088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346704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703320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50392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207008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563624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920240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276856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633472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990088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346704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703320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50392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207008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563624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920240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276856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633472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990088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346704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703320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0392" y="4946904"/>
            <a:ext cx="33832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808080"/>
                </a:solidFill>
                <a:latin typeface="Alibaba PuHuiTi 3.0 55 Regular"/>
              </a:defRPr>
            </a:pPr>
            <a:r>
              <a:t>同一尺寸与位深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90872" y="1719072"/>
            <a:ext cx="34747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B 色块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90872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047488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404104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760720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117336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73952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830568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187183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543800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690872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047488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404104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760720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117336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473952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830568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187183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543800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690872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5047488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5404104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760720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117336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473952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830568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187183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543800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4690872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5047488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5404104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5760720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117336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473952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830568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187183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543800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4690872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5047488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5404104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5760720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6117336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473952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6830568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187183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543800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4690872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5047488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5404104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5760720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6117336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6473952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830568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7187183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7543800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4690872" y="4946904"/>
            <a:ext cx="33832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808080"/>
                </a:solidFill>
                <a:latin typeface="Alibaba PuHuiTi 3.0 55 Regular"/>
              </a:defRPr>
            </a:pPr>
            <a:r>
              <a:t>同一尺寸与位深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531352" y="1719072"/>
            <a:ext cx="34747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C 复杂图案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8531352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887968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9244584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9601200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9957816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10314432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0671048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1027664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1384280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8531352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8887968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9244584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9601200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9957816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0314432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0671048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11027664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11384280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8531352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8887968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9244584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9601200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9957816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10314432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10671048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11027664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11384280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8531352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8887968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9244584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9601200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9957816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10314432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10671048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11027664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11384280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8531352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8887968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9244584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9601200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9957816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10314432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10671048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11027664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11384280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8531352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8887968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9244584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9601200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9957816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10314432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10671048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11027664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11384280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8531352" y="4946904"/>
            <a:ext cx="33832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808080"/>
                </a:solidFill>
                <a:latin typeface="Alibaba PuHuiTi 3.0 55 Regular"/>
              </a:defRPr>
            </a:pPr>
            <a:r>
              <a:t>同一尺寸与位深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想一想：哪幅图最容易用几条规则完整表示？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A纯色、B规则色块、C复杂花纹，尺寸与位深相同。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分别用相同无损方法压缩，谁通常最小？为什么？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不仅选择，还要解释“重复”和“规律”。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A纯色、B规则色块、C复杂花纹，尺寸与位深相同。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分别用相同无损方法压缩，谁通常最小？为什么？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0749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答案：A通常最小。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5660136"/>
            <a:ext cx="105156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纯色图像的重复与规律性最强，一般更容易用简短规则表示。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同一张图：BMP与JPG有什么不同？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BMP（课堂例：未压缩）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JPG（常见有损）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保存每个像素的颜色信息。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可能占用较多空间。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对图像进行近似表示。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文件可能明显更小，但不能逐像素完全还原。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有损不等于看起来一定明显变差；质量与参数有关。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已经压成MP3、JPG，再用RAR压一遍呢？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第一次压缩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再次压缩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有些重复或不重要的信息被更简洁地表示，文件大幅减小。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可进一步利用的冗余通常较少，RAR再压往往收效不大。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注意：再次用有损编码重新保存，还可能累积质量损失。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是不是压得越小就一定越好？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重要文档长期备份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实时视频通话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优先考虑信息完整、能够恢复，以及可靠保存。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优先兼顾流畅度、延迟、声音画面质量和传输量。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选择编码与压缩方式，要看具体任务，而不是只比文件大小。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下列说法，哪些正确？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① 增加编辑音轨，未压缩PCM数据量必然翻倍。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② 未压缩视频逐帧保存，数据量可能很大。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③ ZIP解压后可以恢复原始文档。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逐条作答，并解释理由。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下列说法，哪些正确？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① 增加编辑音轨，未压缩PCM数据量必然翻倍。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② 未压缩视频逐帧保存，数据量可能很大。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③ ZIP解压后可以恢复原始文档。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0749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答案：①错；②对；③对。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5660136"/>
            <a:ext cx="105156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①音轨不等于声道；②每帧的数据量相加可能很大；③ZIP为无损归档。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离开课堂前，你能解释三个为什么吗？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82880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① 声音为什么能变成一组0和1？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306324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② 小视频为什么可能算出6.44 GiB？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42976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③ 有些文件为什么压缩后变化很小？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可选拓展：采样不足时会发生什么？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97280" y="2468880"/>
            <a:ext cx="950976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88720" y="1810512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16152" y="1499616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2587752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271016"/>
            <a:ext cx="9509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波形 A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188720" y="2369440"/>
            <a:ext cx="87325" cy="445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76045" y="2325261"/>
            <a:ext cx="87325" cy="4417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63370" y="2281869"/>
            <a:ext cx="87325" cy="4339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50695" y="2239650"/>
            <a:ext cx="87325" cy="422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8020" y="2198979"/>
            <a:ext cx="87326" cy="4067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25346" y="2160216"/>
            <a:ext cx="87325" cy="3876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12671" y="2123706"/>
            <a:ext cx="87325" cy="365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99996" y="2089773"/>
            <a:ext cx="87325" cy="339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87321" y="2058718"/>
            <a:ext cx="87325" cy="310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74646" y="2030817"/>
            <a:ext cx="87326" cy="279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61972" y="2006317"/>
            <a:ext cx="87325" cy="2450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49297" y="1985436"/>
            <a:ext cx="87325" cy="2088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36622" y="1968359"/>
            <a:ext cx="87325" cy="1707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23947" y="1955237"/>
            <a:ext cx="87325" cy="1312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411272" y="1946188"/>
            <a:ext cx="87326" cy="904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498598" y="1941291"/>
            <a:ext cx="87325" cy="48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585923" y="1940590"/>
            <a:ext cx="87325" cy="7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73248" y="1940590"/>
            <a:ext cx="87325" cy="35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60573" y="1944091"/>
            <a:ext cx="87325" cy="767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47898" y="1951764"/>
            <a:ext cx="87326" cy="117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35224" y="1963539"/>
            <a:ext cx="87325" cy="1577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22549" y="1979313"/>
            <a:ext cx="87325" cy="1963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09874" y="1998945"/>
            <a:ext cx="87325" cy="2331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197199" y="2022261"/>
            <a:ext cx="87325" cy="2679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284524" y="2049055"/>
            <a:ext cx="87326" cy="300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371850" y="2079088"/>
            <a:ext cx="87325" cy="3300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459175" y="2112094"/>
            <a:ext cx="87325" cy="3568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546500" y="2147780"/>
            <a:ext cx="87325" cy="3804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633825" y="2185828"/>
            <a:ext cx="87325" cy="400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21150" y="2225903"/>
            <a:ext cx="87326" cy="4174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08476" y="2267647"/>
            <a:ext cx="87325" cy="4304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895801" y="2310690"/>
            <a:ext cx="87325" cy="4396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983126" y="2354650"/>
            <a:ext cx="87325" cy="444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070451" y="2399138"/>
            <a:ext cx="87325" cy="446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157776" y="2443757"/>
            <a:ext cx="87326" cy="443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245102" y="2488112"/>
            <a:ext cx="87325" cy="4369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332427" y="2531810"/>
            <a:ext cx="87325" cy="4265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419752" y="2574462"/>
            <a:ext cx="87325" cy="4122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507077" y="2615690"/>
            <a:ext cx="87325" cy="3943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594402" y="2655128"/>
            <a:ext cx="87326" cy="372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681728" y="2692425"/>
            <a:ext cx="87325" cy="3482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769053" y="2727252"/>
            <a:ext cx="87325" cy="3204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856378" y="2759298"/>
            <a:ext cx="87325" cy="2898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943703" y="2788280"/>
            <a:ext cx="87325" cy="2565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031028" y="2813939"/>
            <a:ext cx="87326" cy="221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118354" y="2836049"/>
            <a:ext cx="87325" cy="1836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205679" y="2854413"/>
            <a:ext cx="87325" cy="1445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293004" y="2868867"/>
            <a:ext cx="87325" cy="1041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380329" y="2879285"/>
            <a:ext cx="87325" cy="62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5467654" y="2885573"/>
            <a:ext cx="87326" cy="210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554980" y="2885573"/>
            <a:ext cx="87325" cy="210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642305" y="2879285"/>
            <a:ext cx="87325" cy="62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729630" y="2868867"/>
            <a:ext cx="87325" cy="1041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816955" y="2854413"/>
            <a:ext cx="87325" cy="1445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5904280" y="2836049"/>
            <a:ext cx="87326" cy="1836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5991606" y="2813939"/>
            <a:ext cx="87325" cy="221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078931" y="2788280"/>
            <a:ext cx="87325" cy="2565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166256" y="2759298"/>
            <a:ext cx="87325" cy="2898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253581" y="2727252"/>
            <a:ext cx="87325" cy="3204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340906" y="2692425"/>
            <a:ext cx="87326" cy="3482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428232" y="2655128"/>
            <a:ext cx="87325" cy="372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515557" y="2615690"/>
            <a:ext cx="87325" cy="3943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602882" y="2574462"/>
            <a:ext cx="87325" cy="4122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690207" y="2531810"/>
            <a:ext cx="87325" cy="4265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777532" y="2488112"/>
            <a:ext cx="87326" cy="4369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6864858" y="2443757"/>
            <a:ext cx="87325" cy="443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6952183" y="2399138"/>
            <a:ext cx="87325" cy="446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039508" y="2354650"/>
            <a:ext cx="87325" cy="444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126833" y="2310690"/>
            <a:ext cx="87325" cy="4396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7214158" y="2267647"/>
            <a:ext cx="87326" cy="4304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7301484" y="2225903"/>
            <a:ext cx="87325" cy="4174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7388809" y="2185828"/>
            <a:ext cx="87325" cy="400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7476134" y="2147780"/>
            <a:ext cx="87325" cy="3804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7563459" y="2112094"/>
            <a:ext cx="87325" cy="3568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7650784" y="2079088"/>
            <a:ext cx="87326" cy="3300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7738110" y="2049055"/>
            <a:ext cx="87325" cy="300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7825435" y="2022261"/>
            <a:ext cx="87325" cy="2679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7912760" y="1998945"/>
            <a:ext cx="87325" cy="2331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000085" y="1979313"/>
            <a:ext cx="87325" cy="1963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087410" y="1963539"/>
            <a:ext cx="87326" cy="1577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174736" y="1951764"/>
            <a:ext cx="87325" cy="117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8262061" y="1944091"/>
            <a:ext cx="87325" cy="767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8349386" y="1940590"/>
            <a:ext cx="87325" cy="35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436711" y="1940590"/>
            <a:ext cx="87325" cy="7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524036" y="1941291"/>
            <a:ext cx="87326" cy="48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611362" y="1946188"/>
            <a:ext cx="87325" cy="904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698687" y="1955237"/>
            <a:ext cx="87325" cy="1312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8786012" y="1968359"/>
            <a:ext cx="87325" cy="1707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8873337" y="1985436"/>
            <a:ext cx="87325" cy="2088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8960662" y="2006317"/>
            <a:ext cx="87326" cy="2450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047988" y="2030817"/>
            <a:ext cx="87325" cy="279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135313" y="2058718"/>
            <a:ext cx="87325" cy="310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222638" y="2089773"/>
            <a:ext cx="87325" cy="339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309963" y="2123706"/>
            <a:ext cx="87325" cy="365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397288" y="2160216"/>
            <a:ext cx="87326" cy="3876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484614" y="2198979"/>
            <a:ext cx="87325" cy="4067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571939" y="2239650"/>
            <a:ext cx="87325" cy="422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9659264" y="2281869"/>
            <a:ext cx="87325" cy="4339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9746589" y="2325261"/>
            <a:ext cx="87325" cy="4417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9833914" y="2369440"/>
            <a:ext cx="87326" cy="445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1097280" y="4425696"/>
            <a:ext cx="950976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1188720" y="3767328"/>
            <a:ext cx="0" cy="132587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1216152" y="345643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692640" y="4544568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97280" y="3227832"/>
            <a:ext cx="9509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波形 B</a:t>
            </a:r>
          </a:p>
        </p:txBody>
      </p:sp>
      <p:cxnSp>
        <p:nvCxnSpPr>
          <p:cNvPr id="115" name="Connector 114"/>
          <p:cNvCxnSpPr/>
          <p:nvPr/>
        </p:nvCxnSpPr>
        <p:spPr>
          <a:xfrm flipV="1">
            <a:off x="1188720" y="4267506"/>
            <a:ext cx="87325" cy="10332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1276045" y="4169157"/>
            <a:ext cx="87325" cy="983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1363370" y="4080522"/>
            <a:ext cx="87325" cy="8863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1450695" y="4005871"/>
            <a:ext cx="87325" cy="7465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1538020" y="3948798"/>
            <a:ext cx="87326" cy="570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1625346" y="3912053"/>
            <a:ext cx="87325" cy="3674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1712671" y="3897406"/>
            <a:ext cx="87325" cy="146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1799996" y="3897406"/>
            <a:ext cx="87325" cy="815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1887321" y="3905562"/>
            <a:ext cx="87325" cy="3056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1974646" y="3936129"/>
            <a:ext cx="87326" cy="5150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2061972" y="3987633"/>
            <a:ext cx="87325" cy="6996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2149297" y="4057595"/>
            <a:ext cx="87325" cy="850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2236622" y="4142644"/>
            <a:ext cx="87325" cy="960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2323947" y="4238685"/>
            <a:ext cx="87325" cy="10240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2411272" y="4341090"/>
            <a:ext cx="87326" cy="10383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2498598" y="4444928"/>
            <a:ext cx="87325" cy="10026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2585923" y="4545197"/>
            <a:ext cx="87325" cy="9187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2673248" y="4637067"/>
            <a:ext cx="87325" cy="790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2760573" y="4716114"/>
            <a:ext cx="87325" cy="6241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2847898" y="4778530"/>
            <a:ext cx="87326" cy="4277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2935224" y="4821308"/>
            <a:ext cx="87325" cy="2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3022549" y="4840756"/>
            <a:ext cx="87325" cy="16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3109874" y="4816488"/>
            <a:ext cx="87325" cy="2426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3197199" y="4770755"/>
            <a:ext cx="87325" cy="457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3284524" y="4705759"/>
            <a:ext cx="87326" cy="6499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3371850" y="4624631"/>
            <a:ext cx="87325" cy="8112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3459175" y="4531278"/>
            <a:ext cx="87325" cy="9335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3546500" y="4430197"/>
            <a:ext cx="87325" cy="10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3633825" y="4326256"/>
            <a:ext cx="87325" cy="1039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3721150" y="4224463"/>
            <a:ext cx="87326" cy="10179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3808476" y="4129719"/>
            <a:ext cx="87325" cy="9474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3895801" y="4046589"/>
            <a:ext cx="87325" cy="831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3983126" y="3979077"/>
            <a:ext cx="87325" cy="6751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4070451" y="3930434"/>
            <a:ext cx="87325" cy="486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4157776" y="3903004"/>
            <a:ext cx="87326" cy="274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4245102" y="3898107"/>
            <a:ext cx="87325" cy="48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4332427" y="3898107"/>
            <a:ext cx="87325" cy="178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4419752" y="3915980"/>
            <a:ext cx="87325" cy="397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4507077" y="3955761"/>
            <a:ext cx="87325" cy="597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4594402" y="4015534"/>
            <a:ext cx="87326" cy="7688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4681728" y="4092422"/>
            <a:ext cx="87325" cy="902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4769053" y="4182719"/>
            <a:ext cx="87325" cy="9935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4856378" y="4282077"/>
            <a:ext cx="87325" cy="10363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4943703" y="4385709"/>
            <a:ext cx="87325" cy="10291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5031028" y="4488626"/>
            <a:ext cx="87326" cy="9724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5118354" y="4585868"/>
            <a:ext cx="87325" cy="8688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5205679" y="4672753"/>
            <a:ext cx="87325" cy="723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5293004" y="4745096"/>
            <a:ext cx="87325" cy="5431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5380329" y="4799411"/>
            <a:ext cx="87325" cy="3367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5467654" y="4833083"/>
            <a:ext cx="87326" cy="1140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5554980" y="4833083"/>
            <a:ext cx="87325" cy="1140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5642305" y="4799411"/>
            <a:ext cx="87325" cy="3367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5729630" y="4745096"/>
            <a:ext cx="87325" cy="5431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5816955" y="4672753"/>
            <a:ext cx="87325" cy="723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5904280" y="4585868"/>
            <a:ext cx="87326" cy="8688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5991606" y="4488626"/>
            <a:ext cx="87325" cy="9724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6078931" y="4385709"/>
            <a:ext cx="87325" cy="10291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6166256" y="4282077"/>
            <a:ext cx="87325" cy="10363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6253581" y="4182719"/>
            <a:ext cx="87325" cy="9935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6340906" y="4092422"/>
            <a:ext cx="87326" cy="902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6428232" y="4015534"/>
            <a:ext cx="87325" cy="7688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6515557" y="3955761"/>
            <a:ext cx="87325" cy="597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6602882" y="3915980"/>
            <a:ext cx="87325" cy="397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6690207" y="3898107"/>
            <a:ext cx="87325" cy="178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6777532" y="3898107"/>
            <a:ext cx="87326" cy="48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6864858" y="3903004"/>
            <a:ext cx="87325" cy="274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6952183" y="3930434"/>
            <a:ext cx="87325" cy="486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7039508" y="3979077"/>
            <a:ext cx="87325" cy="6751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7126833" y="4046589"/>
            <a:ext cx="87325" cy="831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7214158" y="4129719"/>
            <a:ext cx="87326" cy="9474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7301484" y="4224463"/>
            <a:ext cx="87325" cy="10179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7388809" y="4326256"/>
            <a:ext cx="87325" cy="1039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7476134" y="4430197"/>
            <a:ext cx="87325" cy="10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7563459" y="4531278"/>
            <a:ext cx="87325" cy="9335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7650784" y="4624631"/>
            <a:ext cx="87326" cy="8112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7738110" y="4705759"/>
            <a:ext cx="87325" cy="6499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7825435" y="4770755"/>
            <a:ext cx="87325" cy="457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7912760" y="4816488"/>
            <a:ext cx="87325" cy="2426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8000085" y="4840756"/>
            <a:ext cx="87325" cy="16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8087410" y="4821308"/>
            <a:ext cx="87326" cy="2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8174736" y="4778530"/>
            <a:ext cx="87325" cy="4277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8262061" y="4716114"/>
            <a:ext cx="87325" cy="6241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8349386" y="4637067"/>
            <a:ext cx="87325" cy="790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8436711" y="4545197"/>
            <a:ext cx="87325" cy="9187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8524036" y="4444928"/>
            <a:ext cx="87326" cy="10026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8611362" y="4341090"/>
            <a:ext cx="87325" cy="10383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8698687" y="4238685"/>
            <a:ext cx="87325" cy="10240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8786012" y="4142644"/>
            <a:ext cx="87325" cy="960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8873337" y="4057595"/>
            <a:ext cx="87325" cy="850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8960662" y="3987633"/>
            <a:ext cx="87326" cy="6996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9047988" y="3936129"/>
            <a:ext cx="87325" cy="5150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9135313" y="3905562"/>
            <a:ext cx="87325" cy="3056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9222638" y="3897406"/>
            <a:ext cx="87325" cy="815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9309963" y="3897406"/>
            <a:ext cx="87325" cy="146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9397288" y="3912053"/>
            <a:ext cx="87326" cy="3674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9484614" y="3948798"/>
            <a:ext cx="87325" cy="570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9571939" y="4005871"/>
            <a:ext cx="87325" cy="7465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9659264" y="4080522"/>
            <a:ext cx="87325" cy="8863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9746589" y="4169157"/>
            <a:ext cx="87325" cy="983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9833914" y="4267506"/>
            <a:ext cx="87326" cy="10332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TextBox 214"/>
          <p:cNvSpPr txBox="1"/>
          <p:nvPr/>
        </p:nvSpPr>
        <p:spPr>
          <a:xfrm>
            <a:off x="777240" y="5843016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拓展问题：少量离散样本，是否足以唯一确定连续信号？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可选拓展：编码和压缩不是同一件事。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声音编码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数据压缩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让连续声音能够用数字样本记录；也包括后续数据表示。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用更少的比特表达相同或近似相同的信息。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数字化、容器封装、压缩，是相关但不同的概念。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演示C：3 bit变4 bit，横向的点会变多吗？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" y="1536192"/>
            <a:ext cx="104241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保持采样时刻不变，只改变量化位数。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2578608"/>
            <a:ext cx="274320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3 bit：8个等级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877056" y="2258568"/>
            <a:ext cx="7205472" cy="0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877056" y="2453204"/>
            <a:ext cx="7205472" cy="0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77056" y="2647841"/>
            <a:ext cx="7205472" cy="0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877056" y="2842477"/>
            <a:ext cx="7205472" cy="0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877056" y="3037114"/>
            <a:ext cx="7205472" cy="0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877056" y="3231750"/>
            <a:ext cx="7205472" cy="0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877056" y="3426387"/>
            <a:ext cx="7205472" cy="0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877056" y="3621024"/>
            <a:ext cx="7205472" cy="0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3823106" y="2757271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723790" y="2520581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24474" y="2497858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25158" y="2702414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425842" y="3014421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26526" y="3251111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27210" y="3273833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127894" y="3069278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028578" y="2757271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" y="4343400"/>
            <a:ext cx="274320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4 bit：16个等级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877056" y="4023360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877056" y="4114190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877056" y="4205020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877056" y="4295851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877056" y="4386681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877056" y="4477512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877056" y="4568342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877056" y="4659172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877056" y="4750003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877056" y="4840833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877056" y="4931664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877056" y="5022494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877056" y="5113324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877056" y="5204155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77056" y="5294985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77056" y="5385816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3823106" y="4522063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723790" y="4285373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624474" y="4262650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525158" y="4467206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425842" y="4779213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326526" y="5015903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227210" y="5038625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127894" y="4834070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028578" y="4522063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0976" y="6007608"/>
            <a:ext cx="104241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灰点的时间位置不变；变化的是纵向可选等级。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演示B：把波形放大，能看见一个个采样点吗？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499616"/>
            <a:ext cx="104241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同一段录音：左边看整体，右边看极短的一段。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194560"/>
            <a:ext cx="493776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400" b="1">
                <a:solidFill>
                  <a:srgbClr val="262626"/>
                </a:solidFill>
                <a:latin typeface="Alibaba PuHuiTi 3.0 115 Black"/>
              </a:defRPr>
            </a:pPr>
            <a:r>
              <a:t>整段波形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2194560"/>
            <a:ext cx="512064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400" b="1">
                <a:solidFill>
                  <a:srgbClr val="262626"/>
                </a:solidFill>
                <a:latin typeface="Alibaba PuHuiTi 3.0 115 Black"/>
              </a:defRPr>
            </a:pPr>
            <a:r>
              <a:t>局部放大：真实样本点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04672" y="3794760"/>
            <a:ext cx="5029200" cy="0"/>
          </a:xfrm>
          <a:prstGeom prst="line">
            <a:avLst/>
          </a:prstGeom>
          <a:ln w="1778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50392" y="2889504"/>
            <a:ext cx="0" cy="1856232"/>
          </a:xfrm>
          <a:prstGeom prst="line">
            <a:avLst/>
          </a:prstGeom>
          <a:ln w="1397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04672" y="2459736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19472" y="39227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923544" y="3597279"/>
            <a:ext cx="46634" cy="828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970178" y="3517577"/>
            <a:ext cx="46634" cy="7970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016812" y="3442247"/>
            <a:ext cx="46635" cy="753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063447" y="3372475"/>
            <a:ext cx="46634" cy="69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110081" y="3309364"/>
            <a:ext cx="46635" cy="631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156716" y="3253907"/>
            <a:ext cx="46634" cy="554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203350" y="3206980"/>
            <a:ext cx="46634" cy="469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249984" y="3169323"/>
            <a:ext cx="46635" cy="376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296619" y="3141529"/>
            <a:ext cx="46634" cy="2779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343253" y="3124037"/>
            <a:ext cx="46635" cy="174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389888" y="3117122"/>
            <a:ext cx="46634" cy="6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436522" y="3117122"/>
            <a:ext cx="46634" cy="3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483156" y="3120894"/>
            <a:ext cx="46635" cy="144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529791" y="3135294"/>
            <a:ext cx="46634" cy="248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576425" y="3160094"/>
            <a:ext cx="46635" cy="348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623060" y="3194903"/>
            <a:ext cx="46634" cy="442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669694" y="3239172"/>
            <a:ext cx="46634" cy="5303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716328" y="3292203"/>
            <a:ext cx="46635" cy="6095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762963" y="3353159"/>
            <a:ext cx="46634" cy="6792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09597" y="3421080"/>
            <a:ext cx="46635" cy="738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856232" y="3494894"/>
            <a:ext cx="46634" cy="7854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902866" y="3573437"/>
            <a:ext cx="46634" cy="82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949500" y="3655470"/>
            <a:ext cx="46635" cy="842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996135" y="3739700"/>
            <a:ext cx="46634" cy="850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042769" y="3824799"/>
            <a:ext cx="46635" cy="8462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089404" y="3909423"/>
            <a:ext cx="46634" cy="828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136038" y="3992240"/>
            <a:ext cx="46634" cy="7970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182672" y="4071942"/>
            <a:ext cx="46635" cy="753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229307" y="4147272"/>
            <a:ext cx="46634" cy="69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275941" y="4217044"/>
            <a:ext cx="46635" cy="631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322576" y="4280155"/>
            <a:ext cx="46634" cy="554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369210" y="4335612"/>
            <a:ext cx="46634" cy="469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415844" y="4382539"/>
            <a:ext cx="46635" cy="376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462479" y="4420196"/>
            <a:ext cx="46634" cy="2779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509113" y="4447990"/>
            <a:ext cx="46635" cy="174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555748" y="4465482"/>
            <a:ext cx="46634" cy="6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2602382" y="4468625"/>
            <a:ext cx="46634" cy="3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2649016" y="4454225"/>
            <a:ext cx="46635" cy="144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2695651" y="4429425"/>
            <a:ext cx="46634" cy="248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2742285" y="4394616"/>
            <a:ext cx="46635" cy="348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2788920" y="4350347"/>
            <a:ext cx="46634" cy="442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2835554" y="4297316"/>
            <a:ext cx="46634" cy="5303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2882188" y="4236360"/>
            <a:ext cx="46635" cy="6095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2928823" y="4168439"/>
            <a:ext cx="46634" cy="6792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2975457" y="4094625"/>
            <a:ext cx="46634" cy="738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022091" y="4016082"/>
            <a:ext cx="46635" cy="7854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068726" y="3934049"/>
            <a:ext cx="46634" cy="82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115360" y="3849819"/>
            <a:ext cx="46635" cy="842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161995" y="3764720"/>
            <a:ext cx="46634" cy="850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208629" y="3680096"/>
            <a:ext cx="46634" cy="8462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255263" y="3597279"/>
            <a:ext cx="46635" cy="828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301898" y="3517577"/>
            <a:ext cx="46634" cy="7970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348532" y="3442247"/>
            <a:ext cx="46635" cy="753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395167" y="3372475"/>
            <a:ext cx="46634" cy="69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441801" y="3309364"/>
            <a:ext cx="46635" cy="631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3488436" y="3253907"/>
            <a:ext cx="46634" cy="554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3535070" y="3206980"/>
            <a:ext cx="46634" cy="469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3581704" y="3169323"/>
            <a:ext cx="46635" cy="376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3628339" y="3141529"/>
            <a:ext cx="46634" cy="2779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3674973" y="3124037"/>
            <a:ext cx="46634" cy="174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3721607" y="3117122"/>
            <a:ext cx="46635" cy="6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3768242" y="3117122"/>
            <a:ext cx="46634" cy="3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3814876" y="3120894"/>
            <a:ext cx="46635" cy="144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861511" y="3135294"/>
            <a:ext cx="46634" cy="248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908145" y="3160094"/>
            <a:ext cx="46635" cy="348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3954780" y="3194903"/>
            <a:ext cx="46634" cy="442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4001414" y="3239172"/>
            <a:ext cx="46634" cy="5303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4048048" y="3292203"/>
            <a:ext cx="46635" cy="6095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094683" y="3353159"/>
            <a:ext cx="46634" cy="6792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4141317" y="3421080"/>
            <a:ext cx="46634" cy="738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4187951" y="3494894"/>
            <a:ext cx="46635" cy="7854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4234586" y="3573437"/>
            <a:ext cx="46634" cy="82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4281220" y="3655470"/>
            <a:ext cx="46635" cy="842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4327855" y="3739700"/>
            <a:ext cx="46634" cy="850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4374489" y="3824799"/>
            <a:ext cx="46635" cy="8462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4421124" y="3909423"/>
            <a:ext cx="46634" cy="828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4467758" y="3992240"/>
            <a:ext cx="46634" cy="7970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4514392" y="4071942"/>
            <a:ext cx="46635" cy="753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561027" y="4147272"/>
            <a:ext cx="46634" cy="69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4607661" y="4217044"/>
            <a:ext cx="46635" cy="631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4654296" y="4280155"/>
            <a:ext cx="46634" cy="554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4700930" y="4335612"/>
            <a:ext cx="46634" cy="469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4747564" y="4382539"/>
            <a:ext cx="46635" cy="376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4794199" y="4420196"/>
            <a:ext cx="46634" cy="2779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4840833" y="4447990"/>
            <a:ext cx="46635" cy="174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4887468" y="4465482"/>
            <a:ext cx="46634" cy="6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4934102" y="4468625"/>
            <a:ext cx="46634" cy="3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4980736" y="4454225"/>
            <a:ext cx="46635" cy="144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5027371" y="4429425"/>
            <a:ext cx="46634" cy="248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5074005" y="4394616"/>
            <a:ext cx="46635" cy="348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5120640" y="4350347"/>
            <a:ext cx="46634" cy="442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5167274" y="4297316"/>
            <a:ext cx="46634" cy="5303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5213908" y="4236360"/>
            <a:ext cx="46635" cy="6095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5260543" y="4168439"/>
            <a:ext cx="46634" cy="6792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5307177" y="4094625"/>
            <a:ext cx="46635" cy="738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5353812" y="4016082"/>
            <a:ext cx="46634" cy="7854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5400446" y="3934049"/>
            <a:ext cx="46634" cy="82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5447080" y="3849819"/>
            <a:ext cx="46635" cy="842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5493715" y="3764720"/>
            <a:ext cx="46634" cy="850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5540349" y="3680096"/>
            <a:ext cx="46634" cy="8462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6446520" y="3794760"/>
            <a:ext cx="4892039" cy="0"/>
          </a:xfrm>
          <a:prstGeom prst="line">
            <a:avLst/>
          </a:prstGeom>
          <a:ln w="1778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6492240" y="2889504"/>
            <a:ext cx="0" cy="1856232"/>
          </a:xfrm>
          <a:prstGeom prst="line">
            <a:avLst/>
          </a:prstGeom>
          <a:ln w="1397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6446520" y="2459736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424159" y="39227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116" name="Connector 115"/>
          <p:cNvCxnSpPr/>
          <p:nvPr/>
        </p:nvCxnSpPr>
        <p:spPr>
          <a:xfrm flipV="1">
            <a:off x="6565392" y="3621856"/>
            <a:ext cx="45262" cy="5824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6610654" y="3564953"/>
            <a:ext cx="45263" cy="5690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6655917" y="3509827"/>
            <a:ext cx="45263" cy="5512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6701180" y="3456905"/>
            <a:ext cx="45263" cy="5292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6746443" y="3406595"/>
            <a:ext cx="45262" cy="5031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6791705" y="3359287"/>
            <a:ext cx="45263" cy="473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6836968" y="3315346"/>
            <a:ext cx="45263" cy="439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6882231" y="3275112"/>
            <a:ext cx="45263" cy="4023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6927494" y="3238897"/>
            <a:ext cx="45263" cy="362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6972757" y="3206980"/>
            <a:ext cx="45263" cy="319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7018020" y="3179608"/>
            <a:ext cx="45262" cy="273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7063282" y="3156993"/>
            <a:ext cx="45263" cy="22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7108545" y="3139310"/>
            <a:ext cx="45263" cy="1768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7153808" y="3126695"/>
            <a:ext cx="45263" cy="12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7199071" y="3119246"/>
            <a:ext cx="45262" cy="744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7244333" y="3117021"/>
            <a:ext cx="45263" cy="222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7289596" y="3117021"/>
            <a:ext cx="45263" cy="301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7334859" y="3120037"/>
            <a:ext cx="45263" cy="82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7380122" y="3128270"/>
            <a:ext cx="45263" cy="1338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7425385" y="3141657"/>
            <a:ext cx="45263" cy="1843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7470648" y="3160094"/>
            <a:ext cx="45262" cy="233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7515910" y="3183439"/>
            <a:ext cx="45263" cy="280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7561173" y="3211511"/>
            <a:ext cx="45263" cy="3258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7606436" y="3244093"/>
            <a:ext cx="45263" cy="368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7651699" y="3280934"/>
            <a:ext cx="45263" cy="408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7696962" y="3321747"/>
            <a:ext cx="45262" cy="444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7742224" y="3366219"/>
            <a:ext cx="45263" cy="477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7787487" y="3414004"/>
            <a:ext cx="45263" cy="507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7832750" y="3464734"/>
            <a:ext cx="45263" cy="532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7878013" y="3518015"/>
            <a:ext cx="45262" cy="5542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7923275" y="3573437"/>
            <a:ext cx="45263" cy="571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7968538" y="3630570"/>
            <a:ext cx="45263" cy="5840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8013801" y="3688973"/>
            <a:ext cx="45263" cy="5922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8059064" y="3748193"/>
            <a:ext cx="45263" cy="595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8104327" y="3807774"/>
            <a:ext cx="45263" cy="594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8149590" y="3867254"/>
            <a:ext cx="45262" cy="5892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8194852" y="3926174"/>
            <a:ext cx="45263" cy="5790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8240115" y="3984077"/>
            <a:ext cx="45263" cy="5643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8285378" y="4040516"/>
            <a:ext cx="45263" cy="5453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8330641" y="4095055"/>
            <a:ext cx="45263" cy="522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8375904" y="4147272"/>
            <a:ext cx="45262" cy="4949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8421166" y="4196763"/>
            <a:ext cx="45263" cy="4638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8466429" y="4243146"/>
            <a:ext cx="45263" cy="42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8511692" y="4286061"/>
            <a:ext cx="45263" cy="3911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8556955" y="4325177"/>
            <a:ext cx="45262" cy="350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8602217" y="4360191"/>
            <a:ext cx="45263" cy="3064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8647480" y="4390833"/>
            <a:ext cx="45263" cy="26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8692743" y="4416866"/>
            <a:ext cx="45263" cy="2122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8738006" y="4438088"/>
            <a:ext cx="45263" cy="1624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8783269" y="4454335"/>
            <a:ext cx="45263" cy="1114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8828532" y="4465482"/>
            <a:ext cx="45262" cy="59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8873794" y="4471443"/>
            <a:ext cx="45263" cy="7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8919057" y="4467660"/>
            <a:ext cx="45263" cy="45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8964320" y="4457946"/>
            <a:ext cx="45263" cy="97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9009583" y="4443104"/>
            <a:ext cx="45263" cy="1484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9054846" y="4423249"/>
            <a:ext cx="45262" cy="198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9100108" y="4398533"/>
            <a:ext cx="45263" cy="2471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9145371" y="4369149"/>
            <a:ext cx="45263" cy="2938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9190634" y="4335323"/>
            <a:ext cx="45263" cy="3382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9235897" y="4297316"/>
            <a:ext cx="45262" cy="380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9281159" y="4255424"/>
            <a:ext cx="45263" cy="418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9326422" y="4209970"/>
            <a:ext cx="45263" cy="4545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9371685" y="4161304"/>
            <a:ext cx="45263" cy="4866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9416948" y="4109805"/>
            <a:ext cx="45263" cy="514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9462211" y="4055869"/>
            <a:ext cx="45263" cy="5393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9507474" y="3999914"/>
            <a:ext cx="45262" cy="559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9552736" y="3942373"/>
            <a:ext cx="45263" cy="575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9597999" y="3883690"/>
            <a:ext cx="45263" cy="5868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9643262" y="3824319"/>
            <a:ext cx="45263" cy="5937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9688525" y="3764720"/>
            <a:ext cx="45263" cy="595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9733788" y="3705353"/>
            <a:ext cx="45262" cy="59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9779050" y="3646678"/>
            <a:ext cx="45263" cy="5867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9824313" y="3589148"/>
            <a:ext cx="45263" cy="575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9869576" y="3533207"/>
            <a:ext cx="45263" cy="559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9914839" y="3479289"/>
            <a:ext cx="45262" cy="5391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9960101" y="3427811"/>
            <a:ext cx="45263" cy="5147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10005364" y="3379170"/>
            <a:ext cx="45263" cy="486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10050627" y="3333743"/>
            <a:ext cx="45263" cy="454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10095890" y="3291881"/>
            <a:ext cx="45263" cy="4186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10141153" y="3253907"/>
            <a:ext cx="45262" cy="379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10186415" y="3220116"/>
            <a:ext cx="45263" cy="3379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10231678" y="3190768"/>
            <a:ext cx="45263" cy="2934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10276941" y="3166091"/>
            <a:ext cx="45263" cy="2467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10322204" y="3146275"/>
            <a:ext cx="45263" cy="1981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10367467" y="3131474"/>
            <a:ext cx="45263" cy="148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10412730" y="3121802"/>
            <a:ext cx="45262" cy="96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10457992" y="3117333"/>
            <a:ext cx="45263" cy="44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10503255" y="3117333"/>
            <a:ext cx="45263" cy="7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10548518" y="3118103"/>
            <a:ext cx="45263" cy="600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10593781" y="3124106"/>
            <a:ext cx="45262" cy="1118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10639043" y="3135294"/>
            <a:ext cx="45263" cy="1628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10684306" y="3151582"/>
            <a:ext cx="45263" cy="2126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10729569" y="3172844"/>
            <a:ext cx="45263" cy="260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10774832" y="3198914"/>
            <a:ext cx="45263" cy="3067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10820095" y="3229592"/>
            <a:ext cx="45262" cy="3504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10865357" y="3264641"/>
            <a:ext cx="45263" cy="3914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10910620" y="3303789"/>
            <a:ext cx="45263" cy="4294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10955883" y="3346733"/>
            <a:ext cx="45263" cy="464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11001146" y="3393142"/>
            <a:ext cx="45263" cy="495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11046409" y="3442657"/>
            <a:ext cx="45263" cy="5223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" name="Oval 215"/>
          <p:cNvSpPr/>
          <p:nvPr/>
        </p:nvSpPr>
        <p:spPr>
          <a:xfrm>
            <a:off x="6507784" y="3622488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6809536" y="3271990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7111288" y="3076929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7413040" y="3102487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7714792" y="3340123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8016544" y="3710429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8318296" y="4089665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8620048" y="4351107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8921800" y="4407390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9223552" y="4239709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9525304" y="3904095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9827056" y="3512695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0128808" y="3196300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0430560" y="3060634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0732312" y="3151032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877824" y="5458968"/>
            <a:ext cx="1051560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先预测：放大到足够短的时间，会出现什么？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演示A：听声音，波形上的红线如何移动？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517904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先预测：红色光标向右，表示声音向右传播吗？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41832" y="3712464"/>
            <a:ext cx="10222992" cy="0"/>
          </a:xfrm>
          <a:prstGeom prst="line">
            <a:avLst/>
          </a:prstGeom>
          <a:ln w="1778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87552" y="2523744"/>
            <a:ext cx="0" cy="2423160"/>
          </a:xfrm>
          <a:prstGeom prst="line">
            <a:avLst/>
          </a:prstGeom>
          <a:ln w="1397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41832" y="2093976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50424" y="3840480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060704" y="3458819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159276" y="3356450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257848" y="3259695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56420" y="3170080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54993" y="3089019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53565" y="3017791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52137" y="2957517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50710" y="290915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49282" y="2873451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7854" y="2850984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46427" y="2842104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144999" y="2842104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243571" y="2846949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42144" y="2865444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40716" y="2897297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39288" y="2942005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37861" y="2998864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36433" y="306697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35005" y="3145270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33578" y="3232508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2150" y="3327315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30722" y="3428196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9295" y="3533560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27867" y="3641745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26439" y="3751046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25012" y="3859738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623584" y="3966108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722156" y="4068477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820728" y="4165232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919301" y="4254847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017873" y="4335908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116445" y="4407136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215018" y="446741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313590" y="4515777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412162" y="4551476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510735" y="4573943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609307" y="4577978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707879" y="4559483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806452" y="4527630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905024" y="4482922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5003596" y="4426063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5102169" y="4357950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200741" y="427965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299313" y="4192419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397886" y="4097612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496458" y="3996731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595030" y="3891367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693603" y="3783182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792175" y="3673881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890747" y="3565189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989320" y="3458819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6087892" y="3356450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186464" y="3259695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285036" y="3170080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383609" y="3089019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482181" y="3017791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580753" y="2957517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679326" y="290915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777898" y="2873451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876470" y="2850984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975043" y="2842104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7073615" y="2842104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7172187" y="2846949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7270760" y="2865444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7369332" y="2897297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7467904" y="2942005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7566477" y="2998864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665049" y="306697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763621" y="3145270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862194" y="3232508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960766" y="3327315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8059338" y="3428196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8157911" y="3533560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8256483" y="3641745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355055" y="3751046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453628" y="3859738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552200" y="3966108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650772" y="4068477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749344" y="4165232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847917" y="4254847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946489" y="4335908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9045061" y="4407136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9143634" y="446741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9242206" y="4515777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340778" y="4551476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439351" y="4573943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9537923" y="4577978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9636495" y="4559483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9735068" y="4527630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9833640" y="4482922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9932212" y="4426063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10030785" y="4357950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10129357" y="427965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10227929" y="4192419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10326502" y="4097612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425074" y="3996731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523646" y="3891367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622219" y="3783182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720791" y="3673881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819363" y="3565189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6638544" y="2587752"/>
            <a:ext cx="0" cy="2286000"/>
          </a:xfrm>
          <a:prstGeom prst="line">
            <a:avLst/>
          </a:prstGeom>
          <a:ln w="4064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914400" y="5330952"/>
            <a:ext cx="576072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▶ 由教室浏览器播放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726679" y="5330952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时间继续向右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声音编码与数据压缩 v6｜两课时课堂版</dc:title>
  <dc:subject>高中信息科技：声音数字化、音频与视频数据量、无损和有损压缩</dc:subject>
  <dc:creator/>
  <cp:keywords>采样,量化,编码,PCM,声道,音轨,数据压缩,冗余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
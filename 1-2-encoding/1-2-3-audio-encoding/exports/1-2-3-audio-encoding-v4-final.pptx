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5790a3d970b4311" /><Relationship Type="http://schemas.openxmlformats.org/officeDocument/2006/relationships/extended-properties" Target="/docProps/app.xml" Id="R04c1b405bb014f2e" /><Relationship Type="http://schemas.openxmlformats.org/officeDocument/2006/relationships/officeDocument" Target="/ppt/presentation.xml" Id="R39756baaf5f0439e" 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a8bd4a824087444d"/>
  </p:sldMasterIdLst>
  <p:notesMasterIdLst>
    <p:notesMasterId r:id="Redee299a5f4d451b"/>
  </p:notesMasterIdLst>
  <p:sldIdLst>
    <p:sldId id="256" r:id="Rd2c1bd9d6cd744ee"/>
    <p:sldId id="257" r:id="R7974e0d0a1704a8f"/>
    <p:sldId id="258" r:id="R5d98537fdb7a442e"/>
    <p:sldId id="259" r:id="Rd73b4037d5c64d3f"/>
    <p:sldId id="260" r:id="R956253235fa44266"/>
    <p:sldId id="261" r:id="R4f7c83723fcd4e10"/>
    <p:sldId id="262" r:id="R23e9a2a20a2841e5"/>
    <p:sldId id="263" r:id="R08989b2a91534dfe"/>
    <p:sldId id="264" r:id="R2df8c8f9fb4548e7"/>
    <p:sldId id="265" r:id="Rd01474573409406d"/>
    <p:sldId id="266" r:id="R68481ce0b4314636"/>
    <p:sldId id="267" r:id="R22e0a982f7af46c6"/>
    <p:sldId id="268" r:id="R1211f08f2c4c4517"/>
    <p:sldId id="269" r:id="R2554fd5f1153411d"/>
    <p:sldId id="270" r:id="R7478910069184fb5"/>
    <p:sldId id="271" r:id="Ra1b4cde54c3846a6"/>
    <p:sldId id="272" r:id="R25d09aaba5cd40bc"/>
    <p:sldId id="273" r:id="R7e323e9a6ac947a7"/>
    <p:sldId id="274" r:id="Ra25220c4325e4e95"/>
    <p:sldId id="275" r:id="Rbc4f26c3a12141b1"/>
    <p:sldId id="276" r:id="Rf9dbc2dac5794624"/>
    <p:sldId id="277" r:id="R0e1c55b126bc4475"/>
    <p:sldId id="278" r:id="Rb27751440f6d470f"/>
    <p:sldId id="279" r:id="Rdf6bd01cd6f24c4e"/>
    <p:sldId id="280" r:id="R7697b2262b2248cc"/>
    <p:sldId id="281" r:id="Rf83a59297c624e0b"/>
    <p:sldId id="282" r:id="Rcc4eac7b424247c8"/>
    <p:sldId id="283" r:id="R2a2d159edf894d22"/>
    <p:sldId id="284" r:id="R4be94dfbecf74036"/>
    <p:sldId id="285" r:id="Rc567ff409e674b5a"/>
    <p:sldId id="286" r:id="R71b559d5d31c4f8e"/>
    <p:sldId id="287" r:id="R0846bd1bdc8a4775"/>
    <p:sldId id="288" r:id="R661a87f3cf2740a8"/>
    <p:sldId id="289" r:id="R1f76f1d360a34016"/>
    <p:sldId id="290" r:id="R6bbd9559f7bb4eaa"/>
    <p:sldId id="291" r:id="R8d3d8afb4fc3443a"/>
    <p:sldId id="292" r:id="R560d4516a0f949a7"/>
    <p:sldId id="293" r:id="R5ae7c2e3c9ac4ed2"/>
    <p:sldId id="294" r:id="Re33306584e9c4e45"/>
    <p:sldId id="295" r:id="R2e33d44241954a85"/>
    <p:sldId id="296" r:id="R83e8ab7624164772"/>
    <p:sldId id="297" r:id="R3fb538d32e68476d"/>
    <p:sldId id="298" r:id="Rf42efdbe8dbd4b5f"/>
    <p:sldId id="299" r:id="R955614ef60284f5a"/>
    <p:sldId id="300" r:id="Rdaa089e02501405a"/>
    <p:sldId id="301" r:id="R3ebe0f0cbf90467a"/>
    <p:sldId id="302" r:id="R7264f20bb87e4076"/>
    <p:sldId id="303" r:id="R04119da611624d39"/>
    <p:sldId id="304" r:id="R9dbf01476d2b40ad"/>
    <p:sldId id="305" r:id="R2bc7a5068c1b4a8f"/>
    <p:sldId id="306" r:id="R31a4ed56831f4fe1"/>
    <p:sldId id="307" r:id="Ra6c5dc8c56844a7a"/>
    <p:sldId id="308" r:id="R493af7e7d46c426e"/>
    <p:sldId id="309" r:id="R27f78eb54f4a43dc"/>
    <p:sldId id="310" r:id="R9b94cd4547f04a66"/>
    <p:sldId id="311" r:id="Rc4acc7c66c70420a"/>
    <p:sldId id="312" r:id="R089f01e25e794e80"/>
    <p:sldId id="313" r:id="R5bafc6c6b5e84550"/>
    <p:sldId id="314" r:id="R85c99942e6704805"/>
    <p:sldId id="315" r:id="R170048fed5ba437f"/>
    <p:sldId id="316" r:id="R1f4287b086cc4319"/>
    <p:sldId id="317" r:id="Ra658a947b35745d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3685f28164d4bf9" /><Relationship Type="http://schemas.openxmlformats.org/officeDocument/2006/relationships/slideMaster" Target="/ppt/slideMasters/slideMaster1.xml" Id="Ra8bd4a824087444d" /><Relationship Type="http://schemas.openxmlformats.org/officeDocument/2006/relationships/notesMaster" Target="/ppt/notesMasters/notesMaster1.xml" Id="Redee299a5f4d451b" /><Relationship Type="http://schemas.openxmlformats.org/officeDocument/2006/relationships/presProps" Target="/ppt/presProps.xml" Id="R4e3db29173404b8d" /><Relationship Type="http://schemas.openxmlformats.org/officeDocument/2006/relationships/tableStyles" Target="/ppt/tableStyles.xml" Id="Ra393ff9225de4730" /><Relationship Type="http://schemas.openxmlformats.org/officeDocument/2006/relationships/slide" Target="/ppt/slides/slide1.xml" Id="Rd2c1bd9d6cd744ee" /><Relationship Type="http://schemas.openxmlformats.org/officeDocument/2006/relationships/slide" Target="/ppt/slides/slide2.xml" Id="R7974e0d0a1704a8f" /><Relationship Type="http://schemas.openxmlformats.org/officeDocument/2006/relationships/slide" Target="/ppt/slides/slide3.xml" Id="R5d98537fdb7a442e" /><Relationship Type="http://schemas.openxmlformats.org/officeDocument/2006/relationships/slide" Target="/ppt/slides/slide4.xml" Id="Rd73b4037d5c64d3f" /><Relationship Type="http://schemas.openxmlformats.org/officeDocument/2006/relationships/slide" Target="/ppt/slides/slide5.xml" Id="R956253235fa44266" /><Relationship Type="http://schemas.openxmlformats.org/officeDocument/2006/relationships/slide" Target="/ppt/slides/slide6.xml" Id="R4f7c83723fcd4e10" /><Relationship Type="http://schemas.openxmlformats.org/officeDocument/2006/relationships/slide" Target="/ppt/slides/slide7.xml" Id="R23e9a2a20a2841e5" /><Relationship Type="http://schemas.openxmlformats.org/officeDocument/2006/relationships/slide" Target="/ppt/slides/slide8.xml" Id="R08989b2a91534dfe" /><Relationship Type="http://schemas.openxmlformats.org/officeDocument/2006/relationships/slide" Target="/ppt/slides/slide9.xml" Id="R2df8c8f9fb4548e7" /><Relationship Type="http://schemas.openxmlformats.org/officeDocument/2006/relationships/slide" Target="/ppt/slides/slide10.xml" Id="Rd01474573409406d" /><Relationship Type="http://schemas.openxmlformats.org/officeDocument/2006/relationships/slide" Target="/ppt/slides/slide11.xml" Id="R68481ce0b4314636" /><Relationship Type="http://schemas.openxmlformats.org/officeDocument/2006/relationships/slide" Target="/ppt/slides/slide12.xml" Id="R22e0a982f7af46c6" /><Relationship Type="http://schemas.openxmlformats.org/officeDocument/2006/relationships/slide" Target="/ppt/slides/slide13.xml" Id="R1211f08f2c4c4517" /><Relationship Type="http://schemas.openxmlformats.org/officeDocument/2006/relationships/slide" Target="/ppt/slides/slide14.xml" Id="R2554fd5f1153411d" /><Relationship Type="http://schemas.openxmlformats.org/officeDocument/2006/relationships/slide" Target="/ppt/slides/slide15.xml" Id="R7478910069184fb5" /><Relationship Type="http://schemas.openxmlformats.org/officeDocument/2006/relationships/slide" Target="/ppt/slides/slide16.xml" Id="Ra1b4cde54c3846a6" /><Relationship Type="http://schemas.openxmlformats.org/officeDocument/2006/relationships/slide" Target="/ppt/slides/slide17.xml" Id="R25d09aaba5cd40bc" /><Relationship Type="http://schemas.openxmlformats.org/officeDocument/2006/relationships/slide" Target="/ppt/slides/slide18.xml" Id="R7e323e9a6ac947a7" /><Relationship Type="http://schemas.openxmlformats.org/officeDocument/2006/relationships/slide" Target="/ppt/slides/slide19.xml" Id="Ra25220c4325e4e95" /><Relationship Type="http://schemas.openxmlformats.org/officeDocument/2006/relationships/slide" Target="/ppt/slides/slide20.xml" Id="Rbc4f26c3a12141b1" /><Relationship Type="http://schemas.openxmlformats.org/officeDocument/2006/relationships/slide" Target="/ppt/slides/slide21.xml" Id="Rf9dbc2dac5794624" /><Relationship Type="http://schemas.openxmlformats.org/officeDocument/2006/relationships/slide" Target="/ppt/slides/slide22.xml" Id="R0e1c55b126bc4475" /><Relationship Type="http://schemas.openxmlformats.org/officeDocument/2006/relationships/slide" Target="/ppt/slides/slide23.xml" Id="Rb27751440f6d470f" /><Relationship Type="http://schemas.openxmlformats.org/officeDocument/2006/relationships/slide" Target="/ppt/slides/slide24.xml" Id="Rdf6bd01cd6f24c4e" /><Relationship Type="http://schemas.openxmlformats.org/officeDocument/2006/relationships/slide" Target="/ppt/slides/slide25.xml" Id="R7697b2262b2248cc" /><Relationship Type="http://schemas.openxmlformats.org/officeDocument/2006/relationships/slide" Target="/ppt/slides/slide26.xml" Id="Rf83a59297c624e0b" /><Relationship Type="http://schemas.openxmlformats.org/officeDocument/2006/relationships/slide" Target="/ppt/slides/slide27.xml" Id="Rcc4eac7b424247c8" /><Relationship Type="http://schemas.openxmlformats.org/officeDocument/2006/relationships/slide" Target="/ppt/slides/slide28.xml" Id="R2a2d159edf894d22" /><Relationship Type="http://schemas.openxmlformats.org/officeDocument/2006/relationships/slide" Target="/ppt/slides/slide29.xml" Id="R4be94dfbecf74036" /><Relationship Type="http://schemas.openxmlformats.org/officeDocument/2006/relationships/slide" Target="/ppt/slides/slide30.xml" Id="Rc567ff409e674b5a" /><Relationship Type="http://schemas.openxmlformats.org/officeDocument/2006/relationships/slide" Target="/ppt/slides/slide31.xml" Id="R71b559d5d31c4f8e" /><Relationship Type="http://schemas.openxmlformats.org/officeDocument/2006/relationships/slide" Target="/ppt/slides/slide32.xml" Id="R0846bd1bdc8a4775" /><Relationship Type="http://schemas.openxmlformats.org/officeDocument/2006/relationships/slide" Target="/ppt/slides/slide33.xml" Id="R661a87f3cf2740a8" /><Relationship Type="http://schemas.openxmlformats.org/officeDocument/2006/relationships/slide" Target="/ppt/slides/slide34.xml" Id="R1f76f1d360a34016" /><Relationship Type="http://schemas.openxmlformats.org/officeDocument/2006/relationships/slide" Target="/ppt/slides/slide35.xml" Id="R6bbd9559f7bb4eaa" /><Relationship Type="http://schemas.openxmlformats.org/officeDocument/2006/relationships/slide" Target="/ppt/slides/slide36.xml" Id="R8d3d8afb4fc3443a" /><Relationship Type="http://schemas.openxmlformats.org/officeDocument/2006/relationships/slide" Target="/ppt/slides/slide37.xml" Id="R560d4516a0f949a7" /><Relationship Type="http://schemas.openxmlformats.org/officeDocument/2006/relationships/slide" Target="/ppt/slides/slide38.xml" Id="R5ae7c2e3c9ac4ed2" /><Relationship Type="http://schemas.openxmlformats.org/officeDocument/2006/relationships/slide" Target="/ppt/slides/slide39.xml" Id="Re33306584e9c4e45" /><Relationship Type="http://schemas.openxmlformats.org/officeDocument/2006/relationships/slide" Target="/ppt/slides/slide40.xml" Id="R2e33d44241954a85" /><Relationship Type="http://schemas.openxmlformats.org/officeDocument/2006/relationships/slide" Target="/ppt/slides/slide41.xml" Id="R83e8ab7624164772" /><Relationship Type="http://schemas.openxmlformats.org/officeDocument/2006/relationships/slide" Target="/ppt/slides/slide42.xml" Id="R3fb538d32e68476d" /><Relationship Type="http://schemas.openxmlformats.org/officeDocument/2006/relationships/slide" Target="/ppt/slides/slide43.xml" Id="Rf42efdbe8dbd4b5f" /><Relationship Type="http://schemas.openxmlformats.org/officeDocument/2006/relationships/slide" Target="/ppt/slides/slide44.xml" Id="R955614ef60284f5a" /><Relationship Type="http://schemas.openxmlformats.org/officeDocument/2006/relationships/slide" Target="/ppt/slides/slide45.xml" Id="Rdaa089e02501405a" /><Relationship Type="http://schemas.openxmlformats.org/officeDocument/2006/relationships/slide" Target="/ppt/slides/slide46.xml" Id="R3ebe0f0cbf90467a" /><Relationship Type="http://schemas.openxmlformats.org/officeDocument/2006/relationships/slide" Target="/ppt/slides/slide47.xml" Id="R7264f20bb87e4076" /><Relationship Type="http://schemas.openxmlformats.org/officeDocument/2006/relationships/slide" Target="/ppt/slides/slide48.xml" Id="R04119da611624d39" /><Relationship Type="http://schemas.openxmlformats.org/officeDocument/2006/relationships/slide" Target="/ppt/slides/slide49.xml" Id="R9dbf01476d2b40ad" /><Relationship Type="http://schemas.openxmlformats.org/officeDocument/2006/relationships/slide" Target="/ppt/slides/slide50.xml" Id="R2bc7a5068c1b4a8f" /><Relationship Type="http://schemas.openxmlformats.org/officeDocument/2006/relationships/slide" Target="/ppt/slides/slide51.xml" Id="R31a4ed56831f4fe1" /><Relationship Type="http://schemas.openxmlformats.org/officeDocument/2006/relationships/slide" Target="/ppt/slides/slide52.xml" Id="Ra6c5dc8c56844a7a" /><Relationship Type="http://schemas.openxmlformats.org/officeDocument/2006/relationships/slide" Target="/ppt/slides/slide53.xml" Id="R493af7e7d46c426e" /><Relationship Type="http://schemas.openxmlformats.org/officeDocument/2006/relationships/slide" Target="/ppt/slides/slide54.xml" Id="R27f78eb54f4a43dc" /><Relationship Type="http://schemas.openxmlformats.org/officeDocument/2006/relationships/slide" Target="/ppt/slides/slide55.xml" Id="R9b94cd4547f04a66" /><Relationship Type="http://schemas.openxmlformats.org/officeDocument/2006/relationships/slide" Target="/ppt/slides/slide56.xml" Id="Rc4acc7c66c70420a" /><Relationship Type="http://schemas.openxmlformats.org/officeDocument/2006/relationships/slide" Target="/ppt/slides/slide57.xml" Id="R089f01e25e794e80" /><Relationship Type="http://schemas.openxmlformats.org/officeDocument/2006/relationships/slide" Target="/ppt/slides/slide58.xml" Id="R5bafc6c6b5e84550" /><Relationship Type="http://schemas.openxmlformats.org/officeDocument/2006/relationships/slide" Target="/ppt/slides/slide59.xml" Id="R85c99942e6704805" /><Relationship Type="http://schemas.openxmlformats.org/officeDocument/2006/relationships/slide" Target="/ppt/slides/slide60.xml" Id="R170048fed5ba437f" /><Relationship Type="http://schemas.openxmlformats.org/officeDocument/2006/relationships/slide" Target="/ppt/slides/slide61.xml" Id="R1f4287b086cc4319" /><Relationship Type="http://schemas.openxmlformats.org/officeDocument/2006/relationships/slide" Target="/ppt/slides/slide62.xml" Id="Ra658a947b35745d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0a6065382b3411d" /></Relationships>
</file>

<file path=ppt/notesMasters/notesMaster1.xml><?xml version="1.0" encoding="utf-8"?>
<p:notesMaster xmlns:a="http://schemas.openxmlformats.org/drawingml/2006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/>
      </p:grpSpPr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latin typeface="Alibaba PuHuiTi 3.0 55 Regular"/>
        <a:ea typeface="Alibaba PuHuiTi 3.0 55 Regular"/>
        <a:cs typeface="Alibaba PuHuiTi 3.0 55 Regular"/>
      </a:defRPr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libaba PuHuiTi 3.0 115 Black"/>
        <a:ea typeface="Alibaba PuHuiTi 3.0 115 Black"/>
        <a:cs typeface="Alibaba PuHuiTi 3.0 115 Black"/>
      </a:majorFont>
      <a:minorFont>
        <a:latin typeface="Alibaba PuHuiTi 3.0 55 Regular"/>
        <a:ea typeface="Alibaba PuHuiTi 3.0 55 Regular"/>
        <a:cs typeface="Alibaba PuHuiTi 3.0 55 Regular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e340881252a4ac1" /><Relationship Type="http://schemas.openxmlformats.org/officeDocument/2006/relationships/notesMaster" Target="/ppt/notesMasters/notesMaster1.xml" Id="Rb5d2dee92287400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5ecd76a057c49da" /><Relationship Type="http://schemas.openxmlformats.org/officeDocument/2006/relationships/notesMaster" Target="/ppt/notesMasters/notesMaster1.xml" Id="Rf7d672f09355490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a37ffaaf3da47d3" /><Relationship Type="http://schemas.openxmlformats.org/officeDocument/2006/relationships/notesMaster" Target="/ppt/notesMasters/notesMaster1.xml" Id="R1ee876a9b126446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08bbc5a4dd048ea" /><Relationship Type="http://schemas.openxmlformats.org/officeDocument/2006/relationships/notesMaster" Target="/ppt/notesMasters/notesMaster1.xml" Id="R51d128cc37fa4d9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037fee0fc8e4f08" /><Relationship Type="http://schemas.openxmlformats.org/officeDocument/2006/relationships/notesMaster" Target="/ppt/notesMasters/notesMaster1.xml" Id="Rd60ecb23d7034d1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bea4e4fde094c40" /><Relationship Type="http://schemas.openxmlformats.org/officeDocument/2006/relationships/notesMaster" Target="/ppt/notesMasters/notesMaster1.xml" Id="R1b66408169c44c4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260888f72b9432a" /><Relationship Type="http://schemas.openxmlformats.org/officeDocument/2006/relationships/notesMaster" Target="/ppt/notesMasters/notesMaster1.xml" Id="Rb96a199df5bd437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4b1ce1773254a5c" /><Relationship Type="http://schemas.openxmlformats.org/officeDocument/2006/relationships/notesMaster" Target="/ppt/notesMasters/notesMaster1.xml" Id="R19c91d02f30a4a5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cb26399949644a3" /><Relationship Type="http://schemas.openxmlformats.org/officeDocument/2006/relationships/notesMaster" Target="/ppt/notesMasters/notesMaster1.xml" Id="R70b8e437ca90489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0dc258f3fc94682" /><Relationship Type="http://schemas.openxmlformats.org/officeDocument/2006/relationships/notesMaster" Target="/ppt/notesMasters/notesMaster1.xml" Id="R03fbd278ebfb4db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0b979dcc2454f99" /><Relationship Type="http://schemas.openxmlformats.org/officeDocument/2006/relationships/notesMaster" Target="/ppt/notesMasters/notesMaster1.xml" Id="Rbf94c4a76c73494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047eba831ae463b" /><Relationship Type="http://schemas.openxmlformats.org/officeDocument/2006/relationships/notesMaster" Target="/ppt/notesMasters/notesMaster1.xml" Id="Rd832c684dfdd44d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3f2b7ec4a99466f" /><Relationship Type="http://schemas.openxmlformats.org/officeDocument/2006/relationships/notesMaster" Target="/ppt/notesMasters/notesMaster1.xml" Id="R403cd22ec88c41e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62d72e825ce4d40" /><Relationship Type="http://schemas.openxmlformats.org/officeDocument/2006/relationships/notesMaster" Target="/ppt/notesMasters/notesMaster1.xml" Id="Rd74672dee9ae465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bec2d409bc64239" /><Relationship Type="http://schemas.openxmlformats.org/officeDocument/2006/relationships/notesMaster" Target="/ppt/notesMasters/notesMaster1.xml" Id="R3c0c50cb091d413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9438fd2aa5b4e29" /><Relationship Type="http://schemas.openxmlformats.org/officeDocument/2006/relationships/notesMaster" Target="/ppt/notesMasters/notesMaster1.xml" Id="Rf484e130118d4f3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43a8e4c900b47c9" /><Relationship Type="http://schemas.openxmlformats.org/officeDocument/2006/relationships/notesMaster" Target="/ppt/notesMasters/notesMaster1.xml" Id="R34e333c5bbdd4c7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e15bdb2b7924411" /><Relationship Type="http://schemas.openxmlformats.org/officeDocument/2006/relationships/notesMaster" Target="/ppt/notesMasters/notesMaster1.xml" Id="Rb27229e4c0ba4e2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86312fe28bc4028" /><Relationship Type="http://schemas.openxmlformats.org/officeDocument/2006/relationships/notesMaster" Target="/ppt/notesMasters/notesMaster1.xml" Id="R0e665db4d8c4460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1806262f66e4f65" /><Relationship Type="http://schemas.openxmlformats.org/officeDocument/2006/relationships/notesMaster" Target="/ppt/notesMasters/notesMaster1.xml" Id="Rf0855e5c58b145d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89dca617f114af7" /><Relationship Type="http://schemas.openxmlformats.org/officeDocument/2006/relationships/notesMaster" Target="/ppt/notesMasters/notesMaster1.xml" Id="R86843cca5b974aec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520b001735ae444d" /><Relationship Type="http://schemas.openxmlformats.org/officeDocument/2006/relationships/notesMaster" Target="/ppt/notesMasters/notesMaster1.xml" Id="R2c48d4e512ec432d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54ea8483e63a445d" /><Relationship Type="http://schemas.openxmlformats.org/officeDocument/2006/relationships/notesMaster" Target="/ppt/notesMasters/notesMaster1.xml" Id="R96a673a8012348c1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b8386181a9374722" /><Relationship Type="http://schemas.openxmlformats.org/officeDocument/2006/relationships/notesMaster" Target="/ppt/notesMasters/notesMaster1.xml" Id="Red80fa6dfa7b4260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b862abd79823414f" /><Relationship Type="http://schemas.openxmlformats.org/officeDocument/2006/relationships/notesMaster" Target="/ppt/notesMasters/notesMaster1.xml" Id="Rb73fd889a2e34d49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1b06589aa1004eaa" /><Relationship Type="http://schemas.openxmlformats.org/officeDocument/2006/relationships/notesMaster" Target="/ppt/notesMasters/notesMaster1.xml" Id="R50efe4d9d56a4010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b223086d88ee4fd0" /><Relationship Type="http://schemas.openxmlformats.org/officeDocument/2006/relationships/notesMaster" Target="/ppt/notesMasters/notesMaster1.xml" Id="Re0ff5fb852244fa6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03780c1bbd194dc2" /><Relationship Type="http://schemas.openxmlformats.org/officeDocument/2006/relationships/notesMaster" Target="/ppt/notesMasters/notesMaster1.xml" Id="R3ca74eb2970b495a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032710e61907411b" /><Relationship Type="http://schemas.openxmlformats.org/officeDocument/2006/relationships/notesMaster" Target="/ppt/notesMasters/notesMaster1.xml" Id="R1be807ff58064e53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12aa36f5df1a41e1" /><Relationship Type="http://schemas.openxmlformats.org/officeDocument/2006/relationships/notesMaster" Target="/ppt/notesMasters/notesMaster1.xml" Id="Ra3e1fc66979f4eea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4852adb35a764219" /><Relationship Type="http://schemas.openxmlformats.org/officeDocument/2006/relationships/notesMaster" Target="/ppt/notesMasters/notesMaster1.xml" Id="R8ad6092c503d44ae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9138c865397c4b5c" /><Relationship Type="http://schemas.openxmlformats.org/officeDocument/2006/relationships/notesMaster" Target="/ppt/notesMasters/notesMaster1.xml" Id="R4248412cee624820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c5e51b681e8e422e" /><Relationship Type="http://schemas.openxmlformats.org/officeDocument/2006/relationships/notesMaster" Target="/ppt/notesMasters/notesMaster1.xml" Id="R35085974325a45f2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60a16343a8654c1c" /><Relationship Type="http://schemas.openxmlformats.org/officeDocument/2006/relationships/notesMaster" Target="/ppt/notesMasters/notesMaster1.xml" Id="R246f9e223e3e44a3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e8e3a85fa23945a5" /><Relationship Type="http://schemas.openxmlformats.org/officeDocument/2006/relationships/notesMaster" Target="/ppt/notesMasters/notesMaster1.xml" Id="Rf3afb61170284d8d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65f8261422b3422c" /><Relationship Type="http://schemas.openxmlformats.org/officeDocument/2006/relationships/notesMaster" Target="/ppt/notesMasters/notesMaster1.xml" Id="R8a562667959c4660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dedffa6a9af4464a" /><Relationship Type="http://schemas.openxmlformats.org/officeDocument/2006/relationships/notesMaster" Target="/ppt/notesMasters/notesMaster1.xml" Id="R9792550fe7174abe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56db39e7e01b45c8" /><Relationship Type="http://schemas.openxmlformats.org/officeDocument/2006/relationships/notesMaster" Target="/ppt/notesMasters/notesMaster1.xml" Id="R56a60f6b483f48e2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5cf87ebe15d04ae4" /><Relationship Type="http://schemas.openxmlformats.org/officeDocument/2006/relationships/notesMaster" Target="/ppt/notesMasters/notesMaster1.xml" Id="Rd2cd12c3ae2140df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6b0c009b749341e3" /><Relationship Type="http://schemas.openxmlformats.org/officeDocument/2006/relationships/notesMaster" Target="/ppt/notesMasters/notesMaster1.xml" Id="R3dcb9a960dc44c65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812ab084fafa4ec9" /><Relationship Type="http://schemas.openxmlformats.org/officeDocument/2006/relationships/notesMaster" Target="/ppt/notesMasters/notesMaster1.xml" Id="R2b772b8b6ebe4f98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30d667606b5147c5" /><Relationship Type="http://schemas.openxmlformats.org/officeDocument/2006/relationships/notesMaster" Target="/ppt/notesMasters/notesMaster1.xml" Id="Re290018f758e486d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7dc82503f6d343bb" /><Relationship Type="http://schemas.openxmlformats.org/officeDocument/2006/relationships/notesMaster" Target="/ppt/notesMasters/notesMaster1.xml" Id="R8e8e270cb2124ae6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5eedcbcb5cbd4f58" /><Relationship Type="http://schemas.openxmlformats.org/officeDocument/2006/relationships/notesMaster" Target="/ppt/notesMasters/notesMaster1.xml" Id="R5f74a5d1fad34dc7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88050eb6fcda4b43" /><Relationship Type="http://schemas.openxmlformats.org/officeDocument/2006/relationships/notesMaster" Target="/ppt/notesMasters/notesMaster1.xml" Id="Rae87cef4d18a4b08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a522f5a62a6b4002" /><Relationship Type="http://schemas.openxmlformats.org/officeDocument/2006/relationships/notesMaster" Target="/ppt/notesMasters/notesMaster1.xml" Id="R8f38ff5fc5334672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636e49093e2f4064" /><Relationship Type="http://schemas.openxmlformats.org/officeDocument/2006/relationships/notesMaster" Target="/ppt/notesMasters/notesMaster1.xml" Id="R704a1447fbe04d8f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73f84886cfce45ea" /><Relationship Type="http://schemas.openxmlformats.org/officeDocument/2006/relationships/notesMaster" Target="/ppt/notesMasters/notesMaster1.xml" Id="R6a04d712013540e0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1d5d5253d8b74b92" /><Relationship Type="http://schemas.openxmlformats.org/officeDocument/2006/relationships/notesMaster" Target="/ppt/notesMasters/notesMaster1.xml" Id="Rad32a3176c144ace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15db2069f4ed4544" /><Relationship Type="http://schemas.openxmlformats.org/officeDocument/2006/relationships/notesMaster" Target="/ppt/notesMasters/notesMaster1.xml" Id="Rb2f2191746c24f84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77a229d4dff24ec6" /><Relationship Type="http://schemas.openxmlformats.org/officeDocument/2006/relationships/notesMaster" Target="/ppt/notesMasters/notesMaster1.xml" Id="Rc056437cefe04690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c1770e04e17348b0" /><Relationship Type="http://schemas.openxmlformats.org/officeDocument/2006/relationships/notesMaster" Target="/ppt/notesMasters/notesMaster1.xml" Id="R48742c04072c49a8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bf8221f95e214739" /><Relationship Type="http://schemas.openxmlformats.org/officeDocument/2006/relationships/notesMaster" Target="/ppt/notesMasters/notesMaster1.xml" Id="R866327b4d8ba4fc9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4aed9aa214e14f8b" /><Relationship Type="http://schemas.openxmlformats.org/officeDocument/2006/relationships/notesMaster" Target="/ppt/notesMasters/notesMaster1.xml" Id="Rad8f6aa08fc84533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0280c2b618284219" /><Relationship Type="http://schemas.openxmlformats.org/officeDocument/2006/relationships/notesMaster" Target="/ppt/notesMasters/notesMaster1.xml" Id="R41d25ddfdea64c70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3961ec7fad4d42e1" /><Relationship Type="http://schemas.openxmlformats.org/officeDocument/2006/relationships/notesMaster" Target="/ppt/notesMasters/notesMaster1.xml" Id="Rcf729a6f44484ebb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cb7a7937ce4248c3" /><Relationship Type="http://schemas.openxmlformats.org/officeDocument/2006/relationships/notesMaster" Target="/ppt/notesMasters/notesMaster1.xml" Id="Racb6905d36064892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56e2d1f198404a9e" /><Relationship Type="http://schemas.openxmlformats.org/officeDocument/2006/relationships/notesMaster" Target="/ppt/notesMasters/notesMaster1.xml" Id="Rce2f4855e2d746ec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1b1b33153c7f4b05" /><Relationship Type="http://schemas.openxmlformats.org/officeDocument/2006/relationships/notesMaster" Target="/ppt/notesMasters/notesMaster1.xml" Id="Rc72dd40f4acb4c8b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e79d90e2f66c4daa" /><Relationship Type="http://schemas.openxmlformats.org/officeDocument/2006/relationships/notesMaster" Target="/ppt/notesMasters/notesMaster1.xml" Id="Rc9e84205b17441b1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9690b5dd78f74fd5" /><Relationship Type="http://schemas.openxmlformats.org/officeDocument/2006/relationships/notesMaster" Target="/ppt/notesMasters/notesMaster1.xml" Id="R51fa2f0a739640bb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153e64cdb6364920" /><Relationship Type="http://schemas.openxmlformats.org/officeDocument/2006/relationships/notesMaster" Target="/ppt/notesMasters/notesMaster1.xml" Id="Rc332095c203143bf" 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音频数字化</a:t>
            </a:r>
          </a:p>
          <a:p>
            <a:r>
              <a:t>[内部编号] opening</a:t>
            </a:r>
          </a:p>
          <a:p>
            <a:r>
              <a:t>[阶段] opening</a:t>
            </a:r>
          </a:p>
          <a:p>
            <a:r>
              <a:t>[教师逐字稿]</a:t>
            </a:r>
          </a:p>
          <a:p>
            <a:r>
              <a:t>回想上节课怎样用有限位置与颜色记录图像。今天先听同一段音乐的两个版本，保留一个可以核对的猜测。准备纸笔，课堂由我操作演示，你们记录依据。</a:t>
            </a:r>
          </a:p>
          <a:p>
            <a:r>
              <a:t>[来源]</a:t>
            </a:r>
          </a:p>
          <a:p>
            <a:r>
              <a:t>course-design.qmd C3–C8；assets/audio-manifest.json；https://www.analog.com/media/en/training-seminars/tutorials/MT-002.pdf；https://www.analog.com/media/en/training-seminars/tutorials/MT-001.pdf；https://learn.microsoft.com/en-us/windows/win32/api/mmeapi/ns-mmeapi-waveformatex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同一段音乐，为什么大小不同？</a:t>
            </a:r>
          </a:p>
          <a:p>
            <a:r>
              <a:t>[内部编号] Q1-question</a:t>
            </a:r>
          </a:p>
          <a:p>
            <a:r>
              <a:t>[阶段] question</a:t>
            </a:r>
          </a:p>
          <a:p>
            <a:r>
              <a:t>[教师逐字稿]</a:t>
            </a:r>
          </a:p>
          <a:p>
            <a:r>
              <a:t>先看两份文件的大小，再听A、B。都六秒、都没有做音频压缩，为什么仍然不一样大？先给一个可以核对的猜测；我把两条写在板书角落，暂不判定。</a:t>
            </a:r>
          </a:p>
          <a:p>
            <a:r>
              <a:t>[教师参考，不在提问阶段朗读]</a:t>
            </a:r>
          </a:p>
          <a:p>
            <a:r>
              <a:t>已知道图像分辨率、位深度会影响像素数据量。</a:t>
            </a:r>
          </a:p>
          <a:p>
            <a:r>
              <a:t>[预期反应]</a:t>
            </a:r>
          </a:p>
          <a:p>
            <a:r>
              <a:t>“一个被压缩了”“音质不一样”“记录得更详细”。压缩可以影响别的文件，但这两份已给定未做音频压缩，不能用压缩差异解释；其余猜测暂不判定，等待参数证据。</a:t>
            </a:r>
          </a:p>
          <a:p>
            <a:r>
              <a:t>[来源]</a:t>
            </a:r>
          </a:p>
          <a:p>
            <a:r>
              <a:t>course-design.qmd C3–C8；assets/audio-manifest.json；https://www.analog.com/media/en/training-seminars/tutorials/MT-002.pdf；https://www.analog.com/media/en/training-seminars/tutorials/MT-001.pdf；https://learn.microsoft.com/en-us/windows/win32/api/mmeapi/ns-mmeapi-waveformatex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同一段音乐，为什么大小不同？</a:t>
            </a:r>
          </a:p>
          <a:p>
            <a:r>
              <a:t>[内部编号] Q1-answer</a:t>
            </a:r>
          </a:p>
          <a:p>
            <a:r>
              <a:t>[阶段] answer</a:t>
            </a:r>
          </a:p>
          <a:p>
            <a:r>
              <a:t>[教师逐字稿]</a:t>
            </a:r>
          </a:p>
          <a:p>
            <a:r>
              <a:t>刚才大家提出了几种猜测。可以确定的是：同样六秒、同为未压缩，大小仍然不同。我们暂时还不知道记录参数怎样造成这个差别。把板书上的两条猜测保留，先找电脑究竟记录了哪些数，最后读实际文件来核对。</a:t>
            </a:r>
          </a:p>
          <a:p>
            <a:r>
              <a:t>[形成结论]</a:t>
            </a:r>
          </a:p>
          <a:p>
            <a:r>
              <a:t>音乐数字化需要记录变化；时长相同不代表数据量相同。</a:t>
            </a:r>
          </a:p>
          <a:p>
            <a:r>
              <a:t>[追问问题]</a:t>
            </a:r>
          </a:p>
          <a:p>
            <a:r>
              <a:t>同样是6秒，电脑在这6秒中记录了多少个数？</a:t>
            </a:r>
          </a:p>
          <a:p>
            <a:r>
              <a:t>[下一问]</a:t>
            </a:r>
          </a:p>
          <a:p>
            <a:r>
              <a:t>不可见的声音，怎样显示出可记录的变化？</a:t>
            </a:r>
          </a:p>
          <a:p>
            <a:r>
              <a:t>[Demo操作与技术参考，不投影]</a:t>
            </a:r>
          </a:p>
          <a:p>
            <a:r>
              <a:t>开课播放`music-44100-16-mono.wav`和`music-8000-16-mono.wav`，输出仅标A/B，不给参数标签；文件大小由实际文件读取，投影题目页已给出。课前隐藏代码和源文件名。若有学生追问原M4A，说明“这两份是从同一段已解码数据做出的未压缩文件，今天比较它们”，不把解码说成恢复压缩损失。</a:t>
            </a:r>
          </a:p>
          <a:p>
            <a:r>
              <a:t>[来源]</a:t>
            </a:r>
          </a:p>
          <a:p>
            <a:r>
              <a:t>course-design.qmd C3–C8；assets/audio-manifest.json；https://www.analog.com/media/en/training-seminars/tutorials/MT-002.pdf；https://www.analog.com/media/en/training-seminars/tutorials/MT-001.pdf；https://learn.microsoft.com/en-us/windows/win32/api/mmeapi/ns-mmeapi-waveformatex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声音怎样变成一条波形？</a:t>
            </a:r>
          </a:p>
          <a:p>
            <a:r>
              <a:t>[内部编号] Q2-question</a:t>
            </a:r>
          </a:p>
          <a:p>
            <a:r>
              <a:t>[阶段] question</a:t>
            </a:r>
          </a:p>
          <a:p>
            <a:r>
              <a:t>[教师逐字稿]</a:t>
            </a:r>
          </a:p>
          <a:p>
            <a:r>
              <a:t>这一条曲线把原来看不见的变化画了出来。请指横轴和纵轴各表示什么，再找一个零线下方的时刻。纵轴能直接叫“音量”吗？先说你的理解。</a:t>
            </a:r>
          </a:p>
          <a:p>
            <a:r>
              <a:t>[教师参考，不在提问阶段朗读]</a:t>
            </a:r>
          </a:p>
          <a:p>
            <a:r>
              <a:t>学生知道图像按空间位置记录；不预设上一课已讲过声音的时间波形。</a:t>
            </a:r>
          </a:p>
          <a:p>
            <a:r>
              <a:t>[预期反应]</a:t>
            </a:r>
          </a:p>
          <a:p>
            <a:r>
              <a:t>横轴时间、纵轴音量。把“音量”修正为信号幅度；感知响度不直接等于一个样本的高度。</a:t>
            </a:r>
          </a:p>
          <a:p>
            <a:r>
              <a:t>[来源]</a:t>
            </a:r>
          </a:p>
          <a:p>
            <a:r>
              <a:t>course-design.qmd C3–C8；assets/audio-manifest.json；https://www.analog.com/media/en/training-seminars/tutorials/MT-002.pdf；https://www.analog.com/media/en/training-seminars/tutorials/MT-001.pdf；https://learn.microsoft.com/en-us/windows/win32/api/mmeapi/ns-mmeapi-waveformatex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声音怎样变成一条波形？</a:t>
            </a:r>
          </a:p>
          <a:p>
            <a:r>
              <a:t>[内部编号] Q2-answer</a:t>
            </a:r>
          </a:p>
          <a:p>
            <a:r>
              <a:t>[阶段] answer</a:t>
            </a:r>
          </a:p>
          <a:p>
            <a:r>
              <a:t>[教师逐字稿]</a:t>
            </a:r>
          </a:p>
          <a:p>
            <a:r>
              <a:t>先看这一条曲线。往右是时间过去，不是声音在教室里走过的距离。麦克风把声压变化转成电信号，上下表示信号相对基准的数值。谁能指一个零线下方的时刻？负值表示低于基准，不是负的音量，也不是物体朝下移动。这里画的是归一化模型，不是原音乐的实测波形。原音乐早已是数字文件，课堂图和重新处理的WAV用于模拟这套记录规则；第一次录音时，采样对象是麦克风输出的连续电信号。</a:t>
            </a:r>
          </a:p>
          <a:p>
            <a:r>
              <a:t>[形成结论]</a:t>
            </a:r>
          </a:p>
          <a:p>
            <a:r>
              <a:t>音频可以用随时间变化的信号表示。图上画的是模型，不是空气中可见的一条线。</a:t>
            </a:r>
          </a:p>
          <a:p>
            <a:r>
              <a:t>[追问问题]</a:t>
            </a:r>
          </a:p>
          <a:p>
            <a:r>
              <a:t>曲线在零线下方时，是否表示“负的音量”？横坐标不同，记录的是不同位置，还是不同时刻？</a:t>
            </a:r>
          </a:p>
          <a:p>
            <a:r>
              <a:t>[下一问]</a:t>
            </a:r>
          </a:p>
          <a:p>
            <a:r>
              <a:t>连续曲线有太多时刻，文件怎样记录？</a:t>
            </a:r>
          </a:p>
          <a:p>
            <a:r>
              <a:t>[Demo操作与技术参考，不投影]</a:t>
            </a:r>
          </a:p>
          <a:p>
            <a:r>
              <a:t/>
            </a:r>
          </a:p>
          <a:p>
            <a:r>
              <a:t>[来源]</a:t>
            </a:r>
          </a:p>
          <a:p>
            <a:r>
              <a:t>course-design.qmd C3–C8；assets/audio-manifest.json；https://www.analog.com/media/en/training-seminars/tutorials/MT-002.pdf；https://www.analog.com/media/en/training-seminars/tutorials/MT-001.pdf；https://learn.microsoft.com/en-us/windows/win32/api/mmeapi/ns-mmeapi-waveformatex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怎样留下波形随时间的变化？</a:t>
            </a:r>
          </a:p>
          <a:p>
            <a:r>
              <a:t>[内部编号] Q3-question</a:t>
            </a:r>
          </a:p>
          <a:p>
            <a:r>
              <a:t>[阶段] question</a:t>
            </a:r>
          </a:p>
          <a:p>
            <a:r>
              <a:t>[教师逐字稿]</a:t>
            </a:r>
          </a:p>
          <a:p>
            <a:r>
              <a:t>这一秒里，你准备在哪些时刻读取数值？先在纸上圈几个，让同桌说出你的记录规则。现在不规定取几个，也不先要求等间隔。先比较你们的办法，再看红点。</a:t>
            </a:r>
          </a:p>
          <a:p>
            <a:r>
              <a:t>[教师参考，不在提问阶段朗读]</a:t>
            </a:r>
          </a:p>
          <a:p>
            <a:r>
              <a:t>已知道图像在有限空间位置取样。</a:t>
            </a:r>
          </a:p>
          <a:p>
            <a:r>
              <a:t>[预期反应]</a:t>
            </a:r>
          </a:p>
          <a:p>
            <a:r>
              <a:t>画曲线、截取点、每隔一段时间记录。追问画曲线本身也要数据，从记录少量值建立采样模型。</a:t>
            </a:r>
          </a:p>
          <a:p>
            <a:r>
              <a:t>[来源]</a:t>
            </a:r>
          </a:p>
          <a:p>
            <a:r>
              <a:t>course-design.qmd C3–C8；assets/audio-manifest.json；https://www.analog.com/media/en/training-seminars/tutorials/MT-002.pdf；https://www.analog.com/media/en/training-seminars/tutorials/MT-001.pdf；https://learn.microsoft.com/en-us/windows/win32/api/mmeapi/ns-mmeapi-waveformatex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怎样留下波形随时间的变化？</a:t>
            </a:r>
          </a:p>
          <a:p>
            <a:r>
              <a:t>[内部编号] Q3-answer</a:t>
            </a:r>
          </a:p>
          <a:p>
            <a:r>
              <a:t>[阶段] answer</a:t>
            </a:r>
          </a:p>
          <a:p>
            <a:r>
              <a:t>[教师逐字稿]</a:t>
            </a:r>
          </a:p>
          <a:p>
            <a:r>
              <a:t>你们刚才挑了不同的时刻。图像课挑位置，声音课先挑时刻。如果每次间隔相同，就不必逐点交代时间，只要约定开始时间和每秒读取次数。再看红点：每个点留下当时的幅度，紫线是比较用的模型。点之间的整条曲线没有逐点存进去；现在先决定什么时候读，不急着决定保留几位数。</a:t>
            </a:r>
          </a:p>
          <a:p>
            <a:r>
              <a:t>[形成结论]</a:t>
            </a:r>
          </a:p>
          <a:p>
            <a:r>
              <a:t>采样在离散时刻取得幅度样本。</a:t>
            </a:r>
          </a:p>
          <a:p>
            <a:r>
              <a:t>[追问问题]</a:t>
            </a:r>
          </a:p>
          <a:p>
            <a:r>
              <a:t>随意挑点，除了幅度还要交代什么？等间隔读点时，可否只约定开始时刻和采样率？两个时刻之间的全部变化都直接写进去了吗？</a:t>
            </a:r>
          </a:p>
          <a:p>
            <a:r>
              <a:t>[下一问]</a:t>
            </a:r>
          </a:p>
          <a:p>
            <a:r>
              <a:t>怎样用一个参数描述取样快慢？</a:t>
            </a:r>
          </a:p>
          <a:p>
            <a:r>
              <a:t>[Demo操作与技术参考，不投影]</a:t>
            </a:r>
          </a:p>
          <a:p>
            <a:r>
              <a:t>D1：Notebook先运行`plot_sampling(12, False)`；预测后显示`plot_sampling(12, True)`；可选`plot_sampling(24, True)`比较同一秒点数。第二图为时间允许时的对照，超时停在12点。PPTX提问页仅曲线，揭示页复制后增加点；逐个点动画在备用HTML中，不是必须切换的第五个实验。</a:t>
            </a:r>
          </a:p>
          <a:p>
            <a:r>
              <a:t>[来源]</a:t>
            </a:r>
          </a:p>
          <a:p>
            <a:r>
              <a:t>course-design.qmd C3–C8；assets/audio-manifest.json；https://www.analog.com/media/en/training-seminars/tutorials/MT-002.pdf；https://www.analog.com/media/en/training-seminars/tutorials/MT-001.pdf；https://learn.microsoft.com/en-us/windows/win32/api/mmeapi/ns-mmeapi-waveformatex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每秒采样8000次，是什么意思？</a:t>
            </a:r>
          </a:p>
          <a:p>
            <a:r>
              <a:t>[内部编号] Q4-question</a:t>
            </a:r>
          </a:p>
          <a:p>
            <a:r>
              <a:t>[阶段] question</a:t>
            </a:r>
          </a:p>
          <a:p>
            <a:r>
              <a:t>[教师逐字稿]</a:t>
            </a:r>
          </a:p>
          <a:p>
            <a:r>
              <a:t>现在约定单声道每秒等间隔读取八千个样本。采样率应写多少赫兹？请先说明这个数是在数记录动作，还是声音振动。</a:t>
            </a:r>
          </a:p>
          <a:p>
            <a:r>
              <a:t>[教师参考，不在提问阶段朗读]</a:t>
            </a:r>
          </a:p>
          <a:p>
            <a:r>
              <a:t>知道等间隔取样，能读时间轴。</a:t>
            </a:r>
          </a:p>
          <a:p>
            <a:r>
              <a:t>[预期反应]</a:t>
            </a:r>
          </a:p>
          <a:p>
            <a:r>
              <a:t>8000Hz；0.000125秒。误答“声音是8000Hz”时回到记录动作。</a:t>
            </a:r>
          </a:p>
          <a:p>
            <a:r>
              <a:t>[来源]</a:t>
            </a:r>
          </a:p>
          <a:p>
            <a:r>
              <a:t>course-design.qmd C3–C8；assets/audio-manifest.json；https://www.analog.com/media/en/training-seminars/tutorials/MT-002.pdf；https://www.analog.com/media/en/training-seminars/tutorials/MT-001.pdf；https://learn.microsoft.com/en-us/windows/win32/api/mmeapi/ns-mmeapi-waveformatex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每秒采样8000次，是什么意思？</a:t>
            </a:r>
          </a:p>
          <a:p>
            <a:r>
              <a:t>[内部编号] Q4-answer</a:t>
            </a:r>
          </a:p>
          <a:p>
            <a:r>
              <a:t>[阶段] answer</a:t>
            </a:r>
          </a:p>
          <a:p>
            <a:r>
              <a:t>[教师逐字稿]</a:t>
            </a:r>
          </a:p>
          <a:p>
            <a:r>
              <a:t>每秒读八千次，这个读数的频率叫采样率。八千赫兹也可以写八千次每秒每声道。声音自身频率数振动，采样率数记录。先建立这个含义，再翻到Q4-B，独立算相邻间隔。</a:t>
            </a:r>
          </a:p>
          <a:p>
            <a:r>
              <a:t>[形成结论]</a:t>
            </a:r>
          </a:p>
          <a:p>
            <a:r>
              <a:t>`fs`确定样本的时间间隔；kHz按1000换算。</a:t>
            </a:r>
          </a:p>
          <a:p>
            <a:r>
              <a:t>[追问问题]</a:t>
            </a:r>
          </a:p>
          <a:p>
            <a:r>
              <a:t>声音本身6000Hz、记录采样率24000Hz，两个数分别数什么？</a:t>
            </a:r>
          </a:p>
          <a:p>
            <a:r>
              <a:t>[下一问]</a:t>
            </a:r>
          </a:p>
          <a:p>
            <a:r>
              <a:t>时刻选好了，测到的幅度能保留任意精度吗？</a:t>
            </a:r>
          </a:p>
          <a:p>
            <a:r>
              <a:t>[Demo操作与技术参考，不投影]</a:t>
            </a:r>
          </a:p>
          <a:p>
            <a:r>
              <a:t/>
            </a:r>
          </a:p>
          <a:p>
            <a:r>
              <a:t>[来源]</a:t>
            </a:r>
          </a:p>
          <a:p>
            <a:r>
              <a:t>course-design.qmd C3–C8；assets/audio-manifest.json；https://www.analog.com/media/en/training-seminars/tutorials/MT-002.pdf；https://www.analog.com/media/en/training-seminars/tutorials/MT-001.pdf；https://learn.microsoft.com/en-us/windows/win32/api/mmeapi/ns-mmeapi-waveformatex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相邻采样时刻间隔多久？</a:t>
            </a:r>
          </a:p>
          <a:p>
            <a:r>
              <a:t>[内部编号] Q4-B-question</a:t>
            </a:r>
          </a:p>
          <a:p>
            <a:r>
              <a:t>[阶段] question</a:t>
            </a:r>
          </a:p>
          <a:p>
            <a:r>
              <a:t>[教师逐字稿]</a:t>
            </a:r>
          </a:p>
          <a:p>
            <a:r>
              <a:t>刚才知道每秒记录多少次。现在独立想：一秒分成八千份，每份多久？先列式，留十秒，再换成毫秒。</a:t>
            </a:r>
          </a:p>
          <a:p>
            <a:r>
              <a:t>[来源]</a:t>
            </a:r>
          </a:p>
          <a:p>
            <a:r>
              <a:t>course-design.qmd C3–C8；assets/audio-manifest.json；https://www.analog.com/media/en/training-seminars/tutorials/MT-002.pdf；https://www.analog.com/media/en/training-seminars/tutorials/MT-001.pdf；https://learn.microsoft.com/en-us/windows/win32/api/mmeapi/ns-mmeapi-waveformatex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相邻采样时刻间隔多久？</a:t>
            </a:r>
          </a:p>
          <a:p>
            <a:r>
              <a:t>[内部编号] Q4-B-answer</a:t>
            </a:r>
          </a:p>
          <a:p>
            <a:r>
              <a:t>[阶段] answer</a:t>
            </a:r>
          </a:p>
          <a:p>
            <a:r>
              <a:t>[教师逐字稿]</a:t>
            </a:r>
          </a:p>
          <a:p>
            <a:r>
              <a:t>核对一秒除以八千。得到0.000125秒，换成毫秒乘一千，是0.125毫秒。分母是记录次数，不能用声音自身频率替代。</a:t>
            </a:r>
          </a:p>
          <a:p>
            <a:r>
              <a:t>[来源]</a:t>
            </a:r>
          </a:p>
          <a:p>
            <a:r>
              <a:t>course-design.qmd C3–C8；assets/audio-manifest.json；https://www.analog.com/media/en/training-seminars/tutorials/MT-002.pdf；https://www.analog.com/media/en/training-seminars/tutorials/MT-001.pdf；https://learn.microsoft.com/en-us/windows/win32/api/mmeapi/ns-mmeapi-waveformatex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样本值不在可选等级上，怎么办？</a:t>
            </a:r>
          </a:p>
          <a:p>
            <a:r>
              <a:t>[内部编号] Q5-question</a:t>
            </a:r>
          </a:p>
          <a:p>
            <a:r>
              <a:t>[阶段] question</a:t>
            </a:r>
          </a:p>
          <a:p>
            <a:r>
              <a:t>[教师逐字稿]</a:t>
            </a:r>
          </a:p>
          <a:p>
            <a:r>
              <a:t>测到四个样本，但今天只能从这四个代表值里选。请各自填近似值，暂不填写码字栏。哪一档离原值最近？同桌先比较依据，再看答案。</a:t>
            </a:r>
          </a:p>
          <a:p>
            <a:r>
              <a:t>[教师参考，不在提问阶段朗读]</a:t>
            </a:r>
          </a:p>
          <a:p>
            <a:r>
              <a:t>图像用有限可选颜色近似原色；本页给出具体等级。</a:t>
            </a:r>
          </a:p>
          <a:p>
            <a:r>
              <a:t>[预期反应]</a:t>
            </a:r>
          </a:p>
          <a:p>
            <a:r>
              <a:t>选择最近等级；可能想原样写−0.62。提醒今天只有四档选择。</a:t>
            </a:r>
          </a:p>
          <a:p>
            <a:r>
              <a:t>[来源]</a:t>
            </a:r>
          </a:p>
          <a:p>
            <a:r>
              <a:t>course-design.qmd C3–C8；assets/audio-manifest.json；https://www.analog.com/media/en/training-seminars/tutorials/MT-002.pdf；https://www.analog.com/media/en/training-seminars/tutorials/MT-001.pdf；https://learn.microsoft.com/en-us/windows/win32/api/mmeapi/ns-mmeapi-waveformatex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样本值不在可选等级上，怎么办？</a:t>
            </a:r>
          </a:p>
          <a:p>
            <a:r>
              <a:t>[内部编号] Q5-answer</a:t>
            </a:r>
          </a:p>
          <a:p>
            <a:r>
              <a:t>[阶段] answer</a:t>
            </a:r>
          </a:p>
          <a:p>
            <a:r>
              <a:t>[教师逐字稿]</a:t>
            </a:r>
          </a:p>
          <a:p>
            <a:r>
              <a:t>核对刚填的四行：测得值都读到了，可是现在只允许四个等级，只能选择最接近的一档。哪一项完全没有误差？都没有。图像课用有限颜色近似颜色，这里用有限幅度等级近似幅度，叫量化。误差来自这一档的近似，不是时刻有没有选好。</a:t>
            </a:r>
          </a:p>
          <a:p>
            <a:r>
              <a:t>[形成结论]</a:t>
            </a:r>
          </a:p>
          <a:p>
            <a:r>
              <a:t>采样与量化解决不同限制；量化通常带来误差。</a:t>
            </a:r>
          </a:p>
          <a:p>
            <a:r>
              <a:t>[追问问题]</a:t>
            </a:r>
          </a:p>
          <a:p>
            <a:r>
              <a:t>−0.62与−0.75差了多少？把采样时刻加密能直接消除这次近似误差吗？</a:t>
            </a:r>
          </a:p>
          <a:p>
            <a:r>
              <a:t>[下一问]</a:t>
            </a:r>
          </a:p>
          <a:p>
            <a:r>
              <a:t>四档已经选定，怎样写成0和1？</a:t>
            </a:r>
          </a:p>
          <a:p>
            <a:r>
              <a:t>[Demo操作与技术参考，不投影]</a:t>
            </a:r>
          </a:p>
          <a:p>
            <a:r>
              <a:t/>
            </a:r>
          </a:p>
          <a:p>
            <a:r>
              <a:t>[来源]</a:t>
            </a:r>
          </a:p>
          <a:p>
            <a:r>
              <a:t>course-design.qmd C3–C8；assets/audio-manifest.json；https://www.analog.com/media/en/training-seminars/tutorials/MT-002.pdf；https://www.analog.com/media/en/training-seminars/tutorials/MT-001.pdf；https://learn.microsoft.com/en-us/windows/win32/api/mmeapi/ns-mmeapi-waveformatex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四个量化等级，怎样写成码字？</a:t>
            </a:r>
          </a:p>
          <a:p>
            <a:r>
              <a:t>[内部编号] Q6-question</a:t>
            </a:r>
          </a:p>
          <a:p>
            <a:r>
              <a:t>[阶段] question</a:t>
            </a:r>
          </a:p>
          <a:p>
            <a:r>
              <a:t>[教师逐字稿]</a:t>
            </a:r>
          </a:p>
          <a:p>
            <a:r>
              <a:t>沿用你刚填的四档，从低到高编号零至三，采用等长二进制码。每个样本至少几位？把四个码字填完整，再让同桌查回代表值。</a:t>
            </a:r>
          </a:p>
          <a:p>
            <a:r>
              <a:t>[教师参考，不在提问阶段朗读]</a:t>
            </a:r>
          </a:p>
          <a:p>
            <a:r>
              <a:t>已知`2ⁿ`种状态，Q5已得到四个等级。</a:t>
            </a:r>
          </a:p>
          <a:p>
            <a:r>
              <a:t>[预期反应]</a:t>
            </a:r>
          </a:p>
          <a:p>
            <a:r>
              <a:t>2bit；误把0写成单个0时要求四个码字等长。</a:t>
            </a:r>
          </a:p>
          <a:p>
            <a:r>
              <a:t>[来源]</a:t>
            </a:r>
          </a:p>
          <a:p>
            <a:r>
              <a:t>course-design.qmd C3–C8；assets/audio-manifest.json；https://www.analog.com/media/en/training-seminars/tutorials/MT-002.pdf；https://www.analog.com/media/en/training-seminars/tutorials/MT-001.pdf；https://learn.microsoft.com/en-us/windows/win32/api/mmeapi/ns-mmeapi-waveformatex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四个量化等级，怎样写成码字？</a:t>
            </a:r>
          </a:p>
          <a:p>
            <a:r>
              <a:t>[内部编号] Q6-answer</a:t>
            </a:r>
          </a:p>
          <a:p>
            <a:r>
              <a:t>[阶段] answer</a:t>
            </a:r>
          </a:p>
          <a:p>
            <a:r>
              <a:t>[教师逐字稿]</a:t>
            </a:r>
          </a:p>
          <a:p>
            <a:r>
              <a:t>我们把最低的一档叫零，最高的一档叫三。每个编号固定占几位，才能区分四种状态？两位。请写满两位，不要把零写成一位。写成码字这一步叫编码。这里约定的是课堂等级编号，真实PCM还会约定整数的表示和字节顺序。</a:t>
            </a:r>
          </a:p>
          <a:p>
            <a:r>
              <a:t>[形成结论]</a:t>
            </a:r>
          </a:p>
          <a:p>
            <a:r>
              <a:t>采样取值，量化近似，编码写码字；本课编码不等于压缩。</a:t>
            </a:r>
          </a:p>
          <a:p>
            <a:r>
              <a:t>[追问问题]</a:t>
            </a:r>
          </a:p>
          <a:p>
            <a:r>
              <a:t>把编号3保存为“11”，这个动作有没有再次决定采样时刻？</a:t>
            </a:r>
          </a:p>
          <a:p>
            <a:r>
              <a:t>[下一问]</a:t>
            </a:r>
          </a:p>
          <a:p>
            <a:r>
              <a:t>只有码字，对方就知道多久播放一次了吗？</a:t>
            </a:r>
          </a:p>
          <a:p>
            <a:r>
              <a:t>[Demo操作与技术参考，不投影]</a:t>
            </a:r>
          </a:p>
          <a:p>
            <a:r>
              <a:t/>
            </a:r>
          </a:p>
          <a:p>
            <a:r>
              <a:t>[来源]</a:t>
            </a:r>
          </a:p>
          <a:p>
            <a:r>
              <a:t>course-design.qmd C3–C8；assets/audio-manifest.json；https://www.analog.com/media/en/training-seminars/tutorials/MT-002.pdf；https://www.analog.com/media/en/training-seminars/tutorials/MT-001.pdf；https://learn.microsoft.com/en-us/windows/win32/api/mmeapi/ns-mmeapi-waveformatex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只有码字，就能按原速播放吗？</a:t>
            </a:r>
          </a:p>
          <a:p>
            <a:r>
              <a:t>[内部编号] Q7-question</a:t>
            </a:r>
          </a:p>
          <a:p>
            <a:r>
              <a:t>[阶段] question</a:t>
            </a:r>
          </a:p>
          <a:p>
            <a:r>
              <a:t>[教师逐字稿]</a:t>
            </a:r>
          </a:p>
          <a:p>
            <a:r>
              <a:t>这里已给定单声道和同一张码表，共四个样本。仅凭这些条件能知道播放多久吗？如果你认为不能，请指出还缺哪一项，再听另一种意见。</a:t>
            </a:r>
          </a:p>
          <a:p>
            <a:r>
              <a:t>[教师参考，不在提问阶段朗读]</a:t>
            </a:r>
          </a:p>
          <a:p>
            <a:r>
              <a:t>图像解码需要二维尺寸和读取顺序；已知码字含量化等级。</a:t>
            </a:r>
          </a:p>
          <a:p>
            <a:r>
              <a:t>[预期反应]</a:t>
            </a:r>
          </a:p>
          <a:p>
            <a:r>
              <a:t>需要播放采样率。4Hz时样本时刻为0、0.25、0.50、0.75秒，文件播放时长是4÷4=1秒；最后样本的时间戳不等于播放时长。8Hz同理为0.5秒，按半开区间计数。</a:t>
            </a:r>
          </a:p>
          <a:p>
            <a:r>
              <a:t>[来源]</a:t>
            </a:r>
          </a:p>
          <a:p>
            <a:r>
              <a:t>course-design.qmd C3–C8；assets/audio-manifest.json；https://www.analog.com/media/en/training-seminars/tutorials/MT-002.pdf；https://www.analog.com/media/en/training-seminars/tutorials/MT-001.pdf；https://learn.microsoft.com/en-us/windows/win32/api/mmeapi/ns-mmeapi-waveformatex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只有码字，就能按原速播放吗？</a:t>
            </a:r>
          </a:p>
          <a:p>
            <a:r>
              <a:t>[内部编号] Q7-answer</a:t>
            </a:r>
          </a:p>
          <a:p>
            <a:r>
              <a:t>[阶段] answer</a:t>
            </a:r>
          </a:p>
          <a:p>
            <a:r>
              <a:t>[教师逐字稿]</a:t>
            </a:r>
          </a:p>
          <a:p>
            <a:r>
              <a:t>码表已经给了，编号也读得懂，可是每隔多久读一个？如果每秒四个，这四个样本对应一秒；每秒八个，就对应半秒。此题码长、码表和单声道都给定了，缺的是每秒读几个；不要把已知条件也当作缺失。一般音频还需位数、声道与排列规则。数据要连着解释规则一起保存。后面正常的采样率对照，会同时正确记录新采样率，播放时长保持六秒，不是给音乐加速。</a:t>
            </a:r>
          </a:p>
          <a:p>
            <a:r>
              <a:t>[形成结论]</a:t>
            </a:r>
          </a:p>
          <a:p>
            <a:r>
              <a:t>样本序列与解释参数共同确定数字音频。</a:t>
            </a:r>
          </a:p>
          <a:p>
            <a:r>
              <a:t>[追问问题]</a:t>
            </a:r>
          </a:p>
          <a:p>
            <a:r>
              <a:t>把低采样率文件正确播放，与把同一批样本用更高的播放采样率播放，一样吗？</a:t>
            </a:r>
          </a:p>
          <a:p>
            <a:r>
              <a:t>[下一问]</a:t>
            </a:r>
          </a:p>
          <a:p>
            <a:r>
              <a:t>正确改变记录的采样率，能保留的内容会怎样？</a:t>
            </a:r>
          </a:p>
          <a:p>
            <a:r>
              <a:t>[Demo操作与技术参考，不投影]</a:t>
            </a:r>
          </a:p>
          <a:p>
            <a:r>
              <a:t/>
            </a:r>
          </a:p>
          <a:p>
            <a:r>
              <a:t>[来源]</a:t>
            </a:r>
          </a:p>
          <a:p>
            <a:r>
              <a:t>course-design.qmd C3–C8；assets/audio-manifest.json；https://www.analog.com/media/en/training-seminars/tutorials/MT-002.pdf；https://www.analog.com/media/en/training-seminars/tutorials/MT-001.pdf；https://learn.microsoft.com/en-us/windows/win32/api/mmeapi/ns-mmeapi-waveformatex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我们已建立哪些记录规则？</a:t>
            </a:r>
          </a:p>
          <a:p>
            <a:r>
              <a:t>[内部编号] T1-summary</a:t>
            </a:r>
          </a:p>
          <a:p>
            <a:r>
              <a:t>[阶段] tree-summary</a:t>
            </a:r>
          </a:p>
          <a:p>
            <a:r>
              <a:t>[教师逐字稿]</a:t>
            </a:r>
          </a:p>
          <a:p>
            <a:r>
              <a:t>用Q3圈点、Q5近似、Q6互读或Q7时长举证，再用一句话说清每一步。先请学生说，留出总结停顿。追问“哪项观察或记录支持你？”收集后才逐次更新树。</a:t>
            </a:r>
          </a:p>
          <a:p>
            <a:r>
              <a:t>[来源]</a:t>
            </a:r>
          </a:p>
          <a:p>
            <a:r>
              <a:t>course-design.qmd C3–C8；assets/audio-manifest.json；https://www.analog.com/media/en/training-seminars/tutorials/MT-002.pdf；https://www.analog.com/media/en/training-seminars/tutorials/MT-001.pdf；https://learn.microsoft.com/en-us/windows/win32/api/mmeapi/ns-mmeapi-waveformatex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我们已建立哪些记录规则？</a:t>
            </a:r>
          </a:p>
          <a:p>
            <a:r>
              <a:t>[内部编号] T1-sampling</a:t>
            </a:r>
          </a:p>
          <a:p>
            <a:r>
              <a:t>[阶段] tree-reveal</a:t>
            </a:r>
          </a:p>
          <a:p>
            <a:r>
              <a:t>[教师逐字稿]</a:t>
            </a:r>
          </a:p>
          <a:p>
            <a:r>
              <a:t>依据刚才学生的总结，现在只补这一项：采样，离散时刻。连接表示连续时间→离散样本时刻。请学生指对应证据，再和先前节点联系；下一次翻页才增加下一项。</a:t>
            </a:r>
          </a:p>
          <a:p>
            <a:r>
              <a:t>[来源]</a:t>
            </a:r>
          </a:p>
          <a:p>
            <a:r>
              <a:t>course-design.qmd C3–C8；assets/audio-manifest.json；https://www.analog.com/media/en/training-seminars/tutorials/MT-002.pdf；https://www.analog.com/media/en/training-seminars/tutorials/MT-001.pdf；https://learn.microsoft.com/en-us/windows/win32/api/mmeapi/ns-mmeapi-waveformatex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我们已建立哪些记录规则？</a:t>
            </a:r>
          </a:p>
          <a:p>
            <a:r>
              <a:t>[内部编号] T1-quantization</a:t>
            </a:r>
          </a:p>
          <a:p>
            <a:r>
              <a:t>[阶段] tree-reveal</a:t>
            </a:r>
          </a:p>
          <a:p>
            <a:r>
              <a:t>[教师逐字稿]</a:t>
            </a:r>
          </a:p>
          <a:p>
            <a:r>
              <a:t>依据刚才学生的总结，现在只补这一项：量化，有限幅度。连接表示样本幅度→代表等级。请学生指对应证据，再和先前节点联系；下一次翻页才增加下一项。</a:t>
            </a:r>
          </a:p>
          <a:p>
            <a:r>
              <a:t>[来源]</a:t>
            </a:r>
          </a:p>
          <a:p>
            <a:r>
              <a:t>course-design.qmd C3–C8；assets/audio-manifest.json；https://www.analog.com/media/en/training-seminars/tutorials/MT-002.pdf；https://www.analog.com/media/en/training-seminars/tutorials/MT-001.pdf；https://learn.microsoft.com/en-us/windows/win32/api/mmeapi/ns-mmeapi-waveformatex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我们已建立哪些记录规则？</a:t>
            </a:r>
          </a:p>
          <a:p>
            <a:r>
              <a:t>[内部编号] T1-encoding</a:t>
            </a:r>
          </a:p>
          <a:p>
            <a:r>
              <a:t>[阶段] tree-reveal</a:t>
            </a:r>
          </a:p>
          <a:p>
            <a:r>
              <a:t>[教师逐字稿]</a:t>
            </a:r>
          </a:p>
          <a:p>
            <a:r>
              <a:t>依据刚才学生的总结，现在只补这一项：编码，表示等级。连接表示等级编号→等长码字。请学生指对应证据，再和先前节点联系；下一次翻页才增加下一项。</a:t>
            </a:r>
          </a:p>
          <a:p>
            <a:r>
              <a:t>[来源]</a:t>
            </a:r>
          </a:p>
          <a:p>
            <a:r>
              <a:t>course-design.qmd C3–C8；assets/audio-manifest.json；https://www.analog.com/media/en/training-seminars/tutorials/MT-002.pdf；https://www.analog.com/media/en/training-seminars/tutorials/MT-001.pdf；https://learn.microsoft.com/en-us/windows/win32/api/mmeapi/ns-mmeapi-waveformatex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我们已建立哪些记录规则？</a:t>
            </a:r>
          </a:p>
          <a:p>
            <a:r>
              <a:t>[内部编号] T1-parameters</a:t>
            </a:r>
          </a:p>
          <a:p>
            <a:r>
              <a:t>[阶段] tree-reveal</a:t>
            </a:r>
          </a:p>
          <a:p>
            <a:r>
              <a:t>[教师逐字稿]</a:t>
            </a:r>
          </a:p>
          <a:p>
            <a:r>
              <a:t>依据刚才学生的总结，现在只补这一项：序列＋解释参数。连接表示样本序列必须搭配采样率等规则。请学生指对应证据，再和先前节点联系；下一次翻页才增加下一项。</a:t>
            </a:r>
          </a:p>
          <a:p>
            <a:r>
              <a:t>[来源]</a:t>
            </a:r>
          </a:p>
          <a:p>
            <a:r>
              <a:t>course-design.qmd C3–C8；assets/audio-manifest.json；https://www.analog.com/media/en/training-seminars/tutorials/MT-002.pdf；https://www.analog.com/media/en/training-seminars/tutorials/MT-001.pdf；https://learn.microsoft.com/en-us/windows/win32/api/mmeapi/ns-mmeapi-waveformatex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只增加采样率，声音会怎样？</a:t>
            </a:r>
          </a:p>
          <a:p>
            <a:r>
              <a:t>[内部编号] Q8-question</a:t>
            </a:r>
          </a:p>
          <a:p>
            <a:r>
              <a:t>[阶段] question</a:t>
            </a:r>
          </a:p>
          <a:p>
            <a:r>
              <a:t>[教师逐字稿]</a:t>
            </a:r>
          </a:p>
          <a:p>
            <a:r>
              <a:t>现在揭示开场A、B的采样率，位数、声道和六秒时长相同。你猜改变的是播放速度还是保留的细节？先回忆刚才的听感。随后再听标好的纯音基准和转换结果；听完才给出技术条件。</a:t>
            </a:r>
          </a:p>
          <a:p>
            <a:r>
              <a:t>[教师参考，不在提问阶段朗读]</a:t>
            </a:r>
          </a:p>
          <a:p>
            <a:r>
              <a:t>知道采样率、时间间隔；区分记录动作与声音振动。</a:t>
            </a:r>
          </a:p>
          <a:p>
            <a:r>
              <a:t>[预期反应]</a:t>
            </a:r>
          </a:p>
          <a:p>
            <a:r>
              <a:t>高频细节可能变少、变闷；也可能听不清差别。预测先保留，试听只观察这组转换结果，不用音乐听感证明采样定理。再应用揭示页给出的带限规则：8kHz不足以保留6kHz。</a:t>
            </a:r>
          </a:p>
          <a:p>
            <a:r>
              <a:t>[来源]</a:t>
            </a:r>
          </a:p>
          <a:p>
            <a:r>
              <a:t>course-design.qmd C3–C8；assets/audio-manifest.json；https://www.analog.com/media/en/training-seminars/tutorials/MT-002.pdf；https://www.analog.com/media/en/training-seminars/tutorials/MT-001.pdf；https://learn.microsoft.com/en-us/windows/win32/api/mmeapi/ns-mmeapi-waveformatex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只增加采样率，声音会怎样？</a:t>
            </a:r>
          </a:p>
          <a:p>
            <a:r>
              <a:t>[内部编号] Q8-answer</a:t>
            </a:r>
          </a:p>
          <a:p>
            <a:r>
              <a:t>[阶段] answer</a:t>
            </a:r>
          </a:p>
          <a:p>
            <a:r>
              <a:t>[教师逐字稿]</a:t>
            </a:r>
          </a:p>
          <a:p>
            <a:r>
              <a:t>核对刚才的预测：正确记录新采样率，播放仍是六秒。改变的是可保留的频率范围，不能据音乐听感推出所有声音的规律。这里给出带限理想条件：采样率高于最高频率的两倍，实际还要留滤波余量。先建立条件，再翻到Q8-B，让学生自己代入6kHz和8kHz。</a:t>
            </a:r>
          </a:p>
          <a:p>
            <a:r>
              <a:t>[形成结论]</a:t>
            </a:r>
          </a:p>
          <a:p>
            <a:r>
              <a:t>带限条件下理想重建要求`fs &gt; 2fmax`；实际留滤波余量。采样率影响频率保留范围，不能只解释为折线更像原线。</a:t>
            </a:r>
          </a:p>
          <a:p>
            <a:r>
              <a:t>[追问问题]</a:t>
            </a:r>
          </a:p>
          <a:p>
            <a:r>
              <a:t>8kHz的半数是多少？6kHz与它相比怎样？</a:t>
            </a:r>
          </a:p>
          <a:p>
            <a:r>
              <a:t>[下一问]</a:t>
            </a:r>
          </a:p>
          <a:p>
            <a:r>
              <a:t>达到需要的频率范围后，一直增加采样率一定听得出吗？</a:t>
            </a:r>
          </a:p>
          <a:p>
            <a:r>
              <a:t>[Demo操作与技术参考，不投影]</a:t>
            </a:r>
          </a:p>
          <a:p>
            <a:r>
              <a:t>D2使用参数已知的独立对照，不把参数绑定到开场A/B标签；开场身份留待Q17-B检验。默认不重播同一音乐；若有具体听辨问题且进度允许，按标签播放各6秒。先播放`tone-6000-at24000.wav`基准3秒。Q8-B完成条件判断后才播放`tone-lowpass-at8000.wav`结果3秒。先确认基准可闻，保持同一音量。结果展示的是已执行低通的正确转换，不是“仅仅取点就会自动滤除高频”。混叠备用文件属于课后拓展，核心45分钟不追加播放。</a:t>
            </a:r>
          </a:p>
          <a:p>
            <a:r>
              <a:t>[来源]</a:t>
            </a:r>
          </a:p>
          <a:p>
            <a:r>
              <a:t>course-design.qmd C3–C8；assets/audio-manifest.json；https://www.analog.com/media/en/training-seminars/tutorials/MT-002.pdf；https://www.analog.com/media/en/training-seminars/tutorials/MT-001.pdf；https://learn.microsoft.com/en-us/windows/win32/api/mmeapi/ns-mmeapi-waveformatex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8kHz采样能保留6kHz纯音吗？</a:t>
            </a:r>
          </a:p>
          <a:p>
            <a:r>
              <a:t>[内部编号] Q8-B-question</a:t>
            </a:r>
          </a:p>
          <a:p>
            <a:r>
              <a:t>[阶段] question</a:t>
            </a:r>
          </a:p>
          <a:p>
            <a:r>
              <a:t>[教师逐字稿]</a:t>
            </a:r>
          </a:p>
          <a:p>
            <a:r>
              <a:t>规则已经给出。把六千代入，八千够不够？先写或口答比较，再观察低通后转换。若基准也听不见，就只用参数判断。</a:t>
            </a:r>
          </a:p>
          <a:p>
            <a:r>
              <a:t>[来源]</a:t>
            </a:r>
          </a:p>
          <a:p>
            <a:r>
              <a:t>course-design.qmd C3–C8；assets/audio-manifest.json；https://www.analog.com/media/en/training-seminars/tutorials/MT-002.pdf；https://www.analog.com/media/en/training-seminars/tutorials/MT-001.pdf；https://learn.microsoft.com/en-us/windows/win32/api/mmeapi/ns-mmeapi-waveformatex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8kHz采样能保留6kHz纯音吗？</a:t>
            </a:r>
          </a:p>
          <a:p>
            <a:r>
              <a:t>[内部编号] Q8-B-answer</a:t>
            </a:r>
          </a:p>
          <a:p>
            <a:r>
              <a:t>[阶段] answer</a:t>
            </a:r>
          </a:p>
          <a:p>
            <a:r>
              <a:t>[教师逐字稿]</a:t>
            </a:r>
          </a:p>
          <a:p>
            <a:r>
              <a:t>六千的两倍是一万二，八千没有超过它。当前转换先低通，所以高频被滤掉；裸丢点会产生混叠，是另一个备用诊断。一个试听只检验本例，不证明所有声音。</a:t>
            </a:r>
          </a:p>
          <a:p>
            <a:r>
              <a:t>[来源]</a:t>
            </a:r>
          </a:p>
          <a:p>
            <a:r>
              <a:t>course-design.qmd C3–C8；assets/audio-manifest.json；https://www.analog.com/media/en/training-seminars/tutorials/MT-002.pdf；https://www.analog.com/media/en/training-seminars/tutorials/MT-001.pdf；https://learn.microsoft.com/en-us/windows/win32/api/mmeapi/ns-mmeapi-waveformatex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采样率越高，听起来一定越好吗？</a:t>
            </a:r>
          </a:p>
          <a:p>
            <a:r>
              <a:t>[内部编号] Q9-question</a:t>
            </a:r>
          </a:p>
          <a:p>
            <a:r>
              <a:t>[阶段] question</a:t>
            </a:r>
          </a:p>
          <a:p>
            <a:r>
              <a:t>[教师逐字稿]</a:t>
            </a:r>
          </a:p>
          <a:p>
            <a:r>
              <a:t>题目已经说明，三万二满足这个信号的频率条件。再提高到九万六，“一定更好听”这句话能成立吗？请用题目条件说明，先不凭参数大小投票。</a:t>
            </a:r>
          </a:p>
          <a:p>
            <a:r>
              <a:t>[教师参考，不在提问阶段朗读]</a:t>
            </a:r>
          </a:p>
          <a:p>
            <a:r>
              <a:t>Q8建立频率范围与采样率关系。</a:t>
            </a:r>
          </a:p>
          <a:p>
            <a:r>
              <a:t>[预期反应]</a:t>
            </a:r>
          </a:p>
          <a:p>
            <a:r>
              <a:t>不一定；“一定”常来自广告语言。允许对设备链路的追问但不扩展本课。</a:t>
            </a:r>
          </a:p>
          <a:p>
            <a:r>
              <a:t>[来源]</a:t>
            </a:r>
          </a:p>
          <a:p>
            <a:r>
              <a:t>course-design.qmd C3–C8；assets/audio-manifest.json；https://www.analog.com/media/en/training-seminars/tutorials/MT-002.pdf；https://www.analog.com/media/en/training-seminars/tutorials/MT-001.pdf；https://learn.microsoft.com/en-us/windows/win32/api/mmeapi/ns-mmeapi-waveformatex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采样率越高，听起来一定越好吗？</a:t>
            </a:r>
          </a:p>
          <a:p>
            <a:r>
              <a:t>[内部编号] Q9-answer</a:t>
            </a:r>
          </a:p>
          <a:p>
            <a:r>
              <a:t>[阶段] answer</a:t>
            </a:r>
          </a:p>
          <a:p>
            <a:r>
              <a:t>[教师逐字稿]</a:t>
            </a:r>
          </a:p>
          <a:p>
            <a:r>
              <a:t>这次题目给了一个重要条件：信号只有八千赫兹以下的成分，三万二已经足够。改成九万六会让数更多，但不能保证耳朵觉得更好。我们用的M4A本身已是压缩文件，转成更大的PCM WAV也不能恢复之前损失的信息。参数要和需求一起判断。</a:t>
            </a:r>
          </a:p>
          <a:p>
            <a:r>
              <a:t>[形成结论]</a:t>
            </a:r>
          </a:p>
          <a:p>
            <a:r>
              <a:t>音质关系应带条件；更高采样率不保证可闻改进。</a:t>
            </a:r>
          </a:p>
          <a:p>
            <a:r>
              <a:t>[追问问题]</a:t>
            </a:r>
          </a:p>
          <a:p>
            <a:r>
              <a:t>源文件已经丢掉的细节，单纯转换成更高采样率会自己回来吗？</a:t>
            </a:r>
          </a:p>
          <a:p>
            <a:r>
              <a:t>[下一问]</a:t>
            </a:r>
          </a:p>
          <a:p>
            <a:r>
              <a:t>保持时刻不变，再检查幅度近似的精度。</a:t>
            </a:r>
          </a:p>
          <a:p>
            <a:r>
              <a:t>[Demo操作与技术参考，不投影]</a:t>
            </a:r>
          </a:p>
          <a:p>
            <a:r>
              <a:t/>
            </a:r>
          </a:p>
          <a:p>
            <a:r>
              <a:t>[来源]</a:t>
            </a:r>
          </a:p>
          <a:p>
            <a:r>
              <a:t>course-design.qmd C3–C8；assets/audio-manifest.json；https://www.analog.com/media/en/training-seminars/tutorials/MT-002.pdf；https://www.analog.com/media/en/training-seminars/tutorials/MT-001.pdf；https://learn.microsoft.com/en-us/windows/win32/api/mmeapi/ns-mmeapi-waveformatex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采样时刻不变，怎样减小量化误差？</a:t>
            </a:r>
          </a:p>
          <a:p>
            <a:r>
              <a:t>[内部编号] Q10-question</a:t>
            </a:r>
          </a:p>
          <a:p>
            <a:r>
              <a:t>[阶段] question</a:t>
            </a:r>
          </a:p>
          <a:p>
            <a:r>
              <a:t>[教师逐字稿]</a:t>
            </a:r>
          </a:p>
          <a:p>
            <a:r>
              <a:t>这次不增加采样时刻，只改可选幅度等级。你预测两位和四位哪一种近似更细？先看同一批样本，指出你想比较的地方，再运行左右对照图。</a:t>
            </a:r>
          </a:p>
          <a:p>
            <a:r>
              <a:t>[教师参考，不在提问阶段朗读]</a:t>
            </a:r>
          </a:p>
          <a:p>
            <a:r>
              <a:t>Q5已有具体误差，Q8只改变采样率。</a:t>
            </a:r>
          </a:p>
          <a:p>
            <a:r>
              <a:t>[预期反应]</a:t>
            </a:r>
          </a:p>
          <a:p>
            <a:r>
              <a:t>4bit更细；可能说“点变多”。用同一时间轴、同样48个时刻证伪。</a:t>
            </a:r>
          </a:p>
          <a:p>
            <a:r>
              <a:t>[来源]</a:t>
            </a:r>
          </a:p>
          <a:p>
            <a:r>
              <a:t>course-design.qmd C3–C8；assets/audio-manifest.json；https://www.analog.com/media/en/training-seminars/tutorials/MT-002.pdf；https://www.analog.com/media/en/training-seminars/tutorials/MT-001.pdf；https://learn.microsoft.com/en-us/windows/win32/api/mmeapi/ns-mmeapi-waveformatex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采样时刻不变，怎样减小量化误差？</a:t>
            </a:r>
          </a:p>
          <a:p>
            <a:r>
              <a:t>[内部编号] Q10-answer</a:t>
            </a:r>
          </a:p>
          <a:p>
            <a:r>
              <a:t>[阶段] answer</a:t>
            </a:r>
          </a:p>
          <a:p>
            <a:r>
              <a:t>[教师逐字稿]</a:t>
            </a:r>
          </a:p>
          <a:p>
            <a:r>
              <a:t>这次所有取样时刻都不动，只增加可选等级。每个样本与近似值之间的红线表示误差。四位时可以分十六档，误差范围缩小。再听同一段音乐：四位有效模型常能听出粗糙感。没有听出来也先看图。这里播放器装的是十六位WAV；四位说的是我们模拟的量化等级，稍后算文件大小要读真实存储位数。</a:t>
            </a:r>
          </a:p>
          <a:p>
            <a:r>
              <a:t>[形成结论]</a:t>
            </a:r>
          </a:p>
          <a:p>
            <a:r>
              <a:t>固定范围、均匀量化下位数增加会减小步长及最大近似误差；不声称每个特定样本的误差都严格单调下降。</a:t>
            </a:r>
          </a:p>
          <a:p>
            <a:r>
              <a:t>[追问问题]</a:t>
            </a:r>
          </a:p>
          <a:p>
            <a:r>
              <a:t>红线是在横向补时刻，还是纵向修近似？</a:t>
            </a:r>
          </a:p>
          <a:p>
            <a:r>
              <a:t>[下一问]</a:t>
            </a:r>
          </a:p>
          <a:p>
            <a:r>
              <a:t>位数与等级究竟怎样对应？</a:t>
            </a:r>
          </a:p>
          <a:p>
            <a:r>
              <a:t>[Demo操作与技术参考，不投影]</a:t>
            </a:r>
          </a:p>
          <a:p>
            <a:r>
              <a:t>D3：当前阶段Notebook先`plot_quantization(2, False)`，讨论后运行`plot_quantization_compare()`，在一张图上左右比较同一批48个样本，坐标范围和刻度相同。先停在Q10-B问题页完成误差预测，再单独显示`show_quantization_evidence()`，沿用Q5的−0.10：2bit近似−0.25，误差0.15；4bit近似−0.0625，误差0.0375。这是一个样本的实测比较，误差上界规律仍依赖固定范围和均匀量化条件。最后用独立单元试听4bit有效模型与16bit基准，标签注明同为22.05kHz、单声道、16bit存储；不要把图中2/4bit与听觉4/16bit误配。音箱音量一致。</a:t>
            </a:r>
          </a:p>
          <a:p>
            <a:r>
              <a:t>[来源]</a:t>
            </a:r>
          </a:p>
          <a:p>
            <a:r>
              <a:t>course-design.qmd C3–C8；assets/audio-manifest.json；https://www.analog.com/media/en/training-seminars/tutorials/MT-002.pdf；https://www.analog.com/media/en/training-seminars/tutorials/MT-001.pdf；https://learn.microsoft.com/en-us/windows/win32/api/mmeapi/ns-mmeapi-waveformatex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同一个样本，两种近似误差是多少？</a:t>
            </a:r>
          </a:p>
          <a:p>
            <a:r>
              <a:t>[内部编号] Q10-B-question</a:t>
            </a:r>
          </a:p>
          <a:p>
            <a:r>
              <a:t>[阶段] question</a:t>
            </a:r>
          </a:p>
          <a:p>
            <a:r>
              <a:t>[教师逐字稿]</a:t>
            </a:r>
          </a:p>
          <a:p>
            <a:r>
              <a:t>先停下图的整体比较。用同一个负零点一，分别计算两项绝对差，给十秒。哪一步是在量化，而不是添加时刻？完成后才运行数值表。</a:t>
            </a:r>
          </a:p>
          <a:p>
            <a:r>
              <a:t>[来源]</a:t>
            </a:r>
          </a:p>
          <a:p>
            <a:r>
              <a:t>course-design.qmd C3–C8；assets/audio-manifest.json；https://www.analog.com/media/en/training-seminars/tutorials/MT-002.pdf；https://www.analog.com/media/en/training-seminars/tutorials/MT-001.pdf；https://learn.microsoft.com/en-us/windows/win32/api/mmeapi/ns-mmeapi-waveformatex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同一个样本，两种近似误差是多少？</a:t>
            </a:r>
          </a:p>
          <a:p>
            <a:r>
              <a:t>[内部编号] Q10-B-answer</a:t>
            </a:r>
          </a:p>
          <a:p>
            <a:r>
              <a:t>[阶段] answer</a:t>
            </a:r>
          </a:p>
          <a:p>
            <a:r>
              <a:t>[教师逐字稿]</a:t>
            </a:r>
          </a:p>
          <a:p>
            <a:r>
              <a:t>两项差分别为0.15和0.0375。这个样本四位误差更小；固定范围、均匀量化的上界规律有条件，不能由此断言每个样本都严格改善。现在按标签试听四位模型与十六位基准，两份都用十六位存储。</a:t>
            </a:r>
          </a:p>
          <a:p>
            <a:r>
              <a:t>[来源]</a:t>
            </a:r>
          </a:p>
          <a:p>
            <a:r>
              <a:t>course-design.qmd C3–C8；assets/audio-manifest.json；https://www.analog.com/media/en/training-seminars/tutorials/MT-002.pdf；https://www.analog.com/media/en/training-seminars/tutorials/MT-001.pdf；https://learn.microsoft.com/en-us/windows/win32/api/mmeapi/ns-mmeapi-waveformatex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量化位数加倍，等级也只加倍吗？</a:t>
            </a:r>
          </a:p>
          <a:p>
            <a:r>
              <a:t>[内部编号] Q11-question</a:t>
            </a:r>
          </a:p>
          <a:p>
            <a:r>
              <a:t>[阶段] question</a:t>
            </a:r>
          </a:p>
          <a:p>
            <a:r>
              <a:t>[教师逐字稿]</a:t>
            </a:r>
          </a:p>
          <a:p>
            <a:r>
              <a:t>两位、四位、八位分别能组成多少个等长码字？十六位可以先列指数式。先说算法，再报数字；位数加倍，等级也只加倍吗？</a:t>
            </a:r>
          </a:p>
          <a:p>
            <a:r>
              <a:t>[教师参考，不在提问阶段朗读]</a:t>
            </a:r>
          </a:p>
          <a:p>
            <a:r>
              <a:t>学生知道二进制状态数，Q10有4级和16级。</a:t>
            </a:r>
          </a:p>
          <a:p>
            <a:r>
              <a:t>[预期反应]</a:t>
            </a:r>
          </a:p>
          <a:p>
            <a:r>
              <a:t>4、16、256、65536。不要说16bit是16档。</a:t>
            </a:r>
          </a:p>
          <a:p>
            <a:r>
              <a:t>[来源]</a:t>
            </a:r>
          </a:p>
          <a:p>
            <a:r>
              <a:t>course-design.qmd C3–C8；assets/audio-manifest.json；https://www.analog.com/media/en/training-seminars/tutorials/MT-002.pdf；https://www.analog.com/media/en/training-seminars/tutorials/MT-001.pdf；https://learn.microsoft.com/en-us/windows/win32/api/mmeapi/ns-mmeapi-waveformatex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量化位数加倍，等级也只加倍吗？</a:t>
            </a:r>
          </a:p>
          <a:p>
            <a:r>
              <a:t>[内部编号] Q11-answer</a:t>
            </a:r>
          </a:p>
          <a:p>
            <a:r>
              <a:t>[阶段] answer</a:t>
            </a:r>
          </a:p>
          <a:p>
            <a:r>
              <a:t>[教师逐字稿]</a:t>
            </a:r>
          </a:p>
          <a:p>
            <a:r>
              <a:t>两位不是两档，四位也不是四档。每一位有零和一两种状态，组合起来是二的n次方。四位相对两位，位数加倍，档数从四变成十六。把“每样本占几位”与“可选多少等级”分开写。</a:t>
            </a:r>
          </a:p>
          <a:p>
            <a:r>
              <a:t>[形成结论]</a:t>
            </a:r>
          </a:p>
          <a:p>
            <a:r>
              <a:t>等级数由`2ⁿ`确定；位数也是每样本的存储成本之一。</a:t>
            </a:r>
          </a:p>
          <a:p>
            <a:r>
              <a:t>[追问问题]</a:t>
            </a:r>
          </a:p>
          <a:p>
            <a:r>
              <a:t>每增加1bit，码字数怎样变化？</a:t>
            </a:r>
          </a:p>
          <a:p>
            <a:r>
              <a:t>[下一问]</a:t>
            </a:r>
          </a:p>
          <a:p>
            <a:r>
              <a:t>回顾三步，每一步解决哪一项限制？</a:t>
            </a:r>
          </a:p>
          <a:p>
            <a:r>
              <a:t>[Demo操作与技术参考，不投影]</a:t>
            </a:r>
          </a:p>
          <a:p>
            <a:r>
              <a:t/>
            </a:r>
          </a:p>
          <a:p>
            <a:r>
              <a:t>[来源]</a:t>
            </a:r>
          </a:p>
          <a:p>
            <a:r>
              <a:t>course-design.qmd C3–C8；assets/audio-manifest.json；https://www.analog.com/media/en/training-seminars/tutorials/MT-002.pdf；https://www.analog.com/media/en/training-seminars/tutorials/MT-001.pdf；https://learn.microsoft.com/en-us/windows/win32/api/mmeapi/ns-mmeapi-waveformatex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三步分别改变了什么？</a:t>
            </a:r>
          </a:p>
          <a:p>
            <a:r>
              <a:t>[内部编号] Q12-question</a:t>
            </a:r>
          </a:p>
          <a:p>
            <a:r>
              <a:t>[阶段] question</a:t>
            </a:r>
          </a:p>
          <a:p>
            <a:r>
              <a:t>[教师逐字稿]</a:t>
            </a:r>
          </a:p>
          <a:p>
            <a:r>
              <a:t>先用自己做过的动作解释三个词：选择时刻、选择近似等级、按约定写码字，各对应哪一步？第一次录音从什么信号开始？不要只背三个名词。</a:t>
            </a:r>
          </a:p>
          <a:p>
            <a:r>
              <a:t>[教师参考，不在提问阶段朗读]</a:t>
            </a:r>
          </a:p>
          <a:p>
            <a:r>
              <a:t>完成了真实码字活动和两项控制变量实验。</a:t>
            </a:r>
          </a:p>
          <a:p>
            <a:r>
              <a:t>[预期反应]</a:t>
            </a:r>
          </a:p>
          <a:p>
            <a:r>
              <a:t>顺序配对；编码不负责重新选取样本。</a:t>
            </a:r>
          </a:p>
          <a:p>
            <a:r>
              <a:t>[来源]</a:t>
            </a:r>
          </a:p>
          <a:p>
            <a:r>
              <a:t>course-design.qmd C3–C8；assets/audio-manifest.json；https://www.analog.com/media/en/training-seminars/tutorials/MT-002.pdf；https://www.analog.com/media/en/training-seminars/tutorials/MT-001.pdf；https://learn.microsoft.com/en-us/windows/win32/api/mmeapi/ns-mmeapi-waveformatex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三步分别改变了什么？</a:t>
            </a:r>
          </a:p>
          <a:p>
            <a:r>
              <a:t>[内部编号] Q12-answer</a:t>
            </a:r>
          </a:p>
          <a:p>
            <a:r>
              <a:t>[阶段] answer</a:t>
            </a:r>
          </a:p>
          <a:p>
            <a:r>
              <a:t>[教师逐字稿]</a:t>
            </a:r>
          </a:p>
          <a:p>
            <a:r>
              <a:t>核对你们刚才的配对，用做过的动作解释。挑时刻是采样，挑代表等级是量化，写码字是编码。采样和量化各自限制一种精度。把码字写得再长，也不会凭空出现没记录的频率内容。第一次录音从连续电信号开始；我们手上的M4A早已数字化，课堂是在数学模型和已解码数据上演示这些规则。</a:t>
            </a:r>
          </a:p>
          <a:p>
            <a:r>
              <a:t>[形成结论]</a:t>
            </a:r>
          </a:p>
          <a:p>
            <a:r>
              <a:t>用时间、幅度、表示规则构成音频数字化模型。</a:t>
            </a:r>
          </a:p>
          <a:p>
            <a:r>
              <a:t>[追问问题]</a:t>
            </a:r>
          </a:p>
          <a:p>
            <a:r>
              <a:t>增加位数能补回没有记录的快速变化吗？</a:t>
            </a:r>
          </a:p>
          <a:p>
            <a:r>
              <a:t>[下一问]</a:t>
            </a:r>
          </a:p>
          <a:p>
            <a:r>
              <a:t>我们还只记录了一路信号，左右两路怎么办？</a:t>
            </a:r>
          </a:p>
          <a:p>
            <a:r>
              <a:t>[Demo操作与技术参考，不投影]</a:t>
            </a:r>
          </a:p>
          <a:p>
            <a:r>
              <a:t/>
            </a:r>
          </a:p>
          <a:p>
            <a:r>
              <a:t>[来源]</a:t>
            </a:r>
          </a:p>
          <a:p>
            <a:r>
              <a:t>course-design.qmd C3–C8；assets/audio-manifest.json；https://www.analog.com/media/en/training-seminars/tutorials/MT-002.pdf；https://www.analog.com/media/en/training-seminars/tutorials/MT-001.pdf；https://learn.microsoft.com/en-us/windows/win32/api/mmeapi/ns-mmeapi-waveformatex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两个参数分别限制什么？</a:t>
            </a:r>
          </a:p>
          <a:p>
            <a:r>
              <a:t>[内部编号] T2-summary</a:t>
            </a:r>
          </a:p>
          <a:p>
            <a:r>
              <a:t>[阶段] tree-summary</a:t>
            </a:r>
          </a:p>
          <a:p>
            <a:r>
              <a:t>[教师逐字稿]</a:t>
            </a:r>
          </a:p>
          <a:p>
            <a:r>
              <a:t>先用D2或D3证据说明采样率与位数各改变什么；补出适用条件。先请学生说，留出总结停顿。追问“哪项观察或记录支持你？”收集后才逐次更新树。</a:t>
            </a:r>
          </a:p>
          <a:p>
            <a:r>
              <a:t>[来源]</a:t>
            </a:r>
          </a:p>
          <a:p>
            <a:r>
              <a:t>course-design.qmd C3–C8；assets/audio-manifest.json；https://www.analog.com/media/en/training-seminars/tutorials/MT-002.pdf；https://www.analog.com/media/en/training-seminars/tutorials/MT-001.pdf；https://learn.microsoft.com/en-us/windows/win32/api/mmeapi/ns-mmeapi-waveformatex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两个参数分别限制什么？</a:t>
            </a:r>
          </a:p>
          <a:p>
            <a:r>
              <a:t>[内部编号] T2-frequency</a:t>
            </a:r>
          </a:p>
          <a:p>
            <a:r>
              <a:t>[阶段] tree-reveal</a:t>
            </a:r>
          </a:p>
          <a:p>
            <a:r>
              <a:t>[教师逐字稿]</a:t>
            </a:r>
          </a:p>
          <a:p>
            <a:r>
              <a:t>依据刚才学生的总结，现在只补这一项：采样率，频率范围。连接表示带限条件与频率保留范围；实际需滤波余量。请学生指对应证据，再和先前节点联系；下一次翻页才增加下一项。</a:t>
            </a:r>
          </a:p>
          <a:p>
            <a:r>
              <a:t>[来源]</a:t>
            </a:r>
          </a:p>
          <a:p>
            <a:r>
              <a:t>course-design.qmd C3–C8；assets/audio-manifest.json；https://www.analog.com/media/en/training-seminars/tutorials/MT-002.pdf；https://www.analog.com/media/en/training-seminars/tutorials/MT-001.pdf；https://learn.microsoft.com/en-us/windows/win32/api/mmeapi/ns-mmeapi-waveformatex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两个参数分别限制什么？</a:t>
            </a:r>
          </a:p>
          <a:p>
            <a:r>
              <a:t>[内部编号] T2-precision</a:t>
            </a:r>
          </a:p>
          <a:p>
            <a:r>
              <a:t>[阶段] tree-reveal</a:t>
            </a:r>
          </a:p>
          <a:p>
            <a:r>
              <a:t>[教师逐字稿]</a:t>
            </a:r>
          </a:p>
          <a:p>
            <a:r>
              <a:t>依据刚才学生的总结，现在只补这一项：位数，等级与误差上界。连接表示固定范围均匀量化，2的n次方等级和误差上界。请学生指对应证据，再和先前节点联系；下一次翻页才增加下一项。</a:t>
            </a:r>
          </a:p>
          <a:p>
            <a:r>
              <a:t>[来源]</a:t>
            </a:r>
          </a:p>
          <a:p>
            <a:r>
              <a:t>course-design.qmd C3–C8；assets/audio-manifest.json；https://www.analog.com/media/en/training-seminars/tutorials/MT-002.pdf；https://www.analog.com/media/en/training-seminars/tutorials/MT-001.pdf；https://learn.microsoft.com/en-us/windows/win32/api/mmeapi/ns-mmeapi-waveformatex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左右两路声音，怎样记录？</a:t>
            </a:r>
          </a:p>
          <a:p>
            <a:r>
              <a:t>[内部编号] Q13-question</a:t>
            </a:r>
          </a:p>
          <a:p>
            <a:r>
              <a:t>[阶段] question</a:t>
            </a:r>
          </a:p>
          <a:p>
            <a:r>
              <a:t>[教师逐字稿]</a:t>
            </a:r>
          </a:p>
          <a:p>
            <a:r>
              <a:t>看三个时刻，每个时刻左、右各记录一个数。请分别数单声道和双声道的样本总数；再回答同参数、同长度的数据量怎样变。</a:t>
            </a:r>
          </a:p>
          <a:p>
            <a:r>
              <a:t>[教师参考，不在提问阶段朗读]</a:t>
            </a:r>
          </a:p>
          <a:p>
            <a:r>
              <a:t>已知每个时刻每声道一个幅度样本。</a:t>
            </a:r>
          </a:p>
          <a:p>
            <a:r>
              <a:t>[预期反应]</a:t>
            </a:r>
          </a:p>
          <a:p>
            <a:r>
              <a:t>两倍；误答“音量两倍”“音质两倍”时回到样本计数。</a:t>
            </a:r>
          </a:p>
          <a:p>
            <a:r>
              <a:t>[来源]</a:t>
            </a:r>
          </a:p>
          <a:p>
            <a:r>
              <a:t>course-design.qmd C3–C8；assets/audio-manifest.json；https://www.analog.com/media/en/training-seminars/tutorials/MT-002.pdf；https://www.analog.com/media/en/training-seminars/tutorials/MT-001.pdf；https://learn.microsoft.com/en-us/windows/win32/api/mmeapi/ns-mmeapi-waveformatex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左右两路声音，怎样记录？</a:t>
            </a:r>
          </a:p>
          <a:p>
            <a:r>
              <a:t>[内部编号] Q13-answer</a:t>
            </a:r>
          </a:p>
          <a:p>
            <a:r>
              <a:t>[阶段] answer</a:t>
            </a:r>
          </a:p>
          <a:p>
            <a:r>
              <a:t>[教师逐字稿]</a:t>
            </a:r>
          </a:p>
          <a:p>
            <a:r>
              <a:t>这里的声道是一路信号。每个时刻，左边一个数，右边一个数，就有两个样本。我们只是数存储量，不能由两倍数据推出两倍音量或两倍音质。图像RGB通道是颜色分量，音频L、R是声音的两路信号，别把含义混在一起。</a:t>
            </a:r>
          </a:p>
          <a:p>
            <a:r>
              <a:t>[形成结论]</a:t>
            </a:r>
          </a:p>
          <a:p>
            <a:r>
              <a:t>声道数是样本计数的乘数。</a:t>
            </a:r>
          </a:p>
          <a:p>
            <a:r>
              <a:t>[追问问题]</a:t>
            </a:r>
          </a:p>
          <a:p>
            <a:r>
              <a:t>把相同的单声道复制到两路，信息内容一定增加了吗？</a:t>
            </a:r>
          </a:p>
          <a:p>
            <a:r>
              <a:t>[下一问]</a:t>
            </a:r>
          </a:p>
          <a:p>
            <a:r>
              <a:t>样本和参数怎样装进可以播放的文件？</a:t>
            </a:r>
          </a:p>
          <a:p>
            <a:r>
              <a:t>[Demo操作与技术参考，不投影]</a:t>
            </a:r>
          </a:p>
          <a:p>
            <a:r>
              <a:t/>
            </a:r>
          </a:p>
          <a:p>
            <a:r>
              <a:t>[来源]</a:t>
            </a:r>
          </a:p>
          <a:p>
            <a:r>
              <a:t>course-design.qmd C3–C8；assets/audio-manifest.json；https://www.analog.com/media/en/training-seminars/tutorials/MT-002.pdf；https://www.analog.com/media/en/training-seminars/tutorials/MT-001.pdf；https://learn.microsoft.com/en-us/windows/win32/api/mmeapi/ns-mmeapi-waveformatex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未压缩PCM WAV保存了什么？</a:t>
            </a:r>
          </a:p>
          <a:p>
            <a:r>
              <a:t>[内部编号] Q14-question</a:t>
            </a:r>
          </a:p>
          <a:p>
            <a:r>
              <a:t>[阶段] question</a:t>
            </a:r>
          </a:p>
          <a:p>
            <a:r>
              <a:t>[教师逐字稿]</a:t>
            </a:r>
          </a:p>
          <a:p>
            <a:r>
              <a:t>回到那串样本。别人要读懂并播放，文件除样本还要交代哪些参数？先回忆Q7缺什么；“未压缩”是否就保证没有采样、量化误差？先保留判断。</a:t>
            </a:r>
          </a:p>
          <a:p>
            <a:r>
              <a:t>[教师参考，不在提问阶段朗读]</a:t>
            </a:r>
          </a:p>
          <a:p>
            <a:r>
              <a:t>Q7已发现码字必须搭配解释规则。</a:t>
            </a:r>
          </a:p>
          <a:p>
            <a:r>
              <a:t>[预期反应]</a:t>
            </a:r>
          </a:p>
          <a:p>
            <a:r>
              <a:t>采样率、位数、声道。不能把WAV称为“没有量化损失的原声”。</a:t>
            </a:r>
          </a:p>
          <a:p>
            <a:r>
              <a:t>[来源]</a:t>
            </a:r>
          </a:p>
          <a:p>
            <a:r>
              <a:t>course-design.qmd C3–C8；assets/audio-manifest.json；https://www.analog.com/media/en/training-seminars/tutorials/MT-002.pdf；https://www.analog.com/media/en/training-seminars/tutorials/MT-001.pdf；https://learn.microsoft.com/en-us/windows/win32/api/mmeapi/ns-mmeapi-waveformatex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未压缩PCM WAV保存了什么？</a:t>
            </a:r>
          </a:p>
          <a:p>
            <a:r>
              <a:t>[内部编号] Q14-answer</a:t>
            </a:r>
          </a:p>
          <a:p>
            <a:r>
              <a:t>[阶段] answer</a:t>
            </a:r>
          </a:p>
          <a:p>
            <a:r>
              <a:t>[教师逐字稿]</a:t>
            </a:r>
          </a:p>
          <a:p>
            <a:r>
              <a:t>采样率告诉我们多久读一个，位数告诉我们怎么分组，声道告诉我们怎样分成各路。WAV把这些格式信息和样本装在一起。PCM是脉冲编码调制，本课使用固定码长表示量化后的样本。今天只讨论未压缩整数PCM WAV：它按固定存储位数保存样本，没有再做AAC那样的音频压缩。不过WAV这个容器也能装其他格式，不能只看扩展名下结论。“未压缩”指这些样本没有再做音频压缩，不保证模拟声音经过采样、量化后毫无损失，也不撤销来源AAC已有的损失。</a:t>
            </a:r>
          </a:p>
          <a:p>
            <a:r>
              <a:t>[形成结论]</a:t>
            </a:r>
          </a:p>
          <a:p>
            <a:r>
              <a:t>未压缩PCM可按样本数与实际存储位数计算；WAV是容器。</a:t>
            </a:r>
          </a:p>
          <a:p>
            <a:r>
              <a:t>[追问问题]</a:t>
            </a:r>
          </a:p>
          <a:p>
            <a:r>
              <a:t>PCM编码和MP3／AAC压缩是一回事吗？所有WAV都一定未压缩吗？</a:t>
            </a:r>
          </a:p>
          <a:p>
            <a:r>
              <a:t>[下一问]</a:t>
            </a:r>
          </a:p>
          <a:p>
            <a:r>
              <a:t>从“一秒有多少样本”推导样本数据量。</a:t>
            </a:r>
          </a:p>
          <a:p>
            <a:r>
              <a:t>[Demo操作与技术参考，不投影]</a:t>
            </a:r>
          </a:p>
          <a:p>
            <a:r>
              <a:t/>
            </a:r>
          </a:p>
          <a:p>
            <a:r>
              <a:t>[来源]</a:t>
            </a:r>
          </a:p>
          <a:p>
            <a:r>
              <a:t>course-design.qmd C3–C8；assets/audio-manifest.json；https://www.analog.com/media/en/training-seminars/tutorials/MT-002.pdf；https://www.analog.com/media/en/training-seminars/tutorials/MT-001.pdf；https://learn.microsoft.com/en-us/windows/win32/api/mmeapi/ns-mmeapi-waveformatex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怎样从样本数推导数据量？</a:t>
            </a:r>
          </a:p>
          <a:p>
            <a:r>
              <a:t>[内部编号] Q15-question</a:t>
            </a:r>
          </a:p>
          <a:p>
            <a:r>
              <a:t>[阶段] question</a:t>
            </a:r>
          </a:p>
          <a:p>
            <a:r>
              <a:t>[教师逐字稿]</a:t>
            </a:r>
          </a:p>
          <a:p>
            <a:r>
              <a:t>先数，不先背公式。一秒一条路有多少样本？录t秒、共C路后有多少个数？每个数占n位，最后怎样换成byte？请把每一步的单位说出来。</a:t>
            </a:r>
          </a:p>
          <a:p>
            <a:r>
              <a:t>[教师参考，不在提问阶段朗读]</a:t>
            </a:r>
          </a:p>
          <a:p>
            <a:r>
              <a:t>已会图像像素总数乘位深度；知道音频声道数。</a:t>
            </a:r>
          </a:p>
          <a:p>
            <a:r>
              <a:t>[预期反应]</a:t>
            </a:r>
          </a:p>
          <a:p>
            <a:r>
              <a:t>样本数量乘每样本位数；可能漏C或忘除8。</a:t>
            </a:r>
          </a:p>
          <a:p>
            <a:r>
              <a:t>[来源]</a:t>
            </a:r>
          </a:p>
          <a:p>
            <a:r>
              <a:t>course-design.qmd C3–C8；assets/audio-manifest.json；https://www.analog.com/media/en/training-seminars/tutorials/MT-002.pdf；https://www.analog.com/media/en/training-seminars/tutorials/MT-001.pdf；https://learn.microsoft.com/en-us/windows/win32/api/mmeapi/ns-mmeapi-waveformatex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怎样从样本数推导数据量？</a:t>
            </a:r>
          </a:p>
          <a:p>
            <a:r>
              <a:t>[内部编号] Q15-count</a:t>
            </a:r>
          </a:p>
          <a:p>
            <a:r>
              <a:t>[阶段] evidence</a:t>
            </a:r>
          </a:p>
          <a:p>
            <a:r>
              <a:t>[教师逐字稿]</a:t>
            </a:r>
          </a:p>
          <a:p>
            <a:r>
              <a:t>核对一秒一路的fs个样本，再乘时长和声道数。先只数总共有多少个数，暂不换成字节。</a:t>
            </a:r>
          </a:p>
          <a:p>
            <a:r>
              <a:t>[来源]</a:t>
            </a:r>
          </a:p>
          <a:p>
            <a:r>
              <a:t>course-design.qmd C3–C8；assets/audio-manifest.json；https://www.analog.com/media/en/training-seminars/tutorials/MT-002.pdf；https://www.analog.com/media/en/training-seminars/tutorials/MT-001.pdf；https://learn.microsoft.com/en-us/windows/win32/api/mmeapi/ns-mmeapi-waveformatex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怎样从样本数推导数据量？</a:t>
            </a:r>
          </a:p>
          <a:p>
            <a:r>
              <a:t>[内部编号] Q15-answer</a:t>
            </a:r>
          </a:p>
          <a:p>
            <a:r>
              <a:t>[阶段] answer</a:t>
            </a:r>
          </a:p>
          <a:p>
            <a:r>
              <a:t>[教师逐字稿]</a:t>
            </a:r>
          </a:p>
          <a:p>
            <a:r>
              <a:t>刚才逐层数过了：每秒一条路有fs个样本，t秒共fs乘t个；再有C条路，一共fs乘t乘C个数。每个数占n位，现在得到的是bit。要用B表示，还要除以八。每一个乘数都能在记录动作里找到。这里算的是样本数据，不包含文件头。</a:t>
            </a:r>
          </a:p>
          <a:p>
            <a:r>
              <a:t>[形成结论]</a:t>
            </a:r>
          </a:p>
          <a:p>
            <a:r>
              <a:t>从样本计数推导公式，适用范围为固定存储位数的未压缩PCM。</a:t>
            </a:r>
          </a:p>
          <a:p>
            <a:r>
              <a:t>[追问问题]</a:t>
            </a:r>
          </a:p>
          <a:p>
            <a:r>
              <a:t>式子的哪个因子把bit换成了byte？哪个因子记录了时间？</a:t>
            </a:r>
          </a:p>
          <a:p>
            <a:r>
              <a:t>[下一问]</a:t>
            </a:r>
          </a:p>
          <a:p>
            <a:r>
              <a:t>用一组现实参数独立算一次。</a:t>
            </a:r>
          </a:p>
          <a:p>
            <a:r>
              <a:t>[Demo操作与技术参考，不投影]</a:t>
            </a:r>
          </a:p>
          <a:p>
            <a:r>
              <a:t/>
            </a:r>
          </a:p>
          <a:p>
            <a:r>
              <a:t>[来源]</a:t>
            </a:r>
          </a:p>
          <a:p>
            <a:r>
              <a:t>course-design.qmd C3–C8；assets/audio-manifest.json；https://www.analog.com/media/en/training-seminars/tutorials/MT-002.pdf；https://www.analog.com/media/en/training-seminars/tutorials/MT-001.pdf；https://learn.microsoft.com/en-us/windows/win32/api/mmeapi/ns-mmeapi-waveformatex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一分钟双声道PCM有多大？</a:t>
            </a:r>
          </a:p>
          <a:p>
            <a:r>
              <a:t>[内部编号] Q16-question</a:t>
            </a:r>
          </a:p>
          <a:p>
            <a:r>
              <a:t>[阶段] question</a:t>
            </a:r>
          </a:p>
          <a:p>
            <a:r>
              <a:t>[教师逐字稿]</a:t>
            </a:r>
          </a:p>
          <a:p>
            <a:r>
              <a:t>给大家六十秒，独立写四个参数、B的算式与结果；MiB只列换算式。先检查kHz和分钟怎样换单位，再与同桌核对，不先看揭示页。</a:t>
            </a:r>
          </a:p>
          <a:p>
            <a:r>
              <a:t>[教师参考，不在提问阶段朗读]</a:t>
            </a:r>
          </a:p>
          <a:p>
            <a:r>
              <a:t>已推导公式，知道kHz和分钟必须换算。</a:t>
            </a:r>
          </a:p>
          <a:p>
            <a:r>
              <a:t>[预期反应]</a:t>
            </a:r>
          </a:p>
          <a:p>
            <a:r>
              <a:t>10,584,000B；MiB可先写10,584,000÷1,048,576。错用44.1、漏60或把MB／MiB混用时要求解释单位；未算出10.09但列式正确不判为概念错误。</a:t>
            </a:r>
          </a:p>
          <a:p>
            <a:r>
              <a:t>[来源]</a:t>
            </a:r>
          </a:p>
          <a:p>
            <a:r>
              <a:t>course-design.qmd C3–C8；assets/audio-manifest.json；https://www.analog.com/media/en/training-seminars/tutorials/MT-002.pdf；https://www.analog.com/media/en/training-seminars/tutorials/MT-001.pdf；https://learn.microsoft.com/en-us/windows/win32/api/mmeapi/ns-mmeapi-waveformatex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一分钟双声道PCM有多大？</a:t>
            </a:r>
          </a:p>
          <a:p>
            <a:r>
              <a:t>[内部编号] Q16-answer</a:t>
            </a:r>
          </a:p>
          <a:p>
            <a:r>
              <a:t>[阶段] answer</a:t>
            </a:r>
          </a:p>
          <a:p>
            <a:r>
              <a:t>[教师逐字稿]</a:t>
            </a:r>
          </a:p>
          <a:p>
            <a:r>
              <a:t>核对刚才的算式：四十四点一千赫兹应换成四万四千一百赫兹，一分钟应换成六十秒。双声道乘二，bit换B除八。先求B，再按给定的1MiB换算；列出分式就可以，我来给近似值。MiB用1024进位，MB是十进制单位，算式与单位必须配套。</a:t>
            </a:r>
          </a:p>
          <a:p>
            <a:r>
              <a:t>[形成结论]</a:t>
            </a:r>
          </a:p>
          <a:p>
            <a:r>
              <a:t>同条件时数据量随时长、采样率、存储位数、声道数线性变化。</a:t>
            </a:r>
          </a:p>
          <a:p>
            <a:r>
              <a:t>[追问问题]</a:t>
            </a:r>
          </a:p>
          <a:p>
            <a:r>
              <a:t>如果采样率不变、位数不变，只把时长变为30秒，怎样快速判断？</a:t>
            </a:r>
          </a:p>
          <a:p>
            <a:r>
              <a:t>[下一问]</a:t>
            </a:r>
          </a:p>
          <a:p>
            <a:r>
              <a:t>公式结果就是文件管理器显示的完整大小吗？</a:t>
            </a:r>
          </a:p>
          <a:p>
            <a:r>
              <a:t>[Demo操作与技术参考，不投影]</a:t>
            </a:r>
          </a:p>
          <a:p>
            <a:r>
              <a:t/>
            </a:r>
          </a:p>
          <a:p>
            <a:r>
              <a:t>[来源]</a:t>
            </a:r>
          </a:p>
          <a:p>
            <a:r>
              <a:t>course-design.qmd C3–C8；assets/audio-manifest.json；https://www.analog.com/media/en/training-seminars/tutorials/MT-002.pdf；https://www.analog.com/media/en/training-seminars/tutorials/MT-001.pdf；https://learn.microsoft.com/en-us/windows/win32/api/mmeapi/ns-mmeapi-waveformatex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算出32000B，文件一定也是32000B吗？</a:t>
            </a:r>
          </a:p>
          <a:p>
            <a:r>
              <a:t>[内部编号] Q17-question</a:t>
            </a:r>
          </a:p>
          <a:p>
            <a:r>
              <a:t>[阶段] question</a:t>
            </a:r>
          </a:p>
          <a:p>
            <a:r>
              <a:t>[教师逐字稿]</a:t>
            </a:r>
          </a:p>
          <a:p>
            <a:r>
              <a:t>按参数已经算出三万二byte。你预测实际完整WAV文件是否也正好这么大？先说理由，再读取实际文件。解释差额后，我们才回看开场A、B。</a:t>
            </a:r>
          </a:p>
          <a:p>
            <a:r>
              <a:t>[教师参考，不在提问阶段朗读]</a:t>
            </a:r>
          </a:p>
          <a:p>
            <a:r>
              <a:t>图像课也区分像素数据量与文件开销。</a:t>
            </a:r>
          </a:p>
          <a:p>
            <a:r>
              <a:t>[预期反应]</a:t>
            </a:r>
          </a:p>
          <a:p>
            <a:r>
              <a:t>还有文件头；不能推断所有WAV都只多44B。</a:t>
            </a:r>
          </a:p>
          <a:p>
            <a:r>
              <a:t>[来源]</a:t>
            </a:r>
          </a:p>
          <a:p>
            <a:r>
              <a:t>course-design.qmd C3–C8；assets/audio-manifest.json；https://www.analog.com/media/en/training-seminars/tutorials/MT-002.pdf；https://www.analog.com/media/en/training-seminars/tutorials/MT-001.pdf；https://learn.microsoft.com/en-us/windows/win32/api/mmeapi/ns-mmeapi-waveformatex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算出32000B，文件一定也是32000B吗？</a:t>
            </a:r>
          </a:p>
          <a:p>
            <a:r>
              <a:t>[内部编号] Q17-answer</a:t>
            </a:r>
          </a:p>
          <a:p>
            <a:r>
              <a:t>[阶段] answer</a:t>
            </a:r>
          </a:p>
          <a:p>
            <a:r>
              <a:t>[教师逐字稿]</a:t>
            </a:r>
          </a:p>
          <a:p>
            <a:r>
              <a:t>你算出三万二，文件却是三万二千零四十四。分开数：每声道一万六千帧、单声道每帧两个byte，样本数据正好三万二。多出的结构信息只属于这个样例，不能说所有WAV都是四十四字节头。现在先指出这44B解释了哪项差异，再翻到Q17-B，请你们预测开场A/B的实际参数支持哪条猜测，预测后才读表。</a:t>
            </a:r>
          </a:p>
          <a:p>
            <a:r>
              <a:t>[形成结论]</a:t>
            </a:r>
          </a:p>
          <a:p>
            <a:r>
              <a:t>真实计数验证公式的payload边界；已知参数时能解释同长未压缩音频的大小差异。开场冲突到此得到证据支持的解释。</a:t>
            </a:r>
          </a:p>
          <a:p>
            <a:r>
              <a:t>[追问问题]</a:t>
            </a:r>
          </a:p>
          <a:p>
            <a:r>
              <a:t>如果WAV含额外说明、其他chunk或更复杂头部，开销一定相同吗？</a:t>
            </a:r>
          </a:p>
          <a:p>
            <a:r>
              <a:t>[下一问]</a:t>
            </a:r>
          </a:p>
          <a:p>
            <a:r>
              <a:t>存储上限与记录需求同时出现时怎样选参数？</a:t>
            </a:r>
          </a:p>
          <a:p>
            <a:r>
              <a:t>[Demo操作与技术参考，不投影]</a:t>
            </a:r>
          </a:p>
          <a:p>
            <a:r>
              <a:t>D4通过`pcm_info(ROOT / 'assets/audio/size-check-8000-2s-16-mono.wav')`读取真实字节；先运行`show_pcm_evidence('size')`，只显示2秒样例。等学生解释差额，先停在Q17-B问题页收集猜测，再单独运行`show_pcm_evidence('opening')`显示A/B参数表。两步不得用一次Run All替代。数值均实时从本地WAV读取，不引用资源管理器的磁盘占用，不硬编码“file size=payload+44”。若Notebook失效，用PPTX的Q17揭示页核对2秒样例，再由C3实测值和板书核对A/B，不放弃开场回扣。</a:t>
            </a:r>
          </a:p>
          <a:p>
            <a:r>
              <a:t>[来源]</a:t>
            </a:r>
          </a:p>
          <a:p>
            <a:r>
              <a:t>course-design.qmd C3–C8；assets/audio-manifest.json；https://www.analog.com/media/en/training-seminars/tutorials/MT-002.pdf；https://www.analog.com/media/en/training-seminars/tutorials/MT-001.pdf；https://learn.microsoft.com/en-us/windows/win32/api/mmeapi/ns-mmeapi-waveformatex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实际参数支持开场哪条猜测？</a:t>
            </a:r>
          </a:p>
          <a:p>
            <a:r>
              <a:t>[内部编号] Q17-B-question</a:t>
            </a:r>
          </a:p>
          <a:p>
            <a:r>
              <a:t>[阶段] question</a:t>
            </a:r>
          </a:p>
          <a:p>
            <a:r>
              <a:t>[教师逐字稿]</a:t>
            </a:r>
          </a:p>
          <a:p>
            <a:r>
              <a:t>回看板书的两条猜测。大小不同，哪些记录参数可能不同？先说一个可以用文件核对的预测，不先运行A/B表。</a:t>
            </a:r>
          </a:p>
          <a:p>
            <a:r>
              <a:t>[来源]</a:t>
            </a:r>
          </a:p>
          <a:p>
            <a:r>
              <a:t>course-design.qmd C3–C8；assets/audio-manifest.json；https://www.analog.com/media/en/training-seminars/tutorials/MT-002.pdf；https://www.analog.com/media/en/training-seminars/tutorials/MT-001.pdf；https://learn.microsoft.com/en-us/windows/win32/api/mmeapi/ns-mmeapi-waveformatex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实际参数支持开场哪条猜测？</a:t>
            </a:r>
          </a:p>
          <a:p>
            <a:r>
              <a:t>[内部编号] Q17-B-answer</a:t>
            </a:r>
          </a:p>
          <a:p>
            <a:r>
              <a:t>[阶段] answer</a:t>
            </a:r>
          </a:p>
          <a:p>
            <a:r>
              <a:t>[教师逐字稿]</a:t>
            </a:r>
          </a:p>
          <a:p>
            <a:r>
              <a:t>实际读表显示只有采样率不同，位数、声道和时长相同。用刚才公式分别得到529,200和96,000byte。两份开销都是44B，所以大小差等于样本数据差；完整文件的比值不能直接当采样率比值。请修改没有证据支持的压缩猜测。</a:t>
            </a:r>
          </a:p>
          <a:p>
            <a:r>
              <a:t>[来源]</a:t>
            </a:r>
          </a:p>
          <a:p>
            <a:r>
              <a:t>course-design.qmd C3–C8；assets/audio-manifest.json；https://www.analog.com/media/en/training-seminars/tutorials/MT-002.pdf；https://www.analog.com/media/en/training-seminars/tutorials/MT-001.pdf；https://learn.microsoft.com/en-us/windows/win32/api/mmeapi/ns-mmeapi-waveformatex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我们怎样数数据、解释文件？</a:t>
            </a:r>
          </a:p>
          <a:p>
            <a:r>
              <a:t>[内部编号] T3-summary</a:t>
            </a:r>
          </a:p>
          <a:p>
            <a:r>
              <a:t>[阶段] tree-summary</a:t>
            </a:r>
          </a:p>
          <a:p>
            <a:r>
              <a:t>[教师逐字稿]</a:t>
            </a:r>
          </a:p>
          <a:p>
            <a:r>
              <a:t>用Q13帧计数、Q16算式及Q17差额说明公式数什么，哪些不在公式里。先请学生说，留出总结停顿。追问“哪项观察或记录支持你？”收集后才逐次更新树。</a:t>
            </a:r>
          </a:p>
          <a:p>
            <a:r>
              <a:t>[来源]</a:t>
            </a:r>
          </a:p>
          <a:p>
            <a:r>
              <a:t>course-design.qmd C3–C8；assets/audio-manifest.json；https://www.analog.com/media/en/training-seminars/tutorials/MT-002.pdf；https://www.analog.com/media/en/training-seminars/tutorials/MT-001.pdf；https://learn.microsoft.com/en-us/windows/win32/api/mmeapi/ns-mmeapi-waveformatex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我们怎样数数据、解释文件？</a:t>
            </a:r>
          </a:p>
          <a:p>
            <a:r>
              <a:t>[内部编号] T3-payload</a:t>
            </a:r>
          </a:p>
          <a:p>
            <a:r>
              <a:t>[阶段] tree-reveal</a:t>
            </a:r>
          </a:p>
          <a:p>
            <a:r>
              <a:t>[教师逐字稿]</a:t>
            </a:r>
          </a:p>
          <a:p>
            <a:r>
              <a:t>依据刚才学生的总结，现在只补这一项：存储位数、声道，计数→样本数据B。连接表示帧数×每帧实际存储字节；不含文件开销。请学生指对应证据，再和先前节点联系；下一次翻页才增加下一项。</a:t>
            </a:r>
          </a:p>
          <a:p>
            <a:r>
              <a:t>[来源]</a:t>
            </a:r>
          </a:p>
          <a:p>
            <a:r>
              <a:t>course-design.qmd C3–C8；assets/audio-manifest.json；https://www.analog.com/media/en/training-seminars/tutorials/MT-002.pdf；https://www.analog.com/media/en/training-seminars/tutorials/MT-001.pdf；https://learn.microsoft.com/en-us/windows/win32/api/mmeapi/ns-mmeapi-waveformatex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我们怎样数数据、解释文件？</a:t>
            </a:r>
          </a:p>
          <a:p>
            <a:r>
              <a:t>[内部编号] T3-container</a:t>
            </a:r>
          </a:p>
          <a:p>
            <a:r>
              <a:t>[阶段] tree-reveal</a:t>
            </a:r>
          </a:p>
          <a:p>
            <a:r>
              <a:t>[教师逐字稿]</a:t>
            </a:r>
          </a:p>
          <a:p>
            <a:r>
              <a:t>依据刚才学生的总结，现在只补这一项：WAV：参数＋样本，完整文件另有开销。连接表示本课只用未压缩整数PCM，WAV容器不保证无损。请学生指对应证据，再和先前节点联系；下一次翻页才增加下一项。</a:t>
            </a:r>
          </a:p>
          <a:p>
            <a:r>
              <a:t>[来源]</a:t>
            </a:r>
          </a:p>
          <a:p>
            <a:r>
              <a:t>course-design.qmd C3–C8；assets/audio-manifest.json；https://www.analog.com/media/en/training-seminars/tutorials/MT-002.pdf；https://www.analog.com/media/en/training-seminars/tutorials/MT-001.pdf；https://learn.microsoft.com/en-us/windows/win32/api/mmeapi/ns-mmeapi-waveformatex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只有64KiB，哪种方案满足要求？</a:t>
            </a:r>
          </a:p>
          <a:p>
            <a:r>
              <a:t>[内部编号] Q18-question</a:t>
            </a:r>
          </a:p>
          <a:p>
            <a:r>
              <a:t>[阶段] question</a:t>
            </a:r>
          </a:p>
          <a:p>
            <a:r>
              <a:t>[教师逐字稿]</a:t>
            </a:r>
          </a:p>
          <a:p>
            <a:r>
              <a:t>靠窗同学先查8kHz，另一位查24kHz，各三十秒。每个方案都查频率和容量两项。然后共同检查16kHz，四十五秒合并三行表。不要只写选哪一个，要说明另两个失败在哪里。</a:t>
            </a:r>
          </a:p>
          <a:p>
            <a:r>
              <a:t>[教师参考，不在提问阶段朗读]</a:t>
            </a:r>
          </a:p>
          <a:p>
            <a:r>
              <a:t>已知采样率的频率限制与容量乘法。</a:t>
            </a:r>
          </a:p>
          <a:p>
            <a:r>
              <a:t>[预期反应]</a:t>
            </a:r>
          </a:p>
          <a:p>
            <a:r>
              <a:t>16kHz；8k不足以记录最高6kHz，24k超预算。16k按题目的理想采样条件与容量条件满足；实际工程还需滤波余量。本题是纸面参数选择，没有预制16kHz测试文件，不声称已验证某个16kHz转换的实际频响。</a:t>
            </a:r>
          </a:p>
          <a:p>
            <a:r>
              <a:t>[来源]</a:t>
            </a:r>
          </a:p>
          <a:p>
            <a:r>
              <a:t>course-design.qmd C3–C8；assets/audio-manifest.json；https://www.analog.com/media/en/training-seminars/tutorials/MT-002.pdf；https://www.analog.com/media/en/training-seminars/tutorials/MT-001.pdf；https://learn.microsoft.com/en-us/windows/win32/api/mmeapi/ns-mmeapi-waveformatex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只有64KiB，哪种方案满足要求？</a:t>
            </a:r>
          </a:p>
          <a:p>
            <a:r>
              <a:t>[内部编号] Q18-answer</a:t>
            </a:r>
          </a:p>
          <a:p>
            <a:r>
              <a:t>[阶段] answer</a:t>
            </a:r>
          </a:p>
          <a:p>
            <a:r>
              <a:t>[教师逐字稿]</a:t>
            </a:r>
          </a:p>
          <a:p>
            <a:r>
              <a:t>题目给定信号最高到六千赫兹，按刚才的理想条件，采样率要高于一万二。再看记录两秒、16bit、单声道的数据量，有没有超过给定的65,536B？核对三行：八千的容量够，但频率条件不满足；二万四满足频率条件，却超出容量。一万六在本题的理想模型中通过两项检查；实际系统仍需滤波余量。</a:t>
            </a:r>
          </a:p>
          <a:p>
            <a:r>
              <a:t>[形成结论]</a:t>
            </a:r>
          </a:p>
          <a:p>
            <a:r>
              <a:t>按需求和预算作条件判断，说明取舍。</a:t>
            </a:r>
          </a:p>
          <a:p>
            <a:r>
              <a:t>[追问问题]</a:t>
            </a:r>
          </a:p>
          <a:p>
            <a:r>
              <a:t>64KiB到底是多少B？选较高参数前先检查哪个限制？</a:t>
            </a:r>
          </a:p>
          <a:p>
            <a:r>
              <a:t>[下一问]</a:t>
            </a:r>
          </a:p>
          <a:p>
            <a:r>
              <a:t>用三个错误说法检查我们是否仍把概念混在一起。</a:t>
            </a:r>
          </a:p>
          <a:p>
            <a:r>
              <a:t>[Demo操作与技术参考，不投影]</a:t>
            </a:r>
          </a:p>
          <a:p>
            <a:r>
              <a:t/>
            </a:r>
          </a:p>
          <a:p>
            <a:r>
              <a:t>[来源]</a:t>
            </a:r>
          </a:p>
          <a:p>
            <a:r>
              <a:t>course-design.qmd C3–C8；assets/audio-manifest.json；https://www.analog.com/media/en/training-seminars/tutorials/MT-002.pdf；https://www.analog.com/media/en/training-seminars/tutorials/MT-001.pdf；https://learn.microsoft.com/en-us/windows/win32/api/mmeapi/ns-mmeapi-waveformatex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选方案需要同时查哪些条件？</a:t>
            </a:r>
          </a:p>
          <a:p>
            <a:r>
              <a:t>[内部编号] T4-summary</a:t>
            </a:r>
          </a:p>
          <a:p>
            <a:r>
              <a:t>[阶段] tree-summary</a:t>
            </a:r>
          </a:p>
          <a:p>
            <a:r>
              <a:t>[教师逐字稿]</a:t>
            </a:r>
          </a:p>
          <a:p>
            <a:r>
              <a:t>学生先说8k／24k分别失败在哪里，再指出16k的两项证据。先请学生说，留出总结停顿。追问“哪项观察或记录支持你？”收集后才逐次更新树。</a:t>
            </a:r>
          </a:p>
          <a:p>
            <a:r>
              <a:t>[来源]</a:t>
            </a:r>
          </a:p>
          <a:p>
            <a:r>
              <a:t>course-design.qmd C3–C8；assets/audio-manifest.json；https://www.analog.com/media/en/training-seminars/tutorials/MT-002.pdf；https://www.analog.com/media/en/training-seminars/tutorials/MT-001.pdf；https://learn.microsoft.com/en-us/windows/win32/api/mmeapi/ns-mmeapi-waveformatex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选方案需要同时查哪些条件？</a:t>
            </a:r>
          </a:p>
          <a:p>
            <a:r>
              <a:t>[内部编号] T4-constraints</a:t>
            </a:r>
          </a:p>
          <a:p>
            <a:r>
              <a:t>[阶段] tree-reveal</a:t>
            </a:r>
          </a:p>
          <a:p>
            <a:r>
              <a:t>[教师逐字稿]</a:t>
            </a:r>
          </a:p>
          <a:p>
            <a:r>
              <a:t>依据刚才学生的总结，现在只补这一项：选方案：同时检查频率与容量条件。连接表示模型条件和容量预算共同决定选择。请学生指对应证据，再和先前节点联系；下一次翻页才增加下一项。</a:t>
            </a:r>
          </a:p>
          <a:p>
            <a:r>
              <a:t>[来源]</a:t>
            </a:r>
          </a:p>
          <a:p>
            <a:r>
              <a:t>course-design.qmd C3–C8；assets/audio-manifest.json；https://www.analog.com/media/en/training-seminars/tutorials/MT-002.pdf；https://www.analog.com/media/en/training-seminars/tutorials/MT-001.pdf；https://learn.microsoft.com/en-us/windows/win32/api/mmeapi/ns-mmeapi-waveformatex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哪些说法需要修改？</a:t>
            </a:r>
          </a:p>
          <a:p>
            <a:r>
              <a:t>[内部编号] Q19-question</a:t>
            </a:r>
          </a:p>
          <a:p>
            <a:r>
              <a:t>[阶段] question</a:t>
            </a:r>
          </a:p>
          <a:p>
            <a:r>
              <a:t>[教师逐字稿]</a:t>
            </a:r>
          </a:p>
          <a:p>
            <a:r>
              <a:t>每个人先独立写六十秒：第三句必须改，再选第一句或第二句改写。每项写一条规则或证据。先不与同桌交换，收齐后再看揭示。</a:t>
            </a:r>
          </a:p>
          <a:p>
            <a:r>
              <a:t>[教师参考，不在提问阶段朗读]</a:t>
            </a:r>
          </a:p>
          <a:p>
            <a:r>
              <a:t>已完成模型、听辨、计数和预算选择。</a:t>
            </a:r>
          </a:p>
          <a:p>
            <a:r>
              <a:t>[预期反应]</a:t>
            </a:r>
          </a:p>
          <a:p>
            <a:r>
              <a:t>三句均需修改；必须补出具体正确条件。</a:t>
            </a:r>
          </a:p>
          <a:p>
            <a:r>
              <a:t>[来源]</a:t>
            </a:r>
          </a:p>
          <a:p>
            <a:r>
              <a:t>course-design.qmd C3–C8；assets/audio-manifest.json；https://www.analog.com/media/en/training-seminars/tutorials/MT-002.pdf；https://www.analog.com/media/en/training-seminars/tutorials/MT-001.pdf；https://learn.microsoft.com/en-us/windows/win32/api/mmeapi/ns-mmeapi-waveformatex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哪些说法需要修改？</a:t>
            </a:r>
          </a:p>
          <a:p>
            <a:r>
              <a:t>[内部编号] Q19-answer</a:t>
            </a:r>
          </a:p>
          <a:p>
            <a:r>
              <a:t>[阶段] answer</a:t>
            </a:r>
          </a:p>
          <a:p>
            <a:r>
              <a:t>[教师逐字稿]</a:t>
            </a:r>
          </a:p>
          <a:p>
            <a:r>
              <a:t>核对刚才的改写和依据：第一句要区分记录次数与振动次数，第二句要用二的十六次方计算等级。第三句有两个错误：WAV不一定未压缩，公式也不包含文件头；刚才的三万二和三万二千零四十四只直接反驳第二个错误。采样、量化、编码分别解决时刻、有限幅度和表示规则，再用样本计数检查数据量。</a:t>
            </a:r>
          </a:p>
          <a:p>
            <a:r>
              <a:t>[形成结论]</a:t>
            </a:r>
          </a:p>
          <a:p>
            <a:r>
              <a:t>音频数字化是采样、量化、编码；数据量计算有明确存储格式边界。</a:t>
            </a:r>
          </a:p>
          <a:p>
            <a:r>
              <a:t>[追问问题]</a:t>
            </a:r>
          </a:p>
          <a:p>
            <a:r>
              <a:t>哪一条可以用今天的实际文件字节数直接反驳？</a:t>
            </a:r>
          </a:p>
          <a:p>
            <a:r>
              <a:t>[下一问]</a:t>
            </a:r>
          </a:p>
          <a:p>
            <a:r>
              <a:t>课后把同一规则用于另一组参数。</a:t>
            </a:r>
          </a:p>
          <a:p>
            <a:r>
              <a:t>[Demo操作与技术参考，不投影]</a:t>
            </a:r>
          </a:p>
          <a:p>
            <a:r>
              <a:t/>
            </a:r>
          </a:p>
          <a:p>
            <a:r>
              <a:t>[来源]</a:t>
            </a:r>
          </a:p>
          <a:p>
            <a:r>
              <a:t>course-design.qmd C3–C8；assets/audio-manifest.json；https://www.analog.com/media/en/training-seminars/tutorials/MT-002.pdf；https://www.analog.com/media/en/training-seminars/tutorials/MT-001.pdf；https://learn.microsoft.com/en-us/windows/win32/api/mmeapi/ns-mmeapi-waveformatex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课后练习</a:t>
            </a:r>
          </a:p>
          <a:p>
            <a:r>
              <a:t>[内部编号] homework</a:t>
            </a:r>
          </a:p>
          <a:p>
            <a:r>
              <a:t>[阶段] homework</a:t>
            </a:r>
          </a:p>
          <a:p>
            <a:r>
              <a:t>[教师逐字稿]</a:t>
            </a:r>
          </a:p>
          <a:p>
            <a:r>
              <a:t>三题分别检查计数、等级和信息能否恢复。先独立写出参数与依据，下次核对。</a:t>
            </a:r>
          </a:p>
          <a:p>
            <a:r>
              <a:t>[教师答案，作答后提供] 441,000B；16倍；不能恢复未记录或已丢失内容。</a:t>
            </a:r>
          </a:p>
          <a:p>
            <a:r>
              <a:t>[来源]</a:t>
            </a:r>
          </a:p>
          <a:p>
            <a:r>
              <a:t>course-design.qmd C3–C8；assets/audio-manifest.json；https://www.analog.com/media/en/training-seminars/tutorials/MT-002.pdf；https://www.analog.com/media/en/training-seminars/tutorials/MT-001.pdf；https://learn.microsoft.com/en-us/windows/win32/api/mmeapi/ns-mmeapi-waveformatex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964bb6eca64c5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ae9f9f90ea34ea0" /><Relationship Type="http://schemas.openxmlformats.org/officeDocument/2006/relationships/slideLayout" Target="/ppt/slideLayouts/slideLayout1.xml" Id="R913edab28b7a458a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913edab28b7a458a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1pPr>
      <a:lvl2pPr marL="457200" algn="l">
        <a:buNone/>
        <a:defRPr sz="18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2pPr>
      <a:lvl3pPr marL="914400" algn="l">
        <a:buNone/>
        <a:defRPr sz="18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3pPr>
      <a:lvl4pPr marL="1371600" algn="l">
        <a:buNone/>
        <a:defRPr sz="18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4pPr>
      <a:lvl5pPr marL="1828800" algn="l">
        <a:buNone/>
        <a:defRPr sz="18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5pPr>
      <a:lvl6pPr marL="2286000" algn="l">
        <a:buNone/>
        <a:defRPr sz="18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6pPr>
      <a:lvl7pPr marL="2743200" algn="l">
        <a:buNone/>
        <a:defRPr sz="18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7pPr>
      <a:lvl8pPr marL="3200400" algn="l">
        <a:buNone/>
        <a:defRPr sz="18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8pPr>
      <a:lvl9pPr marL="3657600" algn="l">
        <a:buNone/>
        <a:defRPr sz="18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libaba PuHuiTi 3.0 115 Black"/>
        <a:ea typeface="Alibaba PuHuiTi 3.0 115 Black"/>
        <a:cs typeface="Alibaba PuHuiTi 3.0 115 Black"/>
      </a:majorFont>
      <a:minorFont>
        <a:latin typeface="Alibaba PuHuiTi 3.0 55 Regular"/>
        <a:ea typeface="Alibaba PuHuiTi 3.0 55 Regular"/>
        <a:cs typeface="Alibaba PuHuiTi 3.0 55 Regular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1db1d37b3741a8" /><Relationship Type="http://schemas.openxmlformats.org/officeDocument/2006/relationships/notesSlide" Target="/ppt/notesSlides/notesSlide1.xml" Id="Rc1737aeaf939467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62353a083a4d37" /><Relationship Type="http://schemas.openxmlformats.org/officeDocument/2006/relationships/notesSlide" Target="/ppt/notesSlides/notesSlide2.xml" Id="Rda964e83989d40c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43b0f068284277" /><Relationship Type="http://schemas.openxmlformats.org/officeDocument/2006/relationships/notesSlide" Target="/ppt/notesSlides/notesSlide3.xml" Id="R42ef47c0a6b14fd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700b63897a40d8" /><Relationship Type="http://schemas.openxmlformats.org/officeDocument/2006/relationships/notesSlide" Target="/ppt/notesSlides/notesSlide4.xml" Id="Reeffbeb78e5e434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3483c9cf81482c" /><Relationship Type="http://schemas.openxmlformats.org/officeDocument/2006/relationships/notesSlide" Target="/ppt/notesSlides/notesSlide5.xml" Id="R29729cb227184b6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afb53ec9d64320" /><Relationship Type="http://schemas.openxmlformats.org/officeDocument/2006/relationships/notesSlide" Target="/ppt/notesSlides/notesSlide6.xml" Id="R5bb14ecfdf78453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79e967dd3542fb" /><Relationship Type="http://schemas.openxmlformats.org/officeDocument/2006/relationships/notesSlide" Target="/ppt/notesSlides/notesSlide7.xml" Id="Rb5b36d5ab2674e0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3bd838d0464da1" /><Relationship Type="http://schemas.openxmlformats.org/officeDocument/2006/relationships/notesSlide" Target="/ppt/notesSlides/notesSlide8.xml" Id="R7f8bea8befcb49a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6024b1f65a4fce" /><Relationship Type="http://schemas.openxmlformats.org/officeDocument/2006/relationships/notesSlide" Target="/ppt/notesSlides/notesSlide9.xml" Id="Rc44ab6a3233243c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43323ccc3141b3" /><Relationship Type="http://schemas.openxmlformats.org/officeDocument/2006/relationships/notesSlide" Target="/ppt/notesSlides/notesSlide10.xml" Id="Rc89e11fbd45c40c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ec32240c6e4fc4" /><Relationship Type="http://schemas.openxmlformats.org/officeDocument/2006/relationships/notesSlide" Target="/ppt/notesSlides/notesSlide11.xml" Id="R67add233cbc0472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648ae666c64658" /><Relationship Type="http://schemas.openxmlformats.org/officeDocument/2006/relationships/notesSlide" Target="/ppt/notesSlides/notesSlide12.xml" Id="Rf79c8a6102a0463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b80537cf0749c8" /><Relationship Type="http://schemas.openxmlformats.org/officeDocument/2006/relationships/notesSlide" Target="/ppt/notesSlides/notesSlide13.xml" Id="R9fa923adc64e413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e165057ac940f6" /><Relationship Type="http://schemas.openxmlformats.org/officeDocument/2006/relationships/notesSlide" Target="/ppt/notesSlides/notesSlide14.xml" Id="R9d8dcc15542e497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c4682cefcc40d7" /><Relationship Type="http://schemas.openxmlformats.org/officeDocument/2006/relationships/notesSlide" Target="/ppt/notesSlides/notesSlide15.xml" Id="R762e5cd3c484421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874b42aace4dab" /><Relationship Type="http://schemas.openxmlformats.org/officeDocument/2006/relationships/notesSlide" Target="/ppt/notesSlides/notesSlide16.xml" Id="R203c6ee9cf6f4e1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7eb6f5505d47c4" /><Relationship Type="http://schemas.openxmlformats.org/officeDocument/2006/relationships/notesSlide" Target="/ppt/notesSlides/notesSlide17.xml" Id="R59db23339de44e6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cbc0a941d14ba4" /><Relationship Type="http://schemas.openxmlformats.org/officeDocument/2006/relationships/notesSlide" Target="/ppt/notesSlides/notesSlide18.xml" Id="Rd6f68a58c41c46a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a0cad03a8b4128" /><Relationship Type="http://schemas.openxmlformats.org/officeDocument/2006/relationships/notesSlide" Target="/ppt/notesSlides/notesSlide19.xml" Id="Rf60938568a1b46a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80f8ff532b40ee" /><Relationship Type="http://schemas.openxmlformats.org/officeDocument/2006/relationships/notesSlide" Target="/ppt/notesSlides/notesSlide20.xml" Id="Rea85f915e5b24ac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ef67bc9fd94e2b" /><Relationship Type="http://schemas.openxmlformats.org/officeDocument/2006/relationships/notesSlide" Target="/ppt/notesSlides/notesSlide21.xml" Id="R075ad3956edc4ac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4fb5568aa0457f" /><Relationship Type="http://schemas.openxmlformats.org/officeDocument/2006/relationships/notesSlide" Target="/ppt/notesSlides/notesSlide22.xml" Id="R9ce7dd689d5a4aa6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57ba184ad849fe" /><Relationship Type="http://schemas.openxmlformats.org/officeDocument/2006/relationships/notesSlide" Target="/ppt/notesSlides/notesSlide23.xml" Id="Rf9e3136c650347eb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433f1e6a924d29" /><Relationship Type="http://schemas.openxmlformats.org/officeDocument/2006/relationships/notesSlide" Target="/ppt/notesSlides/notesSlide24.xml" Id="Rc75d05f0cbb442ec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0cf41b308f4791" /><Relationship Type="http://schemas.openxmlformats.org/officeDocument/2006/relationships/notesSlide" Target="/ppt/notesSlides/notesSlide25.xml" Id="R7cfc7083623b4bf7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ff6c69d75d47bb" /><Relationship Type="http://schemas.openxmlformats.org/officeDocument/2006/relationships/notesSlide" Target="/ppt/notesSlides/notesSlide26.xml" Id="R74e7d31e26fa4833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ade5cf62c042d0" /><Relationship Type="http://schemas.openxmlformats.org/officeDocument/2006/relationships/notesSlide" Target="/ppt/notesSlides/notesSlide27.xml" Id="R2f3ff478893740d9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2ace32f60c4619" /><Relationship Type="http://schemas.openxmlformats.org/officeDocument/2006/relationships/notesSlide" Target="/ppt/notesSlides/notesSlide28.xml" Id="R03ad5cc4e5e7433d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623aa9e184498f" /><Relationship Type="http://schemas.openxmlformats.org/officeDocument/2006/relationships/notesSlide" Target="/ppt/notesSlides/notesSlide29.xml" Id="R77e785c5d74d42cb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1919330c984b5c" /><Relationship Type="http://schemas.openxmlformats.org/officeDocument/2006/relationships/notesSlide" Target="/ppt/notesSlides/notesSlide30.xml" Id="Re0e93b722a824fb1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e576e1ae2d408a" /><Relationship Type="http://schemas.openxmlformats.org/officeDocument/2006/relationships/notesSlide" Target="/ppt/notesSlides/notesSlide31.xml" Id="Rdb0787548737477f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0f452769c0496f" /><Relationship Type="http://schemas.openxmlformats.org/officeDocument/2006/relationships/notesSlide" Target="/ppt/notesSlides/notesSlide32.xml" Id="R1911e30e5e5547bb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3306ec11a045d8" /><Relationship Type="http://schemas.openxmlformats.org/officeDocument/2006/relationships/notesSlide" Target="/ppt/notesSlides/notesSlide33.xml" Id="R5989370265b84ed8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e38417a0f8433e" /><Relationship Type="http://schemas.openxmlformats.org/officeDocument/2006/relationships/notesSlide" Target="/ppt/notesSlides/notesSlide34.xml" Id="Re09e4316f42f418b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d82dc6eecc4f93" /><Relationship Type="http://schemas.openxmlformats.org/officeDocument/2006/relationships/notesSlide" Target="/ppt/notesSlides/notesSlide35.xml" Id="R2596ad4a97ad4302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9f36a24eda468b" /><Relationship Type="http://schemas.openxmlformats.org/officeDocument/2006/relationships/notesSlide" Target="/ppt/notesSlides/notesSlide36.xml" Id="Reaa3ec4fe5814743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fefa5e7aff4cdd" /><Relationship Type="http://schemas.openxmlformats.org/officeDocument/2006/relationships/notesSlide" Target="/ppt/notesSlides/notesSlide37.xml" Id="R598ababb858d4ef1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600c608281403b" /><Relationship Type="http://schemas.openxmlformats.org/officeDocument/2006/relationships/notesSlide" Target="/ppt/notesSlides/notesSlide38.xml" Id="Rb120f2c4cf7242cb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42f855f0e849e1" /><Relationship Type="http://schemas.openxmlformats.org/officeDocument/2006/relationships/notesSlide" Target="/ppt/notesSlides/notesSlide39.xml" Id="Ra9007624eec742f4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744775766a411f" /><Relationship Type="http://schemas.openxmlformats.org/officeDocument/2006/relationships/notesSlide" Target="/ppt/notesSlides/notesSlide40.xml" Id="R4f3f828e36fa4fb7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4a6ac21cb649b7" /><Relationship Type="http://schemas.openxmlformats.org/officeDocument/2006/relationships/notesSlide" Target="/ppt/notesSlides/notesSlide41.xml" Id="Rcea14154c8de4a4a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cf02f427a247c5" /><Relationship Type="http://schemas.openxmlformats.org/officeDocument/2006/relationships/notesSlide" Target="/ppt/notesSlides/notesSlide42.xml" Id="R2c3f0e03d92f4e54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0b0ba7f97a4a92" /><Relationship Type="http://schemas.openxmlformats.org/officeDocument/2006/relationships/notesSlide" Target="/ppt/notesSlides/notesSlide43.xml" Id="Rc4838dc1a18b4d83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d251bc579a4443" /><Relationship Type="http://schemas.openxmlformats.org/officeDocument/2006/relationships/notesSlide" Target="/ppt/notesSlides/notesSlide44.xml" Id="Rf03f050f3a774877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a905c886fb46bc" /><Relationship Type="http://schemas.openxmlformats.org/officeDocument/2006/relationships/notesSlide" Target="/ppt/notesSlides/notesSlide45.xml" Id="R93158f0839bb4aac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82d21e2537414d" /><Relationship Type="http://schemas.openxmlformats.org/officeDocument/2006/relationships/notesSlide" Target="/ppt/notesSlides/notesSlide46.xml" Id="R1029ad94a7b741e4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25fddc279545a4" /><Relationship Type="http://schemas.openxmlformats.org/officeDocument/2006/relationships/notesSlide" Target="/ppt/notesSlides/notesSlide47.xml" Id="Ra82b740e00394815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975ec7c06e429b" /><Relationship Type="http://schemas.openxmlformats.org/officeDocument/2006/relationships/notesSlide" Target="/ppt/notesSlides/notesSlide48.xml" Id="Rdda93b156c524eed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2d427bdc90495f" /><Relationship Type="http://schemas.openxmlformats.org/officeDocument/2006/relationships/notesSlide" Target="/ppt/notesSlides/notesSlide49.xml" Id="Reb76dfc1f48d4b05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cd3c94702f4dc0" /><Relationship Type="http://schemas.openxmlformats.org/officeDocument/2006/relationships/notesSlide" Target="/ppt/notesSlides/notesSlide50.xml" Id="R058f999479494615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36afa69bad463c" /><Relationship Type="http://schemas.openxmlformats.org/officeDocument/2006/relationships/notesSlide" Target="/ppt/notesSlides/notesSlide51.xml" Id="Ra151708d6bde4f32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bafc2563ab4d42" /><Relationship Type="http://schemas.openxmlformats.org/officeDocument/2006/relationships/notesSlide" Target="/ppt/notesSlides/notesSlide52.xml" Id="R003a62f2ed534c40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bab057a7c74635" /><Relationship Type="http://schemas.openxmlformats.org/officeDocument/2006/relationships/notesSlide" Target="/ppt/notesSlides/notesSlide53.xml" Id="Rf775c93ee881464e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3fe316b4ea4f25" /><Relationship Type="http://schemas.openxmlformats.org/officeDocument/2006/relationships/notesSlide" Target="/ppt/notesSlides/notesSlide54.xml" Id="R5fbe4523c5cf4eb9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e8e289a6004c94" /><Relationship Type="http://schemas.openxmlformats.org/officeDocument/2006/relationships/notesSlide" Target="/ppt/notesSlides/notesSlide55.xml" Id="Rf0049c2ed03b4bcc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adfb3729064684" /><Relationship Type="http://schemas.openxmlformats.org/officeDocument/2006/relationships/notesSlide" Target="/ppt/notesSlides/notesSlide56.xml" Id="Rc17768e227554973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fb632c662444df" /><Relationship Type="http://schemas.openxmlformats.org/officeDocument/2006/relationships/notesSlide" Target="/ppt/notesSlides/notesSlide57.xml" Id="R2e12c34988ca4fe0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a7189b2ded43d0" /><Relationship Type="http://schemas.openxmlformats.org/officeDocument/2006/relationships/notesSlide" Target="/ppt/notesSlides/notesSlide58.xml" Id="Re1eb459b7a784b70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4b851f0b6f4373" /><Relationship Type="http://schemas.openxmlformats.org/officeDocument/2006/relationships/notesSlide" Target="/ppt/notesSlides/notesSlide59.xml" Id="R5c8001551f9a45c5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8ef57c0c414cf9" /><Relationship Type="http://schemas.openxmlformats.org/officeDocument/2006/relationships/notesSlide" Target="/ppt/notesSlides/notesSlide60.xml" Id="Rea168ee925d34441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6f318afd1d4c77" /><Relationship Type="http://schemas.openxmlformats.org/officeDocument/2006/relationships/notesSlide" Target="/ppt/notesSlides/notesSlide61.xml" Id="Rbdd41b902a17473a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8a2af58f064bc4" /><Relationship Type="http://schemas.openxmlformats.org/officeDocument/2006/relationships/notesSlide" Target="/ppt/notesSlides/notesSlide62.xml" Id="Re4adc0756cc04a9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op-rail">
            <a:extLst xmlns:a="http://schemas.openxmlformats.org/drawingml/2006/main">
              <a:ext uri="{FF2B5EF4-FFF2-40B4-BE49-F238E27FC236}">
                <a16:creationId xmlns:a16="http://schemas.microsoft.com/office/drawing/2014/main" id="{049BB493-DA04-46D8-AF75-558E400E9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F5F3494D-7A54-44B2-882B-0A152A806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C486DB09-C1A8-4C93-91A2-862996236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/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EC4B2B95-3BF0-4A20-86F9-F3A4F55E3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085850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60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60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音频数字化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495B9D4-B925-42DE-A7F8-1C62B1EB3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14600"/>
            <a:ext cx="10477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875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4875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一段声音怎样变成</a:t>
            </a:r>
          </a:p>
          <a:p xmlns:a="http://schemas.openxmlformats.org/drawingml/2006/main">
            <a:pPr>
              <a:defRPr sz="4875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4875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二进制数据？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24A9C02-B564-43EE-A2B4-350EC8C38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76800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700" b="0">
                <a:solidFill>
                  <a:srgbClr val="737373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3700" b="0">
                <a:solidFill>
                  <a:srgbClr val="737373"/>
                </a:solidFill>
                <a:latin typeface="Alibaba PuHuiTi 3.0 55 Regular"/>
                <a:ea typeface="Alibaba PuHuiTi 3.0 55 Regular"/>
                <a:cs typeface="Alibaba PuHuiTi 3.0 55 Regular"/>
              </a:rPr>
              <a:t>从波形到未压缩 PCM WAV</a:t>
            </a:r>
          </a:p>
        </p:txBody>
      </p:sp>
    </p:spTree>
    <p:extLst>
      <p:ext uri="{BB962C8B-B14F-4D97-AF65-F5344CB8AC3E}">
        <p14:creationId xmlns:p14="http://schemas.microsoft.com/office/powerpoint/2010/main" val="41213568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op-rail">
            <a:extLst xmlns:a="http://schemas.openxmlformats.org/drawingml/2006/main">
              <a:ext uri="{FF2B5EF4-FFF2-40B4-BE49-F238E27FC236}">
                <a16:creationId xmlns:a16="http://schemas.microsoft.com/office/drawing/2014/main" id="{3EECB3CA-EAEC-4C8A-A3C3-08AA5D23D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E5A432FA-7BBF-48BB-9A93-4759CD083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916906D7-7EF1-4EC6-8BCC-AEA367EEC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同一段音乐，为什么大小不同？</a:t>
            </a:r>
          </a:p>
        </p:txBody>
      </p:sp>
      <p:sp>
        <p:nvSpPr>
          <p:cNvPr id="4" name="given-0">
            <a:extLst xmlns:a="http://schemas.openxmlformats.org/drawingml/2006/main">
              <a:ext uri="{FF2B5EF4-FFF2-40B4-BE49-F238E27FC236}">
                <a16:creationId xmlns:a16="http://schemas.microsoft.com/office/drawing/2014/main" id="{52B4C5B1-93CF-4719-80B3-4DDC20B88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同一段6秒音乐，两个文件均未做音频压缩。</a:t>
            </a:r>
          </a:p>
        </p:txBody>
      </p:sp>
      <p:sp>
        <p:nvSpPr>
          <p:cNvPr id="5" name="given-1">
            <a:extLst xmlns:a="http://schemas.openxmlformats.org/drawingml/2006/main">
              <a:ext uri="{FF2B5EF4-FFF2-40B4-BE49-F238E27FC236}">
                <a16:creationId xmlns:a16="http://schemas.microsoft.com/office/drawing/2014/main" id="{6BA7A6E9-04DA-4E98-B009-1AC10B5E0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A：529,244B；B：96,044B。</a:t>
            </a:r>
          </a:p>
        </p:txBody>
      </p:sp>
      <p:sp>
        <p:nvSpPr>
          <p:cNvPr id="6" name="given-2">
            <a:extLst xmlns:a="http://schemas.openxmlformats.org/drawingml/2006/main">
              <a:ext uri="{FF2B5EF4-FFF2-40B4-BE49-F238E27FC236}">
                <a16:creationId xmlns:a16="http://schemas.microsoft.com/office/drawing/2014/main" id="{5A6B1595-8506-4952-A702-8D6BE98F9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先试听，再猜测：为什么大小不同？</a:t>
            </a:r>
          </a:p>
        </p:txBody>
      </p:sp>
    </p:spTree>
    <p:extLst>
      <p:ext uri="{BB962C8B-B14F-4D97-AF65-F5344CB8AC3E}">
        <p14:creationId xmlns:p14="http://schemas.microsoft.com/office/powerpoint/2010/main" val="116733817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rail">
            <a:extLst xmlns:a="http://schemas.openxmlformats.org/drawingml/2006/main">
              <a:ext uri="{FF2B5EF4-FFF2-40B4-BE49-F238E27FC236}">
                <a16:creationId xmlns:a16="http://schemas.microsoft.com/office/drawing/2014/main" id="{3EECB3CA-EAEC-4C8A-A3C3-08AA5D23D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E5A432FA-7BBF-48BB-9A93-4759CD083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916906D7-7EF1-4EC6-8BCC-AEA367EEC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同一段音乐，为什么大小不同？</a:t>
            </a:r>
          </a:p>
        </p:txBody>
      </p:sp>
      <p:sp>
        <p:nvSpPr>
          <p:cNvPr id="4" name="given-0">
            <a:extLst xmlns:a="http://schemas.openxmlformats.org/drawingml/2006/main">
              <a:ext uri="{FF2B5EF4-FFF2-40B4-BE49-F238E27FC236}">
                <a16:creationId xmlns:a16="http://schemas.microsoft.com/office/drawing/2014/main" id="{52B4C5B1-93CF-4719-80B3-4DDC20B88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同一段6秒音乐，两个文件均未做音频压缩。</a:t>
            </a:r>
          </a:p>
        </p:txBody>
      </p:sp>
      <p:sp>
        <p:nvSpPr>
          <p:cNvPr id="5" name="given-1">
            <a:extLst xmlns:a="http://schemas.openxmlformats.org/drawingml/2006/main">
              <a:ext uri="{FF2B5EF4-FFF2-40B4-BE49-F238E27FC236}">
                <a16:creationId xmlns:a16="http://schemas.microsoft.com/office/drawing/2014/main" id="{6BA7A6E9-04DA-4E98-B009-1AC10B5E0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A：529,244B；B：96,044B。</a:t>
            </a:r>
          </a:p>
        </p:txBody>
      </p:sp>
      <p:sp>
        <p:nvSpPr>
          <p:cNvPr id="6" name="given-2">
            <a:extLst xmlns:a="http://schemas.openxmlformats.org/drawingml/2006/main">
              <a:ext uri="{FF2B5EF4-FFF2-40B4-BE49-F238E27FC236}">
                <a16:creationId xmlns:a16="http://schemas.microsoft.com/office/drawing/2014/main" id="{5A6B1595-8506-4952-A702-8D6BE98F9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先试听，再猜测：为什么大小不同？</a:t>
            </a:r>
          </a:p>
        </p:txBody>
      </p:sp>
      <p:sp>
        <p:nvSpPr>
          <p:cNvPr id="7" name="line">
            <a:extLst xmlns:a="http://schemas.openxmlformats.org/drawingml/2006/main">
              <a:ext uri="{FF2B5EF4-FFF2-40B4-BE49-F238E27FC236}">
                <a16:creationId xmlns:a16="http://schemas.microsoft.com/office/drawing/2014/main" id="{5DC54FD1-C667-40E5-9AA9-AE9374130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10972800" cy="9525"/>
          </a:xfrm>
          <a:custGeom xmlns:a="http://schemas.openxmlformats.org/drawingml/2006/main"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8DF"/>
            </a:solidFill>
          </a:ln>
        </p:spPr>
      </p:sp>
      <p:sp>
        <p:nvSpPr>
          <p:cNvPr id="8" name="answer-0">
            <a:extLst xmlns:a="http://schemas.openxmlformats.org/drawingml/2006/main">
              <a:ext uri="{FF2B5EF4-FFF2-40B4-BE49-F238E27FC236}">
                <a16:creationId xmlns:a16="http://schemas.microsoft.com/office/drawing/2014/main" id="{9B19B721-2500-4B96-8ECE-94E5C33E0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同样长、都未压缩，数据量仍可不同。</a:t>
            </a:r>
          </a:p>
        </p:txBody>
      </p:sp>
      <p:sp>
        <p:nvSpPr>
          <p:cNvPr id="9" name="answer-1">
            <a:extLst xmlns:a="http://schemas.openxmlformats.org/drawingml/2006/main">
              <a:ext uri="{FF2B5EF4-FFF2-40B4-BE49-F238E27FC236}">
                <a16:creationId xmlns:a16="http://schemas.microsoft.com/office/drawing/2014/main" id="{11FD1B99-EB9B-427D-A3BD-11D4AE5DA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577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先找出音频记录了哪些数据。</a:t>
            </a:r>
          </a:p>
        </p:txBody>
      </p:sp>
      <p:sp>
        <p:nvSpPr>
          <p:cNvPr id="10" name="answer-2">
            <a:extLst xmlns:a="http://schemas.openxmlformats.org/drawingml/2006/main">
              <a:ext uri="{FF2B5EF4-FFF2-40B4-BE49-F238E27FC236}">
                <a16:creationId xmlns:a16="http://schemas.microsoft.com/office/drawing/2014/main" id="{8C0123DB-49E9-4DCB-8B1E-A493BAB10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2442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最后再用实际参数核对你的猜测。</a:t>
            </a:r>
          </a:p>
        </p:txBody>
      </p:sp>
    </p:spTree>
    <p:extLst>
      <p:ext uri="{BB962C8B-B14F-4D97-AF65-F5344CB8AC3E}">
        <p14:creationId xmlns:p14="http://schemas.microsoft.com/office/powerpoint/2010/main" val="116733817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rail">
            <a:extLst xmlns:a="http://schemas.openxmlformats.org/drawingml/2006/main">
              <a:ext uri="{FF2B5EF4-FFF2-40B4-BE49-F238E27FC236}">
                <a16:creationId xmlns:a16="http://schemas.microsoft.com/office/drawing/2014/main" id="{590BA7A6-B666-46ED-9094-ACFDA911E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626B30A3-B5C2-43C1-A145-DF6C28807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0D8AEB6B-ACC0-46EF-9ED6-637DE46E0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声音怎样变成一条波形？</a:t>
            </a:r>
          </a:p>
        </p:txBody>
      </p:sp>
      <p:sp>
        <p:nvSpPr>
          <p:cNvPr id="4" name="given-0">
            <a:extLst xmlns:a="http://schemas.openxmlformats.org/drawingml/2006/main">
              <a:ext uri="{FF2B5EF4-FFF2-40B4-BE49-F238E27FC236}">
                <a16:creationId xmlns:a16="http://schemas.microsoft.com/office/drawing/2014/main" id="{725B5B8E-0666-406C-BE34-ACC95E48A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看同一位置随时间变化的声音。</a:t>
            </a:r>
          </a:p>
        </p:txBody>
      </p:sp>
      <p:sp>
        <p:nvSpPr>
          <p:cNvPr id="5" name="given-1">
            <a:extLst xmlns:a="http://schemas.openxmlformats.org/drawingml/2006/main">
              <a:ext uri="{FF2B5EF4-FFF2-40B4-BE49-F238E27FC236}">
                <a16:creationId xmlns:a16="http://schemas.microsoft.com/office/drawing/2014/main" id="{A565BF9A-ECD5-4C0E-BE22-33AB5F50C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波形的横轴、纵轴分别表示什么？</a:t>
            </a:r>
          </a:p>
        </p:txBody>
      </p:sp>
      <p:sp>
        <p:nvSpPr>
          <p:cNvPr id="6" name="zero-line">
            <a:extLst xmlns:a="http://schemas.openxmlformats.org/drawingml/2006/main">
              <a:ext uri="{FF2B5EF4-FFF2-40B4-BE49-F238E27FC236}">
                <a16:creationId xmlns:a16="http://schemas.microsoft.com/office/drawing/2014/main" id="{90F4C51E-80E9-4734-9CEA-9BA0E2B17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191000"/>
            <a:ext cx="9048750" cy="9525"/>
          </a:xfrm>
          <a:custGeom xmlns:a="http://schemas.openxmlformats.org/drawingml/2006/main">
            <a:pathLst>
              <a:path w="9048750" h="9525">
                <a:moveTo>
                  <a:pt x="0" y="0"/>
                </a:moveTo>
                <a:lnTo>
                  <a:pt x="9048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8D8DF"/>
            </a:solidFill>
          </a:ln>
        </p:spPr>
      </p:sp>
      <p:sp>
        <p:nvSpPr>
          <p:cNvPr id="7" name="amplitude-axis">
            <a:extLst xmlns:a="http://schemas.openxmlformats.org/drawingml/2006/main">
              <a:ext uri="{FF2B5EF4-FFF2-40B4-BE49-F238E27FC236}">
                <a16:creationId xmlns:a16="http://schemas.microsoft.com/office/drawing/2014/main" id="{4E9FEBE5-969E-4F2A-9BD8-28DDE0049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86125"/>
            <a:ext cx="9525" cy="1857375"/>
          </a:xfrm>
          <a:custGeom xmlns:a="http://schemas.openxmlformats.org/drawingml/2006/main">
            <a:pathLst>
              <a:path w="9525" h="1857375">
                <a:moveTo>
                  <a:pt x="0" y="0"/>
                </a:moveTo>
                <a:lnTo>
                  <a:pt x="0" y="18573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8" name="waveform">
            <a:extLst xmlns:a="http://schemas.openxmlformats.org/drawingml/2006/main">
              <a:ext uri="{FF2B5EF4-FFF2-40B4-BE49-F238E27FC236}">
                <a16:creationId xmlns:a16="http://schemas.microsoft.com/office/drawing/2014/main" id="{64AC0E51-5390-4E51-B496-08F1244C2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581461"/>
            <a:ext cx="9048750" cy="1219078"/>
          </a:xfrm>
          <a:custGeom xmlns:a="http://schemas.openxmlformats.org/drawingml/2006/main">
            <a:pathLst>
              <a:path w="9048750" h="1219078">
                <a:moveTo>
                  <a:pt x="0" y="429390"/>
                </a:moveTo>
                <a:lnTo>
                  <a:pt x="37703" y="399158"/>
                </a:lnTo>
                <a:lnTo>
                  <a:pt x="75406" y="369502"/>
                </a:lnTo>
                <a:lnTo>
                  <a:pt x="113109" y="340504"/>
                </a:lnTo>
                <a:lnTo>
                  <a:pt x="150813" y="312244"/>
                </a:lnTo>
                <a:lnTo>
                  <a:pt x="188516" y="284799"/>
                </a:lnTo>
                <a:lnTo>
                  <a:pt x="226219" y="258244"/>
                </a:lnTo>
                <a:lnTo>
                  <a:pt x="263922" y="232651"/>
                </a:lnTo>
                <a:lnTo>
                  <a:pt x="301625" y="208092"/>
                </a:lnTo>
                <a:lnTo>
                  <a:pt x="339328" y="184633"/>
                </a:lnTo>
                <a:lnTo>
                  <a:pt x="377031" y="162339"/>
                </a:lnTo>
                <a:lnTo>
                  <a:pt x="414734" y="141270"/>
                </a:lnTo>
                <a:lnTo>
                  <a:pt x="452438" y="121485"/>
                </a:lnTo>
                <a:lnTo>
                  <a:pt x="490141" y="103037"/>
                </a:lnTo>
                <a:lnTo>
                  <a:pt x="527844" y="85978"/>
                </a:lnTo>
                <a:lnTo>
                  <a:pt x="565547" y="70354"/>
                </a:lnTo>
                <a:lnTo>
                  <a:pt x="603250" y="56208"/>
                </a:lnTo>
                <a:lnTo>
                  <a:pt x="640953" y="43578"/>
                </a:lnTo>
                <a:lnTo>
                  <a:pt x="678656" y="32500"/>
                </a:lnTo>
                <a:lnTo>
                  <a:pt x="716359" y="23003"/>
                </a:lnTo>
                <a:lnTo>
                  <a:pt x="754063" y="15114"/>
                </a:lnTo>
                <a:lnTo>
                  <a:pt x="791766" y="8855"/>
                </a:lnTo>
                <a:lnTo>
                  <a:pt x="829469" y="4241"/>
                </a:lnTo>
                <a:lnTo>
                  <a:pt x="867172" y="1287"/>
                </a:lnTo>
                <a:lnTo>
                  <a:pt x="904875" y="0"/>
                </a:lnTo>
                <a:lnTo>
                  <a:pt x="942578" y="384"/>
                </a:lnTo>
                <a:lnTo>
                  <a:pt x="980281" y="2437"/>
                </a:lnTo>
                <a:lnTo>
                  <a:pt x="1017984" y="6154"/>
                </a:lnTo>
                <a:lnTo>
                  <a:pt x="1055687" y="11525"/>
                </a:lnTo>
                <a:lnTo>
                  <a:pt x="1093391" y="18536"/>
                </a:lnTo>
                <a:lnTo>
                  <a:pt x="1131094" y="27166"/>
                </a:lnTo>
                <a:lnTo>
                  <a:pt x="1168797" y="37392"/>
                </a:lnTo>
                <a:lnTo>
                  <a:pt x="1206500" y="49187"/>
                </a:lnTo>
                <a:lnTo>
                  <a:pt x="1244203" y="62517"/>
                </a:lnTo>
                <a:lnTo>
                  <a:pt x="1281906" y="77347"/>
                </a:lnTo>
                <a:lnTo>
                  <a:pt x="1319609" y="93636"/>
                </a:lnTo>
                <a:lnTo>
                  <a:pt x="1357313" y="111338"/>
                </a:lnTo>
                <a:lnTo>
                  <a:pt x="1395016" y="130406"/>
                </a:lnTo>
                <a:lnTo>
                  <a:pt x="1432719" y="150788"/>
                </a:lnTo>
                <a:lnTo>
                  <a:pt x="1470422" y="172427"/>
                </a:lnTo>
                <a:lnTo>
                  <a:pt x="1508125" y="195264"/>
                </a:lnTo>
                <a:lnTo>
                  <a:pt x="1545828" y="219236"/>
                </a:lnTo>
                <a:lnTo>
                  <a:pt x="1583531" y="244278"/>
                </a:lnTo>
                <a:lnTo>
                  <a:pt x="1621234" y="270321"/>
                </a:lnTo>
                <a:lnTo>
                  <a:pt x="1658937" y="297295"/>
                </a:lnTo>
                <a:lnTo>
                  <a:pt x="1696641" y="325124"/>
                </a:lnTo>
                <a:lnTo>
                  <a:pt x="1734344" y="353732"/>
                </a:lnTo>
                <a:lnTo>
                  <a:pt x="1772047" y="383042"/>
                </a:lnTo>
                <a:lnTo>
                  <a:pt x="1809750" y="412972"/>
                </a:lnTo>
                <a:lnTo>
                  <a:pt x="1847453" y="443442"/>
                </a:lnTo>
                <a:lnTo>
                  <a:pt x="1885156" y="474366"/>
                </a:lnTo>
                <a:lnTo>
                  <a:pt x="1922859" y="505661"/>
                </a:lnTo>
                <a:lnTo>
                  <a:pt x="1960563" y="537241"/>
                </a:lnTo>
                <a:lnTo>
                  <a:pt x="1998266" y="569019"/>
                </a:lnTo>
                <a:lnTo>
                  <a:pt x="2035969" y="600908"/>
                </a:lnTo>
                <a:lnTo>
                  <a:pt x="2073672" y="632820"/>
                </a:lnTo>
                <a:lnTo>
                  <a:pt x="2111375" y="664669"/>
                </a:lnTo>
                <a:lnTo>
                  <a:pt x="2149078" y="696367"/>
                </a:lnTo>
                <a:lnTo>
                  <a:pt x="2186781" y="727827"/>
                </a:lnTo>
                <a:lnTo>
                  <a:pt x="2224484" y="758962"/>
                </a:lnTo>
                <a:lnTo>
                  <a:pt x="2262188" y="789688"/>
                </a:lnTo>
                <a:lnTo>
                  <a:pt x="2299891" y="819920"/>
                </a:lnTo>
                <a:lnTo>
                  <a:pt x="2337594" y="849576"/>
                </a:lnTo>
                <a:lnTo>
                  <a:pt x="2375297" y="878573"/>
                </a:lnTo>
                <a:lnTo>
                  <a:pt x="2413000" y="906834"/>
                </a:lnTo>
                <a:lnTo>
                  <a:pt x="2450703" y="934279"/>
                </a:lnTo>
                <a:lnTo>
                  <a:pt x="2488406" y="960834"/>
                </a:lnTo>
                <a:lnTo>
                  <a:pt x="2526109" y="986426"/>
                </a:lnTo>
                <a:lnTo>
                  <a:pt x="2563813" y="1010986"/>
                </a:lnTo>
                <a:lnTo>
                  <a:pt x="2601516" y="1034445"/>
                </a:lnTo>
                <a:lnTo>
                  <a:pt x="2639219" y="1056739"/>
                </a:lnTo>
                <a:lnTo>
                  <a:pt x="2676922" y="1077808"/>
                </a:lnTo>
                <a:lnTo>
                  <a:pt x="2714625" y="1097593"/>
                </a:lnTo>
                <a:lnTo>
                  <a:pt x="2752328" y="1116040"/>
                </a:lnTo>
                <a:lnTo>
                  <a:pt x="2790031" y="1133099"/>
                </a:lnTo>
                <a:lnTo>
                  <a:pt x="2827734" y="1148724"/>
                </a:lnTo>
                <a:lnTo>
                  <a:pt x="2865438" y="1162870"/>
                </a:lnTo>
                <a:lnTo>
                  <a:pt x="2903141" y="1175499"/>
                </a:lnTo>
                <a:lnTo>
                  <a:pt x="2940844" y="1186578"/>
                </a:lnTo>
                <a:lnTo>
                  <a:pt x="2978547" y="1196074"/>
                </a:lnTo>
                <a:lnTo>
                  <a:pt x="3016250" y="1203963"/>
                </a:lnTo>
                <a:lnTo>
                  <a:pt x="3053953" y="1210223"/>
                </a:lnTo>
                <a:lnTo>
                  <a:pt x="3091656" y="1214836"/>
                </a:lnTo>
                <a:lnTo>
                  <a:pt x="3129359" y="1217791"/>
                </a:lnTo>
                <a:lnTo>
                  <a:pt x="3167063" y="1219078"/>
                </a:lnTo>
                <a:lnTo>
                  <a:pt x="3204766" y="1218694"/>
                </a:lnTo>
                <a:lnTo>
                  <a:pt x="3242469" y="1216641"/>
                </a:lnTo>
                <a:lnTo>
                  <a:pt x="3280172" y="1212924"/>
                </a:lnTo>
                <a:lnTo>
                  <a:pt x="3317875" y="1207552"/>
                </a:lnTo>
                <a:lnTo>
                  <a:pt x="3355578" y="1200542"/>
                </a:lnTo>
                <a:lnTo>
                  <a:pt x="3393281" y="1191912"/>
                </a:lnTo>
                <a:lnTo>
                  <a:pt x="3430984" y="1181686"/>
                </a:lnTo>
                <a:lnTo>
                  <a:pt x="3468688" y="1169891"/>
                </a:lnTo>
                <a:lnTo>
                  <a:pt x="3506391" y="1156561"/>
                </a:lnTo>
                <a:lnTo>
                  <a:pt x="3544094" y="1141731"/>
                </a:lnTo>
                <a:lnTo>
                  <a:pt x="3581797" y="1125442"/>
                </a:lnTo>
                <a:lnTo>
                  <a:pt x="3619500" y="1107740"/>
                </a:lnTo>
                <a:lnTo>
                  <a:pt x="3657203" y="1088671"/>
                </a:lnTo>
                <a:lnTo>
                  <a:pt x="3694906" y="1068290"/>
                </a:lnTo>
                <a:lnTo>
                  <a:pt x="3732609" y="1046651"/>
                </a:lnTo>
                <a:lnTo>
                  <a:pt x="3770312" y="1023814"/>
                </a:lnTo>
                <a:lnTo>
                  <a:pt x="3808016" y="999842"/>
                </a:lnTo>
                <a:lnTo>
                  <a:pt x="3845719" y="974800"/>
                </a:lnTo>
                <a:lnTo>
                  <a:pt x="3883422" y="948756"/>
                </a:lnTo>
                <a:lnTo>
                  <a:pt x="3921125" y="921783"/>
                </a:lnTo>
                <a:lnTo>
                  <a:pt x="3958828" y="893954"/>
                </a:lnTo>
                <a:lnTo>
                  <a:pt x="3996531" y="865346"/>
                </a:lnTo>
                <a:lnTo>
                  <a:pt x="4034234" y="836036"/>
                </a:lnTo>
                <a:lnTo>
                  <a:pt x="4071938" y="806106"/>
                </a:lnTo>
                <a:lnTo>
                  <a:pt x="4109641" y="775636"/>
                </a:lnTo>
                <a:lnTo>
                  <a:pt x="4147344" y="744712"/>
                </a:lnTo>
                <a:lnTo>
                  <a:pt x="4185047" y="713417"/>
                </a:lnTo>
                <a:lnTo>
                  <a:pt x="4222750" y="681837"/>
                </a:lnTo>
                <a:lnTo>
                  <a:pt x="4260453" y="650059"/>
                </a:lnTo>
                <a:lnTo>
                  <a:pt x="4298156" y="618170"/>
                </a:lnTo>
                <a:lnTo>
                  <a:pt x="4335859" y="586257"/>
                </a:lnTo>
                <a:lnTo>
                  <a:pt x="4373563" y="554409"/>
                </a:lnTo>
                <a:lnTo>
                  <a:pt x="4411266" y="522711"/>
                </a:lnTo>
                <a:lnTo>
                  <a:pt x="4448969" y="491251"/>
                </a:lnTo>
                <a:lnTo>
                  <a:pt x="4486672" y="460116"/>
                </a:lnTo>
                <a:lnTo>
                  <a:pt x="4524375" y="429390"/>
                </a:lnTo>
                <a:lnTo>
                  <a:pt x="4562078" y="399158"/>
                </a:lnTo>
                <a:lnTo>
                  <a:pt x="4599781" y="369502"/>
                </a:lnTo>
                <a:lnTo>
                  <a:pt x="4637484" y="340504"/>
                </a:lnTo>
                <a:lnTo>
                  <a:pt x="4675187" y="312244"/>
                </a:lnTo>
                <a:lnTo>
                  <a:pt x="4712891" y="284799"/>
                </a:lnTo>
                <a:lnTo>
                  <a:pt x="4750594" y="258244"/>
                </a:lnTo>
                <a:lnTo>
                  <a:pt x="4788297" y="232651"/>
                </a:lnTo>
                <a:lnTo>
                  <a:pt x="4826000" y="208092"/>
                </a:lnTo>
                <a:lnTo>
                  <a:pt x="4863703" y="184633"/>
                </a:lnTo>
                <a:lnTo>
                  <a:pt x="4901406" y="162339"/>
                </a:lnTo>
                <a:lnTo>
                  <a:pt x="4939109" y="141270"/>
                </a:lnTo>
                <a:lnTo>
                  <a:pt x="4976813" y="121485"/>
                </a:lnTo>
                <a:lnTo>
                  <a:pt x="5014516" y="103037"/>
                </a:lnTo>
                <a:lnTo>
                  <a:pt x="5052219" y="85978"/>
                </a:lnTo>
                <a:lnTo>
                  <a:pt x="5089922" y="70354"/>
                </a:lnTo>
                <a:lnTo>
                  <a:pt x="5127625" y="56208"/>
                </a:lnTo>
                <a:lnTo>
                  <a:pt x="5165328" y="43578"/>
                </a:lnTo>
                <a:lnTo>
                  <a:pt x="5203031" y="32500"/>
                </a:lnTo>
                <a:lnTo>
                  <a:pt x="5240734" y="23003"/>
                </a:lnTo>
                <a:lnTo>
                  <a:pt x="5278438" y="15114"/>
                </a:lnTo>
                <a:lnTo>
                  <a:pt x="5316141" y="8855"/>
                </a:lnTo>
                <a:lnTo>
                  <a:pt x="5353844" y="4241"/>
                </a:lnTo>
                <a:lnTo>
                  <a:pt x="5391547" y="1287"/>
                </a:lnTo>
                <a:lnTo>
                  <a:pt x="5429250" y="0"/>
                </a:lnTo>
                <a:lnTo>
                  <a:pt x="5466953" y="384"/>
                </a:lnTo>
                <a:lnTo>
                  <a:pt x="5504656" y="2437"/>
                </a:lnTo>
                <a:lnTo>
                  <a:pt x="5542359" y="6154"/>
                </a:lnTo>
                <a:lnTo>
                  <a:pt x="5580063" y="11525"/>
                </a:lnTo>
                <a:lnTo>
                  <a:pt x="5617766" y="18536"/>
                </a:lnTo>
                <a:lnTo>
                  <a:pt x="5655469" y="27166"/>
                </a:lnTo>
                <a:lnTo>
                  <a:pt x="5693172" y="37392"/>
                </a:lnTo>
                <a:lnTo>
                  <a:pt x="5730875" y="49187"/>
                </a:lnTo>
                <a:lnTo>
                  <a:pt x="5768578" y="62517"/>
                </a:lnTo>
                <a:lnTo>
                  <a:pt x="5806281" y="77347"/>
                </a:lnTo>
                <a:lnTo>
                  <a:pt x="5843984" y="93636"/>
                </a:lnTo>
                <a:lnTo>
                  <a:pt x="5881688" y="111338"/>
                </a:lnTo>
                <a:lnTo>
                  <a:pt x="5919391" y="130406"/>
                </a:lnTo>
                <a:lnTo>
                  <a:pt x="5957094" y="150788"/>
                </a:lnTo>
                <a:lnTo>
                  <a:pt x="5994797" y="172427"/>
                </a:lnTo>
                <a:lnTo>
                  <a:pt x="6032500" y="195264"/>
                </a:lnTo>
                <a:lnTo>
                  <a:pt x="6070203" y="219236"/>
                </a:lnTo>
                <a:lnTo>
                  <a:pt x="6107906" y="244278"/>
                </a:lnTo>
                <a:lnTo>
                  <a:pt x="6145609" y="270321"/>
                </a:lnTo>
                <a:lnTo>
                  <a:pt x="6183313" y="297295"/>
                </a:lnTo>
                <a:lnTo>
                  <a:pt x="6221016" y="325124"/>
                </a:lnTo>
                <a:lnTo>
                  <a:pt x="6258719" y="353732"/>
                </a:lnTo>
                <a:lnTo>
                  <a:pt x="6296422" y="383042"/>
                </a:lnTo>
                <a:lnTo>
                  <a:pt x="6334125" y="412972"/>
                </a:lnTo>
                <a:lnTo>
                  <a:pt x="6371828" y="443442"/>
                </a:lnTo>
                <a:lnTo>
                  <a:pt x="6409531" y="474366"/>
                </a:lnTo>
                <a:lnTo>
                  <a:pt x="6447234" y="505661"/>
                </a:lnTo>
                <a:lnTo>
                  <a:pt x="6484938" y="537241"/>
                </a:lnTo>
                <a:lnTo>
                  <a:pt x="6522641" y="569019"/>
                </a:lnTo>
                <a:lnTo>
                  <a:pt x="6560344" y="600908"/>
                </a:lnTo>
                <a:lnTo>
                  <a:pt x="6598047" y="632820"/>
                </a:lnTo>
                <a:lnTo>
                  <a:pt x="6635750" y="664669"/>
                </a:lnTo>
                <a:lnTo>
                  <a:pt x="6673453" y="696367"/>
                </a:lnTo>
                <a:lnTo>
                  <a:pt x="6711156" y="727827"/>
                </a:lnTo>
                <a:lnTo>
                  <a:pt x="6748859" y="758962"/>
                </a:lnTo>
                <a:lnTo>
                  <a:pt x="6786563" y="789688"/>
                </a:lnTo>
                <a:lnTo>
                  <a:pt x="6824266" y="819920"/>
                </a:lnTo>
                <a:lnTo>
                  <a:pt x="6861969" y="849576"/>
                </a:lnTo>
                <a:lnTo>
                  <a:pt x="6899672" y="878573"/>
                </a:lnTo>
                <a:lnTo>
                  <a:pt x="6937375" y="906834"/>
                </a:lnTo>
                <a:lnTo>
                  <a:pt x="6975078" y="934279"/>
                </a:lnTo>
                <a:lnTo>
                  <a:pt x="7012781" y="960834"/>
                </a:lnTo>
                <a:lnTo>
                  <a:pt x="7050484" y="986426"/>
                </a:lnTo>
                <a:lnTo>
                  <a:pt x="7088188" y="1010986"/>
                </a:lnTo>
                <a:lnTo>
                  <a:pt x="7125891" y="1034445"/>
                </a:lnTo>
                <a:lnTo>
                  <a:pt x="7163594" y="1056739"/>
                </a:lnTo>
                <a:lnTo>
                  <a:pt x="7201297" y="1077808"/>
                </a:lnTo>
                <a:lnTo>
                  <a:pt x="7239000" y="1097593"/>
                </a:lnTo>
                <a:lnTo>
                  <a:pt x="7276703" y="1116040"/>
                </a:lnTo>
                <a:lnTo>
                  <a:pt x="7314406" y="1133099"/>
                </a:lnTo>
                <a:lnTo>
                  <a:pt x="7352109" y="1148724"/>
                </a:lnTo>
                <a:lnTo>
                  <a:pt x="7389813" y="1162870"/>
                </a:lnTo>
                <a:lnTo>
                  <a:pt x="7427516" y="1175499"/>
                </a:lnTo>
                <a:lnTo>
                  <a:pt x="7465219" y="1186578"/>
                </a:lnTo>
                <a:lnTo>
                  <a:pt x="7502922" y="1196074"/>
                </a:lnTo>
                <a:lnTo>
                  <a:pt x="7540625" y="1203963"/>
                </a:lnTo>
                <a:lnTo>
                  <a:pt x="7578328" y="1210223"/>
                </a:lnTo>
                <a:lnTo>
                  <a:pt x="7616031" y="1214836"/>
                </a:lnTo>
                <a:lnTo>
                  <a:pt x="7653734" y="1217791"/>
                </a:lnTo>
                <a:lnTo>
                  <a:pt x="7691438" y="1219078"/>
                </a:lnTo>
                <a:lnTo>
                  <a:pt x="7729141" y="1218694"/>
                </a:lnTo>
                <a:lnTo>
                  <a:pt x="7766844" y="1216641"/>
                </a:lnTo>
                <a:lnTo>
                  <a:pt x="7804547" y="1212924"/>
                </a:lnTo>
                <a:lnTo>
                  <a:pt x="7842250" y="1207552"/>
                </a:lnTo>
                <a:lnTo>
                  <a:pt x="7879953" y="1200542"/>
                </a:lnTo>
                <a:lnTo>
                  <a:pt x="7917656" y="1191912"/>
                </a:lnTo>
                <a:lnTo>
                  <a:pt x="7955359" y="1181686"/>
                </a:lnTo>
                <a:lnTo>
                  <a:pt x="7993063" y="1169891"/>
                </a:lnTo>
                <a:lnTo>
                  <a:pt x="8030766" y="1156561"/>
                </a:lnTo>
                <a:lnTo>
                  <a:pt x="8068469" y="1141731"/>
                </a:lnTo>
                <a:lnTo>
                  <a:pt x="8106172" y="1125442"/>
                </a:lnTo>
                <a:lnTo>
                  <a:pt x="8143875" y="1107740"/>
                </a:lnTo>
                <a:lnTo>
                  <a:pt x="8181578" y="1088671"/>
                </a:lnTo>
                <a:lnTo>
                  <a:pt x="8219281" y="1068290"/>
                </a:lnTo>
                <a:lnTo>
                  <a:pt x="8256984" y="1046651"/>
                </a:lnTo>
                <a:lnTo>
                  <a:pt x="8294688" y="1023814"/>
                </a:lnTo>
                <a:lnTo>
                  <a:pt x="8332391" y="999842"/>
                </a:lnTo>
                <a:lnTo>
                  <a:pt x="8370094" y="974800"/>
                </a:lnTo>
                <a:lnTo>
                  <a:pt x="8407797" y="948756"/>
                </a:lnTo>
                <a:lnTo>
                  <a:pt x="8445500" y="921783"/>
                </a:lnTo>
                <a:lnTo>
                  <a:pt x="8483203" y="893954"/>
                </a:lnTo>
                <a:lnTo>
                  <a:pt x="8520906" y="865346"/>
                </a:lnTo>
                <a:lnTo>
                  <a:pt x="8558609" y="836036"/>
                </a:lnTo>
                <a:lnTo>
                  <a:pt x="8596313" y="806106"/>
                </a:lnTo>
                <a:lnTo>
                  <a:pt x="8634016" y="775636"/>
                </a:lnTo>
                <a:lnTo>
                  <a:pt x="8671719" y="744712"/>
                </a:lnTo>
                <a:lnTo>
                  <a:pt x="8709422" y="713417"/>
                </a:lnTo>
                <a:lnTo>
                  <a:pt x="8747125" y="681837"/>
                </a:lnTo>
                <a:lnTo>
                  <a:pt x="8784828" y="650059"/>
                </a:lnTo>
                <a:lnTo>
                  <a:pt x="8822531" y="618170"/>
                </a:lnTo>
                <a:lnTo>
                  <a:pt x="8860234" y="586257"/>
                </a:lnTo>
                <a:lnTo>
                  <a:pt x="8897937" y="554409"/>
                </a:lnTo>
                <a:lnTo>
                  <a:pt x="8935641" y="522711"/>
                </a:lnTo>
                <a:lnTo>
                  <a:pt x="8973344" y="491251"/>
                </a:lnTo>
                <a:lnTo>
                  <a:pt x="9011047" y="460116"/>
                </a:lnTo>
                <a:lnTo>
                  <a:pt x="9048750" y="42939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8C64E1"/>
            </a:solidFill>
          </a:ln>
        </p:spPr>
      </p:sp>
    </p:spTree>
    <p:extLst>
      <p:ext uri="{BB962C8B-B14F-4D97-AF65-F5344CB8AC3E}">
        <p14:creationId xmlns:p14="http://schemas.microsoft.com/office/powerpoint/2010/main" val="16690474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rail">
            <a:extLst xmlns:a="http://schemas.openxmlformats.org/drawingml/2006/main">
              <a:ext uri="{FF2B5EF4-FFF2-40B4-BE49-F238E27FC236}">
                <a16:creationId xmlns:a16="http://schemas.microsoft.com/office/drawing/2014/main" id="{590BA7A6-B666-46ED-9094-ACFDA911E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626B30A3-B5C2-43C1-A145-DF6C28807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0D8AEB6B-ACC0-46EF-9ED6-637DE46E0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声音怎样变成一条波形？</a:t>
            </a:r>
          </a:p>
        </p:txBody>
      </p:sp>
      <p:sp>
        <p:nvSpPr>
          <p:cNvPr id="4" name="given-0">
            <a:extLst xmlns:a="http://schemas.openxmlformats.org/drawingml/2006/main">
              <a:ext uri="{FF2B5EF4-FFF2-40B4-BE49-F238E27FC236}">
                <a16:creationId xmlns:a16="http://schemas.microsoft.com/office/drawing/2014/main" id="{725B5B8E-0666-406C-BE34-ACC95E48A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看同一位置随时间变化的声音。</a:t>
            </a:r>
          </a:p>
        </p:txBody>
      </p:sp>
      <p:sp>
        <p:nvSpPr>
          <p:cNvPr id="5" name="given-1">
            <a:extLst xmlns:a="http://schemas.openxmlformats.org/drawingml/2006/main">
              <a:ext uri="{FF2B5EF4-FFF2-40B4-BE49-F238E27FC236}">
                <a16:creationId xmlns:a16="http://schemas.microsoft.com/office/drawing/2014/main" id="{A565BF9A-ECD5-4C0E-BE22-33AB5F50C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波形的横轴、纵轴分别表示什么？</a:t>
            </a:r>
          </a:p>
        </p:txBody>
      </p:sp>
      <p:sp>
        <p:nvSpPr>
          <p:cNvPr id="6" name="zero-line">
            <a:extLst xmlns:a="http://schemas.openxmlformats.org/drawingml/2006/main">
              <a:ext uri="{FF2B5EF4-FFF2-40B4-BE49-F238E27FC236}">
                <a16:creationId xmlns:a16="http://schemas.microsoft.com/office/drawing/2014/main" id="{90F4C51E-80E9-4734-9CEA-9BA0E2B17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191000"/>
            <a:ext cx="9048750" cy="9525"/>
          </a:xfrm>
          <a:custGeom xmlns:a="http://schemas.openxmlformats.org/drawingml/2006/main">
            <a:pathLst>
              <a:path w="9048750" h="9525">
                <a:moveTo>
                  <a:pt x="0" y="0"/>
                </a:moveTo>
                <a:lnTo>
                  <a:pt x="9048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8D8DF"/>
            </a:solidFill>
          </a:ln>
        </p:spPr>
      </p:sp>
      <p:sp>
        <p:nvSpPr>
          <p:cNvPr id="7" name="amplitude-axis">
            <a:extLst xmlns:a="http://schemas.openxmlformats.org/drawingml/2006/main">
              <a:ext uri="{FF2B5EF4-FFF2-40B4-BE49-F238E27FC236}">
                <a16:creationId xmlns:a16="http://schemas.microsoft.com/office/drawing/2014/main" id="{4E9FEBE5-969E-4F2A-9BD8-28DDE0049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86125"/>
            <a:ext cx="9525" cy="1857375"/>
          </a:xfrm>
          <a:custGeom xmlns:a="http://schemas.openxmlformats.org/drawingml/2006/main">
            <a:pathLst>
              <a:path w="9525" h="1857375">
                <a:moveTo>
                  <a:pt x="0" y="0"/>
                </a:moveTo>
                <a:lnTo>
                  <a:pt x="0" y="18573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8" name="waveform">
            <a:extLst xmlns:a="http://schemas.openxmlformats.org/drawingml/2006/main">
              <a:ext uri="{FF2B5EF4-FFF2-40B4-BE49-F238E27FC236}">
                <a16:creationId xmlns:a16="http://schemas.microsoft.com/office/drawing/2014/main" id="{64AC0E51-5390-4E51-B496-08F1244C2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581461"/>
            <a:ext cx="9048750" cy="1219078"/>
          </a:xfrm>
          <a:custGeom xmlns:a="http://schemas.openxmlformats.org/drawingml/2006/main">
            <a:pathLst>
              <a:path w="9048750" h="1219078">
                <a:moveTo>
                  <a:pt x="0" y="429390"/>
                </a:moveTo>
                <a:lnTo>
                  <a:pt x="37703" y="399158"/>
                </a:lnTo>
                <a:lnTo>
                  <a:pt x="75406" y="369502"/>
                </a:lnTo>
                <a:lnTo>
                  <a:pt x="113109" y="340504"/>
                </a:lnTo>
                <a:lnTo>
                  <a:pt x="150813" y="312244"/>
                </a:lnTo>
                <a:lnTo>
                  <a:pt x="188516" y="284799"/>
                </a:lnTo>
                <a:lnTo>
                  <a:pt x="226219" y="258244"/>
                </a:lnTo>
                <a:lnTo>
                  <a:pt x="263922" y="232651"/>
                </a:lnTo>
                <a:lnTo>
                  <a:pt x="301625" y="208092"/>
                </a:lnTo>
                <a:lnTo>
                  <a:pt x="339328" y="184633"/>
                </a:lnTo>
                <a:lnTo>
                  <a:pt x="377031" y="162339"/>
                </a:lnTo>
                <a:lnTo>
                  <a:pt x="414734" y="141270"/>
                </a:lnTo>
                <a:lnTo>
                  <a:pt x="452438" y="121485"/>
                </a:lnTo>
                <a:lnTo>
                  <a:pt x="490141" y="103037"/>
                </a:lnTo>
                <a:lnTo>
                  <a:pt x="527844" y="85978"/>
                </a:lnTo>
                <a:lnTo>
                  <a:pt x="565547" y="70354"/>
                </a:lnTo>
                <a:lnTo>
                  <a:pt x="603250" y="56208"/>
                </a:lnTo>
                <a:lnTo>
                  <a:pt x="640953" y="43578"/>
                </a:lnTo>
                <a:lnTo>
                  <a:pt x="678656" y="32500"/>
                </a:lnTo>
                <a:lnTo>
                  <a:pt x="716359" y="23003"/>
                </a:lnTo>
                <a:lnTo>
                  <a:pt x="754063" y="15114"/>
                </a:lnTo>
                <a:lnTo>
                  <a:pt x="791766" y="8855"/>
                </a:lnTo>
                <a:lnTo>
                  <a:pt x="829469" y="4241"/>
                </a:lnTo>
                <a:lnTo>
                  <a:pt x="867172" y="1287"/>
                </a:lnTo>
                <a:lnTo>
                  <a:pt x="904875" y="0"/>
                </a:lnTo>
                <a:lnTo>
                  <a:pt x="942578" y="384"/>
                </a:lnTo>
                <a:lnTo>
                  <a:pt x="980281" y="2437"/>
                </a:lnTo>
                <a:lnTo>
                  <a:pt x="1017984" y="6154"/>
                </a:lnTo>
                <a:lnTo>
                  <a:pt x="1055687" y="11525"/>
                </a:lnTo>
                <a:lnTo>
                  <a:pt x="1093391" y="18536"/>
                </a:lnTo>
                <a:lnTo>
                  <a:pt x="1131094" y="27166"/>
                </a:lnTo>
                <a:lnTo>
                  <a:pt x="1168797" y="37392"/>
                </a:lnTo>
                <a:lnTo>
                  <a:pt x="1206500" y="49187"/>
                </a:lnTo>
                <a:lnTo>
                  <a:pt x="1244203" y="62517"/>
                </a:lnTo>
                <a:lnTo>
                  <a:pt x="1281906" y="77347"/>
                </a:lnTo>
                <a:lnTo>
                  <a:pt x="1319609" y="93636"/>
                </a:lnTo>
                <a:lnTo>
                  <a:pt x="1357313" y="111338"/>
                </a:lnTo>
                <a:lnTo>
                  <a:pt x="1395016" y="130406"/>
                </a:lnTo>
                <a:lnTo>
                  <a:pt x="1432719" y="150788"/>
                </a:lnTo>
                <a:lnTo>
                  <a:pt x="1470422" y="172427"/>
                </a:lnTo>
                <a:lnTo>
                  <a:pt x="1508125" y="195264"/>
                </a:lnTo>
                <a:lnTo>
                  <a:pt x="1545828" y="219236"/>
                </a:lnTo>
                <a:lnTo>
                  <a:pt x="1583531" y="244278"/>
                </a:lnTo>
                <a:lnTo>
                  <a:pt x="1621234" y="270321"/>
                </a:lnTo>
                <a:lnTo>
                  <a:pt x="1658937" y="297295"/>
                </a:lnTo>
                <a:lnTo>
                  <a:pt x="1696641" y="325124"/>
                </a:lnTo>
                <a:lnTo>
                  <a:pt x="1734344" y="353732"/>
                </a:lnTo>
                <a:lnTo>
                  <a:pt x="1772047" y="383042"/>
                </a:lnTo>
                <a:lnTo>
                  <a:pt x="1809750" y="412972"/>
                </a:lnTo>
                <a:lnTo>
                  <a:pt x="1847453" y="443442"/>
                </a:lnTo>
                <a:lnTo>
                  <a:pt x="1885156" y="474366"/>
                </a:lnTo>
                <a:lnTo>
                  <a:pt x="1922859" y="505661"/>
                </a:lnTo>
                <a:lnTo>
                  <a:pt x="1960563" y="537241"/>
                </a:lnTo>
                <a:lnTo>
                  <a:pt x="1998266" y="569019"/>
                </a:lnTo>
                <a:lnTo>
                  <a:pt x="2035969" y="600908"/>
                </a:lnTo>
                <a:lnTo>
                  <a:pt x="2073672" y="632820"/>
                </a:lnTo>
                <a:lnTo>
                  <a:pt x="2111375" y="664669"/>
                </a:lnTo>
                <a:lnTo>
                  <a:pt x="2149078" y="696367"/>
                </a:lnTo>
                <a:lnTo>
                  <a:pt x="2186781" y="727827"/>
                </a:lnTo>
                <a:lnTo>
                  <a:pt x="2224484" y="758962"/>
                </a:lnTo>
                <a:lnTo>
                  <a:pt x="2262188" y="789688"/>
                </a:lnTo>
                <a:lnTo>
                  <a:pt x="2299891" y="819920"/>
                </a:lnTo>
                <a:lnTo>
                  <a:pt x="2337594" y="849576"/>
                </a:lnTo>
                <a:lnTo>
                  <a:pt x="2375297" y="878573"/>
                </a:lnTo>
                <a:lnTo>
                  <a:pt x="2413000" y="906834"/>
                </a:lnTo>
                <a:lnTo>
                  <a:pt x="2450703" y="934279"/>
                </a:lnTo>
                <a:lnTo>
                  <a:pt x="2488406" y="960834"/>
                </a:lnTo>
                <a:lnTo>
                  <a:pt x="2526109" y="986426"/>
                </a:lnTo>
                <a:lnTo>
                  <a:pt x="2563813" y="1010986"/>
                </a:lnTo>
                <a:lnTo>
                  <a:pt x="2601516" y="1034445"/>
                </a:lnTo>
                <a:lnTo>
                  <a:pt x="2639219" y="1056739"/>
                </a:lnTo>
                <a:lnTo>
                  <a:pt x="2676922" y="1077808"/>
                </a:lnTo>
                <a:lnTo>
                  <a:pt x="2714625" y="1097593"/>
                </a:lnTo>
                <a:lnTo>
                  <a:pt x="2752328" y="1116040"/>
                </a:lnTo>
                <a:lnTo>
                  <a:pt x="2790031" y="1133099"/>
                </a:lnTo>
                <a:lnTo>
                  <a:pt x="2827734" y="1148724"/>
                </a:lnTo>
                <a:lnTo>
                  <a:pt x="2865438" y="1162870"/>
                </a:lnTo>
                <a:lnTo>
                  <a:pt x="2903141" y="1175499"/>
                </a:lnTo>
                <a:lnTo>
                  <a:pt x="2940844" y="1186578"/>
                </a:lnTo>
                <a:lnTo>
                  <a:pt x="2978547" y="1196074"/>
                </a:lnTo>
                <a:lnTo>
                  <a:pt x="3016250" y="1203963"/>
                </a:lnTo>
                <a:lnTo>
                  <a:pt x="3053953" y="1210223"/>
                </a:lnTo>
                <a:lnTo>
                  <a:pt x="3091656" y="1214836"/>
                </a:lnTo>
                <a:lnTo>
                  <a:pt x="3129359" y="1217791"/>
                </a:lnTo>
                <a:lnTo>
                  <a:pt x="3167063" y="1219078"/>
                </a:lnTo>
                <a:lnTo>
                  <a:pt x="3204766" y="1218694"/>
                </a:lnTo>
                <a:lnTo>
                  <a:pt x="3242469" y="1216641"/>
                </a:lnTo>
                <a:lnTo>
                  <a:pt x="3280172" y="1212924"/>
                </a:lnTo>
                <a:lnTo>
                  <a:pt x="3317875" y="1207552"/>
                </a:lnTo>
                <a:lnTo>
                  <a:pt x="3355578" y="1200542"/>
                </a:lnTo>
                <a:lnTo>
                  <a:pt x="3393281" y="1191912"/>
                </a:lnTo>
                <a:lnTo>
                  <a:pt x="3430984" y="1181686"/>
                </a:lnTo>
                <a:lnTo>
                  <a:pt x="3468688" y="1169891"/>
                </a:lnTo>
                <a:lnTo>
                  <a:pt x="3506391" y="1156561"/>
                </a:lnTo>
                <a:lnTo>
                  <a:pt x="3544094" y="1141731"/>
                </a:lnTo>
                <a:lnTo>
                  <a:pt x="3581797" y="1125442"/>
                </a:lnTo>
                <a:lnTo>
                  <a:pt x="3619500" y="1107740"/>
                </a:lnTo>
                <a:lnTo>
                  <a:pt x="3657203" y="1088671"/>
                </a:lnTo>
                <a:lnTo>
                  <a:pt x="3694906" y="1068290"/>
                </a:lnTo>
                <a:lnTo>
                  <a:pt x="3732609" y="1046651"/>
                </a:lnTo>
                <a:lnTo>
                  <a:pt x="3770312" y="1023814"/>
                </a:lnTo>
                <a:lnTo>
                  <a:pt x="3808016" y="999842"/>
                </a:lnTo>
                <a:lnTo>
                  <a:pt x="3845719" y="974800"/>
                </a:lnTo>
                <a:lnTo>
                  <a:pt x="3883422" y="948756"/>
                </a:lnTo>
                <a:lnTo>
                  <a:pt x="3921125" y="921783"/>
                </a:lnTo>
                <a:lnTo>
                  <a:pt x="3958828" y="893954"/>
                </a:lnTo>
                <a:lnTo>
                  <a:pt x="3996531" y="865346"/>
                </a:lnTo>
                <a:lnTo>
                  <a:pt x="4034234" y="836036"/>
                </a:lnTo>
                <a:lnTo>
                  <a:pt x="4071938" y="806106"/>
                </a:lnTo>
                <a:lnTo>
                  <a:pt x="4109641" y="775636"/>
                </a:lnTo>
                <a:lnTo>
                  <a:pt x="4147344" y="744712"/>
                </a:lnTo>
                <a:lnTo>
                  <a:pt x="4185047" y="713417"/>
                </a:lnTo>
                <a:lnTo>
                  <a:pt x="4222750" y="681837"/>
                </a:lnTo>
                <a:lnTo>
                  <a:pt x="4260453" y="650059"/>
                </a:lnTo>
                <a:lnTo>
                  <a:pt x="4298156" y="618170"/>
                </a:lnTo>
                <a:lnTo>
                  <a:pt x="4335859" y="586257"/>
                </a:lnTo>
                <a:lnTo>
                  <a:pt x="4373563" y="554409"/>
                </a:lnTo>
                <a:lnTo>
                  <a:pt x="4411266" y="522711"/>
                </a:lnTo>
                <a:lnTo>
                  <a:pt x="4448969" y="491251"/>
                </a:lnTo>
                <a:lnTo>
                  <a:pt x="4486672" y="460116"/>
                </a:lnTo>
                <a:lnTo>
                  <a:pt x="4524375" y="429390"/>
                </a:lnTo>
                <a:lnTo>
                  <a:pt x="4562078" y="399158"/>
                </a:lnTo>
                <a:lnTo>
                  <a:pt x="4599781" y="369502"/>
                </a:lnTo>
                <a:lnTo>
                  <a:pt x="4637484" y="340504"/>
                </a:lnTo>
                <a:lnTo>
                  <a:pt x="4675187" y="312244"/>
                </a:lnTo>
                <a:lnTo>
                  <a:pt x="4712891" y="284799"/>
                </a:lnTo>
                <a:lnTo>
                  <a:pt x="4750594" y="258244"/>
                </a:lnTo>
                <a:lnTo>
                  <a:pt x="4788297" y="232651"/>
                </a:lnTo>
                <a:lnTo>
                  <a:pt x="4826000" y="208092"/>
                </a:lnTo>
                <a:lnTo>
                  <a:pt x="4863703" y="184633"/>
                </a:lnTo>
                <a:lnTo>
                  <a:pt x="4901406" y="162339"/>
                </a:lnTo>
                <a:lnTo>
                  <a:pt x="4939109" y="141270"/>
                </a:lnTo>
                <a:lnTo>
                  <a:pt x="4976813" y="121485"/>
                </a:lnTo>
                <a:lnTo>
                  <a:pt x="5014516" y="103037"/>
                </a:lnTo>
                <a:lnTo>
                  <a:pt x="5052219" y="85978"/>
                </a:lnTo>
                <a:lnTo>
                  <a:pt x="5089922" y="70354"/>
                </a:lnTo>
                <a:lnTo>
                  <a:pt x="5127625" y="56208"/>
                </a:lnTo>
                <a:lnTo>
                  <a:pt x="5165328" y="43578"/>
                </a:lnTo>
                <a:lnTo>
                  <a:pt x="5203031" y="32500"/>
                </a:lnTo>
                <a:lnTo>
                  <a:pt x="5240734" y="23003"/>
                </a:lnTo>
                <a:lnTo>
                  <a:pt x="5278438" y="15114"/>
                </a:lnTo>
                <a:lnTo>
                  <a:pt x="5316141" y="8855"/>
                </a:lnTo>
                <a:lnTo>
                  <a:pt x="5353844" y="4241"/>
                </a:lnTo>
                <a:lnTo>
                  <a:pt x="5391547" y="1287"/>
                </a:lnTo>
                <a:lnTo>
                  <a:pt x="5429250" y="0"/>
                </a:lnTo>
                <a:lnTo>
                  <a:pt x="5466953" y="384"/>
                </a:lnTo>
                <a:lnTo>
                  <a:pt x="5504656" y="2437"/>
                </a:lnTo>
                <a:lnTo>
                  <a:pt x="5542359" y="6154"/>
                </a:lnTo>
                <a:lnTo>
                  <a:pt x="5580063" y="11525"/>
                </a:lnTo>
                <a:lnTo>
                  <a:pt x="5617766" y="18536"/>
                </a:lnTo>
                <a:lnTo>
                  <a:pt x="5655469" y="27166"/>
                </a:lnTo>
                <a:lnTo>
                  <a:pt x="5693172" y="37392"/>
                </a:lnTo>
                <a:lnTo>
                  <a:pt x="5730875" y="49187"/>
                </a:lnTo>
                <a:lnTo>
                  <a:pt x="5768578" y="62517"/>
                </a:lnTo>
                <a:lnTo>
                  <a:pt x="5806281" y="77347"/>
                </a:lnTo>
                <a:lnTo>
                  <a:pt x="5843984" y="93636"/>
                </a:lnTo>
                <a:lnTo>
                  <a:pt x="5881688" y="111338"/>
                </a:lnTo>
                <a:lnTo>
                  <a:pt x="5919391" y="130406"/>
                </a:lnTo>
                <a:lnTo>
                  <a:pt x="5957094" y="150788"/>
                </a:lnTo>
                <a:lnTo>
                  <a:pt x="5994797" y="172427"/>
                </a:lnTo>
                <a:lnTo>
                  <a:pt x="6032500" y="195264"/>
                </a:lnTo>
                <a:lnTo>
                  <a:pt x="6070203" y="219236"/>
                </a:lnTo>
                <a:lnTo>
                  <a:pt x="6107906" y="244278"/>
                </a:lnTo>
                <a:lnTo>
                  <a:pt x="6145609" y="270321"/>
                </a:lnTo>
                <a:lnTo>
                  <a:pt x="6183313" y="297295"/>
                </a:lnTo>
                <a:lnTo>
                  <a:pt x="6221016" y="325124"/>
                </a:lnTo>
                <a:lnTo>
                  <a:pt x="6258719" y="353732"/>
                </a:lnTo>
                <a:lnTo>
                  <a:pt x="6296422" y="383042"/>
                </a:lnTo>
                <a:lnTo>
                  <a:pt x="6334125" y="412972"/>
                </a:lnTo>
                <a:lnTo>
                  <a:pt x="6371828" y="443442"/>
                </a:lnTo>
                <a:lnTo>
                  <a:pt x="6409531" y="474366"/>
                </a:lnTo>
                <a:lnTo>
                  <a:pt x="6447234" y="505661"/>
                </a:lnTo>
                <a:lnTo>
                  <a:pt x="6484938" y="537241"/>
                </a:lnTo>
                <a:lnTo>
                  <a:pt x="6522641" y="569019"/>
                </a:lnTo>
                <a:lnTo>
                  <a:pt x="6560344" y="600908"/>
                </a:lnTo>
                <a:lnTo>
                  <a:pt x="6598047" y="632820"/>
                </a:lnTo>
                <a:lnTo>
                  <a:pt x="6635750" y="664669"/>
                </a:lnTo>
                <a:lnTo>
                  <a:pt x="6673453" y="696367"/>
                </a:lnTo>
                <a:lnTo>
                  <a:pt x="6711156" y="727827"/>
                </a:lnTo>
                <a:lnTo>
                  <a:pt x="6748859" y="758962"/>
                </a:lnTo>
                <a:lnTo>
                  <a:pt x="6786563" y="789688"/>
                </a:lnTo>
                <a:lnTo>
                  <a:pt x="6824266" y="819920"/>
                </a:lnTo>
                <a:lnTo>
                  <a:pt x="6861969" y="849576"/>
                </a:lnTo>
                <a:lnTo>
                  <a:pt x="6899672" y="878573"/>
                </a:lnTo>
                <a:lnTo>
                  <a:pt x="6937375" y="906834"/>
                </a:lnTo>
                <a:lnTo>
                  <a:pt x="6975078" y="934279"/>
                </a:lnTo>
                <a:lnTo>
                  <a:pt x="7012781" y="960834"/>
                </a:lnTo>
                <a:lnTo>
                  <a:pt x="7050484" y="986426"/>
                </a:lnTo>
                <a:lnTo>
                  <a:pt x="7088188" y="1010986"/>
                </a:lnTo>
                <a:lnTo>
                  <a:pt x="7125891" y="1034445"/>
                </a:lnTo>
                <a:lnTo>
                  <a:pt x="7163594" y="1056739"/>
                </a:lnTo>
                <a:lnTo>
                  <a:pt x="7201297" y="1077808"/>
                </a:lnTo>
                <a:lnTo>
                  <a:pt x="7239000" y="1097593"/>
                </a:lnTo>
                <a:lnTo>
                  <a:pt x="7276703" y="1116040"/>
                </a:lnTo>
                <a:lnTo>
                  <a:pt x="7314406" y="1133099"/>
                </a:lnTo>
                <a:lnTo>
                  <a:pt x="7352109" y="1148724"/>
                </a:lnTo>
                <a:lnTo>
                  <a:pt x="7389813" y="1162870"/>
                </a:lnTo>
                <a:lnTo>
                  <a:pt x="7427516" y="1175499"/>
                </a:lnTo>
                <a:lnTo>
                  <a:pt x="7465219" y="1186578"/>
                </a:lnTo>
                <a:lnTo>
                  <a:pt x="7502922" y="1196074"/>
                </a:lnTo>
                <a:lnTo>
                  <a:pt x="7540625" y="1203963"/>
                </a:lnTo>
                <a:lnTo>
                  <a:pt x="7578328" y="1210223"/>
                </a:lnTo>
                <a:lnTo>
                  <a:pt x="7616031" y="1214836"/>
                </a:lnTo>
                <a:lnTo>
                  <a:pt x="7653734" y="1217791"/>
                </a:lnTo>
                <a:lnTo>
                  <a:pt x="7691438" y="1219078"/>
                </a:lnTo>
                <a:lnTo>
                  <a:pt x="7729141" y="1218694"/>
                </a:lnTo>
                <a:lnTo>
                  <a:pt x="7766844" y="1216641"/>
                </a:lnTo>
                <a:lnTo>
                  <a:pt x="7804547" y="1212924"/>
                </a:lnTo>
                <a:lnTo>
                  <a:pt x="7842250" y="1207552"/>
                </a:lnTo>
                <a:lnTo>
                  <a:pt x="7879953" y="1200542"/>
                </a:lnTo>
                <a:lnTo>
                  <a:pt x="7917656" y="1191912"/>
                </a:lnTo>
                <a:lnTo>
                  <a:pt x="7955359" y="1181686"/>
                </a:lnTo>
                <a:lnTo>
                  <a:pt x="7993063" y="1169891"/>
                </a:lnTo>
                <a:lnTo>
                  <a:pt x="8030766" y="1156561"/>
                </a:lnTo>
                <a:lnTo>
                  <a:pt x="8068469" y="1141731"/>
                </a:lnTo>
                <a:lnTo>
                  <a:pt x="8106172" y="1125442"/>
                </a:lnTo>
                <a:lnTo>
                  <a:pt x="8143875" y="1107740"/>
                </a:lnTo>
                <a:lnTo>
                  <a:pt x="8181578" y="1088671"/>
                </a:lnTo>
                <a:lnTo>
                  <a:pt x="8219281" y="1068290"/>
                </a:lnTo>
                <a:lnTo>
                  <a:pt x="8256984" y="1046651"/>
                </a:lnTo>
                <a:lnTo>
                  <a:pt x="8294688" y="1023814"/>
                </a:lnTo>
                <a:lnTo>
                  <a:pt x="8332391" y="999842"/>
                </a:lnTo>
                <a:lnTo>
                  <a:pt x="8370094" y="974800"/>
                </a:lnTo>
                <a:lnTo>
                  <a:pt x="8407797" y="948756"/>
                </a:lnTo>
                <a:lnTo>
                  <a:pt x="8445500" y="921783"/>
                </a:lnTo>
                <a:lnTo>
                  <a:pt x="8483203" y="893954"/>
                </a:lnTo>
                <a:lnTo>
                  <a:pt x="8520906" y="865346"/>
                </a:lnTo>
                <a:lnTo>
                  <a:pt x="8558609" y="836036"/>
                </a:lnTo>
                <a:lnTo>
                  <a:pt x="8596313" y="806106"/>
                </a:lnTo>
                <a:lnTo>
                  <a:pt x="8634016" y="775636"/>
                </a:lnTo>
                <a:lnTo>
                  <a:pt x="8671719" y="744712"/>
                </a:lnTo>
                <a:lnTo>
                  <a:pt x="8709422" y="713417"/>
                </a:lnTo>
                <a:lnTo>
                  <a:pt x="8747125" y="681837"/>
                </a:lnTo>
                <a:lnTo>
                  <a:pt x="8784828" y="650059"/>
                </a:lnTo>
                <a:lnTo>
                  <a:pt x="8822531" y="618170"/>
                </a:lnTo>
                <a:lnTo>
                  <a:pt x="8860234" y="586257"/>
                </a:lnTo>
                <a:lnTo>
                  <a:pt x="8897937" y="554409"/>
                </a:lnTo>
                <a:lnTo>
                  <a:pt x="8935641" y="522711"/>
                </a:lnTo>
                <a:lnTo>
                  <a:pt x="8973344" y="491251"/>
                </a:lnTo>
                <a:lnTo>
                  <a:pt x="9011047" y="460116"/>
                </a:lnTo>
                <a:lnTo>
                  <a:pt x="9048750" y="42939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8C64E1"/>
            </a:solidFill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73B7595F-5C85-48AA-810E-371A2D9A9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声压变化 → 麦克风 → 连续电信号。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CE46EE72-FA50-42FC-A889-BBE9D9F75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横轴：时间；纵轴：信号幅度。</a:t>
            </a:r>
          </a:p>
        </p:txBody>
      </p:sp>
    </p:spTree>
    <p:extLst>
      <p:ext uri="{BB962C8B-B14F-4D97-AF65-F5344CB8AC3E}">
        <p14:creationId xmlns:p14="http://schemas.microsoft.com/office/powerpoint/2010/main" val="16690474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rail">
            <a:extLst xmlns:a="http://schemas.openxmlformats.org/drawingml/2006/main">
              <a:ext uri="{FF2B5EF4-FFF2-40B4-BE49-F238E27FC236}">
                <a16:creationId xmlns:a16="http://schemas.microsoft.com/office/drawing/2014/main" id="{1D4D0DAF-1CB9-4E3F-9490-CAB187AC2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0A5C0186-0768-4E22-B798-8A035D9C4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16DD246C-C711-45CF-9C7A-3E5BC5B5D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怎样留下波形随时间的变化？</a:t>
            </a:r>
          </a:p>
        </p:txBody>
      </p:sp>
      <p:sp>
        <p:nvSpPr>
          <p:cNvPr id="4" name="given-0">
            <a:extLst xmlns:a="http://schemas.openxmlformats.org/drawingml/2006/main">
              <a:ext uri="{FF2B5EF4-FFF2-40B4-BE49-F238E27FC236}">
                <a16:creationId xmlns:a16="http://schemas.microsoft.com/office/drawing/2014/main" id="{51033247-5B6D-4A7B-B085-6B34DA278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这一秒的曲线怎样记录？</a:t>
            </a:r>
          </a:p>
        </p:txBody>
      </p:sp>
      <p:sp>
        <p:nvSpPr>
          <p:cNvPr id="5" name="given-1">
            <a:extLst xmlns:a="http://schemas.openxmlformats.org/drawingml/2006/main">
              <a:ext uri="{FF2B5EF4-FFF2-40B4-BE49-F238E27FC236}">
                <a16:creationId xmlns:a16="http://schemas.microsoft.com/office/drawing/2014/main" id="{D26F3266-A28C-4F5B-8144-48492CA47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在纸上圈出你准备读取的时刻。</a:t>
            </a:r>
          </a:p>
        </p:txBody>
      </p:sp>
      <p:sp>
        <p:nvSpPr>
          <p:cNvPr id="6" name="zero-line">
            <a:extLst xmlns:a="http://schemas.openxmlformats.org/drawingml/2006/main">
              <a:ext uri="{FF2B5EF4-FFF2-40B4-BE49-F238E27FC236}">
                <a16:creationId xmlns:a16="http://schemas.microsoft.com/office/drawing/2014/main" id="{24D3E3EF-162D-4AAC-9533-E8D12001D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667125"/>
            <a:ext cx="9048750" cy="9525"/>
          </a:xfrm>
          <a:custGeom xmlns:a="http://schemas.openxmlformats.org/drawingml/2006/main">
            <a:pathLst>
              <a:path w="9048750" h="9525">
                <a:moveTo>
                  <a:pt x="0" y="0"/>
                </a:moveTo>
                <a:lnTo>
                  <a:pt x="9048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8D8DF"/>
            </a:solidFill>
          </a:ln>
        </p:spPr>
      </p:sp>
      <p:sp>
        <p:nvSpPr>
          <p:cNvPr id="7" name="amplitude-axis">
            <a:extLst xmlns:a="http://schemas.openxmlformats.org/drawingml/2006/main">
              <a:ext uri="{FF2B5EF4-FFF2-40B4-BE49-F238E27FC236}">
                <a16:creationId xmlns:a16="http://schemas.microsoft.com/office/drawing/2014/main" id="{1C3DDAB4-0113-4762-B703-2D3F821A2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86063"/>
            <a:ext cx="9525" cy="1809750"/>
          </a:xfrm>
          <a:custGeom xmlns:a="http://schemas.openxmlformats.org/drawingml/2006/main">
            <a:pathLst>
              <a:path w="9525" h="1809750">
                <a:moveTo>
                  <a:pt x="0" y="0"/>
                </a:moveTo>
                <a:lnTo>
                  <a:pt x="0" y="18097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8" name="waveform">
            <a:extLst xmlns:a="http://schemas.openxmlformats.org/drawingml/2006/main">
              <a:ext uri="{FF2B5EF4-FFF2-40B4-BE49-F238E27FC236}">
                <a16:creationId xmlns:a16="http://schemas.microsoft.com/office/drawing/2014/main" id="{27FCE543-2AE2-4BFD-A624-58CDF4BFA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076634"/>
            <a:ext cx="9048750" cy="1180982"/>
          </a:xfrm>
          <a:custGeom xmlns:a="http://schemas.openxmlformats.org/drawingml/2006/main">
            <a:pathLst>
              <a:path w="9048750" h="1180982">
                <a:moveTo>
                  <a:pt x="0" y="415971"/>
                </a:moveTo>
                <a:lnTo>
                  <a:pt x="37703" y="386684"/>
                </a:lnTo>
                <a:lnTo>
                  <a:pt x="75406" y="357955"/>
                </a:lnTo>
                <a:lnTo>
                  <a:pt x="113109" y="329864"/>
                </a:lnTo>
                <a:lnTo>
                  <a:pt x="150813" y="302487"/>
                </a:lnTo>
                <a:lnTo>
                  <a:pt x="188516" y="275899"/>
                </a:lnTo>
                <a:lnTo>
                  <a:pt x="226219" y="250174"/>
                </a:lnTo>
                <a:lnTo>
                  <a:pt x="263922" y="225381"/>
                </a:lnTo>
                <a:lnTo>
                  <a:pt x="301625" y="201589"/>
                </a:lnTo>
                <a:lnTo>
                  <a:pt x="339328" y="178863"/>
                </a:lnTo>
                <a:lnTo>
                  <a:pt x="377031" y="157266"/>
                </a:lnTo>
                <a:lnTo>
                  <a:pt x="414734" y="136855"/>
                </a:lnTo>
                <a:lnTo>
                  <a:pt x="452438" y="117688"/>
                </a:lnTo>
                <a:lnTo>
                  <a:pt x="490141" y="99818"/>
                </a:lnTo>
                <a:lnTo>
                  <a:pt x="527844" y="83292"/>
                </a:lnTo>
                <a:lnTo>
                  <a:pt x="565547" y="68156"/>
                </a:lnTo>
                <a:lnTo>
                  <a:pt x="603250" y="54452"/>
                </a:lnTo>
                <a:lnTo>
                  <a:pt x="640953" y="42217"/>
                </a:lnTo>
                <a:lnTo>
                  <a:pt x="678656" y="31485"/>
                </a:lnTo>
                <a:lnTo>
                  <a:pt x="716359" y="22285"/>
                </a:lnTo>
                <a:lnTo>
                  <a:pt x="754063" y="14642"/>
                </a:lnTo>
                <a:lnTo>
                  <a:pt x="791766" y="8578"/>
                </a:lnTo>
                <a:lnTo>
                  <a:pt x="829469" y="4109"/>
                </a:lnTo>
                <a:lnTo>
                  <a:pt x="867172" y="1247"/>
                </a:lnTo>
                <a:lnTo>
                  <a:pt x="904875" y="0"/>
                </a:lnTo>
                <a:lnTo>
                  <a:pt x="942578" y="372"/>
                </a:lnTo>
                <a:lnTo>
                  <a:pt x="980281" y="2361"/>
                </a:lnTo>
                <a:lnTo>
                  <a:pt x="1017984" y="5962"/>
                </a:lnTo>
                <a:lnTo>
                  <a:pt x="1055687" y="11165"/>
                </a:lnTo>
                <a:lnTo>
                  <a:pt x="1093391" y="17956"/>
                </a:lnTo>
                <a:lnTo>
                  <a:pt x="1131094" y="26317"/>
                </a:lnTo>
                <a:lnTo>
                  <a:pt x="1168797" y="36224"/>
                </a:lnTo>
                <a:lnTo>
                  <a:pt x="1206500" y="47650"/>
                </a:lnTo>
                <a:lnTo>
                  <a:pt x="1244203" y="60564"/>
                </a:lnTo>
                <a:lnTo>
                  <a:pt x="1281906" y="74930"/>
                </a:lnTo>
                <a:lnTo>
                  <a:pt x="1319609" y="90710"/>
                </a:lnTo>
                <a:lnTo>
                  <a:pt x="1357313" y="107859"/>
                </a:lnTo>
                <a:lnTo>
                  <a:pt x="1395016" y="126331"/>
                </a:lnTo>
                <a:lnTo>
                  <a:pt x="1432719" y="146076"/>
                </a:lnTo>
                <a:lnTo>
                  <a:pt x="1470422" y="167038"/>
                </a:lnTo>
                <a:lnTo>
                  <a:pt x="1508125" y="189162"/>
                </a:lnTo>
                <a:lnTo>
                  <a:pt x="1545828" y="212385"/>
                </a:lnTo>
                <a:lnTo>
                  <a:pt x="1583531" y="236644"/>
                </a:lnTo>
                <a:lnTo>
                  <a:pt x="1621234" y="261874"/>
                </a:lnTo>
                <a:lnTo>
                  <a:pt x="1658937" y="288004"/>
                </a:lnTo>
                <a:lnTo>
                  <a:pt x="1696641" y="314963"/>
                </a:lnTo>
                <a:lnTo>
                  <a:pt x="1734344" y="342678"/>
                </a:lnTo>
                <a:lnTo>
                  <a:pt x="1772047" y="371072"/>
                </a:lnTo>
                <a:lnTo>
                  <a:pt x="1809750" y="400067"/>
                </a:lnTo>
                <a:lnTo>
                  <a:pt x="1847453" y="429584"/>
                </a:lnTo>
                <a:lnTo>
                  <a:pt x="1885156" y="459542"/>
                </a:lnTo>
                <a:lnTo>
                  <a:pt x="1922859" y="489859"/>
                </a:lnTo>
                <a:lnTo>
                  <a:pt x="1960563" y="520452"/>
                </a:lnTo>
                <a:lnTo>
                  <a:pt x="1998266" y="551237"/>
                </a:lnTo>
                <a:lnTo>
                  <a:pt x="2035969" y="582129"/>
                </a:lnTo>
                <a:lnTo>
                  <a:pt x="2073672" y="613045"/>
                </a:lnTo>
                <a:lnTo>
                  <a:pt x="2111375" y="643898"/>
                </a:lnTo>
                <a:lnTo>
                  <a:pt x="2149078" y="674605"/>
                </a:lnTo>
                <a:lnTo>
                  <a:pt x="2186781" y="705082"/>
                </a:lnTo>
                <a:lnTo>
                  <a:pt x="2224484" y="735245"/>
                </a:lnTo>
                <a:lnTo>
                  <a:pt x="2262188" y="765010"/>
                </a:lnTo>
                <a:lnTo>
                  <a:pt x="2299891" y="794298"/>
                </a:lnTo>
                <a:lnTo>
                  <a:pt x="2337594" y="823026"/>
                </a:lnTo>
                <a:lnTo>
                  <a:pt x="2375297" y="851118"/>
                </a:lnTo>
                <a:lnTo>
                  <a:pt x="2413000" y="878495"/>
                </a:lnTo>
                <a:lnTo>
                  <a:pt x="2450703" y="905083"/>
                </a:lnTo>
                <a:lnTo>
                  <a:pt x="2488406" y="930808"/>
                </a:lnTo>
                <a:lnTo>
                  <a:pt x="2526109" y="955601"/>
                </a:lnTo>
                <a:lnTo>
                  <a:pt x="2563813" y="979392"/>
                </a:lnTo>
                <a:lnTo>
                  <a:pt x="2601516" y="1002118"/>
                </a:lnTo>
                <a:lnTo>
                  <a:pt x="2639219" y="1023716"/>
                </a:lnTo>
                <a:lnTo>
                  <a:pt x="2676922" y="1044126"/>
                </a:lnTo>
                <a:lnTo>
                  <a:pt x="2714625" y="1063293"/>
                </a:lnTo>
                <a:lnTo>
                  <a:pt x="2752328" y="1081164"/>
                </a:lnTo>
                <a:lnTo>
                  <a:pt x="2790031" y="1097690"/>
                </a:lnTo>
                <a:lnTo>
                  <a:pt x="2827734" y="1112826"/>
                </a:lnTo>
                <a:lnTo>
                  <a:pt x="2865438" y="1126530"/>
                </a:lnTo>
                <a:lnTo>
                  <a:pt x="2903141" y="1138765"/>
                </a:lnTo>
                <a:lnTo>
                  <a:pt x="2940844" y="1149497"/>
                </a:lnTo>
                <a:lnTo>
                  <a:pt x="2978547" y="1158697"/>
                </a:lnTo>
                <a:lnTo>
                  <a:pt x="3016250" y="1166340"/>
                </a:lnTo>
                <a:lnTo>
                  <a:pt x="3053953" y="1172404"/>
                </a:lnTo>
                <a:lnTo>
                  <a:pt x="3091656" y="1176873"/>
                </a:lnTo>
                <a:lnTo>
                  <a:pt x="3129359" y="1179735"/>
                </a:lnTo>
                <a:lnTo>
                  <a:pt x="3167063" y="1180982"/>
                </a:lnTo>
                <a:lnTo>
                  <a:pt x="3204766" y="1180610"/>
                </a:lnTo>
                <a:lnTo>
                  <a:pt x="3242469" y="1178621"/>
                </a:lnTo>
                <a:lnTo>
                  <a:pt x="3280172" y="1175020"/>
                </a:lnTo>
                <a:lnTo>
                  <a:pt x="3317875" y="1169816"/>
                </a:lnTo>
                <a:lnTo>
                  <a:pt x="3355578" y="1163025"/>
                </a:lnTo>
                <a:lnTo>
                  <a:pt x="3393281" y="1154665"/>
                </a:lnTo>
                <a:lnTo>
                  <a:pt x="3430984" y="1144758"/>
                </a:lnTo>
                <a:lnTo>
                  <a:pt x="3468688" y="1133332"/>
                </a:lnTo>
                <a:lnTo>
                  <a:pt x="3506391" y="1120418"/>
                </a:lnTo>
                <a:lnTo>
                  <a:pt x="3544094" y="1106052"/>
                </a:lnTo>
                <a:lnTo>
                  <a:pt x="3581797" y="1090272"/>
                </a:lnTo>
                <a:lnTo>
                  <a:pt x="3619500" y="1073123"/>
                </a:lnTo>
                <a:lnTo>
                  <a:pt x="3657203" y="1054650"/>
                </a:lnTo>
                <a:lnTo>
                  <a:pt x="3694906" y="1034906"/>
                </a:lnTo>
                <a:lnTo>
                  <a:pt x="3732609" y="1013943"/>
                </a:lnTo>
                <a:lnTo>
                  <a:pt x="3770312" y="991820"/>
                </a:lnTo>
                <a:lnTo>
                  <a:pt x="3808016" y="968597"/>
                </a:lnTo>
                <a:lnTo>
                  <a:pt x="3845719" y="944337"/>
                </a:lnTo>
                <a:lnTo>
                  <a:pt x="3883422" y="919108"/>
                </a:lnTo>
                <a:lnTo>
                  <a:pt x="3921125" y="892977"/>
                </a:lnTo>
                <a:lnTo>
                  <a:pt x="3958828" y="866018"/>
                </a:lnTo>
                <a:lnTo>
                  <a:pt x="3996531" y="838304"/>
                </a:lnTo>
                <a:lnTo>
                  <a:pt x="4034234" y="809910"/>
                </a:lnTo>
                <a:lnTo>
                  <a:pt x="4071938" y="780915"/>
                </a:lnTo>
                <a:lnTo>
                  <a:pt x="4109641" y="751398"/>
                </a:lnTo>
                <a:lnTo>
                  <a:pt x="4147344" y="721440"/>
                </a:lnTo>
                <a:lnTo>
                  <a:pt x="4185047" y="691122"/>
                </a:lnTo>
                <a:lnTo>
                  <a:pt x="4222750" y="660530"/>
                </a:lnTo>
                <a:lnTo>
                  <a:pt x="4260453" y="629745"/>
                </a:lnTo>
                <a:lnTo>
                  <a:pt x="4298156" y="598852"/>
                </a:lnTo>
                <a:lnTo>
                  <a:pt x="4335859" y="567937"/>
                </a:lnTo>
                <a:lnTo>
                  <a:pt x="4373563" y="537083"/>
                </a:lnTo>
                <a:lnTo>
                  <a:pt x="4411266" y="506376"/>
                </a:lnTo>
                <a:lnTo>
                  <a:pt x="4448969" y="475900"/>
                </a:lnTo>
                <a:lnTo>
                  <a:pt x="4486672" y="445737"/>
                </a:lnTo>
                <a:lnTo>
                  <a:pt x="4524375" y="415971"/>
                </a:lnTo>
                <a:lnTo>
                  <a:pt x="4562078" y="386684"/>
                </a:lnTo>
                <a:lnTo>
                  <a:pt x="4599781" y="357955"/>
                </a:lnTo>
                <a:lnTo>
                  <a:pt x="4637484" y="329864"/>
                </a:lnTo>
                <a:lnTo>
                  <a:pt x="4675187" y="302487"/>
                </a:lnTo>
                <a:lnTo>
                  <a:pt x="4712891" y="275899"/>
                </a:lnTo>
                <a:lnTo>
                  <a:pt x="4750594" y="250174"/>
                </a:lnTo>
                <a:lnTo>
                  <a:pt x="4788297" y="225381"/>
                </a:lnTo>
                <a:lnTo>
                  <a:pt x="4826000" y="201589"/>
                </a:lnTo>
                <a:lnTo>
                  <a:pt x="4863703" y="178863"/>
                </a:lnTo>
                <a:lnTo>
                  <a:pt x="4901406" y="157266"/>
                </a:lnTo>
                <a:lnTo>
                  <a:pt x="4939109" y="136855"/>
                </a:lnTo>
                <a:lnTo>
                  <a:pt x="4976813" y="117688"/>
                </a:lnTo>
                <a:lnTo>
                  <a:pt x="5014516" y="99818"/>
                </a:lnTo>
                <a:lnTo>
                  <a:pt x="5052219" y="83292"/>
                </a:lnTo>
                <a:lnTo>
                  <a:pt x="5089922" y="68156"/>
                </a:lnTo>
                <a:lnTo>
                  <a:pt x="5127625" y="54452"/>
                </a:lnTo>
                <a:lnTo>
                  <a:pt x="5165328" y="42217"/>
                </a:lnTo>
                <a:lnTo>
                  <a:pt x="5203031" y="31485"/>
                </a:lnTo>
                <a:lnTo>
                  <a:pt x="5240734" y="22285"/>
                </a:lnTo>
                <a:lnTo>
                  <a:pt x="5278438" y="14642"/>
                </a:lnTo>
                <a:lnTo>
                  <a:pt x="5316141" y="8578"/>
                </a:lnTo>
                <a:lnTo>
                  <a:pt x="5353844" y="4109"/>
                </a:lnTo>
                <a:lnTo>
                  <a:pt x="5391547" y="1247"/>
                </a:lnTo>
                <a:lnTo>
                  <a:pt x="5429250" y="0"/>
                </a:lnTo>
                <a:lnTo>
                  <a:pt x="5466953" y="372"/>
                </a:lnTo>
                <a:lnTo>
                  <a:pt x="5504656" y="2361"/>
                </a:lnTo>
                <a:lnTo>
                  <a:pt x="5542359" y="5962"/>
                </a:lnTo>
                <a:lnTo>
                  <a:pt x="5580063" y="11165"/>
                </a:lnTo>
                <a:lnTo>
                  <a:pt x="5617766" y="17956"/>
                </a:lnTo>
                <a:lnTo>
                  <a:pt x="5655469" y="26317"/>
                </a:lnTo>
                <a:lnTo>
                  <a:pt x="5693172" y="36224"/>
                </a:lnTo>
                <a:lnTo>
                  <a:pt x="5730875" y="47650"/>
                </a:lnTo>
                <a:lnTo>
                  <a:pt x="5768578" y="60564"/>
                </a:lnTo>
                <a:lnTo>
                  <a:pt x="5806281" y="74930"/>
                </a:lnTo>
                <a:lnTo>
                  <a:pt x="5843984" y="90710"/>
                </a:lnTo>
                <a:lnTo>
                  <a:pt x="5881688" y="107859"/>
                </a:lnTo>
                <a:lnTo>
                  <a:pt x="5919391" y="126331"/>
                </a:lnTo>
                <a:lnTo>
                  <a:pt x="5957094" y="146076"/>
                </a:lnTo>
                <a:lnTo>
                  <a:pt x="5994797" y="167038"/>
                </a:lnTo>
                <a:lnTo>
                  <a:pt x="6032500" y="189162"/>
                </a:lnTo>
                <a:lnTo>
                  <a:pt x="6070203" y="212385"/>
                </a:lnTo>
                <a:lnTo>
                  <a:pt x="6107906" y="236644"/>
                </a:lnTo>
                <a:lnTo>
                  <a:pt x="6145609" y="261874"/>
                </a:lnTo>
                <a:lnTo>
                  <a:pt x="6183313" y="288004"/>
                </a:lnTo>
                <a:lnTo>
                  <a:pt x="6221016" y="314963"/>
                </a:lnTo>
                <a:lnTo>
                  <a:pt x="6258719" y="342678"/>
                </a:lnTo>
                <a:lnTo>
                  <a:pt x="6296422" y="371072"/>
                </a:lnTo>
                <a:lnTo>
                  <a:pt x="6334125" y="400067"/>
                </a:lnTo>
                <a:lnTo>
                  <a:pt x="6371828" y="429584"/>
                </a:lnTo>
                <a:lnTo>
                  <a:pt x="6409531" y="459542"/>
                </a:lnTo>
                <a:lnTo>
                  <a:pt x="6447234" y="489859"/>
                </a:lnTo>
                <a:lnTo>
                  <a:pt x="6484938" y="520452"/>
                </a:lnTo>
                <a:lnTo>
                  <a:pt x="6522641" y="551237"/>
                </a:lnTo>
                <a:lnTo>
                  <a:pt x="6560344" y="582129"/>
                </a:lnTo>
                <a:lnTo>
                  <a:pt x="6598047" y="613045"/>
                </a:lnTo>
                <a:lnTo>
                  <a:pt x="6635750" y="643898"/>
                </a:lnTo>
                <a:lnTo>
                  <a:pt x="6673453" y="674605"/>
                </a:lnTo>
                <a:lnTo>
                  <a:pt x="6711156" y="705082"/>
                </a:lnTo>
                <a:lnTo>
                  <a:pt x="6748859" y="735245"/>
                </a:lnTo>
                <a:lnTo>
                  <a:pt x="6786563" y="765010"/>
                </a:lnTo>
                <a:lnTo>
                  <a:pt x="6824266" y="794298"/>
                </a:lnTo>
                <a:lnTo>
                  <a:pt x="6861969" y="823026"/>
                </a:lnTo>
                <a:lnTo>
                  <a:pt x="6899672" y="851118"/>
                </a:lnTo>
                <a:lnTo>
                  <a:pt x="6937375" y="878495"/>
                </a:lnTo>
                <a:lnTo>
                  <a:pt x="6975078" y="905083"/>
                </a:lnTo>
                <a:lnTo>
                  <a:pt x="7012781" y="930808"/>
                </a:lnTo>
                <a:lnTo>
                  <a:pt x="7050484" y="955601"/>
                </a:lnTo>
                <a:lnTo>
                  <a:pt x="7088188" y="979392"/>
                </a:lnTo>
                <a:lnTo>
                  <a:pt x="7125891" y="1002118"/>
                </a:lnTo>
                <a:lnTo>
                  <a:pt x="7163594" y="1023716"/>
                </a:lnTo>
                <a:lnTo>
                  <a:pt x="7201297" y="1044126"/>
                </a:lnTo>
                <a:lnTo>
                  <a:pt x="7239000" y="1063293"/>
                </a:lnTo>
                <a:lnTo>
                  <a:pt x="7276703" y="1081164"/>
                </a:lnTo>
                <a:lnTo>
                  <a:pt x="7314406" y="1097690"/>
                </a:lnTo>
                <a:lnTo>
                  <a:pt x="7352109" y="1112826"/>
                </a:lnTo>
                <a:lnTo>
                  <a:pt x="7389813" y="1126530"/>
                </a:lnTo>
                <a:lnTo>
                  <a:pt x="7427516" y="1138765"/>
                </a:lnTo>
                <a:lnTo>
                  <a:pt x="7465219" y="1149497"/>
                </a:lnTo>
                <a:lnTo>
                  <a:pt x="7502922" y="1158697"/>
                </a:lnTo>
                <a:lnTo>
                  <a:pt x="7540625" y="1166340"/>
                </a:lnTo>
                <a:lnTo>
                  <a:pt x="7578328" y="1172404"/>
                </a:lnTo>
                <a:lnTo>
                  <a:pt x="7616031" y="1176873"/>
                </a:lnTo>
                <a:lnTo>
                  <a:pt x="7653734" y="1179735"/>
                </a:lnTo>
                <a:lnTo>
                  <a:pt x="7691438" y="1180982"/>
                </a:lnTo>
                <a:lnTo>
                  <a:pt x="7729141" y="1180610"/>
                </a:lnTo>
                <a:lnTo>
                  <a:pt x="7766844" y="1178621"/>
                </a:lnTo>
                <a:lnTo>
                  <a:pt x="7804547" y="1175020"/>
                </a:lnTo>
                <a:lnTo>
                  <a:pt x="7842250" y="1169816"/>
                </a:lnTo>
                <a:lnTo>
                  <a:pt x="7879953" y="1163025"/>
                </a:lnTo>
                <a:lnTo>
                  <a:pt x="7917656" y="1154665"/>
                </a:lnTo>
                <a:lnTo>
                  <a:pt x="7955359" y="1144758"/>
                </a:lnTo>
                <a:lnTo>
                  <a:pt x="7993063" y="1133332"/>
                </a:lnTo>
                <a:lnTo>
                  <a:pt x="8030766" y="1120418"/>
                </a:lnTo>
                <a:lnTo>
                  <a:pt x="8068469" y="1106052"/>
                </a:lnTo>
                <a:lnTo>
                  <a:pt x="8106172" y="1090272"/>
                </a:lnTo>
                <a:lnTo>
                  <a:pt x="8143875" y="1073123"/>
                </a:lnTo>
                <a:lnTo>
                  <a:pt x="8181578" y="1054650"/>
                </a:lnTo>
                <a:lnTo>
                  <a:pt x="8219281" y="1034906"/>
                </a:lnTo>
                <a:lnTo>
                  <a:pt x="8256984" y="1013943"/>
                </a:lnTo>
                <a:lnTo>
                  <a:pt x="8294688" y="991820"/>
                </a:lnTo>
                <a:lnTo>
                  <a:pt x="8332391" y="968597"/>
                </a:lnTo>
                <a:lnTo>
                  <a:pt x="8370094" y="944337"/>
                </a:lnTo>
                <a:lnTo>
                  <a:pt x="8407797" y="919108"/>
                </a:lnTo>
                <a:lnTo>
                  <a:pt x="8445500" y="892977"/>
                </a:lnTo>
                <a:lnTo>
                  <a:pt x="8483203" y="866018"/>
                </a:lnTo>
                <a:lnTo>
                  <a:pt x="8520906" y="838304"/>
                </a:lnTo>
                <a:lnTo>
                  <a:pt x="8558609" y="809910"/>
                </a:lnTo>
                <a:lnTo>
                  <a:pt x="8596313" y="780915"/>
                </a:lnTo>
                <a:lnTo>
                  <a:pt x="8634016" y="751398"/>
                </a:lnTo>
                <a:lnTo>
                  <a:pt x="8671719" y="721440"/>
                </a:lnTo>
                <a:lnTo>
                  <a:pt x="8709422" y="691122"/>
                </a:lnTo>
                <a:lnTo>
                  <a:pt x="8747125" y="660530"/>
                </a:lnTo>
                <a:lnTo>
                  <a:pt x="8784828" y="629745"/>
                </a:lnTo>
                <a:lnTo>
                  <a:pt x="8822531" y="598852"/>
                </a:lnTo>
                <a:lnTo>
                  <a:pt x="8860234" y="567937"/>
                </a:lnTo>
                <a:lnTo>
                  <a:pt x="8897937" y="537083"/>
                </a:lnTo>
                <a:lnTo>
                  <a:pt x="8935641" y="506376"/>
                </a:lnTo>
                <a:lnTo>
                  <a:pt x="8973344" y="475900"/>
                </a:lnTo>
                <a:lnTo>
                  <a:pt x="9011047" y="445737"/>
                </a:lnTo>
                <a:lnTo>
                  <a:pt x="9048750" y="415971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8C64E1"/>
            </a:solidFill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F519EC83-AF8A-48DA-87F1-DE2896927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72013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DCDF2DF0-DCB4-4149-BEED-E2D472A18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4672013"/>
            <a:ext cx="61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 s</a:t>
            </a:r>
          </a:p>
        </p:txBody>
      </p:sp>
    </p:spTree>
    <p:extLst>
      <p:ext uri="{BB962C8B-B14F-4D97-AF65-F5344CB8AC3E}">
        <p14:creationId xmlns:p14="http://schemas.microsoft.com/office/powerpoint/2010/main" val="105987683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op-rail">
            <a:extLst xmlns:a="http://schemas.openxmlformats.org/drawingml/2006/main">
              <a:ext uri="{FF2B5EF4-FFF2-40B4-BE49-F238E27FC236}">
                <a16:creationId xmlns:a16="http://schemas.microsoft.com/office/drawing/2014/main" id="{1D4D0DAF-1CB9-4E3F-9490-CAB187AC2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0A5C0186-0768-4E22-B798-8A035D9C4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16DD246C-C711-45CF-9C7A-3E5BC5B5D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怎样留下波形随时间的变化？</a:t>
            </a:r>
          </a:p>
        </p:txBody>
      </p:sp>
      <p:sp>
        <p:nvSpPr>
          <p:cNvPr id="4" name="given-0">
            <a:extLst xmlns:a="http://schemas.openxmlformats.org/drawingml/2006/main">
              <a:ext uri="{FF2B5EF4-FFF2-40B4-BE49-F238E27FC236}">
                <a16:creationId xmlns:a16="http://schemas.microsoft.com/office/drawing/2014/main" id="{51033247-5B6D-4A7B-B085-6B34DA278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这一秒的曲线怎样记录？</a:t>
            </a:r>
          </a:p>
        </p:txBody>
      </p:sp>
      <p:sp>
        <p:nvSpPr>
          <p:cNvPr id="5" name="given-1">
            <a:extLst xmlns:a="http://schemas.openxmlformats.org/drawingml/2006/main">
              <a:ext uri="{FF2B5EF4-FFF2-40B4-BE49-F238E27FC236}">
                <a16:creationId xmlns:a16="http://schemas.microsoft.com/office/drawing/2014/main" id="{D26F3266-A28C-4F5B-8144-48492CA47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在纸上圈出你准备读取的时刻。</a:t>
            </a:r>
          </a:p>
        </p:txBody>
      </p:sp>
      <p:sp>
        <p:nvSpPr>
          <p:cNvPr id="6" name="zero-line">
            <a:extLst xmlns:a="http://schemas.openxmlformats.org/drawingml/2006/main">
              <a:ext uri="{FF2B5EF4-FFF2-40B4-BE49-F238E27FC236}">
                <a16:creationId xmlns:a16="http://schemas.microsoft.com/office/drawing/2014/main" id="{24D3E3EF-162D-4AAC-9533-E8D12001D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667125"/>
            <a:ext cx="9048750" cy="9525"/>
          </a:xfrm>
          <a:custGeom xmlns:a="http://schemas.openxmlformats.org/drawingml/2006/main">
            <a:pathLst>
              <a:path w="9048750" h="9525">
                <a:moveTo>
                  <a:pt x="0" y="0"/>
                </a:moveTo>
                <a:lnTo>
                  <a:pt x="9048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8D8DF"/>
            </a:solidFill>
          </a:ln>
        </p:spPr>
      </p:sp>
      <p:sp>
        <p:nvSpPr>
          <p:cNvPr id="7" name="amplitude-axis">
            <a:extLst xmlns:a="http://schemas.openxmlformats.org/drawingml/2006/main">
              <a:ext uri="{FF2B5EF4-FFF2-40B4-BE49-F238E27FC236}">
                <a16:creationId xmlns:a16="http://schemas.microsoft.com/office/drawing/2014/main" id="{1C3DDAB4-0113-4762-B703-2D3F821A2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86063"/>
            <a:ext cx="9525" cy="1809750"/>
          </a:xfrm>
          <a:custGeom xmlns:a="http://schemas.openxmlformats.org/drawingml/2006/main">
            <a:pathLst>
              <a:path w="9525" h="1809750">
                <a:moveTo>
                  <a:pt x="0" y="0"/>
                </a:moveTo>
                <a:lnTo>
                  <a:pt x="0" y="18097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8" name="waveform">
            <a:extLst xmlns:a="http://schemas.openxmlformats.org/drawingml/2006/main">
              <a:ext uri="{FF2B5EF4-FFF2-40B4-BE49-F238E27FC236}">
                <a16:creationId xmlns:a16="http://schemas.microsoft.com/office/drawing/2014/main" id="{27FCE543-2AE2-4BFD-A624-58CDF4BFA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076634"/>
            <a:ext cx="9048750" cy="1180982"/>
          </a:xfrm>
          <a:custGeom xmlns:a="http://schemas.openxmlformats.org/drawingml/2006/main">
            <a:pathLst>
              <a:path w="9048750" h="1180982">
                <a:moveTo>
                  <a:pt x="0" y="415971"/>
                </a:moveTo>
                <a:lnTo>
                  <a:pt x="37703" y="386684"/>
                </a:lnTo>
                <a:lnTo>
                  <a:pt x="75406" y="357955"/>
                </a:lnTo>
                <a:lnTo>
                  <a:pt x="113109" y="329864"/>
                </a:lnTo>
                <a:lnTo>
                  <a:pt x="150813" y="302487"/>
                </a:lnTo>
                <a:lnTo>
                  <a:pt x="188516" y="275899"/>
                </a:lnTo>
                <a:lnTo>
                  <a:pt x="226219" y="250174"/>
                </a:lnTo>
                <a:lnTo>
                  <a:pt x="263922" y="225381"/>
                </a:lnTo>
                <a:lnTo>
                  <a:pt x="301625" y="201589"/>
                </a:lnTo>
                <a:lnTo>
                  <a:pt x="339328" y="178863"/>
                </a:lnTo>
                <a:lnTo>
                  <a:pt x="377031" y="157266"/>
                </a:lnTo>
                <a:lnTo>
                  <a:pt x="414734" y="136855"/>
                </a:lnTo>
                <a:lnTo>
                  <a:pt x="452438" y="117688"/>
                </a:lnTo>
                <a:lnTo>
                  <a:pt x="490141" y="99818"/>
                </a:lnTo>
                <a:lnTo>
                  <a:pt x="527844" y="83292"/>
                </a:lnTo>
                <a:lnTo>
                  <a:pt x="565547" y="68156"/>
                </a:lnTo>
                <a:lnTo>
                  <a:pt x="603250" y="54452"/>
                </a:lnTo>
                <a:lnTo>
                  <a:pt x="640953" y="42217"/>
                </a:lnTo>
                <a:lnTo>
                  <a:pt x="678656" y="31485"/>
                </a:lnTo>
                <a:lnTo>
                  <a:pt x="716359" y="22285"/>
                </a:lnTo>
                <a:lnTo>
                  <a:pt x="754063" y="14642"/>
                </a:lnTo>
                <a:lnTo>
                  <a:pt x="791766" y="8578"/>
                </a:lnTo>
                <a:lnTo>
                  <a:pt x="829469" y="4109"/>
                </a:lnTo>
                <a:lnTo>
                  <a:pt x="867172" y="1247"/>
                </a:lnTo>
                <a:lnTo>
                  <a:pt x="904875" y="0"/>
                </a:lnTo>
                <a:lnTo>
                  <a:pt x="942578" y="372"/>
                </a:lnTo>
                <a:lnTo>
                  <a:pt x="980281" y="2361"/>
                </a:lnTo>
                <a:lnTo>
                  <a:pt x="1017984" y="5962"/>
                </a:lnTo>
                <a:lnTo>
                  <a:pt x="1055687" y="11165"/>
                </a:lnTo>
                <a:lnTo>
                  <a:pt x="1093391" y="17956"/>
                </a:lnTo>
                <a:lnTo>
                  <a:pt x="1131094" y="26317"/>
                </a:lnTo>
                <a:lnTo>
                  <a:pt x="1168797" y="36224"/>
                </a:lnTo>
                <a:lnTo>
                  <a:pt x="1206500" y="47650"/>
                </a:lnTo>
                <a:lnTo>
                  <a:pt x="1244203" y="60564"/>
                </a:lnTo>
                <a:lnTo>
                  <a:pt x="1281906" y="74930"/>
                </a:lnTo>
                <a:lnTo>
                  <a:pt x="1319609" y="90710"/>
                </a:lnTo>
                <a:lnTo>
                  <a:pt x="1357313" y="107859"/>
                </a:lnTo>
                <a:lnTo>
                  <a:pt x="1395016" y="126331"/>
                </a:lnTo>
                <a:lnTo>
                  <a:pt x="1432719" y="146076"/>
                </a:lnTo>
                <a:lnTo>
                  <a:pt x="1470422" y="167038"/>
                </a:lnTo>
                <a:lnTo>
                  <a:pt x="1508125" y="189162"/>
                </a:lnTo>
                <a:lnTo>
                  <a:pt x="1545828" y="212385"/>
                </a:lnTo>
                <a:lnTo>
                  <a:pt x="1583531" y="236644"/>
                </a:lnTo>
                <a:lnTo>
                  <a:pt x="1621234" y="261874"/>
                </a:lnTo>
                <a:lnTo>
                  <a:pt x="1658937" y="288004"/>
                </a:lnTo>
                <a:lnTo>
                  <a:pt x="1696641" y="314963"/>
                </a:lnTo>
                <a:lnTo>
                  <a:pt x="1734344" y="342678"/>
                </a:lnTo>
                <a:lnTo>
                  <a:pt x="1772047" y="371072"/>
                </a:lnTo>
                <a:lnTo>
                  <a:pt x="1809750" y="400067"/>
                </a:lnTo>
                <a:lnTo>
                  <a:pt x="1847453" y="429584"/>
                </a:lnTo>
                <a:lnTo>
                  <a:pt x="1885156" y="459542"/>
                </a:lnTo>
                <a:lnTo>
                  <a:pt x="1922859" y="489859"/>
                </a:lnTo>
                <a:lnTo>
                  <a:pt x="1960563" y="520452"/>
                </a:lnTo>
                <a:lnTo>
                  <a:pt x="1998266" y="551237"/>
                </a:lnTo>
                <a:lnTo>
                  <a:pt x="2035969" y="582129"/>
                </a:lnTo>
                <a:lnTo>
                  <a:pt x="2073672" y="613045"/>
                </a:lnTo>
                <a:lnTo>
                  <a:pt x="2111375" y="643898"/>
                </a:lnTo>
                <a:lnTo>
                  <a:pt x="2149078" y="674605"/>
                </a:lnTo>
                <a:lnTo>
                  <a:pt x="2186781" y="705082"/>
                </a:lnTo>
                <a:lnTo>
                  <a:pt x="2224484" y="735245"/>
                </a:lnTo>
                <a:lnTo>
                  <a:pt x="2262188" y="765010"/>
                </a:lnTo>
                <a:lnTo>
                  <a:pt x="2299891" y="794298"/>
                </a:lnTo>
                <a:lnTo>
                  <a:pt x="2337594" y="823026"/>
                </a:lnTo>
                <a:lnTo>
                  <a:pt x="2375297" y="851118"/>
                </a:lnTo>
                <a:lnTo>
                  <a:pt x="2413000" y="878495"/>
                </a:lnTo>
                <a:lnTo>
                  <a:pt x="2450703" y="905083"/>
                </a:lnTo>
                <a:lnTo>
                  <a:pt x="2488406" y="930808"/>
                </a:lnTo>
                <a:lnTo>
                  <a:pt x="2526109" y="955601"/>
                </a:lnTo>
                <a:lnTo>
                  <a:pt x="2563813" y="979392"/>
                </a:lnTo>
                <a:lnTo>
                  <a:pt x="2601516" y="1002118"/>
                </a:lnTo>
                <a:lnTo>
                  <a:pt x="2639219" y="1023716"/>
                </a:lnTo>
                <a:lnTo>
                  <a:pt x="2676922" y="1044126"/>
                </a:lnTo>
                <a:lnTo>
                  <a:pt x="2714625" y="1063293"/>
                </a:lnTo>
                <a:lnTo>
                  <a:pt x="2752328" y="1081164"/>
                </a:lnTo>
                <a:lnTo>
                  <a:pt x="2790031" y="1097690"/>
                </a:lnTo>
                <a:lnTo>
                  <a:pt x="2827734" y="1112826"/>
                </a:lnTo>
                <a:lnTo>
                  <a:pt x="2865438" y="1126530"/>
                </a:lnTo>
                <a:lnTo>
                  <a:pt x="2903141" y="1138765"/>
                </a:lnTo>
                <a:lnTo>
                  <a:pt x="2940844" y="1149497"/>
                </a:lnTo>
                <a:lnTo>
                  <a:pt x="2978547" y="1158697"/>
                </a:lnTo>
                <a:lnTo>
                  <a:pt x="3016250" y="1166340"/>
                </a:lnTo>
                <a:lnTo>
                  <a:pt x="3053953" y="1172404"/>
                </a:lnTo>
                <a:lnTo>
                  <a:pt x="3091656" y="1176873"/>
                </a:lnTo>
                <a:lnTo>
                  <a:pt x="3129359" y="1179735"/>
                </a:lnTo>
                <a:lnTo>
                  <a:pt x="3167063" y="1180982"/>
                </a:lnTo>
                <a:lnTo>
                  <a:pt x="3204766" y="1180610"/>
                </a:lnTo>
                <a:lnTo>
                  <a:pt x="3242469" y="1178621"/>
                </a:lnTo>
                <a:lnTo>
                  <a:pt x="3280172" y="1175020"/>
                </a:lnTo>
                <a:lnTo>
                  <a:pt x="3317875" y="1169816"/>
                </a:lnTo>
                <a:lnTo>
                  <a:pt x="3355578" y="1163025"/>
                </a:lnTo>
                <a:lnTo>
                  <a:pt x="3393281" y="1154665"/>
                </a:lnTo>
                <a:lnTo>
                  <a:pt x="3430984" y="1144758"/>
                </a:lnTo>
                <a:lnTo>
                  <a:pt x="3468688" y="1133332"/>
                </a:lnTo>
                <a:lnTo>
                  <a:pt x="3506391" y="1120418"/>
                </a:lnTo>
                <a:lnTo>
                  <a:pt x="3544094" y="1106052"/>
                </a:lnTo>
                <a:lnTo>
                  <a:pt x="3581797" y="1090272"/>
                </a:lnTo>
                <a:lnTo>
                  <a:pt x="3619500" y="1073123"/>
                </a:lnTo>
                <a:lnTo>
                  <a:pt x="3657203" y="1054650"/>
                </a:lnTo>
                <a:lnTo>
                  <a:pt x="3694906" y="1034906"/>
                </a:lnTo>
                <a:lnTo>
                  <a:pt x="3732609" y="1013943"/>
                </a:lnTo>
                <a:lnTo>
                  <a:pt x="3770312" y="991820"/>
                </a:lnTo>
                <a:lnTo>
                  <a:pt x="3808016" y="968597"/>
                </a:lnTo>
                <a:lnTo>
                  <a:pt x="3845719" y="944337"/>
                </a:lnTo>
                <a:lnTo>
                  <a:pt x="3883422" y="919108"/>
                </a:lnTo>
                <a:lnTo>
                  <a:pt x="3921125" y="892977"/>
                </a:lnTo>
                <a:lnTo>
                  <a:pt x="3958828" y="866018"/>
                </a:lnTo>
                <a:lnTo>
                  <a:pt x="3996531" y="838304"/>
                </a:lnTo>
                <a:lnTo>
                  <a:pt x="4034234" y="809910"/>
                </a:lnTo>
                <a:lnTo>
                  <a:pt x="4071938" y="780915"/>
                </a:lnTo>
                <a:lnTo>
                  <a:pt x="4109641" y="751398"/>
                </a:lnTo>
                <a:lnTo>
                  <a:pt x="4147344" y="721440"/>
                </a:lnTo>
                <a:lnTo>
                  <a:pt x="4185047" y="691122"/>
                </a:lnTo>
                <a:lnTo>
                  <a:pt x="4222750" y="660530"/>
                </a:lnTo>
                <a:lnTo>
                  <a:pt x="4260453" y="629745"/>
                </a:lnTo>
                <a:lnTo>
                  <a:pt x="4298156" y="598852"/>
                </a:lnTo>
                <a:lnTo>
                  <a:pt x="4335859" y="567937"/>
                </a:lnTo>
                <a:lnTo>
                  <a:pt x="4373563" y="537083"/>
                </a:lnTo>
                <a:lnTo>
                  <a:pt x="4411266" y="506376"/>
                </a:lnTo>
                <a:lnTo>
                  <a:pt x="4448969" y="475900"/>
                </a:lnTo>
                <a:lnTo>
                  <a:pt x="4486672" y="445737"/>
                </a:lnTo>
                <a:lnTo>
                  <a:pt x="4524375" y="415971"/>
                </a:lnTo>
                <a:lnTo>
                  <a:pt x="4562078" y="386684"/>
                </a:lnTo>
                <a:lnTo>
                  <a:pt x="4599781" y="357955"/>
                </a:lnTo>
                <a:lnTo>
                  <a:pt x="4637484" y="329864"/>
                </a:lnTo>
                <a:lnTo>
                  <a:pt x="4675187" y="302487"/>
                </a:lnTo>
                <a:lnTo>
                  <a:pt x="4712891" y="275899"/>
                </a:lnTo>
                <a:lnTo>
                  <a:pt x="4750594" y="250174"/>
                </a:lnTo>
                <a:lnTo>
                  <a:pt x="4788297" y="225381"/>
                </a:lnTo>
                <a:lnTo>
                  <a:pt x="4826000" y="201589"/>
                </a:lnTo>
                <a:lnTo>
                  <a:pt x="4863703" y="178863"/>
                </a:lnTo>
                <a:lnTo>
                  <a:pt x="4901406" y="157266"/>
                </a:lnTo>
                <a:lnTo>
                  <a:pt x="4939109" y="136855"/>
                </a:lnTo>
                <a:lnTo>
                  <a:pt x="4976813" y="117688"/>
                </a:lnTo>
                <a:lnTo>
                  <a:pt x="5014516" y="99818"/>
                </a:lnTo>
                <a:lnTo>
                  <a:pt x="5052219" y="83292"/>
                </a:lnTo>
                <a:lnTo>
                  <a:pt x="5089922" y="68156"/>
                </a:lnTo>
                <a:lnTo>
                  <a:pt x="5127625" y="54452"/>
                </a:lnTo>
                <a:lnTo>
                  <a:pt x="5165328" y="42217"/>
                </a:lnTo>
                <a:lnTo>
                  <a:pt x="5203031" y="31485"/>
                </a:lnTo>
                <a:lnTo>
                  <a:pt x="5240734" y="22285"/>
                </a:lnTo>
                <a:lnTo>
                  <a:pt x="5278438" y="14642"/>
                </a:lnTo>
                <a:lnTo>
                  <a:pt x="5316141" y="8578"/>
                </a:lnTo>
                <a:lnTo>
                  <a:pt x="5353844" y="4109"/>
                </a:lnTo>
                <a:lnTo>
                  <a:pt x="5391547" y="1247"/>
                </a:lnTo>
                <a:lnTo>
                  <a:pt x="5429250" y="0"/>
                </a:lnTo>
                <a:lnTo>
                  <a:pt x="5466953" y="372"/>
                </a:lnTo>
                <a:lnTo>
                  <a:pt x="5504656" y="2361"/>
                </a:lnTo>
                <a:lnTo>
                  <a:pt x="5542359" y="5962"/>
                </a:lnTo>
                <a:lnTo>
                  <a:pt x="5580063" y="11165"/>
                </a:lnTo>
                <a:lnTo>
                  <a:pt x="5617766" y="17956"/>
                </a:lnTo>
                <a:lnTo>
                  <a:pt x="5655469" y="26317"/>
                </a:lnTo>
                <a:lnTo>
                  <a:pt x="5693172" y="36224"/>
                </a:lnTo>
                <a:lnTo>
                  <a:pt x="5730875" y="47650"/>
                </a:lnTo>
                <a:lnTo>
                  <a:pt x="5768578" y="60564"/>
                </a:lnTo>
                <a:lnTo>
                  <a:pt x="5806281" y="74930"/>
                </a:lnTo>
                <a:lnTo>
                  <a:pt x="5843984" y="90710"/>
                </a:lnTo>
                <a:lnTo>
                  <a:pt x="5881688" y="107859"/>
                </a:lnTo>
                <a:lnTo>
                  <a:pt x="5919391" y="126331"/>
                </a:lnTo>
                <a:lnTo>
                  <a:pt x="5957094" y="146076"/>
                </a:lnTo>
                <a:lnTo>
                  <a:pt x="5994797" y="167038"/>
                </a:lnTo>
                <a:lnTo>
                  <a:pt x="6032500" y="189162"/>
                </a:lnTo>
                <a:lnTo>
                  <a:pt x="6070203" y="212385"/>
                </a:lnTo>
                <a:lnTo>
                  <a:pt x="6107906" y="236644"/>
                </a:lnTo>
                <a:lnTo>
                  <a:pt x="6145609" y="261874"/>
                </a:lnTo>
                <a:lnTo>
                  <a:pt x="6183313" y="288004"/>
                </a:lnTo>
                <a:lnTo>
                  <a:pt x="6221016" y="314963"/>
                </a:lnTo>
                <a:lnTo>
                  <a:pt x="6258719" y="342678"/>
                </a:lnTo>
                <a:lnTo>
                  <a:pt x="6296422" y="371072"/>
                </a:lnTo>
                <a:lnTo>
                  <a:pt x="6334125" y="400067"/>
                </a:lnTo>
                <a:lnTo>
                  <a:pt x="6371828" y="429584"/>
                </a:lnTo>
                <a:lnTo>
                  <a:pt x="6409531" y="459542"/>
                </a:lnTo>
                <a:lnTo>
                  <a:pt x="6447234" y="489859"/>
                </a:lnTo>
                <a:lnTo>
                  <a:pt x="6484938" y="520452"/>
                </a:lnTo>
                <a:lnTo>
                  <a:pt x="6522641" y="551237"/>
                </a:lnTo>
                <a:lnTo>
                  <a:pt x="6560344" y="582129"/>
                </a:lnTo>
                <a:lnTo>
                  <a:pt x="6598047" y="613045"/>
                </a:lnTo>
                <a:lnTo>
                  <a:pt x="6635750" y="643898"/>
                </a:lnTo>
                <a:lnTo>
                  <a:pt x="6673453" y="674605"/>
                </a:lnTo>
                <a:lnTo>
                  <a:pt x="6711156" y="705082"/>
                </a:lnTo>
                <a:lnTo>
                  <a:pt x="6748859" y="735245"/>
                </a:lnTo>
                <a:lnTo>
                  <a:pt x="6786563" y="765010"/>
                </a:lnTo>
                <a:lnTo>
                  <a:pt x="6824266" y="794298"/>
                </a:lnTo>
                <a:lnTo>
                  <a:pt x="6861969" y="823026"/>
                </a:lnTo>
                <a:lnTo>
                  <a:pt x="6899672" y="851118"/>
                </a:lnTo>
                <a:lnTo>
                  <a:pt x="6937375" y="878495"/>
                </a:lnTo>
                <a:lnTo>
                  <a:pt x="6975078" y="905083"/>
                </a:lnTo>
                <a:lnTo>
                  <a:pt x="7012781" y="930808"/>
                </a:lnTo>
                <a:lnTo>
                  <a:pt x="7050484" y="955601"/>
                </a:lnTo>
                <a:lnTo>
                  <a:pt x="7088188" y="979392"/>
                </a:lnTo>
                <a:lnTo>
                  <a:pt x="7125891" y="1002118"/>
                </a:lnTo>
                <a:lnTo>
                  <a:pt x="7163594" y="1023716"/>
                </a:lnTo>
                <a:lnTo>
                  <a:pt x="7201297" y="1044126"/>
                </a:lnTo>
                <a:lnTo>
                  <a:pt x="7239000" y="1063293"/>
                </a:lnTo>
                <a:lnTo>
                  <a:pt x="7276703" y="1081164"/>
                </a:lnTo>
                <a:lnTo>
                  <a:pt x="7314406" y="1097690"/>
                </a:lnTo>
                <a:lnTo>
                  <a:pt x="7352109" y="1112826"/>
                </a:lnTo>
                <a:lnTo>
                  <a:pt x="7389813" y="1126530"/>
                </a:lnTo>
                <a:lnTo>
                  <a:pt x="7427516" y="1138765"/>
                </a:lnTo>
                <a:lnTo>
                  <a:pt x="7465219" y="1149497"/>
                </a:lnTo>
                <a:lnTo>
                  <a:pt x="7502922" y="1158697"/>
                </a:lnTo>
                <a:lnTo>
                  <a:pt x="7540625" y="1166340"/>
                </a:lnTo>
                <a:lnTo>
                  <a:pt x="7578328" y="1172404"/>
                </a:lnTo>
                <a:lnTo>
                  <a:pt x="7616031" y="1176873"/>
                </a:lnTo>
                <a:lnTo>
                  <a:pt x="7653734" y="1179735"/>
                </a:lnTo>
                <a:lnTo>
                  <a:pt x="7691438" y="1180982"/>
                </a:lnTo>
                <a:lnTo>
                  <a:pt x="7729141" y="1180610"/>
                </a:lnTo>
                <a:lnTo>
                  <a:pt x="7766844" y="1178621"/>
                </a:lnTo>
                <a:lnTo>
                  <a:pt x="7804547" y="1175020"/>
                </a:lnTo>
                <a:lnTo>
                  <a:pt x="7842250" y="1169816"/>
                </a:lnTo>
                <a:lnTo>
                  <a:pt x="7879953" y="1163025"/>
                </a:lnTo>
                <a:lnTo>
                  <a:pt x="7917656" y="1154665"/>
                </a:lnTo>
                <a:lnTo>
                  <a:pt x="7955359" y="1144758"/>
                </a:lnTo>
                <a:lnTo>
                  <a:pt x="7993063" y="1133332"/>
                </a:lnTo>
                <a:lnTo>
                  <a:pt x="8030766" y="1120418"/>
                </a:lnTo>
                <a:lnTo>
                  <a:pt x="8068469" y="1106052"/>
                </a:lnTo>
                <a:lnTo>
                  <a:pt x="8106172" y="1090272"/>
                </a:lnTo>
                <a:lnTo>
                  <a:pt x="8143875" y="1073123"/>
                </a:lnTo>
                <a:lnTo>
                  <a:pt x="8181578" y="1054650"/>
                </a:lnTo>
                <a:lnTo>
                  <a:pt x="8219281" y="1034906"/>
                </a:lnTo>
                <a:lnTo>
                  <a:pt x="8256984" y="1013943"/>
                </a:lnTo>
                <a:lnTo>
                  <a:pt x="8294688" y="991820"/>
                </a:lnTo>
                <a:lnTo>
                  <a:pt x="8332391" y="968597"/>
                </a:lnTo>
                <a:lnTo>
                  <a:pt x="8370094" y="944337"/>
                </a:lnTo>
                <a:lnTo>
                  <a:pt x="8407797" y="919108"/>
                </a:lnTo>
                <a:lnTo>
                  <a:pt x="8445500" y="892977"/>
                </a:lnTo>
                <a:lnTo>
                  <a:pt x="8483203" y="866018"/>
                </a:lnTo>
                <a:lnTo>
                  <a:pt x="8520906" y="838304"/>
                </a:lnTo>
                <a:lnTo>
                  <a:pt x="8558609" y="809910"/>
                </a:lnTo>
                <a:lnTo>
                  <a:pt x="8596313" y="780915"/>
                </a:lnTo>
                <a:lnTo>
                  <a:pt x="8634016" y="751398"/>
                </a:lnTo>
                <a:lnTo>
                  <a:pt x="8671719" y="721440"/>
                </a:lnTo>
                <a:lnTo>
                  <a:pt x="8709422" y="691122"/>
                </a:lnTo>
                <a:lnTo>
                  <a:pt x="8747125" y="660530"/>
                </a:lnTo>
                <a:lnTo>
                  <a:pt x="8784828" y="629745"/>
                </a:lnTo>
                <a:lnTo>
                  <a:pt x="8822531" y="598852"/>
                </a:lnTo>
                <a:lnTo>
                  <a:pt x="8860234" y="567937"/>
                </a:lnTo>
                <a:lnTo>
                  <a:pt x="8897937" y="537083"/>
                </a:lnTo>
                <a:lnTo>
                  <a:pt x="8935641" y="506376"/>
                </a:lnTo>
                <a:lnTo>
                  <a:pt x="8973344" y="475900"/>
                </a:lnTo>
                <a:lnTo>
                  <a:pt x="9011047" y="445737"/>
                </a:lnTo>
                <a:lnTo>
                  <a:pt x="9048750" y="415971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8C64E1"/>
            </a:solidFill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F519EC83-AF8A-48DA-87F1-DE2896927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72013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DCDF2DF0-DCB4-4149-BEED-E2D472A18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4672013"/>
            <a:ext cx="61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 s</a:t>
            </a:r>
          </a:p>
        </p:txBody>
      </p:sp>
      <p:sp>
        <p:nvSpPr>
          <p:cNvPr id="11" name="sample">
            <a:extLst xmlns:a="http://schemas.openxmlformats.org/drawingml/2006/main">
              <a:ext uri="{FF2B5EF4-FFF2-40B4-BE49-F238E27FC236}">
                <a16:creationId xmlns:a16="http://schemas.microsoft.com/office/drawing/2014/main" id="{29B5D380-5C82-48F7-8946-EBBFEAF4A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444981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2" name="sample">
            <a:extLst xmlns:a="http://schemas.openxmlformats.org/drawingml/2006/main">
              <a:ext uri="{FF2B5EF4-FFF2-40B4-BE49-F238E27FC236}">
                <a16:creationId xmlns:a16="http://schemas.microsoft.com/office/drawing/2014/main" id="{B01B1AB8-472B-4AA3-A796-50BF2EA40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0438" y="3043651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3" name="sample">
            <a:extLst xmlns:a="http://schemas.openxmlformats.org/drawingml/2006/main">
              <a:ext uri="{FF2B5EF4-FFF2-40B4-BE49-F238E27FC236}">
                <a16:creationId xmlns:a16="http://schemas.microsoft.com/office/drawing/2014/main" id="{DF702256-A1F1-4F6E-9E0F-A3CAF2751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4500" y="3218171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4" name="sample">
            <a:extLst xmlns:a="http://schemas.openxmlformats.org/drawingml/2006/main">
              <a:ext uri="{FF2B5EF4-FFF2-40B4-BE49-F238E27FC236}">
                <a16:creationId xmlns:a16="http://schemas.microsoft.com/office/drawing/2014/main" id="{64640ADC-8701-4674-972E-F0B07C1A7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8563" y="379401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5" name="sample">
            <a:extLst xmlns:a="http://schemas.openxmlformats.org/drawingml/2006/main">
              <a:ext uri="{FF2B5EF4-FFF2-40B4-BE49-F238E27FC236}">
                <a16:creationId xmlns:a16="http://schemas.microsoft.com/office/drawing/2014/main" id="{29241F34-2EE8-411D-9AB1-BD156157D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2625" y="419534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6" name="sample">
            <a:extLst xmlns:a="http://schemas.openxmlformats.org/drawingml/2006/main">
              <a:ext uri="{FF2B5EF4-FFF2-40B4-BE49-F238E27FC236}">
                <a16:creationId xmlns:a16="http://schemas.microsoft.com/office/drawing/2014/main" id="{6D809CAC-E176-42A9-BBAE-F9B3FCD7F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6687" y="402082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7" name="sample">
            <a:extLst xmlns:a="http://schemas.openxmlformats.org/drawingml/2006/main">
              <a:ext uri="{FF2B5EF4-FFF2-40B4-BE49-F238E27FC236}">
                <a16:creationId xmlns:a16="http://schemas.microsoft.com/office/drawing/2014/main" id="{7A5EFABA-3DBD-4D66-8842-0505880DA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444981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8" name="sample">
            <a:extLst xmlns:a="http://schemas.openxmlformats.org/drawingml/2006/main">
              <a:ext uri="{FF2B5EF4-FFF2-40B4-BE49-F238E27FC236}">
                <a16:creationId xmlns:a16="http://schemas.microsoft.com/office/drawing/2014/main" id="{A81D5C10-E2F2-40E7-97A7-9CFEE6CD8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4813" y="3043651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9" name="sample">
            <a:extLst xmlns:a="http://schemas.openxmlformats.org/drawingml/2006/main">
              <a:ext uri="{FF2B5EF4-FFF2-40B4-BE49-F238E27FC236}">
                <a16:creationId xmlns:a16="http://schemas.microsoft.com/office/drawing/2014/main" id="{61E12A4D-3627-4B07-9B67-05F85FABA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8875" y="3218171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0" name="sample">
            <a:extLst xmlns:a="http://schemas.openxmlformats.org/drawingml/2006/main">
              <a:ext uri="{FF2B5EF4-FFF2-40B4-BE49-F238E27FC236}">
                <a16:creationId xmlns:a16="http://schemas.microsoft.com/office/drawing/2014/main" id="{BC60F775-7F48-47B4-A7D7-F94C6EBA1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2938" y="379401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1" name="sample">
            <a:extLst xmlns:a="http://schemas.openxmlformats.org/drawingml/2006/main">
              <a:ext uri="{FF2B5EF4-FFF2-40B4-BE49-F238E27FC236}">
                <a16:creationId xmlns:a16="http://schemas.microsoft.com/office/drawing/2014/main" id="{388262C6-496F-4E9E-BB40-417CC8D5C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7000" y="419534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2" name="sample">
            <a:extLst xmlns:a="http://schemas.openxmlformats.org/drawingml/2006/main">
              <a:ext uri="{FF2B5EF4-FFF2-40B4-BE49-F238E27FC236}">
                <a16:creationId xmlns:a16="http://schemas.microsoft.com/office/drawing/2014/main" id="{A67182B3-854E-45AF-8262-3971624E7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1063" y="402082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95E19928-A2B1-4C60-A385-1927FBD35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按等时间间隔读取信号幅度。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ED84DA22-9222-4D71-A385-1250338A6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留下离散时刻的样本：采样。</a:t>
            </a:r>
          </a:p>
        </p:txBody>
      </p:sp>
    </p:spTree>
    <p:extLst>
      <p:ext uri="{BB962C8B-B14F-4D97-AF65-F5344CB8AC3E}">
        <p14:creationId xmlns:p14="http://schemas.microsoft.com/office/powerpoint/2010/main" val="105987683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op-rail">
            <a:extLst xmlns:a="http://schemas.openxmlformats.org/drawingml/2006/main">
              <a:ext uri="{FF2B5EF4-FFF2-40B4-BE49-F238E27FC236}">
                <a16:creationId xmlns:a16="http://schemas.microsoft.com/office/drawing/2014/main" id="{12583ADA-9E9C-4CBE-9519-158FCF56D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7E701CD3-32DC-49A3-8CA5-991B06698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923BE681-931C-4553-BAF7-7FEDEE3BF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每秒采样8000次，是什么意思？</a:t>
            </a:r>
          </a:p>
        </p:txBody>
      </p:sp>
      <p:sp>
        <p:nvSpPr>
          <p:cNvPr id="4" name="given-0">
            <a:extLst xmlns:a="http://schemas.openxmlformats.org/drawingml/2006/main">
              <a:ext uri="{FF2B5EF4-FFF2-40B4-BE49-F238E27FC236}">
                <a16:creationId xmlns:a16="http://schemas.microsoft.com/office/drawing/2014/main" id="{037CBAEC-D7B6-4622-9798-9B01AA30D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单声道：每秒等间隔读取8000个样本。</a:t>
            </a:r>
          </a:p>
        </p:txBody>
      </p:sp>
      <p:sp>
        <p:nvSpPr>
          <p:cNvPr id="5" name="given-1">
            <a:extLst xmlns:a="http://schemas.openxmlformats.org/drawingml/2006/main">
              <a:ext uri="{FF2B5EF4-FFF2-40B4-BE49-F238E27FC236}">
                <a16:creationId xmlns:a16="http://schemas.microsoft.com/office/drawing/2014/main" id="{342819F7-A0D2-4FAF-9B3C-E0EF5621C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采样率应怎样写？</a:t>
            </a:r>
          </a:p>
        </p:txBody>
      </p:sp>
    </p:spTree>
    <p:extLst>
      <p:ext uri="{BB962C8B-B14F-4D97-AF65-F5344CB8AC3E}">
        <p14:creationId xmlns:p14="http://schemas.microsoft.com/office/powerpoint/2010/main" val="3931530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rail">
            <a:extLst xmlns:a="http://schemas.openxmlformats.org/drawingml/2006/main">
              <a:ext uri="{FF2B5EF4-FFF2-40B4-BE49-F238E27FC236}">
                <a16:creationId xmlns:a16="http://schemas.microsoft.com/office/drawing/2014/main" id="{12583ADA-9E9C-4CBE-9519-158FCF56D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7E701CD3-32DC-49A3-8CA5-991B06698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923BE681-931C-4553-BAF7-7FEDEE3BF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每秒采样8000次，是什么意思？</a:t>
            </a:r>
          </a:p>
        </p:txBody>
      </p:sp>
      <p:sp>
        <p:nvSpPr>
          <p:cNvPr id="4" name="given-0">
            <a:extLst xmlns:a="http://schemas.openxmlformats.org/drawingml/2006/main">
              <a:ext uri="{FF2B5EF4-FFF2-40B4-BE49-F238E27FC236}">
                <a16:creationId xmlns:a16="http://schemas.microsoft.com/office/drawing/2014/main" id="{037CBAEC-D7B6-4622-9798-9B01AA30D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单声道：每秒等间隔读取8000个样本。</a:t>
            </a:r>
          </a:p>
        </p:txBody>
      </p:sp>
      <p:sp>
        <p:nvSpPr>
          <p:cNvPr id="5" name="given-1">
            <a:extLst xmlns:a="http://schemas.openxmlformats.org/drawingml/2006/main">
              <a:ext uri="{FF2B5EF4-FFF2-40B4-BE49-F238E27FC236}">
                <a16:creationId xmlns:a16="http://schemas.microsoft.com/office/drawing/2014/main" id="{342819F7-A0D2-4FAF-9B3C-E0EF5621C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采样率应怎样写？</a:t>
            </a:r>
          </a:p>
        </p:txBody>
      </p:sp>
      <p:sp>
        <p:nvSpPr>
          <p:cNvPr id="6" name="line">
            <a:extLst xmlns:a="http://schemas.openxmlformats.org/drawingml/2006/main">
              <a:ext uri="{FF2B5EF4-FFF2-40B4-BE49-F238E27FC236}">
                <a16:creationId xmlns:a16="http://schemas.microsoft.com/office/drawing/2014/main" id="{D4E33C02-2529-4720-9E59-BBDFD3534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10972800" cy="9525"/>
          </a:xfrm>
          <a:custGeom xmlns:a="http://schemas.openxmlformats.org/drawingml/2006/main"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8DF"/>
            </a:solidFill>
          </a:ln>
        </p:spPr>
      </p:sp>
      <p:sp>
        <p:nvSpPr>
          <p:cNvPr id="7" name="answer-0">
            <a:extLst xmlns:a="http://schemas.openxmlformats.org/drawingml/2006/main">
              <a:ext uri="{FF2B5EF4-FFF2-40B4-BE49-F238E27FC236}">
                <a16:creationId xmlns:a16="http://schemas.microsoft.com/office/drawing/2014/main" id="{3B7B6720-D902-4D3B-A4E3-377F4B069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采样率：8000 Hz = 8 kHz。</a:t>
            </a:r>
          </a:p>
        </p:txBody>
      </p:sp>
      <p:sp>
        <p:nvSpPr>
          <p:cNvPr id="8" name="answer-1">
            <a:extLst xmlns:a="http://schemas.openxmlformats.org/drawingml/2006/main">
              <a:ext uri="{FF2B5EF4-FFF2-40B4-BE49-F238E27FC236}">
                <a16:creationId xmlns:a16="http://schemas.microsoft.com/office/drawing/2014/main" id="{37B4DCB9-763A-45DD-93A8-E04DC674D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577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采样率表示每秒每声道的样本数。</a:t>
            </a:r>
          </a:p>
        </p:txBody>
      </p:sp>
    </p:spTree>
    <p:extLst>
      <p:ext uri="{BB962C8B-B14F-4D97-AF65-F5344CB8AC3E}">
        <p14:creationId xmlns:p14="http://schemas.microsoft.com/office/powerpoint/2010/main" val="3931530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op-rail">
            <a:extLst xmlns:a="http://schemas.openxmlformats.org/drawingml/2006/main">
              <a:ext uri="{FF2B5EF4-FFF2-40B4-BE49-F238E27FC236}">
                <a16:creationId xmlns:a16="http://schemas.microsoft.com/office/drawing/2014/main" id="{D877A486-C61D-403C-A6AA-8DD6855F2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72CCBBAD-5A1D-485D-B3F8-D82B107B3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A42CE32D-7A27-473F-983C-F5E9447B3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相邻采样时刻间隔多久？</a:t>
            </a:r>
          </a:p>
        </p:txBody>
      </p:sp>
      <p:sp>
        <p:nvSpPr>
          <p:cNvPr id="4" name="given-0">
            <a:extLst xmlns:a="http://schemas.openxmlformats.org/drawingml/2006/main">
              <a:ext uri="{FF2B5EF4-FFF2-40B4-BE49-F238E27FC236}">
                <a16:creationId xmlns:a16="http://schemas.microsoft.com/office/drawing/2014/main" id="{242ECCC7-2303-409E-A312-E25CF0A24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单声道采样率8000 Hz，等间隔记录。</a:t>
            </a:r>
          </a:p>
        </p:txBody>
      </p:sp>
      <p:sp>
        <p:nvSpPr>
          <p:cNvPr id="5" name="given-1">
            <a:extLst xmlns:a="http://schemas.openxmlformats.org/drawingml/2006/main">
              <a:ext uri="{FF2B5EF4-FFF2-40B4-BE49-F238E27FC236}">
                <a16:creationId xmlns:a16="http://schemas.microsoft.com/office/drawing/2014/main" id="{3267091E-6A88-4039-A97E-2B76EC506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先列式，再把秒换成毫秒。</a:t>
            </a:r>
          </a:p>
        </p:txBody>
      </p:sp>
    </p:spTree>
    <p:extLst>
      <p:ext uri="{BB962C8B-B14F-4D97-AF65-F5344CB8AC3E}">
        <p14:creationId xmlns:p14="http://schemas.microsoft.com/office/powerpoint/2010/main" val="124698391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op-rail">
            <a:extLst xmlns:a="http://schemas.openxmlformats.org/drawingml/2006/main">
              <a:ext uri="{FF2B5EF4-FFF2-40B4-BE49-F238E27FC236}">
                <a16:creationId xmlns:a16="http://schemas.microsoft.com/office/drawing/2014/main" id="{D877A486-C61D-403C-A6AA-8DD6855F2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72CCBBAD-5A1D-485D-B3F8-D82B107B3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A42CE32D-7A27-473F-983C-F5E9447B3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相邻采样时刻间隔多久？</a:t>
            </a:r>
          </a:p>
        </p:txBody>
      </p:sp>
      <p:sp>
        <p:nvSpPr>
          <p:cNvPr id="4" name="given-0">
            <a:extLst xmlns:a="http://schemas.openxmlformats.org/drawingml/2006/main">
              <a:ext uri="{FF2B5EF4-FFF2-40B4-BE49-F238E27FC236}">
                <a16:creationId xmlns:a16="http://schemas.microsoft.com/office/drawing/2014/main" id="{242ECCC7-2303-409E-A312-E25CF0A24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单声道采样率8000 Hz，等间隔记录。</a:t>
            </a:r>
          </a:p>
        </p:txBody>
      </p:sp>
      <p:sp>
        <p:nvSpPr>
          <p:cNvPr id="5" name="given-1">
            <a:extLst xmlns:a="http://schemas.openxmlformats.org/drawingml/2006/main">
              <a:ext uri="{FF2B5EF4-FFF2-40B4-BE49-F238E27FC236}">
                <a16:creationId xmlns:a16="http://schemas.microsoft.com/office/drawing/2014/main" id="{3267091E-6A88-4039-A97E-2B76EC506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先列式，再把秒换成毫秒。</a:t>
            </a:r>
          </a:p>
        </p:txBody>
      </p:sp>
      <p:sp>
        <p:nvSpPr>
          <p:cNvPr id="6" name="line">
            <a:extLst xmlns:a="http://schemas.openxmlformats.org/drawingml/2006/main">
              <a:ext uri="{FF2B5EF4-FFF2-40B4-BE49-F238E27FC236}">
                <a16:creationId xmlns:a16="http://schemas.microsoft.com/office/drawing/2014/main" id="{91B7D5DC-50D5-4757-BA73-90E75039B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10972800" cy="9525"/>
          </a:xfrm>
          <a:custGeom xmlns:a="http://schemas.openxmlformats.org/drawingml/2006/main"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8DF"/>
            </a:solidFill>
          </a:ln>
        </p:spPr>
      </p:sp>
      <p:sp>
        <p:nvSpPr>
          <p:cNvPr id="7" name="answer-0">
            <a:extLst xmlns:a="http://schemas.openxmlformats.org/drawingml/2006/main">
              <a:ext uri="{FF2B5EF4-FFF2-40B4-BE49-F238E27FC236}">
                <a16:creationId xmlns:a16="http://schemas.microsoft.com/office/drawing/2014/main" id="{CEE8C378-AD67-49C5-B848-2B6712D59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1 ÷ 8000 s = 0.000125 s = 0.125 ms。</a:t>
            </a:r>
          </a:p>
        </p:txBody>
      </p:sp>
    </p:spTree>
    <p:extLst>
      <p:ext uri="{BB962C8B-B14F-4D97-AF65-F5344CB8AC3E}">
        <p14:creationId xmlns:p14="http://schemas.microsoft.com/office/powerpoint/2010/main" val="124698391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op-rail">
            <a:extLst xmlns:a="http://schemas.openxmlformats.org/drawingml/2006/main">
              <a:ext uri="{FF2B5EF4-FFF2-40B4-BE49-F238E27FC236}">
                <a16:creationId xmlns:a16="http://schemas.microsoft.com/office/drawing/2014/main" id="{F4BC3B01-1088-4273-A829-00059DC74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F01C9B4A-6FEE-4C51-BDA9-5411119E1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ED654B45-C78B-446F-B257-6CD518FE4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样本值不在可选等级上，怎么办？</a:t>
            </a:r>
          </a:p>
        </p:txBody>
      </p:sp>
      <p:sp>
        <p:nvSpPr>
          <p:cNvPr id="4" name="given-0">
            <a:extLst xmlns:a="http://schemas.openxmlformats.org/drawingml/2006/main">
              <a:ext uri="{FF2B5EF4-FFF2-40B4-BE49-F238E27FC236}">
                <a16:creationId xmlns:a16="http://schemas.microsoft.com/office/drawing/2014/main" id="{A1C74F9A-DC8F-4344-A79A-54ABA962A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四个样本：−0.62、−0.10、0.38、0.84。</a:t>
            </a:r>
          </a:p>
        </p:txBody>
      </p:sp>
      <p:sp>
        <p:nvSpPr>
          <p:cNvPr id="5" name="given-1">
            <a:extLst xmlns:a="http://schemas.openxmlformats.org/drawingml/2006/main">
              <a:ext uri="{FF2B5EF4-FFF2-40B4-BE49-F238E27FC236}">
                <a16:creationId xmlns:a16="http://schemas.microsoft.com/office/drawing/2014/main" id="{77AA2992-EB62-49A7-BEC0-66ACDB8DA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只能用：−0.75、−0.25、0.25、0.75近似。</a:t>
            </a:r>
          </a:p>
        </p:txBody>
      </p:sp>
      <p:sp>
        <p:nvSpPr>
          <p:cNvPr id="6" name="given-2">
            <a:extLst xmlns:a="http://schemas.openxmlformats.org/drawingml/2006/main">
              <a:ext uri="{FF2B5EF4-FFF2-40B4-BE49-F238E27FC236}">
                <a16:creationId xmlns:a16="http://schemas.microsoft.com/office/drawing/2014/main" id="{85F3A165-6660-49B2-81B2-663E8D71E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分别选哪个？</a:t>
            </a:r>
          </a:p>
        </p:txBody>
      </p:sp>
    </p:spTree>
    <p:extLst>
      <p:ext uri="{BB962C8B-B14F-4D97-AF65-F5344CB8AC3E}">
        <p14:creationId xmlns:p14="http://schemas.microsoft.com/office/powerpoint/2010/main" val="137050885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op-rail">
            <a:extLst xmlns:a="http://schemas.openxmlformats.org/drawingml/2006/main">
              <a:ext uri="{FF2B5EF4-FFF2-40B4-BE49-F238E27FC236}">
                <a16:creationId xmlns:a16="http://schemas.microsoft.com/office/drawing/2014/main" id="{F4BC3B01-1088-4273-A829-00059DC74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F01C9B4A-6FEE-4C51-BDA9-5411119E1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ED654B45-C78B-446F-B257-6CD518FE4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样本值不在可选等级上，怎么办？</a:t>
            </a:r>
          </a:p>
        </p:txBody>
      </p:sp>
      <p:sp>
        <p:nvSpPr>
          <p:cNvPr id="4" name="given-0">
            <a:extLst xmlns:a="http://schemas.openxmlformats.org/drawingml/2006/main">
              <a:ext uri="{FF2B5EF4-FFF2-40B4-BE49-F238E27FC236}">
                <a16:creationId xmlns:a16="http://schemas.microsoft.com/office/drawing/2014/main" id="{A1C74F9A-DC8F-4344-A79A-54ABA962A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四个样本：−0.62、−0.10、0.38、0.84。</a:t>
            </a:r>
          </a:p>
        </p:txBody>
      </p:sp>
      <p:sp>
        <p:nvSpPr>
          <p:cNvPr id="5" name="given-1">
            <a:extLst xmlns:a="http://schemas.openxmlformats.org/drawingml/2006/main">
              <a:ext uri="{FF2B5EF4-FFF2-40B4-BE49-F238E27FC236}">
                <a16:creationId xmlns:a16="http://schemas.microsoft.com/office/drawing/2014/main" id="{77AA2992-EB62-49A7-BEC0-66ACDB8DA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只能用：−0.75、−0.25、0.25、0.75近似。</a:t>
            </a:r>
          </a:p>
        </p:txBody>
      </p:sp>
      <p:sp>
        <p:nvSpPr>
          <p:cNvPr id="6" name="given-2">
            <a:extLst xmlns:a="http://schemas.openxmlformats.org/drawingml/2006/main">
              <a:ext uri="{FF2B5EF4-FFF2-40B4-BE49-F238E27FC236}">
                <a16:creationId xmlns:a16="http://schemas.microsoft.com/office/drawing/2014/main" id="{85F3A165-6660-49B2-81B2-663E8D71E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分别选哪个？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D6CC38BD-5A27-41CC-8F90-AC2EAD00E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095625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−0.62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F1BDF4E-84DA-4F36-AAA5-829FB661E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095625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−0.10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D874DA49-C893-419C-93A8-2A0A22653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095625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0.38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F80FE8F-478E-4D0F-9C3D-0795ABF1F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095625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0.84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17074F0E-1EA4-4140-A7C2-07D1DEC31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667125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↓  −0.75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ED510E85-3659-4497-8975-58CF3BE45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667125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↓  −0.25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E7394EAE-1B5A-40CC-807B-8E0AAE947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667125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↓  0.25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8EBA9D4D-0E09-4AF9-9C0C-55BB3CF98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667125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↓  0.75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859A5E68-4F0B-4B49-8D45-9A88111D3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96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把样本映射到有限等级：量化。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421BCCAC-D89B-4838-B310-72893E621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7207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量化决定“幅度分多细”。</a:t>
            </a:r>
          </a:p>
        </p:txBody>
      </p:sp>
    </p:spTree>
    <p:extLst>
      <p:ext uri="{BB962C8B-B14F-4D97-AF65-F5344CB8AC3E}">
        <p14:creationId xmlns:p14="http://schemas.microsoft.com/office/powerpoint/2010/main" val="137050885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op-rail">
            <a:extLst xmlns:a="http://schemas.openxmlformats.org/drawingml/2006/main">
              <a:ext uri="{FF2B5EF4-FFF2-40B4-BE49-F238E27FC236}">
                <a16:creationId xmlns:a16="http://schemas.microsoft.com/office/drawing/2014/main" id="{4FC02911-AD66-4B92-98C1-8A68FDA16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915C0C30-2E34-4F30-AB65-4FCEDBACE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8B5BD748-8D84-4268-BEA8-61A79DD22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四个量化等级，怎样写成码字？</a:t>
            </a:r>
          </a:p>
        </p:txBody>
      </p:sp>
      <p:sp>
        <p:nvSpPr>
          <p:cNvPr id="4" name="given-0">
            <a:extLst xmlns:a="http://schemas.openxmlformats.org/drawingml/2006/main">
              <a:ext uri="{FF2B5EF4-FFF2-40B4-BE49-F238E27FC236}">
                <a16:creationId xmlns:a16="http://schemas.microsoft.com/office/drawing/2014/main" id="{DE954D23-2DA6-4E81-8B3F-00EEC7267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从低到高编号0、1、2、3；采用等长二进制码。</a:t>
            </a:r>
          </a:p>
        </p:txBody>
      </p:sp>
      <p:sp>
        <p:nvSpPr>
          <p:cNvPr id="5" name="given-1">
            <a:extLst xmlns:a="http://schemas.openxmlformats.org/drawingml/2006/main">
              <a:ext uri="{FF2B5EF4-FFF2-40B4-BE49-F238E27FC236}">
                <a16:creationId xmlns:a16="http://schemas.microsoft.com/office/drawing/2014/main" id="{FB7CC71A-0DA0-49D4-ACF4-6F4027719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每个样本至少几bit？写出四个码字。</a:t>
            </a:r>
          </a:p>
        </p:txBody>
      </p:sp>
      <p:sp>
        <p:nvSpPr>
          <p:cNvPr id="6" name="level-0">
            <a:extLst xmlns:a="http://schemas.openxmlformats.org/drawingml/2006/main">
              <a:ext uri="{FF2B5EF4-FFF2-40B4-BE49-F238E27FC236}">
                <a16:creationId xmlns:a16="http://schemas.microsoft.com/office/drawing/2014/main" id="{7FADBA0B-0983-4860-B4CC-5718641D0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81940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0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7" name="level-1">
            <a:extLst xmlns:a="http://schemas.openxmlformats.org/drawingml/2006/main">
              <a:ext uri="{FF2B5EF4-FFF2-40B4-BE49-F238E27FC236}">
                <a16:creationId xmlns:a16="http://schemas.microsoft.com/office/drawing/2014/main" id="{AE9C728A-E17E-4862-A4BB-868542AB2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81940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0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8" name="level-2">
            <a:extLst xmlns:a="http://schemas.openxmlformats.org/drawingml/2006/main">
              <a:ext uri="{FF2B5EF4-FFF2-40B4-BE49-F238E27FC236}">
                <a16:creationId xmlns:a16="http://schemas.microsoft.com/office/drawing/2014/main" id="{B55E0841-E4BA-405A-94E0-52E64A07D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1940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0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9" name="level-3">
            <a:extLst xmlns:a="http://schemas.openxmlformats.org/drawingml/2006/main">
              <a:ext uri="{FF2B5EF4-FFF2-40B4-BE49-F238E27FC236}">
                <a16:creationId xmlns:a16="http://schemas.microsoft.com/office/drawing/2014/main" id="{41C57E55-70C3-4678-ADA1-1D3BC46AE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1940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0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09601835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op-rail">
            <a:extLst xmlns:a="http://schemas.openxmlformats.org/drawingml/2006/main">
              <a:ext uri="{FF2B5EF4-FFF2-40B4-BE49-F238E27FC236}">
                <a16:creationId xmlns:a16="http://schemas.microsoft.com/office/drawing/2014/main" id="{4FC02911-AD66-4B92-98C1-8A68FDA16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915C0C30-2E34-4F30-AB65-4FCEDBACE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8B5BD748-8D84-4268-BEA8-61A79DD22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四个量化等级，怎样写成码字？</a:t>
            </a:r>
          </a:p>
        </p:txBody>
      </p:sp>
      <p:sp>
        <p:nvSpPr>
          <p:cNvPr id="4" name="given-0">
            <a:extLst xmlns:a="http://schemas.openxmlformats.org/drawingml/2006/main">
              <a:ext uri="{FF2B5EF4-FFF2-40B4-BE49-F238E27FC236}">
                <a16:creationId xmlns:a16="http://schemas.microsoft.com/office/drawing/2014/main" id="{DE954D23-2DA6-4E81-8B3F-00EEC7267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从低到高编号0、1、2、3；采用等长二进制码。</a:t>
            </a:r>
          </a:p>
        </p:txBody>
      </p:sp>
      <p:sp>
        <p:nvSpPr>
          <p:cNvPr id="5" name="given-1">
            <a:extLst xmlns:a="http://schemas.openxmlformats.org/drawingml/2006/main">
              <a:ext uri="{FF2B5EF4-FFF2-40B4-BE49-F238E27FC236}">
                <a16:creationId xmlns:a16="http://schemas.microsoft.com/office/drawing/2014/main" id="{FB7CC71A-0DA0-49D4-ACF4-6F4027719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每个样本至少几bit？写出四个码字。</a:t>
            </a:r>
          </a:p>
        </p:txBody>
      </p:sp>
      <p:sp>
        <p:nvSpPr>
          <p:cNvPr id="6" name="level-0">
            <a:extLst xmlns:a="http://schemas.openxmlformats.org/drawingml/2006/main">
              <a:ext uri="{FF2B5EF4-FFF2-40B4-BE49-F238E27FC236}">
                <a16:creationId xmlns:a16="http://schemas.microsoft.com/office/drawing/2014/main" id="{7FADBA0B-0983-4860-B4CC-5718641D0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81940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0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7" name="level-1">
            <a:extLst xmlns:a="http://schemas.openxmlformats.org/drawingml/2006/main">
              <a:ext uri="{FF2B5EF4-FFF2-40B4-BE49-F238E27FC236}">
                <a16:creationId xmlns:a16="http://schemas.microsoft.com/office/drawing/2014/main" id="{AE9C728A-E17E-4862-A4BB-868542AB2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81940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0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8" name="level-2">
            <a:extLst xmlns:a="http://schemas.openxmlformats.org/drawingml/2006/main">
              <a:ext uri="{FF2B5EF4-FFF2-40B4-BE49-F238E27FC236}">
                <a16:creationId xmlns:a16="http://schemas.microsoft.com/office/drawing/2014/main" id="{B55E0841-E4BA-405A-94E0-52E64A07D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1940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0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9" name="level-3">
            <a:extLst xmlns:a="http://schemas.openxmlformats.org/drawingml/2006/main">
              <a:ext uri="{FF2B5EF4-FFF2-40B4-BE49-F238E27FC236}">
                <a16:creationId xmlns:a16="http://schemas.microsoft.com/office/drawing/2014/main" id="{41C57E55-70C3-4678-ADA1-1D3BC46AE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1940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0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798B8907-E7E2-4DA7-903F-1084A3C7E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40995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0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00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148EB58C-B336-4635-BD9C-B42D911E8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40995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0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01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A2CAA4D6-A64D-4CE3-A53B-483ABE4F6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0995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0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10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29760377-7388-4303-833E-2A881B3B8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0995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0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11</a:t>
            </a:r>
          </a:p>
        </p:txBody>
      </p:sp>
      <p:sp>
        <p:nvSpPr>
          <p:cNvPr id="14" name="line">
            <a:extLst xmlns:a="http://schemas.openxmlformats.org/drawingml/2006/main">
              <a:ext uri="{FF2B5EF4-FFF2-40B4-BE49-F238E27FC236}">
                <a16:creationId xmlns:a16="http://schemas.microsoft.com/office/drawing/2014/main" id="{A529F91B-E47C-4C20-809A-700882EB4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972800" cy="9525"/>
          </a:xfrm>
          <a:custGeom xmlns:a="http://schemas.openxmlformats.org/drawingml/2006/main"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8DF"/>
            </a:solidFill>
          </a:ln>
        </p:spPr>
      </p:sp>
      <p:sp>
        <p:nvSpPr>
          <p:cNvPr id="15" name="answer-0">
            <a:extLst xmlns:a="http://schemas.openxmlformats.org/drawingml/2006/main">
              <a:ext uri="{FF2B5EF4-FFF2-40B4-BE49-F238E27FC236}">
                <a16:creationId xmlns:a16="http://schemas.microsoft.com/office/drawing/2014/main" id="{BCFC0C92-BF2A-4830-AE95-418BE2592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1482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2 bit：00、01、10、11。</a:t>
            </a:r>
          </a:p>
        </p:txBody>
      </p:sp>
      <p:sp>
        <p:nvSpPr>
          <p:cNvPr id="16" name="answer-1">
            <a:extLst xmlns:a="http://schemas.openxmlformats.org/drawingml/2006/main">
              <a:ext uri="{FF2B5EF4-FFF2-40B4-BE49-F238E27FC236}">
                <a16:creationId xmlns:a16="http://schemas.microsoft.com/office/drawing/2014/main" id="{FF58951A-1EED-4EE2-ABE9-D6C9F3CC2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4347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等级编号0、1、2、3，依次写成码字。</a:t>
            </a:r>
          </a:p>
        </p:txBody>
      </p:sp>
      <p:sp>
        <p:nvSpPr>
          <p:cNvPr id="17" name="answer-2">
            <a:extLst xmlns:a="http://schemas.openxmlformats.org/drawingml/2006/main">
              <a:ext uri="{FF2B5EF4-FFF2-40B4-BE49-F238E27FC236}">
                <a16:creationId xmlns:a16="http://schemas.microsoft.com/office/drawing/2014/main" id="{3180BE38-FFC1-4379-9849-AF14D8E23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按约定表示量化结果：编码。</a:t>
            </a:r>
          </a:p>
        </p:txBody>
      </p:sp>
    </p:spTree>
    <p:extLst>
      <p:ext uri="{BB962C8B-B14F-4D97-AF65-F5344CB8AC3E}">
        <p14:creationId xmlns:p14="http://schemas.microsoft.com/office/powerpoint/2010/main" val="109601835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op-rail">
            <a:extLst xmlns:a="http://schemas.openxmlformats.org/drawingml/2006/main">
              <a:ext uri="{FF2B5EF4-FFF2-40B4-BE49-F238E27FC236}">
                <a16:creationId xmlns:a16="http://schemas.microsoft.com/office/drawing/2014/main" id="{843EB5EA-D241-4D3E-A4E0-9BB14ADF4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D9B96033-383D-4A2F-8756-242DC91D2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2000352B-6414-4FFC-A9A8-8EB210E95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只有码字，就能按原速播放吗？</a:t>
            </a:r>
          </a:p>
        </p:txBody>
      </p:sp>
      <p:sp>
        <p:nvSpPr>
          <p:cNvPr id="4" name="given-0">
            <a:extLst xmlns:a="http://schemas.openxmlformats.org/drawingml/2006/main">
              <a:ext uri="{FF2B5EF4-FFF2-40B4-BE49-F238E27FC236}">
                <a16:creationId xmlns:a16="http://schemas.microsoft.com/office/drawing/2014/main" id="{92200BEF-1825-4E64-BF23-1262137DA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单声道：00 01 10 11；同一张四等级码表。</a:t>
            </a:r>
          </a:p>
        </p:txBody>
      </p:sp>
      <p:sp>
        <p:nvSpPr>
          <p:cNvPr id="5" name="given-1">
            <a:extLst xmlns:a="http://schemas.openxmlformats.org/drawingml/2006/main">
              <a:ext uri="{FF2B5EF4-FFF2-40B4-BE49-F238E27FC236}">
                <a16:creationId xmlns:a16="http://schemas.microsoft.com/office/drawing/2014/main" id="{F7C7947A-5A4A-43AA-BCDD-3A7065238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共4个样本，能确定这段声音的时长吗？</a:t>
            </a:r>
          </a:p>
        </p:txBody>
      </p:sp>
      <p:sp>
        <p:nvSpPr>
          <p:cNvPr id="6" name="code-box">
            <a:extLst xmlns:a="http://schemas.openxmlformats.org/drawingml/2006/main">
              <a:ext uri="{FF2B5EF4-FFF2-40B4-BE49-F238E27FC236}">
                <a16:creationId xmlns:a16="http://schemas.microsoft.com/office/drawing/2014/main" id="{B80703C7-49ED-452E-A005-E8FB89841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933700"/>
            <a:ext cx="1257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DF"/>
            </a:solidFill>
          </a:ln>
        </p:spPr>
      </p:sp>
      <p:sp>
        <p:nvSpPr>
          <p:cNvPr id="7" name="code-box">
            <a:extLst xmlns:a="http://schemas.openxmlformats.org/drawingml/2006/main">
              <a:ext uri="{FF2B5EF4-FFF2-40B4-BE49-F238E27FC236}">
                <a16:creationId xmlns:a16="http://schemas.microsoft.com/office/drawing/2014/main" id="{5F806763-CB62-4FF6-B3A9-01A60E736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933700"/>
            <a:ext cx="1257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DF"/>
            </a:solidFill>
          </a:ln>
        </p:spPr>
      </p:sp>
      <p:sp>
        <p:nvSpPr>
          <p:cNvPr id="8" name="code-box">
            <a:extLst xmlns:a="http://schemas.openxmlformats.org/drawingml/2006/main">
              <a:ext uri="{FF2B5EF4-FFF2-40B4-BE49-F238E27FC236}">
                <a16:creationId xmlns:a16="http://schemas.microsoft.com/office/drawing/2014/main" id="{BA209C9A-8D97-40BE-A9D3-C11788ABF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933700"/>
            <a:ext cx="1257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DF"/>
            </a:solidFill>
          </a:ln>
        </p:spPr>
      </p:sp>
      <p:sp>
        <p:nvSpPr>
          <p:cNvPr id="9" name="code-box">
            <a:extLst xmlns:a="http://schemas.openxmlformats.org/drawingml/2006/main">
              <a:ext uri="{FF2B5EF4-FFF2-40B4-BE49-F238E27FC236}">
                <a16:creationId xmlns:a16="http://schemas.microsoft.com/office/drawing/2014/main" id="{2B7AA221-C53C-4666-964F-DCDBCC5ED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933700"/>
            <a:ext cx="1257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DF"/>
            </a:solidFill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B64DEE37-0F00-476C-81C0-E0523EF1F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990850"/>
            <a:ext cx="1095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00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4745DC07-2240-45E9-92D2-15ADD5B4E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990850"/>
            <a:ext cx="1095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01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91837E59-44B9-4C51-A601-DA24E345A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990850"/>
            <a:ext cx="1095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10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BCCD5A58-10FB-4967-BC24-91FFDA943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90850"/>
            <a:ext cx="1095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49893685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op-rail">
            <a:extLst xmlns:a="http://schemas.openxmlformats.org/drawingml/2006/main">
              <a:ext uri="{FF2B5EF4-FFF2-40B4-BE49-F238E27FC236}">
                <a16:creationId xmlns:a16="http://schemas.microsoft.com/office/drawing/2014/main" id="{843EB5EA-D241-4D3E-A4E0-9BB14ADF4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D9B96033-383D-4A2F-8756-242DC91D2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2000352B-6414-4FFC-A9A8-8EB210E95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只有码字，就能按原速播放吗？</a:t>
            </a:r>
          </a:p>
        </p:txBody>
      </p:sp>
      <p:sp>
        <p:nvSpPr>
          <p:cNvPr id="4" name="given-0">
            <a:extLst xmlns:a="http://schemas.openxmlformats.org/drawingml/2006/main">
              <a:ext uri="{FF2B5EF4-FFF2-40B4-BE49-F238E27FC236}">
                <a16:creationId xmlns:a16="http://schemas.microsoft.com/office/drawing/2014/main" id="{92200BEF-1825-4E64-BF23-1262137DA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单声道：00 01 10 11；同一张四等级码表。</a:t>
            </a:r>
          </a:p>
        </p:txBody>
      </p:sp>
      <p:sp>
        <p:nvSpPr>
          <p:cNvPr id="5" name="given-1">
            <a:extLst xmlns:a="http://schemas.openxmlformats.org/drawingml/2006/main">
              <a:ext uri="{FF2B5EF4-FFF2-40B4-BE49-F238E27FC236}">
                <a16:creationId xmlns:a16="http://schemas.microsoft.com/office/drawing/2014/main" id="{F7C7947A-5A4A-43AA-BCDD-3A7065238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共4个样本，能确定这段声音的时长吗？</a:t>
            </a:r>
          </a:p>
        </p:txBody>
      </p:sp>
      <p:sp>
        <p:nvSpPr>
          <p:cNvPr id="6" name="code-box">
            <a:extLst xmlns:a="http://schemas.openxmlformats.org/drawingml/2006/main">
              <a:ext uri="{FF2B5EF4-FFF2-40B4-BE49-F238E27FC236}">
                <a16:creationId xmlns:a16="http://schemas.microsoft.com/office/drawing/2014/main" id="{B80703C7-49ED-452E-A005-E8FB89841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933700"/>
            <a:ext cx="1257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DF"/>
            </a:solidFill>
          </a:ln>
        </p:spPr>
      </p:sp>
      <p:sp>
        <p:nvSpPr>
          <p:cNvPr id="7" name="code-box">
            <a:extLst xmlns:a="http://schemas.openxmlformats.org/drawingml/2006/main">
              <a:ext uri="{FF2B5EF4-FFF2-40B4-BE49-F238E27FC236}">
                <a16:creationId xmlns:a16="http://schemas.microsoft.com/office/drawing/2014/main" id="{5F806763-CB62-4FF6-B3A9-01A60E736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933700"/>
            <a:ext cx="1257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DF"/>
            </a:solidFill>
          </a:ln>
        </p:spPr>
      </p:sp>
      <p:sp>
        <p:nvSpPr>
          <p:cNvPr id="8" name="code-box">
            <a:extLst xmlns:a="http://schemas.openxmlformats.org/drawingml/2006/main">
              <a:ext uri="{FF2B5EF4-FFF2-40B4-BE49-F238E27FC236}">
                <a16:creationId xmlns:a16="http://schemas.microsoft.com/office/drawing/2014/main" id="{BA209C9A-8D97-40BE-A9D3-C11788ABF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933700"/>
            <a:ext cx="1257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DF"/>
            </a:solidFill>
          </a:ln>
        </p:spPr>
      </p:sp>
      <p:sp>
        <p:nvSpPr>
          <p:cNvPr id="9" name="code-box">
            <a:extLst xmlns:a="http://schemas.openxmlformats.org/drawingml/2006/main">
              <a:ext uri="{FF2B5EF4-FFF2-40B4-BE49-F238E27FC236}">
                <a16:creationId xmlns:a16="http://schemas.microsoft.com/office/drawing/2014/main" id="{2B7AA221-C53C-4666-964F-DCDBCC5ED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933700"/>
            <a:ext cx="1257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DF"/>
            </a:solidFill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B64DEE37-0F00-476C-81C0-E0523EF1F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990850"/>
            <a:ext cx="1095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00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4745DC07-2240-45E9-92D2-15ADD5B4E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990850"/>
            <a:ext cx="1095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01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91837E59-44B9-4C51-A601-DA24E345A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990850"/>
            <a:ext cx="1095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10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BCCD5A58-10FB-4967-BC24-91FFDA943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90850"/>
            <a:ext cx="1095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11</a:t>
            </a:r>
          </a:p>
        </p:txBody>
      </p:sp>
      <p:sp>
        <p:nvSpPr>
          <p:cNvPr id="14" name="line">
            <a:extLst xmlns:a="http://schemas.openxmlformats.org/drawingml/2006/main">
              <a:ext uri="{FF2B5EF4-FFF2-40B4-BE49-F238E27FC236}">
                <a16:creationId xmlns:a16="http://schemas.microsoft.com/office/drawing/2014/main" id="{7901F0ED-ECD3-4AE7-BEDA-377327066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9525"/>
            <a:ext cx="10972800" cy="9525"/>
          </a:xfrm>
          <a:custGeom xmlns:a="http://schemas.openxmlformats.org/drawingml/2006/main"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8DF"/>
            </a:solidFill>
          </a:ln>
        </p:spPr>
      </p:sp>
      <p:sp>
        <p:nvSpPr>
          <p:cNvPr id="15" name="answer-0">
            <a:extLst xmlns:a="http://schemas.openxmlformats.org/drawingml/2006/main">
              <a:ext uri="{FF2B5EF4-FFF2-40B4-BE49-F238E27FC236}">
                <a16:creationId xmlns:a16="http://schemas.microsoft.com/office/drawing/2014/main" id="{3F7D0161-2027-4CDB-BA91-023FCA23E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4 Hz：4个样本占1秒。</a:t>
            </a:r>
          </a:p>
        </p:txBody>
      </p:sp>
      <p:sp>
        <p:nvSpPr>
          <p:cNvPr id="16" name="answer-1">
            <a:extLst xmlns:a="http://schemas.openxmlformats.org/drawingml/2006/main">
              <a:ext uri="{FF2B5EF4-FFF2-40B4-BE49-F238E27FC236}">
                <a16:creationId xmlns:a16="http://schemas.microsoft.com/office/drawing/2014/main" id="{F95032E9-F693-4138-AB32-13D7AD1BC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7677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8 Hz：4个样本占0.5秒。</a:t>
            </a:r>
          </a:p>
        </p:txBody>
      </p:sp>
      <p:sp>
        <p:nvSpPr>
          <p:cNvPr id="17" name="answer-2">
            <a:extLst xmlns:a="http://schemas.openxmlformats.org/drawingml/2006/main">
              <a:ext uri="{FF2B5EF4-FFF2-40B4-BE49-F238E27FC236}">
                <a16:creationId xmlns:a16="http://schemas.microsoft.com/office/drawing/2014/main" id="{E131838A-808D-4B80-B898-669893F50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0542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此题已有码表和单声道条件，还缺采样率。</a:t>
            </a:r>
          </a:p>
        </p:txBody>
      </p:sp>
    </p:spTree>
    <p:extLst>
      <p:ext uri="{BB962C8B-B14F-4D97-AF65-F5344CB8AC3E}">
        <p14:creationId xmlns:p14="http://schemas.microsoft.com/office/powerpoint/2010/main" val="49893685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op-rail">
            <a:extLst xmlns:a="http://schemas.openxmlformats.org/drawingml/2006/main">
              <a:ext uri="{FF2B5EF4-FFF2-40B4-BE49-F238E27FC236}">
                <a16:creationId xmlns:a16="http://schemas.microsoft.com/office/drawing/2014/main" id="{B615AE08-9C5C-41E7-AC98-E667D41B0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8365CACB-B72D-4A96-8AC0-C94DA0769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1F33720B-280D-4F62-8C64-7374D3E68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我们已建立哪些记录规则？</a:t>
            </a:r>
          </a:p>
        </p:txBody>
      </p:sp>
      <p:sp>
        <p:nvSpPr>
          <p:cNvPr id="4" name="tree-root">
            <a:extLst xmlns:a="http://schemas.openxmlformats.org/drawingml/2006/main">
              <a:ext uri="{FF2B5EF4-FFF2-40B4-BE49-F238E27FC236}">
                <a16:creationId xmlns:a16="http://schemas.microsoft.com/office/drawing/2014/main" id="{B5B5F539-42F1-47DB-8C13-E4DE01930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2190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5" name="tree-label-root">
            <a:extLst xmlns:a="http://schemas.openxmlformats.org/drawingml/2006/main">
              <a:ext uri="{FF2B5EF4-FFF2-40B4-BE49-F238E27FC236}">
                <a16:creationId xmlns:a16="http://schemas.microsoft.com/office/drawing/2014/main" id="{7396F84E-FB97-4C54-B202-9FA902A2D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19450"/>
            <a:ext cx="1962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数字音频</a:t>
            </a:r>
          </a:p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记录模型</a:t>
            </a:r>
          </a:p>
        </p:txBody>
      </p:sp>
    </p:spTree>
    <p:extLst>
      <p:ext uri="{BB962C8B-B14F-4D97-AF65-F5344CB8AC3E}">
        <p14:creationId xmlns:p14="http://schemas.microsoft.com/office/powerpoint/2010/main" val="84159868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/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2800350" y="2162175"/>
            <a:ext cx="866775" cy="14001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C64E1"/>
            </a:solidFill>
          </a:ln>
        </p:spPr>
      </p:cxnSp>
      <p:sp>
        <p:nvSpPr>
          <p:cNvPr id="12" name="top-rail">
            <a:extLst xmlns:a="http://schemas.openxmlformats.org/drawingml/2006/main">
              <a:ext uri="{FF2B5EF4-FFF2-40B4-BE49-F238E27FC236}">
                <a16:creationId xmlns:a16="http://schemas.microsoft.com/office/drawing/2014/main" id="{B615AE08-9C5C-41E7-AC98-E667D41B0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8365CACB-B72D-4A96-8AC0-C94DA0769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1F33720B-280D-4F62-8C64-7374D3E68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我们已建立哪些记录规则？</a:t>
            </a:r>
          </a:p>
        </p:txBody>
      </p:sp>
      <p:sp>
        <p:nvSpPr>
          <p:cNvPr id="4" name="tree-root">
            <a:extLst xmlns:a="http://schemas.openxmlformats.org/drawingml/2006/main">
              <a:ext uri="{FF2B5EF4-FFF2-40B4-BE49-F238E27FC236}">
                <a16:creationId xmlns:a16="http://schemas.microsoft.com/office/drawing/2014/main" id="{B5B5F539-42F1-47DB-8C13-E4DE01930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2190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5" name="tree-label-root">
            <a:extLst xmlns:a="http://schemas.openxmlformats.org/drawingml/2006/main">
              <a:ext uri="{FF2B5EF4-FFF2-40B4-BE49-F238E27FC236}">
                <a16:creationId xmlns:a16="http://schemas.microsoft.com/office/drawing/2014/main" id="{7396F84E-FB97-4C54-B202-9FA902A2D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19450"/>
            <a:ext cx="1962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数字音频</a:t>
            </a:r>
          </a:p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记录模型</a:t>
            </a:r>
          </a:p>
        </p:txBody>
      </p:sp>
      <p:sp>
        <p:nvSpPr>
          <p:cNvPr id="6" name="tree-sampling">
            <a:extLst xmlns:a="http://schemas.openxmlformats.org/drawingml/2006/main">
              <a:ext uri="{FF2B5EF4-FFF2-40B4-BE49-F238E27FC236}">
                <a16:creationId xmlns:a16="http://schemas.microsoft.com/office/drawing/2014/main" id="{EE28B9EB-A3F4-4BA9-A60B-5BAF354F5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762125"/>
            <a:ext cx="25241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7" name="tree-label-sampling">
            <a:extLst xmlns:a="http://schemas.openxmlformats.org/drawingml/2006/main">
              <a:ext uri="{FF2B5EF4-FFF2-40B4-BE49-F238E27FC236}">
                <a16:creationId xmlns:a16="http://schemas.microsoft.com/office/drawing/2014/main" id="{D2F8BA5A-5011-4B25-8BA4-4BA09D402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1800225"/>
            <a:ext cx="22955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采样</a:t>
            </a:r>
          </a:p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离散时刻</a:t>
            </a:r>
          </a:p>
        </p:txBody>
      </p:sp>
      <p:sp>
        <p:nvSpPr>
          <p:cNvPr id="9" name="tree-focus">
            <a:extLst xmlns:a="http://schemas.openxmlformats.org/drawingml/2006/main">
              <a:ext uri="{FF2B5EF4-FFF2-40B4-BE49-F238E27FC236}">
                <a16:creationId xmlns:a16="http://schemas.microsoft.com/office/drawing/2014/main" id="{CE5D09E6-4328-465A-B8F8-165C953C6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724025"/>
            <a:ext cx="26003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0000"/>
            </a:solidFill>
          </a:ln>
        </p:spPr>
      </p:sp>
      <p:sp>
        <p:nvSpPr>
          <p:cNvPr id="10" name="tree-new">
            <a:extLst xmlns:a="http://schemas.openxmlformats.org/drawingml/2006/main">
              <a:ext uri="{FF2B5EF4-FFF2-40B4-BE49-F238E27FC236}">
                <a16:creationId xmlns:a16="http://schemas.microsoft.com/office/drawing/2014/main" id="{62BBC657-623B-4BF6-AE32-128ADA650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914525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新增</a:t>
            </a:r>
          </a:p>
        </p:txBody>
      </p:sp>
    </p:spTree>
    <p:extLst>
      <p:ext uri="{BB962C8B-B14F-4D97-AF65-F5344CB8AC3E}">
        <p14:creationId xmlns:p14="http://schemas.microsoft.com/office/powerpoint/2010/main" val="84159868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6" name=""/>
          <p:cNvCxnSpPr>
            <a:stCxn xmlns:a="http://schemas.openxmlformats.org/drawingml/2006/main" id="4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V="1">
            <a:off x="2800350" y="3067050"/>
            <a:ext cx="866775" cy="4953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C64E1"/>
            </a:solidFill>
          </a:ln>
        </p:spPr>
      </p:cxnSp>
      <p:cxnSp>
        <p:nvCxnSpPr>
          <p:cNvPr id="17" name=""/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2800350" y="2162175"/>
            <a:ext cx="866775" cy="14001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C64E1"/>
            </a:solidFill>
          </a:ln>
        </p:spPr>
      </p:cxnSp>
      <p:sp>
        <p:nvSpPr>
          <p:cNvPr id="18" name="top-rail">
            <a:extLst xmlns:a="http://schemas.openxmlformats.org/drawingml/2006/main">
              <a:ext uri="{FF2B5EF4-FFF2-40B4-BE49-F238E27FC236}">
                <a16:creationId xmlns:a16="http://schemas.microsoft.com/office/drawing/2014/main" id="{B615AE08-9C5C-41E7-AC98-E667D41B0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8365CACB-B72D-4A96-8AC0-C94DA0769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1F33720B-280D-4F62-8C64-7374D3E68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我们已建立哪些记录规则？</a:t>
            </a:r>
          </a:p>
        </p:txBody>
      </p:sp>
      <p:sp>
        <p:nvSpPr>
          <p:cNvPr id="4" name="tree-root">
            <a:extLst xmlns:a="http://schemas.openxmlformats.org/drawingml/2006/main">
              <a:ext uri="{FF2B5EF4-FFF2-40B4-BE49-F238E27FC236}">
                <a16:creationId xmlns:a16="http://schemas.microsoft.com/office/drawing/2014/main" id="{B5B5F539-42F1-47DB-8C13-E4DE01930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2190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5" name="tree-label-root">
            <a:extLst xmlns:a="http://schemas.openxmlformats.org/drawingml/2006/main">
              <a:ext uri="{FF2B5EF4-FFF2-40B4-BE49-F238E27FC236}">
                <a16:creationId xmlns:a16="http://schemas.microsoft.com/office/drawing/2014/main" id="{7396F84E-FB97-4C54-B202-9FA902A2D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19450"/>
            <a:ext cx="1962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数字音频</a:t>
            </a:r>
          </a:p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记录模型</a:t>
            </a:r>
          </a:p>
        </p:txBody>
      </p:sp>
      <p:sp>
        <p:nvSpPr>
          <p:cNvPr id="6" name="tree-sampling">
            <a:extLst xmlns:a="http://schemas.openxmlformats.org/drawingml/2006/main">
              <a:ext uri="{FF2B5EF4-FFF2-40B4-BE49-F238E27FC236}">
                <a16:creationId xmlns:a16="http://schemas.microsoft.com/office/drawing/2014/main" id="{EE28B9EB-A3F4-4BA9-A60B-5BAF354F5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762125"/>
            <a:ext cx="25241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7" name="tree-label-sampling">
            <a:extLst xmlns:a="http://schemas.openxmlformats.org/drawingml/2006/main">
              <a:ext uri="{FF2B5EF4-FFF2-40B4-BE49-F238E27FC236}">
                <a16:creationId xmlns:a16="http://schemas.microsoft.com/office/drawing/2014/main" id="{D2F8BA5A-5011-4B25-8BA4-4BA09D402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1800225"/>
            <a:ext cx="22955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采样</a:t>
            </a:r>
          </a:p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离散时刻</a:t>
            </a:r>
          </a:p>
        </p:txBody>
      </p:sp>
      <p:sp>
        <p:nvSpPr>
          <p:cNvPr id="9" name="tree-focus">
            <a:extLst xmlns:a="http://schemas.openxmlformats.org/drawingml/2006/main">
              <a:ext uri="{FF2B5EF4-FFF2-40B4-BE49-F238E27FC236}">
                <a16:creationId xmlns:a16="http://schemas.microsoft.com/office/drawing/2014/main" id="{CE5D09E6-4328-465A-B8F8-165C953C6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724025"/>
            <a:ext cx="26003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" name="tree-new">
            <a:extLst xmlns:a="http://schemas.openxmlformats.org/drawingml/2006/main">
              <a:ext uri="{FF2B5EF4-FFF2-40B4-BE49-F238E27FC236}">
                <a16:creationId xmlns:a16="http://schemas.microsoft.com/office/drawing/2014/main" id="{62BBC657-623B-4BF6-AE32-128ADA650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914525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/>
            </a:r>
          </a:p>
        </p:txBody>
      </p:sp>
      <p:sp>
        <p:nvSpPr>
          <p:cNvPr id="11" name="tree-quantization">
            <a:extLst xmlns:a="http://schemas.openxmlformats.org/drawingml/2006/main">
              <a:ext uri="{FF2B5EF4-FFF2-40B4-BE49-F238E27FC236}">
                <a16:creationId xmlns:a16="http://schemas.microsoft.com/office/drawing/2014/main" id="{159739EF-A090-4065-9E48-143359CE9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667000"/>
            <a:ext cx="25241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2" name="tree-label-quantization">
            <a:extLst xmlns:a="http://schemas.openxmlformats.org/drawingml/2006/main">
              <a:ext uri="{FF2B5EF4-FFF2-40B4-BE49-F238E27FC236}">
                <a16:creationId xmlns:a16="http://schemas.microsoft.com/office/drawing/2014/main" id="{05808172-445E-478B-99EA-4957F9E40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705100"/>
            <a:ext cx="22955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量化</a:t>
            </a:r>
          </a:p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有限幅度</a:t>
            </a:r>
          </a:p>
        </p:txBody>
      </p:sp>
      <p:sp>
        <p:nvSpPr>
          <p:cNvPr id="14" name="tree-focus">
            <a:extLst xmlns:a="http://schemas.openxmlformats.org/drawingml/2006/main">
              <a:ext uri="{FF2B5EF4-FFF2-40B4-BE49-F238E27FC236}">
                <a16:creationId xmlns:a16="http://schemas.microsoft.com/office/drawing/2014/main" id="{9E0FB84C-6142-4D3C-9896-4592B88EF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28900"/>
            <a:ext cx="26003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0000"/>
            </a:solidFill>
          </a:ln>
        </p:spPr>
      </p:sp>
      <p:sp>
        <p:nvSpPr>
          <p:cNvPr id="15" name="tree-new">
            <a:extLst xmlns:a="http://schemas.openxmlformats.org/drawingml/2006/main">
              <a:ext uri="{FF2B5EF4-FFF2-40B4-BE49-F238E27FC236}">
                <a16:creationId xmlns:a16="http://schemas.microsoft.com/office/drawing/2014/main" id="{06CD0068-8A8A-4048-80A7-104476BC1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81940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新增</a:t>
            </a:r>
          </a:p>
        </p:txBody>
      </p:sp>
    </p:spTree>
    <p:extLst>
      <p:ext uri="{BB962C8B-B14F-4D97-AF65-F5344CB8AC3E}">
        <p14:creationId xmlns:p14="http://schemas.microsoft.com/office/powerpoint/2010/main" val="84159868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1" name=""/>
          <p:cNvCxnSpPr>
            <a:stCxn xmlns:a="http://schemas.openxmlformats.org/drawingml/2006/main" id="4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2800350" y="3562350"/>
            <a:ext cx="866775" cy="4095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C64E1"/>
            </a:solidFill>
          </a:ln>
        </p:spPr>
      </p:cxnSp>
      <p:cxnSp>
        <p:nvCxnSpPr>
          <p:cNvPr id="22" name=""/>
          <p:cNvCxnSpPr>
            <a:stCxn xmlns:a="http://schemas.openxmlformats.org/drawingml/2006/main" id="4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V="1">
            <a:off x="2800350" y="3067050"/>
            <a:ext cx="866775" cy="4953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C64E1"/>
            </a:solidFill>
          </a:ln>
        </p:spPr>
      </p:cxnSp>
      <p:cxnSp>
        <p:nvCxnSpPr>
          <p:cNvPr id="23" name=""/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2800350" y="2162175"/>
            <a:ext cx="866775" cy="14001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C64E1"/>
            </a:solidFill>
          </a:ln>
        </p:spPr>
      </p:cxnSp>
      <p:sp>
        <p:nvSpPr>
          <p:cNvPr id="24" name="top-rail">
            <a:extLst xmlns:a="http://schemas.openxmlformats.org/drawingml/2006/main">
              <a:ext uri="{FF2B5EF4-FFF2-40B4-BE49-F238E27FC236}">
                <a16:creationId xmlns:a16="http://schemas.microsoft.com/office/drawing/2014/main" id="{B615AE08-9C5C-41E7-AC98-E667D41B0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8365CACB-B72D-4A96-8AC0-C94DA0769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1F33720B-280D-4F62-8C64-7374D3E68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我们已建立哪些记录规则？</a:t>
            </a:r>
          </a:p>
        </p:txBody>
      </p:sp>
      <p:sp>
        <p:nvSpPr>
          <p:cNvPr id="4" name="tree-root">
            <a:extLst xmlns:a="http://schemas.openxmlformats.org/drawingml/2006/main">
              <a:ext uri="{FF2B5EF4-FFF2-40B4-BE49-F238E27FC236}">
                <a16:creationId xmlns:a16="http://schemas.microsoft.com/office/drawing/2014/main" id="{B5B5F539-42F1-47DB-8C13-E4DE01930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2190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5" name="tree-label-root">
            <a:extLst xmlns:a="http://schemas.openxmlformats.org/drawingml/2006/main">
              <a:ext uri="{FF2B5EF4-FFF2-40B4-BE49-F238E27FC236}">
                <a16:creationId xmlns:a16="http://schemas.microsoft.com/office/drawing/2014/main" id="{7396F84E-FB97-4C54-B202-9FA902A2D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19450"/>
            <a:ext cx="1962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数字音频</a:t>
            </a:r>
          </a:p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记录模型</a:t>
            </a:r>
          </a:p>
        </p:txBody>
      </p:sp>
      <p:sp>
        <p:nvSpPr>
          <p:cNvPr id="6" name="tree-sampling">
            <a:extLst xmlns:a="http://schemas.openxmlformats.org/drawingml/2006/main">
              <a:ext uri="{FF2B5EF4-FFF2-40B4-BE49-F238E27FC236}">
                <a16:creationId xmlns:a16="http://schemas.microsoft.com/office/drawing/2014/main" id="{EE28B9EB-A3F4-4BA9-A60B-5BAF354F5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762125"/>
            <a:ext cx="25241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7" name="tree-label-sampling">
            <a:extLst xmlns:a="http://schemas.openxmlformats.org/drawingml/2006/main">
              <a:ext uri="{FF2B5EF4-FFF2-40B4-BE49-F238E27FC236}">
                <a16:creationId xmlns:a16="http://schemas.microsoft.com/office/drawing/2014/main" id="{D2F8BA5A-5011-4B25-8BA4-4BA09D402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1800225"/>
            <a:ext cx="22955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采样</a:t>
            </a:r>
          </a:p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离散时刻</a:t>
            </a:r>
          </a:p>
        </p:txBody>
      </p:sp>
      <p:sp>
        <p:nvSpPr>
          <p:cNvPr id="9" name="tree-focus">
            <a:extLst xmlns:a="http://schemas.openxmlformats.org/drawingml/2006/main">
              <a:ext uri="{FF2B5EF4-FFF2-40B4-BE49-F238E27FC236}">
                <a16:creationId xmlns:a16="http://schemas.microsoft.com/office/drawing/2014/main" id="{CE5D09E6-4328-465A-B8F8-165C953C6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724025"/>
            <a:ext cx="26003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" name="tree-new">
            <a:extLst xmlns:a="http://schemas.openxmlformats.org/drawingml/2006/main">
              <a:ext uri="{FF2B5EF4-FFF2-40B4-BE49-F238E27FC236}">
                <a16:creationId xmlns:a16="http://schemas.microsoft.com/office/drawing/2014/main" id="{62BBC657-623B-4BF6-AE32-128ADA650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914525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/>
            </a:r>
          </a:p>
        </p:txBody>
      </p:sp>
      <p:sp>
        <p:nvSpPr>
          <p:cNvPr id="11" name="tree-quantization">
            <a:extLst xmlns:a="http://schemas.openxmlformats.org/drawingml/2006/main">
              <a:ext uri="{FF2B5EF4-FFF2-40B4-BE49-F238E27FC236}">
                <a16:creationId xmlns:a16="http://schemas.microsoft.com/office/drawing/2014/main" id="{159739EF-A090-4065-9E48-143359CE9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667000"/>
            <a:ext cx="25241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2" name="tree-label-quantization">
            <a:extLst xmlns:a="http://schemas.openxmlformats.org/drawingml/2006/main">
              <a:ext uri="{FF2B5EF4-FFF2-40B4-BE49-F238E27FC236}">
                <a16:creationId xmlns:a16="http://schemas.microsoft.com/office/drawing/2014/main" id="{05808172-445E-478B-99EA-4957F9E40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705100"/>
            <a:ext cx="22955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量化</a:t>
            </a:r>
          </a:p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有限幅度</a:t>
            </a:r>
          </a:p>
        </p:txBody>
      </p:sp>
      <p:sp>
        <p:nvSpPr>
          <p:cNvPr id="14" name="tree-focus">
            <a:extLst xmlns:a="http://schemas.openxmlformats.org/drawingml/2006/main">
              <a:ext uri="{FF2B5EF4-FFF2-40B4-BE49-F238E27FC236}">
                <a16:creationId xmlns:a16="http://schemas.microsoft.com/office/drawing/2014/main" id="{9E0FB84C-6142-4D3C-9896-4592B88EF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28900"/>
            <a:ext cx="26003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" name="tree-new">
            <a:extLst xmlns:a="http://schemas.openxmlformats.org/drawingml/2006/main">
              <a:ext uri="{FF2B5EF4-FFF2-40B4-BE49-F238E27FC236}">
                <a16:creationId xmlns:a16="http://schemas.microsoft.com/office/drawing/2014/main" id="{06CD0068-8A8A-4048-80A7-104476BC1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81940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/>
            </a:r>
          </a:p>
        </p:txBody>
      </p:sp>
      <p:sp>
        <p:nvSpPr>
          <p:cNvPr id="16" name="tree-encoding">
            <a:extLst xmlns:a="http://schemas.openxmlformats.org/drawingml/2006/main">
              <a:ext uri="{FF2B5EF4-FFF2-40B4-BE49-F238E27FC236}">
                <a16:creationId xmlns:a16="http://schemas.microsoft.com/office/drawing/2014/main" id="{63FDFFDB-5A94-4CAC-A1BD-64408FDBB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571875"/>
            <a:ext cx="25241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7" name="tree-label-encoding">
            <a:extLst xmlns:a="http://schemas.openxmlformats.org/drawingml/2006/main">
              <a:ext uri="{FF2B5EF4-FFF2-40B4-BE49-F238E27FC236}">
                <a16:creationId xmlns:a16="http://schemas.microsoft.com/office/drawing/2014/main" id="{823B1695-3080-42A1-8A14-C23253570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3609975"/>
            <a:ext cx="22955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编码</a:t>
            </a:r>
          </a:p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表示等级</a:t>
            </a:r>
          </a:p>
        </p:txBody>
      </p:sp>
      <p:sp>
        <p:nvSpPr>
          <p:cNvPr id="19" name="tree-focus">
            <a:extLst xmlns:a="http://schemas.openxmlformats.org/drawingml/2006/main">
              <a:ext uri="{FF2B5EF4-FFF2-40B4-BE49-F238E27FC236}">
                <a16:creationId xmlns:a16="http://schemas.microsoft.com/office/drawing/2014/main" id="{08E63920-FBAD-4FB7-86CD-4FB9C2B59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533775"/>
            <a:ext cx="26003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0000"/>
            </a:solidFill>
          </a:ln>
        </p:spPr>
      </p:sp>
      <p:sp>
        <p:nvSpPr>
          <p:cNvPr id="20" name="tree-new">
            <a:extLst xmlns:a="http://schemas.openxmlformats.org/drawingml/2006/main">
              <a:ext uri="{FF2B5EF4-FFF2-40B4-BE49-F238E27FC236}">
                <a16:creationId xmlns:a16="http://schemas.microsoft.com/office/drawing/2014/main" id="{7DF10078-BC82-40DD-8446-C748F2490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724275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新增</a:t>
            </a:r>
          </a:p>
        </p:txBody>
      </p:sp>
    </p:spTree>
    <p:extLst>
      <p:ext uri="{BB962C8B-B14F-4D97-AF65-F5344CB8AC3E}">
        <p14:creationId xmlns:p14="http://schemas.microsoft.com/office/powerpoint/2010/main" val="84159868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6" name=""/>
          <p:cNvCxnSpPr>
            <a:stCxn xmlns:a="http://schemas.openxmlformats.org/drawingml/2006/main" id="4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2800350" y="3562350"/>
            <a:ext cx="866775" cy="13144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C64E1"/>
            </a:solidFill>
          </a:ln>
        </p:spPr>
      </p:cxnSp>
      <p:cxnSp>
        <p:nvCxnSpPr>
          <p:cNvPr id="27" name=""/>
          <p:cNvCxnSpPr>
            <a:stCxn xmlns:a="http://schemas.openxmlformats.org/drawingml/2006/main" id="4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2800350" y="3562350"/>
            <a:ext cx="866775" cy="4095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C64E1"/>
            </a:solidFill>
          </a:ln>
        </p:spPr>
      </p:cxnSp>
      <p:cxnSp>
        <p:nvCxnSpPr>
          <p:cNvPr id="28" name=""/>
          <p:cNvCxnSpPr>
            <a:stCxn xmlns:a="http://schemas.openxmlformats.org/drawingml/2006/main" id="4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V="1">
            <a:off x="2800350" y="3067050"/>
            <a:ext cx="866775" cy="4953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C64E1"/>
            </a:solidFill>
          </a:ln>
        </p:spPr>
      </p:cxnSp>
      <p:cxnSp>
        <p:nvCxnSpPr>
          <p:cNvPr id="29" name=""/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2800350" y="2162175"/>
            <a:ext cx="866775" cy="14001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C64E1"/>
            </a:solidFill>
          </a:ln>
        </p:spPr>
      </p:cxnSp>
      <p:sp>
        <p:nvSpPr>
          <p:cNvPr id="30" name="top-rail">
            <a:extLst xmlns:a="http://schemas.openxmlformats.org/drawingml/2006/main">
              <a:ext uri="{FF2B5EF4-FFF2-40B4-BE49-F238E27FC236}">
                <a16:creationId xmlns:a16="http://schemas.microsoft.com/office/drawing/2014/main" id="{B615AE08-9C5C-41E7-AC98-E667D41B0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8365CACB-B72D-4A96-8AC0-C94DA0769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1F33720B-280D-4F62-8C64-7374D3E68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我们已建立哪些记录规则？</a:t>
            </a:r>
          </a:p>
        </p:txBody>
      </p:sp>
      <p:sp>
        <p:nvSpPr>
          <p:cNvPr id="4" name="tree-root">
            <a:extLst xmlns:a="http://schemas.openxmlformats.org/drawingml/2006/main">
              <a:ext uri="{FF2B5EF4-FFF2-40B4-BE49-F238E27FC236}">
                <a16:creationId xmlns:a16="http://schemas.microsoft.com/office/drawing/2014/main" id="{B5B5F539-42F1-47DB-8C13-E4DE01930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2190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5" name="tree-label-root">
            <a:extLst xmlns:a="http://schemas.openxmlformats.org/drawingml/2006/main">
              <a:ext uri="{FF2B5EF4-FFF2-40B4-BE49-F238E27FC236}">
                <a16:creationId xmlns:a16="http://schemas.microsoft.com/office/drawing/2014/main" id="{7396F84E-FB97-4C54-B202-9FA902A2D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19450"/>
            <a:ext cx="1962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数字音频</a:t>
            </a:r>
          </a:p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记录模型</a:t>
            </a:r>
          </a:p>
        </p:txBody>
      </p:sp>
      <p:sp>
        <p:nvSpPr>
          <p:cNvPr id="6" name="tree-sampling">
            <a:extLst xmlns:a="http://schemas.openxmlformats.org/drawingml/2006/main">
              <a:ext uri="{FF2B5EF4-FFF2-40B4-BE49-F238E27FC236}">
                <a16:creationId xmlns:a16="http://schemas.microsoft.com/office/drawing/2014/main" id="{EE28B9EB-A3F4-4BA9-A60B-5BAF354F5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762125"/>
            <a:ext cx="25241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7" name="tree-label-sampling">
            <a:extLst xmlns:a="http://schemas.openxmlformats.org/drawingml/2006/main">
              <a:ext uri="{FF2B5EF4-FFF2-40B4-BE49-F238E27FC236}">
                <a16:creationId xmlns:a16="http://schemas.microsoft.com/office/drawing/2014/main" id="{D2F8BA5A-5011-4B25-8BA4-4BA09D402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1800225"/>
            <a:ext cx="22955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采样</a:t>
            </a:r>
          </a:p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离散时刻</a:t>
            </a:r>
          </a:p>
        </p:txBody>
      </p:sp>
      <p:sp>
        <p:nvSpPr>
          <p:cNvPr id="9" name="tree-focus">
            <a:extLst xmlns:a="http://schemas.openxmlformats.org/drawingml/2006/main">
              <a:ext uri="{FF2B5EF4-FFF2-40B4-BE49-F238E27FC236}">
                <a16:creationId xmlns:a16="http://schemas.microsoft.com/office/drawing/2014/main" id="{CE5D09E6-4328-465A-B8F8-165C953C6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724025"/>
            <a:ext cx="26003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" name="tree-new">
            <a:extLst xmlns:a="http://schemas.openxmlformats.org/drawingml/2006/main">
              <a:ext uri="{FF2B5EF4-FFF2-40B4-BE49-F238E27FC236}">
                <a16:creationId xmlns:a16="http://schemas.microsoft.com/office/drawing/2014/main" id="{62BBC657-623B-4BF6-AE32-128ADA650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914525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/>
            </a:r>
          </a:p>
        </p:txBody>
      </p:sp>
      <p:sp>
        <p:nvSpPr>
          <p:cNvPr id="11" name="tree-quantization">
            <a:extLst xmlns:a="http://schemas.openxmlformats.org/drawingml/2006/main">
              <a:ext uri="{FF2B5EF4-FFF2-40B4-BE49-F238E27FC236}">
                <a16:creationId xmlns:a16="http://schemas.microsoft.com/office/drawing/2014/main" id="{159739EF-A090-4065-9E48-143359CE9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667000"/>
            <a:ext cx="25241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2" name="tree-label-quantization">
            <a:extLst xmlns:a="http://schemas.openxmlformats.org/drawingml/2006/main">
              <a:ext uri="{FF2B5EF4-FFF2-40B4-BE49-F238E27FC236}">
                <a16:creationId xmlns:a16="http://schemas.microsoft.com/office/drawing/2014/main" id="{05808172-445E-478B-99EA-4957F9E40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705100"/>
            <a:ext cx="22955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量化</a:t>
            </a:r>
          </a:p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有限幅度</a:t>
            </a:r>
          </a:p>
        </p:txBody>
      </p:sp>
      <p:sp>
        <p:nvSpPr>
          <p:cNvPr id="14" name="tree-focus">
            <a:extLst xmlns:a="http://schemas.openxmlformats.org/drawingml/2006/main">
              <a:ext uri="{FF2B5EF4-FFF2-40B4-BE49-F238E27FC236}">
                <a16:creationId xmlns:a16="http://schemas.microsoft.com/office/drawing/2014/main" id="{9E0FB84C-6142-4D3C-9896-4592B88EF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28900"/>
            <a:ext cx="26003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" name="tree-new">
            <a:extLst xmlns:a="http://schemas.openxmlformats.org/drawingml/2006/main">
              <a:ext uri="{FF2B5EF4-FFF2-40B4-BE49-F238E27FC236}">
                <a16:creationId xmlns:a16="http://schemas.microsoft.com/office/drawing/2014/main" id="{06CD0068-8A8A-4048-80A7-104476BC1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81940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/>
            </a:r>
          </a:p>
        </p:txBody>
      </p:sp>
      <p:sp>
        <p:nvSpPr>
          <p:cNvPr id="16" name="tree-encoding">
            <a:extLst xmlns:a="http://schemas.openxmlformats.org/drawingml/2006/main">
              <a:ext uri="{FF2B5EF4-FFF2-40B4-BE49-F238E27FC236}">
                <a16:creationId xmlns:a16="http://schemas.microsoft.com/office/drawing/2014/main" id="{63FDFFDB-5A94-4CAC-A1BD-64408FDBB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571875"/>
            <a:ext cx="25241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7" name="tree-label-encoding">
            <a:extLst xmlns:a="http://schemas.openxmlformats.org/drawingml/2006/main">
              <a:ext uri="{FF2B5EF4-FFF2-40B4-BE49-F238E27FC236}">
                <a16:creationId xmlns:a16="http://schemas.microsoft.com/office/drawing/2014/main" id="{823B1695-3080-42A1-8A14-C23253570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3609975"/>
            <a:ext cx="22955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编码</a:t>
            </a:r>
          </a:p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表示等级</a:t>
            </a:r>
          </a:p>
        </p:txBody>
      </p:sp>
      <p:sp>
        <p:nvSpPr>
          <p:cNvPr id="19" name="tree-focus">
            <a:extLst xmlns:a="http://schemas.openxmlformats.org/drawingml/2006/main">
              <a:ext uri="{FF2B5EF4-FFF2-40B4-BE49-F238E27FC236}">
                <a16:creationId xmlns:a16="http://schemas.microsoft.com/office/drawing/2014/main" id="{08E63920-FBAD-4FB7-86CD-4FB9C2B59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533775"/>
            <a:ext cx="26003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" name="tree-new">
            <a:extLst xmlns:a="http://schemas.openxmlformats.org/drawingml/2006/main">
              <a:ext uri="{FF2B5EF4-FFF2-40B4-BE49-F238E27FC236}">
                <a16:creationId xmlns:a16="http://schemas.microsoft.com/office/drawing/2014/main" id="{7DF10078-BC82-40DD-8446-C748F2490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724275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/>
            </a:r>
          </a:p>
        </p:txBody>
      </p:sp>
      <p:sp>
        <p:nvSpPr>
          <p:cNvPr id="21" name="tree-parameters">
            <a:extLst xmlns:a="http://schemas.openxmlformats.org/drawingml/2006/main">
              <a:ext uri="{FF2B5EF4-FFF2-40B4-BE49-F238E27FC236}">
                <a16:creationId xmlns:a16="http://schemas.microsoft.com/office/drawing/2014/main" id="{344AF17A-0850-4DBF-BD89-02E7A8B3A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476750"/>
            <a:ext cx="25241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2" name="tree-label-parameters">
            <a:extLst xmlns:a="http://schemas.openxmlformats.org/drawingml/2006/main">
              <a:ext uri="{FF2B5EF4-FFF2-40B4-BE49-F238E27FC236}">
                <a16:creationId xmlns:a16="http://schemas.microsoft.com/office/drawing/2014/main" id="{5A8ABD60-2DDB-441A-AF85-DEA0EC653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4514850"/>
            <a:ext cx="22955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序列＋解释参数</a:t>
            </a:r>
          </a:p>
        </p:txBody>
      </p:sp>
      <p:sp>
        <p:nvSpPr>
          <p:cNvPr id="24" name="tree-focus">
            <a:extLst xmlns:a="http://schemas.openxmlformats.org/drawingml/2006/main">
              <a:ext uri="{FF2B5EF4-FFF2-40B4-BE49-F238E27FC236}">
                <a16:creationId xmlns:a16="http://schemas.microsoft.com/office/drawing/2014/main" id="{3A07B3B0-42FE-462D-A6BA-BEB0DD950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438650"/>
            <a:ext cx="26003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0000"/>
            </a:solidFill>
          </a:ln>
        </p:spPr>
      </p:sp>
      <p:sp>
        <p:nvSpPr>
          <p:cNvPr id="25" name="tree-new">
            <a:extLst xmlns:a="http://schemas.openxmlformats.org/drawingml/2006/main">
              <a:ext uri="{FF2B5EF4-FFF2-40B4-BE49-F238E27FC236}">
                <a16:creationId xmlns:a16="http://schemas.microsoft.com/office/drawing/2014/main" id="{E372D916-86ED-4957-A75D-D6D45A933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62915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新增</a:t>
            </a:r>
          </a:p>
        </p:txBody>
      </p:sp>
    </p:spTree>
    <p:extLst>
      <p:ext uri="{BB962C8B-B14F-4D97-AF65-F5344CB8AC3E}">
        <p14:creationId xmlns:p14="http://schemas.microsoft.com/office/powerpoint/2010/main" val="84159868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op-rail">
            <a:extLst xmlns:a="http://schemas.openxmlformats.org/drawingml/2006/main">
              <a:ext uri="{FF2B5EF4-FFF2-40B4-BE49-F238E27FC236}">
                <a16:creationId xmlns:a16="http://schemas.microsoft.com/office/drawing/2014/main" id="{D1E20C84-0001-4828-94B9-F504956BC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90F4E051-78DD-465E-A59F-8BB239178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6FBC8242-1CA0-4F88-9545-7B2500410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只增加采样率，声音会怎样？</a:t>
            </a:r>
          </a:p>
        </p:txBody>
      </p:sp>
      <p:sp>
        <p:nvSpPr>
          <p:cNvPr id="4" name="given-0">
            <a:extLst xmlns:a="http://schemas.openxmlformats.org/drawingml/2006/main">
              <a:ext uri="{FF2B5EF4-FFF2-40B4-BE49-F238E27FC236}">
                <a16:creationId xmlns:a16="http://schemas.microsoft.com/office/drawing/2014/main" id="{FB71319A-F626-449D-8746-CDD745B73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同一段6秒音乐，单声道、16bit。</a:t>
            </a:r>
          </a:p>
        </p:txBody>
      </p:sp>
      <p:sp>
        <p:nvSpPr>
          <p:cNvPr id="5" name="given-1">
            <a:extLst xmlns:a="http://schemas.openxmlformats.org/drawingml/2006/main">
              <a:ext uri="{FF2B5EF4-FFF2-40B4-BE49-F238E27FC236}">
                <a16:creationId xmlns:a16="http://schemas.microsoft.com/office/drawing/2014/main" id="{06E60F15-F786-4A4A-B7EC-C307C124B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比较8kHz与44.1kHz，其他条件不变。</a:t>
            </a:r>
          </a:p>
        </p:txBody>
      </p:sp>
      <p:sp>
        <p:nvSpPr>
          <p:cNvPr id="6" name="given-2">
            <a:extLst xmlns:a="http://schemas.openxmlformats.org/drawingml/2006/main">
              <a:ext uri="{FF2B5EF4-FFF2-40B4-BE49-F238E27FC236}">
                <a16:creationId xmlns:a16="http://schemas.microsoft.com/office/drawing/2014/main" id="{57084FB8-16CC-4CEC-97AC-B76E536FD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改变的是播放速度，还是保留的细节？</a:t>
            </a:r>
          </a:p>
        </p:txBody>
      </p:sp>
    </p:spTree>
    <p:extLst>
      <p:ext uri="{BB962C8B-B14F-4D97-AF65-F5344CB8AC3E}">
        <p14:creationId xmlns:p14="http://schemas.microsoft.com/office/powerpoint/2010/main" val="9891310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rail">
            <a:extLst xmlns:a="http://schemas.openxmlformats.org/drawingml/2006/main">
              <a:ext uri="{FF2B5EF4-FFF2-40B4-BE49-F238E27FC236}">
                <a16:creationId xmlns:a16="http://schemas.microsoft.com/office/drawing/2014/main" id="{D1E20C84-0001-4828-94B9-F504956BC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90F4E051-78DD-465E-A59F-8BB239178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6FBC8242-1CA0-4F88-9545-7B2500410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只增加采样率，声音会怎样？</a:t>
            </a:r>
          </a:p>
        </p:txBody>
      </p:sp>
      <p:sp>
        <p:nvSpPr>
          <p:cNvPr id="4" name="given-0">
            <a:extLst xmlns:a="http://schemas.openxmlformats.org/drawingml/2006/main">
              <a:ext uri="{FF2B5EF4-FFF2-40B4-BE49-F238E27FC236}">
                <a16:creationId xmlns:a16="http://schemas.microsoft.com/office/drawing/2014/main" id="{FB71319A-F626-449D-8746-CDD745B73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同一段6秒音乐，单声道、16bit。</a:t>
            </a:r>
          </a:p>
        </p:txBody>
      </p:sp>
      <p:sp>
        <p:nvSpPr>
          <p:cNvPr id="5" name="given-1">
            <a:extLst xmlns:a="http://schemas.openxmlformats.org/drawingml/2006/main">
              <a:ext uri="{FF2B5EF4-FFF2-40B4-BE49-F238E27FC236}">
                <a16:creationId xmlns:a16="http://schemas.microsoft.com/office/drawing/2014/main" id="{06E60F15-F786-4A4A-B7EC-C307C124B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比较8kHz与44.1kHz，其他条件不变。</a:t>
            </a:r>
          </a:p>
        </p:txBody>
      </p:sp>
      <p:sp>
        <p:nvSpPr>
          <p:cNvPr id="6" name="given-2">
            <a:extLst xmlns:a="http://schemas.openxmlformats.org/drawingml/2006/main">
              <a:ext uri="{FF2B5EF4-FFF2-40B4-BE49-F238E27FC236}">
                <a16:creationId xmlns:a16="http://schemas.microsoft.com/office/drawing/2014/main" id="{57084FB8-16CC-4CEC-97AC-B76E536FD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改变的是播放速度，还是保留的细节？</a:t>
            </a:r>
          </a:p>
        </p:txBody>
      </p:sp>
      <p:sp>
        <p:nvSpPr>
          <p:cNvPr id="7" name="line">
            <a:extLst xmlns:a="http://schemas.openxmlformats.org/drawingml/2006/main">
              <a:ext uri="{FF2B5EF4-FFF2-40B4-BE49-F238E27FC236}">
                <a16:creationId xmlns:a16="http://schemas.microsoft.com/office/drawing/2014/main" id="{1CD97DAA-638B-4524-A39A-4AEE305F2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10972800" cy="9525"/>
          </a:xfrm>
          <a:custGeom xmlns:a="http://schemas.openxmlformats.org/drawingml/2006/main"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8DF"/>
            </a:solidFill>
          </a:ln>
        </p:spPr>
      </p:sp>
      <p:sp>
        <p:nvSpPr>
          <p:cNvPr id="8" name="answer-0">
            <a:extLst xmlns:a="http://schemas.openxmlformats.org/drawingml/2006/main">
              <a:ext uri="{FF2B5EF4-FFF2-40B4-BE49-F238E27FC236}">
                <a16:creationId xmlns:a16="http://schemas.microsoft.com/office/drawing/2014/main" id="{E62B0377-EE3C-4CD0-A472-F65BFB9BA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正确播放仍为6秒。</a:t>
            </a:r>
          </a:p>
        </p:txBody>
      </p:sp>
      <p:sp>
        <p:nvSpPr>
          <p:cNvPr id="9" name="answer-1">
            <a:extLst xmlns:a="http://schemas.openxmlformats.org/drawingml/2006/main">
              <a:ext uri="{FF2B5EF4-FFF2-40B4-BE49-F238E27FC236}">
                <a16:creationId xmlns:a16="http://schemas.microsoft.com/office/drawing/2014/main" id="{204B98FF-6C0D-4724-A2B3-13CAB6723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577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采样率影响可保留的频率范围。</a:t>
            </a:r>
          </a:p>
        </p:txBody>
      </p:sp>
      <p:sp>
        <p:nvSpPr>
          <p:cNvPr id="10" name="answer-2">
            <a:extLst xmlns:a="http://schemas.openxmlformats.org/drawingml/2006/main">
              <a:ext uri="{FF2B5EF4-FFF2-40B4-BE49-F238E27FC236}">
                <a16:creationId xmlns:a16="http://schemas.microsoft.com/office/drawing/2014/main" id="{E088072B-BBCC-43F7-9306-3306C8353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2442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给定带限规则：fs须高于2fmax；实际需滤波余量。</a:t>
            </a:r>
          </a:p>
        </p:txBody>
      </p:sp>
    </p:spTree>
    <p:extLst>
      <p:ext uri="{BB962C8B-B14F-4D97-AF65-F5344CB8AC3E}">
        <p14:creationId xmlns:p14="http://schemas.microsoft.com/office/powerpoint/2010/main" val="98913108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op-rail">
            <a:extLst xmlns:a="http://schemas.openxmlformats.org/drawingml/2006/main">
              <a:ext uri="{FF2B5EF4-FFF2-40B4-BE49-F238E27FC236}">
                <a16:creationId xmlns:a16="http://schemas.microsoft.com/office/drawing/2014/main" id="{BF295BEB-F80D-4778-BC1A-781E5E3AC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1FC9048A-C9E5-46A8-9776-51B15B02F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D34C557A-538F-4C51-8BE7-8A8D14F27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8kHz采样能保留6kHz纯音吗？</a:t>
            </a:r>
          </a:p>
        </p:txBody>
      </p:sp>
      <p:sp>
        <p:nvSpPr>
          <p:cNvPr id="4" name="given-0">
            <a:extLst xmlns:a="http://schemas.openxmlformats.org/drawingml/2006/main">
              <a:ext uri="{FF2B5EF4-FFF2-40B4-BE49-F238E27FC236}">
                <a16:creationId xmlns:a16="http://schemas.microsoft.com/office/drawing/2014/main" id="{9A9D1E6B-555D-43F8-A449-9DE316306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带限理想条件：fs &gt; 2fmax。</a:t>
            </a:r>
          </a:p>
        </p:txBody>
      </p:sp>
      <p:sp>
        <p:nvSpPr>
          <p:cNvPr id="5" name="given-1">
            <a:extLst xmlns:a="http://schemas.openxmlformats.org/drawingml/2006/main">
              <a:ext uri="{FF2B5EF4-FFF2-40B4-BE49-F238E27FC236}">
                <a16:creationId xmlns:a16="http://schemas.microsoft.com/office/drawing/2014/main" id="{878F1146-3E64-4A40-B856-E48F6F98E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最高频率6kHz，采样率8kHz。</a:t>
            </a:r>
          </a:p>
        </p:txBody>
      </p:sp>
      <p:sp>
        <p:nvSpPr>
          <p:cNvPr id="6" name="given-2">
            <a:extLst xmlns:a="http://schemas.openxmlformats.org/drawingml/2006/main">
              <a:ext uri="{FF2B5EF4-FFF2-40B4-BE49-F238E27FC236}">
                <a16:creationId xmlns:a16="http://schemas.microsoft.com/office/drawing/2014/main" id="{682589AE-C45A-4E68-A561-473BCCC8D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先用条件判断，再观察转换结果。</a:t>
            </a:r>
          </a:p>
        </p:txBody>
      </p:sp>
    </p:spTree>
    <p:extLst>
      <p:ext uri="{BB962C8B-B14F-4D97-AF65-F5344CB8AC3E}">
        <p14:creationId xmlns:p14="http://schemas.microsoft.com/office/powerpoint/2010/main" val="1441873859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op-rail">
            <a:extLst xmlns:a="http://schemas.openxmlformats.org/drawingml/2006/main">
              <a:ext uri="{FF2B5EF4-FFF2-40B4-BE49-F238E27FC236}">
                <a16:creationId xmlns:a16="http://schemas.microsoft.com/office/drawing/2014/main" id="{BF295BEB-F80D-4778-BC1A-781E5E3AC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1FC9048A-C9E5-46A8-9776-51B15B02F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D34C557A-538F-4C51-8BE7-8A8D14F27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8kHz采样能保留6kHz纯音吗？</a:t>
            </a:r>
          </a:p>
        </p:txBody>
      </p:sp>
      <p:sp>
        <p:nvSpPr>
          <p:cNvPr id="4" name="given-0">
            <a:extLst xmlns:a="http://schemas.openxmlformats.org/drawingml/2006/main">
              <a:ext uri="{FF2B5EF4-FFF2-40B4-BE49-F238E27FC236}">
                <a16:creationId xmlns:a16="http://schemas.microsoft.com/office/drawing/2014/main" id="{9A9D1E6B-555D-43F8-A449-9DE316306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带限理想条件：fs &gt; 2fmax。</a:t>
            </a:r>
          </a:p>
        </p:txBody>
      </p:sp>
      <p:sp>
        <p:nvSpPr>
          <p:cNvPr id="5" name="given-1">
            <a:extLst xmlns:a="http://schemas.openxmlformats.org/drawingml/2006/main">
              <a:ext uri="{FF2B5EF4-FFF2-40B4-BE49-F238E27FC236}">
                <a16:creationId xmlns:a16="http://schemas.microsoft.com/office/drawing/2014/main" id="{878F1146-3E64-4A40-B856-E48F6F98E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最高频率6kHz，采样率8kHz。</a:t>
            </a:r>
          </a:p>
        </p:txBody>
      </p:sp>
      <p:sp>
        <p:nvSpPr>
          <p:cNvPr id="6" name="given-2">
            <a:extLst xmlns:a="http://schemas.openxmlformats.org/drawingml/2006/main">
              <a:ext uri="{FF2B5EF4-FFF2-40B4-BE49-F238E27FC236}">
                <a16:creationId xmlns:a16="http://schemas.microsoft.com/office/drawing/2014/main" id="{682589AE-C45A-4E68-A561-473BCCC8D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先用条件判断，再观察转换结果。</a:t>
            </a:r>
          </a:p>
        </p:txBody>
      </p:sp>
      <p:sp>
        <p:nvSpPr>
          <p:cNvPr id="7" name="line">
            <a:extLst xmlns:a="http://schemas.openxmlformats.org/drawingml/2006/main">
              <a:ext uri="{FF2B5EF4-FFF2-40B4-BE49-F238E27FC236}">
                <a16:creationId xmlns:a16="http://schemas.microsoft.com/office/drawing/2014/main" id="{6BD1BFA8-2A22-46DE-8C9D-598D5E9AD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10972800" cy="9525"/>
          </a:xfrm>
          <a:custGeom xmlns:a="http://schemas.openxmlformats.org/drawingml/2006/main"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8DF"/>
            </a:solidFill>
          </a:ln>
        </p:spPr>
      </p:sp>
      <p:sp>
        <p:nvSpPr>
          <p:cNvPr id="8" name="answer-0">
            <a:extLst xmlns:a="http://schemas.openxmlformats.org/drawingml/2006/main">
              <a:ext uri="{FF2B5EF4-FFF2-40B4-BE49-F238E27FC236}">
                <a16:creationId xmlns:a16="http://schemas.microsoft.com/office/drawing/2014/main" id="{4AA3A322-552F-4515-9F9A-94929DE34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6kHz要求fs &gt; 12kHz，8kHz不足。</a:t>
            </a:r>
          </a:p>
        </p:txBody>
      </p:sp>
      <p:sp>
        <p:nvSpPr>
          <p:cNvPr id="9" name="answer-1">
            <a:extLst xmlns:a="http://schemas.openxmlformats.org/drawingml/2006/main">
              <a:ext uri="{FF2B5EF4-FFF2-40B4-BE49-F238E27FC236}">
                <a16:creationId xmlns:a16="http://schemas.microsoft.com/office/drawing/2014/main" id="{DB18FBFA-200B-4B3C-92A7-3C177CF75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577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正常降采样先低通；本例高频被滤除。</a:t>
            </a:r>
          </a:p>
        </p:txBody>
      </p:sp>
    </p:spTree>
    <p:extLst>
      <p:ext uri="{BB962C8B-B14F-4D97-AF65-F5344CB8AC3E}">
        <p14:creationId xmlns:p14="http://schemas.microsoft.com/office/powerpoint/2010/main" val="1441873859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op-rail">
            <a:extLst xmlns:a="http://schemas.openxmlformats.org/drawingml/2006/main">
              <a:ext uri="{FF2B5EF4-FFF2-40B4-BE49-F238E27FC236}">
                <a16:creationId xmlns:a16="http://schemas.microsoft.com/office/drawing/2014/main" id="{502BFA8C-9B04-4925-947C-F4E2234D0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D0CF454F-FF8B-49EC-8B19-D6648ADB9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DD9E7277-D9A1-4602-A119-40C7B0FA9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采样率越高，听起来一定越好吗？</a:t>
            </a:r>
          </a:p>
        </p:txBody>
      </p:sp>
      <p:sp>
        <p:nvSpPr>
          <p:cNvPr id="4" name="given-0">
            <a:extLst xmlns:a="http://schemas.openxmlformats.org/drawingml/2006/main">
              <a:ext uri="{FF2B5EF4-FFF2-40B4-BE49-F238E27FC236}">
                <a16:creationId xmlns:a16="http://schemas.microsoft.com/office/drawing/2014/main" id="{7BCCEA8E-376A-4195-86F4-B1C20145E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一段信号只含8kHz以下的频率。</a:t>
            </a:r>
          </a:p>
        </p:txBody>
      </p:sp>
      <p:sp>
        <p:nvSpPr>
          <p:cNvPr id="5" name="given-1">
            <a:extLst xmlns:a="http://schemas.openxmlformats.org/drawingml/2006/main">
              <a:ext uri="{FF2B5EF4-FFF2-40B4-BE49-F238E27FC236}">
                <a16:creationId xmlns:a16="http://schemas.microsoft.com/office/drawing/2014/main" id="{5D93A571-E5DD-45BC-82DA-AF9BD8B6F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32kHz已满足条件，改成96kHz一定更好听吗？</a:t>
            </a:r>
          </a:p>
        </p:txBody>
      </p:sp>
    </p:spTree>
    <p:extLst>
      <p:ext uri="{BB962C8B-B14F-4D97-AF65-F5344CB8AC3E}">
        <p14:creationId xmlns:p14="http://schemas.microsoft.com/office/powerpoint/2010/main" val="1836083065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op-rail">
            <a:extLst xmlns:a="http://schemas.openxmlformats.org/drawingml/2006/main">
              <a:ext uri="{FF2B5EF4-FFF2-40B4-BE49-F238E27FC236}">
                <a16:creationId xmlns:a16="http://schemas.microsoft.com/office/drawing/2014/main" id="{502BFA8C-9B04-4925-947C-F4E2234D0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D0CF454F-FF8B-49EC-8B19-D6648ADB9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DD9E7277-D9A1-4602-A119-40C7B0FA9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采样率越高，听起来一定越好吗？</a:t>
            </a:r>
          </a:p>
        </p:txBody>
      </p:sp>
      <p:sp>
        <p:nvSpPr>
          <p:cNvPr id="4" name="given-0">
            <a:extLst xmlns:a="http://schemas.openxmlformats.org/drawingml/2006/main">
              <a:ext uri="{FF2B5EF4-FFF2-40B4-BE49-F238E27FC236}">
                <a16:creationId xmlns:a16="http://schemas.microsoft.com/office/drawing/2014/main" id="{7BCCEA8E-376A-4195-86F4-B1C20145E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一段信号只含8kHz以下的频率。</a:t>
            </a:r>
          </a:p>
        </p:txBody>
      </p:sp>
      <p:sp>
        <p:nvSpPr>
          <p:cNvPr id="5" name="given-1">
            <a:extLst xmlns:a="http://schemas.openxmlformats.org/drawingml/2006/main">
              <a:ext uri="{FF2B5EF4-FFF2-40B4-BE49-F238E27FC236}">
                <a16:creationId xmlns:a16="http://schemas.microsoft.com/office/drawing/2014/main" id="{5D93A571-E5DD-45BC-82DA-AF9BD8B6F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32kHz已满足条件，改成96kHz一定更好听吗？</a:t>
            </a:r>
          </a:p>
        </p:txBody>
      </p:sp>
      <p:sp>
        <p:nvSpPr>
          <p:cNvPr id="6" name="line">
            <a:extLst xmlns:a="http://schemas.openxmlformats.org/drawingml/2006/main">
              <a:ext uri="{FF2B5EF4-FFF2-40B4-BE49-F238E27FC236}">
                <a16:creationId xmlns:a16="http://schemas.microsoft.com/office/drawing/2014/main" id="{14594815-29FD-4E71-B27E-DD4FED63A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10972800" cy="9525"/>
          </a:xfrm>
          <a:custGeom xmlns:a="http://schemas.openxmlformats.org/drawingml/2006/main"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8DF"/>
            </a:solidFill>
          </a:ln>
        </p:spPr>
      </p:sp>
      <p:sp>
        <p:nvSpPr>
          <p:cNvPr id="7" name="answer-0">
            <a:extLst xmlns:a="http://schemas.openxmlformats.org/drawingml/2006/main">
              <a:ext uri="{FF2B5EF4-FFF2-40B4-BE49-F238E27FC236}">
                <a16:creationId xmlns:a16="http://schemas.microsoft.com/office/drawing/2014/main" id="{8CAEAFC6-C14F-49D2-869E-0ED470EC3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更高采样率增加样本数和存储量。</a:t>
            </a:r>
          </a:p>
        </p:txBody>
      </p:sp>
      <p:sp>
        <p:nvSpPr>
          <p:cNvPr id="8" name="answer-1">
            <a:extLst xmlns:a="http://schemas.openxmlformats.org/drawingml/2006/main">
              <a:ext uri="{FF2B5EF4-FFF2-40B4-BE49-F238E27FC236}">
                <a16:creationId xmlns:a16="http://schemas.microsoft.com/office/drawing/2014/main" id="{7C617755-7916-4414-AD6B-3BD99F75D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577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已经足够时，不保证可闻改善。</a:t>
            </a:r>
          </a:p>
        </p:txBody>
      </p:sp>
      <p:sp>
        <p:nvSpPr>
          <p:cNvPr id="9" name="answer-2">
            <a:extLst xmlns:a="http://schemas.openxmlformats.org/drawingml/2006/main">
              <a:ext uri="{FF2B5EF4-FFF2-40B4-BE49-F238E27FC236}">
                <a16:creationId xmlns:a16="http://schemas.microsoft.com/office/drawing/2014/main" id="{8C99E1EA-7281-498C-B6DD-6C26649A8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2442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录音来源、设备和处理也影响听感。</a:t>
            </a:r>
          </a:p>
        </p:txBody>
      </p:sp>
    </p:spTree>
    <p:extLst>
      <p:ext uri="{BB962C8B-B14F-4D97-AF65-F5344CB8AC3E}">
        <p14:creationId xmlns:p14="http://schemas.microsoft.com/office/powerpoint/2010/main" val="1836083065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op-rail">
            <a:extLst xmlns:a="http://schemas.openxmlformats.org/drawingml/2006/main">
              <a:ext uri="{FF2B5EF4-FFF2-40B4-BE49-F238E27FC236}">
                <a16:creationId xmlns:a16="http://schemas.microsoft.com/office/drawing/2014/main" id="{C03A28A3-D24E-467A-95FC-A17E8D196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DE4D4EA9-14FB-44C4-899F-02E50F42F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26BCA2D3-A3B1-4B4C-8087-F6B7BBE17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采样时刻不变，怎样减小量化误差？</a:t>
            </a:r>
          </a:p>
        </p:txBody>
      </p:sp>
      <p:sp>
        <p:nvSpPr>
          <p:cNvPr id="4" name="given-0">
            <a:extLst xmlns:a="http://schemas.openxmlformats.org/drawingml/2006/main">
              <a:ext uri="{FF2B5EF4-FFF2-40B4-BE49-F238E27FC236}">
                <a16:creationId xmlns:a16="http://schemas.microsoft.com/office/drawing/2014/main" id="{1BE44275-DE12-465B-9288-23A286986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同一批样本，幅度范围固定。</a:t>
            </a:r>
          </a:p>
        </p:txBody>
      </p:sp>
      <p:sp>
        <p:nvSpPr>
          <p:cNvPr id="5" name="given-1">
            <a:extLst xmlns:a="http://schemas.openxmlformats.org/drawingml/2006/main">
              <a:ext uri="{FF2B5EF4-FFF2-40B4-BE49-F238E27FC236}">
                <a16:creationId xmlns:a16="http://schemas.microsoft.com/office/drawing/2014/main" id="{6596AFBF-6B79-44AB-AF43-26668D9AE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2bit与4bit量化，哪一种近似更细？</a:t>
            </a:r>
          </a:p>
        </p:txBody>
      </p:sp>
    </p:spTree>
    <p:extLst>
      <p:ext uri="{BB962C8B-B14F-4D97-AF65-F5344CB8AC3E}">
        <p14:creationId xmlns:p14="http://schemas.microsoft.com/office/powerpoint/2010/main" val="1001497349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6" name="top-rail">
            <a:extLst xmlns:a="http://schemas.openxmlformats.org/drawingml/2006/main">
              <a:ext uri="{FF2B5EF4-FFF2-40B4-BE49-F238E27FC236}">
                <a16:creationId xmlns:a16="http://schemas.microsoft.com/office/drawing/2014/main" id="{C03A28A3-D24E-467A-95FC-A17E8D196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DE4D4EA9-14FB-44C4-899F-02E50F42F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26BCA2D3-A3B1-4B4C-8087-F6B7BBE17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采样时刻不变，怎样减小量化误差？</a:t>
            </a:r>
          </a:p>
        </p:txBody>
      </p:sp>
      <p:sp>
        <p:nvSpPr>
          <p:cNvPr id="4" name="given-0">
            <a:extLst xmlns:a="http://schemas.openxmlformats.org/drawingml/2006/main">
              <a:ext uri="{FF2B5EF4-FFF2-40B4-BE49-F238E27FC236}">
                <a16:creationId xmlns:a16="http://schemas.microsoft.com/office/drawing/2014/main" id="{1BE44275-DE12-465B-9288-23A286986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同一批样本，幅度范围固定。</a:t>
            </a:r>
          </a:p>
        </p:txBody>
      </p:sp>
      <p:sp>
        <p:nvSpPr>
          <p:cNvPr id="5" name="given-1">
            <a:extLst xmlns:a="http://schemas.openxmlformats.org/drawingml/2006/main">
              <a:ext uri="{FF2B5EF4-FFF2-40B4-BE49-F238E27FC236}">
                <a16:creationId xmlns:a16="http://schemas.microsoft.com/office/drawing/2014/main" id="{6596AFBF-6B79-44AB-AF43-26668D9AE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2bit与4bit量化，哪一种近似更细？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F8A7EB4-FB9C-494D-9EDF-913DC5557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67000"/>
            <a:ext cx="4476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2 bit：4级</a:t>
            </a:r>
          </a:p>
        </p:txBody>
      </p:sp>
      <p:sp>
        <p:nvSpPr>
          <p:cNvPr id="7" name="line">
            <a:extLst xmlns:a="http://schemas.openxmlformats.org/drawingml/2006/main">
              <a:ext uri="{FF2B5EF4-FFF2-40B4-BE49-F238E27FC236}">
                <a16:creationId xmlns:a16="http://schemas.microsoft.com/office/drawing/2014/main" id="{4BF5144B-DB7F-45D6-9D6D-2C95B5336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14750"/>
            <a:ext cx="4191000" cy="9525"/>
          </a:xfrm>
          <a:custGeom xmlns:a="http://schemas.openxmlformats.org/drawingml/2006/main">
            <a:pathLst>
              <a:path w="4191000" h="9525">
                <a:moveTo>
                  <a:pt x="0" y="0"/>
                </a:moveTo>
                <a:lnTo>
                  <a:pt x="4191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8DF"/>
            </a:solidFill>
          </a:ln>
        </p:spPr>
      </p:sp>
      <p:sp>
        <p:nvSpPr>
          <p:cNvPr id="8" name="reference-wave">
            <a:extLst xmlns:a="http://schemas.openxmlformats.org/drawingml/2006/main">
              <a:ext uri="{FF2B5EF4-FFF2-40B4-BE49-F238E27FC236}">
                <a16:creationId xmlns:a16="http://schemas.microsoft.com/office/drawing/2014/main" id="{DD3A8ABC-95BF-4BE7-B89D-4EA877B68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09595"/>
            <a:ext cx="4191000" cy="1010311"/>
          </a:xfrm>
          <a:custGeom xmlns:a="http://schemas.openxmlformats.org/drawingml/2006/main">
            <a:pathLst>
              <a:path w="4191000" h="1010311">
                <a:moveTo>
                  <a:pt x="0" y="355857"/>
                </a:moveTo>
                <a:lnTo>
                  <a:pt x="17462" y="330802"/>
                </a:lnTo>
                <a:lnTo>
                  <a:pt x="34925" y="306225"/>
                </a:lnTo>
                <a:lnTo>
                  <a:pt x="52388" y="282193"/>
                </a:lnTo>
                <a:lnTo>
                  <a:pt x="69850" y="258772"/>
                </a:lnTo>
                <a:lnTo>
                  <a:pt x="87312" y="236027"/>
                </a:lnTo>
                <a:lnTo>
                  <a:pt x="104775" y="214019"/>
                </a:lnTo>
                <a:lnTo>
                  <a:pt x="122238" y="192810"/>
                </a:lnTo>
                <a:lnTo>
                  <a:pt x="139700" y="172456"/>
                </a:lnTo>
                <a:lnTo>
                  <a:pt x="157163" y="153015"/>
                </a:lnTo>
                <a:lnTo>
                  <a:pt x="174625" y="134538"/>
                </a:lnTo>
                <a:lnTo>
                  <a:pt x="192087" y="117078"/>
                </a:lnTo>
                <a:lnTo>
                  <a:pt x="209550" y="100681"/>
                </a:lnTo>
                <a:lnTo>
                  <a:pt x="227013" y="85392"/>
                </a:lnTo>
                <a:lnTo>
                  <a:pt x="244475" y="71255"/>
                </a:lnTo>
                <a:lnTo>
                  <a:pt x="261938" y="58306"/>
                </a:lnTo>
                <a:lnTo>
                  <a:pt x="279400" y="46582"/>
                </a:lnTo>
                <a:lnTo>
                  <a:pt x="296862" y="36116"/>
                </a:lnTo>
                <a:lnTo>
                  <a:pt x="314325" y="26934"/>
                </a:lnTo>
                <a:lnTo>
                  <a:pt x="331788" y="19064"/>
                </a:lnTo>
                <a:lnTo>
                  <a:pt x="349250" y="12526"/>
                </a:lnTo>
                <a:lnTo>
                  <a:pt x="366713" y="7338"/>
                </a:lnTo>
                <a:lnTo>
                  <a:pt x="384175" y="3515"/>
                </a:lnTo>
                <a:lnTo>
                  <a:pt x="401637" y="1067"/>
                </a:lnTo>
                <a:lnTo>
                  <a:pt x="419100" y="0"/>
                </a:lnTo>
                <a:lnTo>
                  <a:pt x="436563" y="318"/>
                </a:lnTo>
                <a:lnTo>
                  <a:pt x="454025" y="2020"/>
                </a:lnTo>
                <a:lnTo>
                  <a:pt x="471488" y="5100"/>
                </a:lnTo>
                <a:lnTo>
                  <a:pt x="488950" y="9552"/>
                </a:lnTo>
                <a:lnTo>
                  <a:pt x="506412" y="15361"/>
                </a:lnTo>
                <a:lnTo>
                  <a:pt x="523875" y="22514"/>
                </a:lnTo>
                <a:lnTo>
                  <a:pt x="541338" y="30989"/>
                </a:lnTo>
                <a:lnTo>
                  <a:pt x="558800" y="40764"/>
                </a:lnTo>
                <a:lnTo>
                  <a:pt x="576263" y="51811"/>
                </a:lnTo>
                <a:lnTo>
                  <a:pt x="593725" y="64101"/>
                </a:lnTo>
                <a:lnTo>
                  <a:pt x="611188" y="77601"/>
                </a:lnTo>
                <a:lnTo>
                  <a:pt x="628650" y="92272"/>
                </a:lnTo>
                <a:lnTo>
                  <a:pt x="646112" y="108074"/>
                </a:lnTo>
                <a:lnTo>
                  <a:pt x="663575" y="124965"/>
                </a:lnTo>
                <a:lnTo>
                  <a:pt x="681038" y="142899"/>
                </a:lnTo>
                <a:lnTo>
                  <a:pt x="698500" y="161825"/>
                </a:lnTo>
                <a:lnTo>
                  <a:pt x="715963" y="181692"/>
                </a:lnTo>
                <a:lnTo>
                  <a:pt x="733425" y="202446"/>
                </a:lnTo>
                <a:lnTo>
                  <a:pt x="750887" y="224029"/>
                </a:lnTo>
                <a:lnTo>
                  <a:pt x="768350" y="246383"/>
                </a:lnTo>
                <a:lnTo>
                  <a:pt x="785813" y="269446"/>
                </a:lnTo>
                <a:lnTo>
                  <a:pt x="803275" y="293155"/>
                </a:lnTo>
                <a:lnTo>
                  <a:pt x="820738" y="317446"/>
                </a:lnTo>
                <a:lnTo>
                  <a:pt x="838200" y="342251"/>
                </a:lnTo>
                <a:lnTo>
                  <a:pt x="855662" y="367502"/>
                </a:lnTo>
                <a:lnTo>
                  <a:pt x="873125" y="393131"/>
                </a:lnTo>
                <a:lnTo>
                  <a:pt x="890588" y="419067"/>
                </a:lnTo>
                <a:lnTo>
                  <a:pt x="908050" y="445238"/>
                </a:lnTo>
                <a:lnTo>
                  <a:pt x="925513" y="471574"/>
                </a:lnTo>
                <a:lnTo>
                  <a:pt x="942975" y="498002"/>
                </a:lnTo>
                <a:lnTo>
                  <a:pt x="960437" y="524450"/>
                </a:lnTo>
                <a:lnTo>
                  <a:pt x="977900" y="550845"/>
                </a:lnTo>
                <a:lnTo>
                  <a:pt x="995363" y="577114"/>
                </a:lnTo>
                <a:lnTo>
                  <a:pt x="1012825" y="603186"/>
                </a:lnTo>
                <a:lnTo>
                  <a:pt x="1030288" y="628990"/>
                </a:lnTo>
                <a:lnTo>
                  <a:pt x="1047750" y="654454"/>
                </a:lnTo>
                <a:lnTo>
                  <a:pt x="1065212" y="679509"/>
                </a:lnTo>
                <a:lnTo>
                  <a:pt x="1082675" y="704086"/>
                </a:lnTo>
                <a:lnTo>
                  <a:pt x="1100138" y="728118"/>
                </a:lnTo>
                <a:lnTo>
                  <a:pt x="1117600" y="751538"/>
                </a:lnTo>
                <a:lnTo>
                  <a:pt x="1135063" y="774284"/>
                </a:lnTo>
                <a:lnTo>
                  <a:pt x="1152525" y="796291"/>
                </a:lnTo>
                <a:lnTo>
                  <a:pt x="1169987" y="817501"/>
                </a:lnTo>
                <a:lnTo>
                  <a:pt x="1187450" y="837854"/>
                </a:lnTo>
                <a:lnTo>
                  <a:pt x="1204913" y="857296"/>
                </a:lnTo>
                <a:lnTo>
                  <a:pt x="1222375" y="875773"/>
                </a:lnTo>
                <a:lnTo>
                  <a:pt x="1239838" y="893233"/>
                </a:lnTo>
                <a:lnTo>
                  <a:pt x="1257300" y="909630"/>
                </a:lnTo>
                <a:lnTo>
                  <a:pt x="1274763" y="924918"/>
                </a:lnTo>
                <a:lnTo>
                  <a:pt x="1292225" y="939056"/>
                </a:lnTo>
                <a:lnTo>
                  <a:pt x="1309688" y="952005"/>
                </a:lnTo>
                <a:lnTo>
                  <a:pt x="1327150" y="963728"/>
                </a:lnTo>
                <a:lnTo>
                  <a:pt x="1344612" y="974195"/>
                </a:lnTo>
                <a:lnTo>
                  <a:pt x="1362075" y="983376"/>
                </a:lnTo>
                <a:lnTo>
                  <a:pt x="1379538" y="991247"/>
                </a:lnTo>
                <a:lnTo>
                  <a:pt x="1397000" y="997785"/>
                </a:lnTo>
                <a:lnTo>
                  <a:pt x="1414463" y="1002972"/>
                </a:lnTo>
                <a:lnTo>
                  <a:pt x="1431925" y="1006796"/>
                </a:lnTo>
                <a:lnTo>
                  <a:pt x="1449387" y="1009244"/>
                </a:lnTo>
                <a:lnTo>
                  <a:pt x="1466850" y="1010311"/>
                </a:lnTo>
                <a:lnTo>
                  <a:pt x="1484313" y="1009993"/>
                </a:lnTo>
                <a:lnTo>
                  <a:pt x="1501775" y="1008291"/>
                </a:lnTo>
                <a:lnTo>
                  <a:pt x="1519238" y="1005210"/>
                </a:lnTo>
                <a:lnTo>
                  <a:pt x="1536700" y="1000759"/>
                </a:lnTo>
                <a:lnTo>
                  <a:pt x="1554162" y="994949"/>
                </a:lnTo>
                <a:lnTo>
                  <a:pt x="1571625" y="987797"/>
                </a:lnTo>
                <a:lnTo>
                  <a:pt x="1589088" y="979322"/>
                </a:lnTo>
                <a:lnTo>
                  <a:pt x="1606550" y="969547"/>
                </a:lnTo>
                <a:lnTo>
                  <a:pt x="1624013" y="958500"/>
                </a:lnTo>
                <a:lnTo>
                  <a:pt x="1641475" y="946209"/>
                </a:lnTo>
                <a:lnTo>
                  <a:pt x="1658937" y="932710"/>
                </a:lnTo>
                <a:lnTo>
                  <a:pt x="1676400" y="918039"/>
                </a:lnTo>
                <a:lnTo>
                  <a:pt x="1693863" y="902236"/>
                </a:lnTo>
                <a:lnTo>
                  <a:pt x="1711325" y="885345"/>
                </a:lnTo>
                <a:lnTo>
                  <a:pt x="1728788" y="867412"/>
                </a:lnTo>
                <a:lnTo>
                  <a:pt x="1746250" y="848486"/>
                </a:lnTo>
                <a:lnTo>
                  <a:pt x="1763712" y="828619"/>
                </a:lnTo>
                <a:lnTo>
                  <a:pt x="1781175" y="807865"/>
                </a:lnTo>
                <a:lnTo>
                  <a:pt x="1798638" y="786282"/>
                </a:lnTo>
                <a:lnTo>
                  <a:pt x="1816100" y="763928"/>
                </a:lnTo>
                <a:lnTo>
                  <a:pt x="1833563" y="740865"/>
                </a:lnTo>
                <a:lnTo>
                  <a:pt x="1851025" y="717155"/>
                </a:lnTo>
                <a:lnTo>
                  <a:pt x="1868487" y="692865"/>
                </a:lnTo>
                <a:lnTo>
                  <a:pt x="1885950" y="668060"/>
                </a:lnTo>
                <a:lnTo>
                  <a:pt x="1903413" y="642809"/>
                </a:lnTo>
                <a:lnTo>
                  <a:pt x="1920875" y="617180"/>
                </a:lnTo>
                <a:lnTo>
                  <a:pt x="1938338" y="591244"/>
                </a:lnTo>
                <a:lnTo>
                  <a:pt x="1955800" y="565072"/>
                </a:lnTo>
                <a:lnTo>
                  <a:pt x="1973262" y="538736"/>
                </a:lnTo>
                <a:lnTo>
                  <a:pt x="1990725" y="512308"/>
                </a:lnTo>
                <a:lnTo>
                  <a:pt x="2008188" y="485861"/>
                </a:lnTo>
                <a:lnTo>
                  <a:pt x="2025650" y="459466"/>
                </a:lnTo>
                <a:lnTo>
                  <a:pt x="2043113" y="433197"/>
                </a:lnTo>
                <a:lnTo>
                  <a:pt x="2060575" y="407124"/>
                </a:lnTo>
                <a:lnTo>
                  <a:pt x="2078037" y="381321"/>
                </a:lnTo>
                <a:lnTo>
                  <a:pt x="2095500" y="355857"/>
                </a:lnTo>
                <a:lnTo>
                  <a:pt x="2112963" y="330802"/>
                </a:lnTo>
                <a:lnTo>
                  <a:pt x="2130425" y="306225"/>
                </a:lnTo>
                <a:lnTo>
                  <a:pt x="2147888" y="282193"/>
                </a:lnTo>
                <a:lnTo>
                  <a:pt x="2165350" y="258772"/>
                </a:lnTo>
                <a:lnTo>
                  <a:pt x="2182812" y="236027"/>
                </a:lnTo>
                <a:lnTo>
                  <a:pt x="2200275" y="214019"/>
                </a:lnTo>
                <a:lnTo>
                  <a:pt x="2217738" y="192810"/>
                </a:lnTo>
                <a:lnTo>
                  <a:pt x="2235200" y="172456"/>
                </a:lnTo>
                <a:lnTo>
                  <a:pt x="2252663" y="153015"/>
                </a:lnTo>
                <a:lnTo>
                  <a:pt x="2270125" y="134538"/>
                </a:lnTo>
                <a:lnTo>
                  <a:pt x="2287587" y="117078"/>
                </a:lnTo>
                <a:lnTo>
                  <a:pt x="2305050" y="100681"/>
                </a:lnTo>
                <a:lnTo>
                  <a:pt x="2322513" y="85392"/>
                </a:lnTo>
                <a:lnTo>
                  <a:pt x="2339975" y="71255"/>
                </a:lnTo>
                <a:lnTo>
                  <a:pt x="2357438" y="58306"/>
                </a:lnTo>
                <a:lnTo>
                  <a:pt x="2374900" y="46582"/>
                </a:lnTo>
                <a:lnTo>
                  <a:pt x="2392362" y="36116"/>
                </a:lnTo>
                <a:lnTo>
                  <a:pt x="2409825" y="26934"/>
                </a:lnTo>
                <a:lnTo>
                  <a:pt x="2427288" y="19064"/>
                </a:lnTo>
                <a:lnTo>
                  <a:pt x="2444750" y="12526"/>
                </a:lnTo>
                <a:lnTo>
                  <a:pt x="2462213" y="7338"/>
                </a:lnTo>
                <a:lnTo>
                  <a:pt x="2479675" y="3515"/>
                </a:lnTo>
                <a:lnTo>
                  <a:pt x="2497138" y="1067"/>
                </a:lnTo>
                <a:lnTo>
                  <a:pt x="2514600" y="0"/>
                </a:lnTo>
                <a:lnTo>
                  <a:pt x="2532063" y="318"/>
                </a:lnTo>
                <a:lnTo>
                  <a:pt x="2549525" y="2020"/>
                </a:lnTo>
                <a:lnTo>
                  <a:pt x="2566988" y="5100"/>
                </a:lnTo>
                <a:lnTo>
                  <a:pt x="2584450" y="9552"/>
                </a:lnTo>
                <a:lnTo>
                  <a:pt x="2601913" y="15361"/>
                </a:lnTo>
                <a:lnTo>
                  <a:pt x="2619375" y="22514"/>
                </a:lnTo>
                <a:lnTo>
                  <a:pt x="2636838" y="30989"/>
                </a:lnTo>
                <a:lnTo>
                  <a:pt x="2654300" y="40764"/>
                </a:lnTo>
                <a:lnTo>
                  <a:pt x="2671763" y="51811"/>
                </a:lnTo>
                <a:lnTo>
                  <a:pt x="2689225" y="64101"/>
                </a:lnTo>
                <a:lnTo>
                  <a:pt x="2706688" y="77601"/>
                </a:lnTo>
                <a:lnTo>
                  <a:pt x="2724150" y="92272"/>
                </a:lnTo>
                <a:lnTo>
                  <a:pt x="2741613" y="108074"/>
                </a:lnTo>
                <a:lnTo>
                  <a:pt x="2759075" y="124965"/>
                </a:lnTo>
                <a:lnTo>
                  <a:pt x="2776538" y="142899"/>
                </a:lnTo>
                <a:lnTo>
                  <a:pt x="2794000" y="161825"/>
                </a:lnTo>
                <a:lnTo>
                  <a:pt x="2811463" y="181692"/>
                </a:lnTo>
                <a:lnTo>
                  <a:pt x="2828925" y="202446"/>
                </a:lnTo>
                <a:lnTo>
                  <a:pt x="2846388" y="224029"/>
                </a:lnTo>
                <a:lnTo>
                  <a:pt x="2863850" y="246383"/>
                </a:lnTo>
                <a:lnTo>
                  <a:pt x="2881313" y="269446"/>
                </a:lnTo>
                <a:lnTo>
                  <a:pt x="2898775" y="293155"/>
                </a:lnTo>
                <a:lnTo>
                  <a:pt x="2916238" y="317446"/>
                </a:lnTo>
                <a:lnTo>
                  <a:pt x="2933700" y="342251"/>
                </a:lnTo>
                <a:lnTo>
                  <a:pt x="2951163" y="367502"/>
                </a:lnTo>
                <a:lnTo>
                  <a:pt x="2968625" y="393131"/>
                </a:lnTo>
                <a:lnTo>
                  <a:pt x="2986088" y="419067"/>
                </a:lnTo>
                <a:lnTo>
                  <a:pt x="3003550" y="445238"/>
                </a:lnTo>
                <a:lnTo>
                  <a:pt x="3021013" y="471574"/>
                </a:lnTo>
                <a:lnTo>
                  <a:pt x="3038475" y="498002"/>
                </a:lnTo>
                <a:lnTo>
                  <a:pt x="3055938" y="524450"/>
                </a:lnTo>
                <a:lnTo>
                  <a:pt x="3073400" y="550845"/>
                </a:lnTo>
                <a:lnTo>
                  <a:pt x="3090863" y="577114"/>
                </a:lnTo>
                <a:lnTo>
                  <a:pt x="3108325" y="603186"/>
                </a:lnTo>
                <a:lnTo>
                  <a:pt x="3125788" y="628990"/>
                </a:lnTo>
                <a:lnTo>
                  <a:pt x="3143250" y="654454"/>
                </a:lnTo>
                <a:lnTo>
                  <a:pt x="3160713" y="679509"/>
                </a:lnTo>
                <a:lnTo>
                  <a:pt x="3178175" y="704086"/>
                </a:lnTo>
                <a:lnTo>
                  <a:pt x="3195638" y="728118"/>
                </a:lnTo>
                <a:lnTo>
                  <a:pt x="3213100" y="751538"/>
                </a:lnTo>
                <a:lnTo>
                  <a:pt x="3230563" y="774284"/>
                </a:lnTo>
                <a:lnTo>
                  <a:pt x="3248025" y="796291"/>
                </a:lnTo>
                <a:lnTo>
                  <a:pt x="3265488" y="817501"/>
                </a:lnTo>
                <a:lnTo>
                  <a:pt x="3282950" y="837854"/>
                </a:lnTo>
                <a:lnTo>
                  <a:pt x="3300413" y="857296"/>
                </a:lnTo>
                <a:lnTo>
                  <a:pt x="3317875" y="875773"/>
                </a:lnTo>
                <a:lnTo>
                  <a:pt x="3335338" y="893233"/>
                </a:lnTo>
                <a:lnTo>
                  <a:pt x="3352800" y="909630"/>
                </a:lnTo>
                <a:lnTo>
                  <a:pt x="3370263" y="924918"/>
                </a:lnTo>
                <a:lnTo>
                  <a:pt x="3387725" y="939056"/>
                </a:lnTo>
                <a:lnTo>
                  <a:pt x="3405188" y="952005"/>
                </a:lnTo>
                <a:lnTo>
                  <a:pt x="3422650" y="963728"/>
                </a:lnTo>
                <a:lnTo>
                  <a:pt x="3440113" y="974195"/>
                </a:lnTo>
                <a:lnTo>
                  <a:pt x="3457575" y="983376"/>
                </a:lnTo>
                <a:lnTo>
                  <a:pt x="3475038" y="991247"/>
                </a:lnTo>
                <a:lnTo>
                  <a:pt x="3492500" y="997785"/>
                </a:lnTo>
                <a:lnTo>
                  <a:pt x="3509963" y="1002972"/>
                </a:lnTo>
                <a:lnTo>
                  <a:pt x="3527425" y="1006796"/>
                </a:lnTo>
                <a:lnTo>
                  <a:pt x="3544888" y="1009244"/>
                </a:lnTo>
                <a:lnTo>
                  <a:pt x="3562350" y="1010311"/>
                </a:lnTo>
                <a:lnTo>
                  <a:pt x="3579813" y="1009993"/>
                </a:lnTo>
                <a:lnTo>
                  <a:pt x="3597275" y="1008291"/>
                </a:lnTo>
                <a:lnTo>
                  <a:pt x="3614738" y="1005210"/>
                </a:lnTo>
                <a:lnTo>
                  <a:pt x="3632200" y="1000759"/>
                </a:lnTo>
                <a:lnTo>
                  <a:pt x="3649663" y="994949"/>
                </a:lnTo>
                <a:lnTo>
                  <a:pt x="3667125" y="987797"/>
                </a:lnTo>
                <a:lnTo>
                  <a:pt x="3684588" y="979322"/>
                </a:lnTo>
                <a:lnTo>
                  <a:pt x="3702050" y="969547"/>
                </a:lnTo>
                <a:lnTo>
                  <a:pt x="3719513" y="958500"/>
                </a:lnTo>
                <a:lnTo>
                  <a:pt x="3736975" y="946209"/>
                </a:lnTo>
                <a:lnTo>
                  <a:pt x="3754438" y="932710"/>
                </a:lnTo>
                <a:lnTo>
                  <a:pt x="3771900" y="918039"/>
                </a:lnTo>
                <a:lnTo>
                  <a:pt x="3789362" y="902236"/>
                </a:lnTo>
                <a:lnTo>
                  <a:pt x="3806825" y="885345"/>
                </a:lnTo>
                <a:lnTo>
                  <a:pt x="3824288" y="867412"/>
                </a:lnTo>
                <a:lnTo>
                  <a:pt x="3841750" y="848486"/>
                </a:lnTo>
                <a:lnTo>
                  <a:pt x="3859213" y="828619"/>
                </a:lnTo>
                <a:lnTo>
                  <a:pt x="3876675" y="807865"/>
                </a:lnTo>
                <a:lnTo>
                  <a:pt x="3894137" y="786282"/>
                </a:lnTo>
                <a:lnTo>
                  <a:pt x="3911600" y="763928"/>
                </a:lnTo>
                <a:lnTo>
                  <a:pt x="3929063" y="740865"/>
                </a:lnTo>
                <a:lnTo>
                  <a:pt x="3946525" y="717155"/>
                </a:lnTo>
                <a:lnTo>
                  <a:pt x="3963988" y="692865"/>
                </a:lnTo>
                <a:lnTo>
                  <a:pt x="3981450" y="668060"/>
                </a:lnTo>
                <a:lnTo>
                  <a:pt x="3998912" y="642809"/>
                </a:lnTo>
                <a:lnTo>
                  <a:pt x="4016375" y="617180"/>
                </a:lnTo>
                <a:lnTo>
                  <a:pt x="4033838" y="591244"/>
                </a:lnTo>
                <a:lnTo>
                  <a:pt x="4051300" y="565072"/>
                </a:lnTo>
                <a:lnTo>
                  <a:pt x="4068763" y="538736"/>
                </a:lnTo>
                <a:lnTo>
                  <a:pt x="4086225" y="512308"/>
                </a:lnTo>
                <a:lnTo>
                  <a:pt x="4103687" y="485861"/>
                </a:lnTo>
                <a:lnTo>
                  <a:pt x="4121150" y="459466"/>
                </a:lnTo>
                <a:lnTo>
                  <a:pt x="4138613" y="433197"/>
                </a:lnTo>
                <a:lnTo>
                  <a:pt x="4156075" y="407124"/>
                </a:lnTo>
                <a:lnTo>
                  <a:pt x="4173538" y="381321"/>
                </a:lnTo>
                <a:lnTo>
                  <a:pt x="4191000" y="355857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37373"/>
            </a:solidFill>
          </a:ln>
        </p:spPr>
      </p:sp>
      <p:sp>
        <p:nvSpPr>
          <p:cNvPr id="9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9C673473-97AC-43AC-8C48-FFCB9C4EE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29013"/>
            <a:ext cx="9525" cy="36439"/>
          </a:xfrm>
          <a:custGeom xmlns:a="http://schemas.openxmlformats.org/drawingml/2006/main">
            <a:pathLst>
              <a:path w="9525" h="36439">
                <a:moveTo>
                  <a:pt x="0" y="3643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10" name="sample">
            <a:extLst xmlns:a="http://schemas.openxmlformats.org/drawingml/2006/main">
              <a:ext uri="{FF2B5EF4-FFF2-40B4-BE49-F238E27FC236}">
                <a16:creationId xmlns:a16="http://schemas.microsoft.com/office/drawing/2014/main" id="{B4445343-F206-46E0-A5E9-0DFCA91CC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9091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1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84435B43-400A-485C-8D89-8260A8123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313" y="3445622"/>
            <a:ext cx="9525" cy="83391"/>
          </a:xfrm>
          <a:custGeom xmlns:a="http://schemas.openxmlformats.org/drawingml/2006/main">
            <a:pathLst>
              <a:path w="9525" h="83391">
                <a:moveTo>
                  <a:pt x="0" y="0"/>
                </a:moveTo>
                <a:lnTo>
                  <a:pt x="0" y="83391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12" name="sample">
            <a:extLst xmlns:a="http://schemas.openxmlformats.org/drawingml/2006/main">
              <a:ext uri="{FF2B5EF4-FFF2-40B4-BE49-F238E27FC236}">
                <a16:creationId xmlns:a16="http://schemas.microsoft.com/office/drawing/2014/main" id="{68907240-1A06-4E60-86BB-4116E4B89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213" y="349091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3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0B6A1B4F-0A2D-4504-9FBA-00CD6A591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625" y="3344133"/>
            <a:ext cx="9525" cy="184880"/>
          </a:xfrm>
          <a:custGeom xmlns:a="http://schemas.openxmlformats.org/drawingml/2006/main">
            <a:pathLst>
              <a:path w="9525" h="184880">
                <a:moveTo>
                  <a:pt x="0" y="0"/>
                </a:moveTo>
                <a:lnTo>
                  <a:pt x="0" y="18488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14" name="sample">
            <a:extLst xmlns:a="http://schemas.openxmlformats.org/drawingml/2006/main">
              <a:ext uri="{FF2B5EF4-FFF2-40B4-BE49-F238E27FC236}">
                <a16:creationId xmlns:a16="http://schemas.microsoft.com/office/drawing/2014/main" id="{EBDE25F5-D4A0-4EAC-BF27-C98B81F54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525" y="349091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5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58AFB960-BA02-4BD1-B7AE-7C6BEB3C4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938" y="3157538"/>
            <a:ext cx="9525" cy="110363"/>
          </a:xfrm>
          <a:custGeom xmlns:a="http://schemas.openxmlformats.org/drawingml/2006/main">
            <a:pathLst>
              <a:path w="9525" h="110363">
                <a:moveTo>
                  <a:pt x="0" y="11036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16" name="sample">
            <a:extLst xmlns:a="http://schemas.openxmlformats.org/drawingml/2006/main">
              <a:ext uri="{FF2B5EF4-FFF2-40B4-BE49-F238E27FC236}">
                <a16:creationId xmlns:a16="http://schemas.microsoft.com/office/drawing/2014/main" id="{A135C27C-B8F1-427C-BB95-9D74614F4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838" y="311943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7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0507ECA5-FB80-41C8-8BCE-B0A2423C5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2250" y="3157538"/>
            <a:ext cx="9525" cy="64583"/>
          </a:xfrm>
          <a:custGeom xmlns:a="http://schemas.openxmlformats.org/drawingml/2006/main">
            <a:pathLst>
              <a:path w="9525" h="64583">
                <a:moveTo>
                  <a:pt x="0" y="6458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18" name="sample">
            <a:extLst xmlns:a="http://schemas.openxmlformats.org/drawingml/2006/main">
              <a:ext uri="{FF2B5EF4-FFF2-40B4-BE49-F238E27FC236}">
                <a16:creationId xmlns:a16="http://schemas.microsoft.com/office/drawing/2014/main" id="{E3551693-1E79-43AC-AAE7-EEDC8855B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4150" y="311943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9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6D6D9469-F419-423E-AD2B-FBC3D9C26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9563" y="3157538"/>
            <a:ext cx="9525" cy="52375"/>
          </a:xfrm>
          <a:custGeom xmlns:a="http://schemas.openxmlformats.org/drawingml/2006/main">
            <a:pathLst>
              <a:path w="9525" h="52375">
                <a:moveTo>
                  <a:pt x="0" y="523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20" name="sample">
            <a:extLst xmlns:a="http://schemas.openxmlformats.org/drawingml/2006/main">
              <a:ext uri="{FF2B5EF4-FFF2-40B4-BE49-F238E27FC236}">
                <a16:creationId xmlns:a16="http://schemas.microsoft.com/office/drawing/2014/main" id="{1021EA66-7FFB-4A56-96C1-5FDF7AC3B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1463" y="311943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1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11F0787A-2D2A-4AA9-96BB-084600A16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157538"/>
            <a:ext cx="9525" cy="74571"/>
          </a:xfrm>
          <a:custGeom xmlns:a="http://schemas.openxmlformats.org/drawingml/2006/main">
            <a:pathLst>
              <a:path w="9525" h="74571">
                <a:moveTo>
                  <a:pt x="0" y="7457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22" name="sample">
            <a:extLst xmlns:a="http://schemas.openxmlformats.org/drawingml/2006/main">
              <a:ext uri="{FF2B5EF4-FFF2-40B4-BE49-F238E27FC236}">
                <a16:creationId xmlns:a16="http://schemas.microsoft.com/office/drawing/2014/main" id="{C30A5E08-6897-4A47-8406-5EB32C4FD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311943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3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61611D37-693C-434A-81DE-FAD746DD5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4188" y="3157538"/>
            <a:ext cx="9525" cy="129658"/>
          </a:xfrm>
          <a:custGeom xmlns:a="http://schemas.openxmlformats.org/drawingml/2006/main">
            <a:pathLst>
              <a:path w="9525" h="129658">
                <a:moveTo>
                  <a:pt x="0" y="12965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24" name="sample">
            <a:extLst xmlns:a="http://schemas.openxmlformats.org/drawingml/2006/main">
              <a:ext uri="{FF2B5EF4-FFF2-40B4-BE49-F238E27FC236}">
                <a16:creationId xmlns:a16="http://schemas.microsoft.com/office/drawing/2014/main" id="{E734EE30-8A9F-4349-B735-BB12BE2EC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6088" y="311943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5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75A1F2E5-BA21-466F-B96F-1B6C1C76D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500" y="3371419"/>
            <a:ext cx="9525" cy="157593"/>
          </a:xfrm>
          <a:custGeom xmlns:a="http://schemas.openxmlformats.org/drawingml/2006/main">
            <a:pathLst>
              <a:path w="9525" h="157593">
                <a:moveTo>
                  <a:pt x="0" y="0"/>
                </a:moveTo>
                <a:lnTo>
                  <a:pt x="0" y="157593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26" name="sample">
            <a:extLst xmlns:a="http://schemas.openxmlformats.org/drawingml/2006/main">
              <a:ext uri="{FF2B5EF4-FFF2-40B4-BE49-F238E27FC236}">
                <a16:creationId xmlns:a16="http://schemas.microsoft.com/office/drawing/2014/main" id="{512BBC09-5CD4-42DE-89AF-BFAA95CDA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3400" y="349091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7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F8FDDDEE-AF6C-442C-AA5B-25175A1C3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8813" y="3479041"/>
            <a:ext cx="9525" cy="49972"/>
          </a:xfrm>
          <a:custGeom xmlns:a="http://schemas.openxmlformats.org/drawingml/2006/main">
            <a:pathLst>
              <a:path w="9525" h="49972">
                <a:moveTo>
                  <a:pt x="0" y="0"/>
                </a:moveTo>
                <a:lnTo>
                  <a:pt x="0" y="49972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28" name="sample">
            <a:extLst xmlns:a="http://schemas.openxmlformats.org/drawingml/2006/main">
              <a:ext uri="{FF2B5EF4-FFF2-40B4-BE49-F238E27FC236}">
                <a16:creationId xmlns:a16="http://schemas.microsoft.com/office/drawing/2014/main" id="{11D8ACC0-A911-4D77-83E6-0D4E05B89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0713" y="349091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9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05943449-DD73-47E5-8D36-87C5E2C70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6125" y="3529013"/>
            <a:ext cx="9525" cy="73713"/>
          </a:xfrm>
          <a:custGeom xmlns:a="http://schemas.openxmlformats.org/drawingml/2006/main">
            <a:pathLst>
              <a:path w="9525" h="73713">
                <a:moveTo>
                  <a:pt x="0" y="7371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30" name="sample">
            <a:extLst xmlns:a="http://schemas.openxmlformats.org/drawingml/2006/main">
              <a:ext uri="{FF2B5EF4-FFF2-40B4-BE49-F238E27FC236}">
                <a16:creationId xmlns:a16="http://schemas.microsoft.com/office/drawing/2014/main" id="{DB8DFADB-2F8A-4880-AC2C-929624BCC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8025" y="349091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1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AAA6D857-F675-404A-914F-000195EEA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438" y="3734044"/>
            <a:ext cx="9525" cy="166443"/>
          </a:xfrm>
          <a:custGeom xmlns:a="http://schemas.openxmlformats.org/drawingml/2006/main">
            <a:pathLst>
              <a:path w="9525" h="166443">
                <a:moveTo>
                  <a:pt x="0" y="0"/>
                </a:moveTo>
                <a:lnTo>
                  <a:pt x="0" y="166443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32" name="sample">
            <a:extLst xmlns:a="http://schemas.openxmlformats.org/drawingml/2006/main">
              <a:ext uri="{FF2B5EF4-FFF2-40B4-BE49-F238E27FC236}">
                <a16:creationId xmlns:a16="http://schemas.microsoft.com/office/drawing/2014/main" id="{D09FAFC0-4381-47E0-9663-9649125C8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5337" y="386238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3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D10C734C-DC7E-49BD-95C3-604439E5E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864049"/>
            <a:ext cx="9525" cy="36439"/>
          </a:xfrm>
          <a:custGeom xmlns:a="http://schemas.openxmlformats.org/drawingml/2006/main">
            <a:pathLst>
              <a:path w="9525" h="36439">
                <a:moveTo>
                  <a:pt x="0" y="0"/>
                </a:moveTo>
                <a:lnTo>
                  <a:pt x="0" y="36439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34" name="sample">
            <a:extLst xmlns:a="http://schemas.openxmlformats.org/drawingml/2006/main">
              <a:ext uri="{FF2B5EF4-FFF2-40B4-BE49-F238E27FC236}">
                <a16:creationId xmlns:a16="http://schemas.microsoft.com/office/drawing/2014/main" id="{BD5E1B80-5BE5-4DA9-A9D9-A6CA9350F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86238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5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3FB8496B-6183-492E-AA42-E305AB189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8063" y="3900488"/>
            <a:ext cx="9525" cy="83391"/>
          </a:xfrm>
          <a:custGeom xmlns:a="http://schemas.openxmlformats.org/drawingml/2006/main">
            <a:pathLst>
              <a:path w="9525" h="83391">
                <a:moveTo>
                  <a:pt x="0" y="8339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36" name="sample">
            <a:extLst xmlns:a="http://schemas.openxmlformats.org/drawingml/2006/main">
              <a:ext uri="{FF2B5EF4-FFF2-40B4-BE49-F238E27FC236}">
                <a16:creationId xmlns:a16="http://schemas.microsoft.com/office/drawing/2014/main" id="{271BAC66-CC39-41F3-9C2C-7E9CD502E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9963" y="386238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7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17B3E3D2-6F7D-4E2E-9117-A5E1B6FFB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5375" y="3900488"/>
            <a:ext cx="9525" cy="184880"/>
          </a:xfrm>
          <a:custGeom xmlns:a="http://schemas.openxmlformats.org/drawingml/2006/main">
            <a:pathLst>
              <a:path w="9525" h="184880">
                <a:moveTo>
                  <a:pt x="0" y="18488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38" name="sample">
            <a:extLst xmlns:a="http://schemas.openxmlformats.org/drawingml/2006/main">
              <a:ext uri="{FF2B5EF4-FFF2-40B4-BE49-F238E27FC236}">
                <a16:creationId xmlns:a16="http://schemas.microsoft.com/office/drawing/2014/main" id="{B54EB8D9-C5D3-4467-91AA-8ED1481A6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7275" y="386238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9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DA1D5FA5-8E99-48B4-B95B-C09BA0A88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2688" y="4161599"/>
            <a:ext cx="9525" cy="110363"/>
          </a:xfrm>
          <a:custGeom xmlns:a="http://schemas.openxmlformats.org/drawingml/2006/main">
            <a:pathLst>
              <a:path w="9525" h="110363">
                <a:moveTo>
                  <a:pt x="0" y="0"/>
                </a:moveTo>
                <a:lnTo>
                  <a:pt x="0" y="110363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40" name="sample">
            <a:extLst xmlns:a="http://schemas.openxmlformats.org/drawingml/2006/main">
              <a:ext uri="{FF2B5EF4-FFF2-40B4-BE49-F238E27FC236}">
                <a16:creationId xmlns:a16="http://schemas.microsoft.com/office/drawing/2014/main" id="{415F9461-3945-4C30-87B5-AB165812C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4588" y="423386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1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97420AD8-3344-4204-B7C7-B0F43F3BA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0000" y="4207379"/>
            <a:ext cx="9525" cy="64583"/>
          </a:xfrm>
          <a:custGeom xmlns:a="http://schemas.openxmlformats.org/drawingml/2006/main">
            <a:pathLst>
              <a:path w="9525" h="64583">
                <a:moveTo>
                  <a:pt x="0" y="0"/>
                </a:moveTo>
                <a:lnTo>
                  <a:pt x="0" y="64583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42" name="sample">
            <a:extLst xmlns:a="http://schemas.openxmlformats.org/drawingml/2006/main">
              <a:ext uri="{FF2B5EF4-FFF2-40B4-BE49-F238E27FC236}">
                <a16:creationId xmlns:a16="http://schemas.microsoft.com/office/drawing/2014/main" id="{B37D0F76-38F1-496A-B48D-7D2452B03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1900" y="423386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3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6CC162A1-C6AC-43D1-9268-9C766FB73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7313" y="4219587"/>
            <a:ext cx="9525" cy="52375"/>
          </a:xfrm>
          <a:custGeom xmlns:a="http://schemas.openxmlformats.org/drawingml/2006/main">
            <a:pathLst>
              <a:path w="9525" h="52375">
                <a:moveTo>
                  <a:pt x="0" y="0"/>
                </a:moveTo>
                <a:lnTo>
                  <a:pt x="0" y="523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44" name="sample">
            <a:extLst xmlns:a="http://schemas.openxmlformats.org/drawingml/2006/main">
              <a:ext uri="{FF2B5EF4-FFF2-40B4-BE49-F238E27FC236}">
                <a16:creationId xmlns:a16="http://schemas.microsoft.com/office/drawing/2014/main" id="{566487B3-2463-4691-A150-1B281F803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9213" y="423386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5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55377273-D227-4093-A89D-D028EF17C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197392"/>
            <a:ext cx="9525" cy="74571"/>
          </a:xfrm>
          <a:custGeom xmlns:a="http://schemas.openxmlformats.org/drawingml/2006/main">
            <a:pathLst>
              <a:path w="9525" h="74571">
                <a:moveTo>
                  <a:pt x="0" y="0"/>
                </a:moveTo>
                <a:lnTo>
                  <a:pt x="0" y="74571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46" name="sample">
            <a:extLst xmlns:a="http://schemas.openxmlformats.org/drawingml/2006/main">
              <a:ext uri="{FF2B5EF4-FFF2-40B4-BE49-F238E27FC236}">
                <a16:creationId xmlns:a16="http://schemas.microsoft.com/office/drawing/2014/main" id="{A2B43AD8-C25D-4AE0-AAD6-18B711616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423386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7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E4E7051E-1934-40D4-B3BD-BC272A8C2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1937" y="4142305"/>
            <a:ext cx="9525" cy="129658"/>
          </a:xfrm>
          <a:custGeom xmlns:a="http://schemas.openxmlformats.org/drawingml/2006/main">
            <a:pathLst>
              <a:path w="9525" h="129658">
                <a:moveTo>
                  <a:pt x="0" y="0"/>
                </a:moveTo>
                <a:lnTo>
                  <a:pt x="0" y="12965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48" name="sample">
            <a:extLst xmlns:a="http://schemas.openxmlformats.org/drawingml/2006/main">
              <a:ext uri="{FF2B5EF4-FFF2-40B4-BE49-F238E27FC236}">
                <a16:creationId xmlns:a16="http://schemas.microsoft.com/office/drawing/2014/main" id="{178D8BA5-D711-49BB-8BC8-D9D748224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3837" y="423386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9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B230BE9E-DF53-4C8E-97C7-EDB6D3C52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9250" y="3900488"/>
            <a:ext cx="9525" cy="157593"/>
          </a:xfrm>
          <a:custGeom xmlns:a="http://schemas.openxmlformats.org/drawingml/2006/main">
            <a:pathLst>
              <a:path w="9525" h="157593">
                <a:moveTo>
                  <a:pt x="0" y="15759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50" name="sample">
            <a:extLst xmlns:a="http://schemas.openxmlformats.org/drawingml/2006/main">
              <a:ext uri="{FF2B5EF4-FFF2-40B4-BE49-F238E27FC236}">
                <a16:creationId xmlns:a16="http://schemas.microsoft.com/office/drawing/2014/main" id="{FDD716AF-2DF4-4D8A-B9AE-BBD6F12E9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1150" y="386238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1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FD40E982-E48E-4CEC-A551-5D6A515F2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6563" y="3900488"/>
            <a:ext cx="9525" cy="49972"/>
          </a:xfrm>
          <a:custGeom xmlns:a="http://schemas.openxmlformats.org/drawingml/2006/main">
            <a:pathLst>
              <a:path w="9525" h="49972">
                <a:moveTo>
                  <a:pt x="0" y="4997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52" name="sample">
            <a:extLst xmlns:a="http://schemas.openxmlformats.org/drawingml/2006/main">
              <a:ext uri="{FF2B5EF4-FFF2-40B4-BE49-F238E27FC236}">
                <a16:creationId xmlns:a16="http://schemas.microsoft.com/office/drawing/2014/main" id="{0C137133-9E70-4B51-85B0-13905BF8E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8463" y="386238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3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71B9DF27-A4C9-496D-9485-BEE5EFAD2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875" y="3826774"/>
            <a:ext cx="9525" cy="73713"/>
          </a:xfrm>
          <a:custGeom xmlns:a="http://schemas.openxmlformats.org/drawingml/2006/main">
            <a:pathLst>
              <a:path w="9525" h="73713">
                <a:moveTo>
                  <a:pt x="0" y="0"/>
                </a:moveTo>
                <a:lnTo>
                  <a:pt x="0" y="73713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54" name="sample">
            <a:extLst xmlns:a="http://schemas.openxmlformats.org/drawingml/2006/main">
              <a:ext uri="{FF2B5EF4-FFF2-40B4-BE49-F238E27FC236}">
                <a16:creationId xmlns:a16="http://schemas.microsoft.com/office/drawing/2014/main" id="{607055F1-DE4A-49B3-9867-22C81475D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5775" y="386238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5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A04A5645-0FAC-416B-A0FA-46DCDCF79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1188" y="3529013"/>
            <a:ext cx="9525" cy="166443"/>
          </a:xfrm>
          <a:custGeom xmlns:a="http://schemas.openxmlformats.org/drawingml/2006/main">
            <a:pathLst>
              <a:path w="9525" h="166443">
                <a:moveTo>
                  <a:pt x="0" y="16644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56" name="sample">
            <a:extLst xmlns:a="http://schemas.openxmlformats.org/drawingml/2006/main">
              <a:ext uri="{FF2B5EF4-FFF2-40B4-BE49-F238E27FC236}">
                <a16:creationId xmlns:a16="http://schemas.microsoft.com/office/drawing/2014/main" id="{12258B13-D346-4E41-8756-AA0EDB961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3088" y="349091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7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8082545F-91CF-44BC-BAE6-93E4DD54B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529013"/>
            <a:ext cx="9525" cy="36439"/>
          </a:xfrm>
          <a:custGeom xmlns:a="http://schemas.openxmlformats.org/drawingml/2006/main">
            <a:pathLst>
              <a:path w="9525" h="36439">
                <a:moveTo>
                  <a:pt x="0" y="3643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58" name="sample">
            <a:extLst xmlns:a="http://schemas.openxmlformats.org/drawingml/2006/main">
              <a:ext uri="{FF2B5EF4-FFF2-40B4-BE49-F238E27FC236}">
                <a16:creationId xmlns:a16="http://schemas.microsoft.com/office/drawing/2014/main" id="{9642809A-4B39-4380-9117-502F27F11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49091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9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FCEF91C3-5E77-4E00-BA1E-726137042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5812" y="3445622"/>
            <a:ext cx="9525" cy="83391"/>
          </a:xfrm>
          <a:custGeom xmlns:a="http://schemas.openxmlformats.org/drawingml/2006/main">
            <a:pathLst>
              <a:path w="9525" h="83391">
                <a:moveTo>
                  <a:pt x="0" y="0"/>
                </a:moveTo>
                <a:lnTo>
                  <a:pt x="0" y="83391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60" name="sample">
            <a:extLst xmlns:a="http://schemas.openxmlformats.org/drawingml/2006/main">
              <a:ext uri="{FF2B5EF4-FFF2-40B4-BE49-F238E27FC236}">
                <a16:creationId xmlns:a16="http://schemas.microsoft.com/office/drawing/2014/main" id="{A6EF3E45-2E50-42EB-9B9B-9A9614C6A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7712" y="349091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1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D033CB95-CADA-4A2C-81D8-A9F4DD7FD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3125" y="3344133"/>
            <a:ext cx="9525" cy="184880"/>
          </a:xfrm>
          <a:custGeom xmlns:a="http://schemas.openxmlformats.org/drawingml/2006/main">
            <a:pathLst>
              <a:path w="9525" h="184880">
                <a:moveTo>
                  <a:pt x="0" y="0"/>
                </a:moveTo>
                <a:lnTo>
                  <a:pt x="0" y="18488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62" name="sample">
            <a:extLst xmlns:a="http://schemas.openxmlformats.org/drawingml/2006/main">
              <a:ext uri="{FF2B5EF4-FFF2-40B4-BE49-F238E27FC236}">
                <a16:creationId xmlns:a16="http://schemas.microsoft.com/office/drawing/2014/main" id="{A51EC762-9932-4202-9503-92EF5B555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5025" y="349091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3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9C0521D5-01EF-414E-A6A9-AB6C9E491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0438" y="3157538"/>
            <a:ext cx="9525" cy="110363"/>
          </a:xfrm>
          <a:custGeom xmlns:a="http://schemas.openxmlformats.org/drawingml/2006/main">
            <a:pathLst>
              <a:path w="9525" h="110363">
                <a:moveTo>
                  <a:pt x="0" y="11036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64" name="sample">
            <a:extLst xmlns:a="http://schemas.openxmlformats.org/drawingml/2006/main">
              <a:ext uri="{FF2B5EF4-FFF2-40B4-BE49-F238E27FC236}">
                <a16:creationId xmlns:a16="http://schemas.microsoft.com/office/drawing/2014/main" id="{2630DE0C-7DA9-4276-8AC5-1AD7AE02A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2338" y="311943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5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A76C7EA5-F993-4445-8B62-9EED48714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7750" y="3157538"/>
            <a:ext cx="9525" cy="64583"/>
          </a:xfrm>
          <a:custGeom xmlns:a="http://schemas.openxmlformats.org/drawingml/2006/main">
            <a:pathLst>
              <a:path w="9525" h="64583">
                <a:moveTo>
                  <a:pt x="0" y="6458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66" name="sample">
            <a:extLst xmlns:a="http://schemas.openxmlformats.org/drawingml/2006/main">
              <a:ext uri="{FF2B5EF4-FFF2-40B4-BE49-F238E27FC236}">
                <a16:creationId xmlns:a16="http://schemas.microsoft.com/office/drawing/2014/main" id="{F702E0AA-18FB-4F3B-B4C5-282C6A631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9650" y="311943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7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F9CA7765-25A8-4A0E-ABAD-B8FCEE3C5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5063" y="3157538"/>
            <a:ext cx="9525" cy="52375"/>
          </a:xfrm>
          <a:custGeom xmlns:a="http://schemas.openxmlformats.org/drawingml/2006/main">
            <a:pathLst>
              <a:path w="9525" h="52375">
                <a:moveTo>
                  <a:pt x="0" y="523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68" name="sample">
            <a:extLst xmlns:a="http://schemas.openxmlformats.org/drawingml/2006/main">
              <a:ext uri="{FF2B5EF4-FFF2-40B4-BE49-F238E27FC236}">
                <a16:creationId xmlns:a16="http://schemas.microsoft.com/office/drawing/2014/main" id="{FB05FE37-00E9-4AA5-8BED-64EED45EC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6963" y="311943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9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73FA14E6-F0F1-4FB6-864F-AE76B5768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157538"/>
            <a:ext cx="9525" cy="74571"/>
          </a:xfrm>
          <a:custGeom xmlns:a="http://schemas.openxmlformats.org/drawingml/2006/main">
            <a:pathLst>
              <a:path w="9525" h="74571">
                <a:moveTo>
                  <a:pt x="0" y="7457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70" name="sample">
            <a:extLst xmlns:a="http://schemas.openxmlformats.org/drawingml/2006/main">
              <a:ext uri="{FF2B5EF4-FFF2-40B4-BE49-F238E27FC236}">
                <a16:creationId xmlns:a16="http://schemas.microsoft.com/office/drawing/2014/main" id="{2C53B7E0-04CC-40E8-9586-4818F3180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311943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1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9EAB7D34-CD75-4DD4-A9C7-9D75DC1C1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9688" y="3157538"/>
            <a:ext cx="9525" cy="129658"/>
          </a:xfrm>
          <a:custGeom xmlns:a="http://schemas.openxmlformats.org/drawingml/2006/main">
            <a:pathLst>
              <a:path w="9525" h="129658">
                <a:moveTo>
                  <a:pt x="0" y="12965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72" name="sample">
            <a:extLst xmlns:a="http://schemas.openxmlformats.org/drawingml/2006/main">
              <a:ext uri="{FF2B5EF4-FFF2-40B4-BE49-F238E27FC236}">
                <a16:creationId xmlns:a16="http://schemas.microsoft.com/office/drawing/2014/main" id="{2E55A2C2-15E1-4337-8FDE-604F588F6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1588" y="311943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3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35E3CEA5-8B04-49F0-98FA-12F6C3A33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0" y="3371419"/>
            <a:ext cx="9525" cy="157593"/>
          </a:xfrm>
          <a:custGeom xmlns:a="http://schemas.openxmlformats.org/drawingml/2006/main">
            <a:pathLst>
              <a:path w="9525" h="157593">
                <a:moveTo>
                  <a:pt x="0" y="0"/>
                </a:moveTo>
                <a:lnTo>
                  <a:pt x="0" y="157593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74" name="sample">
            <a:extLst xmlns:a="http://schemas.openxmlformats.org/drawingml/2006/main">
              <a:ext uri="{FF2B5EF4-FFF2-40B4-BE49-F238E27FC236}">
                <a16:creationId xmlns:a16="http://schemas.microsoft.com/office/drawing/2014/main" id="{761601A9-8B6A-4F30-B55C-E64366A68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8900" y="349091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5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829309DD-9D81-449C-9CE2-737529B4F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4313" y="3479041"/>
            <a:ext cx="9525" cy="49972"/>
          </a:xfrm>
          <a:custGeom xmlns:a="http://schemas.openxmlformats.org/drawingml/2006/main">
            <a:pathLst>
              <a:path w="9525" h="49972">
                <a:moveTo>
                  <a:pt x="0" y="0"/>
                </a:moveTo>
                <a:lnTo>
                  <a:pt x="0" y="49972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76" name="sample">
            <a:extLst xmlns:a="http://schemas.openxmlformats.org/drawingml/2006/main">
              <a:ext uri="{FF2B5EF4-FFF2-40B4-BE49-F238E27FC236}">
                <a16:creationId xmlns:a16="http://schemas.microsoft.com/office/drawing/2014/main" id="{2297C8DF-113F-4B63-81DB-5ADE6F9A0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6213" y="349091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7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4A879E34-6F77-4568-88E2-D02D9003C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1625" y="3529013"/>
            <a:ext cx="9525" cy="73713"/>
          </a:xfrm>
          <a:custGeom xmlns:a="http://schemas.openxmlformats.org/drawingml/2006/main">
            <a:pathLst>
              <a:path w="9525" h="73713">
                <a:moveTo>
                  <a:pt x="0" y="7371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78" name="sample">
            <a:extLst xmlns:a="http://schemas.openxmlformats.org/drawingml/2006/main">
              <a:ext uri="{FF2B5EF4-FFF2-40B4-BE49-F238E27FC236}">
                <a16:creationId xmlns:a16="http://schemas.microsoft.com/office/drawing/2014/main" id="{B737759C-AC71-4E61-A23C-579F5B0AC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3525" y="349091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9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80DC1ED1-3AB0-4438-BD3E-1CDA2CB62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8938" y="3734044"/>
            <a:ext cx="9525" cy="166443"/>
          </a:xfrm>
          <a:custGeom xmlns:a="http://schemas.openxmlformats.org/drawingml/2006/main">
            <a:pathLst>
              <a:path w="9525" h="166443">
                <a:moveTo>
                  <a:pt x="0" y="0"/>
                </a:moveTo>
                <a:lnTo>
                  <a:pt x="0" y="166443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80" name="sample">
            <a:extLst xmlns:a="http://schemas.openxmlformats.org/drawingml/2006/main">
              <a:ext uri="{FF2B5EF4-FFF2-40B4-BE49-F238E27FC236}">
                <a16:creationId xmlns:a16="http://schemas.microsoft.com/office/drawing/2014/main" id="{86E7B6DF-20C5-4C9B-B42F-D8F77BBAC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838" y="386238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81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3C2365E0-48B9-4093-9D68-3CB1743BB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864049"/>
            <a:ext cx="9525" cy="36439"/>
          </a:xfrm>
          <a:custGeom xmlns:a="http://schemas.openxmlformats.org/drawingml/2006/main">
            <a:pathLst>
              <a:path w="9525" h="36439">
                <a:moveTo>
                  <a:pt x="0" y="0"/>
                </a:moveTo>
                <a:lnTo>
                  <a:pt x="0" y="36439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82" name="sample">
            <a:extLst xmlns:a="http://schemas.openxmlformats.org/drawingml/2006/main">
              <a:ext uri="{FF2B5EF4-FFF2-40B4-BE49-F238E27FC236}">
                <a16:creationId xmlns:a16="http://schemas.microsoft.com/office/drawing/2014/main" id="{13FE6E7B-CC8A-4418-8005-E4E650AC0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86238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83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B0503D22-9A41-43ED-8ABC-EB9914B4A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3563" y="3900488"/>
            <a:ext cx="9525" cy="83391"/>
          </a:xfrm>
          <a:custGeom xmlns:a="http://schemas.openxmlformats.org/drawingml/2006/main">
            <a:pathLst>
              <a:path w="9525" h="83391">
                <a:moveTo>
                  <a:pt x="0" y="8339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84" name="sample">
            <a:extLst xmlns:a="http://schemas.openxmlformats.org/drawingml/2006/main">
              <a:ext uri="{FF2B5EF4-FFF2-40B4-BE49-F238E27FC236}">
                <a16:creationId xmlns:a16="http://schemas.microsoft.com/office/drawing/2014/main" id="{F964DB97-F5D9-42C0-A974-06F1C895F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5463" y="386238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85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57A6C9CE-A4F8-4C7F-B27C-7F3FAEFEC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0875" y="3900488"/>
            <a:ext cx="9525" cy="184880"/>
          </a:xfrm>
          <a:custGeom xmlns:a="http://schemas.openxmlformats.org/drawingml/2006/main">
            <a:pathLst>
              <a:path w="9525" h="184880">
                <a:moveTo>
                  <a:pt x="0" y="18488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86" name="sample">
            <a:extLst xmlns:a="http://schemas.openxmlformats.org/drawingml/2006/main">
              <a:ext uri="{FF2B5EF4-FFF2-40B4-BE49-F238E27FC236}">
                <a16:creationId xmlns:a16="http://schemas.microsoft.com/office/drawing/2014/main" id="{906AD453-8B03-48CA-9E13-1405B1BFA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2775" y="386238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87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BB048FD9-155E-459E-9E1F-DF727B780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8188" y="4161599"/>
            <a:ext cx="9525" cy="110363"/>
          </a:xfrm>
          <a:custGeom xmlns:a="http://schemas.openxmlformats.org/drawingml/2006/main">
            <a:pathLst>
              <a:path w="9525" h="110363">
                <a:moveTo>
                  <a:pt x="0" y="0"/>
                </a:moveTo>
                <a:lnTo>
                  <a:pt x="0" y="110363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88" name="sample">
            <a:extLst xmlns:a="http://schemas.openxmlformats.org/drawingml/2006/main">
              <a:ext uri="{FF2B5EF4-FFF2-40B4-BE49-F238E27FC236}">
                <a16:creationId xmlns:a16="http://schemas.microsoft.com/office/drawing/2014/main" id="{F631988F-04A7-486D-BDEC-1C6F9CD53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0088" y="423386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89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1A05A8AD-7419-4BB5-AB2E-F0DF65668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500" y="4207379"/>
            <a:ext cx="9525" cy="64583"/>
          </a:xfrm>
          <a:custGeom xmlns:a="http://schemas.openxmlformats.org/drawingml/2006/main">
            <a:pathLst>
              <a:path w="9525" h="64583">
                <a:moveTo>
                  <a:pt x="0" y="0"/>
                </a:moveTo>
                <a:lnTo>
                  <a:pt x="0" y="64583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90" name="sample">
            <a:extLst xmlns:a="http://schemas.openxmlformats.org/drawingml/2006/main">
              <a:ext uri="{FF2B5EF4-FFF2-40B4-BE49-F238E27FC236}">
                <a16:creationId xmlns:a16="http://schemas.microsoft.com/office/drawing/2014/main" id="{432ECE7F-872F-42E7-A606-0741E34AE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400" y="423386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91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2EB65C1B-C7BA-43CD-BA3E-F20D6F813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2813" y="4219587"/>
            <a:ext cx="9525" cy="52375"/>
          </a:xfrm>
          <a:custGeom xmlns:a="http://schemas.openxmlformats.org/drawingml/2006/main">
            <a:pathLst>
              <a:path w="9525" h="52375">
                <a:moveTo>
                  <a:pt x="0" y="0"/>
                </a:moveTo>
                <a:lnTo>
                  <a:pt x="0" y="523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92" name="sample">
            <a:extLst xmlns:a="http://schemas.openxmlformats.org/drawingml/2006/main">
              <a:ext uri="{FF2B5EF4-FFF2-40B4-BE49-F238E27FC236}">
                <a16:creationId xmlns:a16="http://schemas.microsoft.com/office/drawing/2014/main" id="{838B6775-5E72-4CD4-A85C-A62C1E00A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713" y="423386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93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1F6127B9-E88B-495F-A133-865930298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197392"/>
            <a:ext cx="9525" cy="74571"/>
          </a:xfrm>
          <a:custGeom xmlns:a="http://schemas.openxmlformats.org/drawingml/2006/main">
            <a:pathLst>
              <a:path w="9525" h="74571">
                <a:moveTo>
                  <a:pt x="0" y="0"/>
                </a:moveTo>
                <a:lnTo>
                  <a:pt x="0" y="74571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94" name="sample">
            <a:extLst xmlns:a="http://schemas.openxmlformats.org/drawingml/2006/main">
              <a:ext uri="{FF2B5EF4-FFF2-40B4-BE49-F238E27FC236}">
                <a16:creationId xmlns:a16="http://schemas.microsoft.com/office/drawing/2014/main" id="{8026B126-4902-4D9E-9EDB-ED7676E74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423386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95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07198B52-890C-4950-AB0C-AD5A01CFD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7438" y="4142305"/>
            <a:ext cx="9525" cy="129658"/>
          </a:xfrm>
          <a:custGeom xmlns:a="http://schemas.openxmlformats.org/drawingml/2006/main">
            <a:pathLst>
              <a:path w="9525" h="129658">
                <a:moveTo>
                  <a:pt x="0" y="0"/>
                </a:moveTo>
                <a:lnTo>
                  <a:pt x="0" y="12965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96" name="sample">
            <a:extLst xmlns:a="http://schemas.openxmlformats.org/drawingml/2006/main">
              <a:ext uri="{FF2B5EF4-FFF2-40B4-BE49-F238E27FC236}">
                <a16:creationId xmlns:a16="http://schemas.microsoft.com/office/drawing/2014/main" id="{D433D62B-306A-49E2-B046-3C5C2EEDB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9338" y="423386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97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037794D8-9BD1-4130-9D95-DD5774C05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4750" y="3900488"/>
            <a:ext cx="9525" cy="157593"/>
          </a:xfrm>
          <a:custGeom xmlns:a="http://schemas.openxmlformats.org/drawingml/2006/main">
            <a:pathLst>
              <a:path w="9525" h="157593">
                <a:moveTo>
                  <a:pt x="0" y="15759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98" name="sample">
            <a:extLst xmlns:a="http://schemas.openxmlformats.org/drawingml/2006/main">
              <a:ext uri="{FF2B5EF4-FFF2-40B4-BE49-F238E27FC236}">
                <a16:creationId xmlns:a16="http://schemas.microsoft.com/office/drawing/2014/main" id="{4372696F-86F0-4BBA-9D25-FEB302BBE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6650" y="386238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99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2EFC0537-617B-4AB2-B83A-85D1C4B7E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2063" y="3900488"/>
            <a:ext cx="9525" cy="49972"/>
          </a:xfrm>
          <a:custGeom xmlns:a="http://schemas.openxmlformats.org/drawingml/2006/main">
            <a:pathLst>
              <a:path w="9525" h="49972">
                <a:moveTo>
                  <a:pt x="0" y="4997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100" name="sample">
            <a:extLst xmlns:a="http://schemas.openxmlformats.org/drawingml/2006/main">
              <a:ext uri="{FF2B5EF4-FFF2-40B4-BE49-F238E27FC236}">
                <a16:creationId xmlns:a16="http://schemas.microsoft.com/office/drawing/2014/main" id="{ADC01F69-180F-4B40-AB01-A3053B00D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3963" y="386238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01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B0C4E04E-011E-41DE-9941-C9BA675C7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9375" y="3826774"/>
            <a:ext cx="9525" cy="73713"/>
          </a:xfrm>
          <a:custGeom xmlns:a="http://schemas.openxmlformats.org/drawingml/2006/main">
            <a:pathLst>
              <a:path w="9525" h="73713">
                <a:moveTo>
                  <a:pt x="0" y="0"/>
                </a:moveTo>
                <a:lnTo>
                  <a:pt x="0" y="73713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102" name="sample">
            <a:extLst xmlns:a="http://schemas.openxmlformats.org/drawingml/2006/main">
              <a:ext uri="{FF2B5EF4-FFF2-40B4-BE49-F238E27FC236}">
                <a16:creationId xmlns:a16="http://schemas.microsoft.com/office/drawing/2014/main" id="{937AD869-445A-47E5-B606-2579BBB4E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1275" y="386238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03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65A76532-3135-4CCB-9B4B-BCB4F5B0C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6687" y="3529013"/>
            <a:ext cx="9525" cy="166443"/>
          </a:xfrm>
          <a:custGeom xmlns:a="http://schemas.openxmlformats.org/drawingml/2006/main">
            <a:pathLst>
              <a:path w="9525" h="166443">
                <a:moveTo>
                  <a:pt x="0" y="16644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104" name="sample">
            <a:extLst xmlns:a="http://schemas.openxmlformats.org/drawingml/2006/main">
              <a:ext uri="{FF2B5EF4-FFF2-40B4-BE49-F238E27FC236}">
                <a16:creationId xmlns:a16="http://schemas.microsoft.com/office/drawing/2014/main" id="{A8C8CB8B-9335-495C-9884-697F44116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8587" y="349091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05" name="text">
            <a:extLst xmlns:a="http://schemas.openxmlformats.org/drawingml/2006/main">
              <a:ext uri="{FF2B5EF4-FFF2-40B4-BE49-F238E27FC236}">
                <a16:creationId xmlns:a16="http://schemas.microsoft.com/office/drawing/2014/main" id="{E0C57948-C4F8-493C-9DFB-A62A46EFA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67000"/>
            <a:ext cx="4476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4 bit：16级</a:t>
            </a:r>
          </a:p>
        </p:txBody>
      </p:sp>
      <p:sp>
        <p:nvSpPr>
          <p:cNvPr id="106" name="line">
            <a:extLst xmlns:a="http://schemas.openxmlformats.org/drawingml/2006/main">
              <a:ext uri="{FF2B5EF4-FFF2-40B4-BE49-F238E27FC236}">
                <a16:creationId xmlns:a16="http://schemas.microsoft.com/office/drawing/2014/main" id="{1DC3C702-E79C-43FB-979F-D8C315A40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14750"/>
            <a:ext cx="4191000" cy="9525"/>
          </a:xfrm>
          <a:custGeom xmlns:a="http://schemas.openxmlformats.org/drawingml/2006/main">
            <a:pathLst>
              <a:path w="4191000" h="9525">
                <a:moveTo>
                  <a:pt x="0" y="0"/>
                </a:moveTo>
                <a:lnTo>
                  <a:pt x="4191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8DF"/>
            </a:solidFill>
          </a:ln>
        </p:spPr>
      </p:sp>
      <p:sp>
        <p:nvSpPr>
          <p:cNvPr id="107" name="reference-wave">
            <a:extLst xmlns:a="http://schemas.openxmlformats.org/drawingml/2006/main">
              <a:ext uri="{FF2B5EF4-FFF2-40B4-BE49-F238E27FC236}">
                <a16:creationId xmlns:a16="http://schemas.microsoft.com/office/drawing/2014/main" id="{9127C399-0C5D-4270-ABAA-2C1D83246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09595"/>
            <a:ext cx="4191000" cy="1010311"/>
          </a:xfrm>
          <a:custGeom xmlns:a="http://schemas.openxmlformats.org/drawingml/2006/main">
            <a:pathLst>
              <a:path w="4191000" h="1010311">
                <a:moveTo>
                  <a:pt x="0" y="355857"/>
                </a:moveTo>
                <a:lnTo>
                  <a:pt x="17463" y="330802"/>
                </a:lnTo>
                <a:lnTo>
                  <a:pt x="34925" y="306225"/>
                </a:lnTo>
                <a:lnTo>
                  <a:pt x="52388" y="282193"/>
                </a:lnTo>
                <a:lnTo>
                  <a:pt x="69850" y="258772"/>
                </a:lnTo>
                <a:lnTo>
                  <a:pt x="87312" y="236027"/>
                </a:lnTo>
                <a:lnTo>
                  <a:pt x="104775" y="214019"/>
                </a:lnTo>
                <a:lnTo>
                  <a:pt x="122238" y="192810"/>
                </a:lnTo>
                <a:lnTo>
                  <a:pt x="139700" y="172456"/>
                </a:lnTo>
                <a:lnTo>
                  <a:pt x="157163" y="153015"/>
                </a:lnTo>
                <a:lnTo>
                  <a:pt x="174625" y="134538"/>
                </a:lnTo>
                <a:lnTo>
                  <a:pt x="192087" y="117078"/>
                </a:lnTo>
                <a:lnTo>
                  <a:pt x="209550" y="100681"/>
                </a:lnTo>
                <a:lnTo>
                  <a:pt x="227013" y="85392"/>
                </a:lnTo>
                <a:lnTo>
                  <a:pt x="244475" y="71255"/>
                </a:lnTo>
                <a:lnTo>
                  <a:pt x="261938" y="58306"/>
                </a:lnTo>
                <a:lnTo>
                  <a:pt x="279400" y="46582"/>
                </a:lnTo>
                <a:lnTo>
                  <a:pt x="296862" y="36116"/>
                </a:lnTo>
                <a:lnTo>
                  <a:pt x="314325" y="26934"/>
                </a:lnTo>
                <a:lnTo>
                  <a:pt x="331788" y="19064"/>
                </a:lnTo>
                <a:lnTo>
                  <a:pt x="349250" y="12526"/>
                </a:lnTo>
                <a:lnTo>
                  <a:pt x="366713" y="7338"/>
                </a:lnTo>
                <a:lnTo>
                  <a:pt x="384175" y="3515"/>
                </a:lnTo>
                <a:lnTo>
                  <a:pt x="401637" y="1067"/>
                </a:lnTo>
                <a:lnTo>
                  <a:pt x="419100" y="0"/>
                </a:lnTo>
                <a:lnTo>
                  <a:pt x="436563" y="318"/>
                </a:lnTo>
                <a:lnTo>
                  <a:pt x="454025" y="2020"/>
                </a:lnTo>
                <a:lnTo>
                  <a:pt x="471488" y="5100"/>
                </a:lnTo>
                <a:lnTo>
                  <a:pt x="488950" y="9552"/>
                </a:lnTo>
                <a:lnTo>
                  <a:pt x="506412" y="15361"/>
                </a:lnTo>
                <a:lnTo>
                  <a:pt x="523875" y="22514"/>
                </a:lnTo>
                <a:lnTo>
                  <a:pt x="541338" y="30989"/>
                </a:lnTo>
                <a:lnTo>
                  <a:pt x="558800" y="40764"/>
                </a:lnTo>
                <a:lnTo>
                  <a:pt x="576263" y="51811"/>
                </a:lnTo>
                <a:lnTo>
                  <a:pt x="593725" y="64101"/>
                </a:lnTo>
                <a:lnTo>
                  <a:pt x="611187" y="77601"/>
                </a:lnTo>
                <a:lnTo>
                  <a:pt x="628650" y="92272"/>
                </a:lnTo>
                <a:lnTo>
                  <a:pt x="646113" y="108074"/>
                </a:lnTo>
                <a:lnTo>
                  <a:pt x="663575" y="124965"/>
                </a:lnTo>
                <a:lnTo>
                  <a:pt x="681038" y="142899"/>
                </a:lnTo>
                <a:lnTo>
                  <a:pt x="698500" y="161825"/>
                </a:lnTo>
                <a:lnTo>
                  <a:pt x="715962" y="181692"/>
                </a:lnTo>
                <a:lnTo>
                  <a:pt x="733425" y="202446"/>
                </a:lnTo>
                <a:lnTo>
                  <a:pt x="750888" y="224029"/>
                </a:lnTo>
                <a:lnTo>
                  <a:pt x="768350" y="246383"/>
                </a:lnTo>
                <a:lnTo>
                  <a:pt x="785813" y="269446"/>
                </a:lnTo>
                <a:lnTo>
                  <a:pt x="803275" y="293155"/>
                </a:lnTo>
                <a:lnTo>
                  <a:pt x="820737" y="317446"/>
                </a:lnTo>
                <a:lnTo>
                  <a:pt x="838200" y="342251"/>
                </a:lnTo>
                <a:lnTo>
                  <a:pt x="855663" y="367502"/>
                </a:lnTo>
                <a:lnTo>
                  <a:pt x="873125" y="393131"/>
                </a:lnTo>
                <a:lnTo>
                  <a:pt x="890588" y="419067"/>
                </a:lnTo>
                <a:lnTo>
                  <a:pt x="908050" y="445238"/>
                </a:lnTo>
                <a:lnTo>
                  <a:pt x="925512" y="471574"/>
                </a:lnTo>
                <a:lnTo>
                  <a:pt x="942975" y="498002"/>
                </a:lnTo>
                <a:lnTo>
                  <a:pt x="960438" y="524450"/>
                </a:lnTo>
                <a:lnTo>
                  <a:pt x="977900" y="550845"/>
                </a:lnTo>
                <a:lnTo>
                  <a:pt x="995363" y="577114"/>
                </a:lnTo>
                <a:lnTo>
                  <a:pt x="1012825" y="603186"/>
                </a:lnTo>
                <a:lnTo>
                  <a:pt x="1030287" y="628990"/>
                </a:lnTo>
                <a:lnTo>
                  <a:pt x="1047750" y="654454"/>
                </a:lnTo>
                <a:lnTo>
                  <a:pt x="1065213" y="679509"/>
                </a:lnTo>
                <a:lnTo>
                  <a:pt x="1082675" y="704086"/>
                </a:lnTo>
                <a:lnTo>
                  <a:pt x="1100138" y="728118"/>
                </a:lnTo>
                <a:lnTo>
                  <a:pt x="1117600" y="751538"/>
                </a:lnTo>
                <a:lnTo>
                  <a:pt x="1135062" y="774284"/>
                </a:lnTo>
                <a:lnTo>
                  <a:pt x="1152525" y="796291"/>
                </a:lnTo>
                <a:lnTo>
                  <a:pt x="1169988" y="817501"/>
                </a:lnTo>
                <a:lnTo>
                  <a:pt x="1187450" y="837854"/>
                </a:lnTo>
                <a:lnTo>
                  <a:pt x="1204913" y="857296"/>
                </a:lnTo>
                <a:lnTo>
                  <a:pt x="1222375" y="875773"/>
                </a:lnTo>
                <a:lnTo>
                  <a:pt x="1239837" y="893233"/>
                </a:lnTo>
                <a:lnTo>
                  <a:pt x="1257300" y="909630"/>
                </a:lnTo>
                <a:lnTo>
                  <a:pt x="1274763" y="924918"/>
                </a:lnTo>
                <a:lnTo>
                  <a:pt x="1292225" y="939056"/>
                </a:lnTo>
                <a:lnTo>
                  <a:pt x="1309688" y="952005"/>
                </a:lnTo>
                <a:lnTo>
                  <a:pt x="1327150" y="963728"/>
                </a:lnTo>
                <a:lnTo>
                  <a:pt x="1344612" y="974195"/>
                </a:lnTo>
                <a:lnTo>
                  <a:pt x="1362075" y="983376"/>
                </a:lnTo>
                <a:lnTo>
                  <a:pt x="1379538" y="991247"/>
                </a:lnTo>
                <a:lnTo>
                  <a:pt x="1397000" y="997785"/>
                </a:lnTo>
                <a:lnTo>
                  <a:pt x="1414463" y="1002972"/>
                </a:lnTo>
                <a:lnTo>
                  <a:pt x="1431925" y="1006796"/>
                </a:lnTo>
                <a:lnTo>
                  <a:pt x="1449387" y="1009244"/>
                </a:lnTo>
                <a:lnTo>
                  <a:pt x="1466850" y="1010311"/>
                </a:lnTo>
                <a:lnTo>
                  <a:pt x="1484313" y="1009993"/>
                </a:lnTo>
                <a:lnTo>
                  <a:pt x="1501775" y="1008291"/>
                </a:lnTo>
                <a:lnTo>
                  <a:pt x="1519238" y="1005210"/>
                </a:lnTo>
                <a:lnTo>
                  <a:pt x="1536700" y="1000759"/>
                </a:lnTo>
                <a:lnTo>
                  <a:pt x="1554162" y="994949"/>
                </a:lnTo>
                <a:lnTo>
                  <a:pt x="1571625" y="987797"/>
                </a:lnTo>
                <a:lnTo>
                  <a:pt x="1589088" y="979322"/>
                </a:lnTo>
                <a:lnTo>
                  <a:pt x="1606550" y="969547"/>
                </a:lnTo>
                <a:lnTo>
                  <a:pt x="1624013" y="958500"/>
                </a:lnTo>
                <a:lnTo>
                  <a:pt x="1641475" y="946209"/>
                </a:lnTo>
                <a:lnTo>
                  <a:pt x="1658937" y="932710"/>
                </a:lnTo>
                <a:lnTo>
                  <a:pt x="1676400" y="918039"/>
                </a:lnTo>
                <a:lnTo>
                  <a:pt x="1693863" y="902236"/>
                </a:lnTo>
                <a:lnTo>
                  <a:pt x="1711325" y="885345"/>
                </a:lnTo>
                <a:lnTo>
                  <a:pt x="1728788" y="867412"/>
                </a:lnTo>
                <a:lnTo>
                  <a:pt x="1746250" y="848486"/>
                </a:lnTo>
                <a:lnTo>
                  <a:pt x="1763712" y="828619"/>
                </a:lnTo>
                <a:lnTo>
                  <a:pt x="1781175" y="807865"/>
                </a:lnTo>
                <a:lnTo>
                  <a:pt x="1798638" y="786282"/>
                </a:lnTo>
                <a:lnTo>
                  <a:pt x="1816100" y="763928"/>
                </a:lnTo>
                <a:lnTo>
                  <a:pt x="1833563" y="740865"/>
                </a:lnTo>
                <a:lnTo>
                  <a:pt x="1851025" y="717155"/>
                </a:lnTo>
                <a:lnTo>
                  <a:pt x="1868487" y="692865"/>
                </a:lnTo>
                <a:lnTo>
                  <a:pt x="1885950" y="668060"/>
                </a:lnTo>
                <a:lnTo>
                  <a:pt x="1903413" y="642809"/>
                </a:lnTo>
                <a:lnTo>
                  <a:pt x="1920875" y="617180"/>
                </a:lnTo>
                <a:lnTo>
                  <a:pt x="1938338" y="591244"/>
                </a:lnTo>
                <a:lnTo>
                  <a:pt x="1955800" y="565072"/>
                </a:lnTo>
                <a:lnTo>
                  <a:pt x="1973262" y="538736"/>
                </a:lnTo>
                <a:lnTo>
                  <a:pt x="1990725" y="512308"/>
                </a:lnTo>
                <a:lnTo>
                  <a:pt x="2008188" y="485861"/>
                </a:lnTo>
                <a:lnTo>
                  <a:pt x="2025650" y="459466"/>
                </a:lnTo>
                <a:lnTo>
                  <a:pt x="2043113" y="433197"/>
                </a:lnTo>
                <a:lnTo>
                  <a:pt x="2060575" y="407124"/>
                </a:lnTo>
                <a:lnTo>
                  <a:pt x="2078037" y="381321"/>
                </a:lnTo>
                <a:lnTo>
                  <a:pt x="2095500" y="355857"/>
                </a:lnTo>
                <a:lnTo>
                  <a:pt x="2112963" y="330802"/>
                </a:lnTo>
                <a:lnTo>
                  <a:pt x="2130425" y="306225"/>
                </a:lnTo>
                <a:lnTo>
                  <a:pt x="2147888" y="282193"/>
                </a:lnTo>
                <a:lnTo>
                  <a:pt x="2165350" y="258772"/>
                </a:lnTo>
                <a:lnTo>
                  <a:pt x="2182812" y="236027"/>
                </a:lnTo>
                <a:lnTo>
                  <a:pt x="2200275" y="214019"/>
                </a:lnTo>
                <a:lnTo>
                  <a:pt x="2217738" y="192810"/>
                </a:lnTo>
                <a:lnTo>
                  <a:pt x="2235200" y="172456"/>
                </a:lnTo>
                <a:lnTo>
                  <a:pt x="2252663" y="153015"/>
                </a:lnTo>
                <a:lnTo>
                  <a:pt x="2270125" y="134538"/>
                </a:lnTo>
                <a:lnTo>
                  <a:pt x="2287587" y="117078"/>
                </a:lnTo>
                <a:lnTo>
                  <a:pt x="2305050" y="100681"/>
                </a:lnTo>
                <a:lnTo>
                  <a:pt x="2322513" y="85392"/>
                </a:lnTo>
                <a:lnTo>
                  <a:pt x="2339975" y="71255"/>
                </a:lnTo>
                <a:lnTo>
                  <a:pt x="2357438" y="58306"/>
                </a:lnTo>
                <a:lnTo>
                  <a:pt x="2374900" y="46582"/>
                </a:lnTo>
                <a:lnTo>
                  <a:pt x="2392362" y="36116"/>
                </a:lnTo>
                <a:lnTo>
                  <a:pt x="2409825" y="26934"/>
                </a:lnTo>
                <a:lnTo>
                  <a:pt x="2427288" y="19064"/>
                </a:lnTo>
                <a:lnTo>
                  <a:pt x="2444750" y="12526"/>
                </a:lnTo>
                <a:lnTo>
                  <a:pt x="2462213" y="7338"/>
                </a:lnTo>
                <a:lnTo>
                  <a:pt x="2479675" y="3515"/>
                </a:lnTo>
                <a:lnTo>
                  <a:pt x="2497138" y="1067"/>
                </a:lnTo>
                <a:lnTo>
                  <a:pt x="2514600" y="0"/>
                </a:lnTo>
                <a:lnTo>
                  <a:pt x="2532062" y="318"/>
                </a:lnTo>
                <a:lnTo>
                  <a:pt x="2549525" y="2020"/>
                </a:lnTo>
                <a:lnTo>
                  <a:pt x="2566988" y="5100"/>
                </a:lnTo>
                <a:lnTo>
                  <a:pt x="2584450" y="9552"/>
                </a:lnTo>
                <a:lnTo>
                  <a:pt x="2601913" y="15361"/>
                </a:lnTo>
                <a:lnTo>
                  <a:pt x="2619375" y="22514"/>
                </a:lnTo>
                <a:lnTo>
                  <a:pt x="2636837" y="30989"/>
                </a:lnTo>
                <a:lnTo>
                  <a:pt x="2654300" y="40764"/>
                </a:lnTo>
                <a:lnTo>
                  <a:pt x="2671763" y="51811"/>
                </a:lnTo>
                <a:lnTo>
                  <a:pt x="2689225" y="64101"/>
                </a:lnTo>
                <a:lnTo>
                  <a:pt x="2706688" y="77601"/>
                </a:lnTo>
                <a:lnTo>
                  <a:pt x="2724150" y="92272"/>
                </a:lnTo>
                <a:lnTo>
                  <a:pt x="2741612" y="108074"/>
                </a:lnTo>
                <a:lnTo>
                  <a:pt x="2759075" y="124965"/>
                </a:lnTo>
                <a:lnTo>
                  <a:pt x="2776538" y="142899"/>
                </a:lnTo>
                <a:lnTo>
                  <a:pt x="2794000" y="161825"/>
                </a:lnTo>
                <a:lnTo>
                  <a:pt x="2811463" y="181692"/>
                </a:lnTo>
                <a:lnTo>
                  <a:pt x="2828925" y="202446"/>
                </a:lnTo>
                <a:lnTo>
                  <a:pt x="2846387" y="224029"/>
                </a:lnTo>
                <a:lnTo>
                  <a:pt x="2863850" y="246383"/>
                </a:lnTo>
                <a:lnTo>
                  <a:pt x="2881313" y="269446"/>
                </a:lnTo>
                <a:lnTo>
                  <a:pt x="2898775" y="293155"/>
                </a:lnTo>
                <a:lnTo>
                  <a:pt x="2916238" y="317446"/>
                </a:lnTo>
                <a:lnTo>
                  <a:pt x="2933700" y="342251"/>
                </a:lnTo>
                <a:lnTo>
                  <a:pt x="2951162" y="367502"/>
                </a:lnTo>
                <a:lnTo>
                  <a:pt x="2968625" y="393131"/>
                </a:lnTo>
                <a:lnTo>
                  <a:pt x="2986088" y="419067"/>
                </a:lnTo>
                <a:lnTo>
                  <a:pt x="3003550" y="445238"/>
                </a:lnTo>
                <a:lnTo>
                  <a:pt x="3021013" y="471574"/>
                </a:lnTo>
                <a:lnTo>
                  <a:pt x="3038475" y="498002"/>
                </a:lnTo>
                <a:lnTo>
                  <a:pt x="3055937" y="524450"/>
                </a:lnTo>
                <a:lnTo>
                  <a:pt x="3073400" y="550845"/>
                </a:lnTo>
                <a:lnTo>
                  <a:pt x="3090863" y="577114"/>
                </a:lnTo>
                <a:lnTo>
                  <a:pt x="3108325" y="603186"/>
                </a:lnTo>
                <a:lnTo>
                  <a:pt x="3125788" y="628990"/>
                </a:lnTo>
                <a:lnTo>
                  <a:pt x="3143250" y="654454"/>
                </a:lnTo>
                <a:lnTo>
                  <a:pt x="3160712" y="679509"/>
                </a:lnTo>
                <a:lnTo>
                  <a:pt x="3178175" y="704086"/>
                </a:lnTo>
                <a:lnTo>
                  <a:pt x="3195638" y="728118"/>
                </a:lnTo>
                <a:lnTo>
                  <a:pt x="3213100" y="751538"/>
                </a:lnTo>
                <a:lnTo>
                  <a:pt x="3230563" y="774284"/>
                </a:lnTo>
                <a:lnTo>
                  <a:pt x="3248025" y="796291"/>
                </a:lnTo>
                <a:lnTo>
                  <a:pt x="3265487" y="817501"/>
                </a:lnTo>
                <a:lnTo>
                  <a:pt x="3282950" y="837854"/>
                </a:lnTo>
                <a:lnTo>
                  <a:pt x="3300413" y="857296"/>
                </a:lnTo>
                <a:lnTo>
                  <a:pt x="3317875" y="875773"/>
                </a:lnTo>
                <a:lnTo>
                  <a:pt x="3335338" y="893233"/>
                </a:lnTo>
                <a:lnTo>
                  <a:pt x="3352800" y="909630"/>
                </a:lnTo>
                <a:lnTo>
                  <a:pt x="3370262" y="924918"/>
                </a:lnTo>
                <a:lnTo>
                  <a:pt x="3387725" y="939056"/>
                </a:lnTo>
                <a:lnTo>
                  <a:pt x="3405188" y="952005"/>
                </a:lnTo>
                <a:lnTo>
                  <a:pt x="3422650" y="963728"/>
                </a:lnTo>
                <a:lnTo>
                  <a:pt x="3440113" y="974195"/>
                </a:lnTo>
                <a:lnTo>
                  <a:pt x="3457575" y="983376"/>
                </a:lnTo>
                <a:lnTo>
                  <a:pt x="3475037" y="991247"/>
                </a:lnTo>
                <a:lnTo>
                  <a:pt x="3492500" y="997785"/>
                </a:lnTo>
                <a:lnTo>
                  <a:pt x="3509963" y="1002972"/>
                </a:lnTo>
                <a:lnTo>
                  <a:pt x="3527425" y="1006796"/>
                </a:lnTo>
                <a:lnTo>
                  <a:pt x="3544888" y="1009244"/>
                </a:lnTo>
                <a:lnTo>
                  <a:pt x="3562350" y="1010311"/>
                </a:lnTo>
                <a:lnTo>
                  <a:pt x="3579812" y="1009993"/>
                </a:lnTo>
                <a:lnTo>
                  <a:pt x="3597275" y="1008291"/>
                </a:lnTo>
                <a:lnTo>
                  <a:pt x="3614738" y="1005210"/>
                </a:lnTo>
                <a:lnTo>
                  <a:pt x="3632200" y="1000759"/>
                </a:lnTo>
                <a:lnTo>
                  <a:pt x="3649663" y="994949"/>
                </a:lnTo>
                <a:lnTo>
                  <a:pt x="3667125" y="987797"/>
                </a:lnTo>
                <a:lnTo>
                  <a:pt x="3684587" y="979322"/>
                </a:lnTo>
                <a:lnTo>
                  <a:pt x="3702050" y="969547"/>
                </a:lnTo>
                <a:lnTo>
                  <a:pt x="3719513" y="958500"/>
                </a:lnTo>
                <a:lnTo>
                  <a:pt x="3736975" y="946209"/>
                </a:lnTo>
                <a:lnTo>
                  <a:pt x="3754438" y="932710"/>
                </a:lnTo>
                <a:lnTo>
                  <a:pt x="3771900" y="918039"/>
                </a:lnTo>
                <a:lnTo>
                  <a:pt x="3789362" y="902236"/>
                </a:lnTo>
                <a:lnTo>
                  <a:pt x="3806825" y="885345"/>
                </a:lnTo>
                <a:lnTo>
                  <a:pt x="3824288" y="867412"/>
                </a:lnTo>
                <a:lnTo>
                  <a:pt x="3841750" y="848486"/>
                </a:lnTo>
                <a:lnTo>
                  <a:pt x="3859213" y="828619"/>
                </a:lnTo>
                <a:lnTo>
                  <a:pt x="3876675" y="807865"/>
                </a:lnTo>
                <a:lnTo>
                  <a:pt x="3894137" y="786282"/>
                </a:lnTo>
                <a:lnTo>
                  <a:pt x="3911600" y="763928"/>
                </a:lnTo>
                <a:lnTo>
                  <a:pt x="3929063" y="740865"/>
                </a:lnTo>
                <a:lnTo>
                  <a:pt x="3946525" y="717155"/>
                </a:lnTo>
                <a:lnTo>
                  <a:pt x="3963988" y="692865"/>
                </a:lnTo>
                <a:lnTo>
                  <a:pt x="3981450" y="668060"/>
                </a:lnTo>
                <a:lnTo>
                  <a:pt x="3998912" y="642809"/>
                </a:lnTo>
                <a:lnTo>
                  <a:pt x="4016375" y="617180"/>
                </a:lnTo>
                <a:lnTo>
                  <a:pt x="4033838" y="591244"/>
                </a:lnTo>
                <a:lnTo>
                  <a:pt x="4051300" y="565072"/>
                </a:lnTo>
                <a:lnTo>
                  <a:pt x="4068763" y="538736"/>
                </a:lnTo>
                <a:lnTo>
                  <a:pt x="4086225" y="512308"/>
                </a:lnTo>
                <a:lnTo>
                  <a:pt x="4103687" y="485861"/>
                </a:lnTo>
                <a:lnTo>
                  <a:pt x="4121150" y="459466"/>
                </a:lnTo>
                <a:lnTo>
                  <a:pt x="4138613" y="433197"/>
                </a:lnTo>
                <a:lnTo>
                  <a:pt x="4156075" y="407124"/>
                </a:lnTo>
                <a:lnTo>
                  <a:pt x="4173538" y="381321"/>
                </a:lnTo>
                <a:lnTo>
                  <a:pt x="4191000" y="355857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37373"/>
            </a:solidFill>
          </a:ln>
        </p:spPr>
      </p:sp>
      <p:sp>
        <p:nvSpPr>
          <p:cNvPr id="108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AE98FDAE-0190-4B72-9E15-F18E91769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65451"/>
            <a:ext cx="9525" cy="9995"/>
          </a:xfrm>
          <a:custGeom xmlns:a="http://schemas.openxmlformats.org/drawingml/2006/main">
            <a:pathLst>
              <a:path w="9525" h="9995">
                <a:moveTo>
                  <a:pt x="0" y="0"/>
                </a:moveTo>
                <a:lnTo>
                  <a:pt x="0" y="999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109" name="sample">
            <a:extLst xmlns:a="http://schemas.openxmlformats.org/drawingml/2006/main">
              <a:ext uri="{FF2B5EF4-FFF2-40B4-BE49-F238E27FC236}">
                <a16:creationId xmlns:a16="http://schemas.microsoft.com/office/drawing/2014/main" id="{964C19AF-651F-43FD-AC86-E25887DF9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537347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C9B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10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86547BAE-7AC2-4184-A081-69AFF22A0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9563" y="3445622"/>
            <a:ext cx="9525" cy="36956"/>
          </a:xfrm>
          <a:custGeom xmlns:a="http://schemas.openxmlformats.org/drawingml/2006/main">
            <a:pathLst>
              <a:path w="9525" h="36956">
                <a:moveTo>
                  <a:pt x="0" y="0"/>
                </a:moveTo>
                <a:lnTo>
                  <a:pt x="0" y="3695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111" name="sample">
            <a:extLst xmlns:a="http://schemas.openxmlformats.org/drawingml/2006/main">
              <a:ext uri="{FF2B5EF4-FFF2-40B4-BE49-F238E27FC236}">
                <a16:creationId xmlns:a16="http://schemas.microsoft.com/office/drawing/2014/main" id="{34546FB8-510D-47EC-A38B-007F5D319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1463" y="344447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C9B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12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BB52B860-BBFE-4958-9346-91D2EBFFA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6875" y="3344133"/>
            <a:ext cx="9525" cy="45577"/>
          </a:xfrm>
          <a:custGeom xmlns:a="http://schemas.openxmlformats.org/drawingml/2006/main">
            <a:pathLst>
              <a:path w="9525" h="45577">
                <a:moveTo>
                  <a:pt x="0" y="0"/>
                </a:moveTo>
                <a:lnTo>
                  <a:pt x="0" y="45577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113" name="sample">
            <a:extLst xmlns:a="http://schemas.openxmlformats.org/drawingml/2006/main">
              <a:ext uri="{FF2B5EF4-FFF2-40B4-BE49-F238E27FC236}">
                <a16:creationId xmlns:a16="http://schemas.microsoft.com/office/drawing/2014/main" id="{ADA487C7-E06D-484E-9ED8-49640CEAF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8775" y="3351609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C9B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14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C41BB081-E749-4A10-B77E-3F607D24C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4188" y="3267901"/>
            <a:ext cx="9525" cy="28940"/>
          </a:xfrm>
          <a:custGeom xmlns:a="http://schemas.openxmlformats.org/drawingml/2006/main">
            <a:pathLst>
              <a:path w="9525" h="28940">
                <a:moveTo>
                  <a:pt x="0" y="0"/>
                </a:moveTo>
                <a:lnTo>
                  <a:pt x="0" y="2894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115" name="sample">
            <a:extLst xmlns:a="http://schemas.openxmlformats.org/drawingml/2006/main">
              <a:ext uri="{FF2B5EF4-FFF2-40B4-BE49-F238E27FC236}">
                <a16:creationId xmlns:a16="http://schemas.microsoft.com/office/drawing/2014/main" id="{4ACF649C-2FE9-4F82-9219-C79B8EEA6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6088" y="3258741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C9B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16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6C6E6AB9-74BA-48EA-9F2B-E15053DB1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1500" y="3203972"/>
            <a:ext cx="9525" cy="18149"/>
          </a:xfrm>
          <a:custGeom xmlns:a="http://schemas.openxmlformats.org/drawingml/2006/main">
            <a:pathLst>
              <a:path w="9525" h="18149">
                <a:moveTo>
                  <a:pt x="0" y="1814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117" name="sample">
            <a:extLst xmlns:a="http://schemas.openxmlformats.org/drawingml/2006/main">
              <a:ext uri="{FF2B5EF4-FFF2-40B4-BE49-F238E27FC236}">
                <a16:creationId xmlns:a16="http://schemas.microsoft.com/office/drawing/2014/main" id="{0F965477-638E-47DE-BFC1-8FEA9D0BD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3400" y="3165872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C9B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18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D424B1CD-6F89-45B9-917B-D4F23B70D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8813" y="3203972"/>
            <a:ext cx="9525" cy="9525"/>
          </a:xfrm>
          <a:custGeom xmlns:a="http://schemas.openxmlformats.org/drawingml/2006/main">
            <a:pathLst>
              <a:path w="9525" h="9525">
                <a:moveTo>
                  <a:pt x="0" y="594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119" name="sample">
            <a:extLst xmlns:a="http://schemas.openxmlformats.org/drawingml/2006/main">
              <a:ext uri="{FF2B5EF4-FFF2-40B4-BE49-F238E27FC236}">
                <a16:creationId xmlns:a16="http://schemas.microsoft.com/office/drawing/2014/main" id="{FDB266B8-06B3-45BF-AC1A-E3D02DAFA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0713" y="3165872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C9B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20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4C3C9345-10F4-491F-A705-8A7F8DEE9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203972"/>
            <a:ext cx="9525" cy="28136"/>
          </a:xfrm>
          <a:custGeom xmlns:a="http://schemas.openxmlformats.org/drawingml/2006/main">
            <a:pathLst>
              <a:path w="9525" h="28136">
                <a:moveTo>
                  <a:pt x="0" y="2813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121" name="sample">
            <a:extLst xmlns:a="http://schemas.openxmlformats.org/drawingml/2006/main">
              <a:ext uri="{FF2B5EF4-FFF2-40B4-BE49-F238E27FC236}">
                <a16:creationId xmlns:a16="http://schemas.microsoft.com/office/drawing/2014/main" id="{E9AEEA19-64DF-4FB4-AEFD-8B04874A0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3165872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C9B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22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532A9790-D8E0-4D05-9EB3-710372999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3438" y="3287195"/>
            <a:ext cx="9525" cy="9645"/>
          </a:xfrm>
          <a:custGeom xmlns:a="http://schemas.openxmlformats.org/drawingml/2006/main">
            <a:pathLst>
              <a:path w="9525" h="9645">
                <a:moveTo>
                  <a:pt x="0" y="0"/>
                </a:moveTo>
                <a:lnTo>
                  <a:pt x="0" y="964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123" name="sample">
            <a:extLst xmlns:a="http://schemas.openxmlformats.org/drawingml/2006/main">
              <a:ext uri="{FF2B5EF4-FFF2-40B4-BE49-F238E27FC236}">
                <a16:creationId xmlns:a16="http://schemas.microsoft.com/office/drawing/2014/main" id="{1B4917D0-E7D5-47DE-925A-6CAD64B33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5338" y="3258741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C9B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24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3CDD223B-7C89-4C6C-97A1-7D63D9D5C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0750" y="3371419"/>
            <a:ext cx="9525" cy="18290"/>
          </a:xfrm>
          <a:custGeom xmlns:a="http://schemas.openxmlformats.org/drawingml/2006/main">
            <a:pathLst>
              <a:path w="9525" h="18290">
                <a:moveTo>
                  <a:pt x="0" y="0"/>
                </a:moveTo>
                <a:lnTo>
                  <a:pt x="0" y="1829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125" name="sample">
            <a:extLst xmlns:a="http://schemas.openxmlformats.org/drawingml/2006/main">
              <a:ext uri="{FF2B5EF4-FFF2-40B4-BE49-F238E27FC236}">
                <a16:creationId xmlns:a16="http://schemas.microsoft.com/office/drawing/2014/main" id="{DF3E9234-31CB-4BAE-8492-E29B5F9D9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2650" y="3351609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C9B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26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899E633C-4BF8-4D28-B0BE-D672A9540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8063" y="3479041"/>
            <a:ext cx="9525" cy="9525"/>
          </a:xfrm>
          <a:custGeom xmlns:a="http://schemas.openxmlformats.org/drawingml/2006/main">
            <a:pathLst>
              <a:path w="9525" h="9525">
                <a:moveTo>
                  <a:pt x="0" y="0"/>
                </a:moveTo>
                <a:lnTo>
                  <a:pt x="0" y="3537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127" name="sample">
            <a:extLst xmlns:a="http://schemas.openxmlformats.org/drawingml/2006/main">
              <a:ext uri="{FF2B5EF4-FFF2-40B4-BE49-F238E27FC236}">
                <a16:creationId xmlns:a16="http://schemas.microsoft.com/office/drawing/2014/main" id="{57879609-64D1-46D0-8D42-5AB61C773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9963" y="344447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C9B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28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54AC671C-094F-47C1-90C7-A8B56716A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5375" y="3575447"/>
            <a:ext cx="9525" cy="27279"/>
          </a:xfrm>
          <a:custGeom xmlns:a="http://schemas.openxmlformats.org/drawingml/2006/main">
            <a:pathLst>
              <a:path w="9525" h="27279">
                <a:moveTo>
                  <a:pt x="0" y="2727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129" name="sample">
            <a:extLst xmlns:a="http://schemas.openxmlformats.org/drawingml/2006/main">
              <a:ext uri="{FF2B5EF4-FFF2-40B4-BE49-F238E27FC236}">
                <a16:creationId xmlns:a16="http://schemas.microsoft.com/office/drawing/2014/main" id="{DCE3166F-E5C8-4A09-A1A2-DC4157881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7275" y="3537347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C9B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30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FB683D12-A20E-4410-B869-2C3E1404D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2688" y="3734044"/>
            <a:ext cx="9525" cy="27140"/>
          </a:xfrm>
          <a:custGeom xmlns:a="http://schemas.openxmlformats.org/drawingml/2006/main">
            <a:pathLst>
              <a:path w="9525" h="27140">
                <a:moveTo>
                  <a:pt x="0" y="0"/>
                </a:moveTo>
                <a:lnTo>
                  <a:pt x="0" y="2714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131" name="sample">
            <a:extLst xmlns:a="http://schemas.openxmlformats.org/drawingml/2006/main">
              <a:ext uri="{FF2B5EF4-FFF2-40B4-BE49-F238E27FC236}">
                <a16:creationId xmlns:a16="http://schemas.microsoft.com/office/drawing/2014/main" id="{C55D4C99-DDFD-40FC-9CC9-6AF7DFA26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4588" y="3723084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C9B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32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7F17FE03-80A8-446D-B304-C8E27AA2A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854053"/>
            <a:ext cx="9525" cy="9995"/>
          </a:xfrm>
          <a:custGeom xmlns:a="http://schemas.openxmlformats.org/drawingml/2006/main">
            <a:pathLst>
              <a:path w="9525" h="9995">
                <a:moveTo>
                  <a:pt x="0" y="999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133" name="sample">
            <a:extLst xmlns:a="http://schemas.openxmlformats.org/drawingml/2006/main">
              <a:ext uri="{FF2B5EF4-FFF2-40B4-BE49-F238E27FC236}">
                <a16:creationId xmlns:a16="http://schemas.microsoft.com/office/drawing/2014/main" id="{74908B26-CACA-484E-A628-1AD8FE949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81595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C9B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34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5FDE78A7-5843-44F3-8DF0-0F769EC6E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7313" y="3946922"/>
            <a:ext cx="9525" cy="36956"/>
          </a:xfrm>
          <a:custGeom xmlns:a="http://schemas.openxmlformats.org/drawingml/2006/main">
            <a:pathLst>
              <a:path w="9525" h="36956">
                <a:moveTo>
                  <a:pt x="0" y="3695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135" name="sample">
            <a:extLst xmlns:a="http://schemas.openxmlformats.org/drawingml/2006/main">
              <a:ext uri="{FF2B5EF4-FFF2-40B4-BE49-F238E27FC236}">
                <a16:creationId xmlns:a16="http://schemas.microsoft.com/office/drawing/2014/main" id="{0EC61D5A-A38F-4D80-B327-7A1D06C3C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9213" y="3908822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C9B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36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E2F8A67A-1EF2-47DE-A051-60D611E5D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4625" y="4039791"/>
            <a:ext cx="9525" cy="45577"/>
          </a:xfrm>
          <a:custGeom xmlns:a="http://schemas.openxmlformats.org/drawingml/2006/main">
            <a:pathLst>
              <a:path w="9525" h="45577">
                <a:moveTo>
                  <a:pt x="0" y="4557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137" name="sample">
            <a:extLst xmlns:a="http://schemas.openxmlformats.org/drawingml/2006/main">
              <a:ext uri="{FF2B5EF4-FFF2-40B4-BE49-F238E27FC236}">
                <a16:creationId xmlns:a16="http://schemas.microsoft.com/office/drawing/2014/main" id="{90233A5F-B72B-424C-A9F1-C1EC662A0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6525" y="4001691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C9B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38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CFD793B1-E817-4925-B074-696AF5291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1938" y="4132659"/>
            <a:ext cx="9525" cy="28940"/>
          </a:xfrm>
          <a:custGeom xmlns:a="http://schemas.openxmlformats.org/drawingml/2006/main">
            <a:pathLst>
              <a:path w="9525" h="28940">
                <a:moveTo>
                  <a:pt x="0" y="2894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139" name="sample">
            <a:extLst xmlns:a="http://schemas.openxmlformats.org/drawingml/2006/main">
              <a:ext uri="{FF2B5EF4-FFF2-40B4-BE49-F238E27FC236}">
                <a16:creationId xmlns:a16="http://schemas.microsoft.com/office/drawing/2014/main" id="{1CF947FD-01EF-471B-807B-8A3DD5B93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3838" y="4094559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C9B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40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C16D8D58-3B9E-4BEC-9A8F-A16BA281D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9250" y="4207379"/>
            <a:ext cx="9525" cy="18149"/>
          </a:xfrm>
          <a:custGeom xmlns:a="http://schemas.openxmlformats.org/drawingml/2006/main">
            <a:pathLst>
              <a:path w="9525" h="18149">
                <a:moveTo>
                  <a:pt x="0" y="0"/>
                </a:moveTo>
                <a:lnTo>
                  <a:pt x="0" y="18149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141" name="sample">
            <a:extLst xmlns:a="http://schemas.openxmlformats.org/drawingml/2006/main">
              <a:ext uri="{FF2B5EF4-FFF2-40B4-BE49-F238E27FC236}">
                <a16:creationId xmlns:a16="http://schemas.microsoft.com/office/drawing/2014/main" id="{1320FA51-AFA0-4B52-A7C7-88A55A6B1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1150" y="418742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C9B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42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25EABF8C-835A-4B19-B277-8F5B13B3B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6563" y="4219587"/>
            <a:ext cx="9525" cy="9525"/>
          </a:xfrm>
          <a:custGeom xmlns:a="http://schemas.openxmlformats.org/drawingml/2006/main">
            <a:pathLst>
              <a:path w="9525" h="9525">
                <a:moveTo>
                  <a:pt x="0" y="0"/>
                </a:moveTo>
                <a:lnTo>
                  <a:pt x="0" y="5941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143" name="sample">
            <a:extLst xmlns:a="http://schemas.openxmlformats.org/drawingml/2006/main">
              <a:ext uri="{FF2B5EF4-FFF2-40B4-BE49-F238E27FC236}">
                <a16:creationId xmlns:a16="http://schemas.microsoft.com/office/drawing/2014/main" id="{550A90D2-CF86-4B1E-A2A0-ADF15CFCC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8463" y="418742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C9B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44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B74E14BB-CCCA-4412-8C8C-C13330345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197392"/>
            <a:ext cx="9525" cy="28136"/>
          </a:xfrm>
          <a:custGeom xmlns:a="http://schemas.openxmlformats.org/drawingml/2006/main">
            <a:pathLst>
              <a:path w="9525" h="28136">
                <a:moveTo>
                  <a:pt x="0" y="0"/>
                </a:moveTo>
                <a:lnTo>
                  <a:pt x="0" y="2813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145" name="sample">
            <a:extLst xmlns:a="http://schemas.openxmlformats.org/drawingml/2006/main">
              <a:ext uri="{FF2B5EF4-FFF2-40B4-BE49-F238E27FC236}">
                <a16:creationId xmlns:a16="http://schemas.microsoft.com/office/drawing/2014/main" id="{8B6BB67F-6E61-4A14-AC54-1958D0B84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418742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C9B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46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D7C40B49-F936-482B-825A-B24C53FD6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1188" y="4132659"/>
            <a:ext cx="9525" cy="9645"/>
          </a:xfrm>
          <a:custGeom xmlns:a="http://schemas.openxmlformats.org/drawingml/2006/main">
            <a:pathLst>
              <a:path w="9525" h="9645">
                <a:moveTo>
                  <a:pt x="0" y="964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147" name="sample">
            <a:extLst xmlns:a="http://schemas.openxmlformats.org/drawingml/2006/main">
              <a:ext uri="{FF2B5EF4-FFF2-40B4-BE49-F238E27FC236}">
                <a16:creationId xmlns:a16="http://schemas.microsoft.com/office/drawing/2014/main" id="{0C6FE080-E4DD-47F8-92D1-9429C77A9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3088" y="4094559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C9B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48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0647EAF5-C5EE-4F20-B3C7-261A2A258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8500" y="4039791"/>
            <a:ext cx="9525" cy="18290"/>
          </a:xfrm>
          <a:custGeom xmlns:a="http://schemas.openxmlformats.org/drawingml/2006/main">
            <a:pathLst>
              <a:path w="9525" h="18290">
                <a:moveTo>
                  <a:pt x="0" y="1829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149" name="sample">
            <a:extLst xmlns:a="http://schemas.openxmlformats.org/drawingml/2006/main">
              <a:ext uri="{FF2B5EF4-FFF2-40B4-BE49-F238E27FC236}">
                <a16:creationId xmlns:a16="http://schemas.microsoft.com/office/drawing/2014/main" id="{67A2795E-F00B-4036-93CC-0F73A9EC3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0400" y="4001691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C9B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50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C29F3F16-D069-4CA7-9C65-0E0DA3C5F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5813" y="3946922"/>
            <a:ext cx="9525" cy="9525"/>
          </a:xfrm>
          <a:custGeom xmlns:a="http://schemas.openxmlformats.org/drawingml/2006/main">
            <a:pathLst>
              <a:path w="9525" h="9525">
                <a:moveTo>
                  <a:pt x="0" y="353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151" name="sample">
            <a:extLst xmlns:a="http://schemas.openxmlformats.org/drawingml/2006/main">
              <a:ext uri="{FF2B5EF4-FFF2-40B4-BE49-F238E27FC236}">
                <a16:creationId xmlns:a16="http://schemas.microsoft.com/office/drawing/2014/main" id="{F6F3676E-A682-4EC2-B8FC-E50A9D421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7713" y="3908822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C9B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52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5D63C3B1-9EBC-4456-8DD8-716050F3A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3125" y="3826774"/>
            <a:ext cx="9525" cy="27279"/>
          </a:xfrm>
          <a:custGeom xmlns:a="http://schemas.openxmlformats.org/drawingml/2006/main">
            <a:pathLst>
              <a:path w="9525" h="27279">
                <a:moveTo>
                  <a:pt x="0" y="0"/>
                </a:moveTo>
                <a:lnTo>
                  <a:pt x="0" y="27279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153" name="sample">
            <a:extLst xmlns:a="http://schemas.openxmlformats.org/drawingml/2006/main">
              <a:ext uri="{FF2B5EF4-FFF2-40B4-BE49-F238E27FC236}">
                <a16:creationId xmlns:a16="http://schemas.microsoft.com/office/drawing/2014/main" id="{C177030C-0CC7-4279-A66A-AFD111FB2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381595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C9B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54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7CAF954A-E11E-43A7-859B-2B33A3FC2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0438" y="3668316"/>
            <a:ext cx="9525" cy="27140"/>
          </a:xfrm>
          <a:custGeom xmlns:a="http://schemas.openxmlformats.org/drawingml/2006/main">
            <a:pathLst>
              <a:path w="9525" h="27140">
                <a:moveTo>
                  <a:pt x="0" y="2714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155" name="sample">
            <a:extLst xmlns:a="http://schemas.openxmlformats.org/drawingml/2006/main">
              <a:ext uri="{FF2B5EF4-FFF2-40B4-BE49-F238E27FC236}">
                <a16:creationId xmlns:a16="http://schemas.microsoft.com/office/drawing/2014/main" id="{37EBCB27-187D-4E30-8B4A-4067FBB6C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2338" y="3630216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C9B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56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1DC16521-16B0-4C0C-AE3D-3F12B9641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65451"/>
            <a:ext cx="9525" cy="9995"/>
          </a:xfrm>
          <a:custGeom xmlns:a="http://schemas.openxmlformats.org/drawingml/2006/main">
            <a:pathLst>
              <a:path w="9525" h="9995">
                <a:moveTo>
                  <a:pt x="0" y="0"/>
                </a:moveTo>
                <a:lnTo>
                  <a:pt x="0" y="999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157" name="sample">
            <a:extLst xmlns:a="http://schemas.openxmlformats.org/drawingml/2006/main">
              <a:ext uri="{FF2B5EF4-FFF2-40B4-BE49-F238E27FC236}">
                <a16:creationId xmlns:a16="http://schemas.microsoft.com/office/drawing/2014/main" id="{E7F4673F-76B6-4482-9F45-9811B4148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537347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C9B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58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7BB81E10-3CEF-465F-9B04-5606A3B57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5063" y="3445622"/>
            <a:ext cx="9525" cy="36956"/>
          </a:xfrm>
          <a:custGeom xmlns:a="http://schemas.openxmlformats.org/drawingml/2006/main">
            <a:pathLst>
              <a:path w="9525" h="36956">
                <a:moveTo>
                  <a:pt x="0" y="0"/>
                </a:moveTo>
                <a:lnTo>
                  <a:pt x="0" y="3695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159" name="sample">
            <a:extLst xmlns:a="http://schemas.openxmlformats.org/drawingml/2006/main">
              <a:ext uri="{FF2B5EF4-FFF2-40B4-BE49-F238E27FC236}">
                <a16:creationId xmlns:a16="http://schemas.microsoft.com/office/drawing/2014/main" id="{25D59256-115C-4579-A4C7-784F33778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6963" y="344447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C9B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60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E4B3F8A4-2F8C-4797-AA0C-A9E83AA3E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2375" y="3344133"/>
            <a:ext cx="9525" cy="45577"/>
          </a:xfrm>
          <a:custGeom xmlns:a="http://schemas.openxmlformats.org/drawingml/2006/main">
            <a:pathLst>
              <a:path w="9525" h="45577">
                <a:moveTo>
                  <a:pt x="0" y="0"/>
                </a:moveTo>
                <a:lnTo>
                  <a:pt x="0" y="45577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161" name="sample">
            <a:extLst xmlns:a="http://schemas.openxmlformats.org/drawingml/2006/main">
              <a:ext uri="{FF2B5EF4-FFF2-40B4-BE49-F238E27FC236}">
                <a16:creationId xmlns:a16="http://schemas.microsoft.com/office/drawing/2014/main" id="{0F62E494-88B4-4227-94BF-70972EAD2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4275" y="3351609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C9B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62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25878C6F-9FB2-4D96-A916-DC278C4D5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9688" y="3267901"/>
            <a:ext cx="9525" cy="28940"/>
          </a:xfrm>
          <a:custGeom xmlns:a="http://schemas.openxmlformats.org/drawingml/2006/main">
            <a:pathLst>
              <a:path w="9525" h="28940">
                <a:moveTo>
                  <a:pt x="0" y="0"/>
                </a:moveTo>
                <a:lnTo>
                  <a:pt x="0" y="2894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163" name="sample">
            <a:extLst xmlns:a="http://schemas.openxmlformats.org/drawingml/2006/main">
              <a:ext uri="{FF2B5EF4-FFF2-40B4-BE49-F238E27FC236}">
                <a16:creationId xmlns:a16="http://schemas.microsoft.com/office/drawing/2014/main" id="{5A20DB22-A4F5-49BE-A94B-E0B053E6A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1588" y="3258741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C9B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64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8FFA749D-50DD-4724-B99D-FC056EADB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7000" y="3203972"/>
            <a:ext cx="9525" cy="18149"/>
          </a:xfrm>
          <a:custGeom xmlns:a="http://schemas.openxmlformats.org/drawingml/2006/main">
            <a:pathLst>
              <a:path w="9525" h="18149">
                <a:moveTo>
                  <a:pt x="0" y="1814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165" name="sample">
            <a:extLst xmlns:a="http://schemas.openxmlformats.org/drawingml/2006/main">
              <a:ext uri="{FF2B5EF4-FFF2-40B4-BE49-F238E27FC236}">
                <a16:creationId xmlns:a16="http://schemas.microsoft.com/office/drawing/2014/main" id="{8EA8EDE1-57F4-4FA9-ADB7-2D67847ED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8900" y="3165872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C9B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66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364E09B9-8298-4A1B-91D6-715B7D0A8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4313" y="3203972"/>
            <a:ext cx="9525" cy="9525"/>
          </a:xfrm>
          <a:custGeom xmlns:a="http://schemas.openxmlformats.org/drawingml/2006/main">
            <a:pathLst>
              <a:path w="9525" h="9525">
                <a:moveTo>
                  <a:pt x="0" y="594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167" name="sample">
            <a:extLst xmlns:a="http://schemas.openxmlformats.org/drawingml/2006/main">
              <a:ext uri="{FF2B5EF4-FFF2-40B4-BE49-F238E27FC236}">
                <a16:creationId xmlns:a16="http://schemas.microsoft.com/office/drawing/2014/main" id="{4221A482-5B55-470B-9208-B45C2A7A8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6213" y="3165872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C9B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68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1A4ACD7C-95D7-4AAD-826F-D8F56DDB3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203972"/>
            <a:ext cx="9525" cy="28136"/>
          </a:xfrm>
          <a:custGeom xmlns:a="http://schemas.openxmlformats.org/drawingml/2006/main">
            <a:pathLst>
              <a:path w="9525" h="28136">
                <a:moveTo>
                  <a:pt x="0" y="2813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169" name="sample">
            <a:extLst xmlns:a="http://schemas.openxmlformats.org/drawingml/2006/main">
              <a:ext uri="{FF2B5EF4-FFF2-40B4-BE49-F238E27FC236}">
                <a16:creationId xmlns:a16="http://schemas.microsoft.com/office/drawing/2014/main" id="{A22EAEBA-E3B3-42EB-AA5A-C66669E7D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165872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C9B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70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700213D7-5D13-44F3-A725-BD8ADEE15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8938" y="3287195"/>
            <a:ext cx="9525" cy="9645"/>
          </a:xfrm>
          <a:custGeom xmlns:a="http://schemas.openxmlformats.org/drawingml/2006/main">
            <a:pathLst>
              <a:path w="9525" h="9645">
                <a:moveTo>
                  <a:pt x="0" y="0"/>
                </a:moveTo>
                <a:lnTo>
                  <a:pt x="0" y="964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171" name="sample">
            <a:extLst xmlns:a="http://schemas.openxmlformats.org/drawingml/2006/main">
              <a:ext uri="{FF2B5EF4-FFF2-40B4-BE49-F238E27FC236}">
                <a16:creationId xmlns:a16="http://schemas.microsoft.com/office/drawing/2014/main" id="{D12AD8EE-1DA5-47D8-A758-497A3AA6C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0838" y="3258741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C9B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72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DC79F99D-3F80-4638-9BB6-144D8B68B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6250" y="3371419"/>
            <a:ext cx="9525" cy="18290"/>
          </a:xfrm>
          <a:custGeom xmlns:a="http://schemas.openxmlformats.org/drawingml/2006/main">
            <a:pathLst>
              <a:path w="9525" h="18290">
                <a:moveTo>
                  <a:pt x="0" y="0"/>
                </a:moveTo>
                <a:lnTo>
                  <a:pt x="0" y="1829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173" name="sample">
            <a:extLst xmlns:a="http://schemas.openxmlformats.org/drawingml/2006/main">
              <a:ext uri="{FF2B5EF4-FFF2-40B4-BE49-F238E27FC236}">
                <a16:creationId xmlns:a16="http://schemas.microsoft.com/office/drawing/2014/main" id="{4C584F59-68E8-4F2E-A15A-BC59C5928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8150" y="3351609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C9B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74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46C73CF3-71D3-4CD3-9B8C-9F5E1A85C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3563" y="3479041"/>
            <a:ext cx="9525" cy="9525"/>
          </a:xfrm>
          <a:custGeom xmlns:a="http://schemas.openxmlformats.org/drawingml/2006/main">
            <a:pathLst>
              <a:path w="9525" h="9525">
                <a:moveTo>
                  <a:pt x="0" y="0"/>
                </a:moveTo>
                <a:lnTo>
                  <a:pt x="0" y="3537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175" name="sample">
            <a:extLst xmlns:a="http://schemas.openxmlformats.org/drawingml/2006/main">
              <a:ext uri="{FF2B5EF4-FFF2-40B4-BE49-F238E27FC236}">
                <a16:creationId xmlns:a16="http://schemas.microsoft.com/office/drawing/2014/main" id="{2B02D1F4-9870-4DF4-B141-BCF5D459F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5463" y="344447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C9B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76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6DCF28F1-82FE-44BA-BD90-CE08EE2BD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0875" y="3575447"/>
            <a:ext cx="9525" cy="27279"/>
          </a:xfrm>
          <a:custGeom xmlns:a="http://schemas.openxmlformats.org/drawingml/2006/main">
            <a:pathLst>
              <a:path w="9525" h="27279">
                <a:moveTo>
                  <a:pt x="0" y="2727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177" name="sample">
            <a:extLst xmlns:a="http://schemas.openxmlformats.org/drawingml/2006/main">
              <a:ext uri="{FF2B5EF4-FFF2-40B4-BE49-F238E27FC236}">
                <a16:creationId xmlns:a16="http://schemas.microsoft.com/office/drawing/2014/main" id="{20AB407B-6BD9-4860-B4BC-244215081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2775" y="3537347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C9B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78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96F84FF2-6167-47E1-9E12-DB61ED6A7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8188" y="3734044"/>
            <a:ext cx="9525" cy="27140"/>
          </a:xfrm>
          <a:custGeom xmlns:a="http://schemas.openxmlformats.org/drawingml/2006/main">
            <a:pathLst>
              <a:path w="9525" h="27140">
                <a:moveTo>
                  <a:pt x="0" y="0"/>
                </a:moveTo>
                <a:lnTo>
                  <a:pt x="0" y="2714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179" name="sample">
            <a:extLst xmlns:a="http://schemas.openxmlformats.org/drawingml/2006/main">
              <a:ext uri="{FF2B5EF4-FFF2-40B4-BE49-F238E27FC236}">
                <a16:creationId xmlns:a16="http://schemas.microsoft.com/office/drawing/2014/main" id="{485D673A-DE70-45A5-8D68-2B23758FC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0088" y="3723084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C9B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80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D733730F-E7B8-40D5-A6D5-713BA083A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854053"/>
            <a:ext cx="9525" cy="9995"/>
          </a:xfrm>
          <a:custGeom xmlns:a="http://schemas.openxmlformats.org/drawingml/2006/main">
            <a:pathLst>
              <a:path w="9525" h="9995">
                <a:moveTo>
                  <a:pt x="0" y="999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181" name="sample">
            <a:extLst xmlns:a="http://schemas.openxmlformats.org/drawingml/2006/main">
              <a:ext uri="{FF2B5EF4-FFF2-40B4-BE49-F238E27FC236}">
                <a16:creationId xmlns:a16="http://schemas.microsoft.com/office/drawing/2014/main" id="{40BFC6A3-AEA3-4238-94FD-35C6B384A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81595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C9B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82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72DCE118-46AF-4950-A8DF-A10BC4BCE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2813" y="3946922"/>
            <a:ext cx="9525" cy="36956"/>
          </a:xfrm>
          <a:custGeom xmlns:a="http://schemas.openxmlformats.org/drawingml/2006/main">
            <a:pathLst>
              <a:path w="9525" h="36956">
                <a:moveTo>
                  <a:pt x="0" y="3695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183" name="sample">
            <a:extLst xmlns:a="http://schemas.openxmlformats.org/drawingml/2006/main">
              <a:ext uri="{FF2B5EF4-FFF2-40B4-BE49-F238E27FC236}">
                <a16:creationId xmlns:a16="http://schemas.microsoft.com/office/drawing/2014/main" id="{718049E4-AA23-4810-9469-895361359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4713" y="3908822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C9B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84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DCA196CC-9DAA-4A4C-82BC-D7042C15B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0125" y="4039791"/>
            <a:ext cx="9525" cy="45577"/>
          </a:xfrm>
          <a:custGeom xmlns:a="http://schemas.openxmlformats.org/drawingml/2006/main">
            <a:pathLst>
              <a:path w="9525" h="45577">
                <a:moveTo>
                  <a:pt x="0" y="4557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185" name="sample">
            <a:extLst xmlns:a="http://schemas.openxmlformats.org/drawingml/2006/main">
              <a:ext uri="{FF2B5EF4-FFF2-40B4-BE49-F238E27FC236}">
                <a16:creationId xmlns:a16="http://schemas.microsoft.com/office/drawing/2014/main" id="{51473753-47F8-4D63-B06B-FA04C7879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2025" y="4001691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C9B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86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ACB3BD8E-4A9C-442A-87AC-A9D39A1C7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7438" y="4132659"/>
            <a:ext cx="9525" cy="28940"/>
          </a:xfrm>
          <a:custGeom xmlns:a="http://schemas.openxmlformats.org/drawingml/2006/main">
            <a:pathLst>
              <a:path w="9525" h="28940">
                <a:moveTo>
                  <a:pt x="0" y="2894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187" name="sample">
            <a:extLst xmlns:a="http://schemas.openxmlformats.org/drawingml/2006/main">
              <a:ext uri="{FF2B5EF4-FFF2-40B4-BE49-F238E27FC236}">
                <a16:creationId xmlns:a16="http://schemas.microsoft.com/office/drawing/2014/main" id="{613C340D-E2D3-4579-A3B8-F200038FB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9338" y="4094559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C9B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88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2F651E92-53C9-486A-8480-86B66C5CB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4750" y="4207379"/>
            <a:ext cx="9525" cy="18149"/>
          </a:xfrm>
          <a:custGeom xmlns:a="http://schemas.openxmlformats.org/drawingml/2006/main">
            <a:pathLst>
              <a:path w="9525" h="18149">
                <a:moveTo>
                  <a:pt x="0" y="0"/>
                </a:moveTo>
                <a:lnTo>
                  <a:pt x="0" y="18149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189" name="sample">
            <a:extLst xmlns:a="http://schemas.openxmlformats.org/drawingml/2006/main">
              <a:ext uri="{FF2B5EF4-FFF2-40B4-BE49-F238E27FC236}">
                <a16:creationId xmlns:a16="http://schemas.microsoft.com/office/drawing/2014/main" id="{28954430-9FBA-4F43-8985-4D343D442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6650" y="418742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C9B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90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61B9E497-4C64-43DD-AA3D-A096F60F1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2063" y="4219587"/>
            <a:ext cx="9525" cy="9525"/>
          </a:xfrm>
          <a:custGeom xmlns:a="http://schemas.openxmlformats.org/drawingml/2006/main">
            <a:pathLst>
              <a:path w="9525" h="9525">
                <a:moveTo>
                  <a:pt x="0" y="0"/>
                </a:moveTo>
                <a:lnTo>
                  <a:pt x="0" y="5941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191" name="sample">
            <a:extLst xmlns:a="http://schemas.openxmlformats.org/drawingml/2006/main">
              <a:ext uri="{FF2B5EF4-FFF2-40B4-BE49-F238E27FC236}">
                <a16:creationId xmlns:a16="http://schemas.microsoft.com/office/drawing/2014/main" id="{2F5A66B6-5BE9-4EF6-BDCB-1579BF2CC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3963" y="418742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C9B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92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9353394B-8B29-400E-81C3-F98DC556C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197392"/>
            <a:ext cx="9525" cy="28136"/>
          </a:xfrm>
          <a:custGeom xmlns:a="http://schemas.openxmlformats.org/drawingml/2006/main">
            <a:pathLst>
              <a:path w="9525" h="28136">
                <a:moveTo>
                  <a:pt x="0" y="0"/>
                </a:moveTo>
                <a:lnTo>
                  <a:pt x="0" y="2813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193" name="sample">
            <a:extLst xmlns:a="http://schemas.openxmlformats.org/drawingml/2006/main">
              <a:ext uri="{FF2B5EF4-FFF2-40B4-BE49-F238E27FC236}">
                <a16:creationId xmlns:a16="http://schemas.microsoft.com/office/drawing/2014/main" id="{C06F22C3-2C8B-48D1-88B8-D8CFE9FCF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418742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C9B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94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9AED867C-9DA5-439B-A7FC-58E7AE6FD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6688" y="4132659"/>
            <a:ext cx="9525" cy="9645"/>
          </a:xfrm>
          <a:custGeom xmlns:a="http://schemas.openxmlformats.org/drawingml/2006/main">
            <a:pathLst>
              <a:path w="9525" h="9645">
                <a:moveTo>
                  <a:pt x="0" y="964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195" name="sample">
            <a:extLst xmlns:a="http://schemas.openxmlformats.org/drawingml/2006/main">
              <a:ext uri="{FF2B5EF4-FFF2-40B4-BE49-F238E27FC236}">
                <a16:creationId xmlns:a16="http://schemas.microsoft.com/office/drawing/2014/main" id="{24F308FC-5C62-4435-A897-EEB0395FA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8588" y="4094559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C9B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96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A1A2362F-2D7E-484B-99D8-D09D46EB1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0" y="4039791"/>
            <a:ext cx="9525" cy="18290"/>
          </a:xfrm>
          <a:custGeom xmlns:a="http://schemas.openxmlformats.org/drawingml/2006/main">
            <a:pathLst>
              <a:path w="9525" h="18290">
                <a:moveTo>
                  <a:pt x="0" y="1829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197" name="sample">
            <a:extLst xmlns:a="http://schemas.openxmlformats.org/drawingml/2006/main">
              <a:ext uri="{FF2B5EF4-FFF2-40B4-BE49-F238E27FC236}">
                <a16:creationId xmlns:a16="http://schemas.microsoft.com/office/drawing/2014/main" id="{2F51C984-A277-4E9C-8C15-80004767F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5900" y="4001691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C9B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98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01404964-92B3-451B-8F2D-9F348A2C1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1313" y="3946922"/>
            <a:ext cx="9525" cy="9525"/>
          </a:xfrm>
          <a:custGeom xmlns:a="http://schemas.openxmlformats.org/drawingml/2006/main">
            <a:pathLst>
              <a:path w="9525" h="9525">
                <a:moveTo>
                  <a:pt x="0" y="353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199" name="sample">
            <a:extLst xmlns:a="http://schemas.openxmlformats.org/drawingml/2006/main">
              <a:ext uri="{FF2B5EF4-FFF2-40B4-BE49-F238E27FC236}">
                <a16:creationId xmlns:a16="http://schemas.microsoft.com/office/drawing/2014/main" id="{62423E9C-83D4-49FA-8E79-5F18DA1CE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3213" y="3908822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C9B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00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136383E4-7703-449A-BB81-0C6871F49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8625" y="3826774"/>
            <a:ext cx="9525" cy="27279"/>
          </a:xfrm>
          <a:custGeom xmlns:a="http://schemas.openxmlformats.org/drawingml/2006/main">
            <a:pathLst>
              <a:path w="9525" h="27279">
                <a:moveTo>
                  <a:pt x="0" y="0"/>
                </a:moveTo>
                <a:lnTo>
                  <a:pt x="0" y="27279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201" name="sample">
            <a:extLst xmlns:a="http://schemas.openxmlformats.org/drawingml/2006/main">
              <a:ext uri="{FF2B5EF4-FFF2-40B4-BE49-F238E27FC236}">
                <a16:creationId xmlns:a16="http://schemas.microsoft.com/office/drawing/2014/main" id="{91A89B4F-243E-42D6-8955-FE69807D4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0525" y="381595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C9B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02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F857BCA2-6522-463C-959B-1DDF8FB40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5938" y="3668316"/>
            <a:ext cx="9525" cy="27140"/>
          </a:xfrm>
          <a:custGeom xmlns:a="http://schemas.openxmlformats.org/drawingml/2006/main">
            <a:pathLst>
              <a:path w="9525" h="27140">
                <a:moveTo>
                  <a:pt x="0" y="2714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203" name="sample">
            <a:extLst xmlns:a="http://schemas.openxmlformats.org/drawingml/2006/main">
              <a:ext uri="{FF2B5EF4-FFF2-40B4-BE49-F238E27FC236}">
                <a16:creationId xmlns:a16="http://schemas.microsoft.com/office/drawing/2014/main" id="{FFEBA5EA-134D-4FD2-9589-069DC0AC7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7838" y="3630216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C9B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04" name="text">
            <a:extLst xmlns:a="http://schemas.openxmlformats.org/drawingml/2006/main">
              <a:ext uri="{FF2B5EF4-FFF2-40B4-BE49-F238E27FC236}">
                <a16:creationId xmlns:a16="http://schemas.microsoft.com/office/drawing/2014/main" id="{AD89D4EA-A0F6-4387-BA4A-5E2B9661D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等级更密，量化步长更小。</a:t>
            </a:r>
          </a:p>
        </p:txBody>
      </p:sp>
      <p:sp>
        <p:nvSpPr>
          <p:cNvPr id="205" name="text">
            <a:extLst xmlns:a="http://schemas.openxmlformats.org/drawingml/2006/main">
              <a:ext uri="{FF2B5EF4-FFF2-40B4-BE49-F238E27FC236}">
                <a16:creationId xmlns:a16="http://schemas.microsoft.com/office/drawing/2014/main" id="{1AFC49CD-D574-4A59-99B7-F8B28F600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同一范围内，量化误差上界减小。</a:t>
            </a:r>
          </a:p>
        </p:txBody>
      </p:sp>
    </p:spTree>
    <p:extLst>
      <p:ext uri="{BB962C8B-B14F-4D97-AF65-F5344CB8AC3E}">
        <p14:creationId xmlns:p14="http://schemas.microsoft.com/office/powerpoint/2010/main" val="1001497349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op-rail">
            <a:extLst xmlns:a="http://schemas.openxmlformats.org/drawingml/2006/main">
              <a:ext uri="{FF2B5EF4-FFF2-40B4-BE49-F238E27FC236}">
                <a16:creationId xmlns:a16="http://schemas.microsoft.com/office/drawing/2014/main" id="{C1C2CBEF-4301-4962-9159-3909D550D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040356AC-8F41-4C95-B44C-6B0109C61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EBC36C21-E957-47F0-BE33-9397E5791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同一个样本，两种近似误差是多少？</a:t>
            </a:r>
          </a:p>
        </p:txBody>
      </p:sp>
      <p:sp>
        <p:nvSpPr>
          <p:cNvPr id="4" name="given-0">
            <a:extLst xmlns:a="http://schemas.openxmlformats.org/drawingml/2006/main">
              <a:ext uri="{FF2B5EF4-FFF2-40B4-BE49-F238E27FC236}">
                <a16:creationId xmlns:a16="http://schemas.microsoft.com/office/drawing/2014/main" id="{819444C4-CEAA-4268-8320-A5596C788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原样本−0.10。</a:t>
            </a:r>
          </a:p>
        </p:txBody>
      </p:sp>
      <p:sp>
        <p:nvSpPr>
          <p:cNvPr id="5" name="given-1">
            <a:extLst xmlns:a="http://schemas.openxmlformats.org/drawingml/2006/main">
              <a:ext uri="{FF2B5EF4-FFF2-40B4-BE49-F238E27FC236}">
                <a16:creationId xmlns:a16="http://schemas.microsoft.com/office/drawing/2014/main" id="{28A93D9F-7C8E-4A94-8798-05D63310E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2bit代表值−0.25；4bit代表值−0.0625。</a:t>
            </a:r>
          </a:p>
        </p:txBody>
      </p:sp>
      <p:sp>
        <p:nvSpPr>
          <p:cNvPr id="6" name="given-2">
            <a:extLst xmlns:a="http://schemas.openxmlformats.org/drawingml/2006/main">
              <a:ext uri="{FF2B5EF4-FFF2-40B4-BE49-F238E27FC236}">
                <a16:creationId xmlns:a16="http://schemas.microsoft.com/office/drawing/2014/main" id="{5CDB4466-7F4F-4F06-AA23-C3552A146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分别求与原样本的绝对差。</a:t>
            </a:r>
          </a:p>
        </p:txBody>
      </p:sp>
    </p:spTree>
    <p:extLst>
      <p:ext uri="{BB962C8B-B14F-4D97-AF65-F5344CB8AC3E}">
        <p14:creationId xmlns:p14="http://schemas.microsoft.com/office/powerpoint/2010/main" val="849511368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op-rail">
            <a:extLst xmlns:a="http://schemas.openxmlformats.org/drawingml/2006/main">
              <a:ext uri="{FF2B5EF4-FFF2-40B4-BE49-F238E27FC236}">
                <a16:creationId xmlns:a16="http://schemas.microsoft.com/office/drawing/2014/main" id="{C1C2CBEF-4301-4962-9159-3909D550D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040356AC-8F41-4C95-B44C-6B0109C61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EBC36C21-E957-47F0-BE33-9397E5791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同一个样本，两种近似误差是多少？</a:t>
            </a:r>
          </a:p>
        </p:txBody>
      </p:sp>
      <p:sp>
        <p:nvSpPr>
          <p:cNvPr id="4" name="given-0">
            <a:extLst xmlns:a="http://schemas.openxmlformats.org/drawingml/2006/main">
              <a:ext uri="{FF2B5EF4-FFF2-40B4-BE49-F238E27FC236}">
                <a16:creationId xmlns:a16="http://schemas.microsoft.com/office/drawing/2014/main" id="{819444C4-CEAA-4268-8320-A5596C788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原样本−0.10。</a:t>
            </a:r>
          </a:p>
        </p:txBody>
      </p:sp>
      <p:sp>
        <p:nvSpPr>
          <p:cNvPr id="5" name="given-1">
            <a:extLst xmlns:a="http://schemas.openxmlformats.org/drawingml/2006/main">
              <a:ext uri="{FF2B5EF4-FFF2-40B4-BE49-F238E27FC236}">
                <a16:creationId xmlns:a16="http://schemas.microsoft.com/office/drawing/2014/main" id="{28A93D9F-7C8E-4A94-8798-05D63310E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2bit代表值−0.25；4bit代表值−0.0625。</a:t>
            </a:r>
          </a:p>
        </p:txBody>
      </p:sp>
      <p:sp>
        <p:nvSpPr>
          <p:cNvPr id="6" name="given-2">
            <a:extLst xmlns:a="http://schemas.openxmlformats.org/drawingml/2006/main">
              <a:ext uri="{FF2B5EF4-FFF2-40B4-BE49-F238E27FC236}">
                <a16:creationId xmlns:a16="http://schemas.microsoft.com/office/drawing/2014/main" id="{5CDB4466-7F4F-4F06-AA23-C3552A146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分别求与原样本的绝对差。</a:t>
            </a:r>
          </a:p>
        </p:txBody>
      </p:sp>
      <p:sp>
        <p:nvSpPr>
          <p:cNvPr id="7" name="line">
            <a:extLst xmlns:a="http://schemas.openxmlformats.org/drawingml/2006/main">
              <a:ext uri="{FF2B5EF4-FFF2-40B4-BE49-F238E27FC236}">
                <a16:creationId xmlns:a16="http://schemas.microsoft.com/office/drawing/2014/main" id="{6EC7F2A3-7564-469E-AC2B-EDBDB28B5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10972800" cy="9525"/>
          </a:xfrm>
          <a:custGeom xmlns:a="http://schemas.openxmlformats.org/drawingml/2006/main"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8DF"/>
            </a:solidFill>
          </a:ln>
        </p:spPr>
      </p:sp>
      <p:sp>
        <p:nvSpPr>
          <p:cNvPr id="8" name="answer-0">
            <a:extLst xmlns:a="http://schemas.openxmlformats.org/drawingml/2006/main">
              <a:ext uri="{FF2B5EF4-FFF2-40B4-BE49-F238E27FC236}">
                <a16:creationId xmlns:a16="http://schemas.microsoft.com/office/drawing/2014/main" id="{BC202FA9-F130-4F46-8994-0C43BEBEB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2bit：|−0.25 − (−0.10)| = 0.15。</a:t>
            </a:r>
          </a:p>
        </p:txBody>
      </p:sp>
      <p:sp>
        <p:nvSpPr>
          <p:cNvPr id="9" name="answer-1">
            <a:extLst xmlns:a="http://schemas.openxmlformats.org/drawingml/2006/main">
              <a:ext uri="{FF2B5EF4-FFF2-40B4-BE49-F238E27FC236}">
                <a16:creationId xmlns:a16="http://schemas.microsoft.com/office/drawing/2014/main" id="{3A809C36-35BC-4489-9C2F-330DD47D0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577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4bit：|−0.0625 − (−0.10)| = 0.0375。</a:t>
            </a:r>
          </a:p>
        </p:txBody>
      </p:sp>
    </p:spTree>
    <p:extLst>
      <p:ext uri="{BB962C8B-B14F-4D97-AF65-F5344CB8AC3E}">
        <p14:creationId xmlns:p14="http://schemas.microsoft.com/office/powerpoint/2010/main" val="849511368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op-rail">
            <a:extLst xmlns:a="http://schemas.openxmlformats.org/drawingml/2006/main">
              <a:ext uri="{FF2B5EF4-FFF2-40B4-BE49-F238E27FC236}">
                <a16:creationId xmlns:a16="http://schemas.microsoft.com/office/drawing/2014/main" id="{B123C391-86C4-442F-A3B0-BFAFE7112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FA1675D6-4E3E-44B0-B592-9E2D31896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4C59FB27-C941-4995-B0E7-6A7033A55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量化位数加倍，等级也只加倍吗？</a:t>
            </a:r>
          </a:p>
        </p:txBody>
      </p:sp>
      <p:sp>
        <p:nvSpPr>
          <p:cNvPr id="4" name="given-0">
            <a:extLst xmlns:a="http://schemas.openxmlformats.org/drawingml/2006/main">
              <a:ext uri="{FF2B5EF4-FFF2-40B4-BE49-F238E27FC236}">
                <a16:creationId xmlns:a16="http://schemas.microsoft.com/office/drawing/2014/main" id="{EADBC5F3-3003-4F45-972A-CB176B937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2bit、4bit、8bit各有多少个码字？</a:t>
            </a:r>
          </a:p>
        </p:txBody>
      </p:sp>
      <p:sp>
        <p:nvSpPr>
          <p:cNvPr id="5" name="given-1">
            <a:extLst xmlns:a="http://schemas.openxmlformats.org/drawingml/2006/main">
              <a:ext uri="{FF2B5EF4-FFF2-40B4-BE49-F238E27FC236}">
                <a16:creationId xmlns:a16="http://schemas.microsoft.com/office/drawing/2014/main" id="{44B3444E-EF6D-4747-8256-E676CDD8B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16bit最多能区分多少个等级？</a:t>
            </a:r>
          </a:p>
        </p:txBody>
      </p:sp>
    </p:spTree>
    <p:extLst>
      <p:ext uri="{BB962C8B-B14F-4D97-AF65-F5344CB8AC3E}">
        <p14:creationId xmlns:p14="http://schemas.microsoft.com/office/powerpoint/2010/main" val="1540560717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op-rail">
            <a:extLst xmlns:a="http://schemas.openxmlformats.org/drawingml/2006/main">
              <a:ext uri="{FF2B5EF4-FFF2-40B4-BE49-F238E27FC236}">
                <a16:creationId xmlns:a16="http://schemas.microsoft.com/office/drawing/2014/main" id="{B123C391-86C4-442F-A3B0-BFAFE7112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FA1675D6-4E3E-44B0-B592-9E2D31896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4C59FB27-C941-4995-B0E7-6A7033A55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量化位数加倍，等级也只加倍吗？</a:t>
            </a:r>
          </a:p>
        </p:txBody>
      </p:sp>
      <p:sp>
        <p:nvSpPr>
          <p:cNvPr id="4" name="given-0">
            <a:extLst xmlns:a="http://schemas.openxmlformats.org/drawingml/2006/main">
              <a:ext uri="{FF2B5EF4-FFF2-40B4-BE49-F238E27FC236}">
                <a16:creationId xmlns:a16="http://schemas.microsoft.com/office/drawing/2014/main" id="{EADBC5F3-3003-4F45-972A-CB176B937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2bit、4bit、8bit各有多少个码字？</a:t>
            </a:r>
          </a:p>
        </p:txBody>
      </p:sp>
      <p:sp>
        <p:nvSpPr>
          <p:cNvPr id="5" name="given-1">
            <a:extLst xmlns:a="http://schemas.openxmlformats.org/drawingml/2006/main">
              <a:ext uri="{FF2B5EF4-FFF2-40B4-BE49-F238E27FC236}">
                <a16:creationId xmlns:a16="http://schemas.microsoft.com/office/drawing/2014/main" id="{44B3444E-EF6D-4747-8256-E676CDD8B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16bit最多能区分多少个等级？</a:t>
            </a:r>
          </a:p>
        </p:txBody>
      </p:sp>
      <p:sp>
        <p:nvSpPr>
          <p:cNvPr id="6" name="line">
            <a:extLst xmlns:a="http://schemas.openxmlformats.org/drawingml/2006/main">
              <a:ext uri="{FF2B5EF4-FFF2-40B4-BE49-F238E27FC236}">
                <a16:creationId xmlns:a16="http://schemas.microsoft.com/office/drawing/2014/main" id="{0C446267-0E41-4A33-A71A-9A8E67128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10972800" cy="9525"/>
          </a:xfrm>
          <a:custGeom xmlns:a="http://schemas.openxmlformats.org/drawingml/2006/main"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8DF"/>
            </a:solidFill>
          </a:ln>
        </p:spPr>
      </p:sp>
      <p:sp>
        <p:nvSpPr>
          <p:cNvPr id="7" name="answer-0">
            <a:extLst xmlns:a="http://schemas.openxmlformats.org/drawingml/2006/main">
              <a:ext uri="{FF2B5EF4-FFF2-40B4-BE49-F238E27FC236}">
                <a16:creationId xmlns:a16="http://schemas.microsoft.com/office/drawing/2014/main" id="{C3E43FAB-B42D-4913-B083-828625C71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2² = 4；2⁴ = 16；2⁸ = 256。</a:t>
            </a:r>
          </a:p>
        </p:txBody>
      </p:sp>
      <p:sp>
        <p:nvSpPr>
          <p:cNvPr id="8" name="answer-1">
            <a:extLst xmlns:a="http://schemas.openxmlformats.org/drawingml/2006/main">
              <a:ext uri="{FF2B5EF4-FFF2-40B4-BE49-F238E27FC236}">
                <a16:creationId xmlns:a16="http://schemas.microsoft.com/office/drawing/2014/main" id="{25E26FE5-90FA-4F70-A863-E5A4F804B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577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2¹⁶ = 65,536。</a:t>
            </a:r>
          </a:p>
        </p:txBody>
      </p:sp>
      <p:sp>
        <p:nvSpPr>
          <p:cNvPr id="9" name="answer-2">
            <a:extLst xmlns:a="http://schemas.openxmlformats.org/drawingml/2006/main">
              <a:ext uri="{FF2B5EF4-FFF2-40B4-BE49-F238E27FC236}">
                <a16:creationId xmlns:a16="http://schemas.microsoft.com/office/drawing/2014/main" id="{35CECA58-F57D-471F-95F5-3967B7CFB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2442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n bit最多表示2ⁿ个等级。</a:t>
            </a:r>
          </a:p>
        </p:txBody>
      </p:sp>
    </p:spTree>
    <p:extLst>
      <p:ext uri="{BB962C8B-B14F-4D97-AF65-F5344CB8AC3E}">
        <p14:creationId xmlns:p14="http://schemas.microsoft.com/office/powerpoint/2010/main" val="1540560717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op-rail">
            <a:extLst xmlns:a="http://schemas.openxmlformats.org/drawingml/2006/main">
              <a:ext uri="{FF2B5EF4-FFF2-40B4-BE49-F238E27FC236}">
                <a16:creationId xmlns:a16="http://schemas.microsoft.com/office/drawing/2014/main" id="{5CCDE427-0C80-4158-B283-43C089BAF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234C9FBF-D1CD-4285-BCDD-AE0840276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C526C590-2A11-4F98-842A-88E8D8E9C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三步分别改变了什么？</a:t>
            </a:r>
          </a:p>
        </p:txBody>
      </p:sp>
      <p:sp>
        <p:nvSpPr>
          <p:cNvPr id="4" name="given-0">
            <a:extLst xmlns:a="http://schemas.openxmlformats.org/drawingml/2006/main">
              <a:ext uri="{FF2B5EF4-FFF2-40B4-BE49-F238E27FC236}">
                <a16:creationId xmlns:a16="http://schemas.microsoft.com/office/drawing/2014/main" id="{A8948379-42D3-4A7B-80AE-F7AE9F1C2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采样、量化、编码，分别回答哪一个问题？</a:t>
            </a:r>
          </a:p>
        </p:txBody>
      </p:sp>
      <p:sp>
        <p:nvSpPr>
          <p:cNvPr id="5" name="given-1">
            <a:extLst xmlns:a="http://schemas.openxmlformats.org/drawingml/2006/main">
              <a:ext uri="{FF2B5EF4-FFF2-40B4-BE49-F238E27FC236}">
                <a16:creationId xmlns:a16="http://schemas.microsoft.com/office/drawing/2014/main" id="{53E9B9D0-9105-4B0D-A19E-91C981F59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什么时候读？幅度分多细？怎样写码字？</a:t>
            </a:r>
          </a:p>
        </p:txBody>
      </p:sp>
    </p:spTree>
    <p:extLst>
      <p:ext uri="{BB962C8B-B14F-4D97-AF65-F5344CB8AC3E}">
        <p14:creationId xmlns:p14="http://schemas.microsoft.com/office/powerpoint/2010/main" val="1961002171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op-rail">
            <a:extLst xmlns:a="http://schemas.openxmlformats.org/drawingml/2006/main">
              <a:ext uri="{FF2B5EF4-FFF2-40B4-BE49-F238E27FC236}">
                <a16:creationId xmlns:a16="http://schemas.microsoft.com/office/drawing/2014/main" id="{5CCDE427-0C80-4158-B283-43C089BAF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234C9FBF-D1CD-4285-BCDD-AE0840276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C526C590-2A11-4F98-842A-88E8D8E9C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三步分别改变了什么？</a:t>
            </a:r>
          </a:p>
        </p:txBody>
      </p:sp>
      <p:sp>
        <p:nvSpPr>
          <p:cNvPr id="4" name="given-0">
            <a:extLst xmlns:a="http://schemas.openxmlformats.org/drawingml/2006/main">
              <a:ext uri="{FF2B5EF4-FFF2-40B4-BE49-F238E27FC236}">
                <a16:creationId xmlns:a16="http://schemas.microsoft.com/office/drawing/2014/main" id="{A8948379-42D3-4A7B-80AE-F7AE9F1C2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采样、量化、编码，分别回答哪一个问题？</a:t>
            </a:r>
          </a:p>
        </p:txBody>
      </p:sp>
      <p:sp>
        <p:nvSpPr>
          <p:cNvPr id="5" name="given-1">
            <a:extLst xmlns:a="http://schemas.openxmlformats.org/drawingml/2006/main">
              <a:ext uri="{FF2B5EF4-FFF2-40B4-BE49-F238E27FC236}">
                <a16:creationId xmlns:a16="http://schemas.microsoft.com/office/drawing/2014/main" id="{53E9B9D0-9105-4B0D-A19E-91C981F59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什么时候读？幅度分多细？怎样写码字？</a:t>
            </a:r>
          </a:p>
        </p:txBody>
      </p:sp>
      <p:sp>
        <p:nvSpPr>
          <p:cNvPr id="6" name="line">
            <a:extLst xmlns:a="http://schemas.openxmlformats.org/drawingml/2006/main">
              <a:ext uri="{FF2B5EF4-FFF2-40B4-BE49-F238E27FC236}">
                <a16:creationId xmlns:a16="http://schemas.microsoft.com/office/drawing/2014/main" id="{400D494C-770D-4DCC-9A23-C7B22FE5D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10972800" cy="9525"/>
          </a:xfrm>
          <a:custGeom xmlns:a="http://schemas.openxmlformats.org/drawingml/2006/main"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8DF"/>
            </a:solidFill>
          </a:ln>
        </p:spPr>
      </p:sp>
      <p:sp>
        <p:nvSpPr>
          <p:cNvPr id="7" name="answer-0">
            <a:extLst xmlns:a="http://schemas.openxmlformats.org/drawingml/2006/main">
              <a:ext uri="{FF2B5EF4-FFF2-40B4-BE49-F238E27FC236}">
                <a16:creationId xmlns:a16="http://schemas.microsoft.com/office/drawing/2014/main" id="{3E4135B4-A5C5-41E8-AF74-FDDF68CE9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连续电信号 → 采样 → 量化 → 编码 → 数字样本。</a:t>
            </a:r>
          </a:p>
        </p:txBody>
      </p:sp>
      <p:sp>
        <p:nvSpPr>
          <p:cNvPr id="8" name="answer-1">
            <a:extLst xmlns:a="http://schemas.openxmlformats.org/drawingml/2006/main">
              <a:ext uri="{FF2B5EF4-FFF2-40B4-BE49-F238E27FC236}">
                <a16:creationId xmlns:a16="http://schemas.microsoft.com/office/drawing/2014/main" id="{70544A09-002A-47EA-80FB-CDED94D41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577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采样：选时刻；量化：近似幅度；编码：写码字。</a:t>
            </a:r>
          </a:p>
        </p:txBody>
      </p:sp>
      <p:sp>
        <p:nvSpPr>
          <p:cNvPr id="9" name="answer-2">
            <a:extLst xmlns:a="http://schemas.openxmlformats.org/drawingml/2006/main">
              <a:ext uri="{FF2B5EF4-FFF2-40B4-BE49-F238E27FC236}">
                <a16:creationId xmlns:a16="http://schemas.microsoft.com/office/drawing/2014/main" id="{24EC729D-D530-442B-8713-EA02CE606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2442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本课对已有数字音频的重新处理，是计算模拟。</a:t>
            </a:r>
          </a:p>
        </p:txBody>
      </p:sp>
    </p:spTree>
    <p:extLst>
      <p:ext uri="{BB962C8B-B14F-4D97-AF65-F5344CB8AC3E}">
        <p14:creationId xmlns:p14="http://schemas.microsoft.com/office/powerpoint/2010/main" val="1961002171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6" name=""/>
          <p:cNvCxnSpPr>
            <a:stCxn xmlns:a="http://schemas.openxmlformats.org/drawingml/2006/main" id="4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2800350" y="3562350"/>
            <a:ext cx="866775" cy="13144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C64E1"/>
            </a:solidFill>
          </a:ln>
        </p:spPr>
      </p:cxnSp>
      <p:cxnSp>
        <p:nvCxnSpPr>
          <p:cNvPr id="27" name=""/>
          <p:cNvCxnSpPr>
            <a:stCxn xmlns:a="http://schemas.openxmlformats.org/drawingml/2006/main" id="4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2800350" y="3562350"/>
            <a:ext cx="866775" cy="4095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C64E1"/>
            </a:solidFill>
          </a:ln>
        </p:spPr>
      </p:cxnSp>
      <p:cxnSp>
        <p:nvCxnSpPr>
          <p:cNvPr id="28" name=""/>
          <p:cNvCxnSpPr>
            <a:stCxn xmlns:a="http://schemas.openxmlformats.org/drawingml/2006/main" id="4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V="1">
            <a:off x="2800350" y="3067050"/>
            <a:ext cx="866775" cy="4953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C64E1"/>
            </a:solidFill>
          </a:ln>
        </p:spPr>
      </p:cxnSp>
      <p:cxnSp>
        <p:nvCxnSpPr>
          <p:cNvPr id="29" name=""/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2800350" y="2162175"/>
            <a:ext cx="866775" cy="14001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C64E1"/>
            </a:solidFill>
          </a:ln>
        </p:spPr>
      </p:cxnSp>
      <p:sp>
        <p:nvSpPr>
          <p:cNvPr id="30" name="top-rail">
            <a:extLst xmlns:a="http://schemas.openxmlformats.org/drawingml/2006/main">
              <a:ext uri="{FF2B5EF4-FFF2-40B4-BE49-F238E27FC236}">
                <a16:creationId xmlns:a16="http://schemas.microsoft.com/office/drawing/2014/main" id="{B615AE08-9C5C-41E7-AC98-E667D41B0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8365CACB-B72D-4A96-8AC0-C94DA0769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1F33720B-280D-4F62-8C64-7374D3E68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两个参数分别限制什么？</a:t>
            </a:r>
          </a:p>
        </p:txBody>
      </p:sp>
      <p:sp>
        <p:nvSpPr>
          <p:cNvPr id="4" name="tree-root">
            <a:extLst xmlns:a="http://schemas.openxmlformats.org/drawingml/2006/main">
              <a:ext uri="{FF2B5EF4-FFF2-40B4-BE49-F238E27FC236}">
                <a16:creationId xmlns:a16="http://schemas.microsoft.com/office/drawing/2014/main" id="{B5B5F539-42F1-47DB-8C13-E4DE01930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2190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5" name="tree-label-root">
            <a:extLst xmlns:a="http://schemas.openxmlformats.org/drawingml/2006/main">
              <a:ext uri="{FF2B5EF4-FFF2-40B4-BE49-F238E27FC236}">
                <a16:creationId xmlns:a16="http://schemas.microsoft.com/office/drawing/2014/main" id="{7396F84E-FB97-4C54-B202-9FA902A2D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19450"/>
            <a:ext cx="1962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数字音频</a:t>
            </a:r>
          </a:p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记录模型</a:t>
            </a:r>
          </a:p>
        </p:txBody>
      </p:sp>
      <p:sp>
        <p:nvSpPr>
          <p:cNvPr id="6" name="tree-sampling">
            <a:extLst xmlns:a="http://schemas.openxmlformats.org/drawingml/2006/main">
              <a:ext uri="{FF2B5EF4-FFF2-40B4-BE49-F238E27FC236}">
                <a16:creationId xmlns:a16="http://schemas.microsoft.com/office/drawing/2014/main" id="{EE28B9EB-A3F4-4BA9-A60B-5BAF354F5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762125"/>
            <a:ext cx="25241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7" name="tree-label-sampling">
            <a:extLst xmlns:a="http://schemas.openxmlformats.org/drawingml/2006/main">
              <a:ext uri="{FF2B5EF4-FFF2-40B4-BE49-F238E27FC236}">
                <a16:creationId xmlns:a16="http://schemas.microsoft.com/office/drawing/2014/main" id="{D2F8BA5A-5011-4B25-8BA4-4BA09D402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1800225"/>
            <a:ext cx="22955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采样</a:t>
            </a:r>
          </a:p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离散时刻</a:t>
            </a:r>
          </a:p>
        </p:txBody>
      </p:sp>
      <p:sp>
        <p:nvSpPr>
          <p:cNvPr id="9" name="tree-focus">
            <a:extLst xmlns:a="http://schemas.openxmlformats.org/drawingml/2006/main">
              <a:ext uri="{FF2B5EF4-FFF2-40B4-BE49-F238E27FC236}">
                <a16:creationId xmlns:a16="http://schemas.microsoft.com/office/drawing/2014/main" id="{CE5D09E6-4328-465A-B8F8-165C953C6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724025"/>
            <a:ext cx="26003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" name="tree-new">
            <a:extLst xmlns:a="http://schemas.openxmlformats.org/drawingml/2006/main">
              <a:ext uri="{FF2B5EF4-FFF2-40B4-BE49-F238E27FC236}">
                <a16:creationId xmlns:a16="http://schemas.microsoft.com/office/drawing/2014/main" id="{62BBC657-623B-4BF6-AE32-128ADA650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914525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/>
            </a:r>
          </a:p>
        </p:txBody>
      </p:sp>
      <p:sp>
        <p:nvSpPr>
          <p:cNvPr id="11" name="tree-quantization">
            <a:extLst xmlns:a="http://schemas.openxmlformats.org/drawingml/2006/main">
              <a:ext uri="{FF2B5EF4-FFF2-40B4-BE49-F238E27FC236}">
                <a16:creationId xmlns:a16="http://schemas.microsoft.com/office/drawing/2014/main" id="{159739EF-A090-4065-9E48-143359CE9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667000"/>
            <a:ext cx="25241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2" name="tree-label-quantization">
            <a:extLst xmlns:a="http://schemas.openxmlformats.org/drawingml/2006/main">
              <a:ext uri="{FF2B5EF4-FFF2-40B4-BE49-F238E27FC236}">
                <a16:creationId xmlns:a16="http://schemas.microsoft.com/office/drawing/2014/main" id="{05808172-445E-478B-99EA-4957F9E40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705100"/>
            <a:ext cx="22955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量化</a:t>
            </a:r>
          </a:p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有限幅度</a:t>
            </a:r>
          </a:p>
        </p:txBody>
      </p:sp>
      <p:sp>
        <p:nvSpPr>
          <p:cNvPr id="14" name="tree-focus">
            <a:extLst xmlns:a="http://schemas.openxmlformats.org/drawingml/2006/main">
              <a:ext uri="{FF2B5EF4-FFF2-40B4-BE49-F238E27FC236}">
                <a16:creationId xmlns:a16="http://schemas.microsoft.com/office/drawing/2014/main" id="{9E0FB84C-6142-4D3C-9896-4592B88EF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28900"/>
            <a:ext cx="26003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" name="tree-new">
            <a:extLst xmlns:a="http://schemas.openxmlformats.org/drawingml/2006/main">
              <a:ext uri="{FF2B5EF4-FFF2-40B4-BE49-F238E27FC236}">
                <a16:creationId xmlns:a16="http://schemas.microsoft.com/office/drawing/2014/main" id="{06CD0068-8A8A-4048-80A7-104476BC1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81940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/>
            </a:r>
          </a:p>
        </p:txBody>
      </p:sp>
      <p:sp>
        <p:nvSpPr>
          <p:cNvPr id="16" name="tree-encoding">
            <a:extLst xmlns:a="http://schemas.openxmlformats.org/drawingml/2006/main">
              <a:ext uri="{FF2B5EF4-FFF2-40B4-BE49-F238E27FC236}">
                <a16:creationId xmlns:a16="http://schemas.microsoft.com/office/drawing/2014/main" id="{63FDFFDB-5A94-4CAC-A1BD-64408FDBB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571875"/>
            <a:ext cx="25241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7" name="tree-label-encoding">
            <a:extLst xmlns:a="http://schemas.openxmlformats.org/drawingml/2006/main">
              <a:ext uri="{FF2B5EF4-FFF2-40B4-BE49-F238E27FC236}">
                <a16:creationId xmlns:a16="http://schemas.microsoft.com/office/drawing/2014/main" id="{823B1695-3080-42A1-8A14-C23253570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3609975"/>
            <a:ext cx="22955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编码</a:t>
            </a:r>
          </a:p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表示等级</a:t>
            </a:r>
          </a:p>
        </p:txBody>
      </p:sp>
      <p:sp>
        <p:nvSpPr>
          <p:cNvPr id="19" name="tree-focus">
            <a:extLst xmlns:a="http://schemas.openxmlformats.org/drawingml/2006/main">
              <a:ext uri="{FF2B5EF4-FFF2-40B4-BE49-F238E27FC236}">
                <a16:creationId xmlns:a16="http://schemas.microsoft.com/office/drawing/2014/main" id="{08E63920-FBAD-4FB7-86CD-4FB9C2B59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533775"/>
            <a:ext cx="26003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" name="tree-new">
            <a:extLst xmlns:a="http://schemas.openxmlformats.org/drawingml/2006/main">
              <a:ext uri="{FF2B5EF4-FFF2-40B4-BE49-F238E27FC236}">
                <a16:creationId xmlns:a16="http://schemas.microsoft.com/office/drawing/2014/main" id="{7DF10078-BC82-40DD-8446-C748F2490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724275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/>
            </a:r>
          </a:p>
        </p:txBody>
      </p:sp>
      <p:sp>
        <p:nvSpPr>
          <p:cNvPr id="21" name="tree-parameters">
            <a:extLst xmlns:a="http://schemas.openxmlformats.org/drawingml/2006/main">
              <a:ext uri="{FF2B5EF4-FFF2-40B4-BE49-F238E27FC236}">
                <a16:creationId xmlns:a16="http://schemas.microsoft.com/office/drawing/2014/main" id="{344AF17A-0850-4DBF-BD89-02E7A8B3A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476750"/>
            <a:ext cx="25241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2" name="tree-label-parameters">
            <a:extLst xmlns:a="http://schemas.openxmlformats.org/drawingml/2006/main">
              <a:ext uri="{FF2B5EF4-FFF2-40B4-BE49-F238E27FC236}">
                <a16:creationId xmlns:a16="http://schemas.microsoft.com/office/drawing/2014/main" id="{5A8ABD60-2DDB-441A-AF85-DEA0EC653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4514850"/>
            <a:ext cx="22955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序列＋解释参数</a:t>
            </a:r>
          </a:p>
        </p:txBody>
      </p:sp>
      <p:sp>
        <p:nvSpPr>
          <p:cNvPr id="24" name="tree-focus">
            <a:extLst xmlns:a="http://schemas.openxmlformats.org/drawingml/2006/main">
              <a:ext uri="{FF2B5EF4-FFF2-40B4-BE49-F238E27FC236}">
                <a16:creationId xmlns:a16="http://schemas.microsoft.com/office/drawing/2014/main" id="{3A07B3B0-42FE-462D-A6BA-BEB0DD950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438650"/>
            <a:ext cx="26003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5" name="tree-new">
            <a:extLst xmlns:a="http://schemas.openxmlformats.org/drawingml/2006/main">
              <a:ext uri="{FF2B5EF4-FFF2-40B4-BE49-F238E27FC236}">
                <a16:creationId xmlns:a16="http://schemas.microsoft.com/office/drawing/2014/main" id="{E372D916-86ED-4957-A75D-D6D45A933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62915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841598685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1" name=""/>
          <p:cNvCxnSpPr>
            <a:stCxn xmlns:a="http://schemas.openxmlformats.org/drawingml/2006/main" id="6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6191250" y="2162175"/>
            <a:ext cx="1428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C64E1"/>
            </a:solidFill>
          </a:ln>
        </p:spPr>
      </p:cxnSp>
      <p:cxnSp>
        <p:nvCxnSpPr>
          <p:cNvPr id="32" name=""/>
          <p:cNvCxnSpPr>
            <a:stCxn xmlns:a="http://schemas.openxmlformats.org/drawingml/2006/main" id="4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2800350" y="3562350"/>
            <a:ext cx="866775" cy="13144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C64E1"/>
            </a:solidFill>
          </a:ln>
        </p:spPr>
      </p:cxnSp>
      <p:cxnSp>
        <p:nvCxnSpPr>
          <p:cNvPr id="33" name=""/>
          <p:cNvCxnSpPr>
            <a:stCxn xmlns:a="http://schemas.openxmlformats.org/drawingml/2006/main" id="4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2800350" y="3562350"/>
            <a:ext cx="866775" cy="4095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C64E1"/>
            </a:solidFill>
          </a:ln>
        </p:spPr>
      </p:cxnSp>
      <p:cxnSp>
        <p:nvCxnSpPr>
          <p:cNvPr id="34" name=""/>
          <p:cNvCxnSpPr>
            <a:stCxn xmlns:a="http://schemas.openxmlformats.org/drawingml/2006/main" id="4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V="1">
            <a:off x="2800350" y="3067050"/>
            <a:ext cx="866775" cy="4953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C64E1"/>
            </a:solidFill>
          </a:ln>
        </p:spPr>
      </p:cxnSp>
      <p:cxnSp>
        <p:nvCxnSpPr>
          <p:cNvPr id="35" name=""/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2800350" y="2162175"/>
            <a:ext cx="866775" cy="14001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C64E1"/>
            </a:solidFill>
          </a:ln>
        </p:spPr>
      </p:cxnSp>
      <p:sp>
        <p:nvSpPr>
          <p:cNvPr id="36" name="top-rail">
            <a:extLst xmlns:a="http://schemas.openxmlformats.org/drawingml/2006/main">
              <a:ext uri="{FF2B5EF4-FFF2-40B4-BE49-F238E27FC236}">
                <a16:creationId xmlns:a16="http://schemas.microsoft.com/office/drawing/2014/main" id="{B615AE08-9C5C-41E7-AC98-E667D41B0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8365CACB-B72D-4A96-8AC0-C94DA0769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1F33720B-280D-4F62-8C64-7374D3E68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两个参数分别限制什么？</a:t>
            </a:r>
          </a:p>
        </p:txBody>
      </p:sp>
      <p:sp>
        <p:nvSpPr>
          <p:cNvPr id="4" name="tree-root">
            <a:extLst xmlns:a="http://schemas.openxmlformats.org/drawingml/2006/main">
              <a:ext uri="{FF2B5EF4-FFF2-40B4-BE49-F238E27FC236}">
                <a16:creationId xmlns:a16="http://schemas.microsoft.com/office/drawing/2014/main" id="{B5B5F539-42F1-47DB-8C13-E4DE01930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2190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5" name="tree-label-root">
            <a:extLst xmlns:a="http://schemas.openxmlformats.org/drawingml/2006/main">
              <a:ext uri="{FF2B5EF4-FFF2-40B4-BE49-F238E27FC236}">
                <a16:creationId xmlns:a16="http://schemas.microsoft.com/office/drawing/2014/main" id="{7396F84E-FB97-4C54-B202-9FA902A2D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19450"/>
            <a:ext cx="1962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数字音频</a:t>
            </a:r>
          </a:p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记录模型</a:t>
            </a:r>
          </a:p>
        </p:txBody>
      </p:sp>
      <p:sp>
        <p:nvSpPr>
          <p:cNvPr id="6" name="tree-sampling">
            <a:extLst xmlns:a="http://schemas.openxmlformats.org/drawingml/2006/main">
              <a:ext uri="{FF2B5EF4-FFF2-40B4-BE49-F238E27FC236}">
                <a16:creationId xmlns:a16="http://schemas.microsoft.com/office/drawing/2014/main" id="{EE28B9EB-A3F4-4BA9-A60B-5BAF354F5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762125"/>
            <a:ext cx="25241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7" name="tree-label-sampling">
            <a:extLst xmlns:a="http://schemas.openxmlformats.org/drawingml/2006/main">
              <a:ext uri="{FF2B5EF4-FFF2-40B4-BE49-F238E27FC236}">
                <a16:creationId xmlns:a16="http://schemas.microsoft.com/office/drawing/2014/main" id="{D2F8BA5A-5011-4B25-8BA4-4BA09D402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1800225"/>
            <a:ext cx="22955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采样</a:t>
            </a:r>
          </a:p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离散时刻</a:t>
            </a:r>
          </a:p>
        </p:txBody>
      </p:sp>
      <p:sp>
        <p:nvSpPr>
          <p:cNvPr id="9" name="tree-focus">
            <a:extLst xmlns:a="http://schemas.openxmlformats.org/drawingml/2006/main">
              <a:ext uri="{FF2B5EF4-FFF2-40B4-BE49-F238E27FC236}">
                <a16:creationId xmlns:a16="http://schemas.microsoft.com/office/drawing/2014/main" id="{CE5D09E6-4328-465A-B8F8-165C953C6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724025"/>
            <a:ext cx="26003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" name="tree-new">
            <a:extLst xmlns:a="http://schemas.openxmlformats.org/drawingml/2006/main">
              <a:ext uri="{FF2B5EF4-FFF2-40B4-BE49-F238E27FC236}">
                <a16:creationId xmlns:a16="http://schemas.microsoft.com/office/drawing/2014/main" id="{62BBC657-623B-4BF6-AE32-128ADA650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914525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/>
            </a:r>
          </a:p>
        </p:txBody>
      </p:sp>
      <p:sp>
        <p:nvSpPr>
          <p:cNvPr id="11" name="tree-quantization">
            <a:extLst xmlns:a="http://schemas.openxmlformats.org/drawingml/2006/main">
              <a:ext uri="{FF2B5EF4-FFF2-40B4-BE49-F238E27FC236}">
                <a16:creationId xmlns:a16="http://schemas.microsoft.com/office/drawing/2014/main" id="{159739EF-A090-4065-9E48-143359CE9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667000"/>
            <a:ext cx="25241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2" name="tree-label-quantization">
            <a:extLst xmlns:a="http://schemas.openxmlformats.org/drawingml/2006/main">
              <a:ext uri="{FF2B5EF4-FFF2-40B4-BE49-F238E27FC236}">
                <a16:creationId xmlns:a16="http://schemas.microsoft.com/office/drawing/2014/main" id="{05808172-445E-478B-99EA-4957F9E40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705100"/>
            <a:ext cx="22955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量化</a:t>
            </a:r>
          </a:p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有限幅度</a:t>
            </a:r>
          </a:p>
        </p:txBody>
      </p:sp>
      <p:sp>
        <p:nvSpPr>
          <p:cNvPr id="14" name="tree-focus">
            <a:extLst xmlns:a="http://schemas.openxmlformats.org/drawingml/2006/main">
              <a:ext uri="{FF2B5EF4-FFF2-40B4-BE49-F238E27FC236}">
                <a16:creationId xmlns:a16="http://schemas.microsoft.com/office/drawing/2014/main" id="{9E0FB84C-6142-4D3C-9896-4592B88EF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28900"/>
            <a:ext cx="26003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" name="tree-new">
            <a:extLst xmlns:a="http://schemas.openxmlformats.org/drawingml/2006/main">
              <a:ext uri="{FF2B5EF4-FFF2-40B4-BE49-F238E27FC236}">
                <a16:creationId xmlns:a16="http://schemas.microsoft.com/office/drawing/2014/main" id="{06CD0068-8A8A-4048-80A7-104476BC1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81940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/>
            </a:r>
          </a:p>
        </p:txBody>
      </p:sp>
      <p:sp>
        <p:nvSpPr>
          <p:cNvPr id="16" name="tree-encoding">
            <a:extLst xmlns:a="http://schemas.openxmlformats.org/drawingml/2006/main">
              <a:ext uri="{FF2B5EF4-FFF2-40B4-BE49-F238E27FC236}">
                <a16:creationId xmlns:a16="http://schemas.microsoft.com/office/drawing/2014/main" id="{63FDFFDB-5A94-4CAC-A1BD-64408FDBB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571875"/>
            <a:ext cx="25241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7" name="tree-label-encoding">
            <a:extLst xmlns:a="http://schemas.openxmlformats.org/drawingml/2006/main">
              <a:ext uri="{FF2B5EF4-FFF2-40B4-BE49-F238E27FC236}">
                <a16:creationId xmlns:a16="http://schemas.microsoft.com/office/drawing/2014/main" id="{823B1695-3080-42A1-8A14-C23253570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3609975"/>
            <a:ext cx="22955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编码</a:t>
            </a:r>
          </a:p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表示等级</a:t>
            </a:r>
          </a:p>
        </p:txBody>
      </p:sp>
      <p:sp>
        <p:nvSpPr>
          <p:cNvPr id="19" name="tree-focus">
            <a:extLst xmlns:a="http://schemas.openxmlformats.org/drawingml/2006/main">
              <a:ext uri="{FF2B5EF4-FFF2-40B4-BE49-F238E27FC236}">
                <a16:creationId xmlns:a16="http://schemas.microsoft.com/office/drawing/2014/main" id="{08E63920-FBAD-4FB7-86CD-4FB9C2B59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533775"/>
            <a:ext cx="26003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" name="tree-new">
            <a:extLst xmlns:a="http://schemas.openxmlformats.org/drawingml/2006/main">
              <a:ext uri="{FF2B5EF4-FFF2-40B4-BE49-F238E27FC236}">
                <a16:creationId xmlns:a16="http://schemas.microsoft.com/office/drawing/2014/main" id="{7DF10078-BC82-40DD-8446-C748F2490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724275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/>
            </a:r>
          </a:p>
        </p:txBody>
      </p:sp>
      <p:sp>
        <p:nvSpPr>
          <p:cNvPr id="21" name="tree-parameters">
            <a:extLst xmlns:a="http://schemas.openxmlformats.org/drawingml/2006/main">
              <a:ext uri="{FF2B5EF4-FFF2-40B4-BE49-F238E27FC236}">
                <a16:creationId xmlns:a16="http://schemas.microsoft.com/office/drawing/2014/main" id="{344AF17A-0850-4DBF-BD89-02E7A8B3A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476750"/>
            <a:ext cx="25241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2" name="tree-label-parameters">
            <a:extLst xmlns:a="http://schemas.openxmlformats.org/drawingml/2006/main">
              <a:ext uri="{FF2B5EF4-FFF2-40B4-BE49-F238E27FC236}">
                <a16:creationId xmlns:a16="http://schemas.microsoft.com/office/drawing/2014/main" id="{5A8ABD60-2DDB-441A-AF85-DEA0EC653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4514850"/>
            <a:ext cx="22955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序列＋解释参数</a:t>
            </a:r>
          </a:p>
        </p:txBody>
      </p:sp>
      <p:sp>
        <p:nvSpPr>
          <p:cNvPr id="24" name="tree-focus">
            <a:extLst xmlns:a="http://schemas.openxmlformats.org/drawingml/2006/main">
              <a:ext uri="{FF2B5EF4-FFF2-40B4-BE49-F238E27FC236}">
                <a16:creationId xmlns:a16="http://schemas.microsoft.com/office/drawing/2014/main" id="{3A07B3B0-42FE-462D-A6BA-BEB0DD950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438650"/>
            <a:ext cx="26003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5" name="tree-new">
            <a:extLst xmlns:a="http://schemas.openxmlformats.org/drawingml/2006/main">
              <a:ext uri="{FF2B5EF4-FFF2-40B4-BE49-F238E27FC236}">
                <a16:creationId xmlns:a16="http://schemas.microsoft.com/office/drawing/2014/main" id="{E372D916-86ED-4957-A75D-D6D45A933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62915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/>
            </a:r>
          </a:p>
        </p:txBody>
      </p:sp>
      <p:sp>
        <p:nvSpPr>
          <p:cNvPr id="26" name="tree-frequency">
            <a:extLst xmlns:a="http://schemas.openxmlformats.org/drawingml/2006/main">
              <a:ext uri="{FF2B5EF4-FFF2-40B4-BE49-F238E27FC236}">
                <a16:creationId xmlns:a16="http://schemas.microsoft.com/office/drawing/2014/main" id="{F70EADA6-BD09-4F17-A999-2878A4107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333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7" name="tree-label-frequency">
            <a:extLst xmlns:a="http://schemas.openxmlformats.org/drawingml/2006/main">
              <a:ext uri="{FF2B5EF4-FFF2-40B4-BE49-F238E27FC236}">
                <a16:creationId xmlns:a16="http://schemas.microsoft.com/office/drawing/2014/main" id="{A990994A-D3C1-4F0C-A1EF-CBBE2FCFB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800225"/>
            <a:ext cx="3105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采样率</a:t>
            </a:r>
          </a:p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频率范围</a:t>
            </a:r>
          </a:p>
        </p:txBody>
      </p:sp>
      <p:sp>
        <p:nvSpPr>
          <p:cNvPr id="29" name="tree-focus">
            <a:extLst xmlns:a="http://schemas.openxmlformats.org/drawingml/2006/main">
              <a:ext uri="{FF2B5EF4-FFF2-40B4-BE49-F238E27FC236}">
                <a16:creationId xmlns:a16="http://schemas.microsoft.com/office/drawing/2014/main" id="{E1C62122-A8E2-4C99-8033-30713367C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724025"/>
            <a:ext cx="3409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0000"/>
            </a:solidFill>
          </a:ln>
        </p:spPr>
      </p:sp>
      <p:sp>
        <p:nvSpPr>
          <p:cNvPr id="30" name="tree-new">
            <a:extLst xmlns:a="http://schemas.openxmlformats.org/drawingml/2006/main">
              <a:ext uri="{FF2B5EF4-FFF2-40B4-BE49-F238E27FC236}">
                <a16:creationId xmlns:a16="http://schemas.microsoft.com/office/drawing/2014/main" id="{5F05DB8E-88B9-47D1-ADAA-F7D455A1C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1914525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新增</a:t>
            </a:r>
          </a:p>
        </p:txBody>
      </p:sp>
    </p:spTree>
    <p:extLst>
      <p:ext uri="{BB962C8B-B14F-4D97-AF65-F5344CB8AC3E}">
        <p14:creationId xmlns:p14="http://schemas.microsoft.com/office/powerpoint/2010/main" val="841598685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6" name=""/>
          <p:cNvCxnSpPr>
            <a:stCxn xmlns:a="http://schemas.openxmlformats.org/drawingml/2006/main" id="11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6191250" y="3067050"/>
            <a:ext cx="1428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C64E1"/>
            </a:solidFill>
          </a:ln>
        </p:spPr>
      </p:cxnSp>
      <p:cxnSp>
        <p:nvCxnSpPr>
          <p:cNvPr id="37" name=""/>
          <p:cNvCxnSpPr>
            <a:stCxn xmlns:a="http://schemas.openxmlformats.org/drawingml/2006/main" id="6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6191250" y="2162175"/>
            <a:ext cx="1428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C64E1"/>
            </a:solidFill>
          </a:ln>
        </p:spPr>
      </p:cxnSp>
      <p:cxnSp>
        <p:nvCxnSpPr>
          <p:cNvPr id="38" name=""/>
          <p:cNvCxnSpPr>
            <a:stCxn xmlns:a="http://schemas.openxmlformats.org/drawingml/2006/main" id="4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2800350" y="3562350"/>
            <a:ext cx="866775" cy="13144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C64E1"/>
            </a:solidFill>
          </a:ln>
        </p:spPr>
      </p:cxnSp>
      <p:cxnSp>
        <p:nvCxnSpPr>
          <p:cNvPr id="39" name=""/>
          <p:cNvCxnSpPr>
            <a:stCxn xmlns:a="http://schemas.openxmlformats.org/drawingml/2006/main" id="4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2800350" y="3562350"/>
            <a:ext cx="866775" cy="4095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C64E1"/>
            </a:solidFill>
          </a:ln>
        </p:spPr>
      </p:cxnSp>
      <p:cxnSp>
        <p:nvCxnSpPr>
          <p:cNvPr id="40" name=""/>
          <p:cNvCxnSpPr>
            <a:stCxn xmlns:a="http://schemas.openxmlformats.org/drawingml/2006/main" id="4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V="1">
            <a:off x="2800350" y="3067050"/>
            <a:ext cx="866775" cy="4953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C64E1"/>
            </a:solidFill>
          </a:ln>
        </p:spPr>
      </p:cxnSp>
      <p:cxnSp>
        <p:nvCxnSpPr>
          <p:cNvPr id="41" name=""/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2800350" y="2162175"/>
            <a:ext cx="866775" cy="14001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C64E1"/>
            </a:solidFill>
          </a:ln>
        </p:spPr>
      </p:cxnSp>
      <p:sp>
        <p:nvSpPr>
          <p:cNvPr id="42" name="top-rail">
            <a:extLst xmlns:a="http://schemas.openxmlformats.org/drawingml/2006/main">
              <a:ext uri="{FF2B5EF4-FFF2-40B4-BE49-F238E27FC236}">
                <a16:creationId xmlns:a16="http://schemas.microsoft.com/office/drawing/2014/main" id="{B615AE08-9C5C-41E7-AC98-E667D41B0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8365CACB-B72D-4A96-8AC0-C94DA0769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1F33720B-280D-4F62-8C64-7374D3E68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两个参数分别限制什么？</a:t>
            </a:r>
          </a:p>
        </p:txBody>
      </p:sp>
      <p:sp>
        <p:nvSpPr>
          <p:cNvPr id="4" name="tree-root">
            <a:extLst xmlns:a="http://schemas.openxmlformats.org/drawingml/2006/main">
              <a:ext uri="{FF2B5EF4-FFF2-40B4-BE49-F238E27FC236}">
                <a16:creationId xmlns:a16="http://schemas.microsoft.com/office/drawing/2014/main" id="{B5B5F539-42F1-47DB-8C13-E4DE01930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2190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5" name="tree-label-root">
            <a:extLst xmlns:a="http://schemas.openxmlformats.org/drawingml/2006/main">
              <a:ext uri="{FF2B5EF4-FFF2-40B4-BE49-F238E27FC236}">
                <a16:creationId xmlns:a16="http://schemas.microsoft.com/office/drawing/2014/main" id="{7396F84E-FB97-4C54-B202-9FA902A2D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19450"/>
            <a:ext cx="1962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数字音频</a:t>
            </a:r>
          </a:p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记录模型</a:t>
            </a:r>
          </a:p>
        </p:txBody>
      </p:sp>
      <p:sp>
        <p:nvSpPr>
          <p:cNvPr id="6" name="tree-sampling">
            <a:extLst xmlns:a="http://schemas.openxmlformats.org/drawingml/2006/main">
              <a:ext uri="{FF2B5EF4-FFF2-40B4-BE49-F238E27FC236}">
                <a16:creationId xmlns:a16="http://schemas.microsoft.com/office/drawing/2014/main" id="{EE28B9EB-A3F4-4BA9-A60B-5BAF354F5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762125"/>
            <a:ext cx="25241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7" name="tree-label-sampling">
            <a:extLst xmlns:a="http://schemas.openxmlformats.org/drawingml/2006/main">
              <a:ext uri="{FF2B5EF4-FFF2-40B4-BE49-F238E27FC236}">
                <a16:creationId xmlns:a16="http://schemas.microsoft.com/office/drawing/2014/main" id="{D2F8BA5A-5011-4B25-8BA4-4BA09D402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1800225"/>
            <a:ext cx="22955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采样</a:t>
            </a:r>
          </a:p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离散时刻</a:t>
            </a:r>
          </a:p>
        </p:txBody>
      </p:sp>
      <p:sp>
        <p:nvSpPr>
          <p:cNvPr id="9" name="tree-focus">
            <a:extLst xmlns:a="http://schemas.openxmlformats.org/drawingml/2006/main">
              <a:ext uri="{FF2B5EF4-FFF2-40B4-BE49-F238E27FC236}">
                <a16:creationId xmlns:a16="http://schemas.microsoft.com/office/drawing/2014/main" id="{CE5D09E6-4328-465A-B8F8-165C953C6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724025"/>
            <a:ext cx="26003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" name="tree-new">
            <a:extLst xmlns:a="http://schemas.openxmlformats.org/drawingml/2006/main">
              <a:ext uri="{FF2B5EF4-FFF2-40B4-BE49-F238E27FC236}">
                <a16:creationId xmlns:a16="http://schemas.microsoft.com/office/drawing/2014/main" id="{62BBC657-623B-4BF6-AE32-128ADA650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914525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/>
            </a:r>
          </a:p>
        </p:txBody>
      </p:sp>
      <p:sp>
        <p:nvSpPr>
          <p:cNvPr id="11" name="tree-quantization">
            <a:extLst xmlns:a="http://schemas.openxmlformats.org/drawingml/2006/main">
              <a:ext uri="{FF2B5EF4-FFF2-40B4-BE49-F238E27FC236}">
                <a16:creationId xmlns:a16="http://schemas.microsoft.com/office/drawing/2014/main" id="{159739EF-A090-4065-9E48-143359CE9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667000"/>
            <a:ext cx="25241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2" name="tree-label-quantization">
            <a:extLst xmlns:a="http://schemas.openxmlformats.org/drawingml/2006/main">
              <a:ext uri="{FF2B5EF4-FFF2-40B4-BE49-F238E27FC236}">
                <a16:creationId xmlns:a16="http://schemas.microsoft.com/office/drawing/2014/main" id="{05808172-445E-478B-99EA-4957F9E40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705100"/>
            <a:ext cx="22955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量化</a:t>
            </a:r>
          </a:p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有限幅度</a:t>
            </a:r>
          </a:p>
        </p:txBody>
      </p:sp>
      <p:sp>
        <p:nvSpPr>
          <p:cNvPr id="14" name="tree-focus">
            <a:extLst xmlns:a="http://schemas.openxmlformats.org/drawingml/2006/main">
              <a:ext uri="{FF2B5EF4-FFF2-40B4-BE49-F238E27FC236}">
                <a16:creationId xmlns:a16="http://schemas.microsoft.com/office/drawing/2014/main" id="{9E0FB84C-6142-4D3C-9896-4592B88EF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28900"/>
            <a:ext cx="26003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" name="tree-new">
            <a:extLst xmlns:a="http://schemas.openxmlformats.org/drawingml/2006/main">
              <a:ext uri="{FF2B5EF4-FFF2-40B4-BE49-F238E27FC236}">
                <a16:creationId xmlns:a16="http://schemas.microsoft.com/office/drawing/2014/main" id="{06CD0068-8A8A-4048-80A7-104476BC1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81940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/>
            </a:r>
          </a:p>
        </p:txBody>
      </p:sp>
      <p:sp>
        <p:nvSpPr>
          <p:cNvPr id="16" name="tree-encoding">
            <a:extLst xmlns:a="http://schemas.openxmlformats.org/drawingml/2006/main">
              <a:ext uri="{FF2B5EF4-FFF2-40B4-BE49-F238E27FC236}">
                <a16:creationId xmlns:a16="http://schemas.microsoft.com/office/drawing/2014/main" id="{63FDFFDB-5A94-4CAC-A1BD-64408FDBB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571875"/>
            <a:ext cx="25241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7" name="tree-label-encoding">
            <a:extLst xmlns:a="http://schemas.openxmlformats.org/drawingml/2006/main">
              <a:ext uri="{FF2B5EF4-FFF2-40B4-BE49-F238E27FC236}">
                <a16:creationId xmlns:a16="http://schemas.microsoft.com/office/drawing/2014/main" id="{823B1695-3080-42A1-8A14-C23253570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3609975"/>
            <a:ext cx="22955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编码</a:t>
            </a:r>
          </a:p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表示等级</a:t>
            </a:r>
          </a:p>
        </p:txBody>
      </p:sp>
      <p:sp>
        <p:nvSpPr>
          <p:cNvPr id="19" name="tree-focus">
            <a:extLst xmlns:a="http://schemas.openxmlformats.org/drawingml/2006/main">
              <a:ext uri="{FF2B5EF4-FFF2-40B4-BE49-F238E27FC236}">
                <a16:creationId xmlns:a16="http://schemas.microsoft.com/office/drawing/2014/main" id="{08E63920-FBAD-4FB7-86CD-4FB9C2B59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533775"/>
            <a:ext cx="26003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" name="tree-new">
            <a:extLst xmlns:a="http://schemas.openxmlformats.org/drawingml/2006/main">
              <a:ext uri="{FF2B5EF4-FFF2-40B4-BE49-F238E27FC236}">
                <a16:creationId xmlns:a16="http://schemas.microsoft.com/office/drawing/2014/main" id="{7DF10078-BC82-40DD-8446-C748F2490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724275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/>
            </a:r>
          </a:p>
        </p:txBody>
      </p:sp>
      <p:sp>
        <p:nvSpPr>
          <p:cNvPr id="21" name="tree-parameters">
            <a:extLst xmlns:a="http://schemas.openxmlformats.org/drawingml/2006/main">
              <a:ext uri="{FF2B5EF4-FFF2-40B4-BE49-F238E27FC236}">
                <a16:creationId xmlns:a16="http://schemas.microsoft.com/office/drawing/2014/main" id="{344AF17A-0850-4DBF-BD89-02E7A8B3A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476750"/>
            <a:ext cx="25241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2" name="tree-label-parameters">
            <a:extLst xmlns:a="http://schemas.openxmlformats.org/drawingml/2006/main">
              <a:ext uri="{FF2B5EF4-FFF2-40B4-BE49-F238E27FC236}">
                <a16:creationId xmlns:a16="http://schemas.microsoft.com/office/drawing/2014/main" id="{5A8ABD60-2DDB-441A-AF85-DEA0EC653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4514850"/>
            <a:ext cx="22955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序列＋解释参数</a:t>
            </a:r>
          </a:p>
        </p:txBody>
      </p:sp>
      <p:sp>
        <p:nvSpPr>
          <p:cNvPr id="24" name="tree-focus">
            <a:extLst xmlns:a="http://schemas.openxmlformats.org/drawingml/2006/main">
              <a:ext uri="{FF2B5EF4-FFF2-40B4-BE49-F238E27FC236}">
                <a16:creationId xmlns:a16="http://schemas.microsoft.com/office/drawing/2014/main" id="{3A07B3B0-42FE-462D-A6BA-BEB0DD950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438650"/>
            <a:ext cx="26003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5" name="tree-new">
            <a:extLst xmlns:a="http://schemas.openxmlformats.org/drawingml/2006/main">
              <a:ext uri="{FF2B5EF4-FFF2-40B4-BE49-F238E27FC236}">
                <a16:creationId xmlns:a16="http://schemas.microsoft.com/office/drawing/2014/main" id="{E372D916-86ED-4957-A75D-D6D45A933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62915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/>
            </a:r>
          </a:p>
        </p:txBody>
      </p:sp>
      <p:sp>
        <p:nvSpPr>
          <p:cNvPr id="26" name="tree-frequency">
            <a:extLst xmlns:a="http://schemas.openxmlformats.org/drawingml/2006/main">
              <a:ext uri="{FF2B5EF4-FFF2-40B4-BE49-F238E27FC236}">
                <a16:creationId xmlns:a16="http://schemas.microsoft.com/office/drawing/2014/main" id="{F70EADA6-BD09-4F17-A999-2878A4107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333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7" name="tree-label-frequency">
            <a:extLst xmlns:a="http://schemas.openxmlformats.org/drawingml/2006/main">
              <a:ext uri="{FF2B5EF4-FFF2-40B4-BE49-F238E27FC236}">
                <a16:creationId xmlns:a16="http://schemas.microsoft.com/office/drawing/2014/main" id="{A990994A-D3C1-4F0C-A1EF-CBBE2FCFB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800225"/>
            <a:ext cx="3105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采样率</a:t>
            </a:r>
          </a:p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频率范围</a:t>
            </a:r>
          </a:p>
        </p:txBody>
      </p:sp>
      <p:sp>
        <p:nvSpPr>
          <p:cNvPr id="29" name="tree-focus">
            <a:extLst xmlns:a="http://schemas.openxmlformats.org/drawingml/2006/main">
              <a:ext uri="{FF2B5EF4-FFF2-40B4-BE49-F238E27FC236}">
                <a16:creationId xmlns:a16="http://schemas.microsoft.com/office/drawing/2014/main" id="{E1C62122-A8E2-4C99-8033-30713367C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724025"/>
            <a:ext cx="3409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0" name="tree-new">
            <a:extLst xmlns:a="http://schemas.openxmlformats.org/drawingml/2006/main">
              <a:ext uri="{FF2B5EF4-FFF2-40B4-BE49-F238E27FC236}">
                <a16:creationId xmlns:a16="http://schemas.microsoft.com/office/drawing/2014/main" id="{5F05DB8E-88B9-47D1-ADAA-F7D455A1C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1914525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/>
            </a:r>
          </a:p>
        </p:txBody>
      </p:sp>
      <p:sp>
        <p:nvSpPr>
          <p:cNvPr id="31" name="tree-precision">
            <a:extLst xmlns:a="http://schemas.openxmlformats.org/drawingml/2006/main">
              <a:ext uri="{FF2B5EF4-FFF2-40B4-BE49-F238E27FC236}">
                <a16:creationId xmlns:a16="http://schemas.microsoft.com/office/drawing/2014/main" id="{DA1FB7A8-D1E7-4084-9287-6AE9318F2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667000"/>
            <a:ext cx="3333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32" name="tree-label-precision">
            <a:extLst xmlns:a="http://schemas.openxmlformats.org/drawingml/2006/main">
              <a:ext uri="{FF2B5EF4-FFF2-40B4-BE49-F238E27FC236}">
                <a16:creationId xmlns:a16="http://schemas.microsoft.com/office/drawing/2014/main" id="{50BAB2E9-A4D3-4903-A87B-431637FA8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05100"/>
            <a:ext cx="3105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位数</a:t>
            </a:r>
          </a:p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等级与误差上界</a:t>
            </a:r>
          </a:p>
        </p:txBody>
      </p:sp>
      <p:sp>
        <p:nvSpPr>
          <p:cNvPr id="34" name="tree-focus">
            <a:extLst xmlns:a="http://schemas.openxmlformats.org/drawingml/2006/main">
              <a:ext uri="{FF2B5EF4-FFF2-40B4-BE49-F238E27FC236}">
                <a16:creationId xmlns:a16="http://schemas.microsoft.com/office/drawing/2014/main" id="{E7A986AA-A8B0-47E2-A0FC-EBA199CCA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628900"/>
            <a:ext cx="3409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0000"/>
            </a:solidFill>
          </a:ln>
        </p:spPr>
      </p:sp>
      <p:sp>
        <p:nvSpPr>
          <p:cNvPr id="35" name="tree-new">
            <a:extLst xmlns:a="http://schemas.openxmlformats.org/drawingml/2006/main">
              <a:ext uri="{FF2B5EF4-FFF2-40B4-BE49-F238E27FC236}">
                <a16:creationId xmlns:a16="http://schemas.microsoft.com/office/drawing/2014/main" id="{86240E3D-1DE2-4303-A71A-CFA6AEA15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281940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新增</a:t>
            </a:r>
          </a:p>
        </p:txBody>
      </p:sp>
    </p:spTree>
    <p:extLst>
      <p:ext uri="{BB962C8B-B14F-4D97-AF65-F5344CB8AC3E}">
        <p14:creationId xmlns:p14="http://schemas.microsoft.com/office/powerpoint/2010/main" val="841598685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op-rail">
            <a:extLst xmlns:a="http://schemas.openxmlformats.org/drawingml/2006/main">
              <a:ext uri="{FF2B5EF4-FFF2-40B4-BE49-F238E27FC236}">
                <a16:creationId xmlns:a16="http://schemas.microsoft.com/office/drawing/2014/main" id="{5FD010E2-4F3F-49C8-8522-A52E4F9AE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CC0D099D-D924-43DE-9F83-7F209BE1A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E82E8271-20F3-4605-9160-FB83C95F8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左右两路声音，怎样记录？</a:t>
            </a:r>
          </a:p>
        </p:txBody>
      </p:sp>
      <p:sp>
        <p:nvSpPr>
          <p:cNvPr id="4" name="given-0">
            <a:extLst xmlns:a="http://schemas.openxmlformats.org/drawingml/2006/main">
              <a:ext uri="{FF2B5EF4-FFF2-40B4-BE49-F238E27FC236}">
                <a16:creationId xmlns:a16="http://schemas.microsoft.com/office/drawing/2014/main" id="{CB16164F-29CB-4828-ABFA-1250EFA5C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同采样率、同位数、同样6秒。</a:t>
            </a:r>
          </a:p>
        </p:txBody>
      </p:sp>
      <p:sp>
        <p:nvSpPr>
          <p:cNvPr id="5" name="given-1">
            <a:extLst xmlns:a="http://schemas.openxmlformats.org/drawingml/2006/main">
              <a:ext uri="{FF2B5EF4-FFF2-40B4-BE49-F238E27FC236}">
                <a16:creationId xmlns:a16="http://schemas.microsoft.com/office/drawing/2014/main" id="{C972D57A-7F07-4800-8540-6EBC60B99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单声道1路，双声道2路；样本数据量怎样变？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241AC27-ECFD-497D-83A3-0C7D51125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333750"/>
            <a:ext cx="47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L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51BB97CB-CBD6-4AD9-A0FE-9588FAA5F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095750"/>
            <a:ext cx="47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R</a:t>
            </a:r>
          </a:p>
        </p:txBody>
      </p:sp>
      <p:sp>
        <p:nvSpPr>
          <p:cNvPr id="8" name="box">
            <a:extLst xmlns:a="http://schemas.openxmlformats.org/drawingml/2006/main">
              <a:ext uri="{FF2B5EF4-FFF2-40B4-BE49-F238E27FC236}">
                <a16:creationId xmlns:a16="http://schemas.microsoft.com/office/drawing/2014/main" id="{1E10D7C9-EE73-4CC3-B559-50823B73F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352800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DF"/>
            </a:solidFill>
          </a:ln>
        </p:spPr>
      </p:sp>
      <p:sp>
        <p:nvSpPr>
          <p:cNvPr id="9" name="box">
            <a:extLst xmlns:a="http://schemas.openxmlformats.org/drawingml/2006/main">
              <a:ext uri="{FF2B5EF4-FFF2-40B4-BE49-F238E27FC236}">
                <a16:creationId xmlns:a16="http://schemas.microsoft.com/office/drawing/2014/main" id="{825C1936-3209-4DD5-82B5-0EE7AF12B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114800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DF"/>
            </a:solidFill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6E00013D-782D-4315-853E-EB364109E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809875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时刻1</a:t>
            </a:r>
          </a:p>
        </p:txBody>
      </p:sp>
      <p:sp>
        <p:nvSpPr>
          <p:cNvPr id="11" name="box">
            <a:extLst xmlns:a="http://schemas.openxmlformats.org/drawingml/2006/main">
              <a:ext uri="{FF2B5EF4-FFF2-40B4-BE49-F238E27FC236}">
                <a16:creationId xmlns:a16="http://schemas.microsoft.com/office/drawing/2014/main" id="{329E2AC3-82CA-4F86-A313-3BB4E5CD7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352800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DF"/>
            </a:solidFill>
          </a:ln>
        </p:spPr>
      </p:sp>
      <p:sp>
        <p:nvSpPr>
          <p:cNvPr id="12" name="box">
            <a:extLst xmlns:a="http://schemas.openxmlformats.org/drawingml/2006/main">
              <a:ext uri="{FF2B5EF4-FFF2-40B4-BE49-F238E27FC236}">
                <a16:creationId xmlns:a16="http://schemas.microsoft.com/office/drawing/2014/main" id="{EC940D2F-BC08-4B8F-8BB7-A8A656A3B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114800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DF"/>
            </a:solidFill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279C30F6-107A-49F5-93FD-C0BA4E7CD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09875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时刻2</a:t>
            </a:r>
          </a:p>
        </p:txBody>
      </p:sp>
      <p:sp>
        <p:nvSpPr>
          <p:cNvPr id="14" name="box">
            <a:extLst xmlns:a="http://schemas.openxmlformats.org/drawingml/2006/main">
              <a:ext uri="{FF2B5EF4-FFF2-40B4-BE49-F238E27FC236}">
                <a16:creationId xmlns:a16="http://schemas.microsoft.com/office/drawing/2014/main" id="{440414C4-B234-4A37-A37F-810BC102E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52800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DF"/>
            </a:solidFill>
          </a:ln>
        </p:spPr>
      </p:sp>
      <p:sp>
        <p:nvSpPr>
          <p:cNvPr id="15" name="box">
            <a:extLst xmlns:a="http://schemas.openxmlformats.org/drawingml/2006/main">
              <a:ext uri="{FF2B5EF4-FFF2-40B4-BE49-F238E27FC236}">
                <a16:creationId xmlns:a16="http://schemas.microsoft.com/office/drawing/2014/main" id="{23631BB1-DD3B-448F-AB8C-160AC58FF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14800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DF"/>
            </a:solidFill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B95AFB0D-40B1-40BB-9F44-297856A16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09875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时刻3</a:t>
            </a:r>
          </a:p>
        </p:txBody>
      </p:sp>
    </p:spTree>
    <p:extLst>
      <p:ext uri="{BB962C8B-B14F-4D97-AF65-F5344CB8AC3E}">
        <p14:creationId xmlns:p14="http://schemas.microsoft.com/office/powerpoint/2010/main" val="599885849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op-rail">
            <a:extLst xmlns:a="http://schemas.openxmlformats.org/drawingml/2006/main">
              <a:ext uri="{FF2B5EF4-FFF2-40B4-BE49-F238E27FC236}">
                <a16:creationId xmlns:a16="http://schemas.microsoft.com/office/drawing/2014/main" id="{5FD010E2-4F3F-49C8-8522-A52E4F9AE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CC0D099D-D924-43DE-9F83-7F209BE1A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E82E8271-20F3-4605-9160-FB83C95F8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左右两路声音，怎样记录？</a:t>
            </a:r>
          </a:p>
        </p:txBody>
      </p:sp>
      <p:sp>
        <p:nvSpPr>
          <p:cNvPr id="4" name="given-0">
            <a:extLst xmlns:a="http://schemas.openxmlformats.org/drawingml/2006/main">
              <a:ext uri="{FF2B5EF4-FFF2-40B4-BE49-F238E27FC236}">
                <a16:creationId xmlns:a16="http://schemas.microsoft.com/office/drawing/2014/main" id="{CB16164F-29CB-4828-ABFA-1250EFA5C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同采样率、同位数、同样6秒。</a:t>
            </a:r>
          </a:p>
        </p:txBody>
      </p:sp>
      <p:sp>
        <p:nvSpPr>
          <p:cNvPr id="5" name="given-1">
            <a:extLst xmlns:a="http://schemas.openxmlformats.org/drawingml/2006/main">
              <a:ext uri="{FF2B5EF4-FFF2-40B4-BE49-F238E27FC236}">
                <a16:creationId xmlns:a16="http://schemas.microsoft.com/office/drawing/2014/main" id="{C972D57A-7F07-4800-8540-6EBC60B99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单声道1路，双声道2路；样本数据量怎样变？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241AC27-ECFD-497D-83A3-0C7D51125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333750"/>
            <a:ext cx="47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L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51BB97CB-CBD6-4AD9-A0FE-9588FAA5F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095750"/>
            <a:ext cx="47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R</a:t>
            </a:r>
          </a:p>
        </p:txBody>
      </p:sp>
      <p:sp>
        <p:nvSpPr>
          <p:cNvPr id="8" name="box">
            <a:extLst xmlns:a="http://schemas.openxmlformats.org/drawingml/2006/main">
              <a:ext uri="{FF2B5EF4-FFF2-40B4-BE49-F238E27FC236}">
                <a16:creationId xmlns:a16="http://schemas.microsoft.com/office/drawing/2014/main" id="{1E10D7C9-EE73-4CC3-B559-50823B73F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352800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DF"/>
            </a:solidFill>
          </a:ln>
        </p:spPr>
      </p:sp>
      <p:sp>
        <p:nvSpPr>
          <p:cNvPr id="9" name="box">
            <a:extLst xmlns:a="http://schemas.openxmlformats.org/drawingml/2006/main">
              <a:ext uri="{FF2B5EF4-FFF2-40B4-BE49-F238E27FC236}">
                <a16:creationId xmlns:a16="http://schemas.microsoft.com/office/drawing/2014/main" id="{825C1936-3209-4DD5-82B5-0EE7AF12B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114800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DF"/>
            </a:solidFill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6E00013D-782D-4315-853E-EB364109E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809875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时刻1</a:t>
            </a:r>
          </a:p>
        </p:txBody>
      </p:sp>
      <p:sp>
        <p:nvSpPr>
          <p:cNvPr id="11" name="box">
            <a:extLst xmlns:a="http://schemas.openxmlformats.org/drawingml/2006/main">
              <a:ext uri="{FF2B5EF4-FFF2-40B4-BE49-F238E27FC236}">
                <a16:creationId xmlns:a16="http://schemas.microsoft.com/office/drawing/2014/main" id="{329E2AC3-82CA-4F86-A313-3BB4E5CD7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352800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DF"/>
            </a:solidFill>
          </a:ln>
        </p:spPr>
      </p:sp>
      <p:sp>
        <p:nvSpPr>
          <p:cNvPr id="12" name="box">
            <a:extLst xmlns:a="http://schemas.openxmlformats.org/drawingml/2006/main">
              <a:ext uri="{FF2B5EF4-FFF2-40B4-BE49-F238E27FC236}">
                <a16:creationId xmlns:a16="http://schemas.microsoft.com/office/drawing/2014/main" id="{EC940D2F-BC08-4B8F-8BB7-A8A656A3B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114800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DF"/>
            </a:solidFill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279C30F6-107A-49F5-93FD-C0BA4E7CD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09875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时刻2</a:t>
            </a:r>
          </a:p>
        </p:txBody>
      </p:sp>
      <p:sp>
        <p:nvSpPr>
          <p:cNvPr id="14" name="box">
            <a:extLst xmlns:a="http://schemas.openxmlformats.org/drawingml/2006/main">
              <a:ext uri="{FF2B5EF4-FFF2-40B4-BE49-F238E27FC236}">
                <a16:creationId xmlns:a16="http://schemas.microsoft.com/office/drawing/2014/main" id="{440414C4-B234-4A37-A37F-810BC102E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52800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DF"/>
            </a:solidFill>
          </a:ln>
        </p:spPr>
      </p:sp>
      <p:sp>
        <p:nvSpPr>
          <p:cNvPr id="15" name="box">
            <a:extLst xmlns:a="http://schemas.openxmlformats.org/drawingml/2006/main">
              <a:ext uri="{FF2B5EF4-FFF2-40B4-BE49-F238E27FC236}">
                <a16:creationId xmlns:a16="http://schemas.microsoft.com/office/drawing/2014/main" id="{23631BB1-DD3B-448F-AB8C-160AC58FF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14800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DF"/>
            </a:solidFill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B95AFB0D-40B1-40BB-9F44-297856A16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09875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时刻3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798B7F83-37B0-4EE7-BD7C-DC30824B6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419475"/>
            <a:ext cx="1000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rPr>
              <a:t>L1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3A3E510D-1282-4651-A6CE-5029D5B5F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4181475"/>
            <a:ext cx="1000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007C9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007C9B"/>
                </a:solidFill>
                <a:latin typeface="Alibaba PuHuiTi 3.0 55 Regular"/>
                <a:ea typeface="Alibaba PuHuiTi 3.0 55 Regular"/>
                <a:cs typeface="Alibaba PuHuiTi 3.0 55 Regular"/>
              </a:rPr>
              <a:t>R1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87D6B91C-9D68-41DA-ADC8-1627E044E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419475"/>
            <a:ext cx="1000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rPr>
              <a:t>L2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2E2BA764-474B-4F31-BAE8-9B6816219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181475"/>
            <a:ext cx="1000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007C9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007C9B"/>
                </a:solidFill>
                <a:latin typeface="Alibaba PuHuiTi 3.0 55 Regular"/>
                <a:ea typeface="Alibaba PuHuiTi 3.0 55 Regular"/>
                <a:cs typeface="Alibaba PuHuiTi 3.0 55 Regular"/>
              </a:rPr>
              <a:t>R2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E8AA514F-B594-4ED7-8DBD-05F14B413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419475"/>
            <a:ext cx="1000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rPr>
              <a:t>L3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C6DF7AEB-512D-4144-8821-D50E4496B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181475"/>
            <a:ext cx="1000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007C9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007C9B"/>
                </a:solidFill>
                <a:latin typeface="Alibaba PuHuiTi 3.0 55 Regular"/>
                <a:ea typeface="Alibaba PuHuiTi 3.0 55 Regular"/>
                <a:cs typeface="Alibaba PuHuiTi 3.0 55 Regular"/>
              </a:rPr>
              <a:t>R3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B2D636B4-0E1A-4D47-AF3A-C6EAEF200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双声道记录左、右各1个样本。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81060CDC-C9FA-4D1C-AE0B-B23D39DF9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0547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同参数同长度：双声道样本数据量为2倍。</a:t>
            </a:r>
          </a:p>
        </p:txBody>
      </p:sp>
    </p:spTree>
    <p:extLst>
      <p:ext uri="{BB962C8B-B14F-4D97-AF65-F5344CB8AC3E}">
        <p14:creationId xmlns:p14="http://schemas.microsoft.com/office/powerpoint/2010/main" val="599885849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op-rail">
            <a:extLst xmlns:a="http://schemas.openxmlformats.org/drawingml/2006/main">
              <a:ext uri="{FF2B5EF4-FFF2-40B4-BE49-F238E27FC236}">
                <a16:creationId xmlns:a16="http://schemas.microsoft.com/office/drawing/2014/main" id="{03678B2E-B10F-43CF-9D5B-82374B330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102A68EF-F66E-462C-BC3E-D573C4D5A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FA755402-7C4D-49EC-9304-C880C5E3C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未压缩PCM WAV保存了什么？</a:t>
            </a:r>
          </a:p>
        </p:txBody>
      </p:sp>
      <p:sp>
        <p:nvSpPr>
          <p:cNvPr id="4" name="given-0">
            <a:extLst xmlns:a="http://schemas.openxmlformats.org/drawingml/2006/main">
              <a:ext uri="{FF2B5EF4-FFF2-40B4-BE49-F238E27FC236}">
                <a16:creationId xmlns:a16="http://schemas.microsoft.com/office/drawing/2014/main" id="{DE41CAC8-C6E6-409C-802D-369D4F3EE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要让别人读懂并播放这些样本，</a:t>
            </a:r>
          </a:p>
        </p:txBody>
      </p:sp>
      <p:sp>
        <p:nvSpPr>
          <p:cNvPr id="5" name="given-1">
            <a:extLst xmlns:a="http://schemas.openxmlformats.org/drawingml/2006/main">
              <a:ext uri="{FF2B5EF4-FFF2-40B4-BE49-F238E27FC236}">
                <a16:creationId xmlns:a16="http://schemas.microsoft.com/office/drawing/2014/main" id="{CEF8199E-55BD-48CD-A984-231799775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文件除了样本，还需要记录什么？</a:t>
            </a:r>
          </a:p>
        </p:txBody>
      </p:sp>
    </p:spTree>
    <p:extLst>
      <p:ext uri="{BB962C8B-B14F-4D97-AF65-F5344CB8AC3E}">
        <p14:creationId xmlns:p14="http://schemas.microsoft.com/office/powerpoint/2010/main" val="641034977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rail">
            <a:extLst xmlns:a="http://schemas.openxmlformats.org/drawingml/2006/main">
              <a:ext uri="{FF2B5EF4-FFF2-40B4-BE49-F238E27FC236}">
                <a16:creationId xmlns:a16="http://schemas.microsoft.com/office/drawing/2014/main" id="{03678B2E-B10F-43CF-9D5B-82374B330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102A68EF-F66E-462C-BC3E-D573C4D5A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FA755402-7C4D-49EC-9304-C880C5E3C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未压缩PCM WAV保存了什么？</a:t>
            </a:r>
          </a:p>
        </p:txBody>
      </p:sp>
      <p:sp>
        <p:nvSpPr>
          <p:cNvPr id="4" name="given-0">
            <a:extLst xmlns:a="http://schemas.openxmlformats.org/drawingml/2006/main">
              <a:ext uri="{FF2B5EF4-FFF2-40B4-BE49-F238E27FC236}">
                <a16:creationId xmlns:a16="http://schemas.microsoft.com/office/drawing/2014/main" id="{DE41CAC8-C6E6-409C-802D-369D4F3EE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要让别人读懂并播放这些样本，</a:t>
            </a:r>
          </a:p>
        </p:txBody>
      </p:sp>
      <p:sp>
        <p:nvSpPr>
          <p:cNvPr id="5" name="given-1">
            <a:extLst xmlns:a="http://schemas.openxmlformats.org/drawingml/2006/main">
              <a:ext uri="{FF2B5EF4-FFF2-40B4-BE49-F238E27FC236}">
                <a16:creationId xmlns:a16="http://schemas.microsoft.com/office/drawing/2014/main" id="{CEF8199E-55BD-48CD-A984-231799775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文件除了样本，还需要记录什么？</a:t>
            </a:r>
          </a:p>
        </p:txBody>
      </p:sp>
      <p:sp>
        <p:nvSpPr>
          <p:cNvPr id="6" name="line">
            <a:extLst xmlns:a="http://schemas.openxmlformats.org/drawingml/2006/main">
              <a:ext uri="{FF2B5EF4-FFF2-40B4-BE49-F238E27FC236}">
                <a16:creationId xmlns:a16="http://schemas.microsoft.com/office/drawing/2014/main" id="{E42B5282-3D0E-4DD2-A7C5-3085BE899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10972800" cy="9525"/>
          </a:xfrm>
          <a:custGeom xmlns:a="http://schemas.openxmlformats.org/drawingml/2006/main"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8DF"/>
            </a:solidFill>
          </a:ln>
        </p:spPr>
      </p:sp>
      <p:sp>
        <p:nvSpPr>
          <p:cNvPr id="7" name="answer-0">
            <a:extLst xmlns:a="http://schemas.openxmlformats.org/drawingml/2006/main">
              <a:ext uri="{FF2B5EF4-FFF2-40B4-BE49-F238E27FC236}">
                <a16:creationId xmlns:a16="http://schemas.microsoft.com/office/drawing/2014/main" id="{DDBD4340-2A2B-4FE0-A1E5-1A1A0EE42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格式参数：采样率、位数、声道等。</a:t>
            </a:r>
          </a:p>
        </p:txBody>
      </p:sp>
      <p:sp>
        <p:nvSpPr>
          <p:cNvPr id="8" name="answer-1">
            <a:extLst xmlns:a="http://schemas.openxmlformats.org/drawingml/2006/main">
              <a:ext uri="{FF2B5EF4-FFF2-40B4-BE49-F238E27FC236}">
                <a16:creationId xmlns:a16="http://schemas.microsoft.com/office/drawing/2014/main" id="{4D37FA36-7BD2-4203-A1BD-E8C9AA0FA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577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样本数据：按约定排列的PCM数值。</a:t>
            </a:r>
          </a:p>
        </p:txBody>
      </p:sp>
      <p:sp>
        <p:nvSpPr>
          <p:cNvPr id="9" name="answer-2">
            <a:extLst xmlns:a="http://schemas.openxmlformats.org/drawingml/2006/main">
              <a:ext uri="{FF2B5EF4-FFF2-40B4-BE49-F238E27FC236}">
                <a16:creationId xmlns:a16="http://schemas.microsoft.com/office/drawing/2014/main" id="{A4F6CD64-1903-40D9-961A-146B52D49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2442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本课WAV以未压缩整数PCM保存样本。</a:t>
            </a:r>
          </a:p>
        </p:txBody>
      </p:sp>
      <p:sp>
        <p:nvSpPr>
          <p:cNvPr id="10" name="answer-3">
            <a:extLst xmlns:a="http://schemas.openxmlformats.org/drawingml/2006/main">
              <a:ext uri="{FF2B5EF4-FFF2-40B4-BE49-F238E27FC236}">
                <a16:creationId xmlns:a16="http://schemas.microsoft.com/office/drawing/2014/main" id="{F4C8C189-544C-478D-8A99-03356D6F8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5307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未压缩不等于没有采样／量化误差。</a:t>
            </a:r>
          </a:p>
        </p:txBody>
      </p:sp>
    </p:spTree>
    <p:extLst>
      <p:ext uri="{BB962C8B-B14F-4D97-AF65-F5344CB8AC3E}">
        <p14:creationId xmlns:p14="http://schemas.microsoft.com/office/powerpoint/2010/main" val="641034977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op-rail">
            <a:extLst xmlns:a="http://schemas.openxmlformats.org/drawingml/2006/main">
              <a:ext uri="{FF2B5EF4-FFF2-40B4-BE49-F238E27FC236}">
                <a16:creationId xmlns:a16="http://schemas.microsoft.com/office/drawing/2014/main" id="{56D66DC0-97A4-4EDC-9F8A-D188E2E4D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10683EE1-DC26-40C8-A1E5-56CCD0D98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96F21FED-4909-4D73-AD04-ADDC8C802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怎样从样本数推导数据量？</a:t>
            </a:r>
          </a:p>
        </p:txBody>
      </p:sp>
      <p:sp>
        <p:nvSpPr>
          <p:cNvPr id="4" name="given-0">
            <a:extLst xmlns:a="http://schemas.openxmlformats.org/drawingml/2006/main">
              <a:ext uri="{FF2B5EF4-FFF2-40B4-BE49-F238E27FC236}">
                <a16:creationId xmlns:a16="http://schemas.microsoft.com/office/drawing/2014/main" id="{FD6C1638-F7CC-4B14-BB91-E0BBE518C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每秒每声道fs个样本，录音t秒。</a:t>
            </a:r>
          </a:p>
        </p:txBody>
      </p:sp>
      <p:sp>
        <p:nvSpPr>
          <p:cNvPr id="5" name="given-1">
            <a:extLst xmlns:a="http://schemas.openxmlformats.org/drawingml/2006/main">
              <a:ext uri="{FF2B5EF4-FFF2-40B4-BE49-F238E27FC236}">
                <a16:creationId xmlns:a16="http://schemas.microsoft.com/office/drawing/2014/main" id="{4B0BB6CA-42BD-4935-A344-04A736DB2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每样本n bit，共C个声道。</a:t>
            </a:r>
          </a:p>
        </p:txBody>
      </p:sp>
      <p:sp>
        <p:nvSpPr>
          <p:cNvPr id="6" name="given-2">
            <a:extLst xmlns:a="http://schemas.openxmlformats.org/drawingml/2006/main">
              <a:ext uri="{FF2B5EF4-FFF2-40B4-BE49-F238E27FC236}">
                <a16:creationId xmlns:a16="http://schemas.microsoft.com/office/drawing/2014/main" id="{E954A5CC-8613-4753-BBBD-0F7D04488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先数样本，再换算成B。</a:t>
            </a:r>
          </a:p>
        </p:txBody>
      </p:sp>
    </p:spTree>
    <p:extLst>
      <p:ext uri="{BB962C8B-B14F-4D97-AF65-F5344CB8AC3E}">
        <p14:creationId xmlns:p14="http://schemas.microsoft.com/office/powerpoint/2010/main" val="1907846887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rail">
            <a:extLst xmlns:a="http://schemas.openxmlformats.org/drawingml/2006/main">
              <a:ext uri="{FF2B5EF4-FFF2-40B4-BE49-F238E27FC236}">
                <a16:creationId xmlns:a16="http://schemas.microsoft.com/office/drawing/2014/main" id="{56D66DC0-97A4-4EDC-9F8A-D188E2E4D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10683EE1-DC26-40C8-A1E5-56CCD0D98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96F21FED-4909-4D73-AD04-ADDC8C802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怎样从样本数推导数据量？</a:t>
            </a:r>
          </a:p>
        </p:txBody>
      </p:sp>
      <p:sp>
        <p:nvSpPr>
          <p:cNvPr id="4" name="given-0">
            <a:extLst xmlns:a="http://schemas.openxmlformats.org/drawingml/2006/main">
              <a:ext uri="{FF2B5EF4-FFF2-40B4-BE49-F238E27FC236}">
                <a16:creationId xmlns:a16="http://schemas.microsoft.com/office/drawing/2014/main" id="{FD6C1638-F7CC-4B14-BB91-E0BBE518C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每秒每声道fs个样本，录音t秒。</a:t>
            </a:r>
          </a:p>
        </p:txBody>
      </p:sp>
      <p:sp>
        <p:nvSpPr>
          <p:cNvPr id="5" name="given-1">
            <a:extLst xmlns:a="http://schemas.openxmlformats.org/drawingml/2006/main">
              <a:ext uri="{FF2B5EF4-FFF2-40B4-BE49-F238E27FC236}">
                <a16:creationId xmlns:a16="http://schemas.microsoft.com/office/drawing/2014/main" id="{4B0BB6CA-42BD-4935-A344-04A736DB2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每样本n bit，共C个声道。</a:t>
            </a:r>
          </a:p>
        </p:txBody>
      </p:sp>
      <p:sp>
        <p:nvSpPr>
          <p:cNvPr id="6" name="given-2">
            <a:extLst xmlns:a="http://schemas.openxmlformats.org/drawingml/2006/main">
              <a:ext uri="{FF2B5EF4-FFF2-40B4-BE49-F238E27FC236}">
                <a16:creationId xmlns:a16="http://schemas.microsoft.com/office/drawing/2014/main" id="{E954A5CC-8613-4753-BBBD-0F7D04488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先数样本，再换算成B。</a:t>
            </a:r>
          </a:p>
        </p:txBody>
      </p:sp>
      <p:sp>
        <p:nvSpPr>
          <p:cNvPr id="7" name="line">
            <a:extLst xmlns:a="http://schemas.openxmlformats.org/drawingml/2006/main">
              <a:ext uri="{FF2B5EF4-FFF2-40B4-BE49-F238E27FC236}">
                <a16:creationId xmlns:a16="http://schemas.microsoft.com/office/drawing/2014/main" id="{BC296914-B9BB-4017-BAF8-D810D668B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10972800" cy="9525"/>
          </a:xfrm>
          <a:custGeom xmlns:a="http://schemas.openxmlformats.org/drawingml/2006/main"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8DF"/>
            </a:solidFill>
          </a:ln>
        </p:spPr>
      </p:sp>
      <p:sp>
        <p:nvSpPr>
          <p:cNvPr id="8" name="answer-0">
            <a:extLst xmlns:a="http://schemas.openxmlformats.org/drawingml/2006/main">
              <a:ext uri="{FF2B5EF4-FFF2-40B4-BE49-F238E27FC236}">
                <a16:creationId xmlns:a16="http://schemas.microsoft.com/office/drawing/2014/main" id="{C5938A91-1AA9-4E59-B409-9C1E9F5B1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样本总数 = fs × t × C。</a:t>
            </a:r>
          </a:p>
        </p:txBody>
      </p:sp>
    </p:spTree>
    <p:extLst>
      <p:ext uri="{BB962C8B-B14F-4D97-AF65-F5344CB8AC3E}">
        <p14:creationId xmlns:p14="http://schemas.microsoft.com/office/powerpoint/2010/main" val="1907846887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rail">
            <a:extLst xmlns:a="http://schemas.openxmlformats.org/drawingml/2006/main">
              <a:ext uri="{FF2B5EF4-FFF2-40B4-BE49-F238E27FC236}">
                <a16:creationId xmlns:a16="http://schemas.microsoft.com/office/drawing/2014/main" id="{56D66DC0-97A4-4EDC-9F8A-D188E2E4D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10683EE1-DC26-40C8-A1E5-56CCD0D98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96F21FED-4909-4D73-AD04-ADDC8C802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怎样从样本数推导数据量？</a:t>
            </a:r>
          </a:p>
        </p:txBody>
      </p:sp>
      <p:sp>
        <p:nvSpPr>
          <p:cNvPr id="4" name="given-0">
            <a:extLst xmlns:a="http://schemas.openxmlformats.org/drawingml/2006/main">
              <a:ext uri="{FF2B5EF4-FFF2-40B4-BE49-F238E27FC236}">
                <a16:creationId xmlns:a16="http://schemas.microsoft.com/office/drawing/2014/main" id="{FD6C1638-F7CC-4B14-BB91-E0BBE518C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每秒每声道fs个样本，录音t秒。</a:t>
            </a:r>
          </a:p>
        </p:txBody>
      </p:sp>
      <p:sp>
        <p:nvSpPr>
          <p:cNvPr id="5" name="given-1">
            <a:extLst xmlns:a="http://schemas.openxmlformats.org/drawingml/2006/main">
              <a:ext uri="{FF2B5EF4-FFF2-40B4-BE49-F238E27FC236}">
                <a16:creationId xmlns:a16="http://schemas.microsoft.com/office/drawing/2014/main" id="{4B0BB6CA-42BD-4935-A344-04A736DB2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每样本n bit，共C个声道。</a:t>
            </a:r>
          </a:p>
        </p:txBody>
      </p:sp>
      <p:sp>
        <p:nvSpPr>
          <p:cNvPr id="6" name="given-2">
            <a:extLst xmlns:a="http://schemas.openxmlformats.org/drawingml/2006/main">
              <a:ext uri="{FF2B5EF4-FFF2-40B4-BE49-F238E27FC236}">
                <a16:creationId xmlns:a16="http://schemas.microsoft.com/office/drawing/2014/main" id="{E954A5CC-8613-4753-BBBD-0F7D04488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先数样本，再换算成B。</a:t>
            </a:r>
          </a:p>
        </p:txBody>
      </p:sp>
      <p:sp>
        <p:nvSpPr>
          <p:cNvPr id="7" name="line">
            <a:extLst xmlns:a="http://schemas.openxmlformats.org/drawingml/2006/main">
              <a:ext uri="{FF2B5EF4-FFF2-40B4-BE49-F238E27FC236}">
                <a16:creationId xmlns:a16="http://schemas.microsoft.com/office/drawing/2014/main" id="{BC296914-B9BB-4017-BAF8-D810D668B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10972800" cy="9525"/>
          </a:xfrm>
          <a:custGeom xmlns:a="http://schemas.openxmlformats.org/drawingml/2006/main"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8DF"/>
            </a:solidFill>
          </a:ln>
        </p:spPr>
      </p:sp>
      <p:sp>
        <p:nvSpPr>
          <p:cNvPr id="8" name="answer-0">
            <a:extLst xmlns:a="http://schemas.openxmlformats.org/drawingml/2006/main">
              <a:ext uri="{FF2B5EF4-FFF2-40B4-BE49-F238E27FC236}">
                <a16:creationId xmlns:a16="http://schemas.microsoft.com/office/drawing/2014/main" id="{C5938A91-1AA9-4E59-B409-9C1E9F5B1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样本总数 = fs × t × C。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974E0D36-206C-4C08-A38A-406FF4BDD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577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样本数据量（B）= fs × t × n × C ÷ 8。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5F34616C-AAFE-4175-B5AA-79F9B9E83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2442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采样率用Hz；时长用秒；n为实际存储位数。</a:t>
            </a:r>
          </a:p>
        </p:txBody>
      </p:sp>
    </p:spTree>
    <p:extLst>
      <p:ext uri="{BB962C8B-B14F-4D97-AF65-F5344CB8AC3E}">
        <p14:creationId xmlns:p14="http://schemas.microsoft.com/office/powerpoint/2010/main" val="1907846887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op-rail">
            <a:extLst xmlns:a="http://schemas.openxmlformats.org/drawingml/2006/main">
              <a:ext uri="{FF2B5EF4-FFF2-40B4-BE49-F238E27FC236}">
                <a16:creationId xmlns:a16="http://schemas.microsoft.com/office/drawing/2014/main" id="{29A5CC56-F755-4C08-9134-DFF15C940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7D1CA33E-EE32-44CE-A7A7-6EA9D9840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DF71E922-B4EA-408B-81A4-908B3E32B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一分钟双声道PCM有多大？</a:t>
            </a:r>
          </a:p>
        </p:txBody>
      </p:sp>
      <p:sp>
        <p:nvSpPr>
          <p:cNvPr id="4" name="given-0">
            <a:extLst xmlns:a="http://schemas.openxmlformats.org/drawingml/2006/main">
              <a:ext uri="{FF2B5EF4-FFF2-40B4-BE49-F238E27FC236}">
                <a16:creationId xmlns:a16="http://schemas.microsoft.com/office/drawing/2014/main" id="{3B0B9243-C5D4-444F-937A-2C3200AE7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44.1kHz、16bit、双声道，录音1分钟。</a:t>
            </a:r>
          </a:p>
        </p:txBody>
      </p:sp>
      <p:sp>
        <p:nvSpPr>
          <p:cNvPr id="5" name="given-1">
            <a:extLst xmlns:a="http://schemas.openxmlformats.org/drawingml/2006/main">
              <a:ext uri="{FF2B5EF4-FFF2-40B4-BE49-F238E27FC236}">
                <a16:creationId xmlns:a16="http://schemas.microsoft.com/office/drawing/2014/main" id="{8325B55B-87A8-4B01-82A8-01C5897B5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求样本数据量（B）；换算MiB列式即可。</a:t>
            </a:r>
          </a:p>
        </p:txBody>
      </p:sp>
      <p:sp>
        <p:nvSpPr>
          <p:cNvPr id="6" name="given-2">
            <a:extLst xmlns:a="http://schemas.openxmlformats.org/drawingml/2006/main">
              <a:ext uri="{FF2B5EF4-FFF2-40B4-BE49-F238E27FC236}">
                <a16:creationId xmlns:a16="http://schemas.microsoft.com/office/drawing/2014/main" id="{6F86BA04-C5BE-4F1B-9899-BC4430258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 MiB = 1,048,576 B。</a:t>
            </a:r>
          </a:p>
        </p:txBody>
      </p:sp>
    </p:spTree>
    <p:extLst>
      <p:ext uri="{BB962C8B-B14F-4D97-AF65-F5344CB8AC3E}">
        <p14:creationId xmlns:p14="http://schemas.microsoft.com/office/powerpoint/2010/main" val="935711936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rail">
            <a:extLst xmlns:a="http://schemas.openxmlformats.org/drawingml/2006/main">
              <a:ext uri="{FF2B5EF4-FFF2-40B4-BE49-F238E27FC236}">
                <a16:creationId xmlns:a16="http://schemas.microsoft.com/office/drawing/2014/main" id="{29A5CC56-F755-4C08-9134-DFF15C940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7D1CA33E-EE32-44CE-A7A7-6EA9D9840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DF71E922-B4EA-408B-81A4-908B3E32B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一分钟双声道PCM有多大？</a:t>
            </a:r>
          </a:p>
        </p:txBody>
      </p:sp>
      <p:sp>
        <p:nvSpPr>
          <p:cNvPr id="4" name="given-0">
            <a:extLst xmlns:a="http://schemas.openxmlformats.org/drawingml/2006/main">
              <a:ext uri="{FF2B5EF4-FFF2-40B4-BE49-F238E27FC236}">
                <a16:creationId xmlns:a16="http://schemas.microsoft.com/office/drawing/2014/main" id="{3B0B9243-C5D4-444F-937A-2C3200AE7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44.1kHz、16bit、双声道，录音1分钟。</a:t>
            </a:r>
          </a:p>
        </p:txBody>
      </p:sp>
      <p:sp>
        <p:nvSpPr>
          <p:cNvPr id="5" name="given-1">
            <a:extLst xmlns:a="http://schemas.openxmlformats.org/drawingml/2006/main">
              <a:ext uri="{FF2B5EF4-FFF2-40B4-BE49-F238E27FC236}">
                <a16:creationId xmlns:a16="http://schemas.microsoft.com/office/drawing/2014/main" id="{8325B55B-87A8-4B01-82A8-01C5897B5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求样本数据量（B）；换算MiB列式即可。</a:t>
            </a:r>
          </a:p>
        </p:txBody>
      </p:sp>
      <p:sp>
        <p:nvSpPr>
          <p:cNvPr id="6" name="given-2">
            <a:extLst xmlns:a="http://schemas.openxmlformats.org/drawingml/2006/main">
              <a:ext uri="{FF2B5EF4-FFF2-40B4-BE49-F238E27FC236}">
                <a16:creationId xmlns:a16="http://schemas.microsoft.com/office/drawing/2014/main" id="{6F86BA04-C5BE-4F1B-9899-BC4430258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 MiB = 1,048,576 B。</a:t>
            </a:r>
          </a:p>
        </p:txBody>
      </p:sp>
      <p:sp>
        <p:nvSpPr>
          <p:cNvPr id="7" name="line">
            <a:extLst xmlns:a="http://schemas.openxmlformats.org/drawingml/2006/main">
              <a:ext uri="{FF2B5EF4-FFF2-40B4-BE49-F238E27FC236}">
                <a16:creationId xmlns:a16="http://schemas.microsoft.com/office/drawing/2014/main" id="{239B7CF5-5EE1-46CE-8C7A-C7E93B736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10972800" cy="9525"/>
          </a:xfrm>
          <a:custGeom xmlns:a="http://schemas.openxmlformats.org/drawingml/2006/main"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8DF"/>
            </a:solidFill>
          </a:ln>
        </p:spPr>
      </p:sp>
      <p:sp>
        <p:nvSpPr>
          <p:cNvPr id="8" name="answer-0">
            <a:extLst xmlns:a="http://schemas.openxmlformats.org/drawingml/2006/main">
              <a:ext uri="{FF2B5EF4-FFF2-40B4-BE49-F238E27FC236}">
                <a16:creationId xmlns:a16="http://schemas.microsoft.com/office/drawing/2014/main" id="{87CF0B6B-DEBE-4310-82A8-54606DC30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44,100 × 60 × 16 × 2 ÷ 8 = 10,584,000 B。</a:t>
            </a:r>
          </a:p>
        </p:txBody>
      </p:sp>
      <p:sp>
        <p:nvSpPr>
          <p:cNvPr id="9" name="answer-1">
            <a:extLst xmlns:a="http://schemas.openxmlformats.org/drawingml/2006/main">
              <a:ext uri="{FF2B5EF4-FFF2-40B4-BE49-F238E27FC236}">
                <a16:creationId xmlns:a16="http://schemas.microsoft.com/office/drawing/2014/main" id="{2FF99DF3-1552-49DB-8AD2-C57F15236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577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10,584,000 ÷ 1,048,576 ≈ 10.09 MiB。</a:t>
            </a:r>
          </a:p>
        </p:txBody>
      </p:sp>
      <p:sp>
        <p:nvSpPr>
          <p:cNvPr id="10" name="answer-2">
            <a:extLst xmlns:a="http://schemas.openxmlformats.org/drawingml/2006/main">
              <a:ext uri="{FF2B5EF4-FFF2-40B4-BE49-F238E27FC236}">
                <a16:creationId xmlns:a16="http://schemas.microsoft.com/office/drawing/2014/main" id="{242A0CED-5B74-4E63-8645-40E58FE09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2442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同参数改单声道，样本数据量减半。</a:t>
            </a:r>
          </a:p>
        </p:txBody>
      </p:sp>
    </p:spTree>
    <p:extLst>
      <p:ext uri="{BB962C8B-B14F-4D97-AF65-F5344CB8AC3E}">
        <p14:creationId xmlns:p14="http://schemas.microsoft.com/office/powerpoint/2010/main" val="935711936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op-rail">
            <a:extLst xmlns:a="http://schemas.openxmlformats.org/drawingml/2006/main">
              <a:ext uri="{FF2B5EF4-FFF2-40B4-BE49-F238E27FC236}">
                <a16:creationId xmlns:a16="http://schemas.microsoft.com/office/drawing/2014/main" id="{BB727BEA-910B-4262-ADA1-B7A9E82C3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21469C81-C664-44C7-B7B3-D6522921D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577C21D7-5650-4E20-B587-85F301D2E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算出32000B，文件一定也是32000B吗？</a:t>
            </a:r>
          </a:p>
        </p:txBody>
      </p:sp>
      <p:sp>
        <p:nvSpPr>
          <p:cNvPr id="4" name="given-0">
            <a:extLst xmlns:a="http://schemas.openxmlformats.org/drawingml/2006/main">
              <a:ext uri="{FF2B5EF4-FFF2-40B4-BE49-F238E27FC236}">
                <a16:creationId xmlns:a16="http://schemas.microsoft.com/office/drawing/2014/main" id="{17E9D364-980F-4AEA-8840-931D629D6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实际样例：8kHz、2秒、16bit、单声道PCM WAV。</a:t>
            </a:r>
          </a:p>
        </p:txBody>
      </p:sp>
      <p:sp>
        <p:nvSpPr>
          <p:cNvPr id="5" name="given-1">
            <a:extLst xmlns:a="http://schemas.openxmlformats.org/drawingml/2006/main">
              <a:ext uri="{FF2B5EF4-FFF2-40B4-BE49-F238E27FC236}">
                <a16:creationId xmlns:a16="http://schemas.microsoft.com/office/drawing/2014/main" id="{02271605-76D8-45F2-9F69-D5BA19B89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公式得到32,000B。完整文件会一样大吗？</a:t>
            </a:r>
          </a:p>
        </p:txBody>
      </p:sp>
    </p:spTree>
    <p:extLst>
      <p:ext uri="{BB962C8B-B14F-4D97-AF65-F5344CB8AC3E}">
        <p14:creationId xmlns:p14="http://schemas.microsoft.com/office/powerpoint/2010/main" val="1769386333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op-rail">
            <a:extLst xmlns:a="http://schemas.openxmlformats.org/drawingml/2006/main">
              <a:ext uri="{FF2B5EF4-FFF2-40B4-BE49-F238E27FC236}">
                <a16:creationId xmlns:a16="http://schemas.microsoft.com/office/drawing/2014/main" id="{BB727BEA-910B-4262-ADA1-B7A9E82C3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21469C81-C664-44C7-B7B3-D6522921D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577C21D7-5650-4E20-B587-85F301D2E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算出32000B，文件一定也是32000B吗？</a:t>
            </a:r>
          </a:p>
        </p:txBody>
      </p:sp>
      <p:sp>
        <p:nvSpPr>
          <p:cNvPr id="4" name="given-0">
            <a:extLst xmlns:a="http://schemas.openxmlformats.org/drawingml/2006/main">
              <a:ext uri="{FF2B5EF4-FFF2-40B4-BE49-F238E27FC236}">
                <a16:creationId xmlns:a16="http://schemas.microsoft.com/office/drawing/2014/main" id="{17E9D364-980F-4AEA-8840-931D629D6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实际样例：8kHz、2秒、16bit、单声道PCM WAV。</a:t>
            </a:r>
          </a:p>
        </p:txBody>
      </p:sp>
      <p:sp>
        <p:nvSpPr>
          <p:cNvPr id="5" name="given-1">
            <a:extLst xmlns:a="http://schemas.openxmlformats.org/drawingml/2006/main">
              <a:ext uri="{FF2B5EF4-FFF2-40B4-BE49-F238E27FC236}">
                <a16:creationId xmlns:a16="http://schemas.microsoft.com/office/drawing/2014/main" id="{02271605-76D8-45F2-9F69-D5BA19B89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公式得到32,000B。完整文件会一样大吗？</a:t>
            </a:r>
          </a:p>
        </p:txBody>
      </p:sp>
      <p:sp>
        <p:nvSpPr>
          <p:cNvPr id="6" name="line">
            <a:extLst xmlns:a="http://schemas.openxmlformats.org/drawingml/2006/main">
              <a:ext uri="{FF2B5EF4-FFF2-40B4-BE49-F238E27FC236}">
                <a16:creationId xmlns:a16="http://schemas.microsoft.com/office/drawing/2014/main" id="{69870D6B-CA93-461E-9FEF-0DBFE1DEC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10972800" cy="9525"/>
          </a:xfrm>
          <a:custGeom xmlns:a="http://schemas.openxmlformats.org/drawingml/2006/main"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8DF"/>
            </a:solidFill>
          </a:ln>
        </p:spPr>
      </p:sp>
      <p:sp>
        <p:nvSpPr>
          <p:cNvPr id="7" name="answer-0">
            <a:extLst xmlns:a="http://schemas.openxmlformats.org/drawingml/2006/main">
              <a:ext uri="{FF2B5EF4-FFF2-40B4-BE49-F238E27FC236}">
                <a16:creationId xmlns:a16="http://schemas.microsoft.com/office/drawing/2014/main" id="{913478CE-2556-49A4-8184-0E7F58269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读取样本：16,000个；样本数据32,000B。</a:t>
            </a:r>
          </a:p>
        </p:txBody>
      </p:sp>
      <p:sp>
        <p:nvSpPr>
          <p:cNvPr id="8" name="answer-1">
            <a:extLst xmlns:a="http://schemas.openxmlformats.org/drawingml/2006/main">
              <a:ext uri="{FF2B5EF4-FFF2-40B4-BE49-F238E27FC236}">
                <a16:creationId xmlns:a16="http://schemas.microsoft.com/office/drawing/2014/main" id="{59191502-E54C-47D5-BD3C-14AAF0B74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577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本课文件：32,044B，另有44B结构信息。</a:t>
            </a:r>
          </a:p>
        </p:txBody>
      </p:sp>
      <p:sp>
        <p:nvSpPr>
          <p:cNvPr id="9" name="answer-2">
            <a:extLst xmlns:a="http://schemas.openxmlformats.org/drawingml/2006/main">
              <a:ext uri="{FF2B5EF4-FFF2-40B4-BE49-F238E27FC236}">
                <a16:creationId xmlns:a16="http://schemas.microsoft.com/office/drawing/2014/main" id="{E79F019A-D3F6-4564-92D7-F654C650C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2442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公式计算样本数据量，不是完整文件大小。</a:t>
            </a:r>
          </a:p>
        </p:txBody>
      </p:sp>
    </p:spTree>
    <p:extLst>
      <p:ext uri="{BB962C8B-B14F-4D97-AF65-F5344CB8AC3E}">
        <p14:creationId xmlns:p14="http://schemas.microsoft.com/office/powerpoint/2010/main" val="1769386333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op-rail">
            <a:extLst xmlns:a="http://schemas.openxmlformats.org/drawingml/2006/main">
              <a:ext uri="{FF2B5EF4-FFF2-40B4-BE49-F238E27FC236}">
                <a16:creationId xmlns:a16="http://schemas.microsoft.com/office/drawing/2014/main" id="{9858BEDC-5B58-4750-86A0-697164933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1CDDB7D5-4912-4258-9482-34266D56C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9BB7DBFA-5F7D-4A19-BF8D-50AC61178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实际参数支持开场哪条猜测？</a:t>
            </a:r>
          </a:p>
        </p:txBody>
      </p:sp>
      <p:sp>
        <p:nvSpPr>
          <p:cNvPr id="4" name="given-0">
            <a:extLst xmlns:a="http://schemas.openxmlformats.org/drawingml/2006/main">
              <a:ext uri="{FF2B5EF4-FFF2-40B4-BE49-F238E27FC236}">
                <a16:creationId xmlns:a16="http://schemas.microsoft.com/office/drawing/2014/main" id="{5445B2C8-6601-4A4B-945D-B3351101C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回看A：529,244B；B：96,044B。</a:t>
            </a:r>
          </a:p>
        </p:txBody>
      </p:sp>
      <p:sp>
        <p:nvSpPr>
          <p:cNvPr id="5" name="given-1">
            <a:extLst xmlns:a="http://schemas.openxmlformats.org/drawingml/2006/main">
              <a:ext uri="{FF2B5EF4-FFF2-40B4-BE49-F238E27FC236}">
                <a16:creationId xmlns:a16="http://schemas.microsoft.com/office/drawing/2014/main" id="{E0271FAC-0AEF-49D7-B615-1E6E8C3AE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两份都为6秒未压缩PCM。</a:t>
            </a:r>
          </a:p>
        </p:txBody>
      </p:sp>
      <p:sp>
        <p:nvSpPr>
          <p:cNvPr id="6" name="given-2">
            <a:extLst xmlns:a="http://schemas.openxmlformats.org/drawingml/2006/main">
              <a:ext uri="{FF2B5EF4-FFF2-40B4-BE49-F238E27FC236}">
                <a16:creationId xmlns:a16="http://schemas.microsoft.com/office/drawing/2014/main" id="{8B6C177F-AF9C-4439-BB67-BE8D341FC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预测哪个记录参数不同，再读实际文件。</a:t>
            </a:r>
          </a:p>
        </p:txBody>
      </p:sp>
    </p:spTree>
    <p:extLst>
      <p:ext uri="{BB962C8B-B14F-4D97-AF65-F5344CB8AC3E}">
        <p14:creationId xmlns:p14="http://schemas.microsoft.com/office/powerpoint/2010/main" val="552696060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rail">
            <a:extLst xmlns:a="http://schemas.openxmlformats.org/drawingml/2006/main">
              <a:ext uri="{FF2B5EF4-FFF2-40B4-BE49-F238E27FC236}">
                <a16:creationId xmlns:a16="http://schemas.microsoft.com/office/drawing/2014/main" id="{9858BEDC-5B58-4750-86A0-697164933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1CDDB7D5-4912-4258-9482-34266D56C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9BB7DBFA-5F7D-4A19-BF8D-50AC61178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实际参数支持开场哪条猜测？</a:t>
            </a:r>
          </a:p>
        </p:txBody>
      </p:sp>
      <p:sp>
        <p:nvSpPr>
          <p:cNvPr id="4" name="given-0">
            <a:extLst xmlns:a="http://schemas.openxmlformats.org/drawingml/2006/main">
              <a:ext uri="{FF2B5EF4-FFF2-40B4-BE49-F238E27FC236}">
                <a16:creationId xmlns:a16="http://schemas.microsoft.com/office/drawing/2014/main" id="{5445B2C8-6601-4A4B-945D-B3351101C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回看A：529,244B；B：96,044B。</a:t>
            </a:r>
          </a:p>
        </p:txBody>
      </p:sp>
      <p:sp>
        <p:nvSpPr>
          <p:cNvPr id="5" name="given-1">
            <a:extLst xmlns:a="http://schemas.openxmlformats.org/drawingml/2006/main">
              <a:ext uri="{FF2B5EF4-FFF2-40B4-BE49-F238E27FC236}">
                <a16:creationId xmlns:a16="http://schemas.microsoft.com/office/drawing/2014/main" id="{E0271FAC-0AEF-49D7-B615-1E6E8C3AE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两份都为6秒未压缩PCM。</a:t>
            </a:r>
          </a:p>
        </p:txBody>
      </p:sp>
      <p:sp>
        <p:nvSpPr>
          <p:cNvPr id="6" name="given-2">
            <a:extLst xmlns:a="http://schemas.openxmlformats.org/drawingml/2006/main">
              <a:ext uri="{FF2B5EF4-FFF2-40B4-BE49-F238E27FC236}">
                <a16:creationId xmlns:a16="http://schemas.microsoft.com/office/drawing/2014/main" id="{8B6C177F-AF9C-4439-BB67-BE8D341FC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预测哪个记录参数不同，再读实际文件。</a:t>
            </a:r>
          </a:p>
        </p:txBody>
      </p:sp>
      <p:sp>
        <p:nvSpPr>
          <p:cNvPr id="7" name="line">
            <a:extLst xmlns:a="http://schemas.openxmlformats.org/drawingml/2006/main">
              <a:ext uri="{FF2B5EF4-FFF2-40B4-BE49-F238E27FC236}">
                <a16:creationId xmlns:a16="http://schemas.microsoft.com/office/drawing/2014/main" id="{CA091703-17A1-42EB-BB02-0E5ED215C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10972800" cy="9525"/>
          </a:xfrm>
          <a:custGeom xmlns:a="http://schemas.openxmlformats.org/drawingml/2006/main"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8DF"/>
            </a:solidFill>
          </a:ln>
        </p:spPr>
      </p:sp>
      <p:sp>
        <p:nvSpPr>
          <p:cNvPr id="8" name="answer-0">
            <a:extLst xmlns:a="http://schemas.openxmlformats.org/drawingml/2006/main">
              <a:ext uri="{FF2B5EF4-FFF2-40B4-BE49-F238E27FC236}">
                <a16:creationId xmlns:a16="http://schemas.microsoft.com/office/drawing/2014/main" id="{7B428C02-E0E9-4F53-A9C3-B6A35EF6E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A：44,100Hz；B：8,000Hz。</a:t>
            </a:r>
          </a:p>
        </p:txBody>
      </p:sp>
      <p:sp>
        <p:nvSpPr>
          <p:cNvPr id="9" name="answer-1">
            <a:extLst xmlns:a="http://schemas.openxmlformats.org/drawingml/2006/main">
              <a:ext uri="{FF2B5EF4-FFF2-40B4-BE49-F238E27FC236}">
                <a16:creationId xmlns:a16="http://schemas.microsoft.com/office/drawing/2014/main" id="{64118A59-888D-4927-B93F-4F223E06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577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同为16bit、单声道、6秒。</a:t>
            </a:r>
          </a:p>
        </p:txBody>
      </p:sp>
      <p:sp>
        <p:nvSpPr>
          <p:cNvPr id="10" name="answer-2">
            <a:extLst xmlns:a="http://schemas.openxmlformats.org/drawingml/2006/main">
              <a:ext uri="{FF2B5EF4-FFF2-40B4-BE49-F238E27FC236}">
                <a16:creationId xmlns:a16="http://schemas.microsoft.com/office/drawing/2014/main" id="{B196671F-4EE1-4E68-9CBD-9AF6BCEF8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2442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样本数据：529,200B／96,000B。</a:t>
            </a:r>
          </a:p>
        </p:txBody>
      </p:sp>
    </p:spTree>
    <p:extLst>
      <p:ext uri="{BB962C8B-B14F-4D97-AF65-F5344CB8AC3E}">
        <p14:creationId xmlns:p14="http://schemas.microsoft.com/office/powerpoint/2010/main" val="552696060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6" name=""/>
          <p:cNvCxnSpPr>
            <a:stCxn xmlns:a="http://schemas.openxmlformats.org/drawingml/2006/main" id="11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6191250" y="3067050"/>
            <a:ext cx="1428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C64E1"/>
            </a:solidFill>
          </a:ln>
        </p:spPr>
      </p:cxnSp>
      <p:cxnSp>
        <p:nvCxnSpPr>
          <p:cNvPr id="37" name=""/>
          <p:cNvCxnSpPr>
            <a:stCxn xmlns:a="http://schemas.openxmlformats.org/drawingml/2006/main" id="6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6191250" y="2162175"/>
            <a:ext cx="1428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C64E1"/>
            </a:solidFill>
          </a:ln>
        </p:spPr>
      </p:cxnSp>
      <p:cxnSp>
        <p:nvCxnSpPr>
          <p:cNvPr id="38" name=""/>
          <p:cNvCxnSpPr>
            <a:stCxn xmlns:a="http://schemas.openxmlformats.org/drawingml/2006/main" id="4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2800350" y="3562350"/>
            <a:ext cx="866775" cy="13144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C64E1"/>
            </a:solidFill>
          </a:ln>
        </p:spPr>
      </p:cxnSp>
      <p:cxnSp>
        <p:nvCxnSpPr>
          <p:cNvPr id="39" name=""/>
          <p:cNvCxnSpPr>
            <a:stCxn xmlns:a="http://schemas.openxmlformats.org/drawingml/2006/main" id="4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2800350" y="3562350"/>
            <a:ext cx="866775" cy="4095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C64E1"/>
            </a:solidFill>
          </a:ln>
        </p:spPr>
      </p:cxnSp>
      <p:cxnSp>
        <p:nvCxnSpPr>
          <p:cNvPr id="40" name=""/>
          <p:cNvCxnSpPr>
            <a:stCxn xmlns:a="http://schemas.openxmlformats.org/drawingml/2006/main" id="4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V="1">
            <a:off x="2800350" y="3067050"/>
            <a:ext cx="866775" cy="4953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C64E1"/>
            </a:solidFill>
          </a:ln>
        </p:spPr>
      </p:cxnSp>
      <p:cxnSp>
        <p:nvCxnSpPr>
          <p:cNvPr id="41" name=""/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2800350" y="2162175"/>
            <a:ext cx="866775" cy="14001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C64E1"/>
            </a:solidFill>
          </a:ln>
        </p:spPr>
      </p:cxnSp>
      <p:sp>
        <p:nvSpPr>
          <p:cNvPr id="42" name="top-rail">
            <a:extLst xmlns:a="http://schemas.openxmlformats.org/drawingml/2006/main">
              <a:ext uri="{FF2B5EF4-FFF2-40B4-BE49-F238E27FC236}">
                <a16:creationId xmlns:a16="http://schemas.microsoft.com/office/drawing/2014/main" id="{B615AE08-9C5C-41E7-AC98-E667D41B0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8365CACB-B72D-4A96-8AC0-C94DA0769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1F33720B-280D-4F62-8C64-7374D3E68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我们怎样数数据、解释文件？</a:t>
            </a:r>
          </a:p>
        </p:txBody>
      </p:sp>
      <p:sp>
        <p:nvSpPr>
          <p:cNvPr id="4" name="tree-root">
            <a:extLst xmlns:a="http://schemas.openxmlformats.org/drawingml/2006/main">
              <a:ext uri="{FF2B5EF4-FFF2-40B4-BE49-F238E27FC236}">
                <a16:creationId xmlns:a16="http://schemas.microsoft.com/office/drawing/2014/main" id="{B5B5F539-42F1-47DB-8C13-E4DE01930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2190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5" name="tree-label-root">
            <a:extLst xmlns:a="http://schemas.openxmlformats.org/drawingml/2006/main">
              <a:ext uri="{FF2B5EF4-FFF2-40B4-BE49-F238E27FC236}">
                <a16:creationId xmlns:a16="http://schemas.microsoft.com/office/drawing/2014/main" id="{7396F84E-FB97-4C54-B202-9FA902A2D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19450"/>
            <a:ext cx="1962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数字音频</a:t>
            </a:r>
          </a:p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记录模型</a:t>
            </a:r>
          </a:p>
        </p:txBody>
      </p:sp>
      <p:sp>
        <p:nvSpPr>
          <p:cNvPr id="6" name="tree-sampling">
            <a:extLst xmlns:a="http://schemas.openxmlformats.org/drawingml/2006/main">
              <a:ext uri="{FF2B5EF4-FFF2-40B4-BE49-F238E27FC236}">
                <a16:creationId xmlns:a16="http://schemas.microsoft.com/office/drawing/2014/main" id="{EE28B9EB-A3F4-4BA9-A60B-5BAF354F5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762125"/>
            <a:ext cx="25241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7" name="tree-label-sampling">
            <a:extLst xmlns:a="http://schemas.openxmlformats.org/drawingml/2006/main">
              <a:ext uri="{FF2B5EF4-FFF2-40B4-BE49-F238E27FC236}">
                <a16:creationId xmlns:a16="http://schemas.microsoft.com/office/drawing/2014/main" id="{D2F8BA5A-5011-4B25-8BA4-4BA09D402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1800225"/>
            <a:ext cx="22955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采样</a:t>
            </a:r>
          </a:p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离散时刻</a:t>
            </a:r>
          </a:p>
        </p:txBody>
      </p:sp>
      <p:sp>
        <p:nvSpPr>
          <p:cNvPr id="9" name="tree-focus">
            <a:extLst xmlns:a="http://schemas.openxmlformats.org/drawingml/2006/main">
              <a:ext uri="{FF2B5EF4-FFF2-40B4-BE49-F238E27FC236}">
                <a16:creationId xmlns:a16="http://schemas.microsoft.com/office/drawing/2014/main" id="{CE5D09E6-4328-465A-B8F8-165C953C6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724025"/>
            <a:ext cx="26003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" name="tree-new">
            <a:extLst xmlns:a="http://schemas.openxmlformats.org/drawingml/2006/main">
              <a:ext uri="{FF2B5EF4-FFF2-40B4-BE49-F238E27FC236}">
                <a16:creationId xmlns:a16="http://schemas.microsoft.com/office/drawing/2014/main" id="{62BBC657-623B-4BF6-AE32-128ADA650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914525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/>
            </a:r>
          </a:p>
        </p:txBody>
      </p:sp>
      <p:sp>
        <p:nvSpPr>
          <p:cNvPr id="11" name="tree-quantization">
            <a:extLst xmlns:a="http://schemas.openxmlformats.org/drawingml/2006/main">
              <a:ext uri="{FF2B5EF4-FFF2-40B4-BE49-F238E27FC236}">
                <a16:creationId xmlns:a16="http://schemas.microsoft.com/office/drawing/2014/main" id="{159739EF-A090-4065-9E48-143359CE9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667000"/>
            <a:ext cx="25241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2" name="tree-label-quantization">
            <a:extLst xmlns:a="http://schemas.openxmlformats.org/drawingml/2006/main">
              <a:ext uri="{FF2B5EF4-FFF2-40B4-BE49-F238E27FC236}">
                <a16:creationId xmlns:a16="http://schemas.microsoft.com/office/drawing/2014/main" id="{05808172-445E-478B-99EA-4957F9E40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705100"/>
            <a:ext cx="22955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量化</a:t>
            </a:r>
          </a:p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有限幅度</a:t>
            </a:r>
          </a:p>
        </p:txBody>
      </p:sp>
      <p:sp>
        <p:nvSpPr>
          <p:cNvPr id="14" name="tree-focus">
            <a:extLst xmlns:a="http://schemas.openxmlformats.org/drawingml/2006/main">
              <a:ext uri="{FF2B5EF4-FFF2-40B4-BE49-F238E27FC236}">
                <a16:creationId xmlns:a16="http://schemas.microsoft.com/office/drawing/2014/main" id="{9E0FB84C-6142-4D3C-9896-4592B88EF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28900"/>
            <a:ext cx="26003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" name="tree-new">
            <a:extLst xmlns:a="http://schemas.openxmlformats.org/drawingml/2006/main">
              <a:ext uri="{FF2B5EF4-FFF2-40B4-BE49-F238E27FC236}">
                <a16:creationId xmlns:a16="http://schemas.microsoft.com/office/drawing/2014/main" id="{06CD0068-8A8A-4048-80A7-104476BC1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81940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/>
            </a:r>
          </a:p>
        </p:txBody>
      </p:sp>
      <p:sp>
        <p:nvSpPr>
          <p:cNvPr id="16" name="tree-encoding">
            <a:extLst xmlns:a="http://schemas.openxmlformats.org/drawingml/2006/main">
              <a:ext uri="{FF2B5EF4-FFF2-40B4-BE49-F238E27FC236}">
                <a16:creationId xmlns:a16="http://schemas.microsoft.com/office/drawing/2014/main" id="{63FDFFDB-5A94-4CAC-A1BD-64408FDBB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571875"/>
            <a:ext cx="25241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7" name="tree-label-encoding">
            <a:extLst xmlns:a="http://schemas.openxmlformats.org/drawingml/2006/main">
              <a:ext uri="{FF2B5EF4-FFF2-40B4-BE49-F238E27FC236}">
                <a16:creationId xmlns:a16="http://schemas.microsoft.com/office/drawing/2014/main" id="{823B1695-3080-42A1-8A14-C23253570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3609975"/>
            <a:ext cx="22955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编码</a:t>
            </a:r>
          </a:p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表示等级</a:t>
            </a:r>
          </a:p>
        </p:txBody>
      </p:sp>
      <p:sp>
        <p:nvSpPr>
          <p:cNvPr id="19" name="tree-focus">
            <a:extLst xmlns:a="http://schemas.openxmlformats.org/drawingml/2006/main">
              <a:ext uri="{FF2B5EF4-FFF2-40B4-BE49-F238E27FC236}">
                <a16:creationId xmlns:a16="http://schemas.microsoft.com/office/drawing/2014/main" id="{08E63920-FBAD-4FB7-86CD-4FB9C2B59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533775"/>
            <a:ext cx="26003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" name="tree-new">
            <a:extLst xmlns:a="http://schemas.openxmlformats.org/drawingml/2006/main">
              <a:ext uri="{FF2B5EF4-FFF2-40B4-BE49-F238E27FC236}">
                <a16:creationId xmlns:a16="http://schemas.microsoft.com/office/drawing/2014/main" id="{7DF10078-BC82-40DD-8446-C748F2490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724275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/>
            </a:r>
          </a:p>
        </p:txBody>
      </p:sp>
      <p:sp>
        <p:nvSpPr>
          <p:cNvPr id="21" name="tree-parameters">
            <a:extLst xmlns:a="http://schemas.openxmlformats.org/drawingml/2006/main">
              <a:ext uri="{FF2B5EF4-FFF2-40B4-BE49-F238E27FC236}">
                <a16:creationId xmlns:a16="http://schemas.microsoft.com/office/drawing/2014/main" id="{344AF17A-0850-4DBF-BD89-02E7A8B3A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476750"/>
            <a:ext cx="25241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2" name="tree-label-parameters">
            <a:extLst xmlns:a="http://schemas.openxmlformats.org/drawingml/2006/main">
              <a:ext uri="{FF2B5EF4-FFF2-40B4-BE49-F238E27FC236}">
                <a16:creationId xmlns:a16="http://schemas.microsoft.com/office/drawing/2014/main" id="{5A8ABD60-2DDB-441A-AF85-DEA0EC653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4514850"/>
            <a:ext cx="22955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序列＋解释参数</a:t>
            </a:r>
          </a:p>
        </p:txBody>
      </p:sp>
      <p:sp>
        <p:nvSpPr>
          <p:cNvPr id="24" name="tree-focus">
            <a:extLst xmlns:a="http://schemas.openxmlformats.org/drawingml/2006/main">
              <a:ext uri="{FF2B5EF4-FFF2-40B4-BE49-F238E27FC236}">
                <a16:creationId xmlns:a16="http://schemas.microsoft.com/office/drawing/2014/main" id="{3A07B3B0-42FE-462D-A6BA-BEB0DD950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438650"/>
            <a:ext cx="26003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5" name="tree-new">
            <a:extLst xmlns:a="http://schemas.openxmlformats.org/drawingml/2006/main">
              <a:ext uri="{FF2B5EF4-FFF2-40B4-BE49-F238E27FC236}">
                <a16:creationId xmlns:a16="http://schemas.microsoft.com/office/drawing/2014/main" id="{E372D916-86ED-4957-A75D-D6D45A933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62915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/>
            </a:r>
          </a:p>
        </p:txBody>
      </p:sp>
      <p:sp>
        <p:nvSpPr>
          <p:cNvPr id="26" name="tree-frequency">
            <a:extLst xmlns:a="http://schemas.openxmlformats.org/drawingml/2006/main">
              <a:ext uri="{FF2B5EF4-FFF2-40B4-BE49-F238E27FC236}">
                <a16:creationId xmlns:a16="http://schemas.microsoft.com/office/drawing/2014/main" id="{F70EADA6-BD09-4F17-A999-2878A4107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333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7" name="tree-label-frequency">
            <a:extLst xmlns:a="http://schemas.openxmlformats.org/drawingml/2006/main">
              <a:ext uri="{FF2B5EF4-FFF2-40B4-BE49-F238E27FC236}">
                <a16:creationId xmlns:a16="http://schemas.microsoft.com/office/drawing/2014/main" id="{A990994A-D3C1-4F0C-A1EF-CBBE2FCFB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800225"/>
            <a:ext cx="3105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采样率</a:t>
            </a:r>
          </a:p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频率范围</a:t>
            </a:r>
          </a:p>
        </p:txBody>
      </p:sp>
      <p:sp>
        <p:nvSpPr>
          <p:cNvPr id="29" name="tree-focus">
            <a:extLst xmlns:a="http://schemas.openxmlformats.org/drawingml/2006/main">
              <a:ext uri="{FF2B5EF4-FFF2-40B4-BE49-F238E27FC236}">
                <a16:creationId xmlns:a16="http://schemas.microsoft.com/office/drawing/2014/main" id="{E1C62122-A8E2-4C99-8033-30713367C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724025"/>
            <a:ext cx="3409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0" name="tree-new">
            <a:extLst xmlns:a="http://schemas.openxmlformats.org/drawingml/2006/main">
              <a:ext uri="{FF2B5EF4-FFF2-40B4-BE49-F238E27FC236}">
                <a16:creationId xmlns:a16="http://schemas.microsoft.com/office/drawing/2014/main" id="{5F05DB8E-88B9-47D1-ADAA-F7D455A1C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1914525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/>
            </a:r>
          </a:p>
        </p:txBody>
      </p:sp>
      <p:sp>
        <p:nvSpPr>
          <p:cNvPr id="31" name="tree-precision">
            <a:extLst xmlns:a="http://schemas.openxmlformats.org/drawingml/2006/main">
              <a:ext uri="{FF2B5EF4-FFF2-40B4-BE49-F238E27FC236}">
                <a16:creationId xmlns:a16="http://schemas.microsoft.com/office/drawing/2014/main" id="{DA1FB7A8-D1E7-4084-9287-6AE9318F2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667000"/>
            <a:ext cx="3333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32" name="tree-label-precision">
            <a:extLst xmlns:a="http://schemas.openxmlformats.org/drawingml/2006/main">
              <a:ext uri="{FF2B5EF4-FFF2-40B4-BE49-F238E27FC236}">
                <a16:creationId xmlns:a16="http://schemas.microsoft.com/office/drawing/2014/main" id="{50BAB2E9-A4D3-4903-A87B-431637FA8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05100"/>
            <a:ext cx="3105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位数</a:t>
            </a:r>
          </a:p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等级与误差上界</a:t>
            </a:r>
          </a:p>
        </p:txBody>
      </p:sp>
      <p:sp>
        <p:nvSpPr>
          <p:cNvPr id="34" name="tree-focus">
            <a:extLst xmlns:a="http://schemas.openxmlformats.org/drawingml/2006/main">
              <a:ext uri="{FF2B5EF4-FFF2-40B4-BE49-F238E27FC236}">
                <a16:creationId xmlns:a16="http://schemas.microsoft.com/office/drawing/2014/main" id="{E7A986AA-A8B0-47E2-A0FC-EBA199CCA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628900"/>
            <a:ext cx="3409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" name="tree-new">
            <a:extLst xmlns:a="http://schemas.openxmlformats.org/drawingml/2006/main">
              <a:ext uri="{FF2B5EF4-FFF2-40B4-BE49-F238E27FC236}">
                <a16:creationId xmlns:a16="http://schemas.microsoft.com/office/drawing/2014/main" id="{86240E3D-1DE2-4303-A71A-CFA6AEA15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281940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841598685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41" name=""/>
          <p:cNvCxnSpPr>
            <a:stCxn xmlns:a="http://schemas.openxmlformats.org/drawingml/2006/main" id="21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 flipV="1">
            <a:off x="6191250" y="4162425"/>
            <a:ext cx="1428750" cy="7143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C64E1"/>
            </a:solidFill>
          </a:ln>
        </p:spPr>
      </p:cxnSp>
      <p:cxnSp>
        <p:nvCxnSpPr>
          <p:cNvPr id="42" name=""/>
          <p:cNvCxnSpPr>
            <a:stCxn xmlns:a="http://schemas.openxmlformats.org/drawingml/2006/main" id="11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6191250" y="3067050"/>
            <a:ext cx="1428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C64E1"/>
            </a:solidFill>
          </a:ln>
        </p:spPr>
      </p:cxnSp>
      <p:cxnSp>
        <p:nvCxnSpPr>
          <p:cNvPr id="43" name=""/>
          <p:cNvCxnSpPr>
            <a:stCxn xmlns:a="http://schemas.openxmlformats.org/drawingml/2006/main" id="6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6191250" y="2162175"/>
            <a:ext cx="1428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C64E1"/>
            </a:solidFill>
          </a:ln>
        </p:spPr>
      </p:cxnSp>
      <p:cxnSp>
        <p:nvCxnSpPr>
          <p:cNvPr id="44" name=""/>
          <p:cNvCxnSpPr>
            <a:stCxn xmlns:a="http://schemas.openxmlformats.org/drawingml/2006/main" id="4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2800350" y="3562350"/>
            <a:ext cx="866775" cy="13144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C64E1"/>
            </a:solidFill>
          </a:ln>
        </p:spPr>
      </p:cxnSp>
      <p:cxnSp>
        <p:nvCxnSpPr>
          <p:cNvPr id="45" name=""/>
          <p:cNvCxnSpPr>
            <a:stCxn xmlns:a="http://schemas.openxmlformats.org/drawingml/2006/main" id="4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2800350" y="3562350"/>
            <a:ext cx="866775" cy="4095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C64E1"/>
            </a:solidFill>
          </a:ln>
        </p:spPr>
      </p:cxnSp>
      <p:cxnSp>
        <p:nvCxnSpPr>
          <p:cNvPr id="46" name=""/>
          <p:cNvCxnSpPr>
            <a:stCxn xmlns:a="http://schemas.openxmlformats.org/drawingml/2006/main" id="4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V="1">
            <a:off x="2800350" y="3067050"/>
            <a:ext cx="866775" cy="4953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C64E1"/>
            </a:solidFill>
          </a:ln>
        </p:spPr>
      </p:cxnSp>
      <p:cxnSp>
        <p:nvCxnSpPr>
          <p:cNvPr id="47" name=""/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2800350" y="2162175"/>
            <a:ext cx="866775" cy="14001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C64E1"/>
            </a:solidFill>
          </a:ln>
        </p:spPr>
      </p:cxnSp>
      <p:sp>
        <p:nvSpPr>
          <p:cNvPr id="48" name="top-rail">
            <a:extLst xmlns:a="http://schemas.openxmlformats.org/drawingml/2006/main">
              <a:ext uri="{FF2B5EF4-FFF2-40B4-BE49-F238E27FC236}">
                <a16:creationId xmlns:a16="http://schemas.microsoft.com/office/drawing/2014/main" id="{B615AE08-9C5C-41E7-AC98-E667D41B0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8365CACB-B72D-4A96-8AC0-C94DA0769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1F33720B-280D-4F62-8C64-7374D3E68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我们怎样数数据、解释文件？</a:t>
            </a:r>
          </a:p>
        </p:txBody>
      </p:sp>
      <p:sp>
        <p:nvSpPr>
          <p:cNvPr id="4" name="tree-root">
            <a:extLst xmlns:a="http://schemas.openxmlformats.org/drawingml/2006/main">
              <a:ext uri="{FF2B5EF4-FFF2-40B4-BE49-F238E27FC236}">
                <a16:creationId xmlns:a16="http://schemas.microsoft.com/office/drawing/2014/main" id="{B5B5F539-42F1-47DB-8C13-E4DE01930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2190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5" name="tree-label-root">
            <a:extLst xmlns:a="http://schemas.openxmlformats.org/drawingml/2006/main">
              <a:ext uri="{FF2B5EF4-FFF2-40B4-BE49-F238E27FC236}">
                <a16:creationId xmlns:a16="http://schemas.microsoft.com/office/drawing/2014/main" id="{7396F84E-FB97-4C54-B202-9FA902A2D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19450"/>
            <a:ext cx="1962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数字音频</a:t>
            </a:r>
          </a:p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记录模型</a:t>
            </a:r>
          </a:p>
        </p:txBody>
      </p:sp>
      <p:sp>
        <p:nvSpPr>
          <p:cNvPr id="6" name="tree-sampling">
            <a:extLst xmlns:a="http://schemas.openxmlformats.org/drawingml/2006/main">
              <a:ext uri="{FF2B5EF4-FFF2-40B4-BE49-F238E27FC236}">
                <a16:creationId xmlns:a16="http://schemas.microsoft.com/office/drawing/2014/main" id="{EE28B9EB-A3F4-4BA9-A60B-5BAF354F5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762125"/>
            <a:ext cx="25241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7" name="tree-label-sampling">
            <a:extLst xmlns:a="http://schemas.openxmlformats.org/drawingml/2006/main">
              <a:ext uri="{FF2B5EF4-FFF2-40B4-BE49-F238E27FC236}">
                <a16:creationId xmlns:a16="http://schemas.microsoft.com/office/drawing/2014/main" id="{D2F8BA5A-5011-4B25-8BA4-4BA09D402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1800225"/>
            <a:ext cx="22955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采样</a:t>
            </a:r>
          </a:p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离散时刻</a:t>
            </a:r>
          </a:p>
        </p:txBody>
      </p:sp>
      <p:sp>
        <p:nvSpPr>
          <p:cNvPr id="9" name="tree-focus">
            <a:extLst xmlns:a="http://schemas.openxmlformats.org/drawingml/2006/main">
              <a:ext uri="{FF2B5EF4-FFF2-40B4-BE49-F238E27FC236}">
                <a16:creationId xmlns:a16="http://schemas.microsoft.com/office/drawing/2014/main" id="{CE5D09E6-4328-465A-B8F8-165C953C6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724025"/>
            <a:ext cx="26003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" name="tree-new">
            <a:extLst xmlns:a="http://schemas.openxmlformats.org/drawingml/2006/main">
              <a:ext uri="{FF2B5EF4-FFF2-40B4-BE49-F238E27FC236}">
                <a16:creationId xmlns:a16="http://schemas.microsoft.com/office/drawing/2014/main" id="{62BBC657-623B-4BF6-AE32-128ADA650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914525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/>
            </a:r>
          </a:p>
        </p:txBody>
      </p:sp>
      <p:sp>
        <p:nvSpPr>
          <p:cNvPr id="11" name="tree-quantization">
            <a:extLst xmlns:a="http://schemas.openxmlformats.org/drawingml/2006/main">
              <a:ext uri="{FF2B5EF4-FFF2-40B4-BE49-F238E27FC236}">
                <a16:creationId xmlns:a16="http://schemas.microsoft.com/office/drawing/2014/main" id="{159739EF-A090-4065-9E48-143359CE9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667000"/>
            <a:ext cx="25241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2" name="tree-label-quantization">
            <a:extLst xmlns:a="http://schemas.openxmlformats.org/drawingml/2006/main">
              <a:ext uri="{FF2B5EF4-FFF2-40B4-BE49-F238E27FC236}">
                <a16:creationId xmlns:a16="http://schemas.microsoft.com/office/drawing/2014/main" id="{05808172-445E-478B-99EA-4957F9E40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705100"/>
            <a:ext cx="22955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量化</a:t>
            </a:r>
          </a:p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有限幅度</a:t>
            </a:r>
          </a:p>
        </p:txBody>
      </p:sp>
      <p:sp>
        <p:nvSpPr>
          <p:cNvPr id="14" name="tree-focus">
            <a:extLst xmlns:a="http://schemas.openxmlformats.org/drawingml/2006/main">
              <a:ext uri="{FF2B5EF4-FFF2-40B4-BE49-F238E27FC236}">
                <a16:creationId xmlns:a16="http://schemas.microsoft.com/office/drawing/2014/main" id="{9E0FB84C-6142-4D3C-9896-4592B88EF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28900"/>
            <a:ext cx="26003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" name="tree-new">
            <a:extLst xmlns:a="http://schemas.openxmlformats.org/drawingml/2006/main">
              <a:ext uri="{FF2B5EF4-FFF2-40B4-BE49-F238E27FC236}">
                <a16:creationId xmlns:a16="http://schemas.microsoft.com/office/drawing/2014/main" id="{06CD0068-8A8A-4048-80A7-104476BC1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81940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/>
            </a:r>
          </a:p>
        </p:txBody>
      </p:sp>
      <p:sp>
        <p:nvSpPr>
          <p:cNvPr id="16" name="tree-encoding">
            <a:extLst xmlns:a="http://schemas.openxmlformats.org/drawingml/2006/main">
              <a:ext uri="{FF2B5EF4-FFF2-40B4-BE49-F238E27FC236}">
                <a16:creationId xmlns:a16="http://schemas.microsoft.com/office/drawing/2014/main" id="{63FDFFDB-5A94-4CAC-A1BD-64408FDBB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571875"/>
            <a:ext cx="25241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7" name="tree-label-encoding">
            <a:extLst xmlns:a="http://schemas.openxmlformats.org/drawingml/2006/main">
              <a:ext uri="{FF2B5EF4-FFF2-40B4-BE49-F238E27FC236}">
                <a16:creationId xmlns:a16="http://schemas.microsoft.com/office/drawing/2014/main" id="{823B1695-3080-42A1-8A14-C23253570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3609975"/>
            <a:ext cx="22955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编码</a:t>
            </a:r>
          </a:p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表示等级</a:t>
            </a:r>
          </a:p>
        </p:txBody>
      </p:sp>
      <p:sp>
        <p:nvSpPr>
          <p:cNvPr id="19" name="tree-focus">
            <a:extLst xmlns:a="http://schemas.openxmlformats.org/drawingml/2006/main">
              <a:ext uri="{FF2B5EF4-FFF2-40B4-BE49-F238E27FC236}">
                <a16:creationId xmlns:a16="http://schemas.microsoft.com/office/drawing/2014/main" id="{08E63920-FBAD-4FB7-86CD-4FB9C2B59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533775"/>
            <a:ext cx="26003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" name="tree-new">
            <a:extLst xmlns:a="http://schemas.openxmlformats.org/drawingml/2006/main">
              <a:ext uri="{FF2B5EF4-FFF2-40B4-BE49-F238E27FC236}">
                <a16:creationId xmlns:a16="http://schemas.microsoft.com/office/drawing/2014/main" id="{7DF10078-BC82-40DD-8446-C748F2490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724275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/>
            </a:r>
          </a:p>
        </p:txBody>
      </p:sp>
      <p:sp>
        <p:nvSpPr>
          <p:cNvPr id="21" name="tree-parameters">
            <a:extLst xmlns:a="http://schemas.openxmlformats.org/drawingml/2006/main">
              <a:ext uri="{FF2B5EF4-FFF2-40B4-BE49-F238E27FC236}">
                <a16:creationId xmlns:a16="http://schemas.microsoft.com/office/drawing/2014/main" id="{344AF17A-0850-4DBF-BD89-02E7A8B3A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476750"/>
            <a:ext cx="25241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2" name="tree-label-parameters">
            <a:extLst xmlns:a="http://schemas.openxmlformats.org/drawingml/2006/main">
              <a:ext uri="{FF2B5EF4-FFF2-40B4-BE49-F238E27FC236}">
                <a16:creationId xmlns:a16="http://schemas.microsoft.com/office/drawing/2014/main" id="{5A8ABD60-2DDB-441A-AF85-DEA0EC653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4514850"/>
            <a:ext cx="22955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序列＋解释参数</a:t>
            </a:r>
          </a:p>
        </p:txBody>
      </p:sp>
      <p:sp>
        <p:nvSpPr>
          <p:cNvPr id="24" name="tree-focus">
            <a:extLst xmlns:a="http://schemas.openxmlformats.org/drawingml/2006/main">
              <a:ext uri="{FF2B5EF4-FFF2-40B4-BE49-F238E27FC236}">
                <a16:creationId xmlns:a16="http://schemas.microsoft.com/office/drawing/2014/main" id="{3A07B3B0-42FE-462D-A6BA-BEB0DD950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438650"/>
            <a:ext cx="26003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5" name="tree-new">
            <a:extLst xmlns:a="http://schemas.openxmlformats.org/drawingml/2006/main">
              <a:ext uri="{FF2B5EF4-FFF2-40B4-BE49-F238E27FC236}">
                <a16:creationId xmlns:a16="http://schemas.microsoft.com/office/drawing/2014/main" id="{E372D916-86ED-4957-A75D-D6D45A933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62915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/>
            </a:r>
          </a:p>
        </p:txBody>
      </p:sp>
      <p:sp>
        <p:nvSpPr>
          <p:cNvPr id="26" name="tree-frequency">
            <a:extLst xmlns:a="http://schemas.openxmlformats.org/drawingml/2006/main">
              <a:ext uri="{FF2B5EF4-FFF2-40B4-BE49-F238E27FC236}">
                <a16:creationId xmlns:a16="http://schemas.microsoft.com/office/drawing/2014/main" id="{F70EADA6-BD09-4F17-A999-2878A4107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333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7" name="tree-label-frequency">
            <a:extLst xmlns:a="http://schemas.openxmlformats.org/drawingml/2006/main">
              <a:ext uri="{FF2B5EF4-FFF2-40B4-BE49-F238E27FC236}">
                <a16:creationId xmlns:a16="http://schemas.microsoft.com/office/drawing/2014/main" id="{A990994A-D3C1-4F0C-A1EF-CBBE2FCFB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800225"/>
            <a:ext cx="3105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采样率</a:t>
            </a:r>
          </a:p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频率范围</a:t>
            </a:r>
          </a:p>
        </p:txBody>
      </p:sp>
      <p:sp>
        <p:nvSpPr>
          <p:cNvPr id="29" name="tree-focus">
            <a:extLst xmlns:a="http://schemas.openxmlformats.org/drawingml/2006/main">
              <a:ext uri="{FF2B5EF4-FFF2-40B4-BE49-F238E27FC236}">
                <a16:creationId xmlns:a16="http://schemas.microsoft.com/office/drawing/2014/main" id="{E1C62122-A8E2-4C99-8033-30713367C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724025"/>
            <a:ext cx="3409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0" name="tree-new">
            <a:extLst xmlns:a="http://schemas.openxmlformats.org/drawingml/2006/main">
              <a:ext uri="{FF2B5EF4-FFF2-40B4-BE49-F238E27FC236}">
                <a16:creationId xmlns:a16="http://schemas.microsoft.com/office/drawing/2014/main" id="{5F05DB8E-88B9-47D1-ADAA-F7D455A1C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1914525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/>
            </a:r>
          </a:p>
        </p:txBody>
      </p:sp>
      <p:sp>
        <p:nvSpPr>
          <p:cNvPr id="31" name="tree-precision">
            <a:extLst xmlns:a="http://schemas.openxmlformats.org/drawingml/2006/main">
              <a:ext uri="{FF2B5EF4-FFF2-40B4-BE49-F238E27FC236}">
                <a16:creationId xmlns:a16="http://schemas.microsoft.com/office/drawing/2014/main" id="{DA1FB7A8-D1E7-4084-9287-6AE9318F2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667000"/>
            <a:ext cx="3333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32" name="tree-label-precision">
            <a:extLst xmlns:a="http://schemas.openxmlformats.org/drawingml/2006/main">
              <a:ext uri="{FF2B5EF4-FFF2-40B4-BE49-F238E27FC236}">
                <a16:creationId xmlns:a16="http://schemas.microsoft.com/office/drawing/2014/main" id="{50BAB2E9-A4D3-4903-A87B-431637FA8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05100"/>
            <a:ext cx="3105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位数</a:t>
            </a:r>
          </a:p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等级与误差上界</a:t>
            </a:r>
          </a:p>
        </p:txBody>
      </p:sp>
      <p:sp>
        <p:nvSpPr>
          <p:cNvPr id="34" name="tree-focus">
            <a:extLst xmlns:a="http://schemas.openxmlformats.org/drawingml/2006/main">
              <a:ext uri="{FF2B5EF4-FFF2-40B4-BE49-F238E27FC236}">
                <a16:creationId xmlns:a16="http://schemas.microsoft.com/office/drawing/2014/main" id="{E7A986AA-A8B0-47E2-A0FC-EBA199CCA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628900"/>
            <a:ext cx="3409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" name="tree-new">
            <a:extLst xmlns:a="http://schemas.openxmlformats.org/drawingml/2006/main">
              <a:ext uri="{FF2B5EF4-FFF2-40B4-BE49-F238E27FC236}">
                <a16:creationId xmlns:a16="http://schemas.microsoft.com/office/drawing/2014/main" id="{86240E3D-1DE2-4303-A71A-CFA6AEA15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281940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/>
            </a:r>
          </a:p>
        </p:txBody>
      </p:sp>
      <p:sp>
        <p:nvSpPr>
          <p:cNvPr id="36" name="tree-payload">
            <a:extLst xmlns:a="http://schemas.openxmlformats.org/drawingml/2006/main">
              <a:ext uri="{FF2B5EF4-FFF2-40B4-BE49-F238E27FC236}">
                <a16:creationId xmlns:a16="http://schemas.microsoft.com/office/drawing/2014/main" id="{303AB430-DEC9-407A-85A1-C0EE4E929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762375"/>
            <a:ext cx="3333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37" name="tree-label-payload">
            <a:extLst xmlns:a="http://schemas.openxmlformats.org/drawingml/2006/main">
              <a:ext uri="{FF2B5EF4-FFF2-40B4-BE49-F238E27FC236}">
                <a16:creationId xmlns:a16="http://schemas.microsoft.com/office/drawing/2014/main" id="{4E4A2E57-1BF5-44EE-AF32-06B572F12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800475"/>
            <a:ext cx="3105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存储位数、声道</a:t>
            </a:r>
          </a:p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计数→样本数据B</a:t>
            </a:r>
          </a:p>
        </p:txBody>
      </p:sp>
      <p:sp>
        <p:nvSpPr>
          <p:cNvPr id="39" name="tree-focus">
            <a:extLst xmlns:a="http://schemas.openxmlformats.org/drawingml/2006/main">
              <a:ext uri="{FF2B5EF4-FFF2-40B4-BE49-F238E27FC236}">
                <a16:creationId xmlns:a16="http://schemas.microsoft.com/office/drawing/2014/main" id="{91C27337-E220-4C98-97B4-C025F3A8C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724275"/>
            <a:ext cx="3409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0000"/>
            </a:solidFill>
          </a:ln>
        </p:spPr>
      </p:sp>
      <p:sp>
        <p:nvSpPr>
          <p:cNvPr id="40" name="tree-new">
            <a:extLst xmlns:a="http://schemas.openxmlformats.org/drawingml/2006/main">
              <a:ext uri="{FF2B5EF4-FFF2-40B4-BE49-F238E27FC236}">
                <a16:creationId xmlns:a16="http://schemas.microsoft.com/office/drawing/2014/main" id="{31DDB43E-7148-4568-B3E5-EFF462ACE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3914775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新增</a:t>
            </a:r>
          </a:p>
        </p:txBody>
      </p:sp>
    </p:spTree>
    <p:extLst>
      <p:ext uri="{BB962C8B-B14F-4D97-AF65-F5344CB8AC3E}">
        <p14:creationId xmlns:p14="http://schemas.microsoft.com/office/powerpoint/2010/main" val="841598685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46" name=""/>
          <p:cNvCxnSpPr>
            <a:stCxn xmlns:a="http://schemas.openxmlformats.org/drawingml/2006/main" id="21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6191250" y="4876800"/>
            <a:ext cx="1428750" cy="2381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C64E1"/>
            </a:solidFill>
          </a:ln>
        </p:spPr>
      </p:cxnSp>
      <p:cxnSp>
        <p:nvCxnSpPr>
          <p:cNvPr id="47" name=""/>
          <p:cNvCxnSpPr>
            <a:stCxn xmlns:a="http://schemas.openxmlformats.org/drawingml/2006/main" id="21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 flipV="1">
            <a:off x="6191250" y="4162425"/>
            <a:ext cx="1428750" cy="7143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C64E1"/>
            </a:solidFill>
          </a:ln>
        </p:spPr>
      </p:cxnSp>
      <p:cxnSp>
        <p:nvCxnSpPr>
          <p:cNvPr id="48" name=""/>
          <p:cNvCxnSpPr>
            <a:stCxn xmlns:a="http://schemas.openxmlformats.org/drawingml/2006/main" id="11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6191250" y="3067050"/>
            <a:ext cx="1428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C64E1"/>
            </a:solidFill>
          </a:ln>
        </p:spPr>
      </p:cxnSp>
      <p:cxnSp>
        <p:nvCxnSpPr>
          <p:cNvPr id="49" name=""/>
          <p:cNvCxnSpPr>
            <a:stCxn xmlns:a="http://schemas.openxmlformats.org/drawingml/2006/main" id="6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6191250" y="2162175"/>
            <a:ext cx="1428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C64E1"/>
            </a:solidFill>
          </a:ln>
        </p:spPr>
      </p:cxnSp>
      <p:cxnSp>
        <p:nvCxnSpPr>
          <p:cNvPr id="50" name=""/>
          <p:cNvCxnSpPr>
            <a:stCxn xmlns:a="http://schemas.openxmlformats.org/drawingml/2006/main" id="4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2800350" y="3562350"/>
            <a:ext cx="866775" cy="13144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C64E1"/>
            </a:solidFill>
          </a:ln>
        </p:spPr>
      </p:cxnSp>
      <p:cxnSp>
        <p:nvCxnSpPr>
          <p:cNvPr id="51" name=""/>
          <p:cNvCxnSpPr>
            <a:stCxn xmlns:a="http://schemas.openxmlformats.org/drawingml/2006/main" id="4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2800350" y="3562350"/>
            <a:ext cx="866775" cy="4095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C64E1"/>
            </a:solidFill>
          </a:ln>
        </p:spPr>
      </p:cxnSp>
      <p:cxnSp>
        <p:nvCxnSpPr>
          <p:cNvPr id="52" name=""/>
          <p:cNvCxnSpPr>
            <a:stCxn xmlns:a="http://schemas.openxmlformats.org/drawingml/2006/main" id="4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V="1">
            <a:off x="2800350" y="3067050"/>
            <a:ext cx="866775" cy="4953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C64E1"/>
            </a:solidFill>
          </a:ln>
        </p:spPr>
      </p:cxnSp>
      <p:cxnSp>
        <p:nvCxnSpPr>
          <p:cNvPr id="53" name=""/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2800350" y="2162175"/>
            <a:ext cx="866775" cy="14001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C64E1"/>
            </a:solidFill>
          </a:ln>
        </p:spPr>
      </p:cxnSp>
      <p:sp>
        <p:nvSpPr>
          <p:cNvPr id="54" name="top-rail">
            <a:extLst xmlns:a="http://schemas.openxmlformats.org/drawingml/2006/main">
              <a:ext uri="{FF2B5EF4-FFF2-40B4-BE49-F238E27FC236}">
                <a16:creationId xmlns:a16="http://schemas.microsoft.com/office/drawing/2014/main" id="{B615AE08-9C5C-41E7-AC98-E667D41B0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8365CACB-B72D-4A96-8AC0-C94DA0769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1F33720B-280D-4F62-8C64-7374D3E68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我们怎样数数据、解释文件？</a:t>
            </a:r>
          </a:p>
        </p:txBody>
      </p:sp>
      <p:sp>
        <p:nvSpPr>
          <p:cNvPr id="4" name="tree-root">
            <a:extLst xmlns:a="http://schemas.openxmlformats.org/drawingml/2006/main">
              <a:ext uri="{FF2B5EF4-FFF2-40B4-BE49-F238E27FC236}">
                <a16:creationId xmlns:a16="http://schemas.microsoft.com/office/drawing/2014/main" id="{B5B5F539-42F1-47DB-8C13-E4DE01930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2190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5" name="tree-label-root">
            <a:extLst xmlns:a="http://schemas.openxmlformats.org/drawingml/2006/main">
              <a:ext uri="{FF2B5EF4-FFF2-40B4-BE49-F238E27FC236}">
                <a16:creationId xmlns:a16="http://schemas.microsoft.com/office/drawing/2014/main" id="{7396F84E-FB97-4C54-B202-9FA902A2D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19450"/>
            <a:ext cx="1962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数字音频</a:t>
            </a:r>
          </a:p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记录模型</a:t>
            </a:r>
          </a:p>
        </p:txBody>
      </p:sp>
      <p:sp>
        <p:nvSpPr>
          <p:cNvPr id="6" name="tree-sampling">
            <a:extLst xmlns:a="http://schemas.openxmlformats.org/drawingml/2006/main">
              <a:ext uri="{FF2B5EF4-FFF2-40B4-BE49-F238E27FC236}">
                <a16:creationId xmlns:a16="http://schemas.microsoft.com/office/drawing/2014/main" id="{EE28B9EB-A3F4-4BA9-A60B-5BAF354F5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762125"/>
            <a:ext cx="25241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7" name="tree-label-sampling">
            <a:extLst xmlns:a="http://schemas.openxmlformats.org/drawingml/2006/main">
              <a:ext uri="{FF2B5EF4-FFF2-40B4-BE49-F238E27FC236}">
                <a16:creationId xmlns:a16="http://schemas.microsoft.com/office/drawing/2014/main" id="{D2F8BA5A-5011-4B25-8BA4-4BA09D402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1800225"/>
            <a:ext cx="22955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采样</a:t>
            </a:r>
          </a:p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离散时刻</a:t>
            </a:r>
          </a:p>
        </p:txBody>
      </p:sp>
      <p:sp>
        <p:nvSpPr>
          <p:cNvPr id="9" name="tree-focus">
            <a:extLst xmlns:a="http://schemas.openxmlformats.org/drawingml/2006/main">
              <a:ext uri="{FF2B5EF4-FFF2-40B4-BE49-F238E27FC236}">
                <a16:creationId xmlns:a16="http://schemas.microsoft.com/office/drawing/2014/main" id="{CE5D09E6-4328-465A-B8F8-165C953C6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724025"/>
            <a:ext cx="26003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" name="tree-new">
            <a:extLst xmlns:a="http://schemas.openxmlformats.org/drawingml/2006/main">
              <a:ext uri="{FF2B5EF4-FFF2-40B4-BE49-F238E27FC236}">
                <a16:creationId xmlns:a16="http://schemas.microsoft.com/office/drawing/2014/main" id="{62BBC657-623B-4BF6-AE32-128ADA650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914525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/>
            </a:r>
          </a:p>
        </p:txBody>
      </p:sp>
      <p:sp>
        <p:nvSpPr>
          <p:cNvPr id="11" name="tree-quantization">
            <a:extLst xmlns:a="http://schemas.openxmlformats.org/drawingml/2006/main">
              <a:ext uri="{FF2B5EF4-FFF2-40B4-BE49-F238E27FC236}">
                <a16:creationId xmlns:a16="http://schemas.microsoft.com/office/drawing/2014/main" id="{159739EF-A090-4065-9E48-143359CE9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667000"/>
            <a:ext cx="25241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2" name="tree-label-quantization">
            <a:extLst xmlns:a="http://schemas.openxmlformats.org/drawingml/2006/main">
              <a:ext uri="{FF2B5EF4-FFF2-40B4-BE49-F238E27FC236}">
                <a16:creationId xmlns:a16="http://schemas.microsoft.com/office/drawing/2014/main" id="{05808172-445E-478B-99EA-4957F9E40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705100"/>
            <a:ext cx="22955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量化</a:t>
            </a:r>
          </a:p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有限幅度</a:t>
            </a:r>
          </a:p>
        </p:txBody>
      </p:sp>
      <p:sp>
        <p:nvSpPr>
          <p:cNvPr id="14" name="tree-focus">
            <a:extLst xmlns:a="http://schemas.openxmlformats.org/drawingml/2006/main">
              <a:ext uri="{FF2B5EF4-FFF2-40B4-BE49-F238E27FC236}">
                <a16:creationId xmlns:a16="http://schemas.microsoft.com/office/drawing/2014/main" id="{9E0FB84C-6142-4D3C-9896-4592B88EF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28900"/>
            <a:ext cx="26003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" name="tree-new">
            <a:extLst xmlns:a="http://schemas.openxmlformats.org/drawingml/2006/main">
              <a:ext uri="{FF2B5EF4-FFF2-40B4-BE49-F238E27FC236}">
                <a16:creationId xmlns:a16="http://schemas.microsoft.com/office/drawing/2014/main" id="{06CD0068-8A8A-4048-80A7-104476BC1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81940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/>
            </a:r>
          </a:p>
        </p:txBody>
      </p:sp>
      <p:sp>
        <p:nvSpPr>
          <p:cNvPr id="16" name="tree-encoding">
            <a:extLst xmlns:a="http://schemas.openxmlformats.org/drawingml/2006/main">
              <a:ext uri="{FF2B5EF4-FFF2-40B4-BE49-F238E27FC236}">
                <a16:creationId xmlns:a16="http://schemas.microsoft.com/office/drawing/2014/main" id="{63FDFFDB-5A94-4CAC-A1BD-64408FDBB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571875"/>
            <a:ext cx="25241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7" name="tree-label-encoding">
            <a:extLst xmlns:a="http://schemas.openxmlformats.org/drawingml/2006/main">
              <a:ext uri="{FF2B5EF4-FFF2-40B4-BE49-F238E27FC236}">
                <a16:creationId xmlns:a16="http://schemas.microsoft.com/office/drawing/2014/main" id="{823B1695-3080-42A1-8A14-C23253570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3609975"/>
            <a:ext cx="22955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编码</a:t>
            </a:r>
          </a:p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表示等级</a:t>
            </a:r>
          </a:p>
        </p:txBody>
      </p:sp>
      <p:sp>
        <p:nvSpPr>
          <p:cNvPr id="19" name="tree-focus">
            <a:extLst xmlns:a="http://schemas.openxmlformats.org/drawingml/2006/main">
              <a:ext uri="{FF2B5EF4-FFF2-40B4-BE49-F238E27FC236}">
                <a16:creationId xmlns:a16="http://schemas.microsoft.com/office/drawing/2014/main" id="{08E63920-FBAD-4FB7-86CD-4FB9C2B59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533775"/>
            <a:ext cx="26003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" name="tree-new">
            <a:extLst xmlns:a="http://schemas.openxmlformats.org/drawingml/2006/main">
              <a:ext uri="{FF2B5EF4-FFF2-40B4-BE49-F238E27FC236}">
                <a16:creationId xmlns:a16="http://schemas.microsoft.com/office/drawing/2014/main" id="{7DF10078-BC82-40DD-8446-C748F2490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724275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/>
            </a:r>
          </a:p>
        </p:txBody>
      </p:sp>
      <p:sp>
        <p:nvSpPr>
          <p:cNvPr id="21" name="tree-parameters">
            <a:extLst xmlns:a="http://schemas.openxmlformats.org/drawingml/2006/main">
              <a:ext uri="{FF2B5EF4-FFF2-40B4-BE49-F238E27FC236}">
                <a16:creationId xmlns:a16="http://schemas.microsoft.com/office/drawing/2014/main" id="{344AF17A-0850-4DBF-BD89-02E7A8B3A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476750"/>
            <a:ext cx="25241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2" name="tree-label-parameters">
            <a:extLst xmlns:a="http://schemas.openxmlformats.org/drawingml/2006/main">
              <a:ext uri="{FF2B5EF4-FFF2-40B4-BE49-F238E27FC236}">
                <a16:creationId xmlns:a16="http://schemas.microsoft.com/office/drawing/2014/main" id="{5A8ABD60-2DDB-441A-AF85-DEA0EC653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4514850"/>
            <a:ext cx="22955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序列＋解释参数</a:t>
            </a:r>
          </a:p>
        </p:txBody>
      </p:sp>
      <p:sp>
        <p:nvSpPr>
          <p:cNvPr id="24" name="tree-focus">
            <a:extLst xmlns:a="http://schemas.openxmlformats.org/drawingml/2006/main">
              <a:ext uri="{FF2B5EF4-FFF2-40B4-BE49-F238E27FC236}">
                <a16:creationId xmlns:a16="http://schemas.microsoft.com/office/drawing/2014/main" id="{3A07B3B0-42FE-462D-A6BA-BEB0DD950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438650"/>
            <a:ext cx="26003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5" name="tree-new">
            <a:extLst xmlns:a="http://schemas.openxmlformats.org/drawingml/2006/main">
              <a:ext uri="{FF2B5EF4-FFF2-40B4-BE49-F238E27FC236}">
                <a16:creationId xmlns:a16="http://schemas.microsoft.com/office/drawing/2014/main" id="{E372D916-86ED-4957-A75D-D6D45A933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62915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/>
            </a:r>
          </a:p>
        </p:txBody>
      </p:sp>
      <p:sp>
        <p:nvSpPr>
          <p:cNvPr id="26" name="tree-frequency">
            <a:extLst xmlns:a="http://schemas.openxmlformats.org/drawingml/2006/main">
              <a:ext uri="{FF2B5EF4-FFF2-40B4-BE49-F238E27FC236}">
                <a16:creationId xmlns:a16="http://schemas.microsoft.com/office/drawing/2014/main" id="{F70EADA6-BD09-4F17-A999-2878A4107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333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7" name="tree-label-frequency">
            <a:extLst xmlns:a="http://schemas.openxmlformats.org/drawingml/2006/main">
              <a:ext uri="{FF2B5EF4-FFF2-40B4-BE49-F238E27FC236}">
                <a16:creationId xmlns:a16="http://schemas.microsoft.com/office/drawing/2014/main" id="{A990994A-D3C1-4F0C-A1EF-CBBE2FCFB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800225"/>
            <a:ext cx="3105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采样率</a:t>
            </a:r>
          </a:p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频率范围</a:t>
            </a:r>
          </a:p>
        </p:txBody>
      </p:sp>
      <p:sp>
        <p:nvSpPr>
          <p:cNvPr id="29" name="tree-focus">
            <a:extLst xmlns:a="http://schemas.openxmlformats.org/drawingml/2006/main">
              <a:ext uri="{FF2B5EF4-FFF2-40B4-BE49-F238E27FC236}">
                <a16:creationId xmlns:a16="http://schemas.microsoft.com/office/drawing/2014/main" id="{E1C62122-A8E2-4C99-8033-30713367C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724025"/>
            <a:ext cx="3409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0" name="tree-new">
            <a:extLst xmlns:a="http://schemas.openxmlformats.org/drawingml/2006/main">
              <a:ext uri="{FF2B5EF4-FFF2-40B4-BE49-F238E27FC236}">
                <a16:creationId xmlns:a16="http://schemas.microsoft.com/office/drawing/2014/main" id="{5F05DB8E-88B9-47D1-ADAA-F7D455A1C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1914525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/>
            </a:r>
          </a:p>
        </p:txBody>
      </p:sp>
      <p:sp>
        <p:nvSpPr>
          <p:cNvPr id="31" name="tree-precision">
            <a:extLst xmlns:a="http://schemas.openxmlformats.org/drawingml/2006/main">
              <a:ext uri="{FF2B5EF4-FFF2-40B4-BE49-F238E27FC236}">
                <a16:creationId xmlns:a16="http://schemas.microsoft.com/office/drawing/2014/main" id="{DA1FB7A8-D1E7-4084-9287-6AE9318F2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667000"/>
            <a:ext cx="3333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32" name="tree-label-precision">
            <a:extLst xmlns:a="http://schemas.openxmlformats.org/drawingml/2006/main">
              <a:ext uri="{FF2B5EF4-FFF2-40B4-BE49-F238E27FC236}">
                <a16:creationId xmlns:a16="http://schemas.microsoft.com/office/drawing/2014/main" id="{50BAB2E9-A4D3-4903-A87B-431637FA8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05100"/>
            <a:ext cx="3105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位数</a:t>
            </a:r>
          </a:p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等级与误差上界</a:t>
            </a:r>
          </a:p>
        </p:txBody>
      </p:sp>
      <p:sp>
        <p:nvSpPr>
          <p:cNvPr id="34" name="tree-focus">
            <a:extLst xmlns:a="http://schemas.openxmlformats.org/drawingml/2006/main">
              <a:ext uri="{FF2B5EF4-FFF2-40B4-BE49-F238E27FC236}">
                <a16:creationId xmlns:a16="http://schemas.microsoft.com/office/drawing/2014/main" id="{E7A986AA-A8B0-47E2-A0FC-EBA199CCA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628900"/>
            <a:ext cx="3409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" name="tree-new">
            <a:extLst xmlns:a="http://schemas.openxmlformats.org/drawingml/2006/main">
              <a:ext uri="{FF2B5EF4-FFF2-40B4-BE49-F238E27FC236}">
                <a16:creationId xmlns:a16="http://schemas.microsoft.com/office/drawing/2014/main" id="{86240E3D-1DE2-4303-A71A-CFA6AEA15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281940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/>
            </a:r>
          </a:p>
        </p:txBody>
      </p:sp>
      <p:sp>
        <p:nvSpPr>
          <p:cNvPr id="36" name="tree-payload">
            <a:extLst xmlns:a="http://schemas.openxmlformats.org/drawingml/2006/main">
              <a:ext uri="{FF2B5EF4-FFF2-40B4-BE49-F238E27FC236}">
                <a16:creationId xmlns:a16="http://schemas.microsoft.com/office/drawing/2014/main" id="{303AB430-DEC9-407A-85A1-C0EE4E929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762375"/>
            <a:ext cx="3333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37" name="tree-label-payload">
            <a:extLst xmlns:a="http://schemas.openxmlformats.org/drawingml/2006/main">
              <a:ext uri="{FF2B5EF4-FFF2-40B4-BE49-F238E27FC236}">
                <a16:creationId xmlns:a16="http://schemas.microsoft.com/office/drawing/2014/main" id="{4E4A2E57-1BF5-44EE-AF32-06B572F12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800475"/>
            <a:ext cx="3105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存储位数、声道</a:t>
            </a:r>
          </a:p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计数→样本数据B</a:t>
            </a:r>
          </a:p>
        </p:txBody>
      </p:sp>
      <p:sp>
        <p:nvSpPr>
          <p:cNvPr id="39" name="tree-focus">
            <a:extLst xmlns:a="http://schemas.openxmlformats.org/drawingml/2006/main">
              <a:ext uri="{FF2B5EF4-FFF2-40B4-BE49-F238E27FC236}">
                <a16:creationId xmlns:a16="http://schemas.microsoft.com/office/drawing/2014/main" id="{91C27337-E220-4C98-97B4-C025F3A8C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724275"/>
            <a:ext cx="3409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0" name="tree-new">
            <a:extLst xmlns:a="http://schemas.openxmlformats.org/drawingml/2006/main">
              <a:ext uri="{FF2B5EF4-FFF2-40B4-BE49-F238E27FC236}">
                <a16:creationId xmlns:a16="http://schemas.microsoft.com/office/drawing/2014/main" id="{31DDB43E-7148-4568-B3E5-EFF462ACE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3914775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/>
            </a:r>
          </a:p>
        </p:txBody>
      </p:sp>
      <p:sp>
        <p:nvSpPr>
          <p:cNvPr id="41" name="tree-container">
            <a:extLst xmlns:a="http://schemas.openxmlformats.org/drawingml/2006/main">
              <a:ext uri="{FF2B5EF4-FFF2-40B4-BE49-F238E27FC236}">
                <a16:creationId xmlns:a16="http://schemas.microsoft.com/office/drawing/2014/main" id="{D7B35771-792B-4FBE-A2F6-37D385CAA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714875"/>
            <a:ext cx="3333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42" name="tree-label-container">
            <a:extLst xmlns:a="http://schemas.openxmlformats.org/drawingml/2006/main">
              <a:ext uri="{FF2B5EF4-FFF2-40B4-BE49-F238E27FC236}">
                <a16:creationId xmlns:a16="http://schemas.microsoft.com/office/drawing/2014/main" id="{E5C5F743-C51D-4F4A-80DC-355354CC8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752975"/>
            <a:ext cx="3105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WAV：参数＋样本</a:t>
            </a:r>
          </a:p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完整文件另有开销</a:t>
            </a:r>
          </a:p>
        </p:txBody>
      </p:sp>
      <p:sp>
        <p:nvSpPr>
          <p:cNvPr id="44" name="tree-focus">
            <a:extLst xmlns:a="http://schemas.openxmlformats.org/drawingml/2006/main">
              <a:ext uri="{FF2B5EF4-FFF2-40B4-BE49-F238E27FC236}">
                <a16:creationId xmlns:a16="http://schemas.microsoft.com/office/drawing/2014/main" id="{06EE5EEF-19B2-4D7E-AA8F-A6142842D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676775"/>
            <a:ext cx="3409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0000"/>
            </a:solidFill>
          </a:ln>
        </p:spPr>
      </p:sp>
      <p:sp>
        <p:nvSpPr>
          <p:cNvPr id="45" name="tree-new">
            <a:extLst xmlns:a="http://schemas.openxmlformats.org/drawingml/2006/main">
              <a:ext uri="{FF2B5EF4-FFF2-40B4-BE49-F238E27FC236}">
                <a16:creationId xmlns:a16="http://schemas.microsoft.com/office/drawing/2014/main" id="{D14B3CE3-EC6D-4A24-A6E9-54F37787D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4867275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新增</a:t>
            </a:r>
          </a:p>
        </p:txBody>
      </p:sp>
    </p:spTree>
    <p:extLst>
      <p:ext uri="{BB962C8B-B14F-4D97-AF65-F5344CB8AC3E}">
        <p14:creationId xmlns:p14="http://schemas.microsoft.com/office/powerpoint/2010/main" val="841598685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op-rail">
            <a:extLst xmlns:a="http://schemas.openxmlformats.org/drawingml/2006/main">
              <a:ext uri="{FF2B5EF4-FFF2-40B4-BE49-F238E27FC236}">
                <a16:creationId xmlns:a16="http://schemas.microsoft.com/office/drawing/2014/main" id="{D6EEA51A-DE6A-41C0-A8A1-02B34DE41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B71C7ED8-D61E-49DB-876E-10570EAF6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4FD7F103-30E8-46B6-A57F-3A7ADE48E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只有64KiB，哪种方案满足要求？</a:t>
            </a:r>
          </a:p>
        </p:txBody>
      </p:sp>
      <p:sp>
        <p:nvSpPr>
          <p:cNvPr id="4" name="given-0">
            <a:extLst xmlns:a="http://schemas.openxmlformats.org/drawingml/2006/main">
              <a:ext uri="{FF2B5EF4-FFF2-40B4-BE49-F238E27FC236}">
                <a16:creationId xmlns:a16="http://schemas.microsoft.com/office/drawing/2014/main" id="{832E45A7-73C7-4B2C-90EA-96FA22C97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带限信号最高频率6kHz；记录2秒。</a:t>
            </a:r>
          </a:p>
        </p:txBody>
      </p:sp>
      <p:sp>
        <p:nvSpPr>
          <p:cNvPr id="5" name="given-1">
            <a:extLst xmlns:a="http://schemas.openxmlformats.org/drawingml/2006/main">
              <a:ext uri="{FF2B5EF4-FFF2-40B4-BE49-F238E27FC236}">
                <a16:creationId xmlns:a16="http://schemas.microsoft.com/office/drawing/2014/main" id="{B35514C0-113F-4B4D-8881-C322CD2C8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16bit、单声道；上限64KiB = 65,536B（仅样本数据）。</a:t>
            </a:r>
          </a:p>
        </p:txBody>
      </p:sp>
      <p:sp>
        <p:nvSpPr>
          <p:cNvPr id="6" name="given-2">
            <a:extLst xmlns:a="http://schemas.openxmlformats.org/drawingml/2006/main">
              <a:ext uri="{FF2B5EF4-FFF2-40B4-BE49-F238E27FC236}">
                <a16:creationId xmlns:a16="http://schemas.microsoft.com/office/drawing/2014/main" id="{EA3230E4-C03C-4441-94A0-58BF5E0A0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候选采样率：8k、16k、24kHz。逐项检查两个条件。</a:t>
            </a:r>
          </a:p>
        </p:txBody>
      </p:sp>
    </p:spTree>
    <p:extLst>
      <p:ext uri="{BB962C8B-B14F-4D97-AF65-F5344CB8AC3E}">
        <p14:creationId xmlns:p14="http://schemas.microsoft.com/office/powerpoint/2010/main" val="1804870211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rail">
            <a:extLst xmlns:a="http://schemas.openxmlformats.org/drawingml/2006/main">
              <a:ext uri="{FF2B5EF4-FFF2-40B4-BE49-F238E27FC236}">
                <a16:creationId xmlns:a16="http://schemas.microsoft.com/office/drawing/2014/main" id="{D6EEA51A-DE6A-41C0-A8A1-02B34DE41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B71C7ED8-D61E-49DB-876E-10570EAF6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4FD7F103-30E8-46B6-A57F-3A7ADE48E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只有64KiB，哪种方案满足要求？</a:t>
            </a:r>
          </a:p>
        </p:txBody>
      </p:sp>
      <p:sp>
        <p:nvSpPr>
          <p:cNvPr id="4" name="given-0">
            <a:extLst xmlns:a="http://schemas.openxmlformats.org/drawingml/2006/main">
              <a:ext uri="{FF2B5EF4-FFF2-40B4-BE49-F238E27FC236}">
                <a16:creationId xmlns:a16="http://schemas.microsoft.com/office/drawing/2014/main" id="{832E45A7-73C7-4B2C-90EA-96FA22C97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带限信号最高频率6kHz；记录2秒。</a:t>
            </a:r>
          </a:p>
        </p:txBody>
      </p:sp>
      <p:sp>
        <p:nvSpPr>
          <p:cNvPr id="5" name="given-1">
            <a:extLst xmlns:a="http://schemas.openxmlformats.org/drawingml/2006/main">
              <a:ext uri="{FF2B5EF4-FFF2-40B4-BE49-F238E27FC236}">
                <a16:creationId xmlns:a16="http://schemas.microsoft.com/office/drawing/2014/main" id="{B35514C0-113F-4B4D-8881-C322CD2C8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16bit、单声道；上限64KiB = 65,536B（仅样本数据）。</a:t>
            </a:r>
          </a:p>
        </p:txBody>
      </p:sp>
      <p:sp>
        <p:nvSpPr>
          <p:cNvPr id="6" name="given-2">
            <a:extLst xmlns:a="http://schemas.openxmlformats.org/drawingml/2006/main">
              <a:ext uri="{FF2B5EF4-FFF2-40B4-BE49-F238E27FC236}">
                <a16:creationId xmlns:a16="http://schemas.microsoft.com/office/drawing/2014/main" id="{EA3230E4-C03C-4441-94A0-58BF5E0A0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候选采样率：8k、16k、24kHz。逐项检查两个条件。</a:t>
            </a:r>
          </a:p>
        </p:txBody>
      </p:sp>
      <p:sp>
        <p:nvSpPr>
          <p:cNvPr id="7" name="line">
            <a:extLst xmlns:a="http://schemas.openxmlformats.org/drawingml/2006/main">
              <a:ext uri="{FF2B5EF4-FFF2-40B4-BE49-F238E27FC236}">
                <a16:creationId xmlns:a16="http://schemas.microsoft.com/office/drawing/2014/main" id="{D95699B7-5EC9-4337-B4DA-307E7187A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10972800" cy="9525"/>
          </a:xfrm>
          <a:custGeom xmlns:a="http://schemas.openxmlformats.org/drawingml/2006/main"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8DF"/>
            </a:solidFill>
          </a:ln>
        </p:spPr>
      </p:sp>
      <p:sp>
        <p:nvSpPr>
          <p:cNvPr id="8" name="answer-0">
            <a:extLst xmlns:a="http://schemas.openxmlformats.org/drawingml/2006/main">
              <a:ext uri="{FF2B5EF4-FFF2-40B4-BE49-F238E27FC236}">
                <a16:creationId xmlns:a16="http://schemas.microsoft.com/office/drawing/2014/main" id="{F133290C-289B-4C2B-881F-6B628F794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8kHz：32,000B，容量够；频率条件不满足。</a:t>
            </a:r>
          </a:p>
        </p:txBody>
      </p:sp>
      <p:sp>
        <p:nvSpPr>
          <p:cNvPr id="9" name="answer-1">
            <a:extLst xmlns:a="http://schemas.openxmlformats.org/drawingml/2006/main">
              <a:ext uri="{FF2B5EF4-FFF2-40B4-BE49-F238E27FC236}">
                <a16:creationId xmlns:a16="http://schemas.microsoft.com/office/drawing/2014/main" id="{8359F626-4C0D-46D3-ADC5-4C25A3298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577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16kHz：64,000B，两项满足。</a:t>
            </a:r>
          </a:p>
        </p:txBody>
      </p:sp>
      <p:sp>
        <p:nvSpPr>
          <p:cNvPr id="10" name="answer-2">
            <a:extLst xmlns:a="http://schemas.openxmlformats.org/drawingml/2006/main">
              <a:ext uri="{FF2B5EF4-FFF2-40B4-BE49-F238E27FC236}">
                <a16:creationId xmlns:a16="http://schemas.microsoft.com/office/drawing/2014/main" id="{F4A6C7F3-EC08-4636-B444-BEA0F80C3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2442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24kHz：96,000B，超出65,536B。</a:t>
            </a:r>
          </a:p>
        </p:txBody>
      </p:sp>
    </p:spTree>
    <p:extLst>
      <p:ext uri="{BB962C8B-B14F-4D97-AF65-F5344CB8AC3E}">
        <p14:creationId xmlns:p14="http://schemas.microsoft.com/office/powerpoint/2010/main" val="1804870211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46" name=""/>
          <p:cNvCxnSpPr>
            <a:stCxn xmlns:a="http://schemas.openxmlformats.org/drawingml/2006/main" id="21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6191250" y="4876800"/>
            <a:ext cx="1428750" cy="2381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C64E1"/>
            </a:solidFill>
          </a:ln>
        </p:spPr>
      </p:cxnSp>
      <p:cxnSp>
        <p:nvCxnSpPr>
          <p:cNvPr id="47" name=""/>
          <p:cNvCxnSpPr>
            <a:stCxn xmlns:a="http://schemas.openxmlformats.org/drawingml/2006/main" id="21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 flipV="1">
            <a:off x="6191250" y="4162425"/>
            <a:ext cx="1428750" cy="7143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C64E1"/>
            </a:solidFill>
          </a:ln>
        </p:spPr>
      </p:cxnSp>
      <p:cxnSp>
        <p:nvCxnSpPr>
          <p:cNvPr id="48" name=""/>
          <p:cNvCxnSpPr>
            <a:stCxn xmlns:a="http://schemas.openxmlformats.org/drawingml/2006/main" id="11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6191250" y="3067050"/>
            <a:ext cx="1428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C64E1"/>
            </a:solidFill>
          </a:ln>
        </p:spPr>
      </p:cxnSp>
      <p:cxnSp>
        <p:nvCxnSpPr>
          <p:cNvPr id="49" name=""/>
          <p:cNvCxnSpPr>
            <a:stCxn xmlns:a="http://schemas.openxmlformats.org/drawingml/2006/main" id="6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6191250" y="2162175"/>
            <a:ext cx="1428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C64E1"/>
            </a:solidFill>
          </a:ln>
        </p:spPr>
      </p:cxnSp>
      <p:cxnSp>
        <p:nvCxnSpPr>
          <p:cNvPr id="50" name=""/>
          <p:cNvCxnSpPr>
            <a:stCxn xmlns:a="http://schemas.openxmlformats.org/drawingml/2006/main" id="4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2800350" y="3562350"/>
            <a:ext cx="866775" cy="13144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C64E1"/>
            </a:solidFill>
          </a:ln>
        </p:spPr>
      </p:cxnSp>
      <p:cxnSp>
        <p:nvCxnSpPr>
          <p:cNvPr id="51" name=""/>
          <p:cNvCxnSpPr>
            <a:stCxn xmlns:a="http://schemas.openxmlformats.org/drawingml/2006/main" id="4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2800350" y="3562350"/>
            <a:ext cx="866775" cy="4095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C64E1"/>
            </a:solidFill>
          </a:ln>
        </p:spPr>
      </p:cxnSp>
      <p:cxnSp>
        <p:nvCxnSpPr>
          <p:cNvPr id="52" name=""/>
          <p:cNvCxnSpPr>
            <a:stCxn xmlns:a="http://schemas.openxmlformats.org/drawingml/2006/main" id="4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V="1">
            <a:off x="2800350" y="3067050"/>
            <a:ext cx="866775" cy="4953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C64E1"/>
            </a:solidFill>
          </a:ln>
        </p:spPr>
      </p:cxnSp>
      <p:cxnSp>
        <p:nvCxnSpPr>
          <p:cNvPr id="53" name=""/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2800350" y="2162175"/>
            <a:ext cx="866775" cy="14001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C64E1"/>
            </a:solidFill>
          </a:ln>
        </p:spPr>
      </p:cxnSp>
      <p:sp>
        <p:nvSpPr>
          <p:cNvPr id="54" name="top-rail">
            <a:extLst xmlns:a="http://schemas.openxmlformats.org/drawingml/2006/main">
              <a:ext uri="{FF2B5EF4-FFF2-40B4-BE49-F238E27FC236}">
                <a16:creationId xmlns:a16="http://schemas.microsoft.com/office/drawing/2014/main" id="{B615AE08-9C5C-41E7-AC98-E667D41B0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8365CACB-B72D-4A96-8AC0-C94DA0769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1F33720B-280D-4F62-8C64-7374D3E68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选方案需要同时查哪些条件？</a:t>
            </a:r>
          </a:p>
        </p:txBody>
      </p:sp>
      <p:sp>
        <p:nvSpPr>
          <p:cNvPr id="4" name="tree-root">
            <a:extLst xmlns:a="http://schemas.openxmlformats.org/drawingml/2006/main">
              <a:ext uri="{FF2B5EF4-FFF2-40B4-BE49-F238E27FC236}">
                <a16:creationId xmlns:a16="http://schemas.microsoft.com/office/drawing/2014/main" id="{B5B5F539-42F1-47DB-8C13-E4DE01930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2190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5" name="tree-label-root">
            <a:extLst xmlns:a="http://schemas.openxmlformats.org/drawingml/2006/main">
              <a:ext uri="{FF2B5EF4-FFF2-40B4-BE49-F238E27FC236}">
                <a16:creationId xmlns:a16="http://schemas.microsoft.com/office/drawing/2014/main" id="{7396F84E-FB97-4C54-B202-9FA902A2D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19450"/>
            <a:ext cx="1962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数字音频</a:t>
            </a:r>
          </a:p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记录模型</a:t>
            </a:r>
          </a:p>
        </p:txBody>
      </p:sp>
      <p:sp>
        <p:nvSpPr>
          <p:cNvPr id="6" name="tree-sampling">
            <a:extLst xmlns:a="http://schemas.openxmlformats.org/drawingml/2006/main">
              <a:ext uri="{FF2B5EF4-FFF2-40B4-BE49-F238E27FC236}">
                <a16:creationId xmlns:a16="http://schemas.microsoft.com/office/drawing/2014/main" id="{EE28B9EB-A3F4-4BA9-A60B-5BAF354F5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762125"/>
            <a:ext cx="25241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7" name="tree-label-sampling">
            <a:extLst xmlns:a="http://schemas.openxmlformats.org/drawingml/2006/main">
              <a:ext uri="{FF2B5EF4-FFF2-40B4-BE49-F238E27FC236}">
                <a16:creationId xmlns:a16="http://schemas.microsoft.com/office/drawing/2014/main" id="{D2F8BA5A-5011-4B25-8BA4-4BA09D402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1800225"/>
            <a:ext cx="22955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采样</a:t>
            </a:r>
          </a:p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离散时刻</a:t>
            </a:r>
          </a:p>
        </p:txBody>
      </p:sp>
      <p:sp>
        <p:nvSpPr>
          <p:cNvPr id="9" name="tree-focus">
            <a:extLst xmlns:a="http://schemas.openxmlformats.org/drawingml/2006/main">
              <a:ext uri="{FF2B5EF4-FFF2-40B4-BE49-F238E27FC236}">
                <a16:creationId xmlns:a16="http://schemas.microsoft.com/office/drawing/2014/main" id="{CE5D09E6-4328-465A-B8F8-165C953C6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724025"/>
            <a:ext cx="26003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" name="tree-new">
            <a:extLst xmlns:a="http://schemas.openxmlformats.org/drawingml/2006/main">
              <a:ext uri="{FF2B5EF4-FFF2-40B4-BE49-F238E27FC236}">
                <a16:creationId xmlns:a16="http://schemas.microsoft.com/office/drawing/2014/main" id="{62BBC657-623B-4BF6-AE32-128ADA650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914525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/>
            </a:r>
          </a:p>
        </p:txBody>
      </p:sp>
      <p:sp>
        <p:nvSpPr>
          <p:cNvPr id="11" name="tree-quantization">
            <a:extLst xmlns:a="http://schemas.openxmlformats.org/drawingml/2006/main">
              <a:ext uri="{FF2B5EF4-FFF2-40B4-BE49-F238E27FC236}">
                <a16:creationId xmlns:a16="http://schemas.microsoft.com/office/drawing/2014/main" id="{159739EF-A090-4065-9E48-143359CE9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667000"/>
            <a:ext cx="25241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2" name="tree-label-quantization">
            <a:extLst xmlns:a="http://schemas.openxmlformats.org/drawingml/2006/main">
              <a:ext uri="{FF2B5EF4-FFF2-40B4-BE49-F238E27FC236}">
                <a16:creationId xmlns:a16="http://schemas.microsoft.com/office/drawing/2014/main" id="{05808172-445E-478B-99EA-4957F9E40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705100"/>
            <a:ext cx="22955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量化</a:t>
            </a:r>
          </a:p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有限幅度</a:t>
            </a:r>
          </a:p>
        </p:txBody>
      </p:sp>
      <p:sp>
        <p:nvSpPr>
          <p:cNvPr id="14" name="tree-focus">
            <a:extLst xmlns:a="http://schemas.openxmlformats.org/drawingml/2006/main">
              <a:ext uri="{FF2B5EF4-FFF2-40B4-BE49-F238E27FC236}">
                <a16:creationId xmlns:a16="http://schemas.microsoft.com/office/drawing/2014/main" id="{9E0FB84C-6142-4D3C-9896-4592B88EF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28900"/>
            <a:ext cx="26003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" name="tree-new">
            <a:extLst xmlns:a="http://schemas.openxmlformats.org/drawingml/2006/main">
              <a:ext uri="{FF2B5EF4-FFF2-40B4-BE49-F238E27FC236}">
                <a16:creationId xmlns:a16="http://schemas.microsoft.com/office/drawing/2014/main" id="{06CD0068-8A8A-4048-80A7-104476BC1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81940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/>
            </a:r>
          </a:p>
        </p:txBody>
      </p:sp>
      <p:sp>
        <p:nvSpPr>
          <p:cNvPr id="16" name="tree-encoding">
            <a:extLst xmlns:a="http://schemas.openxmlformats.org/drawingml/2006/main">
              <a:ext uri="{FF2B5EF4-FFF2-40B4-BE49-F238E27FC236}">
                <a16:creationId xmlns:a16="http://schemas.microsoft.com/office/drawing/2014/main" id="{63FDFFDB-5A94-4CAC-A1BD-64408FDBB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571875"/>
            <a:ext cx="25241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7" name="tree-label-encoding">
            <a:extLst xmlns:a="http://schemas.openxmlformats.org/drawingml/2006/main">
              <a:ext uri="{FF2B5EF4-FFF2-40B4-BE49-F238E27FC236}">
                <a16:creationId xmlns:a16="http://schemas.microsoft.com/office/drawing/2014/main" id="{823B1695-3080-42A1-8A14-C23253570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3609975"/>
            <a:ext cx="22955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编码</a:t>
            </a:r>
          </a:p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表示等级</a:t>
            </a:r>
          </a:p>
        </p:txBody>
      </p:sp>
      <p:sp>
        <p:nvSpPr>
          <p:cNvPr id="19" name="tree-focus">
            <a:extLst xmlns:a="http://schemas.openxmlformats.org/drawingml/2006/main">
              <a:ext uri="{FF2B5EF4-FFF2-40B4-BE49-F238E27FC236}">
                <a16:creationId xmlns:a16="http://schemas.microsoft.com/office/drawing/2014/main" id="{08E63920-FBAD-4FB7-86CD-4FB9C2B59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533775"/>
            <a:ext cx="26003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" name="tree-new">
            <a:extLst xmlns:a="http://schemas.openxmlformats.org/drawingml/2006/main">
              <a:ext uri="{FF2B5EF4-FFF2-40B4-BE49-F238E27FC236}">
                <a16:creationId xmlns:a16="http://schemas.microsoft.com/office/drawing/2014/main" id="{7DF10078-BC82-40DD-8446-C748F2490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724275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/>
            </a:r>
          </a:p>
        </p:txBody>
      </p:sp>
      <p:sp>
        <p:nvSpPr>
          <p:cNvPr id="21" name="tree-parameters">
            <a:extLst xmlns:a="http://schemas.openxmlformats.org/drawingml/2006/main">
              <a:ext uri="{FF2B5EF4-FFF2-40B4-BE49-F238E27FC236}">
                <a16:creationId xmlns:a16="http://schemas.microsoft.com/office/drawing/2014/main" id="{344AF17A-0850-4DBF-BD89-02E7A8B3A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476750"/>
            <a:ext cx="25241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2" name="tree-label-parameters">
            <a:extLst xmlns:a="http://schemas.openxmlformats.org/drawingml/2006/main">
              <a:ext uri="{FF2B5EF4-FFF2-40B4-BE49-F238E27FC236}">
                <a16:creationId xmlns:a16="http://schemas.microsoft.com/office/drawing/2014/main" id="{5A8ABD60-2DDB-441A-AF85-DEA0EC653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4514850"/>
            <a:ext cx="22955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序列＋解释参数</a:t>
            </a:r>
          </a:p>
        </p:txBody>
      </p:sp>
      <p:sp>
        <p:nvSpPr>
          <p:cNvPr id="24" name="tree-focus">
            <a:extLst xmlns:a="http://schemas.openxmlformats.org/drawingml/2006/main">
              <a:ext uri="{FF2B5EF4-FFF2-40B4-BE49-F238E27FC236}">
                <a16:creationId xmlns:a16="http://schemas.microsoft.com/office/drawing/2014/main" id="{3A07B3B0-42FE-462D-A6BA-BEB0DD950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438650"/>
            <a:ext cx="26003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5" name="tree-new">
            <a:extLst xmlns:a="http://schemas.openxmlformats.org/drawingml/2006/main">
              <a:ext uri="{FF2B5EF4-FFF2-40B4-BE49-F238E27FC236}">
                <a16:creationId xmlns:a16="http://schemas.microsoft.com/office/drawing/2014/main" id="{E372D916-86ED-4957-A75D-D6D45A933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62915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/>
            </a:r>
          </a:p>
        </p:txBody>
      </p:sp>
      <p:sp>
        <p:nvSpPr>
          <p:cNvPr id="26" name="tree-frequency">
            <a:extLst xmlns:a="http://schemas.openxmlformats.org/drawingml/2006/main">
              <a:ext uri="{FF2B5EF4-FFF2-40B4-BE49-F238E27FC236}">
                <a16:creationId xmlns:a16="http://schemas.microsoft.com/office/drawing/2014/main" id="{F70EADA6-BD09-4F17-A999-2878A4107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333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7" name="tree-label-frequency">
            <a:extLst xmlns:a="http://schemas.openxmlformats.org/drawingml/2006/main">
              <a:ext uri="{FF2B5EF4-FFF2-40B4-BE49-F238E27FC236}">
                <a16:creationId xmlns:a16="http://schemas.microsoft.com/office/drawing/2014/main" id="{A990994A-D3C1-4F0C-A1EF-CBBE2FCFB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800225"/>
            <a:ext cx="3105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采样率</a:t>
            </a:r>
          </a:p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频率范围</a:t>
            </a:r>
          </a:p>
        </p:txBody>
      </p:sp>
      <p:sp>
        <p:nvSpPr>
          <p:cNvPr id="29" name="tree-focus">
            <a:extLst xmlns:a="http://schemas.openxmlformats.org/drawingml/2006/main">
              <a:ext uri="{FF2B5EF4-FFF2-40B4-BE49-F238E27FC236}">
                <a16:creationId xmlns:a16="http://schemas.microsoft.com/office/drawing/2014/main" id="{E1C62122-A8E2-4C99-8033-30713367C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724025"/>
            <a:ext cx="3409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0" name="tree-new">
            <a:extLst xmlns:a="http://schemas.openxmlformats.org/drawingml/2006/main">
              <a:ext uri="{FF2B5EF4-FFF2-40B4-BE49-F238E27FC236}">
                <a16:creationId xmlns:a16="http://schemas.microsoft.com/office/drawing/2014/main" id="{5F05DB8E-88B9-47D1-ADAA-F7D455A1C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1914525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/>
            </a:r>
          </a:p>
        </p:txBody>
      </p:sp>
      <p:sp>
        <p:nvSpPr>
          <p:cNvPr id="31" name="tree-precision">
            <a:extLst xmlns:a="http://schemas.openxmlformats.org/drawingml/2006/main">
              <a:ext uri="{FF2B5EF4-FFF2-40B4-BE49-F238E27FC236}">
                <a16:creationId xmlns:a16="http://schemas.microsoft.com/office/drawing/2014/main" id="{DA1FB7A8-D1E7-4084-9287-6AE9318F2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667000"/>
            <a:ext cx="3333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32" name="tree-label-precision">
            <a:extLst xmlns:a="http://schemas.openxmlformats.org/drawingml/2006/main">
              <a:ext uri="{FF2B5EF4-FFF2-40B4-BE49-F238E27FC236}">
                <a16:creationId xmlns:a16="http://schemas.microsoft.com/office/drawing/2014/main" id="{50BAB2E9-A4D3-4903-A87B-431637FA8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05100"/>
            <a:ext cx="3105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位数</a:t>
            </a:r>
          </a:p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等级与误差上界</a:t>
            </a:r>
          </a:p>
        </p:txBody>
      </p:sp>
      <p:sp>
        <p:nvSpPr>
          <p:cNvPr id="34" name="tree-focus">
            <a:extLst xmlns:a="http://schemas.openxmlformats.org/drawingml/2006/main">
              <a:ext uri="{FF2B5EF4-FFF2-40B4-BE49-F238E27FC236}">
                <a16:creationId xmlns:a16="http://schemas.microsoft.com/office/drawing/2014/main" id="{E7A986AA-A8B0-47E2-A0FC-EBA199CCA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628900"/>
            <a:ext cx="3409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" name="tree-new">
            <a:extLst xmlns:a="http://schemas.openxmlformats.org/drawingml/2006/main">
              <a:ext uri="{FF2B5EF4-FFF2-40B4-BE49-F238E27FC236}">
                <a16:creationId xmlns:a16="http://schemas.microsoft.com/office/drawing/2014/main" id="{86240E3D-1DE2-4303-A71A-CFA6AEA15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281940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/>
            </a:r>
          </a:p>
        </p:txBody>
      </p:sp>
      <p:sp>
        <p:nvSpPr>
          <p:cNvPr id="36" name="tree-payload">
            <a:extLst xmlns:a="http://schemas.openxmlformats.org/drawingml/2006/main">
              <a:ext uri="{FF2B5EF4-FFF2-40B4-BE49-F238E27FC236}">
                <a16:creationId xmlns:a16="http://schemas.microsoft.com/office/drawing/2014/main" id="{303AB430-DEC9-407A-85A1-C0EE4E929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762375"/>
            <a:ext cx="3333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37" name="tree-label-payload">
            <a:extLst xmlns:a="http://schemas.openxmlformats.org/drawingml/2006/main">
              <a:ext uri="{FF2B5EF4-FFF2-40B4-BE49-F238E27FC236}">
                <a16:creationId xmlns:a16="http://schemas.microsoft.com/office/drawing/2014/main" id="{4E4A2E57-1BF5-44EE-AF32-06B572F12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800475"/>
            <a:ext cx="3105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存储位数、声道</a:t>
            </a:r>
          </a:p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计数→样本数据B</a:t>
            </a:r>
          </a:p>
        </p:txBody>
      </p:sp>
      <p:sp>
        <p:nvSpPr>
          <p:cNvPr id="39" name="tree-focus">
            <a:extLst xmlns:a="http://schemas.openxmlformats.org/drawingml/2006/main">
              <a:ext uri="{FF2B5EF4-FFF2-40B4-BE49-F238E27FC236}">
                <a16:creationId xmlns:a16="http://schemas.microsoft.com/office/drawing/2014/main" id="{91C27337-E220-4C98-97B4-C025F3A8C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724275"/>
            <a:ext cx="3409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0" name="tree-new">
            <a:extLst xmlns:a="http://schemas.openxmlformats.org/drawingml/2006/main">
              <a:ext uri="{FF2B5EF4-FFF2-40B4-BE49-F238E27FC236}">
                <a16:creationId xmlns:a16="http://schemas.microsoft.com/office/drawing/2014/main" id="{31DDB43E-7148-4568-B3E5-EFF462ACE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3914775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/>
            </a:r>
          </a:p>
        </p:txBody>
      </p:sp>
      <p:sp>
        <p:nvSpPr>
          <p:cNvPr id="41" name="tree-container">
            <a:extLst xmlns:a="http://schemas.openxmlformats.org/drawingml/2006/main">
              <a:ext uri="{FF2B5EF4-FFF2-40B4-BE49-F238E27FC236}">
                <a16:creationId xmlns:a16="http://schemas.microsoft.com/office/drawing/2014/main" id="{D7B35771-792B-4FBE-A2F6-37D385CAA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714875"/>
            <a:ext cx="3333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42" name="tree-label-container">
            <a:extLst xmlns:a="http://schemas.openxmlformats.org/drawingml/2006/main">
              <a:ext uri="{FF2B5EF4-FFF2-40B4-BE49-F238E27FC236}">
                <a16:creationId xmlns:a16="http://schemas.microsoft.com/office/drawing/2014/main" id="{E5C5F743-C51D-4F4A-80DC-355354CC8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752975"/>
            <a:ext cx="3105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WAV：参数＋样本</a:t>
            </a:r>
          </a:p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完整文件另有开销</a:t>
            </a:r>
          </a:p>
        </p:txBody>
      </p:sp>
      <p:sp>
        <p:nvSpPr>
          <p:cNvPr id="44" name="tree-focus">
            <a:extLst xmlns:a="http://schemas.openxmlformats.org/drawingml/2006/main">
              <a:ext uri="{FF2B5EF4-FFF2-40B4-BE49-F238E27FC236}">
                <a16:creationId xmlns:a16="http://schemas.microsoft.com/office/drawing/2014/main" id="{06EE5EEF-19B2-4D7E-AA8F-A6142842D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676775"/>
            <a:ext cx="3409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5" name="tree-new">
            <a:extLst xmlns:a="http://schemas.openxmlformats.org/drawingml/2006/main">
              <a:ext uri="{FF2B5EF4-FFF2-40B4-BE49-F238E27FC236}">
                <a16:creationId xmlns:a16="http://schemas.microsoft.com/office/drawing/2014/main" id="{D14B3CE3-EC6D-4A24-A6E9-54F37787D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4867275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841598685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51" name=""/>
          <p:cNvCxnSpPr>
            <a:stCxn xmlns:a="http://schemas.openxmlformats.org/drawingml/2006/main" id="4" idx="2"/>
            <a:endCxn xmlns:a="http://schemas.openxmlformats.org/drawingml/2006/main" id="46" idx="1"/>
          </p:cNvCxnSpPr>
          <p:nvPr/>
        </p:nvCxnSpPr>
        <p:spPr>
          <a:xfrm xmlns:a="http://schemas.openxmlformats.org/drawingml/2006/main">
            <a:off x="1704975" y="3943350"/>
            <a:ext cx="1962150" cy="1962150"/>
          </a:xfrm>
          <a:prstGeom xmlns:a="http://schemas.openxmlformats.org/drawingml/2006/main" prst="bentConnector5">
            <a:avLst>
              <a:gd name="adj1" fmla="val 0"/>
              <a:gd name="adj2" fmla="val 11650"/>
              <a:gd name="adj3" fmla="val 88350"/>
            </a:avLst>
          </a:prstGeom>
          <a:ln xmlns:a="http://schemas.openxmlformats.org/drawingml/2006/main" w="19050">
            <a:solidFill>
              <a:srgbClr val="8C64E1"/>
            </a:solidFill>
          </a:ln>
        </p:spPr>
      </p:cxnSp>
      <p:cxnSp>
        <p:nvCxnSpPr>
          <p:cNvPr id="52" name=""/>
          <p:cNvCxnSpPr>
            <a:stCxn xmlns:a="http://schemas.openxmlformats.org/drawingml/2006/main" id="21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6191250" y="4876800"/>
            <a:ext cx="1428750" cy="2381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C64E1"/>
            </a:solidFill>
          </a:ln>
        </p:spPr>
      </p:cxnSp>
      <p:cxnSp>
        <p:nvCxnSpPr>
          <p:cNvPr id="53" name=""/>
          <p:cNvCxnSpPr>
            <a:stCxn xmlns:a="http://schemas.openxmlformats.org/drawingml/2006/main" id="21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 flipV="1">
            <a:off x="6191250" y="4162425"/>
            <a:ext cx="1428750" cy="7143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C64E1"/>
            </a:solidFill>
          </a:ln>
        </p:spPr>
      </p:cxnSp>
      <p:cxnSp>
        <p:nvCxnSpPr>
          <p:cNvPr id="54" name=""/>
          <p:cNvCxnSpPr>
            <a:stCxn xmlns:a="http://schemas.openxmlformats.org/drawingml/2006/main" id="11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6191250" y="3067050"/>
            <a:ext cx="1428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C64E1"/>
            </a:solidFill>
          </a:ln>
        </p:spPr>
      </p:cxnSp>
      <p:cxnSp>
        <p:nvCxnSpPr>
          <p:cNvPr id="55" name=""/>
          <p:cNvCxnSpPr>
            <a:stCxn xmlns:a="http://schemas.openxmlformats.org/drawingml/2006/main" id="6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6191250" y="2162175"/>
            <a:ext cx="1428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C64E1"/>
            </a:solidFill>
          </a:ln>
        </p:spPr>
      </p:cxnSp>
      <p:cxnSp>
        <p:nvCxnSpPr>
          <p:cNvPr id="56" name=""/>
          <p:cNvCxnSpPr>
            <a:stCxn xmlns:a="http://schemas.openxmlformats.org/drawingml/2006/main" id="4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2800350" y="3562350"/>
            <a:ext cx="866775" cy="13144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C64E1"/>
            </a:solidFill>
          </a:ln>
        </p:spPr>
      </p:cxnSp>
      <p:cxnSp>
        <p:nvCxnSpPr>
          <p:cNvPr id="57" name=""/>
          <p:cNvCxnSpPr>
            <a:stCxn xmlns:a="http://schemas.openxmlformats.org/drawingml/2006/main" id="4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2800350" y="3562350"/>
            <a:ext cx="866775" cy="4095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C64E1"/>
            </a:solidFill>
          </a:ln>
        </p:spPr>
      </p:cxnSp>
      <p:cxnSp>
        <p:nvCxnSpPr>
          <p:cNvPr id="58" name=""/>
          <p:cNvCxnSpPr>
            <a:stCxn xmlns:a="http://schemas.openxmlformats.org/drawingml/2006/main" id="4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V="1">
            <a:off x="2800350" y="3067050"/>
            <a:ext cx="866775" cy="4953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C64E1"/>
            </a:solidFill>
          </a:ln>
        </p:spPr>
      </p:cxnSp>
      <p:cxnSp>
        <p:nvCxnSpPr>
          <p:cNvPr id="59" name=""/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2800350" y="2162175"/>
            <a:ext cx="866775" cy="14001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C64E1"/>
            </a:solidFill>
          </a:ln>
        </p:spPr>
      </p:cxnSp>
      <p:sp>
        <p:nvSpPr>
          <p:cNvPr id="60" name="top-rail">
            <a:extLst xmlns:a="http://schemas.openxmlformats.org/drawingml/2006/main">
              <a:ext uri="{FF2B5EF4-FFF2-40B4-BE49-F238E27FC236}">
                <a16:creationId xmlns:a16="http://schemas.microsoft.com/office/drawing/2014/main" id="{B615AE08-9C5C-41E7-AC98-E667D41B0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8365CACB-B72D-4A96-8AC0-C94DA0769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1F33720B-280D-4F62-8C64-7374D3E68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选方案需要同时查哪些条件？</a:t>
            </a:r>
          </a:p>
        </p:txBody>
      </p:sp>
      <p:sp>
        <p:nvSpPr>
          <p:cNvPr id="4" name="tree-root">
            <a:extLst xmlns:a="http://schemas.openxmlformats.org/drawingml/2006/main">
              <a:ext uri="{FF2B5EF4-FFF2-40B4-BE49-F238E27FC236}">
                <a16:creationId xmlns:a16="http://schemas.microsoft.com/office/drawing/2014/main" id="{B5B5F539-42F1-47DB-8C13-E4DE01930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2190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5" name="tree-label-root">
            <a:extLst xmlns:a="http://schemas.openxmlformats.org/drawingml/2006/main">
              <a:ext uri="{FF2B5EF4-FFF2-40B4-BE49-F238E27FC236}">
                <a16:creationId xmlns:a16="http://schemas.microsoft.com/office/drawing/2014/main" id="{7396F84E-FB97-4C54-B202-9FA902A2D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19450"/>
            <a:ext cx="1962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数字音频</a:t>
            </a:r>
          </a:p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记录模型</a:t>
            </a:r>
          </a:p>
        </p:txBody>
      </p:sp>
      <p:sp>
        <p:nvSpPr>
          <p:cNvPr id="6" name="tree-sampling">
            <a:extLst xmlns:a="http://schemas.openxmlformats.org/drawingml/2006/main">
              <a:ext uri="{FF2B5EF4-FFF2-40B4-BE49-F238E27FC236}">
                <a16:creationId xmlns:a16="http://schemas.microsoft.com/office/drawing/2014/main" id="{EE28B9EB-A3F4-4BA9-A60B-5BAF354F5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762125"/>
            <a:ext cx="25241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7" name="tree-label-sampling">
            <a:extLst xmlns:a="http://schemas.openxmlformats.org/drawingml/2006/main">
              <a:ext uri="{FF2B5EF4-FFF2-40B4-BE49-F238E27FC236}">
                <a16:creationId xmlns:a16="http://schemas.microsoft.com/office/drawing/2014/main" id="{D2F8BA5A-5011-4B25-8BA4-4BA09D402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1800225"/>
            <a:ext cx="22955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采样</a:t>
            </a:r>
          </a:p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离散时刻</a:t>
            </a:r>
          </a:p>
        </p:txBody>
      </p:sp>
      <p:sp>
        <p:nvSpPr>
          <p:cNvPr id="9" name="tree-focus">
            <a:extLst xmlns:a="http://schemas.openxmlformats.org/drawingml/2006/main">
              <a:ext uri="{FF2B5EF4-FFF2-40B4-BE49-F238E27FC236}">
                <a16:creationId xmlns:a16="http://schemas.microsoft.com/office/drawing/2014/main" id="{CE5D09E6-4328-465A-B8F8-165C953C6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724025"/>
            <a:ext cx="26003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" name="tree-new">
            <a:extLst xmlns:a="http://schemas.openxmlformats.org/drawingml/2006/main">
              <a:ext uri="{FF2B5EF4-FFF2-40B4-BE49-F238E27FC236}">
                <a16:creationId xmlns:a16="http://schemas.microsoft.com/office/drawing/2014/main" id="{62BBC657-623B-4BF6-AE32-128ADA650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914525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/>
            </a:r>
          </a:p>
        </p:txBody>
      </p:sp>
      <p:sp>
        <p:nvSpPr>
          <p:cNvPr id="11" name="tree-quantization">
            <a:extLst xmlns:a="http://schemas.openxmlformats.org/drawingml/2006/main">
              <a:ext uri="{FF2B5EF4-FFF2-40B4-BE49-F238E27FC236}">
                <a16:creationId xmlns:a16="http://schemas.microsoft.com/office/drawing/2014/main" id="{159739EF-A090-4065-9E48-143359CE9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667000"/>
            <a:ext cx="25241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2" name="tree-label-quantization">
            <a:extLst xmlns:a="http://schemas.openxmlformats.org/drawingml/2006/main">
              <a:ext uri="{FF2B5EF4-FFF2-40B4-BE49-F238E27FC236}">
                <a16:creationId xmlns:a16="http://schemas.microsoft.com/office/drawing/2014/main" id="{05808172-445E-478B-99EA-4957F9E40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705100"/>
            <a:ext cx="22955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量化</a:t>
            </a:r>
          </a:p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有限幅度</a:t>
            </a:r>
          </a:p>
        </p:txBody>
      </p:sp>
      <p:sp>
        <p:nvSpPr>
          <p:cNvPr id="14" name="tree-focus">
            <a:extLst xmlns:a="http://schemas.openxmlformats.org/drawingml/2006/main">
              <a:ext uri="{FF2B5EF4-FFF2-40B4-BE49-F238E27FC236}">
                <a16:creationId xmlns:a16="http://schemas.microsoft.com/office/drawing/2014/main" id="{9E0FB84C-6142-4D3C-9896-4592B88EF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28900"/>
            <a:ext cx="26003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" name="tree-new">
            <a:extLst xmlns:a="http://schemas.openxmlformats.org/drawingml/2006/main">
              <a:ext uri="{FF2B5EF4-FFF2-40B4-BE49-F238E27FC236}">
                <a16:creationId xmlns:a16="http://schemas.microsoft.com/office/drawing/2014/main" id="{06CD0068-8A8A-4048-80A7-104476BC1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81940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/>
            </a:r>
          </a:p>
        </p:txBody>
      </p:sp>
      <p:sp>
        <p:nvSpPr>
          <p:cNvPr id="16" name="tree-encoding">
            <a:extLst xmlns:a="http://schemas.openxmlformats.org/drawingml/2006/main">
              <a:ext uri="{FF2B5EF4-FFF2-40B4-BE49-F238E27FC236}">
                <a16:creationId xmlns:a16="http://schemas.microsoft.com/office/drawing/2014/main" id="{63FDFFDB-5A94-4CAC-A1BD-64408FDBB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571875"/>
            <a:ext cx="25241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7" name="tree-label-encoding">
            <a:extLst xmlns:a="http://schemas.openxmlformats.org/drawingml/2006/main">
              <a:ext uri="{FF2B5EF4-FFF2-40B4-BE49-F238E27FC236}">
                <a16:creationId xmlns:a16="http://schemas.microsoft.com/office/drawing/2014/main" id="{823B1695-3080-42A1-8A14-C23253570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3609975"/>
            <a:ext cx="22955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编码</a:t>
            </a:r>
          </a:p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表示等级</a:t>
            </a:r>
          </a:p>
        </p:txBody>
      </p:sp>
      <p:sp>
        <p:nvSpPr>
          <p:cNvPr id="19" name="tree-focus">
            <a:extLst xmlns:a="http://schemas.openxmlformats.org/drawingml/2006/main">
              <a:ext uri="{FF2B5EF4-FFF2-40B4-BE49-F238E27FC236}">
                <a16:creationId xmlns:a16="http://schemas.microsoft.com/office/drawing/2014/main" id="{08E63920-FBAD-4FB7-86CD-4FB9C2B59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533775"/>
            <a:ext cx="26003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" name="tree-new">
            <a:extLst xmlns:a="http://schemas.openxmlformats.org/drawingml/2006/main">
              <a:ext uri="{FF2B5EF4-FFF2-40B4-BE49-F238E27FC236}">
                <a16:creationId xmlns:a16="http://schemas.microsoft.com/office/drawing/2014/main" id="{7DF10078-BC82-40DD-8446-C748F2490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724275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/>
            </a:r>
          </a:p>
        </p:txBody>
      </p:sp>
      <p:sp>
        <p:nvSpPr>
          <p:cNvPr id="21" name="tree-parameters">
            <a:extLst xmlns:a="http://schemas.openxmlformats.org/drawingml/2006/main">
              <a:ext uri="{FF2B5EF4-FFF2-40B4-BE49-F238E27FC236}">
                <a16:creationId xmlns:a16="http://schemas.microsoft.com/office/drawing/2014/main" id="{344AF17A-0850-4DBF-BD89-02E7A8B3A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476750"/>
            <a:ext cx="25241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2" name="tree-label-parameters">
            <a:extLst xmlns:a="http://schemas.openxmlformats.org/drawingml/2006/main">
              <a:ext uri="{FF2B5EF4-FFF2-40B4-BE49-F238E27FC236}">
                <a16:creationId xmlns:a16="http://schemas.microsoft.com/office/drawing/2014/main" id="{5A8ABD60-2DDB-441A-AF85-DEA0EC653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4514850"/>
            <a:ext cx="22955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序列＋解释参数</a:t>
            </a:r>
          </a:p>
        </p:txBody>
      </p:sp>
      <p:sp>
        <p:nvSpPr>
          <p:cNvPr id="24" name="tree-focus">
            <a:extLst xmlns:a="http://schemas.openxmlformats.org/drawingml/2006/main">
              <a:ext uri="{FF2B5EF4-FFF2-40B4-BE49-F238E27FC236}">
                <a16:creationId xmlns:a16="http://schemas.microsoft.com/office/drawing/2014/main" id="{3A07B3B0-42FE-462D-A6BA-BEB0DD950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438650"/>
            <a:ext cx="26003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5" name="tree-new">
            <a:extLst xmlns:a="http://schemas.openxmlformats.org/drawingml/2006/main">
              <a:ext uri="{FF2B5EF4-FFF2-40B4-BE49-F238E27FC236}">
                <a16:creationId xmlns:a16="http://schemas.microsoft.com/office/drawing/2014/main" id="{E372D916-86ED-4957-A75D-D6D45A933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62915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/>
            </a:r>
          </a:p>
        </p:txBody>
      </p:sp>
      <p:sp>
        <p:nvSpPr>
          <p:cNvPr id="26" name="tree-frequency">
            <a:extLst xmlns:a="http://schemas.openxmlformats.org/drawingml/2006/main">
              <a:ext uri="{FF2B5EF4-FFF2-40B4-BE49-F238E27FC236}">
                <a16:creationId xmlns:a16="http://schemas.microsoft.com/office/drawing/2014/main" id="{F70EADA6-BD09-4F17-A999-2878A4107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333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7" name="tree-label-frequency">
            <a:extLst xmlns:a="http://schemas.openxmlformats.org/drawingml/2006/main">
              <a:ext uri="{FF2B5EF4-FFF2-40B4-BE49-F238E27FC236}">
                <a16:creationId xmlns:a16="http://schemas.microsoft.com/office/drawing/2014/main" id="{A990994A-D3C1-4F0C-A1EF-CBBE2FCFB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800225"/>
            <a:ext cx="3105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采样率</a:t>
            </a:r>
          </a:p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频率范围</a:t>
            </a:r>
          </a:p>
        </p:txBody>
      </p:sp>
      <p:sp>
        <p:nvSpPr>
          <p:cNvPr id="29" name="tree-focus">
            <a:extLst xmlns:a="http://schemas.openxmlformats.org/drawingml/2006/main">
              <a:ext uri="{FF2B5EF4-FFF2-40B4-BE49-F238E27FC236}">
                <a16:creationId xmlns:a16="http://schemas.microsoft.com/office/drawing/2014/main" id="{E1C62122-A8E2-4C99-8033-30713367C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724025"/>
            <a:ext cx="3409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0" name="tree-new">
            <a:extLst xmlns:a="http://schemas.openxmlformats.org/drawingml/2006/main">
              <a:ext uri="{FF2B5EF4-FFF2-40B4-BE49-F238E27FC236}">
                <a16:creationId xmlns:a16="http://schemas.microsoft.com/office/drawing/2014/main" id="{5F05DB8E-88B9-47D1-ADAA-F7D455A1C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1914525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/>
            </a:r>
          </a:p>
        </p:txBody>
      </p:sp>
      <p:sp>
        <p:nvSpPr>
          <p:cNvPr id="31" name="tree-precision">
            <a:extLst xmlns:a="http://schemas.openxmlformats.org/drawingml/2006/main">
              <a:ext uri="{FF2B5EF4-FFF2-40B4-BE49-F238E27FC236}">
                <a16:creationId xmlns:a16="http://schemas.microsoft.com/office/drawing/2014/main" id="{DA1FB7A8-D1E7-4084-9287-6AE9318F2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667000"/>
            <a:ext cx="3333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32" name="tree-label-precision">
            <a:extLst xmlns:a="http://schemas.openxmlformats.org/drawingml/2006/main">
              <a:ext uri="{FF2B5EF4-FFF2-40B4-BE49-F238E27FC236}">
                <a16:creationId xmlns:a16="http://schemas.microsoft.com/office/drawing/2014/main" id="{50BAB2E9-A4D3-4903-A87B-431637FA8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05100"/>
            <a:ext cx="3105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位数</a:t>
            </a:r>
          </a:p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等级与误差上界</a:t>
            </a:r>
          </a:p>
        </p:txBody>
      </p:sp>
      <p:sp>
        <p:nvSpPr>
          <p:cNvPr id="34" name="tree-focus">
            <a:extLst xmlns:a="http://schemas.openxmlformats.org/drawingml/2006/main">
              <a:ext uri="{FF2B5EF4-FFF2-40B4-BE49-F238E27FC236}">
                <a16:creationId xmlns:a16="http://schemas.microsoft.com/office/drawing/2014/main" id="{E7A986AA-A8B0-47E2-A0FC-EBA199CCA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628900"/>
            <a:ext cx="3409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" name="tree-new">
            <a:extLst xmlns:a="http://schemas.openxmlformats.org/drawingml/2006/main">
              <a:ext uri="{FF2B5EF4-FFF2-40B4-BE49-F238E27FC236}">
                <a16:creationId xmlns:a16="http://schemas.microsoft.com/office/drawing/2014/main" id="{86240E3D-1DE2-4303-A71A-CFA6AEA15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281940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/>
            </a:r>
          </a:p>
        </p:txBody>
      </p:sp>
      <p:sp>
        <p:nvSpPr>
          <p:cNvPr id="36" name="tree-payload">
            <a:extLst xmlns:a="http://schemas.openxmlformats.org/drawingml/2006/main">
              <a:ext uri="{FF2B5EF4-FFF2-40B4-BE49-F238E27FC236}">
                <a16:creationId xmlns:a16="http://schemas.microsoft.com/office/drawing/2014/main" id="{303AB430-DEC9-407A-85A1-C0EE4E929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762375"/>
            <a:ext cx="3333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37" name="tree-label-payload">
            <a:extLst xmlns:a="http://schemas.openxmlformats.org/drawingml/2006/main">
              <a:ext uri="{FF2B5EF4-FFF2-40B4-BE49-F238E27FC236}">
                <a16:creationId xmlns:a16="http://schemas.microsoft.com/office/drawing/2014/main" id="{4E4A2E57-1BF5-44EE-AF32-06B572F12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800475"/>
            <a:ext cx="3105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存储位数、声道</a:t>
            </a:r>
          </a:p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计数→样本数据B</a:t>
            </a:r>
          </a:p>
        </p:txBody>
      </p:sp>
      <p:sp>
        <p:nvSpPr>
          <p:cNvPr id="39" name="tree-focus">
            <a:extLst xmlns:a="http://schemas.openxmlformats.org/drawingml/2006/main">
              <a:ext uri="{FF2B5EF4-FFF2-40B4-BE49-F238E27FC236}">
                <a16:creationId xmlns:a16="http://schemas.microsoft.com/office/drawing/2014/main" id="{91C27337-E220-4C98-97B4-C025F3A8C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724275"/>
            <a:ext cx="3409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0" name="tree-new">
            <a:extLst xmlns:a="http://schemas.openxmlformats.org/drawingml/2006/main">
              <a:ext uri="{FF2B5EF4-FFF2-40B4-BE49-F238E27FC236}">
                <a16:creationId xmlns:a16="http://schemas.microsoft.com/office/drawing/2014/main" id="{31DDB43E-7148-4568-B3E5-EFF462ACE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3914775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/>
            </a:r>
          </a:p>
        </p:txBody>
      </p:sp>
      <p:sp>
        <p:nvSpPr>
          <p:cNvPr id="41" name="tree-container">
            <a:extLst xmlns:a="http://schemas.openxmlformats.org/drawingml/2006/main">
              <a:ext uri="{FF2B5EF4-FFF2-40B4-BE49-F238E27FC236}">
                <a16:creationId xmlns:a16="http://schemas.microsoft.com/office/drawing/2014/main" id="{D7B35771-792B-4FBE-A2F6-37D385CAA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714875"/>
            <a:ext cx="3333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42" name="tree-label-container">
            <a:extLst xmlns:a="http://schemas.openxmlformats.org/drawingml/2006/main">
              <a:ext uri="{FF2B5EF4-FFF2-40B4-BE49-F238E27FC236}">
                <a16:creationId xmlns:a16="http://schemas.microsoft.com/office/drawing/2014/main" id="{E5C5F743-C51D-4F4A-80DC-355354CC8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752975"/>
            <a:ext cx="3105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WAV：参数＋样本</a:t>
            </a:r>
          </a:p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完整文件另有开销</a:t>
            </a:r>
          </a:p>
        </p:txBody>
      </p:sp>
      <p:sp>
        <p:nvSpPr>
          <p:cNvPr id="44" name="tree-focus">
            <a:extLst xmlns:a="http://schemas.openxmlformats.org/drawingml/2006/main">
              <a:ext uri="{FF2B5EF4-FFF2-40B4-BE49-F238E27FC236}">
                <a16:creationId xmlns:a16="http://schemas.microsoft.com/office/drawing/2014/main" id="{06EE5EEF-19B2-4D7E-AA8F-A6142842D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676775"/>
            <a:ext cx="3409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5" name="tree-new">
            <a:extLst xmlns:a="http://schemas.openxmlformats.org/drawingml/2006/main">
              <a:ext uri="{FF2B5EF4-FFF2-40B4-BE49-F238E27FC236}">
                <a16:creationId xmlns:a16="http://schemas.microsoft.com/office/drawing/2014/main" id="{D14B3CE3-EC6D-4A24-A6E9-54F37787D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4867275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/>
            </a:r>
          </a:p>
        </p:txBody>
      </p:sp>
      <p:sp>
        <p:nvSpPr>
          <p:cNvPr id="46" name="tree-constraints">
            <a:extLst xmlns:a="http://schemas.openxmlformats.org/drawingml/2006/main">
              <a:ext uri="{FF2B5EF4-FFF2-40B4-BE49-F238E27FC236}">
                <a16:creationId xmlns:a16="http://schemas.microsoft.com/office/drawing/2014/main" id="{F65AB1BF-FB78-496D-85AD-3EB146B76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5619750"/>
            <a:ext cx="72866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47" name="tree-label-constraints">
            <a:extLst xmlns:a="http://schemas.openxmlformats.org/drawingml/2006/main">
              <a:ext uri="{FF2B5EF4-FFF2-40B4-BE49-F238E27FC236}">
                <a16:creationId xmlns:a16="http://schemas.microsoft.com/office/drawing/2014/main" id="{34274EED-0028-40A9-B904-E13AE65D8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5657850"/>
            <a:ext cx="70580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选方案：同时检查频率与容量条件</a:t>
            </a:r>
          </a:p>
        </p:txBody>
      </p:sp>
      <p:sp>
        <p:nvSpPr>
          <p:cNvPr id="49" name="tree-focus">
            <a:extLst xmlns:a="http://schemas.openxmlformats.org/drawingml/2006/main">
              <a:ext uri="{FF2B5EF4-FFF2-40B4-BE49-F238E27FC236}">
                <a16:creationId xmlns:a16="http://schemas.microsoft.com/office/drawing/2014/main" id="{52CE5DDD-EBAA-4E6B-A466-2E4406F65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5581650"/>
            <a:ext cx="73628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0000"/>
            </a:solidFill>
          </a:ln>
        </p:spPr>
      </p:sp>
      <p:sp>
        <p:nvSpPr>
          <p:cNvPr id="50" name="tree-new">
            <a:extLst xmlns:a="http://schemas.openxmlformats.org/drawingml/2006/main">
              <a:ext uri="{FF2B5EF4-FFF2-40B4-BE49-F238E27FC236}">
                <a16:creationId xmlns:a16="http://schemas.microsoft.com/office/drawing/2014/main" id="{B5BD2E75-BBAD-444D-AFB0-C088E1341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577215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新增</a:t>
            </a:r>
          </a:p>
        </p:txBody>
      </p:sp>
    </p:spTree>
    <p:extLst>
      <p:ext uri="{BB962C8B-B14F-4D97-AF65-F5344CB8AC3E}">
        <p14:creationId xmlns:p14="http://schemas.microsoft.com/office/powerpoint/2010/main" val="841598685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op-rail">
            <a:extLst xmlns:a="http://schemas.openxmlformats.org/drawingml/2006/main">
              <a:ext uri="{FF2B5EF4-FFF2-40B4-BE49-F238E27FC236}">
                <a16:creationId xmlns:a16="http://schemas.microsoft.com/office/drawing/2014/main" id="{6C528468-F5EA-4154-84D2-E63B09F82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79618D58-C926-4EEF-9B64-257305E49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CA3E2661-64AE-4761-9C1C-5234876D9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哪些说法需要修改？</a:t>
            </a:r>
          </a:p>
        </p:txBody>
      </p:sp>
      <p:sp>
        <p:nvSpPr>
          <p:cNvPr id="4" name="given-0">
            <a:extLst xmlns:a="http://schemas.openxmlformats.org/drawingml/2006/main">
              <a:ext uri="{FF2B5EF4-FFF2-40B4-BE49-F238E27FC236}">
                <a16:creationId xmlns:a16="http://schemas.microsoft.com/office/drawing/2014/main" id="{CEA3120E-4B7B-4766-A087-4E19A9534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① 8kHz采样，声音自身频率就是8kHz。</a:t>
            </a:r>
          </a:p>
        </p:txBody>
      </p:sp>
      <p:sp>
        <p:nvSpPr>
          <p:cNvPr id="5" name="given-1">
            <a:extLst xmlns:a="http://schemas.openxmlformats.org/drawingml/2006/main">
              <a:ext uri="{FF2B5EF4-FFF2-40B4-BE49-F238E27FC236}">
                <a16:creationId xmlns:a16="http://schemas.microsoft.com/office/drawing/2014/main" id="{50D30A1E-36FD-4D29-B520-3A3BCA595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② 16bit量化只有16个等级。</a:t>
            </a:r>
          </a:p>
        </p:txBody>
      </p:sp>
      <p:sp>
        <p:nvSpPr>
          <p:cNvPr id="6" name="given-2">
            <a:extLst xmlns:a="http://schemas.openxmlformats.org/drawingml/2006/main">
              <a:ext uri="{FF2B5EF4-FFF2-40B4-BE49-F238E27FC236}">
                <a16:creationId xmlns:a16="http://schemas.microsoft.com/office/drawing/2014/main" id="{4CDDB9F3-EE65-4363-B921-180B2CEF6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③ 所有WAV都未压缩，公式算出完整文件大小。</a:t>
            </a:r>
          </a:p>
        </p:txBody>
      </p:sp>
    </p:spTree>
    <p:extLst>
      <p:ext uri="{BB962C8B-B14F-4D97-AF65-F5344CB8AC3E}">
        <p14:creationId xmlns:p14="http://schemas.microsoft.com/office/powerpoint/2010/main" val="2117714537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rail">
            <a:extLst xmlns:a="http://schemas.openxmlformats.org/drawingml/2006/main">
              <a:ext uri="{FF2B5EF4-FFF2-40B4-BE49-F238E27FC236}">
                <a16:creationId xmlns:a16="http://schemas.microsoft.com/office/drawing/2014/main" id="{6C528468-F5EA-4154-84D2-E63B09F82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79618D58-C926-4EEF-9B64-257305E49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CA3E2661-64AE-4761-9C1C-5234876D9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哪些说法需要修改？</a:t>
            </a:r>
          </a:p>
        </p:txBody>
      </p:sp>
      <p:sp>
        <p:nvSpPr>
          <p:cNvPr id="4" name="given-0">
            <a:extLst xmlns:a="http://schemas.openxmlformats.org/drawingml/2006/main">
              <a:ext uri="{FF2B5EF4-FFF2-40B4-BE49-F238E27FC236}">
                <a16:creationId xmlns:a16="http://schemas.microsoft.com/office/drawing/2014/main" id="{CEA3120E-4B7B-4766-A087-4E19A9534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① 8kHz采样，声音自身频率就是8kHz。</a:t>
            </a:r>
          </a:p>
        </p:txBody>
      </p:sp>
      <p:sp>
        <p:nvSpPr>
          <p:cNvPr id="5" name="given-1">
            <a:extLst xmlns:a="http://schemas.openxmlformats.org/drawingml/2006/main">
              <a:ext uri="{FF2B5EF4-FFF2-40B4-BE49-F238E27FC236}">
                <a16:creationId xmlns:a16="http://schemas.microsoft.com/office/drawing/2014/main" id="{50D30A1E-36FD-4D29-B520-3A3BCA595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② 16bit量化只有16个等级。</a:t>
            </a:r>
          </a:p>
        </p:txBody>
      </p:sp>
      <p:sp>
        <p:nvSpPr>
          <p:cNvPr id="6" name="given-2">
            <a:extLst xmlns:a="http://schemas.openxmlformats.org/drawingml/2006/main">
              <a:ext uri="{FF2B5EF4-FFF2-40B4-BE49-F238E27FC236}">
                <a16:creationId xmlns:a16="http://schemas.microsoft.com/office/drawing/2014/main" id="{4CDDB9F3-EE65-4363-B921-180B2CEF6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③ 所有WAV都未压缩，公式算出完整文件大小。</a:t>
            </a:r>
          </a:p>
        </p:txBody>
      </p:sp>
      <p:sp>
        <p:nvSpPr>
          <p:cNvPr id="7" name="line">
            <a:extLst xmlns:a="http://schemas.openxmlformats.org/drawingml/2006/main">
              <a:ext uri="{FF2B5EF4-FFF2-40B4-BE49-F238E27FC236}">
                <a16:creationId xmlns:a16="http://schemas.microsoft.com/office/drawing/2014/main" id="{396C527F-68C5-4D32-A7FA-3A6847FCD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10972800" cy="9525"/>
          </a:xfrm>
          <a:custGeom xmlns:a="http://schemas.openxmlformats.org/drawingml/2006/main"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8DF"/>
            </a:solidFill>
          </a:ln>
        </p:spPr>
      </p:sp>
      <p:sp>
        <p:nvSpPr>
          <p:cNvPr id="8" name="answer-0">
            <a:extLst xmlns:a="http://schemas.openxmlformats.org/drawingml/2006/main">
              <a:ext uri="{FF2B5EF4-FFF2-40B4-BE49-F238E27FC236}">
                <a16:creationId xmlns:a16="http://schemas.microsoft.com/office/drawing/2014/main" id="{BB133778-0369-4CE8-901A-40E7765BB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① 采样率数记录次数；声音频率数振动次数。</a:t>
            </a:r>
          </a:p>
        </p:txBody>
      </p:sp>
      <p:sp>
        <p:nvSpPr>
          <p:cNvPr id="9" name="answer-1">
            <a:extLst xmlns:a="http://schemas.openxmlformats.org/drawingml/2006/main">
              <a:ext uri="{FF2B5EF4-FFF2-40B4-BE49-F238E27FC236}">
                <a16:creationId xmlns:a16="http://schemas.microsoft.com/office/drawing/2014/main" id="{888D95F6-CDF0-4887-A3EC-8CB426919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577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② 16bit最多表示65,536个等级。</a:t>
            </a:r>
          </a:p>
        </p:txBody>
      </p:sp>
      <p:sp>
        <p:nvSpPr>
          <p:cNvPr id="10" name="answer-2">
            <a:extLst xmlns:a="http://schemas.openxmlformats.org/drawingml/2006/main">
              <a:ext uri="{FF2B5EF4-FFF2-40B4-BE49-F238E27FC236}">
                <a16:creationId xmlns:a16="http://schemas.microsoft.com/office/drawing/2014/main" id="{FE84FEEE-E1EB-4C8B-8D84-1BE9B6DFC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2442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③ WAV不一定未压缩；公式只计样本数据。</a:t>
            </a:r>
          </a:p>
        </p:txBody>
      </p:sp>
    </p:spTree>
    <p:extLst>
      <p:ext uri="{BB962C8B-B14F-4D97-AF65-F5344CB8AC3E}">
        <p14:creationId xmlns:p14="http://schemas.microsoft.com/office/powerpoint/2010/main" val="2117714537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op-rail">
            <a:extLst xmlns:a="http://schemas.openxmlformats.org/drawingml/2006/main">
              <a:ext uri="{FF2B5EF4-FFF2-40B4-BE49-F238E27FC236}">
                <a16:creationId xmlns:a16="http://schemas.microsoft.com/office/drawing/2014/main" id="{54F4646F-B9B6-4930-A135-9B7ACBB59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A6493035-86E1-4D59-8362-4C18A974F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9A2E6CC1-6170-487C-AE35-BAD5AE005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课后练习</a:t>
            </a:r>
          </a:p>
        </p:txBody>
      </p:sp>
      <p:sp>
        <p:nvSpPr>
          <p:cNvPr id="4" name="given-0">
            <a:extLst xmlns:a="http://schemas.openxmlformats.org/drawingml/2006/main">
              <a:ext uri="{FF2B5EF4-FFF2-40B4-BE49-F238E27FC236}">
                <a16:creationId xmlns:a16="http://schemas.microsoft.com/office/drawing/2014/main" id="{6991C4DA-4E45-4F3B-91D1-94DE4FC93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1. 22.05kHz、16bit、单声道，10秒有多少B样本数据？</a:t>
            </a:r>
          </a:p>
        </p:txBody>
      </p:sp>
      <p:sp>
        <p:nvSpPr>
          <p:cNvPr id="5" name="given-1">
            <a:extLst xmlns:a="http://schemas.openxmlformats.org/drawingml/2006/main">
              <a:ext uri="{FF2B5EF4-FFF2-40B4-BE49-F238E27FC236}">
                <a16:creationId xmlns:a16="http://schemas.microsoft.com/office/drawing/2014/main" id="{A413817D-A989-4690-9AC1-12E72F614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2. 4bit改为8bit，等级数变成原来的几倍？</a:t>
            </a:r>
          </a:p>
        </p:txBody>
      </p:sp>
      <p:sp>
        <p:nvSpPr>
          <p:cNvPr id="6" name="given-2">
            <a:extLst xmlns:a="http://schemas.openxmlformats.org/drawingml/2006/main">
              <a:ext uri="{FF2B5EF4-FFF2-40B4-BE49-F238E27FC236}">
                <a16:creationId xmlns:a16="http://schemas.microsoft.com/office/drawing/2014/main" id="{48035D14-0A39-412B-B17D-9609A8F76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3. 8kHz录音转为48kHz，能恢复未记录的6kHz吗？</a:t>
            </a:r>
          </a:p>
        </p:txBody>
      </p:sp>
      <p:sp>
        <p:nvSpPr>
          <p:cNvPr id="7" name="given-3">
            <a:extLst xmlns:a="http://schemas.openxmlformats.org/drawingml/2006/main">
              <a:ext uri="{FF2B5EF4-FFF2-40B4-BE49-F238E27FC236}">
                <a16:creationId xmlns:a16="http://schemas.microsoft.com/office/drawing/2014/main" id="{FB9CC7C4-CD94-440A-B6EB-CB52A33B2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计算写出单位；解释写出条件。</a:t>
            </a:r>
          </a:p>
        </p:txBody>
      </p:sp>
    </p:spTree>
    <p:extLst>
      <p:ext uri="{BB962C8B-B14F-4D97-AF65-F5344CB8AC3E}">
        <p14:creationId xmlns:p14="http://schemas.microsoft.com/office/powerpoint/2010/main" val="4000873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libaba PuHuiTi 3.0 115 Black"/>
        <a:ea typeface="Alibaba PuHuiTi 3.0 115 Black"/>
        <a:cs typeface="Alibaba PuHuiTi 3.0 115 Black"/>
      </a:majorFont>
      <a:minorFont>
        <a:latin typeface="Alibaba PuHuiTi 3.0 55 Regular"/>
        <a:ea typeface="Alibaba PuHuiTi 3.0 55 Regular"/>
        <a:cs typeface="Alibaba PuHuiTi 3.0 55 Regular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2026-10-01T06:57:28.3080000Z</dcterms:created>
  <dcterms:modified xsi:type="dcterms:W3CDTF">2026-10-01T06:57:28.3080000Z</dcterms:modified>
</coreProperties>
</file>
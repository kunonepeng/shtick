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52eef2f8c54686" /><Relationship Type="http://schemas.openxmlformats.org/officeDocument/2006/relationships/extended-properties" Target="/docProps/app.xml" Id="R84444dc9abea4d68" /><Relationship Type="http://schemas.openxmlformats.org/officeDocument/2006/relationships/officeDocument" Target="/ppt/presentation.xml" Id="Raecf914f41a24c6e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8cc86711f19047df"/>
  </p:sldMasterIdLst>
  <p:notesMasterIdLst>
    <p:notesMasterId r:id="Rf5d539463090488f"/>
  </p:notesMasterIdLst>
  <p:sldIdLst>
    <p:sldId id="256" r:id="R15e0b8f038f34db6"/>
    <p:sldId id="257" r:id="Rf4eac027aa8a4169"/>
    <p:sldId id="258" r:id="R834aa1d3d22145f1"/>
    <p:sldId id="259" r:id="R1d0f7ce8d798498c"/>
    <p:sldId id="260" r:id="R30d222dc0cd449cc"/>
    <p:sldId id="261" r:id="Raaf874e9c4cd45e1"/>
    <p:sldId id="262" r:id="Rb3b3da4890804e2b"/>
    <p:sldId id="263" r:id="R04678e3a375d44d6"/>
    <p:sldId id="264" r:id="R4ab292a622fa4a14"/>
    <p:sldId id="265" r:id="R331a8b17651741c7"/>
    <p:sldId id="266" r:id="Ra06c9afb5bd94369"/>
    <p:sldId id="267" r:id="R9322b153340d41cf"/>
    <p:sldId id="268" r:id="Rb0adcfcc77b94761"/>
    <p:sldId id="269" r:id="R973730fb51de4786"/>
    <p:sldId id="270" r:id="R0cdf8cc1bc0e483f"/>
    <p:sldId id="271" r:id="R33e46d2458694acf"/>
    <p:sldId id="272" r:id="R59ff250c2536435d"/>
    <p:sldId id="273" r:id="R869fe1c69bbb4e59"/>
    <p:sldId id="274" r:id="Rac92b0022e80485c"/>
    <p:sldId id="275" r:id="R25c8a24a0ff84ae9"/>
    <p:sldId id="276" r:id="R9b1d78a11033431d"/>
    <p:sldId id="277" r:id="R5c153437b5ed44b7"/>
    <p:sldId id="278" r:id="R1c59593da7a54ffb"/>
    <p:sldId id="279" r:id="R4158115f816a45a8"/>
    <p:sldId id="280" r:id="R0d21720c725a4cdf"/>
    <p:sldId id="281" r:id="R7882be053028485f"/>
    <p:sldId id="282" r:id="R5137207ad9554b8b"/>
    <p:sldId id="283" r:id="Rdd3d31d7817b4bba"/>
    <p:sldId id="284" r:id="R32f691098aa842e0"/>
    <p:sldId id="285" r:id="R4533afcbc13a40fe"/>
    <p:sldId id="286" r:id="R079879276e7f4032"/>
    <p:sldId id="287" r:id="Rc8c193fd53e24d28"/>
    <p:sldId id="288" r:id="R4a26d59784fd4cd3"/>
    <p:sldId id="289" r:id="R59bc8c4afe544bba"/>
    <p:sldId id="290" r:id="Reaa67d3ed5df4fd1"/>
    <p:sldId id="291" r:id="R07c6c41d92c64943"/>
    <p:sldId id="292" r:id="R1215123b14dd40c3"/>
    <p:sldId id="293" r:id="Re3c0ff1364f849c5"/>
    <p:sldId id="294" r:id="R3aa5fd22e43443ad"/>
    <p:sldId id="295" r:id="R5d0c22e3826946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8a9faf5acf4094" /><Relationship Type="http://schemas.openxmlformats.org/officeDocument/2006/relationships/slideMaster" Target="/ppt/slideMasters/slideMaster1.xml" Id="R8cc86711f19047df" /><Relationship Type="http://schemas.openxmlformats.org/officeDocument/2006/relationships/notesMaster" Target="/ppt/notesMasters/notesMaster1.xml" Id="Rf5d539463090488f" /><Relationship Type="http://schemas.openxmlformats.org/officeDocument/2006/relationships/presProps" Target="/ppt/presProps.xml" Id="R21105719138a4f22" /><Relationship Type="http://schemas.openxmlformats.org/officeDocument/2006/relationships/tableStyles" Target="/ppt/tableStyles.xml" Id="R69f6758ee8384d52" /><Relationship Type="http://schemas.openxmlformats.org/officeDocument/2006/relationships/slide" Target="/ppt/slides/slide1.xml" Id="R15e0b8f038f34db6" /><Relationship Type="http://schemas.openxmlformats.org/officeDocument/2006/relationships/slide" Target="/ppt/slides/slide2.xml" Id="Rf4eac027aa8a4169" /><Relationship Type="http://schemas.openxmlformats.org/officeDocument/2006/relationships/slide" Target="/ppt/slides/slide3.xml" Id="R834aa1d3d22145f1" /><Relationship Type="http://schemas.openxmlformats.org/officeDocument/2006/relationships/slide" Target="/ppt/slides/slide4.xml" Id="R1d0f7ce8d798498c" /><Relationship Type="http://schemas.openxmlformats.org/officeDocument/2006/relationships/slide" Target="/ppt/slides/slide5.xml" Id="R30d222dc0cd449cc" /><Relationship Type="http://schemas.openxmlformats.org/officeDocument/2006/relationships/slide" Target="/ppt/slides/slide6.xml" Id="Raaf874e9c4cd45e1" /><Relationship Type="http://schemas.openxmlformats.org/officeDocument/2006/relationships/slide" Target="/ppt/slides/slide7.xml" Id="Rb3b3da4890804e2b" /><Relationship Type="http://schemas.openxmlformats.org/officeDocument/2006/relationships/slide" Target="/ppt/slides/slide8.xml" Id="R04678e3a375d44d6" /><Relationship Type="http://schemas.openxmlformats.org/officeDocument/2006/relationships/slide" Target="/ppt/slides/slide9.xml" Id="R4ab292a622fa4a14" /><Relationship Type="http://schemas.openxmlformats.org/officeDocument/2006/relationships/slide" Target="/ppt/slides/slide10.xml" Id="R331a8b17651741c7" /><Relationship Type="http://schemas.openxmlformats.org/officeDocument/2006/relationships/slide" Target="/ppt/slides/slide11.xml" Id="Ra06c9afb5bd94369" /><Relationship Type="http://schemas.openxmlformats.org/officeDocument/2006/relationships/slide" Target="/ppt/slides/slide12.xml" Id="R9322b153340d41cf" /><Relationship Type="http://schemas.openxmlformats.org/officeDocument/2006/relationships/slide" Target="/ppt/slides/slide13.xml" Id="Rb0adcfcc77b94761" /><Relationship Type="http://schemas.openxmlformats.org/officeDocument/2006/relationships/slide" Target="/ppt/slides/slide14.xml" Id="R973730fb51de4786" /><Relationship Type="http://schemas.openxmlformats.org/officeDocument/2006/relationships/slide" Target="/ppt/slides/slide15.xml" Id="R0cdf8cc1bc0e483f" /><Relationship Type="http://schemas.openxmlformats.org/officeDocument/2006/relationships/slide" Target="/ppt/slides/slide16.xml" Id="R33e46d2458694acf" /><Relationship Type="http://schemas.openxmlformats.org/officeDocument/2006/relationships/slide" Target="/ppt/slides/slide17.xml" Id="R59ff250c2536435d" /><Relationship Type="http://schemas.openxmlformats.org/officeDocument/2006/relationships/slide" Target="/ppt/slides/slide18.xml" Id="R869fe1c69bbb4e59" /><Relationship Type="http://schemas.openxmlformats.org/officeDocument/2006/relationships/slide" Target="/ppt/slides/slide19.xml" Id="Rac92b0022e80485c" /><Relationship Type="http://schemas.openxmlformats.org/officeDocument/2006/relationships/slide" Target="/ppt/slides/slide20.xml" Id="R25c8a24a0ff84ae9" /><Relationship Type="http://schemas.openxmlformats.org/officeDocument/2006/relationships/slide" Target="/ppt/slides/slide21.xml" Id="R9b1d78a11033431d" /><Relationship Type="http://schemas.openxmlformats.org/officeDocument/2006/relationships/slide" Target="/ppt/slides/slide22.xml" Id="R5c153437b5ed44b7" /><Relationship Type="http://schemas.openxmlformats.org/officeDocument/2006/relationships/slide" Target="/ppt/slides/slide23.xml" Id="R1c59593da7a54ffb" /><Relationship Type="http://schemas.openxmlformats.org/officeDocument/2006/relationships/slide" Target="/ppt/slides/slide24.xml" Id="R4158115f816a45a8" /><Relationship Type="http://schemas.openxmlformats.org/officeDocument/2006/relationships/slide" Target="/ppt/slides/slide25.xml" Id="R0d21720c725a4cdf" /><Relationship Type="http://schemas.openxmlformats.org/officeDocument/2006/relationships/slide" Target="/ppt/slides/slide26.xml" Id="R7882be053028485f" /><Relationship Type="http://schemas.openxmlformats.org/officeDocument/2006/relationships/slide" Target="/ppt/slides/slide27.xml" Id="R5137207ad9554b8b" /><Relationship Type="http://schemas.openxmlformats.org/officeDocument/2006/relationships/slide" Target="/ppt/slides/slide28.xml" Id="Rdd3d31d7817b4bba" /><Relationship Type="http://schemas.openxmlformats.org/officeDocument/2006/relationships/slide" Target="/ppt/slides/slide29.xml" Id="R32f691098aa842e0" /><Relationship Type="http://schemas.openxmlformats.org/officeDocument/2006/relationships/slide" Target="/ppt/slides/slide30.xml" Id="R4533afcbc13a40fe" /><Relationship Type="http://schemas.openxmlformats.org/officeDocument/2006/relationships/slide" Target="/ppt/slides/slide31.xml" Id="R079879276e7f4032" /><Relationship Type="http://schemas.openxmlformats.org/officeDocument/2006/relationships/slide" Target="/ppt/slides/slide32.xml" Id="Rc8c193fd53e24d28" /><Relationship Type="http://schemas.openxmlformats.org/officeDocument/2006/relationships/slide" Target="/ppt/slides/slide33.xml" Id="R4a26d59784fd4cd3" /><Relationship Type="http://schemas.openxmlformats.org/officeDocument/2006/relationships/slide" Target="/ppt/slides/slide34.xml" Id="R59bc8c4afe544bba" /><Relationship Type="http://schemas.openxmlformats.org/officeDocument/2006/relationships/slide" Target="/ppt/slides/slide35.xml" Id="Reaa67d3ed5df4fd1" /><Relationship Type="http://schemas.openxmlformats.org/officeDocument/2006/relationships/slide" Target="/ppt/slides/slide36.xml" Id="R07c6c41d92c64943" /><Relationship Type="http://schemas.openxmlformats.org/officeDocument/2006/relationships/slide" Target="/ppt/slides/slide37.xml" Id="R1215123b14dd40c3" /><Relationship Type="http://schemas.openxmlformats.org/officeDocument/2006/relationships/slide" Target="/ppt/slides/slide38.xml" Id="Re3c0ff1364f849c5" /><Relationship Type="http://schemas.openxmlformats.org/officeDocument/2006/relationships/slide" Target="/ppt/slides/slide39.xml" Id="R3aa5fd22e43443ad" /><Relationship Type="http://schemas.openxmlformats.org/officeDocument/2006/relationships/slide" Target="/ppt/slides/slide40.xml" Id="R5d0c22e3826946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f4c527e75946e6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Alibaba PuHuiTi 3.0 55 Regular"/>
        <a:ea typeface="Alibaba PuHuiTi 3.0 55 Regular"/>
        <a:cs typeface="Alibaba PuHuiTi 3.0 55 Regular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2aaa4052240c3" /><Relationship Type="http://schemas.openxmlformats.org/officeDocument/2006/relationships/notesMaster" Target="/ppt/notesMasters/notesMaster1.xml" Id="Rf08220eedc1e4e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c62804d2a840b6" /><Relationship Type="http://schemas.openxmlformats.org/officeDocument/2006/relationships/notesMaster" Target="/ppt/notesMasters/notesMaster1.xml" Id="R5747016bc15148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c571e78375441c" /><Relationship Type="http://schemas.openxmlformats.org/officeDocument/2006/relationships/notesMaster" Target="/ppt/notesMasters/notesMaster1.xml" Id="Rbea2fc7da2c34a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7d6081f6ef4840" /><Relationship Type="http://schemas.openxmlformats.org/officeDocument/2006/relationships/notesMaster" Target="/ppt/notesMasters/notesMaster1.xml" Id="R07e091ae5a9048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3cc368dc864608" /><Relationship Type="http://schemas.openxmlformats.org/officeDocument/2006/relationships/notesMaster" Target="/ppt/notesMasters/notesMaster1.xml" Id="R58f10404cee248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d80989a6b3479d" /><Relationship Type="http://schemas.openxmlformats.org/officeDocument/2006/relationships/notesMaster" Target="/ppt/notesMasters/notesMaster1.xml" Id="R51c83bb5d1a54f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4b63a1427548b0" /><Relationship Type="http://schemas.openxmlformats.org/officeDocument/2006/relationships/notesMaster" Target="/ppt/notesMasters/notesMaster1.xml" Id="Rac31caa1e88144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3d7ace3cc041d8" /><Relationship Type="http://schemas.openxmlformats.org/officeDocument/2006/relationships/notesMaster" Target="/ppt/notesMasters/notesMaster1.xml" Id="Rd5fc57b548364d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605d6e122d4b36" /><Relationship Type="http://schemas.openxmlformats.org/officeDocument/2006/relationships/notesMaster" Target="/ppt/notesMasters/notesMaster1.xml" Id="Rbf1926df2f184a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55bfc6d8c948d4" /><Relationship Type="http://schemas.openxmlformats.org/officeDocument/2006/relationships/notesMaster" Target="/ppt/notesMasters/notesMaster1.xml" Id="R343bb1f36fae46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7d5a545af5438f" /><Relationship Type="http://schemas.openxmlformats.org/officeDocument/2006/relationships/notesMaster" Target="/ppt/notesMasters/notesMaster1.xml" Id="R3e30dbe8aa3b4c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5dd3ca821f44e0" /><Relationship Type="http://schemas.openxmlformats.org/officeDocument/2006/relationships/notesMaster" Target="/ppt/notesMasters/notesMaster1.xml" Id="R3906ab6096e742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b2c291d9e749b6" /><Relationship Type="http://schemas.openxmlformats.org/officeDocument/2006/relationships/notesMaster" Target="/ppt/notesMasters/notesMaster1.xml" Id="Ra5e3c47cafaf4f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dfc1b76def4013" /><Relationship Type="http://schemas.openxmlformats.org/officeDocument/2006/relationships/notesMaster" Target="/ppt/notesMasters/notesMaster1.xml" Id="R9243f710caf749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012a6e7589471a" /><Relationship Type="http://schemas.openxmlformats.org/officeDocument/2006/relationships/notesMaster" Target="/ppt/notesMasters/notesMaster1.xml" Id="Rcd84ec452b4f42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e8e878d2094669" /><Relationship Type="http://schemas.openxmlformats.org/officeDocument/2006/relationships/notesMaster" Target="/ppt/notesMasters/notesMaster1.xml" Id="R92640584ecae473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0d5b018aad4fed" /><Relationship Type="http://schemas.openxmlformats.org/officeDocument/2006/relationships/notesMaster" Target="/ppt/notesMasters/notesMaster1.xml" Id="R30f3f0b5f0734d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e8d2020f7b4706" /><Relationship Type="http://schemas.openxmlformats.org/officeDocument/2006/relationships/notesMaster" Target="/ppt/notesMasters/notesMaster1.xml" Id="R567ea62aff6f4e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03dfa67d49f47f2" /><Relationship Type="http://schemas.openxmlformats.org/officeDocument/2006/relationships/notesMaster" Target="/ppt/notesMasters/notesMaster1.xml" Id="R4de5008ffd4c41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06a9000a1b42ab" /><Relationship Type="http://schemas.openxmlformats.org/officeDocument/2006/relationships/notesMaster" Target="/ppt/notesMasters/notesMaster1.xml" Id="Rc758c038a57944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95c73252294afe" /><Relationship Type="http://schemas.openxmlformats.org/officeDocument/2006/relationships/notesMaster" Target="/ppt/notesMasters/notesMaster1.xml" Id="Re6fbe1f1f79a47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f16b28e87c94b75" /><Relationship Type="http://schemas.openxmlformats.org/officeDocument/2006/relationships/notesMaster" Target="/ppt/notesMasters/notesMaster1.xml" Id="R3d1a0bd128cf497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1ba69a09474fcd" /><Relationship Type="http://schemas.openxmlformats.org/officeDocument/2006/relationships/notesMaster" Target="/ppt/notesMasters/notesMaster1.xml" Id="Rd525338135f44e5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94ed93151824364" /><Relationship Type="http://schemas.openxmlformats.org/officeDocument/2006/relationships/notesMaster" Target="/ppt/notesMasters/notesMaster1.xml" Id="Rfc73efe83443464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7237070e8eb467d" /><Relationship Type="http://schemas.openxmlformats.org/officeDocument/2006/relationships/notesMaster" Target="/ppt/notesMasters/notesMaster1.xml" Id="Rc6a03194b6b8475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ef927d75d49456e" /><Relationship Type="http://schemas.openxmlformats.org/officeDocument/2006/relationships/notesMaster" Target="/ppt/notesMasters/notesMaster1.xml" Id="R9a4719b91d6d418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442bc13b5c24d40" /><Relationship Type="http://schemas.openxmlformats.org/officeDocument/2006/relationships/notesMaster" Target="/ppt/notesMasters/notesMaster1.xml" Id="R9e898b5fa7844ad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6ab0d3d637f4fd2" /><Relationship Type="http://schemas.openxmlformats.org/officeDocument/2006/relationships/notesMaster" Target="/ppt/notesMasters/notesMaster1.xml" Id="R3f7f82fc8ca34eb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fea7292e8824337" /><Relationship Type="http://schemas.openxmlformats.org/officeDocument/2006/relationships/notesMaster" Target="/ppt/notesMasters/notesMaster1.xml" Id="R85242eb610cc419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913d8c503ef42b4" /><Relationship Type="http://schemas.openxmlformats.org/officeDocument/2006/relationships/notesMaster" Target="/ppt/notesMasters/notesMaster1.xml" Id="Re51b07c5e26d4d6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664c8b61d846ef" /><Relationship Type="http://schemas.openxmlformats.org/officeDocument/2006/relationships/notesMaster" Target="/ppt/notesMasters/notesMaster1.xml" Id="R3933dd5162ec44b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3ebfac236a34b6f" /><Relationship Type="http://schemas.openxmlformats.org/officeDocument/2006/relationships/notesMaster" Target="/ppt/notesMasters/notesMaster1.xml" Id="Rdcf8a0fb4f79453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7ccf05d2af648f7" /><Relationship Type="http://schemas.openxmlformats.org/officeDocument/2006/relationships/notesMaster" Target="/ppt/notesMasters/notesMaster1.xml" Id="R9ab3722373d94c3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76581875fea48d8" /><Relationship Type="http://schemas.openxmlformats.org/officeDocument/2006/relationships/notesMaster" Target="/ppt/notesMasters/notesMaster1.xml" Id="R986e4b3e3691471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517f30356ef4e10" /><Relationship Type="http://schemas.openxmlformats.org/officeDocument/2006/relationships/notesMaster" Target="/ppt/notesMasters/notesMaster1.xml" Id="Rf9cefb2d1956409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e871237569849b8" /><Relationship Type="http://schemas.openxmlformats.org/officeDocument/2006/relationships/notesMaster" Target="/ppt/notesMasters/notesMaster1.xml" Id="R0c3a0e42f58a4d3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915f197d5694ac2" /><Relationship Type="http://schemas.openxmlformats.org/officeDocument/2006/relationships/notesMaster" Target="/ppt/notesMasters/notesMaster1.xml" Id="R0a6d58df2678477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b6c644201f64170" /><Relationship Type="http://schemas.openxmlformats.org/officeDocument/2006/relationships/notesMaster" Target="/ppt/notesMasters/notesMaster1.xml" Id="R67b08fe3cc7541a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459d2753be14716" /><Relationship Type="http://schemas.openxmlformats.org/officeDocument/2006/relationships/notesMaster" Target="/ppt/notesMasters/notesMaster1.xml" Id="R0aad0579335e484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c1c222e0c6947f4" /><Relationship Type="http://schemas.openxmlformats.org/officeDocument/2006/relationships/notesMaster" Target="/ppt/notesMasters/notesMaster1.xml" Id="R4bcc3f2300c0478b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[页面目的] 从图像数字化迁移到音频数字化。</a:t>
            </a:r>
          </a:p>
          <a:p>
            <a:r>
              <a:t>[教师逐字稿] 上节课我们用有限位置和有限颜色记录熊猫。今天这段音乐没有看得见的像素，要找出记录它的规则。先听同一段声音的两个版本，保留你的猜测。</a:t>
            </a:r>
          </a:p>
          <a:p>
            <a:r>
              <a:t>[课堂条件] 45分钟；教师Windows/WPS/JupyterLab演示，学生纸笔讨论。音频已离线预制，播放前检查音量。</a:t>
            </a:r>
          </a:p>
          <a:p>
            <a:r>
              <a:t>[来源] 用户指定熊猫v3课件仅作教学组织参考；音乐为用户提供《逆战》45–51秒片段。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同一段音乐，为什么大小不同？</a:t>
            </a:r>
          </a:p>
          <a:p>
            <a:r>
              <a:t>[内部编号] Q1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上节课，一只熊猫变成了像素和码字。今天先看两份真实文件：都六秒，都没有做音频压缩，大小却差很多。先听A，再听B。听出了区别或暂时没听出，都可以提出猜测。什么记录参数可能不同？我先把两条猜测留在这里，等会儿读实际文件来核对。</a:t>
            </a:r>
          </a:p>
          <a:p>
            <a:r>
              <a:t>[认知起点] 已知道图像分辨率、位深度会影响像素数据量。</a:t>
            </a:r>
          </a:p>
          <a:p>
            <a:r>
              <a:t>[认知困惑] 两个实际未压缩文件都能播出同一段6秒音乐，却分别为529,244B和96,044B。听感不能单独说明为什么大小不同；不先展示采样率、位数或公式。</a:t>
            </a:r>
          </a:p>
          <a:p>
            <a:r>
              <a:t>[学生任务] 先看大小、听A/B各6秒，再口头提出一个可检验的解释，教师在板书角落保留两条猜测，Q17逐条核对；不要求听出差异才能参与。</a:t>
            </a:r>
          </a:p>
          <a:p>
            <a:r>
              <a:t>[预期学生反应] “一个被压缩了”“音质不一样”“记录得更详细”。压缩可以影响别的文件，但这两份已给定未做音频压缩，不能用压缩差异解释；其余猜测暂不判定，等待参数证据。</a:t>
            </a:r>
          </a:p>
          <a:p>
            <a:r>
              <a:t>[追问问题] 同样是6秒，电脑在这6秒中记录了多少个数？</a:t>
            </a:r>
          </a:p>
          <a:p>
            <a:r>
              <a:t>[Demo操作] 开课播放`music-44100-16-mono.wav`和`music-8000-16-mono.wav`，输出仅标A/B，不给参数标签；文件大小由实际文件读取，投影题目页已给出。课前隐藏代码和源文件名。若有学生追问原M4A，说明“这两份是从同一段已解码数据做出的未压缩文件，今天比较它们”，不把解码说成恢复压缩损失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同一段音乐，为什么大小不同？</a:t>
            </a:r>
          </a:p>
          <a:p>
            <a:r>
              <a:t>[内部编号] Q1 揭示页</a:t>
            </a:r>
          </a:p>
          <a:p>
            <a:r>
              <a:t>[教师逐字稿] 上节课，一只熊猫变成了像素和码字。今天先看两份真实文件：都六秒，都没有做音频压缩，大小却差很多。先听A，再听B。听出了区别或暂时没听出，都可以提出猜测。什么记录参数可能不同？我先把两条猜测留在这里，等会儿读实际文件来核对。</a:t>
            </a:r>
          </a:p>
          <a:p>
            <a:r>
              <a:t>[形成结论] 音乐数字化需要记录变化；时长相同不代表数据量相同。</a:t>
            </a:r>
          </a:p>
          <a:p>
            <a:r>
              <a:t>[追问问题] 同样是6秒，电脑在这6秒中记录了多少个数？</a:t>
            </a:r>
          </a:p>
          <a:p>
            <a:r>
              <a:t>[预期学生反应] “一个被压缩了”“音质不一样”“记录得更详细”。压缩可以影响别的文件，但这两份已给定未做音频压缩，不能用压缩差异解释；其余猜测暂不判定，等待参数证据。</a:t>
            </a:r>
          </a:p>
          <a:p>
            <a:r>
              <a:t>[Demo操作] 开课播放`music-44100-16-mono.wav`和`music-8000-16-mono.wav`，输出仅标A/B，不给参数标签；文件大小由实际文件读取，投影题目页已给出。课前隐藏代码和源文件名。若有学生追问原M4A，说明“这两份是从同一段已解码数据做出的未压缩文件，今天比较它们”，不把解码说成恢复压缩损失。</a:t>
            </a:r>
          </a:p>
          <a:p>
            <a:r>
              <a:t>[下一问] 不可见的声音，怎样显示出可记录的变化？</a:t>
            </a:r>
          </a:p>
          <a:p>
            <a:r>
              <a:t>[技术注解] 音乐数字化需要记录变化；时长相同不代表数据量相同。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Q1及C3–C5。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声音怎样变成一条波形？</a:t>
            </a:r>
          </a:p>
          <a:p>
            <a:r>
              <a:t>[内部编号] Q2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先看这一条曲线。往右是时间过去，不是声音在教室里走过的距离。麦克风把声压变化转成电信号，上下表示信号相对基准的数值。谁能指一个零线下方的时刻？负值表示低于基准，不是负的音量，也不是物体朝下移动。这里画的是归一化模型，不是原音乐的实测波形。</a:t>
            </a:r>
          </a:p>
          <a:p>
            <a:r>
              <a:t>[认知起点] 学生知道图像按空间位置记录；不预设上一课已讲过声音的时间波形。</a:t>
            </a:r>
          </a:p>
          <a:p>
            <a:r>
              <a:t>[认知困惑] 音乐没有像素格，电脑究竟记录哪个物理量的变化？</a:t>
            </a:r>
          </a:p>
          <a:p>
            <a:r>
              <a:t>[学生任务] 看当前页的一条示意波形，指认横纵轴、零基准线以及一个正值／负值时刻。只读这条曲线，不要求比较尚未提供的多条波形。</a:t>
            </a:r>
          </a:p>
          <a:p>
            <a:r>
              <a:t>[预期学生反应] 横轴时间、纵轴音量。把“音量”修正为信号幅度；感知响度不直接等于一个样本的高度。</a:t>
            </a:r>
          </a:p>
          <a:p>
            <a:r>
              <a:t>[追问问题] 曲线在零线下方时，是否表示“负的音量”？横坐标不同，记录的是不同位置，还是不同时刻？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声音怎样变成一条波形？</a:t>
            </a:r>
          </a:p>
          <a:p>
            <a:r>
              <a:t>[内部编号] Q2 揭示页</a:t>
            </a:r>
          </a:p>
          <a:p>
            <a:r>
              <a:t>[教师逐字稿] 先看这一条曲线。往右是时间过去，不是声音在教室里走过的距离。麦克风把声压变化转成电信号，上下表示信号相对基准的数值。谁能指一个零线下方的时刻？负值表示低于基准，不是负的音量，也不是物体朝下移动。这里画的是归一化模型，不是原音乐的实测波形。</a:t>
            </a:r>
          </a:p>
          <a:p>
            <a:r>
              <a:t>[形成结论] 音频可以用随时间变化的信号表示。图上画的是模型，不是空气中可见的一条线。</a:t>
            </a:r>
          </a:p>
          <a:p>
            <a:r>
              <a:t>[追问问题] 曲线在零线下方时，是否表示“负的音量”？横坐标不同，记录的是不同位置，还是不同时刻？</a:t>
            </a:r>
          </a:p>
          <a:p>
            <a:r>
              <a:t>[预期学生反应] 横轴时间、纵轴音量。把“音量”修正为信号幅度；感知响度不直接等于一个样本的高度。</a:t>
            </a:r>
          </a:p>
          <a:p>
            <a:r>
              <a:t>[Demo操作] 使用课件证据，无需现场运行。</a:t>
            </a:r>
          </a:p>
          <a:p>
            <a:r>
              <a:t>[下一问] 连续曲线有太多时刻，文件怎样记录？</a:t>
            </a:r>
          </a:p>
          <a:p>
            <a:r>
              <a:t>[技术注解] 音频可以用随时间变化的信号表示。图上画的是模型，不是空气中可见的一条线。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Q2及C3–C5。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怎样留下波形随时间的变化？</a:t>
            </a:r>
          </a:p>
          <a:p>
            <a:r>
              <a:t>[内部编号] Q3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图像课挑位置，声音课先挑时刻。先圈几个时刻，让同桌说说怎样知道它们各在什么时候。如果每次间隔相同，就不必逐点交代时间，只要约定开始时间和每秒读取次数。再看红点：每个点留下当时的幅度，紫线是比较用的模型。点之间的整条曲线没有逐点存进去；现在先决定什么时候读，不急着决定保留几位数。</a:t>
            </a:r>
          </a:p>
          <a:p>
            <a:r>
              <a:t>[认知起点] 已知道图像在有限空间位置取样。</a:t>
            </a:r>
          </a:p>
          <a:p>
            <a:r>
              <a:t>[认知困惑] 连续一秒里有无限多时刻，不能逐个写进有限文件。</a:t>
            </a:r>
          </a:p>
          <a:p>
            <a:r>
              <a:t>[学生任务] 先在活动单圈几个准备读取的时刻，不提前规定必须等间隔；同桌说清怎样知道这些时刻。教师比较任意挑点与等间隔读点的记录规则，再看D1的12点，时间允许再看24点。</a:t>
            </a:r>
          </a:p>
          <a:p>
            <a:r>
              <a:t>[预期学生反应] 画曲线、截取点、每隔一段时间记录。追问画曲线本身也要数据，从记录少量值建立采样模型。</a:t>
            </a:r>
          </a:p>
          <a:p>
            <a:r>
              <a:t>[追问问题] 随意挑点，除了幅度还要交代什么？等间隔读点时，可否只约定开始时刻和采样率？两个时刻之间的全部变化都直接写进去了吗？</a:t>
            </a:r>
          </a:p>
          <a:p>
            <a:r>
              <a:t>[Demo操作] D1：Notebook先运行`plot_sampling(12, False)`；预测后依次显示`plot_sampling(12, True)`、`plot_sampling(24, True)`，比较同一秒点数。第二图为时间允许时的对照，超时停在12点。PPTX提问页仅曲线，揭示页复制后增加点；逐个点动画在备用HTML中，不是必须切换的第五个实验。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怎样留下波形随时间的变化？</a:t>
            </a:r>
          </a:p>
          <a:p>
            <a:r>
              <a:t>[内部编号] Q3 揭示页</a:t>
            </a:r>
          </a:p>
          <a:p>
            <a:r>
              <a:t>[教师逐字稿] 图像课挑位置，声音课先挑时刻。先圈几个时刻，让同桌说说怎样知道它们各在什么时候。如果每次间隔相同，就不必逐点交代时间，只要约定开始时间和每秒读取次数。再看红点：每个点留下当时的幅度，紫线是比较用的模型。点之间的整条曲线没有逐点存进去；现在先决定什么时候读，不急着决定保留几位数。</a:t>
            </a:r>
          </a:p>
          <a:p>
            <a:r>
              <a:t>[形成结论] 采样在离散时刻取得幅度样本。</a:t>
            </a:r>
          </a:p>
          <a:p>
            <a:r>
              <a:t>[追问问题] 随意挑点，除了幅度还要交代什么？等间隔读点时，可否只约定开始时刻和采样率？两个时刻之间的全部变化都直接写进去了吗？</a:t>
            </a:r>
          </a:p>
          <a:p>
            <a:r>
              <a:t>[预期学生反应] 画曲线、截取点、每隔一段时间记录。追问画曲线本身也要数据，从记录少量值建立采样模型。</a:t>
            </a:r>
          </a:p>
          <a:p>
            <a:r>
              <a:t>[Demo操作] D1：Notebook先运行`plot_sampling(12, False)`；预测后依次显示`plot_sampling(12, True)`、`plot_sampling(24, True)`，比较同一秒点数。第二图为时间允许时的对照，超时停在12点。PPTX提问页仅曲线，揭示页复制后增加点；逐个点动画在备用HTML中，不是必须切换的第五个实验。</a:t>
            </a:r>
          </a:p>
          <a:p>
            <a:r>
              <a:t>[下一问] 怎样用一个参数描述取样快慢？</a:t>
            </a:r>
          </a:p>
          <a:p>
            <a:r>
              <a:t>[技术注解] 采样在离散时刻取得幅度样本。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Q3及C3–C5。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每秒采样8000次，是什么意思？</a:t>
            </a:r>
          </a:p>
          <a:p>
            <a:r>
              <a:t>[内部编号] Q4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每秒读八千次，这个读数的频率叫采样率。请注意单位：八千赫兹，也可以写八千次每秒。相邻两次相隔多少时间？一秒分成八千份。声音自身的频率是在数振动，采样率是在数记录，两件事要分开。</a:t>
            </a:r>
          </a:p>
          <a:p>
            <a:r>
              <a:t>[认知起点] 知道等间隔取样，能读时间轴。</a:t>
            </a:r>
          </a:p>
          <a:p>
            <a:r>
              <a:t>[认知困惑] “8kHz”听起来像声音的音调，但它描述的其实是记录动作。</a:t>
            </a:r>
          </a:p>
          <a:p>
            <a:r>
              <a:t>[学生任务] 口算单位，比较同一秒12与24个点。</a:t>
            </a:r>
          </a:p>
          <a:p>
            <a:r>
              <a:t>[预期学生反应] 8000Hz；0.000125秒。误答“声音是8000Hz”时回到记录动作。</a:t>
            </a:r>
          </a:p>
          <a:p>
            <a:r>
              <a:t>[追问问题] 声音本身6000Hz、记录采样率24000Hz，两个数分别数什么？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每秒采样8000次，是什么意思？</a:t>
            </a:r>
          </a:p>
          <a:p>
            <a:r>
              <a:t>[内部编号] Q4 揭示页</a:t>
            </a:r>
          </a:p>
          <a:p>
            <a:r>
              <a:t>[教师逐字稿] 每秒读八千次，这个读数的频率叫采样率。请注意单位：八千赫兹，也可以写八千次每秒。相邻两次相隔多少时间？一秒分成八千份。声音自身的频率是在数振动，采样率是在数记录，两件事要分开。</a:t>
            </a:r>
          </a:p>
          <a:p>
            <a:r>
              <a:t>[形成结论] `fs`确定样本的时间间隔；kHz按1000换算。</a:t>
            </a:r>
          </a:p>
          <a:p>
            <a:r>
              <a:t>[追问问题] 声音本身6000Hz、记录采样率24000Hz，两个数分别数什么？</a:t>
            </a:r>
          </a:p>
          <a:p>
            <a:r>
              <a:t>[预期学生反应] 8000Hz；0.000125秒。误答“声音是8000Hz”时回到记录动作。</a:t>
            </a:r>
          </a:p>
          <a:p>
            <a:r>
              <a:t>[Demo操作] 使用课件证据，无需现场运行。</a:t>
            </a:r>
          </a:p>
          <a:p>
            <a:r>
              <a:t>[下一问] 时刻选好了，测到的幅度能保留任意精度吗？</a:t>
            </a:r>
          </a:p>
          <a:p>
            <a:r>
              <a:t>[技术注解] `fs`确定样本的时间间隔；kHz按1000换算。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Q4及C3–C5。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样本值不在可选等级上，怎么办？</a:t>
            </a:r>
          </a:p>
          <a:p>
            <a:r>
              <a:t>[内部编号] Q5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四个值都读到了，可是现在只允许四个等级。请先各自选最接近的一档。哪一项完全没有误差？都没有。图像课用有限颜色近似颜色，这里用有限幅度等级近似幅度，叫量化。误差来自这一档的近似，不是时刻有没有选好。</a:t>
            </a:r>
          </a:p>
          <a:p>
            <a:r>
              <a:t>[认知起点] 图像用有限可选颜色近似原色；本页给出具体等级。</a:t>
            </a:r>
          </a:p>
          <a:p>
            <a:r>
              <a:t>[认知困惑] 样本值大多不等于允许保存的代表值。</a:t>
            </a:r>
          </a:p>
          <a:p>
            <a:r>
              <a:t>[学生任务] 个人填四个近似值，同桌比较选择依据。不要提前显示红色误差线或答案箭头。</a:t>
            </a:r>
          </a:p>
          <a:p>
            <a:r>
              <a:t>[预期学生反应] 选择最近等级；可能想原样写−0.62。提醒今天只有四档选择。</a:t>
            </a:r>
          </a:p>
          <a:p>
            <a:r>
              <a:t>[追问问题] −0.62与−0.75差了多少？把采样时刻加密能直接消除这次近似误差吗？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样本值不在可选等级上，怎么办？</a:t>
            </a:r>
          </a:p>
          <a:p>
            <a:r>
              <a:t>[内部编号] Q5 揭示页</a:t>
            </a:r>
          </a:p>
          <a:p>
            <a:r>
              <a:t>[教师逐字稿] 这四个值都读到了，可是现在只允许四个等级。请先各自选最接近的一档。哪一项完全没有误差？都没有。图像课用有限颜色近似颜色，这里用有限幅度等级近似幅度，叫量化。误差来自这一档的近似，不是时刻有没有选好。</a:t>
            </a:r>
          </a:p>
          <a:p>
            <a:r>
              <a:t>[形成结论] 采样与量化解决不同限制；量化通常带来误差。</a:t>
            </a:r>
          </a:p>
          <a:p>
            <a:r>
              <a:t>[追问问题] −0.62与−0.75差了多少？把采样时刻加密能直接消除这次近似误差吗？</a:t>
            </a:r>
          </a:p>
          <a:p>
            <a:r>
              <a:t>[预期学生反应] 选择最近等级；可能想原样写−0.62。提醒今天只有四档选择。</a:t>
            </a:r>
          </a:p>
          <a:p>
            <a:r>
              <a:t>[Demo操作] 使用课件证据，无需现场运行。</a:t>
            </a:r>
          </a:p>
          <a:p>
            <a:r>
              <a:t>[下一问] 四档已经选定，怎样写成0和1？</a:t>
            </a:r>
          </a:p>
          <a:p>
            <a:r>
              <a:t>[技术注解] 采样与量化解决不同限制；量化通常带来误差。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Q5及C3–C5。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四个量化等级，怎样写成码字？</a:t>
            </a:r>
          </a:p>
          <a:p>
            <a:r>
              <a:t>[内部编号] Q6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我们把最低的一档叫零，最高的一档叫三。每个编号固定占几位，才能区分四种状态？两位。请写满两位，不要把零写成一位。写成码字这一步叫编码。这里约定的是课堂等级编号，真实PCM还会约定整数的表示和字节顺序。</a:t>
            </a:r>
          </a:p>
          <a:p>
            <a:r>
              <a:t>[认知起点] 已知`2ⁿ`种状态，Q5已得到四个等级。</a:t>
            </a:r>
          </a:p>
          <a:p>
            <a:r>
              <a:t>[认知困惑] “都用二进制”仍要约定编号和固定码长。</a:t>
            </a:r>
          </a:p>
          <a:p>
            <a:r>
              <a:t>[学生任务] 在Q5四行表格的码字栏填写四个等长码字；同桌互读，从码字查回代表值，核对是否回到量化后的值。</a:t>
            </a:r>
          </a:p>
          <a:p>
            <a:r>
              <a:t>[预期学生反应] 2bit；误把0写成单个0时要求四个码字等长。</a:t>
            </a:r>
          </a:p>
          <a:p>
            <a:r>
              <a:t>[追问问题] 把编号3保存为“11”，这个动作有没有再次决定采样时刻？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四个量化等级，怎样写成码字？</a:t>
            </a:r>
          </a:p>
          <a:p>
            <a:r>
              <a:t>[内部编号] Q6 揭示页</a:t>
            </a:r>
          </a:p>
          <a:p>
            <a:r>
              <a:t>[教师逐字稿] 我们把最低的一档叫零，最高的一档叫三。每个编号固定占几位，才能区分四种状态？两位。请写满两位，不要把零写成一位。写成码字这一步叫编码。这里约定的是课堂等级编号，真实PCM还会约定整数的表示和字节顺序。</a:t>
            </a:r>
          </a:p>
          <a:p>
            <a:r>
              <a:t>[形成结论] 采样取值，量化近似，编码写码字；本课编码不等于压缩。</a:t>
            </a:r>
          </a:p>
          <a:p>
            <a:r>
              <a:t>[追问问题] 把编号3保存为“11”，这个动作有没有再次决定采样时刻？</a:t>
            </a:r>
          </a:p>
          <a:p>
            <a:r>
              <a:t>[预期学生反应] 2bit；误把0写成单个0时要求四个码字等长。</a:t>
            </a:r>
          </a:p>
          <a:p>
            <a:r>
              <a:t>[Demo操作] 使用课件证据，无需现场运行。</a:t>
            </a:r>
          </a:p>
          <a:p>
            <a:r>
              <a:t>[下一问] 只有码字，对方就知道多久播放一次了吗？</a:t>
            </a:r>
          </a:p>
          <a:p>
            <a:r>
              <a:t>[技术注解] 采样取值，量化近似，编码写码字；本课编码不等于压缩。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Q6及C3–C5。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只有码字，就能按原速播放吗？</a:t>
            </a:r>
          </a:p>
          <a:p>
            <a:r>
              <a:t>[内部编号] Q7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码表已经给了，编号也读得懂，可是每隔多久读一个？如果每秒四个，这四个样本对应一秒；每秒八个，就对应半秒。数据要连着解释规则一起保存。后面正常的采样率对照，会同时正确记录新采样率，播放时长保持六秒，不是给音乐加速。</a:t>
            </a:r>
          </a:p>
          <a:p>
            <a:r>
              <a:t>[认知起点] 图像解码需要二维尺寸和读取顺序；已知码字含量化等级。</a:t>
            </a:r>
          </a:p>
          <a:p>
            <a:r>
              <a:t>[认知困惑] 同一串码字按不同速度读，可以有不同时间意义。</a:t>
            </a:r>
          </a:p>
          <a:p>
            <a:r>
              <a:t>[学生任务] 短口答还缺什么，用“样本数÷每秒样本数”解释两种时长；画两条时间轴放在课后拓展，核心课堂不再增加一次纸笔任务。</a:t>
            </a:r>
          </a:p>
          <a:p>
            <a:r>
              <a:t>[预期学生反应] 需要播放采样率。4Hz时样本时刻为0、0.25、0.50、0.75秒，文件播放时长是4÷4=1秒；最后样本的时间戳不等于播放时长。8Hz同理为0.5秒，按半开区间计数。</a:t>
            </a:r>
          </a:p>
          <a:p>
            <a:r>
              <a:t>[追问问题] 把低采样率文件正确播放，与把同一批样本用更高的播放采样率播放，一样吗？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只有码字，就能按原速播放吗？</a:t>
            </a:r>
          </a:p>
          <a:p>
            <a:r>
              <a:t>[内部编号] Q7 揭示页</a:t>
            </a:r>
          </a:p>
          <a:p>
            <a:r>
              <a:t>[教师逐字稿] 码表已经给了，编号也读得懂，可是每隔多久读一个？如果每秒四个，这四个样本对应一秒；每秒八个，就对应半秒。数据要连着解释规则一起保存。后面正常的采样率对照，会同时正确记录新采样率，播放时长保持六秒，不是给音乐加速。</a:t>
            </a:r>
          </a:p>
          <a:p>
            <a:r>
              <a:t>[形成结论] 样本序列与解释参数共同确定数字音频。</a:t>
            </a:r>
          </a:p>
          <a:p>
            <a:r>
              <a:t>[追问问题] 把低采样率文件正确播放，与把同一批样本用更高的播放采样率播放，一样吗？</a:t>
            </a:r>
          </a:p>
          <a:p>
            <a:r>
              <a:t>[预期学生反应] 需要播放采样率。4Hz时样本时刻为0、0.25、0.50、0.75秒，文件播放时长是4÷4=1秒；最后样本的时间戳不等于播放时长。8Hz同理为0.5秒，按半开区间计数。</a:t>
            </a:r>
          </a:p>
          <a:p>
            <a:r>
              <a:t>[Demo操作] 使用课件证据，无需现场运行。</a:t>
            </a:r>
          </a:p>
          <a:p>
            <a:r>
              <a:t>[下一问] 正确改变记录的采样率，能保留的内容会怎样？</a:t>
            </a:r>
          </a:p>
          <a:p>
            <a:r>
              <a:t>[技术注解] 样本序列与解释参数共同确定数字音频。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Q7及C3–C5。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只增加采样率，声音会怎样？</a:t>
            </a:r>
          </a:p>
          <a:p>
            <a:r>
              <a:t>[内部编号] Q8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现在比较采样率高低，位数、声道、时长不动。先猜音乐会不会加速，再听，仍是六秒。听感是这组例子的观察，不能据此推出所有声音的规律。这里给出本课使用的技术条件：带限信号要保留到最高频率，采样率须高于它的两倍；实际还要给滤波留余量。六千赫兹需要高于一万二的采样率，八千不够，所以正常降采样先把这段高频滤掉。若基准纯音也听不到，我们直接用条件判断，不拿静音当证明。</a:t>
            </a:r>
          </a:p>
          <a:p>
            <a:r>
              <a:t>[认知起点] 知道采样率、时间间隔；区分记录动作与声音振动。</a:t>
            </a:r>
          </a:p>
          <a:p>
            <a:r>
              <a:t>[认知困惑] 同样六秒，同样16bit，少一些样本可能漏掉快速变化。</a:t>
            </a:r>
          </a:p>
          <a:p>
            <a:r>
              <a:t>[学生任务] 先投票“变快／细节变化／完全相同”，再D2试听；用频率条件解释纯音例。</a:t>
            </a:r>
          </a:p>
          <a:p>
            <a:r>
              <a:t>[预期学生反应] 高频细节可能变少、变闷；也可能听不清差别。预测先保留，试听只观察这组转换结果，不用音乐听感证明采样定理。再应用揭示页给出的带限规则：8kHz不足以保留6kHz。</a:t>
            </a:r>
          </a:p>
          <a:p>
            <a:r>
              <a:t>[追问问题] 8kHz的半数是多少？6kHz与它相比怎样？</a:t>
            </a:r>
          </a:p>
          <a:p>
            <a:r>
              <a:t>[Demo操作] D2依次播放音乐44.1k和8k，各6秒；再播放`tone-6000-at24000.wav`与`tone-lowpass-at8000.wav`，各3秒。先确认基准可闻，保持同一音量。结果展示的是已执行低通的正确转换，不是“仅仅取点就会自动滤除高频”。混叠备用文件属于课后拓展，核心45分钟不追加播放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只增加采样率，声音会怎样？</a:t>
            </a:r>
          </a:p>
          <a:p>
            <a:r>
              <a:t>[内部编号] Q8 揭示页</a:t>
            </a:r>
          </a:p>
          <a:p>
            <a:r>
              <a:t>[教师逐字稿] 现在比较采样率高低，位数、声道、时长不动。先猜音乐会不会加速，再听，仍是六秒。听感是这组例子的观察，不能据此推出所有声音的规律。这里给出本课使用的技术条件：带限信号要保留到最高频率，采样率须高于它的两倍；实际还要给滤波留余量。六千赫兹需要高于一万二的采样率，八千不够，所以正常降采样先把这段高频滤掉。若基准纯音也听不到，我们直接用条件判断，不拿静音当证明。</a:t>
            </a:r>
          </a:p>
          <a:p>
            <a:r>
              <a:t>[形成结论] 带限条件下理想重建要求`fs &gt; 2fmax`；实际留滤波余量。采样率影响频率保留范围，不能只解释为折线更像原线。</a:t>
            </a:r>
          </a:p>
          <a:p>
            <a:r>
              <a:t>[追问问题] 8kHz的半数是多少？6kHz与它相比怎样？</a:t>
            </a:r>
          </a:p>
          <a:p>
            <a:r>
              <a:t>[预期学生反应] 高频细节可能变少、变闷；也可能听不清差别。预测先保留，试听只观察这组转换结果，不用音乐听感证明采样定理。再应用揭示页给出的带限规则：8kHz不足以保留6kHz。</a:t>
            </a:r>
          </a:p>
          <a:p>
            <a:r>
              <a:t>[Demo操作] D2依次播放音乐44.1k和8k，各6秒；再播放`tone-6000-at24000.wav`与`tone-lowpass-at8000.wav`，各3秒。先确认基准可闻，保持同一音量。结果展示的是已执行低通的正确转换，不是“仅仅取点就会自动滤除高频”。混叠备用文件属于课后拓展，核心45分钟不追加播放。</a:t>
            </a:r>
          </a:p>
          <a:p>
            <a:r>
              <a:t>[下一问] 达到需要的频率范围后，一直增加采样率一定听得出吗？</a:t>
            </a:r>
          </a:p>
          <a:p>
            <a:r>
              <a:t>[技术注解] 正常降采样先低通；纯音低通后消失不等于出现混叠。fs&gt;2fmax是带限理想条件，真实需滤波余量。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Q8及C3–C5。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采样率越高，听起来一定越好吗？</a:t>
            </a:r>
          </a:p>
          <a:p>
            <a:r>
              <a:t>[内部编号] Q9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这次题目给了一个重要条件：信号只有八千赫兹以下的成分，三万二已经足够。改成九万六会让数更多，但不能保证耳朵觉得更好。我们用的M4A本身已是压缩文件，转成更大的PCM WAV也不能恢复之前损失的信息。参数要和需求一起判断。</a:t>
            </a:r>
          </a:p>
          <a:p>
            <a:r>
              <a:t>[认知起点] Q8建立频率范围与采样率关系。</a:t>
            </a:r>
          </a:p>
          <a:p>
            <a:r>
              <a:t>[认知困惑] 把“有能力记录更高频率”泛化成“任何录音一定更好听”。</a:t>
            </a:r>
          </a:p>
          <a:p>
            <a:r>
              <a:t>[学生任务] 投票，给出条件化的解释，不组织耗时的32k／96k盲听。</a:t>
            </a:r>
          </a:p>
          <a:p>
            <a:r>
              <a:t>[预期学生反应] 不一定；“一定”常来自广告语言。允许对设备链路的追问但不扩展本课。</a:t>
            </a:r>
          </a:p>
          <a:p>
            <a:r>
              <a:t>[追问问题] 源文件已经丢掉的细节，单纯转换成更高采样率会自己回来吗？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采样率越高，听起来一定越好吗？</a:t>
            </a:r>
          </a:p>
          <a:p>
            <a:r>
              <a:t>[内部编号] Q9 揭示页</a:t>
            </a:r>
          </a:p>
          <a:p>
            <a:r>
              <a:t>[教师逐字稿] 这次题目给了一个重要条件：信号只有八千赫兹以下的成分，三万二已经足够。改成九万六会让数更多，但不能保证耳朵觉得更好。我们用的M4A本身已是压缩文件，转成更大的PCM WAV也不能恢复之前损失的信息。参数要和需求一起判断。</a:t>
            </a:r>
          </a:p>
          <a:p>
            <a:r>
              <a:t>[形成结论] 音质关系应带条件；更高采样率不保证可闻改进。</a:t>
            </a:r>
          </a:p>
          <a:p>
            <a:r>
              <a:t>[追问问题] 源文件已经丢掉的细节，单纯转换成更高采样率会自己回来吗？</a:t>
            </a:r>
          </a:p>
          <a:p>
            <a:r>
              <a:t>[预期学生反应] 不一定；“一定”常来自广告语言。允许对设备链路的追问但不扩展本课。</a:t>
            </a:r>
          </a:p>
          <a:p>
            <a:r>
              <a:t>[Demo操作] 使用课件证据，无需现场运行。</a:t>
            </a:r>
          </a:p>
          <a:p>
            <a:r>
              <a:t>[下一问] 保持时刻不变，再检查幅度近似的精度。</a:t>
            </a:r>
          </a:p>
          <a:p>
            <a:r>
              <a:t>[技术注解] 音质关系应带条件；更高采样率不保证可闻改进。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Q9及C3–C5。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采样时刻不变，怎样减小量化误差？</a:t>
            </a:r>
          </a:p>
          <a:p>
            <a:r>
              <a:t>[内部编号] Q10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次所有取样时刻都不动，只增加可选等级。每个样本与近似值之间的红线表示误差。四位时可以分十六档，误差范围缩小。再听同一段音乐：四位有效模型常能听出粗糙感。没有听出来也先看图。这里播放器装的是十六位WAV；四位说的是我们模拟的量化等级，稍后算文件大小要读真实存储位数。</a:t>
            </a:r>
          </a:p>
          <a:p>
            <a:r>
              <a:t>[认知起点] Q5已有具体误差，Q8只改变采样率。</a:t>
            </a:r>
          </a:p>
          <a:p>
            <a:r>
              <a:t>[认知困惑] 点数多不等于每个点近似得准，另一种误差需要独立处理。</a:t>
            </a:r>
          </a:p>
          <a:p>
            <a:r>
              <a:t>[学生任务] D3比较固定时刻的样本和代表值，指出红色误差段；试听4bit有效模型和基准。</a:t>
            </a:r>
          </a:p>
          <a:p>
            <a:r>
              <a:t>[预期学生反应] 4bit更细；可能说“点变多”。用同一时间轴、同样48个时刻证伪。</a:t>
            </a:r>
          </a:p>
          <a:p>
            <a:r>
              <a:t>[追问问题] 红线是在横向补时刻，还是纵向修近似？</a:t>
            </a:r>
          </a:p>
          <a:p>
            <a:r>
              <a:t>[Demo操作] D3：先`plot_quantization(2, False)`，讨论后`plot_quantization(2, True)`和`plot_quantization(4, True)`。听`music-22050-effective4-stored16-mono.wav`与`music-22050-16-mono.wav`。保持播放器和音箱音量一致。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采样时刻不变，怎样减小量化误差？</a:t>
            </a:r>
          </a:p>
          <a:p>
            <a:r>
              <a:t>[内部编号] Q10 揭示页</a:t>
            </a:r>
          </a:p>
          <a:p>
            <a:r>
              <a:t>[教师逐字稿] 这次所有取样时刻都不动，只增加可选等级。每个样本与近似值之间的红线表示误差。四位时可以分十六档，误差范围缩小。再听同一段音乐：四位有效模型常能听出粗糙感。没有听出来也先看图。这里播放器装的是十六位WAV；四位说的是我们模拟的量化等级，稍后算文件大小要读真实存储位数。</a:t>
            </a:r>
          </a:p>
          <a:p>
            <a:r>
              <a:t>[形成结论] 固定范围、均匀量化下位数增加会减小步长及最大近似误差；不声称每个特定样本的误差都严格单调下降。</a:t>
            </a:r>
          </a:p>
          <a:p>
            <a:r>
              <a:t>[追问问题] 红线是在横向补时刻，还是纵向修近似？</a:t>
            </a:r>
          </a:p>
          <a:p>
            <a:r>
              <a:t>[预期学生反应] 4bit更细；可能说“点变多”。用同一时间轴、同样48个时刻证伪。</a:t>
            </a:r>
          </a:p>
          <a:p>
            <a:r>
              <a:t>[Demo操作] D3：先`plot_quantization(2, False)`，讨论后`plot_quantization(2, True)`和`plot_quantization(4, True)`。听`music-22050-effective4-stored16-mono.wav`与`music-22050-16-mono.wav`。保持播放器和音箱音量一致。</a:t>
            </a:r>
          </a:p>
          <a:p>
            <a:r>
              <a:t>[下一问] 位数与等级究竟怎样对应？</a:t>
            </a:r>
          </a:p>
          <a:p>
            <a:r>
              <a:t>[技术注解] 有效2/4/8bit量化模型装在16bit PCM中，按真实文件位数计数。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Q10及C3–C5。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量化位数加倍，等级也只加倍吗？</a:t>
            </a:r>
          </a:p>
          <a:p>
            <a:r>
              <a:t>[内部编号] Q11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两位不是两档，四位也不是四档。每一位有零和一两种状态，组合起来是二的n次方。四位相对两位，位数加倍，档数从四变成十六。把“每样本占几位”与“可选多少等级”分开写。</a:t>
            </a:r>
          </a:p>
          <a:p>
            <a:r>
              <a:t>[认知起点] 学生知道二进制状态数，Q10有4级和16级。</a:t>
            </a:r>
          </a:p>
          <a:p>
            <a:r>
              <a:t>[认知困惑] 把位数增长误当成等级线性增长。</a:t>
            </a:r>
          </a:p>
          <a:p>
            <a:r>
              <a:t>[学生任务] 口算前三项，给16bit列指数式。</a:t>
            </a:r>
          </a:p>
          <a:p>
            <a:r>
              <a:t>[预期学生反应] 4、16、256、65536。不要说16bit是16档。</a:t>
            </a:r>
          </a:p>
          <a:p>
            <a:r>
              <a:t>[追问问题] 每增加1bit，码字数怎样变化？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量化位数加倍，等级也只加倍吗？</a:t>
            </a:r>
          </a:p>
          <a:p>
            <a:r>
              <a:t>[内部编号] Q11 揭示页</a:t>
            </a:r>
          </a:p>
          <a:p>
            <a:r>
              <a:t>[教师逐字稿] 两位不是两档，四位也不是四档。每一位有零和一两种状态，组合起来是二的n次方。四位相对两位，位数加倍，档数从四变成十六。把“每样本占几位”与“可选多少等级”分开写。</a:t>
            </a:r>
          </a:p>
          <a:p>
            <a:r>
              <a:t>[形成结论] 等级数由`2ⁿ`确定；位数也是每样本的存储成本之一。</a:t>
            </a:r>
          </a:p>
          <a:p>
            <a:r>
              <a:t>[追问问题] 每增加1bit，码字数怎样变化？</a:t>
            </a:r>
          </a:p>
          <a:p>
            <a:r>
              <a:t>[预期学生反应] 4、16、256、65536。不要说16bit是16档。</a:t>
            </a:r>
          </a:p>
          <a:p>
            <a:r>
              <a:t>[Demo操作] 使用课件证据，无需现场运行。</a:t>
            </a:r>
          </a:p>
          <a:p>
            <a:r>
              <a:t>[下一问] 回顾三步，每一步解决哪一项限制？</a:t>
            </a:r>
          </a:p>
          <a:p>
            <a:r>
              <a:t>[技术注解] 等级数由`2ⁿ`确定；位数也是每样本的存储成本之一。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Q11及C3–C5。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三步分别改变了什么？</a:t>
            </a:r>
          </a:p>
          <a:p>
            <a:r>
              <a:t>[内部编号] Q12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现在先不背定义，用刚才做过的动作说。挑时刻是采样，挑代表等级是量化，写码字是编码。采样和量化各自限制一种精度。把码字写得再长，也不会凭空出现没记录的频率内容。</a:t>
            </a:r>
          </a:p>
          <a:p>
            <a:r>
              <a:t>[认知起点] 完成了真实码字活动和两项控制变量实验。</a:t>
            </a:r>
          </a:p>
          <a:p>
            <a:r>
              <a:t>[认知困惑] 知道三个名词但仍可能把它们混成“都变成0和1”。</a:t>
            </a:r>
          </a:p>
          <a:p>
            <a:r>
              <a:t>[学生任务] 将三项动作与三步配对；用图像取样位置和有限颜色回扣，但不把时间当二维图像分辨率。</a:t>
            </a:r>
          </a:p>
          <a:p>
            <a:r>
              <a:t>[预期学生反应] 顺序配对；编码不负责重新选取样本。</a:t>
            </a:r>
          </a:p>
          <a:p>
            <a:r>
              <a:t>[追问问题] 增加位数能补回没有记录的快速变化吗？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三步分别改变了什么？</a:t>
            </a:r>
          </a:p>
          <a:p>
            <a:r>
              <a:t>[内部编号] Q12 揭示页</a:t>
            </a:r>
          </a:p>
          <a:p>
            <a:r>
              <a:t>[教师逐字稿] 现在先不背定义，用刚才做过的动作说。挑时刻是采样，挑代表等级是量化，写码字是编码。采样和量化各自限制一种精度。把码字写得再长，也不会凭空出现没记录的频率内容。</a:t>
            </a:r>
          </a:p>
          <a:p>
            <a:r>
              <a:t>[形成结论] 用时间、幅度、表示规则构成音频数字化模型。</a:t>
            </a:r>
          </a:p>
          <a:p>
            <a:r>
              <a:t>[追问问题] 增加位数能补回没有记录的快速变化吗？</a:t>
            </a:r>
          </a:p>
          <a:p>
            <a:r>
              <a:t>[预期学生反应] 顺序配对；编码不负责重新选取样本。</a:t>
            </a:r>
          </a:p>
          <a:p>
            <a:r>
              <a:t>[Demo操作] 使用课件证据，无需现场运行。</a:t>
            </a:r>
          </a:p>
          <a:p>
            <a:r>
              <a:t>[下一问] 我们还只记录了一路信号，左右两路怎么办？</a:t>
            </a:r>
          </a:p>
          <a:p>
            <a:r>
              <a:t>[技术注解] 用时间、幅度、表示规则构成音频数字化模型。</a:t>
            </a:r>
          </a:p>
          <a:p>
            <a:r>
              <a:t>[来源] https://wiki.analog.com/university/courses/electronics/text/chapter-20</a:t>
            </a:r>
          </a:p>
          <a:p>
            <a:r>
              <a:t>https://www.analog.com/media/en/training-seminars/tutorials/MT-002.pdf</a:t>
            </a:r>
          </a:p>
          <a:p>
            <a:r>
              <a:t>https://www.analog.com/media/en/training-seminars/tutorials/MT-001.pdf</a:t>
            </a:r>
          </a:p>
          <a:p>
            <a:r>
              <a:t>[证据文件] assets/audio-manifest.json</a:t>
            </a:r>
          </a:p>
          <a:p>
            <a:r>
              <a:t>[完整备课依据] course-design.qmd Q12及C3–C5。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左右两路声音，怎样记录？</a:t>
            </a:r>
          </a:p>
          <a:p>
            <a:r>
              <a:t>[内部编号] Q13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这里的声道是一路信号。每个时刻，左边一个数，右边一个数，就有两个样本。我们只是数存储量，不能由两倍数据推出两倍音量或两倍音质。图像RGB通道是颜色分量，音频L、R是声音的两路信号，别把含义混在一起。</a:t>
            </a:r>
          </a:p>
          <a:p>
            <a:r>
              <a:t>[认知起点] 已知每个时刻每声道一个幅度样本。</a:t>
            </a:r>
          </a:p>
          <a:p>
            <a:r>
              <a:t>[认知困惑] 双声道是两路随时间的信号，不是两种量化等级。</a:t>
            </a:r>
          </a:p>
          <a:p>
            <a:r>
              <a:t>[学生任务] 数三个时刻中的L、R样本，比较单声道三个样本与双声道六个样本。</a:t>
            </a:r>
          </a:p>
          <a:p>
            <a:r>
              <a:t>[预期学生反应] 两倍；误答“音量两倍”“音质两倍”时回到样本计数。</a:t>
            </a:r>
          </a:p>
          <a:p>
            <a:r>
              <a:t>[追问问题] 把相同的单声道复制到两路，信息内容一定增加了吗？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左右两路声音，怎样记录？</a:t>
            </a:r>
          </a:p>
          <a:p>
            <a:r>
              <a:t>[内部编号] Q13 揭示页</a:t>
            </a:r>
          </a:p>
          <a:p>
            <a:r>
              <a:t>[教师逐字稿] 这里的声道是一路信号。每个时刻，左边一个数，右边一个数，就有两个样本。我们只是数存储量，不能由两倍数据推出两倍音量或两倍音质。图像RGB通道是颜色分量，音频L、R是声音的两路信号，别把含义混在一起。</a:t>
            </a:r>
          </a:p>
          <a:p>
            <a:r>
              <a:t>[形成结论] 声道数是样本计数的乘数。</a:t>
            </a:r>
          </a:p>
          <a:p>
            <a:r>
              <a:t>[追问问题] 把相同的单声道复制到两路，信息内容一定增加了吗？</a:t>
            </a:r>
          </a:p>
          <a:p>
            <a:r>
              <a:t>[预期学生反应] 两倍；误答“音量两倍”“音质两倍”时回到样本计数。</a:t>
            </a:r>
          </a:p>
          <a:p>
            <a:r>
              <a:t>[Demo操作] 使用课件证据，无需现场运行。</a:t>
            </a:r>
          </a:p>
          <a:p>
            <a:r>
              <a:t>[下一问] 样本和参数怎样装进可以播放的文件？</a:t>
            </a:r>
          </a:p>
          <a:p>
            <a:r>
              <a:t>[技术注解] 声道数是样本计数的乘数。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Q13及C3–C5。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未压缩PCM WAV保存了什么？</a:t>
            </a:r>
          </a:p>
          <a:p>
            <a:r>
              <a:t>[内部编号] Q14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采样率告诉我们多久读一个，位数告诉我们怎么分组，声道告诉我们怎样分成各路。WAV把这些格式信息和样本装在一起。今天只讨论未压缩整数PCM WAV：它按固定存储位数保存样本，没有再做AAC那样的音频压缩。不过WAV这个容器也能装其他格式，不能只看扩展名下结论。</a:t>
            </a:r>
          </a:p>
          <a:p>
            <a:r>
              <a:t>[认知起点] Q7已发现码字必须搭配解释规则。</a:t>
            </a:r>
          </a:p>
          <a:p>
            <a:r>
              <a:t>[认知困惑] 文件扩展名不是全部解释规则，样本本身也不能告诉所有参数。</a:t>
            </a:r>
          </a:p>
          <a:p>
            <a:r>
              <a:t>[学生任务] 先口答缺少哪些解释规则，再把揭示页的文字分成“格式参数”和“样本数据”两类；参数回扣Q7，样本回扣Q13。这里是结构概念分类，不声称当前页有真实WAV头截图或尚未制作的结构图。</a:t>
            </a:r>
          </a:p>
          <a:p>
            <a:r>
              <a:t>[预期学生反应] 采样率、位数、声道。不能把WAV称为“没有量化损失的原声”。</a:t>
            </a:r>
          </a:p>
          <a:p>
            <a:r>
              <a:t>[追问问题] PCM编码和MP3／AAC压缩是一回事吗？所有WAV都一定未压缩吗？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未压缩PCM WAV保存了什么？</a:t>
            </a:r>
          </a:p>
          <a:p>
            <a:r>
              <a:t>[内部编号] Q14 揭示页</a:t>
            </a:r>
          </a:p>
          <a:p>
            <a:r>
              <a:t>[教师逐字稿] 采样率告诉我们多久读一个，位数告诉我们怎么分组，声道告诉我们怎样分成各路。WAV把这些格式信息和样本装在一起。今天只讨论未压缩整数PCM WAV：它按固定存储位数保存样本，没有再做AAC那样的音频压缩。不过WAV这个容器也能装其他格式，不能只看扩展名下结论。</a:t>
            </a:r>
          </a:p>
          <a:p>
            <a:r>
              <a:t>[形成结论] 未压缩PCM可按样本数与实际存储位数计算；WAV是容器。</a:t>
            </a:r>
          </a:p>
          <a:p>
            <a:r>
              <a:t>[追问问题] PCM编码和MP3／AAC压缩是一回事吗？所有WAV都一定未压缩吗？</a:t>
            </a:r>
          </a:p>
          <a:p>
            <a:r>
              <a:t>[预期学生反应] 采样率、位数、声道。不能把WAV称为“没有量化损失的原声”。</a:t>
            </a:r>
          </a:p>
          <a:p>
            <a:r>
              <a:t>[Demo操作] 使用课件证据，无需现场运行。</a:t>
            </a:r>
          </a:p>
          <a:p>
            <a:r>
              <a:t>[下一问] 从“一秒有多少样本”推导样本数据量。</a:t>
            </a:r>
          </a:p>
          <a:p>
            <a:r>
              <a:t>[技术注解] WAV是容器，本课仅未压缩整数PCM；M4A解码为PCM不恢复已丢失信息。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Q14及C3–C5。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怎样从样本数推导数据量？</a:t>
            </a:r>
          </a:p>
          <a:p>
            <a:r>
              <a:t>[内部编号] Q15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先别急着背。每秒一条路有fs个样本，t秒是多少？再有C条路，一共多少个数？每个数占n位，现在得到的是bit。要用B表示，还要除以八。每一个乘数都能在记录动作里找到。这里算的是样本数据，不包含文件头。</a:t>
            </a:r>
          </a:p>
          <a:p>
            <a:r>
              <a:t>[认知起点] 已会图像像素总数乘位深度；知道音频声道数。</a:t>
            </a:r>
          </a:p>
          <a:p>
            <a:r>
              <a:t>[认知困惑] 公式中每一项都应有计数意义，不能只机械代入。</a:t>
            </a:r>
          </a:p>
          <a:p>
            <a:r>
              <a:t>[学生任务] 先说一秒单路的样本数，再扩展到t秒和C路，最后乘位数除8。</a:t>
            </a:r>
          </a:p>
          <a:p>
            <a:r>
              <a:t>[预期学生反应] 样本数量乘每样本位数；可能漏C或忘除8。</a:t>
            </a:r>
          </a:p>
          <a:p>
            <a:r>
              <a:t>[追问问题] 式子的哪个因子把bit换成了byte？哪个因子记录了时间？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怎样从样本数推导数据量？</a:t>
            </a:r>
          </a:p>
          <a:p>
            <a:r>
              <a:t>[内部编号] Q15 揭示页</a:t>
            </a:r>
          </a:p>
          <a:p>
            <a:r>
              <a:t>[教师逐字稿] 先别急着背。每秒一条路有fs个样本，t秒是多少？再有C条路，一共多少个数？每个数占n位，现在得到的是bit。要用B表示，还要除以八。每一个乘数都能在记录动作里找到。这里算的是样本数据，不包含文件头。</a:t>
            </a:r>
          </a:p>
          <a:p>
            <a:r>
              <a:t>[形成结论] 从样本计数推导公式，适用范围为固定存储位数的未压缩PCM。</a:t>
            </a:r>
          </a:p>
          <a:p>
            <a:r>
              <a:t>[追问问题] 式子的哪个因子把bit换成了byte？哪个因子记录了时间？</a:t>
            </a:r>
          </a:p>
          <a:p>
            <a:r>
              <a:t>[预期学生反应] 样本数量乘每样本位数；可能漏C或忘除8。</a:t>
            </a:r>
          </a:p>
          <a:p>
            <a:r>
              <a:t>[Demo操作] 使用课件证据，无需现场运行。</a:t>
            </a:r>
          </a:p>
          <a:p>
            <a:r>
              <a:t>[下一问] 用一组现实参数独立算一次。</a:t>
            </a:r>
          </a:p>
          <a:p>
            <a:r>
              <a:t>[技术注解] 从样本计数推导公式，适用范围为固定存储位数的未压缩PCM。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Q15及C3–C5。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一分钟双声道PCM有多大？</a:t>
            </a:r>
          </a:p>
          <a:p>
            <a:r>
              <a:t>[内部编号] Q16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请各自写，不先看答案。先把四十四点一千赫兹换成赫兹，把一分钟换成秒。双声道乘二，bit换B除八。先求B，再按给定的1MiB换算；列出分式就可以，我来给近似值。MiB用1024进位，MB是十进制单位，算式与单位必须配套。</a:t>
            </a:r>
          </a:p>
          <a:p>
            <a:r>
              <a:t>[认知起点] 已推导公式，知道kHz和分钟必须换算。</a:t>
            </a:r>
          </a:p>
          <a:p>
            <a:r>
              <a:t>[认知困惑] 数字44.1和1不能不带单位直接代入。</a:t>
            </a:r>
          </a:p>
          <a:p>
            <a:r>
              <a:t>[学生任务] 独立60秒，先写四个参数、B的算式及结果，再列MiB换算式；同桌20秒核查单位。MiB小数由教师揭示，不要求心算大整数除法。</a:t>
            </a:r>
          </a:p>
          <a:p>
            <a:r>
              <a:t>[预期学生反应] 10,584,000B；MiB可先写10,584,000÷1,048,576。错用44.1、漏60或把MB／MiB混用时要求解释单位；未算出10.09但列式正确不判为概念错误。</a:t>
            </a:r>
          </a:p>
          <a:p>
            <a:r>
              <a:t>[追问问题] 如果采样率不变、位数不变，只把时长变为30秒，怎样快速判断？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一分钟双声道PCM有多大？</a:t>
            </a:r>
          </a:p>
          <a:p>
            <a:r>
              <a:t>[内部编号] Q16 揭示页</a:t>
            </a:r>
          </a:p>
          <a:p>
            <a:r>
              <a:t>[教师逐字稿] 请各自写，不先看答案。先把四十四点一千赫兹换成赫兹，把一分钟换成秒。双声道乘二，bit换B除八。先求B，再按给定的1MiB换算；列出分式就可以，我来给近似值。MiB用1024进位，MB是十进制单位，算式与单位必须配套。</a:t>
            </a:r>
          </a:p>
          <a:p>
            <a:r>
              <a:t>[形成结论] 同条件时数据量随时长、采样率、存储位数、声道数线性变化。</a:t>
            </a:r>
          </a:p>
          <a:p>
            <a:r>
              <a:t>[追问问题] 如果采样率不变、位数不变，只把时长变为30秒，怎样快速判断？</a:t>
            </a:r>
          </a:p>
          <a:p>
            <a:r>
              <a:t>[预期学生反应] 10,584,000B；MiB可先写10,584,000÷1,048,576。错用44.1、漏60或把MB／MiB混用时要求解释单位；未算出10.09但列式正确不判为概念错误。</a:t>
            </a:r>
          </a:p>
          <a:p>
            <a:r>
              <a:t>[Demo操作] 使用课件证据，无需现场运行。</a:t>
            </a:r>
          </a:p>
          <a:p>
            <a:r>
              <a:t>[下一问] 公式结果就是文件管理器显示的完整大小吗？</a:t>
            </a:r>
          </a:p>
          <a:p>
            <a:r>
              <a:t>[技术注解] 同条件时数据量随时长、采样率、存储位数、声道数线性变化。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Q16及C3–C5。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算出32000B，文件一定也是32000B吗？</a:t>
            </a:r>
          </a:p>
          <a:p>
            <a:r>
              <a:t>[内部编号] Q17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你算出三万二，文件却是三万二千零四十四。分开数：样本一万六千个，每个两个byte，正好三万二；多出的结构信息只属于这个样例，不能说所有WAV都是四十四字节头。再回看开场A/B：都六秒、16bit、单声道，采样率却分别是44.1k和8k，样本数据因此是529,200B和96,000B。请核对我们最初两条猜测：哪条被实际参数支持，哪条要修改？这次大小差不是压缩程度造成的。</a:t>
            </a:r>
          </a:p>
          <a:p>
            <a:r>
              <a:t>[认知起点] 图像课也区分像素数据量与文件开销。</a:t>
            </a:r>
          </a:p>
          <a:p>
            <a:r>
              <a:t>[认知困惑] 实际文件比计算多44B，好像公式错了。</a:t>
            </a:r>
          </a:p>
          <a:p>
            <a:r>
              <a:t>[学生任务] 先预测，再D4读取2秒样例的实际参数、payload和file size，指出差额。然后显示开场A/B参数表：哪些参数相同、哪个不同？学生用刚推导的公式解释开场字节数，并核对板书上的两条猜测。</a:t>
            </a:r>
          </a:p>
          <a:p>
            <a:r>
              <a:t>[预期学生反应] 还有文件头；不能推断所有WAV都只多44B。</a:t>
            </a:r>
          </a:p>
          <a:p>
            <a:r>
              <a:t>[追问问题] 如果WAV含额外说明、其他chunk或更复杂头部，开销一定相同吗？</a:t>
            </a:r>
          </a:p>
          <a:p>
            <a:r>
              <a:t>[Demo操作] D4通过`pcm_info(ROOT / 'assets/audio/size-check-8000-2s-16-mono.wav')`读取真实字节；先运行`show_pcm_evidence('size')`，只显示2秒样例。等学生解释差额，再单独运行`show_pcm_evidence('opening')`显示A/B参数表。两步不得用一次Run All替代。数值均实时从本地WAV读取，不引用资源管理器的磁盘占用，不硬编码“file size=payload+44”。若Notebook失效，用PPTX第35页核对2秒样例，再由C3实测值和板书核对A/B，不放弃开场回扣。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算出32000B，文件一定也是32000B吗？</a:t>
            </a:r>
          </a:p>
          <a:p>
            <a:r>
              <a:t>[内部编号] Q17 揭示页</a:t>
            </a:r>
          </a:p>
          <a:p>
            <a:r>
              <a:t>[教师逐字稿] 你算出三万二，文件却是三万二千零四十四。分开数：样本一万六千个，每个两个byte，正好三万二；多出的结构信息只属于这个样例，不能说所有WAV都是四十四字节头。再回看开场A/B：都六秒、16bit、单声道，采样率却分别是44.1k和8k，样本数据因此是529,200B和96,000B。请核对我们最初两条猜测：哪条被实际参数支持，哪条要修改？这次大小差不是压缩程度造成的。</a:t>
            </a:r>
          </a:p>
          <a:p>
            <a:r>
              <a:t>[形成结论] 真实计数验证公式的payload边界；已知参数时能解释同长未压缩音频的大小差异。开场冲突到此得到证据支持的解释。</a:t>
            </a:r>
          </a:p>
          <a:p>
            <a:r>
              <a:t>[追问问题] 如果WAV含额外说明、其他chunk或更复杂头部，开销一定相同吗？</a:t>
            </a:r>
          </a:p>
          <a:p>
            <a:r>
              <a:t>[预期学生反应] 还有文件头；不能推断所有WAV都只多44B。</a:t>
            </a:r>
          </a:p>
          <a:p>
            <a:r>
              <a:t>[Demo操作] D4通过`pcm_info(ROOT / 'assets/audio/size-check-8000-2s-16-mono.wav')`读取真实字节；先运行`show_pcm_evidence('size')`，只显示2秒样例。等学生解释差额，再单独运行`show_pcm_evidence('opening')`显示A/B参数表。两步不得用一次Run All替代。数值均实时从本地WAV读取，不引用资源管理器的磁盘占用，不硬编码“file size=payload+44”。若Notebook失效，用PPTX第35页核对2秒样例，再由C3实测值和板书核对A/B，不放弃开场回扣。</a:t>
            </a:r>
          </a:p>
          <a:p>
            <a:r>
              <a:t>[下一问] 存储上限与记录需求同时出现时怎样选参数？</a:t>
            </a:r>
          </a:p>
          <a:p>
            <a:r>
              <a:t>[技术注解] 32,000B为实际payload，44B仅该简单WAV开销，不概括所有WAV。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Q17及C3–C5。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只有64KiB，哪种方案满足要求？</a:t>
            </a:r>
          </a:p>
          <a:p>
            <a:r>
              <a:t>[内部编号] Q18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题目给定信号最高到六千赫兹，按刚才的理想条件，采样率要高于一万二。再看记录两秒、16bit、单声道的数据量，有没有超过给定的65,536B？先各自检查一个方案，再同桌合并。最后不只报一万六，请分别指出八千和二万四输在哪一关。这里是在选参数，没有试听一段不存在的16kHz证据文件。</a:t>
            </a:r>
          </a:p>
          <a:p>
            <a:r>
              <a:t>[认知起点] 已知采样率的频率限制与容量乘法。</a:t>
            </a:r>
          </a:p>
          <a:p>
            <a:r>
              <a:t>[认知困惑] 最小文件不一定满足记录需求，最高采样率也不一定满足容量。</a:t>
            </a:r>
          </a:p>
          <a:p>
            <a:r>
              <a:t>[学生任务] 按理想带限模型判断。个人先检查一个方案30秒，同桌45秒合并三行表：频率条件、样本数据量、容量条件；抽两组分别说明8k与24k失败的原因。上限只约束payload，位数固定，不计WAV头，不另引入滤波器设计任务。</a:t>
            </a:r>
          </a:p>
          <a:p>
            <a:r>
              <a:t>[预期学生反应] 16kHz；8k不足以记录最高6kHz，24k超预算。16k按题目的理想采样条件与容量条件满足；实际工程还需滤波余量。本题是纸面参数选择，没有预制16kHz测试文件，不声称已验证某个16kHz转换的实际频响。</a:t>
            </a:r>
          </a:p>
          <a:p>
            <a:r>
              <a:t>[追问问题] 64KiB到底是多少B？选较高参数前先检查哪个限制？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只有64KiB，哪种方案满足要求？</a:t>
            </a:r>
          </a:p>
          <a:p>
            <a:r>
              <a:t>[内部编号] Q18 揭示页</a:t>
            </a:r>
          </a:p>
          <a:p>
            <a:r>
              <a:t>[教师逐字稿] 题目给定信号最高到六千赫兹，按刚才的理想条件，采样率要高于一万二。再看记录两秒、16bit、单声道的数据量，有没有超过给定的65,536B？先各自检查一个方案，再同桌合并。最后不只报一万六，请分别指出八千和二万四输在哪一关。这里是在选参数，没有试听一段不存在的16kHz证据文件。</a:t>
            </a:r>
          </a:p>
          <a:p>
            <a:r>
              <a:t>[形成结论] 按需求和预算作条件判断，说明取舍。</a:t>
            </a:r>
          </a:p>
          <a:p>
            <a:r>
              <a:t>[追问问题] 64KiB到底是多少B？选较高参数前先检查哪个限制？</a:t>
            </a:r>
          </a:p>
          <a:p>
            <a:r>
              <a:t>[预期学生反应] 16kHz；8k不足以记录最高6kHz，24k超预算。16k按题目的理想采样条件与容量条件满足；实际工程还需滤波余量。本题是纸面参数选择，没有预制16kHz测试文件，不声称已验证某个16kHz转换的实际频响。</a:t>
            </a:r>
          </a:p>
          <a:p>
            <a:r>
              <a:t>[Demo操作] 使用课件证据，无需现场运行。</a:t>
            </a:r>
          </a:p>
          <a:p>
            <a:r>
              <a:t>[下一问] 用三个错误说法检查我们是否仍把概念混在一起。</a:t>
            </a:r>
          </a:p>
          <a:p>
            <a:r>
              <a:t>[技术注解] 按需求和预算作条件判断，说明取舍。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Q18及C3–C5。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哪些说法需要修改？</a:t>
            </a:r>
          </a:p>
          <a:p>
            <a:r>
              <a:t>[内部编号] Q19 提问页</a:t>
            </a:r>
          </a:p>
          <a:p>
            <a:r>
              <a:t>[课堂当前动作] 先保持提问页，等待预测／讨论，不提前翻到答案。</a:t>
            </a:r>
          </a:p>
          <a:p>
            <a:r>
              <a:t>[教师逐字稿] 最后每个人选一句改写，并在旁边写一条依据。先给大家四十五秒。谁愿意读自己的改写？第三句有两个错误：WAV不一定未压缩，公式也不包含文件头；刚才的三万二和三万二千零四十四只直接反驳第二个错误。采样、量化、编码分别解决时刻、有限幅度和表示规则，再用样本计数检查数据量。</a:t>
            </a:r>
          </a:p>
          <a:p>
            <a:r>
              <a:t>[认知起点] 已完成模型、听辨、计数和预算选择。</a:t>
            </a:r>
          </a:p>
          <a:p>
            <a:r>
              <a:t>[认知困惑] 常见口头缩写可能把已学概念再次混淆。</a:t>
            </a:r>
          </a:p>
          <a:p>
            <a:r>
              <a:t>[学生任务] 每人先独立45秒选一句改写，并注明用哪条规则／哪项证据；教师抽一条说明理由，其余写法课后查看。若多人只写“错误”而未改正，补问一次具体条件再收束，不连续组织三轮长回答。</a:t>
            </a:r>
          </a:p>
          <a:p>
            <a:r>
              <a:t>[预期学生反应] 三句均需修改；必须补出具体正确条件。</a:t>
            </a:r>
          </a:p>
          <a:p>
            <a:r>
              <a:t>[追问问题] 哪一条可以用今天的实际文件字节数直接反驳？</a:t>
            </a:r>
          </a:p>
          <a:p>
            <a:r>
              <a:t>[Demo操作] 无需现场运行。</a:t>
            </a:r>
          </a:p>
          <a:p>
            <a:r>
              <a:t>[显隐] 学生作答前不展示揭示内容。技术边界与来源不投影。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哪些说法需要修改？</a:t>
            </a:r>
          </a:p>
          <a:p>
            <a:r>
              <a:t>[内部编号] Q19 揭示页</a:t>
            </a:r>
          </a:p>
          <a:p>
            <a:r>
              <a:t>[教师逐字稿] 最后每个人选一句改写，并在旁边写一条依据。先给大家四十五秒。谁愿意读自己的改写？第三句有两个错误：WAV不一定未压缩，公式也不包含文件头；刚才的三万二和三万二千零四十四只直接反驳第二个错误。采样、量化、编码分别解决时刻、有限幅度和表示规则，再用样本计数检查数据量。</a:t>
            </a:r>
          </a:p>
          <a:p>
            <a:r>
              <a:t>[形成结论] 音频数字化是采样、量化、编码；数据量计算有明确存储格式边界。</a:t>
            </a:r>
          </a:p>
          <a:p>
            <a:r>
              <a:t>[追问问题] 哪一条可以用今天的实际文件字节数直接反驳？</a:t>
            </a:r>
          </a:p>
          <a:p>
            <a:r>
              <a:t>[预期学生反应] 三句均需修改；必须补出具体正确条件。</a:t>
            </a:r>
          </a:p>
          <a:p>
            <a:r>
              <a:t>[Demo操作] 使用课件证据，无需现场运行。</a:t>
            </a:r>
          </a:p>
          <a:p>
            <a:r>
              <a:t>[下一问] 课后把同一规则用于另一组参数。</a:t>
            </a:r>
          </a:p>
          <a:p>
            <a:r>
              <a:t>[技术注解] 音频数字化是采样、量化、编码；数据量计算有明确存储格式边界。</a:t>
            </a:r>
          </a:p>
          <a:p>
            <a:r>
              <a:t>[来源] https://learn.microsoft.com/en-us/windows/win32/api/mmeapi/ns-mmeapi-waveformatex</a:t>
            </a:r>
          </a:p>
          <a:p>
            <a:r>
              <a:t>https://docs.python.org/3/library/wave.html</a:t>
            </a:r>
          </a:p>
          <a:p>
            <a:r>
              <a:t>[证据文件] assets/audio-manifest.json</a:t>
            </a:r>
          </a:p>
          <a:p>
            <a:r>
              <a:t>[完整备课依据] course-design.qmd Q19及C3–C5。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[页面目的] 课后迁移，检验采样率、量化位数与样本数据量。</a:t>
            </a:r>
          </a:p>
          <a:p>
            <a:r>
              <a:t>[教师逐字稿] 三题分别检查计数、等级和信息能否恢复。第一题写全四个参数和除以八，后两题必须写理由。</a:t>
            </a:r>
          </a:p>
          <a:p>
            <a:r>
              <a:t>[教师答案] 441,000B；16倍；不能恢复当初未记录或已丢失的内容。</a:t>
            </a:r>
          </a:p>
          <a:p>
            <a:r>
              <a:t>[技术注解] 只计未压缩PCM样本数据；不含WAV头。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c7f7a054641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1c5141d40c495b" /><Relationship Type="http://schemas.openxmlformats.org/officeDocument/2006/relationships/slideLayout" Target="/ppt/slideLayouts/slideLayout1.xml" Id="R7afdfe93e97f4c8d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7afdfe93e97f4c8d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457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914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371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18288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2860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743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200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657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f9bbdfe784790" /><Relationship Type="http://schemas.openxmlformats.org/officeDocument/2006/relationships/notesSlide" Target="/ppt/notesSlides/notesSlide1.xml" Id="R738bbe66fdc94b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1a1c63a094a7a" /><Relationship Type="http://schemas.openxmlformats.org/officeDocument/2006/relationships/notesSlide" Target="/ppt/notesSlides/notesSlide2.xml" Id="R77684672618244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f7a0d22884b52" /><Relationship Type="http://schemas.openxmlformats.org/officeDocument/2006/relationships/notesSlide" Target="/ppt/notesSlides/notesSlide3.xml" Id="Ra1347e02526f4a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c0e4871ff4944" /><Relationship Type="http://schemas.openxmlformats.org/officeDocument/2006/relationships/notesSlide" Target="/ppt/notesSlides/notesSlide4.xml" Id="R2f15f906218e43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301a4115f41a2" /><Relationship Type="http://schemas.openxmlformats.org/officeDocument/2006/relationships/notesSlide" Target="/ppt/notesSlides/notesSlide5.xml" Id="R39a00a6d6bf840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1f9b32bab4686" /><Relationship Type="http://schemas.openxmlformats.org/officeDocument/2006/relationships/notesSlide" Target="/ppt/notesSlides/notesSlide6.xml" Id="R22e900fbf66c49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92849db8d4a97" /><Relationship Type="http://schemas.openxmlformats.org/officeDocument/2006/relationships/notesSlide" Target="/ppt/notesSlides/notesSlide7.xml" Id="R353450ded79243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067fbb6bd4da1" /><Relationship Type="http://schemas.openxmlformats.org/officeDocument/2006/relationships/notesSlide" Target="/ppt/notesSlides/notesSlide8.xml" Id="R65a7db767ce64a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c51b0a0b34f17" /><Relationship Type="http://schemas.openxmlformats.org/officeDocument/2006/relationships/notesSlide" Target="/ppt/notesSlides/notesSlide9.xml" Id="Ra729268697f94a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9ef840a19442b" /><Relationship Type="http://schemas.openxmlformats.org/officeDocument/2006/relationships/notesSlide" Target="/ppt/notesSlides/notesSlide10.xml" Id="R0cd1ffdbc14543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973dff891465a" /><Relationship Type="http://schemas.openxmlformats.org/officeDocument/2006/relationships/notesSlide" Target="/ppt/notesSlides/notesSlide11.xml" Id="R79845120cbd248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71380989c4d40" /><Relationship Type="http://schemas.openxmlformats.org/officeDocument/2006/relationships/notesSlide" Target="/ppt/notesSlides/notesSlide12.xml" Id="Re367ff0df40e4e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4ce7027fa46fa" /><Relationship Type="http://schemas.openxmlformats.org/officeDocument/2006/relationships/notesSlide" Target="/ppt/notesSlides/notesSlide13.xml" Id="Re7a3957ee9a04c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50d1b919544d1" /><Relationship Type="http://schemas.openxmlformats.org/officeDocument/2006/relationships/notesSlide" Target="/ppt/notesSlides/notesSlide14.xml" Id="Rcde33eb5e40842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e82f0d6e64dc3" /><Relationship Type="http://schemas.openxmlformats.org/officeDocument/2006/relationships/notesSlide" Target="/ppt/notesSlides/notesSlide15.xml" Id="Rac7efbbcca944d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86932623c4f63" /><Relationship Type="http://schemas.openxmlformats.org/officeDocument/2006/relationships/notesSlide" Target="/ppt/notesSlides/notesSlide16.xml" Id="R74b35415104545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e335f3548461b" /><Relationship Type="http://schemas.openxmlformats.org/officeDocument/2006/relationships/notesSlide" Target="/ppt/notesSlides/notesSlide17.xml" Id="Ra7d2f9d0252542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f48b95958408e" /><Relationship Type="http://schemas.openxmlformats.org/officeDocument/2006/relationships/notesSlide" Target="/ppt/notesSlides/notesSlide18.xml" Id="R7f1cfbc89b824c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1a3f92d37434a" /><Relationship Type="http://schemas.openxmlformats.org/officeDocument/2006/relationships/notesSlide" Target="/ppt/notesSlides/notesSlide19.xml" Id="Rc6a2458f22f0435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0cdbe3531484f" /><Relationship Type="http://schemas.openxmlformats.org/officeDocument/2006/relationships/notesSlide" Target="/ppt/notesSlides/notesSlide20.xml" Id="Rd1adf8f8dbf04c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2360fcdf74eaa" /><Relationship Type="http://schemas.openxmlformats.org/officeDocument/2006/relationships/notesSlide" Target="/ppt/notesSlides/notesSlide21.xml" Id="R45e7b42cfb1d49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1c435fd2742ef" /><Relationship Type="http://schemas.openxmlformats.org/officeDocument/2006/relationships/notesSlide" Target="/ppt/notesSlides/notesSlide22.xml" Id="R60cbbcd82b2a439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4f83c56714040" /><Relationship Type="http://schemas.openxmlformats.org/officeDocument/2006/relationships/notesSlide" Target="/ppt/notesSlides/notesSlide23.xml" Id="R8018dfab6d4a4c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824a9b3ff432f" /><Relationship Type="http://schemas.openxmlformats.org/officeDocument/2006/relationships/notesSlide" Target="/ppt/notesSlides/notesSlide24.xml" Id="R094eebef4e1d426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eb47575f24d65" /><Relationship Type="http://schemas.openxmlformats.org/officeDocument/2006/relationships/notesSlide" Target="/ppt/notesSlides/notesSlide25.xml" Id="R7bc1764ef80d4af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33477dc7d4239" /><Relationship Type="http://schemas.openxmlformats.org/officeDocument/2006/relationships/notesSlide" Target="/ppt/notesSlides/notesSlide26.xml" Id="R46604e5c34e94ac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4e37cd7674d9c" /><Relationship Type="http://schemas.openxmlformats.org/officeDocument/2006/relationships/notesSlide" Target="/ppt/notesSlides/notesSlide27.xml" Id="R5e0d0d4acc304c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0506fef1947d1" /><Relationship Type="http://schemas.openxmlformats.org/officeDocument/2006/relationships/notesSlide" Target="/ppt/notesSlides/notesSlide28.xml" Id="Ra5c28c2674184b0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7a7d4c9004ad5" /><Relationship Type="http://schemas.openxmlformats.org/officeDocument/2006/relationships/notesSlide" Target="/ppt/notesSlides/notesSlide29.xml" Id="R617a2dfcdf8244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60b5a717341ef" /><Relationship Type="http://schemas.openxmlformats.org/officeDocument/2006/relationships/notesSlide" Target="/ppt/notesSlides/notesSlide30.xml" Id="Re269553dac7c4ba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fd1a39c11405d" /><Relationship Type="http://schemas.openxmlformats.org/officeDocument/2006/relationships/notesSlide" Target="/ppt/notesSlides/notesSlide31.xml" Id="Ra638aeb5b880482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9d1c0f2054dbe" /><Relationship Type="http://schemas.openxmlformats.org/officeDocument/2006/relationships/notesSlide" Target="/ppt/notesSlides/notesSlide32.xml" Id="Rfc3b1c8521c243e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2e9cb44164f6e" /><Relationship Type="http://schemas.openxmlformats.org/officeDocument/2006/relationships/notesSlide" Target="/ppt/notesSlides/notesSlide33.xml" Id="Rfb9066f8900e4e8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655466d95402b" /><Relationship Type="http://schemas.openxmlformats.org/officeDocument/2006/relationships/notesSlide" Target="/ppt/notesSlides/notesSlide34.xml" Id="Refc0fd4432524c5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4bbe5e2994fc7" /><Relationship Type="http://schemas.openxmlformats.org/officeDocument/2006/relationships/notesSlide" Target="/ppt/notesSlides/notesSlide35.xml" Id="Rb872119c913543c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a84d82d1240cf" /><Relationship Type="http://schemas.openxmlformats.org/officeDocument/2006/relationships/notesSlide" Target="/ppt/notesSlides/notesSlide36.xml" Id="Rb3d5a2af9bf448f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6e16785cc4a66" /><Relationship Type="http://schemas.openxmlformats.org/officeDocument/2006/relationships/notesSlide" Target="/ppt/notesSlides/notesSlide37.xml" Id="Re78427a404b045e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55cfcc9a144c0" /><Relationship Type="http://schemas.openxmlformats.org/officeDocument/2006/relationships/notesSlide" Target="/ppt/notesSlides/notesSlide38.xml" Id="Rfa73c5ccbc5d478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193456b934057" /><Relationship Type="http://schemas.openxmlformats.org/officeDocument/2006/relationships/notesSlide" Target="/ppt/notesSlides/notesSlide39.xml" Id="R18de51140db6447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3504b8a1b4dcd" /><Relationship Type="http://schemas.openxmlformats.org/officeDocument/2006/relationships/notesSlide" Target="/ppt/notesSlides/notesSlide40.xml" Id="Rb85343cb265946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1A240654-F5D8-4912-97FC-895FE2B6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x">
            <a:extLst xmlns:a="http://schemas.openxmlformats.org/drawingml/2006/main">
              <a:ext uri="{FF2B5EF4-FFF2-40B4-BE49-F238E27FC236}">
                <a16:creationId xmlns:a16="http://schemas.microsoft.com/office/drawing/2014/main" id="{E0DFECA5-B6FB-4694-B5D7-175C3E61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03C38ED-2B84-4C8A-B365-08E85D8C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58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音频数字化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8AB6067-186F-4116-AA07-D103D584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047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一段声音怎样变成</a:t>
            </a:r>
          </a:p>
          <a:p xmlns:a="http://schemas.openxmlformats.org/drawingml/2006/main">
            <a:pPr>
              <a:def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4875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二进制数据？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4D222E-1304-4AC8-9947-683C90FB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00" b="0">
                <a:solidFill>
                  <a:srgbClr val="737373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737373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从波形到未压缩 PCM WAV</a:t>
            </a:r>
          </a:p>
        </p:txBody>
      </p:sp>
    </p:spTree>
    <p:extLst>
      <p:ext uri="{BB962C8B-B14F-4D97-AF65-F5344CB8AC3E}">
        <p14:creationId xmlns:p14="http://schemas.microsoft.com/office/powerpoint/2010/main" val="1353641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C77F2596-DB3B-41ED-BBA2-19638956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332D102-FD4D-49B1-88C7-0ECA65CB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D4E487C-D177-4772-B716-7F870852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同一段音乐，为什么大小不同？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834C0ACA-0892-4763-9D63-957F1A58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同一段6秒音乐，两个文件均未做音频压缩。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DA8D4A1-47A0-43F3-BA4F-57A09422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A：529,244B；B：96,044B。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0C5B79E5-952B-4C15-A878-5425F885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先试听，再猜测：为什么大小不同？</a:t>
            </a:r>
          </a:p>
        </p:txBody>
      </p:sp>
    </p:spTree>
    <p:extLst>
      <p:ext uri="{BB962C8B-B14F-4D97-AF65-F5344CB8AC3E}">
        <p14:creationId xmlns:p14="http://schemas.microsoft.com/office/powerpoint/2010/main" val="425204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C77F2596-DB3B-41ED-BBA2-19638956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332D102-FD4D-49B1-88C7-0ECA65CB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D4E487C-D177-4772-B716-7F870852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同一段音乐，为什么大小不同？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834C0ACA-0892-4763-9D63-957F1A58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同一段6秒音乐，两个文件均未做音频压缩。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DA8D4A1-47A0-43F3-BA4F-57A09422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A：529,244B；B：96,044B。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0C5B79E5-952B-4C15-A878-5425F885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先试听，再猜测：为什么大小不同？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7AA3234B-4116-43A0-BA7E-5D70947F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736DB196-7392-46BF-BC5F-9A63B4A8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同样长、都未压缩，数据量仍可不同。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0D110D80-52D8-44D1-B4AD-C7F1B213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先找出音频记录了哪些数据。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34E09639-37B9-47F3-9D50-E8B2B024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最后再用实际参数核对你的猜测。</a:t>
            </a:r>
          </a:p>
        </p:txBody>
      </p:sp>
    </p:spTree>
    <p:extLst>
      <p:ext uri="{BB962C8B-B14F-4D97-AF65-F5344CB8AC3E}">
        <p14:creationId xmlns:p14="http://schemas.microsoft.com/office/powerpoint/2010/main" val="425204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03A5C924-C743-4032-B35A-7872CCCB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70A040-98F1-4B82-8068-BA4F8407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2DC12DD-F9F4-4F2E-90BE-93160784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声音怎样变成一条波形？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21FA1238-0436-4800-A53F-5B97163C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看同一位置随时间变化的声音。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7C223F09-994C-4826-B6CC-AD2D2E9D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波形的横轴、纵轴分别表示什么？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DEAB3623-38EB-4148-8BF6-4BA97E41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B317192-8BBA-4A99-B374-A92A7064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525" cy="1857375"/>
          </a:xfrm>
          <a:custGeom xmlns:a="http://schemas.openxmlformats.org/drawingml/2006/main">
            <a:pathLst>
              <a:path w="9525" h="1857375">
                <a:moveTo>
                  <a:pt x="0" y="0"/>
                </a:moveTo>
                <a:lnTo>
                  <a:pt x="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2AE3D2FD-C3CE-4078-AF86-DA0905A6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61"/>
            <a:ext cx="9048750" cy="1219078"/>
          </a:xfrm>
          <a:custGeom xmlns:a="http://schemas.openxmlformats.org/drawingml/2006/main">
            <a:pathLst>
              <a:path w="9048750" h="1219078">
                <a:moveTo>
                  <a:pt x="0" y="429390"/>
                </a:moveTo>
                <a:lnTo>
                  <a:pt x="37703" y="399158"/>
                </a:lnTo>
                <a:lnTo>
                  <a:pt x="75406" y="369502"/>
                </a:lnTo>
                <a:lnTo>
                  <a:pt x="113109" y="340504"/>
                </a:lnTo>
                <a:lnTo>
                  <a:pt x="150813" y="312244"/>
                </a:lnTo>
                <a:lnTo>
                  <a:pt x="188516" y="284799"/>
                </a:lnTo>
                <a:lnTo>
                  <a:pt x="226219" y="258244"/>
                </a:lnTo>
                <a:lnTo>
                  <a:pt x="263922" y="232651"/>
                </a:lnTo>
                <a:lnTo>
                  <a:pt x="301625" y="208092"/>
                </a:lnTo>
                <a:lnTo>
                  <a:pt x="339328" y="184633"/>
                </a:lnTo>
                <a:lnTo>
                  <a:pt x="377031" y="162339"/>
                </a:lnTo>
                <a:lnTo>
                  <a:pt x="414734" y="141270"/>
                </a:lnTo>
                <a:lnTo>
                  <a:pt x="452438" y="121485"/>
                </a:lnTo>
                <a:lnTo>
                  <a:pt x="490141" y="103037"/>
                </a:lnTo>
                <a:lnTo>
                  <a:pt x="527844" y="85978"/>
                </a:lnTo>
                <a:lnTo>
                  <a:pt x="565547" y="70354"/>
                </a:lnTo>
                <a:lnTo>
                  <a:pt x="603250" y="56208"/>
                </a:lnTo>
                <a:lnTo>
                  <a:pt x="640953" y="43578"/>
                </a:lnTo>
                <a:lnTo>
                  <a:pt x="678656" y="32500"/>
                </a:lnTo>
                <a:lnTo>
                  <a:pt x="716359" y="23003"/>
                </a:lnTo>
                <a:lnTo>
                  <a:pt x="754063" y="15114"/>
                </a:lnTo>
                <a:lnTo>
                  <a:pt x="791766" y="8855"/>
                </a:lnTo>
                <a:lnTo>
                  <a:pt x="829469" y="4241"/>
                </a:lnTo>
                <a:lnTo>
                  <a:pt x="867172" y="1287"/>
                </a:lnTo>
                <a:lnTo>
                  <a:pt x="904875" y="0"/>
                </a:lnTo>
                <a:lnTo>
                  <a:pt x="942578" y="384"/>
                </a:lnTo>
                <a:lnTo>
                  <a:pt x="980281" y="2437"/>
                </a:lnTo>
                <a:lnTo>
                  <a:pt x="1017984" y="6154"/>
                </a:lnTo>
                <a:lnTo>
                  <a:pt x="1055687" y="11525"/>
                </a:lnTo>
                <a:lnTo>
                  <a:pt x="1093391" y="18536"/>
                </a:lnTo>
                <a:lnTo>
                  <a:pt x="1131094" y="27166"/>
                </a:lnTo>
                <a:lnTo>
                  <a:pt x="1168797" y="37392"/>
                </a:lnTo>
                <a:lnTo>
                  <a:pt x="1206500" y="49187"/>
                </a:lnTo>
                <a:lnTo>
                  <a:pt x="1244203" y="62517"/>
                </a:lnTo>
                <a:lnTo>
                  <a:pt x="1281906" y="77347"/>
                </a:lnTo>
                <a:lnTo>
                  <a:pt x="1319609" y="93636"/>
                </a:lnTo>
                <a:lnTo>
                  <a:pt x="1357313" y="111338"/>
                </a:lnTo>
                <a:lnTo>
                  <a:pt x="1395016" y="130406"/>
                </a:lnTo>
                <a:lnTo>
                  <a:pt x="1432719" y="150788"/>
                </a:lnTo>
                <a:lnTo>
                  <a:pt x="1470422" y="172427"/>
                </a:lnTo>
                <a:lnTo>
                  <a:pt x="1508125" y="195264"/>
                </a:lnTo>
                <a:lnTo>
                  <a:pt x="1545828" y="219236"/>
                </a:lnTo>
                <a:lnTo>
                  <a:pt x="1583531" y="244278"/>
                </a:lnTo>
                <a:lnTo>
                  <a:pt x="1621234" y="270321"/>
                </a:lnTo>
                <a:lnTo>
                  <a:pt x="1658937" y="297295"/>
                </a:lnTo>
                <a:lnTo>
                  <a:pt x="1696641" y="325124"/>
                </a:lnTo>
                <a:lnTo>
                  <a:pt x="1734344" y="353732"/>
                </a:lnTo>
                <a:lnTo>
                  <a:pt x="1772047" y="383042"/>
                </a:lnTo>
                <a:lnTo>
                  <a:pt x="1809750" y="412972"/>
                </a:lnTo>
                <a:lnTo>
                  <a:pt x="1847453" y="443442"/>
                </a:lnTo>
                <a:lnTo>
                  <a:pt x="1885156" y="474366"/>
                </a:lnTo>
                <a:lnTo>
                  <a:pt x="1922859" y="505661"/>
                </a:lnTo>
                <a:lnTo>
                  <a:pt x="1960563" y="537241"/>
                </a:lnTo>
                <a:lnTo>
                  <a:pt x="1998266" y="569019"/>
                </a:lnTo>
                <a:lnTo>
                  <a:pt x="2035969" y="600908"/>
                </a:lnTo>
                <a:lnTo>
                  <a:pt x="2073672" y="632820"/>
                </a:lnTo>
                <a:lnTo>
                  <a:pt x="2111375" y="664669"/>
                </a:lnTo>
                <a:lnTo>
                  <a:pt x="2149078" y="696367"/>
                </a:lnTo>
                <a:lnTo>
                  <a:pt x="2186781" y="727827"/>
                </a:lnTo>
                <a:lnTo>
                  <a:pt x="2224484" y="758962"/>
                </a:lnTo>
                <a:lnTo>
                  <a:pt x="2262188" y="789688"/>
                </a:lnTo>
                <a:lnTo>
                  <a:pt x="2299891" y="819920"/>
                </a:lnTo>
                <a:lnTo>
                  <a:pt x="2337594" y="849576"/>
                </a:lnTo>
                <a:lnTo>
                  <a:pt x="2375297" y="878573"/>
                </a:lnTo>
                <a:lnTo>
                  <a:pt x="2413000" y="906834"/>
                </a:lnTo>
                <a:lnTo>
                  <a:pt x="2450703" y="934279"/>
                </a:lnTo>
                <a:lnTo>
                  <a:pt x="2488406" y="960834"/>
                </a:lnTo>
                <a:lnTo>
                  <a:pt x="2526109" y="986426"/>
                </a:lnTo>
                <a:lnTo>
                  <a:pt x="2563813" y="1010986"/>
                </a:lnTo>
                <a:lnTo>
                  <a:pt x="2601516" y="1034445"/>
                </a:lnTo>
                <a:lnTo>
                  <a:pt x="2639219" y="1056739"/>
                </a:lnTo>
                <a:lnTo>
                  <a:pt x="2676922" y="1077808"/>
                </a:lnTo>
                <a:lnTo>
                  <a:pt x="2714625" y="1097593"/>
                </a:lnTo>
                <a:lnTo>
                  <a:pt x="2752328" y="1116040"/>
                </a:lnTo>
                <a:lnTo>
                  <a:pt x="2790031" y="1133099"/>
                </a:lnTo>
                <a:lnTo>
                  <a:pt x="2827734" y="1148724"/>
                </a:lnTo>
                <a:lnTo>
                  <a:pt x="2865438" y="1162870"/>
                </a:lnTo>
                <a:lnTo>
                  <a:pt x="2903141" y="1175499"/>
                </a:lnTo>
                <a:lnTo>
                  <a:pt x="2940844" y="1186578"/>
                </a:lnTo>
                <a:lnTo>
                  <a:pt x="2978547" y="1196074"/>
                </a:lnTo>
                <a:lnTo>
                  <a:pt x="3016250" y="1203963"/>
                </a:lnTo>
                <a:lnTo>
                  <a:pt x="3053953" y="1210223"/>
                </a:lnTo>
                <a:lnTo>
                  <a:pt x="3091656" y="1214836"/>
                </a:lnTo>
                <a:lnTo>
                  <a:pt x="3129359" y="1217791"/>
                </a:lnTo>
                <a:lnTo>
                  <a:pt x="3167063" y="1219078"/>
                </a:lnTo>
                <a:lnTo>
                  <a:pt x="3204766" y="1218694"/>
                </a:lnTo>
                <a:lnTo>
                  <a:pt x="3242469" y="1216641"/>
                </a:lnTo>
                <a:lnTo>
                  <a:pt x="3280172" y="1212924"/>
                </a:lnTo>
                <a:lnTo>
                  <a:pt x="3317875" y="1207552"/>
                </a:lnTo>
                <a:lnTo>
                  <a:pt x="3355578" y="1200542"/>
                </a:lnTo>
                <a:lnTo>
                  <a:pt x="3393281" y="1191912"/>
                </a:lnTo>
                <a:lnTo>
                  <a:pt x="3430984" y="1181686"/>
                </a:lnTo>
                <a:lnTo>
                  <a:pt x="3468688" y="1169891"/>
                </a:lnTo>
                <a:lnTo>
                  <a:pt x="3506391" y="1156561"/>
                </a:lnTo>
                <a:lnTo>
                  <a:pt x="3544094" y="1141731"/>
                </a:lnTo>
                <a:lnTo>
                  <a:pt x="3581797" y="1125442"/>
                </a:lnTo>
                <a:lnTo>
                  <a:pt x="3619500" y="1107740"/>
                </a:lnTo>
                <a:lnTo>
                  <a:pt x="3657203" y="1088671"/>
                </a:lnTo>
                <a:lnTo>
                  <a:pt x="3694906" y="1068290"/>
                </a:lnTo>
                <a:lnTo>
                  <a:pt x="3732609" y="1046651"/>
                </a:lnTo>
                <a:lnTo>
                  <a:pt x="3770312" y="1023814"/>
                </a:lnTo>
                <a:lnTo>
                  <a:pt x="3808016" y="999842"/>
                </a:lnTo>
                <a:lnTo>
                  <a:pt x="3845719" y="974800"/>
                </a:lnTo>
                <a:lnTo>
                  <a:pt x="3883422" y="948756"/>
                </a:lnTo>
                <a:lnTo>
                  <a:pt x="3921125" y="921783"/>
                </a:lnTo>
                <a:lnTo>
                  <a:pt x="3958828" y="893954"/>
                </a:lnTo>
                <a:lnTo>
                  <a:pt x="3996531" y="865346"/>
                </a:lnTo>
                <a:lnTo>
                  <a:pt x="4034234" y="836036"/>
                </a:lnTo>
                <a:lnTo>
                  <a:pt x="4071938" y="806106"/>
                </a:lnTo>
                <a:lnTo>
                  <a:pt x="4109641" y="775636"/>
                </a:lnTo>
                <a:lnTo>
                  <a:pt x="4147344" y="744712"/>
                </a:lnTo>
                <a:lnTo>
                  <a:pt x="4185047" y="713417"/>
                </a:lnTo>
                <a:lnTo>
                  <a:pt x="4222750" y="681837"/>
                </a:lnTo>
                <a:lnTo>
                  <a:pt x="4260453" y="650059"/>
                </a:lnTo>
                <a:lnTo>
                  <a:pt x="4298156" y="618170"/>
                </a:lnTo>
                <a:lnTo>
                  <a:pt x="4335859" y="586257"/>
                </a:lnTo>
                <a:lnTo>
                  <a:pt x="4373563" y="554409"/>
                </a:lnTo>
                <a:lnTo>
                  <a:pt x="4411266" y="522711"/>
                </a:lnTo>
                <a:lnTo>
                  <a:pt x="4448969" y="491251"/>
                </a:lnTo>
                <a:lnTo>
                  <a:pt x="4486672" y="460116"/>
                </a:lnTo>
                <a:lnTo>
                  <a:pt x="4524375" y="429390"/>
                </a:lnTo>
                <a:lnTo>
                  <a:pt x="4562078" y="399158"/>
                </a:lnTo>
                <a:lnTo>
                  <a:pt x="4599781" y="369502"/>
                </a:lnTo>
                <a:lnTo>
                  <a:pt x="4637484" y="340504"/>
                </a:lnTo>
                <a:lnTo>
                  <a:pt x="4675187" y="312244"/>
                </a:lnTo>
                <a:lnTo>
                  <a:pt x="4712891" y="284799"/>
                </a:lnTo>
                <a:lnTo>
                  <a:pt x="4750594" y="258244"/>
                </a:lnTo>
                <a:lnTo>
                  <a:pt x="4788297" y="232651"/>
                </a:lnTo>
                <a:lnTo>
                  <a:pt x="4826000" y="208092"/>
                </a:lnTo>
                <a:lnTo>
                  <a:pt x="4863703" y="184633"/>
                </a:lnTo>
                <a:lnTo>
                  <a:pt x="4901406" y="162339"/>
                </a:lnTo>
                <a:lnTo>
                  <a:pt x="4939109" y="141270"/>
                </a:lnTo>
                <a:lnTo>
                  <a:pt x="4976813" y="121485"/>
                </a:lnTo>
                <a:lnTo>
                  <a:pt x="5014516" y="103037"/>
                </a:lnTo>
                <a:lnTo>
                  <a:pt x="5052219" y="85978"/>
                </a:lnTo>
                <a:lnTo>
                  <a:pt x="5089922" y="70354"/>
                </a:lnTo>
                <a:lnTo>
                  <a:pt x="5127625" y="56208"/>
                </a:lnTo>
                <a:lnTo>
                  <a:pt x="5165328" y="43578"/>
                </a:lnTo>
                <a:lnTo>
                  <a:pt x="5203031" y="32500"/>
                </a:lnTo>
                <a:lnTo>
                  <a:pt x="5240734" y="23003"/>
                </a:lnTo>
                <a:lnTo>
                  <a:pt x="5278438" y="15114"/>
                </a:lnTo>
                <a:lnTo>
                  <a:pt x="5316141" y="8855"/>
                </a:lnTo>
                <a:lnTo>
                  <a:pt x="5353844" y="4241"/>
                </a:lnTo>
                <a:lnTo>
                  <a:pt x="5391547" y="1287"/>
                </a:lnTo>
                <a:lnTo>
                  <a:pt x="5429250" y="0"/>
                </a:lnTo>
                <a:lnTo>
                  <a:pt x="5466953" y="384"/>
                </a:lnTo>
                <a:lnTo>
                  <a:pt x="5504656" y="2437"/>
                </a:lnTo>
                <a:lnTo>
                  <a:pt x="5542359" y="6154"/>
                </a:lnTo>
                <a:lnTo>
                  <a:pt x="5580063" y="11525"/>
                </a:lnTo>
                <a:lnTo>
                  <a:pt x="5617766" y="18536"/>
                </a:lnTo>
                <a:lnTo>
                  <a:pt x="5655469" y="27166"/>
                </a:lnTo>
                <a:lnTo>
                  <a:pt x="5693172" y="37392"/>
                </a:lnTo>
                <a:lnTo>
                  <a:pt x="5730875" y="49187"/>
                </a:lnTo>
                <a:lnTo>
                  <a:pt x="5768578" y="62517"/>
                </a:lnTo>
                <a:lnTo>
                  <a:pt x="5806281" y="77347"/>
                </a:lnTo>
                <a:lnTo>
                  <a:pt x="5843984" y="93636"/>
                </a:lnTo>
                <a:lnTo>
                  <a:pt x="5881688" y="111338"/>
                </a:lnTo>
                <a:lnTo>
                  <a:pt x="5919391" y="130406"/>
                </a:lnTo>
                <a:lnTo>
                  <a:pt x="5957094" y="150788"/>
                </a:lnTo>
                <a:lnTo>
                  <a:pt x="5994797" y="172427"/>
                </a:lnTo>
                <a:lnTo>
                  <a:pt x="6032500" y="195264"/>
                </a:lnTo>
                <a:lnTo>
                  <a:pt x="6070203" y="219236"/>
                </a:lnTo>
                <a:lnTo>
                  <a:pt x="6107906" y="244278"/>
                </a:lnTo>
                <a:lnTo>
                  <a:pt x="6145609" y="270321"/>
                </a:lnTo>
                <a:lnTo>
                  <a:pt x="6183313" y="297295"/>
                </a:lnTo>
                <a:lnTo>
                  <a:pt x="6221016" y="325124"/>
                </a:lnTo>
                <a:lnTo>
                  <a:pt x="6258719" y="353732"/>
                </a:lnTo>
                <a:lnTo>
                  <a:pt x="6296422" y="383042"/>
                </a:lnTo>
                <a:lnTo>
                  <a:pt x="6334125" y="412972"/>
                </a:lnTo>
                <a:lnTo>
                  <a:pt x="6371828" y="443442"/>
                </a:lnTo>
                <a:lnTo>
                  <a:pt x="6409531" y="474366"/>
                </a:lnTo>
                <a:lnTo>
                  <a:pt x="6447234" y="505661"/>
                </a:lnTo>
                <a:lnTo>
                  <a:pt x="6484938" y="537241"/>
                </a:lnTo>
                <a:lnTo>
                  <a:pt x="6522641" y="569019"/>
                </a:lnTo>
                <a:lnTo>
                  <a:pt x="6560344" y="600908"/>
                </a:lnTo>
                <a:lnTo>
                  <a:pt x="6598047" y="632820"/>
                </a:lnTo>
                <a:lnTo>
                  <a:pt x="6635750" y="664669"/>
                </a:lnTo>
                <a:lnTo>
                  <a:pt x="6673453" y="696367"/>
                </a:lnTo>
                <a:lnTo>
                  <a:pt x="6711156" y="727827"/>
                </a:lnTo>
                <a:lnTo>
                  <a:pt x="6748859" y="758962"/>
                </a:lnTo>
                <a:lnTo>
                  <a:pt x="6786563" y="789688"/>
                </a:lnTo>
                <a:lnTo>
                  <a:pt x="6824266" y="819920"/>
                </a:lnTo>
                <a:lnTo>
                  <a:pt x="6861969" y="849576"/>
                </a:lnTo>
                <a:lnTo>
                  <a:pt x="6899672" y="878573"/>
                </a:lnTo>
                <a:lnTo>
                  <a:pt x="6937375" y="906834"/>
                </a:lnTo>
                <a:lnTo>
                  <a:pt x="6975078" y="934279"/>
                </a:lnTo>
                <a:lnTo>
                  <a:pt x="7012781" y="960834"/>
                </a:lnTo>
                <a:lnTo>
                  <a:pt x="7050484" y="986426"/>
                </a:lnTo>
                <a:lnTo>
                  <a:pt x="7088188" y="1010986"/>
                </a:lnTo>
                <a:lnTo>
                  <a:pt x="7125891" y="1034445"/>
                </a:lnTo>
                <a:lnTo>
                  <a:pt x="7163594" y="1056739"/>
                </a:lnTo>
                <a:lnTo>
                  <a:pt x="7201297" y="1077808"/>
                </a:lnTo>
                <a:lnTo>
                  <a:pt x="7239000" y="1097593"/>
                </a:lnTo>
                <a:lnTo>
                  <a:pt x="7276703" y="1116040"/>
                </a:lnTo>
                <a:lnTo>
                  <a:pt x="7314406" y="1133099"/>
                </a:lnTo>
                <a:lnTo>
                  <a:pt x="7352109" y="1148724"/>
                </a:lnTo>
                <a:lnTo>
                  <a:pt x="7389813" y="1162870"/>
                </a:lnTo>
                <a:lnTo>
                  <a:pt x="7427516" y="1175499"/>
                </a:lnTo>
                <a:lnTo>
                  <a:pt x="7465219" y="1186578"/>
                </a:lnTo>
                <a:lnTo>
                  <a:pt x="7502922" y="1196074"/>
                </a:lnTo>
                <a:lnTo>
                  <a:pt x="7540625" y="1203963"/>
                </a:lnTo>
                <a:lnTo>
                  <a:pt x="7578328" y="1210223"/>
                </a:lnTo>
                <a:lnTo>
                  <a:pt x="7616031" y="1214836"/>
                </a:lnTo>
                <a:lnTo>
                  <a:pt x="7653734" y="1217791"/>
                </a:lnTo>
                <a:lnTo>
                  <a:pt x="7691438" y="1219078"/>
                </a:lnTo>
                <a:lnTo>
                  <a:pt x="7729141" y="1218694"/>
                </a:lnTo>
                <a:lnTo>
                  <a:pt x="7766844" y="1216641"/>
                </a:lnTo>
                <a:lnTo>
                  <a:pt x="7804547" y="1212924"/>
                </a:lnTo>
                <a:lnTo>
                  <a:pt x="7842250" y="1207552"/>
                </a:lnTo>
                <a:lnTo>
                  <a:pt x="7879953" y="1200542"/>
                </a:lnTo>
                <a:lnTo>
                  <a:pt x="7917656" y="1191912"/>
                </a:lnTo>
                <a:lnTo>
                  <a:pt x="7955359" y="1181686"/>
                </a:lnTo>
                <a:lnTo>
                  <a:pt x="7993063" y="1169891"/>
                </a:lnTo>
                <a:lnTo>
                  <a:pt x="8030766" y="1156561"/>
                </a:lnTo>
                <a:lnTo>
                  <a:pt x="8068469" y="1141731"/>
                </a:lnTo>
                <a:lnTo>
                  <a:pt x="8106172" y="1125442"/>
                </a:lnTo>
                <a:lnTo>
                  <a:pt x="8143875" y="1107740"/>
                </a:lnTo>
                <a:lnTo>
                  <a:pt x="8181578" y="1088671"/>
                </a:lnTo>
                <a:lnTo>
                  <a:pt x="8219281" y="1068290"/>
                </a:lnTo>
                <a:lnTo>
                  <a:pt x="8256984" y="1046651"/>
                </a:lnTo>
                <a:lnTo>
                  <a:pt x="8294688" y="1023814"/>
                </a:lnTo>
                <a:lnTo>
                  <a:pt x="8332391" y="999842"/>
                </a:lnTo>
                <a:lnTo>
                  <a:pt x="8370094" y="974800"/>
                </a:lnTo>
                <a:lnTo>
                  <a:pt x="8407797" y="948756"/>
                </a:lnTo>
                <a:lnTo>
                  <a:pt x="8445500" y="921783"/>
                </a:lnTo>
                <a:lnTo>
                  <a:pt x="8483203" y="893954"/>
                </a:lnTo>
                <a:lnTo>
                  <a:pt x="8520906" y="865346"/>
                </a:lnTo>
                <a:lnTo>
                  <a:pt x="8558609" y="836036"/>
                </a:lnTo>
                <a:lnTo>
                  <a:pt x="8596313" y="806106"/>
                </a:lnTo>
                <a:lnTo>
                  <a:pt x="8634016" y="775636"/>
                </a:lnTo>
                <a:lnTo>
                  <a:pt x="8671719" y="744712"/>
                </a:lnTo>
                <a:lnTo>
                  <a:pt x="8709422" y="713417"/>
                </a:lnTo>
                <a:lnTo>
                  <a:pt x="8747125" y="681837"/>
                </a:lnTo>
                <a:lnTo>
                  <a:pt x="8784828" y="650059"/>
                </a:lnTo>
                <a:lnTo>
                  <a:pt x="8822531" y="618170"/>
                </a:lnTo>
                <a:lnTo>
                  <a:pt x="8860234" y="586257"/>
                </a:lnTo>
                <a:lnTo>
                  <a:pt x="8897937" y="554409"/>
                </a:lnTo>
                <a:lnTo>
                  <a:pt x="8935641" y="522711"/>
                </a:lnTo>
                <a:lnTo>
                  <a:pt x="8973344" y="491251"/>
                </a:lnTo>
                <a:lnTo>
                  <a:pt x="9011047" y="460116"/>
                </a:lnTo>
                <a:lnTo>
                  <a:pt x="9048750" y="42939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</p:spTree>
    <p:extLst>
      <p:ext uri="{BB962C8B-B14F-4D97-AF65-F5344CB8AC3E}">
        <p14:creationId xmlns:p14="http://schemas.microsoft.com/office/powerpoint/2010/main" val="707702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03A5C924-C743-4032-B35A-7872CCCB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E70A040-98F1-4B82-8068-BA4F8407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2DC12DD-F9F4-4F2E-90BE-93160784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声音怎样变成一条波形？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21FA1238-0436-4800-A53F-5B97163C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看同一位置随时间变化的声音。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7C223F09-994C-4826-B6CC-AD2D2E9D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波形的横轴、纵轴分别表示什么？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DEAB3623-38EB-4148-8BF6-4BA97E41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EB317192-8BBA-4A99-B374-A92A7064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9525" cy="1857375"/>
          </a:xfrm>
          <a:custGeom xmlns:a="http://schemas.openxmlformats.org/drawingml/2006/main">
            <a:pathLst>
              <a:path w="9525" h="1857375">
                <a:moveTo>
                  <a:pt x="0" y="0"/>
                </a:moveTo>
                <a:lnTo>
                  <a:pt x="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2AE3D2FD-C3CE-4078-AF86-DA0905A6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81461"/>
            <a:ext cx="9048750" cy="1219078"/>
          </a:xfrm>
          <a:custGeom xmlns:a="http://schemas.openxmlformats.org/drawingml/2006/main">
            <a:pathLst>
              <a:path w="9048750" h="1219078">
                <a:moveTo>
                  <a:pt x="0" y="429390"/>
                </a:moveTo>
                <a:lnTo>
                  <a:pt x="37703" y="399158"/>
                </a:lnTo>
                <a:lnTo>
                  <a:pt x="75406" y="369502"/>
                </a:lnTo>
                <a:lnTo>
                  <a:pt x="113109" y="340504"/>
                </a:lnTo>
                <a:lnTo>
                  <a:pt x="150813" y="312244"/>
                </a:lnTo>
                <a:lnTo>
                  <a:pt x="188516" y="284799"/>
                </a:lnTo>
                <a:lnTo>
                  <a:pt x="226219" y="258244"/>
                </a:lnTo>
                <a:lnTo>
                  <a:pt x="263922" y="232651"/>
                </a:lnTo>
                <a:lnTo>
                  <a:pt x="301625" y="208092"/>
                </a:lnTo>
                <a:lnTo>
                  <a:pt x="339328" y="184633"/>
                </a:lnTo>
                <a:lnTo>
                  <a:pt x="377031" y="162339"/>
                </a:lnTo>
                <a:lnTo>
                  <a:pt x="414734" y="141270"/>
                </a:lnTo>
                <a:lnTo>
                  <a:pt x="452438" y="121485"/>
                </a:lnTo>
                <a:lnTo>
                  <a:pt x="490141" y="103037"/>
                </a:lnTo>
                <a:lnTo>
                  <a:pt x="527844" y="85978"/>
                </a:lnTo>
                <a:lnTo>
                  <a:pt x="565547" y="70354"/>
                </a:lnTo>
                <a:lnTo>
                  <a:pt x="603250" y="56208"/>
                </a:lnTo>
                <a:lnTo>
                  <a:pt x="640953" y="43578"/>
                </a:lnTo>
                <a:lnTo>
                  <a:pt x="678656" y="32500"/>
                </a:lnTo>
                <a:lnTo>
                  <a:pt x="716359" y="23003"/>
                </a:lnTo>
                <a:lnTo>
                  <a:pt x="754063" y="15114"/>
                </a:lnTo>
                <a:lnTo>
                  <a:pt x="791766" y="8855"/>
                </a:lnTo>
                <a:lnTo>
                  <a:pt x="829469" y="4241"/>
                </a:lnTo>
                <a:lnTo>
                  <a:pt x="867172" y="1287"/>
                </a:lnTo>
                <a:lnTo>
                  <a:pt x="904875" y="0"/>
                </a:lnTo>
                <a:lnTo>
                  <a:pt x="942578" y="384"/>
                </a:lnTo>
                <a:lnTo>
                  <a:pt x="980281" y="2437"/>
                </a:lnTo>
                <a:lnTo>
                  <a:pt x="1017984" y="6154"/>
                </a:lnTo>
                <a:lnTo>
                  <a:pt x="1055687" y="11525"/>
                </a:lnTo>
                <a:lnTo>
                  <a:pt x="1093391" y="18536"/>
                </a:lnTo>
                <a:lnTo>
                  <a:pt x="1131094" y="27166"/>
                </a:lnTo>
                <a:lnTo>
                  <a:pt x="1168797" y="37392"/>
                </a:lnTo>
                <a:lnTo>
                  <a:pt x="1206500" y="49187"/>
                </a:lnTo>
                <a:lnTo>
                  <a:pt x="1244203" y="62517"/>
                </a:lnTo>
                <a:lnTo>
                  <a:pt x="1281906" y="77347"/>
                </a:lnTo>
                <a:lnTo>
                  <a:pt x="1319609" y="93636"/>
                </a:lnTo>
                <a:lnTo>
                  <a:pt x="1357313" y="111338"/>
                </a:lnTo>
                <a:lnTo>
                  <a:pt x="1395016" y="130406"/>
                </a:lnTo>
                <a:lnTo>
                  <a:pt x="1432719" y="150788"/>
                </a:lnTo>
                <a:lnTo>
                  <a:pt x="1470422" y="172427"/>
                </a:lnTo>
                <a:lnTo>
                  <a:pt x="1508125" y="195264"/>
                </a:lnTo>
                <a:lnTo>
                  <a:pt x="1545828" y="219236"/>
                </a:lnTo>
                <a:lnTo>
                  <a:pt x="1583531" y="244278"/>
                </a:lnTo>
                <a:lnTo>
                  <a:pt x="1621234" y="270321"/>
                </a:lnTo>
                <a:lnTo>
                  <a:pt x="1658937" y="297295"/>
                </a:lnTo>
                <a:lnTo>
                  <a:pt x="1696641" y="325124"/>
                </a:lnTo>
                <a:lnTo>
                  <a:pt x="1734344" y="353732"/>
                </a:lnTo>
                <a:lnTo>
                  <a:pt x="1772047" y="383042"/>
                </a:lnTo>
                <a:lnTo>
                  <a:pt x="1809750" y="412972"/>
                </a:lnTo>
                <a:lnTo>
                  <a:pt x="1847453" y="443442"/>
                </a:lnTo>
                <a:lnTo>
                  <a:pt x="1885156" y="474366"/>
                </a:lnTo>
                <a:lnTo>
                  <a:pt x="1922859" y="505661"/>
                </a:lnTo>
                <a:lnTo>
                  <a:pt x="1960563" y="537241"/>
                </a:lnTo>
                <a:lnTo>
                  <a:pt x="1998266" y="569019"/>
                </a:lnTo>
                <a:lnTo>
                  <a:pt x="2035969" y="600908"/>
                </a:lnTo>
                <a:lnTo>
                  <a:pt x="2073672" y="632820"/>
                </a:lnTo>
                <a:lnTo>
                  <a:pt x="2111375" y="664669"/>
                </a:lnTo>
                <a:lnTo>
                  <a:pt x="2149078" y="696367"/>
                </a:lnTo>
                <a:lnTo>
                  <a:pt x="2186781" y="727827"/>
                </a:lnTo>
                <a:lnTo>
                  <a:pt x="2224484" y="758962"/>
                </a:lnTo>
                <a:lnTo>
                  <a:pt x="2262188" y="789688"/>
                </a:lnTo>
                <a:lnTo>
                  <a:pt x="2299891" y="819920"/>
                </a:lnTo>
                <a:lnTo>
                  <a:pt x="2337594" y="849576"/>
                </a:lnTo>
                <a:lnTo>
                  <a:pt x="2375297" y="878573"/>
                </a:lnTo>
                <a:lnTo>
                  <a:pt x="2413000" y="906834"/>
                </a:lnTo>
                <a:lnTo>
                  <a:pt x="2450703" y="934279"/>
                </a:lnTo>
                <a:lnTo>
                  <a:pt x="2488406" y="960834"/>
                </a:lnTo>
                <a:lnTo>
                  <a:pt x="2526109" y="986426"/>
                </a:lnTo>
                <a:lnTo>
                  <a:pt x="2563813" y="1010986"/>
                </a:lnTo>
                <a:lnTo>
                  <a:pt x="2601516" y="1034445"/>
                </a:lnTo>
                <a:lnTo>
                  <a:pt x="2639219" y="1056739"/>
                </a:lnTo>
                <a:lnTo>
                  <a:pt x="2676922" y="1077808"/>
                </a:lnTo>
                <a:lnTo>
                  <a:pt x="2714625" y="1097593"/>
                </a:lnTo>
                <a:lnTo>
                  <a:pt x="2752328" y="1116040"/>
                </a:lnTo>
                <a:lnTo>
                  <a:pt x="2790031" y="1133099"/>
                </a:lnTo>
                <a:lnTo>
                  <a:pt x="2827734" y="1148724"/>
                </a:lnTo>
                <a:lnTo>
                  <a:pt x="2865438" y="1162870"/>
                </a:lnTo>
                <a:lnTo>
                  <a:pt x="2903141" y="1175499"/>
                </a:lnTo>
                <a:lnTo>
                  <a:pt x="2940844" y="1186578"/>
                </a:lnTo>
                <a:lnTo>
                  <a:pt x="2978547" y="1196074"/>
                </a:lnTo>
                <a:lnTo>
                  <a:pt x="3016250" y="1203963"/>
                </a:lnTo>
                <a:lnTo>
                  <a:pt x="3053953" y="1210223"/>
                </a:lnTo>
                <a:lnTo>
                  <a:pt x="3091656" y="1214836"/>
                </a:lnTo>
                <a:lnTo>
                  <a:pt x="3129359" y="1217791"/>
                </a:lnTo>
                <a:lnTo>
                  <a:pt x="3167063" y="1219078"/>
                </a:lnTo>
                <a:lnTo>
                  <a:pt x="3204766" y="1218694"/>
                </a:lnTo>
                <a:lnTo>
                  <a:pt x="3242469" y="1216641"/>
                </a:lnTo>
                <a:lnTo>
                  <a:pt x="3280172" y="1212924"/>
                </a:lnTo>
                <a:lnTo>
                  <a:pt x="3317875" y="1207552"/>
                </a:lnTo>
                <a:lnTo>
                  <a:pt x="3355578" y="1200542"/>
                </a:lnTo>
                <a:lnTo>
                  <a:pt x="3393281" y="1191912"/>
                </a:lnTo>
                <a:lnTo>
                  <a:pt x="3430984" y="1181686"/>
                </a:lnTo>
                <a:lnTo>
                  <a:pt x="3468688" y="1169891"/>
                </a:lnTo>
                <a:lnTo>
                  <a:pt x="3506391" y="1156561"/>
                </a:lnTo>
                <a:lnTo>
                  <a:pt x="3544094" y="1141731"/>
                </a:lnTo>
                <a:lnTo>
                  <a:pt x="3581797" y="1125442"/>
                </a:lnTo>
                <a:lnTo>
                  <a:pt x="3619500" y="1107740"/>
                </a:lnTo>
                <a:lnTo>
                  <a:pt x="3657203" y="1088671"/>
                </a:lnTo>
                <a:lnTo>
                  <a:pt x="3694906" y="1068290"/>
                </a:lnTo>
                <a:lnTo>
                  <a:pt x="3732609" y="1046651"/>
                </a:lnTo>
                <a:lnTo>
                  <a:pt x="3770312" y="1023814"/>
                </a:lnTo>
                <a:lnTo>
                  <a:pt x="3808016" y="999842"/>
                </a:lnTo>
                <a:lnTo>
                  <a:pt x="3845719" y="974800"/>
                </a:lnTo>
                <a:lnTo>
                  <a:pt x="3883422" y="948756"/>
                </a:lnTo>
                <a:lnTo>
                  <a:pt x="3921125" y="921783"/>
                </a:lnTo>
                <a:lnTo>
                  <a:pt x="3958828" y="893954"/>
                </a:lnTo>
                <a:lnTo>
                  <a:pt x="3996531" y="865346"/>
                </a:lnTo>
                <a:lnTo>
                  <a:pt x="4034234" y="836036"/>
                </a:lnTo>
                <a:lnTo>
                  <a:pt x="4071938" y="806106"/>
                </a:lnTo>
                <a:lnTo>
                  <a:pt x="4109641" y="775636"/>
                </a:lnTo>
                <a:lnTo>
                  <a:pt x="4147344" y="744712"/>
                </a:lnTo>
                <a:lnTo>
                  <a:pt x="4185047" y="713417"/>
                </a:lnTo>
                <a:lnTo>
                  <a:pt x="4222750" y="681837"/>
                </a:lnTo>
                <a:lnTo>
                  <a:pt x="4260453" y="650059"/>
                </a:lnTo>
                <a:lnTo>
                  <a:pt x="4298156" y="618170"/>
                </a:lnTo>
                <a:lnTo>
                  <a:pt x="4335859" y="586257"/>
                </a:lnTo>
                <a:lnTo>
                  <a:pt x="4373563" y="554409"/>
                </a:lnTo>
                <a:lnTo>
                  <a:pt x="4411266" y="522711"/>
                </a:lnTo>
                <a:lnTo>
                  <a:pt x="4448969" y="491251"/>
                </a:lnTo>
                <a:lnTo>
                  <a:pt x="4486672" y="460116"/>
                </a:lnTo>
                <a:lnTo>
                  <a:pt x="4524375" y="429390"/>
                </a:lnTo>
                <a:lnTo>
                  <a:pt x="4562078" y="399158"/>
                </a:lnTo>
                <a:lnTo>
                  <a:pt x="4599781" y="369502"/>
                </a:lnTo>
                <a:lnTo>
                  <a:pt x="4637484" y="340504"/>
                </a:lnTo>
                <a:lnTo>
                  <a:pt x="4675187" y="312244"/>
                </a:lnTo>
                <a:lnTo>
                  <a:pt x="4712891" y="284799"/>
                </a:lnTo>
                <a:lnTo>
                  <a:pt x="4750594" y="258244"/>
                </a:lnTo>
                <a:lnTo>
                  <a:pt x="4788297" y="232651"/>
                </a:lnTo>
                <a:lnTo>
                  <a:pt x="4826000" y="208092"/>
                </a:lnTo>
                <a:lnTo>
                  <a:pt x="4863703" y="184633"/>
                </a:lnTo>
                <a:lnTo>
                  <a:pt x="4901406" y="162339"/>
                </a:lnTo>
                <a:lnTo>
                  <a:pt x="4939109" y="141270"/>
                </a:lnTo>
                <a:lnTo>
                  <a:pt x="4976813" y="121485"/>
                </a:lnTo>
                <a:lnTo>
                  <a:pt x="5014516" y="103037"/>
                </a:lnTo>
                <a:lnTo>
                  <a:pt x="5052219" y="85978"/>
                </a:lnTo>
                <a:lnTo>
                  <a:pt x="5089922" y="70354"/>
                </a:lnTo>
                <a:lnTo>
                  <a:pt x="5127625" y="56208"/>
                </a:lnTo>
                <a:lnTo>
                  <a:pt x="5165328" y="43578"/>
                </a:lnTo>
                <a:lnTo>
                  <a:pt x="5203031" y="32500"/>
                </a:lnTo>
                <a:lnTo>
                  <a:pt x="5240734" y="23003"/>
                </a:lnTo>
                <a:lnTo>
                  <a:pt x="5278438" y="15114"/>
                </a:lnTo>
                <a:lnTo>
                  <a:pt x="5316141" y="8855"/>
                </a:lnTo>
                <a:lnTo>
                  <a:pt x="5353844" y="4241"/>
                </a:lnTo>
                <a:lnTo>
                  <a:pt x="5391547" y="1287"/>
                </a:lnTo>
                <a:lnTo>
                  <a:pt x="5429250" y="0"/>
                </a:lnTo>
                <a:lnTo>
                  <a:pt x="5466953" y="384"/>
                </a:lnTo>
                <a:lnTo>
                  <a:pt x="5504656" y="2437"/>
                </a:lnTo>
                <a:lnTo>
                  <a:pt x="5542359" y="6154"/>
                </a:lnTo>
                <a:lnTo>
                  <a:pt x="5580063" y="11525"/>
                </a:lnTo>
                <a:lnTo>
                  <a:pt x="5617766" y="18536"/>
                </a:lnTo>
                <a:lnTo>
                  <a:pt x="5655469" y="27166"/>
                </a:lnTo>
                <a:lnTo>
                  <a:pt x="5693172" y="37392"/>
                </a:lnTo>
                <a:lnTo>
                  <a:pt x="5730875" y="49187"/>
                </a:lnTo>
                <a:lnTo>
                  <a:pt x="5768578" y="62517"/>
                </a:lnTo>
                <a:lnTo>
                  <a:pt x="5806281" y="77347"/>
                </a:lnTo>
                <a:lnTo>
                  <a:pt x="5843984" y="93636"/>
                </a:lnTo>
                <a:lnTo>
                  <a:pt x="5881688" y="111338"/>
                </a:lnTo>
                <a:lnTo>
                  <a:pt x="5919391" y="130406"/>
                </a:lnTo>
                <a:lnTo>
                  <a:pt x="5957094" y="150788"/>
                </a:lnTo>
                <a:lnTo>
                  <a:pt x="5994797" y="172427"/>
                </a:lnTo>
                <a:lnTo>
                  <a:pt x="6032500" y="195264"/>
                </a:lnTo>
                <a:lnTo>
                  <a:pt x="6070203" y="219236"/>
                </a:lnTo>
                <a:lnTo>
                  <a:pt x="6107906" y="244278"/>
                </a:lnTo>
                <a:lnTo>
                  <a:pt x="6145609" y="270321"/>
                </a:lnTo>
                <a:lnTo>
                  <a:pt x="6183313" y="297295"/>
                </a:lnTo>
                <a:lnTo>
                  <a:pt x="6221016" y="325124"/>
                </a:lnTo>
                <a:lnTo>
                  <a:pt x="6258719" y="353732"/>
                </a:lnTo>
                <a:lnTo>
                  <a:pt x="6296422" y="383042"/>
                </a:lnTo>
                <a:lnTo>
                  <a:pt x="6334125" y="412972"/>
                </a:lnTo>
                <a:lnTo>
                  <a:pt x="6371828" y="443442"/>
                </a:lnTo>
                <a:lnTo>
                  <a:pt x="6409531" y="474366"/>
                </a:lnTo>
                <a:lnTo>
                  <a:pt x="6447234" y="505661"/>
                </a:lnTo>
                <a:lnTo>
                  <a:pt x="6484938" y="537241"/>
                </a:lnTo>
                <a:lnTo>
                  <a:pt x="6522641" y="569019"/>
                </a:lnTo>
                <a:lnTo>
                  <a:pt x="6560344" y="600908"/>
                </a:lnTo>
                <a:lnTo>
                  <a:pt x="6598047" y="632820"/>
                </a:lnTo>
                <a:lnTo>
                  <a:pt x="6635750" y="664669"/>
                </a:lnTo>
                <a:lnTo>
                  <a:pt x="6673453" y="696367"/>
                </a:lnTo>
                <a:lnTo>
                  <a:pt x="6711156" y="727827"/>
                </a:lnTo>
                <a:lnTo>
                  <a:pt x="6748859" y="758962"/>
                </a:lnTo>
                <a:lnTo>
                  <a:pt x="6786563" y="789688"/>
                </a:lnTo>
                <a:lnTo>
                  <a:pt x="6824266" y="819920"/>
                </a:lnTo>
                <a:lnTo>
                  <a:pt x="6861969" y="849576"/>
                </a:lnTo>
                <a:lnTo>
                  <a:pt x="6899672" y="878573"/>
                </a:lnTo>
                <a:lnTo>
                  <a:pt x="6937375" y="906834"/>
                </a:lnTo>
                <a:lnTo>
                  <a:pt x="6975078" y="934279"/>
                </a:lnTo>
                <a:lnTo>
                  <a:pt x="7012781" y="960834"/>
                </a:lnTo>
                <a:lnTo>
                  <a:pt x="7050484" y="986426"/>
                </a:lnTo>
                <a:lnTo>
                  <a:pt x="7088188" y="1010986"/>
                </a:lnTo>
                <a:lnTo>
                  <a:pt x="7125891" y="1034445"/>
                </a:lnTo>
                <a:lnTo>
                  <a:pt x="7163594" y="1056739"/>
                </a:lnTo>
                <a:lnTo>
                  <a:pt x="7201297" y="1077808"/>
                </a:lnTo>
                <a:lnTo>
                  <a:pt x="7239000" y="1097593"/>
                </a:lnTo>
                <a:lnTo>
                  <a:pt x="7276703" y="1116040"/>
                </a:lnTo>
                <a:lnTo>
                  <a:pt x="7314406" y="1133099"/>
                </a:lnTo>
                <a:lnTo>
                  <a:pt x="7352109" y="1148724"/>
                </a:lnTo>
                <a:lnTo>
                  <a:pt x="7389813" y="1162870"/>
                </a:lnTo>
                <a:lnTo>
                  <a:pt x="7427516" y="1175499"/>
                </a:lnTo>
                <a:lnTo>
                  <a:pt x="7465219" y="1186578"/>
                </a:lnTo>
                <a:lnTo>
                  <a:pt x="7502922" y="1196074"/>
                </a:lnTo>
                <a:lnTo>
                  <a:pt x="7540625" y="1203963"/>
                </a:lnTo>
                <a:lnTo>
                  <a:pt x="7578328" y="1210223"/>
                </a:lnTo>
                <a:lnTo>
                  <a:pt x="7616031" y="1214836"/>
                </a:lnTo>
                <a:lnTo>
                  <a:pt x="7653734" y="1217791"/>
                </a:lnTo>
                <a:lnTo>
                  <a:pt x="7691438" y="1219078"/>
                </a:lnTo>
                <a:lnTo>
                  <a:pt x="7729141" y="1218694"/>
                </a:lnTo>
                <a:lnTo>
                  <a:pt x="7766844" y="1216641"/>
                </a:lnTo>
                <a:lnTo>
                  <a:pt x="7804547" y="1212924"/>
                </a:lnTo>
                <a:lnTo>
                  <a:pt x="7842250" y="1207552"/>
                </a:lnTo>
                <a:lnTo>
                  <a:pt x="7879953" y="1200542"/>
                </a:lnTo>
                <a:lnTo>
                  <a:pt x="7917656" y="1191912"/>
                </a:lnTo>
                <a:lnTo>
                  <a:pt x="7955359" y="1181686"/>
                </a:lnTo>
                <a:lnTo>
                  <a:pt x="7993063" y="1169891"/>
                </a:lnTo>
                <a:lnTo>
                  <a:pt x="8030766" y="1156561"/>
                </a:lnTo>
                <a:lnTo>
                  <a:pt x="8068469" y="1141731"/>
                </a:lnTo>
                <a:lnTo>
                  <a:pt x="8106172" y="1125442"/>
                </a:lnTo>
                <a:lnTo>
                  <a:pt x="8143875" y="1107740"/>
                </a:lnTo>
                <a:lnTo>
                  <a:pt x="8181578" y="1088671"/>
                </a:lnTo>
                <a:lnTo>
                  <a:pt x="8219281" y="1068290"/>
                </a:lnTo>
                <a:lnTo>
                  <a:pt x="8256984" y="1046651"/>
                </a:lnTo>
                <a:lnTo>
                  <a:pt x="8294688" y="1023814"/>
                </a:lnTo>
                <a:lnTo>
                  <a:pt x="8332391" y="999842"/>
                </a:lnTo>
                <a:lnTo>
                  <a:pt x="8370094" y="974800"/>
                </a:lnTo>
                <a:lnTo>
                  <a:pt x="8407797" y="948756"/>
                </a:lnTo>
                <a:lnTo>
                  <a:pt x="8445500" y="921783"/>
                </a:lnTo>
                <a:lnTo>
                  <a:pt x="8483203" y="893954"/>
                </a:lnTo>
                <a:lnTo>
                  <a:pt x="8520906" y="865346"/>
                </a:lnTo>
                <a:lnTo>
                  <a:pt x="8558609" y="836036"/>
                </a:lnTo>
                <a:lnTo>
                  <a:pt x="8596313" y="806106"/>
                </a:lnTo>
                <a:lnTo>
                  <a:pt x="8634016" y="775636"/>
                </a:lnTo>
                <a:lnTo>
                  <a:pt x="8671719" y="744712"/>
                </a:lnTo>
                <a:lnTo>
                  <a:pt x="8709422" y="713417"/>
                </a:lnTo>
                <a:lnTo>
                  <a:pt x="8747125" y="681837"/>
                </a:lnTo>
                <a:lnTo>
                  <a:pt x="8784828" y="650059"/>
                </a:lnTo>
                <a:lnTo>
                  <a:pt x="8822531" y="618170"/>
                </a:lnTo>
                <a:lnTo>
                  <a:pt x="8860234" y="586257"/>
                </a:lnTo>
                <a:lnTo>
                  <a:pt x="8897937" y="554409"/>
                </a:lnTo>
                <a:lnTo>
                  <a:pt x="8935641" y="522711"/>
                </a:lnTo>
                <a:lnTo>
                  <a:pt x="8973344" y="491251"/>
                </a:lnTo>
                <a:lnTo>
                  <a:pt x="9011047" y="460116"/>
                </a:lnTo>
                <a:lnTo>
                  <a:pt x="9048750" y="42939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CF1B0F2-F255-4803-B5FF-AD5F102D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声压变化 → 麦克风 → 电信号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4DDA322-8C24-497A-B098-38E03471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横轴：时间；纵轴：信号幅度</a:t>
            </a:r>
          </a:p>
        </p:txBody>
      </p:sp>
    </p:spTree>
    <p:extLst>
      <p:ext uri="{BB962C8B-B14F-4D97-AF65-F5344CB8AC3E}">
        <p14:creationId xmlns:p14="http://schemas.microsoft.com/office/powerpoint/2010/main" val="707702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AF7AD0DF-44EB-43C8-B9DD-962DCE37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0536A32-2802-43CC-BC97-7C76DEB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1AF2EA2-8F72-436D-B4D5-C337F2BA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怎样留下波形随时间的变化？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BEA927D3-24CE-4C35-AC71-D427435C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这一秒的曲线怎样记录？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70C6BC79-C816-4506-8AD2-6977EB89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在纸上圈出你准备读取的时刻。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428A4D36-AB35-472A-BF7D-B05B7DA8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D088AA2D-111A-48BE-8C7B-7D978759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6063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7AA3E4FF-106E-4739-B3AA-E78F154B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634"/>
            <a:ext cx="9048750" cy="1180982"/>
          </a:xfrm>
          <a:custGeom xmlns:a="http://schemas.openxmlformats.org/drawingml/2006/main">
            <a:pathLst>
              <a:path w="9048750" h="1180982">
                <a:moveTo>
                  <a:pt x="0" y="415971"/>
                </a:moveTo>
                <a:lnTo>
                  <a:pt x="37703" y="386684"/>
                </a:lnTo>
                <a:lnTo>
                  <a:pt x="75406" y="357955"/>
                </a:lnTo>
                <a:lnTo>
                  <a:pt x="113109" y="329864"/>
                </a:lnTo>
                <a:lnTo>
                  <a:pt x="150813" y="302487"/>
                </a:lnTo>
                <a:lnTo>
                  <a:pt x="188516" y="275899"/>
                </a:lnTo>
                <a:lnTo>
                  <a:pt x="226219" y="250174"/>
                </a:lnTo>
                <a:lnTo>
                  <a:pt x="263922" y="225381"/>
                </a:lnTo>
                <a:lnTo>
                  <a:pt x="301625" y="201589"/>
                </a:lnTo>
                <a:lnTo>
                  <a:pt x="339328" y="178863"/>
                </a:lnTo>
                <a:lnTo>
                  <a:pt x="377031" y="157266"/>
                </a:lnTo>
                <a:lnTo>
                  <a:pt x="414734" y="136855"/>
                </a:lnTo>
                <a:lnTo>
                  <a:pt x="452438" y="117688"/>
                </a:lnTo>
                <a:lnTo>
                  <a:pt x="490141" y="99818"/>
                </a:lnTo>
                <a:lnTo>
                  <a:pt x="527844" y="83292"/>
                </a:lnTo>
                <a:lnTo>
                  <a:pt x="565547" y="68156"/>
                </a:lnTo>
                <a:lnTo>
                  <a:pt x="603250" y="54452"/>
                </a:lnTo>
                <a:lnTo>
                  <a:pt x="640953" y="42217"/>
                </a:lnTo>
                <a:lnTo>
                  <a:pt x="678656" y="31485"/>
                </a:lnTo>
                <a:lnTo>
                  <a:pt x="716359" y="22285"/>
                </a:lnTo>
                <a:lnTo>
                  <a:pt x="754063" y="14642"/>
                </a:lnTo>
                <a:lnTo>
                  <a:pt x="791766" y="8578"/>
                </a:lnTo>
                <a:lnTo>
                  <a:pt x="829469" y="4109"/>
                </a:lnTo>
                <a:lnTo>
                  <a:pt x="867172" y="1247"/>
                </a:lnTo>
                <a:lnTo>
                  <a:pt x="904875" y="0"/>
                </a:lnTo>
                <a:lnTo>
                  <a:pt x="942578" y="372"/>
                </a:lnTo>
                <a:lnTo>
                  <a:pt x="980281" y="2361"/>
                </a:lnTo>
                <a:lnTo>
                  <a:pt x="1017984" y="5962"/>
                </a:lnTo>
                <a:lnTo>
                  <a:pt x="1055687" y="11165"/>
                </a:lnTo>
                <a:lnTo>
                  <a:pt x="1093391" y="17956"/>
                </a:lnTo>
                <a:lnTo>
                  <a:pt x="1131094" y="26317"/>
                </a:lnTo>
                <a:lnTo>
                  <a:pt x="1168797" y="36224"/>
                </a:lnTo>
                <a:lnTo>
                  <a:pt x="1206500" y="47650"/>
                </a:lnTo>
                <a:lnTo>
                  <a:pt x="1244203" y="60564"/>
                </a:lnTo>
                <a:lnTo>
                  <a:pt x="1281906" y="74930"/>
                </a:lnTo>
                <a:lnTo>
                  <a:pt x="1319609" y="90710"/>
                </a:lnTo>
                <a:lnTo>
                  <a:pt x="1357313" y="107859"/>
                </a:lnTo>
                <a:lnTo>
                  <a:pt x="1395016" y="126331"/>
                </a:lnTo>
                <a:lnTo>
                  <a:pt x="1432719" y="146076"/>
                </a:lnTo>
                <a:lnTo>
                  <a:pt x="1470422" y="167038"/>
                </a:lnTo>
                <a:lnTo>
                  <a:pt x="1508125" y="189162"/>
                </a:lnTo>
                <a:lnTo>
                  <a:pt x="1545828" y="212385"/>
                </a:lnTo>
                <a:lnTo>
                  <a:pt x="1583531" y="236644"/>
                </a:lnTo>
                <a:lnTo>
                  <a:pt x="1621234" y="261874"/>
                </a:lnTo>
                <a:lnTo>
                  <a:pt x="1658937" y="288004"/>
                </a:lnTo>
                <a:lnTo>
                  <a:pt x="1696641" y="314963"/>
                </a:lnTo>
                <a:lnTo>
                  <a:pt x="1734344" y="342678"/>
                </a:lnTo>
                <a:lnTo>
                  <a:pt x="1772047" y="371072"/>
                </a:lnTo>
                <a:lnTo>
                  <a:pt x="1809750" y="400067"/>
                </a:lnTo>
                <a:lnTo>
                  <a:pt x="1847453" y="429584"/>
                </a:lnTo>
                <a:lnTo>
                  <a:pt x="1885156" y="459542"/>
                </a:lnTo>
                <a:lnTo>
                  <a:pt x="1922859" y="489859"/>
                </a:lnTo>
                <a:lnTo>
                  <a:pt x="1960563" y="520452"/>
                </a:lnTo>
                <a:lnTo>
                  <a:pt x="1998266" y="551237"/>
                </a:lnTo>
                <a:lnTo>
                  <a:pt x="2035969" y="582129"/>
                </a:lnTo>
                <a:lnTo>
                  <a:pt x="2073672" y="613045"/>
                </a:lnTo>
                <a:lnTo>
                  <a:pt x="2111375" y="643898"/>
                </a:lnTo>
                <a:lnTo>
                  <a:pt x="2149078" y="674605"/>
                </a:lnTo>
                <a:lnTo>
                  <a:pt x="2186781" y="705082"/>
                </a:lnTo>
                <a:lnTo>
                  <a:pt x="2224484" y="735245"/>
                </a:lnTo>
                <a:lnTo>
                  <a:pt x="2262188" y="765010"/>
                </a:lnTo>
                <a:lnTo>
                  <a:pt x="2299891" y="794298"/>
                </a:lnTo>
                <a:lnTo>
                  <a:pt x="2337594" y="823026"/>
                </a:lnTo>
                <a:lnTo>
                  <a:pt x="2375297" y="851118"/>
                </a:lnTo>
                <a:lnTo>
                  <a:pt x="2413000" y="878495"/>
                </a:lnTo>
                <a:lnTo>
                  <a:pt x="2450703" y="905083"/>
                </a:lnTo>
                <a:lnTo>
                  <a:pt x="2488406" y="930808"/>
                </a:lnTo>
                <a:lnTo>
                  <a:pt x="2526109" y="955601"/>
                </a:lnTo>
                <a:lnTo>
                  <a:pt x="2563813" y="979392"/>
                </a:lnTo>
                <a:lnTo>
                  <a:pt x="2601516" y="1002118"/>
                </a:lnTo>
                <a:lnTo>
                  <a:pt x="2639219" y="1023716"/>
                </a:lnTo>
                <a:lnTo>
                  <a:pt x="2676922" y="1044126"/>
                </a:lnTo>
                <a:lnTo>
                  <a:pt x="2714625" y="1063293"/>
                </a:lnTo>
                <a:lnTo>
                  <a:pt x="2752328" y="1081164"/>
                </a:lnTo>
                <a:lnTo>
                  <a:pt x="2790031" y="1097690"/>
                </a:lnTo>
                <a:lnTo>
                  <a:pt x="2827734" y="1112826"/>
                </a:lnTo>
                <a:lnTo>
                  <a:pt x="2865438" y="1126530"/>
                </a:lnTo>
                <a:lnTo>
                  <a:pt x="2903141" y="1138765"/>
                </a:lnTo>
                <a:lnTo>
                  <a:pt x="2940844" y="1149497"/>
                </a:lnTo>
                <a:lnTo>
                  <a:pt x="2978547" y="1158697"/>
                </a:lnTo>
                <a:lnTo>
                  <a:pt x="3016250" y="1166340"/>
                </a:lnTo>
                <a:lnTo>
                  <a:pt x="3053953" y="1172404"/>
                </a:lnTo>
                <a:lnTo>
                  <a:pt x="3091656" y="1176873"/>
                </a:lnTo>
                <a:lnTo>
                  <a:pt x="3129359" y="1179735"/>
                </a:lnTo>
                <a:lnTo>
                  <a:pt x="3167063" y="1180982"/>
                </a:lnTo>
                <a:lnTo>
                  <a:pt x="3204766" y="1180610"/>
                </a:lnTo>
                <a:lnTo>
                  <a:pt x="3242469" y="1178621"/>
                </a:lnTo>
                <a:lnTo>
                  <a:pt x="3280172" y="1175020"/>
                </a:lnTo>
                <a:lnTo>
                  <a:pt x="3317875" y="1169816"/>
                </a:lnTo>
                <a:lnTo>
                  <a:pt x="3355578" y="1163025"/>
                </a:lnTo>
                <a:lnTo>
                  <a:pt x="3393281" y="1154665"/>
                </a:lnTo>
                <a:lnTo>
                  <a:pt x="3430984" y="1144758"/>
                </a:lnTo>
                <a:lnTo>
                  <a:pt x="3468688" y="1133332"/>
                </a:lnTo>
                <a:lnTo>
                  <a:pt x="3506391" y="1120418"/>
                </a:lnTo>
                <a:lnTo>
                  <a:pt x="3544094" y="1106052"/>
                </a:lnTo>
                <a:lnTo>
                  <a:pt x="3581797" y="1090272"/>
                </a:lnTo>
                <a:lnTo>
                  <a:pt x="3619500" y="1073123"/>
                </a:lnTo>
                <a:lnTo>
                  <a:pt x="3657203" y="1054650"/>
                </a:lnTo>
                <a:lnTo>
                  <a:pt x="3694906" y="1034906"/>
                </a:lnTo>
                <a:lnTo>
                  <a:pt x="3732609" y="1013943"/>
                </a:lnTo>
                <a:lnTo>
                  <a:pt x="3770312" y="991820"/>
                </a:lnTo>
                <a:lnTo>
                  <a:pt x="3808016" y="968597"/>
                </a:lnTo>
                <a:lnTo>
                  <a:pt x="3845719" y="944337"/>
                </a:lnTo>
                <a:lnTo>
                  <a:pt x="3883422" y="919108"/>
                </a:lnTo>
                <a:lnTo>
                  <a:pt x="3921125" y="892977"/>
                </a:lnTo>
                <a:lnTo>
                  <a:pt x="3958828" y="866018"/>
                </a:lnTo>
                <a:lnTo>
                  <a:pt x="3996531" y="838304"/>
                </a:lnTo>
                <a:lnTo>
                  <a:pt x="4034234" y="809910"/>
                </a:lnTo>
                <a:lnTo>
                  <a:pt x="4071938" y="780915"/>
                </a:lnTo>
                <a:lnTo>
                  <a:pt x="4109641" y="751398"/>
                </a:lnTo>
                <a:lnTo>
                  <a:pt x="4147344" y="721440"/>
                </a:lnTo>
                <a:lnTo>
                  <a:pt x="4185047" y="691122"/>
                </a:lnTo>
                <a:lnTo>
                  <a:pt x="4222750" y="660530"/>
                </a:lnTo>
                <a:lnTo>
                  <a:pt x="4260453" y="629745"/>
                </a:lnTo>
                <a:lnTo>
                  <a:pt x="4298156" y="598852"/>
                </a:lnTo>
                <a:lnTo>
                  <a:pt x="4335859" y="567937"/>
                </a:lnTo>
                <a:lnTo>
                  <a:pt x="4373563" y="537083"/>
                </a:lnTo>
                <a:lnTo>
                  <a:pt x="4411266" y="506376"/>
                </a:lnTo>
                <a:lnTo>
                  <a:pt x="4448969" y="475900"/>
                </a:lnTo>
                <a:lnTo>
                  <a:pt x="4486672" y="445737"/>
                </a:lnTo>
                <a:lnTo>
                  <a:pt x="4524375" y="415971"/>
                </a:lnTo>
                <a:lnTo>
                  <a:pt x="4562078" y="386684"/>
                </a:lnTo>
                <a:lnTo>
                  <a:pt x="4599781" y="357955"/>
                </a:lnTo>
                <a:lnTo>
                  <a:pt x="4637484" y="329864"/>
                </a:lnTo>
                <a:lnTo>
                  <a:pt x="4675187" y="302487"/>
                </a:lnTo>
                <a:lnTo>
                  <a:pt x="4712891" y="275899"/>
                </a:lnTo>
                <a:lnTo>
                  <a:pt x="4750594" y="250174"/>
                </a:lnTo>
                <a:lnTo>
                  <a:pt x="4788297" y="225381"/>
                </a:lnTo>
                <a:lnTo>
                  <a:pt x="4826000" y="201589"/>
                </a:lnTo>
                <a:lnTo>
                  <a:pt x="4863703" y="178863"/>
                </a:lnTo>
                <a:lnTo>
                  <a:pt x="4901406" y="157266"/>
                </a:lnTo>
                <a:lnTo>
                  <a:pt x="4939109" y="136855"/>
                </a:lnTo>
                <a:lnTo>
                  <a:pt x="4976813" y="117688"/>
                </a:lnTo>
                <a:lnTo>
                  <a:pt x="5014516" y="99818"/>
                </a:lnTo>
                <a:lnTo>
                  <a:pt x="5052219" y="83292"/>
                </a:lnTo>
                <a:lnTo>
                  <a:pt x="5089922" y="68156"/>
                </a:lnTo>
                <a:lnTo>
                  <a:pt x="5127625" y="54452"/>
                </a:lnTo>
                <a:lnTo>
                  <a:pt x="5165328" y="42217"/>
                </a:lnTo>
                <a:lnTo>
                  <a:pt x="5203031" y="31485"/>
                </a:lnTo>
                <a:lnTo>
                  <a:pt x="5240734" y="22285"/>
                </a:lnTo>
                <a:lnTo>
                  <a:pt x="5278438" y="14642"/>
                </a:lnTo>
                <a:lnTo>
                  <a:pt x="5316141" y="8578"/>
                </a:lnTo>
                <a:lnTo>
                  <a:pt x="5353844" y="4109"/>
                </a:lnTo>
                <a:lnTo>
                  <a:pt x="5391547" y="1247"/>
                </a:lnTo>
                <a:lnTo>
                  <a:pt x="5429250" y="0"/>
                </a:lnTo>
                <a:lnTo>
                  <a:pt x="5466953" y="372"/>
                </a:lnTo>
                <a:lnTo>
                  <a:pt x="5504656" y="2361"/>
                </a:lnTo>
                <a:lnTo>
                  <a:pt x="5542359" y="5962"/>
                </a:lnTo>
                <a:lnTo>
                  <a:pt x="5580063" y="11165"/>
                </a:lnTo>
                <a:lnTo>
                  <a:pt x="5617766" y="17956"/>
                </a:lnTo>
                <a:lnTo>
                  <a:pt x="5655469" y="26317"/>
                </a:lnTo>
                <a:lnTo>
                  <a:pt x="5693172" y="36224"/>
                </a:lnTo>
                <a:lnTo>
                  <a:pt x="5730875" y="47650"/>
                </a:lnTo>
                <a:lnTo>
                  <a:pt x="5768578" y="60564"/>
                </a:lnTo>
                <a:lnTo>
                  <a:pt x="5806281" y="74930"/>
                </a:lnTo>
                <a:lnTo>
                  <a:pt x="5843984" y="90710"/>
                </a:lnTo>
                <a:lnTo>
                  <a:pt x="5881688" y="107859"/>
                </a:lnTo>
                <a:lnTo>
                  <a:pt x="5919391" y="126331"/>
                </a:lnTo>
                <a:lnTo>
                  <a:pt x="5957094" y="146076"/>
                </a:lnTo>
                <a:lnTo>
                  <a:pt x="5994797" y="167038"/>
                </a:lnTo>
                <a:lnTo>
                  <a:pt x="6032500" y="189162"/>
                </a:lnTo>
                <a:lnTo>
                  <a:pt x="6070203" y="212385"/>
                </a:lnTo>
                <a:lnTo>
                  <a:pt x="6107906" y="236644"/>
                </a:lnTo>
                <a:lnTo>
                  <a:pt x="6145609" y="261874"/>
                </a:lnTo>
                <a:lnTo>
                  <a:pt x="6183313" y="288004"/>
                </a:lnTo>
                <a:lnTo>
                  <a:pt x="6221016" y="314963"/>
                </a:lnTo>
                <a:lnTo>
                  <a:pt x="6258719" y="342678"/>
                </a:lnTo>
                <a:lnTo>
                  <a:pt x="6296422" y="371072"/>
                </a:lnTo>
                <a:lnTo>
                  <a:pt x="6334125" y="400067"/>
                </a:lnTo>
                <a:lnTo>
                  <a:pt x="6371828" y="429584"/>
                </a:lnTo>
                <a:lnTo>
                  <a:pt x="6409531" y="459542"/>
                </a:lnTo>
                <a:lnTo>
                  <a:pt x="6447234" y="489859"/>
                </a:lnTo>
                <a:lnTo>
                  <a:pt x="6484938" y="520452"/>
                </a:lnTo>
                <a:lnTo>
                  <a:pt x="6522641" y="551237"/>
                </a:lnTo>
                <a:lnTo>
                  <a:pt x="6560344" y="582129"/>
                </a:lnTo>
                <a:lnTo>
                  <a:pt x="6598047" y="613045"/>
                </a:lnTo>
                <a:lnTo>
                  <a:pt x="6635750" y="643898"/>
                </a:lnTo>
                <a:lnTo>
                  <a:pt x="6673453" y="674605"/>
                </a:lnTo>
                <a:lnTo>
                  <a:pt x="6711156" y="705082"/>
                </a:lnTo>
                <a:lnTo>
                  <a:pt x="6748859" y="735245"/>
                </a:lnTo>
                <a:lnTo>
                  <a:pt x="6786563" y="765010"/>
                </a:lnTo>
                <a:lnTo>
                  <a:pt x="6824266" y="794298"/>
                </a:lnTo>
                <a:lnTo>
                  <a:pt x="6861969" y="823026"/>
                </a:lnTo>
                <a:lnTo>
                  <a:pt x="6899672" y="851118"/>
                </a:lnTo>
                <a:lnTo>
                  <a:pt x="6937375" y="878495"/>
                </a:lnTo>
                <a:lnTo>
                  <a:pt x="6975078" y="905083"/>
                </a:lnTo>
                <a:lnTo>
                  <a:pt x="7012781" y="930808"/>
                </a:lnTo>
                <a:lnTo>
                  <a:pt x="7050484" y="955601"/>
                </a:lnTo>
                <a:lnTo>
                  <a:pt x="7088188" y="979392"/>
                </a:lnTo>
                <a:lnTo>
                  <a:pt x="7125891" y="1002118"/>
                </a:lnTo>
                <a:lnTo>
                  <a:pt x="7163594" y="1023716"/>
                </a:lnTo>
                <a:lnTo>
                  <a:pt x="7201297" y="1044126"/>
                </a:lnTo>
                <a:lnTo>
                  <a:pt x="7239000" y="1063293"/>
                </a:lnTo>
                <a:lnTo>
                  <a:pt x="7276703" y="1081164"/>
                </a:lnTo>
                <a:lnTo>
                  <a:pt x="7314406" y="1097690"/>
                </a:lnTo>
                <a:lnTo>
                  <a:pt x="7352109" y="1112826"/>
                </a:lnTo>
                <a:lnTo>
                  <a:pt x="7389813" y="1126530"/>
                </a:lnTo>
                <a:lnTo>
                  <a:pt x="7427516" y="1138765"/>
                </a:lnTo>
                <a:lnTo>
                  <a:pt x="7465219" y="1149497"/>
                </a:lnTo>
                <a:lnTo>
                  <a:pt x="7502922" y="1158697"/>
                </a:lnTo>
                <a:lnTo>
                  <a:pt x="7540625" y="1166340"/>
                </a:lnTo>
                <a:lnTo>
                  <a:pt x="7578328" y="1172404"/>
                </a:lnTo>
                <a:lnTo>
                  <a:pt x="7616031" y="1176873"/>
                </a:lnTo>
                <a:lnTo>
                  <a:pt x="7653734" y="1179735"/>
                </a:lnTo>
                <a:lnTo>
                  <a:pt x="7691438" y="1180982"/>
                </a:lnTo>
                <a:lnTo>
                  <a:pt x="7729141" y="1180610"/>
                </a:lnTo>
                <a:lnTo>
                  <a:pt x="7766844" y="1178621"/>
                </a:lnTo>
                <a:lnTo>
                  <a:pt x="7804547" y="1175020"/>
                </a:lnTo>
                <a:lnTo>
                  <a:pt x="7842250" y="1169816"/>
                </a:lnTo>
                <a:lnTo>
                  <a:pt x="7879953" y="1163025"/>
                </a:lnTo>
                <a:lnTo>
                  <a:pt x="7917656" y="1154665"/>
                </a:lnTo>
                <a:lnTo>
                  <a:pt x="7955359" y="1144758"/>
                </a:lnTo>
                <a:lnTo>
                  <a:pt x="7993063" y="1133332"/>
                </a:lnTo>
                <a:lnTo>
                  <a:pt x="8030766" y="1120418"/>
                </a:lnTo>
                <a:lnTo>
                  <a:pt x="8068469" y="1106052"/>
                </a:lnTo>
                <a:lnTo>
                  <a:pt x="8106172" y="1090272"/>
                </a:lnTo>
                <a:lnTo>
                  <a:pt x="8143875" y="1073123"/>
                </a:lnTo>
                <a:lnTo>
                  <a:pt x="8181578" y="1054650"/>
                </a:lnTo>
                <a:lnTo>
                  <a:pt x="8219281" y="1034906"/>
                </a:lnTo>
                <a:lnTo>
                  <a:pt x="8256984" y="1013943"/>
                </a:lnTo>
                <a:lnTo>
                  <a:pt x="8294688" y="991820"/>
                </a:lnTo>
                <a:lnTo>
                  <a:pt x="8332391" y="968597"/>
                </a:lnTo>
                <a:lnTo>
                  <a:pt x="8370094" y="944337"/>
                </a:lnTo>
                <a:lnTo>
                  <a:pt x="8407797" y="919108"/>
                </a:lnTo>
                <a:lnTo>
                  <a:pt x="8445500" y="892977"/>
                </a:lnTo>
                <a:lnTo>
                  <a:pt x="8483203" y="866018"/>
                </a:lnTo>
                <a:lnTo>
                  <a:pt x="8520906" y="838304"/>
                </a:lnTo>
                <a:lnTo>
                  <a:pt x="8558609" y="809910"/>
                </a:lnTo>
                <a:lnTo>
                  <a:pt x="8596313" y="780915"/>
                </a:lnTo>
                <a:lnTo>
                  <a:pt x="8634016" y="751398"/>
                </a:lnTo>
                <a:lnTo>
                  <a:pt x="8671719" y="721440"/>
                </a:lnTo>
                <a:lnTo>
                  <a:pt x="8709422" y="691122"/>
                </a:lnTo>
                <a:lnTo>
                  <a:pt x="8747125" y="660530"/>
                </a:lnTo>
                <a:lnTo>
                  <a:pt x="8784828" y="629745"/>
                </a:lnTo>
                <a:lnTo>
                  <a:pt x="8822531" y="598852"/>
                </a:lnTo>
                <a:lnTo>
                  <a:pt x="8860234" y="567937"/>
                </a:lnTo>
                <a:lnTo>
                  <a:pt x="8897937" y="537083"/>
                </a:lnTo>
                <a:lnTo>
                  <a:pt x="8935641" y="506376"/>
                </a:lnTo>
                <a:lnTo>
                  <a:pt x="8973344" y="475900"/>
                </a:lnTo>
                <a:lnTo>
                  <a:pt x="9011047" y="445737"/>
                </a:lnTo>
                <a:lnTo>
                  <a:pt x="9048750" y="41597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22666D-C70D-4799-991A-D91D55E1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2013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5DBDA4C-829C-4BEF-8763-53C003D9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72013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</p:spTree>
    <p:extLst>
      <p:ext uri="{BB962C8B-B14F-4D97-AF65-F5344CB8AC3E}">
        <p14:creationId xmlns:p14="http://schemas.microsoft.com/office/powerpoint/2010/main" val="1097148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AF7AD0DF-44EB-43C8-B9DD-962DCE37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0536A32-2802-43CC-BC97-7C76DEB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1AF2EA2-8F72-436D-B4D5-C337F2BA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怎样留下波形随时间的变化？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BEA927D3-24CE-4C35-AC71-D427435C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这一秒的曲线怎样记录？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70C6BC79-C816-4506-8AD2-6977EB89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在纸上圈出你准备读取的时刻。</a:t>
            </a:r>
          </a:p>
        </p:txBody>
      </p:sp>
      <p:sp>
        <p:nvSpPr>
          <p:cNvPr id="6" name="zero-line">
            <a:extLst xmlns:a="http://schemas.openxmlformats.org/drawingml/2006/main">
              <a:ext uri="{FF2B5EF4-FFF2-40B4-BE49-F238E27FC236}">
                <a16:creationId xmlns:a16="http://schemas.microsoft.com/office/drawing/2014/main" id="{428A4D36-AB35-472A-BF7D-B05B7DA8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67125"/>
            <a:ext cx="9048750" cy="9525"/>
          </a:xfrm>
          <a:custGeom xmlns:a="http://schemas.openxmlformats.org/drawingml/2006/main"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8D8DF"/>
            </a:solidFill>
          </a:ln>
        </p:spPr>
      </p:sp>
      <p:sp>
        <p:nvSpPr>
          <p:cNvPr id="7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D088AA2D-111A-48BE-8C7B-7D978759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6063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waveform">
            <a:extLst xmlns:a="http://schemas.openxmlformats.org/drawingml/2006/main">
              <a:ext uri="{FF2B5EF4-FFF2-40B4-BE49-F238E27FC236}">
                <a16:creationId xmlns:a16="http://schemas.microsoft.com/office/drawing/2014/main" id="{7AA3E4FF-106E-4739-B3AA-E78F154B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634"/>
            <a:ext cx="9048750" cy="1180982"/>
          </a:xfrm>
          <a:custGeom xmlns:a="http://schemas.openxmlformats.org/drawingml/2006/main">
            <a:pathLst>
              <a:path w="9048750" h="1180982">
                <a:moveTo>
                  <a:pt x="0" y="415971"/>
                </a:moveTo>
                <a:lnTo>
                  <a:pt x="37703" y="386684"/>
                </a:lnTo>
                <a:lnTo>
                  <a:pt x="75406" y="357955"/>
                </a:lnTo>
                <a:lnTo>
                  <a:pt x="113109" y="329864"/>
                </a:lnTo>
                <a:lnTo>
                  <a:pt x="150813" y="302487"/>
                </a:lnTo>
                <a:lnTo>
                  <a:pt x="188516" y="275899"/>
                </a:lnTo>
                <a:lnTo>
                  <a:pt x="226219" y="250174"/>
                </a:lnTo>
                <a:lnTo>
                  <a:pt x="263922" y="225381"/>
                </a:lnTo>
                <a:lnTo>
                  <a:pt x="301625" y="201589"/>
                </a:lnTo>
                <a:lnTo>
                  <a:pt x="339328" y="178863"/>
                </a:lnTo>
                <a:lnTo>
                  <a:pt x="377031" y="157266"/>
                </a:lnTo>
                <a:lnTo>
                  <a:pt x="414734" y="136855"/>
                </a:lnTo>
                <a:lnTo>
                  <a:pt x="452438" y="117688"/>
                </a:lnTo>
                <a:lnTo>
                  <a:pt x="490141" y="99818"/>
                </a:lnTo>
                <a:lnTo>
                  <a:pt x="527844" y="83292"/>
                </a:lnTo>
                <a:lnTo>
                  <a:pt x="565547" y="68156"/>
                </a:lnTo>
                <a:lnTo>
                  <a:pt x="603250" y="54452"/>
                </a:lnTo>
                <a:lnTo>
                  <a:pt x="640953" y="42217"/>
                </a:lnTo>
                <a:lnTo>
                  <a:pt x="678656" y="31485"/>
                </a:lnTo>
                <a:lnTo>
                  <a:pt x="716359" y="22285"/>
                </a:lnTo>
                <a:lnTo>
                  <a:pt x="754063" y="14642"/>
                </a:lnTo>
                <a:lnTo>
                  <a:pt x="791766" y="8578"/>
                </a:lnTo>
                <a:lnTo>
                  <a:pt x="829469" y="4109"/>
                </a:lnTo>
                <a:lnTo>
                  <a:pt x="867172" y="1247"/>
                </a:lnTo>
                <a:lnTo>
                  <a:pt x="904875" y="0"/>
                </a:lnTo>
                <a:lnTo>
                  <a:pt x="942578" y="372"/>
                </a:lnTo>
                <a:lnTo>
                  <a:pt x="980281" y="2361"/>
                </a:lnTo>
                <a:lnTo>
                  <a:pt x="1017984" y="5962"/>
                </a:lnTo>
                <a:lnTo>
                  <a:pt x="1055687" y="11165"/>
                </a:lnTo>
                <a:lnTo>
                  <a:pt x="1093391" y="17956"/>
                </a:lnTo>
                <a:lnTo>
                  <a:pt x="1131094" y="26317"/>
                </a:lnTo>
                <a:lnTo>
                  <a:pt x="1168797" y="36224"/>
                </a:lnTo>
                <a:lnTo>
                  <a:pt x="1206500" y="47650"/>
                </a:lnTo>
                <a:lnTo>
                  <a:pt x="1244203" y="60564"/>
                </a:lnTo>
                <a:lnTo>
                  <a:pt x="1281906" y="74930"/>
                </a:lnTo>
                <a:lnTo>
                  <a:pt x="1319609" y="90710"/>
                </a:lnTo>
                <a:lnTo>
                  <a:pt x="1357313" y="107859"/>
                </a:lnTo>
                <a:lnTo>
                  <a:pt x="1395016" y="126331"/>
                </a:lnTo>
                <a:lnTo>
                  <a:pt x="1432719" y="146076"/>
                </a:lnTo>
                <a:lnTo>
                  <a:pt x="1470422" y="167038"/>
                </a:lnTo>
                <a:lnTo>
                  <a:pt x="1508125" y="189162"/>
                </a:lnTo>
                <a:lnTo>
                  <a:pt x="1545828" y="212385"/>
                </a:lnTo>
                <a:lnTo>
                  <a:pt x="1583531" y="236644"/>
                </a:lnTo>
                <a:lnTo>
                  <a:pt x="1621234" y="261874"/>
                </a:lnTo>
                <a:lnTo>
                  <a:pt x="1658937" y="288004"/>
                </a:lnTo>
                <a:lnTo>
                  <a:pt x="1696641" y="314963"/>
                </a:lnTo>
                <a:lnTo>
                  <a:pt x="1734344" y="342678"/>
                </a:lnTo>
                <a:lnTo>
                  <a:pt x="1772047" y="371072"/>
                </a:lnTo>
                <a:lnTo>
                  <a:pt x="1809750" y="400067"/>
                </a:lnTo>
                <a:lnTo>
                  <a:pt x="1847453" y="429584"/>
                </a:lnTo>
                <a:lnTo>
                  <a:pt x="1885156" y="459542"/>
                </a:lnTo>
                <a:lnTo>
                  <a:pt x="1922859" y="489859"/>
                </a:lnTo>
                <a:lnTo>
                  <a:pt x="1960563" y="520452"/>
                </a:lnTo>
                <a:lnTo>
                  <a:pt x="1998266" y="551237"/>
                </a:lnTo>
                <a:lnTo>
                  <a:pt x="2035969" y="582129"/>
                </a:lnTo>
                <a:lnTo>
                  <a:pt x="2073672" y="613045"/>
                </a:lnTo>
                <a:lnTo>
                  <a:pt x="2111375" y="643898"/>
                </a:lnTo>
                <a:lnTo>
                  <a:pt x="2149078" y="674605"/>
                </a:lnTo>
                <a:lnTo>
                  <a:pt x="2186781" y="705082"/>
                </a:lnTo>
                <a:lnTo>
                  <a:pt x="2224484" y="735245"/>
                </a:lnTo>
                <a:lnTo>
                  <a:pt x="2262188" y="765010"/>
                </a:lnTo>
                <a:lnTo>
                  <a:pt x="2299891" y="794298"/>
                </a:lnTo>
                <a:lnTo>
                  <a:pt x="2337594" y="823026"/>
                </a:lnTo>
                <a:lnTo>
                  <a:pt x="2375297" y="851118"/>
                </a:lnTo>
                <a:lnTo>
                  <a:pt x="2413000" y="878495"/>
                </a:lnTo>
                <a:lnTo>
                  <a:pt x="2450703" y="905083"/>
                </a:lnTo>
                <a:lnTo>
                  <a:pt x="2488406" y="930808"/>
                </a:lnTo>
                <a:lnTo>
                  <a:pt x="2526109" y="955601"/>
                </a:lnTo>
                <a:lnTo>
                  <a:pt x="2563813" y="979392"/>
                </a:lnTo>
                <a:lnTo>
                  <a:pt x="2601516" y="1002118"/>
                </a:lnTo>
                <a:lnTo>
                  <a:pt x="2639219" y="1023716"/>
                </a:lnTo>
                <a:lnTo>
                  <a:pt x="2676922" y="1044126"/>
                </a:lnTo>
                <a:lnTo>
                  <a:pt x="2714625" y="1063293"/>
                </a:lnTo>
                <a:lnTo>
                  <a:pt x="2752328" y="1081164"/>
                </a:lnTo>
                <a:lnTo>
                  <a:pt x="2790031" y="1097690"/>
                </a:lnTo>
                <a:lnTo>
                  <a:pt x="2827734" y="1112826"/>
                </a:lnTo>
                <a:lnTo>
                  <a:pt x="2865438" y="1126530"/>
                </a:lnTo>
                <a:lnTo>
                  <a:pt x="2903141" y="1138765"/>
                </a:lnTo>
                <a:lnTo>
                  <a:pt x="2940844" y="1149497"/>
                </a:lnTo>
                <a:lnTo>
                  <a:pt x="2978547" y="1158697"/>
                </a:lnTo>
                <a:lnTo>
                  <a:pt x="3016250" y="1166340"/>
                </a:lnTo>
                <a:lnTo>
                  <a:pt x="3053953" y="1172404"/>
                </a:lnTo>
                <a:lnTo>
                  <a:pt x="3091656" y="1176873"/>
                </a:lnTo>
                <a:lnTo>
                  <a:pt x="3129359" y="1179735"/>
                </a:lnTo>
                <a:lnTo>
                  <a:pt x="3167063" y="1180982"/>
                </a:lnTo>
                <a:lnTo>
                  <a:pt x="3204766" y="1180610"/>
                </a:lnTo>
                <a:lnTo>
                  <a:pt x="3242469" y="1178621"/>
                </a:lnTo>
                <a:lnTo>
                  <a:pt x="3280172" y="1175020"/>
                </a:lnTo>
                <a:lnTo>
                  <a:pt x="3317875" y="1169816"/>
                </a:lnTo>
                <a:lnTo>
                  <a:pt x="3355578" y="1163025"/>
                </a:lnTo>
                <a:lnTo>
                  <a:pt x="3393281" y="1154665"/>
                </a:lnTo>
                <a:lnTo>
                  <a:pt x="3430984" y="1144758"/>
                </a:lnTo>
                <a:lnTo>
                  <a:pt x="3468688" y="1133332"/>
                </a:lnTo>
                <a:lnTo>
                  <a:pt x="3506391" y="1120418"/>
                </a:lnTo>
                <a:lnTo>
                  <a:pt x="3544094" y="1106052"/>
                </a:lnTo>
                <a:lnTo>
                  <a:pt x="3581797" y="1090272"/>
                </a:lnTo>
                <a:lnTo>
                  <a:pt x="3619500" y="1073123"/>
                </a:lnTo>
                <a:lnTo>
                  <a:pt x="3657203" y="1054650"/>
                </a:lnTo>
                <a:lnTo>
                  <a:pt x="3694906" y="1034906"/>
                </a:lnTo>
                <a:lnTo>
                  <a:pt x="3732609" y="1013943"/>
                </a:lnTo>
                <a:lnTo>
                  <a:pt x="3770312" y="991820"/>
                </a:lnTo>
                <a:lnTo>
                  <a:pt x="3808016" y="968597"/>
                </a:lnTo>
                <a:lnTo>
                  <a:pt x="3845719" y="944337"/>
                </a:lnTo>
                <a:lnTo>
                  <a:pt x="3883422" y="919108"/>
                </a:lnTo>
                <a:lnTo>
                  <a:pt x="3921125" y="892977"/>
                </a:lnTo>
                <a:lnTo>
                  <a:pt x="3958828" y="866018"/>
                </a:lnTo>
                <a:lnTo>
                  <a:pt x="3996531" y="838304"/>
                </a:lnTo>
                <a:lnTo>
                  <a:pt x="4034234" y="809910"/>
                </a:lnTo>
                <a:lnTo>
                  <a:pt x="4071938" y="780915"/>
                </a:lnTo>
                <a:lnTo>
                  <a:pt x="4109641" y="751398"/>
                </a:lnTo>
                <a:lnTo>
                  <a:pt x="4147344" y="721440"/>
                </a:lnTo>
                <a:lnTo>
                  <a:pt x="4185047" y="691122"/>
                </a:lnTo>
                <a:lnTo>
                  <a:pt x="4222750" y="660530"/>
                </a:lnTo>
                <a:lnTo>
                  <a:pt x="4260453" y="629745"/>
                </a:lnTo>
                <a:lnTo>
                  <a:pt x="4298156" y="598852"/>
                </a:lnTo>
                <a:lnTo>
                  <a:pt x="4335859" y="567937"/>
                </a:lnTo>
                <a:lnTo>
                  <a:pt x="4373563" y="537083"/>
                </a:lnTo>
                <a:lnTo>
                  <a:pt x="4411266" y="506376"/>
                </a:lnTo>
                <a:lnTo>
                  <a:pt x="4448969" y="475900"/>
                </a:lnTo>
                <a:lnTo>
                  <a:pt x="4486672" y="445737"/>
                </a:lnTo>
                <a:lnTo>
                  <a:pt x="4524375" y="415971"/>
                </a:lnTo>
                <a:lnTo>
                  <a:pt x="4562078" y="386684"/>
                </a:lnTo>
                <a:lnTo>
                  <a:pt x="4599781" y="357955"/>
                </a:lnTo>
                <a:lnTo>
                  <a:pt x="4637484" y="329864"/>
                </a:lnTo>
                <a:lnTo>
                  <a:pt x="4675187" y="302487"/>
                </a:lnTo>
                <a:lnTo>
                  <a:pt x="4712891" y="275899"/>
                </a:lnTo>
                <a:lnTo>
                  <a:pt x="4750594" y="250174"/>
                </a:lnTo>
                <a:lnTo>
                  <a:pt x="4788297" y="225381"/>
                </a:lnTo>
                <a:lnTo>
                  <a:pt x="4826000" y="201589"/>
                </a:lnTo>
                <a:lnTo>
                  <a:pt x="4863703" y="178863"/>
                </a:lnTo>
                <a:lnTo>
                  <a:pt x="4901406" y="157266"/>
                </a:lnTo>
                <a:lnTo>
                  <a:pt x="4939109" y="136855"/>
                </a:lnTo>
                <a:lnTo>
                  <a:pt x="4976813" y="117688"/>
                </a:lnTo>
                <a:lnTo>
                  <a:pt x="5014516" y="99818"/>
                </a:lnTo>
                <a:lnTo>
                  <a:pt x="5052219" y="83292"/>
                </a:lnTo>
                <a:lnTo>
                  <a:pt x="5089922" y="68156"/>
                </a:lnTo>
                <a:lnTo>
                  <a:pt x="5127625" y="54452"/>
                </a:lnTo>
                <a:lnTo>
                  <a:pt x="5165328" y="42217"/>
                </a:lnTo>
                <a:lnTo>
                  <a:pt x="5203031" y="31485"/>
                </a:lnTo>
                <a:lnTo>
                  <a:pt x="5240734" y="22285"/>
                </a:lnTo>
                <a:lnTo>
                  <a:pt x="5278438" y="14642"/>
                </a:lnTo>
                <a:lnTo>
                  <a:pt x="5316141" y="8578"/>
                </a:lnTo>
                <a:lnTo>
                  <a:pt x="5353844" y="4109"/>
                </a:lnTo>
                <a:lnTo>
                  <a:pt x="5391547" y="1247"/>
                </a:lnTo>
                <a:lnTo>
                  <a:pt x="5429250" y="0"/>
                </a:lnTo>
                <a:lnTo>
                  <a:pt x="5466953" y="372"/>
                </a:lnTo>
                <a:lnTo>
                  <a:pt x="5504656" y="2361"/>
                </a:lnTo>
                <a:lnTo>
                  <a:pt x="5542359" y="5962"/>
                </a:lnTo>
                <a:lnTo>
                  <a:pt x="5580063" y="11165"/>
                </a:lnTo>
                <a:lnTo>
                  <a:pt x="5617766" y="17956"/>
                </a:lnTo>
                <a:lnTo>
                  <a:pt x="5655469" y="26317"/>
                </a:lnTo>
                <a:lnTo>
                  <a:pt x="5693172" y="36224"/>
                </a:lnTo>
                <a:lnTo>
                  <a:pt x="5730875" y="47650"/>
                </a:lnTo>
                <a:lnTo>
                  <a:pt x="5768578" y="60564"/>
                </a:lnTo>
                <a:lnTo>
                  <a:pt x="5806281" y="74930"/>
                </a:lnTo>
                <a:lnTo>
                  <a:pt x="5843984" y="90710"/>
                </a:lnTo>
                <a:lnTo>
                  <a:pt x="5881688" y="107859"/>
                </a:lnTo>
                <a:lnTo>
                  <a:pt x="5919391" y="126331"/>
                </a:lnTo>
                <a:lnTo>
                  <a:pt x="5957094" y="146076"/>
                </a:lnTo>
                <a:lnTo>
                  <a:pt x="5994797" y="167038"/>
                </a:lnTo>
                <a:lnTo>
                  <a:pt x="6032500" y="189162"/>
                </a:lnTo>
                <a:lnTo>
                  <a:pt x="6070203" y="212385"/>
                </a:lnTo>
                <a:lnTo>
                  <a:pt x="6107906" y="236644"/>
                </a:lnTo>
                <a:lnTo>
                  <a:pt x="6145609" y="261874"/>
                </a:lnTo>
                <a:lnTo>
                  <a:pt x="6183313" y="288004"/>
                </a:lnTo>
                <a:lnTo>
                  <a:pt x="6221016" y="314963"/>
                </a:lnTo>
                <a:lnTo>
                  <a:pt x="6258719" y="342678"/>
                </a:lnTo>
                <a:lnTo>
                  <a:pt x="6296422" y="371072"/>
                </a:lnTo>
                <a:lnTo>
                  <a:pt x="6334125" y="400067"/>
                </a:lnTo>
                <a:lnTo>
                  <a:pt x="6371828" y="429584"/>
                </a:lnTo>
                <a:lnTo>
                  <a:pt x="6409531" y="459542"/>
                </a:lnTo>
                <a:lnTo>
                  <a:pt x="6447234" y="489859"/>
                </a:lnTo>
                <a:lnTo>
                  <a:pt x="6484938" y="520452"/>
                </a:lnTo>
                <a:lnTo>
                  <a:pt x="6522641" y="551237"/>
                </a:lnTo>
                <a:lnTo>
                  <a:pt x="6560344" y="582129"/>
                </a:lnTo>
                <a:lnTo>
                  <a:pt x="6598047" y="613045"/>
                </a:lnTo>
                <a:lnTo>
                  <a:pt x="6635750" y="643898"/>
                </a:lnTo>
                <a:lnTo>
                  <a:pt x="6673453" y="674605"/>
                </a:lnTo>
                <a:lnTo>
                  <a:pt x="6711156" y="705082"/>
                </a:lnTo>
                <a:lnTo>
                  <a:pt x="6748859" y="735245"/>
                </a:lnTo>
                <a:lnTo>
                  <a:pt x="6786563" y="765010"/>
                </a:lnTo>
                <a:lnTo>
                  <a:pt x="6824266" y="794298"/>
                </a:lnTo>
                <a:lnTo>
                  <a:pt x="6861969" y="823026"/>
                </a:lnTo>
                <a:lnTo>
                  <a:pt x="6899672" y="851118"/>
                </a:lnTo>
                <a:lnTo>
                  <a:pt x="6937375" y="878495"/>
                </a:lnTo>
                <a:lnTo>
                  <a:pt x="6975078" y="905083"/>
                </a:lnTo>
                <a:lnTo>
                  <a:pt x="7012781" y="930808"/>
                </a:lnTo>
                <a:lnTo>
                  <a:pt x="7050484" y="955601"/>
                </a:lnTo>
                <a:lnTo>
                  <a:pt x="7088188" y="979392"/>
                </a:lnTo>
                <a:lnTo>
                  <a:pt x="7125891" y="1002118"/>
                </a:lnTo>
                <a:lnTo>
                  <a:pt x="7163594" y="1023716"/>
                </a:lnTo>
                <a:lnTo>
                  <a:pt x="7201297" y="1044126"/>
                </a:lnTo>
                <a:lnTo>
                  <a:pt x="7239000" y="1063293"/>
                </a:lnTo>
                <a:lnTo>
                  <a:pt x="7276703" y="1081164"/>
                </a:lnTo>
                <a:lnTo>
                  <a:pt x="7314406" y="1097690"/>
                </a:lnTo>
                <a:lnTo>
                  <a:pt x="7352109" y="1112826"/>
                </a:lnTo>
                <a:lnTo>
                  <a:pt x="7389813" y="1126530"/>
                </a:lnTo>
                <a:lnTo>
                  <a:pt x="7427516" y="1138765"/>
                </a:lnTo>
                <a:lnTo>
                  <a:pt x="7465219" y="1149497"/>
                </a:lnTo>
                <a:lnTo>
                  <a:pt x="7502922" y="1158697"/>
                </a:lnTo>
                <a:lnTo>
                  <a:pt x="7540625" y="1166340"/>
                </a:lnTo>
                <a:lnTo>
                  <a:pt x="7578328" y="1172404"/>
                </a:lnTo>
                <a:lnTo>
                  <a:pt x="7616031" y="1176873"/>
                </a:lnTo>
                <a:lnTo>
                  <a:pt x="7653734" y="1179735"/>
                </a:lnTo>
                <a:lnTo>
                  <a:pt x="7691438" y="1180982"/>
                </a:lnTo>
                <a:lnTo>
                  <a:pt x="7729141" y="1180610"/>
                </a:lnTo>
                <a:lnTo>
                  <a:pt x="7766844" y="1178621"/>
                </a:lnTo>
                <a:lnTo>
                  <a:pt x="7804547" y="1175020"/>
                </a:lnTo>
                <a:lnTo>
                  <a:pt x="7842250" y="1169816"/>
                </a:lnTo>
                <a:lnTo>
                  <a:pt x="7879953" y="1163025"/>
                </a:lnTo>
                <a:lnTo>
                  <a:pt x="7917656" y="1154665"/>
                </a:lnTo>
                <a:lnTo>
                  <a:pt x="7955359" y="1144758"/>
                </a:lnTo>
                <a:lnTo>
                  <a:pt x="7993063" y="1133332"/>
                </a:lnTo>
                <a:lnTo>
                  <a:pt x="8030766" y="1120418"/>
                </a:lnTo>
                <a:lnTo>
                  <a:pt x="8068469" y="1106052"/>
                </a:lnTo>
                <a:lnTo>
                  <a:pt x="8106172" y="1090272"/>
                </a:lnTo>
                <a:lnTo>
                  <a:pt x="8143875" y="1073123"/>
                </a:lnTo>
                <a:lnTo>
                  <a:pt x="8181578" y="1054650"/>
                </a:lnTo>
                <a:lnTo>
                  <a:pt x="8219281" y="1034906"/>
                </a:lnTo>
                <a:lnTo>
                  <a:pt x="8256984" y="1013943"/>
                </a:lnTo>
                <a:lnTo>
                  <a:pt x="8294688" y="991820"/>
                </a:lnTo>
                <a:lnTo>
                  <a:pt x="8332391" y="968597"/>
                </a:lnTo>
                <a:lnTo>
                  <a:pt x="8370094" y="944337"/>
                </a:lnTo>
                <a:lnTo>
                  <a:pt x="8407797" y="919108"/>
                </a:lnTo>
                <a:lnTo>
                  <a:pt x="8445500" y="892977"/>
                </a:lnTo>
                <a:lnTo>
                  <a:pt x="8483203" y="866018"/>
                </a:lnTo>
                <a:lnTo>
                  <a:pt x="8520906" y="838304"/>
                </a:lnTo>
                <a:lnTo>
                  <a:pt x="8558609" y="809910"/>
                </a:lnTo>
                <a:lnTo>
                  <a:pt x="8596313" y="780915"/>
                </a:lnTo>
                <a:lnTo>
                  <a:pt x="8634016" y="751398"/>
                </a:lnTo>
                <a:lnTo>
                  <a:pt x="8671719" y="721440"/>
                </a:lnTo>
                <a:lnTo>
                  <a:pt x="8709422" y="691122"/>
                </a:lnTo>
                <a:lnTo>
                  <a:pt x="8747125" y="660530"/>
                </a:lnTo>
                <a:lnTo>
                  <a:pt x="8784828" y="629745"/>
                </a:lnTo>
                <a:lnTo>
                  <a:pt x="8822531" y="598852"/>
                </a:lnTo>
                <a:lnTo>
                  <a:pt x="8860234" y="567937"/>
                </a:lnTo>
                <a:lnTo>
                  <a:pt x="8897937" y="537083"/>
                </a:lnTo>
                <a:lnTo>
                  <a:pt x="8935641" y="506376"/>
                </a:lnTo>
                <a:lnTo>
                  <a:pt x="8973344" y="475900"/>
                </a:lnTo>
                <a:lnTo>
                  <a:pt x="9011047" y="445737"/>
                </a:lnTo>
                <a:lnTo>
                  <a:pt x="9048750" y="415971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C64E1"/>
            </a:solidFill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22666D-C70D-4799-991A-D91D55E1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2013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5DBDA4C-829C-4BEF-8763-53C003D9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672013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s</a:t>
            </a:r>
          </a:p>
        </p:txBody>
      </p:sp>
      <p:sp>
        <p:nvSpPr>
          <p:cNvPr id="11" name="sample">
            <a:extLst xmlns:a="http://schemas.openxmlformats.org/drawingml/2006/main">
              <a:ext uri="{FF2B5EF4-FFF2-40B4-BE49-F238E27FC236}">
                <a16:creationId xmlns:a16="http://schemas.microsoft.com/office/drawing/2014/main" id="{A35F5A7D-B532-4A28-83DB-72E85DFE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449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" name="sample">
            <a:extLst xmlns:a="http://schemas.openxmlformats.org/drawingml/2006/main">
              <a:ext uri="{FF2B5EF4-FFF2-40B4-BE49-F238E27FC236}">
                <a16:creationId xmlns:a16="http://schemas.microsoft.com/office/drawing/2014/main" id="{483F5F02-FA41-4FBD-93D9-E5634710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438" y="304365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sample">
            <a:extLst xmlns:a="http://schemas.openxmlformats.org/drawingml/2006/main">
              <a:ext uri="{FF2B5EF4-FFF2-40B4-BE49-F238E27FC236}">
                <a16:creationId xmlns:a16="http://schemas.microsoft.com/office/drawing/2014/main" id="{C0D2F9AE-5864-4C3C-8377-B1D66619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321817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sample">
            <a:extLst xmlns:a="http://schemas.openxmlformats.org/drawingml/2006/main">
              <a:ext uri="{FF2B5EF4-FFF2-40B4-BE49-F238E27FC236}">
                <a16:creationId xmlns:a16="http://schemas.microsoft.com/office/drawing/2014/main" id="{1CA7978C-2CBC-4E12-B34C-CFEE7A14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8563" y="37940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sample">
            <a:extLst xmlns:a="http://schemas.openxmlformats.org/drawingml/2006/main">
              <a:ext uri="{FF2B5EF4-FFF2-40B4-BE49-F238E27FC236}">
                <a16:creationId xmlns:a16="http://schemas.microsoft.com/office/drawing/2014/main" id="{BC0C0D15-4138-418F-B9AA-5B1ACD98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41953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sample">
            <a:extLst xmlns:a="http://schemas.openxmlformats.org/drawingml/2006/main">
              <a:ext uri="{FF2B5EF4-FFF2-40B4-BE49-F238E27FC236}">
                <a16:creationId xmlns:a16="http://schemas.microsoft.com/office/drawing/2014/main" id="{880524A5-64AC-46CC-B2EF-E0589EC7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687" y="40208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sample">
            <a:extLst xmlns:a="http://schemas.openxmlformats.org/drawingml/2006/main">
              <a:ext uri="{FF2B5EF4-FFF2-40B4-BE49-F238E27FC236}">
                <a16:creationId xmlns:a16="http://schemas.microsoft.com/office/drawing/2014/main" id="{397896D2-277C-47D2-960F-E3FD4A1F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4498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" name="sample">
            <a:extLst xmlns:a="http://schemas.openxmlformats.org/drawingml/2006/main">
              <a:ext uri="{FF2B5EF4-FFF2-40B4-BE49-F238E27FC236}">
                <a16:creationId xmlns:a16="http://schemas.microsoft.com/office/drawing/2014/main" id="{486822D4-5D69-4BBF-B92B-CEC4FDC9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813" y="304365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sample">
            <a:extLst xmlns:a="http://schemas.openxmlformats.org/drawingml/2006/main">
              <a:ext uri="{FF2B5EF4-FFF2-40B4-BE49-F238E27FC236}">
                <a16:creationId xmlns:a16="http://schemas.microsoft.com/office/drawing/2014/main" id="{62127137-3607-4A7B-BA01-80B8D0E2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8875" y="321817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" name="sample">
            <a:extLst xmlns:a="http://schemas.openxmlformats.org/drawingml/2006/main">
              <a:ext uri="{FF2B5EF4-FFF2-40B4-BE49-F238E27FC236}">
                <a16:creationId xmlns:a16="http://schemas.microsoft.com/office/drawing/2014/main" id="{5D451BE4-7248-4F11-874F-9A0D2AF2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938" y="379401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sample">
            <a:extLst xmlns:a="http://schemas.openxmlformats.org/drawingml/2006/main">
              <a:ext uri="{FF2B5EF4-FFF2-40B4-BE49-F238E27FC236}">
                <a16:creationId xmlns:a16="http://schemas.microsoft.com/office/drawing/2014/main" id="{8B662992-66EB-4A24-9EF8-BB1A5FEB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41953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2" name="sample">
            <a:extLst xmlns:a="http://schemas.openxmlformats.org/drawingml/2006/main">
              <a:ext uri="{FF2B5EF4-FFF2-40B4-BE49-F238E27FC236}">
                <a16:creationId xmlns:a16="http://schemas.microsoft.com/office/drawing/2014/main" id="{74F86CFA-CC19-49C6-B50B-DAFE07EB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063" y="402082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5050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469C49C-28B8-4953-9A11-A6C9D378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按等时间间隔读取信号幅度。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2A8DB8F-1E12-43DE-A744-DE21EA44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留下离散时刻的样本：采样。</a:t>
            </a:r>
          </a:p>
        </p:txBody>
      </p:sp>
    </p:spTree>
    <p:extLst>
      <p:ext uri="{BB962C8B-B14F-4D97-AF65-F5344CB8AC3E}">
        <p14:creationId xmlns:p14="http://schemas.microsoft.com/office/powerpoint/2010/main" val="1097148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C7BF32FC-BE72-4CF4-B010-A497DF92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B23ACE6-FF47-471A-B742-138CC56F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BD42AA3-4A82-462A-A054-409616DD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每秒采样8000次，是什么意思？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544E428B-1628-4F7E-A3CC-13362E6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单声道：每秒等间隔读取8000个样本。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7FFB83F7-367B-4019-9636-1473C4EE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采样率是多少？相邻时刻间隔多久？</a:t>
            </a:r>
          </a:p>
        </p:txBody>
      </p:sp>
    </p:spTree>
    <p:extLst>
      <p:ext uri="{BB962C8B-B14F-4D97-AF65-F5344CB8AC3E}">
        <p14:creationId xmlns:p14="http://schemas.microsoft.com/office/powerpoint/2010/main" val="13133689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C7BF32FC-BE72-4CF4-B010-A497DF92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B23ACE6-FF47-471A-B742-138CC56F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BD42AA3-4A82-462A-A054-409616DD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每秒采样8000次，是什么意思？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544E428B-1628-4F7E-A3CC-13362E6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单声道：每秒等间隔读取8000个样本。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7FFB83F7-367B-4019-9636-1473C4EE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采样率是多少？相邻时刻间隔多久？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74E118AE-04B9-4F65-97EE-94B7835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E1DCC939-6468-4896-BB7E-1BAB3222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采样率：8000 Hz = 8 kHz。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53BDC70D-58D1-45B0-BB69-A103ED40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间隔：1÷8000 s = 0.125 ms。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E6DC5EF6-FE4B-4194-99D5-272EADC4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采样率表示每秒每声道的样本数。</a:t>
            </a:r>
          </a:p>
        </p:txBody>
      </p:sp>
    </p:spTree>
    <p:extLst>
      <p:ext uri="{BB962C8B-B14F-4D97-AF65-F5344CB8AC3E}">
        <p14:creationId xmlns:p14="http://schemas.microsoft.com/office/powerpoint/2010/main" val="13133689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AA37A203-2D1D-4884-BBAE-A0C4197A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B3DFDE4-7803-463E-A2DE-D888BE31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E0485AD-30BE-459E-ABBD-628FF8FE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样本值不在可选等级上，怎么办？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4754377E-5B4F-412E-A959-D97DDB5B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四个样本：−0.62、−0.10、0.38、0.84。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A0FB87B-A4A9-4ED4-84C2-1276F6C7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只能用：−0.75、−0.25、0.25、0.75近似。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530C30D3-5F06-4608-B497-5DD6EBE2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分别选哪个？</a:t>
            </a:r>
          </a:p>
        </p:txBody>
      </p:sp>
    </p:spTree>
    <p:extLst>
      <p:ext uri="{BB962C8B-B14F-4D97-AF65-F5344CB8AC3E}">
        <p14:creationId xmlns:p14="http://schemas.microsoft.com/office/powerpoint/2010/main" val="4064046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AA37A203-2D1D-4884-BBAE-A0C4197A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B3DFDE4-7803-463E-A2DE-D888BE31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E0485AD-30BE-459E-ABBD-628FF8FE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样本值不在可选等级上，怎么办？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4754377E-5B4F-412E-A959-D97DDB5B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四个样本：−0.62、−0.10、0.38、0.84。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A0FB87B-A4A9-4ED4-84C2-1276F6C7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只能用：−0.75、−0.25、0.25、0.75近似。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530C30D3-5F06-4608-B497-5DD6EBE2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分别选哪个？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71AC5B1-9107-4309-A760-9073D493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−0.62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DF7547-6044-4CE4-8DB5-CCF07703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−0.10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3051A90-64C0-4811-849F-722C725E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0.38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B39C4CF-093A-4D6E-ADF4-5ABC7A7C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956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83CF155-0360-4DB8-854A-43DDA8DE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−0.75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8C7E5E6-9D4D-4F75-8D0C-58B43910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−0.25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B66152-DB49-4538-985D-87A05D01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0.25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051C8F3-3801-4457-9DB5-FA9F2223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67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↓  0.75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FA68768-53BB-4C95-BA03-87D162EB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把样本映射到有限等级：量化。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4D4740E-EACC-4EEA-827C-D606DBCC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量化决定“幅度分多细”。</a:t>
            </a:r>
          </a:p>
        </p:txBody>
      </p:sp>
    </p:spTree>
    <p:extLst>
      <p:ext uri="{BB962C8B-B14F-4D97-AF65-F5344CB8AC3E}">
        <p14:creationId xmlns:p14="http://schemas.microsoft.com/office/powerpoint/2010/main" val="4064046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89F677F5-A530-4220-B6AA-0E50A8F0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C36B64A-3359-4AFA-90AE-F78B88B6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29283CD-F820-49E1-8A0E-3B18F108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四个量化等级，怎样写成码字？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A63F0DB-381A-4BD4-B5D3-5CDE3431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从低到高编号0、1、2、3；采用等长二进制码。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85E8F410-419E-4865-8B6A-E9DCDB43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每个样本至少几bit？写出四个码字。</a:t>
            </a:r>
          </a:p>
        </p:txBody>
      </p:sp>
      <p:sp>
        <p:nvSpPr>
          <p:cNvPr id="6" name="level-0">
            <a:extLst xmlns:a="http://schemas.openxmlformats.org/drawingml/2006/main">
              <a:ext uri="{FF2B5EF4-FFF2-40B4-BE49-F238E27FC236}">
                <a16:creationId xmlns:a16="http://schemas.microsoft.com/office/drawing/2014/main" id="{44D67F58-31C2-47DD-BB02-00E48EDE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1">
            <a:extLst xmlns:a="http://schemas.openxmlformats.org/drawingml/2006/main">
              <a:ext uri="{FF2B5EF4-FFF2-40B4-BE49-F238E27FC236}">
                <a16:creationId xmlns:a16="http://schemas.microsoft.com/office/drawing/2014/main" id="{00C869C7-AE14-498D-943A-53A47EDB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2">
            <a:extLst xmlns:a="http://schemas.openxmlformats.org/drawingml/2006/main">
              <a:ext uri="{FF2B5EF4-FFF2-40B4-BE49-F238E27FC236}">
                <a16:creationId xmlns:a16="http://schemas.microsoft.com/office/drawing/2014/main" id="{551331FD-E964-4080-95AD-230F5CC4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3">
            <a:extLst xmlns:a="http://schemas.openxmlformats.org/drawingml/2006/main">
              <a:ext uri="{FF2B5EF4-FFF2-40B4-BE49-F238E27FC236}">
                <a16:creationId xmlns:a16="http://schemas.microsoft.com/office/drawing/2014/main" id="{CB4B31C2-6159-4439-86D3-453A6CC5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467289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89F677F5-A530-4220-B6AA-0E50A8F0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C36B64A-3359-4AFA-90AE-F78B88B6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29283CD-F820-49E1-8A0E-3B18F108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四个量化等级，怎样写成码字？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A63F0DB-381A-4BD4-B5D3-5CDE3431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从低到高编号0、1、2、3；采用等长二进制码。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85E8F410-419E-4865-8B6A-E9DCDB43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每个样本至少几bit？写出四个码字。</a:t>
            </a:r>
          </a:p>
        </p:txBody>
      </p:sp>
      <p:sp>
        <p:nvSpPr>
          <p:cNvPr id="6" name="level-0">
            <a:extLst xmlns:a="http://schemas.openxmlformats.org/drawingml/2006/main">
              <a:ext uri="{FF2B5EF4-FFF2-40B4-BE49-F238E27FC236}">
                <a16:creationId xmlns:a16="http://schemas.microsoft.com/office/drawing/2014/main" id="{44D67F58-31C2-47DD-BB02-00E48EDE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1">
            <a:extLst xmlns:a="http://schemas.openxmlformats.org/drawingml/2006/main">
              <a:ext uri="{FF2B5EF4-FFF2-40B4-BE49-F238E27FC236}">
                <a16:creationId xmlns:a16="http://schemas.microsoft.com/office/drawing/2014/main" id="{00C869C7-AE14-498D-943A-53A47EDB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2">
            <a:extLst xmlns:a="http://schemas.openxmlformats.org/drawingml/2006/main">
              <a:ext uri="{FF2B5EF4-FFF2-40B4-BE49-F238E27FC236}">
                <a16:creationId xmlns:a16="http://schemas.microsoft.com/office/drawing/2014/main" id="{551331FD-E964-4080-95AD-230F5CC4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3">
            <a:extLst xmlns:a="http://schemas.openxmlformats.org/drawingml/2006/main">
              <a:ext uri="{FF2B5EF4-FFF2-40B4-BE49-F238E27FC236}">
                <a16:creationId xmlns:a16="http://schemas.microsoft.com/office/drawing/2014/main" id="{CB4B31C2-6159-4439-86D3-453A6CC5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9DDE18A-3D24-4CFA-ADAE-36DB93C1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450C884-847A-4FEF-96DC-3F965866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33758F1-D6A7-490A-ABF5-58BC135F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8125438-D071-47F5-9FF3-7AC20C3F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0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D240DC71-2018-4D6A-8AFB-FB103839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answer-0">
            <a:extLst xmlns:a="http://schemas.openxmlformats.org/drawingml/2006/main">
              <a:ext uri="{FF2B5EF4-FFF2-40B4-BE49-F238E27FC236}">
                <a16:creationId xmlns:a16="http://schemas.microsoft.com/office/drawing/2014/main" id="{832DECA4-F2C1-42E7-8BCF-DC370360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bit：00、01、10、11。</a:t>
            </a:r>
          </a:p>
        </p:txBody>
      </p:sp>
      <p:sp>
        <p:nvSpPr>
          <p:cNvPr id="16" name="answer-1">
            <a:extLst xmlns:a="http://schemas.openxmlformats.org/drawingml/2006/main">
              <a:ext uri="{FF2B5EF4-FFF2-40B4-BE49-F238E27FC236}">
                <a16:creationId xmlns:a16="http://schemas.microsoft.com/office/drawing/2014/main" id="{16F4B0DD-5F61-4823-A8F3-4CBF03E0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等级编号0、1、2、3，依次写成码字。</a:t>
            </a:r>
          </a:p>
        </p:txBody>
      </p:sp>
      <p:sp>
        <p:nvSpPr>
          <p:cNvPr id="17" name="answer-2">
            <a:extLst xmlns:a="http://schemas.openxmlformats.org/drawingml/2006/main">
              <a:ext uri="{FF2B5EF4-FFF2-40B4-BE49-F238E27FC236}">
                <a16:creationId xmlns:a16="http://schemas.microsoft.com/office/drawing/2014/main" id="{D9304809-44A5-43C5-8CE5-B3EC9DAD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按约定表示量化结果：编码。</a:t>
            </a:r>
          </a:p>
        </p:txBody>
      </p:sp>
    </p:spTree>
    <p:extLst>
      <p:ext uri="{BB962C8B-B14F-4D97-AF65-F5344CB8AC3E}">
        <p14:creationId xmlns:p14="http://schemas.microsoft.com/office/powerpoint/2010/main" val="6467289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rail">
            <a:extLst xmlns:a="http://schemas.openxmlformats.org/drawingml/2006/main">
              <a:ext uri="{FF2B5EF4-FFF2-40B4-BE49-F238E27FC236}">
                <a16:creationId xmlns:a16="http://schemas.microsoft.com/office/drawing/2014/main" id="{8BD321AB-915F-4194-A4A3-1DE3C31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FC07CF1-0458-40EB-B4BE-919EF3CA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D8EAC2F-7144-4435-97EB-4C0ECF75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只有码字，就能按原速播放吗？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16A21D8-93EB-41E3-B0FE-A319FC05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 01 10 11；同一张四等级码表。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26E6D310-934A-4613-ADB4-685641F4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4个样本，能确定这段声音的时长吗？</a:t>
            </a:r>
          </a:p>
        </p:txBody>
      </p:sp>
      <p:sp>
        <p:nvSpPr>
          <p:cNvPr id="6" name="code-box">
            <a:extLst xmlns:a="http://schemas.openxmlformats.org/drawingml/2006/main">
              <a:ext uri="{FF2B5EF4-FFF2-40B4-BE49-F238E27FC236}">
                <a16:creationId xmlns:a16="http://schemas.microsoft.com/office/drawing/2014/main" id="{32420461-672E-4E9B-9D7F-8283DE9A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code-box">
            <a:extLst xmlns:a="http://schemas.openxmlformats.org/drawingml/2006/main">
              <a:ext uri="{FF2B5EF4-FFF2-40B4-BE49-F238E27FC236}">
                <a16:creationId xmlns:a16="http://schemas.microsoft.com/office/drawing/2014/main" id="{883C38D5-76EB-457E-A80D-940952E9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code-box">
            <a:extLst xmlns:a="http://schemas.openxmlformats.org/drawingml/2006/main">
              <a:ext uri="{FF2B5EF4-FFF2-40B4-BE49-F238E27FC236}">
                <a16:creationId xmlns:a16="http://schemas.microsoft.com/office/drawing/2014/main" id="{4E4096DA-E002-4D5F-B765-083EF5C0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code-box">
            <a:extLst xmlns:a="http://schemas.openxmlformats.org/drawingml/2006/main">
              <a:ext uri="{FF2B5EF4-FFF2-40B4-BE49-F238E27FC236}">
                <a16:creationId xmlns:a16="http://schemas.microsoft.com/office/drawing/2014/main" id="{D57A38D1-5165-4454-ABCF-DEF20E64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2B4A1F-D982-4753-8636-73F2BDD6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1113416-7B72-4637-9916-34BC85D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4ABA9E7-3CEF-4494-B35D-5B11C1EB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DBEDA09-2272-4937-87A5-CA0D61A1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1020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8BD321AB-915F-4194-A4A3-1DE3C31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FC07CF1-0458-40EB-B4BE-919EF3CA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D8EAC2F-7144-4435-97EB-4C0ECF75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只有码字，就能按原速播放吗？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16A21D8-93EB-41E3-B0FE-A319FC05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 01 10 11；同一张四等级码表。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26E6D310-934A-4613-ADB4-685641F4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4个样本，能确定这段声音的时长吗？</a:t>
            </a:r>
          </a:p>
        </p:txBody>
      </p:sp>
      <p:sp>
        <p:nvSpPr>
          <p:cNvPr id="6" name="code-box">
            <a:extLst xmlns:a="http://schemas.openxmlformats.org/drawingml/2006/main">
              <a:ext uri="{FF2B5EF4-FFF2-40B4-BE49-F238E27FC236}">
                <a16:creationId xmlns:a16="http://schemas.microsoft.com/office/drawing/2014/main" id="{32420461-672E-4E9B-9D7F-8283DE9A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code-box">
            <a:extLst xmlns:a="http://schemas.openxmlformats.org/drawingml/2006/main">
              <a:ext uri="{FF2B5EF4-FFF2-40B4-BE49-F238E27FC236}">
                <a16:creationId xmlns:a16="http://schemas.microsoft.com/office/drawing/2014/main" id="{883C38D5-76EB-457E-A80D-940952E9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code-box">
            <a:extLst xmlns:a="http://schemas.openxmlformats.org/drawingml/2006/main">
              <a:ext uri="{FF2B5EF4-FFF2-40B4-BE49-F238E27FC236}">
                <a16:creationId xmlns:a16="http://schemas.microsoft.com/office/drawing/2014/main" id="{4E4096DA-E002-4D5F-B765-083EF5C0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code-box">
            <a:extLst xmlns:a="http://schemas.openxmlformats.org/drawingml/2006/main">
              <a:ext uri="{FF2B5EF4-FFF2-40B4-BE49-F238E27FC236}">
                <a16:creationId xmlns:a16="http://schemas.microsoft.com/office/drawing/2014/main" id="{D57A38D1-5165-4454-ABCF-DEF20E64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337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2B4A1F-D982-4753-8636-73F2BDD6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00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1113416-7B72-4637-9916-34BC85D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4ABA9E7-3CEF-4494-B35D-5B11C1EB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DBEDA09-2272-4937-87A5-CA0D61A1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109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C6CD81C3-9A23-4896-8CD2-DDC4D125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answer-0">
            <a:extLst xmlns:a="http://schemas.openxmlformats.org/drawingml/2006/main">
              <a:ext uri="{FF2B5EF4-FFF2-40B4-BE49-F238E27FC236}">
                <a16:creationId xmlns:a16="http://schemas.microsoft.com/office/drawing/2014/main" id="{E7DF284E-7526-460B-A60D-8701869D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 Hz：4个样本占1秒。</a:t>
            </a:r>
          </a:p>
        </p:txBody>
      </p:sp>
      <p:sp>
        <p:nvSpPr>
          <p:cNvPr id="16" name="answer-1">
            <a:extLst xmlns:a="http://schemas.openxmlformats.org/drawingml/2006/main">
              <a:ext uri="{FF2B5EF4-FFF2-40B4-BE49-F238E27FC236}">
                <a16:creationId xmlns:a16="http://schemas.microsoft.com/office/drawing/2014/main" id="{104FE88A-47FC-4205-868A-142EEA8C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Hz：4个样本占0.5秒。</a:t>
            </a:r>
          </a:p>
        </p:txBody>
      </p:sp>
      <p:sp>
        <p:nvSpPr>
          <p:cNvPr id="17" name="answer-2">
            <a:extLst xmlns:a="http://schemas.openxmlformats.org/drawingml/2006/main">
              <a:ext uri="{FF2B5EF4-FFF2-40B4-BE49-F238E27FC236}">
                <a16:creationId xmlns:a16="http://schemas.microsoft.com/office/drawing/2014/main" id="{994819C0-1722-405A-8EF6-0214DA88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还需要采样率、位数、声道及排列规则。</a:t>
            </a:r>
          </a:p>
        </p:txBody>
      </p:sp>
    </p:spTree>
    <p:extLst>
      <p:ext uri="{BB962C8B-B14F-4D97-AF65-F5344CB8AC3E}">
        <p14:creationId xmlns:p14="http://schemas.microsoft.com/office/powerpoint/2010/main" val="20310206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6E670760-0AFC-41C2-82D7-B5010450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516B19C-2E96-4CA0-BA12-EF981A13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5892393-5B9D-4CB3-9405-7E606679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只增加采样率，声音会怎样？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5579AD1-214B-45F0-A51D-963B7EDA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同一段6秒音乐，单声道、16bit。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13EC123-3F87-4CC1-B1D6-D5F49F78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比较8kHz与44.1kHz，其他条件不变。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B78E14F6-2DAA-47E1-9569-37998382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再看：8kHz能保留6kHz纯音吗？</a:t>
            </a:r>
          </a:p>
        </p:txBody>
      </p:sp>
    </p:spTree>
    <p:extLst>
      <p:ext uri="{BB962C8B-B14F-4D97-AF65-F5344CB8AC3E}">
        <p14:creationId xmlns:p14="http://schemas.microsoft.com/office/powerpoint/2010/main" val="12517245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6E670760-0AFC-41C2-82D7-B5010450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516B19C-2E96-4CA0-BA12-EF981A13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5892393-5B9D-4CB3-9405-7E606679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只增加采样率，声音会怎样？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D5579AD1-214B-45F0-A51D-963B7EDA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同一段6秒音乐，单声道、16bit。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313EC123-3F87-4CC1-B1D6-D5F49F78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比较8kHz与44.1kHz，其他条件不变。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B78E14F6-2DAA-47E1-9569-37998382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再看：8kHz能保留6kHz纯音吗？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FC4B42EB-23E7-4316-8938-D1D20427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BD375701-490E-47DD-8456-F700D116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采样率提高，可保留的频率范围扩大。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B0B71C8E-42D3-4F39-A1E8-DA34A54E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带限信号：采样率须高于最高频率的2倍。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125A4D2A-6B71-4BD7-814C-929E681E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8kHz不能保留6kHz纯音。</a:t>
            </a:r>
          </a:p>
        </p:txBody>
      </p:sp>
      <p:sp>
        <p:nvSpPr>
          <p:cNvPr id="11" name="answer-3">
            <a:extLst xmlns:a="http://schemas.openxmlformats.org/drawingml/2006/main">
              <a:ext uri="{FF2B5EF4-FFF2-40B4-BE49-F238E27FC236}">
                <a16:creationId xmlns:a16="http://schemas.microsoft.com/office/drawing/2014/main" id="{41912F47-7B9F-409E-A9F6-AD5D19BA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正常降采样先低通，播放时长仍为6秒。</a:t>
            </a:r>
          </a:p>
        </p:txBody>
      </p:sp>
    </p:spTree>
    <p:extLst>
      <p:ext uri="{BB962C8B-B14F-4D97-AF65-F5344CB8AC3E}">
        <p14:creationId xmlns:p14="http://schemas.microsoft.com/office/powerpoint/2010/main" val="12517245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8EC6D730-7106-45AA-91D6-DF659676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2A2D7A8-7AC9-4111-B4F6-60CEC249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76B4BC5-83F3-4C25-8D22-CEA0CB1C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采样率越高，听起来一定越好吗？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592C651B-9F31-4355-A908-6DF26587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一段信号只含8kHz以下的频率。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9B864EA-F504-40CB-B690-369BB1F7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32kHz已满足条件，改成96kHz一定更好听吗？</a:t>
            </a:r>
          </a:p>
        </p:txBody>
      </p:sp>
    </p:spTree>
    <p:extLst>
      <p:ext uri="{BB962C8B-B14F-4D97-AF65-F5344CB8AC3E}">
        <p14:creationId xmlns:p14="http://schemas.microsoft.com/office/powerpoint/2010/main" val="8727498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8EC6D730-7106-45AA-91D6-DF659676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2A2D7A8-7AC9-4111-B4F6-60CEC249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76B4BC5-83F3-4C25-8D22-CEA0CB1C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采样率越高，听起来一定越好吗？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592C651B-9F31-4355-A908-6DF26587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一段信号只含8kHz以下的频率。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9B864EA-F504-40CB-B690-369BB1F7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32kHz已满足条件，改成96kHz一定更好听吗？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38AA0B13-45DD-4256-84E6-79C8F9C7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819EDAD5-1D6A-4433-9BA0-00A2CD3D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更高采样率增加样本数和存储量。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154B1BA7-9BE2-48D8-A1B0-57E316C2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已经足够时，不保证可闻改善。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3BDC327A-9E88-444E-AF70-DDF7DB69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录音来源、设备和处理也影响听感。</a:t>
            </a:r>
          </a:p>
        </p:txBody>
      </p:sp>
    </p:spTree>
    <p:extLst>
      <p:ext uri="{BB962C8B-B14F-4D97-AF65-F5344CB8AC3E}">
        <p14:creationId xmlns:p14="http://schemas.microsoft.com/office/powerpoint/2010/main" val="8727498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D339ACB4-0176-473B-99DB-93D7F7DF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1E2A294-2991-4D70-B6B0-B6E5DC29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B6B0BD-0F71-40F9-96CD-F432415F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采样时刻不变，怎样减小量化误差？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EC8DDA4A-77DE-426E-9D61-F12985BC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同一批样本，幅度范围固定。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A3434D2-B6DD-4FBA-BADF-DD626D77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2bit与4bit量化，哪一种近似更细？</a:t>
            </a:r>
          </a:p>
        </p:txBody>
      </p:sp>
    </p:spTree>
    <p:extLst>
      <p:ext uri="{BB962C8B-B14F-4D97-AF65-F5344CB8AC3E}">
        <p14:creationId xmlns:p14="http://schemas.microsoft.com/office/powerpoint/2010/main" val="17078646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" name="top-rail">
            <a:extLst xmlns:a="http://schemas.openxmlformats.org/drawingml/2006/main">
              <a:ext uri="{FF2B5EF4-FFF2-40B4-BE49-F238E27FC236}">
                <a16:creationId xmlns:a16="http://schemas.microsoft.com/office/drawing/2014/main" id="{D339ACB4-0176-473B-99DB-93D7F7DF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1E2A294-2991-4D70-B6B0-B6E5DC29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3B6B0BD-0F71-40F9-96CD-F432415F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采样时刻不变，怎样减小量化误差？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EC8DDA4A-77DE-426E-9D61-F12985BC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同一批样本，幅度范围固定。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A3434D2-B6DD-4FBA-BADF-DD626D77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2bit与4bit量化，哪一种近似更细？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244311E-BB09-4A6F-87EE-B639AFF6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 bit：4级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D8042A47-F267-44F9-B751-DF08662F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reference-wave">
            <a:extLst xmlns:a="http://schemas.openxmlformats.org/drawingml/2006/main">
              <a:ext uri="{FF2B5EF4-FFF2-40B4-BE49-F238E27FC236}">
                <a16:creationId xmlns:a16="http://schemas.microsoft.com/office/drawing/2014/main" id="{9365DE70-B0FA-460D-BBD3-7F1F12C6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595"/>
            <a:ext cx="4191000" cy="1010311"/>
          </a:xfrm>
          <a:custGeom xmlns:a="http://schemas.openxmlformats.org/drawingml/2006/main">
            <a:pathLst>
              <a:path w="4191000" h="1010311">
                <a:moveTo>
                  <a:pt x="0" y="355857"/>
                </a:moveTo>
                <a:lnTo>
                  <a:pt x="17462" y="330802"/>
                </a:lnTo>
                <a:lnTo>
                  <a:pt x="34925" y="306225"/>
                </a:lnTo>
                <a:lnTo>
                  <a:pt x="52388" y="282193"/>
                </a:lnTo>
                <a:lnTo>
                  <a:pt x="69850" y="258772"/>
                </a:lnTo>
                <a:lnTo>
                  <a:pt x="87312" y="236027"/>
                </a:lnTo>
                <a:lnTo>
                  <a:pt x="104775" y="214019"/>
                </a:lnTo>
                <a:lnTo>
                  <a:pt x="122238" y="192810"/>
                </a:lnTo>
                <a:lnTo>
                  <a:pt x="139700" y="172456"/>
                </a:lnTo>
                <a:lnTo>
                  <a:pt x="157163" y="153015"/>
                </a:lnTo>
                <a:lnTo>
                  <a:pt x="174625" y="134538"/>
                </a:lnTo>
                <a:lnTo>
                  <a:pt x="192087" y="117078"/>
                </a:lnTo>
                <a:lnTo>
                  <a:pt x="209550" y="100681"/>
                </a:lnTo>
                <a:lnTo>
                  <a:pt x="227013" y="85392"/>
                </a:lnTo>
                <a:lnTo>
                  <a:pt x="244475" y="71255"/>
                </a:lnTo>
                <a:lnTo>
                  <a:pt x="261938" y="58306"/>
                </a:lnTo>
                <a:lnTo>
                  <a:pt x="279400" y="46582"/>
                </a:lnTo>
                <a:lnTo>
                  <a:pt x="296862" y="36116"/>
                </a:lnTo>
                <a:lnTo>
                  <a:pt x="314325" y="26934"/>
                </a:lnTo>
                <a:lnTo>
                  <a:pt x="331788" y="19064"/>
                </a:lnTo>
                <a:lnTo>
                  <a:pt x="349250" y="12526"/>
                </a:lnTo>
                <a:lnTo>
                  <a:pt x="366713" y="7338"/>
                </a:lnTo>
                <a:lnTo>
                  <a:pt x="384175" y="3515"/>
                </a:lnTo>
                <a:lnTo>
                  <a:pt x="401637" y="1067"/>
                </a:lnTo>
                <a:lnTo>
                  <a:pt x="419100" y="0"/>
                </a:lnTo>
                <a:lnTo>
                  <a:pt x="436563" y="318"/>
                </a:lnTo>
                <a:lnTo>
                  <a:pt x="454025" y="2020"/>
                </a:lnTo>
                <a:lnTo>
                  <a:pt x="471488" y="5100"/>
                </a:lnTo>
                <a:lnTo>
                  <a:pt x="488950" y="9552"/>
                </a:lnTo>
                <a:lnTo>
                  <a:pt x="506412" y="15361"/>
                </a:lnTo>
                <a:lnTo>
                  <a:pt x="523875" y="22514"/>
                </a:lnTo>
                <a:lnTo>
                  <a:pt x="541338" y="30989"/>
                </a:lnTo>
                <a:lnTo>
                  <a:pt x="558800" y="40764"/>
                </a:lnTo>
                <a:lnTo>
                  <a:pt x="576263" y="51811"/>
                </a:lnTo>
                <a:lnTo>
                  <a:pt x="593725" y="64101"/>
                </a:lnTo>
                <a:lnTo>
                  <a:pt x="611188" y="77601"/>
                </a:lnTo>
                <a:lnTo>
                  <a:pt x="628650" y="92272"/>
                </a:lnTo>
                <a:lnTo>
                  <a:pt x="646112" y="108074"/>
                </a:lnTo>
                <a:lnTo>
                  <a:pt x="663575" y="124965"/>
                </a:lnTo>
                <a:lnTo>
                  <a:pt x="681038" y="142899"/>
                </a:lnTo>
                <a:lnTo>
                  <a:pt x="698500" y="161825"/>
                </a:lnTo>
                <a:lnTo>
                  <a:pt x="715963" y="181692"/>
                </a:lnTo>
                <a:lnTo>
                  <a:pt x="733425" y="202446"/>
                </a:lnTo>
                <a:lnTo>
                  <a:pt x="750887" y="224029"/>
                </a:lnTo>
                <a:lnTo>
                  <a:pt x="768350" y="246383"/>
                </a:lnTo>
                <a:lnTo>
                  <a:pt x="785813" y="269446"/>
                </a:lnTo>
                <a:lnTo>
                  <a:pt x="803275" y="293155"/>
                </a:lnTo>
                <a:lnTo>
                  <a:pt x="820738" y="317446"/>
                </a:lnTo>
                <a:lnTo>
                  <a:pt x="838200" y="342251"/>
                </a:lnTo>
                <a:lnTo>
                  <a:pt x="855662" y="367502"/>
                </a:lnTo>
                <a:lnTo>
                  <a:pt x="873125" y="393131"/>
                </a:lnTo>
                <a:lnTo>
                  <a:pt x="890588" y="419067"/>
                </a:lnTo>
                <a:lnTo>
                  <a:pt x="908050" y="445238"/>
                </a:lnTo>
                <a:lnTo>
                  <a:pt x="925513" y="471574"/>
                </a:lnTo>
                <a:lnTo>
                  <a:pt x="942975" y="498002"/>
                </a:lnTo>
                <a:lnTo>
                  <a:pt x="960437" y="524450"/>
                </a:lnTo>
                <a:lnTo>
                  <a:pt x="977900" y="550845"/>
                </a:lnTo>
                <a:lnTo>
                  <a:pt x="995363" y="577114"/>
                </a:lnTo>
                <a:lnTo>
                  <a:pt x="1012825" y="603186"/>
                </a:lnTo>
                <a:lnTo>
                  <a:pt x="1030288" y="628990"/>
                </a:lnTo>
                <a:lnTo>
                  <a:pt x="1047750" y="654454"/>
                </a:lnTo>
                <a:lnTo>
                  <a:pt x="1065212" y="679509"/>
                </a:lnTo>
                <a:lnTo>
                  <a:pt x="1082675" y="704086"/>
                </a:lnTo>
                <a:lnTo>
                  <a:pt x="1100138" y="728118"/>
                </a:lnTo>
                <a:lnTo>
                  <a:pt x="1117600" y="751538"/>
                </a:lnTo>
                <a:lnTo>
                  <a:pt x="1135063" y="774284"/>
                </a:lnTo>
                <a:lnTo>
                  <a:pt x="1152525" y="796291"/>
                </a:lnTo>
                <a:lnTo>
                  <a:pt x="1169987" y="817501"/>
                </a:lnTo>
                <a:lnTo>
                  <a:pt x="1187450" y="837854"/>
                </a:lnTo>
                <a:lnTo>
                  <a:pt x="1204913" y="857296"/>
                </a:lnTo>
                <a:lnTo>
                  <a:pt x="1222375" y="875773"/>
                </a:lnTo>
                <a:lnTo>
                  <a:pt x="1239838" y="893233"/>
                </a:lnTo>
                <a:lnTo>
                  <a:pt x="1257300" y="909630"/>
                </a:lnTo>
                <a:lnTo>
                  <a:pt x="1274763" y="924918"/>
                </a:lnTo>
                <a:lnTo>
                  <a:pt x="1292225" y="939056"/>
                </a:lnTo>
                <a:lnTo>
                  <a:pt x="1309688" y="952005"/>
                </a:lnTo>
                <a:lnTo>
                  <a:pt x="1327150" y="963728"/>
                </a:lnTo>
                <a:lnTo>
                  <a:pt x="1344612" y="974195"/>
                </a:lnTo>
                <a:lnTo>
                  <a:pt x="1362075" y="983376"/>
                </a:lnTo>
                <a:lnTo>
                  <a:pt x="1379538" y="991247"/>
                </a:lnTo>
                <a:lnTo>
                  <a:pt x="1397000" y="997785"/>
                </a:lnTo>
                <a:lnTo>
                  <a:pt x="1414463" y="1002972"/>
                </a:lnTo>
                <a:lnTo>
                  <a:pt x="1431925" y="1006796"/>
                </a:lnTo>
                <a:lnTo>
                  <a:pt x="1449387" y="1009244"/>
                </a:lnTo>
                <a:lnTo>
                  <a:pt x="1466850" y="1010311"/>
                </a:lnTo>
                <a:lnTo>
                  <a:pt x="1484313" y="1009993"/>
                </a:lnTo>
                <a:lnTo>
                  <a:pt x="1501775" y="1008291"/>
                </a:lnTo>
                <a:lnTo>
                  <a:pt x="1519238" y="1005210"/>
                </a:lnTo>
                <a:lnTo>
                  <a:pt x="1536700" y="1000759"/>
                </a:lnTo>
                <a:lnTo>
                  <a:pt x="1554162" y="994949"/>
                </a:lnTo>
                <a:lnTo>
                  <a:pt x="1571625" y="987797"/>
                </a:lnTo>
                <a:lnTo>
                  <a:pt x="1589088" y="979322"/>
                </a:lnTo>
                <a:lnTo>
                  <a:pt x="1606550" y="969547"/>
                </a:lnTo>
                <a:lnTo>
                  <a:pt x="1624013" y="958500"/>
                </a:lnTo>
                <a:lnTo>
                  <a:pt x="1641475" y="946209"/>
                </a:lnTo>
                <a:lnTo>
                  <a:pt x="1658937" y="932710"/>
                </a:lnTo>
                <a:lnTo>
                  <a:pt x="1676400" y="918039"/>
                </a:lnTo>
                <a:lnTo>
                  <a:pt x="1693863" y="902236"/>
                </a:lnTo>
                <a:lnTo>
                  <a:pt x="1711325" y="885345"/>
                </a:lnTo>
                <a:lnTo>
                  <a:pt x="1728788" y="867412"/>
                </a:lnTo>
                <a:lnTo>
                  <a:pt x="1746250" y="848486"/>
                </a:lnTo>
                <a:lnTo>
                  <a:pt x="1763712" y="828619"/>
                </a:lnTo>
                <a:lnTo>
                  <a:pt x="1781175" y="807865"/>
                </a:lnTo>
                <a:lnTo>
                  <a:pt x="1798638" y="786282"/>
                </a:lnTo>
                <a:lnTo>
                  <a:pt x="1816100" y="763928"/>
                </a:lnTo>
                <a:lnTo>
                  <a:pt x="1833563" y="740865"/>
                </a:lnTo>
                <a:lnTo>
                  <a:pt x="1851025" y="717155"/>
                </a:lnTo>
                <a:lnTo>
                  <a:pt x="1868487" y="692865"/>
                </a:lnTo>
                <a:lnTo>
                  <a:pt x="1885950" y="668060"/>
                </a:lnTo>
                <a:lnTo>
                  <a:pt x="1903413" y="642809"/>
                </a:lnTo>
                <a:lnTo>
                  <a:pt x="1920875" y="617180"/>
                </a:lnTo>
                <a:lnTo>
                  <a:pt x="1938338" y="591244"/>
                </a:lnTo>
                <a:lnTo>
                  <a:pt x="1955800" y="565072"/>
                </a:lnTo>
                <a:lnTo>
                  <a:pt x="1973262" y="538736"/>
                </a:lnTo>
                <a:lnTo>
                  <a:pt x="1990725" y="512308"/>
                </a:lnTo>
                <a:lnTo>
                  <a:pt x="2008188" y="485861"/>
                </a:lnTo>
                <a:lnTo>
                  <a:pt x="2025650" y="459466"/>
                </a:lnTo>
                <a:lnTo>
                  <a:pt x="2043113" y="433197"/>
                </a:lnTo>
                <a:lnTo>
                  <a:pt x="2060575" y="407124"/>
                </a:lnTo>
                <a:lnTo>
                  <a:pt x="2078037" y="381321"/>
                </a:lnTo>
                <a:lnTo>
                  <a:pt x="2095500" y="355857"/>
                </a:lnTo>
                <a:lnTo>
                  <a:pt x="2112963" y="330802"/>
                </a:lnTo>
                <a:lnTo>
                  <a:pt x="2130425" y="306225"/>
                </a:lnTo>
                <a:lnTo>
                  <a:pt x="2147888" y="282193"/>
                </a:lnTo>
                <a:lnTo>
                  <a:pt x="2165350" y="258772"/>
                </a:lnTo>
                <a:lnTo>
                  <a:pt x="2182812" y="236027"/>
                </a:lnTo>
                <a:lnTo>
                  <a:pt x="2200275" y="214019"/>
                </a:lnTo>
                <a:lnTo>
                  <a:pt x="2217738" y="192810"/>
                </a:lnTo>
                <a:lnTo>
                  <a:pt x="2235200" y="172456"/>
                </a:lnTo>
                <a:lnTo>
                  <a:pt x="2252663" y="153015"/>
                </a:lnTo>
                <a:lnTo>
                  <a:pt x="2270125" y="134538"/>
                </a:lnTo>
                <a:lnTo>
                  <a:pt x="2287587" y="117078"/>
                </a:lnTo>
                <a:lnTo>
                  <a:pt x="2305050" y="100681"/>
                </a:lnTo>
                <a:lnTo>
                  <a:pt x="2322513" y="85392"/>
                </a:lnTo>
                <a:lnTo>
                  <a:pt x="2339975" y="71255"/>
                </a:lnTo>
                <a:lnTo>
                  <a:pt x="2357438" y="58306"/>
                </a:lnTo>
                <a:lnTo>
                  <a:pt x="2374900" y="46582"/>
                </a:lnTo>
                <a:lnTo>
                  <a:pt x="2392362" y="36116"/>
                </a:lnTo>
                <a:lnTo>
                  <a:pt x="2409825" y="26934"/>
                </a:lnTo>
                <a:lnTo>
                  <a:pt x="2427288" y="19064"/>
                </a:lnTo>
                <a:lnTo>
                  <a:pt x="2444750" y="12526"/>
                </a:lnTo>
                <a:lnTo>
                  <a:pt x="2462213" y="7338"/>
                </a:lnTo>
                <a:lnTo>
                  <a:pt x="2479675" y="3515"/>
                </a:lnTo>
                <a:lnTo>
                  <a:pt x="2497138" y="1067"/>
                </a:lnTo>
                <a:lnTo>
                  <a:pt x="2514600" y="0"/>
                </a:lnTo>
                <a:lnTo>
                  <a:pt x="2532063" y="318"/>
                </a:lnTo>
                <a:lnTo>
                  <a:pt x="2549525" y="2020"/>
                </a:lnTo>
                <a:lnTo>
                  <a:pt x="2566988" y="5100"/>
                </a:lnTo>
                <a:lnTo>
                  <a:pt x="2584450" y="9552"/>
                </a:lnTo>
                <a:lnTo>
                  <a:pt x="2601913" y="15361"/>
                </a:lnTo>
                <a:lnTo>
                  <a:pt x="2619375" y="22514"/>
                </a:lnTo>
                <a:lnTo>
                  <a:pt x="2636838" y="30989"/>
                </a:lnTo>
                <a:lnTo>
                  <a:pt x="2654300" y="40764"/>
                </a:lnTo>
                <a:lnTo>
                  <a:pt x="2671763" y="51811"/>
                </a:lnTo>
                <a:lnTo>
                  <a:pt x="2689225" y="64101"/>
                </a:lnTo>
                <a:lnTo>
                  <a:pt x="2706688" y="77601"/>
                </a:lnTo>
                <a:lnTo>
                  <a:pt x="2724150" y="92272"/>
                </a:lnTo>
                <a:lnTo>
                  <a:pt x="2741613" y="108074"/>
                </a:lnTo>
                <a:lnTo>
                  <a:pt x="2759075" y="124965"/>
                </a:lnTo>
                <a:lnTo>
                  <a:pt x="2776538" y="142899"/>
                </a:lnTo>
                <a:lnTo>
                  <a:pt x="2794000" y="161825"/>
                </a:lnTo>
                <a:lnTo>
                  <a:pt x="2811463" y="181692"/>
                </a:lnTo>
                <a:lnTo>
                  <a:pt x="2828925" y="202446"/>
                </a:lnTo>
                <a:lnTo>
                  <a:pt x="2846388" y="224029"/>
                </a:lnTo>
                <a:lnTo>
                  <a:pt x="2863850" y="246383"/>
                </a:lnTo>
                <a:lnTo>
                  <a:pt x="2881313" y="269446"/>
                </a:lnTo>
                <a:lnTo>
                  <a:pt x="2898775" y="293155"/>
                </a:lnTo>
                <a:lnTo>
                  <a:pt x="2916238" y="317446"/>
                </a:lnTo>
                <a:lnTo>
                  <a:pt x="2933700" y="342251"/>
                </a:lnTo>
                <a:lnTo>
                  <a:pt x="2951163" y="367502"/>
                </a:lnTo>
                <a:lnTo>
                  <a:pt x="2968625" y="393131"/>
                </a:lnTo>
                <a:lnTo>
                  <a:pt x="2986088" y="419067"/>
                </a:lnTo>
                <a:lnTo>
                  <a:pt x="3003550" y="445238"/>
                </a:lnTo>
                <a:lnTo>
                  <a:pt x="3021013" y="471574"/>
                </a:lnTo>
                <a:lnTo>
                  <a:pt x="3038475" y="498002"/>
                </a:lnTo>
                <a:lnTo>
                  <a:pt x="3055938" y="524450"/>
                </a:lnTo>
                <a:lnTo>
                  <a:pt x="3073400" y="550845"/>
                </a:lnTo>
                <a:lnTo>
                  <a:pt x="3090863" y="577114"/>
                </a:lnTo>
                <a:lnTo>
                  <a:pt x="3108325" y="603186"/>
                </a:lnTo>
                <a:lnTo>
                  <a:pt x="3125788" y="628990"/>
                </a:lnTo>
                <a:lnTo>
                  <a:pt x="3143250" y="654454"/>
                </a:lnTo>
                <a:lnTo>
                  <a:pt x="3160713" y="679509"/>
                </a:lnTo>
                <a:lnTo>
                  <a:pt x="3178175" y="704086"/>
                </a:lnTo>
                <a:lnTo>
                  <a:pt x="3195638" y="728118"/>
                </a:lnTo>
                <a:lnTo>
                  <a:pt x="3213100" y="751538"/>
                </a:lnTo>
                <a:lnTo>
                  <a:pt x="3230563" y="774284"/>
                </a:lnTo>
                <a:lnTo>
                  <a:pt x="3248025" y="796291"/>
                </a:lnTo>
                <a:lnTo>
                  <a:pt x="3265488" y="817501"/>
                </a:lnTo>
                <a:lnTo>
                  <a:pt x="3282950" y="837854"/>
                </a:lnTo>
                <a:lnTo>
                  <a:pt x="3300413" y="857296"/>
                </a:lnTo>
                <a:lnTo>
                  <a:pt x="3317875" y="875773"/>
                </a:lnTo>
                <a:lnTo>
                  <a:pt x="3335338" y="893233"/>
                </a:lnTo>
                <a:lnTo>
                  <a:pt x="3352800" y="909630"/>
                </a:lnTo>
                <a:lnTo>
                  <a:pt x="3370263" y="924918"/>
                </a:lnTo>
                <a:lnTo>
                  <a:pt x="3387725" y="939056"/>
                </a:lnTo>
                <a:lnTo>
                  <a:pt x="3405188" y="952005"/>
                </a:lnTo>
                <a:lnTo>
                  <a:pt x="3422650" y="963728"/>
                </a:lnTo>
                <a:lnTo>
                  <a:pt x="3440113" y="974195"/>
                </a:lnTo>
                <a:lnTo>
                  <a:pt x="3457575" y="983376"/>
                </a:lnTo>
                <a:lnTo>
                  <a:pt x="3475038" y="991247"/>
                </a:lnTo>
                <a:lnTo>
                  <a:pt x="3492500" y="997785"/>
                </a:lnTo>
                <a:lnTo>
                  <a:pt x="3509963" y="1002972"/>
                </a:lnTo>
                <a:lnTo>
                  <a:pt x="3527425" y="1006796"/>
                </a:lnTo>
                <a:lnTo>
                  <a:pt x="3544888" y="1009244"/>
                </a:lnTo>
                <a:lnTo>
                  <a:pt x="3562350" y="1010311"/>
                </a:lnTo>
                <a:lnTo>
                  <a:pt x="3579813" y="1009993"/>
                </a:lnTo>
                <a:lnTo>
                  <a:pt x="3597275" y="1008291"/>
                </a:lnTo>
                <a:lnTo>
                  <a:pt x="3614738" y="1005210"/>
                </a:lnTo>
                <a:lnTo>
                  <a:pt x="3632200" y="1000759"/>
                </a:lnTo>
                <a:lnTo>
                  <a:pt x="3649663" y="994949"/>
                </a:lnTo>
                <a:lnTo>
                  <a:pt x="3667125" y="987797"/>
                </a:lnTo>
                <a:lnTo>
                  <a:pt x="3684588" y="979322"/>
                </a:lnTo>
                <a:lnTo>
                  <a:pt x="3702050" y="969547"/>
                </a:lnTo>
                <a:lnTo>
                  <a:pt x="3719513" y="958500"/>
                </a:lnTo>
                <a:lnTo>
                  <a:pt x="3736975" y="946209"/>
                </a:lnTo>
                <a:lnTo>
                  <a:pt x="3754438" y="932710"/>
                </a:lnTo>
                <a:lnTo>
                  <a:pt x="3771900" y="918039"/>
                </a:lnTo>
                <a:lnTo>
                  <a:pt x="3789362" y="902236"/>
                </a:lnTo>
                <a:lnTo>
                  <a:pt x="3806825" y="885345"/>
                </a:lnTo>
                <a:lnTo>
                  <a:pt x="3824288" y="867412"/>
                </a:lnTo>
                <a:lnTo>
                  <a:pt x="3841750" y="848486"/>
                </a:lnTo>
                <a:lnTo>
                  <a:pt x="3859213" y="828619"/>
                </a:lnTo>
                <a:lnTo>
                  <a:pt x="3876675" y="807865"/>
                </a:lnTo>
                <a:lnTo>
                  <a:pt x="3894137" y="786282"/>
                </a:lnTo>
                <a:lnTo>
                  <a:pt x="3911600" y="763928"/>
                </a:lnTo>
                <a:lnTo>
                  <a:pt x="3929063" y="740865"/>
                </a:lnTo>
                <a:lnTo>
                  <a:pt x="3946525" y="717155"/>
                </a:lnTo>
                <a:lnTo>
                  <a:pt x="3963988" y="692865"/>
                </a:lnTo>
                <a:lnTo>
                  <a:pt x="3981450" y="668060"/>
                </a:lnTo>
                <a:lnTo>
                  <a:pt x="3998912" y="642809"/>
                </a:lnTo>
                <a:lnTo>
                  <a:pt x="4016375" y="617180"/>
                </a:lnTo>
                <a:lnTo>
                  <a:pt x="4033838" y="591244"/>
                </a:lnTo>
                <a:lnTo>
                  <a:pt x="4051300" y="565072"/>
                </a:lnTo>
                <a:lnTo>
                  <a:pt x="4068763" y="538736"/>
                </a:lnTo>
                <a:lnTo>
                  <a:pt x="4086225" y="512308"/>
                </a:lnTo>
                <a:lnTo>
                  <a:pt x="4103687" y="485861"/>
                </a:lnTo>
                <a:lnTo>
                  <a:pt x="4121150" y="459466"/>
                </a:lnTo>
                <a:lnTo>
                  <a:pt x="4138613" y="433197"/>
                </a:lnTo>
                <a:lnTo>
                  <a:pt x="4156075" y="407124"/>
                </a:lnTo>
                <a:lnTo>
                  <a:pt x="4173538" y="381321"/>
                </a:lnTo>
                <a:lnTo>
                  <a:pt x="4191000" y="3558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7373"/>
            </a:solidFill>
          </a:ln>
        </p:spPr>
      </p:sp>
      <p:sp>
        <p:nvSpPr>
          <p:cNvPr id="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C17464D-62D6-40B3-9AD2-13F5EFA0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9013"/>
            <a:ext cx="9525" cy="36439"/>
          </a:xfrm>
          <a:custGeom xmlns:a="http://schemas.openxmlformats.org/drawingml/2006/main">
            <a:pathLst>
              <a:path w="9525" h="36439">
                <a:moveTo>
                  <a:pt x="0" y="364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0" name="sample">
            <a:extLst xmlns:a="http://schemas.openxmlformats.org/drawingml/2006/main">
              <a:ext uri="{FF2B5EF4-FFF2-40B4-BE49-F238E27FC236}">
                <a16:creationId xmlns:a16="http://schemas.microsoft.com/office/drawing/2014/main" id="{09CCB1CB-8D5F-436D-8D24-F84793E0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8922653-4B57-4F58-8A92-9B60685E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313" y="3445622"/>
            <a:ext cx="9525" cy="83391"/>
          </a:xfrm>
          <a:custGeom xmlns:a="http://schemas.openxmlformats.org/drawingml/2006/main">
            <a:pathLst>
              <a:path w="9525" h="83391">
                <a:moveTo>
                  <a:pt x="0" y="0"/>
                </a:moveTo>
                <a:lnTo>
                  <a:pt x="0" y="833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2" name="sample">
            <a:extLst xmlns:a="http://schemas.openxmlformats.org/drawingml/2006/main">
              <a:ext uri="{FF2B5EF4-FFF2-40B4-BE49-F238E27FC236}">
                <a16:creationId xmlns:a16="http://schemas.microsoft.com/office/drawing/2014/main" id="{FBF8EBB5-F102-4F68-A41E-6128B54F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213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E235CB8-B357-4456-9234-BB506CC7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625" y="3344133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0"/>
                </a:moveTo>
                <a:lnTo>
                  <a:pt x="0" y="1848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4" name="sample">
            <a:extLst xmlns:a="http://schemas.openxmlformats.org/drawingml/2006/main">
              <a:ext uri="{FF2B5EF4-FFF2-40B4-BE49-F238E27FC236}">
                <a16:creationId xmlns:a16="http://schemas.microsoft.com/office/drawing/2014/main" id="{2FF5DA42-1600-416F-B25F-22795A4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5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3474259-8EAF-4DDF-B247-635C9379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3157538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1103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6" name="sample">
            <a:extLst xmlns:a="http://schemas.openxmlformats.org/drawingml/2006/main">
              <a:ext uri="{FF2B5EF4-FFF2-40B4-BE49-F238E27FC236}">
                <a16:creationId xmlns:a16="http://schemas.microsoft.com/office/drawing/2014/main" id="{8BCCDEA6-CF69-4725-9E95-FA5B8ABE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A7643EF-8BA7-49F6-8BC7-1A15D333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250" y="3157538"/>
            <a:ext cx="9525" cy="64583"/>
          </a:xfrm>
          <a:custGeom xmlns:a="http://schemas.openxmlformats.org/drawingml/2006/main">
            <a:pathLst>
              <a:path w="9525" h="64583">
                <a:moveTo>
                  <a:pt x="0" y="645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8" name="sample">
            <a:extLst xmlns:a="http://schemas.openxmlformats.org/drawingml/2006/main">
              <a:ext uri="{FF2B5EF4-FFF2-40B4-BE49-F238E27FC236}">
                <a16:creationId xmlns:a16="http://schemas.microsoft.com/office/drawing/2014/main" id="{234F54D2-2A6F-42E7-8F52-4223B79D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150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503C224-F532-482B-B97A-FFD481A6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563" y="3157538"/>
            <a:ext cx="9525" cy="52375"/>
          </a:xfrm>
          <a:custGeom xmlns:a="http://schemas.openxmlformats.org/drawingml/2006/main">
            <a:pathLst>
              <a:path w="9525" h="52375">
                <a:moveTo>
                  <a:pt x="0" y="52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0" name="sample">
            <a:extLst xmlns:a="http://schemas.openxmlformats.org/drawingml/2006/main">
              <a:ext uri="{FF2B5EF4-FFF2-40B4-BE49-F238E27FC236}">
                <a16:creationId xmlns:a16="http://schemas.microsoft.com/office/drawing/2014/main" id="{DBC4C13C-D74E-4204-B280-4D0F1A53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463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DE84FBC-2430-4774-B949-B3EEC267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57538"/>
            <a:ext cx="9525" cy="74571"/>
          </a:xfrm>
          <a:custGeom xmlns:a="http://schemas.openxmlformats.org/drawingml/2006/main">
            <a:pathLst>
              <a:path w="9525" h="74571">
                <a:moveTo>
                  <a:pt x="0" y="745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2" name="sample">
            <a:extLst xmlns:a="http://schemas.openxmlformats.org/drawingml/2006/main">
              <a:ext uri="{FF2B5EF4-FFF2-40B4-BE49-F238E27FC236}">
                <a16:creationId xmlns:a16="http://schemas.microsoft.com/office/drawing/2014/main" id="{29694B2B-857F-4397-9138-B8AD4278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3A2E30E-9BB0-43FC-895A-FC930425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188" y="3157538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1296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4" name="sample">
            <a:extLst xmlns:a="http://schemas.openxmlformats.org/drawingml/2006/main">
              <a:ext uri="{FF2B5EF4-FFF2-40B4-BE49-F238E27FC236}">
                <a16:creationId xmlns:a16="http://schemas.microsoft.com/office/drawing/2014/main" id="{66D32F37-DA35-418B-9BEA-ECC1AA29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08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5337B18-C132-4254-8144-7A1A31D4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371419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0"/>
                </a:moveTo>
                <a:lnTo>
                  <a:pt x="0" y="1575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6" name="sample">
            <a:extLst xmlns:a="http://schemas.openxmlformats.org/drawingml/2006/main">
              <a:ext uri="{FF2B5EF4-FFF2-40B4-BE49-F238E27FC236}">
                <a16:creationId xmlns:a16="http://schemas.microsoft.com/office/drawing/2014/main" id="{33D6572C-DDB4-404D-A8CB-09640A64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4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480850D-7029-4B41-9855-5CF0A29D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3" y="3479041"/>
            <a:ext cx="9525" cy="49972"/>
          </a:xfrm>
          <a:custGeom xmlns:a="http://schemas.openxmlformats.org/drawingml/2006/main">
            <a:pathLst>
              <a:path w="9525" h="49972">
                <a:moveTo>
                  <a:pt x="0" y="0"/>
                </a:moveTo>
                <a:lnTo>
                  <a:pt x="0" y="499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8" name="sample">
            <a:extLst xmlns:a="http://schemas.openxmlformats.org/drawingml/2006/main">
              <a:ext uri="{FF2B5EF4-FFF2-40B4-BE49-F238E27FC236}">
                <a16:creationId xmlns:a16="http://schemas.microsoft.com/office/drawing/2014/main" id="{3D6570BB-9420-4EDA-B29E-E6E9A0C2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3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A0DEFBF-BDF9-4651-8720-54EEF89F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125" y="3529013"/>
            <a:ext cx="9525" cy="73713"/>
          </a:xfrm>
          <a:custGeom xmlns:a="http://schemas.openxmlformats.org/drawingml/2006/main">
            <a:pathLst>
              <a:path w="9525" h="73713">
                <a:moveTo>
                  <a:pt x="0" y="737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30" name="sample">
            <a:extLst xmlns:a="http://schemas.openxmlformats.org/drawingml/2006/main">
              <a:ext uri="{FF2B5EF4-FFF2-40B4-BE49-F238E27FC236}">
                <a16:creationId xmlns:a16="http://schemas.microsoft.com/office/drawing/2014/main" id="{32B0DE64-B631-420D-8E4B-C9602140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0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A960381-FA96-48FF-A34B-A44B76AB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438" y="3734044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0"/>
                </a:moveTo>
                <a:lnTo>
                  <a:pt x="0" y="16644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32" name="sample">
            <a:extLst xmlns:a="http://schemas.openxmlformats.org/drawingml/2006/main">
              <a:ext uri="{FF2B5EF4-FFF2-40B4-BE49-F238E27FC236}">
                <a16:creationId xmlns:a16="http://schemas.microsoft.com/office/drawing/2014/main" id="{585FACB2-ECCA-4482-986A-E38308B9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337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7166A8F-46A8-4F53-BDCB-8B88F401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4049"/>
            <a:ext cx="9525" cy="36439"/>
          </a:xfrm>
          <a:custGeom xmlns:a="http://schemas.openxmlformats.org/drawingml/2006/main">
            <a:pathLst>
              <a:path w="9525" h="36439">
                <a:moveTo>
                  <a:pt x="0" y="0"/>
                </a:moveTo>
                <a:lnTo>
                  <a:pt x="0" y="3643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34" name="sample">
            <a:extLst xmlns:a="http://schemas.openxmlformats.org/drawingml/2006/main">
              <a:ext uri="{FF2B5EF4-FFF2-40B4-BE49-F238E27FC236}">
                <a16:creationId xmlns:a16="http://schemas.microsoft.com/office/drawing/2014/main" id="{17E85319-38D4-48C0-A4E2-2E3AAE8E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F87D7D3-5A97-4BD9-A48F-F0ADA2BE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063" y="3900488"/>
            <a:ext cx="9525" cy="83391"/>
          </a:xfrm>
          <a:custGeom xmlns:a="http://schemas.openxmlformats.org/drawingml/2006/main">
            <a:pathLst>
              <a:path w="9525" h="83391">
                <a:moveTo>
                  <a:pt x="0" y="833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36" name="sample">
            <a:extLst xmlns:a="http://schemas.openxmlformats.org/drawingml/2006/main">
              <a:ext uri="{FF2B5EF4-FFF2-40B4-BE49-F238E27FC236}">
                <a16:creationId xmlns:a16="http://schemas.microsoft.com/office/drawing/2014/main" id="{3E97BC52-289A-4616-A11F-2C45B7A9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9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D29008D-1149-457C-8410-C000C5BC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3900488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1848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38" name="sample">
            <a:extLst xmlns:a="http://schemas.openxmlformats.org/drawingml/2006/main">
              <a:ext uri="{FF2B5EF4-FFF2-40B4-BE49-F238E27FC236}">
                <a16:creationId xmlns:a16="http://schemas.microsoft.com/office/drawing/2014/main" id="{6F3A384C-600B-4D12-AC74-0B9DD1D5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2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0C79F71-3531-419C-8ADE-5D820FAC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688" y="4161599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0"/>
                </a:moveTo>
                <a:lnTo>
                  <a:pt x="0" y="1103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40" name="sample">
            <a:extLst xmlns:a="http://schemas.openxmlformats.org/drawingml/2006/main">
              <a:ext uri="{FF2B5EF4-FFF2-40B4-BE49-F238E27FC236}">
                <a16:creationId xmlns:a16="http://schemas.microsoft.com/office/drawing/2014/main" id="{1890B7CF-43CB-40F1-B8CD-B0C02974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66E42D4-B972-41B2-8A9B-EE212F7A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4207379"/>
            <a:ext cx="9525" cy="64583"/>
          </a:xfrm>
          <a:custGeom xmlns:a="http://schemas.openxmlformats.org/drawingml/2006/main">
            <a:pathLst>
              <a:path w="9525" h="64583">
                <a:moveTo>
                  <a:pt x="0" y="0"/>
                </a:moveTo>
                <a:lnTo>
                  <a:pt x="0" y="645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42" name="sample">
            <a:extLst xmlns:a="http://schemas.openxmlformats.org/drawingml/2006/main">
              <a:ext uri="{FF2B5EF4-FFF2-40B4-BE49-F238E27FC236}">
                <a16:creationId xmlns:a16="http://schemas.microsoft.com/office/drawing/2014/main" id="{4CA68CED-DB16-4CD3-9FF9-72F52E88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900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6AA8A68-0400-404D-892F-7AF25720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313" y="4219587"/>
            <a:ext cx="9525" cy="52375"/>
          </a:xfrm>
          <a:custGeom xmlns:a="http://schemas.openxmlformats.org/drawingml/2006/main">
            <a:pathLst>
              <a:path w="9525" h="52375">
                <a:moveTo>
                  <a:pt x="0" y="0"/>
                </a:moveTo>
                <a:lnTo>
                  <a:pt x="0" y="52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44" name="sample">
            <a:extLst xmlns:a="http://schemas.openxmlformats.org/drawingml/2006/main">
              <a:ext uri="{FF2B5EF4-FFF2-40B4-BE49-F238E27FC236}">
                <a16:creationId xmlns:a16="http://schemas.microsoft.com/office/drawing/2014/main" id="{883E08E4-06C3-4FD8-AEAD-AF9121D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213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7F5758B-B1D7-44EC-8CD6-BB6C6591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97392"/>
            <a:ext cx="9525" cy="74571"/>
          </a:xfrm>
          <a:custGeom xmlns:a="http://schemas.openxmlformats.org/drawingml/2006/main">
            <a:pathLst>
              <a:path w="9525" h="74571">
                <a:moveTo>
                  <a:pt x="0" y="0"/>
                </a:moveTo>
                <a:lnTo>
                  <a:pt x="0" y="7457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46" name="sample">
            <a:extLst xmlns:a="http://schemas.openxmlformats.org/drawingml/2006/main">
              <a:ext uri="{FF2B5EF4-FFF2-40B4-BE49-F238E27FC236}">
                <a16:creationId xmlns:a16="http://schemas.microsoft.com/office/drawing/2014/main" id="{E06B84E1-AD34-4DC7-B274-10A44585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5A8B8FB-45D4-4037-B5B0-5AB89BA3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1937" y="4142305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0"/>
                </a:moveTo>
                <a:lnTo>
                  <a:pt x="0" y="129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48" name="sample">
            <a:extLst xmlns:a="http://schemas.openxmlformats.org/drawingml/2006/main">
              <a:ext uri="{FF2B5EF4-FFF2-40B4-BE49-F238E27FC236}">
                <a16:creationId xmlns:a16="http://schemas.microsoft.com/office/drawing/2014/main" id="{91C78C77-6E63-4E6F-9713-38ACD82F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3837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D2F6A2D-7AA8-42CA-8A29-EA6CC8D2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250" y="3900488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1575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50" name="sample">
            <a:extLst xmlns:a="http://schemas.openxmlformats.org/drawingml/2006/main">
              <a:ext uri="{FF2B5EF4-FFF2-40B4-BE49-F238E27FC236}">
                <a16:creationId xmlns:a16="http://schemas.microsoft.com/office/drawing/2014/main" id="{EEEB8FDD-DEA9-4F0F-9EDD-ED039271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11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92AF585-28C4-4DDD-B051-C01ED307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3" y="3900488"/>
            <a:ext cx="9525" cy="49972"/>
          </a:xfrm>
          <a:custGeom xmlns:a="http://schemas.openxmlformats.org/drawingml/2006/main">
            <a:pathLst>
              <a:path w="9525" h="49972">
                <a:moveTo>
                  <a:pt x="0" y="499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52" name="sample">
            <a:extLst xmlns:a="http://schemas.openxmlformats.org/drawingml/2006/main">
              <a:ext uri="{FF2B5EF4-FFF2-40B4-BE49-F238E27FC236}">
                <a16:creationId xmlns:a16="http://schemas.microsoft.com/office/drawing/2014/main" id="{386322D4-C7DB-4F77-9FD4-DC640ED6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4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EDC9897-AF32-4070-A882-AC07B7F8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875" y="3826774"/>
            <a:ext cx="9525" cy="73713"/>
          </a:xfrm>
          <a:custGeom xmlns:a="http://schemas.openxmlformats.org/drawingml/2006/main">
            <a:pathLst>
              <a:path w="9525" h="73713">
                <a:moveTo>
                  <a:pt x="0" y="0"/>
                </a:moveTo>
                <a:lnTo>
                  <a:pt x="0" y="737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54" name="sample">
            <a:extLst xmlns:a="http://schemas.openxmlformats.org/drawingml/2006/main">
              <a:ext uri="{FF2B5EF4-FFF2-40B4-BE49-F238E27FC236}">
                <a16:creationId xmlns:a16="http://schemas.microsoft.com/office/drawing/2014/main" id="{FA764D54-F44E-477B-9408-FCF85263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7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D6D2A82-3DFA-423C-A946-87BB69DB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188" y="3529013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1664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56" name="sample">
            <a:extLst xmlns:a="http://schemas.openxmlformats.org/drawingml/2006/main">
              <a:ext uri="{FF2B5EF4-FFF2-40B4-BE49-F238E27FC236}">
                <a16:creationId xmlns:a16="http://schemas.microsoft.com/office/drawing/2014/main" id="{ED7CD8EE-7B7F-49BD-B10C-A4D3A409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088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6806072-E7A8-49E8-9F45-853381AF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9013"/>
            <a:ext cx="9525" cy="36439"/>
          </a:xfrm>
          <a:custGeom xmlns:a="http://schemas.openxmlformats.org/drawingml/2006/main">
            <a:pathLst>
              <a:path w="9525" h="36439">
                <a:moveTo>
                  <a:pt x="0" y="364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58" name="sample">
            <a:extLst xmlns:a="http://schemas.openxmlformats.org/drawingml/2006/main">
              <a:ext uri="{FF2B5EF4-FFF2-40B4-BE49-F238E27FC236}">
                <a16:creationId xmlns:a16="http://schemas.microsoft.com/office/drawing/2014/main" id="{FAEE2BCE-409E-4AD8-9279-EE2922A5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3B31428-6199-47F8-9331-49BE2A70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812" y="3445622"/>
            <a:ext cx="9525" cy="83391"/>
          </a:xfrm>
          <a:custGeom xmlns:a="http://schemas.openxmlformats.org/drawingml/2006/main">
            <a:pathLst>
              <a:path w="9525" h="83391">
                <a:moveTo>
                  <a:pt x="0" y="0"/>
                </a:moveTo>
                <a:lnTo>
                  <a:pt x="0" y="833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60" name="sample">
            <a:extLst xmlns:a="http://schemas.openxmlformats.org/drawingml/2006/main">
              <a:ext uri="{FF2B5EF4-FFF2-40B4-BE49-F238E27FC236}">
                <a16:creationId xmlns:a16="http://schemas.microsoft.com/office/drawing/2014/main" id="{D12F1B78-C3A9-4F27-A260-B3FE7CD4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7712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80408C7-4EE9-4BF8-A951-6C5FA729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3344133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0"/>
                </a:moveTo>
                <a:lnTo>
                  <a:pt x="0" y="18488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62" name="sample">
            <a:extLst xmlns:a="http://schemas.openxmlformats.org/drawingml/2006/main">
              <a:ext uri="{FF2B5EF4-FFF2-40B4-BE49-F238E27FC236}">
                <a16:creationId xmlns:a16="http://schemas.microsoft.com/office/drawing/2014/main" id="{ABB188BD-2335-47AA-9772-B3424D9E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551344B-DF45-498B-8F6F-2586CD63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157538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1103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64" name="sample">
            <a:extLst xmlns:a="http://schemas.openxmlformats.org/drawingml/2006/main">
              <a:ext uri="{FF2B5EF4-FFF2-40B4-BE49-F238E27FC236}">
                <a16:creationId xmlns:a16="http://schemas.microsoft.com/office/drawing/2014/main" id="{F6386746-98F9-43FB-AB67-BECE760E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D3F884F-7533-41A7-A5FC-58D5E115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3157538"/>
            <a:ext cx="9525" cy="64583"/>
          </a:xfrm>
          <a:custGeom xmlns:a="http://schemas.openxmlformats.org/drawingml/2006/main">
            <a:pathLst>
              <a:path w="9525" h="64583">
                <a:moveTo>
                  <a:pt x="0" y="645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66" name="sample">
            <a:extLst xmlns:a="http://schemas.openxmlformats.org/drawingml/2006/main">
              <a:ext uri="{FF2B5EF4-FFF2-40B4-BE49-F238E27FC236}">
                <a16:creationId xmlns:a16="http://schemas.microsoft.com/office/drawing/2014/main" id="{007CE0FC-A227-4EF7-A925-B789135A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6FF1AD3-A8A9-4DE8-8023-41BDC806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063" y="3157538"/>
            <a:ext cx="9525" cy="52375"/>
          </a:xfrm>
          <a:custGeom xmlns:a="http://schemas.openxmlformats.org/drawingml/2006/main">
            <a:pathLst>
              <a:path w="9525" h="52375">
                <a:moveTo>
                  <a:pt x="0" y="52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68" name="sample">
            <a:extLst xmlns:a="http://schemas.openxmlformats.org/drawingml/2006/main">
              <a:ext uri="{FF2B5EF4-FFF2-40B4-BE49-F238E27FC236}">
                <a16:creationId xmlns:a16="http://schemas.microsoft.com/office/drawing/2014/main" id="{A93462B9-8503-4A63-8191-9A22F990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963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09DCBD8-6D61-4F04-80D8-C519CB3F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57538"/>
            <a:ext cx="9525" cy="74571"/>
          </a:xfrm>
          <a:custGeom xmlns:a="http://schemas.openxmlformats.org/drawingml/2006/main">
            <a:pathLst>
              <a:path w="9525" h="74571">
                <a:moveTo>
                  <a:pt x="0" y="745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70" name="sample">
            <a:extLst xmlns:a="http://schemas.openxmlformats.org/drawingml/2006/main">
              <a:ext uri="{FF2B5EF4-FFF2-40B4-BE49-F238E27FC236}">
                <a16:creationId xmlns:a16="http://schemas.microsoft.com/office/drawing/2014/main" id="{0CA81186-D1E4-4AE6-815F-7D9EA935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2462B0A-5524-4D8B-B7DA-7415F2FB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9688" y="3157538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1296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72" name="sample">
            <a:extLst xmlns:a="http://schemas.openxmlformats.org/drawingml/2006/main">
              <a:ext uri="{FF2B5EF4-FFF2-40B4-BE49-F238E27FC236}">
                <a16:creationId xmlns:a16="http://schemas.microsoft.com/office/drawing/2014/main" id="{1385D683-F4E3-4F16-9C0E-6991432B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588" y="31194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057BE05-2C61-4463-875D-0A82B959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3371419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0"/>
                </a:moveTo>
                <a:lnTo>
                  <a:pt x="0" y="1575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74" name="sample">
            <a:extLst xmlns:a="http://schemas.openxmlformats.org/drawingml/2006/main">
              <a:ext uri="{FF2B5EF4-FFF2-40B4-BE49-F238E27FC236}">
                <a16:creationId xmlns:a16="http://schemas.microsoft.com/office/drawing/2014/main" id="{3234B5A7-BB1E-4226-BEDA-907C21AD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900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5A5615C-BDD9-4505-A047-52901845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313" y="3479041"/>
            <a:ext cx="9525" cy="49972"/>
          </a:xfrm>
          <a:custGeom xmlns:a="http://schemas.openxmlformats.org/drawingml/2006/main">
            <a:pathLst>
              <a:path w="9525" h="49972">
                <a:moveTo>
                  <a:pt x="0" y="0"/>
                </a:moveTo>
                <a:lnTo>
                  <a:pt x="0" y="499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76" name="sample">
            <a:extLst xmlns:a="http://schemas.openxmlformats.org/drawingml/2006/main">
              <a:ext uri="{FF2B5EF4-FFF2-40B4-BE49-F238E27FC236}">
                <a16:creationId xmlns:a16="http://schemas.microsoft.com/office/drawing/2014/main" id="{BE3449E2-F4BB-415D-BB2B-0934135F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04B3C00-C805-419F-A88F-454504A4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25" y="3529013"/>
            <a:ext cx="9525" cy="73713"/>
          </a:xfrm>
          <a:custGeom xmlns:a="http://schemas.openxmlformats.org/drawingml/2006/main">
            <a:pathLst>
              <a:path w="9525" h="73713">
                <a:moveTo>
                  <a:pt x="0" y="737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78" name="sample">
            <a:extLst xmlns:a="http://schemas.openxmlformats.org/drawingml/2006/main">
              <a:ext uri="{FF2B5EF4-FFF2-40B4-BE49-F238E27FC236}">
                <a16:creationId xmlns:a16="http://schemas.microsoft.com/office/drawing/2014/main" id="{AF21F319-05CA-4E4E-9F1A-5BB76A14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525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6BE764A-7706-4098-8E4C-CC4B1F45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938" y="3734044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0"/>
                </a:moveTo>
                <a:lnTo>
                  <a:pt x="0" y="16644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80" name="sample">
            <a:extLst xmlns:a="http://schemas.openxmlformats.org/drawingml/2006/main">
              <a:ext uri="{FF2B5EF4-FFF2-40B4-BE49-F238E27FC236}">
                <a16:creationId xmlns:a16="http://schemas.microsoft.com/office/drawing/2014/main" id="{0EF3341C-6973-4468-8A2C-C493BA9E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838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E84AB0B-09DA-4C35-B89B-9A481709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64049"/>
            <a:ext cx="9525" cy="36439"/>
          </a:xfrm>
          <a:custGeom xmlns:a="http://schemas.openxmlformats.org/drawingml/2006/main">
            <a:pathLst>
              <a:path w="9525" h="36439">
                <a:moveTo>
                  <a:pt x="0" y="0"/>
                </a:moveTo>
                <a:lnTo>
                  <a:pt x="0" y="3643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82" name="sample">
            <a:extLst xmlns:a="http://schemas.openxmlformats.org/drawingml/2006/main">
              <a:ext uri="{FF2B5EF4-FFF2-40B4-BE49-F238E27FC236}">
                <a16:creationId xmlns:a16="http://schemas.microsoft.com/office/drawing/2014/main" id="{CCC659EC-55D1-4C29-8259-14D3F0BC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0E12E1D-F282-4083-BD21-E5E75E81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563" y="3900488"/>
            <a:ext cx="9525" cy="83391"/>
          </a:xfrm>
          <a:custGeom xmlns:a="http://schemas.openxmlformats.org/drawingml/2006/main">
            <a:pathLst>
              <a:path w="9525" h="83391">
                <a:moveTo>
                  <a:pt x="0" y="833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84" name="sample">
            <a:extLst xmlns:a="http://schemas.openxmlformats.org/drawingml/2006/main">
              <a:ext uri="{FF2B5EF4-FFF2-40B4-BE49-F238E27FC236}">
                <a16:creationId xmlns:a16="http://schemas.microsoft.com/office/drawing/2014/main" id="{CEAC3603-D8D5-4B33-9FD0-D4BD3BD4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4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F307DDB-CF86-4DED-9AA3-4FAEE28C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0875" y="3900488"/>
            <a:ext cx="9525" cy="184880"/>
          </a:xfrm>
          <a:custGeom xmlns:a="http://schemas.openxmlformats.org/drawingml/2006/main">
            <a:pathLst>
              <a:path w="9525" h="184880">
                <a:moveTo>
                  <a:pt x="0" y="1848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86" name="sample">
            <a:extLst xmlns:a="http://schemas.openxmlformats.org/drawingml/2006/main">
              <a:ext uri="{FF2B5EF4-FFF2-40B4-BE49-F238E27FC236}">
                <a16:creationId xmlns:a16="http://schemas.microsoft.com/office/drawing/2014/main" id="{8D49916F-F026-4F12-8835-24FEEBEB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7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2D3CE76-E1F8-4A30-B27A-CC4D0D63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8188" y="4161599"/>
            <a:ext cx="9525" cy="110363"/>
          </a:xfrm>
          <a:custGeom xmlns:a="http://schemas.openxmlformats.org/drawingml/2006/main">
            <a:pathLst>
              <a:path w="9525" h="110363">
                <a:moveTo>
                  <a:pt x="0" y="0"/>
                </a:moveTo>
                <a:lnTo>
                  <a:pt x="0" y="1103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88" name="sample">
            <a:extLst xmlns:a="http://schemas.openxmlformats.org/drawingml/2006/main">
              <a:ext uri="{FF2B5EF4-FFF2-40B4-BE49-F238E27FC236}">
                <a16:creationId xmlns:a16="http://schemas.microsoft.com/office/drawing/2014/main" id="{4735CDB4-E8C5-4A4B-B227-62BBF158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8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7A7E7A3-0B4F-4945-B713-3C6B2C61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207379"/>
            <a:ext cx="9525" cy="64583"/>
          </a:xfrm>
          <a:custGeom xmlns:a="http://schemas.openxmlformats.org/drawingml/2006/main">
            <a:pathLst>
              <a:path w="9525" h="64583">
                <a:moveTo>
                  <a:pt x="0" y="0"/>
                </a:moveTo>
                <a:lnTo>
                  <a:pt x="0" y="645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90" name="sample">
            <a:extLst xmlns:a="http://schemas.openxmlformats.org/drawingml/2006/main">
              <a:ext uri="{FF2B5EF4-FFF2-40B4-BE49-F238E27FC236}">
                <a16:creationId xmlns:a16="http://schemas.microsoft.com/office/drawing/2014/main" id="{7A148FEC-DAD5-4EE2-86EA-28C59E5A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3ACCD3C-97E0-48B2-AE60-E982EEC7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813" y="4219587"/>
            <a:ext cx="9525" cy="52375"/>
          </a:xfrm>
          <a:custGeom xmlns:a="http://schemas.openxmlformats.org/drawingml/2006/main">
            <a:pathLst>
              <a:path w="9525" h="52375">
                <a:moveTo>
                  <a:pt x="0" y="0"/>
                </a:moveTo>
                <a:lnTo>
                  <a:pt x="0" y="52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92" name="sample">
            <a:extLst xmlns:a="http://schemas.openxmlformats.org/drawingml/2006/main">
              <a:ext uri="{FF2B5EF4-FFF2-40B4-BE49-F238E27FC236}">
                <a16:creationId xmlns:a16="http://schemas.microsoft.com/office/drawing/2014/main" id="{11660140-B627-474D-B436-A8472F47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4713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DBEDEFB-907D-4E74-87EE-C184DFFE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97392"/>
            <a:ext cx="9525" cy="74571"/>
          </a:xfrm>
          <a:custGeom xmlns:a="http://schemas.openxmlformats.org/drawingml/2006/main">
            <a:pathLst>
              <a:path w="9525" h="74571">
                <a:moveTo>
                  <a:pt x="0" y="0"/>
                </a:moveTo>
                <a:lnTo>
                  <a:pt x="0" y="7457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94" name="sample">
            <a:extLst xmlns:a="http://schemas.openxmlformats.org/drawingml/2006/main">
              <a:ext uri="{FF2B5EF4-FFF2-40B4-BE49-F238E27FC236}">
                <a16:creationId xmlns:a16="http://schemas.microsoft.com/office/drawing/2014/main" id="{F0F5E8A2-452D-4EB2-AE41-7E76F154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F252271-9FA7-47E1-B669-04E74D37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438" y="4142305"/>
            <a:ext cx="9525" cy="129658"/>
          </a:xfrm>
          <a:custGeom xmlns:a="http://schemas.openxmlformats.org/drawingml/2006/main">
            <a:pathLst>
              <a:path w="9525" h="129658">
                <a:moveTo>
                  <a:pt x="0" y="0"/>
                </a:moveTo>
                <a:lnTo>
                  <a:pt x="0" y="129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96" name="sample">
            <a:extLst xmlns:a="http://schemas.openxmlformats.org/drawingml/2006/main">
              <a:ext uri="{FF2B5EF4-FFF2-40B4-BE49-F238E27FC236}">
                <a16:creationId xmlns:a16="http://schemas.microsoft.com/office/drawing/2014/main" id="{44CD04B5-241C-41A3-B810-EE3EA69B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338" y="423386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F8FA7BB-53D0-4C6A-A3F6-989C49DC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3900488"/>
            <a:ext cx="9525" cy="157593"/>
          </a:xfrm>
          <a:custGeom xmlns:a="http://schemas.openxmlformats.org/drawingml/2006/main">
            <a:pathLst>
              <a:path w="9525" h="157593">
                <a:moveTo>
                  <a:pt x="0" y="15759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98" name="sample">
            <a:extLst xmlns:a="http://schemas.openxmlformats.org/drawingml/2006/main">
              <a:ext uri="{FF2B5EF4-FFF2-40B4-BE49-F238E27FC236}">
                <a16:creationId xmlns:a16="http://schemas.microsoft.com/office/drawing/2014/main" id="{84F4C185-8225-421D-9DEC-BEAA210C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650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9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18CF36A-9899-407A-B3F7-DE852F80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900488"/>
            <a:ext cx="9525" cy="49972"/>
          </a:xfrm>
          <a:custGeom xmlns:a="http://schemas.openxmlformats.org/drawingml/2006/main">
            <a:pathLst>
              <a:path w="9525" h="49972">
                <a:moveTo>
                  <a:pt x="0" y="4997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00" name="sample">
            <a:extLst xmlns:a="http://schemas.openxmlformats.org/drawingml/2006/main">
              <a:ext uri="{FF2B5EF4-FFF2-40B4-BE49-F238E27FC236}">
                <a16:creationId xmlns:a16="http://schemas.microsoft.com/office/drawing/2014/main" id="{5D5E7AB9-04E2-49A9-BB94-D9DD434B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963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D55231B-9074-4BAB-8477-D15FD076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75" y="3826774"/>
            <a:ext cx="9525" cy="73713"/>
          </a:xfrm>
          <a:custGeom xmlns:a="http://schemas.openxmlformats.org/drawingml/2006/main">
            <a:pathLst>
              <a:path w="9525" h="73713">
                <a:moveTo>
                  <a:pt x="0" y="0"/>
                </a:moveTo>
                <a:lnTo>
                  <a:pt x="0" y="737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02" name="sample">
            <a:extLst xmlns:a="http://schemas.openxmlformats.org/drawingml/2006/main">
              <a:ext uri="{FF2B5EF4-FFF2-40B4-BE49-F238E27FC236}">
                <a16:creationId xmlns:a16="http://schemas.microsoft.com/office/drawing/2014/main" id="{F0694E97-ABF3-4614-9A09-C7AE93CE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275" y="3862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130860F-80CD-405C-A3C0-00DE3FC1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687" y="3529013"/>
            <a:ext cx="9525" cy="166443"/>
          </a:xfrm>
          <a:custGeom xmlns:a="http://schemas.openxmlformats.org/drawingml/2006/main">
            <a:pathLst>
              <a:path w="9525" h="166443">
                <a:moveTo>
                  <a:pt x="0" y="1664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04" name="sample">
            <a:extLst xmlns:a="http://schemas.openxmlformats.org/drawingml/2006/main">
              <a:ext uri="{FF2B5EF4-FFF2-40B4-BE49-F238E27FC236}">
                <a16:creationId xmlns:a16="http://schemas.microsoft.com/office/drawing/2014/main" id="{E52D608B-F911-42EF-B7D3-83DC05A2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587" y="349091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5" name="text">
            <a:extLst xmlns:a="http://schemas.openxmlformats.org/drawingml/2006/main">
              <a:ext uri="{FF2B5EF4-FFF2-40B4-BE49-F238E27FC236}">
                <a16:creationId xmlns:a16="http://schemas.microsoft.com/office/drawing/2014/main" id="{C7F9B0F9-C1CE-481E-A679-F8C63B97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476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B5CE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0">
                <a:solidFill>
                  <a:srgbClr val="15B5CE"/>
                </a:solidFill>
                <a:latin typeface="Alibaba PuHuiTi 3.0 115 Black"/>
                <a:ea typeface="Alibaba PuHuiTi 3.0 115 Black"/>
                <a:cs typeface="Alibaba PuHuiTi 3.0 115 Black"/>
              </a:rPr>
              <a:t>4 bit：16级</a:t>
            </a:r>
          </a:p>
        </p:txBody>
      </p:sp>
      <p:sp>
        <p:nvSpPr>
          <p:cNvPr id="106" name="line">
            <a:extLst xmlns:a="http://schemas.openxmlformats.org/drawingml/2006/main">
              <a:ext uri="{FF2B5EF4-FFF2-40B4-BE49-F238E27FC236}">
                <a16:creationId xmlns:a16="http://schemas.microsoft.com/office/drawing/2014/main" id="{EBEA9147-4295-4C2A-9036-1523538D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191000" cy="9525"/>
          </a:xfrm>
          <a:custGeom xmlns:a="http://schemas.openxmlformats.org/drawingml/2006/main"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7" name="reference-wave">
            <a:extLst xmlns:a="http://schemas.openxmlformats.org/drawingml/2006/main">
              <a:ext uri="{FF2B5EF4-FFF2-40B4-BE49-F238E27FC236}">
                <a16:creationId xmlns:a16="http://schemas.microsoft.com/office/drawing/2014/main" id="{F8D720AE-D966-4227-BAB7-3F039D46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595"/>
            <a:ext cx="4191000" cy="1010311"/>
          </a:xfrm>
          <a:custGeom xmlns:a="http://schemas.openxmlformats.org/drawingml/2006/main">
            <a:pathLst>
              <a:path w="4191000" h="1010311">
                <a:moveTo>
                  <a:pt x="0" y="355857"/>
                </a:moveTo>
                <a:lnTo>
                  <a:pt x="17463" y="330802"/>
                </a:lnTo>
                <a:lnTo>
                  <a:pt x="34925" y="306225"/>
                </a:lnTo>
                <a:lnTo>
                  <a:pt x="52388" y="282193"/>
                </a:lnTo>
                <a:lnTo>
                  <a:pt x="69850" y="258772"/>
                </a:lnTo>
                <a:lnTo>
                  <a:pt x="87312" y="236027"/>
                </a:lnTo>
                <a:lnTo>
                  <a:pt x="104775" y="214019"/>
                </a:lnTo>
                <a:lnTo>
                  <a:pt x="122238" y="192810"/>
                </a:lnTo>
                <a:lnTo>
                  <a:pt x="139700" y="172456"/>
                </a:lnTo>
                <a:lnTo>
                  <a:pt x="157163" y="153015"/>
                </a:lnTo>
                <a:lnTo>
                  <a:pt x="174625" y="134538"/>
                </a:lnTo>
                <a:lnTo>
                  <a:pt x="192087" y="117078"/>
                </a:lnTo>
                <a:lnTo>
                  <a:pt x="209550" y="100681"/>
                </a:lnTo>
                <a:lnTo>
                  <a:pt x="227013" y="85392"/>
                </a:lnTo>
                <a:lnTo>
                  <a:pt x="244475" y="71255"/>
                </a:lnTo>
                <a:lnTo>
                  <a:pt x="261938" y="58306"/>
                </a:lnTo>
                <a:lnTo>
                  <a:pt x="279400" y="46582"/>
                </a:lnTo>
                <a:lnTo>
                  <a:pt x="296862" y="36116"/>
                </a:lnTo>
                <a:lnTo>
                  <a:pt x="314325" y="26934"/>
                </a:lnTo>
                <a:lnTo>
                  <a:pt x="331788" y="19064"/>
                </a:lnTo>
                <a:lnTo>
                  <a:pt x="349250" y="12526"/>
                </a:lnTo>
                <a:lnTo>
                  <a:pt x="366713" y="7338"/>
                </a:lnTo>
                <a:lnTo>
                  <a:pt x="384175" y="3515"/>
                </a:lnTo>
                <a:lnTo>
                  <a:pt x="401637" y="1067"/>
                </a:lnTo>
                <a:lnTo>
                  <a:pt x="419100" y="0"/>
                </a:lnTo>
                <a:lnTo>
                  <a:pt x="436563" y="318"/>
                </a:lnTo>
                <a:lnTo>
                  <a:pt x="454025" y="2020"/>
                </a:lnTo>
                <a:lnTo>
                  <a:pt x="471488" y="5100"/>
                </a:lnTo>
                <a:lnTo>
                  <a:pt x="488950" y="9552"/>
                </a:lnTo>
                <a:lnTo>
                  <a:pt x="506412" y="15361"/>
                </a:lnTo>
                <a:lnTo>
                  <a:pt x="523875" y="22514"/>
                </a:lnTo>
                <a:lnTo>
                  <a:pt x="541338" y="30989"/>
                </a:lnTo>
                <a:lnTo>
                  <a:pt x="558800" y="40764"/>
                </a:lnTo>
                <a:lnTo>
                  <a:pt x="576263" y="51811"/>
                </a:lnTo>
                <a:lnTo>
                  <a:pt x="593725" y="64101"/>
                </a:lnTo>
                <a:lnTo>
                  <a:pt x="611187" y="77601"/>
                </a:lnTo>
                <a:lnTo>
                  <a:pt x="628650" y="92272"/>
                </a:lnTo>
                <a:lnTo>
                  <a:pt x="646113" y="108074"/>
                </a:lnTo>
                <a:lnTo>
                  <a:pt x="663575" y="124965"/>
                </a:lnTo>
                <a:lnTo>
                  <a:pt x="681038" y="142899"/>
                </a:lnTo>
                <a:lnTo>
                  <a:pt x="698500" y="161825"/>
                </a:lnTo>
                <a:lnTo>
                  <a:pt x="715962" y="181692"/>
                </a:lnTo>
                <a:lnTo>
                  <a:pt x="733425" y="202446"/>
                </a:lnTo>
                <a:lnTo>
                  <a:pt x="750888" y="224029"/>
                </a:lnTo>
                <a:lnTo>
                  <a:pt x="768350" y="246383"/>
                </a:lnTo>
                <a:lnTo>
                  <a:pt x="785813" y="269446"/>
                </a:lnTo>
                <a:lnTo>
                  <a:pt x="803275" y="293155"/>
                </a:lnTo>
                <a:lnTo>
                  <a:pt x="820737" y="317446"/>
                </a:lnTo>
                <a:lnTo>
                  <a:pt x="838200" y="342251"/>
                </a:lnTo>
                <a:lnTo>
                  <a:pt x="855663" y="367502"/>
                </a:lnTo>
                <a:lnTo>
                  <a:pt x="873125" y="393131"/>
                </a:lnTo>
                <a:lnTo>
                  <a:pt x="890588" y="419067"/>
                </a:lnTo>
                <a:lnTo>
                  <a:pt x="908050" y="445238"/>
                </a:lnTo>
                <a:lnTo>
                  <a:pt x="925512" y="471574"/>
                </a:lnTo>
                <a:lnTo>
                  <a:pt x="942975" y="498002"/>
                </a:lnTo>
                <a:lnTo>
                  <a:pt x="960438" y="524450"/>
                </a:lnTo>
                <a:lnTo>
                  <a:pt x="977900" y="550845"/>
                </a:lnTo>
                <a:lnTo>
                  <a:pt x="995363" y="577114"/>
                </a:lnTo>
                <a:lnTo>
                  <a:pt x="1012825" y="603186"/>
                </a:lnTo>
                <a:lnTo>
                  <a:pt x="1030287" y="628990"/>
                </a:lnTo>
                <a:lnTo>
                  <a:pt x="1047750" y="654454"/>
                </a:lnTo>
                <a:lnTo>
                  <a:pt x="1065213" y="679509"/>
                </a:lnTo>
                <a:lnTo>
                  <a:pt x="1082675" y="704086"/>
                </a:lnTo>
                <a:lnTo>
                  <a:pt x="1100138" y="728118"/>
                </a:lnTo>
                <a:lnTo>
                  <a:pt x="1117600" y="751538"/>
                </a:lnTo>
                <a:lnTo>
                  <a:pt x="1135062" y="774284"/>
                </a:lnTo>
                <a:lnTo>
                  <a:pt x="1152525" y="796291"/>
                </a:lnTo>
                <a:lnTo>
                  <a:pt x="1169988" y="817501"/>
                </a:lnTo>
                <a:lnTo>
                  <a:pt x="1187450" y="837854"/>
                </a:lnTo>
                <a:lnTo>
                  <a:pt x="1204913" y="857296"/>
                </a:lnTo>
                <a:lnTo>
                  <a:pt x="1222375" y="875773"/>
                </a:lnTo>
                <a:lnTo>
                  <a:pt x="1239837" y="893233"/>
                </a:lnTo>
                <a:lnTo>
                  <a:pt x="1257300" y="909630"/>
                </a:lnTo>
                <a:lnTo>
                  <a:pt x="1274763" y="924918"/>
                </a:lnTo>
                <a:lnTo>
                  <a:pt x="1292225" y="939056"/>
                </a:lnTo>
                <a:lnTo>
                  <a:pt x="1309688" y="952005"/>
                </a:lnTo>
                <a:lnTo>
                  <a:pt x="1327150" y="963728"/>
                </a:lnTo>
                <a:lnTo>
                  <a:pt x="1344612" y="974195"/>
                </a:lnTo>
                <a:lnTo>
                  <a:pt x="1362075" y="983376"/>
                </a:lnTo>
                <a:lnTo>
                  <a:pt x="1379538" y="991247"/>
                </a:lnTo>
                <a:lnTo>
                  <a:pt x="1397000" y="997785"/>
                </a:lnTo>
                <a:lnTo>
                  <a:pt x="1414463" y="1002972"/>
                </a:lnTo>
                <a:lnTo>
                  <a:pt x="1431925" y="1006796"/>
                </a:lnTo>
                <a:lnTo>
                  <a:pt x="1449387" y="1009244"/>
                </a:lnTo>
                <a:lnTo>
                  <a:pt x="1466850" y="1010311"/>
                </a:lnTo>
                <a:lnTo>
                  <a:pt x="1484313" y="1009993"/>
                </a:lnTo>
                <a:lnTo>
                  <a:pt x="1501775" y="1008291"/>
                </a:lnTo>
                <a:lnTo>
                  <a:pt x="1519238" y="1005210"/>
                </a:lnTo>
                <a:lnTo>
                  <a:pt x="1536700" y="1000759"/>
                </a:lnTo>
                <a:lnTo>
                  <a:pt x="1554162" y="994949"/>
                </a:lnTo>
                <a:lnTo>
                  <a:pt x="1571625" y="987797"/>
                </a:lnTo>
                <a:lnTo>
                  <a:pt x="1589088" y="979322"/>
                </a:lnTo>
                <a:lnTo>
                  <a:pt x="1606550" y="969547"/>
                </a:lnTo>
                <a:lnTo>
                  <a:pt x="1624013" y="958500"/>
                </a:lnTo>
                <a:lnTo>
                  <a:pt x="1641475" y="946209"/>
                </a:lnTo>
                <a:lnTo>
                  <a:pt x="1658937" y="932710"/>
                </a:lnTo>
                <a:lnTo>
                  <a:pt x="1676400" y="918039"/>
                </a:lnTo>
                <a:lnTo>
                  <a:pt x="1693863" y="902236"/>
                </a:lnTo>
                <a:lnTo>
                  <a:pt x="1711325" y="885345"/>
                </a:lnTo>
                <a:lnTo>
                  <a:pt x="1728788" y="867412"/>
                </a:lnTo>
                <a:lnTo>
                  <a:pt x="1746250" y="848486"/>
                </a:lnTo>
                <a:lnTo>
                  <a:pt x="1763712" y="828619"/>
                </a:lnTo>
                <a:lnTo>
                  <a:pt x="1781175" y="807865"/>
                </a:lnTo>
                <a:lnTo>
                  <a:pt x="1798638" y="786282"/>
                </a:lnTo>
                <a:lnTo>
                  <a:pt x="1816100" y="763928"/>
                </a:lnTo>
                <a:lnTo>
                  <a:pt x="1833563" y="740865"/>
                </a:lnTo>
                <a:lnTo>
                  <a:pt x="1851025" y="717155"/>
                </a:lnTo>
                <a:lnTo>
                  <a:pt x="1868487" y="692865"/>
                </a:lnTo>
                <a:lnTo>
                  <a:pt x="1885950" y="668060"/>
                </a:lnTo>
                <a:lnTo>
                  <a:pt x="1903413" y="642809"/>
                </a:lnTo>
                <a:lnTo>
                  <a:pt x="1920875" y="617180"/>
                </a:lnTo>
                <a:lnTo>
                  <a:pt x="1938338" y="591244"/>
                </a:lnTo>
                <a:lnTo>
                  <a:pt x="1955800" y="565072"/>
                </a:lnTo>
                <a:lnTo>
                  <a:pt x="1973262" y="538736"/>
                </a:lnTo>
                <a:lnTo>
                  <a:pt x="1990725" y="512308"/>
                </a:lnTo>
                <a:lnTo>
                  <a:pt x="2008188" y="485861"/>
                </a:lnTo>
                <a:lnTo>
                  <a:pt x="2025650" y="459466"/>
                </a:lnTo>
                <a:lnTo>
                  <a:pt x="2043113" y="433197"/>
                </a:lnTo>
                <a:lnTo>
                  <a:pt x="2060575" y="407124"/>
                </a:lnTo>
                <a:lnTo>
                  <a:pt x="2078037" y="381321"/>
                </a:lnTo>
                <a:lnTo>
                  <a:pt x="2095500" y="355857"/>
                </a:lnTo>
                <a:lnTo>
                  <a:pt x="2112963" y="330802"/>
                </a:lnTo>
                <a:lnTo>
                  <a:pt x="2130425" y="306225"/>
                </a:lnTo>
                <a:lnTo>
                  <a:pt x="2147888" y="282193"/>
                </a:lnTo>
                <a:lnTo>
                  <a:pt x="2165350" y="258772"/>
                </a:lnTo>
                <a:lnTo>
                  <a:pt x="2182812" y="236027"/>
                </a:lnTo>
                <a:lnTo>
                  <a:pt x="2200275" y="214019"/>
                </a:lnTo>
                <a:lnTo>
                  <a:pt x="2217738" y="192810"/>
                </a:lnTo>
                <a:lnTo>
                  <a:pt x="2235200" y="172456"/>
                </a:lnTo>
                <a:lnTo>
                  <a:pt x="2252663" y="153015"/>
                </a:lnTo>
                <a:lnTo>
                  <a:pt x="2270125" y="134538"/>
                </a:lnTo>
                <a:lnTo>
                  <a:pt x="2287587" y="117078"/>
                </a:lnTo>
                <a:lnTo>
                  <a:pt x="2305050" y="100681"/>
                </a:lnTo>
                <a:lnTo>
                  <a:pt x="2322513" y="85392"/>
                </a:lnTo>
                <a:lnTo>
                  <a:pt x="2339975" y="71255"/>
                </a:lnTo>
                <a:lnTo>
                  <a:pt x="2357438" y="58306"/>
                </a:lnTo>
                <a:lnTo>
                  <a:pt x="2374900" y="46582"/>
                </a:lnTo>
                <a:lnTo>
                  <a:pt x="2392362" y="36116"/>
                </a:lnTo>
                <a:lnTo>
                  <a:pt x="2409825" y="26934"/>
                </a:lnTo>
                <a:lnTo>
                  <a:pt x="2427288" y="19064"/>
                </a:lnTo>
                <a:lnTo>
                  <a:pt x="2444750" y="12526"/>
                </a:lnTo>
                <a:lnTo>
                  <a:pt x="2462213" y="7338"/>
                </a:lnTo>
                <a:lnTo>
                  <a:pt x="2479675" y="3515"/>
                </a:lnTo>
                <a:lnTo>
                  <a:pt x="2497138" y="1067"/>
                </a:lnTo>
                <a:lnTo>
                  <a:pt x="2514600" y="0"/>
                </a:lnTo>
                <a:lnTo>
                  <a:pt x="2532062" y="318"/>
                </a:lnTo>
                <a:lnTo>
                  <a:pt x="2549525" y="2020"/>
                </a:lnTo>
                <a:lnTo>
                  <a:pt x="2566988" y="5100"/>
                </a:lnTo>
                <a:lnTo>
                  <a:pt x="2584450" y="9552"/>
                </a:lnTo>
                <a:lnTo>
                  <a:pt x="2601913" y="15361"/>
                </a:lnTo>
                <a:lnTo>
                  <a:pt x="2619375" y="22514"/>
                </a:lnTo>
                <a:lnTo>
                  <a:pt x="2636837" y="30989"/>
                </a:lnTo>
                <a:lnTo>
                  <a:pt x="2654300" y="40764"/>
                </a:lnTo>
                <a:lnTo>
                  <a:pt x="2671763" y="51811"/>
                </a:lnTo>
                <a:lnTo>
                  <a:pt x="2689225" y="64101"/>
                </a:lnTo>
                <a:lnTo>
                  <a:pt x="2706688" y="77601"/>
                </a:lnTo>
                <a:lnTo>
                  <a:pt x="2724150" y="92272"/>
                </a:lnTo>
                <a:lnTo>
                  <a:pt x="2741612" y="108074"/>
                </a:lnTo>
                <a:lnTo>
                  <a:pt x="2759075" y="124965"/>
                </a:lnTo>
                <a:lnTo>
                  <a:pt x="2776538" y="142899"/>
                </a:lnTo>
                <a:lnTo>
                  <a:pt x="2794000" y="161825"/>
                </a:lnTo>
                <a:lnTo>
                  <a:pt x="2811463" y="181692"/>
                </a:lnTo>
                <a:lnTo>
                  <a:pt x="2828925" y="202446"/>
                </a:lnTo>
                <a:lnTo>
                  <a:pt x="2846387" y="224029"/>
                </a:lnTo>
                <a:lnTo>
                  <a:pt x="2863850" y="246383"/>
                </a:lnTo>
                <a:lnTo>
                  <a:pt x="2881313" y="269446"/>
                </a:lnTo>
                <a:lnTo>
                  <a:pt x="2898775" y="293155"/>
                </a:lnTo>
                <a:lnTo>
                  <a:pt x="2916238" y="317446"/>
                </a:lnTo>
                <a:lnTo>
                  <a:pt x="2933700" y="342251"/>
                </a:lnTo>
                <a:lnTo>
                  <a:pt x="2951162" y="367502"/>
                </a:lnTo>
                <a:lnTo>
                  <a:pt x="2968625" y="393131"/>
                </a:lnTo>
                <a:lnTo>
                  <a:pt x="2986088" y="419067"/>
                </a:lnTo>
                <a:lnTo>
                  <a:pt x="3003550" y="445238"/>
                </a:lnTo>
                <a:lnTo>
                  <a:pt x="3021013" y="471574"/>
                </a:lnTo>
                <a:lnTo>
                  <a:pt x="3038475" y="498002"/>
                </a:lnTo>
                <a:lnTo>
                  <a:pt x="3055937" y="524450"/>
                </a:lnTo>
                <a:lnTo>
                  <a:pt x="3073400" y="550845"/>
                </a:lnTo>
                <a:lnTo>
                  <a:pt x="3090863" y="577114"/>
                </a:lnTo>
                <a:lnTo>
                  <a:pt x="3108325" y="603186"/>
                </a:lnTo>
                <a:lnTo>
                  <a:pt x="3125788" y="628990"/>
                </a:lnTo>
                <a:lnTo>
                  <a:pt x="3143250" y="654454"/>
                </a:lnTo>
                <a:lnTo>
                  <a:pt x="3160712" y="679509"/>
                </a:lnTo>
                <a:lnTo>
                  <a:pt x="3178175" y="704086"/>
                </a:lnTo>
                <a:lnTo>
                  <a:pt x="3195638" y="728118"/>
                </a:lnTo>
                <a:lnTo>
                  <a:pt x="3213100" y="751538"/>
                </a:lnTo>
                <a:lnTo>
                  <a:pt x="3230563" y="774284"/>
                </a:lnTo>
                <a:lnTo>
                  <a:pt x="3248025" y="796291"/>
                </a:lnTo>
                <a:lnTo>
                  <a:pt x="3265487" y="817501"/>
                </a:lnTo>
                <a:lnTo>
                  <a:pt x="3282950" y="837854"/>
                </a:lnTo>
                <a:lnTo>
                  <a:pt x="3300413" y="857296"/>
                </a:lnTo>
                <a:lnTo>
                  <a:pt x="3317875" y="875773"/>
                </a:lnTo>
                <a:lnTo>
                  <a:pt x="3335338" y="893233"/>
                </a:lnTo>
                <a:lnTo>
                  <a:pt x="3352800" y="909630"/>
                </a:lnTo>
                <a:lnTo>
                  <a:pt x="3370262" y="924918"/>
                </a:lnTo>
                <a:lnTo>
                  <a:pt x="3387725" y="939056"/>
                </a:lnTo>
                <a:lnTo>
                  <a:pt x="3405188" y="952005"/>
                </a:lnTo>
                <a:lnTo>
                  <a:pt x="3422650" y="963728"/>
                </a:lnTo>
                <a:lnTo>
                  <a:pt x="3440113" y="974195"/>
                </a:lnTo>
                <a:lnTo>
                  <a:pt x="3457575" y="983376"/>
                </a:lnTo>
                <a:lnTo>
                  <a:pt x="3475037" y="991247"/>
                </a:lnTo>
                <a:lnTo>
                  <a:pt x="3492500" y="997785"/>
                </a:lnTo>
                <a:lnTo>
                  <a:pt x="3509963" y="1002972"/>
                </a:lnTo>
                <a:lnTo>
                  <a:pt x="3527425" y="1006796"/>
                </a:lnTo>
                <a:lnTo>
                  <a:pt x="3544888" y="1009244"/>
                </a:lnTo>
                <a:lnTo>
                  <a:pt x="3562350" y="1010311"/>
                </a:lnTo>
                <a:lnTo>
                  <a:pt x="3579812" y="1009993"/>
                </a:lnTo>
                <a:lnTo>
                  <a:pt x="3597275" y="1008291"/>
                </a:lnTo>
                <a:lnTo>
                  <a:pt x="3614738" y="1005210"/>
                </a:lnTo>
                <a:lnTo>
                  <a:pt x="3632200" y="1000759"/>
                </a:lnTo>
                <a:lnTo>
                  <a:pt x="3649663" y="994949"/>
                </a:lnTo>
                <a:lnTo>
                  <a:pt x="3667125" y="987797"/>
                </a:lnTo>
                <a:lnTo>
                  <a:pt x="3684587" y="979322"/>
                </a:lnTo>
                <a:lnTo>
                  <a:pt x="3702050" y="969547"/>
                </a:lnTo>
                <a:lnTo>
                  <a:pt x="3719513" y="958500"/>
                </a:lnTo>
                <a:lnTo>
                  <a:pt x="3736975" y="946209"/>
                </a:lnTo>
                <a:lnTo>
                  <a:pt x="3754438" y="932710"/>
                </a:lnTo>
                <a:lnTo>
                  <a:pt x="3771900" y="918039"/>
                </a:lnTo>
                <a:lnTo>
                  <a:pt x="3789362" y="902236"/>
                </a:lnTo>
                <a:lnTo>
                  <a:pt x="3806825" y="885345"/>
                </a:lnTo>
                <a:lnTo>
                  <a:pt x="3824288" y="867412"/>
                </a:lnTo>
                <a:lnTo>
                  <a:pt x="3841750" y="848486"/>
                </a:lnTo>
                <a:lnTo>
                  <a:pt x="3859213" y="828619"/>
                </a:lnTo>
                <a:lnTo>
                  <a:pt x="3876675" y="807865"/>
                </a:lnTo>
                <a:lnTo>
                  <a:pt x="3894137" y="786282"/>
                </a:lnTo>
                <a:lnTo>
                  <a:pt x="3911600" y="763928"/>
                </a:lnTo>
                <a:lnTo>
                  <a:pt x="3929063" y="740865"/>
                </a:lnTo>
                <a:lnTo>
                  <a:pt x="3946525" y="717155"/>
                </a:lnTo>
                <a:lnTo>
                  <a:pt x="3963988" y="692865"/>
                </a:lnTo>
                <a:lnTo>
                  <a:pt x="3981450" y="668060"/>
                </a:lnTo>
                <a:lnTo>
                  <a:pt x="3998912" y="642809"/>
                </a:lnTo>
                <a:lnTo>
                  <a:pt x="4016375" y="617180"/>
                </a:lnTo>
                <a:lnTo>
                  <a:pt x="4033838" y="591244"/>
                </a:lnTo>
                <a:lnTo>
                  <a:pt x="4051300" y="565072"/>
                </a:lnTo>
                <a:lnTo>
                  <a:pt x="4068763" y="538736"/>
                </a:lnTo>
                <a:lnTo>
                  <a:pt x="4086225" y="512308"/>
                </a:lnTo>
                <a:lnTo>
                  <a:pt x="4103687" y="485861"/>
                </a:lnTo>
                <a:lnTo>
                  <a:pt x="4121150" y="459466"/>
                </a:lnTo>
                <a:lnTo>
                  <a:pt x="4138613" y="433197"/>
                </a:lnTo>
                <a:lnTo>
                  <a:pt x="4156075" y="407124"/>
                </a:lnTo>
                <a:lnTo>
                  <a:pt x="4173538" y="381321"/>
                </a:lnTo>
                <a:lnTo>
                  <a:pt x="4191000" y="3558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37373"/>
            </a:solidFill>
          </a:ln>
        </p:spPr>
      </p:sp>
      <p:sp>
        <p:nvSpPr>
          <p:cNvPr id="10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7CDA120-934E-45B7-9836-7A3AB37D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5451"/>
            <a:ext cx="9525" cy="9995"/>
          </a:xfrm>
          <a:custGeom xmlns:a="http://schemas.openxmlformats.org/drawingml/2006/main">
            <a:pathLst>
              <a:path w="9525" h="9995">
                <a:moveTo>
                  <a:pt x="0" y="0"/>
                </a:moveTo>
                <a:lnTo>
                  <a:pt x="0" y="999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09" name="sample">
            <a:extLst xmlns:a="http://schemas.openxmlformats.org/drawingml/2006/main">
              <a:ext uri="{FF2B5EF4-FFF2-40B4-BE49-F238E27FC236}">
                <a16:creationId xmlns:a16="http://schemas.microsoft.com/office/drawing/2014/main" id="{89AECE5A-056C-42D8-A6E1-6CCCADA9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45A3B13-D4E5-4FD4-94AA-F14D05BE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563" y="34456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0"/>
                </a:moveTo>
                <a:lnTo>
                  <a:pt x="0" y="36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11" name="sample">
            <a:extLst xmlns:a="http://schemas.openxmlformats.org/drawingml/2006/main">
              <a:ext uri="{FF2B5EF4-FFF2-40B4-BE49-F238E27FC236}">
                <a16:creationId xmlns:a16="http://schemas.microsoft.com/office/drawing/2014/main" id="{5619FE29-3610-4214-81B9-8E8CD348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4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23FA7D-FB72-4095-9A24-98458EAB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875" y="3344133"/>
            <a:ext cx="9525" cy="45577"/>
          </a:xfrm>
          <a:custGeom xmlns:a="http://schemas.openxmlformats.org/drawingml/2006/main">
            <a:pathLst>
              <a:path w="9525" h="45577">
                <a:moveTo>
                  <a:pt x="0" y="0"/>
                </a:moveTo>
                <a:lnTo>
                  <a:pt x="0" y="4557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13" name="sample">
            <a:extLst xmlns:a="http://schemas.openxmlformats.org/drawingml/2006/main">
              <a:ext uri="{FF2B5EF4-FFF2-40B4-BE49-F238E27FC236}">
                <a16:creationId xmlns:a16="http://schemas.microsoft.com/office/drawing/2014/main" id="{55037736-B560-448C-B43D-83C2F26C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775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3E25662-2A84-470C-9DBB-47BE25CC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188" y="3267901"/>
            <a:ext cx="9525" cy="28940"/>
          </a:xfrm>
          <a:custGeom xmlns:a="http://schemas.openxmlformats.org/drawingml/2006/main">
            <a:pathLst>
              <a:path w="9525" h="28940">
                <a:moveTo>
                  <a:pt x="0" y="0"/>
                </a:moveTo>
                <a:lnTo>
                  <a:pt x="0" y="289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15" name="sample">
            <a:extLst xmlns:a="http://schemas.openxmlformats.org/drawingml/2006/main">
              <a:ext uri="{FF2B5EF4-FFF2-40B4-BE49-F238E27FC236}">
                <a16:creationId xmlns:a16="http://schemas.microsoft.com/office/drawing/2014/main" id="{C6DF760A-F4BD-4008-BD65-14B626A7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608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3E2E52D-C063-46B0-9D41-9E245553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0" y="3203972"/>
            <a:ext cx="9525" cy="18149"/>
          </a:xfrm>
          <a:custGeom xmlns:a="http://schemas.openxmlformats.org/drawingml/2006/main">
            <a:pathLst>
              <a:path w="9525" h="18149">
                <a:moveTo>
                  <a:pt x="0" y="181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17" name="sample">
            <a:extLst xmlns:a="http://schemas.openxmlformats.org/drawingml/2006/main">
              <a:ext uri="{FF2B5EF4-FFF2-40B4-BE49-F238E27FC236}">
                <a16:creationId xmlns:a16="http://schemas.microsoft.com/office/drawing/2014/main" id="{B094AD87-B988-497A-9BB8-EADC9327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400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220FD2B-BCAE-4FB0-82AE-93E11DBE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813" y="3203972"/>
            <a:ext cx="9525" cy="9525"/>
          </a:xfrm>
          <a:custGeom xmlns:a="http://schemas.openxmlformats.org/drawingml/2006/main">
            <a:pathLst>
              <a:path w="9525" h="9525">
                <a:moveTo>
                  <a:pt x="0" y="59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19" name="sample">
            <a:extLst xmlns:a="http://schemas.openxmlformats.org/drawingml/2006/main">
              <a:ext uri="{FF2B5EF4-FFF2-40B4-BE49-F238E27FC236}">
                <a16:creationId xmlns:a16="http://schemas.microsoft.com/office/drawing/2014/main" id="{83D3EE11-0C78-4874-A7E5-7E823DC5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713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5AB46B2-5DD0-45F2-82E5-64701B05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0397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281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21" name="sample">
            <a:extLst xmlns:a="http://schemas.openxmlformats.org/drawingml/2006/main">
              <a:ext uri="{FF2B5EF4-FFF2-40B4-BE49-F238E27FC236}">
                <a16:creationId xmlns:a16="http://schemas.microsoft.com/office/drawing/2014/main" id="{E940376D-0706-464D-B7C0-35902F90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7CC7611-6974-49D1-BA7F-F0A9FE68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438" y="3287195"/>
            <a:ext cx="9525" cy="9645"/>
          </a:xfrm>
          <a:custGeom xmlns:a="http://schemas.openxmlformats.org/drawingml/2006/main">
            <a:pathLst>
              <a:path w="9525" h="9645">
                <a:moveTo>
                  <a:pt x="0" y="0"/>
                </a:moveTo>
                <a:lnTo>
                  <a:pt x="0" y="964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23" name="sample">
            <a:extLst xmlns:a="http://schemas.openxmlformats.org/drawingml/2006/main">
              <a:ext uri="{FF2B5EF4-FFF2-40B4-BE49-F238E27FC236}">
                <a16:creationId xmlns:a16="http://schemas.microsoft.com/office/drawing/2014/main" id="{A3723EBA-2A9D-4261-BB17-596F3EB6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533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E5C68E3-8448-4FFD-BBAD-E82E74CC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0750" y="3371419"/>
            <a:ext cx="9525" cy="18290"/>
          </a:xfrm>
          <a:custGeom xmlns:a="http://schemas.openxmlformats.org/drawingml/2006/main">
            <a:pathLst>
              <a:path w="9525" h="18290">
                <a:moveTo>
                  <a:pt x="0" y="0"/>
                </a:moveTo>
                <a:lnTo>
                  <a:pt x="0" y="1829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25" name="sample">
            <a:extLst xmlns:a="http://schemas.openxmlformats.org/drawingml/2006/main">
              <a:ext uri="{FF2B5EF4-FFF2-40B4-BE49-F238E27FC236}">
                <a16:creationId xmlns:a16="http://schemas.microsoft.com/office/drawing/2014/main" id="{A1D17E7B-DEE8-4667-945C-398603A2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650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6AB7326-6AA3-458A-B35C-5FAA3E43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3479041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353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3D46CD4E-DB2D-4C1A-98BF-E75D482A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9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2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FF82EEC-2278-4B65-89F6-7BF08FC6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5375" y="3575447"/>
            <a:ext cx="9525" cy="27279"/>
          </a:xfrm>
          <a:custGeom xmlns:a="http://schemas.openxmlformats.org/drawingml/2006/main">
            <a:pathLst>
              <a:path w="9525" h="27279">
                <a:moveTo>
                  <a:pt x="0" y="27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29" name="sample">
            <a:extLst xmlns:a="http://schemas.openxmlformats.org/drawingml/2006/main">
              <a:ext uri="{FF2B5EF4-FFF2-40B4-BE49-F238E27FC236}">
                <a16:creationId xmlns:a16="http://schemas.microsoft.com/office/drawing/2014/main" id="{D9B22F01-E92F-4992-AC6E-32F4ADB3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7275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7E56BCC-2AD9-4812-9AAF-12C9F58D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688" y="3734044"/>
            <a:ext cx="9525" cy="27140"/>
          </a:xfrm>
          <a:custGeom xmlns:a="http://schemas.openxmlformats.org/drawingml/2006/main">
            <a:pathLst>
              <a:path w="9525" h="27140">
                <a:moveTo>
                  <a:pt x="0" y="0"/>
                </a:moveTo>
                <a:lnTo>
                  <a:pt x="0" y="27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31" name="sample">
            <a:extLst xmlns:a="http://schemas.openxmlformats.org/drawingml/2006/main">
              <a:ext uri="{FF2B5EF4-FFF2-40B4-BE49-F238E27FC236}">
                <a16:creationId xmlns:a16="http://schemas.microsoft.com/office/drawing/2014/main" id="{77265C48-B62C-4FD2-9334-214995C3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588" y="37230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D791A8F-D401-48C9-8FD3-B15BF04B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4053"/>
            <a:ext cx="9525" cy="9995"/>
          </a:xfrm>
          <a:custGeom xmlns:a="http://schemas.openxmlformats.org/drawingml/2006/main">
            <a:pathLst>
              <a:path w="9525" h="9995">
                <a:moveTo>
                  <a:pt x="0" y="99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33" name="sample">
            <a:extLst xmlns:a="http://schemas.openxmlformats.org/drawingml/2006/main">
              <a:ext uri="{FF2B5EF4-FFF2-40B4-BE49-F238E27FC236}">
                <a16:creationId xmlns:a16="http://schemas.microsoft.com/office/drawing/2014/main" id="{AA5C8C6F-5670-4E34-A901-7A3F6CDB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0F7F917-AD6A-4322-B8AE-1D1F6165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7313" y="39469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369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35" name="sample">
            <a:extLst xmlns:a="http://schemas.openxmlformats.org/drawingml/2006/main">
              <a:ext uri="{FF2B5EF4-FFF2-40B4-BE49-F238E27FC236}">
                <a16:creationId xmlns:a16="http://schemas.microsoft.com/office/drawing/2014/main" id="{C43ECDB9-D4B9-49D2-B30D-03DE5D4E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2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1084687-20EC-404D-A3BE-DD381613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039791"/>
            <a:ext cx="9525" cy="45577"/>
          </a:xfrm>
          <a:custGeom xmlns:a="http://schemas.openxmlformats.org/drawingml/2006/main">
            <a:pathLst>
              <a:path w="9525" h="45577">
                <a:moveTo>
                  <a:pt x="0" y="455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37" name="sample">
            <a:extLst xmlns:a="http://schemas.openxmlformats.org/drawingml/2006/main">
              <a:ext uri="{FF2B5EF4-FFF2-40B4-BE49-F238E27FC236}">
                <a16:creationId xmlns:a16="http://schemas.microsoft.com/office/drawing/2014/main" id="{C46A3070-A33B-4346-8B45-FE834B48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6525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48CF716-E37C-4891-97AE-DD69F8E3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4132659"/>
            <a:ext cx="9525" cy="28940"/>
          </a:xfrm>
          <a:custGeom xmlns:a="http://schemas.openxmlformats.org/drawingml/2006/main">
            <a:pathLst>
              <a:path w="9525" h="28940">
                <a:moveTo>
                  <a:pt x="0" y="289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39" name="sample">
            <a:extLst xmlns:a="http://schemas.openxmlformats.org/drawingml/2006/main">
              <a:ext uri="{FF2B5EF4-FFF2-40B4-BE49-F238E27FC236}">
                <a16:creationId xmlns:a16="http://schemas.microsoft.com/office/drawing/2014/main" id="{09C1C542-78E7-4981-B488-C7902C33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83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DF2B14A-2C1F-421E-972F-C74A2589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250" y="4207379"/>
            <a:ext cx="9525" cy="18149"/>
          </a:xfrm>
          <a:custGeom xmlns:a="http://schemas.openxmlformats.org/drawingml/2006/main">
            <a:pathLst>
              <a:path w="9525" h="18149">
                <a:moveTo>
                  <a:pt x="0" y="0"/>
                </a:moveTo>
                <a:lnTo>
                  <a:pt x="0" y="1814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41" name="sample">
            <a:extLst xmlns:a="http://schemas.openxmlformats.org/drawingml/2006/main">
              <a:ext uri="{FF2B5EF4-FFF2-40B4-BE49-F238E27FC236}">
                <a16:creationId xmlns:a16="http://schemas.microsoft.com/office/drawing/2014/main" id="{3931D3A8-B6E5-43A0-AE20-4741D79D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D7BD027-D731-4F19-9441-7B3CF655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563" y="4219587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594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43" name="sample">
            <a:extLst xmlns:a="http://schemas.openxmlformats.org/drawingml/2006/main">
              <a:ext uri="{FF2B5EF4-FFF2-40B4-BE49-F238E27FC236}">
                <a16:creationId xmlns:a16="http://schemas.microsoft.com/office/drawing/2014/main" id="{2CD3C4A3-0190-4087-BF05-EFE1EBEF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8463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52C17B0-C857-4F03-926C-93DE065D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9739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0"/>
                </a:moveTo>
                <a:lnTo>
                  <a:pt x="0" y="281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45" name="sample">
            <a:extLst xmlns:a="http://schemas.openxmlformats.org/drawingml/2006/main">
              <a:ext uri="{FF2B5EF4-FFF2-40B4-BE49-F238E27FC236}">
                <a16:creationId xmlns:a16="http://schemas.microsoft.com/office/drawing/2014/main" id="{C203AAE2-8638-42C3-BCFF-410510DA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23DA55E-DC64-4F56-AEE0-5D6BEE84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188" y="4132659"/>
            <a:ext cx="9525" cy="9645"/>
          </a:xfrm>
          <a:custGeom xmlns:a="http://schemas.openxmlformats.org/drawingml/2006/main">
            <a:pathLst>
              <a:path w="9525" h="9645">
                <a:moveTo>
                  <a:pt x="0" y="96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47" name="sample">
            <a:extLst xmlns:a="http://schemas.openxmlformats.org/drawingml/2006/main">
              <a:ext uri="{FF2B5EF4-FFF2-40B4-BE49-F238E27FC236}">
                <a16:creationId xmlns:a16="http://schemas.microsoft.com/office/drawing/2014/main" id="{6FF641E0-D2B2-4FB1-B64C-2A5F134E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8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75714E1-1F6B-4046-B540-808926A6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039791"/>
            <a:ext cx="9525" cy="18290"/>
          </a:xfrm>
          <a:custGeom xmlns:a="http://schemas.openxmlformats.org/drawingml/2006/main">
            <a:pathLst>
              <a:path w="9525" h="18290">
                <a:moveTo>
                  <a:pt x="0" y="18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49" name="sample">
            <a:extLst xmlns:a="http://schemas.openxmlformats.org/drawingml/2006/main">
              <a:ext uri="{FF2B5EF4-FFF2-40B4-BE49-F238E27FC236}">
                <a16:creationId xmlns:a16="http://schemas.microsoft.com/office/drawing/2014/main" id="{E8EAD6C5-4651-4A91-B9BF-B5C1E259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01DDB98-20CA-477C-9E4A-6C9C9789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3946922"/>
            <a:ext cx="9525" cy="9525"/>
          </a:xfrm>
          <a:custGeom xmlns:a="http://schemas.openxmlformats.org/drawingml/2006/main">
            <a:pathLst>
              <a:path w="9525" h="9525">
                <a:moveTo>
                  <a:pt x="0" y="35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51" name="sample">
            <a:extLst xmlns:a="http://schemas.openxmlformats.org/drawingml/2006/main">
              <a:ext uri="{FF2B5EF4-FFF2-40B4-BE49-F238E27FC236}">
                <a16:creationId xmlns:a16="http://schemas.microsoft.com/office/drawing/2014/main" id="{BF9EDDE2-64A7-4F38-8BEE-E51F28AE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8A5D9F7-0481-47DC-B27B-2880F4E3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3125" y="3826774"/>
            <a:ext cx="9525" cy="27279"/>
          </a:xfrm>
          <a:custGeom xmlns:a="http://schemas.openxmlformats.org/drawingml/2006/main">
            <a:pathLst>
              <a:path w="9525" h="27279">
                <a:moveTo>
                  <a:pt x="0" y="0"/>
                </a:moveTo>
                <a:lnTo>
                  <a:pt x="0" y="2727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53" name="sample">
            <a:extLst xmlns:a="http://schemas.openxmlformats.org/drawingml/2006/main">
              <a:ext uri="{FF2B5EF4-FFF2-40B4-BE49-F238E27FC236}">
                <a16:creationId xmlns:a16="http://schemas.microsoft.com/office/drawing/2014/main" id="{1980988A-A52F-4E03-B019-6012FD51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4D92FBA0-94E0-4AF2-8967-35A2057D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438" y="3668316"/>
            <a:ext cx="9525" cy="27140"/>
          </a:xfrm>
          <a:custGeom xmlns:a="http://schemas.openxmlformats.org/drawingml/2006/main">
            <a:pathLst>
              <a:path w="9525" h="27140">
                <a:moveTo>
                  <a:pt x="0" y="27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55" name="sample">
            <a:extLst xmlns:a="http://schemas.openxmlformats.org/drawingml/2006/main">
              <a:ext uri="{FF2B5EF4-FFF2-40B4-BE49-F238E27FC236}">
                <a16:creationId xmlns:a16="http://schemas.microsoft.com/office/drawing/2014/main" id="{5D1C2A71-9254-4BA3-B144-A54F950D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338" y="36302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DC27917-FAAE-43B8-B8F9-A54B4458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5451"/>
            <a:ext cx="9525" cy="9995"/>
          </a:xfrm>
          <a:custGeom xmlns:a="http://schemas.openxmlformats.org/drawingml/2006/main">
            <a:pathLst>
              <a:path w="9525" h="9995">
                <a:moveTo>
                  <a:pt x="0" y="0"/>
                </a:moveTo>
                <a:lnTo>
                  <a:pt x="0" y="999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57" name="sample">
            <a:extLst xmlns:a="http://schemas.openxmlformats.org/drawingml/2006/main">
              <a:ext uri="{FF2B5EF4-FFF2-40B4-BE49-F238E27FC236}">
                <a16:creationId xmlns:a16="http://schemas.microsoft.com/office/drawing/2014/main" id="{7F48C770-6CBF-4C8D-A471-CE28BCB9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D6832CF-BFD4-4F07-84BD-DED1A87A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063" y="34456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0"/>
                </a:moveTo>
                <a:lnTo>
                  <a:pt x="0" y="3695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59" name="sample">
            <a:extLst xmlns:a="http://schemas.openxmlformats.org/drawingml/2006/main">
              <a:ext uri="{FF2B5EF4-FFF2-40B4-BE49-F238E27FC236}">
                <a16:creationId xmlns:a16="http://schemas.microsoft.com/office/drawing/2014/main" id="{E2DBD5B9-357D-46E1-B063-AC71A664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9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D161EE2-139F-4084-AEBC-F4666F82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375" y="3344133"/>
            <a:ext cx="9525" cy="45577"/>
          </a:xfrm>
          <a:custGeom xmlns:a="http://schemas.openxmlformats.org/drawingml/2006/main">
            <a:pathLst>
              <a:path w="9525" h="45577">
                <a:moveTo>
                  <a:pt x="0" y="0"/>
                </a:moveTo>
                <a:lnTo>
                  <a:pt x="0" y="4557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61" name="sample">
            <a:extLst xmlns:a="http://schemas.openxmlformats.org/drawingml/2006/main">
              <a:ext uri="{FF2B5EF4-FFF2-40B4-BE49-F238E27FC236}">
                <a16:creationId xmlns:a16="http://schemas.microsoft.com/office/drawing/2014/main" id="{DDC4ABE1-3719-4EE2-9C3A-2A975E9B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275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734B614-EE0A-4C32-9068-A623DD49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267901"/>
            <a:ext cx="9525" cy="28940"/>
          </a:xfrm>
          <a:custGeom xmlns:a="http://schemas.openxmlformats.org/drawingml/2006/main">
            <a:pathLst>
              <a:path w="9525" h="28940">
                <a:moveTo>
                  <a:pt x="0" y="0"/>
                </a:moveTo>
                <a:lnTo>
                  <a:pt x="0" y="289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63" name="sample">
            <a:extLst xmlns:a="http://schemas.openxmlformats.org/drawingml/2006/main">
              <a:ext uri="{FF2B5EF4-FFF2-40B4-BE49-F238E27FC236}">
                <a16:creationId xmlns:a16="http://schemas.microsoft.com/office/drawing/2014/main" id="{738C6569-39DD-404E-BDCD-7F85312D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9852E28-176A-4A05-82DE-9529A3E4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203972"/>
            <a:ext cx="9525" cy="18149"/>
          </a:xfrm>
          <a:custGeom xmlns:a="http://schemas.openxmlformats.org/drawingml/2006/main">
            <a:pathLst>
              <a:path w="9525" h="18149">
                <a:moveTo>
                  <a:pt x="0" y="181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65" name="sample">
            <a:extLst xmlns:a="http://schemas.openxmlformats.org/drawingml/2006/main">
              <a:ext uri="{FF2B5EF4-FFF2-40B4-BE49-F238E27FC236}">
                <a16:creationId xmlns:a16="http://schemas.microsoft.com/office/drawing/2014/main" id="{A7153A61-C801-45FB-B7EF-E28A8DC8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900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F06B9EB-B13C-4FE8-9483-E7B5352B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313" y="3203972"/>
            <a:ext cx="9525" cy="9525"/>
          </a:xfrm>
          <a:custGeom xmlns:a="http://schemas.openxmlformats.org/drawingml/2006/main">
            <a:pathLst>
              <a:path w="9525" h="9525">
                <a:moveTo>
                  <a:pt x="0" y="59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67" name="sample">
            <a:extLst xmlns:a="http://schemas.openxmlformats.org/drawingml/2006/main">
              <a:ext uri="{FF2B5EF4-FFF2-40B4-BE49-F238E27FC236}">
                <a16:creationId xmlns:a16="http://schemas.microsoft.com/office/drawing/2014/main" id="{1A45A214-0545-4399-A96E-DC0628B5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213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206E9E2-F17D-4E8B-A476-50C1F761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0397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281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69" name="sample">
            <a:extLst xmlns:a="http://schemas.openxmlformats.org/drawingml/2006/main">
              <a:ext uri="{FF2B5EF4-FFF2-40B4-BE49-F238E27FC236}">
                <a16:creationId xmlns:a16="http://schemas.microsoft.com/office/drawing/2014/main" id="{384E17A4-E4D5-4666-94CA-7236B747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6587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A07D03E-DA25-40ED-861D-E60D7360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938" y="3287195"/>
            <a:ext cx="9525" cy="9645"/>
          </a:xfrm>
          <a:custGeom xmlns:a="http://schemas.openxmlformats.org/drawingml/2006/main">
            <a:pathLst>
              <a:path w="9525" h="9645">
                <a:moveTo>
                  <a:pt x="0" y="0"/>
                </a:moveTo>
                <a:lnTo>
                  <a:pt x="0" y="964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71" name="sample">
            <a:extLst xmlns:a="http://schemas.openxmlformats.org/drawingml/2006/main">
              <a:ext uri="{FF2B5EF4-FFF2-40B4-BE49-F238E27FC236}">
                <a16:creationId xmlns:a16="http://schemas.microsoft.com/office/drawing/2014/main" id="{26D91E72-14BF-448B-96EB-FF27DABB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838" y="325874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BDAF1EA-465B-4562-873B-46DA982E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250" y="3371419"/>
            <a:ext cx="9525" cy="18290"/>
          </a:xfrm>
          <a:custGeom xmlns:a="http://schemas.openxmlformats.org/drawingml/2006/main">
            <a:pathLst>
              <a:path w="9525" h="18290">
                <a:moveTo>
                  <a:pt x="0" y="0"/>
                </a:moveTo>
                <a:lnTo>
                  <a:pt x="0" y="1829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73" name="sample">
            <a:extLst xmlns:a="http://schemas.openxmlformats.org/drawingml/2006/main">
              <a:ext uri="{FF2B5EF4-FFF2-40B4-BE49-F238E27FC236}">
                <a16:creationId xmlns:a16="http://schemas.microsoft.com/office/drawing/2014/main" id="{81B23824-8369-4736-9A73-D017D57A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0" y="335160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8A13859-89F1-436A-B1E2-797968FE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563" y="3479041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353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75" name="sample">
            <a:extLst xmlns:a="http://schemas.openxmlformats.org/drawingml/2006/main">
              <a:ext uri="{FF2B5EF4-FFF2-40B4-BE49-F238E27FC236}">
                <a16:creationId xmlns:a16="http://schemas.microsoft.com/office/drawing/2014/main" id="{FC04EE72-F894-44BA-A8C4-CA1F08F7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463" y="344447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31656B6-3934-4EA1-9FC3-CA315F44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875" y="3575447"/>
            <a:ext cx="9525" cy="27279"/>
          </a:xfrm>
          <a:custGeom xmlns:a="http://schemas.openxmlformats.org/drawingml/2006/main">
            <a:pathLst>
              <a:path w="9525" h="27279">
                <a:moveTo>
                  <a:pt x="0" y="2727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77" name="sample">
            <a:extLst xmlns:a="http://schemas.openxmlformats.org/drawingml/2006/main">
              <a:ext uri="{FF2B5EF4-FFF2-40B4-BE49-F238E27FC236}">
                <a16:creationId xmlns:a16="http://schemas.microsoft.com/office/drawing/2014/main" id="{32826DF0-4A74-4BBE-B341-158A245B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775" y="3537347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7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71CCB4A-7FB0-40D7-BFEC-6561FC7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188" y="3734044"/>
            <a:ext cx="9525" cy="27140"/>
          </a:xfrm>
          <a:custGeom xmlns:a="http://schemas.openxmlformats.org/drawingml/2006/main">
            <a:pathLst>
              <a:path w="9525" h="27140">
                <a:moveTo>
                  <a:pt x="0" y="0"/>
                </a:moveTo>
                <a:lnTo>
                  <a:pt x="0" y="27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79" name="sample">
            <a:extLst xmlns:a="http://schemas.openxmlformats.org/drawingml/2006/main">
              <a:ext uri="{FF2B5EF4-FFF2-40B4-BE49-F238E27FC236}">
                <a16:creationId xmlns:a16="http://schemas.microsoft.com/office/drawing/2014/main" id="{70EF4FD5-22DD-4C77-9ED9-26C2BA3C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0088" y="372308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5BC805D-9966-47FD-9DA1-76DFE66B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54053"/>
            <a:ext cx="9525" cy="9995"/>
          </a:xfrm>
          <a:custGeom xmlns:a="http://schemas.openxmlformats.org/drawingml/2006/main">
            <a:pathLst>
              <a:path w="9525" h="9995">
                <a:moveTo>
                  <a:pt x="0" y="999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81" name="sample">
            <a:extLst xmlns:a="http://schemas.openxmlformats.org/drawingml/2006/main">
              <a:ext uri="{FF2B5EF4-FFF2-40B4-BE49-F238E27FC236}">
                <a16:creationId xmlns:a16="http://schemas.microsoft.com/office/drawing/2014/main" id="{7F2DE013-F912-43F7-B017-DFDB1C6D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6B37743-32C7-4EAE-8026-477C7E33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813" y="3946922"/>
            <a:ext cx="9525" cy="36956"/>
          </a:xfrm>
          <a:custGeom xmlns:a="http://schemas.openxmlformats.org/drawingml/2006/main">
            <a:pathLst>
              <a:path w="9525" h="36956">
                <a:moveTo>
                  <a:pt x="0" y="369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83" name="sample">
            <a:extLst xmlns:a="http://schemas.openxmlformats.org/drawingml/2006/main">
              <a:ext uri="{FF2B5EF4-FFF2-40B4-BE49-F238E27FC236}">
                <a16:creationId xmlns:a16="http://schemas.microsoft.com/office/drawing/2014/main" id="{14054618-F619-4211-B541-566274B9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7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EEBF72B-C869-4357-BBA5-471F7F36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125" y="4039791"/>
            <a:ext cx="9525" cy="45577"/>
          </a:xfrm>
          <a:custGeom xmlns:a="http://schemas.openxmlformats.org/drawingml/2006/main">
            <a:pathLst>
              <a:path w="9525" h="45577">
                <a:moveTo>
                  <a:pt x="0" y="455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85" name="sample">
            <a:extLst xmlns:a="http://schemas.openxmlformats.org/drawingml/2006/main">
              <a:ext uri="{FF2B5EF4-FFF2-40B4-BE49-F238E27FC236}">
                <a16:creationId xmlns:a16="http://schemas.microsoft.com/office/drawing/2014/main" id="{DB4503C7-9C0D-4B72-9D8A-EE49307B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025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0F65F3-13C7-41DE-AB2A-FA61002C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4132659"/>
            <a:ext cx="9525" cy="28940"/>
          </a:xfrm>
          <a:custGeom xmlns:a="http://schemas.openxmlformats.org/drawingml/2006/main">
            <a:pathLst>
              <a:path w="9525" h="28940">
                <a:moveTo>
                  <a:pt x="0" y="289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87" name="sample">
            <a:extLst xmlns:a="http://schemas.openxmlformats.org/drawingml/2006/main">
              <a:ext uri="{FF2B5EF4-FFF2-40B4-BE49-F238E27FC236}">
                <a16:creationId xmlns:a16="http://schemas.microsoft.com/office/drawing/2014/main" id="{BB668646-9C12-4795-A153-0DE410C3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8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810399E-4856-4089-8EA0-1DA10253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4750" y="4207379"/>
            <a:ext cx="9525" cy="18149"/>
          </a:xfrm>
          <a:custGeom xmlns:a="http://schemas.openxmlformats.org/drawingml/2006/main">
            <a:pathLst>
              <a:path w="9525" h="18149">
                <a:moveTo>
                  <a:pt x="0" y="0"/>
                </a:moveTo>
                <a:lnTo>
                  <a:pt x="0" y="1814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89" name="sample">
            <a:extLst xmlns:a="http://schemas.openxmlformats.org/drawingml/2006/main">
              <a:ext uri="{FF2B5EF4-FFF2-40B4-BE49-F238E27FC236}">
                <a16:creationId xmlns:a16="http://schemas.microsoft.com/office/drawing/2014/main" id="{3E17025C-0E67-4096-A75C-BF77A4D2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650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8E47747-738C-45A5-9F41-DFCD104D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063" y="4219587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594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91" name="sample">
            <a:extLst xmlns:a="http://schemas.openxmlformats.org/drawingml/2006/main">
              <a:ext uri="{FF2B5EF4-FFF2-40B4-BE49-F238E27FC236}">
                <a16:creationId xmlns:a16="http://schemas.microsoft.com/office/drawing/2014/main" id="{DAE5D82F-6030-4D97-B28C-99CC04D6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963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D5D94D1-8AB7-4367-8D26-8385D081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97392"/>
            <a:ext cx="9525" cy="28136"/>
          </a:xfrm>
          <a:custGeom xmlns:a="http://schemas.openxmlformats.org/drawingml/2006/main">
            <a:pathLst>
              <a:path w="9525" h="28136">
                <a:moveTo>
                  <a:pt x="0" y="0"/>
                </a:moveTo>
                <a:lnTo>
                  <a:pt x="0" y="281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93" name="sample">
            <a:extLst xmlns:a="http://schemas.openxmlformats.org/drawingml/2006/main">
              <a:ext uri="{FF2B5EF4-FFF2-40B4-BE49-F238E27FC236}">
                <a16:creationId xmlns:a16="http://schemas.microsoft.com/office/drawing/2014/main" id="{84E560B2-926C-48A8-A410-1CCB90F2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18742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8459002F-B79F-4AC1-B6FC-8F7358B7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4132659"/>
            <a:ext cx="9525" cy="9645"/>
          </a:xfrm>
          <a:custGeom xmlns:a="http://schemas.openxmlformats.org/drawingml/2006/main">
            <a:pathLst>
              <a:path w="9525" h="9645">
                <a:moveTo>
                  <a:pt x="0" y="96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95" name="sample">
            <a:extLst xmlns:a="http://schemas.openxmlformats.org/drawingml/2006/main">
              <a:ext uri="{FF2B5EF4-FFF2-40B4-BE49-F238E27FC236}">
                <a16:creationId xmlns:a16="http://schemas.microsoft.com/office/drawing/2014/main" id="{2190A83B-CC2B-4A8E-9B0C-52E1EC3C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588" y="409455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C55BF94-1514-4BF5-9CC3-3E97A585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039791"/>
            <a:ext cx="9525" cy="18290"/>
          </a:xfrm>
          <a:custGeom xmlns:a="http://schemas.openxmlformats.org/drawingml/2006/main">
            <a:pathLst>
              <a:path w="9525" h="18290">
                <a:moveTo>
                  <a:pt x="0" y="18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97" name="sample">
            <a:extLst xmlns:a="http://schemas.openxmlformats.org/drawingml/2006/main">
              <a:ext uri="{FF2B5EF4-FFF2-40B4-BE49-F238E27FC236}">
                <a16:creationId xmlns:a16="http://schemas.microsoft.com/office/drawing/2014/main" id="{18D89029-9DE8-44C7-960D-AA9193FC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900" y="400169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F510E89-8520-4D4F-962A-15B22F7E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313" y="3946922"/>
            <a:ext cx="9525" cy="9525"/>
          </a:xfrm>
          <a:custGeom xmlns:a="http://schemas.openxmlformats.org/drawingml/2006/main">
            <a:pathLst>
              <a:path w="9525" h="9525">
                <a:moveTo>
                  <a:pt x="0" y="35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199" name="sample">
            <a:extLst xmlns:a="http://schemas.openxmlformats.org/drawingml/2006/main">
              <a:ext uri="{FF2B5EF4-FFF2-40B4-BE49-F238E27FC236}">
                <a16:creationId xmlns:a16="http://schemas.microsoft.com/office/drawing/2014/main" id="{1F0AD508-F168-4618-B233-15D3BFC8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213" y="390882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D477A365-4380-444C-9F2B-E7581AAB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625" y="3826774"/>
            <a:ext cx="9525" cy="27279"/>
          </a:xfrm>
          <a:custGeom xmlns:a="http://schemas.openxmlformats.org/drawingml/2006/main">
            <a:pathLst>
              <a:path w="9525" h="27279">
                <a:moveTo>
                  <a:pt x="0" y="0"/>
                </a:moveTo>
                <a:lnTo>
                  <a:pt x="0" y="2727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01" name="sample">
            <a:extLst xmlns:a="http://schemas.openxmlformats.org/drawingml/2006/main">
              <a:ext uri="{FF2B5EF4-FFF2-40B4-BE49-F238E27FC236}">
                <a16:creationId xmlns:a16="http://schemas.microsoft.com/office/drawing/2014/main" id="{A2480534-BD00-44F0-B71D-9EC2F022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525" y="3815953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B98EDCB-7495-470B-918E-0DDB9F58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938" y="3668316"/>
            <a:ext cx="9525" cy="27140"/>
          </a:xfrm>
          <a:custGeom xmlns:a="http://schemas.openxmlformats.org/drawingml/2006/main">
            <a:pathLst>
              <a:path w="9525" h="27140">
                <a:moveTo>
                  <a:pt x="0" y="271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E65050"/>
            </a:solidFill>
          </a:ln>
        </p:spPr>
      </p:sp>
      <p:sp>
        <p:nvSpPr>
          <p:cNvPr id="203" name="sample">
            <a:extLst xmlns:a="http://schemas.openxmlformats.org/drawingml/2006/main">
              <a:ext uri="{FF2B5EF4-FFF2-40B4-BE49-F238E27FC236}">
                <a16:creationId xmlns:a16="http://schemas.microsoft.com/office/drawing/2014/main" id="{E07D0EF3-6170-401D-8077-81383F71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838" y="363021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B5C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04" name="text">
            <a:extLst xmlns:a="http://schemas.openxmlformats.org/drawingml/2006/main">
              <a:ext uri="{FF2B5EF4-FFF2-40B4-BE49-F238E27FC236}">
                <a16:creationId xmlns:a16="http://schemas.microsoft.com/office/drawing/2014/main" id="{F7C030F2-A8B1-438D-9E33-C04C690A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同一时刻、同一幅度范围；红色线段表示近似误差</a:t>
            </a:r>
          </a:p>
        </p:txBody>
      </p:sp>
      <p:sp>
        <p:nvSpPr>
          <p:cNvPr id="205" name="text">
            <a:extLst xmlns:a="http://schemas.openxmlformats.org/drawingml/2006/main">
              <a:ext uri="{FF2B5EF4-FFF2-40B4-BE49-F238E27FC236}">
                <a16:creationId xmlns:a16="http://schemas.microsoft.com/office/drawing/2014/main" id="{8EBD80B2-96FB-48C7-B490-715CE878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等级更密，量化步长更小。</a:t>
            </a:r>
          </a:p>
        </p:txBody>
      </p:sp>
      <p:sp>
        <p:nvSpPr>
          <p:cNvPr id="206" name="text">
            <a:extLst xmlns:a="http://schemas.openxmlformats.org/drawingml/2006/main">
              <a:ext uri="{FF2B5EF4-FFF2-40B4-BE49-F238E27FC236}">
                <a16:creationId xmlns:a16="http://schemas.microsoft.com/office/drawing/2014/main" id="{14BDCFAF-35C2-4547-8B79-0F107EDF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同一范围内，量化误差上界减小。</a:t>
            </a:r>
          </a:p>
        </p:txBody>
      </p:sp>
    </p:spTree>
    <p:extLst>
      <p:ext uri="{BB962C8B-B14F-4D97-AF65-F5344CB8AC3E}">
        <p14:creationId xmlns:p14="http://schemas.microsoft.com/office/powerpoint/2010/main" val="17078646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D89C8371-5CCE-4CC5-A1F8-007C0543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0493582-221A-4987-8A24-590B8F52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BAE247-94DC-4D3F-A607-73E74D7A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量化位数加倍，等级也只加倍吗？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9E63D6C0-DC7D-4BEE-AE0D-BAE2060D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2bit、4bit、8bit各有多少个码字？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731471E4-7A2F-4243-B325-FDAEAD05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16bit最多能区分多少个等级？</a:t>
            </a:r>
          </a:p>
        </p:txBody>
      </p:sp>
    </p:spTree>
    <p:extLst>
      <p:ext uri="{BB962C8B-B14F-4D97-AF65-F5344CB8AC3E}">
        <p14:creationId xmlns:p14="http://schemas.microsoft.com/office/powerpoint/2010/main" val="194069715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D89C8371-5CCE-4CC5-A1F8-007C0543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0493582-221A-4987-8A24-590B8F52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BAE247-94DC-4D3F-A607-73E74D7A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量化位数加倍，等级也只加倍吗？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9E63D6C0-DC7D-4BEE-AE0D-BAE2060D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2bit、4bit、8bit各有多少个码字？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731471E4-7A2F-4243-B325-FDAEAD05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16bit最多能区分多少个等级？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202EB6A7-006F-4DD7-8AE1-F375722F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E7148926-1A7F-4EA2-AA61-DD0A286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2² = 4；2⁴ = 16；2⁸ = 256。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E5215B57-CF1D-42B4-871C-755628C7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2¹⁶ = 65,536。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FF8B93B7-AFDB-429D-9112-5ED20215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bit最多表示2ⁿ个等级。</a:t>
            </a:r>
          </a:p>
        </p:txBody>
      </p:sp>
    </p:spTree>
    <p:extLst>
      <p:ext uri="{BB962C8B-B14F-4D97-AF65-F5344CB8AC3E}">
        <p14:creationId xmlns:p14="http://schemas.microsoft.com/office/powerpoint/2010/main" val="194069715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7F7185C9-A7B7-4E49-BA91-D7EF504A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9C8E270-B740-4BBF-BB06-DCF03D6C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BC28F9D-1541-4AC6-A79C-75D70018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三步分别改变了什么？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F334290-2BA0-403D-B337-6D01C9E6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采样、量化、编码，分别回答哪一个问题？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8220DD50-464B-44F7-AB8F-4E387305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什么时候读？幅度分多细？怎样写码字？</a:t>
            </a:r>
          </a:p>
        </p:txBody>
      </p:sp>
    </p:spTree>
    <p:extLst>
      <p:ext uri="{BB962C8B-B14F-4D97-AF65-F5344CB8AC3E}">
        <p14:creationId xmlns:p14="http://schemas.microsoft.com/office/powerpoint/2010/main" val="19100802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7F7185C9-A7B7-4E49-BA91-D7EF504A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9C8E270-B740-4BBF-BB06-DCF03D6C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BC28F9D-1541-4AC6-A79C-75D70018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三步分别改变了什么？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0F334290-2BA0-403D-B337-6D01C9E6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采样、量化、编码，分别回答哪一个问题？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8220DD50-464B-44F7-AB8F-4E387305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什么时候读？幅度分多细？怎样写码字？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8EDBD57B-C62E-4C90-BAF8-3B2A18A2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B8BC9760-2A2D-4E5B-BD7A-3A159B32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采样：在离散时刻取得样本。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5B322AC7-F930-4525-B7A7-9BF4FACD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量化：把幅度近似到有限等级。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6CB4EDCD-01F0-4C15-9941-A70C6A9C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编码：按规则写成二进制码字。</a:t>
            </a:r>
          </a:p>
        </p:txBody>
      </p:sp>
    </p:spTree>
    <p:extLst>
      <p:ext uri="{BB962C8B-B14F-4D97-AF65-F5344CB8AC3E}">
        <p14:creationId xmlns:p14="http://schemas.microsoft.com/office/powerpoint/2010/main" val="19100802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BF42E9B0-1168-4ABE-AFA3-D41D45DE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1BED22-4148-492C-AAB1-BA9663B5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967FDED-E966-4AAA-848B-C7F51BA6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左右两路声音，怎样记录？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2945E39F-5FD4-420C-BA7D-16147604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同采样率、同位数、同样6秒。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81C30682-10ED-4418-86CB-2B9F896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单声道1路，双声道2路；样本数据量怎样变？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59406F7-A3F1-49D8-A796-F6BA61F5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59AEAC7-E155-4E08-98CD-9097F0DC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9C4E1FFC-73F2-42C9-923F-7FE570B3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84327CC4-D207-4AB0-B52E-9846ABBD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109F3B0-2A06-4E9E-B8F1-E9954C6E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时刻1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F0803D3C-F7AD-4B65-848E-DA2E768C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24A3D15F-CFB9-4C1E-8CAA-3289B43F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E8AAD6E-5F47-4904-AA97-5DBDD9D4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时刻2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C7325BBC-6FAF-4B01-8F48-1BA3439A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D71D4C2-AB01-4294-879A-5A86B732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F24BA54-7D8A-4BB0-BBCF-E53F159C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时刻3</a:t>
            </a:r>
          </a:p>
        </p:txBody>
      </p:sp>
    </p:spTree>
    <p:extLst>
      <p:ext uri="{BB962C8B-B14F-4D97-AF65-F5344CB8AC3E}">
        <p14:creationId xmlns:p14="http://schemas.microsoft.com/office/powerpoint/2010/main" val="151741713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op-rail">
            <a:extLst xmlns:a="http://schemas.openxmlformats.org/drawingml/2006/main">
              <a:ext uri="{FF2B5EF4-FFF2-40B4-BE49-F238E27FC236}">
                <a16:creationId xmlns:a16="http://schemas.microsoft.com/office/drawing/2014/main" id="{BF42E9B0-1168-4ABE-AFA3-D41D45DE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31BED22-4148-492C-AAB1-BA9663B5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967FDED-E966-4AAA-848B-C7F51BA6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左右两路声音，怎样记录？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2945E39F-5FD4-420C-BA7D-16147604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同采样率、同位数、同样6秒。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81C30682-10ED-4418-86CB-2B9F896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单声道1路，双声道2路；样本数据量怎样变？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59406F7-A3F1-49D8-A796-F6BA61F5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59AEAC7-E155-4E08-98CD-9097F0DC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R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9C4E1FFC-73F2-42C9-923F-7FE570B3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84327CC4-D207-4AB0-B52E-9846ABBD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109F3B0-2A06-4E9E-B8F1-E9954C6E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时刻1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F0803D3C-F7AD-4B65-848E-DA2E768C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24A3D15F-CFB9-4C1E-8CAA-3289B43F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E8AAD6E-5F47-4904-AA97-5DBDD9D4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时刻2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C7325BBC-6FAF-4B01-8F48-1BA3439A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D71D4C2-AB01-4294-879A-5A86B732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F24BA54-7D8A-4BB0-BBCF-E53F159C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时刻3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EAD2BEA-6A41-4ED8-8D4C-B73A63D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19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L1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D9BFBFF-1166-4B0F-B34F-27D95A49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81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15B5C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15B5CE"/>
                </a:solidFill>
                <a:latin typeface="Alibaba PuHuiTi 3.0 55 Regular"/>
                <a:ea typeface="Alibaba PuHuiTi 3.0 55 Regular"/>
                <a:cs typeface="Alibaba PuHuiTi 3.0 55 Regular"/>
              </a:rPr>
              <a:t>R1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2E239E1-D7F9-4842-ADAF-79A2DBF2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19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L2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5F8DCBC-858E-45EA-9ECA-D594BE2F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81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15B5C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15B5CE"/>
                </a:solidFill>
                <a:latin typeface="Alibaba PuHuiTi 3.0 55 Regular"/>
                <a:ea typeface="Alibaba PuHuiTi 3.0 55 Regular"/>
                <a:cs typeface="Alibaba PuHuiTi 3.0 55 Regular"/>
              </a:rPr>
              <a:t>R2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73B5D43-F2D1-4B7C-9F75-433EF8AB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19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L3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41B27EB-F25B-4A13-B3C2-F3455398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181475"/>
            <a:ext cx="1000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15B5CE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15B5CE"/>
                </a:solidFill>
                <a:latin typeface="Alibaba PuHuiTi 3.0 55 Regular"/>
                <a:ea typeface="Alibaba PuHuiTi 3.0 55 Regular"/>
                <a:cs typeface="Alibaba PuHuiTi 3.0 55 Regular"/>
              </a:rPr>
              <a:t>R3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2940581-B0A2-47E2-A702-2161C5CC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双声道记录左、右各1个样本。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1BB28AD-75A1-428F-A6CD-C209F847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同参数同长度：双声道样本数据量为2倍。</a:t>
            </a:r>
          </a:p>
        </p:txBody>
      </p:sp>
    </p:spTree>
    <p:extLst>
      <p:ext uri="{BB962C8B-B14F-4D97-AF65-F5344CB8AC3E}">
        <p14:creationId xmlns:p14="http://schemas.microsoft.com/office/powerpoint/2010/main" val="151741713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767D076A-A869-4E08-BEB4-1D5716D9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E3A88A9-F8BF-4F7A-AD6B-62D51B33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0CE9A64-8404-4110-BEF1-2EE51A61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未压缩PCM WAV保存了什么？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7A56B1B0-0657-4BCB-9B1A-E59449CF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要让别人读懂并播放这些样本，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59E0842B-58E0-4A9E-9630-2B4DE3BB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文件除了样本，还需要记录什么？</a:t>
            </a:r>
          </a:p>
        </p:txBody>
      </p:sp>
    </p:spTree>
    <p:extLst>
      <p:ext uri="{BB962C8B-B14F-4D97-AF65-F5344CB8AC3E}">
        <p14:creationId xmlns:p14="http://schemas.microsoft.com/office/powerpoint/2010/main" val="5800340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767D076A-A869-4E08-BEB4-1D5716D9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E3A88A9-F8BF-4F7A-AD6B-62D51B33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0CE9A64-8404-4110-BEF1-2EE51A61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未压缩PCM WAV保存了什么？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7A56B1B0-0657-4BCB-9B1A-E59449CF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要让别人读懂并播放这些样本，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59E0842B-58E0-4A9E-9630-2B4DE3BB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文件除了样本，还需要记录什么？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F7C5AA5E-4BCE-49DC-83FC-5F38A224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C8BBA0B4-3244-4515-BB81-E8B1B899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格式参数：采样率、位数、声道等。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DF57812E-E80A-4532-ACAD-48BE1CD0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样本数据：按约定排列的PCM数值。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6CFC2619-44EC-4412-8CCE-CC7A0B5C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本课WAV以未压缩整数PCM保存样本。</a:t>
            </a:r>
          </a:p>
        </p:txBody>
      </p:sp>
    </p:spTree>
    <p:extLst>
      <p:ext uri="{BB962C8B-B14F-4D97-AF65-F5344CB8AC3E}">
        <p14:creationId xmlns:p14="http://schemas.microsoft.com/office/powerpoint/2010/main" val="5800340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7A8BDDE3-71D1-4991-BAB6-85809361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9F03BBB-351A-4898-9A4D-B0576663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8BC2C6D-6ECA-44A1-B94C-5E00F609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怎样从样本数推导数据量？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CF116D62-C61F-4223-95A8-CAD77D44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每秒每声道fs个样本，录音t秒。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F709A0A-BFB7-4FF5-8E26-1136E998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每样本n bit，共C个声道。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1C5F0385-0BC9-4B2D-ADB2-5410BBA1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先数样本，再换算成B。</a:t>
            </a:r>
          </a:p>
        </p:txBody>
      </p:sp>
    </p:spTree>
    <p:extLst>
      <p:ext uri="{BB962C8B-B14F-4D97-AF65-F5344CB8AC3E}">
        <p14:creationId xmlns:p14="http://schemas.microsoft.com/office/powerpoint/2010/main" val="14468581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7A8BDDE3-71D1-4991-BAB6-85809361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9F03BBB-351A-4898-9A4D-B0576663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8BC2C6D-6ECA-44A1-B94C-5E00F609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怎样从样本数推导数据量？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CF116D62-C61F-4223-95A8-CAD77D44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每秒每声道fs个样本，录音t秒。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4F709A0A-BFB7-4FF5-8E26-1136E998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每样本n bit，共C个声道。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1C5F0385-0BC9-4B2D-ADB2-5410BBA1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先数样本，再换算成B。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C8CA5679-6ED6-4A58-9C01-E0E25C41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CC8851EB-3C12-412A-9E1B-B1C773F0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样本总数 = fs × t × C。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9C997240-5DBC-489E-AF5B-CB355A32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样本数据量（B）= fs × t × n × C ÷ 8。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09B3E0A3-F84F-48D6-BF95-CC782DCD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采样率用Hz；时长用秒；n为实际存储位数。</a:t>
            </a:r>
          </a:p>
        </p:txBody>
      </p:sp>
    </p:spTree>
    <p:extLst>
      <p:ext uri="{BB962C8B-B14F-4D97-AF65-F5344CB8AC3E}">
        <p14:creationId xmlns:p14="http://schemas.microsoft.com/office/powerpoint/2010/main" val="144685812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D6DADC10-55F4-495F-90FC-17992220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5C75D49-ECAF-4B54-997E-95CE559E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84D0F2-C4B4-431E-ABC7-6BAE7D47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一分钟双声道PCM有多大？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46CA675F-8C7B-4603-9139-A5E2B94A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44.1kHz、16bit、双声道，录音1分钟。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02F6868C-1CFD-43C1-B067-260E9EEE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求样本数据量（B）；换算MiB列式即可。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65957095-B54F-4AF9-996C-7B8A87EC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MiB = 1,048,576 B。</a:t>
            </a:r>
          </a:p>
        </p:txBody>
      </p:sp>
    </p:spTree>
    <p:extLst>
      <p:ext uri="{BB962C8B-B14F-4D97-AF65-F5344CB8AC3E}">
        <p14:creationId xmlns:p14="http://schemas.microsoft.com/office/powerpoint/2010/main" val="97097609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D6DADC10-55F4-495F-90FC-17992220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5C75D49-ECAF-4B54-997E-95CE559E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484D0F2-C4B4-431E-ABC7-6BAE7D47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一分钟双声道PCM有多大？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46CA675F-8C7B-4603-9139-A5E2B94A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44.1kHz、16bit、双声道，录音1分钟。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02F6868C-1CFD-43C1-B067-260E9EEE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求样本数据量（B）；换算MiB列式即可。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65957095-B54F-4AF9-996C-7B8A87EC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 MiB = 1,048,576 B。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EBF28C6A-48A6-465B-B76A-5F54C7E6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85445FBF-D6CE-40C5-854A-CC614CF7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44,100 × 60 × 16 × 2 ÷ 8 = 10,584,000 B。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66F66C19-54DA-4431-BBFA-10E787A5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10,584,000 ÷ 1,048,576 ≈ 10.09 MiB。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EE9FB59B-F485-4116-A4FE-1CA02BDA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同参数改单声道，样本数据量减半。</a:t>
            </a:r>
          </a:p>
        </p:txBody>
      </p:sp>
    </p:spTree>
    <p:extLst>
      <p:ext uri="{BB962C8B-B14F-4D97-AF65-F5344CB8AC3E}">
        <p14:creationId xmlns:p14="http://schemas.microsoft.com/office/powerpoint/2010/main" val="97097609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DC1E5755-46A1-417F-BC1E-81FDC2D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2A196AA-B3E4-4F16-961B-EDDD9606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5AE8F06-7DD6-41F1-8436-AD835EDA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算出32000B，文件一定也是32000B吗？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BC13E7B5-951B-478E-8C90-60AC0E4E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实际样例：8kHz、2秒、16bit、单声道PCM WAV。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A14846EA-2C32-4696-9CAF-FDCBB7B7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公式得到32,000B。完整文件会一样大吗？</a:t>
            </a:r>
          </a:p>
        </p:txBody>
      </p:sp>
    </p:spTree>
    <p:extLst>
      <p:ext uri="{BB962C8B-B14F-4D97-AF65-F5344CB8AC3E}">
        <p14:creationId xmlns:p14="http://schemas.microsoft.com/office/powerpoint/2010/main" val="89631506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DC1E5755-46A1-417F-BC1E-81FDC2D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2A196AA-B3E4-4F16-961B-EDDD9606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5AE8F06-7DD6-41F1-8436-AD835EDA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算出32000B，文件一定也是32000B吗？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BC13E7B5-951B-478E-8C90-60AC0E4E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实际样例：8kHz、2秒、16bit、单声道PCM WAV。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A14846EA-2C32-4696-9CAF-FDCBB7B7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公式得到32,000B。完整文件会一样大吗？</a:t>
            </a:r>
          </a:p>
        </p:txBody>
      </p:sp>
      <p:sp>
        <p:nvSpPr>
          <p:cNvPr id="6" name="line">
            <a:extLst xmlns:a="http://schemas.openxmlformats.org/drawingml/2006/main">
              <a:ext uri="{FF2B5EF4-FFF2-40B4-BE49-F238E27FC236}">
                <a16:creationId xmlns:a16="http://schemas.microsoft.com/office/drawing/2014/main" id="{1BCFDC8E-28F6-4CAE-8DB2-F76D020F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1B009735-5D78-400D-97B2-B88BC718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读取样本：16,000个；样本数据32,000B。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9D4B5CC2-AE89-428D-B1B1-2A891B73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本课文件：32,044B，另有44B结构信息。</a:t>
            </a:r>
          </a:p>
        </p:txBody>
      </p:sp>
      <p:sp>
        <p:nvSpPr>
          <p:cNvPr id="9" name="answer-2">
            <a:extLst xmlns:a="http://schemas.openxmlformats.org/drawingml/2006/main">
              <a:ext uri="{FF2B5EF4-FFF2-40B4-BE49-F238E27FC236}">
                <a16:creationId xmlns:a16="http://schemas.microsoft.com/office/drawing/2014/main" id="{9A8424BA-EF66-4546-BB02-4C5B40AA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公式计算样本数据量，不是完整文件大小。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89631506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B27B9565-42DC-4E40-BE20-52A64B6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94451AB-BA93-47BF-B4BA-09A456EE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D1A9D26-B467-4A1B-B8B7-1E7495DB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只有64KiB，哪种方案满足要求？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B6F3E662-D31B-4B24-B00D-A70D5273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带限信号最高频率6kHz；记录2秒。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AA42FF94-86CD-44C5-82FF-555675DE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16bit、单声道；上限64KiB = 65,536B（仅样本数据）。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8FFA56BF-5D26-47A2-B6FE-CF7696EB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候选采样率：8k、16k、24kHz。逐项检查两个条件。</a:t>
            </a:r>
          </a:p>
        </p:txBody>
      </p:sp>
    </p:spTree>
    <p:extLst>
      <p:ext uri="{BB962C8B-B14F-4D97-AF65-F5344CB8AC3E}">
        <p14:creationId xmlns:p14="http://schemas.microsoft.com/office/powerpoint/2010/main" val="39554539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B27B9565-42DC-4E40-BE20-52A64B67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94451AB-BA93-47BF-B4BA-09A456EE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D1A9D26-B467-4A1B-B8B7-1E7495DB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只有64KiB，哪种方案满足要求？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B6F3E662-D31B-4B24-B00D-A70D5273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带限信号最高频率6kHz；记录2秒。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AA42FF94-86CD-44C5-82FF-555675DE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16bit、单声道；上限64KiB = 65,536B（仅样本数据）。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8FFA56BF-5D26-47A2-B6FE-CF7696EB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候选采样率：8k、16k、24kHz。逐项检查两个条件。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31A62A42-6567-463F-99BD-81E15527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34B2267B-9877-4F49-8BDE-DFB848AF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8kHz：32,000B，容量够；频率条件不满足。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9641FF69-AF84-4663-8C71-17C9D67D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16kHz：64,000B，两项满足。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563B5551-5A0E-4017-9BB3-91BAAABB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24kHz：96,000B，超出65,536B。</a:t>
            </a:r>
          </a:p>
        </p:txBody>
      </p:sp>
    </p:spTree>
    <p:extLst>
      <p:ext uri="{BB962C8B-B14F-4D97-AF65-F5344CB8AC3E}">
        <p14:creationId xmlns:p14="http://schemas.microsoft.com/office/powerpoint/2010/main" val="39554539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152CBC22-9313-4F53-85B5-CB279849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E1E7A5A-7A00-4499-8629-564A4699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368CB2-35CD-4598-96E8-DB22F8F2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哪些说法需要修改？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AA86F330-939A-446D-AA98-604EAEDA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8kHz采样，声音自身频率就是8kHz。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9C824E9C-4429-4B9D-919E-FEEB42EE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16bit量化只有16个等级。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8D75E8C7-BF32-4AFA-9D24-753B47D6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所有WAV都未压缩，公式算出完整文件大小。</a:t>
            </a:r>
          </a:p>
        </p:txBody>
      </p:sp>
    </p:spTree>
    <p:extLst>
      <p:ext uri="{BB962C8B-B14F-4D97-AF65-F5344CB8AC3E}">
        <p14:creationId xmlns:p14="http://schemas.microsoft.com/office/powerpoint/2010/main" val="108630342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152CBC22-9313-4F53-85B5-CB279849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E1E7A5A-7A00-4499-8629-564A4699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E368CB2-35CD-4598-96E8-DB22F8F2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哪些说法需要修改？</a:t>
            </a:r>
          </a:p>
        </p:txBody>
      </p:sp>
      <p:sp>
        <p:nvSpPr>
          <p:cNvPr id="4" name="given-0">
            <a:extLst xmlns:a="http://schemas.openxmlformats.org/drawingml/2006/main">
              <a:ext uri="{FF2B5EF4-FFF2-40B4-BE49-F238E27FC236}">
                <a16:creationId xmlns:a16="http://schemas.microsoft.com/office/drawing/2014/main" id="{AA86F330-939A-446D-AA98-604EAEDA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8kHz采样，声音自身频率就是8kHz。</a:t>
            </a:r>
          </a:p>
        </p:txBody>
      </p:sp>
      <p:sp>
        <p:nvSpPr>
          <p:cNvPr id="5" name="given-1">
            <a:extLst xmlns:a="http://schemas.openxmlformats.org/drawingml/2006/main">
              <a:ext uri="{FF2B5EF4-FFF2-40B4-BE49-F238E27FC236}">
                <a16:creationId xmlns:a16="http://schemas.microsoft.com/office/drawing/2014/main" id="{9C824E9C-4429-4B9D-919E-FEEB42EE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16bit量化只有16个等级。</a:t>
            </a:r>
          </a:p>
        </p:txBody>
      </p:sp>
      <p:sp>
        <p:nvSpPr>
          <p:cNvPr id="6" name="given-2">
            <a:extLst xmlns:a="http://schemas.openxmlformats.org/drawingml/2006/main">
              <a:ext uri="{FF2B5EF4-FFF2-40B4-BE49-F238E27FC236}">
                <a16:creationId xmlns:a16="http://schemas.microsoft.com/office/drawing/2014/main" id="{8D75E8C7-BF32-4AFA-9D24-753B47D6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所有WAV都未压缩，公式算出完整文件大小。</a:t>
            </a:r>
          </a:p>
        </p:txBody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A320E642-E60F-43CE-9CCD-FD7F0A68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8DF"/>
            </a:solidFill>
          </a:ln>
        </p:spPr>
      </p:sp>
      <p:sp>
        <p:nvSpPr>
          <p:cNvPr id="8" name="answer-0">
            <a:extLst xmlns:a="http://schemas.openxmlformats.org/drawingml/2006/main">
              <a:ext uri="{FF2B5EF4-FFF2-40B4-BE49-F238E27FC236}">
                <a16:creationId xmlns:a16="http://schemas.microsoft.com/office/drawing/2014/main" id="{5F8364C1-239F-4537-8A94-CDE59C32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0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① 采样率数记录次数；声音频率数振动次数。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3E8E4B0E-3775-4683-A7B6-A338DBCA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16bit最多表示65,536个等级。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612CBD72-2DB9-43C1-83E0-B2173B1E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③ WAV不一定未压缩；公式只计样本数据。</a:t>
            </a:r>
          </a:p>
        </p:txBody>
      </p:sp>
    </p:spTree>
    <p:extLst>
      <p:ext uri="{BB962C8B-B14F-4D97-AF65-F5344CB8AC3E}">
        <p14:creationId xmlns:p14="http://schemas.microsoft.com/office/powerpoint/2010/main" val="108630342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8B528DBB-87B5-48C1-B23E-BA9101D5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255F318-FA1D-4C31-9C19-2D99D933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400C546-3D1E-420F-88BD-7AFECA16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课后练习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2911564-61D3-4EFE-8CA4-B68029EA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 22.05kHz、16bit、单声道，10秒有多少B样本数据？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DE82E1A-95DF-4685-B68B-14008CB7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2. 4bit改为8bit，等级数变成原来的几倍？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6AE309A-F069-4971-9B69-DAF77433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3. 8kHz录音转为48kHz，能恢复未记录的6kHz吗？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A256FC6-BBE9-4E47-ACD6-51058FC0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计算写出单位；解释写出条件。</a:t>
            </a:r>
          </a:p>
        </p:txBody>
      </p:sp>
    </p:spTree>
    <p:extLst>
      <p:ext uri="{BB962C8B-B14F-4D97-AF65-F5344CB8AC3E}">
        <p14:creationId xmlns:p14="http://schemas.microsoft.com/office/powerpoint/2010/main" val="1725035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2026-09-30T22:02:20.3670000Z</dcterms:created>
  <dcterms:modified xsi:type="dcterms:W3CDTF">2026-09-30T22:02:20.3670000Z</dcterms:modified>
</coreProperties>
</file>
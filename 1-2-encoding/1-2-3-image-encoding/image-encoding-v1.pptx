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页面目的：开场，明确本课要解决“照片怎样变成0和1”的问题。
逐字稿：同学们，今天我们不直接背定义，而是追踪一张图片从“能看见的画面”到“电脑里的数据”的过程。请先保留一个问题：图片文件里究竟保存了什么？这节课结束时，你要能用采样、量化、编码三个词解释它。
转场：我们先从四种常见说法开始。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页面目的：让学生先暴露初始模型，不把四个答案当作单选。
逐字稿：请看四张卡片。它们都可能是对图片的描述，但描述的层次不一样。现在不要问“哪个唯一正确”，请你先把它们排成一个从“我们看到的图像”到“计算机保存的数据”的顺序。给你三十秒，和同桌说一句理由。
停顿：等待学生排序。
预期回答：学生可能把0和1放最前，也可能把像素和颜色混在一起。
转场：我们先不公布顺序，后面每走一步就会回来修正这四张卡片。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页面目的：先预测，不马上展示证据。
逐字稿：接下来我们比较同一张测试图的不同版本。注意条件：投影时它们会显示成差不多一样大。问题是，如果显示尺寸一样，为什么看起来还会不同？请先预测：哪一张保留细节最多？8×8又是什么意思？
停顿：请学生写下预测。
转场：现在我们用两页证据图比较，不运行代码，保证节奏。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页面目的：比较256、64、32三张图，看到细节逐渐变粗糙。
逐字稿：这三张图显示尺寸相同，但背后的像素数量不同。先看256×256，它作为比较基准。到64×64，整体结构还在，但边缘已经开始有方格感。到32×32，圆的轮廓和斜线的台阶更明显。请注意：我们没有把图片显示得更小，只是描述这张图的像素位置变少了。
追问：哪些细节开始变得不稳定？
转场：下一页继续从32×32往更低比较。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页面目的：用32作为衔接，比较32、16、8。
逐字稿：这页把32×32重复放在左侧，帮助我们连续比较。到16×16，圆还勉强可辨，但已经很粗糙，斜线也变成明显阶梯。到8×8，很多细节不是“更粗糙”，而是几乎认不出来。这里形成第一个概念：采样决定取多少空间位置，分辨率在本课指宽×高的像素尺寸。
预期回答：学生能说出像素数量减少导致空间细节减少。
转场：不过，分辨率是不是图像质量的唯一因素？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页面目的：提出认知冲突，不先给反例。
逐字稿：现在判断一句话：1920×1080的图片一定比800×600更清晰。你同意吗？请先举手，或者写下“同意/不同意/要看条件”。关键是说明理由。
停顿：收集两三个理由。
转场：我们看一组同场景图片，它们的文件像素尺寸是真的不同。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页面目的：用真实尺寸图片证明像素数不是质量唯一因素。
逐字稿：左边文件是1920×1080，像素数量更大，但我故意让它严重失焦；右边文件是800×600，像素数量更少，但边缘和细节更清楚。所以“分辨率越高一定越清晰”不严谨。更准确的说法是：在同一场景、同一范围、其他条件相同时，更多采样通常保留更多空间细节。
追问：除了像素数，还有哪些因素影响质量？
转场：刚才只改了空间位置。接下来像素数不变，只改颜色。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页面目的：预测量化可能改变视觉边界，但不提前说原因。
逐字稿：现在像素位置不变，仍然是同一张256×256图。我们只限制整幅图最多能使用多少种颜色。请预测：如果颜色种数越来越少，红色块和绿色块紧贴的接缝会一直看得见吗？为什么？
停顿：学生表态。
转场：先看图，不看数值。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页面目的：先观察图像，不提前给RGB答案。
逐字稿：左边是原图，中间最多16种颜色，右边最多2种颜色。先不要看数值，只观察：渐变发生了什么？红绿接缝在16色和2色中有什么不同？像素位置有没有减少？
预期回答：16色仍能区分红绿，2色里红绿边界消失或明显变弱。
转场：接下来我们用接缝两侧两个像素的RGB值验证解释。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页面目的：揭示接缝两侧实际RGB tuple，解释边界消失。
逐字稿：我们取红色块最后一列的点(72,40)，和绿色块第一列的点(73,40)。16色版本里，左边是(255,0,0)，右边是(0,255,0)，所以边界仍有颜色差异。2色版本里，两侧都是(71,42,71)，颜色相同，所以这条靠颜色差异形成的接缝消失了。注意：像素位置没有减少，变化发生在每个位置允许取哪些颜色值。
转场：如果只剩16个颜色状态，给它们编号至少要几bit？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页面目的：纯问题页，不能提前给出2^b推导。
逐字稿：我们刚看到，颜色种数减少会改变画面，但还没有检查文件怎样保存。现在做一个假设：给16种允许的颜色各分配一个不同的、固定长度的二进制标签。最少需要几bit？2bit够不够？3bit够不够？4bit为什么可能刚好够？
停顿：让学生先预测。
转场：我们从能列出的状态数量推回需要的bit数。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页面目的：由枚举状态推导2^b。
逐字稿：1bit只有0和1，两个状态。2bits有00、01、10、11，四个状态。3bits是8个状态，还不够标记16种颜色。4bits是16个状态，刚好可以给16种颜色各贴一个不同标签。所以规律是可表示状态数等于2的b次方。注意，这只说明“可以这样编码”，不等于刚才的图像文件已经真的用4bits per pixel保存。
转场：如果一个像素不是16个标签，而是R、G、B三个通道呢？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页面目的：先预测24-bit color含义，不先给答案。
逐字稿：看到24-bit color，你第一反应是什么？它最多表示多少种颜色？A是24种，B是256种，C是2的24次方，D是现在还不能确定。请先投票并说理由。关键追问：这里的24描述的是颜色数量，还是描述一个像素用了多少个bit？
停顿：收集理由。
转场：我们看RGB三个通道。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页面目的：从三个8-bit通道推导2^24。
逐字稿：常见24-bit RGB把一个像素拆成三个通道：R、G、B。每个通道8bit，因此每个通道有256种取值。三个通道组合就是256×256×256，也就是2的24次方，约1677万种可能的RGB组合。所以24-bit color不是24种颜色，而是一个像素的表示位数是24bit。
转场：下一步，把一个RGB像素具体写成0和1。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页面目的：纯问题页，先让学生预测三个十进制数如何写成二进制。
逐字稿：现在只看一个像素，RGB等于(255,128,0)。问题：如果每个通道都是8bit，那么这三个数各自会写成怎样的二进制？请先试着写，至少判断255应该是什么样。
停顿：让学生尝试。
转场：我们逐个揭示。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页面目的：揭示一个像素的RGB到bits，形成Encoding概念。
逐字稿：255写成8个1，128是10000000，0要写成00000000，因为每个通道固定8位。连起来，概念上的RGB表示就是这三段bits。这里引入编码：编码不是只把东西变成0和1，还包括按约定长度和顺序组织这些值。
追问：真正的图片文件是不是只把这些bits连起来就完了？
转场：我们看一个真实BMP文件。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页面目的：提出文件格式问题，不提前展开padding。
逐字稿：我们已经知道一个像素可以写成bits。但真正的图片文件是不是从第一个像素开始？请看一个真实BMP。问题只有一个：如果像素数据不是从文件开头开始，那么前面的bytes在做什么？
停顿：让学生猜：文件类型、宽高、每像素位数、偏移位置。
转场：看两个证据。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页面目的：展示BM和offset 54，建立文件格式信息概念。
逐字稿：文件开头的42 4D对应BM，说明这是按BMP规则组织的数据。接着，header在0x0A位置有36 00 00 00，老师已提前解码为pixel-data offset等于54bytes。也就是说，真正的像素数组从第54个byte之后开始。前面的bytes不是画面颜色，而是文件标识、宽高、bit数、像素数据位置等格式信息。
转场：知道格式信息后，我们来算未压缩像素值数据量。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页面目的：选择题问题页，选项保持中性，不标正确答案。
逐字稿：现在进入本课最重要的计算。不要急着算完整，请先估计。一张1920×1080、24-bit RGB图片，如果只算未压缩像素值本身，大约多大？四个选项都用同样样式，先投票。
停顿：统计学生选择。
转场：我们按三个问题一步步算。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页面目的：逐步推导Q8答案并标出B。
逐字稿：第一步，像素数是1920×1080，等于2,073,600。第二步，24-bit RGB每像素24bit，也就是3bytes。第三步，乘起来得到6,220,800 bytes，约6.22MB。如果按MiB算约5.93MiB。所以最接近的是B，约6MB。注意，这里算的是未压缩像素值数据量，不是任意图片文件的磁盘大小。
转场：最后做一个快速迁移。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页面目的：迁移题问题页，不提前给出4倍。
逐字稿：原图是800×600，新图是1600×1200，bits per pixel不变。问题：未压缩像素值数据量变成几倍？请先不要算细节，先用直觉判断：是2倍还是4倍？为什么？
停顿：收集预测。
转场：看比例。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页面目的：给出迁移计算。
逐字稿：像素数不是只看宽，也不是只看高，而是宽×高。新旧像素数之比是1600×1200除以800×600，宽方向2倍，高方向2倍，乘起来就是4倍。只要bits per pixel不变，未压缩像素值数据量也变成4倍。
转场：回到开头四张卡片，重新整理图像编码链条。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页面目的：回到开头，形成完整表示链。
逐字稿：我们回到开头四张卡片。现在它们不再是互相竞争的答案，而是表示链中的不同层次。先有像素位置，接着每个位置有颜色值，这些颜色值可以写成数字，最后按约定组织成bits和bytes。请你用一句话解释每一箭头发生了什么：采样决定位置，量化决定可取颜色，编码决定怎样写成和组织成bits/bytes。
预期回答：学生能区分三个环节。
转场：最后留下本课模型。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页面目的：收束全课，留下模型与两个公式。
逐字稿：今天的核心不是背术语，而是理解三件事。Sampling回答在哪里取值、取多少位置；Quantization回答每个位置允许哪些离散值；Encoding回答这些值怎样表示并组织成bits和bytes。计算数据量时先问：像素数是多少？每个像素多少bit？单位怎样换算？这就是从图片到0和1的基本路径。
结束：下一步我们会把这套模型迁移到更多图像文件和压缩情境中。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8368" y="2057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图像编码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658368" y="29718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0808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Sampling · Quantization · Encoding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58368" y="3703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64E1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从一张图片到 pixels、colors、bits 和 bytes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Q0 这四种说法分别在描述图像的哪一层？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965960"/>
            <a:ext cx="2377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BFC8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60120" y="2075688"/>
            <a:ext cx="2103120" cy="740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 0 和 1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3383280" y="3154680"/>
            <a:ext cx="2377440" cy="960120"/>
          </a:xfrm>
          <a:prstGeom prst="roundRect">
            <a:avLst>
              <a:gd name="adj" fmla="val 11429"/>
            </a:avLst>
          </a:prstGeom>
          <a:solidFill>
            <a:srgbClr val="F8F8FC"/>
          </a:solidFill>
          <a:ln w="15240">
            <a:solidFill>
              <a:srgbClr val="D6D0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20440" y="3264408"/>
            <a:ext cx="2103120" cy="740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很多像素 / 小方格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943600" y="1965960"/>
            <a:ext cx="2377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BFC8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2075688"/>
            <a:ext cx="2103120" cy="740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很多数字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8503920" y="3154680"/>
            <a:ext cx="2377440" cy="960120"/>
          </a:xfrm>
          <a:prstGeom prst="roundRect">
            <a:avLst>
              <a:gd name="adj" fmla="val 11429"/>
            </a:avLst>
          </a:prstGeom>
          <a:solidFill>
            <a:srgbClr val="F8F8FC"/>
          </a:solidFill>
          <a:ln w="15240">
            <a:solidFill>
              <a:srgbClr val="D6D0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41080" y="3264408"/>
            <a:ext cx="2103120" cy="740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很多颜色值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1097280" y="512064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先排序，不公布答案：学完后再修改。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 如果显示尺寸一样，为什么这些图片看起来不同？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960120" y="169164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同一张测试图，显示成一样大。</a:t>
            </a:r>
            <a:endParaRPr lang="en-US" sz="2400" dirty="0"/>
          </a:p>
          <a:p>
            <a:pPr algn="l" indent="0" marL="0">
              <a:buNone/>
            </a:pP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预测：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960120" y="3063240"/>
            <a:ext cx="5486400" cy="1325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1. 哪一张能保留最多细节？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2. 8×8 到底表示什么？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3. 低像素数时，最先丢失什么？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7498080" y="2240280"/>
            <a:ext cx="2834640" cy="1645920"/>
          </a:xfrm>
          <a:prstGeom prst="roundRect">
            <a:avLst>
              <a:gd name="adj" fmla="val 6667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2350008"/>
            <a:ext cx="2560320" cy="1426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先预测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再看证据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 证据页 A：像素数量减少，细节怎样变化？</a:t>
            </a:r>
            <a:endParaRPr lang="en-US" sz="3400" dirty="0"/>
          </a:p>
        </p:txBody>
      </p:sp>
      <p:pic>
        <p:nvPicPr>
          <p:cNvPr id="6" name="Image 0" descr="/mnt/data/fix/1-2-encoding/1-2-3-image-encoding/assets/fallback/sampling-25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3200400" cy="3200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855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256×256</a:t>
            </a:r>
            <a:endParaRPr lang="en-US" sz="1400" dirty="0"/>
          </a:p>
        </p:txBody>
      </p:sp>
      <p:pic>
        <p:nvPicPr>
          <p:cNvPr id="8" name="Image 1" descr="/mnt/data/fix/1-2-encoding/1-2-3-image-encoding/assets/fallback/sampling-6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80560" y="1600200"/>
            <a:ext cx="3200400" cy="32004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480560" y="4855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64×64</a:t>
            </a:r>
            <a:endParaRPr lang="en-US" sz="1400" dirty="0"/>
          </a:p>
        </p:txBody>
      </p:sp>
      <p:pic>
        <p:nvPicPr>
          <p:cNvPr id="10" name="Image 2" descr="/mnt/data/fix/1-2-encoding/1-2-3-image-encoding/assets/fallback/sampling-3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1600200"/>
            <a:ext cx="3200400" cy="32004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138160" y="4855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32×32</a:t>
            </a:r>
            <a:endParaRPr lang="en-US" sz="1400" dirty="0"/>
          </a:p>
        </p:txBody>
      </p:sp>
      <p:sp>
        <p:nvSpPr>
          <p:cNvPr id="12" name="Text 6"/>
          <p:cNvSpPr/>
          <p:nvPr/>
        </p:nvSpPr>
        <p:spPr>
          <a:xfrm>
            <a:off x="1005840" y="562356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三图显示尺寸相同：比较的是图像本身的 pixel dimensions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 证据页 B：低到一定程度，结构会难以辨认</a:t>
            </a:r>
            <a:endParaRPr lang="en-US" sz="3400" dirty="0"/>
          </a:p>
        </p:txBody>
      </p:sp>
      <p:pic>
        <p:nvPicPr>
          <p:cNvPr id="6" name="Image 0" descr="/mnt/data/fix/1-2-encoding/1-2-3-image-encoding/assets/fallback/sampling-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00200"/>
            <a:ext cx="3200400" cy="3200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855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32×32</a:t>
            </a:r>
            <a:endParaRPr lang="en-US" sz="1400" dirty="0"/>
          </a:p>
        </p:txBody>
      </p:sp>
      <p:pic>
        <p:nvPicPr>
          <p:cNvPr id="8" name="Image 1" descr="/mnt/data/fix/1-2-encoding/1-2-3-image-encoding/assets/fallback/sampling-1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80560" y="1600200"/>
            <a:ext cx="3200400" cy="32004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480560" y="4855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16×16</a:t>
            </a:r>
            <a:endParaRPr lang="en-US" sz="1400" dirty="0"/>
          </a:p>
        </p:txBody>
      </p:sp>
      <p:pic>
        <p:nvPicPr>
          <p:cNvPr id="10" name="Image 2" descr="/mnt/data/fix/1-2-encoding/1-2-3-image-encoding/assets/fallback/sampling-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1600200"/>
            <a:ext cx="3200400" cy="32004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138160" y="4855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8×8</a:t>
            </a:r>
            <a:endParaRPr lang="en-US" sz="1400" dirty="0"/>
          </a:p>
        </p:txBody>
      </p:sp>
      <p:sp>
        <p:nvSpPr>
          <p:cNvPr id="12" name="Shape 6"/>
          <p:cNvSpPr/>
          <p:nvPr/>
        </p:nvSpPr>
        <p:spPr>
          <a:xfrm>
            <a:off x="2286000" y="5532120"/>
            <a:ext cx="7589520" cy="502920"/>
          </a:xfrm>
          <a:prstGeom prst="roundRect">
            <a:avLst>
              <a:gd name="adj" fmla="val 29091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3" name="Text 7"/>
          <p:cNvSpPr/>
          <p:nvPr/>
        </p:nvSpPr>
        <p:spPr>
          <a:xfrm>
            <a:off x="2286000" y="5568696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Sampling：在哪里取值？取多少个位置？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Q2 分辨率越高，图像一定越清晰吗？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2011680" y="210312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148840" y="2212848"/>
            <a:ext cx="7863840" cy="11521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1920×1080 的图片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一定比 800×600 更清晰？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3474720" y="38862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8C64E1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先判断，再看反例。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Q2 反例：像素数更高，也可能更模糊</a:t>
            </a:r>
            <a:endParaRPr lang="en-US" sz="3400" dirty="0"/>
          </a:p>
        </p:txBody>
      </p:sp>
      <p:pic>
        <p:nvPicPr>
          <p:cNvPr id="6" name="Image 0" descr="/mnt/data/fix/1-2-encoding/1-2-3-image-encoding/assets/fallback/q2-high-pixels-bl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508760"/>
            <a:ext cx="4846320" cy="2743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30682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1920×1080 · 高像素数但模糊</a:t>
            </a:r>
            <a:endParaRPr lang="en-US" sz="1400" dirty="0"/>
          </a:p>
        </p:txBody>
      </p:sp>
      <p:pic>
        <p:nvPicPr>
          <p:cNvPr id="8" name="Image 1" descr="/mnt/data/fix/1-2-encoding/1-2-3-image-encoding/assets/fallback/q2-low-pixels-shar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1508760"/>
            <a:ext cx="4114800" cy="2743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0" y="430682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800×600 · 较低像素数但清晰</a:t>
            </a:r>
            <a:endParaRPr lang="en-US" sz="1400" dirty="0"/>
          </a:p>
        </p:txBody>
      </p:sp>
      <p:sp>
        <p:nvSpPr>
          <p:cNvPr id="10" name="Shape 5"/>
          <p:cNvSpPr/>
          <p:nvPr/>
        </p:nvSpPr>
        <p:spPr>
          <a:xfrm>
            <a:off x="1371600" y="5303520"/>
            <a:ext cx="9601200" cy="566928"/>
          </a:xfrm>
          <a:prstGeom prst="roundRect">
            <a:avLst>
              <a:gd name="adj" fmla="val 25806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1371600" y="5340096"/>
            <a:ext cx="96012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结论：Resolution 不是图像质量的唯一决定因素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Q3 像素数量完全一样，红绿接缝还会一直看得见吗？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68680" y="173736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条件：pixel dimensions 不变。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只限制整幅图最多出现的颜色总数。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675120" y="1965960"/>
            <a:ext cx="37490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12280" y="2075688"/>
            <a:ext cx="3474720" cy="11978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红绿接缝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会一直看得见吗？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Q3 先看图：颜色种数减少，画面怎样变？</a:t>
            </a:r>
            <a:endParaRPr lang="en-US" sz="3400" dirty="0"/>
          </a:p>
        </p:txBody>
      </p:sp>
      <p:pic>
        <p:nvPicPr>
          <p:cNvPr id="6" name="Image 0" descr="/mnt/data/fix/1-2-encoding/1-2-3-image-encoding/assets/fallback/quant-origi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508760"/>
            <a:ext cx="2971800" cy="2971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4535424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原图</a:t>
            </a:r>
            <a:endParaRPr lang="en-US" sz="1400" dirty="0"/>
          </a:p>
        </p:txBody>
      </p:sp>
      <p:pic>
        <p:nvPicPr>
          <p:cNvPr id="8" name="Image 1" descr="/mnt/data/fix/1-2-encoding/1-2-3-image-encoding/assets/fallback/quant-1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17720" y="1508760"/>
            <a:ext cx="2971800" cy="2971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617720" y="4535424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最多 16 colors</a:t>
            </a:r>
            <a:endParaRPr lang="en-US" sz="1400" dirty="0"/>
          </a:p>
        </p:txBody>
      </p:sp>
      <p:pic>
        <p:nvPicPr>
          <p:cNvPr id="10" name="Image 2" descr="/mnt/data/fix/1-2-encoding/1-2-3-image-encoding/assets/fallback/quant-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1508760"/>
            <a:ext cx="2971800" cy="29718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366760" y="4535424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最多 2 colors</a:t>
            </a:r>
            <a:endParaRPr lang="en-US" sz="1400" dirty="0"/>
          </a:p>
        </p:txBody>
      </p:sp>
      <p:sp>
        <p:nvSpPr>
          <p:cNvPr id="12" name="Text 6"/>
          <p:cNvSpPr/>
          <p:nvPr/>
        </p:nvSpPr>
        <p:spPr>
          <a:xfrm>
            <a:off x="1463040" y="5532120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此页只看图像现象，不先公布 RGB 数值。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Q3 再看证据：接缝两侧的 RGB 是否相同？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05840" y="1600200"/>
            <a:ext cx="10149840" cy="713232"/>
          </a:xfrm>
          <a:prstGeom prst="rect">
            <a:avLst/>
          </a:prstGeom>
          <a:solidFill>
            <a:srgbClr val="F0ECFF"/>
          </a:solidFill>
          <a:ln w="10160">
            <a:solidFill>
              <a:srgbClr val="D7D7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72821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版本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017520" y="172821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left (72,40)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577840" y="172821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right (73,40)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321040" y="172821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是否相同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005840" y="2377440"/>
            <a:ext cx="10149840" cy="713232"/>
          </a:xfrm>
          <a:prstGeom prst="rect">
            <a:avLst/>
          </a:prstGeom>
          <a:solidFill>
            <a:srgbClr val="FFFFFF"/>
          </a:solidFill>
          <a:ln w="10160">
            <a:solidFill>
              <a:srgbClr val="D7D7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25054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16 colors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017520" y="25054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(255, 0, 0)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577840" y="25054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(0, 255, 0)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321040" y="25054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不同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005840" y="3154680"/>
            <a:ext cx="10149840" cy="713232"/>
          </a:xfrm>
          <a:prstGeom prst="rect">
            <a:avLst/>
          </a:prstGeom>
          <a:solidFill>
            <a:srgbClr val="FFF1F1"/>
          </a:solidFill>
          <a:ln w="10160">
            <a:solidFill>
              <a:srgbClr val="D7D7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328269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 colors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017520" y="328269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(71, 42, 71)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577840" y="328269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(71, 42, 71)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21040" y="328269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相同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2057400" y="4846320"/>
            <a:ext cx="7955280" cy="502920"/>
          </a:xfrm>
          <a:prstGeom prst="roundRect">
            <a:avLst>
              <a:gd name="adj" fmla="val 29091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057400" y="4882896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Quantization：每个位置允许哪些离散颜色值？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Q4 如果只允许 16 种颜色，最少需要几 bit 给它们编号？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68680" y="160020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假设：给 16 种颜色各分配一个不同的、固定长度的二进制标签。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291840" y="2743200"/>
            <a:ext cx="54864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29000" y="2852928"/>
            <a:ext cx="5212080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最少需要几 bit？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1737360" y="425196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 bit 够不够？    3 bit 呢？    4 bit 为什么刚好够？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Q4 证据：bit 数决定可表示状态数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417320"/>
            <a:ext cx="22860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60120" y="1527048"/>
            <a:ext cx="2011680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1 bit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2240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2834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0  1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657600" y="1417320"/>
            <a:ext cx="22860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794760" y="1527048"/>
            <a:ext cx="2011680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2 bits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657600" y="2240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4 states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57600" y="2834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00  01  10  11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22860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29400" y="1527048"/>
            <a:ext cx="2011680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3 bits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492240" y="2240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8 states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492240" y="2834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还不够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326880" y="1417320"/>
            <a:ext cx="2286000" cy="594360"/>
          </a:xfrm>
          <a:prstGeom prst="roundRect">
            <a:avLst>
              <a:gd name="adj" fmla="val 18462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64040" y="1527048"/>
            <a:ext cx="2011680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4 bits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326880" y="2240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C64E1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16 states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326880" y="2834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刚好够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291840" y="4937760"/>
            <a:ext cx="5577840" cy="640080"/>
          </a:xfrm>
          <a:prstGeom prst="roundRect">
            <a:avLst>
              <a:gd name="adj" fmla="val 22857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291840" y="4974336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可表示状态数 = 2^b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Q5 “24-bit color” 是 24 种颜色吗？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920240" y="155448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057400" y="166420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A. 24 种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920240" y="233172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057400" y="244144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B. 256 种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920240" y="310896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57400" y="321868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C. 2^24 种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920240" y="388620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57400" y="399592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D. 现在还不能确定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38328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8C64E1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先投票，不公布答案。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Q5 RGB：24 bit 是 8 + 8 + 8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143000" y="164592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FFF3F3"/>
          </a:solidFill>
          <a:ln w="15240">
            <a:solidFill>
              <a:srgbClr val="E28C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0160" y="1755648"/>
            <a:ext cx="2468880" cy="11978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R: 8 bits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0..255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709160" y="164592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F3FFF3"/>
          </a:solidFill>
          <a:ln w="15240">
            <a:solidFill>
              <a:srgbClr val="8ED38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46320" y="1755648"/>
            <a:ext cx="2468880" cy="11978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G: 8 bits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0..255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8275320" y="164592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F3F5FF"/>
          </a:solidFill>
          <a:ln w="15240">
            <a:solidFill>
              <a:srgbClr val="8CA0E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412480" y="1755648"/>
            <a:ext cx="2468880" cy="11978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B: 8 bits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0..255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2560320" y="3749040"/>
            <a:ext cx="7040880" cy="566928"/>
          </a:xfrm>
          <a:prstGeom prst="roundRect">
            <a:avLst>
              <a:gd name="adj" fmla="val 25806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60320" y="3785616"/>
            <a:ext cx="70408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8 + 8 + 8 = 24 bits / pixel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2194560" y="4709160"/>
            <a:ext cx="7772400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5240">
            <a:solidFill>
              <a:srgbClr val="007C9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94560" y="4745736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7C9B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256^3 = 2^24 = 16,777,216</a:t>
            </a:r>
            <a:endParaRPr lang="en-US" sz="2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Q6 一个 RGB 像素怎样变成 0 和 1？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2834640" y="1965960"/>
            <a:ext cx="6492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971800" y="2075688"/>
            <a:ext cx="6217920" cy="6949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RGB = (255, 128, 0)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743200" y="333756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每个通道 8 bits。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先写出 R、G、B 三个二进制值。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Q6 证据：RGB 数值按约定写成 bits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71600" y="1508760"/>
            <a:ext cx="914400" cy="594360"/>
          </a:xfrm>
          <a:prstGeom prst="roundRect">
            <a:avLst>
              <a:gd name="adj" fmla="val 18462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508760" y="1618488"/>
            <a:ext cx="640080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R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743200" y="1600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255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4754880" y="1600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9B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11111111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1371600" y="2377440"/>
            <a:ext cx="914400" cy="594360"/>
          </a:xfrm>
          <a:prstGeom prst="roundRect">
            <a:avLst>
              <a:gd name="adj" fmla="val 18462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508760" y="2487168"/>
            <a:ext cx="640080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G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743200" y="2468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128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54880" y="2468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9B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10000000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1371600" y="3246120"/>
            <a:ext cx="914400" cy="594360"/>
          </a:xfrm>
          <a:prstGeom prst="roundRect">
            <a:avLst>
              <a:gd name="adj" fmla="val 18462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508760" y="3355848"/>
            <a:ext cx="640080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274320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0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4754880" y="3337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9B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00000000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1280160" y="4800600"/>
            <a:ext cx="9692640" cy="566928"/>
          </a:xfrm>
          <a:prstGeom prst="roundRect">
            <a:avLst>
              <a:gd name="adj" fmla="val 25806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80160" y="4837176"/>
            <a:ext cx="969264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Encoding：把量化后的数值按约定表示并组织成 bits / bytes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Q7 真实 BMP 文件中，像素数据之前有什么？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097280" y="192024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真实文件：assets/q7-3x2-24bit.bmp</a:t>
            </a:r>
            <a:endParaRPr lang="en-US" sz="2600" dirty="0"/>
          </a:p>
          <a:p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问题：pixel data 之前为什么还有一段 bytes？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Q7 证据：BMP header 告诉软件怎样解释数据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691640"/>
            <a:ext cx="4206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34440" y="1801368"/>
            <a:ext cx="3931920" cy="6949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42 4D  →  "BM"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400800" y="1417320"/>
            <a:ext cx="4480560" cy="1920240"/>
          </a:xfrm>
          <a:prstGeom prst="roundRect">
            <a:avLst>
              <a:gd name="adj" fmla="val 5714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37960" y="1527048"/>
            <a:ext cx="4206240" cy="17007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header bytes at 0x0A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36 00 00 00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↓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pixel-data offset = 54 bytes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788920" y="4800600"/>
            <a:ext cx="6583680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5240">
            <a:solidFill>
              <a:srgbClr val="007C9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88920" y="4837176"/>
            <a:ext cx="658368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C9B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pixel values ≠ whole image file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Q8 1920×1080、24-bit RGB，不压缩需要多大？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920240" y="155448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057400" y="166420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A. 约 2 MB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920240" y="233172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057400" y="244144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B. 约 6 MB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1920240" y="310896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57400" y="321868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C. 约 24 MB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1920240" y="388620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57400" y="399592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D. 约 48 MB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1920240" y="51663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0808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先估计：像素数？每像素多少 bytes？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Q8 计算：先算像素，再算每像素 bytes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005840" y="1417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1920 × 1080 = 2,073,600 pixels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24 bits / pixel = 3 bytes / pixel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005840" y="28803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C64E1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2,073,600 × 3 = 6,220,800 bytes ≈ 6.22 MB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657600" y="4160520"/>
            <a:ext cx="4846320" cy="777240"/>
          </a:xfrm>
          <a:prstGeom prst="roundRect">
            <a:avLst>
              <a:gd name="adj" fmla="val 14118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94760" y="4270248"/>
            <a:ext cx="4572000" cy="5577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B. 约 6 MB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1463040" y="5577840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计算的是 pixel value data，不自动等于具体文件大小。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Q9 宽和高都变成 2 倍，数据量变成几倍？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2011680" y="164592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原图：800 × 600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新图：1600 × 1200</a:t>
            </a:r>
            <a:endParaRPr lang="en-US" sz="2600" dirty="0"/>
          </a:p>
          <a:p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bits per pixel 不变。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766560" y="2148840"/>
            <a:ext cx="33832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903720" y="2258568"/>
            <a:ext cx="3108960" cy="877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变成几倍？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Q9 答案：二维方向都翻倍，所以是 4 倍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371600" y="1920240"/>
            <a:ext cx="94183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C64E1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(1600 × 1200) / (800 × 600) = 4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2743200" y="3200400"/>
            <a:ext cx="6675120" cy="594360"/>
          </a:xfrm>
          <a:prstGeom prst="roundRect">
            <a:avLst>
              <a:gd name="adj" fmla="val 24615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0" y="3236976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宽 ×2，高 ×2 → 像素总数 ×4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463040" y="466344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62626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bits per pixel 不变，因此未压缩像素值数据量也 ×4。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Q12 回看 Q0：四种说法现在怎样排序？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777240" y="2148840"/>
            <a:ext cx="2240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258568"/>
            <a:ext cx="196596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像素位置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017520" y="2560320"/>
            <a:ext cx="41148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566160" y="2148840"/>
            <a:ext cx="2240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03320" y="2258568"/>
            <a:ext cx="196596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颜色值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806440" y="2560320"/>
            <a:ext cx="41148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48840"/>
            <a:ext cx="2240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92240" y="2258568"/>
            <a:ext cx="196596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数字表示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595360" y="2560320"/>
            <a:ext cx="41148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9144000" y="2148840"/>
            <a:ext cx="2240280" cy="822960"/>
          </a:xfrm>
          <a:prstGeom prst="roundRect">
            <a:avLst>
              <a:gd name="adj" fmla="val 13333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281160" y="2258568"/>
            <a:ext cx="196596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bits / bytes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1097280" y="397764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C64E1"/>
                </a:solidFill>
                <a:latin typeface="Alibaba PuHuiTi 3.0 55 Regular" pitchFamily="34" charset="0"/>
                <a:ea typeface="Alibaba PuHuiTi 3.0 55 Regular" pitchFamily="34" charset="-122"/>
                <a:cs typeface="Alibaba PuHuiTi 3.0 55 Regular" pitchFamily="34" charset="-120"/>
              </a:rPr>
              <a:t>Sampling → Quantization → Encoding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56502"/>
            <a:ext cx="12191695" cy="101498"/>
          </a:xfrm>
          <a:prstGeom prst="rect">
            <a:avLst/>
          </a:prstGeom>
          <a:solidFill>
            <a:srgbClr val="6251B1"/>
          </a:solidFill>
          <a:ln w="12700">
            <a:solidFill>
              <a:srgbClr val="6251B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8076" y="50292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2626"/>
                </a:solidFill>
                <a:latin typeface="Alibaba PuHuiTi 3.0 115 Black" pitchFamily="34" charset="0"/>
                <a:ea typeface="Alibaba PuHuiTi 3.0 115 Black" pitchFamily="34" charset="-122"/>
                <a:cs typeface="Alibaba PuHuiTi 3.0 115 Black" pitchFamily="34" charset="-120"/>
              </a:rPr>
              <a:t>最终模型：图像编码是一条表示链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508760"/>
            <a:ext cx="2194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7D7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60120" y="1618488"/>
            <a:ext cx="1920240" cy="740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626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现实图像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017520" y="1993392"/>
            <a:ext cx="59436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657600" y="1508760"/>
            <a:ext cx="2194560" cy="960120"/>
          </a:xfrm>
          <a:prstGeom prst="roundRect">
            <a:avLst>
              <a:gd name="adj" fmla="val 11429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94760" y="1618488"/>
            <a:ext cx="1920240" cy="740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Sampling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位置数量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852160" y="1993392"/>
            <a:ext cx="59436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492240" y="1508760"/>
            <a:ext cx="2194560" cy="960120"/>
          </a:xfrm>
          <a:prstGeom prst="roundRect">
            <a:avLst>
              <a:gd name="adj" fmla="val 11429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29400" y="1618488"/>
            <a:ext cx="1920240" cy="740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Quantization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离散颜色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686800" y="1993392"/>
            <a:ext cx="59436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9326880" y="1508760"/>
            <a:ext cx="2194560" cy="960120"/>
          </a:xfrm>
          <a:prstGeom prst="roundRect">
            <a:avLst>
              <a:gd name="adj" fmla="val 11429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64040" y="1618488"/>
            <a:ext cx="1920240" cy="740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Encoding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bits / bytes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920240" y="3657600"/>
            <a:ext cx="2743200" cy="502920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15240">
            <a:solidFill>
              <a:srgbClr val="007C9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920240" y="369417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C9B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像素数 = W × H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4937760" y="3657600"/>
            <a:ext cx="5212080" cy="502920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15240">
            <a:solidFill>
              <a:srgbClr val="007C9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37760" y="3694176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C9B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像素值数据量 = W × H × b bits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3200400" y="4663440"/>
            <a:ext cx="5760720" cy="502920"/>
          </a:xfrm>
          <a:prstGeom prst="roundRect">
            <a:avLst>
              <a:gd name="adj" fmla="val 29091"/>
            </a:avLst>
          </a:prstGeom>
          <a:solidFill>
            <a:srgbClr val="F7F4FF"/>
          </a:solidFill>
          <a:ln w="15240">
            <a:solidFill>
              <a:srgbClr val="8C64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00400" y="4700016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C64E1"/>
                </a:solidFill>
                <a:latin typeface="Alibaba PuHuiTi 3.0 85 Bold" pitchFamily="34" charset="0"/>
                <a:ea typeface="Alibaba PuHuiTi 3.0 85 Bold" pitchFamily="34" charset="-122"/>
                <a:cs typeface="Alibaba PuHuiTi 3.0 85 Bold" pitchFamily="34" charset="-120"/>
              </a:rPr>
              <a:t>24-bit RGB：W × H × 3 bytes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libaba PuHuiTi 3.0 55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shtick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1-2-3 图像编码</dc:title>
  <dc:subject>图像编码</dc:subject>
  <dc:creator>OpenAI</dc:creator>
  <cp:lastModifiedBy>OpenAI</cp:lastModifiedBy>
  <cp:revision>1</cp:revision>
  <dcterms:created xsi:type="dcterms:W3CDTF">2026-09-29T02:11:32Z</dcterms:created>
  <dcterms:modified xsi:type="dcterms:W3CDTF">2026-09-29T02:11:32Z</dcterms:modified>
</cp:coreProperties>
</file>
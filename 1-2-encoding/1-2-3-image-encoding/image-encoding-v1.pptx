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【页面目的】建立本节课主题：数字图像并不是电脑里的一张“小照片”，而是一组经过采样、量化、编码的数据。
【逐字稿】今天我们研究“图像编码”。我们会用一张图片作为线索，看它怎样一步步变成像素、颜色值、二进制位和文件里的字节。请先不要急着背定义，今天每个概念都会从一个能观察的现象开始。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【页面目的】用四张打乱的卡片引出“层次”而不是单选答案。
【逐字稿】先看这四种说法：很多0和1、很多像素、很多数字、很多颜色值。它们不是简单地谁对谁错，而可能是在描述不同层次。请你先把它们排一个从“看到的图片”到“计算机保存”的顺序。先不要追求标准答案，后面我们会回到这页修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【页面目的】让学生先预测分辨率变化会让哪些细节消失。
【逐字稿】下面这组图在屏幕上会显示成一样大的方形，但它们内部真正包含的像素数量不同。先预测：哪一张最能保留细节？低像素数时最先丢失什么？请你先说一个具体位置，比如圆、斜线、细条纹或色块。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【页面目的】第一组证据只比较 256、64、32，让学生描述细节如何减少。
【逐字稿】现在只看第一组：256、64、32。注意三张图在屏幕上的显示尺寸是一样的。请先不要下定义，先描述现象：圆的边缘、斜线、细条纹分别发生了什么？32×32 和 256×256 相比，最明显少了什么？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【页面目的】第二组证据继续向低像素数推进，但暂不写出概念结论。
【逐字稿】现在看第二组。32×32 会在两页都出现，它是我们的视觉锚点。请比较 32、16、8：细节是逐步变少，还是突然消失？8×8 还能不能认出圆和斜线？请用现象回答，不要先背“采样”这个词。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【页面目的】在学生描述之后，引出 Sampling 和本课中的 Resolution。
【逐字稿】刚才我们看到，显示大小没变，但图像内部用来描述同一场景的位置数量变了。这个过程叫 Sampling，采样就是在空间中取哪些位置、取多少位置。本课说的 resolution，主要指宽×高的像素尺寸。请注意：放大显示不会把丢失的细节找回来。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【页面目的】制造“高像素数不等于一定清晰”的认知冲突。
【逐字稿】很多人会自然觉得，像素越多就一定越清晰。请你先判断：1600×1200 的图片一定比 800×600 更清晰吗？注意，我问的是“一定”。请先投票，然后说一个理由。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【页面目的】先只展示反例证据，不提前显示结论。
【逐字稿】现在看同一场景、同样4:3构图的两张图。左边像素数更高，但做了 Gaussian blur 模拟；右边像素数较低，但没有模糊。先只描述你看到的：哪张更容易看清边缘和细节？像素数和清晰度是否在这里完全一致？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【页面目的】揭示 Q2 的条件性结论。
【逐字稿】现在可以收束：更多像素位置通常能保留更多空间细节，但只有在表示同一场景、同一范围，而且其他条件相同时才成立。这里故意让高像素图变模糊，所以它不是更清晰。清晰度还会受到镜头、对焦、噪声、压缩等因素影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【页面目的】让学生先预测量化是否会让颜色边界消失。
【逐字稿】接下来像素数量不变，图像仍然是 256×256。我们只限制整幅图最多允许出现多少种颜色。请先预测：红色和绿色本来紧贴在一起，当颜色种数越来越少时，这条接缝会一直看得见吗？为什么？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【页面目的】先看图像现象，不先公布 RGB 数值。
【逐字稿】先只看图。三张图的像素尺寸都是 256×256。原图、最多16种颜色、最多2种颜色。请关注红绿接缝：16种颜色时看起来怎样？2种颜色时又怎样？先用肉眼观察说理由。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【页面目的】在学生观察后揭示接缝两侧的数值证据。
【逐字稿】现在我们不只看图，而是检查接缝两侧两个像素的 RGB 值。16 colors 时左边和右边不同，所以边界仍由颜色差异支撑；2 colors 时两侧变成相同值，所以这条依靠颜色差异形成的边界就消失了。注意，像素位置没有减少，变的是每个位置允许取的颜色值。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【页面目的】让学生从状态数量反推 bit 数，问题页不泄露“4 bit”。
【逐字稿】刚才我们看到颜色种数减少会改变画面，但还没有讨论文件到底怎样保存。现在先做一个纯编号问题：如果只有16种颜色，需要给每种颜色分配一个不同的固定长度二进制标签。2 bit 够吗？3 bit 够吗？我们怎样判断？先不要喊公式，请先列出能表示多少种状态。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【页面目的】揭示 1、2、3、4 bit 的状态数量，形成 2^b 模型。
【逐字稿】1 bit 只有2种状态，2 bit 有4种，3 bit 有8种，都不够给16种颜色编号。4 bit 有16种状态，刚好够。这里得到的是一个可能的固定长度标签方案，不等于我们已经证明图像文件真的采用4 bits per pixel。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【页面目的】让学生先判断 24-bit 的含义，再揭示 RGB 三通道模型。
【逐字稿】现在看一个容易错的问题：“24-bit color”是不是24种颜色？先投票。A 24种，B 256种，C 2的24次方，D 现在还不能确定。请不要只报答案，要说你把“24”理解成了什么。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【页面目的】通过 8+8+8 推导 2^24。
【逐字稿】常见 24-bit RGB 是三个通道：R、G、B。每个通道8 bits，所以每个通道有256种取值。三个通道组合，就是256乘256乘256，也就是2的24次方。24描述的是每个像素用了多少bit，不是颜色数量本身。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【页面目的】让学生把 RGB 数值与 8-bit binary 联系起来。
【逐字稿】我们选一个像素 RGB=(255,128,0)。先预测，不要马上算：255、128、0 写成8位二进制分别可能是什么？至少请先判断：255是不是全1？128是不是只有最高位是1？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【页面目的】揭示三个通道的二进制表示，并引出 encoding。
【逐字稿】255 是 11111111，128 是 10000000，0 是 00000000。把这些按照约定组合起来，就得到这个像素的一串 bits。这里的关键词是 Encoding：把量化后的数值按约定表示并组织成 bits 或 bytes。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【页面目的】用真实 BMP header 证明文件不只是像素值。
【逐字稿】现在看一个真实的 3×2、24-bit BMP 文件。问题是：如果像素值是图像内容，为什么 pixel data 之前还会有一段 bytes？这些 bytes 可能告诉软件什么？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【页面目的】显示 BM 标识和 pixel-data offset，不讲完整 BMP 规范。
【逐字稿】文件开头 42 4D 对应 BM，说明这是按照 BMP 规则组织的文件。header 里 0x0A 位置的 36 00 00 00，教师已经预先解码为 offset 54。意思是像素数据从 offset 54 开始；按零起算，这是第 55 个 byte。因此前面的 bytes 是格式信息：告诉软件如何解释后面的像素。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【页面目的】正式练习本节最重要的图像数据量计算。
【逐字稿】现在进入最重要的计算。1920×1080、24-bit RGB，不压缩的像素值数据大约多大？先凭直觉选 A、B、C、D。先不要抢算，我们马上按三步推导。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【页面目的】三步推导 Q8 答案。
【逐字稿】第一步，像素数是 1920×1080，得到 2,073,600。第二步，24-bit RGB 表示每个像素 24 bits，也就是 3 bytes。第三步，相乘得到 6,220,800 bytes，约 6.22 MB。所以最接近的是 B。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【页面目的】检查学生是否理解像素总数是二维乘积。
【逐字稿】最后做一个快问。原图800×600，新图1600×1200，bits per pixel 不变。数据量是2倍还是4倍？请先预测，再说理由。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【页面目的】揭示宽高同时翻倍时像素数变为 4 倍。
【逐字稿】宽变为2倍，高也变为2倍，像素总数是宽乘高，所以总像素数变成 2×2=4 倍。如果每个像素的 bits 不变，未压缩像素值数据量也变成4倍。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【页面目的】回到 Q0，不提前显示正确链条，让学生先修正自己的初始模型。
【逐字稿】现在回到第一张卡片。请你重新排序：像素、小方格，颜色值，数字，0和1。注意，我们不是在找唯一的一句话，而是在解释一层到下一层发生了什么转换。先用自己的话排，再说理由。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【页面目的】揭示完整学习模型，完成课堂收束。
【逐字稿】可以这样理解：先是像素位置，也就是采样；每个位置要有颜色值，也就是量化后的离散值；这些颜色值可以写成数字；最后数字要按照编码规则组织成 bits 和 bytes。请把今天三个关键词连起来：Sampling 决定在哪里取多少位置，Quantization 决定每个位置允许哪些值，Encoding 决定这些值怎样进入计算机存储。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Alibaba PuHuiTi 3.0 115 Black"/>
          <a:ea typeface="Alibaba PuHuiTi 3.0 115 Black"/>
          <a:cs typeface="Alibaba PuHuiTi 3.0 115 Black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Alibaba PuHuiTi 3.0 55 Regular"/>
          <a:ea typeface="Alibaba PuHuiTi 3.0 55 Regular"/>
          <a:cs typeface="Alibaba PuHuiTi 3.0 55 Regular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Alibaba PuHuiTi 3.0 55 Regular"/>
          <a:ea typeface="Alibaba PuHuiTi 3.0 55 Regular"/>
          <a:cs typeface="Alibaba PuHuiTi 3.0 55 Regular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Alibaba PuHuiTi 3.0 55 Regular"/>
          <a:ea typeface="Alibaba PuHuiTi 3.0 55 Regular"/>
          <a:cs typeface="Alibaba PuHuiTi 3.0 55 Regular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Alibaba PuHuiTi 3.0 55 Regular"/>
          <a:ea typeface="Alibaba PuHuiTi 3.0 55 Regular"/>
          <a:cs typeface="Alibaba PuHuiTi 3.0 55 Regular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Alibaba PuHuiTi 3.0 55 Regular"/>
          <a:ea typeface="Alibaba PuHuiTi 3.0 55 Regular"/>
          <a:cs typeface="Alibaba PuHuiTi 3.0 55 Regular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Alibaba PuHuiTi 3.0 55 Regular"/>
          <a:ea typeface="Alibaba PuHuiTi 3.0 55 Regular"/>
          <a:cs typeface="Alibaba PuHuiTi 3.0 55 Regular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Alibaba PuHuiTi 3.0 55 Regular"/>
          <a:ea typeface="Alibaba PuHuiTi 3.0 55 Regular"/>
          <a:cs typeface="Alibaba PuHuiTi 3.0 55 Regular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Alibaba PuHuiTi 3.0 55 Regular"/>
          <a:ea typeface="Alibaba PuHuiTi 3.0 55 Regular"/>
          <a:cs typeface="Alibaba PuHuiTi 3.0 55 Regular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Alibaba PuHuiTi 3.0 55 Regular"/>
          <a:ea typeface="Alibaba PuHuiTi 3.0 55 Regular"/>
          <a:cs typeface="Alibaba PuHuiTi 3.0 55 Regular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Alibaba PuHuiTi 3.0 55 Regular"/>
          <a:ea typeface="Alibaba PuHuiTi 3.0 55 Regular"/>
          <a:cs typeface="Alibaba PuHuiTi 3.0 55 Regular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Alibaba PuHuiTi 3.0 55 Regular"/>
          <a:ea typeface="Alibaba PuHuiTi 3.0 55 Regular"/>
          <a:cs typeface="Alibaba PuHuiTi 3.0 55 Regular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Alibaba PuHuiTi 3.0 55 Regular"/>
          <a:ea typeface="Alibaba PuHuiTi 3.0 55 Regular"/>
          <a:cs typeface="Alibaba PuHuiTi 3.0 55 Regular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Alibaba PuHuiTi 3.0 55 Regular"/>
          <a:ea typeface="Alibaba PuHuiTi 3.0 55 Regular"/>
          <a:cs typeface="Alibaba PuHuiTi 3.0 55 Regular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Alibaba PuHuiTi 3.0 55 Regular"/>
          <a:ea typeface="Alibaba PuHuiTi 3.0 55 Regular"/>
          <a:cs typeface="Alibaba PuHuiTi 3.0 55 Regular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Alibaba PuHuiTi 3.0 55 Regular"/>
          <a:ea typeface="Alibaba PuHuiTi 3.0 55 Regular"/>
          <a:cs typeface="Alibaba PuHuiTi 3.0 55 Regular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Alibaba PuHuiTi 3.0 55 Regular"/>
          <a:ea typeface="Alibaba PuHuiTi 3.0 55 Regular"/>
          <a:cs typeface="Alibaba PuHuiTi 3.0 55 Regular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Alibaba PuHuiTi 3.0 55 Regular"/>
          <a:ea typeface="Alibaba PuHuiTi 3.0 55 Regular"/>
          <a:cs typeface="Alibaba PuHuiTi 3.0 55 Regular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Alibaba PuHuiTi 3.0 55 Regular"/>
          <a:ea typeface="Alibaba PuHuiTi 3.0 55 Regular"/>
          <a:cs typeface="Alibaba PuHuiTi 3.0 55 Regular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</p:sp>
      <p:sp>
        <p:nvSpPr>
          <p:cNvPr id="3" name="Shape 1"/>
          <p:cNvSpPr/>
          <p:nvPr/>
        </p:nvSpPr>
        <p:spPr>
          <a:xfrm>
            <a:off x="0" y="6756400"/>
            <a:ext cx="12192000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</p:sp>
      <p:sp>
        <p:nvSpPr>
          <p:cNvPr id="4" name="Text 2"/>
          <p:cNvSpPr/>
          <p:nvPr/>
        </p:nvSpPr>
        <p:spPr>
          <a:xfrm>
            <a:off x="1920240" y="224028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图像编码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1920240" y="31546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dirty="0">
                <a:solidFill>
                  <a:srgbClr val="808080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Sampling · Quantization · Encoding</a:t>
            </a:r>
            <a:endParaRPr lang="en-US" sz="3700" dirty="0"/>
          </a:p>
        </p:txBody>
      </p:sp>
      <p:sp>
        <p:nvSpPr>
          <p:cNvPr id="6" name="Text 4"/>
          <p:cNvSpPr/>
          <p:nvPr/>
        </p:nvSpPr>
        <p:spPr>
          <a:xfrm>
            <a:off x="1920240" y="370332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66666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从一张图片到 pixels、colors、bits 和 bytes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</p:sp>
      <p:sp>
        <p:nvSpPr>
          <p:cNvPr id="3" name="Shape 1"/>
          <p:cNvSpPr/>
          <p:nvPr/>
        </p:nvSpPr>
        <p:spPr>
          <a:xfrm>
            <a:off x="0" y="6756400"/>
            <a:ext cx="12192000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</p:sp>
      <p:sp>
        <p:nvSpPr>
          <p:cNvPr id="4" name="Text 2"/>
          <p:cNvSpPr/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Q0 这四种说法分别在描述图像的哪一层？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822960" y="2377440"/>
            <a:ext cx="2331720" cy="1005840"/>
          </a:xfrm>
          <a:prstGeom prst="roundRect">
            <a:avLst>
              <a:gd name="adj" fmla="val 7273"/>
            </a:avLst>
          </a:prstGeom>
          <a:solidFill>
            <a:srgbClr val="F5F3FF"/>
          </a:solidFill>
          <a:ln w="19050">
            <a:solidFill>
              <a:srgbClr val="6251B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96112" y="2432304"/>
            <a:ext cx="2185416" cy="8961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很多 0 和 1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3474720" y="2377440"/>
            <a:ext cx="2331720" cy="1005840"/>
          </a:xfrm>
          <a:prstGeom prst="roundRect">
            <a:avLst>
              <a:gd name="adj" fmla="val 7273"/>
            </a:avLst>
          </a:prstGeom>
          <a:solidFill>
            <a:srgbClr val="F8F9FC"/>
          </a:solidFill>
          <a:ln w="19050">
            <a:solidFill>
              <a:srgbClr val="6251B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547872" y="2432304"/>
            <a:ext cx="2185416" cy="8961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很多像素 / 小方格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6126480" y="2377440"/>
            <a:ext cx="2331720" cy="1005840"/>
          </a:xfrm>
          <a:prstGeom prst="roundRect">
            <a:avLst>
              <a:gd name="adj" fmla="val 7273"/>
            </a:avLst>
          </a:prstGeom>
          <a:solidFill>
            <a:srgbClr val="F5F3FF"/>
          </a:solidFill>
          <a:ln w="19050">
            <a:solidFill>
              <a:srgbClr val="6251B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199632" y="2432304"/>
            <a:ext cx="2185416" cy="8961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很多数字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8778240" y="2377440"/>
            <a:ext cx="2331720" cy="1005840"/>
          </a:xfrm>
          <a:prstGeom prst="roundRect">
            <a:avLst>
              <a:gd name="adj" fmla="val 7273"/>
            </a:avLst>
          </a:prstGeom>
          <a:solidFill>
            <a:srgbClr val="F8F9FC"/>
          </a:solidFill>
          <a:ln w="19050">
            <a:solidFill>
              <a:srgbClr val="6251B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51392" y="2432304"/>
            <a:ext cx="2185416" cy="8961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很多颜色值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822960" y="4617720"/>
            <a:ext cx="10515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任务：先排序，学完后再修改。</a:t>
            </a:r>
            <a:endParaRPr lang="en-US" sz="2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</p:sp>
      <p:sp>
        <p:nvSpPr>
          <p:cNvPr id="3" name="Shape 1"/>
          <p:cNvSpPr/>
          <p:nvPr/>
        </p:nvSpPr>
        <p:spPr>
          <a:xfrm>
            <a:off x="0" y="6756400"/>
            <a:ext cx="12192000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</p:sp>
      <p:sp>
        <p:nvSpPr>
          <p:cNvPr id="4" name="Text 2"/>
          <p:cNvSpPr/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Q1 如果显示尺寸一样，为什么这些图片看起来不同？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" y="2331720"/>
            <a:ext cx="104241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先预测：哪一张保留最多细节？低像素数时最先丢失什么？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868680" y="3246120"/>
            <a:ext cx="104241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200" dirty="0">
                <a:solidFill>
                  <a:srgbClr val="666666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不要急着看答案，先说出你的理由。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</p:sp>
      <p:sp>
        <p:nvSpPr>
          <p:cNvPr id="3" name="Shape 1"/>
          <p:cNvSpPr/>
          <p:nvPr/>
        </p:nvSpPr>
        <p:spPr>
          <a:xfrm>
            <a:off x="0" y="6756400"/>
            <a:ext cx="12192000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</p:sp>
      <p:sp>
        <p:nvSpPr>
          <p:cNvPr id="4" name="Text 2"/>
          <p:cNvSpPr/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Q1 如果显示尺寸一样，为什么这些图片看起来不同？</a:t>
            </a:r>
            <a:endParaRPr lang="en-US" sz="3000" dirty="0"/>
          </a:p>
        </p:txBody>
      </p:sp>
      <p:pic>
        <p:nvPicPr>
          <p:cNvPr id="6" name="Image 0" descr="/mnt/data/image_encoding_fix_final/1-2-encoding/1-2-3-image-encoding/assets/fallback/sampling-25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490472"/>
            <a:ext cx="3154680" cy="31546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22960" y="4718304"/>
            <a:ext cx="315468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256×256</a:t>
            </a:r>
            <a:endParaRPr lang="en-US" sz="2000" dirty="0"/>
          </a:p>
        </p:txBody>
      </p:sp>
      <p:pic>
        <p:nvPicPr>
          <p:cNvPr id="8" name="Image 1" descr="/mnt/data/image_encoding_fix_final/1-2-encoding/1-2-3-image-encoding/assets/fallback/sampling-64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26280" y="1490472"/>
            <a:ext cx="3154680" cy="315468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4526280" y="4718304"/>
            <a:ext cx="315468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64×64</a:t>
            </a:r>
            <a:endParaRPr lang="en-US" sz="2000" dirty="0"/>
          </a:p>
        </p:txBody>
      </p:sp>
      <p:pic>
        <p:nvPicPr>
          <p:cNvPr id="10" name="Image 2" descr="/mnt/data/image_encoding_fix_final/1-2-encoding/1-2-3-image-encoding/assets/fallback/sampling-32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229600" y="1490472"/>
            <a:ext cx="3154680" cy="315468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8229600" y="4718304"/>
            <a:ext cx="315468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32×32</a:t>
            </a:r>
            <a:endParaRPr lang="en-US" sz="2000" dirty="0"/>
          </a:p>
        </p:txBody>
      </p:sp>
      <p:sp>
        <p:nvSpPr>
          <p:cNvPr id="12" name="Text 6"/>
          <p:cNvSpPr/>
          <p:nvPr/>
        </p:nvSpPr>
        <p:spPr>
          <a:xfrm>
            <a:off x="822960" y="5696712"/>
            <a:ext cx="105613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观察：显示尺寸相同，但图像内部的取样位置数量不同。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</p:sp>
      <p:sp>
        <p:nvSpPr>
          <p:cNvPr id="3" name="Shape 1"/>
          <p:cNvSpPr/>
          <p:nvPr/>
        </p:nvSpPr>
        <p:spPr>
          <a:xfrm>
            <a:off x="0" y="6756400"/>
            <a:ext cx="12192000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</p:sp>
      <p:sp>
        <p:nvSpPr>
          <p:cNvPr id="4" name="Text 2"/>
          <p:cNvSpPr/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Q1 如果显示尺寸一样，为什么这些图片看起来不同？</a:t>
            </a:r>
            <a:endParaRPr lang="en-US" sz="3000" dirty="0"/>
          </a:p>
        </p:txBody>
      </p:sp>
      <p:pic>
        <p:nvPicPr>
          <p:cNvPr id="6" name="Image 0" descr="/mnt/data/image_encoding_fix_final/1-2-encoding/1-2-3-image-encoding/assets/fallback/sampling-3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490472"/>
            <a:ext cx="3154680" cy="31546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22960" y="4718304"/>
            <a:ext cx="315468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32×32</a:t>
            </a:r>
            <a:endParaRPr lang="en-US" sz="2000" dirty="0"/>
          </a:p>
        </p:txBody>
      </p:sp>
      <p:pic>
        <p:nvPicPr>
          <p:cNvPr id="8" name="Image 1" descr="/mnt/data/image_encoding_fix_final/1-2-encoding/1-2-3-image-encoding/assets/fallback/sampling-16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26280" y="1490472"/>
            <a:ext cx="3154680" cy="315468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4526280" y="4718304"/>
            <a:ext cx="315468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16×16</a:t>
            </a:r>
            <a:endParaRPr lang="en-US" sz="2000" dirty="0"/>
          </a:p>
        </p:txBody>
      </p:sp>
      <p:pic>
        <p:nvPicPr>
          <p:cNvPr id="10" name="Image 2" descr="/mnt/data/image_encoding_fix_final/1-2-encoding/1-2-3-image-encoding/assets/fallback/sampling-8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229600" y="1490472"/>
            <a:ext cx="3154680" cy="315468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8229600" y="4718304"/>
            <a:ext cx="315468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8×8</a:t>
            </a:r>
            <a:endParaRPr lang="en-US" sz="2000" dirty="0"/>
          </a:p>
        </p:txBody>
      </p:sp>
      <p:sp>
        <p:nvSpPr>
          <p:cNvPr id="12" name="Text 6"/>
          <p:cNvSpPr/>
          <p:nvPr/>
        </p:nvSpPr>
        <p:spPr>
          <a:xfrm>
            <a:off x="822960" y="5696712"/>
            <a:ext cx="105613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先描述证据：哪些结构变粗糙？哪些结构几乎认不出来？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</p:sp>
      <p:sp>
        <p:nvSpPr>
          <p:cNvPr id="3" name="Shape 1"/>
          <p:cNvSpPr/>
          <p:nvPr/>
        </p:nvSpPr>
        <p:spPr>
          <a:xfrm>
            <a:off x="0" y="6756400"/>
            <a:ext cx="12192000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</p:sp>
      <p:sp>
        <p:nvSpPr>
          <p:cNvPr id="4" name="Text 2"/>
          <p:cNvSpPr/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Q1 如果显示尺寸一样，为什么这些图片看起来不同？</a:t>
            </a:r>
            <a:endParaRPr lang="en-US" sz="3000" dirty="0"/>
          </a:p>
        </p:txBody>
      </p:sp>
      <p:pic>
        <p:nvPicPr>
          <p:cNvPr id="6" name="Image 0" descr="/mnt/data/image_encoding_fix_final/1-2-encoding/1-2-3-image-encoding/assets/fallback/sampling-3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490472"/>
            <a:ext cx="2743200" cy="27432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22960" y="4306824"/>
            <a:ext cx="274320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32×32</a:t>
            </a:r>
            <a:endParaRPr lang="en-US" sz="2000" dirty="0"/>
          </a:p>
        </p:txBody>
      </p:sp>
      <p:pic>
        <p:nvPicPr>
          <p:cNvPr id="8" name="Image 1" descr="/mnt/data/image_encoding_fix_final/1-2-encoding/1-2-3-image-encoding/assets/fallback/sampling-16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886200" y="1490472"/>
            <a:ext cx="2743200" cy="27432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886200" y="4306824"/>
            <a:ext cx="274320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16×16</a:t>
            </a:r>
            <a:endParaRPr lang="en-US" sz="2000" dirty="0"/>
          </a:p>
        </p:txBody>
      </p:sp>
      <p:pic>
        <p:nvPicPr>
          <p:cNvPr id="10" name="Image 2" descr="/mnt/data/image_encoding_fix_final/1-2-encoding/1-2-3-image-encoding/assets/fallback/sampling-8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949440" y="1490472"/>
            <a:ext cx="2743200" cy="274320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6949440" y="4306824"/>
            <a:ext cx="274320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8×8</a:t>
            </a:r>
            <a:endParaRPr lang="en-US" sz="2000" dirty="0"/>
          </a:p>
        </p:txBody>
      </p:sp>
      <p:sp>
        <p:nvSpPr>
          <p:cNvPr id="12" name="Shape 6"/>
          <p:cNvSpPr/>
          <p:nvPr/>
        </p:nvSpPr>
        <p:spPr>
          <a:xfrm>
            <a:off x="868680" y="5148072"/>
            <a:ext cx="10424160" cy="868680"/>
          </a:xfrm>
          <a:prstGeom prst="roundRect">
            <a:avLst>
              <a:gd name="adj" fmla="val 8421"/>
            </a:avLst>
          </a:prstGeom>
          <a:solidFill>
            <a:srgbClr val="F5F3FF"/>
          </a:solidFill>
          <a:ln w="25400">
            <a:solidFill>
              <a:srgbClr val="6251B1"/>
            </a:solidFill>
            <a:prstDash val="solid"/>
          </a:ln>
        </p:spPr>
      </p:sp>
      <p:sp>
        <p:nvSpPr>
          <p:cNvPr id="13" name="Text 7"/>
          <p:cNvSpPr/>
          <p:nvPr/>
        </p:nvSpPr>
        <p:spPr>
          <a:xfrm>
            <a:off x="1033272" y="5257800"/>
            <a:ext cx="10094976" cy="6492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Sampling：在哪里取样？取多少个位置？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Resolution：本课中指宽 × 高的像素尺寸。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</p:sp>
      <p:sp>
        <p:nvSpPr>
          <p:cNvPr id="3" name="Shape 1"/>
          <p:cNvSpPr/>
          <p:nvPr/>
        </p:nvSpPr>
        <p:spPr>
          <a:xfrm>
            <a:off x="0" y="6756400"/>
            <a:ext cx="12192000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</p:sp>
      <p:sp>
        <p:nvSpPr>
          <p:cNvPr id="4" name="Text 2"/>
          <p:cNvSpPr/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Q2 分辨率越高，图像一定越清晰吗？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" y="2331720"/>
            <a:ext cx="104241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先判断：1600×1200 的图片一定比 800×600 更清晰吗？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868680" y="3291840"/>
            <a:ext cx="104241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600" dirty="0">
                <a:solidFill>
                  <a:srgbClr val="262626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A. 一定　　B. 不一定　　C. 需要看条件</a:t>
            </a:r>
            <a:endParaRPr lang="en-US" sz="2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</p:sp>
      <p:sp>
        <p:nvSpPr>
          <p:cNvPr id="3" name="Shape 1"/>
          <p:cNvSpPr/>
          <p:nvPr/>
        </p:nvSpPr>
        <p:spPr>
          <a:xfrm>
            <a:off x="0" y="6756400"/>
            <a:ext cx="12192000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</p:sp>
      <p:sp>
        <p:nvSpPr>
          <p:cNvPr id="4" name="Text 2"/>
          <p:cNvSpPr/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Q2 分辨率越高，图像一定越清晰吗？</a:t>
            </a:r>
            <a:endParaRPr lang="en-US" sz="3000" dirty="0"/>
          </a:p>
        </p:txBody>
      </p:sp>
      <p:pic>
        <p:nvPicPr>
          <p:cNvPr id="6" name="Image 0" descr="/mnt/data/image_encoding_fix_final/1-2-encoding/1-2-3-image-encoding/assets/fallback/q2-high-pixels-blu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1490472"/>
            <a:ext cx="5074920" cy="37947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77240" y="5358384"/>
            <a:ext cx="5074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1600×1200 · Gaussian blur simulation</a:t>
            </a:r>
            <a:endParaRPr lang="en-US" sz="2000" dirty="0"/>
          </a:p>
        </p:txBody>
      </p:sp>
      <p:pic>
        <p:nvPicPr>
          <p:cNvPr id="8" name="Image 1" descr="/mnt/data/image_encoding_fix_final/1-2-encoding/1-2-3-image-encoding/assets/fallback/q2-low-pixels-sharp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55080" y="1490472"/>
            <a:ext cx="5074920" cy="379476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355080" y="5358384"/>
            <a:ext cx="5074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800×600 · same scene, sharp</a:t>
            </a:r>
            <a:endParaRPr lang="en-US" sz="2000" dirty="0"/>
          </a:p>
        </p:txBody>
      </p:sp>
      <p:sp>
        <p:nvSpPr>
          <p:cNvPr id="10" name="Text 5"/>
          <p:cNvSpPr/>
          <p:nvPr/>
        </p:nvSpPr>
        <p:spPr>
          <a:xfrm>
            <a:off x="868680" y="5760720"/>
            <a:ext cx="104241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先观察：哪张更容易看清边缘和细节？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</p:sp>
      <p:sp>
        <p:nvSpPr>
          <p:cNvPr id="3" name="Shape 1"/>
          <p:cNvSpPr/>
          <p:nvPr/>
        </p:nvSpPr>
        <p:spPr>
          <a:xfrm>
            <a:off x="0" y="6756400"/>
            <a:ext cx="12192000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</p:sp>
      <p:sp>
        <p:nvSpPr>
          <p:cNvPr id="4" name="Text 2"/>
          <p:cNvSpPr/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Q2 分辨率越高，图像一定越清晰吗？</a:t>
            </a:r>
            <a:endParaRPr lang="en-US" sz="3000" dirty="0"/>
          </a:p>
        </p:txBody>
      </p:sp>
      <p:pic>
        <p:nvPicPr>
          <p:cNvPr id="6" name="Image 0" descr="/mnt/data/image_encoding_fix_final/1-2-encoding/1-2-3-image-encoding/assets/fallback/q2-high-pixels-blu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1490472"/>
            <a:ext cx="4480560" cy="33375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77240" y="4901184"/>
            <a:ext cx="448056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1600×1200 · Gaussian blur simulation</a:t>
            </a:r>
            <a:endParaRPr lang="en-US" sz="2000" dirty="0"/>
          </a:p>
        </p:txBody>
      </p:sp>
      <p:pic>
        <p:nvPicPr>
          <p:cNvPr id="8" name="Image 1" descr="/mnt/data/image_encoding_fix_final/1-2-encoding/1-2-3-image-encoding/assets/fallback/q2-low-pixels-sharp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532120" y="1490472"/>
            <a:ext cx="4480560" cy="333756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5532120" y="4901184"/>
            <a:ext cx="448056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800×600 · same scene, sharp</a:t>
            </a:r>
            <a:endParaRPr lang="en-US" sz="2000" dirty="0"/>
          </a:p>
        </p:txBody>
      </p:sp>
      <p:sp>
        <p:nvSpPr>
          <p:cNvPr id="10" name="Shape 5"/>
          <p:cNvSpPr/>
          <p:nvPr/>
        </p:nvSpPr>
        <p:spPr>
          <a:xfrm>
            <a:off x="822960" y="5376672"/>
            <a:ext cx="10515600" cy="868680"/>
          </a:xfrm>
          <a:prstGeom prst="roundRect">
            <a:avLst>
              <a:gd name="adj" fmla="val 8421"/>
            </a:avLst>
          </a:prstGeom>
          <a:solidFill>
            <a:srgbClr val="F5F3FF"/>
          </a:solidFill>
          <a:ln w="25400">
            <a:solidFill>
              <a:srgbClr val="6251B1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987552" y="5486400"/>
            <a:ext cx="10186416" cy="6492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结论：高 pixel count 不自动等于高质量。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在同一场景、同一范围、其他条件相同时，更多采样通常保留更多细节。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</p:sp>
      <p:sp>
        <p:nvSpPr>
          <p:cNvPr id="3" name="Shape 1"/>
          <p:cNvSpPr/>
          <p:nvPr/>
        </p:nvSpPr>
        <p:spPr>
          <a:xfrm>
            <a:off x="0" y="6756400"/>
            <a:ext cx="12192000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</p:sp>
      <p:sp>
        <p:nvSpPr>
          <p:cNvPr id="4" name="Text 2"/>
          <p:cNvSpPr/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Q3 像素数量完全一样，红绿接缝还会一直看得见吗？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" y="2057400"/>
            <a:ext cx="104241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条件：pixel dimensions 不变，只限制整幅图最多出现的颜色总数。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868680" y="2971800"/>
            <a:ext cx="104241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预测：红绿接缝还会一直看得见吗？为什么？</a:t>
            </a:r>
            <a:endParaRPr lang="en-US" sz="3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</p:sp>
      <p:sp>
        <p:nvSpPr>
          <p:cNvPr id="3" name="Shape 1"/>
          <p:cNvSpPr/>
          <p:nvPr/>
        </p:nvSpPr>
        <p:spPr>
          <a:xfrm>
            <a:off x="0" y="6756400"/>
            <a:ext cx="12192000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</p:sp>
      <p:sp>
        <p:nvSpPr>
          <p:cNvPr id="4" name="Text 2"/>
          <p:cNvSpPr/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Q3 像素数量完全一样，红绿接缝还会一直看得见吗？</a:t>
            </a:r>
            <a:endParaRPr lang="en-US" sz="3000" dirty="0"/>
          </a:p>
        </p:txBody>
      </p:sp>
      <p:pic>
        <p:nvPicPr>
          <p:cNvPr id="6" name="Image 0" descr="/mnt/data/image_encoding_fix_final/1-2-encoding/1-2-3-image-encoding/assets/fallback/quant-origin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490472"/>
            <a:ext cx="3154680" cy="31546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22960" y="4718304"/>
            <a:ext cx="315468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原图</a:t>
            </a:r>
            <a:endParaRPr lang="en-US" sz="2000" dirty="0"/>
          </a:p>
        </p:txBody>
      </p:sp>
      <p:pic>
        <p:nvPicPr>
          <p:cNvPr id="8" name="Image 1" descr="/mnt/data/image_encoding_fix_final/1-2-encoding/1-2-3-image-encoding/assets/fallback/quant-16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26280" y="1490472"/>
            <a:ext cx="3154680" cy="315468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4526280" y="4718304"/>
            <a:ext cx="315468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最多 16 colors</a:t>
            </a:r>
            <a:endParaRPr lang="en-US" sz="2000" dirty="0"/>
          </a:p>
        </p:txBody>
      </p:sp>
      <p:pic>
        <p:nvPicPr>
          <p:cNvPr id="10" name="Image 2" descr="/mnt/data/image_encoding_fix_final/1-2-encoding/1-2-3-image-encoding/assets/fallback/quant-2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229600" y="1490472"/>
            <a:ext cx="3154680" cy="315468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8229600" y="4718304"/>
            <a:ext cx="315468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最多 2 colors</a:t>
            </a:r>
            <a:endParaRPr lang="en-US" sz="2000" dirty="0"/>
          </a:p>
        </p:txBody>
      </p:sp>
      <p:sp>
        <p:nvSpPr>
          <p:cNvPr id="12" name="Text 6"/>
          <p:cNvSpPr/>
          <p:nvPr/>
        </p:nvSpPr>
        <p:spPr>
          <a:xfrm>
            <a:off x="822960" y="5650992"/>
            <a:ext cx="105613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只看图像现象：红绿接缝还在吗？</a:t>
            </a:r>
            <a:endParaRPr lang="en-US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</p:sp>
      <p:sp>
        <p:nvSpPr>
          <p:cNvPr id="3" name="Shape 1"/>
          <p:cNvSpPr/>
          <p:nvPr/>
        </p:nvSpPr>
        <p:spPr>
          <a:xfrm>
            <a:off x="0" y="6756400"/>
            <a:ext cx="12192000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</p:sp>
      <p:sp>
        <p:nvSpPr>
          <p:cNvPr id="4" name="Text 2"/>
          <p:cNvSpPr/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Q3 像素数量完全一样，红绿接缝还会一直看得见吗？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645920"/>
          <a:ext cx="10332720" cy="2057400"/>
        </p:xfrm>
        <a:graphic>
          <a:graphicData uri="http://schemas.openxmlformats.org/drawingml/2006/table">
            <a:tbl>
              <a:tblPr/>
              <a:tblGrid>
                <a:gridCol w="2583180"/>
                <a:gridCol w="2583180"/>
                <a:gridCol w="2583180"/>
                <a:gridCol w="2583180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262626"/>
                          </a:solidFill>
                          <a:latin typeface="Alibaba PuHuiTi 3.0 85 Bold" pitchFamily="34" charset="0"/>
                          <a:ea typeface="Alibaba PuHuiTi 3.0 85 Bold" pitchFamily="34" charset="-122"/>
                          <a:cs typeface="Alibaba PuHuiTi 3.0 85 Bold" pitchFamily="34" charset="-120"/>
                        </a:rPr>
                        <a:t>版本</a:t>
                      </a:r>
                      <a:endParaRPr lang="en-US" sz="20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262626"/>
                          </a:solidFill>
                          <a:latin typeface="Alibaba PuHuiTi 3.0 85 Bold" pitchFamily="34" charset="0"/>
                          <a:ea typeface="Alibaba PuHuiTi 3.0 85 Bold" pitchFamily="34" charset="-122"/>
                          <a:cs typeface="Alibaba PuHuiTi 3.0 85 Bold" pitchFamily="34" charset="-120"/>
                        </a:rPr>
                        <a:t>left (72,40)</a:t>
                      </a:r>
                      <a:endParaRPr lang="en-US" sz="20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262626"/>
                          </a:solidFill>
                          <a:latin typeface="Alibaba PuHuiTi 3.0 85 Bold" pitchFamily="34" charset="0"/>
                          <a:ea typeface="Alibaba PuHuiTi 3.0 85 Bold" pitchFamily="34" charset="-122"/>
                          <a:cs typeface="Alibaba PuHuiTi 3.0 85 Bold" pitchFamily="34" charset="-120"/>
                        </a:rPr>
                        <a:t>right (73,40)</a:t>
                      </a:r>
                      <a:endParaRPr lang="en-US" sz="20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262626"/>
                          </a:solidFill>
                          <a:latin typeface="Alibaba PuHuiTi 3.0 85 Bold" pitchFamily="34" charset="0"/>
                          <a:ea typeface="Alibaba PuHuiTi 3.0 85 Bold" pitchFamily="34" charset="-122"/>
                          <a:cs typeface="Alibaba PuHuiTi 3.0 85 Bold" pitchFamily="34" charset="-120"/>
                        </a:rPr>
                        <a:t>是否相同</a:t>
                      </a:r>
                      <a:endParaRPr lang="en-US" sz="20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262626"/>
                          </a:solidFill>
                          <a:latin typeface="Alibaba PuHuiTi 3.0 85 Bold" pitchFamily="34" charset="0"/>
                          <a:ea typeface="Alibaba PuHuiTi 3.0 85 Bold" pitchFamily="34" charset="-122"/>
                          <a:cs typeface="Alibaba PuHuiTi 3.0 85 Bold" pitchFamily="34" charset="-120"/>
                        </a:rPr>
                        <a:t>16 colors</a:t>
                      </a:r>
                      <a:endParaRPr lang="en-US" sz="20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262626"/>
                          </a:solidFill>
                          <a:latin typeface="Alibaba PuHuiTi 3.0 85 Bold" pitchFamily="34" charset="0"/>
                          <a:ea typeface="Alibaba PuHuiTi 3.0 85 Bold" pitchFamily="34" charset="-122"/>
                          <a:cs typeface="Alibaba PuHuiTi 3.0 85 Bold" pitchFamily="34" charset="-120"/>
                        </a:rPr>
                        <a:t>(255, 0, 0)</a:t>
                      </a:r>
                      <a:endParaRPr lang="en-US" sz="20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262626"/>
                          </a:solidFill>
                          <a:latin typeface="Alibaba PuHuiTi 3.0 85 Bold" pitchFamily="34" charset="0"/>
                          <a:ea typeface="Alibaba PuHuiTi 3.0 85 Bold" pitchFamily="34" charset="-122"/>
                          <a:cs typeface="Alibaba PuHuiTi 3.0 85 Bold" pitchFamily="34" charset="-120"/>
                        </a:rPr>
                        <a:t>(0, 255, 0)</a:t>
                      </a:r>
                      <a:endParaRPr lang="en-US" sz="20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262626"/>
                          </a:solidFill>
                          <a:latin typeface="Alibaba PuHuiTi 3.0 85 Bold" pitchFamily="34" charset="0"/>
                          <a:ea typeface="Alibaba PuHuiTi 3.0 85 Bold" pitchFamily="34" charset="-122"/>
                          <a:cs typeface="Alibaba PuHuiTi 3.0 85 Bold" pitchFamily="34" charset="-120"/>
                        </a:rPr>
                        <a:t>不同</a:t>
                      </a:r>
                      <a:endParaRPr lang="en-US" sz="20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262626"/>
                          </a:solidFill>
                          <a:latin typeface="Alibaba PuHuiTi 3.0 85 Bold" pitchFamily="34" charset="0"/>
                          <a:ea typeface="Alibaba PuHuiTi 3.0 85 Bold" pitchFamily="34" charset="-122"/>
                          <a:cs typeface="Alibaba PuHuiTi 3.0 85 Bold" pitchFamily="34" charset="-120"/>
                        </a:rPr>
                        <a:t>2 colors</a:t>
                      </a:r>
                      <a:endParaRPr lang="en-US" sz="20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262626"/>
                          </a:solidFill>
                          <a:latin typeface="Alibaba PuHuiTi 3.0 85 Bold" pitchFamily="34" charset="0"/>
                          <a:ea typeface="Alibaba PuHuiTi 3.0 85 Bold" pitchFamily="34" charset="-122"/>
                          <a:cs typeface="Alibaba PuHuiTi 3.0 85 Bold" pitchFamily="34" charset="-120"/>
                        </a:rPr>
                        <a:t>(71, 42, 71)</a:t>
                      </a:r>
                      <a:endParaRPr lang="en-US" sz="20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262626"/>
                          </a:solidFill>
                          <a:latin typeface="Alibaba PuHuiTi 3.0 85 Bold" pitchFamily="34" charset="0"/>
                          <a:ea typeface="Alibaba PuHuiTi 3.0 85 Bold" pitchFamily="34" charset="-122"/>
                          <a:cs typeface="Alibaba PuHuiTi 3.0 85 Bold" pitchFamily="34" charset="-120"/>
                        </a:rPr>
                        <a:t>(71, 42, 71)</a:t>
                      </a:r>
                      <a:endParaRPr lang="en-US" sz="20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262626"/>
                          </a:solidFill>
                          <a:latin typeface="Alibaba PuHuiTi 3.0 85 Bold" pitchFamily="34" charset="0"/>
                          <a:ea typeface="Alibaba PuHuiTi 3.0 85 Bold" pitchFamily="34" charset="-122"/>
                          <a:cs typeface="Alibaba PuHuiTi 3.0 85 Bold" pitchFamily="34" charset="-120"/>
                        </a:rPr>
                        <a:t>相同</a:t>
                      </a:r>
                      <a:endParaRPr lang="en-US" sz="20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914400" y="4754880"/>
            <a:ext cx="10332720" cy="777240"/>
          </a:xfrm>
          <a:prstGeom prst="roundRect">
            <a:avLst>
              <a:gd name="adj" fmla="val 9412"/>
            </a:avLst>
          </a:prstGeom>
          <a:solidFill>
            <a:srgbClr val="F5F3FF"/>
          </a:solidFill>
          <a:ln w="25400">
            <a:solidFill>
              <a:srgbClr val="6251B1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078992" y="4864608"/>
            <a:ext cx="10003536" cy="5577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pixel positions 没有减少，但视觉边界可能因为颜色被合并而消失。</a:t>
            </a:r>
            <a:endParaRPr lang="en-US" sz="2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</p:sp>
      <p:sp>
        <p:nvSpPr>
          <p:cNvPr id="3" name="Shape 1"/>
          <p:cNvSpPr/>
          <p:nvPr/>
        </p:nvSpPr>
        <p:spPr>
          <a:xfrm>
            <a:off x="0" y="6756400"/>
            <a:ext cx="12192000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</p:sp>
      <p:sp>
        <p:nvSpPr>
          <p:cNvPr id="4" name="Text 2"/>
          <p:cNvSpPr/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Q4 如果只允许 16 种颜色，最少需要几 bit？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" y="2057400"/>
            <a:ext cx="104241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给 16 种颜色各分配一个不同的、固定长度的二进制标签。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868680" y="3063240"/>
            <a:ext cx="104241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2 bit、3 bit 够吗？怎样判断？</a:t>
            </a:r>
            <a:endParaRPr lang="en-US" sz="3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</p:sp>
      <p:sp>
        <p:nvSpPr>
          <p:cNvPr id="3" name="Shape 1"/>
          <p:cNvSpPr/>
          <p:nvPr/>
        </p:nvSpPr>
        <p:spPr>
          <a:xfrm>
            <a:off x="0" y="6756400"/>
            <a:ext cx="12192000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</p:sp>
      <p:sp>
        <p:nvSpPr>
          <p:cNvPr id="4" name="Text 2"/>
          <p:cNvSpPr/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Q4 如果只允许 16 种颜色，最少需要几 bit？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57400" y="1490472"/>
          <a:ext cx="3474720" cy="3108960"/>
        </p:xfrm>
        <a:graphic>
          <a:graphicData uri="http://schemas.openxmlformats.org/drawingml/2006/table">
            <a:tbl>
              <a:tblPr/>
              <a:tblGrid>
                <a:gridCol w="1737360"/>
                <a:gridCol w="1737360"/>
              </a:tblGrid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300" b="1" dirty="0">
                          <a:solidFill>
                            <a:srgbClr val="262626"/>
                          </a:solidFill>
                          <a:latin typeface="Alibaba PuHuiTi 3.0 85 Bold" pitchFamily="34" charset="0"/>
                          <a:ea typeface="Alibaba PuHuiTi 3.0 85 Bold" pitchFamily="34" charset="-122"/>
                          <a:cs typeface="Alibaba PuHuiTi 3.0 85 Bold" pitchFamily="34" charset="-120"/>
                        </a:rPr>
                        <a:t>bit 数</a:t>
                      </a:r>
                      <a:endParaRPr lang="en-US" sz="23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91440" marR="91440" marT="45720" marB="45720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300" b="1" dirty="0">
                          <a:solidFill>
                            <a:srgbClr val="262626"/>
                          </a:solidFill>
                          <a:latin typeface="Alibaba PuHuiTi 3.0 85 Bold" pitchFamily="34" charset="0"/>
                          <a:ea typeface="Alibaba PuHuiTi 3.0 85 Bold" pitchFamily="34" charset="-122"/>
                          <a:cs typeface="Alibaba PuHuiTi 3.0 85 Bold" pitchFamily="34" charset="-120"/>
                        </a:rPr>
                        <a:t>可表示状态数</a:t>
                      </a:r>
                      <a:endParaRPr lang="en-US" sz="23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91440" marR="91440" marT="45720" marB="45720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300" b="1" dirty="0">
                          <a:solidFill>
                            <a:srgbClr val="262626"/>
                          </a:solidFill>
                          <a:latin typeface="Alibaba PuHuiTi 3.0 85 Bold" pitchFamily="34" charset="0"/>
                          <a:ea typeface="Alibaba PuHuiTi 3.0 85 Bold" pitchFamily="34" charset="-122"/>
                          <a:cs typeface="Alibaba PuHuiTi 3.0 85 Bold" pitchFamily="34" charset="-120"/>
                        </a:rPr>
                        <a:t>1</a:t>
                      </a:r>
                      <a:endParaRPr lang="en-US" sz="23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91440" marR="91440" marT="45720" marB="45720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300" b="1" dirty="0">
                          <a:solidFill>
                            <a:srgbClr val="262626"/>
                          </a:solidFill>
                          <a:latin typeface="Alibaba PuHuiTi 3.0 85 Bold" pitchFamily="34" charset="0"/>
                          <a:ea typeface="Alibaba PuHuiTi 3.0 85 Bold" pitchFamily="34" charset="-122"/>
                          <a:cs typeface="Alibaba PuHuiTi 3.0 85 Bold" pitchFamily="34" charset="-120"/>
                        </a:rPr>
                        <a:t>2</a:t>
                      </a:r>
                      <a:endParaRPr lang="en-US" sz="23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91440" marR="91440" marT="45720" marB="45720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300" b="1" dirty="0">
                          <a:solidFill>
                            <a:srgbClr val="262626"/>
                          </a:solidFill>
                          <a:latin typeface="Alibaba PuHuiTi 3.0 85 Bold" pitchFamily="34" charset="0"/>
                          <a:ea typeface="Alibaba PuHuiTi 3.0 85 Bold" pitchFamily="34" charset="-122"/>
                          <a:cs typeface="Alibaba PuHuiTi 3.0 85 Bold" pitchFamily="34" charset="-120"/>
                        </a:rPr>
                        <a:t>2</a:t>
                      </a:r>
                      <a:endParaRPr lang="en-US" sz="23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91440" marR="91440" marT="45720" marB="45720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300" b="1" dirty="0">
                          <a:solidFill>
                            <a:srgbClr val="262626"/>
                          </a:solidFill>
                          <a:latin typeface="Alibaba PuHuiTi 3.0 85 Bold" pitchFamily="34" charset="0"/>
                          <a:ea typeface="Alibaba PuHuiTi 3.0 85 Bold" pitchFamily="34" charset="-122"/>
                          <a:cs typeface="Alibaba PuHuiTi 3.0 85 Bold" pitchFamily="34" charset="-120"/>
                        </a:rPr>
                        <a:t>4</a:t>
                      </a:r>
                      <a:endParaRPr lang="en-US" sz="23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91440" marR="91440" marT="45720" marB="45720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300" b="1" dirty="0">
                          <a:solidFill>
                            <a:srgbClr val="262626"/>
                          </a:solidFill>
                          <a:latin typeface="Alibaba PuHuiTi 3.0 85 Bold" pitchFamily="34" charset="0"/>
                          <a:ea typeface="Alibaba PuHuiTi 3.0 85 Bold" pitchFamily="34" charset="-122"/>
                          <a:cs typeface="Alibaba PuHuiTi 3.0 85 Bold" pitchFamily="34" charset="-120"/>
                        </a:rPr>
                        <a:t>3</a:t>
                      </a:r>
                      <a:endParaRPr lang="en-US" sz="23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91440" marR="91440" marT="45720" marB="45720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300" b="1" dirty="0">
                          <a:solidFill>
                            <a:srgbClr val="262626"/>
                          </a:solidFill>
                          <a:latin typeface="Alibaba PuHuiTi 3.0 85 Bold" pitchFamily="34" charset="0"/>
                          <a:ea typeface="Alibaba PuHuiTi 3.0 85 Bold" pitchFamily="34" charset="-122"/>
                          <a:cs typeface="Alibaba PuHuiTi 3.0 85 Bold" pitchFamily="34" charset="-120"/>
                        </a:rPr>
                        <a:t>8</a:t>
                      </a:r>
                      <a:endParaRPr lang="en-US" sz="23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91440" marR="91440" marT="45720" marB="45720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300" b="1" dirty="0">
                          <a:solidFill>
                            <a:srgbClr val="262626"/>
                          </a:solidFill>
                          <a:latin typeface="Alibaba PuHuiTi 3.0 85 Bold" pitchFamily="34" charset="0"/>
                          <a:ea typeface="Alibaba PuHuiTi 3.0 85 Bold" pitchFamily="34" charset="-122"/>
                          <a:cs typeface="Alibaba PuHuiTi 3.0 85 Bold" pitchFamily="34" charset="-120"/>
                        </a:rPr>
                        <a:t>4</a:t>
                      </a:r>
                      <a:endParaRPr lang="en-US" sz="23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91440" marR="91440" marT="45720" marB="45720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300" b="1" dirty="0">
                          <a:solidFill>
                            <a:srgbClr val="262626"/>
                          </a:solidFill>
                          <a:latin typeface="Alibaba PuHuiTi 3.0 85 Bold" pitchFamily="34" charset="0"/>
                          <a:ea typeface="Alibaba PuHuiTi 3.0 85 Bold" pitchFamily="34" charset="-122"/>
                          <a:cs typeface="Alibaba PuHuiTi 3.0 85 Bold" pitchFamily="34" charset="-120"/>
                        </a:rPr>
                        <a:t>16</a:t>
                      </a:r>
                      <a:endParaRPr lang="en-US" sz="23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91440" marR="91440" marT="45720" marB="45720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6035040" y="1993392"/>
            <a:ext cx="4480560" cy="1737360"/>
          </a:xfrm>
          <a:prstGeom prst="roundRect">
            <a:avLst>
              <a:gd name="adj" fmla="val 4211"/>
            </a:avLst>
          </a:prstGeom>
          <a:solidFill>
            <a:srgbClr val="F5F3FF"/>
          </a:solidFill>
          <a:ln w="25400">
            <a:solidFill>
              <a:srgbClr val="6251B1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199632" y="2103120"/>
            <a:ext cx="4151376" cy="151790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可表示状态数 = 2^b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16 个状态 → 最少 4 bit</a:t>
            </a:r>
            <a:endParaRPr lang="en-US" sz="2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</p:sp>
      <p:sp>
        <p:nvSpPr>
          <p:cNvPr id="3" name="Shape 1"/>
          <p:cNvSpPr/>
          <p:nvPr/>
        </p:nvSpPr>
        <p:spPr>
          <a:xfrm>
            <a:off x="0" y="6756400"/>
            <a:ext cx="12192000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</p:sp>
      <p:sp>
        <p:nvSpPr>
          <p:cNvPr id="4" name="Text 2"/>
          <p:cNvSpPr/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Q5 “24-bit color” 是 24 种颜色吗？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" y="1874520"/>
            <a:ext cx="104241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先投票：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868680" y="2743200"/>
            <a:ext cx="104241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A. 24 种　　B. 256 种　　C. 2^24 种　　D. 现在还不能确定</a:t>
            </a:r>
            <a:endParaRPr lang="en-US" sz="2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</p:sp>
      <p:sp>
        <p:nvSpPr>
          <p:cNvPr id="3" name="Shape 1"/>
          <p:cNvSpPr/>
          <p:nvPr/>
        </p:nvSpPr>
        <p:spPr>
          <a:xfrm>
            <a:off x="0" y="6756400"/>
            <a:ext cx="12192000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</p:sp>
      <p:sp>
        <p:nvSpPr>
          <p:cNvPr id="4" name="Text 2"/>
          <p:cNvSpPr/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Q5 “24-bit color” 是 24 种颜色吗？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1097280" y="1645920"/>
            <a:ext cx="2926080" cy="822960"/>
          </a:xfrm>
          <a:prstGeom prst="roundRect">
            <a:avLst>
              <a:gd name="adj" fmla="val 8889"/>
            </a:avLst>
          </a:prstGeom>
          <a:solidFill>
            <a:srgbClr val="FFF1F1"/>
          </a:solidFill>
          <a:ln w="19050">
            <a:solidFill>
              <a:srgbClr val="F0443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70432" y="1700784"/>
            <a:ext cx="2779776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R: 8 bits → 0..255</a:t>
            </a:r>
            <a:endParaRPr lang="en-US" sz="2300" dirty="0"/>
          </a:p>
        </p:txBody>
      </p:sp>
      <p:sp>
        <p:nvSpPr>
          <p:cNvPr id="8" name="Shape 5"/>
          <p:cNvSpPr/>
          <p:nvPr/>
        </p:nvSpPr>
        <p:spPr>
          <a:xfrm>
            <a:off x="4572000" y="1645920"/>
            <a:ext cx="2926080" cy="822960"/>
          </a:xfrm>
          <a:prstGeom prst="roundRect">
            <a:avLst>
              <a:gd name="adj" fmla="val 8889"/>
            </a:avLst>
          </a:prstGeom>
          <a:solidFill>
            <a:srgbClr val="ECFDF3"/>
          </a:solidFill>
          <a:ln w="19050">
            <a:solidFill>
              <a:srgbClr val="12B76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645152" y="1700784"/>
            <a:ext cx="2779776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G: 8 bits → 0..255</a:t>
            </a:r>
            <a:endParaRPr lang="en-US" sz="2300" dirty="0"/>
          </a:p>
        </p:txBody>
      </p:sp>
      <p:sp>
        <p:nvSpPr>
          <p:cNvPr id="10" name="Shape 7"/>
          <p:cNvSpPr/>
          <p:nvPr/>
        </p:nvSpPr>
        <p:spPr>
          <a:xfrm>
            <a:off x="8046720" y="1645920"/>
            <a:ext cx="2926080" cy="822960"/>
          </a:xfrm>
          <a:prstGeom prst="roundRect">
            <a:avLst>
              <a:gd name="adj" fmla="val 8889"/>
            </a:avLst>
          </a:prstGeom>
          <a:solidFill>
            <a:srgbClr val="EFF8FF"/>
          </a:solidFill>
          <a:ln w="19050">
            <a:solidFill>
              <a:srgbClr val="2F80E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119872" y="1700784"/>
            <a:ext cx="2779776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B: 8 bits → 0..255</a:t>
            </a:r>
            <a:endParaRPr lang="en-US" sz="2300" dirty="0"/>
          </a:p>
        </p:txBody>
      </p:sp>
      <p:sp>
        <p:nvSpPr>
          <p:cNvPr id="12" name="Shape 9"/>
          <p:cNvSpPr/>
          <p:nvPr/>
        </p:nvSpPr>
        <p:spPr>
          <a:xfrm>
            <a:off x="1371600" y="3794760"/>
            <a:ext cx="9418320" cy="1143000"/>
          </a:xfrm>
          <a:prstGeom prst="roundRect">
            <a:avLst>
              <a:gd name="adj" fmla="val 6400"/>
            </a:avLst>
          </a:prstGeom>
          <a:solidFill>
            <a:srgbClr val="F5F3FF"/>
          </a:solidFill>
          <a:ln w="25400">
            <a:solidFill>
              <a:srgbClr val="6251B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536192" y="3904488"/>
            <a:ext cx="9089136" cy="9235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8 + 8 + 8 = 24 bits/pixel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256^3 = 2^24 = 16,777,216</a:t>
            </a:r>
            <a:endParaRPr lang="en-US" sz="2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</p:sp>
      <p:sp>
        <p:nvSpPr>
          <p:cNvPr id="3" name="Shape 1"/>
          <p:cNvSpPr/>
          <p:nvPr/>
        </p:nvSpPr>
        <p:spPr>
          <a:xfrm>
            <a:off x="0" y="6756400"/>
            <a:ext cx="12192000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</p:sp>
      <p:sp>
        <p:nvSpPr>
          <p:cNvPr id="4" name="Text 2"/>
          <p:cNvSpPr/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Q6 一个 RGB 像素怎样变成 0 和 1？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" y="2194560"/>
            <a:ext cx="104241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RGB = (255, 128, 0)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868680" y="3154680"/>
            <a:ext cx="104241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600" dirty="0">
                <a:solidFill>
                  <a:srgbClr val="262626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先预测：255、128、0 的 8-bit binary 分别是什么？</a:t>
            </a:r>
            <a:endParaRPr lang="en-US" sz="2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</p:sp>
      <p:sp>
        <p:nvSpPr>
          <p:cNvPr id="3" name="Shape 1"/>
          <p:cNvSpPr/>
          <p:nvPr/>
        </p:nvSpPr>
        <p:spPr>
          <a:xfrm>
            <a:off x="0" y="6756400"/>
            <a:ext cx="12192000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</p:sp>
      <p:sp>
        <p:nvSpPr>
          <p:cNvPr id="4" name="Text 2"/>
          <p:cNvSpPr/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Q6 一个 RGB 像素怎样变成 0 和 1？</a:t>
            </a:r>
            <a:endParaRPr lang="en-US" sz="3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0" y="1508760"/>
          <a:ext cx="8595360" cy="2651760"/>
        </p:xfrm>
        <a:graphic>
          <a:graphicData uri="http://schemas.openxmlformats.org/drawingml/2006/table">
            <a:tbl>
              <a:tblPr/>
              <a:tblGrid>
                <a:gridCol w="2865120"/>
                <a:gridCol w="2865120"/>
                <a:gridCol w="2865120"/>
              </a:tblGrid>
              <a:tr h="6629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262626"/>
                          </a:solidFill>
                          <a:latin typeface="Alibaba PuHuiTi 3.0 85 Bold" pitchFamily="34" charset="0"/>
                          <a:ea typeface="Alibaba PuHuiTi 3.0 85 Bold" pitchFamily="34" charset="-122"/>
                          <a:cs typeface="Alibaba PuHuiTi 3.0 85 Bold" pitchFamily="34" charset="-120"/>
                        </a:rPr>
                        <a:t>通道</a:t>
                      </a:r>
                      <a:endParaRPr lang="en-US" sz="22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91440" marR="91440" marT="45720" marB="45720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262626"/>
                          </a:solidFill>
                          <a:latin typeface="Alibaba PuHuiTi 3.0 85 Bold" pitchFamily="34" charset="0"/>
                          <a:ea typeface="Alibaba PuHuiTi 3.0 85 Bold" pitchFamily="34" charset="-122"/>
                          <a:cs typeface="Alibaba PuHuiTi 3.0 85 Bold" pitchFamily="34" charset="-120"/>
                        </a:rPr>
                        <a:t>十进制</a:t>
                      </a:r>
                      <a:endParaRPr lang="en-US" sz="22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91440" marR="91440" marT="45720" marB="45720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262626"/>
                          </a:solidFill>
                          <a:latin typeface="Alibaba PuHuiTi 3.0 85 Bold" pitchFamily="34" charset="0"/>
                          <a:ea typeface="Alibaba PuHuiTi 3.0 85 Bold" pitchFamily="34" charset="-122"/>
                          <a:cs typeface="Alibaba PuHuiTi 3.0 85 Bold" pitchFamily="34" charset="-120"/>
                        </a:rPr>
                        <a:t>8-bit binary</a:t>
                      </a:r>
                      <a:endParaRPr lang="en-US" sz="22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91440" marR="91440" marT="45720" marB="45720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262626"/>
                          </a:solidFill>
                          <a:latin typeface="Alibaba PuHuiTi 3.0 85 Bold" pitchFamily="34" charset="0"/>
                          <a:ea typeface="Alibaba PuHuiTi 3.0 85 Bold" pitchFamily="34" charset="-122"/>
                          <a:cs typeface="Alibaba PuHuiTi 3.0 85 Bold" pitchFamily="34" charset="-120"/>
                        </a:rPr>
                        <a:t>R</a:t>
                      </a:r>
                      <a:endParaRPr lang="en-US" sz="22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91440" marR="91440" marT="45720" marB="45720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262626"/>
                          </a:solidFill>
                          <a:latin typeface="Alibaba PuHuiTi 3.0 85 Bold" pitchFamily="34" charset="0"/>
                          <a:ea typeface="Alibaba PuHuiTi 3.0 85 Bold" pitchFamily="34" charset="-122"/>
                          <a:cs typeface="Alibaba PuHuiTi 3.0 85 Bold" pitchFamily="34" charset="-120"/>
                        </a:rPr>
                        <a:t>255</a:t>
                      </a:r>
                      <a:endParaRPr lang="en-US" sz="22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91440" marR="91440" marT="45720" marB="45720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262626"/>
                          </a:solidFill>
                          <a:latin typeface="Alibaba PuHuiTi 3.0 85 Bold" pitchFamily="34" charset="0"/>
                          <a:ea typeface="Alibaba PuHuiTi 3.0 85 Bold" pitchFamily="34" charset="-122"/>
                          <a:cs typeface="Alibaba PuHuiTi 3.0 85 Bold" pitchFamily="34" charset="-120"/>
                        </a:rPr>
                        <a:t>11111111</a:t>
                      </a:r>
                      <a:endParaRPr lang="en-US" sz="22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91440" marR="91440" marT="45720" marB="45720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262626"/>
                          </a:solidFill>
                          <a:latin typeface="Alibaba PuHuiTi 3.0 85 Bold" pitchFamily="34" charset="0"/>
                          <a:ea typeface="Alibaba PuHuiTi 3.0 85 Bold" pitchFamily="34" charset="-122"/>
                          <a:cs typeface="Alibaba PuHuiTi 3.0 85 Bold" pitchFamily="34" charset="-120"/>
                        </a:rPr>
                        <a:t>G</a:t>
                      </a:r>
                      <a:endParaRPr lang="en-US" sz="22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91440" marR="91440" marT="45720" marB="45720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262626"/>
                          </a:solidFill>
                          <a:latin typeface="Alibaba PuHuiTi 3.0 85 Bold" pitchFamily="34" charset="0"/>
                          <a:ea typeface="Alibaba PuHuiTi 3.0 85 Bold" pitchFamily="34" charset="-122"/>
                          <a:cs typeface="Alibaba PuHuiTi 3.0 85 Bold" pitchFamily="34" charset="-120"/>
                        </a:rPr>
                        <a:t>128</a:t>
                      </a:r>
                      <a:endParaRPr lang="en-US" sz="22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91440" marR="91440" marT="45720" marB="45720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262626"/>
                          </a:solidFill>
                          <a:latin typeface="Alibaba PuHuiTi 3.0 85 Bold" pitchFamily="34" charset="0"/>
                          <a:ea typeface="Alibaba PuHuiTi 3.0 85 Bold" pitchFamily="34" charset="-122"/>
                          <a:cs typeface="Alibaba PuHuiTi 3.0 85 Bold" pitchFamily="34" charset="-120"/>
                        </a:rPr>
                        <a:t>10000000</a:t>
                      </a:r>
                      <a:endParaRPr lang="en-US" sz="22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91440" marR="91440" marT="45720" marB="45720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262626"/>
                          </a:solidFill>
                          <a:latin typeface="Alibaba PuHuiTi 3.0 85 Bold" pitchFamily="34" charset="0"/>
                          <a:ea typeface="Alibaba PuHuiTi 3.0 85 Bold" pitchFamily="34" charset="-122"/>
                          <a:cs typeface="Alibaba PuHuiTi 3.0 85 Bold" pitchFamily="34" charset="-120"/>
                        </a:rPr>
                        <a:t>B</a:t>
                      </a:r>
                      <a:endParaRPr lang="en-US" sz="22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91440" marR="91440" marT="45720" marB="45720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262626"/>
                          </a:solidFill>
                          <a:latin typeface="Alibaba PuHuiTi 3.0 85 Bold" pitchFamily="34" charset="0"/>
                          <a:ea typeface="Alibaba PuHuiTi 3.0 85 Bold" pitchFamily="34" charset="-122"/>
                          <a:cs typeface="Alibaba PuHuiTi 3.0 85 Bold" pitchFamily="34" charset="-120"/>
                        </a:rPr>
                        <a:t>0</a:t>
                      </a:r>
                      <a:endParaRPr lang="en-US" sz="22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91440" marR="91440" marT="45720" marB="45720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262626"/>
                          </a:solidFill>
                          <a:latin typeface="Alibaba PuHuiTi 3.0 85 Bold" pitchFamily="34" charset="0"/>
                          <a:ea typeface="Alibaba PuHuiTi 3.0 85 Bold" pitchFamily="34" charset="-122"/>
                          <a:cs typeface="Alibaba PuHuiTi 3.0 85 Bold" pitchFamily="34" charset="-120"/>
                        </a:rPr>
                        <a:t>00000000</a:t>
                      </a:r>
                      <a:endParaRPr lang="en-US" sz="22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91440" marR="91440" marT="45720" marB="45720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1097280" y="4892040"/>
            <a:ext cx="9966960" cy="685800"/>
          </a:xfrm>
          <a:prstGeom prst="roundRect">
            <a:avLst>
              <a:gd name="adj" fmla="val 10667"/>
            </a:avLst>
          </a:prstGeom>
          <a:solidFill>
            <a:srgbClr val="F5F3FF"/>
          </a:solidFill>
          <a:ln w="25400">
            <a:solidFill>
              <a:srgbClr val="6251B1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261872" y="5001768"/>
            <a:ext cx="9637776" cy="4663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Encoding：按约定把数值表示并组织成 bits / bytes。</a:t>
            </a:r>
            <a:endParaRPr lang="en-US" sz="2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</p:sp>
      <p:sp>
        <p:nvSpPr>
          <p:cNvPr id="3" name="Shape 1"/>
          <p:cNvSpPr/>
          <p:nvPr/>
        </p:nvSpPr>
        <p:spPr>
          <a:xfrm>
            <a:off x="0" y="6756400"/>
            <a:ext cx="12192000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</p:sp>
      <p:sp>
        <p:nvSpPr>
          <p:cNvPr id="4" name="Text 2"/>
          <p:cNvSpPr/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Q7 真实 BMP 文件中，像素数据之前有什么？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" y="2240280"/>
            <a:ext cx="104241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真实文件：assets/q7-3x2-24bit.bmp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868680" y="3063240"/>
            <a:ext cx="104241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问题：pixel data 之前为什么还有一段 bytes？</a:t>
            </a:r>
            <a:endParaRPr lang="en-US" sz="3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</p:sp>
      <p:sp>
        <p:nvSpPr>
          <p:cNvPr id="3" name="Shape 1"/>
          <p:cNvSpPr/>
          <p:nvPr/>
        </p:nvSpPr>
        <p:spPr>
          <a:xfrm>
            <a:off x="0" y="6756400"/>
            <a:ext cx="12192000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</p:sp>
      <p:sp>
        <p:nvSpPr>
          <p:cNvPr id="4" name="Text 2"/>
          <p:cNvSpPr/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Q7 真实 BMP 文件中，像素数据之前有什么？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1005840" y="1490472"/>
            <a:ext cx="4754880" cy="3474720"/>
          </a:xfrm>
          <a:prstGeom prst="roundRect">
            <a:avLst>
              <a:gd name="adj" fmla="val 2105"/>
            </a:avLst>
          </a:prstGeom>
          <a:solidFill>
            <a:srgbClr val="F8F9FC"/>
          </a:solidFill>
          <a:ln w="19050">
            <a:solidFill>
              <a:srgbClr val="6251B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34440" y="1764792"/>
            <a:ext cx="429768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42 4D  →  "BM"</a:t>
            </a:r>
            <a:endParaRPr lang="en-US" sz="2400" dirty="0"/>
          </a:p>
          <a:p>
            <a:pPr algn="l" indent="0" marL="0">
              <a:buNone/>
            </a:pPr>
            <a:endParaRPr lang="en-US" sz="2400" dirty="0"/>
          </a:p>
          <a:p>
            <a:pPr algn="l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header bytes at 0x0A:</a:t>
            </a:r>
            <a:endParaRPr lang="en-US" sz="2400" dirty="0"/>
          </a:p>
          <a:p>
            <a:pPr algn="l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36 00 00 00</a:t>
            </a:r>
            <a:endParaRPr lang="en-US" sz="2400" dirty="0"/>
          </a:p>
          <a:p>
            <a:pPr algn="l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↓</a:t>
            </a:r>
            <a:endParaRPr lang="en-US" sz="2400" dirty="0"/>
          </a:p>
          <a:p>
            <a:pPr algn="l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pixel-data offset = 54 bytes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6217920" y="2267712"/>
            <a:ext cx="4663440" cy="1645920"/>
          </a:xfrm>
          <a:prstGeom prst="roundRect">
            <a:avLst>
              <a:gd name="adj" fmla="val 4444"/>
            </a:avLst>
          </a:prstGeom>
          <a:solidFill>
            <a:srgbClr val="F5F3FF"/>
          </a:solidFill>
          <a:ln w="25400">
            <a:solidFill>
              <a:srgbClr val="6251B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382512" y="2377440"/>
            <a:ext cx="4334256" cy="142646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pixel values ≠ 整个文件</a:t>
            </a:r>
            <a:endParaRPr lang="en-US" sz="2500" dirty="0"/>
          </a:p>
          <a:p>
            <a:pPr algn="ctr" indent="0" marL="0">
              <a:buNone/>
            </a:pPr>
            <a:r>
              <a:rPr lang="en-US" sz="25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文件还包含 header 等信息</a:t>
            </a:r>
            <a:endParaRPr lang="en-US" sz="2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</p:sp>
      <p:sp>
        <p:nvSpPr>
          <p:cNvPr id="3" name="Shape 1"/>
          <p:cNvSpPr/>
          <p:nvPr/>
        </p:nvSpPr>
        <p:spPr>
          <a:xfrm>
            <a:off x="0" y="6756400"/>
            <a:ext cx="12192000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</p:sp>
      <p:sp>
        <p:nvSpPr>
          <p:cNvPr id="4" name="Text 2"/>
          <p:cNvSpPr/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Q8 1920×1080、24-bit RGB，不压缩需要多大？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1920240" y="192024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C8C8C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993392" y="1975104"/>
            <a:ext cx="3419856" cy="6217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A. 约 2 MB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6217920" y="192024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C8C8C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291072" y="1975104"/>
            <a:ext cx="3419856" cy="6217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B. 约 6 MB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1920240" y="32004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C8C8C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993392" y="3255264"/>
            <a:ext cx="3419856" cy="6217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C. 约 24 MB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6217920" y="32004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C8C8C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91072" y="3255264"/>
            <a:ext cx="3419856" cy="6217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D. 约 48 MB</a:t>
            </a:r>
            <a:endParaRPr lang="en-US" sz="2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</p:sp>
      <p:sp>
        <p:nvSpPr>
          <p:cNvPr id="3" name="Shape 1"/>
          <p:cNvSpPr/>
          <p:nvPr/>
        </p:nvSpPr>
        <p:spPr>
          <a:xfrm>
            <a:off x="0" y="6756400"/>
            <a:ext cx="12192000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</p:sp>
      <p:sp>
        <p:nvSpPr>
          <p:cNvPr id="4" name="Text 2"/>
          <p:cNvSpPr/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Q8 1920×1080、24-bit RGB，不压缩需要多大？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914400" y="1490472"/>
            <a:ext cx="103327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1920 × 1080 = 2,073,600 pixels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914400" y="2313432"/>
            <a:ext cx="103327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24 bits/pixel = 3 bytes/pixel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914400" y="3136392"/>
            <a:ext cx="103327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2,073,600 × 3 = 6,220,800 bytes ≈ 6.22 MB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2971800" y="4645152"/>
            <a:ext cx="6217920" cy="777240"/>
          </a:xfrm>
          <a:prstGeom prst="roundRect">
            <a:avLst>
              <a:gd name="adj" fmla="val 9412"/>
            </a:avLst>
          </a:prstGeom>
          <a:solidFill>
            <a:srgbClr val="F5F3FF"/>
          </a:solidFill>
          <a:ln w="25400">
            <a:solidFill>
              <a:srgbClr val="6251B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136392" y="4754880"/>
            <a:ext cx="5888736" cy="5577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答案：B. 约 6 MB</a:t>
            </a:r>
            <a:endParaRPr lang="en-US" sz="3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</p:sp>
      <p:sp>
        <p:nvSpPr>
          <p:cNvPr id="3" name="Shape 1"/>
          <p:cNvSpPr/>
          <p:nvPr/>
        </p:nvSpPr>
        <p:spPr>
          <a:xfrm>
            <a:off x="0" y="6756400"/>
            <a:ext cx="12192000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</p:sp>
      <p:sp>
        <p:nvSpPr>
          <p:cNvPr id="4" name="Text 2"/>
          <p:cNvSpPr/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Q9 宽和高都变成 2 倍，数据量变成几倍？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" y="2011680"/>
            <a:ext cx="104241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原图：800×600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868680" y="2743200"/>
            <a:ext cx="104241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新图：1600×1200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68680" y="3474720"/>
            <a:ext cx="104241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bits per pixel 不变</a:t>
            </a:r>
            <a:endParaRPr lang="en-US" sz="2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</p:sp>
      <p:sp>
        <p:nvSpPr>
          <p:cNvPr id="3" name="Shape 1"/>
          <p:cNvSpPr/>
          <p:nvPr/>
        </p:nvSpPr>
        <p:spPr>
          <a:xfrm>
            <a:off x="0" y="6756400"/>
            <a:ext cx="12192000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</p:sp>
      <p:sp>
        <p:nvSpPr>
          <p:cNvPr id="4" name="Text 2"/>
          <p:cNvSpPr/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Q9 宽和高都变成 2 倍，数据量变成几倍？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1828800" y="2148840"/>
            <a:ext cx="8503920" cy="91440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 w="25400">
            <a:solidFill>
              <a:srgbClr val="6251B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993392" y="2258568"/>
            <a:ext cx="8174736" cy="6949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(1600 × 1200) / (800 × 600) = 4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914400" y="3657600"/>
            <a:ext cx="103327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宽 ×2，高 ×2，所以像素总数 ×4。</a:t>
            </a:r>
            <a:endParaRPr lang="en-US" sz="2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</p:sp>
      <p:sp>
        <p:nvSpPr>
          <p:cNvPr id="3" name="Shape 1"/>
          <p:cNvSpPr/>
          <p:nvPr/>
        </p:nvSpPr>
        <p:spPr>
          <a:xfrm>
            <a:off x="0" y="6756400"/>
            <a:ext cx="12192000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</p:sp>
      <p:sp>
        <p:nvSpPr>
          <p:cNvPr id="4" name="Text 2"/>
          <p:cNvSpPr/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Q12 回看 Q0：这四种说法现在怎样排序？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822960" y="2286000"/>
            <a:ext cx="2331720" cy="1005840"/>
          </a:xfrm>
          <a:prstGeom prst="roundRect">
            <a:avLst>
              <a:gd name="adj" fmla="val 7273"/>
            </a:avLst>
          </a:prstGeom>
          <a:solidFill>
            <a:srgbClr val="F5F3FF"/>
          </a:solidFill>
          <a:ln w="19050">
            <a:solidFill>
              <a:srgbClr val="6251B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96112" y="2340864"/>
            <a:ext cx="2185416" cy="8961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很多 0 和 1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3474720" y="2286000"/>
            <a:ext cx="2331720" cy="1005840"/>
          </a:xfrm>
          <a:prstGeom prst="roundRect">
            <a:avLst>
              <a:gd name="adj" fmla="val 7273"/>
            </a:avLst>
          </a:prstGeom>
          <a:solidFill>
            <a:srgbClr val="F8F9FC"/>
          </a:solidFill>
          <a:ln w="19050">
            <a:solidFill>
              <a:srgbClr val="6251B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547872" y="2340864"/>
            <a:ext cx="2185416" cy="8961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很多像素 / 小方格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6126480" y="2286000"/>
            <a:ext cx="2331720" cy="1005840"/>
          </a:xfrm>
          <a:prstGeom prst="roundRect">
            <a:avLst>
              <a:gd name="adj" fmla="val 7273"/>
            </a:avLst>
          </a:prstGeom>
          <a:solidFill>
            <a:srgbClr val="F5F3FF"/>
          </a:solidFill>
          <a:ln w="19050">
            <a:solidFill>
              <a:srgbClr val="6251B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199632" y="2340864"/>
            <a:ext cx="2185416" cy="8961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很多数字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8778240" y="2286000"/>
            <a:ext cx="2331720" cy="1005840"/>
          </a:xfrm>
          <a:prstGeom prst="roundRect">
            <a:avLst>
              <a:gd name="adj" fmla="val 7273"/>
            </a:avLst>
          </a:prstGeom>
          <a:solidFill>
            <a:srgbClr val="F8F9FC"/>
          </a:solidFill>
          <a:ln w="19050">
            <a:solidFill>
              <a:srgbClr val="6251B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51392" y="2340864"/>
            <a:ext cx="2185416" cy="8961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很多颜色值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822960" y="4663440"/>
            <a:ext cx="10515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先独立排序，再和同桌解释每一步发生了什么。</a:t>
            </a:r>
            <a:endParaRPr lang="en-US" sz="2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</p:sp>
      <p:sp>
        <p:nvSpPr>
          <p:cNvPr id="3" name="Shape 1"/>
          <p:cNvSpPr/>
          <p:nvPr/>
        </p:nvSpPr>
        <p:spPr>
          <a:xfrm>
            <a:off x="0" y="6756400"/>
            <a:ext cx="12192000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</p:sp>
      <p:sp>
        <p:nvSpPr>
          <p:cNvPr id="4" name="Text 2"/>
          <p:cNvSpPr/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Q12 回看 Q0：这四种说法现在怎样排序？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777240" y="1508760"/>
            <a:ext cx="2240280" cy="749808"/>
          </a:xfrm>
          <a:prstGeom prst="roundRect">
            <a:avLst>
              <a:gd name="adj" fmla="val 9756"/>
            </a:avLst>
          </a:prstGeom>
          <a:solidFill>
            <a:srgbClr val="F5F3FF"/>
          </a:solidFill>
          <a:ln w="19050">
            <a:solidFill>
              <a:srgbClr val="6251B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50392" y="1563624"/>
            <a:ext cx="2093976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像素位置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2907792" y="1691640"/>
            <a:ext cx="3657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3566160" y="1508760"/>
            <a:ext cx="2240280" cy="749808"/>
          </a:xfrm>
          <a:prstGeom prst="roundRect">
            <a:avLst>
              <a:gd name="adj" fmla="val 9756"/>
            </a:avLst>
          </a:prstGeom>
          <a:solidFill>
            <a:srgbClr val="F5F3FF"/>
          </a:solidFill>
          <a:ln w="19050">
            <a:solidFill>
              <a:srgbClr val="6251B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639312" y="1563624"/>
            <a:ext cx="2093976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颜色值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5696712" y="1691640"/>
            <a:ext cx="3657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→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355080" y="1508760"/>
            <a:ext cx="2240280" cy="749808"/>
          </a:xfrm>
          <a:prstGeom prst="roundRect">
            <a:avLst>
              <a:gd name="adj" fmla="val 9756"/>
            </a:avLst>
          </a:prstGeom>
          <a:solidFill>
            <a:srgbClr val="F5F3FF"/>
          </a:solidFill>
          <a:ln w="19050">
            <a:solidFill>
              <a:srgbClr val="6251B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28232" y="1563624"/>
            <a:ext cx="2093976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数字表示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8485632" y="1691640"/>
            <a:ext cx="3657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→</a:t>
            </a:r>
            <a:endParaRPr lang="en-US" sz="2800" dirty="0"/>
          </a:p>
        </p:txBody>
      </p:sp>
      <p:sp>
        <p:nvSpPr>
          <p:cNvPr id="15" name="Shape 12"/>
          <p:cNvSpPr/>
          <p:nvPr/>
        </p:nvSpPr>
        <p:spPr>
          <a:xfrm>
            <a:off x="9144000" y="1508760"/>
            <a:ext cx="2240280" cy="749808"/>
          </a:xfrm>
          <a:prstGeom prst="roundRect">
            <a:avLst>
              <a:gd name="adj" fmla="val 9756"/>
            </a:avLst>
          </a:prstGeom>
          <a:solidFill>
            <a:srgbClr val="F5F3FF"/>
          </a:solidFill>
          <a:ln w="19050">
            <a:solidFill>
              <a:srgbClr val="6251B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217152" y="1563624"/>
            <a:ext cx="2093976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bits / bytes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868680" y="2971800"/>
            <a:ext cx="10424160" cy="1143000"/>
          </a:xfrm>
          <a:prstGeom prst="roundRect">
            <a:avLst>
              <a:gd name="adj" fmla="val 6400"/>
            </a:avLst>
          </a:prstGeom>
          <a:solidFill>
            <a:srgbClr val="F5F3FF"/>
          </a:solidFill>
          <a:ln w="25400">
            <a:solidFill>
              <a:srgbClr val="6251B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033272" y="3081528"/>
            <a:ext cx="10094976" cy="9235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Sampling：在哪里取值？取多少位置？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Quantization：每个位置允许哪些离散值？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Encoding：这些值怎样表示并组织成 bits / bytes？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868680" y="4800600"/>
            <a:ext cx="104241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像素值数据量 = W × H × b bits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868680" y="5394960"/>
            <a:ext cx="104241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本课 24-bit RGB：W × H × 3 bytes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libaba PuHuiTi 3.0 115 Black"/>
        <a:ea typeface="Alibaba PuHuiTi 3.0 115 Black"/>
        <a:cs typeface="Alibaba PuHuiTi 3.0 115 Black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libaba PuHuiTi 3.0 55 Regular"/>
        <a:ea typeface="Alibaba PuHuiTi 3.0 55 Regular"/>
        <a:cs typeface="Alibaba PuHuiTi 3.0 55 Regular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shtick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图像编码</dc:title>
  <dc:subject>高中信息科技：图像编码</dc:subject>
  <dc:creator>ChatGPT</dc:creator>
  <cp:lastModifiedBy>ChatGPT</cp:lastModifiedBy>
  <cp:revision>1</cp:revision>
  <dcterms:created xsi:type="dcterms:W3CDTF">2026-09-29T05:05:11Z</dcterms:created>
  <dcterms:modified xsi:type="dcterms:W3CDTF">2026-09-29T05:05:11Z</dcterms:modified>
</cp:coreProperties>
</file>
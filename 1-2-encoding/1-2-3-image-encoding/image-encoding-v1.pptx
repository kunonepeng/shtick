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页面目的：开场，建立本课核心问题。
逐字稿：同学们，今天我们追踪一张图片怎样从看得见的画面变成计算机里的数据。我们不先背定义，而是一步一步观察：位置怎样变成像素，颜色怎样变成有限值，最后怎样写成 bits 和 bytes。
停顿与追问：请学生只记住核心问题：图片文件里到底保存了什么？
预期回答：学生会说像素、颜色、数字或0和1。
转场：先从四张卡片开始。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页面目的：暴露学生对图像文件的初始模型。
逐字稿：请看四张卡片。它们都可能是对图片的描述，但描述层次不同。现在请不要选唯一正确答案，而是把它们排成从“看到的画面”到“计算机保存的数据”的顺序。
停顿与追问：给三十秒同桌讨论；追问：为什么把这张卡放前面？
预期回答：可能把0和1放最前，也可能把像素和颜色混在一起。
转场：先不公布顺序，后面用证据不断修正。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页面目的：Q1 独立问题页，先预测再看证据。
逐字稿：接下来我们比较同一张测试图的不同版本。请注意，投影时它们显示成一样大。问题是：如果显示尺寸一样，为什么看起来还会不同？请先预测哪一张保留细节最多，低像素数时最先丢失什么。
停顿与追问：停顿30秒；追问8×8到底表示什么。
预期回答：学生一般会说像素少、细节少，但可能把显示尺寸和图像像素尺寸混淆。
转场：现在只看PPTX中的证据页，不先运行代码。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页面目的：证据页A，比较256、64、32。
逐字稿：这页仍然是同一个问题。我们只加入证据A：256、64、32。三张图显示尺寸相同。请先看256作为基准，再看64，最后看32。你会发现整体结构还在，但圆和斜线开始方格化。
停顿与追问：停顿让学生指出变化；追问：显示尺寸一样，变化来自哪里？
预期回答：学生应指出像素数量减少，空间细节减少。
转场：下一页用32作为衔接，继续比较更低像素数。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页面目的：证据页B，比较32、16、8，32重复作视觉锚点。
逐字稿：这页左边仍然是32×32，作为衔接。到16×16时，圆和斜线明显粗糙，细节条纹大量丢失。到8×8时，有些结构已经不只是粗糙，而是难以辨认。这说明采样点太少时，空间结构本身会丢失。
停顿与追问：追问：8×8上哪些内容还看得见，哪些已经消失？
预期回答：学生能说出大色块相对稳定，小细节和曲线先丢失。
转场：给出概念：Sampling 决定在哪里取值、取多少位置。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页面目的：Q2 独立判断题，先让学生表态。
逐字稿：请判断这句话：1600×1200 的图片一定比 800×600 更清晰。你同意吗？先不要急着解释，先写下同意、不同意，或者“要看条件”。
停顿与追问：停顿并统计；追问：你把清晰度归因于什么？
预期回答：很多学生会倾向像素越多越清晰。
转场：下一页展示同场景、同4:3构图的反例。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页面目的：Q2 证据页，用同场景同构图反例排除形变变量。
逐字稿：左边是1600×1200，像素数更高，但加入了高斯模糊；右边是800×600，像素数更低，但边缘清晰。两张都是4:3，同一场景构图，所以不是形状比例造成差异。结论是：像素数不是图像质量唯一因素。
停顿与追问：先让学生只观察，之后再揭示结论；追问还有哪些因素影响质量。
预期回答：学生应提到对焦、模糊、压缩、噪声、颜色等。
转场：转入Q3：像素数量不变，只改颜色会怎样？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页面目的：Q3 独立预测页，不提前给出原因。
逐字稿：现在 pixel dimensions 不变，仍然是同一张256×256图。我们只限制整幅图最多能出现多少种颜色。请预测：红色块和绿色块紧贴在一起时，颜色种数越来越少，红绿接缝会一直看得见吗？为什么？
停顿与追问：请学生先表态；追问：如果像素位置没变，边界是不是一定还在？
预期回答：学生可能认为像素没少，边界应当还在。
转场：下一页只看图，不先公布RGB数值。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页面目的：Q3 先看图片现象，不显示RGB数值。
逐字稿：这页仍然是同一个问题，我们先只看图。左边是原图，中间最多16种颜色，右边最多2种颜色。请观察渐变、色块和红绿接缝。16色时接缝还比较明显；2色时接缝可能消失或变得难以判断。
停顿与追问：停顿让学生说现象；追问：这是不是因为像素位置少了？
预期回答：学生应发现像素数没变，但颜色被合并了。
转场：下一页再用接缝两侧像素的RGB值验证。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页面目的：Q3 数值证据页，揭示接缝两侧RGB。
逐字稿：我们取红色块最后一列的点(72,40)和绿色块第一列的点(73,40)。16色版本里，左右RGB不同，所以边界还有颜色差异。2色版本里，两侧都是(71,42,71)，因此由颜色差异形成的接缝消失。注意：pixel positions 没有减少，变化发生在每个位置允许取哪些颜色值。
停顿与追问：追问：这和Q1的采样丢失有什么不同？
预期回答：学生应区分空间位置减少与颜色值合并。
转场：由此进入Q4：如果只剩16个状态，如何编号？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页面目的：Q4 独立问题页，只问2/3bit够不够，不揭示4bit答案。
逐字稿：Q3只让我们看到颜色种数减少会改变画面，但还没有检查文件怎样保存。现在假设给16种颜色各分配一个不同的、固定长度的二进制标签。请判断：2bit够吗？3bit够吗？你准备用什么方法判断？
停顿与追问：停顿让学生先试；追问可以列出多少个二进制状态。
预期回答：学生可能猜4bit，但需要用状态数量证明。
转场：下一页枚举状态数，推导2^b。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页面目的：Q4 证据页，用状态数量推出4bit。
逐字稿：1bit只有2个状态；2bits有4个状态；3bits有8个状态，仍不够给16种颜色各贴一个不同标签；4bits有16个状态，刚好够。于是一般规律是可表示状态数等于2的b次方。注意，这只说明可以这样编码，不等于刚才的文件已经用4bits保存。
停顿与追问：让学生复述为什么3bit不够；追问真实文件是否一定用4bit。
预期回答：学生应说真实存储取决于格式和编码约定。
转场：进入RGB：如果不是16个标签，而是三个通道呢？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页面目的：Q5 投票页，先暴露对24-bit的误解。
逐字稿：看到24-bit color，你认为最多能表示多少种颜色？A是24种，B是256种，C是2的24次方，D是现在还不能确定。请先投票，并说明“24”到底是在描述颜色数量还是一个像素用了多少bit。
停顿与追问：停顿收集理由，不判断对错。
预期回答：学生可能选A或B，也可能猜C但说不清理由。
转场：下一页用RGB三个通道推导。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页面目的：Q5 证据页，从8+8+8推出2^24。
逐字稿：常见24-bit RGB把一个像素拆成三个通道：R、G、B。每个通道8bit，表示0到255，共256种。三个通道组合是256乘256乘256，也就是2的24次方，约1677万种RGB组合。所以24-bit描述的是每像素位数，不是24种颜色。
停顿与追问：追问：如果每通道不是8bit，颜色组合数会怎样变？
预期回答：学生能说明通道数值组合导致颜色数指数增长。
转场：下一步具体看一个RGB像素怎样写成0和1。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页面目的：Q6 独立问题页，先尝试转换。
逐字稿：现在只看一个像素：RGB等于(255,128,0)。如果每个通道固定8bit，请你先试着写出R、G、B三个二进制值。至少判断255会是什么样。
停顿与追问：停顿；允许学生只写一部分。
预期回答：学生可能知道255是11111111，128较难。
转场：下一页逐个揭示，并引出encoding。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页面目的：Q6 证据页，揭示RGB到bits。
逐字稿：255写成八个1；128写成10000000；0也要写满8位，是00000000。这样一个RGB像素就可以表示成三段8bit。这里的关键是：编码不只是变成0和1，还包括按照约定的长度和顺序组织数值。
停顿与追问：追问：如果不约定长度，会出现什么问题？
预期回答：学生会意识到软件无法知道每段从哪里开始。
转场：转入真实文件：图片文件是不是只从像素开始？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页面目的：Q7 问题页，提出文件格式信息。
逐字稿：我们已经知道一个像素怎样写成bits。可是一个真正的图片文件是不是从第一个像素开始？请看真实文件q7-3x2-24bit.bmp。问题只有一个：如果像素数据前还有一段bytes，那些bytes可能在做什么？
停顿与追问：停顿让学生猜。
预期回答：学生可能说文件类型、宽高、每像素位数、像素起始位置。
转场：下一页展示BM和offset证据。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页面目的：Q7 证据页，建立header/image info概念。
逐字稿：文件开头的42 4D对应BM，说明这是BMP文件。header在0x0A处有36 00 00 00，老师已经提前解码，表示pixel-data offset等于54bytes。这说明文件前54个bytes不是颜色，而是告诉软件如何解释图像的数据。
停顿与追问：追问：这些信息里可能有哪些？
预期回答：学生说出文件类型、宽高、bit depth、像素数据位置。
转场：进入未压缩像素数据量计算。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页面目的：Q8 估算问题页，所有选项保持中性。
逐字稿：这是本节最重要的计算。先不算完整，先估计：1920×1080、24-bit RGB，如果只算未压缩像素值本身，大约多大？四个选项样式完全一样，请先投票。
停顿与追问：统计选择；追问估算依据。
预期回答：学生可能忽略bit到byte换算。
转场：下一页按三步计算。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页面目的：Q8 证据页，逐步计算答案。
逐字稿：第一步，像素数是1920乘1080，等于2,073,600。第二步，24-bit RGB每像素24bit，也就是3bytes。第三步，相乘得到6,220,800 bytes，约6.22MB。因此最接近B，约6MB。请注意，这里算的是未压缩像素值数据量，不是任意文件的磁盘大小。
停顿与追问：追问：如果按MiB会稍小，为什么？
预期回答：学生能提到单位换算差异。
转场：用Q9做快速迁移。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页面目的：Q9 迁移问题页，不提前给出4倍。
逐字稿：原图800×600，新图1600×1200，bits per pixel不变。请先直觉判断：数据量变成2倍还是4倍？为什么？不要先算很细，只想像二维面积怎样变化。
停顿与追问：停顿让学生预测。
预期回答：学生可能只看到一个方向翻倍而答2倍。
转场：下一页用比例说明。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页面目的：Q9 证据页，二维倍数相乘。
逐字稿：像素总数是宽乘高，不是只看宽或只看高。新旧比值是1600×1200除以800×600，宽方向2倍，高方向2倍，乘起来是4倍。如果bits per pixel不变，未压缩像素值数据量也变成4倍。
停顿与追问：追问：如果只把宽翻倍会怎样？
预期回答：学生应能迁移到2倍。
转场：回到Q0四张卡片，整理全课。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页面目的：Q12 问题页，先让学生重新排序，不提前显示链条。
逐字稿：我们回到开头的四张卡片。现在请不要看答案，先自己重新排序：像素、颜色值、数字、0和1分别在图像表示链的哪一层？请用一句话解释两个相邻卡片之间发生了什么。
停顿与追问：给学生30秒；追问某个箭头代表采样、量化还是编码。
预期回答：学生应比Q0更能区分层次。
转场：下一页揭示链条并收束全课。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页面目的：Q12 揭示页，形成完整表示链和最终公式。
逐字稿：比较合理的链条是：像素位置、颜色值、数字表示、bits和bytes。Sampling回答在哪里取值、取多少位置；Quantization回答每个位置允许哪些离散颜色；Encoding回答这些值怎样表示并组织成bits和bytes。最后记住两条：像素数等于W×H；像素值数据量等于W×H×b bits。24-bit RGB时就是W×H×3 bytes。
停顿与追问：请学生用自己的话复述三个环节。
预期回答：学生应能区分采样、量化、编码。
转场：本节课结束，后续可迁移到压缩和更多文件格式。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01168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图像编码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731520" y="29260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686868"/>
                </a:solidFill>
                <a:latin typeface="Alibaba PuHuiTi 3.0 55 Regular" pitchFamily="34" charset="0"/>
                <a:ea typeface="Alibaba PuHuiTi 3.0 55 Regular" pitchFamily="34" charset="-122"/>
                <a:cs typeface="Alibaba PuHuiTi 3.0 55 Regular" pitchFamily="34" charset="-120"/>
              </a:rPr>
              <a:t>Sampling · Quantization · Encoding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731520" y="3657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8C64E1"/>
                </a:solidFill>
                <a:latin typeface="Alibaba PuHuiTi 3.0 55 Regular" pitchFamily="34" charset="0"/>
                <a:ea typeface="Alibaba PuHuiTi 3.0 55 Regular" pitchFamily="34" charset="-122"/>
                <a:cs typeface="Alibaba PuHuiTi 3.0 55 Regular" pitchFamily="34" charset="-120"/>
              </a:rPr>
              <a:t>从一张图片到 pixels、colors、bits 和 bytes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Q0 这四种说法分别在描述图像的哪一层？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87452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7CE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965960"/>
            <a:ext cx="211226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很多 0 和 1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3429000" y="306324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8F7FD"/>
          </a:solidFill>
          <a:ln w="13970">
            <a:solidFill>
              <a:srgbClr val="C9BF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38728" y="3154680"/>
            <a:ext cx="211226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很多像素 / 小方格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989320" y="187452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7CE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99048" y="1965960"/>
            <a:ext cx="211226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很多数字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549640" y="306324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8F7FD"/>
          </a:solidFill>
          <a:ln w="13970">
            <a:solidFill>
              <a:srgbClr val="C9BF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59368" y="3154680"/>
            <a:ext cx="211226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很多颜色值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2377440" y="5166360"/>
            <a:ext cx="7498080" cy="502920"/>
          </a:xfrm>
          <a:prstGeom prst="roundRect">
            <a:avLst>
              <a:gd name="adj" fmla="val 32727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68880" y="5193792"/>
            <a:ext cx="7315200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先排序，不公布答案；Q12 再回来修改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Q1 如果显示尺寸一样，为什么这些图片看起来不同？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同一张测试图，显示成一样大。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2514600"/>
            <a:ext cx="576072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262626"/>
                </a:solidFill>
                <a:latin typeface="Alibaba PuHuiTi 3.0 55 Regular" pitchFamily="34" charset="0"/>
                <a:ea typeface="Alibaba PuHuiTi 3.0 55 Regular" pitchFamily="34" charset="-122"/>
                <a:cs typeface="Alibaba PuHuiTi 3.0 55 Regular" pitchFamily="34" charset="-120"/>
              </a:rPr>
              <a:t>预测：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62626"/>
                </a:solidFill>
                <a:latin typeface="Alibaba PuHuiTi 3.0 55 Regular" pitchFamily="34" charset="0"/>
                <a:ea typeface="Alibaba PuHuiTi 3.0 55 Regular" pitchFamily="34" charset="-122"/>
                <a:cs typeface="Alibaba PuHuiTi 3.0 55 Regular" pitchFamily="34" charset="-120"/>
              </a:rPr>
              <a:t>1. 哪一张保留最多细节？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62626"/>
                </a:solidFill>
                <a:latin typeface="Alibaba PuHuiTi 3.0 55 Regular" pitchFamily="34" charset="0"/>
                <a:ea typeface="Alibaba PuHuiTi 3.0 55 Regular" pitchFamily="34" charset="-122"/>
                <a:cs typeface="Alibaba PuHuiTi 3.0 55 Regular" pitchFamily="34" charset="-120"/>
              </a:rPr>
              <a:t>2. 8×8 到底表示什么？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62626"/>
                </a:solidFill>
                <a:latin typeface="Alibaba PuHuiTi 3.0 55 Regular" pitchFamily="34" charset="0"/>
                <a:ea typeface="Alibaba PuHuiTi 3.0 55 Regular" pitchFamily="34" charset="-122"/>
                <a:cs typeface="Alibaba PuHuiTi 3.0 55 Regular" pitchFamily="34" charset="-120"/>
              </a:rPr>
              <a:t>3. 低像素数时，最先丢失什么？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680960" y="2286000"/>
            <a:ext cx="2926080" cy="1417320"/>
          </a:xfrm>
          <a:prstGeom prst="roundRect">
            <a:avLst>
              <a:gd name="adj" fmla="val 7742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90688" y="2377440"/>
            <a:ext cx="2706624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先预测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再看证据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Q1 如果显示尺寸一样，为什么这些图片看起来不同？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794760" y="1234440"/>
            <a:ext cx="4663440" cy="411480"/>
          </a:xfrm>
          <a:prstGeom prst="roundRect">
            <a:avLst>
              <a:gd name="adj" fmla="val 40000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86200" y="1261872"/>
            <a:ext cx="448056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证据 A：256 / 64 / 32</a:t>
            </a:r>
            <a:endParaRPr lang="en-US" sz="1800" dirty="0"/>
          </a:p>
        </p:txBody>
      </p:sp>
      <p:pic>
        <p:nvPicPr>
          <p:cNvPr id="8" name="Image 0" descr="/mnt/data/fix/1-2-encoding/1-2-3-image-encoding/assets/fallback/sampling-25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3154680" cy="3154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51023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256×256</a:t>
            </a:r>
            <a:endParaRPr lang="en-US" sz="1400" dirty="0"/>
          </a:p>
        </p:txBody>
      </p:sp>
      <p:pic>
        <p:nvPicPr>
          <p:cNvPr id="10" name="Image 1" descr="/mnt/data/fix/1-2-encoding/1-2-3-image-encoding/assets/fallback/sampling-6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0560" y="1874520"/>
            <a:ext cx="3154680" cy="31546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80560" y="51023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64×64</a:t>
            </a:r>
            <a:endParaRPr lang="en-US" sz="1400" dirty="0"/>
          </a:p>
        </p:txBody>
      </p:sp>
      <p:pic>
        <p:nvPicPr>
          <p:cNvPr id="12" name="Image 2" descr="/mnt/data/fix/1-2-encoding/1-2-3-image-encoding/assets/fallback/sampling-3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83880" y="1874520"/>
            <a:ext cx="3154680" cy="31546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83880" y="51023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32×32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Q1 如果显示尺寸一样，为什么这些图片看起来不同？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977640" y="1234440"/>
            <a:ext cx="4297680" cy="411480"/>
          </a:xfrm>
          <a:prstGeom prst="roundRect">
            <a:avLst>
              <a:gd name="adj" fmla="val 40000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69080" y="1261872"/>
            <a:ext cx="411480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证据 B：32 / 16 / 8</a:t>
            </a:r>
            <a:endParaRPr lang="en-US" sz="1800" dirty="0"/>
          </a:p>
        </p:txBody>
      </p:sp>
      <p:pic>
        <p:nvPicPr>
          <p:cNvPr id="8" name="Image 0" descr="/mnt/data/fix/1-2-encoding/1-2-3-image-encoding/assets/fallback/sampling-3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3154680" cy="3154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51023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32×32</a:t>
            </a:r>
            <a:endParaRPr lang="en-US" sz="1400" dirty="0"/>
          </a:p>
        </p:txBody>
      </p:sp>
      <p:pic>
        <p:nvPicPr>
          <p:cNvPr id="10" name="Image 1" descr="/mnt/data/fix/1-2-encoding/1-2-3-image-encoding/assets/fallback/sampling-1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0560" y="1874520"/>
            <a:ext cx="3154680" cy="31546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80560" y="51023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16×16</a:t>
            </a:r>
            <a:endParaRPr lang="en-US" sz="1400" dirty="0"/>
          </a:p>
        </p:txBody>
      </p:sp>
      <p:pic>
        <p:nvPicPr>
          <p:cNvPr id="12" name="Image 2" descr="/mnt/data/fix/1-2-encoding/1-2-3-image-encoding/assets/fallback/sampling-8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83880" y="1874520"/>
            <a:ext cx="3154680" cy="31546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83880" y="51023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8×8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2423160" y="5532120"/>
            <a:ext cx="7360920" cy="475488"/>
          </a:xfrm>
          <a:prstGeom prst="roundRect">
            <a:avLst>
              <a:gd name="adj" fmla="val 34615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2514600" y="5559552"/>
            <a:ext cx="71780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Sampling：在哪里取值？取多少个位置？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Q2 分辨率越高，图像一定越清晰吗？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2011680" y="2103120"/>
            <a:ext cx="8138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21408" y="2194560"/>
            <a:ext cx="7918704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1600×1200 的图片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一定比 800×600 更清晰？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3474720" y="40690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先判断，再看证据。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Q2 分辨率越高，图像一定越清晰吗？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931920" y="1170432"/>
            <a:ext cx="4297680" cy="411480"/>
          </a:xfrm>
          <a:prstGeom prst="roundRect">
            <a:avLst>
              <a:gd name="adj" fmla="val 40000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23360" y="1197864"/>
            <a:ext cx="411480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证据：同场景、同 4:3 构图</a:t>
            </a:r>
            <a:endParaRPr lang="en-US" sz="1800" dirty="0"/>
          </a:p>
        </p:txBody>
      </p:sp>
      <p:pic>
        <p:nvPicPr>
          <p:cNvPr id="8" name="Image 0" descr="/mnt/data/fix/1-2-encoding/1-2-3-image-encoding/assets/fallback/q2-high-pixels-blu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828800"/>
            <a:ext cx="4572000" cy="3429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5330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1600×1200 · 高像素数但模糊</a:t>
            </a:r>
            <a:endParaRPr lang="en-US" sz="1400" dirty="0"/>
          </a:p>
        </p:txBody>
      </p:sp>
      <p:pic>
        <p:nvPicPr>
          <p:cNvPr id="10" name="Image 1" descr="/mnt/data/fix/1-2-encoding/1-2-3-image-encoding/assets/fallback/q2-low-pixels-shar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1828800"/>
            <a:ext cx="4389120" cy="32918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92240" y="51937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800×600 · 较低像素数但清晰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234440" y="58978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86868"/>
                </a:solidFill>
                <a:latin typeface="Alibaba PuHuiTi 3.0 55 Regular" pitchFamily="34" charset="0"/>
                <a:ea typeface="Alibaba PuHuiTi 3.0 55 Regular" pitchFamily="34" charset="-122"/>
                <a:cs typeface="Alibaba PuHuiTi 3.0 55 Regular" pitchFamily="34" charset="-120"/>
              </a:rPr>
              <a:t>结论：在其他条件相同时，更多采样通常保留更多细节；但 resolution 不是质量的唯一决定因素。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Q3 像素数量完全一样，红绿接缝还会一直看得见吗？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178308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条件：pixel dimensions 不变。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只限制整幅图最多出现的颜色总数。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903720" y="205740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13448" y="2148840"/>
            <a:ext cx="3255264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红绿接缝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会一直看得见吗？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Q3 像素数量完全一样，红绿接缝还会一直看得见吗？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977640" y="1170432"/>
            <a:ext cx="4297680" cy="411480"/>
          </a:xfrm>
          <a:prstGeom prst="roundRect">
            <a:avLst>
              <a:gd name="adj" fmla="val 40000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69080" y="1197864"/>
            <a:ext cx="411480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证据 A：先看图像现象</a:t>
            </a:r>
            <a:endParaRPr lang="en-US" sz="1800" dirty="0"/>
          </a:p>
        </p:txBody>
      </p:sp>
      <p:pic>
        <p:nvPicPr>
          <p:cNvPr id="8" name="Image 0" descr="/mnt/data/fix/1-2-encoding/1-2-3-image-encoding/assets/fallback/quant-origi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828800"/>
            <a:ext cx="2971800" cy="297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48737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原图</a:t>
            </a:r>
            <a:endParaRPr lang="en-US" sz="1400" dirty="0"/>
          </a:p>
        </p:txBody>
      </p:sp>
      <p:pic>
        <p:nvPicPr>
          <p:cNvPr id="10" name="Image 1" descr="/mnt/data/fix/1-2-encoding/1-2-3-image-encoding/assets/fallback/quant-1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1828800"/>
            <a:ext cx="2971800" cy="2971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17720" y="48737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最多 16 colors</a:t>
            </a:r>
            <a:endParaRPr lang="en-US" sz="1400" dirty="0"/>
          </a:p>
        </p:txBody>
      </p:sp>
      <p:pic>
        <p:nvPicPr>
          <p:cNvPr id="12" name="Image 2" descr="/mnt/data/fix/1-2-encoding/1-2-3-image-encoding/assets/fallback/quant-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66760" y="1828800"/>
            <a:ext cx="2971800" cy="2971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66760" y="48737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最多 2 colors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Q3 像素数量完全一样，红绿接缝还会一直看得见吗？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977640" y="1170432"/>
            <a:ext cx="4297680" cy="411480"/>
          </a:xfrm>
          <a:prstGeom prst="roundRect">
            <a:avLst>
              <a:gd name="adj" fmla="val 40000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69080" y="1197864"/>
            <a:ext cx="411480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证据 B：再揭示接缝 RGB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60120" y="1920240"/>
            <a:ext cx="10241280" cy="694944"/>
          </a:xfrm>
          <a:prstGeom prst="rect">
            <a:avLst/>
          </a:prstGeom>
          <a:solidFill>
            <a:srgbClr val="F0ECFF"/>
          </a:solidFill>
          <a:ln w="10160">
            <a:solidFill>
              <a:srgbClr val="D8D2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版本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88036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left (72,40)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53212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right (73,40)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41248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是否相同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60120" y="2697480"/>
            <a:ext cx="102412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2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2788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libaba PuHuiTi 3.0 55 Regular" pitchFamily="34" charset="0"/>
                <a:ea typeface="Alibaba PuHuiTi 3.0 55 Regular" pitchFamily="34" charset="-122"/>
                <a:cs typeface="Alibaba PuHuiTi 3.0 55 Regular" pitchFamily="34" charset="-120"/>
              </a:rPr>
              <a:t>16 colors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88036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libaba PuHuiTi 3.0 55 Regular" pitchFamily="34" charset="0"/>
                <a:ea typeface="Alibaba PuHuiTi 3.0 55 Regular" pitchFamily="34" charset="-122"/>
                <a:cs typeface="Alibaba PuHuiTi 3.0 55 Regular" pitchFamily="34" charset="-120"/>
              </a:rPr>
              <a:t>(255, 0, 0)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53212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libaba PuHuiTi 3.0 55 Regular" pitchFamily="34" charset="0"/>
                <a:ea typeface="Alibaba PuHuiTi 3.0 55 Regular" pitchFamily="34" charset="-122"/>
                <a:cs typeface="Alibaba PuHuiTi 3.0 55 Regular" pitchFamily="34" charset="-120"/>
              </a:rPr>
              <a:t>(0, 255, 0)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412480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不同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60120" y="3474720"/>
            <a:ext cx="10241280" cy="694944"/>
          </a:xfrm>
          <a:prstGeom prst="rect">
            <a:avLst/>
          </a:prstGeom>
          <a:solidFill>
            <a:srgbClr val="FFF3F3"/>
          </a:solidFill>
          <a:ln w="10160">
            <a:solidFill>
              <a:srgbClr val="D8D2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0120" y="3566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libaba PuHuiTi 3.0 55 Regular" pitchFamily="34" charset="0"/>
                <a:ea typeface="Alibaba PuHuiTi 3.0 55 Regular" pitchFamily="34" charset="-122"/>
                <a:cs typeface="Alibaba PuHuiTi 3.0 55 Regular" pitchFamily="34" charset="-120"/>
              </a:rPr>
              <a:t>2 colors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88036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libaba PuHuiTi 3.0 55 Regular" pitchFamily="34" charset="0"/>
                <a:ea typeface="Alibaba PuHuiTi 3.0 55 Regular" pitchFamily="34" charset="-122"/>
                <a:cs typeface="Alibaba PuHuiTi 3.0 55 Regular" pitchFamily="34" charset="-120"/>
              </a:rPr>
              <a:t>(71, 42, 71)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53212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libaba PuHuiTi 3.0 55 Regular" pitchFamily="34" charset="0"/>
                <a:ea typeface="Alibaba PuHuiTi 3.0 55 Regular" pitchFamily="34" charset="-122"/>
                <a:cs typeface="Alibaba PuHuiTi 3.0 55 Regular" pitchFamily="34" charset="-120"/>
              </a:rPr>
              <a:t>(71, 42, 71)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41248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相同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148840" y="4983480"/>
            <a:ext cx="7863840" cy="502920"/>
          </a:xfrm>
          <a:prstGeom prst="roundRect">
            <a:avLst>
              <a:gd name="adj" fmla="val 32727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240280" y="5010912"/>
            <a:ext cx="7680960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Quantization：每个位置允许哪些离散颜色值？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Q4 如果只允许 16 种颜色，最少需要几 bit？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05840" y="16459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假设：给 16 种颜色各分配一个不同的、固定长度的二进制标签。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154680" y="2743200"/>
            <a:ext cx="5852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64408" y="2834640"/>
            <a:ext cx="5632704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2 bit、3 bit 够吗？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怎样判断？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Q4 如果只允许 16 种颜色，最少需要几 bit？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977640" y="1170432"/>
            <a:ext cx="4297680" cy="411480"/>
          </a:xfrm>
          <a:prstGeom prst="roundRect">
            <a:avLst>
              <a:gd name="adj" fmla="val 40000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69080" y="1197864"/>
            <a:ext cx="411480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证据：枚举状态数量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1965960"/>
            <a:ext cx="214884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3970">
            <a:solidFill>
              <a:srgbClr val="D8D2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2057400"/>
            <a:ext cx="1929384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1 bit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2788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2 states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3703320" y="1965960"/>
            <a:ext cx="214884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3970">
            <a:solidFill>
              <a:srgbClr val="D8D2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13048" y="2057400"/>
            <a:ext cx="1929384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2 bits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703320" y="2788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4 states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>
            <a:off x="6492240" y="1965960"/>
            <a:ext cx="214884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3970">
            <a:solidFill>
              <a:srgbClr val="D8D2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01968" y="2057400"/>
            <a:ext cx="1929384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3 bits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92240" y="2788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8 states</a:t>
            </a:r>
            <a:endParaRPr lang="en-US" sz="2300" dirty="0"/>
          </a:p>
        </p:txBody>
      </p:sp>
      <p:sp>
        <p:nvSpPr>
          <p:cNvPr id="17" name="Shape 14"/>
          <p:cNvSpPr/>
          <p:nvPr/>
        </p:nvSpPr>
        <p:spPr>
          <a:xfrm>
            <a:off x="9281160" y="1965960"/>
            <a:ext cx="2148840" cy="621792"/>
          </a:xfrm>
          <a:prstGeom prst="roundRect">
            <a:avLst>
              <a:gd name="adj" fmla="val 17647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90888" y="2057400"/>
            <a:ext cx="1929384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4 bits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281160" y="2788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16 states</a:t>
            </a:r>
            <a:endParaRPr lang="en-US" sz="2300" dirty="0"/>
          </a:p>
        </p:txBody>
      </p:sp>
      <p:sp>
        <p:nvSpPr>
          <p:cNvPr id="20" name="Shape 17"/>
          <p:cNvSpPr/>
          <p:nvPr/>
        </p:nvSpPr>
        <p:spPr>
          <a:xfrm>
            <a:off x="3474720" y="4663440"/>
            <a:ext cx="5212080" cy="594360"/>
          </a:xfrm>
          <a:prstGeom prst="roundRect">
            <a:avLst>
              <a:gd name="adj" fmla="val 27692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66160" y="4690872"/>
            <a:ext cx="502920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可表示状态数 = 2^b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Q5 “24-bit color” 是 24 种颜色吗？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920240" y="150876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D8D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29968" y="1600200"/>
            <a:ext cx="801014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A. 24 种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920240" y="2258568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D8D2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29968" y="2350008"/>
            <a:ext cx="801014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B. 256 种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920240" y="3008376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D8D2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29968" y="3099816"/>
            <a:ext cx="801014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C. 2^24 种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920240" y="3758184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D8D2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29968" y="3849624"/>
            <a:ext cx="801014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D. 现在还不能确定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38328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先投票，不公布答案。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Q5 “24-bit color” 是 24 种颜色吗？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143000" y="169164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FFF3F3"/>
          </a:solidFill>
          <a:ln w="13970">
            <a:solidFill>
              <a:srgbClr val="E28C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52728" y="178308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R: 8 bits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0..255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4709160" y="169164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F2FFF2"/>
          </a:solidFill>
          <a:ln w="13970">
            <a:solidFill>
              <a:srgbClr val="8ED38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18888" y="178308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G: 8 bits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0..255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275320" y="169164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F2F5FF"/>
          </a:solidFill>
          <a:ln w="13970">
            <a:solidFill>
              <a:srgbClr val="8CA0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5048" y="178308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B: 8 bits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0..255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606040" y="3703320"/>
            <a:ext cx="6949440" cy="548640"/>
          </a:xfrm>
          <a:prstGeom prst="roundRect">
            <a:avLst>
              <a:gd name="adj" fmla="val 30000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97480" y="3730752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8 + 8 + 8 = 24 bits / pixel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>
            <a:off x="2331720" y="4663440"/>
            <a:ext cx="74980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3970">
            <a:solidFill>
              <a:srgbClr val="007C9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23160" y="4690872"/>
            <a:ext cx="731520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C9B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256^3 = 2^24 = 16,777,216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Q6 一个 RGB 像素怎样变成 0 和 1？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2743200" y="2057400"/>
            <a:ext cx="6675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852928" y="2148840"/>
            <a:ext cx="6455664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RGB = (255, 128, 0)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423160" y="3429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Alibaba PuHuiTi 3.0 55 Regular" pitchFamily="34" charset="0"/>
                <a:ea typeface="Alibaba PuHuiTi 3.0 55 Regular" pitchFamily="34" charset="-122"/>
                <a:cs typeface="Alibaba PuHuiTi 3.0 55 Regular" pitchFamily="34" charset="-120"/>
              </a:rPr>
              <a:t>每个通道 8 bits。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Alibaba PuHuiTi 3.0 55 Regular" pitchFamily="34" charset="0"/>
                <a:ea typeface="Alibaba PuHuiTi 3.0 55 Regular" pitchFamily="34" charset="-122"/>
                <a:cs typeface="Alibaba PuHuiTi 3.0 55 Regular" pitchFamily="34" charset="-120"/>
              </a:rPr>
              <a:t>先写出 R、G、B 三个二进制值。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Q6 一个 RGB 像素怎样变成 0 和 1？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371600" y="1554480"/>
            <a:ext cx="914400" cy="548640"/>
          </a:xfrm>
          <a:prstGeom prst="roundRect">
            <a:avLst>
              <a:gd name="adj" fmla="val 20000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81328" y="1645920"/>
            <a:ext cx="69494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743200" y="1618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255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846320" y="16184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7C9B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11111111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1371600" y="2377440"/>
            <a:ext cx="914400" cy="548640"/>
          </a:xfrm>
          <a:prstGeom prst="roundRect">
            <a:avLst>
              <a:gd name="adj" fmla="val 20000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81328" y="2468880"/>
            <a:ext cx="69494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G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2743200" y="24414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128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4846320" y="24414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7C9B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10000000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>
            <a:off x="1371600" y="3200400"/>
            <a:ext cx="914400" cy="548640"/>
          </a:xfrm>
          <a:prstGeom prst="roundRect">
            <a:avLst>
              <a:gd name="adj" fmla="val 20000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81328" y="3291840"/>
            <a:ext cx="69494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B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2743200" y="32644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0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4846320" y="32644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7C9B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00000000</a:t>
            </a:r>
            <a:endParaRPr lang="en-US" sz="2300" dirty="0"/>
          </a:p>
        </p:txBody>
      </p:sp>
      <p:sp>
        <p:nvSpPr>
          <p:cNvPr id="18" name="Shape 15"/>
          <p:cNvSpPr/>
          <p:nvPr/>
        </p:nvSpPr>
        <p:spPr>
          <a:xfrm>
            <a:off x="1920240" y="4800600"/>
            <a:ext cx="8412480" cy="502920"/>
          </a:xfrm>
          <a:prstGeom prst="roundRect">
            <a:avLst>
              <a:gd name="adj" fmla="val 32727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011680" y="4828032"/>
            <a:ext cx="8229600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Encoding：按约定表示并组织成 bits / bytes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Q7 真实 BMP 文件中，像素数据之前有什么？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97280" y="2057400"/>
            <a:ext cx="996696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真实文件：assets/q7-3x2-24bit.bmp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问题：pixel data 之前为什么还有一段 bytes？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Q7 真实 BMP 文件中，像素数据之前有什么？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97280" y="1280160"/>
            <a:ext cx="1280160" cy="384048"/>
          </a:xfrm>
          <a:prstGeom prst="roundRect">
            <a:avLst>
              <a:gd name="adj" fmla="val 42857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130759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证据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97280" y="1828800"/>
            <a:ext cx="4206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07008" y="1920240"/>
            <a:ext cx="3986784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42 4D  →  "BM"</a:t>
            </a:r>
            <a:endParaRPr lang="en-US" sz="2500" dirty="0"/>
          </a:p>
        </p:txBody>
      </p:sp>
      <p:sp>
        <p:nvSpPr>
          <p:cNvPr id="10" name="Shape 7"/>
          <p:cNvSpPr/>
          <p:nvPr/>
        </p:nvSpPr>
        <p:spPr>
          <a:xfrm>
            <a:off x="6400800" y="1508760"/>
            <a:ext cx="4480560" cy="1828800"/>
          </a:xfrm>
          <a:prstGeom prst="roundRect">
            <a:avLst>
              <a:gd name="adj" fmla="val 6000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0528" y="1600200"/>
            <a:ext cx="4261104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header bytes at 0x0A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36 00 00 00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↓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pixel-data offset = 54 bytes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2926080" y="4892040"/>
            <a:ext cx="6309360" cy="502920"/>
          </a:xfrm>
          <a:prstGeom prst="roundRect">
            <a:avLst>
              <a:gd name="adj" fmla="val 32727"/>
            </a:avLst>
          </a:prstGeom>
          <a:solidFill>
            <a:srgbClr val="FFFFFF"/>
          </a:solidFill>
          <a:ln w="13970">
            <a:solidFill>
              <a:srgbClr val="007C9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17520" y="4919472"/>
            <a:ext cx="6126480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7C9B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pixel values ≠ whole image file</a:t>
            </a:r>
            <a:endParaRPr lang="en-US" sz="2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Q8 1920×1080、24-bit RGB，不压缩需要多大？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920240" y="150876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D8D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29968" y="1600200"/>
            <a:ext cx="801014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A. 约 2 MB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1920240" y="2258568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D8D2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29968" y="2350008"/>
            <a:ext cx="801014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B. 约 6 MB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920240" y="3008376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D8D2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29968" y="3099816"/>
            <a:ext cx="801014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C. 约 24 MB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1920240" y="3758184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D8D2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29968" y="3849624"/>
            <a:ext cx="801014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D. 约 48 MB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201168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686868"/>
                </a:solidFill>
                <a:latin typeface="Alibaba PuHuiTi 3.0 55 Regular" pitchFamily="34" charset="0"/>
                <a:ea typeface="Alibaba PuHuiTi 3.0 55 Regular" pitchFamily="34" charset="-122"/>
                <a:cs typeface="Alibaba PuHuiTi 3.0 55 Regular" pitchFamily="34" charset="-120"/>
              </a:rPr>
              <a:t>先估计：像素数？每像素多少 bytes？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Q8 1920×1080、24-bit RGB，不压缩需要多大？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977640" y="1170432"/>
            <a:ext cx="4297680" cy="411480"/>
          </a:xfrm>
          <a:prstGeom prst="roundRect">
            <a:avLst>
              <a:gd name="adj" fmla="val 40000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69080" y="1197864"/>
            <a:ext cx="411480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证据：三步计算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1828800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1920 × 1080 = 2,073,600 pixels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188720" y="2560320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24 bits / pixel = 3 bytes / pixel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14400" y="3337560"/>
            <a:ext cx="10332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2,073,600 × 3 = 6,220,800 bytes ≈ 6.22 MB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749040" y="4526280"/>
            <a:ext cx="4663440" cy="713232"/>
          </a:xfrm>
          <a:prstGeom prst="roundRect">
            <a:avLst>
              <a:gd name="adj" fmla="val 15385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58768" y="4617720"/>
            <a:ext cx="4443984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B. 约 6 MB</a:t>
            </a:r>
            <a:endParaRPr lang="en-US" sz="2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Q9 宽和高都变成 2 倍，数据量变成几倍？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057400" y="1783080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原图：800 × 600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新图：1600 × 1200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bits per pixel 不变。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903720" y="2331720"/>
            <a:ext cx="3200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13448" y="2423160"/>
            <a:ext cx="298094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变成几倍？</a:t>
            </a:r>
            <a:endParaRPr lang="en-US" sz="3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Q9 宽和高都变成 2 倍，数据量变成几倍？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91840" y="1371600"/>
            <a:ext cx="5577840" cy="457200"/>
          </a:xfrm>
          <a:prstGeom prst="roundRect">
            <a:avLst>
              <a:gd name="adj" fmla="val 36000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383280" y="1399032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证据：像素总数看 W × H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80160" y="24231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(1600 × 1200) / (800 × 600) = 4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743200" y="3749040"/>
            <a:ext cx="6675120" cy="566928"/>
          </a:xfrm>
          <a:prstGeom prst="roundRect">
            <a:avLst>
              <a:gd name="adj" fmla="val 29032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34640" y="3776472"/>
            <a:ext cx="64922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宽 ×2，高 ×2 → 像素总数 ×4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463040" y="498348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62626"/>
                </a:solidFill>
                <a:latin typeface="Alibaba PuHuiTi 3.0 55 Regular" pitchFamily="34" charset="0"/>
                <a:ea typeface="Alibaba PuHuiTi 3.0 55 Regular" pitchFamily="34" charset="-122"/>
                <a:cs typeface="Alibaba PuHuiTi 3.0 55 Regular" pitchFamily="34" charset="-120"/>
              </a:rPr>
              <a:t>bits per pixel 不变，因此未压缩像素值数据量也 ×4。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Q12 回看 Q0：四种说法现在怎样排序？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87452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7CE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965960"/>
            <a:ext cx="211226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很多 0 和 1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3429000" y="306324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8F7FD"/>
          </a:solidFill>
          <a:ln w="13970">
            <a:solidFill>
              <a:srgbClr val="C9BF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38728" y="3154680"/>
            <a:ext cx="211226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很多像素 / 小方格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989320" y="187452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7CE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99048" y="1965960"/>
            <a:ext cx="211226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很多数字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549640" y="306324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8F7FD"/>
          </a:solidFill>
          <a:ln w="13970">
            <a:solidFill>
              <a:srgbClr val="C9BF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59368" y="3154680"/>
            <a:ext cx="211226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很多颜色值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2194560" y="5166360"/>
            <a:ext cx="7863840" cy="502920"/>
          </a:xfrm>
          <a:prstGeom prst="roundRect">
            <a:avLst>
              <a:gd name="adj" fmla="val 32727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86000" y="5193792"/>
            <a:ext cx="7680960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先自己排序，再解释每一层之间的转换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6251B1"/>
          </a:solidFill>
          <a:ln w="12700">
            <a:solidFill>
              <a:srgbClr val="6251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libaba PuHuiTi 3.0 115 Black" pitchFamily="34" charset="0"/>
                <a:ea typeface="Alibaba PuHuiTi 3.0 115 Black" pitchFamily="34" charset="-122"/>
                <a:cs typeface="Alibaba PuHuiTi 3.0 115 Black" pitchFamily="34" charset="-120"/>
              </a:rPr>
              <a:t>Q12 回看 Q0：四种说法现在怎样排序？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94360" y="1417320"/>
            <a:ext cx="21031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8D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1508760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像素位置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2697480" y="1737360"/>
            <a:ext cx="502920" cy="0"/>
          </a:xfrm>
          <a:prstGeom prst="line">
            <a:avLst/>
          </a:prstGeom>
          <a:noFill/>
          <a:ln w="25400">
            <a:solidFill>
              <a:srgbClr val="8C64E1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337560" y="1417320"/>
            <a:ext cx="21031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8D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47288" y="1508760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颜色值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440680" y="1737360"/>
            <a:ext cx="502920" cy="0"/>
          </a:xfrm>
          <a:prstGeom prst="line">
            <a:avLst/>
          </a:prstGeom>
          <a:noFill/>
          <a:ln w="25400">
            <a:solidFill>
              <a:srgbClr val="8C64E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080760" y="1417320"/>
            <a:ext cx="21031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8D2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90488" y="1508760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数字表示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183880" y="1737360"/>
            <a:ext cx="502920" cy="0"/>
          </a:xfrm>
          <a:prstGeom prst="line">
            <a:avLst/>
          </a:prstGeom>
          <a:noFill/>
          <a:ln w="25400">
            <a:solidFill>
              <a:srgbClr val="8C64E1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823960" y="1417320"/>
            <a:ext cx="2103120" cy="658368"/>
          </a:xfrm>
          <a:prstGeom prst="roundRect">
            <a:avLst>
              <a:gd name="adj" fmla="val 16667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33688" y="1508760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bits / bytes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2240280" y="2743200"/>
            <a:ext cx="7680960" cy="502920"/>
          </a:xfrm>
          <a:prstGeom prst="roundRect">
            <a:avLst>
              <a:gd name="adj" fmla="val 32727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31720" y="2770632"/>
            <a:ext cx="7498080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Sampling → Quantization → Encoding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2057400" y="3794760"/>
            <a:ext cx="8138160" cy="502920"/>
          </a:xfrm>
          <a:prstGeom prst="roundRect">
            <a:avLst>
              <a:gd name="adj" fmla="val 32727"/>
            </a:avLst>
          </a:prstGeom>
          <a:solidFill>
            <a:srgbClr val="FFFFFF"/>
          </a:solidFill>
          <a:ln w="13970">
            <a:solidFill>
              <a:srgbClr val="007C9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48840" y="3822192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C9B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像素值数据量 = W × H × b bits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331720" y="4663440"/>
            <a:ext cx="7589520" cy="502920"/>
          </a:xfrm>
          <a:prstGeom prst="roundRect">
            <a:avLst>
              <a:gd name="adj" fmla="val 32727"/>
            </a:avLst>
          </a:prstGeom>
          <a:solidFill>
            <a:srgbClr val="F6F3FF"/>
          </a:solidFill>
          <a:ln w="13970">
            <a:solidFill>
              <a:srgbClr val="8C64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23160" y="4690872"/>
            <a:ext cx="7406640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64E1"/>
                </a:solidFill>
                <a:latin typeface="Alibaba PuHuiTi 3.0 85 Bold" pitchFamily="34" charset="0"/>
                <a:ea typeface="Alibaba PuHuiTi 3.0 85 Bold" pitchFamily="34" charset="-122"/>
                <a:cs typeface="Alibaba PuHuiTi 3.0 85 Bold" pitchFamily="34" charset="-120"/>
              </a:rPr>
              <a:t>本课 24-bit RGB：W × H × 3 bytes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libaba PuHuiTi 3.0 115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libaba PuHuiTi 3.0 55 Regula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shtick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1-2-3 图像编码</dc:title>
  <dc:subject>图像编码</dc:subject>
  <dc:creator>OpenAI</dc:creator>
  <cp:lastModifiedBy>OpenAI</cp:lastModifiedBy>
  <cp:revision>1</cp:revision>
  <dcterms:created xsi:type="dcterms:W3CDTF">2026-09-29T02:51:12Z</dcterms:created>
  <dcterms:modified xsi:type="dcterms:W3CDTF">2026-09-29T02:51:12Z</dcterms:modified>
</cp:coreProperties>
</file>
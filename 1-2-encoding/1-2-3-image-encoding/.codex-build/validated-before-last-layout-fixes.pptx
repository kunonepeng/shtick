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d104468a854615" /><Relationship Type="http://schemas.openxmlformats.org/officeDocument/2006/relationships/extended-properties" Target="/docProps/app.xml" Id="R93b2e895c443484d" /><Relationship Type="http://schemas.openxmlformats.org/officeDocument/2006/relationships/officeDocument" Target="/ppt/presentation.xml" Id="R1e60b676b8da4d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73ad70028f4178"/>
  </p:sldMasterIdLst>
  <p:notesMasterIdLst>
    <p:notesMasterId xmlns:r="http://schemas.openxmlformats.org/officeDocument/2006/relationships" r:id="Rf94543f0722b403d"/>
  </p:notesMasterIdLst>
  <p:sldIdLst>
    <p:sldId xmlns:r="http://schemas.openxmlformats.org/officeDocument/2006/relationships" id="256" r:id="R6a110c337c3d4f44"/>
    <p:sldId xmlns:r="http://schemas.openxmlformats.org/officeDocument/2006/relationships" id="257" r:id="R166498ce1ee04b4d"/>
    <p:sldId xmlns:r="http://schemas.openxmlformats.org/officeDocument/2006/relationships" id="258" r:id="R6405c7d8b54d4f92"/>
    <p:sldId xmlns:r="http://schemas.openxmlformats.org/officeDocument/2006/relationships" id="259" r:id="R08914efcfc8146a9"/>
    <p:sldId xmlns:r="http://schemas.openxmlformats.org/officeDocument/2006/relationships" id="260" r:id="Rb1a7e8977f3f4b60"/>
    <p:sldId xmlns:r="http://schemas.openxmlformats.org/officeDocument/2006/relationships" id="261" r:id="Rb196f84a0f7a4d6b"/>
    <p:sldId xmlns:r="http://schemas.openxmlformats.org/officeDocument/2006/relationships" id="262" r:id="Rafcf0cd6fc8c4565"/>
    <p:sldId xmlns:r="http://schemas.openxmlformats.org/officeDocument/2006/relationships" id="263" r:id="R33e3644f19fe4b2d"/>
    <p:sldId xmlns:r="http://schemas.openxmlformats.org/officeDocument/2006/relationships" id="264" r:id="R7f4a349735fa47ad"/>
    <p:sldId xmlns:r="http://schemas.openxmlformats.org/officeDocument/2006/relationships" id="265" r:id="R8405fbe4074d4cb5"/>
    <p:sldId xmlns:r="http://schemas.openxmlformats.org/officeDocument/2006/relationships" id="266" r:id="Rb6976040f0f149eb"/>
    <p:sldId xmlns:r="http://schemas.openxmlformats.org/officeDocument/2006/relationships" id="267" r:id="R3bab265da8e54868"/>
    <p:sldId xmlns:r="http://schemas.openxmlformats.org/officeDocument/2006/relationships" id="268" r:id="R871067a9118a4baa"/>
    <p:sldId xmlns:r="http://schemas.openxmlformats.org/officeDocument/2006/relationships" id="269" r:id="R0815e78f97b84d1a"/>
    <p:sldId xmlns:r="http://schemas.openxmlformats.org/officeDocument/2006/relationships" id="270" r:id="R4a04724351584b2b"/>
    <p:sldId xmlns:r="http://schemas.openxmlformats.org/officeDocument/2006/relationships" id="271" r:id="Rc0c46321b2bc4a05"/>
    <p:sldId xmlns:r="http://schemas.openxmlformats.org/officeDocument/2006/relationships" id="272" r:id="Rbcc3301356b04673"/>
    <p:sldId xmlns:r="http://schemas.openxmlformats.org/officeDocument/2006/relationships" id="273" r:id="Rdc84563a110a4e66"/>
    <p:sldId xmlns:r="http://schemas.openxmlformats.org/officeDocument/2006/relationships" id="274" r:id="R9ea9304750d940a5"/>
    <p:sldId xmlns:r="http://schemas.openxmlformats.org/officeDocument/2006/relationships" id="275" r:id="Rca4d52b65a56453f"/>
    <p:sldId xmlns:r="http://schemas.openxmlformats.org/officeDocument/2006/relationships" id="276" r:id="R89d7aa98331b489b"/>
    <p:sldId xmlns:r="http://schemas.openxmlformats.org/officeDocument/2006/relationships" id="277" r:id="Ra965d739791641ec"/>
    <p:sldId xmlns:r="http://schemas.openxmlformats.org/officeDocument/2006/relationships" id="278" r:id="Rd137882565804140"/>
    <p:sldId xmlns:r="http://schemas.openxmlformats.org/officeDocument/2006/relationships" id="279" r:id="Re936731d89054c4b"/>
    <p:sldId xmlns:r="http://schemas.openxmlformats.org/officeDocument/2006/relationships" id="280" r:id="R0e87c8dcbd2a453b"/>
    <p:sldId xmlns:r="http://schemas.openxmlformats.org/officeDocument/2006/relationships" id="281" r:id="R5bcae4a2536d46f2"/>
    <p:sldId xmlns:r="http://schemas.openxmlformats.org/officeDocument/2006/relationships" id="282" r:id="R408ff35c9fad492d"/>
    <p:sldId xmlns:r="http://schemas.openxmlformats.org/officeDocument/2006/relationships" id="283" r:id="R73034b72ba4e44fc"/>
    <p:sldId xmlns:r="http://schemas.openxmlformats.org/officeDocument/2006/relationships" id="284" r:id="R820885c83d21431d"/>
    <p:sldId xmlns:r="http://schemas.openxmlformats.org/officeDocument/2006/relationships" id="285" r:id="R7f36e1ec3be94c06"/>
    <p:sldId xmlns:r="http://schemas.openxmlformats.org/officeDocument/2006/relationships" id="286" r:id="R12e135bd82764b9f"/>
    <p:sldId xmlns:r="http://schemas.openxmlformats.org/officeDocument/2006/relationships" id="287" r:id="R61fa58e7ed434fbf"/>
    <p:sldId xmlns:r="http://schemas.openxmlformats.org/officeDocument/2006/relationships" id="288" r:id="R2d41593942494edc"/>
    <p:sldId xmlns:r="http://schemas.openxmlformats.org/officeDocument/2006/relationships" id="289" r:id="R2f059aa4ef40446a"/>
    <p:sldId xmlns:r="http://schemas.openxmlformats.org/officeDocument/2006/relationships" id="290" r:id="R6b646f56ff434311"/>
    <p:sldId xmlns:r="http://schemas.openxmlformats.org/officeDocument/2006/relationships" id="291" r:id="R1ecb63c822994673"/>
    <p:sldId xmlns:r="http://schemas.openxmlformats.org/officeDocument/2006/relationships" id="292" r:id="Rceb12d8153174c9a"/>
    <p:sldId xmlns:r="http://schemas.openxmlformats.org/officeDocument/2006/relationships" id="293" r:id="R4b75963acff44e1b"/>
    <p:sldId xmlns:r="http://schemas.openxmlformats.org/officeDocument/2006/relationships" id="294" r:id="R3b3c22de6bec4ccf"/>
    <p:sldId xmlns:r="http://schemas.openxmlformats.org/officeDocument/2006/relationships" id="295" r:id="Rd54c7e47d73b46cc"/>
    <p:sldId xmlns:r="http://schemas.openxmlformats.org/officeDocument/2006/relationships" id="296" r:id="R309b1264171a48aa"/>
    <p:sldId xmlns:r="http://schemas.openxmlformats.org/officeDocument/2006/relationships" id="297" r:id="R71979f28d81b492d"/>
    <p:sldId xmlns:r="http://schemas.openxmlformats.org/officeDocument/2006/relationships" id="298" r:id="R92e5559f060d4b0e"/>
    <p:sldId xmlns:r="http://schemas.openxmlformats.org/officeDocument/2006/relationships" id="299" r:id="R8c1deecf2c32421f"/>
    <p:sldId xmlns:r="http://schemas.openxmlformats.org/officeDocument/2006/relationships" id="300" r:id="Ra22bd315bf964b9a"/>
    <p:sldId xmlns:r="http://schemas.openxmlformats.org/officeDocument/2006/relationships" id="301" r:id="Re34b021b87ef48c8"/>
    <p:sldId xmlns:r="http://schemas.openxmlformats.org/officeDocument/2006/relationships" id="302" r:id="Ra21d7423ef954a30"/>
    <p:sldId xmlns:r="http://schemas.openxmlformats.org/officeDocument/2006/relationships" id="303" r:id="Rfbae3f31336a4ec1"/>
    <p:sldId xmlns:r="http://schemas.openxmlformats.org/officeDocument/2006/relationships" id="304" r:id="R45614e05b0ee45bd"/>
    <p:sldId xmlns:r="http://schemas.openxmlformats.org/officeDocument/2006/relationships" id="305" r:id="Re72295e822c447e9"/>
    <p:sldId xmlns:r="http://schemas.openxmlformats.org/officeDocument/2006/relationships" id="306" r:id="R76dcde930061450a"/>
    <p:sldId xmlns:r="http://schemas.openxmlformats.org/officeDocument/2006/relationships" id="307" r:id="Re66adf48f8654002"/>
    <p:sldId xmlns:r="http://schemas.openxmlformats.org/officeDocument/2006/relationships" id="308" r:id="R0827555fef314f4b"/>
    <p:sldId xmlns:r="http://schemas.openxmlformats.org/officeDocument/2006/relationships" id="309" r:id="R0f18296d808843bf"/>
    <p:sldId xmlns:r="http://schemas.openxmlformats.org/officeDocument/2006/relationships" id="310" r:id="R96beb045633349a2"/>
    <p:sldId xmlns:r="http://schemas.openxmlformats.org/officeDocument/2006/relationships" id="311" r:id="R69276ca982eb49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44c357637b465f" /><Relationship Type="http://schemas.openxmlformats.org/officeDocument/2006/relationships/slideMaster" Target="/ppt/slideMasters/slideMaster1.xml" Id="R0473ad70028f4178" /><Relationship Type="http://schemas.openxmlformats.org/officeDocument/2006/relationships/notesMaster" Target="/ppt/notesMasters/notesMaster1.xml" Id="Rf94543f0722b403d" /><Relationship Type="http://schemas.openxmlformats.org/officeDocument/2006/relationships/presProps" Target="/ppt/presProps.xml" Id="R8ac297af0db943ab" /><Relationship Type="http://schemas.openxmlformats.org/officeDocument/2006/relationships/tableStyles" Target="/ppt/tableStyles.xml" Id="R914f5d528dec4722" /><Relationship Type="http://schemas.openxmlformats.org/officeDocument/2006/relationships/slide" Target="/ppt/slides/slide1.xml" Id="R6a110c337c3d4f44" /><Relationship Type="http://schemas.openxmlformats.org/officeDocument/2006/relationships/slide" Target="/ppt/slides/slide2.xml" Id="R166498ce1ee04b4d" /><Relationship Type="http://schemas.openxmlformats.org/officeDocument/2006/relationships/slide" Target="/ppt/slides/slide3.xml" Id="R6405c7d8b54d4f92" /><Relationship Type="http://schemas.openxmlformats.org/officeDocument/2006/relationships/slide" Target="/ppt/slides/slide4.xml" Id="R08914efcfc8146a9" /><Relationship Type="http://schemas.openxmlformats.org/officeDocument/2006/relationships/slide" Target="/ppt/slides/slide5.xml" Id="Rb1a7e8977f3f4b60" /><Relationship Type="http://schemas.openxmlformats.org/officeDocument/2006/relationships/slide" Target="/ppt/slides/slide6.xml" Id="Rb196f84a0f7a4d6b" /><Relationship Type="http://schemas.openxmlformats.org/officeDocument/2006/relationships/slide" Target="/ppt/slides/slide7.xml" Id="Rafcf0cd6fc8c4565" /><Relationship Type="http://schemas.openxmlformats.org/officeDocument/2006/relationships/slide" Target="/ppt/slides/slide8.xml" Id="R33e3644f19fe4b2d" /><Relationship Type="http://schemas.openxmlformats.org/officeDocument/2006/relationships/slide" Target="/ppt/slides/slide9.xml" Id="R7f4a349735fa47ad" /><Relationship Type="http://schemas.openxmlformats.org/officeDocument/2006/relationships/slide" Target="/ppt/slides/slide10.xml" Id="R8405fbe4074d4cb5" /><Relationship Type="http://schemas.openxmlformats.org/officeDocument/2006/relationships/slide" Target="/ppt/slides/slide11.xml" Id="Rb6976040f0f149eb" /><Relationship Type="http://schemas.openxmlformats.org/officeDocument/2006/relationships/slide" Target="/ppt/slides/slide12.xml" Id="R3bab265da8e54868" /><Relationship Type="http://schemas.openxmlformats.org/officeDocument/2006/relationships/slide" Target="/ppt/slides/slide13.xml" Id="R871067a9118a4baa" /><Relationship Type="http://schemas.openxmlformats.org/officeDocument/2006/relationships/slide" Target="/ppt/slides/slide14.xml" Id="R0815e78f97b84d1a" /><Relationship Type="http://schemas.openxmlformats.org/officeDocument/2006/relationships/slide" Target="/ppt/slides/slide15.xml" Id="R4a04724351584b2b" /><Relationship Type="http://schemas.openxmlformats.org/officeDocument/2006/relationships/slide" Target="/ppt/slides/slide16.xml" Id="Rc0c46321b2bc4a05" /><Relationship Type="http://schemas.openxmlformats.org/officeDocument/2006/relationships/slide" Target="/ppt/slides/slide17.xml" Id="Rbcc3301356b04673" /><Relationship Type="http://schemas.openxmlformats.org/officeDocument/2006/relationships/slide" Target="/ppt/slides/slide18.xml" Id="Rdc84563a110a4e66" /><Relationship Type="http://schemas.openxmlformats.org/officeDocument/2006/relationships/slide" Target="/ppt/slides/slide19.xml" Id="R9ea9304750d940a5" /><Relationship Type="http://schemas.openxmlformats.org/officeDocument/2006/relationships/slide" Target="/ppt/slides/slide20.xml" Id="Rca4d52b65a56453f" /><Relationship Type="http://schemas.openxmlformats.org/officeDocument/2006/relationships/slide" Target="/ppt/slides/slide21.xml" Id="R89d7aa98331b489b" /><Relationship Type="http://schemas.openxmlformats.org/officeDocument/2006/relationships/slide" Target="/ppt/slides/slide22.xml" Id="Ra965d739791641ec" /><Relationship Type="http://schemas.openxmlformats.org/officeDocument/2006/relationships/slide" Target="/ppt/slides/slide23.xml" Id="Rd137882565804140" /><Relationship Type="http://schemas.openxmlformats.org/officeDocument/2006/relationships/slide" Target="/ppt/slides/slide24.xml" Id="Re936731d89054c4b" /><Relationship Type="http://schemas.openxmlformats.org/officeDocument/2006/relationships/slide" Target="/ppt/slides/slide25.xml" Id="R0e87c8dcbd2a453b" /><Relationship Type="http://schemas.openxmlformats.org/officeDocument/2006/relationships/slide" Target="/ppt/slides/slide26.xml" Id="R5bcae4a2536d46f2" /><Relationship Type="http://schemas.openxmlformats.org/officeDocument/2006/relationships/slide" Target="/ppt/slides/slide27.xml" Id="R408ff35c9fad492d" /><Relationship Type="http://schemas.openxmlformats.org/officeDocument/2006/relationships/slide" Target="/ppt/slides/slide28.xml" Id="R73034b72ba4e44fc" /><Relationship Type="http://schemas.openxmlformats.org/officeDocument/2006/relationships/slide" Target="/ppt/slides/slide29.xml" Id="R820885c83d21431d" /><Relationship Type="http://schemas.openxmlformats.org/officeDocument/2006/relationships/slide" Target="/ppt/slides/slide30.xml" Id="R7f36e1ec3be94c06" /><Relationship Type="http://schemas.openxmlformats.org/officeDocument/2006/relationships/slide" Target="/ppt/slides/slide31.xml" Id="R12e135bd82764b9f" /><Relationship Type="http://schemas.openxmlformats.org/officeDocument/2006/relationships/slide" Target="/ppt/slides/slide32.xml" Id="R61fa58e7ed434fbf" /><Relationship Type="http://schemas.openxmlformats.org/officeDocument/2006/relationships/slide" Target="/ppt/slides/slide33.xml" Id="R2d41593942494edc" /><Relationship Type="http://schemas.openxmlformats.org/officeDocument/2006/relationships/slide" Target="/ppt/slides/slide34.xml" Id="R2f059aa4ef40446a" /><Relationship Type="http://schemas.openxmlformats.org/officeDocument/2006/relationships/slide" Target="/ppt/slides/slide35.xml" Id="R6b646f56ff434311" /><Relationship Type="http://schemas.openxmlformats.org/officeDocument/2006/relationships/slide" Target="/ppt/slides/slide36.xml" Id="R1ecb63c822994673" /><Relationship Type="http://schemas.openxmlformats.org/officeDocument/2006/relationships/slide" Target="/ppt/slides/slide37.xml" Id="Rceb12d8153174c9a" /><Relationship Type="http://schemas.openxmlformats.org/officeDocument/2006/relationships/slide" Target="/ppt/slides/slide38.xml" Id="R4b75963acff44e1b" /><Relationship Type="http://schemas.openxmlformats.org/officeDocument/2006/relationships/slide" Target="/ppt/slides/slide39.xml" Id="R3b3c22de6bec4ccf" /><Relationship Type="http://schemas.openxmlformats.org/officeDocument/2006/relationships/slide" Target="/ppt/slides/slide40.xml" Id="Rd54c7e47d73b46cc" /><Relationship Type="http://schemas.openxmlformats.org/officeDocument/2006/relationships/slide" Target="/ppt/slides/slide41.xml" Id="R309b1264171a48aa" /><Relationship Type="http://schemas.openxmlformats.org/officeDocument/2006/relationships/slide" Target="/ppt/slides/slide42.xml" Id="R71979f28d81b492d" /><Relationship Type="http://schemas.openxmlformats.org/officeDocument/2006/relationships/slide" Target="/ppt/slides/slide43.xml" Id="R92e5559f060d4b0e" /><Relationship Type="http://schemas.openxmlformats.org/officeDocument/2006/relationships/slide" Target="/ppt/slides/slide44.xml" Id="R8c1deecf2c32421f" /><Relationship Type="http://schemas.openxmlformats.org/officeDocument/2006/relationships/slide" Target="/ppt/slides/slide45.xml" Id="Ra22bd315bf964b9a" /><Relationship Type="http://schemas.openxmlformats.org/officeDocument/2006/relationships/slide" Target="/ppt/slides/slide46.xml" Id="Re34b021b87ef48c8" /><Relationship Type="http://schemas.openxmlformats.org/officeDocument/2006/relationships/slide" Target="/ppt/slides/slide47.xml" Id="Ra21d7423ef954a30" /><Relationship Type="http://schemas.openxmlformats.org/officeDocument/2006/relationships/slide" Target="/ppt/slides/slide48.xml" Id="Rfbae3f31336a4ec1" /><Relationship Type="http://schemas.openxmlformats.org/officeDocument/2006/relationships/slide" Target="/ppt/slides/slide49.xml" Id="R45614e05b0ee45bd" /><Relationship Type="http://schemas.openxmlformats.org/officeDocument/2006/relationships/slide" Target="/ppt/slides/slide50.xml" Id="Re72295e822c447e9" /><Relationship Type="http://schemas.openxmlformats.org/officeDocument/2006/relationships/slide" Target="/ppt/slides/slide51.xml" Id="R76dcde930061450a" /><Relationship Type="http://schemas.openxmlformats.org/officeDocument/2006/relationships/slide" Target="/ppt/slides/slide52.xml" Id="Re66adf48f8654002" /><Relationship Type="http://schemas.openxmlformats.org/officeDocument/2006/relationships/slide" Target="/ppt/slides/slide53.xml" Id="R0827555fef314f4b" /><Relationship Type="http://schemas.openxmlformats.org/officeDocument/2006/relationships/slide" Target="/ppt/slides/slide54.xml" Id="R0f18296d808843bf" /><Relationship Type="http://schemas.openxmlformats.org/officeDocument/2006/relationships/slide" Target="/ppt/slides/slide55.xml" Id="R96beb045633349a2" /><Relationship Type="http://schemas.openxmlformats.org/officeDocument/2006/relationships/slide" Target="/ppt/slides/slide56.xml" Id="R69276ca982eb49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0cfbe2db6447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1070ae6b7d4d9f" /><Relationship Type="http://schemas.openxmlformats.org/officeDocument/2006/relationships/notesMaster" Target="/ppt/notesMasters/notesMaster1.xml" Id="R21be92f0ccb246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bed18956834942" /><Relationship Type="http://schemas.openxmlformats.org/officeDocument/2006/relationships/notesMaster" Target="/ppt/notesMasters/notesMaster1.xml" Id="R370e201bb1ae49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9a9fdbcbe64619" /><Relationship Type="http://schemas.openxmlformats.org/officeDocument/2006/relationships/notesMaster" Target="/ppt/notesMasters/notesMaster1.xml" Id="R00face04c60746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f9563240524a57" /><Relationship Type="http://schemas.openxmlformats.org/officeDocument/2006/relationships/notesMaster" Target="/ppt/notesMasters/notesMaster1.xml" Id="R46b302dd4a094e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8b96ced1d243b0" /><Relationship Type="http://schemas.openxmlformats.org/officeDocument/2006/relationships/notesMaster" Target="/ppt/notesMasters/notesMaster1.xml" Id="Rec843d2569fa46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cb22747c8143b7" /><Relationship Type="http://schemas.openxmlformats.org/officeDocument/2006/relationships/notesMaster" Target="/ppt/notesMasters/notesMaster1.xml" Id="R102a10a32e664b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316445c61e4294" /><Relationship Type="http://schemas.openxmlformats.org/officeDocument/2006/relationships/notesMaster" Target="/ppt/notesMasters/notesMaster1.xml" Id="R858bd482a0b24e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28e6e251af417b" /><Relationship Type="http://schemas.openxmlformats.org/officeDocument/2006/relationships/notesMaster" Target="/ppt/notesMasters/notesMaster1.xml" Id="Rbbee1236298b4d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40d033624e44fc" /><Relationship Type="http://schemas.openxmlformats.org/officeDocument/2006/relationships/notesMaster" Target="/ppt/notesMasters/notesMaster1.xml" Id="Rd67a9353905948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5784d4415248a6" /><Relationship Type="http://schemas.openxmlformats.org/officeDocument/2006/relationships/notesMaster" Target="/ppt/notesMasters/notesMaster1.xml" Id="R280786ab4d9e4c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8a9fc6eb5841ae" /><Relationship Type="http://schemas.openxmlformats.org/officeDocument/2006/relationships/notesMaster" Target="/ppt/notesMasters/notesMaster1.xml" Id="R33049fa2013040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e48c8024574573" /><Relationship Type="http://schemas.openxmlformats.org/officeDocument/2006/relationships/notesMaster" Target="/ppt/notesMasters/notesMaster1.xml" Id="Rb3aa9f814ecb44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28db152c774aaa" /><Relationship Type="http://schemas.openxmlformats.org/officeDocument/2006/relationships/notesMaster" Target="/ppt/notesMasters/notesMaster1.xml" Id="R55e711291f474b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228029e29a4915" /><Relationship Type="http://schemas.openxmlformats.org/officeDocument/2006/relationships/notesMaster" Target="/ppt/notesMasters/notesMaster1.xml" Id="R7ede24e0b9fd48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ad613684814c00" /><Relationship Type="http://schemas.openxmlformats.org/officeDocument/2006/relationships/notesMaster" Target="/ppt/notesMasters/notesMaster1.xml" Id="R6120132dd2564d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00c237c6d74997" /><Relationship Type="http://schemas.openxmlformats.org/officeDocument/2006/relationships/notesMaster" Target="/ppt/notesMasters/notesMaster1.xml" Id="R7ce20ebc943d4e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0211e77c874da4" /><Relationship Type="http://schemas.openxmlformats.org/officeDocument/2006/relationships/notesMaster" Target="/ppt/notesMasters/notesMaster1.xml" Id="R2f99f9f2493146e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2328ba751f4a2b" /><Relationship Type="http://schemas.openxmlformats.org/officeDocument/2006/relationships/notesMaster" Target="/ppt/notesMasters/notesMaster1.xml" Id="R10caa20f7c104f5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27f49e50fe24f5b" /><Relationship Type="http://schemas.openxmlformats.org/officeDocument/2006/relationships/notesMaster" Target="/ppt/notesMasters/notesMaster1.xml" Id="R8260883c57d04a3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441e86ee2664beb" /><Relationship Type="http://schemas.openxmlformats.org/officeDocument/2006/relationships/notesMaster" Target="/ppt/notesMasters/notesMaster1.xml" Id="Rfbee0341e57c43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0cf6d8ca08546f9" /><Relationship Type="http://schemas.openxmlformats.org/officeDocument/2006/relationships/notesMaster" Target="/ppt/notesMasters/notesMaster1.xml" Id="R5c20dd9bf2f24f1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d1ce15b7abf4129" /><Relationship Type="http://schemas.openxmlformats.org/officeDocument/2006/relationships/notesMaster" Target="/ppt/notesMasters/notesMaster1.xml" Id="R3bb7ac4f5f7149d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46902efb0a64767" /><Relationship Type="http://schemas.openxmlformats.org/officeDocument/2006/relationships/notesMaster" Target="/ppt/notesMasters/notesMaster1.xml" Id="Rb7be01bd46ad4b1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a542d360d82492c" /><Relationship Type="http://schemas.openxmlformats.org/officeDocument/2006/relationships/notesMaster" Target="/ppt/notesMasters/notesMaster1.xml" Id="R1a2a5c8058a74a7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727580d7ade4d4a" /><Relationship Type="http://schemas.openxmlformats.org/officeDocument/2006/relationships/notesMaster" Target="/ppt/notesMasters/notesMaster1.xml" Id="R450e6d5f7b3344d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7639106c3f4474a" /><Relationship Type="http://schemas.openxmlformats.org/officeDocument/2006/relationships/notesMaster" Target="/ppt/notesMasters/notesMaster1.xml" Id="R0c4a9c0359484fa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2ceb7d285084fc2" /><Relationship Type="http://schemas.openxmlformats.org/officeDocument/2006/relationships/notesMaster" Target="/ppt/notesMasters/notesMaster1.xml" Id="R65b2cad3cd7c4d3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890c72f88884305" /><Relationship Type="http://schemas.openxmlformats.org/officeDocument/2006/relationships/notesMaster" Target="/ppt/notesMasters/notesMaster1.xml" Id="Re16477e1f53f43d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db1aa070d8940ad" /><Relationship Type="http://schemas.openxmlformats.org/officeDocument/2006/relationships/notesMaster" Target="/ppt/notesMasters/notesMaster1.xml" Id="R9bc868f59cb74ee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d2aaf680e254bcb" /><Relationship Type="http://schemas.openxmlformats.org/officeDocument/2006/relationships/notesMaster" Target="/ppt/notesMasters/notesMaster1.xml" Id="R04f490ca8b6647c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c64f44d0d7a43ff" /><Relationship Type="http://schemas.openxmlformats.org/officeDocument/2006/relationships/notesMaster" Target="/ppt/notesMasters/notesMaster1.xml" Id="R6c6520662598404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cb2079c73e64916" /><Relationship Type="http://schemas.openxmlformats.org/officeDocument/2006/relationships/notesMaster" Target="/ppt/notesMasters/notesMaster1.xml" Id="Rf66f06553550411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e132a4c4b4c425d" /><Relationship Type="http://schemas.openxmlformats.org/officeDocument/2006/relationships/notesMaster" Target="/ppt/notesMasters/notesMaster1.xml" Id="R1b708b0526a54c8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24b9d18439940c6" /><Relationship Type="http://schemas.openxmlformats.org/officeDocument/2006/relationships/notesMaster" Target="/ppt/notesMasters/notesMaster1.xml" Id="R57ec512366d24bc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ca4d7a0165d4e47" /><Relationship Type="http://schemas.openxmlformats.org/officeDocument/2006/relationships/notesMaster" Target="/ppt/notesMasters/notesMaster1.xml" Id="R35945c03b87b480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793081bcc4b4f05" /><Relationship Type="http://schemas.openxmlformats.org/officeDocument/2006/relationships/notesMaster" Target="/ppt/notesMasters/notesMaster1.xml" Id="R008086dad22b4b8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76a14ce5eb54204" /><Relationship Type="http://schemas.openxmlformats.org/officeDocument/2006/relationships/notesMaster" Target="/ppt/notesMasters/notesMaster1.xml" Id="R4da48b03ee1941c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740f7ee6d104452" /><Relationship Type="http://schemas.openxmlformats.org/officeDocument/2006/relationships/notesMaster" Target="/ppt/notesMasters/notesMaster1.xml" Id="R53172aaef62d470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c0f090f27b24d64" /><Relationship Type="http://schemas.openxmlformats.org/officeDocument/2006/relationships/notesMaster" Target="/ppt/notesMasters/notesMaster1.xml" Id="Rea92bc32d7b3442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e9087a626e84e05" /><Relationship Type="http://schemas.openxmlformats.org/officeDocument/2006/relationships/notesMaster" Target="/ppt/notesMasters/notesMaster1.xml" Id="Rbb68405238324a4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4036bed77c74a00" /><Relationship Type="http://schemas.openxmlformats.org/officeDocument/2006/relationships/notesMaster" Target="/ppt/notesMasters/notesMaster1.xml" Id="R979b6b21c54643f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5ce20f21d204423" /><Relationship Type="http://schemas.openxmlformats.org/officeDocument/2006/relationships/notesMaster" Target="/ppt/notesMasters/notesMaster1.xml" Id="Rc5489def7d0c446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861b5c562ec4da8" /><Relationship Type="http://schemas.openxmlformats.org/officeDocument/2006/relationships/notesMaster" Target="/ppt/notesMasters/notesMaster1.xml" Id="Rc4d9c17e975b4b0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447a8535f314edd" /><Relationship Type="http://schemas.openxmlformats.org/officeDocument/2006/relationships/notesMaster" Target="/ppt/notesMasters/notesMaster1.xml" Id="Rcab103b212d243a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3ce9cb9a4284f12" /><Relationship Type="http://schemas.openxmlformats.org/officeDocument/2006/relationships/notesMaster" Target="/ppt/notesMasters/notesMaster1.xml" Id="R479acb0758f24b6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6023d7ae11f4ce5" /><Relationship Type="http://schemas.openxmlformats.org/officeDocument/2006/relationships/notesMaster" Target="/ppt/notesMasters/notesMaster1.xml" Id="Rc13667fdf5f74d7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cd94b0695524451" /><Relationship Type="http://schemas.openxmlformats.org/officeDocument/2006/relationships/notesMaster" Target="/ppt/notesMasters/notesMaster1.xml" Id="Rdbff5fbf15f448c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669f67441ef4d2d" /><Relationship Type="http://schemas.openxmlformats.org/officeDocument/2006/relationships/notesMaster" Target="/ppt/notesMasters/notesMaster1.xml" Id="Rc1b07c5b26094c8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436bbbd66ea4e42" /><Relationship Type="http://schemas.openxmlformats.org/officeDocument/2006/relationships/notesMaster" Target="/ppt/notesMasters/notesMaster1.xml" Id="Rd17df43958db472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00f45b1b8f14ae8" /><Relationship Type="http://schemas.openxmlformats.org/officeDocument/2006/relationships/notesMaster" Target="/ppt/notesMasters/notesMaster1.xml" Id="R5db4eb933c61493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a40672fac704a14" /><Relationship Type="http://schemas.openxmlformats.org/officeDocument/2006/relationships/notesMaster" Target="/ppt/notesMasters/notesMaster1.xml" Id="Rc594d34c8e084a0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b4f923ee5d54be0" /><Relationship Type="http://schemas.openxmlformats.org/officeDocument/2006/relationships/notesMaster" Target="/ppt/notesMasters/notesMaster1.xml" Id="Rc877cc6d46504a2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94e776423db4fc6" /><Relationship Type="http://schemas.openxmlformats.org/officeDocument/2006/relationships/notesMaster" Target="/ppt/notesMasters/notesMaster1.xml" Id="R864493e6749b41b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6de11473571423b" /><Relationship Type="http://schemas.openxmlformats.org/officeDocument/2006/relationships/notesMaster" Target="/ppt/notesMasters/notesMaster1.xml" Id="R76b92ee631b142ae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8c2a8bb1ff946f6" /><Relationship Type="http://schemas.openxmlformats.org/officeDocument/2006/relationships/notesMaster" Target="/ppt/notesMasters/notesMaster1.xml" Id="Rb9cedc5b2f184ce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17fc037f00dc449c" /><Relationship Type="http://schemas.openxmlformats.org/officeDocument/2006/relationships/notesMaster" Target="/ppt/notesMasters/notesMaster1.xml" Id="R4228be64149a43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从字符编码转入图像编码</a:t>
            </a:r>
          </a:p>
          <a:p xmlns:a="http://schemas.openxmlformats.org/drawingml/2006/main">
            <a:r>
              <a:t>[内部编号] Q0</a:t>
            </a:r>
          </a:p>
          <a:p xmlns:a="http://schemas.openxmlformats.org/drawingml/2006/main">
            <a:r>
              <a:t>[教师逐字稿] 前面我们讨论了字符怎样输入、保存和显示。今天换成照片：眼前一朵花和手机里保存的花有什么关系？先不急着回答，下一页看一张真实照片，把它不断放大。</a:t>
            </a:r>
          </a:p>
          <a:p xmlns:a="http://schemas.openxmlformats.org/drawingml/2006/main">
            <a:r>
              <a:t>[来源] PDF逐字稿00:00:00–00:00:43；Snip1。花朵为参照Snip6绘制的可编辑示意。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照片不断放大，会发生什么？</a:t>
            </a:r>
          </a:p>
          <a:p xmlns:a="http://schemas.openxmlformats.org/drawingml/2006/main">
            <a:r>
              <a:t>[内部编号] Q1—提问</a:t>
            </a:r>
          </a:p>
          <a:p xmlns:a="http://schemas.openxmlformats.org/drawingml/2006/main">
            <a:r>
              <a:t>[教学意图] 预测放大结果，观察真实软件放大截图，指出一个像素格。</a:t>
            </a:r>
          </a:p>
          <a:p xmlns:a="http://schemas.openxmlformats.org/drawingml/2006/main">
            <a:r>
              <a:t>[教师逐字稿] 先看这张花的照片。把它不断放大，你觉得会看到更多细节，还是会看到别的东西？请先说出预测。</a:t>
            </a:r>
          </a:p>
          <a:p xmlns:a="http://schemas.openxmlformats.org/drawingml/2006/main">
            <a:r>
              <a:t>[预期学生反应] 可能说“更清楚”“变模糊”“看到小方格”。接受预测，证据出现后再命名像素。</a:t>
            </a:r>
          </a:p>
          <a:p xmlns:a="http://schemas.openxmlformats.org/drawingml/2006/main">
            <a:r>
              <a:t>[追问问题] 放大是得到新的细节，还是放大已有信息？先留下问题。</a:t>
            </a:r>
          </a:p>
          <a:p xmlns:a="http://schemas.openxmlformats.org/drawingml/2006/main">
            <a:r>
              <a:t>[下一问] 看到了格子；下一步追问格子如何从眼前的花得到。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00:00:43–00:02:48；Snip 3–5；编号为重建导航，不是原课页面编号。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照片不断放大，会发生什么？</a:t>
            </a:r>
          </a:p>
          <a:p xmlns:a="http://schemas.openxmlformats.org/drawingml/2006/main">
            <a:r>
              <a:t>[内部编号] Q1—揭示</a:t>
            </a:r>
          </a:p>
          <a:p xmlns:a="http://schemas.openxmlformats.org/drawingml/2006/main">
            <a:r>
              <a:t>[教学意图] 预测放大结果，观察真实软件放大截图，指出一个像素格。</a:t>
            </a:r>
          </a:p>
          <a:p xmlns:a="http://schemas.openxmlformats.org/drawingml/2006/main">
            <a:r>
              <a:t>[教师逐字稿] 现在看实际放大的结果：先是细节看不清，继续放大可以看到一个个颜色小格。谁能指出其中一个格子？这些图像单元叫像素。注意这是一张位图，接下来我们讨论它的像素怎样从眼前的花得到。</a:t>
            </a:r>
          </a:p>
          <a:p xmlns:a="http://schemas.openxmlformats.org/drawingml/2006/main">
            <a:r>
              <a:t>[预期学生反应] 可能说“更清楚”“变模糊”“看到小方格”。接受预测，证据出现后再命名像素。</a:t>
            </a:r>
          </a:p>
          <a:p xmlns:a="http://schemas.openxmlformats.org/drawingml/2006/main">
            <a:r>
              <a:t>[追问问题] 放大是得到新的细节，还是放大已有信息？先留下问题。</a:t>
            </a:r>
          </a:p>
          <a:p xmlns:a="http://schemas.openxmlformats.org/drawingml/2006/main">
            <a:r>
              <a:t>[下一问] 看到了格子；下一步追问格子如何从眼前的花得到。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00:00:43–00:02:48；Snip 3–5；编号为重建导航，不是原课页面编号。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相机怎样“看到”一朵花？</a:t>
            </a:r>
          </a:p>
          <a:p xmlns:a="http://schemas.openxmlformats.org/drawingml/2006/main">
            <a:r>
              <a:t>[内部编号] Q2—提问</a:t>
            </a:r>
          </a:p>
          <a:p xmlns:a="http://schemas.openxmlformats.org/drawingml/2006/main">
            <a:r>
              <a:t>[教学意图] 解释光如何从花进入眼睛或相机；先提出“像素能否盲目增加”的悬问。</a:t>
            </a:r>
          </a:p>
          <a:p xmlns:a="http://schemas.openxmlformats.org/drawingml/2006/main">
            <a:r>
              <a:t>[教师逐字稿] 我们先不谈文件。为什么眼睛能看见花？光照到花以后去了哪里？相机拍照是不是也要接收光？</a:t>
            </a:r>
          </a:p>
          <a:p xmlns:a="http://schemas.openxmlformats.org/drawingml/2006/main">
            <a:r>
              <a:t>[预期学生反应] 学生可能说眼睛看到了花，也可能提出像素越高越好。把话题拉回反射光与采集。</a:t>
            </a:r>
          </a:p>
          <a:p xmlns:a="http://schemas.openxmlformats.org/drawingml/2006/main">
            <a:r>
              <a:t>[追问问题] 感光的是相机的图像传感器，镜头主要负责成像。</a:t>
            </a:r>
          </a:p>
          <a:p xmlns:a="http://schemas.openxmlformats.org/drawingml/2006/main">
            <a:r>
              <a:t>[下一问] 把传感器简化为横向3个、纵向4个位置，开始采样。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00:02:48–00:06:12；Snip 6–7；编号为重建导航，不是原课页面编号。</a:t>
            </a:r>
          </a:p>
          <a:p xmlns:a="http://schemas.openxmlformats.org/drawingml/2006/main">
            <a:r>
              <a:t>[技术注解]  感光元件位于图像传感器；本图忽略滤色阵列、去马赛克等过程。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相机怎样“看到”一朵花？</a:t>
            </a:r>
          </a:p>
          <a:p xmlns:a="http://schemas.openxmlformats.org/drawingml/2006/main">
            <a:r>
              <a:t>[内部编号] Q2—揭示</a:t>
            </a:r>
          </a:p>
          <a:p xmlns:a="http://schemas.openxmlformats.org/drawingml/2006/main">
            <a:r>
              <a:t>[教学意图] 解释光如何从花进入眼睛或相机；先提出“像素能否盲目增加”的悬问。</a:t>
            </a:r>
          </a:p>
          <a:p xmlns:a="http://schemas.openxmlformats.org/drawingml/2006/main">
            <a:r>
              <a:t>[教师逐字稿] 看左边这朵红花。我们看到它，是因为花反射的光进入眼睛；相机也要接收这些光。光经过镜头成像，由图像传感器感光。今天把复杂的相机简化成12个采样位置，每个位置只记录局部信息。先留下一个问题：位置越多就一定越好吗？等算存储量时再回答。</a:t>
            </a:r>
          </a:p>
          <a:p xmlns:a="http://schemas.openxmlformats.org/drawingml/2006/main">
            <a:r>
              <a:t>[预期学生反应] 学生可能说眼睛看到了花，也可能提出像素越高越好。把话题拉回反射光与采集。</a:t>
            </a:r>
          </a:p>
          <a:p xmlns:a="http://schemas.openxmlformats.org/drawingml/2006/main">
            <a:r>
              <a:t>[追问问题] 感光的是相机的图像传感器，镜头主要负责成像。</a:t>
            </a:r>
          </a:p>
          <a:p xmlns:a="http://schemas.openxmlformats.org/drawingml/2006/main">
            <a:r>
              <a:t>[下一问] 把传感器简化为横向3个、纵向4个位置，开始采样。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00:02:48–00:06:12；Snip 6–7；编号为重建导航，不是原课页面编号。</a:t>
            </a:r>
          </a:p>
          <a:p xmlns:a="http://schemas.openxmlformats.org/drawingml/2006/main">
            <a:r>
              <a:t>[技术注解]  感光元件位于图像传感器；本图忽略滤色阵列、去马赛克等过程。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为什么写 3×4，而不只写 12？</a:t>
            </a:r>
          </a:p>
          <a:p xmlns:a="http://schemas.openxmlformats.org/drawingml/2006/main">
            <a:r>
              <a:t>[内部编号] Q3—提问</a:t>
            </a:r>
          </a:p>
          <a:p xmlns:a="http://schemas.openxmlformats.org/drawingml/2006/main">
            <a:r>
              <a:t>[教学意图] 数位置并比较“12”与“3×4”的信息差别。</a:t>
            </a:r>
          </a:p>
          <a:p xmlns:a="http://schemas.openxmlformats.org/drawingml/2006/main">
            <a:r>
              <a:t>[教师逐字稿] 先数一数：总共有多少个采样位置？如果只写 12，能不能知道横向和纵向分别有几个？</a:t>
            </a:r>
          </a:p>
          <a:p xmlns:a="http://schemas.openxmlformats.org/drawingml/2006/main">
            <a:r>
              <a:t>[预期学生反应] 12是总数量，3×4还能说明横向和纵向排列。</a:t>
            </a:r>
          </a:p>
          <a:p xmlns:a="http://schemas.openxmlformats.org/drawingml/2006/main">
            <a:r>
              <a:t>[追问问题] 2×6和3×4总数相同，形状相同吗？</a:t>
            </a:r>
          </a:p>
          <a:p xmlns:a="http://schemas.openxmlformats.org/drawingml/2006/main">
            <a:r>
              <a:t>[下一问] 位置确定了，还要决定每个位置用什么数记录。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00:06:12–00:06:45；Snip 7–8；编号为重建导航，不是原课页面编号。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为什么写 3×4，而不只写 12？</a:t>
            </a:r>
          </a:p>
          <a:p xmlns:a="http://schemas.openxmlformats.org/drawingml/2006/main">
            <a:r>
              <a:t>[内部编号] Q3—揭示</a:t>
            </a:r>
          </a:p>
          <a:p xmlns:a="http://schemas.openxmlformats.org/drawingml/2006/main">
            <a:r>
              <a:t>[教学意图] 数位置并比较“12”与“3×4”的信息差别。</a:t>
            </a:r>
          </a:p>
          <a:p xmlns:a="http://schemas.openxmlformats.org/drawingml/2006/main">
            <a:r>
              <a:t>[教师逐字稿] 总数是 12，但记录图像的空间排列时要写 3×4。这一步采集样本叫采样；横向像素数乘纵向像素数表示分辨率。</a:t>
            </a:r>
          </a:p>
          <a:p xmlns:a="http://schemas.openxmlformats.org/drawingml/2006/main">
            <a:r>
              <a:t>[预期学生反应] 12是总数量，3×4还能说明横向和纵向排列。</a:t>
            </a:r>
          </a:p>
          <a:p xmlns:a="http://schemas.openxmlformats.org/drawingml/2006/main">
            <a:r>
              <a:t>[追问问题] 2×6和3×4总数相同，形状相同吗？</a:t>
            </a:r>
          </a:p>
          <a:p xmlns:a="http://schemas.openxmlformats.org/drawingml/2006/main">
            <a:r>
              <a:t>[下一问] 位置确定了，还要决定每个位置用什么数记录。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00:06:12–00:06:45；Snip 7–8；编号为重建导航，不是原课页面编号。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采样后，每个格子的颜色怎样记录？</a:t>
            </a:r>
          </a:p>
          <a:p xmlns:a="http://schemas.openxmlformats.org/drawingml/2006/main">
            <a:r>
              <a:t>[内部编号] Q4—提问</a:t>
            </a:r>
          </a:p>
          <a:p xmlns:a="http://schemas.openxmlformats.org/drawingml/2006/main">
            <a:r>
              <a:t>[教学意图] 看红花和四彩图，说明近似；读颜色编号与数字矩阵。</a:t>
            </a:r>
          </a:p>
          <a:p xmlns:a="http://schemas.openxmlformats.org/drawingml/2006/main">
            <a:r>
              <a:t>[教师逐字稿] 网格已经划好，但格子里还没有可保存的值。四种颜色怎样变成计算机下一步能处理的数？</a:t>
            </a:r>
          </a:p>
          <a:p xmlns:a="http://schemas.openxmlformats.org/drawingml/2006/main">
            <a:r>
              <a:t>[预期学生反应] 用颜色名、编号；也可能想保留格子内所有细节。强调本轮每格只留一个代表色。</a:t>
            </a:r>
          </a:p>
          <a:p xmlns:a="http://schemas.openxmlformats.org/drawingml/2006/main">
            <a:r>
              <a:t>[追问问题] 这一格同时有两种颜色时，我们是否保留了全部信息？</a:t>
            </a:r>
          </a:p>
          <a:p xmlns:a="http://schemas.openxmlformats.org/drawingml/2006/main">
            <a:r>
              <a:t>[下一问] 编号还要转换成二进制，才能讨论每格需要多少位。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00:06:45–00:09:00；Snip 8–9；编号为重建导航，不是原课页面编号。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采样后，每个格子的颜色怎样记录？</a:t>
            </a:r>
          </a:p>
          <a:p xmlns:a="http://schemas.openxmlformats.org/drawingml/2006/main">
            <a:r>
              <a:t>[内部编号] Q4—揭示</a:t>
            </a:r>
          </a:p>
          <a:p xmlns:a="http://schemas.openxmlformats.org/drawingml/2006/main">
            <a:r>
              <a:t>[教学意图] 看红花和四彩图，说明近似；读颜色编号与数字矩阵。</a:t>
            </a:r>
          </a:p>
          <a:p xmlns:a="http://schemas.openxmlformats.org/drawingml/2006/main">
            <a:r>
              <a:t>[教师逐字稿] 看中间的方格花：同一个格子里原本可能有多种颜色，这里只用一种代表色近似，所以细节会丢失。再给四种颜色约定编号：白0、红1、黄2、绿3。右边每个位置就能用有限的数值记录。这个把采样结果映射到有限等级的过程叫量化。颜色编号是本实验的表示办法，不是相机内部通用的调色板。</a:t>
            </a:r>
          </a:p>
          <a:p xmlns:a="http://schemas.openxmlformats.org/drawingml/2006/main">
            <a:r>
              <a:t>[预期学生反应] 用颜色名、编号；也可能想保留格子内所有细节。强调本轮每格只留一个代表色。</a:t>
            </a:r>
          </a:p>
          <a:p xmlns:a="http://schemas.openxmlformats.org/drawingml/2006/main">
            <a:r>
              <a:t>[追问问题] 这一格同时有两种颜色时，我们是否保留了全部信息？</a:t>
            </a:r>
          </a:p>
          <a:p xmlns:a="http://schemas.openxmlformats.org/drawingml/2006/main">
            <a:r>
              <a:t>[下一问] 编号还要转换成二进制，才能讨论每格需要多少位。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00:06:45–00:09:00；Snip 8–9；编号为重建导航，不是原课页面编号。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四种颜色需要几个 bit？</a:t>
            </a:r>
          </a:p>
          <a:p xmlns:a="http://schemas.openxmlformats.org/drawingml/2006/main">
            <a:r>
              <a:t>[内部编号] Q5—提问</a:t>
            </a:r>
          </a:p>
          <a:p xmlns:a="http://schemas.openxmlformats.org/drawingml/2006/main">
            <a:r>
              <a:t>[教学意图] 判断最少位数，再口头给白、红、黄、绿编码。</a:t>
            </a:r>
          </a:p>
          <a:p xmlns:a="http://schemas.openxmlformats.org/drawingml/2006/main">
            <a:r>
              <a:t>[教师逐字稿] 有人会按 12 个格子想，也有人会按 4 种颜色想。现在给单个格子的颜色编码，到底需要区分多少种状态？至少几位？</a:t>
            </a:r>
          </a:p>
          <a:p xmlns:a="http://schemas.openxmlformats.org/drawingml/2006/main">
            <a:r>
              <a:t>[预期学生反应] 原课出现3位、4位，甚至把12个格子当作状态数。也有学生答2位，并给出00/01/10/11的四色映射。</a:t>
            </a:r>
          </a:p>
          <a:p xmlns:a="http://schemas.openxmlformats.org/drawingml/2006/main">
            <a:r>
              <a:t>[追问问题] 现在给一个像素的颜色编码，要区分12个位置，还是4种颜色？</a:t>
            </a:r>
          </a:p>
          <a:p xmlns:a="http://schemas.openxmlformats.org/drawingml/2006/main">
            <a:r>
              <a:t>[下一问] 有了颜色码表，再由教师逐格替换，命名编码和位深度。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00:09:00–00:13:35；Snip 9–10；编号为重建导航，不是原课页面编号。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四种颜色需要几个 bit？</a:t>
            </a:r>
          </a:p>
          <a:p xmlns:a="http://schemas.openxmlformats.org/drawingml/2006/main">
            <a:r>
              <a:t>[内部编号] Q5—揭示</a:t>
            </a:r>
          </a:p>
          <a:p xmlns:a="http://schemas.openxmlformats.org/drawingml/2006/main">
            <a:r>
              <a:t>[教学意图] 判断最少位数，再口头给白、红、黄、绿编码。</a:t>
            </a:r>
          </a:p>
          <a:p xmlns:a="http://schemas.openxmlformats.org/drawingml/2006/main">
            <a:r>
              <a:t>[教师逐字稿] 先看一个像素要区分的状态：是四种颜色，不是整幅图的十二个位置。1bit只有0和1两种状态，不够；2bit有00、01、10、11，刚好够。现在请按白、红、黄、绿的顺序给它们编码。我们采用白00、红01、黄10、绿11；只要约定一致，也能采用其他对应关系。</a:t>
            </a:r>
          </a:p>
          <a:p xmlns:a="http://schemas.openxmlformats.org/drawingml/2006/main">
            <a:r>
              <a:t>[预期学生反应] 原课出现3位、4位，甚至把12个格子当作状态数。也有学生答2位，并给出00/01/10/11的四色映射。</a:t>
            </a:r>
          </a:p>
          <a:p xmlns:a="http://schemas.openxmlformats.org/drawingml/2006/main">
            <a:r>
              <a:t>[追问问题] 现在给一个像素的颜色编码，要区分12个位置，还是4种颜色？</a:t>
            </a:r>
          </a:p>
          <a:p xmlns:a="http://schemas.openxmlformats.org/drawingml/2006/main">
            <a:r>
              <a:t>[下一问] 有了颜色码表，再由教师逐格替换，命名编码和位深度。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00:09:00–00:13:35；Snip 9–10；编号为重建导航，不是原课页面编号。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怎样编码？位深度又是多少？</a:t>
            </a:r>
          </a:p>
          <a:p xmlns:a="http://schemas.openxmlformats.org/drawingml/2006/main">
            <a:r>
              <a:t>[内部编号] Q6—提问</a:t>
            </a:r>
          </a:p>
          <a:p xmlns:a="http://schemas.openxmlformats.org/drawingml/2006/main">
            <a:r>
              <a:t>[教学意图] 跟随教师将0/1/2/3替换成00/01/10/11，回顾三步骤。</a:t>
            </a:r>
          </a:p>
          <a:p xmlns:a="http://schemas.openxmlformats.org/drawingml/2006/main">
            <a:r>
              <a:t>[教师逐字稿] 前一步得到 0、1、2、3。计算机中怎样表示它们？这一步和前面的采样、量化是什么关系？</a:t>
            </a:r>
          </a:p>
          <a:p xmlns:a="http://schemas.openxmlformats.org/drawingml/2006/main">
            <a:r>
              <a:t>[预期学生反应] 学生可说编码，但可能把整图24bit当成位深度。</a:t>
            </a:r>
          </a:p>
          <a:p xmlns:a="http://schemas.openxmlformats.org/drawingml/2006/main">
            <a:r>
              <a:t>[追问问题] 位深度描述一个像素，还是整幅图？</a:t>
            </a:r>
          </a:p>
          <a:p xmlns:a="http://schemas.openxmlformats.org/drawingml/2006/main">
            <a:r>
              <a:t>[下一问] 图像能保存了，但粗糙的花形制造新的问题。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00:13:35–00:14:46；Snip 10；编号为重建导航，不是原课页面编号。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怎样编码？位深度又是多少？</a:t>
            </a:r>
          </a:p>
          <a:p xmlns:a="http://schemas.openxmlformats.org/drawingml/2006/main">
            <a:r>
              <a:t>[内部编号] Q6—揭示</a:t>
            </a:r>
          </a:p>
          <a:p xmlns:a="http://schemas.openxmlformats.org/drawingml/2006/main">
            <a:r>
              <a:t>[教学意图] 跟随教师将0/1/2/3替换成00/01/10/11，回顾三步骤。</a:t>
            </a:r>
          </a:p>
          <a:p xmlns:a="http://schemas.openxmlformats.org/drawingml/2006/main">
            <a:r>
              <a:t>[教师逐字稿] 我来把每一个颜色编号替换为刚才的二进制码。注意每个格子都写满两位，0写成00，1写成01。现在这幅图已经能表示成二进制数据。将量化值变成码字叫编码；每个像素颜色用2bit描述，所以位深度是2，而不是全图的24bit。回头看：先采样，再量化，最后编码。</a:t>
            </a:r>
          </a:p>
          <a:p xmlns:a="http://schemas.openxmlformats.org/drawingml/2006/main">
            <a:r>
              <a:t>[预期学生反应] 学生可说编码，但可能把整图24bit当成位深度。</a:t>
            </a:r>
          </a:p>
          <a:p xmlns:a="http://schemas.openxmlformats.org/drawingml/2006/main">
            <a:r>
              <a:t>[追问问题] 位深度描述一个像素，还是整幅图？</a:t>
            </a:r>
          </a:p>
          <a:p xmlns:a="http://schemas.openxmlformats.org/drawingml/2006/main">
            <a:r>
              <a:t>[下一问] 图像能保存了，但粗糙的花形制造新的问题。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00:13:35–00:14:46；Snip 10；编号为重建导航，不是原课页面编号。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怎样编码？位深度又是多少？</a:t>
            </a:r>
          </a:p>
          <a:p xmlns:a="http://schemas.openxmlformats.org/drawingml/2006/main">
            <a:r>
              <a:t>[内部编号] Q6—evidence</a:t>
            </a:r>
          </a:p>
          <a:p xmlns:a="http://schemas.openxmlformats.org/drawingml/2006/main">
            <a:r>
              <a:t>[教学意图] 跟随教师将0/1/2/3替换成00/01/10/11，回顾三步骤。</a:t>
            </a:r>
          </a:p>
          <a:p xmlns:a="http://schemas.openxmlformats.org/drawingml/2006/main">
            <a:r>
              <a:t>[教师逐字稿] 先指红花的网格，再指颜色编号，最后指二进制。三个动作分别是采样、量化、编码。原课由教师完成整幅矩阵替换，学生看对应关系；不把这一段说成学生独立编完了全图。</a:t>
            </a:r>
          </a:p>
          <a:p xmlns:a="http://schemas.openxmlformats.org/drawingml/2006/main">
            <a:r>
              <a:t>[预期学生反应] 学生可说编码，但可能把整图24bit当成位深度。</a:t>
            </a:r>
          </a:p>
          <a:p xmlns:a="http://schemas.openxmlformats.org/drawingml/2006/main">
            <a:r>
              <a:t>[追问问题] 位深度描述一个像素，还是整幅图？</a:t>
            </a:r>
          </a:p>
          <a:p xmlns:a="http://schemas.openxmlformats.org/drawingml/2006/main">
            <a:r>
              <a:t>[下一问] 图像能保存了，但粗糙的花形制造新的问题。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00:13:35–00:14:46；Snip 10；编号为重建导航，不是原课页面编号。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怎样让数字花更接近原图？</a:t>
            </a:r>
          </a:p>
          <a:p xmlns:a="http://schemas.openxmlformats.org/drawingml/2006/main">
            <a:r>
              <a:t>[内部编号] Q7—提问</a:t>
            </a:r>
          </a:p>
          <a:p xmlns:a="http://schemas.openxmlformats.org/drawingml/2006/main">
            <a:r>
              <a:t>[教学意图] 比较3×4与6×8，保持颜色数不变；读6×8第四行的编码。</a:t>
            </a:r>
          </a:p>
          <a:p xmlns:a="http://schemas.openxmlformats.org/drawingml/2006/main">
            <a:r>
              <a:t>[教师逐字稿] 3×4 的花还能认出来，但边缘很粗。先说办法。若有人提出增加颜色，先记下；这轮只改变采样点数量。</a:t>
            </a:r>
          </a:p>
          <a:p xmlns:a="http://schemas.openxmlformats.org/drawingml/2006/main">
            <a:r>
              <a:t>[预期学生反应] 增加格子、提高分辨率；位深度不变，因为仍有4种颜色。</a:t>
            </a:r>
          </a:p>
          <a:p xmlns:a="http://schemas.openxmlformats.org/drawingml/2006/main">
            <a:r>
              <a:t>[追问问题] 第四行先辨颜色，再用码表读出二进制；不要把颜色编号直接当成二进制。</a:t>
            </a:r>
          </a:p>
          <a:p xmlns:a="http://schemas.openxmlformats.org/drawingml/2006/main">
            <a:r>
              <a:t>[下一问] 点阵图引出位图概念，再探索另一条改进途径。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00:14:46–00:17:43；Snip 11 缩略图；编号为重建导航，不是原课页面编号。</a:t>
            </a:r>
          </a:p>
          <a:p xmlns:a="http://schemas.openxmlformats.org/drawingml/2006/main">
            <a:r>
              <a:t>[技术注解] 增加真实空间采样通常保留更多细节；插值放大不会凭空恢复原始信息。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怎样让数字花更接近原图？</a:t>
            </a:r>
          </a:p>
          <a:p xmlns:a="http://schemas.openxmlformats.org/drawingml/2006/main">
            <a:r>
              <a:t>[内部编号] Q7—揭示</a:t>
            </a:r>
          </a:p>
          <a:p xmlns:a="http://schemas.openxmlformats.org/drawingml/2006/main">
            <a:r>
              <a:t>[教学意图] 比较3×4与6×8，保持颜色数不变；读6×8第四行的编码。</a:t>
            </a:r>
          </a:p>
          <a:p xmlns:a="http://schemas.openxmlformats.org/drawingml/2006/main">
            <a:r>
              <a:t>[教师逐字稿] 左边3×4，右边6×8，两幅图显示在相近的区域。新图的采样位置更多，每格更小，花形可以表示得更细。我们只改变采样密度，四种颜色没有改变，所以每格仍然需要2bit。这里表示重新采集同一对象；把拍好的旧图直接放大，并不会自动得到新的真实细节。</a:t>
            </a:r>
          </a:p>
          <a:p xmlns:a="http://schemas.openxmlformats.org/drawingml/2006/main">
            <a:r>
              <a:t>[预期学生反应] 增加格子、提高分辨率；位深度不变，因为仍有4种颜色。</a:t>
            </a:r>
          </a:p>
          <a:p xmlns:a="http://schemas.openxmlformats.org/drawingml/2006/main">
            <a:r>
              <a:t>[追问问题] 第四行先辨颜色，再用码表读出二进制；不要把颜色编号直接当成二进制。</a:t>
            </a:r>
          </a:p>
          <a:p xmlns:a="http://schemas.openxmlformats.org/drawingml/2006/main">
            <a:r>
              <a:t>[下一问] 点阵图引出位图概念，再探索另一条改进途径。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00:14:46–00:17:43；Snip 11 缩略图；编号为重建导航，不是原课页面编号。</a:t>
            </a:r>
          </a:p>
          <a:p xmlns:a="http://schemas.openxmlformats.org/drawingml/2006/main">
            <a:r>
              <a:t>[技术注解] 增加真实空间采样通常保留更多细节；插值放大不会凭空恢复原始信息。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第四行，怎样写成二进制？</a:t>
            </a:r>
          </a:p>
          <a:p xmlns:a="http://schemas.openxmlformats.org/drawingml/2006/main">
            <a:r>
              <a:t>[内部编号] Q7—提问</a:t>
            </a:r>
          </a:p>
          <a:p xmlns:a="http://schemas.openxmlformats.org/drawingml/2006/main">
            <a:r>
              <a:t>[教学意图] 比较3×4与6×8，保持颜色数不变；读6×8第四行的编码。</a:t>
            </a:r>
          </a:p>
          <a:p xmlns:a="http://schemas.openxmlformats.org/drawingml/2006/main">
            <a:r>
              <a:t>[教师逐字稿] 从上往下数到第四行。先说六个格子的颜色，再按码表从左到右读出二进制。注意这次要读的是码字，不是颜色的编号。</a:t>
            </a:r>
          </a:p>
          <a:p xmlns:a="http://schemas.openxmlformats.org/drawingml/2006/main">
            <a:r>
              <a:t>[预期学生反应] 增加格子、提高分辨率；位深度不变，因为仍有4种颜色。</a:t>
            </a:r>
          </a:p>
          <a:p xmlns:a="http://schemas.openxmlformats.org/drawingml/2006/main">
            <a:r>
              <a:t>[追问问题] 第四行先辨颜色，再用码表读出二进制；不要把颜色编号直接当成二进制。</a:t>
            </a:r>
          </a:p>
          <a:p xmlns:a="http://schemas.openxmlformats.org/drawingml/2006/main">
            <a:r>
              <a:t>[下一问] 点阵图引出位图概念，再探索另一条改进途径。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00:14:46–00:17:43；Snip 11 缩略图；编号为重建导航，不是原课页面编号。</a:t>
            </a:r>
          </a:p>
          <a:p xmlns:a="http://schemas.openxmlformats.org/drawingml/2006/main">
            <a:r>
              <a:t>[技术注解] 增加真实空间采样通常保留更多细节；插值放大不会凭空恢复原始信息。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第四行，怎样写成二进制？</a:t>
            </a:r>
          </a:p>
          <a:p xmlns:a="http://schemas.openxmlformats.org/drawingml/2006/main">
            <a:r>
              <a:t>[内部编号] Q7—揭示</a:t>
            </a:r>
          </a:p>
          <a:p xmlns:a="http://schemas.openxmlformats.org/drawingml/2006/main">
            <a:r>
              <a:t>[教学意图] 比较3×4与6×8，保持颜色数不变；读6×8第四行的编码。</a:t>
            </a:r>
          </a:p>
          <a:p xmlns:a="http://schemas.openxmlformats.org/drawingml/2006/main">
            <a:r>
              <a:t>[教师逐字稿] 这一行先是两个红色，再两个黄色，最后两个红色。红色01，黄色10，所以整行是01、01、10、10、01、01，共12bit。这次学生只读一行；其他各行按同一规则处理。</a:t>
            </a:r>
          </a:p>
          <a:p xmlns:a="http://schemas.openxmlformats.org/drawingml/2006/main">
            <a:r>
              <a:t>[预期学生反应] 增加格子、提高分辨率；位深度不变，因为仍有4种颜色。</a:t>
            </a:r>
          </a:p>
          <a:p xmlns:a="http://schemas.openxmlformats.org/drawingml/2006/main">
            <a:r>
              <a:t>[追问问题] 第四行先辨颜色，再用码表读出二进制；不要把颜色编号直接当成二进制。</a:t>
            </a:r>
          </a:p>
          <a:p xmlns:a="http://schemas.openxmlformats.org/drawingml/2006/main">
            <a:r>
              <a:t>[下一问] 点阵图引出位图概念，再探索另一条改进途径。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00:14:46–00:17:43；Snip 11 缩略图；编号为重建导航，不是原课页面编号。</a:t>
            </a:r>
          </a:p>
          <a:p xmlns:a="http://schemas.openxmlformats.org/drawingml/2006/main">
            <a:r>
              <a:t>[技术注解] 增加真实空间采样通常保留更多细节；插值放大不会凭空恢复原始信息。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位图和矢量图放大后有什么不同？</a:t>
            </a:r>
          </a:p>
          <a:p xmlns:a="http://schemas.openxmlformats.org/drawingml/2006/main">
            <a:r>
              <a:t>[内部编号] Q8—提问</a:t>
            </a:r>
          </a:p>
          <a:p xmlns:a="http://schemas.openxmlformats.org/drawingml/2006/main">
            <a:r>
              <a:t>[教学意图] 比较两类图形的放大边缘；把讨论收回位图。</a:t>
            </a:r>
          </a:p>
          <a:p xmlns:a="http://schemas.openxmlformats.org/drawingml/2006/main">
            <a:r>
              <a:t>[教师逐字稿] 刚才的花由格子组成。若继续放大它，边缘会怎样？再想另一种能持续保持清晰边缘的图。</a:t>
            </a:r>
          </a:p>
          <a:p xmlns:a="http://schemas.openxmlformats.org/drawingml/2006/main">
            <a:r>
              <a:t>[预期学生反应] 位图边缘出现格子；矢量边界可随显示大小重新绘制。</a:t>
            </a:r>
          </a:p>
          <a:p xmlns:a="http://schemas.openxmlformats.org/drawingml/2006/main">
            <a:r>
              <a:t>[追问问题] 本课随后计算的对象是哪一类图？</a:t>
            </a:r>
          </a:p>
          <a:p xmlns:a="http://schemas.openxmlformats.org/drawingml/2006/main">
            <a:r>
              <a:t>[下一问] 回到6×8花朵，保持位置不变再改变颜色。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00:17:43–00:18:51；逐字稿；编号为重建导航，不是原课页面编号。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位图和矢量图放大后有什么不同？</a:t>
            </a:r>
          </a:p>
          <a:p xmlns:a="http://schemas.openxmlformats.org/drawingml/2006/main">
            <a:r>
              <a:t>[内部编号] Q8—揭示</a:t>
            </a:r>
          </a:p>
          <a:p xmlns:a="http://schemas.openxmlformats.org/drawingml/2006/main">
            <a:r>
              <a:t>[教学意图] 比较两类图形的放大边缘；把讨论收回位图。</a:t>
            </a:r>
          </a:p>
          <a:p xmlns:a="http://schemas.openxmlformats.org/drawingml/2006/main">
            <a:r>
              <a:t>[教师逐字稿] 左边用像素点阵表示边缘，放大后格子也被放大；右边保留的是可重新绘制的图形描述，可以按新的显示尺寸绘出边界。我们接下来继续讨论位图的数据。矢量图最终在屏幕上显示时也会被栅格化，并不是屏幕没有像素。</a:t>
            </a:r>
          </a:p>
          <a:p xmlns:a="http://schemas.openxmlformats.org/drawingml/2006/main">
            <a:r>
              <a:t>[预期学生反应] 位图边缘出现格子；矢量边界可随显示大小重新绘制。</a:t>
            </a:r>
          </a:p>
          <a:p xmlns:a="http://schemas.openxmlformats.org/drawingml/2006/main">
            <a:r>
              <a:t>[追问问题] 本课随后计算的对象是哪一类图？</a:t>
            </a:r>
          </a:p>
          <a:p xmlns:a="http://schemas.openxmlformats.org/drawingml/2006/main">
            <a:r>
              <a:t>[下一问] 回到6×8花朵，保持位置不变再改变颜色。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00:17:43–00:18:51；逐字稿；编号为重建导航，不是原课页面编号。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分辨率不变，还能怎样改进颜色？</a:t>
            </a:r>
          </a:p>
          <a:p xmlns:a="http://schemas.openxmlformats.org/drawingml/2006/main">
            <a:r>
              <a:t>[内部编号] Q9—提问</a:t>
            </a:r>
          </a:p>
          <a:p xmlns:a="http://schemas.openxmlformats.org/drawingml/2006/main">
            <a:r>
              <a:t>[教学意图] 比较四/六色；判断最少3bit。六色逐格编码由教师说明，不要求学生复原照片。</a:t>
            </a:r>
          </a:p>
          <a:p xmlns:a="http://schemas.openxmlformats.org/drawingml/2006/main">
            <a:r>
              <a:t>[教师逐字稿] 这轮不能再改格子数量。四种颜色还是有些粗糙，接下来改什么？若要表示六种颜色，两位还够吗？</a:t>
            </a:r>
          </a:p>
          <a:p xmlns:a="http://schemas.openxmlformats.org/drawingml/2006/main">
            <a:r>
              <a:t>[预期学生反应] 增加颜色；6种状态需3bit，而不是6bit。</a:t>
            </a:r>
          </a:p>
          <a:p xmlns:a="http://schemas.openxmlformats.org/drawingml/2006/main">
            <a:r>
              <a:t>[追问问题] 2bit可区分几种？3bit有8个码字，为什么6种也够？</a:t>
            </a:r>
          </a:p>
          <a:p xmlns:a="http://schemas.openxmlformats.org/drawingml/2006/main">
            <a:r>
              <a:t>[下一问] 三轮实验结束，用学案空格把改变的变量和结果分清。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00:18:51–00:20:37；Snip 11 缩略图；编号为重建导航，不是原课页面编号。</a:t>
            </a:r>
          </a:p>
          <a:p xmlns:a="http://schemas.openxmlformats.org/drawingml/2006/main">
            <a:r>
              <a:t>[技术注解] 更多颜色只在同一量化任务、其他条件相近时通常减小颜色近似误差。 六色网格是教学示意重建，不能当作原课逐格精确矩阵；不据此考查编码。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分辨率不变，还能怎样改进颜色？</a:t>
            </a:r>
          </a:p>
          <a:p xmlns:a="http://schemas.openxmlformats.org/drawingml/2006/main">
            <a:r>
              <a:t>[内部编号] Q9—揭示</a:t>
            </a:r>
          </a:p>
          <a:p xmlns:a="http://schemas.openxmlformats.org/drawingml/2006/main">
            <a:r>
              <a:t>[教学意图] 比较四/六色；判断最少3bit。六色逐格编码由教师说明，不要求学生复原照片。</a:t>
            </a:r>
          </a:p>
          <a:p xmlns:a="http://schemas.openxmlformats.org/drawingml/2006/main">
            <a:r>
              <a:t>[教师逐字稿] 格子的位置没有改变，两幅图都是6×8。右边可以用更多颜色等级表示花瓣和花心，量化时有更多选择。先把“形状更细”与“颜色更丰富”分开。接下来判断：六种颜色，原来的2bit够不够？不要把颜色数直接当成位深度。</a:t>
            </a:r>
          </a:p>
          <a:p xmlns:a="http://schemas.openxmlformats.org/drawingml/2006/main">
            <a:r>
              <a:t>[预期学生反应] 增加颜色；6种状态需3bit，而不是6bit。</a:t>
            </a:r>
          </a:p>
          <a:p xmlns:a="http://schemas.openxmlformats.org/drawingml/2006/main">
            <a:r>
              <a:t>[追问问题] 2bit可区分几种？3bit有8个码字，为什么6种也够？</a:t>
            </a:r>
          </a:p>
          <a:p xmlns:a="http://schemas.openxmlformats.org/drawingml/2006/main">
            <a:r>
              <a:t>[下一问] 三轮实验结束，用学案空格把改变的变量和结果分清。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00:18:51–00:20:37；Snip 11 缩略图；编号为重建导航，不是原课页面编号。</a:t>
            </a:r>
          </a:p>
          <a:p xmlns:a="http://schemas.openxmlformats.org/drawingml/2006/main">
            <a:r>
              <a:t>[技术注解] 更多颜色只在同一量化任务、其他条件相近时通常减小颜色近似误差。 六色网格是教学示意重建，不能当作原课逐格精确矩阵；不据此考查编码。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六种颜色，至少需要几个 bit？</a:t>
            </a:r>
          </a:p>
          <a:p xmlns:a="http://schemas.openxmlformats.org/drawingml/2006/main">
            <a:r>
              <a:t>[内部编号] Q9—提问</a:t>
            </a:r>
          </a:p>
          <a:p xmlns:a="http://schemas.openxmlformats.org/drawingml/2006/main">
            <a:r>
              <a:t>[教学意图] 比较四/六色；判断最少3bit。六色逐格编码由教师说明，不要求学生复原照片。</a:t>
            </a:r>
          </a:p>
          <a:p xmlns:a="http://schemas.openxmlformats.org/drawingml/2006/main">
            <a:r>
              <a:t>[教师逐字稿] 现在不看花有多少个格子，只看一个格子有六种可能。先试两位，再试三位，哪一个最少而且够用？</a:t>
            </a:r>
          </a:p>
          <a:p xmlns:a="http://schemas.openxmlformats.org/drawingml/2006/main">
            <a:r>
              <a:t>[预期学生反应] 增加颜色；6种状态需3bit，而不是6bit。</a:t>
            </a:r>
          </a:p>
          <a:p xmlns:a="http://schemas.openxmlformats.org/drawingml/2006/main">
            <a:r>
              <a:t>[追问问题] 2bit可区分几种？3bit有8个码字，为什么6种也够？</a:t>
            </a:r>
          </a:p>
          <a:p xmlns:a="http://schemas.openxmlformats.org/drawingml/2006/main">
            <a:r>
              <a:t>[下一问] 三轮实验结束，用学案空格把改变的变量和结果分清。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00:18:51–00:20:37；Snip 11 缩略图；编号为重建导航，不是原课页面编号。</a:t>
            </a:r>
          </a:p>
          <a:p xmlns:a="http://schemas.openxmlformats.org/drawingml/2006/main">
            <a:r>
              <a:t>[技术注解] 更多颜色只在同一量化任务、其他条件相近时通常减小颜色近似误差。 六色网格是教学示意重建，不能当作原课逐格精确矩阵；不据此考查编码。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六种颜色，至少需要几个 bit？</a:t>
            </a:r>
          </a:p>
          <a:p xmlns:a="http://schemas.openxmlformats.org/drawingml/2006/main">
            <a:r>
              <a:t>[内部编号] Q9—揭示</a:t>
            </a:r>
          </a:p>
          <a:p xmlns:a="http://schemas.openxmlformats.org/drawingml/2006/main">
            <a:r>
              <a:t>[教学意图] 比较四/六色；判断最少3bit。六色逐格编码由教师说明，不要求学生复原照片。</a:t>
            </a:r>
          </a:p>
          <a:p xmlns:a="http://schemas.openxmlformats.org/drawingml/2006/main">
            <a:r>
              <a:t>[教师逐字稿] 2的2次方是4，小于6，不够；2的3次方是8，大于等于6，够用。最少3bit，可以选用其中6个码字，另外2个不用。这里不要说所有8个码字都必须出现在图像里。</a:t>
            </a:r>
          </a:p>
          <a:p xmlns:a="http://schemas.openxmlformats.org/drawingml/2006/main">
            <a:r>
              <a:t>[预期学生反应] 增加颜色；6种状态需3bit，而不是6bit。</a:t>
            </a:r>
          </a:p>
          <a:p xmlns:a="http://schemas.openxmlformats.org/drawingml/2006/main">
            <a:r>
              <a:t>[追问问题] 2bit可区分几种？3bit有8个码字，为什么6种也够？</a:t>
            </a:r>
          </a:p>
          <a:p xmlns:a="http://schemas.openxmlformats.org/drawingml/2006/main">
            <a:r>
              <a:t>[下一问] 三轮实验结束，用学案空格把改变的变量和结果分清。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00:18:51–00:20:37；Snip 11 缩略图；编号为重建导航，不是原课页面编号。</a:t>
            </a:r>
          </a:p>
          <a:p xmlns:a="http://schemas.openxmlformats.org/drawingml/2006/main">
            <a:r>
              <a:t>[技术注解] 更多颜色只在同一量化任务、其他条件相近时通常减小颜色近似误差。 六色网格是教学示意重建，不能当作原课逐格精确矩阵；不据此考查编码。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三轮花朵实验说明了什么？</a:t>
            </a:r>
          </a:p>
          <a:p xmlns:a="http://schemas.openxmlformats.org/drawingml/2006/main">
            <a:r>
              <a:t>[内部编号] Q10—提问</a:t>
            </a:r>
          </a:p>
          <a:p xmlns:a="http://schemas.openxmlformats.org/drawingml/2006/main">
            <a:r>
              <a:t>[教学意图] 在纸上填写投影空格，逐项口头核对。</a:t>
            </a:r>
          </a:p>
          <a:p xmlns:a="http://schemas.openxmlformats.org/drawingml/2006/main">
            <a:r>
              <a:t>[教师逐字稿] 先看三幅花。第一轮建立什么模型？第二轮改了什么？第三轮又改了什么？请先完成学案空格。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00:20:37–00:22:29；Snip 11、13；编号为重建导航，不是原课页面编号。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三轮花朵实验说明了什么？</a:t>
            </a:r>
          </a:p>
          <a:p xmlns:a="http://schemas.openxmlformats.org/drawingml/2006/main">
            <a:r>
              <a:t>[内部编号] Q10—揭示</a:t>
            </a:r>
          </a:p>
          <a:p xmlns:a="http://schemas.openxmlformats.org/drawingml/2006/main">
            <a:r>
              <a:t>[教学意图] 在纸上填写投影空格，逐项口头核对。</a:t>
            </a:r>
          </a:p>
          <a:p xmlns:a="http://schemas.openxmlformats.org/drawingml/2006/main">
            <a:r>
              <a:t>[教师逐字稿] 第一轮建立了采样、量化、编码的流程。第二轮保持颜色数不变，提高采样分辨率，让形状表达更细；第三轮保持位置不变，增加可用颜色。请对照你填的词逐项核对。我们比较的是同一对象、相同显示大小；不把“像素多”当成任何照片都更清晰的保证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00:20:37–00:22:29；Snip 11、13；编号为重建导航，不是原课页面编号。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颜色种类、位深度怎样联系？</a:t>
            </a:r>
          </a:p>
          <a:p xmlns:a="http://schemas.openxmlformats.org/drawingml/2006/main">
            <a:r>
              <a:t>[内部编号] Q10—提问</a:t>
            </a:r>
          </a:p>
          <a:p xmlns:a="http://schemas.openxmlformats.org/drawingml/2006/main">
            <a:r>
              <a:t>[教学意图] 在纸上填写投影空格，逐项口头核对。</a:t>
            </a:r>
          </a:p>
          <a:p xmlns:a="http://schemas.openxmlformats.org/drawingml/2006/main">
            <a:r>
              <a:t>[教师逐字稿] 继续填写：六种颜色比四种需要更多bit。现在把例子推广，n个bit最多有多少种不同码字？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00:20:37–00:22:29；Snip 11、13；编号为重建导航，不是原课页面编号。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颜色种类、位深度怎样联系？</a:t>
            </a:r>
          </a:p>
          <a:p xmlns:a="http://schemas.openxmlformats.org/drawingml/2006/main">
            <a:r>
              <a:t>[内部编号] Q10—揭示</a:t>
            </a:r>
          </a:p>
          <a:p xmlns:a="http://schemas.openxmlformats.org/drawingml/2006/main">
            <a:r>
              <a:t>[教学意图] 在纸上填写投影空格，逐项口头核对。</a:t>
            </a:r>
          </a:p>
          <a:p xmlns:a="http://schemas.openxmlformats.org/drawingml/2006/main">
            <a:r>
              <a:t>[教师逐字稿] 位深度n最多表示2的n次方种颜色。想容纳更多颜色时，要看原来的位数是否已不够；只有超过原容量才必须增加位数。本实验从4到6种颜色，位深度从2到3。</a:t>
            </a:r>
          </a:p>
          <a:p xmlns:a="http://schemas.openxmlformats.org/drawingml/2006/main">
            <a:r>
              <a:t>[预期学生反应] 采样、量化、编码；分辨率提高；颜色等级增加；n位最多2^n种。</a:t>
            </a:r>
          </a:p>
          <a:p xmlns:a="http://schemas.openxmlformats.org/drawingml/2006/main">
            <a:r>
              <a:t>[追问问题] 第二轮变了哪个量？第三轮又保持了什么？</a:t>
            </a:r>
          </a:p>
          <a:p xmlns:a="http://schemas.openxmlformats.org/drawingml/2006/main">
            <a:r>
              <a:t>[下一问] 更细、更丰富都要付出存储代价，回收“像素能否盲目增加”的悬问。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00:20:37–00:22:29；Snip 11、13；编号为重建导航，不是原课页面编号。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同一场景，照片大小为什么不同？</a:t>
            </a:r>
          </a:p>
          <a:p xmlns:a="http://schemas.openxmlformats.org/drawingml/2006/main">
            <a:r>
              <a:t>[内部编号] Q11—提问</a:t>
            </a:r>
          </a:p>
          <a:p xmlns:a="http://schemas.openxmlformats.org/drawingml/2006/main">
            <a:r>
              <a:t>[教学意图] 依次列出三组乘法，不急于背公式，再归纳总bit。</a:t>
            </a:r>
          </a:p>
          <a:p xmlns:a="http://schemas.openxmlformats.org/drawingml/2006/main">
            <a:r>
              <a:t>[教师逐字稿] 三幅图来自同一个思想实验。每个格子要占几位？格子总数又有多少？先算三幅图各需多少 bit。</a:t>
            </a:r>
          </a:p>
          <a:p xmlns:a="http://schemas.openxmlformats.org/drawingml/2006/main">
            <a:r>
              <a:t>[预期学生反应] 学生可能只相加；使用人数乘每人巧克力的原课类比解释相乘。</a:t>
            </a:r>
          </a:p>
          <a:p xmlns:a="http://schemas.openxmlformats.org/drawingml/2006/main">
            <a:r>
              <a:t>[追问问题] 像素数相当于人数，位深度相当于每人份数；结果单位是什么？</a:t>
            </a:r>
          </a:p>
          <a:p xmlns:a="http://schemas.openxmlformats.org/drawingml/2006/main">
            <a:r>
              <a:t>[下一问] 从bit换成B，让公式的单位完整。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00:22:29–00:25:14；Snip 14–15；编号为重建导航，不是原课页面编号。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同一场景，照片大小为什么不同？</a:t>
            </a:r>
          </a:p>
          <a:p xmlns:a="http://schemas.openxmlformats.org/drawingml/2006/main">
            <a:r>
              <a:t>[内部编号] Q11—揭示</a:t>
            </a:r>
          </a:p>
          <a:p xmlns:a="http://schemas.openxmlformats.org/drawingml/2006/main">
            <a:r>
              <a:t>[教学意图] 依次列出三组乘法，不急于背公式，再归纳总bit。</a:t>
            </a:r>
          </a:p>
          <a:p xmlns:a="http://schemas.openxmlformats.org/drawingml/2006/main">
            <a:r>
              <a:t>[教师逐字稿] 第一幅有12个像素，每个2bit，所以是3×4×2=24bit。好比40个人每人两块巧克力，总数要用40×2。第二幅像素多了，每格位数没变，得到96bit；第三幅每格改成3bit，得到144bit。请自己把共同结构说出来：像素总数乘每像素位数。这也解释了更高分辨率和更高位深度的存储代价。</a:t>
            </a:r>
          </a:p>
          <a:p xmlns:a="http://schemas.openxmlformats.org/drawingml/2006/main">
            <a:r>
              <a:t>[预期学生反应] 学生可能只相加；使用人数乘每人巧克力的原课类比解释相乘。</a:t>
            </a:r>
          </a:p>
          <a:p xmlns:a="http://schemas.openxmlformats.org/drawingml/2006/main">
            <a:r>
              <a:t>[追问问题] 像素数相当于人数，位深度相当于每人份数；结果单位是什么？</a:t>
            </a:r>
          </a:p>
          <a:p xmlns:a="http://schemas.openxmlformats.org/drawingml/2006/main">
            <a:r>
              <a:t>[下一问] 从bit换成B，让公式的单位完整。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00:22:29–00:25:14；Snip 14–15；编号为重建导航，不是原课页面编号。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要用 B 表示数据量，怎样换算？</a:t>
            </a:r>
          </a:p>
          <a:p xmlns:a="http://schemas.openxmlformats.org/drawingml/2006/main">
            <a:r>
              <a:t>[内部编号] Q12—提问</a:t>
            </a:r>
          </a:p>
          <a:p xmlns:a="http://schemas.openxmlformats.org/drawingml/2006/main">
            <a:r>
              <a:t>[教学意图] 把24/96/144bit转成3/12/18B，归纳通式。</a:t>
            </a:r>
          </a:p>
          <a:p xmlns:a="http://schemas.openxmlformats.org/drawingml/2006/main">
            <a:r>
              <a:t>[教师逐字稿] 前一页得到的是 bit。如果题目要求 Byte，应该怎么换？换成 KiB、MiB 又要怎样做？</a:t>
            </a:r>
          </a:p>
          <a:p xmlns:a="http://schemas.openxmlformats.org/drawingml/2006/main">
            <a:r>
              <a:t>[预期学生反应] 除以8；进一步按1024换算。</a:t>
            </a:r>
          </a:p>
          <a:p xmlns:a="http://schemas.openxmlformats.org/drawingml/2006/main">
            <a:r>
              <a:t>[追问问题] 题目求bit时还要除以8吗？求KiB时还需要哪一步？</a:t>
            </a:r>
          </a:p>
          <a:p xmlns:a="http://schemas.openxmlformats.org/drawingml/2006/main">
            <a:r>
              <a:t>[下一问] 用不同颜色数练习寻找位深度再代公式。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00:25:14–00:26:28；Snip 15–16；编号为重建导航，不是原课页面编号。</a:t>
            </a:r>
          </a:p>
          <a:p xmlns:a="http://schemas.openxmlformats.org/drawingml/2006/main">
            <a:r>
              <a:t>[技术注解] BMP 完整文件还可能有文件头、信息头、调色板和行填充。参见 https://learn.microsoft.com/en-us/windows/win32/gdi/bitmap-storage 1024B=1KiB。https://physics.nist.gov/cuu/Units/binary.html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要用 B 表示数据量，怎样换算？</a:t>
            </a:r>
          </a:p>
          <a:p xmlns:a="http://schemas.openxmlformats.org/drawingml/2006/main">
            <a:r>
              <a:t>[内部编号] Q12—揭示</a:t>
            </a:r>
          </a:p>
          <a:p xmlns:a="http://schemas.openxmlformats.org/drawingml/2006/main">
            <a:r>
              <a:t>[教学意图] 把24/96/144bit转成3/12/18B，归纳通式。</a:t>
            </a:r>
          </a:p>
          <a:p xmlns:a="http://schemas.openxmlformats.org/drawingml/2006/main">
            <a:r>
              <a:t>[教师逐字稿] 像素数据量 B = 横向像素数 × 纵向像素数 × 位深度 ÷ 8。再除以 1024 得 KiB，再除以 1024 得 MiB。公式计算的是理想连续排列的像素有效载荷。</a:t>
            </a:r>
          </a:p>
          <a:p xmlns:a="http://schemas.openxmlformats.org/drawingml/2006/main">
            <a:r>
              <a:t>[预期学生反应] 除以8；进一步按1024换算。</a:t>
            </a:r>
          </a:p>
          <a:p xmlns:a="http://schemas.openxmlformats.org/drawingml/2006/main">
            <a:r>
              <a:t>[追问问题] 题目求bit时还要除以8吗？求KiB时还需要哪一步？</a:t>
            </a:r>
          </a:p>
          <a:p xmlns:a="http://schemas.openxmlformats.org/drawingml/2006/main">
            <a:r>
              <a:t>[下一问] 用不同颜色数练习寻找位深度再代公式。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00:25:14–00:26:28；Snip 15–16；编号为重建导航，不是原课页面编号。</a:t>
            </a:r>
          </a:p>
          <a:p xmlns:a="http://schemas.openxmlformats.org/drawingml/2006/main">
            <a:r>
              <a:t>[技术注解] BMP 完整文件还可能有文件头、信息头、调色板和行填充。参见 https://learn.microsoft.com/en-us/windows/win32/gdi/bitmap-storage 1024B=1KiB。https://physics.nist.gov/cuu/Units/binary.html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黑白、16 色、256 色各要几 bit？</a:t>
            </a:r>
          </a:p>
          <a:p xmlns:a="http://schemas.openxmlformats.org/drawingml/2006/main">
            <a:r>
              <a:t>[内部编号] Q13—提问</a:t>
            </a:r>
          </a:p>
          <a:p xmlns:a="http://schemas.openxmlformats.org/drawingml/2006/main">
            <a:r>
              <a:t>[教学意图] 填写位深度和B单位算式，不要求约分。</a:t>
            </a:r>
          </a:p>
          <a:p xmlns:a="http://schemas.openxmlformats.org/drawingml/2006/main">
            <a:r>
              <a:t>[教师逐字稿] 先别看答案。黑白只有两种状态，需要几位？16 色和 256 色分别找哪个 2 的幂？</a:t>
            </a:r>
          </a:p>
          <a:p xmlns:a="http://schemas.openxmlformats.org/drawingml/2006/main">
            <a:r>
              <a:t>[预期学生反应] 黑白1bit、16色4bit、256色8bit；M×N是像素数。</a:t>
            </a:r>
          </a:p>
          <a:p xmlns:a="http://schemas.openxmlformats.org/drawingml/2006/main">
            <a:r>
              <a:t>[追问问题] 颜色数与位深度是一回事吗？</a:t>
            </a:r>
          </a:p>
          <a:p xmlns:a="http://schemas.openxmlformats.org/drawingml/2006/main">
            <a:r>
              <a:t>[下一问] 24位真彩色沿用同一公式，但需要解释24的构成。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00:26:28–00:28:25；Snip 17–18；编号为重建导航，不是原课页面编号。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黑白、16 色、256 色各要几 bit？</a:t>
            </a:r>
          </a:p>
          <a:p xmlns:a="http://schemas.openxmlformats.org/drawingml/2006/main">
            <a:r>
              <a:t>[内部编号] Q13—揭示</a:t>
            </a:r>
          </a:p>
          <a:p xmlns:a="http://schemas.openxmlformats.org/drawingml/2006/main">
            <a:r>
              <a:t>[教学意图] 填写位深度和B单位算式，不要求约分。</a:t>
            </a:r>
          </a:p>
          <a:p xmlns:a="http://schemas.openxmlformats.org/drawingml/2006/main">
            <a:r>
              <a:t>[教师逐字稿] 黑白 1 bit，16 色 4 bit，256 色 8 bit。若分辨率是 M×N，代入前页公式即可得到理想像素数据量。</a:t>
            </a:r>
          </a:p>
          <a:p xmlns:a="http://schemas.openxmlformats.org/drawingml/2006/main">
            <a:r>
              <a:t>[预期学生反应] 黑白1bit、16色4bit、256色8bit；M×N是像素数。</a:t>
            </a:r>
          </a:p>
          <a:p xmlns:a="http://schemas.openxmlformats.org/drawingml/2006/main">
            <a:r>
              <a:t>[追问问题] 颜色数与位深度是一回事吗？</a:t>
            </a:r>
          </a:p>
          <a:p xmlns:a="http://schemas.openxmlformats.org/drawingml/2006/main">
            <a:r>
              <a:t>[下一问] 24位真彩色沿用同一公式，但需要解释24的构成。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00:26:28–00:28:25；Snip 17–18；编号为重建导航，不是原课页面编号。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24位真彩色，最多有多少种颜色？</a:t>
            </a:r>
          </a:p>
          <a:p xmlns:a="http://schemas.openxmlformats.org/drawingml/2006/main">
            <a:r>
              <a:t>[内部编号] Q14—提问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刚才已经算过黑白、16色和256色。现在直接给位深度24，请写出最多颜色数，再列M×N图像的像素数据量。先不用求出颜色数的十进制值。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用Photoshop显示的具体像素检验24位模型。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00:28:25–00:31:13；Snip 19；编号为重建导航，不是原课页面编号。</a:t>
            </a:r>
          </a:p>
          <a:p xmlns:a="http://schemas.openxmlformats.org/drawingml/2006/main">
            <a:r>
              <a:t>[技术注解]  RGB位数参考 https://helpx.adobe.com/photoshop/using/bit-depth.html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24位真彩色，最多有多少种颜色？</a:t>
            </a:r>
          </a:p>
          <a:p xmlns:a="http://schemas.openxmlformats.org/drawingml/2006/main">
            <a:r>
              <a:t>[内部编号] Q14—揭示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24位最多表示2的24次方种颜色，数据量是M×N×24除8字节。计算方法完全相同。为什么照片常用24位？下一页看红、绿、蓝三个通道怎样组成它。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用Photoshop显示的具体像素检验24位模型。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00:28:25–00:31:13；Snip 19；编号为重建导航，不是原课页面编号。</a:t>
            </a:r>
          </a:p>
          <a:p xmlns:a="http://schemas.openxmlformats.org/drawingml/2006/main">
            <a:r>
              <a:t>[技术注解]  RGB位数参考 https://helpx.adobe.com/photoshop/using/bit-depth.html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 位 RGB 怎样表示丰富的颜色？</a:t>
            </a:r>
          </a:p>
          <a:p xmlns:a="http://schemas.openxmlformats.org/drawingml/2006/main">
            <a:r>
              <a:t>[内部编号] Q14—提问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三个通道要组成 24 bit，每个通道分到几位？一个通道最多有多少个等级？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用Photoshop显示的具体像素检验24位模型。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00:28:25–00:31:13；Snip 19；编号为重建导航，不是原课页面编号。</a:t>
            </a:r>
          </a:p>
          <a:p xmlns:a="http://schemas.openxmlformats.org/drawingml/2006/main">
            <a:r>
              <a:t>[技术注解]  RGB位数参考 https://helpx.adobe.com/photoshop/using/bit-depth.html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24 位 RGB 怎样表示丰富的颜色？</a:t>
            </a:r>
          </a:p>
          <a:p xmlns:a="http://schemas.openxmlformats.org/drawingml/2006/main">
            <a:r>
              <a:t>[内部编号] Q14—揭示</a:t>
            </a:r>
          </a:p>
          <a:p xmlns:a="http://schemas.openxmlformats.org/drawingml/2006/main">
            <a:r>
              <a:t>[教学意图] 先补24位真彩色一列，再解释RGB三个通道和组合。</a:t>
            </a:r>
          </a:p>
          <a:p xmlns:a="http://schemas.openxmlformats.org/drawingml/2006/main">
            <a:r>
              <a:t>[教师逐字稿] 每个通道8bit，可以取0到255，共256级。三个通道的等级独立组合，所以一共有256×256×256种组合，等于2的24次方。每个像素的总位数是8+8+8=24。这里说的是不带透明通道的24位RGB模型；软件中的“8位/通道”不要误读成整像素只有8位。</a:t>
            </a:r>
          </a:p>
          <a:p xmlns:a="http://schemas.openxmlformats.org/drawingml/2006/main">
            <a:r>
              <a:t>[预期学生反应] 24位最多2^24种，数据量M×N×24÷8；RGB各8位、各256级。</a:t>
            </a:r>
          </a:p>
          <a:p xmlns:a="http://schemas.openxmlformats.org/drawingml/2006/main">
            <a:r>
              <a:t>[追问问题] 三个通道各256级，是相加还是相乘？</a:t>
            </a:r>
          </a:p>
          <a:p xmlns:a="http://schemas.openxmlformats.org/drawingml/2006/main">
            <a:r>
              <a:t>[下一问] 用Photoshop显示的具体像素检验24位模型。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00:28:25–00:31:13；Snip 19；编号为重建导航，不是原课页面编号。</a:t>
            </a:r>
          </a:p>
          <a:p xmlns:a="http://schemas.openxmlformats.org/drawingml/2006/main">
            <a:r>
              <a:t>[技术注解]  RGB位数参考 https://helpx.adobe.com/photoshop/using/bit-depth.html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一个 RGB 像素真正保存了什么？</a:t>
            </a:r>
          </a:p>
          <a:p xmlns:a="http://schemas.openxmlformats.org/drawingml/2006/main">
            <a:r>
              <a:t>[内部编号] Q15—提问</a:t>
            </a:r>
          </a:p>
          <a:p xmlns:a="http://schemas.openxmlformats.org/drawingml/2006/main">
            <a:r>
              <a:t>[教学意图] 读取R220/G95/B15，并观察三个8位二进制值。</a:t>
            </a:r>
          </a:p>
          <a:p xmlns:a="http://schemas.openxmlformats.org/drawingml/2006/main">
            <a:r>
              <a:t>[教师逐字稿] 软件用十进制显示通道数值。计算机内部保存时，用的是十进制字符，还是三个通道的二进制位？</a:t>
            </a:r>
          </a:p>
          <a:p xmlns:a="http://schemas.openxmlformats.org/drawingml/2006/main">
            <a:r>
              <a:t>[预期学生反应] 软件为人显示十进制，存储采用二进制；每通道补足8位。</a:t>
            </a:r>
          </a:p>
          <a:p xmlns:a="http://schemas.openxmlformats.org/drawingml/2006/main">
            <a:r>
              <a:t>[追问问题] G和B前面的0可以在这个固定宽度模型里省掉吗？</a:t>
            </a:r>
          </a:p>
          <a:p xmlns:a="http://schemas.openxmlformats.org/drawingml/2006/main">
            <a:r>
              <a:t>[下一问] 从一个像素的3bytes，计算整幅500×333图像。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00:30:06–00:31:13；Snip 20；编号为重建导航，不是原课页面编号。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一个 RGB 像素真正保存了什么？</a:t>
            </a:r>
          </a:p>
          <a:p xmlns:a="http://schemas.openxmlformats.org/drawingml/2006/main">
            <a:r>
              <a:t>[内部编号] Q15—揭示</a:t>
            </a:r>
          </a:p>
          <a:p xmlns:a="http://schemas.openxmlformats.org/drawingml/2006/main">
            <a:r>
              <a:t>[教学意图] 读取R220/G95/B15，并观察三个8位二进制值。</a:t>
            </a:r>
          </a:p>
          <a:p xmlns:a="http://schemas.openxmlformats.org/drawingml/2006/main">
            <a:r>
              <a:t>[教师逐字稿] 这三个值分别能写成 8 位二进制：220 是 11011100，95 是 01011111，15 是 00001111。一个像素合计 24 bit，也就是 3 bytes。</a:t>
            </a:r>
          </a:p>
          <a:p xmlns:a="http://schemas.openxmlformats.org/drawingml/2006/main">
            <a:r>
              <a:t>[预期学生反应] 软件为人显示十进制，存储采用二进制；每通道补足8位。</a:t>
            </a:r>
          </a:p>
          <a:p xmlns:a="http://schemas.openxmlformats.org/drawingml/2006/main">
            <a:r>
              <a:t>[追问问题] G和B前面的0可以在这个固定宽度模型里省掉吗？</a:t>
            </a:r>
          </a:p>
          <a:p xmlns:a="http://schemas.openxmlformats.org/drawingml/2006/main">
            <a:r>
              <a:t>[下一问] 从一个像素的3bytes，计算整幅500×333图像。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00:30:06–00:31:13；Snip 20；编号为重建导航，不是原课页面编号。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500×333 的 24 位图像有多大？</a:t>
            </a:r>
          </a:p>
          <a:p xmlns:a="http://schemas.openxmlformats.org/drawingml/2006/main">
            <a:r>
              <a:t>[内部编号] Q16—提问</a:t>
            </a:r>
          </a:p>
          <a:p xmlns:a="http://schemas.openxmlformats.org/drawingml/2006/main">
            <a:r>
              <a:t>[教学意图] 先独立列式和计算，再看原课文件属性作为量级对照。</a:t>
            </a:r>
          </a:p>
          <a:p xmlns:a="http://schemas.openxmlformats.org/drawingml/2006/main">
            <a:r>
              <a:t>[教师逐字稿] 先算像素总数，再乘每像素 24 位。题目若要求 B 或 KiB，别忘记单位转换。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公式算的是像素有效载荷，文件头等信息算进去了吗？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00:31:13–00:33:09；Snip 20；编号为重建导航，不是原课页面编号。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500×333 的 24 位图像有多大？</a:t>
            </a:r>
          </a:p>
          <a:p xmlns:a="http://schemas.openxmlformats.org/drawingml/2006/main">
            <a:r>
              <a:t>[内部编号] Q16—揭示</a:t>
            </a:r>
          </a:p>
          <a:p xmlns:a="http://schemas.openxmlformats.org/drawingml/2006/main">
            <a:r>
              <a:t>[教学意图] 先独立列式和计算，再看原课文件属性作为量级对照。</a:t>
            </a:r>
          </a:p>
          <a:p xmlns:a="http://schemas.openxmlformats.org/drawingml/2006/main">
            <a:r>
              <a:t>[教师逐字稿] 先核对式子：500×333是像素数，乘24得到bit，除8得到499500B，再除1024约487.79KiB，按整数四舍五入约488KiB。我们算的是像素数据量。下一页再看原课的487KB文件属性，它只能帮助比较量级，不能用来证明精确相等。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公式算的是像素有效载荷，文件头等信息算进去了吗？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00:31:13–00:33:09；Snip 20；编号为重建导航，不是原课页面编号。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公式计算的是像素数据量</a:t>
            </a:r>
          </a:p>
          <a:p xmlns:a="http://schemas.openxmlformats.org/drawingml/2006/main">
            <a:r>
              <a:t>[内部编号] Q16—evidence</a:t>
            </a:r>
          </a:p>
          <a:p xmlns:a="http://schemas.openxmlformats.org/drawingml/2006/main">
            <a:r>
              <a:t>[教学意图] 先独立列式和计算，再看原课文件属性作为量级对照。</a:t>
            </a:r>
          </a:p>
          <a:p xmlns:a="http://schemas.openxmlformats.org/drawingml/2006/main">
            <a:r>
              <a:t>[教师逐字稿] 原课把487KB作为公式验证。请注意，我们算出的487.79KiB不能四舍五入成487；截图也没有给出精确字节数。完整文件除了像素还可能有头部和填充。这个例子用于比较量级，课堂公式限定在未压缩像素数据量。</a:t>
            </a:r>
          </a:p>
          <a:p xmlns:a="http://schemas.openxmlformats.org/drawingml/2006/main">
            <a:r>
              <a:t>[预期学生反应] 有人遗漏除8或除1024。正确结果499500B≈487.79KiB。</a:t>
            </a:r>
          </a:p>
          <a:p xmlns:a="http://schemas.openxmlformats.org/drawingml/2006/main">
            <a:r>
              <a:t>[追问问题] 公式算的是像素有效载荷，文件头等信息算进去了吗？</a:t>
            </a:r>
          </a:p>
          <a:p xmlns:a="http://schemas.openxmlformats.org/drawingml/2006/main">
            <a:r>
              <a:t>[下一问] 回到开场，用像素解释放大；存储代价解释像素不应盲目追高。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00:31:13–00:33:09；Snip 20；编号为重建导航，不是原课页面编号。</a:t>
            </a:r>
          </a:p>
          <a:p xmlns:a="http://schemas.openxmlformats.org/drawingml/2006/main">
            <a:r>
              <a:t>[技术注解] 499,500 B 是理想像素有效载荷，不等于 BMP 完整文件大小。BMP 含头部和可能的填充。https://learn.microsoft.com/en-us/windows/win32/gdi/bitmap-storage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照片放大为什么会糊？</a:t>
            </a:r>
          </a:p>
          <a:p xmlns:a="http://schemas.openxmlformats.org/drawingml/2006/main">
            <a:r>
              <a:t>[内部编号] Q17—提问</a:t>
            </a:r>
          </a:p>
          <a:p xmlns:a="http://schemas.openxmlformats.org/drawingml/2006/main">
            <a:r>
              <a:t>[教学意图] 解释模糊，并给出拍摄时适当提高分辨率的建议。</a:t>
            </a:r>
          </a:p>
          <a:p xmlns:a="http://schemas.openxmlformats.org/drawingml/2006/main">
            <a:r>
              <a:t>[教师逐字稿] 现在用“像素”和“分辨率”回答开头的问题。把已经拍好的位图放大，究竟多出了什么？</a:t>
            </a:r>
          </a:p>
          <a:p xmlns:a="http://schemas.openxmlformats.org/drawingml/2006/main">
            <a:r>
              <a:t>[预期学生反应] 把有限像素放大，并未增加采集到的原始细节。</a:t>
            </a:r>
          </a:p>
          <a:p xmlns:a="http://schemas.openxmlformats.org/drawingml/2006/main">
            <a:r>
              <a:t>[追问问题] 拍摄时提高真实采样分辨率，与拍好后放大是同一件事吗？</a:t>
            </a:r>
          </a:p>
          <a:p xmlns:a="http://schemas.openxmlformats.org/drawingml/2006/main">
            <a:r>
              <a:t>[下一问] 如果原图的信息已经缺失，AI又是怎样补出内容的？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00:33:09–00:33:39；Snip 21；编号为重建导航，不是原课页面编号。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照片放大为什么会糊？</a:t>
            </a:r>
          </a:p>
          <a:p xmlns:a="http://schemas.openxmlformats.org/drawingml/2006/main">
            <a:r>
              <a:t>[内部编号] Q17—揭示</a:t>
            </a:r>
          </a:p>
          <a:p xmlns:a="http://schemas.openxmlformats.org/drawingml/2006/main">
            <a:r>
              <a:t>[教学意图] 解释模糊，并给出拍摄时适当提高分辨率的建议。</a:t>
            </a:r>
          </a:p>
          <a:p xmlns:a="http://schemas.openxmlformats.org/drawingml/2006/main">
            <a:r>
              <a:t>[教师逐字稿] 这张照片只有有限的像素。放大时已有像素被拉大或通过插值产生中间值，但没有重新采到场景细节。若目标是拍摄后还能放大查看，可以在拍摄时适当提高真实采样分辨率，同时考虑存储量、镜头、对焦等条件。接下来，如果信息已经缺失，AI补出来的又是什么？</a:t>
            </a:r>
          </a:p>
          <a:p xmlns:a="http://schemas.openxmlformats.org/drawingml/2006/main">
            <a:r>
              <a:t>[预期学生反应] 把有限像素放大，并未增加采集到的原始细节。</a:t>
            </a:r>
          </a:p>
          <a:p xmlns:a="http://schemas.openxmlformats.org/drawingml/2006/main">
            <a:r>
              <a:t>[追问问题] 拍摄时提高真实采样分辨率，与拍好后放大是同一件事吗？</a:t>
            </a:r>
          </a:p>
          <a:p xmlns:a="http://schemas.openxmlformats.org/drawingml/2006/main">
            <a:r>
              <a:t>[下一问] 如果原图的信息已经缺失，AI又是怎样补出内容的？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00:33:09–00:33:39；Snip 21；编号为重建导航，不是原课页面编号。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AI 怎样补出照片的缺损部分？</a:t>
            </a:r>
          </a:p>
          <a:p xmlns:a="http://schemas.openxmlformats.org/drawingml/2006/main">
            <a:r>
              <a:t>[内部编号] Q18—提问</a:t>
            </a:r>
          </a:p>
          <a:p xmlns:a="http://schemas.openxmlformats.org/drawingml/2006/main">
            <a:r>
              <a:t>[教学意图] 观察破损和修复对照，结合周边内容推测修复思路。</a:t>
            </a:r>
          </a:p>
          <a:p xmlns:a="http://schemas.openxmlformats.org/drawingml/2006/main">
            <a:r>
              <a:t>[教师逐字稿] 照片有大片缺损。请观察剩下的脸、衣服和背景，猜哪些线索能用来推断缺失处。</a:t>
            </a:r>
          </a:p>
          <a:p xmlns:a="http://schemas.openxmlformats.org/drawingml/2006/main">
            <a:r>
              <a:t>[预期学生反应] 学生会提到周边图像、规律、模型；原课有学生报告修复效果不好。</a:t>
            </a:r>
          </a:p>
          <a:p xmlns:a="http://schemas.openxmlformats.org/drawingml/2006/main">
            <a:r>
              <a:t>[追问问题] 补得像原样，是否证明恢复了拍摄时的真实细节？</a:t>
            </a:r>
          </a:p>
          <a:p xmlns:a="http://schemas.openxmlformats.org/drawingml/2006/main">
            <a:r>
              <a:t>[下一问] 把花、像素和数据重新放回“连续与离散”的统一模型。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00:33:39–00:37:19；Snip 22–25；编号为重建导航，不是原课页面编号。</a:t>
            </a:r>
          </a:p>
          <a:p xmlns:a="http://schemas.openxmlformats.org/drawingml/2006/main">
            <a:r>
              <a:t>[技术注解] 原课“重新采样”是教学类比，不是所有修复算法的必经步骤。OpenCV 将 inpainting 描述为重建选定区域：https://docs.opencv.org/4.x/df/d3d/tutorial_py_inpainting.html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AI 怎样补出照片的缺损部分？</a:t>
            </a:r>
          </a:p>
          <a:p xmlns:a="http://schemas.openxmlformats.org/drawingml/2006/main">
            <a:r>
              <a:t>[内部编号] Q18—揭示</a:t>
            </a:r>
          </a:p>
          <a:p xmlns:a="http://schemas.openxmlformats.org/drawingml/2006/main">
            <a:r>
              <a:t>[教学意图] 观察破损和修复对照，结合周边内容推测修复思路。</a:t>
            </a:r>
          </a:p>
          <a:p xmlns:a="http://schemas.openxmlformats.org/drawingml/2006/main">
            <a:r>
              <a:t>[教师逐字稿] 先指出破损区，再观察周围还留下哪些线索。模型可以利用周边内容和学到的图像规律推断缺损处，给这些位置补上颜色数据。右边是原课展示的修复结果。看起来合理，并不能证明补出的部分就是原来的真实细节。这也能解释同学为什么会遇到“修得不像”的情况。</a:t>
            </a:r>
          </a:p>
          <a:p xmlns:a="http://schemas.openxmlformats.org/drawingml/2006/main">
            <a:r>
              <a:t>[预期学生反应] 学生会提到周边图像、规律、模型；原课有学生报告修复效果不好。</a:t>
            </a:r>
          </a:p>
          <a:p xmlns:a="http://schemas.openxmlformats.org/drawingml/2006/main">
            <a:r>
              <a:t>[追问问题] 补得像原样，是否证明恢复了拍摄时的真实细节？</a:t>
            </a:r>
          </a:p>
          <a:p xmlns:a="http://schemas.openxmlformats.org/drawingml/2006/main">
            <a:r>
              <a:t>[下一问] 把花、像素和数据重新放回“连续与离散”的统一模型。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00:33:39–00:37:19；Snip 22–25；编号为重建导航，不是原课页面编号。</a:t>
            </a:r>
          </a:p>
          <a:p xmlns:a="http://schemas.openxmlformats.org/drawingml/2006/main">
            <a:r>
              <a:t>[技术注解] 原课“重新采样”是教学类比，不是所有修复算法的必经步骤。OpenCV 将 inpainting 描述为重建选定区域：https://docs.opencv.org/4.x/df/d3d/tutorial_py_inpainting.html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用四步理解照片修复</a:t>
            </a:r>
          </a:p>
          <a:p xmlns:a="http://schemas.openxmlformats.org/drawingml/2006/main">
            <a:r>
              <a:t>[内部编号] Q18—evidence</a:t>
            </a:r>
          </a:p>
          <a:p xmlns:a="http://schemas.openxmlformats.org/drawingml/2006/main">
            <a:r>
              <a:t>[教学意图] 观察破损和修复对照，结合周边内容推测修复思路。</a:t>
            </a:r>
          </a:p>
          <a:p xmlns:a="http://schemas.openxmlformats.org/drawingml/2006/main">
            <a:r>
              <a:t>[教师逐字稿] 先找到损坏的位置，再利用完好区和图像规律推断缺的内容，给这些位置补上像素颜色并保存。原课把第三步称为“重新采样”，这里按它的教学意图说成“补全像素”。它不是相机重新看到过去，也不是所有AI算法都固定经过这四步。下一步回到花朵：自然光和计算机中的图像，表示方式有什么差别？</a:t>
            </a:r>
          </a:p>
          <a:p xmlns:a="http://schemas.openxmlformats.org/drawingml/2006/main">
            <a:r>
              <a:t>[预期学生反应] 学生会提到周边图像、规律、模型；原课有学生报告修复效果不好。</a:t>
            </a:r>
          </a:p>
          <a:p xmlns:a="http://schemas.openxmlformats.org/drawingml/2006/main">
            <a:r>
              <a:t>[追问问题] 补得像原样，是否证明恢复了拍摄时的真实细节？</a:t>
            </a:r>
          </a:p>
          <a:p xmlns:a="http://schemas.openxmlformats.org/drawingml/2006/main">
            <a:r>
              <a:t>[下一问] 把花、像素和数据重新放回“连续与离散”的统一模型。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00:33:39–00:37:19；Snip 22–25；编号为重建导航，不是原课页面编号。</a:t>
            </a:r>
          </a:p>
          <a:p xmlns:a="http://schemas.openxmlformats.org/drawingml/2006/main">
            <a:r>
              <a:t>[技术注解] 原课“重新采样”是教学类比，不是所有修复算法的必经步骤。OpenCV 将 inpainting 描述为重建选定区域：https://docs.opencv.org/4.x/df/d3d/tutorial_py_inpainting.html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什么叫模拟量？</a:t>
            </a:r>
          </a:p>
          <a:p xmlns:a="http://schemas.openxmlformats.org/drawingml/2006/main">
            <a:r>
              <a:t>[内部编号] Q19—提问</a:t>
            </a:r>
          </a:p>
          <a:p xmlns:a="http://schemas.openxmlformats.org/drawingml/2006/main">
            <a:r>
              <a:t>[教学意图] 先分类四个原课例子，再辨认连续变化。</a:t>
            </a:r>
          </a:p>
          <a:p xmlns:a="http://schemas.openxmlformats.org/drawingml/2006/main">
            <a:r>
              <a:t>[教师逐字稿] 温度会不会只能取整度？一段声音的强弱变化是跳着发生，还是可以连续变化？</a:t>
            </a:r>
          </a:p>
          <a:p xmlns:a="http://schemas.openxmlformats.org/drawingml/2006/main">
            <a:r>
              <a:t>[预期学生反应] 温度、声波随时间；压强、光照例子随空间。</a:t>
            </a:r>
          </a:p>
          <a:p xmlns:a="http://schemas.openxmlformats.org/drawingml/2006/main">
            <a:r>
              <a:t>[追问问题] 两次测量之间是否仍可有温度值？连续不只是“画线不断”。</a:t>
            </a:r>
          </a:p>
          <a:p xmlns:a="http://schemas.openxmlformats.org/drawingml/2006/main">
            <a:r>
              <a:t>[下一问] 采样后的有限位置与量化后的有限等级，引出数字量。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00:37:19–00:41:41；Snip 26；编号为重建导航，不是原课页面编号。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什么叫模拟量？</a:t>
            </a:r>
          </a:p>
          <a:p xmlns:a="http://schemas.openxmlformats.org/drawingml/2006/main">
            <a:r>
              <a:t>[内部编号] Q19—揭示</a:t>
            </a:r>
          </a:p>
          <a:p xmlns:a="http://schemas.openxmlformats.org/drawingml/2006/main">
            <a:r>
              <a:t>[教学意图] 先分类四个原课例子，再辨认连续变化。</a:t>
            </a:r>
          </a:p>
          <a:p xmlns:a="http://schemas.openxmlformats.org/drawingml/2006/main">
            <a:r>
              <a:t>[教师逐字稿] 温度和声波的这两个例子主要看随时间的变化；海水压强随深度、光照强度随位置的例子主要看随空间的变化。我们用连续变化的物理量描述这些现象，称为模拟量。时间和空间是观察的自变量；关键在连续变化，不是所有例子都同时依赖时间和空间。</a:t>
            </a:r>
          </a:p>
          <a:p xmlns:a="http://schemas.openxmlformats.org/drawingml/2006/main">
            <a:r>
              <a:t>[预期学生反应] 温度、声波随时间；压强、光照例子随空间。</a:t>
            </a:r>
          </a:p>
          <a:p xmlns:a="http://schemas.openxmlformats.org/drawingml/2006/main">
            <a:r>
              <a:t>[追问问题] 两次测量之间是否仍可有温度值？连续不只是“画线不断”。</a:t>
            </a:r>
          </a:p>
          <a:p xmlns:a="http://schemas.openxmlformats.org/drawingml/2006/main">
            <a:r>
              <a:t>[下一问] 采样后的有限位置与量化后的有限等级，引出数字量。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00:37:19–00:41:41；Snip 26；编号为重建导航，不是原课页面编号。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模拟量的关键：连续变化</a:t>
            </a:r>
          </a:p>
          <a:p xmlns:a="http://schemas.openxmlformats.org/drawingml/2006/main">
            <a:r>
              <a:t>[内部编号] Q19—evidence</a:t>
            </a:r>
          </a:p>
          <a:p xmlns:a="http://schemas.openxmlformats.org/drawingml/2006/main">
            <a:r>
              <a:t>[教学意图] 先分类四个原课例子，再辨认连续变化。</a:t>
            </a:r>
          </a:p>
          <a:p xmlns:a="http://schemas.openxmlformats.org/drawingml/2006/main">
            <a:r>
              <a:t>[教师逐字稿] 假设这条线表示温度随时间的变化。我们即使没有在某个时刻测量，物理量也不会因为没人读数就不存在；这个模型描述连续变化。原课还举电流和电压承载模拟信号的例子。不要把“任意点有值”当作严格的数学连续性定义，本课只建立连续与离散表示的直观区别。</a:t>
            </a:r>
          </a:p>
          <a:p xmlns:a="http://schemas.openxmlformats.org/drawingml/2006/main">
            <a:r>
              <a:t>[预期学生反应] 温度、声波随时间；压强、光照例子随空间。</a:t>
            </a:r>
          </a:p>
          <a:p xmlns:a="http://schemas.openxmlformats.org/drawingml/2006/main">
            <a:r>
              <a:t>[追问问题] 两次测量之间是否仍可有温度值？连续不只是“画线不断”。</a:t>
            </a:r>
          </a:p>
          <a:p xmlns:a="http://schemas.openxmlformats.org/drawingml/2006/main">
            <a:r>
              <a:t>[下一问] 采样后的有限位置与量化后的有限等级，引出数字量。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00:37:19–00:41:41；Snip 26；编号为重建导航，不是原课页面编号。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数字量与模拟量有什么不同？</a:t>
            </a:r>
          </a:p>
          <a:p xmlns:a="http://schemas.openxmlformats.org/drawingml/2006/main">
            <a:r>
              <a:t>[内部编号] Q20—提问</a:t>
            </a:r>
          </a:p>
          <a:p xmlns:a="http://schemas.openxmlformats.org/drawingml/2006/main">
            <a:r>
              <a:t>[教学意图] 比较连续曲线与采样位置、有限等级、二进制码字的关系。</a:t>
            </a:r>
          </a:p>
          <a:p xmlns:a="http://schemas.openxmlformats.org/drawingml/2006/main">
            <a:r>
              <a:t>[教师逐字稿] 前一页的曲线可以取许多中间值。现在如果只允许 0 或 1，两种状态之间能直接存一个任意中间数吗？</a:t>
            </a:r>
          </a:p>
          <a:p xmlns:a="http://schemas.openxmlformats.org/drawingml/2006/main">
            <a:r>
              <a:t>[预期学生反应] 数字数据采用离散状态；0/1是编码符号，不表示只能存数值0和1。</a:t>
            </a:r>
          </a:p>
          <a:p xmlns:a="http://schemas.openxmlformats.org/drawingml/2006/main">
            <a:r>
              <a:t>[追问问题] 多个bit组成码字后，能不能表示220？</a:t>
            </a:r>
          </a:p>
          <a:p xmlns:a="http://schemas.openxmlformats.org/drawingml/2006/main">
            <a:r>
              <a:t>[下一问] 回扣花朵思想实验，完整说出信息数字化过程。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00:41:41–00:43:11；Snip 27；编号为重建导航，不是原课页面编号。</a:t>
            </a:r>
          </a:p>
          <a:p xmlns:a="http://schemas.openxmlformats.org/drawingml/2006/main">
            <a:r>
              <a:t>[技术注解] 离散的层次与采样方式有关；课堂示意用于区分连续变化与有限状态，不等于所有数字信号只有两个电平。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数字量与模拟量有什么不同？</a:t>
            </a:r>
          </a:p>
          <a:p xmlns:a="http://schemas.openxmlformats.org/drawingml/2006/main">
            <a:r>
              <a:t>[内部编号] Q20—揭示</a:t>
            </a:r>
          </a:p>
          <a:p xmlns:a="http://schemas.openxmlformats.org/drawingml/2006/main">
            <a:r>
              <a:t>[教学意图] 比较连续曲线与采样位置、有限等级、二进制码字的关系。</a:t>
            </a:r>
          </a:p>
          <a:p xmlns:a="http://schemas.openxmlformats.org/drawingml/2006/main">
            <a:r>
              <a:t>[教师逐字稿] 采样把空间位置离散化，量化把每个位置的值映射到有限等级，再用码字表示。例如00、01、10、11是四种码字；每一位只有0或1，但多个位能够表示许多不同数值。数字量强调离散表示，不能理解成计算机只能存0和1两个数值。</a:t>
            </a:r>
          </a:p>
          <a:p xmlns:a="http://schemas.openxmlformats.org/drawingml/2006/main">
            <a:r>
              <a:t>[预期学生反应] 数字数据采用离散状态；0/1是编码符号，不表示只能存数值0和1。</a:t>
            </a:r>
          </a:p>
          <a:p xmlns:a="http://schemas.openxmlformats.org/drawingml/2006/main">
            <a:r>
              <a:t>[追问问题] 多个bit组成码字后，能不能表示220？</a:t>
            </a:r>
          </a:p>
          <a:p xmlns:a="http://schemas.openxmlformats.org/drawingml/2006/main">
            <a:r>
              <a:t>[下一问] 回扣花朵思想实验，完整说出信息数字化过程。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00:41:41–00:43:11；Snip 27；编号为重建导航，不是原课页面编号。</a:t>
            </a:r>
          </a:p>
          <a:p xmlns:a="http://schemas.openxmlformats.org/drawingml/2006/main">
            <a:r>
              <a:t>[技术注解] 离散的层次与采样方式有关；课堂示意用于区分连续变化与有限状态，不等于所有数字信号只有两个电平。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图像怎样从模拟量变成数字量？</a:t>
            </a:r>
          </a:p>
          <a:p xmlns:a="http://schemas.openxmlformats.org/drawingml/2006/main">
            <a:r>
              <a:t>[内部编号] Q21—提问</a:t>
            </a:r>
          </a:p>
          <a:p xmlns:a="http://schemas.openxmlformats.org/drawingml/2006/main">
            <a:r>
              <a:t>[教学意图] 口头补完整条链，再解释每个步骤做了什么。</a:t>
            </a:r>
          </a:p>
          <a:p xmlns:a="http://schemas.openxmlformats.org/drawingml/2006/main">
            <a:r>
              <a:t>[教师逐字稿] 回顾整节课：花朵反射的光怎样一步步变成计算机能保存的数据？请把中间三个词按顺序说出来。</a:t>
            </a:r>
          </a:p>
          <a:p xmlns:a="http://schemas.openxmlformats.org/drawingml/2006/main">
            <a:r>
              <a:t>[预期学生反应] 采样、量化、编码，得到数字图像；称为信息数字化。</a:t>
            </a:r>
          </a:p>
          <a:p xmlns:a="http://schemas.openxmlformats.org/drawingml/2006/main">
            <a:r>
              <a:t>[追问问题] 哪个环节决定采样位置，哪个环节决定有限的颜色等级？</a:t>
            </a:r>
          </a:p>
          <a:p xmlns:a="http://schemas.openxmlformats.org/drawingml/2006/main">
            <a:r>
              <a:t>[下一问] 课后用补充练习检查位深度、数据量和放大解释。</a:t>
            </a:r>
          </a:p>
          <a:p xmlns:a="http://schemas.openxmlformats.org/drawingml/2006/main">
            <a:r>
              <a:t>[课堂操作] 停留20–40秒；先听预测或理由，再翻页。 本课全程可离线；软件截图已嵌入。</a:t>
            </a:r>
          </a:p>
          <a:p xmlns:a="http://schemas.openxmlformats.org/drawingml/2006/main">
            <a:r>
              <a:t>[来源] PDF课堂逐字稿 00:43:11–00:43:32；Snip 27；编号为重建导航，不是原课页面编号。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图像怎样从模拟量变成数字量？</a:t>
            </a:r>
          </a:p>
          <a:p xmlns:a="http://schemas.openxmlformats.org/drawingml/2006/main">
            <a:r>
              <a:t>[内部编号] Q21—揭示</a:t>
            </a:r>
          </a:p>
          <a:p xmlns:a="http://schemas.openxmlformats.org/drawingml/2006/main">
            <a:r>
              <a:t>[教学意图] 口头补完整条链，再解释每个步骤做了什么。</a:t>
            </a:r>
          </a:p>
          <a:p xmlns:a="http://schemas.openxmlformats.org/drawingml/2006/main">
            <a:r>
              <a:t>[教师逐字稿] 现在请完整说出这条链：光经过采样、量化、编码，成为可以存储的数字图像。采样解决在哪些位置取样，量化解决怎样用有限等级表示，编码解决怎样写成码字。这就是信息数字化。分辨率和位深度决定本课简化模型里的像素数据量，也分别影响空间细节和颜色表达。</a:t>
            </a:r>
          </a:p>
          <a:p xmlns:a="http://schemas.openxmlformats.org/drawingml/2006/main">
            <a:r>
              <a:t>[预期学生反应] 采样、量化、编码，得到数字图像；称为信息数字化。</a:t>
            </a:r>
          </a:p>
          <a:p xmlns:a="http://schemas.openxmlformats.org/drawingml/2006/main">
            <a:r>
              <a:t>[追问问题] 哪个环节决定采样位置，哪个环节决定有限的颜色等级？</a:t>
            </a:r>
          </a:p>
          <a:p xmlns:a="http://schemas.openxmlformats.org/drawingml/2006/main">
            <a:r>
              <a:t>[下一问] 课后用补充练习检查位深度、数据量和放大解释。</a:t>
            </a:r>
          </a:p>
          <a:p xmlns:a="http://schemas.openxmlformats.org/drawingml/2006/main">
            <a:r>
              <a:t>[课堂操作] 逐项指向证据；确认学生说出理由后继续。 本课全程可离线；软件截图已嵌入。</a:t>
            </a:r>
          </a:p>
          <a:p xmlns:a="http://schemas.openxmlformats.org/drawingml/2006/main">
            <a:r>
              <a:t>[来源] PDF课堂逐字稿 00:43:11–00:43:32；Snip 27；编号为重建导航，不是原课页面编号。</a:t>
            </a:r>
          </a:p>
          <a:p xmlns:a="http://schemas.openxmlformats.org/drawingml/2006/main">
            <a:r>
              <a:t>[技术注解]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课后检查位深度、像素数据量和放大的边界</a:t>
            </a:r>
          </a:p>
          <a:p xmlns:a="http://schemas.openxmlformats.org/drawingml/2006/main">
            <a:r>
              <a:t>[内部编号] Q22</a:t>
            </a:r>
          </a:p>
          <a:p xmlns:a="http://schemas.openxmlformats.org/drawingml/2006/main">
            <a:r>
              <a:t>[教师逐字稿] 今天先完成这三题。第一题请写判断位数的不等式；第二题写清像素数、每像素位数和单位转换；第三题用“原始信息”解释。原课布置的是新发讲义第二页，但源资料没有那张讲义，这三题是重建版补充题，可直接抄在纸上作答。</a:t>
            </a:r>
          </a:p>
          <a:p xmlns:a="http://schemas.openxmlformats.org/drawingml/2006/main">
            <a:r>
              <a:t>[参考答案] 1. 3bit，4&lt;6≤8。2. 800×600×24÷8=1440000B。3. 没有；插值增加像素数量，不等于增加真实采集的细节。</a:t>
            </a:r>
          </a:p>
          <a:p xmlns:a="http://schemas.openxmlformats.org/drawingml/2006/main">
            <a:r>
              <a:t>[来源] 原课作业位置00:43:32以后；题目为重建补充，不冒充原题。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02c1de76a4a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cec732c58f4bf6" /><Relationship Type="http://schemas.openxmlformats.org/officeDocument/2006/relationships/slideLayout" Target="/ppt/slideLayouts/slideLayout1.xml" Id="R5286f2f7a5b643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86f2f7a5b643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c3c1a0719446b" /><Relationship Type="http://schemas.openxmlformats.org/officeDocument/2006/relationships/notesSlide" Target="/ppt/notesSlides/notesSlide1.xml" Id="Re7a4b85aca4c46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86cd2198c4863" /><Relationship Type="http://schemas.openxmlformats.org/officeDocument/2006/relationships/image" Target="/ppt/media/image.png" Id="R7c9fb9acdb3848bc" /><Relationship Type="http://schemas.openxmlformats.org/officeDocument/2006/relationships/notesSlide" Target="/ppt/notesSlides/notesSlide2.xml" Id="R4b37d602140244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7d242af7344df" /><Relationship Type="http://schemas.openxmlformats.org/officeDocument/2006/relationships/image" Target="/ppt/media/image.png" Id="R110720fe58a141a6" /><Relationship Type="http://schemas.openxmlformats.org/officeDocument/2006/relationships/image" Target="/ppt/media/image2.png" Id="Rb528507479d544dc" /><Relationship Type="http://schemas.openxmlformats.org/officeDocument/2006/relationships/notesSlide" Target="/ppt/notesSlides/notesSlide3.xml" Id="R1c9cd2b6d84b48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6734a15c9418b" /><Relationship Type="http://schemas.openxmlformats.org/officeDocument/2006/relationships/notesSlide" Target="/ppt/notesSlides/notesSlide4.xml" Id="Rb42a03dee1124f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31ded538d4fcc" /><Relationship Type="http://schemas.openxmlformats.org/officeDocument/2006/relationships/notesSlide" Target="/ppt/notesSlides/notesSlide5.xml" Id="Ra4ebe3e8fdda4e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1489824f54b90" /><Relationship Type="http://schemas.openxmlformats.org/officeDocument/2006/relationships/notesSlide" Target="/ppt/notesSlides/notesSlide6.xml" Id="Ref4fc2410f6543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64139e7e84f40" /><Relationship Type="http://schemas.openxmlformats.org/officeDocument/2006/relationships/notesSlide" Target="/ppt/notesSlides/notesSlide7.xml" Id="Rf96bdd8c4f204e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f1cdba3e04c64" /><Relationship Type="http://schemas.openxmlformats.org/officeDocument/2006/relationships/notesSlide" Target="/ppt/notesSlides/notesSlide8.xml" Id="R9769a76bc7594c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0a5f34a9f4407" /><Relationship Type="http://schemas.openxmlformats.org/officeDocument/2006/relationships/notesSlide" Target="/ppt/notesSlides/notesSlide9.xml" Id="R69dd08ad0c5946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e704cbd6149d0" /><Relationship Type="http://schemas.openxmlformats.org/officeDocument/2006/relationships/notesSlide" Target="/ppt/notesSlides/notesSlide10.xml" Id="Re39b2e50b7724e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8415cf9644b9c" /><Relationship Type="http://schemas.openxmlformats.org/officeDocument/2006/relationships/notesSlide" Target="/ppt/notesSlides/notesSlide11.xml" Id="Rbdfb8772f59148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fbe7fad3c47a6" /><Relationship Type="http://schemas.openxmlformats.org/officeDocument/2006/relationships/notesSlide" Target="/ppt/notesSlides/notesSlide12.xml" Id="R4db318365c7749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cea579d2c460d" /><Relationship Type="http://schemas.openxmlformats.org/officeDocument/2006/relationships/notesSlide" Target="/ppt/notesSlides/notesSlide13.xml" Id="R33a2b748eea54f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58544fc894fba" /><Relationship Type="http://schemas.openxmlformats.org/officeDocument/2006/relationships/notesSlide" Target="/ppt/notesSlides/notesSlide14.xml" Id="Rd157235edd5d40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d273cbdb54b77" /><Relationship Type="http://schemas.openxmlformats.org/officeDocument/2006/relationships/notesSlide" Target="/ppt/notesSlides/notesSlide15.xml" Id="R93f4988f0d2f42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d047bb49c486b" /><Relationship Type="http://schemas.openxmlformats.org/officeDocument/2006/relationships/notesSlide" Target="/ppt/notesSlides/notesSlide16.xml" Id="Raaeb2234346745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0950713de4c51" /><Relationship Type="http://schemas.openxmlformats.org/officeDocument/2006/relationships/notesSlide" Target="/ppt/notesSlides/notesSlide17.xml" Id="R7bed6d24618449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74a1e84214f9f" /><Relationship Type="http://schemas.openxmlformats.org/officeDocument/2006/relationships/notesSlide" Target="/ppt/notesSlides/notesSlide18.xml" Id="R0e2de3cc63b5464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5c089ebf84c37" /><Relationship Type="http://schemas.openxmlformats.org/officeDocument/2006/relationships/notesSlide" Target="/ppt/notesSlides/notesSlide19.xml" Id="R906f124d7e4d495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2647a54f44133" /><Relationship Type="http://schemas.openxmlformats.org/officeDocument/2006/relationships/notesSlide" Target="/ppt/notesSlides/notesSlide20.xml" Id="R98c2cd27058b45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5c7cd9b6f4386" /><Relationship Type="http://schemas.openxmlformats.org/officeDocument/2006/relationships/notesSlide" Target="/ppt/notesSlides/notesSlide21.xml" Id="R6045c131844d438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8241602a74119" /><Relationship Type="http://schemas.openxmlformats.org/officeDocument/2006/relationships/notesSlide" Target="/ppt/notesSlides/notesSlide22.xml" Id="Ra3e2f14d026c497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289f380f14d1d" /><Relationship Type="http://schemas.openxmlformats.org/officeDocument/2006/relationships/notesSlide" Target="/ppt/notesSlides/notesSlide23.xml" Id="R990a694ac52f4e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e3cb5df164478" /><Relationship Type="http://schemas.openxmlformats.org/officeDocument/2006/relationships/notesSlide" Target="/ppt/notesSlides/notesSlide24.xml" Id="Rc9be14ab848f41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79cdca8b341c6" /><Relationship Type="http://schemas.openxmlformats.org/officeDocument/2006/relationships/notesSlide" Target="/ppt/notesSlides/notesSlide25.xml" Id="R4c179f6b7642486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3c123978348bc" /><Relationship Type="http://schemas.openxmlformats.org/officeDocument/2006/relationships/notesSlide" Target="/ppt/notesSlides/notesSlide26.xml" Id="R0911037f43db426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18106383e4d8c" /><Relationship Type="http://schemas.openxmlformats.org/officeDocument/2006/relationships/notesSlide" Target="/ppt/notesSlides/notesSlide27.xml" Id="Rf2759a5753ae447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64ca2124d4398" /><Relationship Type="http://schemas.openxmlformats.org/officeDocument/2006/relationships/notesSlide" Target="/ppt/notesSlides/notesSlide28.xml" Id="R80b023d74b0c47b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c5594404b4260" /><Relationship Type="http://schemas.openxmlformats.org/officeDocument/2006/relationships/notesSlide" Target="/ppt/notesSlides/notesSlide29.xml" Id="R1b2505bea57f43b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f54d8c336463c" /><Relationship Type="http://schemas.openxmlformats.org/officeDocument/2006/relationships/notesSlide" Target="/ppt/notesSlides/notesSlide30.xml" Id="R3b47384fda9442e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9f29312b948b4" /><Relationship Type="http://schemas.openxmlformats.org/officeDocument/2006/relationships/notesSlide" Target="/ppt/notesSlides/notesSlide31.xml" Id="R6ba143db6dad41b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ad9df936d4195" /><Relationship Type="http://schemas.openxmlformats.org/officeDocument/2006/relationships/notesSlide" Target="/ppt/notesSlides/notesSlide32.xml" Id="Rb36931ad892641d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7a546b5b74643" /><Relationship Type="http://schemas.openxmlformats.org/officeDocument/2006/relationships/notesSlide" Target="/ppt/notesSlides/notesSlide33.xml" Id="Rff7f19ca5f8a47a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f5da9698d4ec7" /><Relationship Type="http://schemas.openxmlformats.org/officeDocument/2006/relationships/notesSlide" Target="/ppt/notesSlides/notesSlide34.xml" Id="R3baa6c4f339c494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c74874adf4547" /><Relationship Type="http://schemas.openxmlformats.org/officeDocument/2006/relationships/notesSlide" Target="/ppt/notesSlides/notesSlide35.xml" Id="Rc33890ec9b6b497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78c5a711c4bb6" /><Relationship Type="http://schemas.openxmlformats.org/officeDocument/2006/relationships/notesSlide" Target="/ppt/notesSlides/notesSlide36.xml" Id="Rf7834f143582447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fced6fbcb4e62" /><Relationship Type="http://schemas.openxmlformats.org/officeDocument/2006/relationships/notesSlide" Target="/ppt/notesSlides/notesSlide37.xml" Id="R97b0799afe50447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48002332040eb" /><Relationship Type="http://schemas.openxmlformats.org/officeDocument/2006/relationships/notesSlide" Target="/ppt/notesSlides/notesSlide38.xml" Id="Re40ea980662148c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8c115436f42c3" /><Relationship Type="http://schemas.openxmlformats.org/officeDocument/2006/relationships/image" Target="/ppt/media/image3.png" Id="R10d15d9e39d24827" /><Relationship Type="http://schemas.openxmlformats.org/officeDocument/2006/relationships/notesSlide" Target="/ppt/notesSlides/notesSlide39.xml" Id="R3041f25cd979426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c64f4eb2c4d96" /><Relationship Type="http://schemas.openxmlformats.org/officeDocument/2006/relationships/image" Target="/ppt/media/image3.png" Id="R01fff1cc8148495a" /><Relationship Type="http://schemas.openxmlformats.org/officeDocument/2006/relationships/notesSlide" Target="/ppt/notesSlides/notesSlide40.xml" Id="R8b8e9b5ccb9b4bd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fc433eb0d415f" /><Relationship Type="http://schemas.openxmlformats.org/officeDocument/2006/relationships/notesSlide" Target="/ppt/notesSlides/notesSlide41.xml" Id="Rfc23ff77071e4fe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58acec5d04ebf" /><Relationship Type="http://schemas.openxmlformats.org/officeDocument/2006/relationships/notesSlide" Target="/ppt/notesSlides/notesSlide42.xml" Id="Rd7ee07a59c39447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8643baa8e4f25" /><Relationship Type="http://schemas.openxmlformats.org/officeDocument/2006/relationships/image" Target="/ppt/media/image4.png" Id="Rb38191e4999f4038" /><Relationship Type="http://schemas.openxmlformats.org/officeDocument/2006/relationships/notesSlide" Target="/ppt/notesSlides/notesSlide43.xml" Id="Rffcf42bb6a73448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d4859654d4354" /><Relationship Type="http://schemas.openxmlformats.org/officeDocument/2006/relationships/image" Target="/ppt/media/image5.png" Id="R99e1be5e76ea4550" /><Relationship Type="http://schemas.openxmlformats.org/officeDocument/2006/relationships/notesSlide" Target="/ppt/notesSlides/notesSlide44.xml" Id="Rfd46593187df4b9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c956c2763490a" /><Relationship Type="http://schemas.openxmlformats.org/officeDocument/2006/relationships/image" Target="/ppt/media/image5.png" Id="R009835962b3242dd" /><Relationship Type="http://schemas.openxmlformats.org/officeDocument/2006/relationships/notesSlide" Target="/ppt/notesSlides/notesSlide45.xml" Id="R17dff8f021f5451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95fdf9f6f4748" /><Relationship Type="http://schemas.openxmlformats.org/officeDocument/2006/relationships/image" Target="/ppt/media/image6.png" Id="Re2bfccbfa7974d76" /><Relationship Type="http://schemas.openxmlformats.org/officeDocument/2006/relationships/notesSlide" Target="/ppt/notesSlides/notesSlide46.xml" Id="R88ba3d049bd2448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aa0369f834267" /><Relationship Type="http://schemas.openxmlformats.org/officeDocument/2006/relationships/image" Target="/ppt/media/image6.png" Id="Rb53bded21672402c" /><Relationship Type="http://schemas.openxmlformats.org/officeDocument/2006/relationships/image" Target="/ppt/media/image7.png" Id="R5b7052160e064f81" /><Relationship Type="http://schemas.openxmlformats.org/officeDocument/2006/relationships/notesSlide" Target="/ppt/notesSlides/notesSlide47.xml" Id="R2b9bf2e822a4459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47cb7456a418a" /><Relationship Type="http://schemas.openxmlformats.org/officeDocument/2006/relationships/notesSlide" Target="/ppt/notesSlides/notesSlide48.xml" Id="Rf0030990c91f476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f044de6164e4b" /><Relationship Type="http://schemas.openxmlformats.org/officeDocument/2006/relationships/notesSlide" Target="/ppt/notesSlides/notesSlide49.xml" Id="Rc097902291c343c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759e0a8a94def" /><Relationship Type="http://schemas.openxmlformats.org/officeDocument/2006/relationships/notesSlide" Target="/ppt/notesSlides/notesSlide50.xml" Id="R9897110c350442b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43ef00cf74c7d" /><Relationship Type="http://schemas.openxmlformats.org/officeDocument/2006/relationships/notesSlide" Target="/ppt/notesSlides/notesSlide51.xml" Id="R766ce985c64846b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59aeaad9f4198" /><Relationship Type="http://schemas.openxmlformats.org/officeDocument/2006/relationships/notesSlide" Target="/ppt/notesSlides/notesSlide52.xml" Id="R0124530336ac430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9527d84204b0e" /><Relationship Type="http://schemas.openxmlformats.org/officeDocument/2006/relationships/notesSlide" Target="/ppt/notesSlides/notesSlide53.xml" Id="Rec6567647176403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c9010ffe14f44" /><Relationship Type="http://schemas.openxmlformats.org/officeDocument/2006/relationships/notesSlide" Target="/ppt/notesSlides/notesSlide54.xml" Id="Rc7d103db93d2455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db9c765a5477f" /><Relationship Type="http://schemas.openxmlformats.org/officeDocument/2006/relationships/notesSlide" Target="/ppt/notesSlides/notesSlide55.xml" Id="Rba0d95a1146a466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af165bf3f48ec" /><Relationship Type="http://schemas.openxmlformats.org/officeDocument/2006/relationships/notesSlide" Target="/ppt/notesSlides/notesSlide56.xml" Id="R3db4c321d39d46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AFC61-C357-4D59-AE94-2409BFCF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30BB1-8FB2-4D09-B06A-2E61ECCD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332BBC5-C7CF-404E-A270-2C2AEE3C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图像编码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392C4CE-BFF6-4E67-9F37-572C8499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27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一朵花怎样变成二进制数据？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9C627-2495-4868-A2B6-CCA76EA3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67275"/>
            <a:ext cx="4572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9A1D4-0224-483A-AB00-C18A16E3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24475"/>
            <a:ext cx="43053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646BE-E963-4C4B-A206-1BF3B24C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274945"/>
            <a:ext cx="4000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6D7EB-426F-49E6-AF12-33878069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81525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1C53F-6A3F-46FC-AA0E-F75B5D37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106" y="4783581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3FD4B-D145-4A8F-AD59-2B0C20CE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67275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A3E44-238A-4C32-9500-D8F34691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994" y="4783581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5142E-D96A-4EDC-8700-AEB795B3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81525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722D1-BE09-4AA4-85A7-2C04E5AD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994" y="4379469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69BD1-B6A7-448B-8F67-E74AF33E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95775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C4FB7-5EFA-4C77-B16B-D29D7F8C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106" y="4379469"/>
            <a:ext cx="3429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7B92A5-BBA3-424F-A5CF-C8835254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4855"/>
            <a:ext cx="3810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5DA49D-315C-4465-B54E-733C3D39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580" y="4634865"/>
            <a:ext cx="3810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B9071A-490B-4013-8BAB-47ABF380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070" y="4688205"/>
            <a:ext cx="3810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D4E3C-E570-4712-976B-1645F2F6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772025"/>
            <a:ext cx="3810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D9D60-7275-4B23-A72D-44302443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680" y="4813935"/>
            <a:ext cx="38100" cy="533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7798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B0B0B-F3F4-459C-9045-9F519D8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D5A93-F28B-49F4-89D4-C51B61F1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D10B15D-2F35-492F-AC4E-0FD95FE6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照片不断放大，会发生什么？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fb9acdb3848bc"/>
          <a:stretch xmlns:a="http://schemas.openxmlformats.org/drawingml/2006/main"/>
        </p:blipFill>
        <p:spPr>
          <a:xfrm xmlns:a="http://schemas.openxmlformats.org/drawingml/2006/main">
            <a:off x="951611" y="1905000"/>
            <a:ext cx="2811652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F3E863E-8BE9-4F6A-A488-D2483A73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预测：会出现什么？</a:t>
            </a:r>
          </a:p>
        </p:txBody>
      </p:sp>
    </p:spTree>
    <p:extLst>
      <p:ext uri="{BB962C8B-B14F-4D97-AF65-F5344CB8AC3E}">
        <p14:creationId xmlns:p14="http://schemas.microsoft.com/office/powerpoint/2010/main" val="16336282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B0B0B-F3F4-459C-9045-9F519D8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D5A93-F28B-49F4-89D4-C51B61F1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D10B15D-2F35-492F-AC4E-0FD95FE6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照片不断放大，会发生什么？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720fe58a141a6"/>
          <a:stretch xmlns:a="http://schemas.openxmlformats.org/drawingml/2006/main"/>
        </p:blipFill>
        <p:spPr>
          <a:xfrm xmlns:a="http://schemas.openxmlformats.org/drawingml/2006/main">
            <a:off x="951611" y="1905000"/>
            <a:ext cx="2811652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F3E863E-8BE9-4F6A-A488-D2483A73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预测：会出现什么？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8507479d544dc"/>
          <a:stretch xmlns:a="http://schemas.openxmlformats.org/drawingml/2006/main"/>
        </p:blipFill>
        <p:spPr>
          <a:xfrm xmlns:a="http://schemas.openxmlformats.org/drawingml/2006/main">
            <a:off x="5039953" y="1952625"/>
            <a:ext cx="5541095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D16A13BC-4B41-4541-AEF8-A45012B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857875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像素：位图中的一个图像单元</a:t>
            </a:r>
          </a:p>
        </p:txBody>
      </p:sp>
    </p:spTree>
    <p:extLst>
      <p:ext uri="{BB962C8B-B14F-4D97-AF65-F5344CB8AC3E}">
        <p14:creationId xmlns:p14="http://schemas.microsoft.com/office/powerpoint/2010/main" val="1633628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0F468-2C9A-4E63-802C-280DFE85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58B42-56F6-4A0A-94D0-3A7F72DD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5DA4058-D7E9-4672-81EE-7E6B1BBB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相机怎样“看到”一朵花？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B74F8-21B8-4A4E-9561-6E027B2B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3676650"/>
            <a:ext cx="102870" cy="1671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77E04-10FD-4434-BADE-00C8E94B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05350"/>
            <a:ext cx="96869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6465A-2089-4902-AE62-C847CB9C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8" y="4593908"/>
            <a:ext cx="90011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027A0-B597-448C-8495-9691F204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3371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739BA-E13A-4ABE-9E6A-858F50B1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738" y="3488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B0195-A9A4-44C4-9815-8A9E1B57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113" y="3676650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BB585-85AA-41D2-B579-2C24C233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487" y="3488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167E5-8FE7-4F4B-813A-CADFEE4A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03371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B2A60-089D-464C-A5AF-2E0461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487" y="2579087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19DB6-7472-4633-AC2F-CB2F18D9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113" y="2390775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1AE3C-4828-46FD-896C-E0DBA9F0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738" y="2579087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85B2F-150F-48CF-B3F9-FBBC240A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73705"/>
            <a:ext cx="857250" cy="900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2C7E4-6031-4DA1-A693-5CD314F5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555" y="3153728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0C6BC-16CF-40BE-ACDE-13D142F6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158" y="3273743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C07F8-DED3-4592-B3E2-411D61FA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3462338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7825D-7E6C-430C-9C80-91C89F42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56635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1BC766D9-0403-474F-9F66-07F6111A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把眼前的红花变成可以保存的数据。</a:t>
            </a:r>
          </a:p>
        </p:txBody>
      </p:sp>
    </p:spTree>
    <p:extLst>
      <p:ext uri="{BB962C8B-B14F-4D97-AF65-F5344CB8AC3E}">
        <p14:creationId xmlns:p14="http://schemas.microsoft.com/office/powerpoint/2010/main" val="9139661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F0F468-2C9A-4E63-802C-280DFE85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58B42-56F6-4A0A-94D0-3A7F72DD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5DA4058-D7E9-4672-81EE-7E6B1BBB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相机怎样“看到”一朵花？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B74F8-21B8-4A4E-9561-6E027B2B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3676650"/>
            <a:ext cx="102870" cy="1671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77E04-10FD-4434-BADE-00C8E94B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05350"/>
            <a:ext cx="96869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6465A-2089-4902-AE62-C847CB9C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8" y="4593908"/>
            <a:ext cx="90011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027A0-B597-448C-8495-9691F204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3371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739BA-E13A-4ABE-9E6A-858F50B1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738" y="3488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B0195-A9A4-44C4-9815-8A9E1B57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113" y="3676650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BB585-85AA-41D2-B579-2C24C233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487" y="3488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167E5-8FE7-4F4B-813A-CADFEE4A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03371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B2A60-089D-464C-A5AF-2E0461A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487" y="2579087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319DB6-7472-4633-AC2F-CB2F18D9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113" y="2390775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1AE3C-4828-46FD-896C-E0DBA9F0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738" y="2579087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85B2F-150F-48CF-B3F9-FBBC240A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73705"/>
            <a:ext cx="857250" cy="900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2C7E4-6031-4DA1-A693-5CD314F5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4555" y="3153728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0C6BC-16CF-40BE-ACDE-13D142F6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158" y="3273743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C07F8-DED3-4592-B3E2-411D61FA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3462338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7825D-7E6C-430C-9C80-91C89F42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56635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1BC766D9-0403-474F-9F66-07F6111A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把眼前的红花变成可以保存的数据。</a:t>
            </a:r>
          </a:p>
        </p:txBody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E14BCABC-9D4C-42F0-A999-98337B4A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41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反射光 → 镜头 → 图像传感器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11009703-9943-4536-AE4F-2CC99755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6237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用有限位置采集光的信息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9A0FC82A-6775-498B-B9F7-FEBFE98E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1012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每个位置记录局部信息</a:t>
            </a:r>
          </a:p>
        </p:txBody>
      </p:sp>
    </p:spTree>
    <p:extLst>
      <p:ext uri="{BB962C8B-B14F-4D97-AF65-F5344CB8AC3E}">
        <p14:creationId xmlns:p14="http://schemas.microsoft.com/office/powerpoint/2010/main" val="9139661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7A783D-F9B0-4C21-802B-626C3D3D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3F466-F1FE-4DB9-91BA-92BC6331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F9AB701-3531-428C-A115-B83AD08F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为什么写 3×4，而不只写 12？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FAE36-403F-48AC-B77B-45926E0F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3724275"/>
            <a:ext cx="102870" cy="1671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60831-B278-4CDF-85DF-B95BA2F6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752975"/>
            <a:ext cx="96869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8EBB5-D009-4384-A242-B3F6CD25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113" y="4641533"/>
            <a:ext cx="90011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39DAF-AE34-4D32-A1AB-E843919B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81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EF885-A722-4514-B316-E61DE6CF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113" y="353596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01079-DE85-4D6E-9A1D-A6EE175D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3724275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7857A-0D53-4768-BB90-4C7ECDBF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862" y="353596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BAE3E-D95B-48FD-BE9E-FFBD99F6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1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595C3-882C-4267-B264-AB296AA9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862" y="2626712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5CC06-61D5-4589-8568-DAF700C9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2438400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23FE5-7148-4CD2-966D-A2B207F2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113" y="2626712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5E36D-434C-4739-A83E-D6548632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21330"/>
            <a:ext cx="857250" cy="900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0EC3A-7E4D-4EAE-9BD9-7C60CB06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930" y="3201353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EACC9-37AF-468C-A658-C164DCD5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3321368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7F855-7916-4FF6-A795-98BABBF5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845" y="3509963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3D7A8-4598-4DF0-BA18-33FF3CDE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604260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AC31B-5223-45EB-B8EF-88EDD77F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15CC7-9AA4-45BC-91C7-0F070B24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5262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2B4AFE-327B-42A4-B2FA-1734B3DB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3DEE7-AD8E-44FD-8051-5B261067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6712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FB818-3DA4-4FC6-8713-7CFAAA11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20955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ADAB2-088D-4FA4-B611-4D05B3CE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295275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3B055D-EBDD-489D-8A5C-2D7552ED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38100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67FD5B-9684-4615-B9AC-3187DF7E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466725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590462-7C52-47D2-A6FF-FDE7BF67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55245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3238469B-55D4-4A2F-8290-44772D95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横向3个；纵向4个</a:t>
            </a:r>
          </a:p>
        </p:txBody>
      </p:sp>
    </p:spTree>
    <p:extLst>
      <p:ext uri="{BB962C8B-B14F-4D97-AF65-F5344CB8AC3E}">
        <p14:creationId xmlns:p14="http://schemas.microsoft.com/office/powerpoint/2010/main" val="190353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7A783D-F9B0-4C21-802B-626C3D3D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3F466-F1FE-4DB9-91BA-92BC6331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F9AB701-3531-428C-A115-B83AD08F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为什么写 3×4，而不只写 12？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FAE36-403F-48AC-B77B-45926E0F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8" y="3724275"/>
            <a:ext cx="102870" cy="1671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60831-B278-4CDF-85DF-B95BA2F6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752975"/>
            <a:ext cx="96869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8EBB5-D009-4384-A242-B3F6CD25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113" y="4641533"/>
            <a:ext cx="900113" cy="3857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39DAF-AE34-4D32-A1AB-E843919B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81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EF885-A722-4514-B316-E61DE6CF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113" y="353596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01079-DE85-4D6E-9A1D-A6EE175D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3724275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7857A-0D53-4768-BB90-4C7ECDBF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862" y="3535963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BAE3E-D95B-48FD-BE9E-FFBD99F6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81338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595C3-882C-4267-B264-AB296AA9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862" y="2626712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5CC06-61D5-4589-8568-DAF700C9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2438400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23FE5-7148-4CD2-966D-A2B207F2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113" y="2626712"/>
            <a:ext cx="771525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5E36D-434C-4739-A83E-D6548632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21330"/>
            <a:ext cx="857250" cy="9001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0EC3A-7E4D-4EAE-9BD9-7C60CB06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930" y="3201353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EACC9-37AF-468C-A658-C164DCD5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3" y="3321368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7F855-7916-4FF6-A795-98BABBF5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845" y="3509963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3D7A8-4598-4DF0-BA18-33FF3CDE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604260"/>
            <a:ext cx="85725" cy="1200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AC31B-5223-45EB-B8EF-88EDD77F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15CC7-9AA4-45BC-91C7-0F070B24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5262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2B4AFE-327B-42A4-B2FA-1734B3DB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987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53DEE7-AD8E-44FD-8051-5B261067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67125" y="209550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FB818-3DA4-4FC6-8713-7CFAAA11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20955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ADAB2-088D-4FA4-B611-4D05B3CE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295275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3B055D-EBDD-489D-8A5C-2D7552ED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38100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67FD5B-9684-4615-B9AC-3187DF7E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466725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590462-7C52-47D2-A6FF-FDE7BF67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552450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9" name="text-28">
            <a:extLst xmlns:a="http://schemas.openxmlformats.org/drawingml/2006/main">
              <a:ext uri="{FF2B5EF4-FFF2-40B4-BE49-F238E27FC236}">
                <a16:creationId xmlns:a16="http://schemas.microsoft.com/office/drawing/2014/main" id="{3238469B-55D4-4A2F-8290-44772D95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横向3个；纵向4个</a:t>
            </a:r>
          </a:p>
        </p:txBody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3619119A-BC0C-4FCC-883E-9E497718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3×4 = 12 个位置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3763604F-B9AF-439E-BCB2-E0F5A5C4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3×4保留横向与纵向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7D0517B7-AF55-4647-B545-09139FF0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采集样本：采样</a:t>
            </a:r>
          </a:p>
        </p:txBody>
      </p:sp>
    </p:spTree>
    <p:extLst>
      <p:ext uri="{BB962C8B-B14F-4D97-AF65-F5344CB8AC3E}">
        <p14:creationId xmlns:p14="http://schemas.microsoft.com/office/powerpoint/2010/main" val="1903530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32E603-CCB8-445B-97D4-124D8CC3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A68FB-DD23-402B-8655-164BD9D7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977DC3C-FA97-4634-A482-629039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采样后，每个格子的颜色怎样记录？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C01CD-538C-4785-9FF9-B6FCBE6C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844" y="3595688"/>
            <a:ext cx="85725" cy="1393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4236E-99D1-4C6F-8E60-5EB09DA3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2938"/>
            <a:ext cx="807244" cy="321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DCF84-FB9B-4791-8201-796E1875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281" y="4360069"/>
            <a:ext cx="750094" cy="321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96E54-BB17-4461-965F-666660C8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059906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A0D74-3DE7-46D4-AB24-1EC2D5FD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948" y="3438761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B695A-C45F-4CFB-B0C2-FE034590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3595688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B788A-95E8-4D35-81A5-4CCC0C18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39" y="3438761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D89DE-6492-447B-9951-5B19DC35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3" y="3059906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69453-22E0-493F-9189-784A62D1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39" y="2681052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5BDC8-74EE-47CF-BFCC-12A451A7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2524125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FDF85-DB10-4CA2-8E9D-556F8012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948" y="2681052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E07CA-8099-4213-B088-5D1C9857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09900"/>
            <a:ext cx="714375" cy="7500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8CB8C-21D6-4CC0-BEC8-56CD6160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159919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2C20B-E5C6-4987-9558-921B563A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131" y="3259931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4D4DB-7EC4-4852-A1E0-7C219952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17094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EC52C-0414-49FC-8386-FB93AEB9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95675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3F2A80-8E9C-4373-80AC-16B0822D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81106-3C9E-4A2D-9F04-BF1386CD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375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EBBE6C-D65F-4CD9-AE33-04DED61E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0750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981BDD-561A-4711-9539-A79DAD38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E7FE0-0780-4EE6-9853-31728335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238375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EC6CA-213B-40C7-A6A3-37F669C4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952750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76174E-6829-4E9F-9B3F-89572D10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667125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B0466-2D57-4D93-8613-FFB0D4B4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381500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9B657B-4299-4041-9C59-70FB7A60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5095875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94CC8-9992-471F-B00B-8ADC489B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EC5728-1DAD-4A31-96F7-2684EA92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383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C043B9-8959-48F4-8C04-FB0B0748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383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5BDE70-6130-4488-839E-671EA0EF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2430CA-E42D-4669-8911-DD1BE3AC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527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89E734-5274-4517-8C72-F7000AEB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06B47B-30DF-4497-BB6C-7095931B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81CA13-4309-40CE-94BF-341F7FC5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671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D3E003-4047-4EE9-82F2-CA15E563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671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0F5AC8-E84A-49C2-9B8A-DC92F07C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815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10FA60-603F-4E4A-86E7-381C23A1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815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129FFC-399A-416F-9E9F-D744CD86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815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5556AE9C-CA15-442A-8B01-CC1E8E68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每格只留一种代表色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5D368203-63CA-47EE-A808-1966B4B5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5737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怎样给颜色编号？</a:t>
            </a:r>
          </a:p>
        </p:txBody>
      </p:sp>
    </p:spTree>
    <p:extLst>
      <p:ext uri="{BB962C8B-B14F-4D97-AF65-F5344CB8AC3E}">
        <p14:creationId xmlns:p14="http://schemas.microsoft.com/office/powerpoint/2010/main" val="13357688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E32E603-CCB8-445B-97D4-124D8CC3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A68FB-DD23-402B-8655-164BD9D7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977DC3C-FA97-4634-A482-629039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采样后，每个格子的颜色怎样记录？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C01CD-538C-4785-9FF9-B6FCBE6C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844" y="3595688"/>
            <a:ext cx="85725" cy="1393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4236E-99D1-4C6F-8E60-5EB09DA3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2938"/>
            <a:ext cx="807244" cy="321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DCF84-FB9B-4791-8201-796E1875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281" y="4360069"/>
            <a:ext cx="750094" cy="32146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96E54-BB17-4461-965F-666660C8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059906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A0D74-3DE7-46D4-AB24-1EC2D5FD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948" y="3438761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B695A-C45F-4CFB-B0C2-FE034590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3595688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B788A-95E8-4D35-81A5-4CCC0C18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39" y="3438761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D89DE-6492-447B-9951-5B19DC35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3" y="3059906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69453-22E0-493F-9189-784A62D1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239" y="2681052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5BDC8-74EE-47CF-BFCC-12A451A7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094" y="2524125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FDF85-DB10-4CA2-8E9D-556F8012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948" y="2681052"/>
            <a:ext cx="642938" cy="714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E07CA-8099-4213-B088-5D1C9857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09900"/>
            <a:ext cx="714375" cy="7500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8CB8C-21D6-4CC0-BEC8-56CD6160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159919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2C20B-E5C6-4987-9558-921B563A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131" y="3259931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4D4DB-7EC4-4852-A1E0-7C219952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17094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EC52C-0414-49FC-8386-FB93AEB9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95675"/>
            <a:ext cx="71438" cy="100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3F2A80-8E9C-4373-80AC-16B0822D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81106-3C9E-4A2D-9F04-BF1386CD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375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EBBE6C-D65F-4CD9-AE33-04DED61E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0750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981BDD-561A-4711-9539-A79DAD38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2238375"/>
            <a:ext cx="0" cy="2857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E7FE0-0780-4EE6-9853-31728335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238375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DEC6CA-213B-40C7-A6A3-37F669C4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2952750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76174E-6829-4E9F-9B3F-89572D10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3667125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B0466-2D57-4D93-8613-FFB0D4B4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381500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9B657B-4299-4041-9C59-70FB7A60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5095875"/>
            <a:ext cx="2143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6262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94CC8-9992-471F-B00B-8ADC489B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EC5728-1DAD-4A31-96F7-2684EA92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383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C043B9-8959-48F4-8C04-FB0B0748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3837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5BDE70-6130-4488-839E-671EA0EF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2430CA-E42D-4669-8911-DD1BE3AC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527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89E734-5274-4517-8C72-F7000AEB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06B47B-30DF-4497-BB6C-7095931B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81CA13-4309-40CE-94BF-341F7FC5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671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D3E003-4047-4EE9-82F2-CA15E563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67125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0F5AC8-E84A-49C2-9B8A-DC92F07C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815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10FA60-603F-4E4A-86E7-381C23A1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815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129FFC-399A-416F-9E9F-D744CD86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815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text-40">
            <a:extLst xmlns:a="http://schemas.openxmlformats.org/drawingml/2006/main">
              <a:ext uri="{FF2B5EF4-FFF2-40B4-BE49-F238E27FC236}">
                <a16:creationId xmlns:a16="http://schemas.microsoft.com/office/drawing/2014/main" id="{5556AE9C-CA15-442A-8B01-CC1E8E68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每格只留一种代表色</a:t>
            </a:r>
          </a:p>
        </p:txBody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5D368203-63CA-47EE-A808-1966B4B5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57375"/>
            <a:ext cx="3905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怎样给颜色编号？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EDA557-0292-49F1-9AB2-2B4EC67A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D4D3BA38-9390-4127-875F-AE93F1A2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0EAD38-6C2F-45DF-B261-1443D528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F6103312-0A02-4D6E-B459-DC0BDCD1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FE6884-F730-475F-8222-41873F08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81DAB10F-BD4F-4D82-9E26-C459142F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E2DE54-1C6D-4021-BDE7-C4AD7536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text-49">
            <a:extLst xmlns:a="http://schemas.openxmlformats.org/drawingml/2006/main">
              <a:ext uri="{FF2B5EF4-FFF2-40B4-BE49-F238E27FC236}">
                <a16:creationId xmlns:a16="http://schemas.microsoft.com/office/drawing/2014/main" id="{12FEC977-2DD6-432E-821D-BFAAF497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B086BF-6F3F-444F-A476-B276A254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text-51">
            <a:extLst xmlns:a="http://schemas.openxmlformats.org/drawingml/2006/main">
              <a:ext uri="{FF2B5EF4-FFF2-40B4-BE49-F238E27FC236}">
                <a16:creationId xmlns:a16="http://schemas.microsoft.com/office/drawing/2014/main" id="{DC7CE2B1-906F-443F-B01F-BC9CADBE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82A1B1-317D-444A-A74F-568A4978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text-53">
            <a:extLst xmlns:a="http://schemas.openxmlformats.org/drawingml/2006/main">
              <a:ext uri="{FF2B5EF4-FFF2-40B4-BE49-F238E27FC236}">
                <a16:creationId xmlns:a16="http://schemas.microsoft.com/office/drawing/2014/main" id="{3E1710AB-F540-42B6-8746-C732F13E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EE129C-2AB9-497B-A221-C0040EC3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text-55">
            <a:extLst xmlns:a="http://schemas.openxmlformats.org/drawingml/2006/main">
              <a:ext uri="{FF2B5EF4-FFF2-40B4-BE49-F238E27FC236}">
                <a16:creationId xmlns:a16="http://schemas.microsoft.com/office/drawing/2014/main" id="{5CA4DEBD-1930-474A-925E-15037577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9FCE8B-A9EC-4ECA-BC83-92765872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text-57">
            <a:extLst xmlns:a="http://schemas.openxmlformats.org/drawingml/2006/main">
              <a:ext uri="{FF2B5EF4-FFF2-40B4-BE49-F238E27FC236}">
                <a16:creationId xmlns:a16="http://schemas.microsoft.com/office/drawing/2014/main" id="{20192F51-D29A-4B02-9635-C4A8A7D0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EFECEE-13D2-4832-9047-18D0B9C5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00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text-59">
            <a:extLst xmlns:a="http://schemas.openxmlformats.org/drawingml/2006/main">
              <a:ext uri="{FF2B5EF4-FFF2-40B4-BE49-F238E27FC236}">
                <a16:creationId xmlns:a16="http://schemas.microsoft.com/office/drawing/2014/main" id="{A63E04D6-74CA-4446-9EA8-005121D3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100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F5DECCF-73D3-45D9-B124-14288BC0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text-61">
            <a:extLst xmlns:a="http://schemas.openxmlformats.org/drawingml/2006/main">
              <a:ext uri="{FF2B5EF4-FFF2-40B4-BE49-F238E27FC236}">
                <a16:creationId xmlns:a16="http://schemas.microsoft.com/office/drawing/2014/main" id="{C79C919F-BB0E-4252-B799-F1E0B07E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803DDE-D205-4216-83DF-D0FCFC72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text-63">
            <a:extLst xmlns:a="http://schemas.openxmlformats.org/drawingml/2006/main">
              <a:ext uri="{FF2B5EF4-FFF2-40B4-BE49-F238E27FC236}">
                <a16:creationId xmlns:a16="http://schemas.microsoft.com/office/drawing/2014/main" id="{0867FF23-8614-4F55-8354-D04A4109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E9DF39-E354-43DD-A0B1-78654C8D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8150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text-65">
            <a:extLst xmlns:a="http://schemas.openxmlformats.org/drawingml/2006/main">
              <a:ext uri="{FF2B5EF4-FFF2-40B4-BE49-F238E27FC236}">
                <a16:creationId xmlns:a16="http://schemas.microsoft.com/office/drawing/2014/main" id="{426024B7-A245-4AC9-86AC-DB49DDA6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81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18BA95CB-5170-4D5F-A609-7DCF9F20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340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白0  红1  黄2  绿3</a:t>
            </a:r>
          </a:p>
        </p:txBody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256B2548-071F-4EEF-A68A-C7CD1B70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578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有限等级表示：量化</a:t>
            </a:r>
          </a:p>
        </p:txBody>
      </p:sp>
    </p:spTree>
    <p:extLst>
      <p:ext uri="{BB962C8B-B14F-4D97-AF65-F5344CB8AC3E}">
        <p14:creationId xmlns:p14="http://schemas.microsoft.com/office/powerpoint/2010/main" val="13357688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BB62C-AC02-4889-A15F-751AED3D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CD9B2-63B7-4803-A58E-274B3D37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FACC38-6EEF-4A9C-B2AD-840D1345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四种颜色需要几个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1421A25-10CF-49FE-B49D-B69CF6B6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每个像素只能取白、红、黄、绿中的一种颜色。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颜色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红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黄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绿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二进制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6722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BB62C-AC02-4889-A15F-751AED3D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CD9B2-63B7-4803-A58E-274B3D37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FACC38-6EEF-4A9C-B2AD-840D1345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四种颜色需要几个 bit？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1421A25-10CF-49FE-B49D-B69CF6B6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每个像素只能取白、红、黄、绿中的一种颜色。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0955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颜色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红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黄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绿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二进制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222C278-654E-4331-8BA3-ADCDB718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904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 有 4 种状态，刚好够用</a:t>
            </a:r>
          </a:p>
        </p:txBody>
      </p:sp>
    </p:spTree>
    <p:extLst>
      <p:ext uri="{BB962C8B-B14F-4D97-AF65-F5344CB8AC3E}">
        <p14:creationId xmlns:p14="http://schemas.microsoft.com/office/powerpoint/2010/main" val="19216722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FD937A-EE1A-4B64-9999-C5745F8B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4C2DD-2A60-4380-8573-25AD278B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E2B08C-0DB9-46BE-AD21-1F1B1247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B7484-25C8-4665-B80E-530FD514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251A40A-9ACD-4387-A96E-344038D8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B20C5-DD28-4B75-AFA5-3910B92A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CF231E2-EF08-4056-A1B0-884E8457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3E6E5-4FB7-4C27-9289-01D0D7A3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653303B-DD72-4605-806E-593806F9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2BE04-3A51-4020-810A-2F678229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14EAABA-2670-44FF-B378-8CE33C52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A5BE7-766B-4254-A42C-75D6C5EC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65D331B-4FB9-46EF-B1EF-FE40BB44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FBD64-7DD4-4C5E-A030-BB5E0BB3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5C90296-BEDE-4182-B81E-1582D0F8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E3CE6-E66B-4AAB-9F2D-4113D793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9D0C97EE-1624-4A65-82A5-D0CBF4CA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95DA3-59A3-4461-B4A9-E3C100AB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0C1A1270-BC38-4FE7-A2A6-341D9AA1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8FA21-7FC7-4735-8A39-4A0A20F0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7A90BF1C-CE79-4EEC-AEA9-884D3D97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79EE4-9953-4AC9-855E-0A62580A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601A3DEA-A5F6-4FF6-BD1F-EC19A307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B4602-15B1-4C31-B4A7-BD1CA240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587BFB4A-00EA-4048-AAC5-0F57C107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DA682-C176-4CBD-885B-F73FD3D7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F8077A0C-CCF0-4A1C-BCF9-001770E0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A1B23EB4-CA48-46C6-8EE0-2B30607C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每格要写几个bit？</a:t>
            </a:r>
          </a:p>
        </p:txBody>
      </p:sp>
    </p:spTree>
    <p:extLst>
      <p:ext uri="{BB962C8B-B14F-4D97-AF65-F5344CB8AC3E}">
        <p14:creationId xmlns:p14="http://schemas.microsoft.com/office/powerpoint/2010/main" val="16820376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FD937A-EE1A-4B64-9999-C5745F8B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4C2DD-2A60-4380-8573-25AD278B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E2B08C-0DB9-46BE-AD21-1F1B1247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B7484-25C8-4665-B80E-530FD514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251A40A-9ACD-4387-A96E-344038D8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B20C5-DD28-4B75-AFA5-3910B92A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CF231E2-EF08-4056-A1B0-884E8457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3E6E5-4FB7-4C27-9289-01D0D7A3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653303B-DD72-4605-806E-593806F9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2BE04-3A51-4020-810A-2F678229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14EAABA-2670-44FF-B378-8CE33C52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A5BE7-766B-4254-A42C-75D6C5EC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65D331B-4FB9-46EF-B1EF-FE40BB44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FBD64-7DD4-4C5E-A030-BB5E0BB3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5C90296-BEDE-4182-B81E-1582D0F8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E3CE6-E66B-4AAB-9F2D-4113D793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9D0C97EE-1624-4A65-82A5-D0CBF4CA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95DA3-59A3-4461-B4A9-E3C100AB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0C1A1270-BC38-4FE7-A2A6-341D9AA1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8FA21-7FC7-4735-8A39-4A0A20F0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7A90BF1C-CE79-4EEC-AEA9-884D3D97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79EE4-9953-4AC9-855E-0A62580A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601A3DEA-A5F6-4FF6-BD1F-EC19A307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B4602-15B1-4C31-B4A7-BD1CA240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587BFB4A-00EA-4048-AAC5-0F57C107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DA682-C176-4CBD-885B-F73FD3D7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F8077A0C-CCF0-4A1C-BCF9-001770E0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A1B23EB4-CA48-46C6-8EE0-2B30607C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每格要写几个bit？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F038A6-7EF7-4B3A-8A24-CF0C8A4A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FF36FBD5-45FD-4C21-B787-A0EEBE86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18D61-632B-4F56-9D4D-C8136D73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E382D858-8B7F-4C80-9646-AE92C397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C8DCAC-9854-4F3B-9658-ACD2415B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678BB869-2581-4242-A72D-670FEE96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EEE834-B2B9-4F5F-A014-904185C1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2C0A3E2D-ABA3-4C1E-8523-CF09740B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D6FF94-64B8-47B2-B7BA-4C48A86C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4061980A-42AC-4A25-AEAE-79B7394A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AB2CB5-E183-4AA2-8001-123AE7D5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03B8BBF1-86D2-4E51-894C-6EB374A8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6C6B98-3417-4DE4-AEA6-584802A3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E3AF6927-779F-446B-968D-65603D2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5F5E62-90FA-4A4B-A460-7062DB3C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7FDD2AA7-92B4-4B1A-A946-A12F83AB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42C71B-961B-41F3-8865-22D8197C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5458D8BC-DB2B-4C27-A7B3-1ADB19BC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0659D0-21A5-4B37-BAF9-C9EFD431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999F1BF4-64AE-45BC-B9F7-C1FC6877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1455FC-C005-4C3B-8181-DB49EC93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text-49">
            <a:extLst xmlns:a="http://schemas.openxmlformats.org/drawingml/2006/main">
              <a:ext uri="{FF2B5EF4-FFF2-40B4-BE49-F238E27FC236}">
                <a16:creationId xmlns:a16="http://schemas.microsoft.com/office/drawing/2014/main" id="{42F18144-A0CD-4BAA-88AD-A4EBDB38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CD7512-8CFF-41F6-A74D-5CD32FC9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text-51">
            <a:extLst xmlns:a="http://schemas.openxmlformats.org/drawingml/2006/main">
              <a:ext uri="{FF2B5EF4-FFF2-40B4-BE49-F238E27FC236}">
                <a16:creationId xmlns:a16="http://schemas.microsoft.com/office/drawing/2014/main" id="{1EDA248A-3A9F-4A71-B96B-858AC4B3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9932A12C-5A7A-426A-8602-72F326E2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编码：量化值 → 码字</a:t>
            </a:r>
          </a:p>
        </p:txBody>
      </p:sp>
      <p:sp>
        <p:nvSpPr>
          <p:cNvPr id="54" name="text-53">
            <a:extLst xmlns:a="http://schemas.openxmlformats.org/drawingml/2006/main">
              <a:ext uri="{FF2B5EF4-FFF2-40B4-BE49-F238E27FC236}">
                <a16:creationId xmlns:a16="http://schemas.microsoft.com/office/drawing/2014/main" id="{5069B996-F8B1-4B03-9D55-08153594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8102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位深度：每像素 2 bit</a:t>
            </a:r>
          </a:p>
        </p:txBody>
      </p:sp>
    </p:spTree>
    <p:extLst>
      <p:ext uri="{BB962C8B-B14F-4D97-AF65-F5344CB8AC3E}">
        <p14:creationId xmlns:p14="http://schemas.microsoft.com/office/powerpoint/2010/main" val="16820376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FD937A-EE1A-4B64-9999-C5745F8B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4C2DD-2A60-4380-8573-25AD278B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E2B08C-0DB9-46BE-AD21-1F1B1247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怎样编码？位深度又是多少？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B7484-25C8-4665-B80E-530FD514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251A40A-9ACD-4387-A96E-344038D8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B20C5-DD28-4B75-AFA5-3910B92A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CF231E2-EF08-4056-A1B0-884E8457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3E6E5-4FB7-4C27-9289-01D0D7A3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653303B-DD72-4605-806E-593806F9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2BE04-3A51-4020-810A-2F678229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14EAABA-2670-44FF-B378-8CE33C52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A5BE7-766B-4254-A42C-75D6C5EC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65D331B-4FB9-46EF-B1EF-FE40BB44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FBD64-7DD4-4C5E-A030-BB5E0BB3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D5C90296-BEDE-4182-B81E-1582D0F8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E3CE6-E66B-4AAB-9F2D-4113D793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9D0C97EE-1624-4A65-82A5-D0CBF4CA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95DA3-59A3-4461-B4A9-E3C100AB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0C1A1270-BC38-4FE7-A2A6-341D9AA1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8FA21-7FC7-4735-8A39-4A0A20F0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7A90BF1C-CE79-4EEC-AEA9-884D3D97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079EE4-9953-4AC9-855E-0A62580A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601A3DEA-A5F6-4FF6-BD1F-EC19A307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B4602-15B1-4C31-B4A7-BD1CA240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587BFB4A-00EA-4048-AAC5-0F57C107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2DA682-C176-4CBD-885B-F73FD3D7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text-26">
            <a:extLst xmlns:a="http://schemas.openxmlformats.org/drawingml/2006/main">
              <a:ext uri="{FF2B5EF4-FFF2-40B4-BE49-F238E27FC236}">
                <a16:creationId xmlns:a16="http://schemas.microsoft.com/office/drawing/2014/main" id="{F8077A0C-CCF0-4A1C-BCF9-001770E0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28" name="text-27">
            <a:extLst xmlns:a="http://schemas.openxmlformats.org/drawingml/2006/main">
              <a:ext uri="{FF2B5EF4-FFF2-40B4-BE49-F238E27FC236}">
                <a16:creationId xmlns:a16="http://schemas.microsoft.com/office/drawing/2014/main" id="{A1B23EB4-CA48-46C6-8EE0-2B30607C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每格要写几个bit？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F038A6-7EF7-4B3A-8A24-CF0C8A4A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FF36FBD5-45FD-4C21-B787-A0EEBE86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18D61-632B-4F56-9D4D-C8136D73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E382D858-8B7F-4C80-9646-AE92C397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C8DCAC-9854-4F3B-9658-ACD2415B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678BB869-2581-4242-A72D-670FEE96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812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EEE834-B2B9-4F5F-A014-904185C1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2C0A3E2D-ABA3-4C1E-8523-CF09740B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D6FF94-64B8-47B2-B7BA-4C48A86C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4061980A-42AC-4A25-AEAE-79B7394A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AB2CB5-E183-4AA2-8001-123AE7D5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text-39">
            <a:extLst xmlns:a="http://schemas.openxmlformats.org/drawingml/2006/main">
              <a:ext uri="{FF2B5EF4-FFF2-40B4-BE49-F238E27FC236}">
                <a16:creationId xmlns:a16="http://schemas.microsoft.com/office/drawing/2014/main" id="{03B8BBF1-86D2-4E51-894C-6EB374A8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24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6C6B98-3417-4DE4-AEA6-584802A3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E3AF6927-779F-446B-968D-65603D2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5F5E62-90FA-4A4B-A460-7062DB3C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7FDD2AA7-92B4-4B1A-A946-A12F83AB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42C71B-961B-41F3-8865-22D8197C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5458D8BC-DB2B-4C27-A7B3-1ADB19BC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8671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0659D0-21A5-4B37-BAF9-C9EFD431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text-47">
            <a:extLst xmlns:a="http://schemas.openxmlformats.org/drawingml/2006/main">
              <a:ext uri="{FF2B5EF4-FFF2-40B4-BE49-F238E27FC236}">
                <a16:creationId xmlns:a16="http://schemas.microsoft.com/office/drawing/2014/main" id="{999F1BF4-64AE-45BC-B9F7-C1FC6877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1455FC-C005-4C3B-8181-DB49EC93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text-49">
            <a:extLst xmlns:a="http://schemas.openxmlformats.org/drawingml/2006/main">
              <a:ext uri="{FF2B5EF4-FFF2-40B4-BE49-F238E27FC236}">
                <a16:creationId xmlns:a16="http://schemas.microsoft.com/office/drawing/2014/main" id="{42F18144-A0CD-4BAA-88AD-A4EBDB38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CD7512-8CFF-41F6-A74D-5CD32FC9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text-51">
            <a:extLst xmlns:a="http://schemas.openxmlformats.org/drawingml/2006/main">
              <a:ext uri="{FF2B5EF4-FFF2-40B4-BE49-F238E27FC236}">
                <a16:creationId xmlns:a16="http://schemas.microsoft.com/office/drawing/2014/main" id="{1EDA248A-3A9F-4A71-B96B-858AC4B3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101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9932A12C-5A7A-426A-8602-72F326E2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编码：量化值 → 码字</a:t>
            </a:r>
          </a:p>
        </p:txBody>
      </p:sp>
      <p:sp>
        <p:nvSpPr>
          <p:cNvPr id="54" name="text-53">
            <a:extLst xmlns:a="http://schemas.openxmlformats.org/drawingml/2006/main">
              <a:ext uri="{FF2B5EF4-FFF2-40B4-BE49-F238E27FC236}">
                <a16:creationId xmlns:a16="http://schemas.microsoft.com/office/drawing/2014/main" id="{5069B996-F8B1-4B03-9D55-08153594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8102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位深度：每像素 2 bit</a:t>
            </a:r>
          </a:p>
        </p:txBody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45F4C210-5BD9-48FB-9197-6A887DDA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19375"/>
            <a:ext cx="1809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</a:t>
            </a:r>
          </a:p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</a:t>
            </a:r>
          </a:p>
          <a:p xmlns:a="http://schemas.openxmlformats.org/drawingml/2006/main">
            <a:pPr algn="ctr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</p:spTree>
    <p:extLst>
      <p:ext uri="{BB962C8B-B14F-4D97-AF65-F5344CB8AC3E}">
        <p14:creationId xmlns:p14="http://schemas.microsoft.com/office/powerpoint/2010/main" val="16820376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26834-797F-4C23-820B-2081E9B2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604DB-2D13-4606-A215-1261F624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B3EDDC7-B723-403C-BDA2-C0372AF1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怎样让数字花更接近原图？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22248-4708-4E75-AA5B-79804644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C75F0-47C7-462B-830A-352796C2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383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68DC0-1FE6-4858-9877-D9FE09C5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383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05CC1-6343-4BAA-B8C7-A6542CA7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765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CA847-C9D0-4851-9C68-58D74320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765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B067E-0182-499D-9E7C-E1CAD4D0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765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C3757-5181-4BAF-88DC-DCE85B9E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F06B4-AD49-4662-A38B-5BC76E25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147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1E142-9B12-49B4-B400-2DE5D057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147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957E6-DC0B-468F-995E-95A3CB50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98604-8B3D-45C3-BB88-32DD59B0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529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8F601-187D-4077-BBAF-0D778477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529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9723D536-68F6-4115-ABD8-EEE58571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3×4 · 4色 · 2bit</a:t>
            </a:r>
          </a:p>
        </p:txBody>
      </p:sp>
    </p:spTree>
    <p:extLst>
      <p:ext uri="{BB962C8B-B14F-4D97-AF65-F5344CB8AC3E}">
        <p14:creationId xmlns:p14="http://schemas.microsoft.com/office/powerpoint/2010/main" val="14384451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0826834-797F-4C23-820B-2081E9B2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604DB-2D13-4606-A215-1261F624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B3EDDC7-B723-403C-BDA2-C0372AF1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怎样让数字花更接近原图？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22248-4708-4E75-AA5B-79804644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C75F0-47C7-462B-830A-352796C2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383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68DC0-1FE6-4858-9877-D9FE09C5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383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05CC1-6343-4BAA-B8C7-A6542CA7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765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CA847-C9D0-4851-9C68-58D74320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765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B067E-0182-499D-9E7C-E1CAD4D0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765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8C3757-5181-4BAF-88DC-DCE85B9E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F06B4-AD49-4662-A38B-5BC76E25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147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1E142-9B12-49B4-B400-2DE5D057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147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957E6-DC0B-468F-995E-95A3CB50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D98604-8B3D-45C3-BB88-32DD59B0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529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8F601-187D-4077-BBAF-0D778477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52975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9723D536-68F6-4115-ABD8-EEE58571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3×4 · 4色 · 2bit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2E1A3-DCAE-4092-9E7B-0DE8CEB0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38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3796D-A0D4-4452-B83F-4B5F24A2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38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9A7247-0AF6-4161-8F23-D7830436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38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BE479A-7845-4C46-8B51-0DBDC396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38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B6BCE-6B68-4751-9067-4390F01B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38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0B1B07-34D4-4964-B4FF-DB65EEE8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383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A6DF47-7B2B-424D-9F12-D719B14C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574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DDA028-5F9E-4AD8-88E0-02052D7A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574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24BD70-A42B-4941-BE01-BD280B48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6574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E9CA1F-BC1E-42E8-BCD3-8A9FCFB5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6574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D25364-C8D5-44E1-A933-1E7E7825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574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39E018-437B-4181-8BD9-F44CB091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574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9EE8A2-7D7C-465C-B0FE-C8D4A11C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765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884515-D2F1-49D2-ADAF-A19B2152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765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377CA4-ABD3-4C2A-957E-901F4C15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765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8FD311-BF49-47CB-B5DE-9032AFDD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0765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9118B3-BAFB-423A-B0C9-1581EB39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0765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D0CE32-F0F2-4A24-8CC9-AB92C1BC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765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B33841-B3E8-4615-86FD-2D5C53C2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956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9053AD-4E59-4C8F-9CD8-E094AAD2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956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829CDC-C4D3-4117-9CC7-1EDEF25C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4956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81AE98-EEA9-4517-9977-2B01D310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956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853023-0704-4C56-82B3-7ED39EFB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956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025BA7-3E42-4FD2-BA25-562DCE4B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956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3A2677-7E9B-4089-B572-1C3FC0B3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147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E91E97-E962-4683-9312-65E36785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9147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19D12D-B266-4E96-B9D7-FCCC95A4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147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4C9C51-0CD2-48AB-A808-3228871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9147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D73B00-4CCA-41C6-A689-E03F7D9C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9147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6F4108-8B9F-4701-8869-FB43708B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9147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6EC725-CCB2-4A87-9541-EB33E45E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338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61F6BE-1195-4268-A086-EF951CF4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3338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C0E599-3A96-4954-8A30-42CD049B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3338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53B29D-EB76-48F5-8BB5-6BE5231D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3338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620A22-3E54-4CB5-9F86-8B98C6EE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3338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235082-D902-4721-8F29-F1EE9CF5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338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C415A7-5AAA-467C-BCEA-3ADACF81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529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EF1049-7831-45A0-B913-285B6D72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7529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3A0105-90BF-4509-A1AF-65CDBC46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7529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A3081DD-8771-458B-9AAF-95ECA275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7529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E84380-D3A5-4CF1-BC34-4EB80CAF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529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01191B-0FB8-46F6-884C-38740CC0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7529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8A1D3D-E39E-4570-B2A7-0A746358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72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64BBBD-7887-43FA-9FF9-C5965BBB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172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753497-6BFF-4F25-B3AE-6D238BE8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172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B89FA71-2E61-4A8D-A209-9CACA48C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172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0BEBCA9-A039-41EF-A8C4-9D380C3A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172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AB2C677-D7DD-4F6C-989B-142AD79A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17207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text-64">
            <a:extLst xmlns:a="http://schemas.openxmlformats.org/drawingml/2006/main">
              <a:ext uri="{FF2B5EF4-FFF2-40B4-BE49-F238E27FC236}">
                <a16:creationId xmlns:a16="http://schemas.microsoft.com/office/drawing/2014/main" id="{EAD5CD67-5DD0-43B0-A282-39E2EE68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85787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6×8 · 4色 · 2bit</a:t>
            </a:r>
          </a:p>
        </p:txBody>
      </p:sp>
    </p:spTree>
    <p:extLst>
      <p:ext uri="{BB962C8B-B14F-4D97-AF65-F5344CB8AC3E}">
        <p14:creationId xmlns:p14="http://schemas.microsoft.com/office/powerpoint/2010/main" val="14384451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75D69E-8F76-4399-BBFF-07E45D6C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7F56E-13CA-419A-8AB8-AAEB2B48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24F99A9-62E5-46CE-B870-D43F6B7F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第四行，怎样写成二进制？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EF518-A210-4566-97EA-2B8C6595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AA5DF-B2D8-41FD-8F75-33F9D543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588EB-2A6A-4B78-A044-5FC997B3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81422-E91F-4D88-8B9C-E0B11873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FFA78-401E-428D-817F-D14D1E30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029B3-C436-4395-B243-AC5183E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CF98A-130C-48AF-837B-DDCFC5B9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813AF-AD99-4A8E-A002-672FCF04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AEFB8-15F1-48A6-9C13-B8FE3CB7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4BEA4-AE69-4FB5-8CEA-A8545397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66FF3-7510-41D0-A395-239F4B38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5EA88-0020-4E3F-87EA-AFF9BEE5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35348-0ECA-4978-A353-8BBD2BF6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29B610-FC33-475D-8539-73EE20F6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AB247-5604-44F2-A8E0-76242B7C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A0B9E-DC4C-4BF2-8E13-B66D65F1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83727-4E83-4A10-AC94-63FD6240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3764AD-E437-4728-B585-87E0DDE4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A3C0A-DE23-4D8D-AD82-2B18B3F8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28A495-DDD9-4047-A63B-64691211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10AF9-EBBE-4AAF-A965-4DFB558F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B39DF2-D475-4422-BD47-907A9284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14C542-C4FB-49B5-90F4-0646FDA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AAB33E-F0DE-47C6-BECA-A6E9FD6B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4AEEEE-1F37-430F-8426-FE5905FD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2446FE-9C81-4C5A-9ED3-4513F15C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1FE973-4775-4EBB-AE83-36790A5A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EC7E78-928F-4656-A895-F8DF8E3A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368854-D6EC-4209-8361-F4A00EE6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0EE1A4-2A77-444D-9C2E-1A78F9DB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414981-A17C-48F9-9B56-B922E376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E73C9B-264A-442C-8876-822DB5B7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F75079-A31D-4F82-B29B-BD463B57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15B1A4-4F1B-42F8-8BFE-3F59F6F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200C2E-B522-4136-A545-06D07112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4FA274-9E12-412A-8F81-5931E4C1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06F22E-989B-420B-8FB1-B625C777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62F1A0-1A3B-4258-B44A-5196B915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273B20-4B9D-46C5-8246-977D881A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C4299F-D825-45D3-B973-3943B2EA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C968E0-CE06-48C6-AE2A-B57AEDBA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A7D5A3-F929-4C27-92F5-75C34AA4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3F05C7-C98B-4941-9153-2829823F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91FDB0-726B-4FE2-9354-40B90428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C23F94-FF30-4D51-8C05-4534B3D8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62D786-EA16-48A3-8528-C21BDA7E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9E4ABA-9FCD-4A03-8AA3-043F6210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C235E2-F433-413F-A0E1-8644D803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E19EAF-EB96-42F2-B49A-D85575A3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2930B551-57C6-4D3E-8D2B-7B4964BB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白00  红01  黄10  绿11</a:t>
            </a:r>
          </a:p>
        </p:txBody>
      </p:sp>
      <p:sp>
        <p:nvSpPr>
          <p:cNvPr id="54" name="text-53">
            <a:extLst xmlns:a="http://schemas.openxmlformats.org/drawingml/2006/main">
              <a:ext uri="{FF2B5EF4-FFF2-40B4-BE49-F238E27FC236}">
                <a16:creationId xmlns:a16="http://schemas.microsoft.com/office/drawing/2014/main" id="{93287097-D5CD-4E64-A6E5-E8508001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从左到右读第四行</a:t>
            </a:r>
          </a:p>
        </p:txBody>
      </p:sp>
    </p:spTree>
    <p:extLst>
      <p:ext uri="{BB962C8B-B14F-4D97-AF65-F5344CB8AC3E}">
        <p14:creationId xmlns:p14="http://schemas.microsoft.com/office/powerpoint/2010/main" val="865511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75D69E-8F76-4399-BBFF-07E45D6C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7F56E-13CA-419A-8AB8-AAEB2B48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24F99A9-62E5-46CE-B870-D43F6B7F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第四行，怎样写成二进制？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EF518-A210-4566-97EA-2B8C6595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AA5DF-B2D8-41FD-8F75-33F9D543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588EB-2A6A-4B78-A044-5FC997B3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81422-E91F-4D88-8B9C-E0B11873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FFA78-401E-428D-817F-D14D1E30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029B3-C436-4395-B243-AC5183E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47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CF98A-130C-48AF-837B-DDCFC5B9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813AF-AD99-4A8E-A002-672FCF04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AEFB8-15F1-48A6-9C13-B8FE3CB7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4BEA4-AE69-4FB5-8CEA-A8545397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66FF3-7510-41D0-A395-239F4B38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5EA88-0020-4E3F-87EA-AFF9BEE5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35348-0ECA-4978-A353-8BBD2BF6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29B610-FC33-475D-8539-73EE20F6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AB247-5604-44F2-A8E0-76242B7C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A0B9E-DC4C-4BF2-8E13-B66D65F1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83727-4E83-4A10-AC94-63FD6240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3764AD-E437-4728-B585-87E0DDE4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A3C0A-DE23-4D8D-AD82-2B18B3F8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28A495-DDD9-4047-A63B-64691211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10AF9-EBBE-4AAF-A965-4DFB558F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B39DF2-D475-4422-BD47-907A9284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14C542-C4FB-49B5-90F4-0646FDA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AAB33E-F0DE-47C6-BECA-A6E9FD6B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4AEEEE-1F37-430F-8426-FE5905FD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2446FE-9C81-4C5A-9ED3-4513F15C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1FE973-4775-4EBB-AE83-36790A5A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EC7E78-928F-4656-A895-F8DF8E3A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368854-D6EC-4209-8361-F4A00EE6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0EE1A4-2A77-444D-9C2E-1A78F9DB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62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414981-A17C-48F9-9B56-B922E376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E73C9B-264A-442C-8876-822DB5B7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F75079-A31D-4F82-B29B-BD463B57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15B1A4-4F1B-42F8-8BFE-3F59F6F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200C2E-B522-4136-A545-06D07112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4FA274-9E12-412A-8F81-5931E4C1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06F22E-989B-420B-8FB1-B625C777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62F1A0-1A3B-4258-B44A-5196B915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273B20-4B9D-46C5-8246-977D881A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C4299F-D825-45D3-B973-3943B2EA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C968E0-CE06-48C6-AE2A-B57AEDBA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A7D5A3-F929-4C27-92F5-75C34AA4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9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3F05C7-C98B-4941-9153-2829823F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91FDB0-726B-4FE2-9354-40B90428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C23F94-FF30-4D51-8C05-4534B3D8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62D786-EA16-48A3-8528-C21BDA7E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9E4ABA-9FCD-4A03-8AA3-043F6210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C235E2-F433-413F-A0E1-8644D803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E19EAF-EB96-42F2-B49A-D85575A3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  <a:prstDash val="solid"/>
          </a:ln>
        </p:spPr>
      </p:sp>
      <p:sp>
        <p:nvSpPr>
          <p:cNvPr id="53" name="text-52">
            <a:extLst xmlns:a="http://schemas.openxmlformats.org/drawingml/2006/main">
              <a:ext uri="{FF2B5EF4-FFF2-40B4-BE49-F238E27FC236}">
                <a16:creationId xmlns:a16="http://schemas.microsoft.com/office/drawing/2014/main" id="{2930B551-57C6-4D3E-8D2B-7B4964BB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860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白00  红01  黄10  绿11</a:t>
            </a:r>
          </a:p>
        </p:txBody>
      </p:sp>
      <p:sp>
        <p:nvSpPr>
          <p:cNvPr id="54" name="text-53">
            <a:extLst xmlns:a="http://schemas.openxmlformats.org/drawingml/2006/main">
              <a:ext uri="{FF2B5EF4-FFF2-40B4-BE49-F238E27FC236}">
                <a16:creationId xmlns:a16="http://schemas.microsoft.com/office/drawing/2014/main" id="{93287097-D5CD-4E64-A6E5-E8508001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从左到右读第四行</a:t>
            </a:r>
          </a:p>
        </p:txBody>
      </p:sp>
      <p:sp>
        <p:nvSpPr>
          <p:cNvPr id="55" name="text-54">
            <a:extLst xmlns:a="http://schemas.openxmlformats.org/drawingml/2006/main">
              <a:ext uri="{FF2B5EF4-FFF2-40B4-BE49-F238E27FC236}">
                <a16:creationId xmlns:a16="http://schemas.microsoft.com/office/drawing/2014/main" id="{D8938C11-7F86-425A-9C19-1406C5C6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33875"/>
            <a:ext cx="676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01  01  10  10  01  01</a:t>
            </a:r>
          </a:p>
        </p:txBody>
      </p:sp>
      <p:sp>
        <p:nvSpPr>
          <p:cNvPr id="56" name="text-55">
            <a:extLst xmlns:a="http://schemas.openxmlformats.org/drawingml/2006/main">
              <a:ext uri="{FF2B5EF4-FFF2-40B4-BE49-F238E27FC236}">
                <a16:creationId xmlns:a16="http://schemas.microsoft.com/office/drawing/2014/main" id="{92A538F7-ABCD-47D1-A81B-1DB5D8B8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340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6个像素，每个2bit，共12bit</a:t>
            </a:r>
          </a:p>
        </p:txBody>
      </p:sp>
    </p:spTree>
    <p:extLst>
      <p:ext uri="{BB962C8B-B14F-4D97-AF65-F5344CB8AC3E}">
        <p14:creationId xmlns:p14="http://schemas.microsoft.com/office/powerpoint/2010/main" val="865511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BE453-FAF0-41AE-B99E-0A9BC675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9A96A-A672-4AD4-A1DC-846354DA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5A139CC-A962-49EB-9D04-C28DC167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5874BE-F632-42A3-A350-D71D743E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5CA4BCC-2983-4730-8658-3CD67DAE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矢量图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76737AC-2667-4B53-9D37-E6341A45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放大后，边缘会怎样？</a:t>
            </a:r>
          </a:p>
        </p:txBody>
      </p:sp>
    </p:spTree>
    <p:extLst>
      <p:ext uri="{BB962C8B-B14F-4D97-AF65-F5344CB8AC3E}">
        <p14:creationId xmlns:p14="http://schemas.microsoft.com/office/powerpoint/2010/main" val="17811900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4BE453-FAF0-41AE-B99E-0A9BC675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9A96A-A672-4AD4-A1DC-846354DA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5A139CC-A962-49EB-9D04-C28DC167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位图和矢量图放大后有什么不同？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5874BE-F632-42A3-A350-D71D743E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位图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5CA4BCC-2983-4730-8658-3CD67DAE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4787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矢量图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76737AC-2667-4B53-9D37-E6341A45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放大后，边缘会怎样？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91D22-7E3A-42E4-AD25-A8E21FE8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2733B-3D5B-4C28-ABD6-CE32460B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25CF9-6D33-4A6C-BAA1-91CC2211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06217-C129-4C42-9101-53513E7F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1359F-9AA5-465D-97CB-B8882BCC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003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95477-F5FC-4963-A088-E21075F6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38726-240E-4DC1-8508-A6DA2FB4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E2A63-0E00-4E1E-8D65-E167DD0B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AE391-2243-4D13-8C96-ADC59DDE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641E1-F463-4D6B-A890-6608D43A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004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83236-82B5-4875-8059-48723368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4DB5F-815F-4BD9-B363-382E03CC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90F36-7930-469F-A6DD-0ED7F021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AE7CF-F23C-462B-BB7B-819106E7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6C6AE-217B-492A-9C67-2C93F7C6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004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0F855-6104-4899-9B45-824CF6FE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4E555-F789-4CAA-882F-C7DCE6A9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30F2F5-FCCF-4BDC-B313-69FA4ED4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A442AD-3F06-441D-8542-8E1BF12A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18EB49-5541-4988-95A8-13E8274C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005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95764D-A70B-402B-8801-ACD58295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2CBBF5-5AE3-49B8-857F-E4318F49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599EAA-4695-444C-BAB0-FF2D6AE8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082CBD-6F13-4353-85CF-58B17C89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554A19-A345-47B9-9C1D-9B15F7CE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6005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DD2AA3-9B16-4220-BE04-63F5FA40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429500" y="2905125"/>
            <a:ext cx="2000250" cy="2000250"/>
          </a:xfrm>
          <a:prstGeom xmlns:a="http://schemas.openxmlformats.org/drawingml/2006/main" prst="line">
            <a:avLst/>
          </a:prstGeom>
          <a:ln xmlns:a="http://schemas.openxmlformats.org/drawingml/2006/main" w="66675">
            <a:solidFill>
              <a:srgbClr val="8C64E1"/>
            </a:solidFill>
            <a:prstDash val="solid"/>
          </a:ln>
        </p:spPr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7C70D3FA-2C3D-43FE-B311-6D5C4102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2912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像素点阵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028A268D-6029-4EFC-A26E-A6441484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29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重新绘制边界</a:t>
            </a:r>
          </a:p>
        </p:txBody>
      </p:sp>
    </p:spTree>
    <p:extLst>
      <p:ext uri="{BB962C8B-B14F-4D97-AF65-F5344CB8AC3E}">
        <p14:creationId xmlns:p14="http://schemas.microsoft.com/office/powerpoint/2010/main" val="17811900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5582EC-F83A-4A80-8746-54FE5E9F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DCE4F-C05B-4F8F-B37B-C6D11506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73323F8-88FB-4A0E-A1C9-0C6765F3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分辨率不变，还能怎样改进颜色？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F2B48-7CB5-482E-9D5E-08E27BFF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FCA59-3557-4B88-A01B-BF189B4D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A7DE5-A44A-499D-8510-8B51352F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C2758-7660-4E2A-8495-5AC87435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BBD1C-3CCE-484D-A152-42D79ED0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9E2DF-5A10-44B5-90E2-32018DD7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26755-AB57-4D1B-94F0-DB698CAD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710B7-2E40-407D-9471-4BA1FD3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7395B-F578-4D4B-AA3B-6CBAE3CF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4DA11-50E2-4D8F-9341-A1717B60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6D46C-3A4E-48DB-9B2E-08BEEA30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5D9F3-2C86-41F6-8E4C-AE96214A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DB8BF-7151-4116-890F-690468D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BC20A-ACEE-4AC1-9B57-2080DC8E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3B026-36B0-446D-A2C7-CC414B5D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BA774-18CB-447E-8261-28C9A514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7FE8A0-9565-4196-82E3-19698060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8010A5-5B10-4A24-A256-01966EC9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2FCAF-FA28-4602-9D19-2E991F07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3E128-67CB-4077-9E2A-29661605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A1BC2-00ED-4B4A-9CEF-8F17B5D7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FA5472-A10A-4D6C-B65F-A652FEE5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8E434B-372D-4F57-B49D-EE42DD02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9C4EB7-8177-4867-AAD0-76F03E7B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942593-43CD-4688-AE73-E678207F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44C987-9EBB-4FFE-AAA3-034A991A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E072C1-7EC6-4957-BE48-DA22C8F0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B72D65-6969-4663-AC30-4B3DAC92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7A579C-B788-46C8-BF32-BAE4B1DD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3E7ACA-BD12-4460-920B-D20B75B5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68EAA8-4626-492A-AE2C-394D9128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025AD8-0760-499F-A5AD-4B2D21B0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1372F9-CDC0-4ACD-9AD6-084CDA14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000057-C03B-41A0-AB69-17358059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3CFC13-7CB6-4D79-B0DA-4F1E85F4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8DA7E9-11AD-4FBF-B39C-1291B8A0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6B1A44-FE4B-45CE-AB92-1C1890DD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6D1F88-A686-43C9-A165-60CB0DB6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5E9C76-2CC4-4453-A440-EC2E75F1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6E7087-E831-45B5-A5FD-1EADA875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C2F7A9-E281-438C-A78D-A77FAFF8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56685A-3CFC-4E16-B0EA-2B7F513F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2F9D1F-DF9D-41C9-914E-67C365F5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009831-29D5-4CB4-8AB9-6F01F8D8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ED9826-DB30-4F75-BD35-070B3ABE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E6A6C2-6B3D-4126-9EC8-92813E96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9153B2-7FD6-4FC4-B984-91FB5AA1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78C8B7-2102-4646-A633-C7C26F26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text-51">
            <a:extLst xmlns:a="http://schemas.openxmlformats.org/drawingml/2006/main">
              <a:ext uri="{FF2B5EF4-FFF2-40B4-BE49-F238E27FC236}">
                <a16:creationId xmlns:a16="http://schemas.microsoft.com/office/drawing/2014/main" id="{B4CD2A8C-85E5-4EB8-A18F-26D4A7EB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78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6×8 · 4种颜色</a:t>
            </a:r>
          </a:p>
        </p:txBody>
      </p:sp>
    </p:spTree>
    <p:extLst>
      <p:ext uri="{BB962C8B-B14F-4D97-AF65-F5344CB8AC3E}">
        <p14:creationId xmlns:p14="http://schemas.microsoft.com/office/powerpoint/2010/main" val="6512759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05582EC-F83A-4A80-8746-54FE5E9F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DCE4F-C05B-4F8F-B37B-C6D11506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73323F8-88FB-4A0E-A1C9-0C6765F3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分辨率不变，还能怎样改进颜色？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F2B48-7CB5-482E-9D5E-08E27BFF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FCA59-3557-4B88-A01B-BF189B4D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A7DE5-A44A-499D-8510-8B51352F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C2758-7660-4E2A-8495-5AC87435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BBD1C-3CCE-484D-A152-42D79ED0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9E2DF-5A10-44B5-90E2-32018DD7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26755-AB57-4D1B-94F0-DB698CAD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710B7-2E40-407D-9471-4BA1FD3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7395B-F578-4D4B-AA3B-6CBAE3CF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4DA11-50E2-4D8F-9341-A1717B60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6D46C-3A4E-48DB-9B2E-08BEEA30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5D9F3-2C86-41F6-8E4C-AE96214A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DB8BF-7151-4116-890F-690468D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BC20A-ACEE-4AC1-9B57-2080DC8E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3B026-36B0-446D-A2C7-CC414B5D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BA774-18CB-447E-8261-28C9A514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7FE8A0-9565-4196-82E3-19698060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8010A5-5B10-4A24-A256-01966EC9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2FCAF-FA28-4602-9D19-2E991F07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3E128-67CB-4077-9E2A-29661605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9A1BC2-00ED-4B4A-9CEF-8F17B5D7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FA5472-A10A-4D6C-B65F-A652FEE5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8E434B-372D-4F57-B49D-EE42DD02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9C4EB7-8177-4867-AAD0-76F03E7B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942593-43CD-4688-AE73-E678207F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44C987-9EBB-4FFE-AAA3-034A991A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E072C1-7EC6-4957-BE48-DA22C8F0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B72D65-6969-4663-AC30-4B3DAC92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7A579C-B788-46C8-BF32-BAE4B1DD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3E7ACA-BD12-4460-920B-D20B75B5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68EAA8-4626-492A-AE2C-394D9128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025AD8-0760-499F-A5AD-4B2D21B0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1372F9-CDC0-4ACD-9AD6-084CDA14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000057-C03B-41A0-AB69-17358059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3CFC13-7CB6-4D79-B0DA-4F1E85F4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8DA7E9-11AD-4FBF-B39C-1291B8A0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6B1A44-FE4B-45CE-AB92-1C1890DD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6D1F88-A686-43C9-A165-60CB0DB6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5E9C76-2CC4-4453-A440-EC2E75F1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6E7087-E831-45B5-A5FD-1EADA875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C2F7A9-E281-438C-A78D-A77FAFF8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56685A-3CFC-4E16-B0EA-2B7F513F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2F9D1F-DF9D-41C9-914E-67C365F5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009831-29D5-4CB4-8AB9-6F01F8D8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ED9826-DB30-4F75-BD35-070B3ABE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E6A6C2-6B3D-4126-9EC8-92813E96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9153B2-7FD6-4FC4-B984-91FB5AA1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78C8B7-2102-4646-A633-C7C26F26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text-51">
            <a:extLst xmlns:a="http://schemas.openxmlformats.org/drawingml/2006/main">
              <a:ext uri="{FF2B5EF4-FFF2-40B4-BE49-F238E27FC236}">
                <a16:creationId xmlns:a16="http://schemas.microsoft.com/office/drawing/2014/main" id="{B4CD2A8C-85E5-4EB8-A18F-26D4A7EB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78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6×8 · 4种颜色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0D22B8-B336-4A09-AFA0-E0054CE8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402839-0247-421B-ABE1-85BF48A4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891444-3D48-49B1-84B3-1E6D8FFF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B5E188-8027-4262-9D82-3A5F1DBD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54666B-C198-450F-8FE9-D1140E99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023298-C44C-4A37-B0C8-5C4FD3A2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38D5B2-7033-4E0E-81D9-97C02B7F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B52866-9E68-438C-83B9-58F28980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47E170C-2686-499C-B893-01B69E43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85C7F8-5A27-46DC-93EF-696AAB3F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5C59781-D196-49B4-9A05-D404512E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03FAC37-643A-4EA7-9958-A270DFC6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193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EB62EE-5857-43F6-8E37-943A651B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EC5FDB-6141-4D4A-82C0-CB3874E3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FCAFE57-F9BB-41FE-87AE-576212B9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64F9EC3-6534-4FD0-9874-C02F1840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5F6AA5-C4F8-4F59-A8C6-374C1264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C06AF2B-A5CF-4714-93B2-226D38AB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C297D9-B6DB-4893-9BDE-FA18FA0C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8A5E9F-2987-4B59-A194-D11CE225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2675C41-2CFA-4DD4-9788-907C2F9A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77AB679-383A-4FB4-96BF-A2901DCD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F983130-AB25-4EF6-9951-09E1C7AF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2F7F5B8-1F38-48D3-8498-181DD7A7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766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F125E2D-8417-45B7-866B-B44F851F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7B7C2C2-A58B-4B6E-911C-366B125B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1B8E3B1-070B-480A-8163-1F7E3F8F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EE1F534-B389-4E4B-9B0F-46EE8B12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33B04F4-B93D-475B-9F6F-D3488D5D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F6FF8B0-8102-4B88-8D53-F7B8263F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052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2AA36CA-F04E-48B9-97D4-EAE20525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AEC41C4-E4EE-4C42-99CD-42DF698B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48C5705-92B5-4E5E-B482-3E8FEC33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3C3B2CF-8CD6-4149-87EF-D46E6D38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F50D0AF-BDC8-40D3-BF2C-598F4259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51D913C-F018-489F-9884-C0E19529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3387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B7AAEBA-F877-4DB4-A0BF-7DE204EF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2AB33D6-1FE3-4D22-9FEE-07B3CAEA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3CFED70-2BA7-483D-A845-650F40BA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7CF5D28-7D68-49A4-B552-5986792E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011375C-22A3-4FD7-A5AA-C6A0248A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D3FC353-7D46-4A6C-8292-41709B12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BB9A1B7-962A-47EB-98A6-3037A3E9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A44A80A-4DAB-49DB-A012-EE4B9B54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2E9E0F4-7603-4D91-A3AA-3C755164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BF99587-6638-4A40-9394-E1AC0254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5E1D7F5-1138-4BAE-A88C-22DD0A55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3238583-67C6-407C-A181-3772014A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91125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83C05734-8066-43DD-899F-8688F715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78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6×8 · 6种颜色</a:t>
            </a:r>
          </a:p>
        </p:txBody>
      </p:sp>
    </p:spTree>
    <p:extLst>
      <p:ext uri="{BB962C8B-B14F-4D97-AF65-F5344CB8AC3E}">
        <p14:creationId xmlns:p14="http://schemas.microsoft.com/office/powerpoint/2010/main" val="65127592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A83FD-3570-41C9-BB48-0E944319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83D35-EC6D-4436-960B-1E1C10D6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BDEA939-B426-4EF1-A216-BCF06592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六种颜色，至少需要几个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70B47-9B66-4EBC-80ED-B57D00DE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75C79-8699-4062-B7E0-2D6D64DE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77F81-25F4-4D1C-88D8-F1E889FB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5A852-0BC4-465C-A2D9-B822F699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EC6A8-CB0E-4F1E-A021-41A5201B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6E451-F47E-41CD-98C4-1F30A8A6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72886E3-0017-4823-9290-F8D42094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保持6×8个位置不变</a:t>
            </a:r>
          </a:p>
        </p:txBody>
      </p:sp>
    </p:spTree>
    <p:extLst>
      <p:ext uri="{BB962C8B-B14F-4D97-AF65-F5344CB8AC3E}">
        <p14:creationId xmlns:p14="http://schemas.microsoft.com/office/powerpoint/2010/main" val="14753083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A83FD-3570-41C9-BB48-0E944319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83D35-EC6D-4436-960B-1E1C10D6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BDEA939-B426-4EF1-A216-BCF06592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六种颜色，至少需要几个 bit？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70B47-9B66-4EBC-80ED-B57D00DE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75C79-8699-4062-B7E0-2D6D64DE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77F81-25F4-4D1C-88D8-F1E889FB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5A852-0BC4-465C-A2D9-B822F699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EC6A8-CB0E-4F1E-A021-41A5201B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6E451-F47E-41CD-98C4-1F30A8A6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76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72886E3-0017-4823-9290-F8D42094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保持6×8个位置不变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731EC43-93E5-4B13-9993-277A7270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386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2² = 4 &lt; 6 ≤ 8 = 2³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E4AC235-5B30-49A6-AF1C-A51BB2F0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最少3bit；8个码字中使用6个</a:t>
            </a:r>
          </a:p>
        </p:txBody>
      </p:sp>
    </p:spTree>
    <p:extLst>
      <p:ext uri="{BB962C8B-B14F-4D97-AF65-F5344CB8AC3E}">
        <p14:creationId xmlns:p14="http://schemas.microsoft.com/office/powerpoint/2010/main" val="14753083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A67E959-23CA-46B6-A000-04F0D306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97649-6C69-4545-B578-6E0DA65B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AE2A516-02AF-4628-9E3B-65F13263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三轮花朵实验说明了什么？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41DFB-B9E2-44CD-A04B-41F27FA5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E3365-2FDB-4206-8EB5-CD2CD562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D2EDB-B210-4583-932E-834B25C2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FBFF0-005A-4190-BBD2-BBC0FB72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07D60-FCF5-458C-A359-E5D1A7F1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896DA-34AA-4430-BAE5-96146445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28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8BDC3-156C-44B7-BC9F-9E027802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05B4F-1264-4261-B399-59BA98FF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62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5D0C2-10EE-4BA7-9BF7-F1CBFD10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D902F-64CB-4896-96D0-10FEF195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49459-7161-481C-8B66-564BDD6E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CFBA3-0942-48B7-8AF6-71E25BD8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95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6CD70-CF37-4D87-B513-13DF7CDA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9D2F2-D77C-4EB0-92BD-87A08E04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133BD-45EE-4CB2-A2EC-88F7E897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D9B16-4BC7-41DA-8935-8D1A544A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CBD9A-AC1F-4752-A0BB-8376DE9D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D191C-F348-46B1-8239-E3E72E9E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50AAF-6379-480C-BBF4-2C3E67B2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8460A-24EE-40CF-8637-9FD2536A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A2116-9A1C-4CA4-9276-880ABA13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28CAB5-2BA8-44D3-ACD9-7C822258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9CBAD5-120C-4673-9C3B-C0CF2958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1A6E1E-0FA1-423F-A6B8-82BB7F02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FBDE7F-B770-4DB9-AFD3-5138221D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84AB7D-2413-40B2-AB86-4D558541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1160E5-AB27-4645-866A-BC711D47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02CDBF-70EF-47C5-9296-DA29A0CA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97B8BF-9485-4B65-AE4B-52E626AA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1094F3-846B-4015-BC2B-2EF5B98C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8E274E-8105-4861-AD13-9DD8C6B9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F3AE90-B54F-42F4-893E-E8A340D9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29A975-0629-4941-9157-549431EA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474A8B-3562-4C6C-8EBE-388BA012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74A756-18E0-4D94-A205-E369A7DD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6DFD8F-05F2-459F-9340-B00CE6CE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F0EF51-0183-4CCA-97C5-68DFE72E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CE94F5-BAF9-4DE3-838F-E5A5A7BA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166027-5421-48F8-BCE5-2FF85154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7B2BA3-7CCF-47A3-80FD-34F68966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74D870-705D-4512-81D1-A795BB47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4D809A-4BD9-430E-AB6E-0CB6F3BC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1FAE6D-D53C-414D-AD6E-5E70C7EC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7ADD18-E647-450C-B6F0-FF5484C4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14A9DC-8351-4481-ABBA-054FAD77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C0D969-5813-4222-8E1B-0CF9551A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3949FC-D2C9-409C-B8AB-C0040871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2E5095-F16A-4F8C-A2C6-EDB996F9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F7F946-EFBA-4BFB-94B9-B82B4BAA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5C6958-3510-4E11-BDBD-CB8F471A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E5A906-422D-476D-9DC3-C5E53973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BA5559-398C-47CB-A2D3-830CBE43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014D67-AF18-48D4-8C47-55ABDA67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13AA96-09E9-4CB5-BAC0-ABB71D1B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F8A2687-00CD-44EC-B0D8-009F6856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D520F7-0076-438A-ACB0-6B5F1E0C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835D90-3A65-4B4C-B451-7AACDB0E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CAA105-6871-41D6-ADC9-6164426F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9CA174-D98A-4DA3-A122-1F5C5728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F4D64A-9360-4E7A-BC8A-C7713913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0116B9-4E7C-4C6F-872E-F711B125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B855D29-D39F-405F-9FF5-8777565C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6D6E998-36E8-492F-83A3-D8740277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10AC42E-87FA-4349-9223-F0DFB9CD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B298CF-018C-4029-A334-A86567B8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A0766D6-BB00-4DF3-B185-D5F10C26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0D102E-494B-4AEF-9402-E791E891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54A9E6E-5406-4C67-AB87-0770F5E7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9770DBB-2021-42C9-AE82-F2045AA9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B35D17-7656-4146-97DB-684DA261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86F997E-3C32-4929-978D-CBCAADBF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2710007-7D44-41C6-835D-47E9ABE8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1FDC11-8E39-42AB-A7EB-5D2FBF36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1EFD13D-0677-44E1-ABCE-12359B54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7D7A42C-9CE0-4F4A-8371-7160D53D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310DC9C-82E5-47AE-A466-710B84E4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DF1950D-A34C-4420-881C-5654B344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B8B1FBF-EED1-4821-A712-A834FEF4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E777386-5D16-498D-A456-838FECDC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1031220-A34A-46E6-B11C-E42C7F14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ADF500E-CC69-4CF5-A05C-5CBC05CC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A49938E-085B-4786-9A6B-E3A4A5FB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9E89FE0-D58C-43D8-A5D7-9444BC9F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FA537D4-00B1-4DBC-8C29-31BDE33E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B16BEC-4103-4ECB-9724-99EFB71E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EAC221C-FB17-4620-83BD-E3F2D5E5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2874AE9-F441-4A85-9DE3-3EC55BB9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F54535D-6B62-4708-BFC3-7968CA24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64988AC-7447-41FF-BA1B-AA475D65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0F70063-E516-4646-951A-EE7DC18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CBF3178-004A-4D0C-B02B-90E9B014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27258C9-229A-4F84-93DC-48D5B9DA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C982D58-46CB-4B3E-8CCA-B8FE8C3C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2F80DE6-2C75-41BD-9BF7-D920421A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2F651F1-9B99-4589-8D17-3BC889CF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8BC775A-7536-4F64-B459-F1C9C847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9E8C734-3834-46CD-8021-F26DA65D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440850F-016E-4CEB-BE89-E3CA2CF5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5E2A8B7-66B5-4490-B7BE-C5B29955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30C3306-F9EC-489F-9587-6BD2B32D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65C83A8-51B2-4E7C-9146-B47ABB6F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0086378-5373-4EC3-A2EB-8E7C51F7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242DA41-8607-4626-960F-116AFF68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91938D0-3648-4415-BABC-9B599AFF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AC8FEFD-097B-474B-811E-D3C2C4A4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2677021-E60D-4FA1-A72C-DB093D86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FE624A3-DD81-40D1-B23B-B2BC66CD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A589563-48CE-4CF2-A3A3-53BC6087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text-111">
            <a:extLst xmlns:a="http://schemas.openxmlformats.org/drawingml/2006/main">
              <a:ext uri="{FF2B5EF4-FFF2-40B4-BE49-F238E27FC236}">
                <a16:creationId xmlns:a16="http://schemas.microsoft.com/office/drawing/2014/main" id="{09C18460-A440-43DD-8B8B-99E8F523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编码三步：</a:t>
            </a:r>
          </a:p>
        </p:txBody>
      </p: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746A97B1-89F4-48AD-BB72-9B0B225B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4337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______  ② ______  ③ ______</a:t>
            </a:r>
          </a:p>
        </p:txBody>
      </p:sp>
      <p:sp>
        <p:nvSpPr>
          <p:cNvPr id="114" name="text-113">
            <a:extLst xmlns:a="http://schemas.openxmlformats.org/drawingml/2006/main">
              <a:ext uri="{FF2B5EF4-FFF2-40B4-BE49-F238E27FC236}">
                <a16:creationId xmlns:a16="http://schemas.microsoft.com/office/drawing/2014/main" id="{9AC72F3C-704A-49DC-B560-69BE1F2A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分辨率提高，同样区域内的格子怎样变化？</a:t>
            </a:r>
          </a:p>
        </p:txBody>
      </p:sp>
    </p:spTree>
    <p:extLst>
      <p:ext uri="{BB962C8B-B14F-4D97-AF65-F5344CB8AC3E}">
        <p14:creationId xmlns:p14="http://schemas.microsoft.com/office/powerpoint/2010/main" val="18223624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A67E959-23CA-46B6-A000-04F0D306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97649-6C69-4545-B578-6E0DA65B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AE2A516-02AF-4628-9E3B-65F13263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三轮花朵实验说明了什么？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41DFB-B9E2-44CD-A04B-41F27FA5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E3365-2FDB-4206-8EB5-CD2CD562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D2EDB-B210-4583-932E-834B25C2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FBFF0-005A-4190-BBD2-BBC0FB72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07D60-FCF5-458C-A359-E5D1A7F1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896DA-34AA-4430-BAE5-96146445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2887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8BDC3-156C-44B7-BC9F-9E027802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05B4F-1264-4261-B399-59BA98FF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62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5D0C2-10EE-4BA7-9BF7-F1CBFD10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62250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D902F-64CB-4896-96D0-10FEF195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49459-7161-481C-8B66-564BDD6E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CFBA3-0942-48B7-8AF6-71E25BD8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95625"/>
            <a:ext cx="333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6CD70-CF37-4D87-B513-13DF7CDA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9D2F2-D77C-4EB0-92BD-87A08E04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133BD-45EE-4CB2-A2EC-88F7E897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D9B16-4BC7-41DA-8935-8D1A544A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CBD9A-AC1F-4752-A0BB-8376DE9D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D191C-F348-46B1-8239-E3E72E9E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50AAF-6379-480C-BBF4-2C3E67B2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48460A-24EE-40CF-8637-9FD2536A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A2116-9A1C-4CA4-9276-880ABA13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28CAB5-2BA8-44D3-ACD9-7C822258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9CBAD5-120C-4673-9C3B-C0CF2958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1A6E1E-0FA1-423F-A6B8-82BB7F02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FBDE7F-B770-4DB9-AFD3-5138221D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84AB7D-2413-40B2-AB86-4D558541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1160E5-AB27-4645-866A-BC711D47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02CDBF-70EF-47C5-9296-DA29A0CA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97B8BF-9485-4B65-AE4B-52E626AA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1094F3-846B-4015-BC2B-2EF5B98C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8E274E-8105-4861-AD13-9DD8C6B9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F3AE90-B54F-42F4-893E-E8A340D9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29A975-0629-4941-9157-549431EA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474A8B-3562-4C6C-8EBE-388BA012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74A756-18E0-4D94-A205-E369A7DD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6DFD8F-05F2-459F-9340-B00CE6CE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F0EF51-0183-4CCA-97C5-68DFE72E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CE94F5-BAF9-4DE3-838F-E5A5A7BA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166027-5421-48F8-BCE5-2FF85154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7B2BA3-7CCF-47A3-80FD-34F68966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74D870-705D-4512-81D1-A795BB47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4D809A-4BD9-430E-AB6E-0CB6F3BC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1FAE6D-D53C-414D-AD6E-5E70C7EC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7ADD18-E647-450C-B6F0-FF5484C4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14A9DC-8351-4481-ABBA-054FAD77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C0D969-5813-4222-8E1B-0CF9551A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3949FC-D2C9-409C-B8AB-C0040871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2E5095-F16A-4F8C-A2C6-EDB996F9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F7F946-EFBA-4BFB-94B9-B82B4BAA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5C6958-3510-4E11-BDBD-CB8F471A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E5A906-422D-476D-9DC3-C5E53973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BA5559-398C-47CB-A2D3-830CBE43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014D67-AF18-48D4-8C47-55ABDA67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13AA96-09E9-4CB5-BAC0-ABB71D1B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F8A2687-00CD-44EC-B0D8-009F6856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D520F7-0076-438A-ACB0-6B5F1E0C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835D90-3A65-4B4C-B451-7AACDB0E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CAA105-6871-41D6-ADC9-6164426F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9CA174-D98A-4DA3-A122-1F5C5728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F4D64A-9360-4E7A-BC8A-C7713913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0116B9-4E7C-4C6F-872E-F711B125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B855D29-D39F-405F-9FF5-8777565C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6D6E998-36E8-492F-83A3-D8740277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10AC42E-87FA-4349-9223-F0DFB9CD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EB298CF-018C-4029-A334-A86567B8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A0766D6-BB00-4DF3-B185-D5F10C26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0D102E-494B-4AEF-9402-E791E891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54A9E6E-5406-4C67-AB87-0770F5E7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9770DBB-2021-42C9-AE82-F2045AA9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B35D17-7656-4146-97DB-684DA261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86F997E-3C32-4929-978D-CBCAADBF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2710007-7D44-41C6-835D-47E9ABE8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6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1FDC11-8E39-42AB-A7EB-5D2FBF36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1EFD13D-0677-44E1-ABCE-12359B54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7D7A42C-9CE0-4F4A-8371-7160D53D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310DC9C-82E5-47AE-A466-710B84E4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DF1950D-A34C-4420-881C-5654B344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B8B1FBF-EED1-4821-A712-A834FEF4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E777386-5D16-498D-A456-838FECDC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1031220-A34A-46E6-B11C-E42C7F14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ADF500E-CC69-4CF5-A05C-5CBC05CC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A49938E-085B-4786-9A6B-E3A4A5FB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B29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9E89FE0-D58C-43D8-A5D7-9444BC9F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FA537D4-00B1-4DBC-8C29-31BDE33E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098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B16BEC-4103-4ECB-9724-99EFB71E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EAC221C-FB17-4620-83BD-E3F2D5E5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2874AE9-F441-4A85-9DE3-3EC55BB9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F54535D-6B62-4708-BFC3-7968CA24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1825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64988AC-7447-41FF-BA1B-AA475D65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0F70063-E516-4646-951A-EE7DC18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CBF3178-004A-4D0C-B02B-90E9B014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27258C9-229A-4F84-93DC-48D5B9DA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C982D58-46CB-4B3E-8CCA-B8FE8C3C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2F80DE6-2C75-41BD-9BF7-D920421A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2F651F1-9B99-4589-8D17-3BC889CF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8BC775A-7536-4F64-B459-F1C9C847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9E8C734-3834-46CD-8021-F26DA65D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440850F-016E-4CEB-BE89-E3CA2CF5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5E2A8B7-66B5-4490-B7BE-C5B29955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30C3306-F9EC-489F-9587-6BD2B32D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65C83A8-51B2-4E7C-9146-B47ABB6F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0086378-5373-4EC3-A2EB-8E7C51F7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24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242DA41-8607-4626-960F-116AFF68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91938D0-3648-4415-BABC-9B599AFF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AC8FEFD-097B-474B-811E-D3C2C4A4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2677021-E60D-4FA1-A72C-DB093D86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FE624A3-DD81-40D1-B23B-B2BC66CD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A589563-48CE-4CF2-A3A3-53BC6087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12" name="text-111">
            <a:extLst xmlns:a="http://schemas.openxmlformats.org/drawingml/2006/main">
              <a:ext uri="{FF2B5EF4-FFF2-40B4-BE49-F238E27FC236}">
                <a16:creationId xmlns:a16="http://schemas.microsoft.com/office/drawing/2014/main" id="{09C18460-A440-43DD-8B8B-99E8F523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编码三步：</a:t>
            </a:r>
          </a:p>
        </p:txBody>
      </p:sp>
      <p:sp>
        <p:nvSpPr>
          <p:cNvPr id="113" name="text-112">
            <a:extLst xmlns:a="http://schemas.openxmlformats.org/drawingml/2006/main">
              <a:ext uri="{FF2B5EF4-FFF2-40B4-BE49-F238E27FC236}">
                <a16:creationId xmlns:a16="http://schemas.microsoft.com/office/drawing/2014/main" id="{746A97B1-89F4-48AD-BB72-9B0B225B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4337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______  ② ______  ③ ______</a:t>
            </a:r>
          </a:p>
        </p:txBody>
      </p:sp>
      <p:sp>
        <p:nvSpPr>
          <p:cNvPr id="114" name="text-113">
            <a:extLst xmlns:a="http://schemas.openxmlformats.org/drawingml/2006/main">
              <a:ext uri="{FF2B5EF4-FFF2-40B4-BE49-F238E27FC236}">
                <a16:creationId xmlns:a16="http://schemas.microsoft.com/office/drawing/2014/main" id="{9AC72F3C-704A-49DC-B560-69BE1F2A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分辨率提高，同样区域内的格子怎样变化？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A55B3C2-97A7-46F0-9989-02246440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43375"/>
            <a:ext cx="8001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text-115">
            <a:extLst xmlns:a="http://schemas.openxmlformats.org/drawingml/2006/main">
              <a:ext uri="{FF2B5EF4-FFF2-40B4-BE49-F238E27FC236}">
                <a16:creationId xmlns:a16="http://schemas.microsoft.com/office/drawing/2014/main" id="{149D0FDE-E043-4E1B-A19A-78133C0E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4337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① 采样     ② 量化     ③ 编码</a:t>
            </a:r>
          </a:p>
        </p:txBody>
      </p:sp>
      <p:sp>
        <p:nvSpPr>
          <p:cNvPr id="117" name="text-116">
            <a:extLst xmlns:a="http://schemas.openxmlformats.org/drawingml/2006/main">
              <a:ext uri="{FF2B5EF4-FFF2-40B4-BE49-F238E27FC236}">
                <a16:creationId xmlns:a16="http://schemas.microsoft.com/office/drawing/2014/main" id="{81F4AECA-2375-4AA0-8D08-7D0E79C3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格子更小，空间细节表达更细</a:t>
            </a:r>
          </a:p>
        </p:txBody>
      </p:sp>
    </p:spTree>
    <p:extLst>
      <p:ext uri="{BB962C8B-B14F-4D97-AF65-F5344CB8AC3E}">
        <p14:creationId xmlns:p14="http://schemas.microsoft.com/office/powerpoint/2010/main" val="18223624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52A9C-9B4C-43C5-B2CC-82E9789D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0BE19-BCF5-477D-9BA9-4E13E2BE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55AFAC-E4AE-4DFE-BC24-2199C02F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颜色种类、位深度怎样联系？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E3074EF-A7C7-4AD4-9294-445263C5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本实验：4种颜色 → 6种颜色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D3EB97C-8939-457F-B500-CB29D4E7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位深度：______ → ______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F53BEEE-F407-44FE-A9FA-9F20B0A2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位深度为n，最多表示</a:t>
            </a:r>
          </a:p>
        </p:txBody>
      </p:sp>
      <p:sp>
        <p:nvSpPr>
          <p:cNvPr id="7" name="color-count-placeholder">
            <a:extLst xmlns:a="http://schemas.openxmlformats.org/drawingml/2006/main">
              <a:ext uri="{FF2B5EF4-FFF2-40B4-BE49-F238E27FC236}">
                <a16:creationId xmlns:a16="http://schemas.microsoft.com/office/drawing/2014/main" id="{22694D8E-2FE1-428F-A932-A8209242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______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1A1E01B-0B08-4C16-9028-B1510E8F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种颜色</a:t>
            </a:r>
          </a:p>
        </p:txBody>
      </p:sp>
    </p:spTree>
    <p:extLst>
      <p:ext uri="{BB962C8B-B14F-4D97-AF65-F5344CB8AC3E}">
        <p14:creationId xmlns:p14="http://schemas.microsoft.com/office/powerpoint/2010/main" val="12414607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52A9C-9B4C-43C5-B2CC-82E9789D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0BE19-BCF5-477D-9BA9-4E13E2BE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55AFAC-E4AE-4DFE-BC24-2199C02F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颜色种类、位深度怎样联系？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E3074EF-A7C7-4AD4-9294-445263C5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本实验：4种颜色 → 6种颜色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D3EB97C-8939-457F-B500-CB29D4E7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位深度：______ → ______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F53BEEE-F407-44FE-A9FA-9F20B0A2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位深度为n，最多表示</a:t>
            </a:r>
          </a:p>
        </p:txBody>
      </p:sp>
      <p:sp>
        <p:nvSpPr>
          <p:cNvPr id="7" name="color-count-placeholder">
            <a:extLst xmlns:a="http://schemas.openxmlformats.org/drawingml/2006/main">
              <a:ext uri="{FF2B5EF4-FFF2-40B4-BE49-F238E27FC236}">
                <a16:creationId xmlns:a16="http://schemas.microsoft.com/office/drawing/2014/main" id="{22694D8E-2FE1-428F-A932-A8209242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3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2ⁿ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1A1E01B-0B08-4C16-9028-B1510E8F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种颜色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70C44-4C33-496F-A224-7553F06D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38500"/>
            <a:ext cx="609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7345E27-3E5B-4D30-9ACF-1921E0FF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385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  →  3 bit</a:t>
            </a:r>
          </a:p>
        </p:txBody>
      </p:sp>
    </p:spTree>
    <p:extLst>
      <p:ext uri="{BB962C8B-B14F-4D97-AF65-F5344CB8AC3E}">
        <p14:creationId xmlns:p14="http://schemas.microsoft.com/office/powerpoint/2010/main" val="124146070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DF392-7908-4569-9C95-1DDBAFAF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EE361-4AEE-40DC-AE94-E6D6DEFF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80D3A3C-422D-4FA0-B8B9-3DCF9EF3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同一场景，照片大小为什么不同？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总bit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3×4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7689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DF392-7908-4569-9C95-1DDBAFAF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EE361-4AEE-40DC-AE94-E6D6DEFF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80D3A3C-422D-4FA0-B8B9-3DCF9EF3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同一场景，照片大小为什么不同？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总bit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3×4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3×4×2 = 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6×8×2 = 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6×8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6×8×3 = 144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C9C2705-67F4-4E09-BEE2-C8E583D0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总bit = 像素总数 × 每像素的位数</a:t>
            </a:r>
          </a:p>
        </p:txBody>
      </p:sp>
    </p:spTree>
    <p:extLst>
      <p:ext uri="{BB962C8B-B14F-4D97-AF65-F5344CB8AC3E}">
        <p14:creationId xmlns:p14="http://schemas.microsoft.com/office/powerpoint/2010/main" val="130076897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0E52D-FB18-46E0-8137-5F99A529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3A00B-13A4-404A-854D-2736E8A5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8F5EAAB-8FAF-4FC9-BB22-ADAF6400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2CFC8B1-DC6F-4363-97B1-D3533705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B = 8 bit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3F2C3A4-6EB0-46BB-990D-9DC82CE4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24 bit → ___ B    96 bit → ___ B    144 bit → ___ B</a:t>
            </a:r>
          </a:p>
        </p:txBody>
      </p:sp>
    </p:spTree>
    <p:extLst>
      <p:ext uri="{BB962C8B-B14F-4D97-AF65-F5344CB8AC3E}">
        <p14:creationId xmlns:p14="http://schemas.microsoft.com/office/powerpoint/2010/main" val="177395934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0E52D-FB18-46E0-8137-5F99A529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3A00B-13A4-404A-854D-2736E8A5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8F5EAAB-8FAF-4FC9-BB22-ADAF6400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要用 B 表示数据量，怎样换算？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2CFC8B1-DC6F-4363-97B1-D3533705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B = 8 bit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3F2C3A4-6EB0-46BB-990D-9DC82CE4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24 bit → ___ B    96 bit → ___ B    144 bit → ___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04AD7-B1C6-4714-A857-ED666025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FE0F8D1-1257-4295-B50C-4C6D588A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24 bit → 3 B       96 bit → 12 B       144 bit → 18 B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1F9DF08-F9D8-480C-B3C0-084B6B65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像素数据量（B）= 横向×纵向×位深度÷8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65ED3F0-E63A-4DFE-9C4A-A042D693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B ÷1024 = KiB       KiB ÷1024 = MiB</a:t>
            </a:r>
          </a:p>
        </p:txBody>
      </p:sp>
    </p:spTree>
    <p:extLst>
      <p:ext uri="{BB962C8B-B14F-4D97-AF65-F5344CB8AC3E}">
        <p14:creationId xmlns:p14="http://schemas.microsoft.com/office/powerpoint/2010/main" val="17739593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3E21F-2EFE-43E3-B420-DC17D6DC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2BD7A-2D22-48AB-B634-2F7A000E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EC8E4CB-93AB-4641-83E0-93AF897E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黑白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256色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颜色数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数据量（B）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73CC905-0AB4-4510-987F-79ABF13F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三幅图的分辨率均为M×N</a:t>
            </a:r>
          </a:p>
        </p:txBody>
      </p:sp>
    </p:spTree>
    <p:extLst>
      <p:ext uri="{BB962C8B-B14F-4D97-AF65-F5344CB8AC3E}">
        <p14:creationId xmlns:p14="http://schemas.microsoft.com/office/powerpoint/2010/main" val="112053705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3E21F-2EFE-43E3-B420-DC17D6DC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2BD7A-2D22-48AB-B634-2F7A000E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EC8E4CB-93AB-4641-83E0-93AF897E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黑白、16 色、256 色各要几 bit？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14312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黑白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256色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颜色数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数据量（B）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M×N×1÷8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M×N×4÷8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M×N×8÷8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73CC905-0AB4-4510-987F-79ABF13F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三幅图的分辨率均为M×N</a:t>
            </a:r>
          </a:p>
        </p:txBody>
      </p:sp>
    </p:spTree>
    <p:extLst>
      <p:ext uri="{BB962C8B-B14F-4D97-AF65-F5344CB8AC3E}">
        <p14:creationId xmlns:p14="http://schemas.microsoft.com/office/powerpoint/2010/main" val="11205370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61DE9-3AF6-42D9-B5DF-9147F004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BAA18-7850-41F9-A795-70D625C2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1A39E64-7BFE-482A-9CE9-E933E521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24位真彩色，最多有多少种颜色？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最多颜色数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像素数据量（B）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M×N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03817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61DE9-3AF6-42D9-B5DF-9147F004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BAA18-7850-41F9-A795-70D625C2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1A39E64-7BFE-482A-9CE9-E933E521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24位真彩色，最多有多少种颜色？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2857500"/>
          <a:ext xmlns:a="http://schemas.openxmlformats.org/drawingml/2006/main" cx="104775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分辨率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位深度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最多颜色数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像素数据量（B）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904875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M×N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2²⁴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M×N×24÷8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60381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2C874-8E4F-43BE-87DD-D5A0C9B0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19064-38B9-419F-B0D5-109B7D04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A94A351-0903-4652-BB2A-C1B16FE0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E91A421-AA5E-4438-BFEE-53BE7762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E018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E01826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B1336C2-A7D3-4662-AFA0-03860381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ED67793-377F-4981-BE1D-8F817177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rPr>
              <a:t>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769554B-030D-42C4-B8B4-D1D6DE9F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8ED499D-D3F9-4DFF-A91E-73ACCBFF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552FAA1-AF86-49EC-A0B0-A63660B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</p:spTree>
    <p:extLst>
      <p:ext uri="{BB962C8B-B14F-4D97-AF65-F5344CB8AC3E}">
        <p14:creationId xmlns:p14="http://schemas.microsoft.com/office/powerpoint/2010/main" val="128565181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2C874-8E4F-43BE-87DD-D5A0C9B0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19064-38B9-419F-B0D5-109B7D04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A94A351-0903-4652-BB2A-C1B16FE0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24 位 RGB 怎样表示丰富的颜色？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E91A421-AA5E-4438-BFEE-53BE7762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E018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E01826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B1336C2-A7D3-4662-AFA0-03860381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ED67793-377F-4981-BE1D-8F817177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218029"/>
                </a:solidFill>
                <a:latin typeface="Alibaba PuHuiTi 3.0 115 Black"/>
                <a:ea typeface="Alibaba PuHuiTi 3.0 115 Black"/>
                <a:cs typeface="Alibaba PuHuiTi 3.0 115 Black"/>
              </a:rPr>
              <a:t>G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769554B-030D-42C4-B8B4-D1D6DE9F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8ED499D-D3F9-4DFF-A91E-73ACCBFF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00" b="1">
                <a:solidFill>
                  <a:srgbClr val="3157B7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552FAA1-AF86-49EC-A0B0-A63660B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bit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68E2D28-1875-453E-BCFF-77A4EE52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6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每通道256级，取值0–255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11C300F-2A4B-432A-BABB-759B2E3B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7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8×3 = 24 bit       256³ = 2²⁴ 种</a:t>
            </a:r>
          </a:p>
        </p:txBody>
      </p:sp>
    </p:spTree>
    <p:extLst>
      <p:ext uri="{BB962C8B-B14F-4D97-AF65-F5344CB8AC3E}">
        <p14:creationId xmlns:p14="http://schemas.microsoft.com/office/powerpoint/2010/main" val="128565181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D6B26-09F7-4B73-B739-34B97C6A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667F9-612A-477E-91CD-86C613DD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E6CBB62-6D51-4CFF-8820-1F5DC5EC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一个 RGB 像素真正保存了什么？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15d9e39d24827"/>
          <a:srcRect xmlns:a="http://schemas.openxmlformats.org/drawingml/2006/main" l="0" t="6000" r="35000" b="0"/>
          <a:stretch xmlns:a="http://schemas.openxmlformats.org/drawingml/2006/main"/>
        </p:blipFill>
        <p:spPr>
          <a:xfrm xmlns:a="http://schemas.openxmlformats.org/drawingml/2006/main">
            <a:off x="762000" y="2238375"/>
            <a:ext cx="514350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2609535-7718-4008-9090-41AABB12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 = 220    G = 95    B = 15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3A26CC2-8E7C-46CB-A0B3-C29F0424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在计算机里怎样表示？</a:t>
            </a:r>
          </a:p>
        </p:txBody>
      </p:sp>
    </p:spTree>
    <p:extLst>
      <p:ext uri="{BB962C8B-B14F-4D97-AF65-F5344CB8AC3E}">
        <p14:creationId xmlns:p14="http://schemas.microsoft.com/office/powerpoint/2010/main" val="132214257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D6B26-09F7-4B73-B739-34B97C6A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667F9-612A-477E-91CD-86C613DD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E6CBB62-6D51-4CFF-8820-1F5DC5EC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一个 RGB 像素真正保存了什么？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ff1cc8148495a"/>
          <a:srcRect xmlns:a="http://schemas.openxmlformats.org/drawingml/2006/main" l="0" t="6000" r="35000" b="0"/>
          <a:stretch xmlns:a="http://schemas.openxmlformats.org/drawingml/2006/main"/>
        </p:blipFill>
        <p:spPr>
          <a:xfrm xmlns:a="http://schemas.openxmlformats.org/drawingml/2006/main">
            <a:off x="762000" y="2238375"/>
            <a:ext cx="514350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2609535-7718-4008-9090-41AABB12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 = 220    G = 95    B = 15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3A26CC2-8E7C-46CB-A0B3-C29F0424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在计算机里怎样表示？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A259C62-B29A-4C5A-A8C1-87C6ACCD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R  11011100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E63660A-DB65-4B99-A741-994D9702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G  01011111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C3F6102-0457-4D29-84AA-39010CC8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925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  00001111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FE0F0F6-C22C-4237-A202-EEED87F7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10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24 bit = 3 bytes</a:t>
            </a:r>
          </a:p>
        </p:txBody>
      </p:sp>
    </p:spTree>
    <p:extLst>
      <p:ext uri="{BB962C8B-B14F-4D97-AF65-F5344CB8AC3E}">
        <p14:creationId xmlns:p14="http://schemas.microsoft.com/office/powerpoint/2010/main" val="132214257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E6F2A-A2E0-4449-BD7F-6AE8EA0A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6FCBF-D2EA-4CC9-88E7-4D2B7878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C6EC1FE-CD3B-4F34-801C-65B08DC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C3EAAC1-D699-4036-847D-FCB9440D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500×333像素；每像素24bit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7CF95C3-7388-4F7B-8602-77A7E873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求未压缩像素数据量，以B和KiB表示。</a:t>
            </a:r>
          </a:p>
        </p:txBody>
      </p:sp>
    </p:spTree>
    <p:extLst>
      <p:ext uri="{BB962C8B-B14F-4D97-AF65-F5344CB8AC3E}">
        <p14:creationId xmlns:p14="http://schemas.microsoft.com/office/powerpoint/2010/main" val="194312317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E6F2A-A2E0-4449-BD7F-6AE8EA0A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6FCBF-D2EA-4CC9-88E7-4D2B7878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C6EC1FE-CD3B-4F34-801C-65B08DC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500×333 的 24 位图像有多大？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C3EAAC1-D699-4036-847D-FCB9440D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500×333像素；每像素24bit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7CF95C3-7388-4F7B-8602-77A7E873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求未压缩像素数据量，以B和KiB表示。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D2CB699-6137-4934-BF43-43FC2370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500 × 333 × 24 ÷ 8 = 499,500 B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47EB1D-78BD-4E7B-91DC-9C0DB214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499,500 ÷ 1024 ≈ 487.79 KiB</a:t>
            </a:r>
          </a:p>
        </p:txBody>
      </p:sp>
    </p:spTree>
    <p:extLst>
      <p:ext uri="{BB962C8B-B14F-4D97-AF65-F5344CB8AC3E}">
        <p14:creationId xmlns:p14="http://schemas.microsoft.com/office/powerpoint/2010/main" val="194312317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A7991-8880-4A15-8FF7-7B003727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8CF9A-AE37-4A5D-8447-F084823C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E2A4C07-5012-4319-A8EA-FA5CB2E0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公式计算的是像素数据量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777B031-504C-448C-B0F2-A2FED27F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计算：499,500 B ≈ 487.79 KiB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191e4999f4038"/>
          <a:stretch xmlns:a="http://schemas.openxmlformats.org/drawingml/2006/main"/>
        </p:blipFill>
        <p:spPr>
          <a:xfrm xmlns:a="http://schemas.openxmlformats.org/drawingml/2006/main">
            <a:off x="866775" y="2762250"/>
            <a:ext cx="5695950" cy="309562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2373ED4-3F05-4A3C-BD11-9E570D9F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433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文件属性：487 KB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0C1A68F-C4FC-4629-9653-3BBD7DB5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62375"/>
            <a:ext cx="4333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文件还可能包含</a:t>
            </a:r>
          </a:p>
          <a:p xmlns:a="http://schemas.openxmlformats.org/drawingml/2006/main">
            <a:pPr algn="l">
              <a:def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3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头部、调色板、行填充。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32D11A9-8296-48B5-8248-07A7ABC0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81625"/>
            <a:ext cx="4333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像素数据量 ≠ 完整文件大小</a:t>
            </a:r>
          </a:p>
        </p:txBody>
      </p:sp>
    </p:spTree>
    <p:extLst>
      <p:ext uri="{BB962C8B-B14F-4D97-AF65-F5344CB8AC3E}">
        <p14:creationId xmlns:p14="http://schemas.microsoft.com/office/powerpoint/2010/main" val="88267573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C7FC1-D05C-4F81-82B9-BE860761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56D07-3E42-4395-9D12-E348851A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46344AF-99ED-4CE9-B07E-87589336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照片放大为什么会糊？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1be5e76ea4550"/>
          <a:stretch xmlns:a="http://schemas.openxmlformats.org/drawingml/2006/main"/>
        </p:blipFill>
        <p:spPr>
          <a:xfrm xmlns:a="http://schemas.openxmlformats.org/drawingml/2006/main">
            <a:off x="1100943" y="1905000"/>
            <a:ext cx="2846364" cy="390525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064989A-4EB0-4CEC-B35C-49F7D83D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拍摄时提高分辨率，和拍好后放大一样吗？</a:t>
            </a:r>
          </a:p>
        </p:txBody>
      </p:sp>
    </p:spTree>
    <p:extLst>
      <p:ext uri="{BB962C8B-B14F-4D97-AF65-F5344CB8AC3E}">
        <p14:creationId xmlns:p14="http://schemas.microsoft.com/office/powerpoint/2010/main" val="198260771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C7FC1-D05C-4F81-82B9-BE860761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56D07-3E42-4395-9D12-E348851A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46344AF-99ED-4CE9-B07E-87589336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照片放大为什么会糊？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835962b3242dd"/>
          <a:stretch xmlns:a="http://schemas.openxmlformats.org/drawingml/2006/main"/>
        </p:blipFill>
        <p:spPr>
          <a:xfrm xmlns:a="http://schemas.openxmlformats.org/drawingml/2006/main">
            <a:off x="1100943" y="1905000"/>
            <a:ext cx="2846364" cy="390525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064989A-4EB0-4CEC-B35C-49F7D83D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拍摄时提高分辨率，和拍好后放大一样吗？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CB6BF28-47B1-4C9C-9F12-E21E4259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已有像素被放大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E723059-F816-4EB2-87C1-4ECE50A3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放大不增加原始细节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F3B2AB1-ABA2-470A-B88E-CABB4E83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5000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拍摄时适当提高分辨率</a:t>
            </a:r>
          </a:p>
        </p:txBody>
      </p:sp>
    </p:spTree>
    <p:extLst>
      <p:ext uri="{BB962C8B-B14F-4D97-AF65-F5344CB8AC3E}">
        <p14:creationId xmlns:p14="http://schemas.microsoft.com/office/powerpoint/2010/main" val="198260771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9817C-A824-4BAC-B1CE-B9D8CA17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10802-79F7-4160-A9B3-05793772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8D1DF18-05A7-4211-943D-A1D85C14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AI 怎样补出照片的缺损部分？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fccbfa7974d76"/>
          <a:srcRect xmlns:a="http://schemas.openxmlformats.org/drawingml/2006/main" l="2000" t="2000" r="16000" b="50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4667250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8F8A79D-6796-4FCD-913E-4731F320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缺损处可以根据什么来推断？</a:t>
            </a:r>
          </a:p>
        </p:txBody>
      </p:sp>
    </p:spTree>
    <p:extLst>
      <p:ext uri="{BB962C8B-B14F-4D97-AF65-F5344CB8AC3E}">
        <p14:creationId xmlns:p14="http://schemas.microsoft.com/office/powerpoint/2010/main" val="151173841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9817C-A824-4BAC-B1CE-B9D8CA17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10802-79F7-4160-A9B3-05793772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8D1DF18-05A7-4211-943D-A1D85C14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AI 怎样补出照片的缺损部分？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bded21672402c"/>
          <a:srcRect xmlns:a="http://schemas.openxmlformats.org/drawingml/2006/main" l="2000" t="2000" r="16000" b="5000"/>
          <a:stretch xmlns:a="http://schemas.openxmlformats.org/drawingml/2006/main"/>
        </p:blipFill>
        <p:spPr>
          <a:xfrm xmlns:a="http://schemas.openxmlformats.org/drawingml/2006/main">
            <a:off x="857250" y="2143125"/>
            <a:ext cx="4667250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8F8A79D-6796-4FCD-913E-4731F320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7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缺损处可以根据什么来推断？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052160e064f81"/>
          <a:srcRect xmlns:a="http://schemas.openxmlformats.org/drawingml/2006/main" l="50000" t="16000" r="5000" b="0"/>
          <a:stretch xmlns:a="http://schemas.openxmlformats.org/drawingml/2006/main"/>
        </p:blipFill>
        <p:spPr>
          <a:xfrm xmlns:a="http://schemas.openxmlformats.org/drawingml/2006/main">
            <a:off x="6667500" y="2143125"/>
            <a:ext cx="3905250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3924DDF1-2809-4A05-AFF2-A9C08E3C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修复结果（示例）</a:t>
            </a:r>
          </a:p>
        </p:txBody>
      </p:sp>
    </p:spTree>
    <p:extLst>
      <p:ext uri="{BB962C8B-B14F-4D97-AF65-F5344CB8AC3E}">
        <p14:creationId xmlns:p14="http://schemas.microsoft.com/office/powerpoint/2010/main" val="151173841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9D578-1FCE-4854-B068-B01C327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05A22-28E5-4643-84E2-A28D2FEA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97A46B9-FCA5-4668-834C-DDF6BC49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用四步理解照片修复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29CA54-F6FF-4870-99F3-E4BFD118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识别：区分破损与完好区域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7D01FFA-7ED2-4397-A669-6DA9E368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匹配：利用周边内容和图像规律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40304E4-8CA9-4D5B-B9CF-0702551F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补全：推断缺损处的像素内容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8855C59-AB0A-4D8B-83ED-D64A4C07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表示：得到颜色数据并编码保存</a:t>
            </a:r>
          </a:p>
        </p:txBody>
      </p:sp>
    </p:spTree>
    <p:extLst>
      <p:ext uri="{BB962C8B-B14F-4D97-AF65-F5344CB8AC3E}">
        <p14:creationId xmlns:p14="http://schemas.microsoft.com/office/powerpoint/2010/main" val="17634490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29A13-D8EE-4CE1-A138-C9AC0988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DFFB4-B7D3-4DC8-89F1-0A20FF25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32DFAE-F0F8-433D-8758-ADB53C66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什么叫模拟量？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主要观察的变化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温度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声波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海水压强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光照强度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55D57D4-6F31-4325-BA6E-4A849AA8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哪些随时间？哪些随空间？</a:t>
            </a:r>
          </a:p>
        </p:txBody>
      </p:sp>
    </p:spTree>
    <p:extLst>
      <p:ext uri="{BB962C8B-B14F-4D97-AF65-F5344CB8AC3E}">
        <p14:creationId xmlns:p14="http://schemas.microsoft.com/office/powerpoint/2010/main" val="213269462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29A13-D8EE-4CE1-A138-C9AC0988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DFFB4-B7D3-4DC8-89F1-0A20FF25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32DFAE-F0F8-433D-8758-ADB53C66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什么叫模拟量？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2047875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262626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主要观察的变化</a:t>
                      </a:r>
                    </a:p>
                  </a:txBody>
                  <a:tcPr marL="91440" marR="91440" marT="45720" marB="45720" anchor="ctr">
                    <a:solidFill>
                      <a:srgbClr val="F0EC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温度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声波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海水压强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随深度（空间）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光照强度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随位置（空间）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55D57D4-6F31-4325-BA6E-4A849AA8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5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哪些随时间？哪些随空间？</a:t>
            </a:r>
          </a:p>
        </p:txBody>
      </p:sp>
    </p:spTree>
    <p:extLst>
      <p:ext uri="{BB962C8B-B14F-4D97-AF65-F5344CB8AC3E}">
        <p14:creationId xmlns:p14="http://schemas.microsoft.com/office/powerpoint/2010/main" val="213269462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EBCEE66-B51E-483E-BF86-CF7D5470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4AE7C-71F1-40BF-93AD-577D8E23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7A5A4B-0267-4E64-A7FA-4D463340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模拟量的关键：连续变化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D5BB3-C8F5-4F2C-BED0-8E812FB4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33500" y="5048250"/>
            <a:ext cx="609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04B43-0779-4407-A6AC-B51FE9C9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33500" y="2238375"/>
            <a:ext cx="0" cy="28098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372FA5C-CD73-4E42-A283-1FF32C9D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863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6105CC7-F68C-45B2-AF94-3DF07B89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温度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126B5-3981-46E9-B4C1-7E6B0BD0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76375" y="4330125"/>
            <a:ext cx="95250" cy="513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E4FA8-1C81-4424-BEAA-83FA8B57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71625" y="4279112"/>
            <a:ext cx="95250" cy="5101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CCD67-3F26-43B2-8351-8511E4D9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666875" y="4228816"/>
            <a:ext cx="95250" cy="5029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1D086-E15C-4DED-9699-986FF698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762125" y="4179590"/>
            <a:ext cx="95250" cy="49226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2C2F29-C6CF-46D8-B0DF-C32D3E6B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57375" y="4131772"/>
            <a:ext cx="95250" cy="4781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6E679-97CF-4F5F-AA7A-698A7FA8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952625" y="4085688"/>
            <a:ext cx="95250" cy="4608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ACCDD-E407-4EED-A2A3-F1219655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047875" y="4041645"/>
            <a:ext cx="95250" cy="4404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DBA82-5EAB-4C3B-9494-E3A0388C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43125" y="3999933"/>
            <a:ext cx="95250" cy="4171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5DAAF-0DBE-4749-B956-C208BBD0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38375" y="3960815"/>
            <a:ext cx="95250" cy="3911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319FB-6338-43D2-A524-351155F1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333625" y="3924530"/>
            <a:ext cx="95250" cy="3628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5C97C-BB01-4D63-A137-10BC1D53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28875" y="3891287"/>
            <a:ext cx="95250" cy="3324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D700C-C65E-423C-87E3-B396EB07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524125" y="3861268"/>
            <a:ext cx="95250" cy="30019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7C53E-1426-422F-AA02-CC6AFAB3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619375" y="3834620"/>
            <a:ext cx="95250" cy="2664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AF8877-7A83-4068-A1E4-8D6391FC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14625" y="3811456"/>
            <a:ext cx="95250" cy="2316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EDE929-565A-4FDE-920C-ECB13D58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09875" y="3791857"/>
            <a:ext cx="95250" cy="196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42667-60F0-467B-9EFF-C690318D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05125" y="3775864"/>
            <a:ext cx="95250" cy="1599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EC9E05-A889-47EA-A898-31BC1F73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00375" y="3763487"/>
            <a:ext cx="95250" cy="1237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59632-1743-4D4A-82D3-4D6DA809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95625" y="3754696"/>
            <a:ext cx="95250" cy="879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3B9506-3AEF-472A-86AD-E89BD5C4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90875" y="3749427"/>
            <a:ext cx="95250" cy="5269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820109-3BA9-4475-A33A-DEBEEBBA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286125" y="3747580"/>
            <a:ext cx="95250" cy="184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B41E5B-43A9-47B4-97ED-472A05CD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81375" y="3747580"/>
            <a:ext cx="95250" cy="144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C76A3-371D-4352-876F-F7903D8D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76625" y="3749021"/>
            <a:ext cx="95250" cy="456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C201DE-641B-4947-AF4B-962D15FA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71875" y="3753585"/>
            <a:ext cx="95250" cy="748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30D547-CF2E-42E7-9EB7-36F03EBA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67125" y="3761072"/>
            <a:ext cx="95250" cy="1018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D9DA7B-C11E-42D2-B5C9-CABD71DF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2375" y="3771256"/>
            <a:ext cx="95250" cy="1262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E9A5A6-DA87-4619-8D5A-87CC97E9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57625" y="3783883"/>
            <a:ext cx="95250" cy="1479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AD1BC8-7EFF-4692-848C-39A68E90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3798674"/>
            <a:ext cx="95250" cy="16656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9407A0-934C-46E1-B922-59F120CE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48125" y="3815330"/>
            <a:ext cx="95250" cy="1820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2D3DB3-6D05-483C-9036-B247EA4A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43375" y="3833531"/>
            <a:ext cx="95250" cy="1941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BDE372-C757-4339-A15C-741780E4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38625" y="3852944"/>
            <a:ext cx="95250" cy="2027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0A3D2F-CC6B-4CBC-BE2B-EF82E1A6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33875" y="3873222"/>
            <a:ext cx="95250" cy="2078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D8C076-2C17-44D7-B2D0-13BC8497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29125" y="3894010"/>
            <a:ext cx="95250" cy="20939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940BFD-5B2F-4EAE-A388-19CA292B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4375" y="3914949"/>
            <a:ext cx="95250" cy="2072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C43BDA-F5B7-415B-94FE-F113295E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19625" y="3935676"/>
            <a:ext cx="95250" cy="2015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450B19-603A-42E8-9482-2607BD8B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3955833"/>
            <a:ext cx="95250" cy="1923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DC0F92-5A1B-4FCD-9BDE-B34D187A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10125" y="3975066"/>
            <a:ext cx="95250" cy="1796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D5EA2B-1F0B-4D98-9A29-FFD5F862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05375" y="3993030"/>
            <a:ext cx="95250" cy="1636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34CAC1-7142-4E62-96C9-978842CC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00625" y="4009394"/>
            <a:ext cx="95250" cy="1444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DED1DE-E3EA-403D-A8D1-716AB799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95875" y="4023842"/>
            <a:ext cx="95250" cy="1223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6F531F-82A0-4BDA-9512-BEA6862D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91125" y="4036077"/>
            <a:ext cx="95250" cy="974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EA9B3C-B1D4-4DEA-89A4-15227084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86375" y="4045825"/>
            <a:ext cx="95250" cy="701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207597-C310-4F40-9FCA-8C2E80C4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81625" y="4052835"/>
            <a:ext cx="95250" cy="405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730E8A-D53F-48C3-ACFF-A775FBDA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76875" y="4056887"/>
            <a:ext cx="95250" cy="899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CB80CD-9EF1-48AB-98CA-3CA133A4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72125" y="4055372"/>
            <a:ext cx="95250" cy="241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489647-DD35-4DE3-A4F9-F8EDC26E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667375" y="4049517"/>
            <a:ext cx="95250" cy="585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370DE7-68CC-4CCB-8753-2EA27C97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762625" y="4040126"/>
            <a:ext cx="95250" cy="9391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79B9437-B841-4131-A45C-3A3A0F71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57875" y="4027142"/>
            <a:ext cx="95250" cy="1298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724B04-A86D-4BF9-AAA3-B087EBBB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953125" y="4010542"/>
            <a:ext cx="95250" cy="166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BEBFE5-E984-4C5C-83EC-E33B6733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48375" y="3990339"/>
            <a:ext cx="95250" cy="2020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977D0B-2DE2-4167-B656-C5F062C0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43625" y="3966583"/>
            <a:ext cx="95250" cy="23756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03EA56-2EA7-48DB-B504-7403CBE1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38875" y="3939359"/>
            <a:ext cx="95250" cy="27224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41F9E1-583E-4251-A270-4DB5FB9A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334125" y="3908786"/>
            <a:ext cx="95250" cy="3057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1B8A3EE-DB87-452A-99CB-2BD354CF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29375" y="3875019"/>
            <a:ext cx="95250" cy="3376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72A667-B428-42A2-A274-5CE7A279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524625" y="3838242"/>
            <a:ext cx="95250" cy="36777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7A01E53-6461-49EC-98B9-F681AABD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19875" y="3798670"/>
            <a:ext cx="95250" cy="39572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7032AF8-ECC0-4E2B-88FD-6FD0FCE2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715125" y="3756547"/>
            <a:ext cx="95250" cy="42123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F7FAAC-3207-4C30-85BF-B4BCAC7C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810375" y="3712141"/>
            <a:ext cx="95250" cy="44406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C53940-7958-4116-B40A-8D4FF7B0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905625" y="3665743"/>
            <a:ext cx="95250" cy="4639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DB3FE58-E0E4-463F-BFC5-C70D2FA2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000875" y="3617665"/>
            <a:ext cx="95250" cy="48078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07C9B"/>
            </a:solidFill>
            <a:prstDash val="solid"/>
          </a:ln>
        </p:spPr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5C1192ED-0627-4929-AC55-04E8954E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两次测量之间，</a:t>
            </a:r>
          </a:p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仍有连续变化的温度。</a:t>
            </a:r>
          </a:p>
        </p:txBody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E40EDFF8-F6B7-47C5-A376-8817DDEE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65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示意曲线</a:t>
            </a:r>
          </a:p>
        </p:txBody>
      </p:sp>
    </p:spTree>
    <p:extLst>
      <p:ext uri="{BB962C8B-B14F-4D97-AF65-F5344CB8AC3E}">
        <p14:creationId xmlns:p14="http://schemas.microsoft.com/office/powerpoint/2010/main" val="81421940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B2E18-F216-476F-83DD-49A98532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5A893-597E-4009-98DA-168BA98B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C45F62F-4772-4075-B21A-07CB34CB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921D34A-0A25-40AE-A884-46600610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采样位置：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C53B2-B603-4FFB-A3E7-CE30E8C9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6F6F0-1D9C-4339-AC6A-E9482E28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47198-D23E-44A5-9BFD-6C0986CB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A66F6-CAC5-4D05-9F76-F55185E1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C42A4-02D3-415E-8F7A-2ECE5E0E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344870B-D920-45C7-A92B-84F9F087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可用颜色：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4B5A3-A519-4767-B395-85CA399F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06CAB-F8F1-4A49-920B-614B092A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284FD-DCC7-49FF-8FB1-486CF97C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B29A8-F75D-4C85-B29C-050E6830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7584D44D-A50E-41FA-BF64-DB4951BB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这些结果怎样保存？</a:t>
            </a:r>
          </a:p>
        </p:txBody>
      </p:sp>
    </p:spTree>
    <p:extLst>
      <p:ext uri="{BB962C8B-B14F-4D97-AF65-F5344CB8AC3E}">
        <p14:creationId xmlns:p14="http://schemas.microsoft.com/office/powerpoint/2010/main" val="46783172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B2E18-F216-476F-83DD-49A98532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5A893-597E-4009-98DA-168BA98B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C45F62F-4772-4075-B21A-07CB34CB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数字量与模拟量有什么不同？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921D34A-0A25-40AE-A884-46600610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采样位置：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C53B2-B603-4FFB-A3E7-CE30E8C9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6F6F0-1D9C-4339-AC6A-E9482E28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47198-D23E-44A5-9BFD-6C0986CB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A66F6-CAC5-4D05-9F76-F55185E1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C42A4-02D3-415E-8F7A-2ECE5E0E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24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344870B-D920-45C7-A92B-84F9F087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可用颜色：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4B5A3-A519-4767-B395-85CA399F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06CAB-F8F1-4A49-920B-614B092A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26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D284FD-DCC7-49FF-8FB1-486CF97C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934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B29A8-F75D-4C85-B29C-050E6830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E3D"/>
          </a:solidFill>
          <a:ln xmlns:a="http://schemas.openxmlformats.org/drawingml/2006/main" w="9525">
            <a:solidFill>
              <a:srgbClr val="C8C3D5"/>
            </a:solidFill>
            <a:prstDash val="solid"/>
          </a:ln>
        </p:spPr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7584D44D-A50E-41FA-BF64-DB4951BB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这些结果怎样保存？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54FF424A-71A8-4AB3-8795-4132DEB9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0987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有限位置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C7FE0DE7-62B0-4608-9A1A-8AA1F8B7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325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有限等级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88438F53-4C35-4574-A946-CDBD0D26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62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55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00、01、10、11：离散码字</a:t>
            </a:r>
          </a:p>
        </p:txBody>
      </p:sp>
    </p:spTree>
    <p:extLst>
      <p:ext uri="{BB962C8B-B14F-4D97-AF65-F5344CB8AC3E}">
        <p14:creationId xmlns:p14="http://schemas.microsoft.com/office/powerpoint/2010/main" val="46783172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9FA7B-9F0B-438B-8FD9-198F76DD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22824-7321-46E8-B357-F4FB09FC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33C9E50-9CD3-4D6A-9B3B-E30C8E02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94F566E-AA3E-4EA5-A26E-F90FB821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自然界的光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C824028-403F-40FD-BE9A-91D6B0FC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数字图像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CC5BB96-9A9E-43A6-B339-888A44B2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中间经历了哪三步？</a:t>
            </a:r>
          </a:p>
        </p:txBody>
      </p:sp>
    </p:spTree>
    <p:extLst>
      <p:ext uri="{BB962C8B-B14F-4D97-AF65-F5344CB8AC3E}">
        <p14:creationId xmlns:p14="http://schemas.microsoft.com/office/powerpoint/2010/main" val="23826900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9FA7B-9F0B-438B-8FD9-198F76DD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22824-7321-46E8-B357-F4FB09FC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33C9E50-9CD3-4D6A-9B3B-E30C8E02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图像怎样从模拟量变成数字量？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94F566E-AA3E-4EA5-A26E-F90FB821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自然界的光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C824028-403F-40FD-BE9A-91D6B0FC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15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数字图像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CC5BB96-9A9E-43A6-B339-888A44B2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5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中间经历了哪三步？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9AD00AD-1E7C-4E1E-8EF5-9967A0A7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6700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 → 量化 → 编码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D93976B-1D57-4B36-8B89-7A25E4A4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435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信息数字化</a:t>
            </a:r>
          </a:p>
        </p:txBody>
      </p:sp>
    </p:spTree>
    <p:extLst>
      <p:ext uri="{BB962C8B-B14F-4D97-AF65-F5344CB8AC3E}">
        <p14:creationId xmlns:p14="http://schemas.microsoft.com/office/powerpoint/2010/main" val="23826900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BA750-EBD9-4A61-B4CA-5F2651E0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8CD16-05DE-432C-B66D-1E5B880A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DD5A9E1-DD18-41F8-BE6C-F407DE80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课后练习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340FCAD-AF1B-4A57-BBAE-C6D6D793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 一幅图只用6种颜色，最少需要几bit？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101FF77-0843-4D13-B0C4-8010F74E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2. 800×600的24位RGB图像，像素数据量是多少B？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DA115E1-B90C-4A29-ADDF-B5BC98F6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625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3. 把图像宽、高都放大2倍，就得到了新细节吗？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8DB0633-1469-4F4A-B3CA-EC1891FD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说明理由；计算时写出单位。</a:t>
            </a:r>
          </a:p>
        </p:txBody>
      </p:sp>
    </p:spTree>
    <p:extLst>
      <p:ext uri="{BB962C8B-B14F-4D97-AF65-F5344CB8AC3E}">
        <p14:creationId xmlns:p14="http://schemas.microsoft.com/office/powerpoint/2010/main" val="747475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2026-09-29T20:56:20.8970000Z</dcterms:created>
  <dcterms:modified xsi:type="dcterms:W3CDTF">2026-09-29T20:56:20.8980000Z</dcterms:modified>
</coreProperties>
</file>
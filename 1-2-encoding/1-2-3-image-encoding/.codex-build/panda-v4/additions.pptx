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bafe9279d7046cd" /><Relationship Type="http://schemas.openxmlformats.org/officeDocument/2006/relationships/extended-properties" Target="/docProps/app.xml" Id="R9dfe7918720e4ec7" /><Relationship Type="http://schemas.openxmlformats.org/officeDocument/2006/relationships/officeDocument" Target="/ppt/presentation.xml" Id="R504184c2ca464ff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8f01cd4b0ab42a3"/>
  </p:sldMasterIdLst>
  <p:notesMasterIdLst>
    <p:notesMasterId xmlns:r="http://schemas.openxmlformats.org/officeDocument/2006/relationships" r:id="R0bb5963f95c54f12"/>
  </p:notesMasterIdLst>
  <p:sldIdLst>
    <p:sldId xmlns:r="http://schemas.openxmlformats.org/officeDocument/2006/relationships" id="256" r:id="R4236f73c06114783"/>
    <p:sldId xmlns:r="http://schemas.openxmlformats.org/officeDocument/2006/relationships" id="257" r:id="Re61a9e80b3c440d3"/>
    <p:sldId xmlns:r="http://schemas.openxmlformats.org/officeDocument/2006/relationships" id="258" r:id="Rdd866157f1974e1d"/>
    <p:sldId xmlns:r="http://schemas.openxmlformats.org/officeDocument/2006/relationships" id="259" r:id="Rcba48a3badd040e3"/>
    <p:sldId xmlns:r="http://schemas.openxmlformats.org/officeDocument/2006/relationships" id="260" r:id="R2b09d64964874d60"/>
    <p:sldId xmlns:r="http://schemas.openxmlformats.org/officeDocument/2006/relationships" id="261" r:id="R1149ff4192494678"/>
    <p:sldId xmlns:r="http://schemas.openxmlformats.org/officeDocument/2006/relationships" id="262" r:id="Ra51c539ea9944986"/>
    <p:sldId xmlns:r="http://schemas.openxmlformats.org/officeDocument/2006/relationships" id="263" r:id="Rdeaaa666f3d941b3"/>
    <p:sldId xmlns:r="http://schemas.openxmlformats.org/officeDocument/2006/relationships" id="264" r:id="Rbb54213de78146f3"/>
    <p:sldId xmlns:r="http://schemas.openxmlformats.org/officeDocument/2006/relationships" id="265" r:id="R3c6fa6f8685341fe"/>
    <p:sldId xmlns:r="http://schemas.openxmlformats.org/officeDocument/2006/relationships" id="266" r:id="R30031903dbe54a75"/>
    <p:sldId xmlns:r="http://schemas.openxmlformats.org/officeDocument/2006/relationships" id="267" r:id="R9db6f911a5cc43c6"/>
    <p:sldId xmlns:r="http://schemas.openxmlformats.org/officeDocument/2006/relationships" id="268" r:id="Ra97b32747fbc4c99"/>
    <p:sldId xmlns:r="http://schemas.openxmlformats.org/officeDocument/2006/relationships" id="269" r:id="R4aa21d464b3b432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0fde2d50ef44833" /><Relationship Type="http://schemas.openxmlformats.org/officeDocument/2006/relationships/slideMaster" Target="/ppt/slideMasters/slideMaster1.xml" Id="R18f01cd4b0ab42a3" /><Relationship Type="http://schemas.openxmlformats.org/officeDocument/2006/relationships/notesMaster" Target="/ppt/notesMasters/notesMaster1.xml" Id="R0bb5963f95c54f12" /><Relationship Type="http://schemas.openxmlformats.org/officeDocument/2006/relationships/presProps" Target="/ppt/presProps.xml" Id="R559f4225982447e6" /><Relationship Type="http://schemas.openxmlformats.org/officeDocument/2006/relationships/tableStyles" Target="/ppt/tableStyles.xml" Id="Rfc692c27652c43c4" /><Relationship Type="http://schemas.openxmlformats.org/officeDocument/2006/relationships/slide" Target="/ppt/slides/slide1.xml" Id="R4236f73c06114783" /><Relationship Type="http://schemas.openxmlformats.org/officeDocument/2006/relationships/slide" Target="/ppt/slides/slide2.xml" Id="Re61a9e80b3c440d3" /><Relationship Type="http://schemas.openxmlformats.org/officeDocument/2006/relationships/slide" Target="/ppt/slides/slide3.xml" Id="Rdd866157f1974e1d" /><Relationship Type="http://schemas.openxmlformats.org/officeDocument/2006/relationships/slide" Target="/ppt/slides/slide4.xml" Id="Rcba48a3badd040e3" /><Relationship Type="http://schemas.openxmlformats.org/officeDocument/2006/relationships/slide" Target="/ppt/slides/slide5.xml" Id="R2b09d64964874d60" /><Relationship Type="http://schemas.openxmlformats.org/officeDocument/2006/relationships/slide" Target="/ppt/slides/slide6.xml" Id="R1149ff4192494678" /><Relationship Type="http://schemas.openxmlformats.org/officeDocument/2006/relationships/slide" Target="/ppt/slides/slide7.xml" Id="Ra51c539ea9944986" /><Relationship Type="http://schemas.openxmlformats.org/officeDocument/2006/relationships/slide" Target="/ppt/slides/slide8.xml" Id="Rdeaaa666f3d941b3" /><Relationship Type="http://schemas.openxmlformats.org/officeDocument/2006/relationships/slide" Target="/ppt/slides/slide9.xml" Id="Rbb54213de78146f3" /><Relationship Type="http://schemas.openxmlformats.org/officeDocument/2006/relationships/slide" Target="/ppt/slides/slide10.xml" Id="R3c6fa6f8685341fe" /><Relationship Type="http://schemas.openxmlformats.org/officeDocument/2006/relationships/slide" Target="/ppt/slides/slide11.xml" Id="R30031903dbe54a75" /><Relationship Type="http://schemas.openxmlformats.org/officeDocument/2006/relationships/slide" Target="/ppt/slides/slide12.xml" Id="R9db6f911a5cc43c6" /><Relationship Type="http://schemas.openxmlformats.org/officeDocument/2006/relationships/slide" Target="/ppt/slides/slide13.xml" Id="Ra97b32747fbc4c99" /><Relationship Type="http://schemas.openxmlformats.org/officeDocument/2006/relationships/slide" Target="/ppt/slides/slide14.xml" Id="R4aa21d464b3b432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7362e7dea8d4f3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2f409fce7ee46c1" /><Relationship Type="http://schemas.openxmlformats.org/officeDocument/2006/relationships/notesMaster" Target="/ppt/notesMasters/notesMaster1.xml" Id="Rd193ae7aa64d4d8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29330d148d14a27" /><Relationship Type="http://schemas.openxmlformats.org/officeDocument/2006/relationships/notesMaster" Target="/ppt/notesMasters/notesMaster1.xml" Id="R574cec8897c0456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3f74ce5b6594b6f" /><Relationship Type="http://schemas.openxmlformats.org/officeDocument/2006/relationships/notesMaster" Target="/ppt/notesMasters/notesMaster1.xml" Id="R54acd627f75540b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01b4e1294e7406a" /><Relationship Type="http://schemas.openxmlformats.org/officeDocument/2006/relationships/notesMaster" Target="/ppt/notesMasters/notesMaster1.xml" Id="R3f2fc94d26644b1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e6db7330b0f43e8" /><Relationship Type="http://schemas.openxmlformats.org/officeDocument/2006/relationships/notesMaster" Target="/ppt/notesMasters/notesMaster1.xml" Id="R3a1f9dd694ed43d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20699c289cf4c9f" /><Relationship Type="http://schemas.openxmlformats.org/officeDocument/2006/relationships/notesMaster" Target="/ppt/notesMasters/notesMaster1.xml" Id="R79db41ecd4eb4ba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3080373c63d4fc5" /><Relationship Type="http://schemas.openxmlformats.org/officeDocument/2006/relationships/notesMaster" Target="/ppt/notesMasters/notesMaster1.xml" Id="R9cfde5535954407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7f4be8e9a674fa3" /><Relationship Type="http://schemas.openxmlformats.org/officeDocument/2006/relationships/notesMaster" Target="/ppt/notesMasters/notesMaster1.xml" Id="R12095d41ff9b47c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e6223e1dd794f16" /><Relationship Type="http://schemas.openxmlformats.org/officeDocument/2006/relationships/notesMaster" Target="/ppt/notesMasters/notesMaster1.xml" Id="R9db8b0b9f1e0424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f9915edc2494762" /><Relationship Type="http://schemas.openxmlformats.org/officeDocument/2006/relationships/notesMaster" Target="/ppt/notesMasters/notesMaster1.xml" Id="R520bf4c4d63f4b2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320a3b460e4408f" /><Relationship Type="http://schemas.openxmlformats.org/officeDocument/2006/relationships/notesMaster" Target="/ppt/notesMasters/notesMaster1.xml" Id="Rcc1ab98497cb4dc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b2ca326e8934a3b" /><Relationship Type="http://schemas.openxmlformats.org/officeDocument/2006/relationships/notesMaster" Target="/ppt/notesMasters/notesMaster1.xml" Id="Rae3cf606aa9f47b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ff34e20e0af4cab" /><Relationship Type="http://schemas.openxmlformats.org/officeDocument/2006/relationships/notesMaster" Target="/ppt/notesMasters/notesMaster1.xml" Id="R35e26ab7b4e945e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d760fc6307d4bf1" /><Relationship Type="http://schemas.openxmlformats.org/officeDocument/2006/relationships/notesMaster" Target="/ppt/notesMasters/notesMaster1.xml" Id="R5a825ce1ffcf487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我们已能解释图像的哪些问题？</a:t>
            </a:r>
          </a:p>
          <a:p xmlns:a="http://schemas.openxmlformats.org/drawingml/2006/main">
            <a:r>
              <a:t>[内部编号] T1</a:t>
            </a:r>
          </a:p>
          <a:p xmlns:a="http://schemas.openxmlformats.org/drawingml/2006/main">
            <a:r>
              <a:t>[阶段] question</a:t>
            </a:r>
          </a:p>
          <a:p xmlns:a="http://schemas.openxmlformats.org/drawingml/2006/main">
            <a:r>
              <a:t>[教师逐字稿] 我们怎样把熊猫图变成码字？用刚才的网格、色块和码表作证据。 先自己想20秒，再请两位同学各说一条结论和依据。若只有术语没有依据，追问是哪张网格、色块、码表或算式支持它。教师归纳准确后才依次揭示。本检查点含总结与更新约90秒。</a:t>
            </a:r>
          </a:p>
          <a:p xmlns:a="http://schemas.openxmlformats.org/drawingml/2006/main">
            <a:r>
              <a:t>[课堂操作] 先收集学生独立总结和证据，再翻页。</a:t>
            </a:r>
          </a:p>
          <a:p xmlns:a="http://schemas.openxmlformats.org/drawingml/2006/main">
            <a:r>
              <a:t>[来源] course-design.qmd C4a／T1；熊猫实验数据与技术边界见C4。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我们已能解释图像的哪些问题？</a:t>
            </a:r>
          </a:p>
          <a:p xmlns:a="http://schemas.openxmlformats.org/drawingml/2006/main">
            <a:r>
              <a:t>[内部编号] T1</a:t>
            </a:r>
          </a:p>
          <a:p xmlns:a="http://schemas.openxmlformats.org/drawingml/2006/main">
            <a:r>
              <a:t>[阶段] answer</a:t>
            </a:r>
          </a:p>
          <a:p xmlns:a="http://schemas.openxmlformats.org/drawingml/2006/main">
            <a:r>
              <a:t>[教师逐字稿] 先让学生指着8×8网格说出取了哪些位置，再加上采样这一枝。分辨率写两个方向的数量，64只告诉我们总数。树的连线表示本课图像编码涉及的概念，不表示这些词可以任意交换次序。</a:t>
            </a:r>
          </a:p>
          <a:p xmlns:a="http://schemas.openxmlformats.org/drawingml/2006/main">
            <a:r>
              <a:t>[课堂操作] 只说明当前新增焦点，先前内容保持可见。</a:t>
            </a:r>
          </a:p>
          <a:p xmlns:a="http://schemas.openxmlformats.org/drawingml/2006/main">
            <a:r>
              <a:t>[来源] course-design.qmd C4a／T1；熊猫实验数据与技术边界见C4。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我们已能解释图像的哪些问题？</a:t>
            </a:r>
          </a:p>
          <a:p xmlns:a="http://schemas.openxmlformats.org/drawingml/2006/main">
            <a:r>
              <a:t>[内部编号] T1</a:t>
            </a:r>
          </a:p>
          <a:p xmlns:a="http://schemas.openxmlformats.org/drawingml/2006/main">
            <a:r>
              <a:t>[阶段] answer</a:t>
            </a:r>
          </a:p>
          <a:p xmlns:a="http://schemas.openxmlformats.org/drawingml/2006/main">
            <a:r>
              <a:t>[教师逐字稿] 请学生指出平均色与代表色的差别，再加量化这一枝。取样位置与可选颜色是两个决定；原来的采样枝仍留在相同位置。</a:t>
            </a:r>
          </a:p>
          <a:p xmlns:a="http://schemas.openxmlformats.org/drawingml/2006/main">
            <a:r>
              <a:t>[课堂操作] 只说明当前新增焦点，先前内容保持可见。</a:t>
            </a:r>
          </a:p>
          <a:p xmlns:a="http://schemas.openxmlformats.org/drawingml/2006/main">
            <a:r>
              <a:t>[来源] course-design.qmd C4a／T1；熊猫实验数据与技术边界见C4。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我们已能解释图像的哪些问题？</a:t>
            </a:r>
          </a:p>
          <a:p xmlns:a="http://schemas.openxmlformats.org/drawingml/2006/main">
            <a:r>
              <a:t>[内部编号] T1</a:t>
            </a:r>
          </a:p>
          <a:p xmlns:a="http://schemas.openxmlformats.org/drawingml/2006/main">
            <a:r>
              <a:t>[阶段] answer</a:t>
            </a:r>
          </a:p>
          <a:p xmlns:a="http://schemas.openxmlformats.org/drawingml/2006/main">
            <a:r>
              <a:t>[教师逐字稿] 请学生用编号0到码字00说明编码。加入编码枝，强调本课三个动作的顺序为采样、量化、编码。2ⁿ表示n位的状态容量；需要L种颜色时应满足2ⁿ≥L。</a:t>
            </a:r>
          </a:p>
          <a:p xmlns:a="http://schemas.openxmlformats.org/drawingml/2006/main">
            <a:r>
              <a:t>[课堂操作] 只说明当前新增焦点，先前内容保持可见。</a:t>
            </a:r>
          </a:p>
          <a:p xmlns:a="http://schemas.openxmlformats.org/drawingml/2006/main">
            <a:r>
              <a:t>[来源] course-design.qmd C4a／T1；熊猫实验数据与技术边界见C4。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我们已能解释图像的哪些问题？</a:t>
            </a:r>
          </a:p>
          <a:p xmlns:a="http://schemas.openxmlformats.org/drawingml/2006/main">
            <a:r>
              <a:t>[内部编号] T2</a:t>
            </a:r>
          </a:p>
          <a:p xmlns:a="http://schemas.openxmlformats.org/drawingml/2006/main">
            <a:r>
              <a:t>[阶段] question</a:t>
            </a:r>
          </a:p>
          <a:p xmlns:a="http://schemas.openxmlformats.org/drawingml/2006/main">
            <a:r>
              <a:t>[教师逐字稿] 三轮实验的像素码字为什么占用不同空间？用算式说明。 先自己想20秒，再请两位同学各说一条结论和依据。若只有术语没有依据，追问是哪张网格、色块、码表或算式支持它。教师归纳准确后才依次揭示。本检查点含总结与更新约45秒。</a:t>
            </a:r>
          </a:p>
          <a:p xmlns:a="http://schemas.openxmlformats.org/drawingml/2006/main">
            <a:r>
              <a:t>[课堂操作] 先收集学生独立总结和证据，再翻页。</a:t>
            </a:r>
          </a:p>
          <a:p xmlns:a="http://schemas.openxmlformats.org/drawingml/2006/main">
            <a:r>
              <a:t>[来源] course-design.qmd C4a／T2；熊猫实验数据与技术边界见C4。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我们已能解释图像的哪些问题？</a:t>
            </a:r>
          </a:p>
          <a:p xmlns:a="http://schemas.openxmlformats.org/drawingml/2006/main">
            <a:r>
              <a:t>[内部编号] T2</a:t>
            </a:r>
          </a:p>
          <a:p xmlns:a="http://schemas.openxmlformats.org/drawingml/2006/main">
            <a:r>
              <a:t>[阶段] answer</a:t>
            </a:r>
          </a:p>
          <a:p xmlns:a="http://schemas.openxmlformats.org/drawingml/2006/main">
            <a:r>
              <a:t>[教师逐字稿] 听学生用三轮实验解释乘法和除8，再把像素数据量接到树上。它结合采样枝的像素数和编码枝的每像素位数。这里只统计理想未压缩像素码字，不能作为完整文件大小。</a:t>
            </a:r>
          </a:p>
          <a:p xmlns:a="http://schemas.openxmlformats.org/drawingml/2006/main">
            <a:r>
              <a:t>[课堂操作] 只说明当前新增焦点，先前内容保持可见。</a:t>
            </a:r>
          </a:p>
          <a:p xmlns:a="http://schemas.openxmlformats.org/drawingml/2006/main">
            <a:r>
              <a:t>[来源] course-design.qmd C4a／T2；熊猫实验数据与技术边界见C4。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我们已能解释图像的哪些问题？</a:t>
            </a:r>
          </a:p>
          <a:p xmlns:a="http://schemas.openxmlformats.org/drawingml/2006/main">
            <a:r>
              <a:t>[内部编号] T3</a:t>
            </a:r>
          </a:p>
          <a:p xmlns:a="http://schemas.openxmlformats.org/drawingml/2006/main">
            <a:r>
              <a:t>[阶段] question</a:t>
            </a:r>
          </a:p>
          <a:p xmlns:a="http://schemas.openxmlformats.org/drawingml/2006/main">
            <a:r>
              <a:t>[教师逐字稿] 同色为何可以用不同位数？同一码字为何可以画出不同排列？各举一条证据。 先自己想20秒，再请两位同学各说一条结论和依据。若只有术语没有依据，追问是哪张网格、色块、码表或算式支持它。教师归纳准确后才依次揭示。本检查点含总结与更新约75秒。</a:t>
            </a:r>
          </a:p>
          <a:p xmlns:a="http://schemas.openxmlformats.org/drawingml/2006/main">
            <a:r>
              <a:t>[课堂操作] 先收集学生独立总结和证据，再翻页。</a:t>
            </a:r>
          </a:p>
          <a:p xmlns:a="http://schemas.openxmlformats.org/drawingml/2006/main">
            <a:r>
              <a:t>[来源] course-design.qmd C4a／T3；熊猫实验数据与技术边界见C4。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我们已能解释图像的哪些问题？</a:t>
            </a:r>
          </a:p>
          <a:p xmlns:a="http://schemas.openxmlformats.org/drawingml/2006/main">
            <a:r>
              <a:t>[内部编号] T3</a:t>
            </a:r>
          </a:p>
          <a:p xmlns:a="http://schemas.openxmlformats.org/drawingml/2006/main">
            <a:r>
              <a:t>[阶段] answer</a:t>
            </a:r>
          </a:p>
          <a:p xmlns:a="http://schemas.openxmlformats.org/drawingml/2006/main">
            <a:r>
              <a:t>[教师逐字稿] 先让学生解释为什么同一颜色既能用00也能用三个8位数表示，再加颜色表示这一枝。00依赖码表；24位RGB记录三个通道值，不含alpha。它补充编码枝：位数取决于表示方案。</a:t>
            </a:r>
          </a:p>
          <a:p xmlns:a="http://schemas.openxmlformats.org/drawingml/2006/main">
            <a:r>
              <a:t>[课堂操作] 只说明当前新增焦点，先前内容保持可见。</a:t>
            </a:r>
          </a:p>
          <a:p xmlns:a="http://schemas.openxmlformats.org/drawingml/2006/main">
            <a:r>
              <a:t>[来源] course-design.qmd C4a／T3；熊猫实验数据与技术边界见C4。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我们已能解释图像的哪些问题？</a:t>
            </a:r>
          </a:p>
          <a:p xmlns:a="http://schemas.openxmlformats.org/drawingml/2006/main">
            <a:r>
              <a:t>[内部编号] T3</a:t>
            </a:r>
          </a:p>
          <a:p xmlns:a="http://schemas.openxmlformats.org/drawingml/2006/main">
            <a:r>
              <a:t>[阶段] answer</a:t>
            </a:r>
          </a:p>
          <a:p xmlns:a="http://schemas.openxmlformats.org/drawingml/2006/main">
            <a:r>
              <a:t>[教师逐字稿] 请两位学生把4×2和2×4都读回同一码字，再添加解码枝。尺寸控制分行，码表控制颜色，位数和顺序控制怎样读。总数与行宽可推出行数；解码不能撤销采样和量化损失。</a:t>
            </a:r>
          </a:p>
          <a:p xmlns:a="http://schemas.openxmlformats.org/drawingml/2006/main">
            <a:r>
              <a:t>[课堂操作] 只说明当前新增焦点，先前内容保持可见。</a:t>
            </a:r>
          </a:p>
          <a:p xmlns:a="http://schemas.openxmlformats.org/drawingml/2006/main">
            <a:r>
              <a:t>[来源] course-design.qmd C4a／T3；熊猫实验数据与技术边界见C4。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我们已能解释图像的哪些问题？</a:t>
            </a:r>
          </a:p>
          <a:p xmlns:a="http://schemas.openxmlformats.org/drawingml/2006/main">
            <a:r>
              <a:t>[内部编号] T4</a:t>
            </a:r>
          </a:p>
          <a:p xmlns:a="http://schemas.openxmlformats.org/drawingml/2006/main">
            <a:r>
              <a:t>[阶段] question</a:t>
            </a:r>
          </a:p>
          <a:p xmlns:a="http://schemas.openxmlformats.org/drawingml/2006/main">
            <a:r>
              <a:t>[教师逐字稿] 用已经建立的知识解释：记录图像改变了什么，放大和解码又不能补回什么？ 先自己想20秒，再请两位同学各说一条结论和依据。若只有术语没有依据，追问是哪张网格、色块、码表或算式支持它。教师归纳准确后才依次揭示。本检查点含总结与更新约60秒。</a:t>
            </a:r>
          </a:p>
          <a:p xmlns:a="http://schemas.openxmlformats.org/drawingml/2006/main">
            <a:r>
              <a:t>[课堂操作] 先收集学生独立总结和证据，再翻页。</a:t>
            </a:r>
          </a:p>
          <a:p xmlns:a="http://schemas.openxmlformats.org/drawingml/2006/main">
            <a:r>
              <a:t>[来源] course-design.qmd C4a／T4；熊猫实验数据与技术边界见C4。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我们已能解释图像的哪些问题？</a:t>
            </a:r>
          </a:p>
          <a:p xmlns:a="http://schemas.openxmlformats.org/drawingml/2006/main">
            <a:r>
              <a:t>[内部编号] T4</a:t>
            </a:r>
          </a:p>
          <a:p xmlns:a="http://schemas.openxmlformats.org/drawingml/2006/main">
            <a:r>
              <a:t>[阶段] answer</a:t>
            </a:r>
          </a:p>
          <a:p xmlns:a="http://schemas.openxmlformats.org/drawingml/2006/main">
            <a:r>
              <a:t>[教师逐字稿] 先收集学生对连续光、有限位置和有限等级的完整解释，再加入最后一枝。回指采样、量化、编码的关系，指出放大和解码都不会重新采集原场景。到这里才呈现完整树。</a:t>
            </a:r>
          </a:p>
          <a:p xmlns:a="http://schemas.openxmlformats.org/drawingml/2006/main">
            <a:r>
              <a:t>[课堂操作] 只说明当前新增焦点，先前内容保持可见。</a:t>
            </a:r>
          </a:p>
          <a:p xmlns:a="http://schemas.openxmlformats.org/drawingml/2006/main">
            <a:r>
              <a:t>[来源] course-design.qmd C4a／T4；熊猫实验数据与技术边界见C4。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新图像能满足 50 B 预算吗？</a:t>
            </a:r>
          </a:p>
          <a:p xmlns:a="http://schemas.openxmlformats.org/drawingml/2006/main">
            <a:r>
              <a:t>[内部编号] E1</a:t>
            </a:r>
          </a:p>
          <a:p xmlns:a="http://schemas.openxmlformats.org/drawingml/2006/main">
            <a:r>
              <a:t>[阶段] question</a:t>
            </a:r>
          </a:p>
          <a:p xmlns:a="http://schemas.openxmlformats.org/drawingml/2006/main">
            <a:r>
              <a:t>[教师逐字稿] 换一组没有算过的数据。请独立写最少位数、判断依据、数据量和预算结论，再写一句这个结果能否当作完整PNG文件大小。给60秒；不讨论、不先报答案。教师先收齐或拍下原答，再揭示。</a:t>
            </a:r>
          </a:p>
          <a:p xmlns:a="http://schemas.openxmlformats.org/drawingml/2006/main">
            <a:r>
              <a:t>[课堂操作] 先收集学生独立总结和证据，再翻页。</a:t>
            </a:r>
          </a:p>
          <a:p xmlns:a="http://schemas.openxmlformats.org/drawingml/2006/main">
            <a:r>
              <a:t>[来源] course-design.qmd C4a／E1；熊猫实验数据与技术边界见C4。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新图像能满足 50 B 预算吗？</a:t>
            </a:r>
          </a:p>
          <a:p xmlns:a="http://schemas.openxmlformats.org/drawingml/2006/main">
            <a:r>
              <a:t>[内部编号] E1</a:t>
            </a:r>
          </a:p>
          <a:p xmlns:a="http://schemas.openxmlformats.org/drawingml/2006/main">
            <a:r>
              <a:t>[阶段] answer</a:t>
            </a:r>
          </a:p>
          <a:p xmlns:a="http://schemas.openxmlformats.org/drawingml/2006/main">
            <a:r>
              <a:t>[教师逐字稿] 两位的四种状态不足以区分五色，三位够用。120个像素各三位，是360bit，换成45B，满足50B预算。先核对前三项，不让学生覆盖原答案。再请一人解释还剩下的文件大小问题。</a:t>
            </a:r>
          </a:p>
          <a:p xmlns:a="http://schemas.openxmlformats.org/drawingml/2006/main">
            <a:r>
              <a:t>[课堂操作] 只说明当前新增焦点，先前内容保持可见。</a:t>
            </a:r>
          </a:p>
          <a:p xmlns:a="http://schemas.openxmlformats.org/drawingml/2006/main">
            <a:r>
              <a:t>[来源] course-design.qmd C4a／E1；熊猫实验数据与技术边界见C4。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新图像能满足 50 B 预算吗？</a:t>
            </a:r>
          </a:p>
          <a:p xmlns:a="http://schemas.openxmlformats.org/drawingml/2006/main">
            <a:r>
              <a:t>[内部编号] E1</a:t>
            </a:r>
          </a:p>
          <a:p xmlns:a="http://schemas.openxmlformats.org/drawingml/2006/main">
            <a:r>
              <a:t>[阶段] evidence</a:t>
            </a:r>
          </a:p>
          <a:p xmlns:a="http://schemas.openxmlformats.org/drawingml/2006/main">
            <a:r>
              <a:t>[教师逐字稿] 45B只计理想像素码字。PNG还有格式结构与压缩，不能据此得到完整文件大小。容量、列式单位、预算、文件边界各一项，至少三项且容量正确视为达到本次退出标准。记录实际匿名错误类别；本次文件构建不能填写学生达标人数。</a:t>
            </a:r>
          </a:p>
          <a:p xmlns:a="http://schemas.openxmlformats.org/drawingml/2006/main">
            <a:r>
              <a:t>[课堂操作] 只说明当前新增焦点，先前内容保持可见。</a:t>
            </a:r>
          </a:p>
          <a:p xmlns:a="http://schemas.openxmlformats.org/drawingml/2006/main">
            <a:r>
              <a:t>[来源] course-design.qmd C4a／E1；熊猫实验数据与技术边界见C4。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39dbe057934c7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87ddcf96ab74047" /><Relationship Type="http://schemas.openxmlformats.org/officeDocument/2006/relationships/slideLayout" Target="/ppt/slideLayouts/slideLayout1.xml" Id="R0f208596e0914a7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f208596e0914a7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c96daaccac4a15" /><Relationship Type="http://schemas.openxmlformats.org/officeDocument/2006/relationships/notesSlide" Target="/ppt/notesSlides/notesSlide1.xml" Id="Rb04cb2ce54f548d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d737e0d24a4550" /><Relationship Type="http://schemas.openxmlformats.org/officeDocument/2006/relationships/notesSlide" Target="/ppt/notesSlides/notesSlide2.xml" Id="R8bcb51bb5c104b4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34081442e14548" /><Relationship Type="http://schemas.openxmlformats.org/officeDocument/2006/relationships/notesSlide" Target="/ppt/notesSlides/notesSlide3.xml" Id="R8fb1c09960a843d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edfd5d01164763" /><Relationship Type="http://schemas.openxmlformats.org/officeDocument/2006/relationships/notesSlide" Target="/ppt/notesSlides/notesSlide4.xml" Id="Ra6d24e2e15414a5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6e2f232e344644" /><Relationship Type="http://schemas.openxmlformats.org/officeDocument/2006/relationships/notesSlide" Target="/ppt/notesSlides/notesSlide5.xml" Id="R264edbf2e17c4ea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f54e05d57e428f" /><Relationship Type="http://schemas.openxmlformats.org/officeDocument/2006/relationships/notesSlide" Target="/ppt/notesSlides/notesSlide6.xml" Id="Rf6257c5ad22444a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e1effb51ff4658" /><Relationship Type="http://schemas.openxmlformats.org/officeDocument/2006/relationships/notesSlide" Target="/ppt/notesSlides/notesSlide7.xml" Id="Ra53e5a918713410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3e8e4e37fe4d34" /><Relationship Type="http://schemas.openxmlformats.org/officeDocument/2006/relationships/notesSlide" Target="/ppt/notesSlides/notesSlide8.xml" Id="R06b6a9359949416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53e7cdd64f48b3" /><Relationship Type="http://schemas.openxmlformats.org/officeDocument/2006/relationships/notesSlide" Target="/ppt/notesSlides/notesSlide9.xml" Id="R9fe79a7cf8a8459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4c7849c2a64da4" /><Relationship Type="http://schemas.openxmlformats.org/officeDocument/2006/relationships/notesSlide" Target="/ppt/notesSlides/notesSlide10.xml" Id="R3596e3b1b5484d6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82e22331914829" /><Relationship Type="http://schemas.openxmlformats.org/officeDocument/2006/relationships/notesSlide" Target="/ppt/notesSlides/notesSlide11.xml" Id="R44d237f133b444c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783550e28f4448" /><Relationship Type="http://schemas.openxmlformats.org/officeDocument/2006/relationships/notesSlide" Target="/ppt/notesSlides/notesSlide12.xml" Id="Rce065807eac942e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7daa0f6fc54452" /><Relationship Type="http://schemas.openxmlformats.org/officeDocument/2006/relationships/notesSlide" Target="/ppt/notesSlides/notesSlide13.xml" Id="R8184b777fe50411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3bf20379ef4eb0" /><Relationship Type="http://schemas.openxmlformats.org/officeDocument/2006/relationships/notesSlide" Target="/ppt/notesSlides/notesSlide14.xml" Id="R3750ae590c684c3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op-rail">
            <a:extLst xmlns:a="http://schemas.openxmlformats.org/drawingml/2006/main">
              <a:ext uri="{FF2B5EF4-FFF2-40B4-BE49-F238E27FC236}">
                <a16:creationId xmlns:a16="http://schemas.microsoft.com/office/drawing/2014/main" id="{66715EEB-2887-4D54-BAAB-AEE9C924A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8032D2DD-6D78-44EB-AFAE-8F8FCE834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B3753C3-9387-4CF4-B45B-6F1ACCD7F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我们已能解释图像的哪些问题？</a:t>
            </a:r>
          </a:p>
        </p:txBody>
      </p:sp>
      <p:sp>
        <p:nvSpPr>
          <p:cNvPr id="4" name="summary-instruction">
            <a:extLst xmlns:a="http://schemas.openxmlformats.org/drawingml/2006/main">
              <a:ext uri="{FF2B5EF4-FFF2-40B4-BE49-F238E27FC236}">
                <a16:creationId xmlns:a16="http://schemas.microsoft.com/office/drawing/2014/main" id="{C1A77786-26E4-4FFD-92D2-CFBEF16BB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先说结论和证据，再补充这张树。</a:t>
            </a:r>
          </a:p>
        </p:txBody>
      </p:sp>
      <p:sp>
        <p:nvSpPr>
          <p:cNvPr id="5" name="tree-root">
            <a:extLst xmlns:a="http://schemas.openxmlformats.org/drawingml/2006/main">
              <a:ext uri="{FF2B5EF4-FFF2-40B4-BE49-F238E27FC236}">
                <a16:creationId xmlns:a16="http://schemas.microsoft.com/office/drawing/2014/main" id="{02AD0BE5-5E3A-403E-BC8A-E4525C505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C64E1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图像编码</a:t>
            </a:r>
          </a:p>
        </p:txBody>
      </p:sp>
    </p:spTree>
    <p:extLst>
      <p:ext uri="{BB962C8B-B14F-4D97-AF65-F5344CB8AC3E}">
        <p14:creationId xmlns:p14="http://schemas.microsoft.com/office/powerpoint/2010/main" val="14671272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2419350" y="2428875"/>
            <a:ext cx="866775" cy="12858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C64E1"/>
            </a:solidFill>
            <a:prstDash val="solid"/>
          </a:ln>
        </p:spPr>
      </p:cxnSp>
      <p:sp>
        <p:nvSpPr>
          <p:cNvPr id="12" name="top-rail">
            <a:extLst xmlns:a="http://schemas.openxmlformats.org/drawingml/2006/main">
              <a:ext uri="{FF2B5EF4-FFF2-40B4-BE49-F238E27FC236}">
                <a16:creationId xmlns:a16="http://schemas.microsoft.com/office/drawing/2014/main" id="{66715EEB-2887-4D54-BAAB-AEE9C924A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8032D2DD-6D78-44EB-AFAE-8F8FCE834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B3753C3-9387-4CF4-B45B-6F1ACCD7F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我们已能解释图像的哪些问题？</a:t>
            </a:r>
          </a:p>
        </p:txBody>
      </p:sp>
      <p:sp>
        <p:nvSpPr>
          <p:cNvPr id="4" name="summary-instruction">
            <a:extLst xmlns:a="http://schemas.openxmlformats.org/drawingml/2006/main">
              <a:ext uri="{FF2B5EF4-FFF2-40B4-BE49-F238E27FC236}">
                <a16:creationId xmlns:a16="http://schemas.microsoft.com/office/drawing/2014/main" id="{C1A77786-26E4-4FFD-92D2-CFBEF16BB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先说结论和证据，再补充这张树。</a:t>
            </a:r>
          </a:p>
        </p:txBody>
      </p:sp>
      <p:sp>
        <p:nvSpPr>
          <p:cNvPr id="5" name="tree-root">
            <a:extLst xmlns:a="http://schemas.openxmlformats.org/drawingml/2006/main">
              <a:ext uri="{FF2B5EF4-FFF2-40B4-BE49-F238E27FC236}">
                <a16:creationId xmlns:a16="http://schemas.microsoft.com/office/drawing/2014/main" id="{02AD0BE5-5E3A-403E-BC8A-E4525C505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C64E1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图像编码</a:t>
            </a:r>
          </a:p>
        </p:txBody>
      </p:sp>
      <p:sp>
        <p:nvSpPr>
          <p:cNvPr id="6" name="node-sampling">
            <a:extLst xmlns:a="http://schemas.openxmlformats.org/drawingml/2006/main">
              <a:ext uri="{FF2B5EF4-FFF2-40B4-BE49-F238E27FC236}">
                <a16:creationId xmlns:a16="http://schemas.microsoft.com/office/drawing/2014/main" id="{0FAF0000-398C-45A7-A6B1-0CEA66548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190750"/>
            <a:ext cx="2333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1. 采样</a:t>
            </a:r>
          </a:p>
        </p:txBody>
      </p:sp>
      <p:sp>
        <p:nvSpPr>
          <p:cNvPr id="7" name="detail-sampling">
            <a:extLst xmlns:a="http://schemas.openxmlformats.org/drawingml/2006/main">
              <a:ext uri="{FF2B5EF4-FFF2-40B4-BE49-F238E27FC236}">
                <a16:creationId xmlns:a16="http://schemas.microsoft.com/office/drawing/2014/main" id="{A4BFBC66-DE37-4046-98A3-0F67DA226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190750"/>
            <a:ext cx="5857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有限位置；分辨率：横向 × 纵向</a:t>
            </a:r>
          </a:p>
        </p:txBody>
      </p:sp>
      <p:sp>
        <p:nvSpPr>
          <p:cNvPr id="9" name="focus-sampling">
            <a:extLst xmlns:a="http://schemas.openxmlformats.org/drawingml/2006/main">
              <a:ext uri="{FF2B5EF4-FFF2-40B4-BE49-F238E27FC236}">
                <a16:creationId xmlns:a16="http://schemas.microsoft.com/office/drawing/2014/main" id="{94406D46-D66D-4AAB-8F48-33EC24355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152650"/>
            <a:ext cx="83629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0000"/>
            </a:solidFill>
            <a:prstDash val="solid"/>
          </a:ln>
        </p:spPr>
      </p:sp>
      <p:sp>
        <p:nvSpPr>
          <p:cNvPr id="10" name="new-label">
            <a:extLst xmlns:a="http://schemas.openxmlformats.org/drawingml/2006/main">
              <a:ext uri="{FF2B5EF4-FFF2-40B4-BE49-F238E27FC236}">
                <a16:creationId xmlns:a16="http://schemas.microsoft.com/office/drawing/2014/main" id="{55EE1864-473C-417E-88D3-EE6614C89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新学</a:t>
            </a:r>
          </a:p>
        </p:txBody>
      </p:sp>
    </p:spTree>
    <p:extLst>
      <p:ext uri="{BB962C8B-B14F-4D97-AF65-F5344CB8AC3E}">
        <p14:creationId xmlns:p14="http://schemas.microsoft.com/office/powerpoint/2010/main" val="14671272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6" name=""/>
          <p:cNvCxnSpPr>
            <a:stCxn xmlns:a="http://schemas.openxmlformats.org/drawingml/2006/main" id="5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V="1">
            <a:off x="2419350" y="3000375"/>
            <a:ext cx="866775" cy="7143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C64E1"/>
            </a:solidFill>
            <a:prstDash val="solid"/>
          </a:ln>
        </p:spPr>
      </p:cxnSp>
      <p:cxnSp>
        <p:nvCxnSpPr>
          <p:cNvPr id="17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2419350" y="2428875"/>
            <a:ext cx="866775" cy="12858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C64E1"/>
            </a:solidFill>
            <a:prstDash val="solid"/>
          </a:ln>
        </p:spPr>
      </p:cxnSp>
      <p:sp>
        <p:nvSpPr>
          <p:cNvPr id="18" name="top-rail">
            <a:extLst xmlns:a="http://schemas.openxmlformats.org/drawingml/2006/main">
              <a:ext uri="{FF2B5EF4-FFF2-40B4-BE49-F238E27FC236}">
                <a16:creationId xmlns:a16="http://schemas.microsoft.com/office/drawing/2014/main" id="{66715EEB-2887-4D54-BAAB-AEE9C924A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8032D2DD-6D78-44EB-AFAE-8F8FCE834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B3753C3-9387-4CF4-B45B-6F1ACCD7F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我们已能解释图像的哪些问题？</a:t>
            </a:r>
          </a:p>
        </p:txBody>
      </p:sp>
      <p:sp>
        <p:nvSpPr>
          <p:cNvPr id="4" name="summary-instruction">
            <a:extLst xmlns:a="http://schemas.openxmlformats.org/drawingml/2006/main">
              <a:ext uri="{FF2B5EF4-FFF2-40B4-BE49-F238E27FC236}">
                <a16:creationId xmlns:a16="http://schemas.microsoft.com/office/drawing/2014/main" id="{C1A77786-26E4-4FFD-92D2-CFBEF16BB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先说结论和证据，再补充这张树。</a:t>
            </a:r>
          </a:p>
        </p:txBody>
      </p:sp>
      <p:sp>
        <p:nvSpPr>
          <p:cNvPr id="5" name="tree-root">
            <a:extLst xmlns:a="http://schemas.openxmlformats.org/drawingml/2006/main">
              <a:ext uri="{FF2B5EF4-FFF2-40B4-BE49-F238E27FC236}">
                <a16:creationId xmlns:a16="http://schemas.microsoft.com/office/drawing/2014/main" id="{02AD0BE5-5E3A-403E-BC8A-E4525C505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C64E1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图像编码</a:t>
            </a:r>
          </a:p>
        </p:txBody>
      </p:sp>
      <p:sp>
        <p:nvSpPr>
          <p:cNvPr id="6" name="node-sampling">
            <a:extLst xmlns:a="http://schemas.openxmlformats.org/drawingml/2006/main">
              <a:ext uri="{FF2B5EF4-FFF2-40B4-BE49-F238E27FC236}">
                <a16:creationId xmlns:a16="http://schemas.microsoft.com/office/drawing/2014/main" id="{0FAF0000-398C-45A7-A6B1-0CEA66548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190750"/>
            <a:ext cx="2333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1. 采样</a:t>
            </a:r>
          </a:p>
        </p:txBody>
      </p:sp>
      <p:sp>
        <p:nvSpPr>
          <p:cNvPr id="7" name="detail-sampling">
            <a:extLst xmlns:a="http://schemas.openxmlformats.org/drawingml/2006/main">
              <a:ext uri="{FF2B5EF4-FFF2-40B4-BE49-F238E27FC236}">
                <a16:creationId xmlns:a16="http://schemas.microsoft.com/office/drawing/2014/main" id="{A4BFBC66-DE37-4046-98A3-0F67DA226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190750"/>
            <a:ext cx="5857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有限位置；分辨率：横向 × 纵向</a:t>
            </a:r>
          </a:p>
        </p:txBody>
      </p:sp>
      <p:sp>
        <p:nvSpPr>
          <p:cNvPr id="9" name="focus-sampling">
            <a:extLst xmlns:a="http://schemas.openxmlformats.org/drawingml/2006/main">
              <a:ext uri="{FF2B5EF4-FFF2-40B4-BE49-F238E27FC236}">
                <a16:creationId xmlns:a16="http://schemas.microsoft.com/office/drawing/2014/main" id="{94406D46-D66D-4AAB-8F48-33EC24355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152650"/>
            <a:ext cx="83629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" name="new-label">
            <a:extLst xmlns:a="http://schemas.openxmlformats.org/drawingml/2006/main">
              <a:ext uri="{FF2B5EF4-FFF2-40B4-BE49-F238E27FC236}">
                <a16:creationId xmlns:a16="http://schemas.microsoft.com/office/drawing/2014/main" id="{55EE1864-473C-417E-88D3-EE6614C89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/>
            </a:r>
          </a:p>
        </p:txBody>
      </p:sp>
      <p:sp>
        <p:nvSpPr>
          <p:cNvPr id="11" name="node-quantization">
            <a:extLst xmlns:a="http://schemas.openxmlformats.org/drawingml/2006/main">
              <a:ext uri="{FF2B5EF4-FFF2-40B4-BE49-F238E27FC236}">
                <a16:creationId xmlns:a16="http://schemas.microsoft.com/office/drawing/2014/main" id="{A5039C12-29F5-4C63-A0F2-60DE45596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762250"/>
            <a:ext cx="2333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2. 量化</a:t>
            </a:r>
          </a:p>
        </p:txBody>
      </p:sp>
      <p:sp>
        <p:nvSpPr>
          <p:cNvPr id="12" name="detail-quantization">
            <a:extLst xmlns:a="http://schemas.openxmlformats.org/drawingml/2006/main">
              <a:ext uri="{FF2B5EF4-FFF2-40B4-BE49-F238E27FC236}">
                <a16:creationId xmlns:a16="http://schemas.microsoft.com/office/drawing/2014/main" id="{8074D7B7-C3B7-4DBA-9E74-6DC0EDC07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762250"/>
            <a:ext cx="5857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样本 → 有限颜色等级</a:t>
            </a:r>
          </a:p>
        </p:txBody>
      </p:sp>
      <p:sp>
        <p:nvSpPr>
          <p:cNvPr id="14" name="focus-quantization">
            <a:extLst xmlns:a="http://schemas.openxmlformats.org/drawingml/2006/main">
              <a:ext uri="{FF2B5EF4-FFF2-40B4-BE49-F238E27FC236}">
                <a16:creationId xmlns:a16="http://schemas.microsoft.com/office/drawing/2014/main" id="{30B1A1EE-23FA-408B-A885-CB85643F2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724150"/>
            <a:ext cx="83629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0000"/>
            </a:solidFill>
            <a:prstDash val="solid"/>
          </a:ln>
        </p:spPr>
      </p:sp>
      <p:sp>
        <p:nvSpPr>
          <p:cNvPr id="15" name="new-label">
            <a:extLst xmlns:a="http://schemas.openxmlformats.org/drawingml/2006/main">
              <a:ext uri="{FF2B5EF4-FFF2-40B4-BE49-F238E27FC236}">
                <a16:creationId xmlns:a16="http://schemas.microsoft.com/office/drawing/2014/main" id="{60634245-5C6C-4533-A8DC-9AF90125C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新学</a:t>
            </a:r>
          </a:p>
        </p:txBody>
      </p:sp>
    </p:spTree>
    <p:extLst>
      <p:ext uri="{BB962C8B-B14F-4D97-AF65-F5344CB8AC3E}">
        <p14:creationId xmlns:p14="http://schemas.microsoft.com/office/powerpoint/2010/main" val="14671272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1" name=""/>
          <p:cNvCxnSpPr>
            <a:stCxn xmlns:a="http://schemas.openxmlformats.org/drawingml/2006/main" id="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 flipV="1">
            <a:off x="2419350" y="3571875"/>
            <a:ext cx="866775" cy="1428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C64E1"/>
            </a:solidFill>
            <a:prstDash val="solid"/>
          </a:ln>
        </p:spPr>
      </p:cxnSp>
      <p:cxnSp>
        <p:nvCxnSpPr>
          <p:cNvPr id="22" name=""/>
          <p:cNvCxnSpPr>
            <a:stCxn xmlns:a="http://schemas.openxmlformats.org/drawingml/2006/main" id="5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V="1">
            <a:off x="2419350" y="3000375"/>
            <a:ext cx="866775" cy="7143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C64E1"/>
            </a:solidFill>
            <a:prstDash val="solid"/>
          </a:ln>
        </p:spPr>
      </p:cxnSp>
      <p:cxnSp>
        <p:nvCxnSpPr>
          <p:cNvPr id="23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2419350" y="2428875"/>
            <a:ext cx="866775" cy="12858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C64E1"/>
            </a:solidFill>
            <a:prstDash val="solid"/>
          </a:ln>
        </p:spPr>
      </p:cxnSp>
      <p:sp>
        <p:nvSpPr>
          <p:cNvPr id="24" name="top-rail">
            <a:extLst xmlns:a="http://schemas.openxmlformats.org/drawingml/2006/main">
              <a:ext uri="{FF2B5EF4-FFF2-40B4-BE49-F238E27FC236}">
                <a16:creationId xmlns:a16="http://schemas.microsoft.com/office/drawing/2014/main" id="{66715EEB-2887-4D54-BAAB-AEE9C924A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8032D2DD-6D78-44EB-AFAE-8F8FCE834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B3753C3-9387-4CF4-B45B-6F1ACCD7F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我们已能解释图像的哪些问题？</a:t>
            </a:r>
          </a:p>
        </p:txBody>
      </p:sp>
      <p:sp>
        <p:nvSpPr>
          <p:cNvPr id="4" name="summary-instruction">
            <a:extLst xmlns:a="http://schemas.openxmlformats.org/drawingml/2006/main">
              <a:ext uri="{FF2B5EF4-FFF2-40B4-BE49-F238E27FC236}">
                <a16:creationId xmlns:a16="http://schemas.microsoft.com/office/drawing/2014/main" id="{C1A77786-26E4-4FFD-92D2-CFBEF16BB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先说结论和证据，再补充这张树。</a:t>
            </a:r>
          </a:p>
        </p:txBody>
      </p:sp>
      <p:sp>
        <p:nvSpPr>
          <p:cNvPr id="5" name="tree-root">
            <a:extLst xmlns:a="http://schemas.openxmlformats.org/drawingml/2006/main">
              <a:ext uri="{FF2B5EF4-FFF2-40B4-BE49-F238E27FC236}">
                <a16:creationId xmlns:a16="http://schemas.microsoft.com/office/drawing/2014/main" id="{02AD0BE5-5E3A-403E-BC8A-E4525C505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C64E1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图像编码</a:t>
            </a:r>
          </a:p>
        </p:txBody>
      </p:sp>
      <p:sp>
        <p:nvSpPr>
          <p:cNvPr id="6" name="node-sampling">
            <a:extLst xmlns:a="http://schemas.openxmlformats.org/drawingml/2006/main">
              <a:ext uri="{FF2B5EF4-FFF2-40B4-BE49-F238E27FC236}">
                <a16:creationId xmlns:a16="http://schemas.microsoft.com/office/drawing/2014/main" id="{0FAF0000-398C-45A7-A6B1-0CEA66548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190750"/>
            <a:ext cx="2333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1. 采样</a:t>
            </a:r>
          </a:p>
        </p:txBody>
      </p:sp>
      <p:sp>
        <p:nvSpPr>
          <p:cNvPr id="7" name="detail-sampling">
            <a:extLst xmlns:a="http://schemas.openxmlformats.org/drawingml/2006/main">
              <a:ext uri="{FF2B5EF4-FFF2-40B4-BE49-F238E27FC236}">
                <a16:creationId xmlns:a16="http://schemas.microsoft.com/office/drawing/2014/main" id="{A4BFBC66-DE37-4046-98A3-0F67DA226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190750"/>
            <a:ext cx="5857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有限位置；分辨率：横向 × 纵向</a:t>
            </a:r>
          </a:p>
        </p:txBody>
      </p:sp>
      <p:sp>
        <p:nvSpPr>
          <p:cNvPr id="9" name="focus-sampling">
            <a:extLst xmlns:a="http://schemas.openxmlformats.org/drawingml/2006/main">
              <a:ext uri="{FF2B5EF4-FFF2-40B4-BE49-F238E27FC236}">
                <a16:creationId xmlns:a16="http://schemas.microsoft.com/office/drawing/2014/main" id="{94406D46-D66D-4AAB-8F48-33EC24355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152650"/>
            <a:ext cx="83629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" name="new-label">
            <a:extLst xmlns:a="http://schemas.openxmlformats.org/drawingml/2006/main">
              <a:ext uri="{FF2B5EF4-FFF2-40B4-BE49-F238E27FC236}">
                <a16:creationId xmlns:a16="http://schemas.microsoft.com/office/drawing/2014/main" id="{55EE1864-473C-417E-88D3-EE6614C89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/>
            </a:r>
          </a:p>
        </p:txBody>
      </p:sp>
      <p:sp>
        <p:nvSpPr>
          <p:cNvPr id="11" name="node-quantization">
            <a:extLst xmlns:a="http://schemas.openxmlformats.org/drawingml/2006/main">
              <a:ext uri="{FF2B5EF4-FFF2-40B4-BE49-F238E27FC236}">
                <a16:creationId xmlns:a16="http://schemas.microsoft.com/office/drawing/2014/main" id="{A5039C12-29F5-4C63-A0F2-60DE45596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762250"/>
            <a:ext cx="2333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2. 量化</a:t>
            </a:r>
          </a:p>
        </p:txBody>
      </p:sp>
      <p:sp>
        <p:nvSpPr>
          <p:cNvPr id="12" name="detail-quantization">
            <a:extLst xmlns:a="http://schemas.openxmlformats.org/drawingml/2006/main">
              <a:ext uri="{FF2B5EF4-FFF2-40B4-BE49-F238E27FC236}">
                <a16:creationId xmlns:a16="http://schemas.microsoft.com/office/drawing/2014/main" id="{8074D7B7-C3B7-4DBA-9E74-6DC0EDC07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762250"/>
            <a:ext cx="5857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样本 → 有限颜色等级</a:t>
            </a:r>
          </a:p>
        </p:txBody>
      </p:sp>
      <p:sp>
        <p:nvSpPr>
          <p:cNvPr id="14" name="focus-quantization">
            <a:extLst xmlns:a="http://schemas.openxmlformats.org/drawingml/2006/main">
              <a:ext uri="{FF2B5EF4-FFF2-40B4-BE49-F238E27FC236}">
                <a16:creationId xmlns:a16="http://schemas.microsoft.com/office/drawing/2014/main" id="{30B1A1EE-23FA-408B-A885-CB85643F2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724150"/>
            <a:ext cx="83629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" name="new-label">
            <a:extLst xmlns:a="http://schemas.openxmlformats.org/drawingml/2006/main">
              <a:ext uri="{FF2B5EF4-FFF2-40B4-BE49-F238E27FC236}">
                <a16:creationId xmlns:a16="http://schemas.microsoft.com/office/drawing/2014/main" id="{60634245-5C6C-4533-A8DC-9AF90125C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/>
            </a:r>
          </a:p>
        </p:txBody>
      </p:sp>
      <p:sp>
        <p:nvSpPr>
          <p:cNvPr id="16" name="node-encoding">
            <a:extLst xmlns:a="http://schemas.openxmlformats.org/drawingml/2006/main">
              <a:ext uri="{FF2B5EF4-FFF2-40B4-BE49-F238E27FC236}">
                <a16:creationId xmlns:a16="http://schemas.microsoft.com/office/drawing/2014/main" id="{51BFD10B-D0F0-4A07-848A-7563C43AA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333750"/>
            <a:ext cx="2333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3. 编码</a:t>
            </a:r>
          </a:p>
        </p:txBody>
      </p:sp>
      <p:sp>
        <p:nvSpPr>
          <p:cNvPr id="17" name="detail-encoding">
            <a:extLst xmlns:a="http://schemas.openxmlformats.org/drawingml/2006/main">
              <a:ext uri="{FF2B5EF4-FFF2-40B4-BE49-F238E27FC236}">
                <a16:creationId xmlns:a16="http://schemas.microsoft.com/office/drawing/2014/main" id="{05A040D4-CC5B-4B69-8A7D-5A560BF19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333750"/>
            <a:ext cx="5857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量化值 → n位码字；容量 2ⁿ</a:t>
            </a:r>
          </a:p>
        </p:txBody>
      </p:sp>
      <p:sp>
        <p:nvSpPr>
          <p:cNvPr id="19" name="focus-encoding">
            <a:extLst xmlns:a="http://schemas.openxmlformats.org/drawingml/2006/main">
              <a:ext uri="{FF2B5EF4-FFF2-40B4-BE49-F238E27FC236}">
                <a16:creationId xmlns:a16="http://schemas.microsoft.com/office/drawing/2014/main" id="{007A4849-568E-40C8-8BB8-86DED2295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3295650"/>
            <a:ext cx="83629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0000"/>
            </a:solidFill>
            <a:prstDash val="solid"/>
          </a:ln>
        </p:spPr>
      </p:sp>
      <p:sp>
        <p:nvSpPr>
          <p:cNvPr id="20" name="new-label">
            <a:extLst xmlns:a="http://schemas.openxmlformats.org/drawingml/2006/main">
              <a:ext uri="{FF2B5EF4-FFF2-40B4-BE49-F238E27FC236}">
                <a16:creationId xmlns:a16="http://schemas.microsoft.com/office/drawing/2014/main" id="{B0B7F966-06E4-41A7-ADF9-EEFFD9253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新学</a:t>
            </a:r>
          </a:p>
        </p:txBody>
      </p:sp>
    </p:spTree>
    <p:extLst>
      <p:ext uri="{BB962C8B-B14F-4D97-AF65-F5344CB8AC3E}">
        <p14:creationId xmlns:p14="http://schemas.microsoft.com/office/powerpoint/2010/main" val="14671272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5" name=""/>
          <p:cNvCxnSpPr>
            <a:stCxn xmlns:a="http://schemas.openxmlformats.org/drawingml/2006/main" id="5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 flipV="1">
            <a:off x="2419350" y="3571875"/>
            <a:ext cx="866775" cy="1428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C64E1"/>
            </a:solidFill>
            <a:prstDash val="solid"/>
          </a:ln>
        </p:spPr>
      </p:cxnSp>
      <p:cxnSp>
        <p:nvCxnSpPr>
          <p:cNvPr id="16" name=""/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2419350" y="3000375"/>
            <a:ext cx="866775" cy="7143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C64E1"/>
            </a:solidFill>
            <a:prstDash val="solid"/>
          </a:ln>
        </p:spPr>
      </p:cxnSp>
      <p:cxnSp>
        <p:nvCxnSpPr>
          <p:cNvPr id="17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2419350" y="2428875"/>
            <a:ext cx="866775" cy="12858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C64E1"/>
            </a:solidFill>
            <a:prstDash val="solid"/>
          </a:ln>
        </p:spPr>
      </p:cxnSp>
      <p:sp>
        <p:nvSpPr>
          <p:cNvPr id="18" name="top-rail">
            <a:extLst xmlns:a="http://schemas.openxmlformats.org/drawingml/2006/main">
              <a:ext uri="{FF2B5EF4-FFF2-40B4-BE49-F238E27FC236}">
                <a16:creationId xmlns:a16="http://schemas.microsoft.com/office/drawing/2014/main" id="{1A905CD0-5717-43AE-B23C-4076F79E8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767A5E8D-136D-4EBE-BD2E-D5DF4989F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642ACA5-664D-438F-BE9C-7DAB42771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我们已能解释图像的哪些问题？</a:t>
            </a:r>
          </a:p>
        </p:txBody>
      </p:sp>
      <p:sp>
        <p:nvSpPr>
          <p:cNvPr id="4" name="summary-instruction">
            <a:extLst xmlns:a="http://schemas.openxmlformats.org/drawingml/2006/main">
              <a:ext uri="{FF2B5EF4-FFF2-40B4-BE49-F238E27FC236}">
                <a16:creationId xmlns:a16="http://schemas.microsoft.com/office/drawing/2014/main" id="{8617BC04-A94E-413E-9A09-B7CB113A8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先说结论和证据，再补充这张树。</a:t>
            </a:r>
          </a:p>
        </p:txBody>
      </p:sp>
      <p:sp>
        <p:nvSpPr>
          <p:cNvPr id="5" name="tree-root">
            <a:extLst xmlns:a="http://schemas.openxmlformats.org/drawingml/2006/main">
              <a:ext uri="{FF2B5EF4-FFF2-40B4-BE49-F238E27FC236}">
                <a16:creationId xmlns:a16="http://schemas.microsoft.com/office/drawing/2014/main" id="{4B5E08A7-4098-4065-BABC-E39FA4B96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C64E1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图像编码</a:t>
            </a:r>
          </a:p>
        </p:txBody>
      </p:sp>
      <p:sp>
        <p:nvSpPr>
          <p:cNvPr id="6" name="node-sampling">
            <a:extLst xmlns:a="http://schemas.openxmlformats.org/drawingml/2006/main">
              <a:ext uri="{FF2B5EF4-FFF2-40B4-BE49-F238E27FC236}">
                <a16:creationId xmlns:a16="http://schemas.microsoft.com/office/drawing/2014/main" id="{F545B47A-95ED-4134-8BE1-37A3BDEAB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190750"/>
            <a:ext cx="2333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1. 采样</a:t>
            </a:r>
          </a:p>
        </p:txBody>
      </p:sp>
      <p:sp>
        <p:nvSpPr>
          <p:cNvPr id="7" name="detail-sampling">
            <a:extLst xmlns:a="http://schemas.openxmlformats.org/drawingml/2006/main">
              <a:ext uri="{FF2B5EF4-FFF2-40B4-BE49-F238E27FC236}">
                <a16:creationId xmlns:a16="http://schemas.microsoft.com/office/drawing/2014/main" id="{092E72C9-D052-4028-BFF4-F17170E14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190750"/>
            <a:ext cx="5857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有限位置；分辨率：横向 × 纵向</a:t>
            </a:r>
          </a:p>
        </p:txBody>
      </p:sp>
      <p:sp>
        <p:nvSpPr>
          <p:cNvPr id="9" name="node-quantization">
            <a:extLst xmlns:a="http://schemas.openxmlformats.org/drawingml/2006/main">
              <a:ext uri="{FF2B5EF4-FFF2-40B4-BE49-F238E27FC236}">
                <a16:creationId xmlns:a16="http://schemas.microsoft.com/office/drawing/2014/main" id="{04CB961F-0B88-47A7-AD26-718CDAAFD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762250"/>
            <a:ext cx="2333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2. 量化</a:t>
            </a:r>
          </a:p>
        </p:txBody>
      </p:sp>
      <p:sp>
        <p:nvSpPr>
          <p:cNvPr id="10" name="detail-quantization">
            <a:extLst xmlns:a="http://schemas.openxmlformats.org/drawingml/2006/main">
              <a:ext uri="{FF2B5EF4-FFF2-40B4-BE49-F238E27FC236}">
                <a16:creationId xmlns:a16="http://schemas.microsoft.com/office/drawing/2014/main" id="{82A887A7-BEC7-4C8F-96CA-4628D9835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762250"/>
            <a:ext cx="5857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样本 → 有限颜色等级</a:t>
            </a:r>
          </a:p>
        </p:txBody>
      </p:sp>
      <p:sp>
        <p:nvSpPr>
          <p:cNvPr id="12" name="node-encoding">
            <a:extLst xmlns:a="http://schemas.openxmlformats.org/drawingml/2006/main">
              <a:ext uri="{FF2B5EF4-FFF2-40B4-BE49-F238E27FC236}">
                <a16:creationId xmlns:a16="http://schemas.microsoft.com/office/drawing/2014/main" id="{7536E798-F4B8-43A5-8A28-42FC57590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333750"/>
            <a:ext cx="2333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3. 编码</a:t>
            </a:r>
          </a:p>
        </p:txBody>
      </p:sp>
      <p:sp>
        <p:nvSpPr>
          <p:cNvPr id="13" name="detail-encoding">
            <a:extLst xmlns:a="http://schemas.openxmlformats.org/drawingml/2006/main">
              <a:ext uri="{FF2B5EF4-FFF2-40B4-BE49-F238E27FC236}">
                <a16:creationId xmlns:a16="http://schemas.microsoft.com/office/drawing/2014/main" id="{8403DC1E-0583-4AFF-8844-2B41A0FC3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333750"/>
            <a:ext cx="5857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量化值 → n位码字；容量 2ⁿ</a:t>
            </a:r>
          </a:p>
        </p:txBody>
      </p:sp>
    </p:spTree>
    <p:extLst>
      <p:ext uri="{BB962C8B-B14F-4D97-AF65-F5344CB8AC3E}">
        <p14:creationId xmlns:p14="http://schemas.microsoft.com/office/powerpoint/2010/main" val="74843319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0" name=""/>
          <p:cNvCxnSpPr>
            <a:stCxn xmlns:a="http://schemas.openxmlformats.org/drawingml/2006/main" id="5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2419350" y="3714750"/>
            <a:ext cx="866775" cy="4286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C64E1"/>
            </a:solidFill>
            <a:prstDash val="solid"/>
          </a:ln>
        </p:spPr>
      </p:cxnSp>
      <p:cxnSp>
        <p:nvCxnSpPr>
          <p:cNvPr id="21" name=""/>
          <p:cNvCxnSpPr>
            <a:stCxn xmlns:a="http://schemas.openxmlformats.org/drawingml/2006/main" id="5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 flipV="1">
            <a:off x="2419350" y="3571875"/>
            <a:ext cx="866775" cy="1428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C64E1"/>
            </a:solidFill>
            <a:prstDash val="solid"/>
          </a:ln>
        </p:spPr>
      </p:cxnSp>
      <p:cxnSp>
        <p:nvCxnSpPr>
          <p:cNvPr id="22" name=""/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2419350" y="3000375"/>
            <a:ext cx="866775" cy="7143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C64E1"/>
            </a:solidFill>
            <a:prstDash val="solid"/>
          </a:ln>
        </p:spPr>
      </p:cxnSp>
      <p:cxnSp>
        <p:nvCxnSpPr>
          <p:cNvPr id="23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2419350" y="2428875"/>
            <a:ext cx="866775" cy="12858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C64E1"/>
            </a:solidFill>
            <a:prstDash val="solid"/>
          </a:ln>
        </p:spPr>
      </p:cxnSp>
      <p:sp>
        <p:nvSpPr>
          <p:cNvPr id="24" name="top-rail">
            <a:extLst xmlns:a="http://schemas.openxmlformats.org/drawingml/2006/main">
              <a:ext uri="{FF2B5EF4-FFF2-40B4-BE49-F238E27FC236}">
                <a16:creationId xmlns:a16="http://schemas.microsoft.com/office/drawing/2014/main" id="{1A905CD0-5717-43AE-B23C-4076F79E8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767A5E8D-136D-4EBE-BD2E-D5DF4989F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642ACA5-664D-438F-BE9C-7DAB42771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我们已能解释图像的哪些问题？</a:t>
            </a:r>
          </a:p>
        </p:txBody>
      </p:sp>
      <p:sp>
        <p:nvSpPr>
          <p:cNvPr id="4" name="summary-instruction">
            <a:extLst xmlns:a="http://schemas.openxmlformats.org/drawingml/2006/main">
              <a:ext uri="{FF2B5EF4-FFF2-40B4-BE49-F238E27FC236}">
                <a16:creationId xmlns:a16="http://schemas.microsoft.com/office/drawing/2014/main" id="{8617BC04-A94E-413E-9A09-B7CB113A8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先说结论和证据，再补充这张树。</a:t>
            </a:r>
          </a:p>
        </p:txBody>
      </p:sp>
      <p:sp>
        <p:nvSpPr>
          <p:cNvPr id="5" name="tree-root">
            <a:extLst xmlns:a="http://schemas.openxmlformats.org/drawingml/2006/main">
              <a:ext uri="{FF2B5EF4-FFF2-40B4-BE49-F238E27FC236}">
                <a16:creationId xmlns:a16="http://schemas.microsoft.com/office/drawing/2014/main" id="{4B5E08A7-4098-4065-BABC-E39FA4B96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C64E1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图像编码</a:t>
            </a:r>
          </a:p>
        </p:txBody>
      </p:sp>
      <p:sp>
        <p:nvSpPr>
          <p:cNvPr id="6" name="node-sampling">
            <a:extLst xmlns:a="http://schemas.openxmlformats.org/drawingml/2006/main">
              <a:ext uri="{FF2B5EF4-FFF2-40B4-BE49-F238E27FC236}">
                <a16:creationId xmlns:a16="http://schemas.microsoft.com/office/drawing/2014/main" id="{F545B47A-95ED-4134-8BE1-37A3BDEAB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190750"/>
            <a:ext cx="2333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1. 采样</a:t>
            </a:r>
          </a:p>
        </p:txBody>
      </p:sp>
      <p:sp>
        <p:nvSpPr>
          <p:cNvPr id="7" name="detail-sampling">
            <a:extLst xmlns:a="http://schemas.openxmlformats.org/drawingml/2006/main">
              <a:ext uri="{FF2B5EF4-FFF2-40B4-BE49-F238E27FC236}">
                <a16:creationId xmlns:a16="http://schemas.microsoft.com/office/drawing/2014/main" id="{092E72C9-D052-4028-BFF4-F17170E14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190750"/>
            <a:ext cx="5857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有限位置；分辨率：横向 × 纵向</a:t>
            </a:r>
          </a:p>
        </p:txBody>
      </p:sp>
      <p:sp>
        <p:nvSpPr>
          <p:cNvPr id="9" name="node-quantization">
            <a:extLst xmlns:a="http://schemas.openxmlformats.org/drawingml/2006/main">
              <a:ext uri="{FF2B5EF4-FFF2-40B4-BE49-F238E27FC236}">
                <a16:creationId xmlns:a16="http://schemas.microsoft.com/office/drawing/2014/main" id="{04CB961F-0B88-47A7-AD26-718CDAAFD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762250"/>
            <a:ext cx="2333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2. 量化</a:t>
            </a:r>
          </a:p>
        </p:txBody>
      </p:sp>
      <p:sp>
        <p:nvSpPr>
          <p:cNvPr id="10" name="detail-quantization">
            <a:extLst xmlns:a="http://schemas.openxmlformats.org/drawingml/2006/main">
              <a:ext uri="{FF2B5EF4-FFF2-40B4-BE49-F238E27FC236}">
                <a16:creationId xmlns:a16="http://schemas.microsoft.com/office/drawing/2014/main" id="{82A887A7-BEC7-4C8F-96CA-4628D9835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762250"/>
            <a:ext cx="5857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样本 → 有限颜色等级</a:t>
            </a:r>
          </a:p>
        </p:txBody>
      </p:sp>
      <p:sp>
        <p:nvSpPr>
          <p:cNvPr id="12" name="node-encoding">
            <a:extLst xmlns:a="http://schemas.openxmlformats.org/drawingml/2006/main">
              <a:ext uri="{FF2B5EF4-FFF2-40B4-BE49-F238E27FC236}">
                <a16:creationId xmlns:a16="http://schemas.microsoft.com/office/drawing/2014/main" id="{7536E798-F4B8-43A5-8A28-42FC57590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333750"/>
            <a:ext cx="2333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3. 编码</a:t>
            </a:r>
          </a:p>
        </p:txBody>
      </p:sp>
      <p:sp>
        <p:nvSpPr>
          <p:cNvPr id="13" name="detail-encoding">
            <a:extLst xmlns:a="http://schemas.openxmlformats.org/drawingml/2006/main">
              <a:ext uri="{FF2B5EF4-FFF2-40B4-BE49-F238E27FC236}">
                <a16:creationId xmlns:a16="http://schemas.microsoft.com/office/drawing/2014/main" id="{8403DC1E-0583-4AFF-8844-2B41A0FC3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333750"/>
            <a:ext cx="5857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量化值 → n位码字；容量 2ⁿ</a:t>
            </a:r>
          </a:p>
        </p:txBody>
      </p:sp>
      <p:sp>
        <p:nvSpPr>
          <p:cNvPr id="15" name="node-payload">
            <a:extLst xmlns:a="http://schemas.openxmlformats.org/drawingml/2006/main">
              <a:ext uri="{FF2B5EF4-FFF2-40B4-BE49-F238E27FC236}">
                <a16:creationId xmlns:a16="http://schemas.microsoft.com/office/drawing/2014/main" id="{94B7460D-95E8-4AA2-875F-B866825A5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905250"/>
            <a:ext cx="2333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4. 像素数据量</a:t>
            </a:r>
          </a:p>
        </p:txBody>
      </p:sp>
      <p:sp>
        <p:nvSpPr>
          <p:cNvPr id="16" name="detail-payload">
            <a:extLst xmlns:a="http://schemas.openxmlformats.org/drawingml/2006/main">
              <a:ext uri="{FF2B5EF4-FFF2-40B4-BE49-F238E27FC236}">
                <a16:creationId xmlns:a16="http://schemas.microsoft.com/office/drawing/2014/main" id="{84CE40F1-71D5-4081-9D23-8BABF12FE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905250"/>
            <a:ext cx="5857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像素数 × n ÷ 8 B（理想）</a:t>
            </a:r>
          </a:p>
        </p:txBody>
      </p:sp>
      <p:sp>
        <p:nvSpPr>
          <p:cNvPr id="18" name="focus-payload">
            <a:extLst xmlns:a="http://schemas.openxmlformats.org/drawingml/2006/main">
              <a:ext uri="{FF2B5EF4-FFF2-40B4-BE49-F238E27FC236}">
                <a16:creationId xmlns:a16="http://schemas.microsoft.com/office/drawing/2014/main" id="{DAC63739-B8D6-4162-BD49-73A5A798B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3867150"/>
            <a:ext cx="83629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0000"/>
            </a:solidFill>
            <a:prstDash val="solid"/>
          </a:ln>
        </p:spPr>
      </p:sp>
      <p:sp>
        <p:nvSpPr>
          <p:cNvPr id="19" name="new-label">
            <a:extLst xmlns:a="http://schemas.openxmlformats.org/drawingml/2006/main">
              <a:ext uri="{FF2B5EF4-FFF2-40B4-BE49-F238E27FC236}">
                <a16:creationId xmlns:a16="http://schemas.microsoft.com/office/drawing/2014/main" id="{9AEC4630-33BF-46E4-916F-4DE0D7B33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新学</a:t>
            </a:r>
          </a:p>
        </p:txBody>
      </p:sp>
    </p:spTree>
    <p:extLst>
      <p:ext uri="{BB962C8B-B14F-4D97-AF65-F5344CB8AC3E}">
        <p14:creationId xmlns:p14="http://schemas.microsoft.com/office/powerpoint/2010/main" val="74843319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8" name=""/>
          <p:cNvCxnSpPr>
            <a:stCxn xmlns:a="http://schemas.openxmlformats.org/drawingml/2006/main" id="5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2419350" y="3714750"/>
            <a:ext cx="866775" cy="4286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C64E1"/>
            </a:solidFill>
            <a:prstDash val="solid"/>
          </a:ln>
        </p:spPr>
      </p:cxnSp>
      <p:cxnSp>
        <p:nvCxnSpPr>
          <p:cNvPr id="19" name=""/>
          <p:cNvCxnSpPr>
            <a:stCxn xmlns:a="http://schemas.openxmlformats.org/drawingml/2006/main" id="5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 flipV="1">
            <a:off x="2419350" y="3571875"/>
            <a:ext cx="866775" cy="1428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C64E1"/>
            </a:solidFill>
            <a:prstDash val="solid"/>
          </a:ln>
        </p:spPr>
      </p:cxnSp>
      <p:cxnSp>
        <p:nvCxnSpPr>
          <p:cNvPr id="20" name=""/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2419350" y="3000375"/>
            <a:ext cx="866775" cy="7143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C64E1"/>
            </a:solidFill>
            <a:prstDash val="solid"/>
          </a:ln>
        </p:spPr>
      </p:cxnSp>
      <p:cxnSp>
        <p:nvCxnSpPr>
          <p:cNvPr id="21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2419350" y="2428875"/>
            <a:ext cx="866775" cy="12858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C64E1"/>
            </a:solidFill>
            <a:prstDash val="solid"/>
          </a:ln>
        </p:spPr>
      </p:cxnSp>
      <p:sp>
        <p:nvSpPr>
          <p:cNvPr id="22" name="top-rail">
            <a:extLst xmlns:a="http://schemas.openxmlformats.org/drawingml/2006/main">
              <a:ext uri="{FF2B5EF4-FFF2-40B4-BE49-F238E27FC236}">
                <a16:creationId xmlns:a16="http://schemas.microsoft.com/office/drawing/2014/main" id="{EFE2D798-F4CD-428D-99EC-E57A72ADD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E7FA3FF5-6A4C-46DA-8390-FAC948484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A185CD6-891E-425D-B43F-B80969FB7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我们已能解释图像的哪些问题？</a:t>
            </a:r>
          </a:p>
        </p:txBody>
      </p:sp>
      <p:sp>
        <p:nvSpPr>
          <p:cNvPr id="4" name="summary-instruction">
            <a:extLst xmlns:a="http://schemas.openxmlformats.org/drawingml/2006/main">
              <a:ext uri="{FF2B5EF4-FFF2-40B4-BE49-F238E27FC236}">
                <a16:creationId xmlns:a16="http://schemas.microsoft.com/office/drawing/2014/main" id="{D3FE29B1-2B67-4850-8B63-D7C63B730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先说结论和证据，再补充这张树。</a:t>
            </a:r>
          </a:p>
        </p:txBody>
      </p:sp>
      <p:sp>
        <p:nvSpPr>
          <p:cNvPr id="5" name="tree-root">
            <a:extLst xmlns:a="http://schemas.openxmlformats.org/drawingml/2006/main">
              <a:ext uri="{FF2B5EF4-FFF2-40B4-BE49-F238E27FC236}">
                <a16:creationId xmlns:a16="http://schemas.microsoft.com/office/drawing/2014/main" id="{13D99332-6EA4-4F53-AAD7-C2307B9EE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C64E1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图像编码</a:t>
            </a:r>
          </a:p>
        </p:txBody>
      </p:sp>
      <p:sp>
        <p:nvSpPr>
          <p:cNvPr id="6" name="node-sampling">
            <a:extLst xmlns:a="http://schemas.openxmlformats.org/drawingml/2006/main">
              <a:ext uri="{FF2B5EF4-FFF2-40B4-BE49-F238E27FC236}">
                <a16:creationId xmlns:a16="http://schemas.microsoft.com/office/drawing/2014/main" id="{4B31F71F-A4D9-44FB-A64A-5F449FE7D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190750"/>
            <a:ext cx="2333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1. 采样</a:t>
            </a:r>
          </a:p>
        </p:txBody>
      </p:sp>
      <p:sp>
        <p:nvSpPr>
          <p:cNvPr id="7" name="detail-sampling">
            <a:extLst xmlns:a="http://schemas.openxmlformats.org/drawingml/2006/main">
              <a:ext uri="{FF2B5EF4-FFF2-40B4-BE49-F238E27FC236}">
                <a16:creationId xmlns:a16="http://schemas.microsoft.com/office/drawing/2014/main" id="{B5C8CA69-2A2E-4B07-8787-DEB5E01FA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190750"/>
            <a:ext cx="5857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有限位置；分辨率：横向 × 纵向</a:t>
            </a:r>
          </a:p>
        </p:txBody>
      </p:sp>
      <p:sp>
        <p:nvSpPr>
          <p:cNvPr id="9" name="node-quantization">
            <a:extLst xmlns:a="http://schemas.openxmlformats.org/drawingml/2006/main">
              <a:ext uri="{FF2B5EF4-FFF2-40B4-BE49-F238E27FC236}">
                <a16:creationId xmlns:a16="http://schemas.microsoft.com/office/drawing/2014/main" id="{E31DC94D-4333-4EB6-B681-C0D94F66B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762250"/>
            <a:ext cx="2333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2. 量化</a:t>
            </a:r>
          </a:p>
        </p:txBody>
      </p:sp>
      <p:sp>
        <p:nvSpPr>
          <p:cNvPr id="10" name="detail-quantization">
            <a:extLst xmlns:a="http://schemas.openxmlformats.org/drawingml/2006/main">
              <a:ext uri="{FF2B5EF4-FFF2-40B4-BE49-F238E27FC236}">
                <a16:creationId xmlns:a16="http://schemas.microsoft.com/office/drawing/2014/main" id="{7DAFFD9A-6220-417C-97E7-0517988BD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762250"/>
            <a:ext cx="5857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样本 → 有限颜色等级</a:t>
            </a:r>
          </a:p>
        </p:txBody>
      </p:sp>
      <p:sp>
        <p:nvSpPr>
          <p:cNvPr id="12" name="node-encoding">
            <a:extLst xmlns:a="http://schemas.openxmlformats.org/drawingml/2006/main">
              <a:ext uri="{FF2B5EF4-FFF2-40B4-BE49-F238E27FC236}">
                <a16:creationId xmlns:a16="http://schemas.microsoft.com/office/drawing/2014/main" id="{EAF42B9B-9CC9-4C97-813E-4E8760C5F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333750"/>
            <a:ext cx="2333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3. 编码</a:t>
            </a:r>
          </a:p>
        </p:txBody>
      </p:sp>
      <p:sp>
        <p:nvSpPr>
          <p:cNvPr id="13" name="detail-encoding">
            <a:extLst xmlns:a="http://schemas.openxmlformats.org/drawingml/2006/main">
              <a:ext uri="{FF2B5EF4-FFF2-40B4-BE49-F238E27FC236}">
                <a16:creationId xmlns:a16="http://schemas.microsoft.com/office/drawing/2014/main" id="{B9504233-550F-4AC5-A922-183A00D68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333750"/>
            <a:ext cx="5857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量化值 → n位码字；容量 2ⁿ</a:t>
            </a:r>
          </a:p>
        </p:txBody>
      </p:sp>
      <p:sp>
        <p:nvSpPr>
          <p:cNvPr id="15" name="node-payload">
            <a:extLst xmlns:a="http://schemas.openxmlformats.org/drawingml/2006/main">
              <a:ext uri="{FF2B5EF4-FFF2-40B4-BE49-F238E27FC236}">
                <a16:creationId xmlns:a16="http://schemas.microsoft.com/office/drawing/2014/main" id="{A9456A38-BA74-4E9C-9929-2061ED40D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905250"/>
            <a:ext cx="2333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4. 像素数据量</a:t>
            </a:r>
          </a:p>
        </p:txBody>
      </p:sp>
      <p:sp>
        <p:nvSpPr>
          <p:cNvPr id="16" name="detail-payload">
            <a:extLst xmlns:a="http://schemas.openxmlformats.org/drawingml/2006/main">
              <a:ext uri="{FF2B5EF4-FFF2-40B4-BE49-F238E27FC236}">
                <a16:creationId xmlns:a16="http://schemas.microsoft.com/office/drawing/2014/main" id="{F22C3623-0185-4D95-A99B-6EC05954D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905250"/>
            <a:ext cx="5857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像素数 × n ÷ 8 B（理想）</a:t>
            </a:r>
          </a:p>
        </p:txBody>
      </p:sp>
    </p:spTree>
    <p:extLst>
      <p:ext uri="{BB962C8B-B14F-4D97-AF65-F5344CB8AC3E}">
        <p14:creationId xmlns:p14="http://schemas.microsoft.com/office/powerpoint/2010/main" val="167462123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3" name=""/>
          <p:cNvCxnSpPr>
            <a:stCxn xmlns:a="http://schemas.openxmlformats.org/drawingml/2006/main" id="5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2419350" y="3714750"/>
            <a:ext cx="866775" cy="10001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C64E1"/>
            </a:solidFill>
            <a:prstDash val="solid"/>
          </a:ln>
        </p:spPr>
      </p:cxnSp>
      <p:cxnSp>
        <p:nvCxnSpPr>
          <p:cNvPr id="24" name=""/>
          <p:cNvCxnSpPr>
            <a:stCxn xmlns:a="http://schemas.openxmlformats.org/drawingml/2006/main" id="5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2419350" y="3714750"/>
            <a:ext cx="866775" cy="4286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C64E1"/>
            </a:solidFill>
            <a:prstDash val="solid"/>
          </a:ln>
        </p:spPr>
      </p:cxnSp>
      <p:cxnSp>
        <p:nvCxnSpPr>
          <p:cNvPr id="25" name=""/>
          <p:cNvCxnSpPr>
            <a:stCxn xmlns:a="http://schemas.openxmlformats.org/drawingml/2006/main" id="5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 flipV="1">
            <a:off x="2419350" y="3571875"/>
            <a:ext cx="866775" cy="1428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C64E1"/>
            </a:solidFill>
            <a:prstDash val="solid"/>
          </a:ln>
        </p:spPr>
      </p:cxnSp>
      <p:cxnSp>
        <p:nvCxnSpPr>
          <p:cNvPr id="26" name=""/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2419350" y="3000375"/>
            <a:ext cx="866775" cy="7143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C64E1"/>
            </a:solidFill>
            <a:prstDash val="solid"/>
          </a:ln>
        </p:spPr>
      </p:cxnSp>
      <p:cxnSp>
        <p:nvCxnSpPr>
          <p:cNvPr id="27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2419350" y="2428875"/>
            <a:ext cx="866775" cy="12858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C64E1"/>
            </a:solidFill>
            <a:prstDash val="solid"/>
          </a:ln>
        </p:spPr>
      </p:cxnSp>
      <p:sp>
        <p:nvSpPr>
          <p:cNvPr id="28" name="top-rail">
            <a:extLst xmlns:a="http://schemas.openxmlformats.org/drawingml/2006/main">
              <a:ext uri="{FF2B5EF4-FFF2-40B4-BE49-F238E27FC236}">
                <a16:creationId xmlns:a16="http://schemas.microsoft.com/office/drawing/2014/main" id="{EFE2D798-F4CD-428D-99EC-E57A72ADD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E7FA3FF5-6A4C-46DA-8390-FAC948484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A185CD6-891E-425D-B43F-B80969FB7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我们已能解释图像的哪些问题？</a:t>
            </a:r>
          </a:p>
        </p:txBody>
      </p:sp>
      <p:sp>
        <p:nvSpPr>
          <p:cNvPr id="4" name="summary-instruction">
            <a:extLst xmlns:a="http://schemas.openxmlformats.org/drawingml/2006/main">
              <a:ext uri="{FF2B5EF4-FFF2-40B4-BE49-F238E27FC236}">
                <a16:creationId xmlns:a16="http://schemas.microsoft.com/office/drawing/2014/main" id="{D3FE29B1-2B67-4850-8B63-D7C63B730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先说结论和证据，再补充这张树。</a:t>
            </a:r>
          </a:p>
        </p:txBody>
      </p:sp>
      <p:sp>
        <p:nvSpPr>
          <p:cNvPr id="5" name="tree-root">
            <a:extLst xmlns:a="http://schemas.openxmlformats.org/drawingml/2006/main">
              <a:ext uri="{FF2B5EF4-FFF2-40B4-BE49-F238E27FC236}">
                <a16:creationId xmlns:a16="http://schemas.microsoft.com/office/drawing/2014/main" id="{13D99332-6EA4-4F53-AAD7-C2307B9EE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C64E1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图像编码</a:t>
            </a:r>
          </a:p>
        </p:txBody>
      </p:sp>
      <p:sp>
        <p:nvSpPr>
          <p:cNvPr id="6" name="node-sampling">
            <a:extLst xmlns:a="http://schemas.openxmlformats.org/drawingml/2006/main">
              <a:ext uri="{FF2B5EF4-FFF2-40B4-BE49-F238E27FC236}">
                <a16:creationId xmlns:a16="http://schemas.microsoft.com/office/drawing/2014/main" id="{4B31F71F-A4D9-44FB-A64A-5F449FE7D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190750"/>
            <a:ext cx="2333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1. 采样</a:t>
            </a:r>
          </a:p>
        </p:txBody>
      </p:sp>
      <p:sp>
        <p:nvSpPr>
          <p:cNvPr id="7" name="detail-sampling">
            <a:extLst xmlns:a="http://schemas.openxmlformats.org/drawingml/2006/main">
              <a:ext uri="{FF2B5EF4-FFF2-40B4-BE49-F238E27FC236}">
                <a16:creationId xmlns:a16="http://schemas.microsoft.com/office/drawing/2014/main" id="{B5C8CA69-2A2E-4B07-8787-DEB5E01FA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190750"/>
            <a:ext cx="5857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有限位置；分辨率：横向 × 纵向</a:t>
            </a:r>
          </a:p>
        </p:txBody>
      </p:sp>
      <p:sp>
        <p:nvSpPr>
          <p:cNvPr id="9" name="node-quantization">
            <a:extLst xmlns:a="http://schemas.openxmlformats.org/drawingml/2006/main">
              <a:ext uri="{FF2B5EF4-FFF2-40B4-BE49-F238E27FC236}">
                <a16:creationId xmlns:a16="http://schemas.microsoft.com/office/drawing/2014/main" id="{E31DC94D-4333-4EB6-B681-C0D94F66B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762250"/>
            <a:ext cx="2333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2. 量化</a:t>
            </a:r>
          </a:p>
        </p:txBody>
      </p:sp>
      <p:sp>
        <p:nvSpPr>
          <p:cNvPr id="10" name="detail-quantization">
            <a:extLst xmlns:a="http://schemas.openxmlformats.org/drawingml/2006/main">
              <a:ext uri="{FF2B5EF4-FFF2-40B4-BE49-F238E27FC236}">
                <a16:creationId xmlns:a16="http://schemas.microsoft.com/office/drawing/2014/main" id="{7DAFFD9A-6220-417C-97E7-0517988BD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762250"/>
            <a:ext cx="5857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样本 → 有限颜色等级</a:t>
            </a:r>
          </a:p>
        </p:txBody>
      </p:sp>
      <p:sp>
        <p:nvSpPr>
          <p:cNvPr id="12" name="node-encoding">
            <a:extLst xmlns:a="http://schemas.openxmlformats.org/drawingml/2006/main">
              <a:ext uri="{FF2B5EF4-FFF2-40B4-BE49-F238E27FC236}">
                <a16:creationId xmlns:a16="http://schemas.microsoft.com/office/drawing/2014/main" id="{EAF42B9B-9CC9-4C97-813E-4E8760C5F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333750"/>
            <a:ext cx="2333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3. 编码</a:t>
            </a:r>
          </a:p>
        </p:txBody>
      </p:sp>
      <p:sp>
        <p:nvSpPr>
          <p:cNvPr id="13" name="detail-encoding">
            <a:extLst xmlns:a="http://schemas.openxmlformats.org/drawingml/2006/main">
              <a:ext uri="{FF2B5EF4-FFF2-40B4-BE49-F238E27FC236}">
                <a16:creationId xmlns:a16="http://schemas.microsoft.com/office/drawing/2014/main" id="{B9504233-550F-4AC5-A922-183A00D68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333750"/>
            <a:ext cx="5857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量化值 → n位码字；容量 2ⁿ</a:t>
            </a:r>
          </a:p>
        </p:txBody>
      </p:sp>
      <p:sp>
        <p:nvSpPr>
          <p:cNvPr id="15" name="node-payload">
            <a:extLst xmlns:a="http://schemas.openxmlformats.org/drawingml/2006/main">
              <a:ext uri="{FF2B5EF4-FFF2-40B4-BE49-F238E27FC236}">
                <a16:creationId xmlns:a16="http://schemas.microsoft.com/office/drawing/2014/main" id="{A9456A38-BA74-4E9C-9929-2061ED40D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905250"/>
            <a:ext cx="2333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4. 像素数据量</a:t>
            </a:r>
          </a:p>
        </p:txBody>
      </p:sp>
      <p:sp>
        <p:nvSpPr>
          <p:cNvPr id="16" name="detail-payload">
            <a:extLst xmlns:a="http://schemas.openxmlformats.org/drawingml/2006/main">
              <a:ext uri="{FF2B5EF4-FFF2-40B4-BE49-F238E27FC236}">
                <a16:creationId xmlns:a16="http://schemas.microsoft.com/office/drawing/2014/main" id="{F22C3623-0185-4D95-A99B-6EC05954D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905250"/>
            <a:ext cx="5857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像素数 × n ÷ 8 B（理想）</a:t>
            </a:r>
          </a:p>
        </p:txBody>
      </p:sp>
      <p:sp>
        <p:nvSpPr>
          <p:cNvPr id="18" name="node-rgb">
            <a:extLst xmlns:a="http://schemas.openxmlformats.org/drawingml/2006/main">
              <a:ext uri="{FF2B5EF4-FFF2-40B4-BE49-F238E27FC236}">
                <a16:creationId xmlns:a16="http://schemas.microsoft.com/office/drawing/2014/main" id="{57E22B75-8459-4FDB-BDD9-7F00B816A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476750"/>
            <a:ext cx="2333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5. 颜色表示</a:t>
            </a:r>
          </a:p>
        </p:txBody>
      </p:sp>
      <p:sp>
        <p:nvSpPr>
          <p:cNvPr id="19" name="detail-rgb">
            <a:extLst xmlns:a="http://schemas.openxmlformats.org/drawingml/2006/main">
              <a:ext uri="{FF2B5EF4-FFF2-40B4-BE49-F238E27FC236}">
                <a16:creationId xmlns:a16="http://schemas.microsoft.com/office/drawing/2014/main" id="{AA7872E8-C4AD-493E-A08F-2DD18A4BA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476750"/>
            <a:ext cx="5857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调色板编号 / 三个8位RGB通道</a:t>
            </a:r>
          </a:p>
        </p:txBody>
      </p:sp>
      <p:sp>
        <p:nvSpPr>
          <p:cNvPr id="21" name="focus-rgb">
            <a:extLst xmlns:a="http://schemas.openxmlformats.org/drawingml/2006/main">
              <a:ext uri="{FF2B5EF4-FFF2-40B4-BE49-F238E27FC236}">
                <a16:creationId xmlns:a16="http://schemas.microsoft.com/office/drawing/2014/main" id="{BA2EFB72-048E-443F-B60E-13672AB1E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4438650"/>
            <a:ext cx="83629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0000"/>
            </a:solidFill>
            <a:prstDash val="solid"/>
          </a:ln>
        </p:spPr>
      </p:sp>
      <p:sp>
        <p:nvSpPr>
          <p:cNvPr id="22" name="new-label">
            <a:extLst xmlns:a="http://schemas.openxmlformats.org/drawingml/2006/main">
              <a:ext uri="{FF2B5EF4-FFF2-40B4-BE49-F238E27FC236}">
                <a16:creationId xmlns:a16="http://schemas.microsoft.com/office/drawing/2014/main" id="{BCD930AA-6407-4BB0-8435-67D401D86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新学</a:t>
            </a:r>
          </a:p>
        </p:txBody>
      </p:sp>
    </p:spTree>
    <p:extLst>
      <p:ext uri="{BB962C8B-B14F-4D97-AF65-F5344CB8AC3E}">
        <p14:creationId xmlns:p14="http://schemas.microsoft.com/office/powerpoint/2010/main" val="167462123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8" name=""/>
          <p:cNvCxnSpPr>
            <a:stCxn xmlns:a="http://schemas.openxmlformats.org/drawingml/2006/main" id="5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2419350" y="3714750"/>
            <a:ext cx="866775" cy="15716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C64E1"/>
            </a:solidFill>
            <a:prstDash val="solid"/>
          </a:ln>
        </p:spPr>
      </p:cxnSp>
      <p:cxnSp>
        <p:nvCxnSpPr>
          <p:cNvPr id="29" name=""/>
          <p:cNvCxnSpPr>
            <a:stCxn xmlns:a="http://schemas.openxmlformats.org/drawingml/2006/main" id="5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2419350" y="3714750"/>
            <a:ext cx="866775" cy="10001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C64E1"/>
            </a:solidFill>
            <a:prstDash val="solid"/>
          </a:ln>
        </p:spPr>
      </p:cxnSp>
      <p:cxnSp>
        <p:nvCxnSpPr>
          <p:cNvPr id="30" name=""/>
          <p:cNvCxnSpPr>
            <a:stCxn xmlns:a="http://schemas.openxmlformats.org/drawingml/2006/main" id="5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2419350" y="3714750"/>
            <a:ext cx="866775" cy="4286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C64E1"/>
            </a:solidFill>
            <a:prstDash val="solid"/>
          </a:ln>
        </p:spPr>
      </p:cxnSp>
      <p:cxnSp>
        <p:nvCxnSpPr>
          <p:cNvPr id="31" name=""/>
          <p:cNvCxnSpPr>
            <a:stCxn xmlns:a="http://schemas.openxmlformats.org/drawingml/2006/main" id="5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 flipV="1">
            <a:off x="2419350" y="3571875"/>
            <a:ext cx="866775" cy="1428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C64E1"/>
            </a:solidFill>
            <a:prstDash val="solid"/>
          </a:ln>
        </p:spPr>
      </p:cxnSp>
      <p:cxnSp>
        <p:nvCxnSpPr>
          <p:cNvPr id="32" name=""/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2419350" y="3000375"/>
            <a:ext cx="866775" cy="7143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C64E1"/>
            </a:solidFill>
            <a:prstDash val="solid"/>
          </a:ln>
        </p:spPr>
      </p:cxnSp>
      <p:cxnSp>
        <p:nvCxnSpPr>
          <p:cNvPr id="33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2419350" y="2428875"/>
            <a:ext cx="866775" cy="12858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C64E1"/>
            </a:solidFill>
            <a:prstDash val="solid"/>
          </a:ln>
        </p:spPr>
      </p:cxnSp>
      <p:sp>
        <p:nvSpPr>
          <p:cNvPr id="34" name="top-rail">
            <a:extLst xmlns:a="http://schemas.openxmlformats.org/drawingml/2006/main">
              <a:ext uri="{FF2B5EF4-FFF2-40B4-BE49-F238E27FC236}">
                <a16:creationId xmlns:a16="http://schemas.microsoft.com/office/drawing/2014/main" id="{EFE2D798-F4CD-428D-99EC-E57A72ADD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E7FA3FF5-6A4C-46DA-8390-FAC948484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A185CD6-891E-425D-B43F-B80969FB7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我们已能解释图像的哪些问题？</a:t>
            </a:r>
          </a:p>
        </p:txBody>
      </p:sp>
      <p:sp>
        <p:nvSpPr>
          <p:cNvPr id="4" name="summary-instruction">
            <a:extLst xmlns:a="http://schemas.openxmlformats.org/drawingml/2006/main">
              <a:ext uri="{FF2B5EF4-FFF2-40B4-BE49-F238E27FC236}">
                <a16:creationId xmlns:a16="http://schemas.microsoft.com/office/drawing/2014/main" id="{D3FE29B1-2B67-4850-8B63-D7C63B730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先说结论和证据，再补充这张树。</a:t>
            </a:r>
          </a:p>
        </p:txBody>
      </p:sp>
      <p:sp>
        <p:nvSpPr>
          <p:cNvPr id="5" name="tree-root">
            <a:extLst xmlns:a="http://schemas.openxmlformats.org/drawingml/2006/main">
              <a:ext uri="{FF2B5EF4-FFF2-40B4-BE49-F238E27FC236}">
                <a16:creationId xmlns:a16="http://schemas.microsoft.com/office/drawing/2014/main" id="{13D99332-6EA4-4F53-AAD7-C2307B9EE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C64E1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图像编码</a:t>
            </a:r>
          </a:p>
        </p:txBody>
      </p:sp>
      <p:sp>
        <p:nvSpPr>
          <p:cNvPr id="6" name="node-sampling">
            <a:extLst xmlns:a="http://schemas.openxmlformats.org/drawingml/2006/main">
              <a:ext uri="{FF2B5EF4-FFF2-40B4-BE49-F238E27FC236}">
                <a16:creationId xmlns:a16="http://schemas.microsoft.com/office/drawing/2014/main" id="{4B31F71F-A4D9-44FB-A64A-5F449FE7D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190750"/>
            <a:ext cx="2333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1. 采样</a:t>
            </a:r>
          </a:p>
        </p:txBody>
      </p:sp>
      <p:sp>
        <p:nvSpPr>
          <p:cNvPr id="7" name="detail-sampling">
            <a:extLst xmlns:a="http://schemas.openxmlformats.org/drawingml/2006/main">
              <a:ext uri="{FF2B5EF4-FFF2-40B4-BE49-F238E27FC236}">
                <a16:creationId xmlns:a16="http://schemas.microsoft.com/office/drawing/2014/main" id="{B5C8CA69-2A2E-4B07-8787-DEB5E01FA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190750"/>
            <a:ext cx="5857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有限位置；分辨率：横向 × 纵向</a:t>
            </a:r>
          </a:p>
        </p:txBody>
      </p:sp>
      <p:sp>
        <p:nvSpPr>
          <p:cNvPr id="9" name="node-quantization">
            <a:extLst xmlns:a="http://schemas.openxmlformats.org/drawingml/2006/main">
              <a:ext uri="{FF2B5EF4-FFF2-40B4-BE49-F238E27FC236}">
                <a16:creationId xmlns:a16="http://schemas.microsoft.com/office/drawing/2014/main" id="{E31DC94D-4333-4EB6-B681-C0D94F66B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762250"/>
            <a:ext cx="2333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2. 量化</a:t>
            </a:r>
          </a:p>
        </p:txBody>
      </p:sp>
      <p:sp>
        <p:nvSpPr>
          <p:cNvPr id="10" name="detail-quantization">
            <a:extLst xmlns:a="http://schemas.openxmlformats.org/drawingml/2006/main">
              <a:ext uri="{FF2B5EF4-FFF2-40B4-BE49-F238E27FC236}">
                <a16:creationId xmlns:a16="http://schemas.microsoft.com/office/drawing/2014/main" id="{7DAFFD9A-6220-417C-97E7-0517988BD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762250"/>
            <a:ext cx="5857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样本 → 有限颜色等级</a:t>
            </a:r>
          </a:p>
        </p:txBody>
      </p:sp>
      <p:sp>
        <p:nvSpPr>
          <p:cNvPr id="12" name="node-encoding">
            <a:extLst xmlns:a="http://schemas.openxmlformats.org/drawingml/2006/main">
              <a:ext uri="{FF2B5EF4-FFF2-40B4-BE49-F238E27FC236}">
                <a16:creationId xmlns:a16="http://schemas.microsoft.com/office/drawing/2014/main" id="{EAF42B9B-9CC9-4C97-813E-4E8760C5F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333750"/>
            <a:ext cx="2333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3. 编码</a:t>
            </a:r>
          </a:p>
        </p:txBody>
      </p:sp>
      <p:sp>
        <p:nvSpPr>
          <p:cNvPr id="13" name="detail-encoding">
            <a:extLst xmlns:a="http://schemas.openxmlformats.org/drawingml/2006/main">
              <a:ext uri="{FF2B5EF4-FFF2-40B4-BE49-F238E27FC236}">
                <a16:creationId xmlns:a16="http://schemas.microsoft.com/office/drawing/2014/main" id="{B9504233-550F-4AC5-A922-183A00D68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333750"/>
            <a:ext cx="5857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量化值 → n位码字；容量 2ⁿ</a:t>
            </a:r>
          </a:p>
        </p:txBody>
      </p:sp>
      <p:sp>
        <p:nvSpPr>
          <p:cNvPr id="15" name="node-payload">
            <a:extLst xmlns:a="http://schemas.openxmlformats.org/drawingml/2006/main">
              <a:ext uri="{FF2B5EF4-FFF2-40B4-BE49-F238E27FC236}">
                <a16:creationId xmlns:a16="http://schemas.microsoft.com/office/drawing/2014/main" id="{A9456A38-BA74-4E9C-9929-2061ED40D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905250"/>
            <a:ext cx="2333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4. 像素数据量</a:t>
            </a:r>
          </a:p>
        </p:txBody>
      </p:sp>
      <p:sp>
        <p:nvSpPr>
          <p:cNvPr id="16" name="detail-payload">
            <a:extLst xmlns:a="http://schemas.openxmlformats.org/drawingml/2006/main">
              <a:ext uri="{FF2B5EF4-FFF2-40B4-BE49-F238E27FC236}">
                <a16:creationId xmlns:a16="http://schemas.microsoft.com/office/drawing/2014/main" id="{F22C3623-0185-4D95-A99B-6EC05954D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905250"/>
            <a:ext cx="5857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像素数 × n ÷ 8 B（理想）</a:t>
            </a:r>
          </a:p>
        </p:txBody>
      </p:sp>
      <p:sp>
        <p:nvSpPr>
          <p:cNvPr id="18" name="node-rgb">
            <a:extLst xmlns:a="http://schemas.openxmlformats.org/drawingml/2006/main">
              <a:ext uri="{FF2B5EF4-FFF2-40B4-BE49-F238E27FC236}">
                <a16:creationId xmlns:a16="http://schemas.microsoft.com/office/drawing/2014/main" id="{57E22B75-8459-4FDB-BDD9-7F00B816A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476750"/>
            <a:ext cx="2333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5. 颜色表示</a:t>
            </a:r>
          </a:p>
        </p:txBody>
      </p:sp>
      <p:sp>
        <p:nvSpPr>
          <p:cNvPr id="19" name="detail-rgb">
            <a:extLst xmlns:a="http://schemas.openxmlformats.org/drawingml/2006/main">
              <a:ext uri="{FF2B5EF4-FFF2-40B4-BE49-F238E27FC236}">
                <a16:creationId xmlns:a16="http://schemas.microsoft.com/office/drawing/2014/main" id="{AA7872E8-C4AD-493E-A08F-2DD18A4BA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476750"/>
            <a:ext cx="5857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调色板编号 / 三个8位RGB通道</a:t>
            </a:r>
          </a:p>
        </p:txBody>
      </p:sp>
      <p:sp>
        <p:nvSpPr>
          <p:cNvPr id="21" name="focus-rgb">
            <a:extLst xmlns:a="http://schemas.openxmlformats.org/drawingml/2006/main">
              <a:ext uri="{FF2B5EF4-FFF2-40B4-BE49-F238E27FC236}">
                <a16:creationId xmlns:a16="http://schemas.microsoft.com/office/drawing/2014/main" id="{BA2EFB72-048E-443F-B60E-13672AB1E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4438650"/>
            <a:ext cx="83629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" name="new-label">
            <a:extLst xmlns:a="http://schemas.openxmlformats.org/drawingml/2006/main">
              <a:ext uri="{FF2B5EF4-FFF2-40B4-BE49-F238E27FC236}">
                <a16:creationId xmlns:a16="http://schemas.microsoft.com/office/drawing/2014/main" id="{BCD930AA-6407-4BB0-8435-67D401D86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/>
            </a:r>
          </a:p>
        </p:txBody>
      </p:sp>
      <p:sp>
        <p:nvSpPr>
          <p:cNvPr id="23" name="node-decoding">
            <a:extLst xmlns:a="http://schemas.openxmlformats.org/drawingml/2006/main">
              <a:ext uri="{FF2B5EF4-FFF2-40B4-BE49-F238E27FC236}">
                <a16:creationId xmlns:a16="http://schemas.microsoft.com/office/drawing/2014/main" id="{7562E884-6F62-4323-8CDA-FF16CB0B5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5048250"/>
            <a:ext cx="2333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6. 解码</a:t>
            </a:r>
          </a:p>
        </p:txBody>
      </p:sp>
      <p:sp>
        <p:nvSpPr>
          <p:cNvPr id="24" name="detail-decoding">
            <a:extLst xmlns:a="http://schemas.openxmlformats.org/drawingml/2006/main">
              <a:ext uri="{FF2B5EF4-FFF2-40B4-BE49-F238E27FC236}">
                <a16:creationId xmlns:a16="http://schemas.microsoft.com/office/drawing/2014/main" id="{75D16A95-DA4A-4515-95C4-984ED0FC3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048250"/>
            <a:ext cx="5857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码字＋尺寸等规则 → 像素图</a:t>
            </a:r>
          </a:p>
        </p:txBody>
      </p:sp>
      <p:sp>
        <p:nvSpPr>
          <p:cNvPr id="26" name="focus-decoding">
            <a:extLst xmlns:a="http://schemas.openxmlformats.org/drawingml/2006/main">
              <a:ext uri="{FF2B5EF4-FFF2-40B4-BE49-F238E27FC236}">
                <a16:creationId xmlns:a16="http://schemas.microsoft.com/office/drawing/2014/main" id="{75F66564-4CAB-4C5C-AC4C-FBBB215F2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5010150"/>
            <a:ext cx="83629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0000"/>
            </a:solidFill>
            <a:prstDash val="solid"/>
          </a:ln>
        </p:spPr>
      </p:sp>
      <p:sp>
        <p:nvSpPr>
          <p:cNvPr id="27" name="new-label">
            <a:extLst xmlns:a="http://schemas.openxmlformats.org/drawingml/2006/main">
              <a:ext uri="{FF2B5EF4-FFF2-40B4-BE49-F238E27FC236}">
                <a16:creationId xmlns:a16="http://schemas.microsoft.com/office/drawing/2014/main" id="{0756A9C9-1923-47A5-AB3B-BE5891F30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新学</a:t>
            </a:r>
          </a:p>
        </p:txBody>
      </p:sp>
    </p:spTree>
    <p:extLst>
      <p:ext uri="{BB962C8B-B14F-4D97-AF65-F5344CB8AC3E}">
        <p14:creationId xmlns:p14="http://schemas.microsoft.com/office/powerpoint/2010/main" val="167462123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4" name=""/>
          <p:cNvCxnSpPr>
            <a:stCxn xmlns:a="http://schemas.openxmlformats.org/drawingml/2006/main" id="5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2419350" y="3714750"/>
            <a:ext cx="866775" cy="15716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C64E1"/>
            </a:solidFill>
            <a:prstDash val="solid"/>
          </a:ln>
        </p:spPr>
      </p:cxnSp>
      <p:cxnSp>
        <p:nvCxnSpPr>
          <p:cNvPr id="25" name=""/>
          <p:cNvCxnSpPr>
            <a:stCxn xmlns:a="http://schemas.openxmlformats.org/drawingml/2006/main" id="5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2419350" y="3714750"/>
            <a:ext cx="866775" cy="10001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C64E1"/>
            </a:solidFill>
            <a:prstDash val="solid"/>
          </a:ln>
        </p:spPr>
      </p:cxnSp>
      <p:cxnSp>
        <p:nvCxnSpPr>
          <p:cNvPr id="26" name=""/>
          <p:cNvCxnSpPr>
            <a:stCxn xmlns:a="http://schemas.openxmlformats.org/drawingml/2006/main" id="5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2419350" y="3714750"/>
            <a:ext cx="866775" cy="4286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C64E1"/>
            </a:solidFill>
            <a:prstDash val="solid"/>
          </a:ln>
        </p:spPr>
      </p:cxnSp>
      <p:cxnSp>
        <p:nvCxnSpPr>
          <p:cNvPr id="27" name=""/>
          <p:cNvCxnSpPr>
            <a:stCxn xmlns:a="http://schemas.openxmlformats.org/drawingml/2006/main" id="5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 flipV="1">
            <a:off x="2419350" y="3571875"/>
            <a:ext cx="866775" cy="1428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C64E1"/>
            </a:solidFill>
            <a:prstDash val="solid"/>
          </a:ln>
        </p:spPr>
      </p:cxnSp>
      <p:cxnSp>
        <p:nvCxnSpPr>
          <p:cNvPr id="28" name=""/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2419350" y="3000375"/>
            <a:ext cx="866775" cy="7143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C64E1"/>
            </a:solidFill>
            <a:prstDash val="solid"/>
          </a:ln>
        </p:spPr>
      </p:cxnSp>
      <p:cxnSp>
        <p:nvCxnSpPr>
          <p:cNvPr id="29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2419350" y="2428875"/>
            <a:ext cx="866775" cy="12858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C64E1"/>
            </a:solidFill>
            <a:prstDash val="solid"/>
          </a:ln>
        </p:spPr>
      </p:cxnSp>
      <p:sp>
        <p:nvSpPr>
          <p:cNvPr id="30" name="top-rail">
            <a:extLst xmlns:a="http://schemas.openxmlformats.org/drawingml/2006/main">
              <a:ext uri="{FF2B5EF4-FFF2-40B4-BE49-F238E27FC236}">
                <a16:creationId xmlns:a16="http://schemas.microsoft.com/office/drawing/2014/main" id="{21D3FD42-E120-4483-B48A-F2F3EBC58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1E2895D1-7579-4083-B94B-C7FCBF2CC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BBC6950-6420-4B23-A7F1-90B9FE15F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我们已能解释图像的哪些问题？</a:t>
            </a:r>
          </a:p>
        </p:txBody>
      </p:sp>
      <p:sp>
        <p:nvSpPr>
          <p:cNvPr id="4" name="summary-instruction">
            <a:extLst xmlns:a="http://schemas.openxmlformats.org/drawingml/2006/main">
              <a:ext uri="{FF2B5EF4-FFF2-40B4-BE49-F238E27FC236}">
                <a16:creationId xmlns:a16="http://schemas.microsoft.com/office/drawing/2014/main" id="{A59A784B-FB7A-4249-9925-A33C3742C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先说结论和证据，再补充这张树。</a:t>
            </a:r>
          </a:p>
        </p:txBody>
      </p:sp>
      <p:sp>
        <p:nvSpPr>
          <p:cNvPr id="5" name="tree-root">
            <a:extLst xmlns:a="http://schemas.openxmlformats.org/drawingml/2006/main">
              <a:ext uri="{FF2B5EF4-FFF2-40B4-BE49-F238E27FC236}">
                <a16:creationId xmlns:a16="http://schemas.microsoft.com/office/drawing/2014/main" id="{3FCFB695-293E-4C64-A736-97AFD2EE7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C64E1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图像编码</a:t>
            </a:r>
          </a:p>
        </p:txBody>
      </p:sp>
      <p:sp>
        <p:nvSpPr>
          <p:cNvPr id="6" name="node-sampling">
            <a:extLst xmlns:a="http://schemas.openxmlformats.org/drawingml/2006/main">
              <a:ext uri="{FF2B5EF4-FFF2-40B4-BE49-F238E27FC236}">
                <a16:creationId xmlns:a16="http://schemas.microsoft.com/office/drawing/2014/main" id="{DED7656B-A986-4E44-ADB3-238AA44C8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190750"/>
            <a:ext cx="2333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1. 采样</a:t>
            </a:r>
          </a:p>
        </p:txBody>
      </p:sp>
      <p:sp>
        <p:nvSpPr>
          <p:cNvPr id="7" name="detail-sampling">
            <a:extLst xmlns:a="http://schemas.openxmlformats.org/drawingml/2006/main">
              <a:ext uri="{FF2B5EF4-FFF2-40B4-BE49-F238E27FC236}">
                <a16:creationId xmlns:a16="http://schemas.microsoft.com/office/drawing/2014/main" id="{DC5E16C4-EFE2-4D1F-9130-D56837983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190750"/>
            <a:ext cx="5857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有限位置；分辨率：横向 × 纵向</a:t>
            </a:r>
          </a:p>
        </p:txBody>
      </p:sp>
      <p:sp>
        <p:nvSpPr>
          <p:cNvPr id="9" name="node-quantization">
            <a:extLst xmlns:a="http://schemas.openxmlformats.org/drawingml/2006/main">
              <a:ext uri="{FF2B5EF4-FFF2-40B4-BE49-F238E27FC236}">
                <a16:creationId xmlns:a16="http://schemas.microsoft.com/office/drawing/2014/main" id="{55A8C19F-EC32-4544-8118-5247A8A92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762250"/>
            <a:ext cx="2333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2. 量化</a:t>
            </a:r>
          </a:p>
        </p:txBody>
      </p:sp>
      <p:sp>
        <p:nvSpPr>
          <p:cNvPr id="10" name="detail-quantization">
            <a:extLst xmlns:a="http://schemas.openxmlformats.org/drawingml/2006/main">
              <a:ext uri="{FF2B5EF4-FFF2-40B4-BE49-F238E27FC236}">
                <a16:creationId xmlns:a16="http://schemas.microsoft.com/office/drawing/2014/main" id="{283AA86D-D7A9-4D39-AE55-5282B580A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762250"/>
            <a:ext cx="5857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样本 → 有限颜色等级</a:t>
            </a:r>
          </a:p>
        </p:txBody>
      </p:sp>
      <p:sp>
        <p:nvSpPr>
          <p:cNvPr id="12" name="node-encoding">
            <a:extLst xmlns:a="http://schemas.openxmlformats.org/drawingml/2006/main">
              <a:ext uri="{FF2B5EF4-FFF2-40B4-BE49-F238E27FC236}">
                <a16:creationId xmlns:a16="http://schemas.microsoft.com/office/drawing/2014/main" id="{8A526490-19D8-4286-B6E7-90E5EE6B2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333750"/>
            <a:ext cx="2333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3. 编码</a:t>
            </a:r>
          </a:p>
        </p:txBody>
      </p:sp>
      <p:sp>
        <p:nvSpPr>
          <p:cNvPr id="13" name="detail-encoding">
            <a:extLst xmlns:a="http://schemas.openxmlformats.org/drawingml/2006/main">
              <a:ext uri="{FF2B5EF4-FFF2-40B4-BE49-F238E27FC236}">
                <a16:creationId xmlns:a16="http://schemas.microsoft.com/office/drawing/2014/main" id="{66514397-074A-4EA2-8CA3-072912D5E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333750"/>
            <a:ext cx="5857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量化值 → n位码字；容量 2ⁿ</a:t>
            </a:r>
          </a:p>
        </p:txBody>
      </p:sp>
      <p:sp>
        <p:nvSpPr>
          <p:cNvPr id="15" name="node-payload">
            <a:extLst xmlns:a="http://schemas.openxmlformats.org/drawingml/2006/main">
              <a:ext uri="{FF2B5EF4-FFF2-40B4-BE49-F238E27FC236}">
                <a16:creationId xmlns:a16="http://schemas.microsoft.com/office/drawing/2014/main" id="{368D0D1E-4B9D-4E85-ADF2-F3AB545BE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905250"/>
            <a:ext cx="2333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4. 像素数据量</a:t>
            </a:r>
          </a:p>
        </p:txBody>
      </p:sp>
      <p:sp>
        <p:nvSpPr>
          <p:cNvPr id="16" name="detail-payload">
            <a:extLst xmlns:a="http://schemas.openxmlformats.org/drawingml/2006/main">
              <a:ext uri="{FF2B5EF4-FFF2-40B4-BE49-F238E27FC236}">
                <a16:creationId xmlns:a16="http://schemas.microsoft.com/office/drawing/2014/main" id="{3E539A67-DADE-41D9-8355-131D8C4AC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905250"/>
            <a:ext cx="5857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像素数 × n ÷ 8 B（理想）</a:t>
            </a:r>
          </a:p>
        </p:txBody>
      </p:sp>
      <p:sp>
        <p:nvSpPr>
          <p:cNvPr id="18" name="node-rgb">
            <a:extLst xmlns:a="http://schemas.openxmlformats.org/drawingml/2006/main">
              <a:ext uri="{FF2B5EF4-FFF2-40B4-BE49-F238E27FC236}">
                <a16:creationId xmlns:a16="http://schemas.microsoft.com/office/drawing/2014/main" id="{AF8BD65D-C486-465D-A889-C7ACAF5B2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476750"/>
            <a:ext cx="2333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5. 颜色表示</a:t>
            </a:r>
          </a:p>
        </p:txBody>
      </p:sp>
      <p:sp>
        <p:nvSpPr>
          <p:cNvPr id="19" name="detail-rgb">
            <a:extLst xmlns:a="http://schemas.openxmlformats.org/drawingml/2006/main">
              <a:ext uri="{FF2B5EF4-FFF2-40B4-BE49-F238E27FC236}">
                <a16:creationId xmlns:a16="http://schemas.microsoft.com/office/drawing/2014/main" id="{71CFC2C4-94BF-4397-8324-EB880CD72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476750"/>
            <a:ext cx="5857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调色板编号 / 三个8位RGB通道</a:t>
            </a:r>
          </a:p>
        </p:txBody>
      </p:sp>
      <p:sp>
        <p:nvSpPr>
          <p:cNvPr id="21" name="node-decoding">
            <a:extLst xmlns:a="http://schemas.openxmlformats.org/drawingml/2006/main">
              <a:ext uri="{FF2B5EF4-FFF2-40B4-BE49-F238E27FC236}">
                <a16:creationId xmlns:a16="http://schemas.microsoft.com/office/drawing/2014/main" id="{FB975636-ED69-4225-892E-F677DEFD1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5048250"/>
            <a:ext cx="2333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6. 解码</a:t>
            </a:r>
          </a:p>
        </p:txBody>
      </p:sp>
      <p:sp>
        <p:nvSpPr>
          <p:cNvPr id="22" name="detail-decoding">
            <a:extLst xmlns:a="http://schemas.openxmlformats.org/drawingml/2006/main">
              <a:ext uri="{FF2B5EF4-FFF2-40B4-BE49-F238E27FC236}">
                <a16:creationId xmlns:a16="http://schemas.microsoft.com/office/drawing/2014/main" id="{AA39228F-CE65-4505-BC49-9A0215D3B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048250"/>
            <a:ext cx="5857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码字＋尺寸等规则 → 像素图</a:t>
            </a:r>
          </a:p>
        </p:txBody>
      </p:sp>
    </p:spTree>
    <p:extLst>
      <p:ext uri="{BB962C8B-B14F-4D97-AF65-F5344CB8AC3E}">
        <p14:creationId xmlns:p14="http://schemas.microsoft.com/office/powerpoint/2010/main" val="111287912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9" name=""/>
          <p:cNvCxnSpPr>
            <a:stCxn xmlns:a="http://schemas.openxmlformats.org/drawingml/2006/main" id="5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2419350" y="3714750"/>
            <a:ext cx="866775" cy="21431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C64E1"/>
            </a:solidFill>
            <a:prstDash val="solid"/>
          </a:ln>
        </p:spPr>
      </p:cxnSp>
      <p:cxnSp>
        <p:nvCxnSpPr>
          <p:cNvPr id="30" name=""/>
          <p:cNvCxnSpPr>
            <a:stCxn xmlns:a="http://schemas.openxmlformats.org/drawingml/2006/main" id="5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2419350" y="3714750"/>
            <a:ext cx="866775" cy="15716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C64E1"/>
            </a:solidFill>
            <a:prstDash val="solid"/>
          </a:ln>
        </p:spPr>
      </p:cxnSp>
      <p:cxnSp>
        <p:nvCxnSpPr>
          <p:cNvPr id="31" name=""/>
          <p:cNvCxnSpPr>
            <a:stCxn xmlns:a="http://schemas.openxmlformats.org/drawingml/2006/main" id="5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2419350" y="3714750"/>
            <a:ext cx="866775" cy="10001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C64E1"/>
            </a:solidFill>
            <a:prstDash val="solid"/>
          </a:ln>
        </p:spPr>
      </p:cxnSp>
      <p:cxnSp>
        <p:nvCxnSpPr>
          <p:cNvPr id="32" name=""/>
          <p:cNvCxnSpPr>
            <a:stCxn xmlns:a="http://schemas.openxmlformats.org/drawingml/2006/main" id="5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2419350" y="3714750"/>
            <a:ext cx="866775" cy="4286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C64E1"/>
            </a:solidFill>
            <a:prstDash val="solid"/>
          </a:ln>
        </p:spPr>
      </p:cxnSp>
      <p:cxnSp>
        <p:nvCxnSpPr>
          <p:cNvPr id="33" name=""/>
          <p:cNvCxnSpPr>
            <a:stCxn xmlns:a="http://schemas.openxmlformats.org/drawingml/2006/main" id="5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 flipV="1">
            <a:off x="2419350" y="3571875"/>
            <a:ext cx="866775" cy="1428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C64E1"/>
            </a:solidFill>
            <a:prstDash val="solid"/>
          </a:ln>
        </p:spPr>
      </p:cxnSp>
      <p:cxnSp>
        <p:nvCxnSpPr>
          <p:cNvPr id="34" name=""/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2419350" y="3000375"/>
            <a:ext cx="866775" cy="7143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C64E1"/>
            </a:solidFill>
            <a:prstDash val="solid"/>
          </a:ln>
        </p:spPr>
      </p:cxnSp>
      <p:cxnSp>
        <p:nvCxnSpPr>
          <p:cNvPr id="35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2419350" y="2428875"/>
            <a:ext cx="866775" cy="12858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C64E1"/>
            </a:solidFill>
            <a:prstDash val="solid"/>
          </a:ln>
        </p:spPr>
      </p:cxnSp>
      <p:sp>
        <p:nvSpPr>
          <p:cNvPr id="36" name="top-rail">
            <a:extLst xmlns:a="http://schemas.openxmlformats.org/drawingml/2006/main">
              <a:ext uri="{FF2B5EF4-FFF2-40B4-BE49-F238E27FC236}">
                <a16:creationId xmlns:a16="http://schemas.microsoft.com/office/drawing/2014/main" id="{21D3FD42-E120-4483-B48A-F2F3EBC58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1E2895D1-7579-4083-B94B-C7FCBF2CC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BBC6950-6420-4B23-A7F1-90B9FE15F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我们已能解释图像的哪些问题？</a:t>
            </a:r>
          </a:p>
        </p:txBody>
      </p:sp>
      <p:sp>
        <p:nvSpPr>
          <p:cNvPr id="4" name="summary-instruction">
            <a:extLst xmlns:a="http://schemas.openxmlformats.org/drawingml/2006/main">
              <a:ext uri="{FF2B5EF4-FFF2-40B4-BE49-F238E27FC236}">
                <a16:creationId xmlns:a16="http://schemas.microsoft.com/office/drawing/2014/main" id="{A59A784B-FB7A-4249-9925-A33C3742C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先说结论和证据，再补充这张树。</a:t>
            </a:r>
          </a:p>
        </p:txBody>
      </p:sp>
      <p:sp>
        <p:nvSpPr>
          <p:cNvPr id="5" name="tree-root">
            <a:extLst xmlns:a="http://schemas.openxmlformats.org/drawingml/2006/main">
              <a:ext uri="{FF2B5EF4-FFF2-40B4-BE49-F238E27FC236}">
                <a16:creationId xmlns:a16="http://schemas.microsoft.com/office/drawing/2014/main" id="{3FCFB695-293E-4C64-A736-97AFD2EE7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C64E1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图像编码</a:t>
            </a:r>
          </a:p>
        </p:txBody>
      </p:sp>
      <p:sp>
        <p:nvSpPr>
          <p:cNvPr id="6" name="node-sampling">
            <a:extLst xmlns:a="http://schemas.openxmlformats.org/drawingml/2006/main">
              <a:ext uri="{FF2B5EF4-FFF2-40B4-BE49-F238E27FC236}">
                <a16:creationId xmlns:a16="http://schemas.microsoft.com/office/drawing/2014/main" id="{DED7656B-A986-4E44-ADB3-238AA44C8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190750"/>
            <a:ext cx="2333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1. 采样</a:t>
            </a:r>
          </a:p>
        </p:txBody>
      </p:sp>
      <p:sp>
        <p:nvSpPr>
          <p:cNvPr id="7" name="detail-sampling">
            <a:extLst xmlns:a="http://schemas.openxmlformats.org/drawingml/2006/main">
              <a:ext uri="{FF2B5EF4-FFF2-40B4-BE49-F238E27FC236}">
                <a16:creationId xmlns:a16="http://schemas.microsoft.com/office/drawing/2014/main" id="{DC5E16C4-EFE2-4D1F-9130-D56837983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190750"/>
            <a:ext cx="5857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有限位置；分辨率：横向 × 纵向</a:t>
            </a:r>
          </a:p>
        </p:txBody>
      </p:sp>
      <p:sp>
        <p:nvSpPr>
          <p:cNvPr id="9" name="node-quantization">
            <a:extLst xmlns:a="http://schemas.openxmlformats.org/drawingml/2006/main">
              <a:ext uri="{FF2B5EF4-FFF2-40B4-BE49-F238E27FC236}">
                <a16:creationId xmlns:a16="http://schemas.microsoft.com/office/drawing/2014/main" id="{55A8C19F-EC32-4544-8118-5247A8A92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762250"/>
            <a:ext cx="2333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2. 量化</a:t>
            </a:r>
          </a:p>
        </p:txBody>
      </p:sp>
      <p:sp>
        <p:nvSpPr>
          <p:cNvPr id="10" name="detail-quantization">
            <a:extLst xmlns:a="http://schemas.openxmlformats.org/drawingml/2006/main">
              <a:ext uri="{FF2B5EF4-FFF2-40B4-BE49-F238E27FC236}">
                <a16:creationId xmlns:a16="http://schemas.microsoft.com/office/drawing/2014/main" id="{283AA86D-D7A9-4D39-AE55-5282B580A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762250"/>
            <a:ext cx="5857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样本 → 有限颜色等级</a:t>
            </a:r>
          </a:p>
        </p:txBody>
      </p:sp>
      <p:sp>
        <p:nvSpPr>
          <p:cNvPr id="12" name="node-encoding">
            <a:extLst xmlns:a="http://schemas.openxmlformats.org/drawingml/2006/main">
              <a:ext uri="{FF2B5EF4-FFF2-40B4-BE49-F238E27FC236}">
                <a16:creationId xmlns:a16="http://schemas.microsoft.com/office/drawing/2014/main" id="{8A526490-19D8-4286-B6E7-90E5EE6B2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333750"/>
            <a:ext cx="2333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3. 编码</a:t>
            </a:r>
          </a:p>
        </p:txBody>
      </p:sp>
      <p:sp>
        <p:nvSpPr>
          <p:cNvPr id="13" name="detail-encoding">
            <a:extLst xmlns:a="http://schemas.openxmlformats.org/drawingml/2006/main">
              <a:ext uri="{FF2B5EF4-FFF2-40B4-BE49-F238E27FC236}">
                <a16:creationId xmlns:a16="http://schemas.microsoft.com/office/drawing/2014/main" id="{66514397-074A-4EA2-8CA3-072912D5E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333750"/>
            <a:ext cx="5857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量化值 → n位码字；容量 2ⁿ</a:t>
            </a:r>
          </a:p>
        </p:txBody>
      </p:sp>
      <p:sp>
        <p:nvSpPr>
          <p:cNvPr id="15" name="node-payload">
            <a:extLst xmlns:a="http://schemas.openxmlformats.org/drawingml/2006/main">
              <a:ext uri="{FF2B5EF4-FFF2-40B4-BE49-F238E27FC236}">
                <a16:creationId xmlns:a16="http://schemas.microsoft.com/office/drawing/2014/main" id="{368D0D1E-4B9D-4E85-ADF2-F3AB545BE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905250"/>
            <a:ext cx="2333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4. 像素数据量</a:t>
            </a:r>
          </a:p>
        </p:txBody>
      </p:sp>
      <p:sp>
        <p:nvSpPr>
          <p:cNvPr id="16" name="detail-payload">
            <a:extLst xmlns:a="http://schemas.openxmlformats.org/drawingml/2006/main">
              <a:ext uri="{FF2B5EF4-FFF2-40B4-BE49-F238E27FC236}">
                <a16:creationId xmlns:a16="http://schemas.microsoft.com/office/drawing/2014/main" id="{3E539A67-DADE-41D9-8355-131D8C4AC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905250"/>
            <a:ext cx="5857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像素数 × n ÷ 8 B（理想）</a:t>
            </a:r>
          </a:p>
        </p:txBody>
      </p:sp>
      <p:sp>
        <p:nvSpPr>
          <p:cNvPr id="18" name="node-rgb">
            <a:extLst xmlns:a="http://schemas.openxmlformats.org/drawingml/2006/main">
              <a:ext uri="{FF2B5EF4-FFF2-40B4-BE49-F238E27FC236}">
                <a16:creationId xmlns:a16="http://schemas.microsoft.com/office/drawing/2014/main" id="{AF8BD65D-C486-465D-A889-C7ACAF5B2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476750"/>
            <a:ext cx="2333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5. 颜色表示</a:t>
            </a:r>
          </a:p>
        </p:txBody>
      </p:sp>
      <p:sp>
        <p:nvSpPr>
          <p:cNvPr id="19" name="detail-rgb">
            <a:extLst xmlns:a="http://schemas.openxmlformats.org/drawingml/2006/main">
              <a:ext uri="{FF2B5EF4-FFF2-40B4-BE49-F238E27FC236}">
                <a16:creationId xmlns:a16="http://schemas.microsoft.com/office/drawing/2014/main" id="{71CFC2C4-94BF-4397-8324-EB880CD72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476750"/>
            <a:ext cx="5857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调色板编号 / 三个8位RGB通道</a:t>
            </a:r>
          </a:p>
        </p:txBody>
      </p:sp>
      <p:sp>
        <p:nvSpPr>
          <p:cNvPr id="21" name="node-decoding">
            <a:extLst xmlns:a="http://schemas.openxmlformats.org/drawingml/2006/main">
              <a:ext uri="{FF2B5EF4-FFF2-40B4-BE49-F238E27FC236}">
                <a16:creationId xmlns:a16="http://schemas.microsoft.com/office/drawing/2014/main" id="{FB975636-ED69-4225-892E-F677DEFD1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5048250"/>
            <a:ext cx="2333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6. 解码</a:t>
            </a:r>
          </a:p>
        </p:txBody>
      </p:sp>
      <p:sp>
        <p:nvSpPr>
          <p:cNvPr id="22" name="detail-decoding">
            <a:extLst xmlns:a="http://schemas.openxmlformats.org/drawingml/2006/main">
              <a:ext uri="{FF2B5EF4-FFF2-40B4-BE49-F238E27FC236}">
                <a16:creationId xmlns:a16="http://schemas.microsoft.com/office/drawing/2014/main" id="{AA39228F-CE65-4505-BC49-9A0215D3B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048250"/>
            <a:ext cx="5857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码字＋尺寸等规则 → 像素图</a:t>
            </a:r>
          </a:p>
        </p:txBody>
      </p:sp>
      <p:sp>
        <p:nvSpPr>
          <p:cNvPr id="24" name="node-boundary">
            <a:extLst xmlns:a="http://schemas.openxmlformats.org/drawingml/2006/main">
              <a:ext uri="{FF2B5EF4-FFF2-40B4-BE49-F238E27FC236}">
                <a16:creationId xmlns:a16="http://schemas.microsoft.com/office/drawing/2014/main" id="{AAED2BFC-A741-44F9-A2B6-299492167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5619750"/>
            <a:ext cx="2333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7. 数字化边界</a:t>
            </a:r>
          </a:p>
        </p:txBody>
      </p:sp>
      <p:sp>
        <p:nvSpPr>
          <p:cNvPr id="25" name="detail-boundary">
            <a:extLst xmlns:a="http://schemas.openxmlformats.org/drawingml/2006/main">
              <a:ext uri="{FF2B5EF4-FFF2-40B4-BE49-F238E27FC236}">
                <a16:creationId xmlns:a16="http://schemas.microsoft.com/office/drawing/2014/main" id="{648ABAB9-A833-42E4-AD4A-409AA51B9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619750"/>
            <a:ext cx="5857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连续光 → 离散表示；不补原细节</a:t>
            </a:r>
          </a:p>
        </p:txBody>
      </p:sp>
      <p:sp>
        <p:nvSpPr>
          <p:cNvPr id="27" name="focus-boundary">
            <a:extLst xmlns:a="http://schemas.openxmlformats.org/drawingml/2006/main">
              <a:ext uri="{FF2B5EF4-FFF2-40B4-BE49-F238E27FC236}">
                <a16:creationId xmlns:a16="http://schemas.microsoft.com/office/drawing/2014/main" id="{ABE65A39-2D89-484D-805D-547896B89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5581650"/>
            <a:ext cx="83629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0000"/>
            </a:solidFill>
            <a:prstDash val="solid"/>
          </a:ln>
        </p:spPr>
      </p:sp>
      <p:sp>
        <p:nvSpPr>
          <p:cNvPr id="28" name="new-label">
            <a:extLst xmlns:a="http://schemas.openxmlformats.org/drawingml/2006/main">
              <a:ext uri="{FF2B5EF4-FFF2-40B4-BE49-F238E27FC236}">
                <a16:creationId xmlns:a16="http://schemas.microsoft.com/office/drawing/2014/main" id="{68DB96D3-C7E3-48EC-87B6-0F52C4467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新学</a:t>
            </a:r>
          </a:p>
        </p:txBody>
      </p:sp>
    </p:spTree>
    <p:extLst>
      <p:ext uri="{BB962C8B-B14F-4D97-AF65-F5344CB8AC3E}">
        <p14:creationId xmlns:p14="http://schemas.microsoft.com/office/powerpoint/2010/main" val="111287912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op-rail">
            <a:extLst xmlns:a="http://schemas.openxmlformats.org/drawingml/2006/main">
              <a:ext uri="{FF2B5EF4-FFF2-40B4-BE49-F238E27FC236}">
                <a16:creationId xmlns:a16="http://schemas.microsoft.com/office/drawing/2014/main" id="{B26A7C1E-68BB-4877-872F-1726300AB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AE620A76-5684-4306-85B5-3BE766696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672A424-5E47-4B22-8763-0104D4EB0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新图像能满足 50 B 预算吗？</a:t>
            </a:r>
          </a:p>
        </p:txBody>
      </p:sp>
      <p:sp>
        <p:nvSpPr>
          <p:cNvPr id="4" name="exit-givens">
            <a:extLst xmlns:a="http://schemas.openxmlformats.org/drawingml/2006/main">
              <a:ext uri="{FF2B5EF4-FFF2-40B4-BE49-F238E27FC236}">
                <a16:creationId xmlns:a16="http://schemas.microsoft.com/office/drawing/2014/main" id="{9F48AC57-2375-4581-934F-AD2D42733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1047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12×10 个像素，要区分 5 种颜色。</a:t>
            </a:r>
          </a:p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采用最短固定长度码，只计未压缩像素码字。</a:t>
            </a:r>
          </a:p>
        </p:txBody>
      </p:sp>
      <p:sp>
        <p:nvSpPr>
          <p:cNvPr id="5" name="exit-task">
            <a:extLst xmlns:a="http://schemas.openxmlformats.org/drawingml/2006/main">
              <a:ext uri="{FF2B5EF4-FFF2-40B4-BE49-F238E27FC236}">
                <a16:creationId xmlns:a16="http://schemas.microsoft.com/office/drawing/2014/main" id="{BE15AD05-4614-4FB1-8C45-54A57C9EB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1047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求每像素位数和数据量，判断是否不超过 50 B。</a:t>
            </a:r>
          </a:p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这个结果就是完整 PNG 文件大小吗？写一句理由。</a:t>
            </a:r>
          </a:p>
        </p:txBody>
      </p:sp>
    </p:spTree>
    <p:extLst>
      <p:ext uri="{BB962C8B-B14F-4D97-AF65-F5344CB8AC3E}">
        <p14:creationId xmlns:p14="http://schemas.microsoft.com/office/powerpoint/2010/main" val="18451413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op-rail">
            <a:extLst xmlns:a="http://schemas.openxmlformats.org/drawingml/2006/main">
              <a:ext uri="{FF2B5EF4-FFF2-40B4-BE49-F238E27FC236}">
                <a16:creationId xmlns:a16="http://schemas.microsoft.com/office/drawing/2014/main" id="{B26A7C1E-68BB-4877-872F-1726300AB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AE620A76-5684-4306-85B5-3BE766696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672A424-5E47-4B22-8763-0104D4EB0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新图像能满足 50 B 预算吗？</a:t>
            </a:r>
          </a:p>
        </p:txBody>
      </p:sp>
      <p:sp>
        <p:nvSpPr>
          <p:cNvPr id="4" name="exit-givens">
            <a:extLst xmlns:a="http://schemas.openxmlformats.org/drawingml/2006/main">
              <a:ext uri="{FF2B5EF4-FFF2-40B4-BE49-F238E27FC236}">
                <a16:creationId xmlns:a16="http://schemas.microsoft.com/office/drawing/2014/main" id="{9F48AC57-2375-4581-934F-AD2D42733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1047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12×10 个像素，要区分 5 种颜色。</a:t>
            </a:r>
          </a:p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采用最短固定长度码，只计未压缩像素码字。</a:t>
            </a:r>
          </a:p>
        </p:txBody>
      </p:sp>
      <p:sp>
        <p:nvSpPr>
          <p:cNvPr id="5" name="exit-task">
            <a:extLst xmlns:a="http://schemas.openxmlformats.org/drawingml/2006/main">
              <a:ext uri="{FF2B5EF4-FFF2-40B4-BE49-F238E27FC236}">
                <a16:creationId xmlns:a16="http://schemas.microsoft.com/office/drawing/2014/main" id="{BE15AD05-4614-4FB1-8C45-54A57C9EB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1047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求每像素位数和数据量，判断是否不超过 50 B。</a:t>
            </a:r>
          </a:p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这个结果就是完整 PNG 文件大小吗？写一句理由。</a:t>
            </a:r>
          </a:p>
        </p:txBody>
      </p:sp>
      <p:sp>
        <p:nvSpPr>
          <p:cNvPr id="6" name="exit-calculation">
            <a:extLst xmlns:a="http://schemas.openxmlformats.org/drawingml/2006/main">
              <a:ext uri="{FF2B5EF4-FFF2-40B4-BE49-F238E27FC236}">
                <a16:creationId xmlns:a16="http://schemas.microsoft.com/office/drawing/2014/main" id="{3ECFFEC2-88FC-47DB-A617-0FE675CF3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38625"/>
            <a:ext cx="1047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55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2² &lt; 5 ≤ 2³，所以最少 3 bit。</a:t>
            </a:r>
          </a:p>
          <a:p xmlns:a="http://schemas.openxmlformats.org/drawingml/2006/main">
            <a:pPr algn="l">
              <a:defRPr sz="255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55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12 × 10 × 3 ÷ 8 = 45 B，满足预算。</a:t>
            </a:r>
          </a:p>
        </p:txBody>
      </p:sp>
    </p:spTree>
    <p:extLst>
      <p:ext uri="{BB962C8B-B14F-4D97-AF65-F5344CB8AC3E}">
        <p14:creationId xmlns:p14="http://schemas.microsoft.com/office/powerpoint/2010/main" val="18451413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op-rail">
            <a:extLst xmlns:a="http://schemas.openxmlformats.org/drawingml/2006/main">
              <a:ext uri="{FF2B5EF4-FFF2-40B4-BE49-F238E27FC236}">
                <a16:creationId xmlns:a16="http://schemas.microsoft.com/office/drawing/2014/main" id="{B26A7C1E-68BB-4877-872F-1726300AB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AE620A76-5684-4306-85B5-3BE766696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672A424-5E47-4B22-8763-0104D4EB0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新图像能满足 50 B 预算吗？</a:t>
            </a:r>
          </a:p>
        </p:txBody>
      </p:sp>
      <p:sp>
        <p:nvSpPr>
          <p:cNvPr id="4" name="exit-givens">
            <a:extLst xmlns:a="http://schemas.openxmlformats.org/drawingml/2006/main">
              <a:ext uri="{FF2B5EF4-FFF2-40B4-BE49-F238E27FC236}">
                <a16:creationId xmlns:a16="http://schemas.microsoft.com/office/drawing/2014/main" id="{9F48AC57-2375-4581-934F-AD2D42733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1047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12×10 个像素，要区分 5 种颜色。</a:t>
            </a:r>
          </a:p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采用最短固定长度码，只计未压缩像素码字。</a:t>
            </a:r>
          </a:p>
        </p:txBody>
      </p:sp>
      <p:sp>
        <p:nvSpPr>
          <p:cNvPr id="5" name="exit-task">
            <a:extLst xmlns:a="http://schemas.openxmlformats.org/drawingml/2006/main">
              <a:ext uri="{FF2B5EF4-FFF2-40B4-BE49-F238E27FC236}">
                <a16:creationId xmlns:a16="http://schemas.microsoft.com/office/drawing/2014/main" id="{BE15AD05-4614-4FB1-8C45-54A57C9EB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1047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求每像素位数和数据量，判断是否不超过 50 B。</a:t>
            </a:r>
          </a:p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这个结果就是完整 PNG 文件大小吗？写一句理由。</a:t>
            </a:r>
          </a:p>
        </p:txBody>
      </p:sp>
      <p:sp>
        <p:nvSpPr>
          <p:cNvPr id="6" name="exit-calculation">
            <a:extLst xmlns:a="http://schemas.openxmlformats.org/drawingml/2006/main">
              <a:ext uri="{FF2B5EF4-FFF2-40B4-BE49-F238E27FC236}">
                <a16:creationId xmlns:a16="http://schemas.microsoft.com/office/drawing/2014/main" id="{3ECFFEC2-88FC-47DB-A617-0FE675CF3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38625"/>
            <a:ext cx="1047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55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2² &lt; 5 ≤ 2³，所以最少 3 bit。</a:t>
            </a:r>
          </a:p>
          <a:p xmlns:a="http://schemas.openxmlformats.org/drawingml/2006/main">
            <a:pPr algn="l">
              <a:defRPr sz="255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55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12 × 10 × 3 ÷ 8 = 45 B，满足预算。</a:t>
            </a:r>
          </a:p>
        </p:txBody>
      </p:sp>
      <p:sp>
        <p:nvSpPr>
          <p:cNvPr id="7" name="exit-boundary">
            <a:extLst xmlns:a="http://schemas.openxmlformats.org/drawingml/2006/main">
              <a:ext uri="{FF2B5EF4-FFF2-40B4-BE49-F238E27FC236}">
                <a16:creationId xmlns:a16="http://schemas.microsoft.com/office/drawing/2014/main" id="{3DCAD031-DB27-4B77-AC81-620F3D81B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81625"/>
            <a:ext cx="1047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45 B 只计理想像素码字。</a:t>
            </a:r>
          </a:p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完整 PNG 文件还涉及格式结构和压缩。</a:t>
            </a:r>
          </a:p>
        </p:txBody>
      </p:sp>
    </p:spTree>
    <p:extLst>
      <p:ext uri="{BB962C8B-B14F-4D97-AF65-F5344CB8AC3E}">
        <p14:creationId xmlns:p14="http://schemas.microsoft.com/office/powerpoint/2010/main" val="1845141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2026-10-01T04:42:57.5060000Z</dcterms:created>
  <dcterms:modified xsi:type="dcterms:W3CDTF">2026-10-01T04:42:57.5060000Z</dcterms:modified>
</coreProperties>
</file>
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488f037f0742c4" /><Relationship Type="http://schemas.openxmlformats.org/officeDocument/2006/relationships/extended-properties" Target="/docProps/app.xml" Id="R774e0665eb7c458b" /><Relationship Type="http://schemas.openxmlformats.org/officeDocument/2006/relationships/officeDocument" Target="/ppt/presentation.xml" Id="R4e6b65fb9be542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3c71e2aeaa4e9b"/>
  </p:sldMasterIdLst>
  <p:notesMasterIdLst>
    <p:notesMasterId xmlns:r="http://schemas.openxmlformats.org/officeDocument/2006/relationships" r:id="Raa96d0b7b0c440aa"/>
  </p:notesMasterIdLst>
  <p:sldIdLst>
    <p:sldId xmlns:r="http://schemas.openxmlformats.org/officeDocument/2006/relationships" id="256" r:id="R4a896f66a0d8453f"/>
    <p:sldId xmlns:r="http://schemas.openxmlformats.org/officeDocument/2006/relationships" id="257" r:id="Re59b6135e2b74057"/>
    <p:sldId xmlns:r="http://schemas.openxmlformats.org/officeDocument/2006/relationships" id="258" r:id="R779f65fb8ce94fa9"/>
    <p:sldId xmlns:r="http://schemas.openxmlformats.org/officeDocument/2006/relationships" id="259" r:id="Rd5a30310d02745e5"/>
    <p:sldId xmlns:r="http://schemas.openxmlformats.org/officeDocument/2006/relationships" id="260" r:id="R97c2b584e6a5448f"/>
    <p:sldId xmlns:r="http://schemas.openxmlformats.org/officeDocument/2006/relationships" id="261" r:id="Rb24b9f2db54a4583"/>
    <p:sldId xmlns:r="http://schemas.openxmlformats.org/officeDocument/2006/relationships" id="262" r:id="R87a94ff09b114643"/>
    <p:sldId xmlns:r="http://schemas.openxmlformats.org/officeDocument/2006/relationships" id="263" r:id="R589429c71ca44808"/>
    <p:sldId xmlns:r="http://schemas.openxmlformats.org/officeDocument/2006/relationships" id="264" r:id="Rbc70b01918884762"/>
    <p:sldId xmlns:r="http://schemas.openxmlformats.org/officeDocument/2006/relationships" id="265" r:id="R8642f13f06a6441f"/>
    <p:sldId xmlns:r="http://schemas.openxmlformats.org/officeDocument/2006/relationships" id="266" r:id="R56c08ebbfd544708"/>
    <p:sldId xmlns:r="http://schemas.openxmlformats.org/officeDocument/2006/relationships" id="267" r:id="R6c0224023fd74db6"/>
    <p:sldId xmlns:r="http://schemas.openxmlformats.org/officeDocument/2006/relationships" id="268" r:id="R2d0687b680da43db"/>
    <p:sldId xmlns:r="http://schemas.openxmlformats.org/officeDocument/2006/relationships" id="269" r:id="Rb98c3a9fa9f146a3"/>
    <p:sldId xmlns:r="http://schemas.openxmlformats.org/officeDocument/2006/relationships" id="270" r:id="R5acddca199d64ca1"/>
    <p:sldId xmlns:r="http://schemas.openxmlformats.org/officeDocument/2006/relationships" id="271" r:id="R65f181fb524344a1"/>
    <p:sldId xmlns:r="http://schemas.openxmlformats.org/officeDocument/2006/relationships" id="272" r:id="R4bbfd85d0bee4713"/>
    <p:sldId xmlns:r="http://schemas.openxmlformats.org/officeDocument/2006/relationships" id="273" r:id="R3542449ffc474971"/>
    <p:sldId xmlns:r="http://schemas.openxmlformats.org/officeDocument/2006/relationships" id="274" r:id="Rb91ce70991ab45d0"/>
    <p:sldId xmlns:r="http://schemas.openxmlformats.org/officeDocument/2006/relationships" id="275" r:id="R4521a19c9d404257"/>
    <p:sldId xmlns:r="http://schemas.openxmlformats.org/officeDocument/2006/relationships" id="276" r:id="R17186a0eef6c42b0"/>
    <p:sldId xmlns:r="http://schemas.openxmlformats.org/officeDocument/2006/relationships" id="277" r:id="R12f4c129a391430b"/>
    <p:sldId xmlns:r="http://schemas.openxmlformats.org/officeDocument/2006/relationships" id="278" r:id="Re2dde57e7d7a4432"/>
    <p:sldId xmlns:r="http://schemas.openxmlformats.org/officeDocument/2006/relationships" id="279" r:id="R49e5904dfced4c1e"/>
    <p:sldId xmlns:r="http://schemas.openxmlformats.org/officeDocument/2006/relationships" id="280" r:id="Rab0ddbd395af4ead"/>
    <p:sldId xmlns:r="http://schemas.openxmlformats.org/officeDocument/2006/relationships" id="281" r:id="Rc41b7c5690b64b24"/>
    <p:sldId xmlns:r="http://schemas.openxmlformats.org/officeDocument/2006/relationships" id="282" r:id="R3f09a548148241ad"/>
    <p:sldId xmlns:r="http://schemas.openxmlformats.org/officeDocument/2006/relationships" id="283" r:id="R9ee1c9184499417e"/>
    <p:sldId xmlns:r="http://schemas.openxmlformats.org/officeDocument/2006/relationships" id="284" r:id="R826132c88f294e6e"/>
    <p:sldId xmlns:r="http://schemas.openxmlformats.org/officeDocument/2006/relationships" id="285" r:id="R65e9f187515f4867"/>
    <p:sldId xmlns:r="http://schemas.openxmlformats.org/officeDocument/2006/relationships" id="286" r:id="Rd29299ea6520472b"/>
    <p:sldId xmlns:r="http://schemas.openxmlformats.org/officeDocument/2006/relationships" id="287" r:id="R31b893537eff4d1e"/>
    <p:sldId xmlns:r="http://schemas.openxmlformats.org/officeDocument/2006/relationships" id="288" r:id="R5b8e3f10af764f7b"/>
    <p:sldId xmlns:r="http://schemas.openxmlformats.org/officeDocument/2006/relationships" id="289" r:id="Rda3439f9cb0544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646e32153a4ec4" /><Relationship Type="http://schemas.openxmlformats.org/officeDocument/2006/relationships/slideMaster" Target="/ppt/slideMasters/slideMaster1.xml" Id="R033c71e2aeaa4e9b" /><Relationship Type="http://schemas.openxmlformats.org/officeDocument/2006/relationships/notesMaster" Target="/ppt/notesMasters/notesMaster1.xml" Id="Raa96d0b7b0c440aa" /><Relationship Type="http://schemas.openxmlformats.org/officeDocument/2006/relationships/presProps" Target="/ppt/presProps.xml" Id="R69fc760fc505498a" /><Relationship Type="http://schemas.openxmlformats.org/officeDocument/2006/relationships/tableStyles" Target="/ppt/tableStyles.xml" Id="R48b27e116cfe48dc" /><Relationship Type="http://schemas.openxmlformats.org/officeDocument/2006/relationships/slide" Target="/ppt/slides/slide1.xml" Id="R4a896f66a0d8453f" /><Relationship Type="http://schemas.openxmlformats.org/officeDocument/2006/relationships/slide" Target="/ppt/slides/slide2.xml" Id="Re59b6135e2b74057" /><Relationship Type="http://schemas.openxmlformats.org/officeDocument/2006/relationships/slide" Target="/ppt/slides/slide3.xml" Id="R779f65fb8ce94fa9" /><Relationship Type="http://schemas.openxmlformats.org/officeDocument/2006/relationships/slide" Target="/ppt/slides/slide4.xml" Id="Rd5a30310d02745e5" /><Relationship Type="http://schemas.openxmlformats.org/officeDocument/2006/relationships/slide" Target="/ppt/slides/slide5.xml" Id="R97c2b584e6a5448f" /><Relationship Type="http://schemas.openxmlformats.org/officeDocument/2006/relationships/slide" Target="/ppt/slides/slide6.xml" Id="Rb24b9f2db54a4583" /><Relationship Type="http://schemas.openxmlformats.org/officeDocument/2006/relationships/slide" Target="/ppt/slides/slide7.xml" Id="R87a94ff09b114643" /><Relationship Type="http://schemas.openxmlformats.org/officeDocument/2006/relationships/slide" Target="/ppt/slides/slide8.xml" Id="R589429c71ca44808" /><Relationship Type="http://schemas.openxmlformats.org/officeDocument/2006/relationships/slide" Target="/ppt/slides/slide9.xml" Id="Rbc70b01918884762" /><Relationship Type="http://schemas.openxmlformats.org/officeDocument/2006/relationships/slide" Target="/ppt/slides/slide10.xml" Id="R8642f13f06a6441f" /><Relationship Type="http://schemas.openxmlformats.org/officeDocument/2006/relationships/slide" Target="/ppt/slides/slide11.xml" Id="R56c08ebbfd544708" /><Relationship Type="http://schemas.openxmlformats.org/officeDocument/2006/relationships/slide" Target="/ppt/slides/slide12.xml" Id="R6c0224023fd74db6" /><Relationship Type="http://schemas.openxmlformats.org/officeDocument/2006/relationships/slide" Target="/ppt/slides/slide13.xml" Id="R2d0687b680da43db" /><Relationship Type="http://schemas.openxmlformats.org/officeDocument/2006/relationships/slide" Target="/ppt/slides/slide14.xml" Id="Rb98c3a9fa9f146a3" /><Relationship Type="http://schemas.openxmlformats.org/officeDocument/2006/relationships/slide" Target="/ppt/slides/slide15.xml" Id="R5acddca199d64ca1" /><Relationship Type="http://schemas.openxmlformats.org/officeDocument/2006/relationships/slide" Target="/ppt/slides/slide16.xml" Id="R65f181fb524344a1" /><Relationship Type="http://schemas.openxmlformats.org/officeDocument/2006/relationships/slide" Target="/ppt/slides/slide17.xml" Id="R4bbfd85d0bee4713" /><Relationship Type="http://schemas.openxmlformats.org/officeDocument/2006/relationships/slide" Target="/ppt/slides/slide18.xml" Id="R3542449ffc474971" /><Relationship Type="http://schemas.openxmlformats.org/officeDocument/2006/relationships/slide" Target="/ppt/slides/slide19.xml" Id="Rb91ce70991ab45d0" /><Relationship Type="http://schemas.openxmlformats.org/officeDocument/2006/relationships/slide" Target="/ppt/slides/slide20.xml" Id="R4521a19c9d404257" /><Relationship Type="http://schemas.openxmlformats.org/officeDocument/2006/relationships/slide" Target="/ppt/slides/slide21.xml" Id="R17186a0eef6c42b0" /><Relationship Type="http://schemas.openxmlformats.org/officeDocument/2006/relationships/slide" Target="/ppt/slides/slide22.xml" Id="R12f4c129a391430b" /><Relationship Type="http://schemas.openxmlformats.org/officeDocument/2006/relationships/slide" Target="/ppt/slides/slide23.xml" Id="Re2dde57e7d7a4432" /><Relationship Type="http://schemas.openxmlformats.org/officeDocument/2006/relationships/slide" Target="/ppt/slides/slide24.xml" Id="R49e5904dfced4c1e" /><Relationship Type="http://schemas.openxmlformats.org/officeDocument/2006/relationships/slide" Target="/ppt/slides/slide25.xml" Id="Rab0ddbd395af4ead" /><Relationship Type="http://schemas.openxmlformats.org/officeDocument/2006/relationships/slide" Target="/ppt/slides/slide26.xml" Id="Rc41b7c5690b64b24" /><Relationship Type="http://schemas.openxmlformats.org/officeDocument/2006/relationships/slide" Target="/ppt/slides/slide27.xml" Id="R3f09a548148241ad" /><Relationship Type="http://schemas.openxmlformats.org/officeDocument/2006/relationships/slide" Target="/ppt/slides/slide28.xml" Id="R9ee1c9184499417e" /><Relationship Type="http://schemas.openxmlformats.org/officeDocument/2006/relationships/slide" Target="/ppt/slides/slide29.xml" Id="R826132c88f294e6e" /><Relationship Type="http://schemas.openxmlformats.org/officeDocument/2006/relationships/slide" Target="/ppt/slides/slide30.xml" Id="R65e9f187515f4867" /><Relationship Type="http://schemas.openxmlformats.org/officeDocument/2006/relationships/slide" Target="/ppt/slides/slide31.xml" Id="Rd29299ea6520472b" /><Relationship Type="http://schemas.openxmlformats.org/officeDocument/2006/relationships/slide" Target="/ppt/slides/slide32.xml" Id="R31b893537eff4d1e" /><Relationship Type="http://schemas.openxmlformats.org/officeDocument/2006/relationships/slide" Target="/ppt/slides/slide33.xml" Id="R5b8e3f10af764f7b" /><Relationship Type="http://schemas.openxmlformats.org/officeDocument/2006/relationships/slide" Target="/ppt/slides/slide34.xml" Id="Rda3439f9cb0544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2a24ea2d8e4d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3304480256410e" /><Relationship Type="http://schemas.openxmlformats.org/officeDocument/2006/relationships/notesMaster" Target="/ppt/notesMasters/notesMaster1.xml" Id="Rd8da43e03a8c41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4ed56b064c46b3" /><Relationship Type="http://schemas.openxmlformats.org/officeDocument/2006/relationships/notesMaster" Target="/ppt/notesMasters/notesMaster1.xml" Id="R223862bb39d54b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2fdfdd72e1465a" /><Relationship Type="http://schemas.openxmlformats.org/officeDocument/2006/relationships/notesMaster" Target="/ppt/notesMasters/notesMaster1.xml" Id="R46a9d1de63374f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c6364b9bf94f47" /><Relationship Type="http://schemas.openxmlformats.org/officeDocument/2006/relationships/notesMaster" Target="/ppt/notesMasters/notesMaster1.xml" Id="Ra6f57a444cd344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b65c27b94a428e" /><Relationship Type="http://schemas.openxmlformats.org/officeDocument/2006/relationships/notesMaster" Target="/ppt/notesMasters/notesMaster1.xml" Id="R9ce9d36ff58748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3d7b05236b4d97" /><Relationship Type="http://schemas.openxmlformats.org/officeDocument/2006/relationships/notesMaster" Target="/ppt/notesMasters/notesMaster1.xml" Id="Rb0e0ddf9b6214e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a1f462934346d0" /><Relationship Type="http://schemas.openxmlformats.org/officeDocument/2006/relationships/notesMaster" Target="/ppt/notesMasters/notesMaster1.xml" Id="R362fd127f48543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8905c5f8ea401a" /><Relationship Type="http://schemas.openxmlformats.org/officeDocument/2006/relationships/notesMaster" Target="/ppt/notesMasters/notesMaster1.xml" Id="Rdf49304e36634f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0cb919f4eb48c8" /><Relationship Type="http://schemas.openxmlformats.org/officeDocument/2006/relationships/notesMaster" Target="/ppt/notesMasters/notesMaster1.xml" Id="R68c950159c364a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62e5453dcc449f" /><Relationship Type="http://schemas.openxmlformats.org/officeDocument/2006/relationships/notesMaster" Target="/ppt/notesMasters/notesMaster1.xml" Id="R45eb5cc056e442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c5d700f5ad4f98" /><Relationship Type="http://schemas.openxmlformats.org/officeDocument/2006/relationships/notesMaster" Target="/ppt/notesMasters/notesMaster1.xml" Id="R0ae9be374c0b45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de5331282d49b7" /><Relationship Type="http://schemas.openxmlformats.org/officeDocument/2006/relationships/notesMaster" Target="/ppt/notesMasters/notesMaster1.xml" Id="Ra9179ad4ec8d4a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d079f16c334802" /><Relationship Type="http://schemas.openxmlformats.org/officeDocument/2006/relationships/notesMaster" Target="/ppt/notesMasters/notesMaster1.xml" Id="Rf875701711354a2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3f3ef696fb4cc9" /><Relationship Type="http://schemas.openxmlformats.org/officeDocument/2006/relationships/notesMaster" Target="/ppt/notesMasters/notesMaster1.xml" Id="Ra53ea45e6b7247c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4be48fbf90d470d" /><Relationship Type="http://schemas.openxmlformats.org/officeDocument/2006/relationships/notesMaster" Target="/ppt/notesMasters/notesMaster1.xml" Id="Rc05612ab590f448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485ce49b3e4e34" /><Relationship Type="http://schemas.openxmlformats.org/officeDocument/2006/relationships/notesMaster" Target="/ppt/notesMasters/notesMaster1.xml" Id="R40fafd71b63b427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31a040c41fe4d68" /><Relationship Type="http://schemas.openxmlformats.org/officeDocument/2006/relationships/notesMaster" Target="/ppt/notesMasters/notesMaster1.xml" Id="R9bbdd677303d492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05fce0a25854ec3" /><Relationship Type="http://schemas.openxmlformats.org/officeDocument/2006/relationships/notesMaster" Target="/ppt/notesMasters/notesMaster1.xml" Id="R042df68c53a042f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7138b8985074e25" /><Relationship Type="http://schemas.openxmlformats.org/officeDocument/2006/relationships/notesMaster" Target="/ppt/notesMasters/notesMaster1.xml" Id="R8fc0970c14d748b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a931e68a0414186" /><Relationship Type="http://schemas.openxmlformats.org/officeDocument/2006/relationships/notesMaster" Target="/ppt/notesMasters/notesMaster1.xml" Id="Rc96df9b61f1145b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6243adee0ac47c2" /><Relationship Type="http://schemas.openxmlformats.org/officeDocument/2006/relationships/notesMaster" Target="/ppt/notesMasters/notesMaster1.xml" Id="R6f698cc7a5b54bf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65bf1b69ac94f11" /><Relationship Type="http://schemas.openxmlformats.org/officeDocument/2006/relationships/notesMaster" Target="/ppt/notesMasters/notesMaster1.xml" Id="R51ff4b65f0fc4a2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9ebb7849192424e" /><Relationship Type="http://schemas.openxmlformats.org/officeDocument/2006/relationships/notesMaster" Target="/ppt/notesMasters/notesMaster1.xml" Id="R390ce75bfbff444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ba2610fb7aa4cde" /><Relationship Type="http://schemas.openxmlformats.org/officeDocument/2006/relationships/notesMaster" Target="/ppt/notesMasters/notesMaster1.xml" Id="R748f76220bf0491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7e92abc2f3f4f10" /><Relationship Type="http://schemas.openxmlformats.org/officeDocument/2006/relationships/notesMaster" Target="/ppt/notesMasters/notesMaster1.xml" Id="Rc560943cf158449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b084768bcc44f07" /><Relationship Type="http://schemas.openxmlformats.org/officeDocument/2006/relationships/notesMaster" Target="/ppt/notesMasters/notesMaster1.xml" Id="Ra907eb3fc70f4af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5c26feb84ef412c" /><Relationship Type="http://schemas.openxmlformats.org/officeDocument/2006/relationships/notesMaster" Target="/ppt/notesMasters/notesMaster1.xml" Id="R6a95e6af17ac422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19112cd14e24ba7" /><Relationship Type="http://schemas.openxmlformats.org/officeDocument/2006/relationships/notesMaster" Target="/ppt/notesMasters/notesMaster1.xml" Id="Rabb90d56397a425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e7f509227b64394" /><Relationship Type="http://schemas.openxmlformats.org/officeDocument/2006/relationships/notesMaster" Target="/ppt/notesMasters/notesMaster1.xml" Id="R78a5e505f3564fe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b6f683cd2b04bf7" /><Relationship Type="http://schemas.openxmlformats.org/officeDocument/2006/relationships/notesMaster" Target="/ppt/notesMasters/notesMaster1.xml" Id="R27f3ba66ca34436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128480300e64d97" /><Relationship Type="http://schemas.openxmlformats.org/officeDocument/2006/relationships/notesMaster" Target="/ppt/notesMasters/notesMaster1.xml" Id="Rb2011766594b402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f50c36c96734775" /><Relationship Type="http://schemas.openxmlformats.org/officeDocument/2006/relationships/notesMaster" Target="/ppt/notesMasters/notesMaster1.xml" Id="R09bf4fcce22845c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860055825d7463c" /><Relationship Type="http://schemas.openxmlformats.org/officeDocument/2006/relationships/notesMaster" Target="/ppt/notesMasters/notesMaster1.xml" Id="R90ffa57d82a54b2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dd0666699c64c67" /><Relationship Type="http://schemas.openxmlformats.org/officeDocument/2006/relationships/notesMaster" Target="/ppt/notesMasters/notesMaster1.xml" Id="R5e606294f71e4a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开场：从文件大小提出问题</a:t>
            </a:r>
          </a:p>
          <a:p xmlns:a="http://schemas.openxmlformats.org/drawingml/2006/main">
            <a:r>
              <a:t>[内部编号] 收束 · 开场：从文件大小提出问题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前面算过数据需要多少空间。今天先看一个反常现象：文件一下小了很多，图却还能还原。请保留你的第一反应，后面我们用数据来检查。先不要背定义。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这节课要弄清四件事</a:t>
            </a:r>
          </a:p>
          <a:p xmlns:a="http://schemas.openxmlformats.org/drawingml/2006/main">
            <a:r>
              <a:t>[内部编号] 收束 · 这节课要弄清四件事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现在只看四条主枝，先预测文件变小会不会丢内容。先留八秒请一位同学归纳，再用红框核对刚学到的节点。先保留四个问题，学到哪里就补到哪里。四条主枝的位置一直不动。已经学过的节点保留，尚未建立的结论继续留空。今天学到的不只是几个格式名，要能说明怎样省空间、怎样验证还原，以及怎样检查用途。</a:t>
            </a:r>
          </a:p>
          <a:p xmlns:a="http://schemas.openxmlformats.org/drawingml/2006/main">
            <a:r>
              <a:t>[教师提示] 知识树阶段0；opening之后显示。本页不提前公布后续叶节点。阶段0用20秒；阶段1至3各30秒；终图30秒。全部计入原有Q1、Q4、Q7、Q9、Q10预算。红框仅标本次新学节点。具体格式的用途与边界回看Q9表。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文件变小，是不是删掉了内容？</a:t>
            </a:r>
          </a:p>
          <a:p xmlns:a="http://schemas.openxmlformats.org/drawingml/2006/main">
            <a:r>
              <a:t>[内部编号] Q1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同一幅64×64颜色图，A有4096个bytes，B是用A编码得到的，只有38个bytes。先写一个猜测：变小以后，哪些内容可能发生变化？说出你想检查什么。先不给答案。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文件变小，是不是删掉了内容？</a:t>
            </a:r>
          </a:p>
          <a:p xmlns:a="http://schemas.openxmlformats.org/drawingml/2006/main">
            <a:r>
              <a:t>[内部编号] Q1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现在把B读回图像。你看到少了哪一块吗？看上去一样，还不够证明每一个数都相同。我们先找一种能变短又能画回的规则，第三问再检查所有bytes。</a:t>
            </a:r>
          </a:p>
          <a:p xmlns:a="http://schemas.openxmlformats.org/drawingml/2006/main">
            <a:r>
              <a:t>[教师提示] 64×64与码表预先约定；这是颜色编号数据，不冒充PNG。38B是随包记录，现场大小若不同以实际输出为准。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连续重复的颜色，怎样少写一些？</a:t>
            </a:r>
          </a:p>
          <a:p xmlns:a="http://schemas.openxmlformats.org/drawingml/2006/main">
            <a:r>
              <a:t>[内部编号] Q2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这次只看16个颜色。怎样少写一些，又让同桌恢复原来的顺序和数量？发送者看折叠卡，接收者先不看原串。给你们60秒写规则与短消息，30秒画回，再展开卡核对。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连续重复的颜色，怎样少写一些？</a:t>
            </a:r>
          </a:p>
          <a:p xmlns:a="http://schemas.openxmlformats.org/drawingml/2006/main">
            <a:r>
              <a:t>[内部编号] Q2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先听你们的规则。红绿蓝三个字能找回多少个吗？这一种保留了颜色、连续次数和段的顺序。红8代表连续8个红，不是全图所有红的总数。它把重复展开的依据留了下来。</a:t>
            </a:r>
          </a:p>
          <a:p xmlns:a="http://schemas.openxmlformats.org/drawingml/2006/main">
            <a:r>
              <a:t>[教师提示] 私有变体只给发送者，接收者先画回再展开原卡。写8红5绿3蓝也可，不因格式不同判错。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少写以后，怎样证明一个也没丢？</a:t>
            </a:r>
          </a:p>
          <a:p xmlns:a="http://schemas.openxmlformats.org/drawingml/2006/main">
            <a:r>
              <a:t>[内部编号] Q3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接收者说已经恢复了，你准备怎样检查？先提出方法，再动手对比下面两行。不要只说长度一样。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少写以后，怎样证明一个也没丢？</a:t>
            </a:r>
          </a:p>
          <a:p xmlns:a="http://schemas.openxmlformats.org/drawingml/2006/main">
            <a:r>
              <a:t>[内部编号] Q3 · focus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把两行按位置对齐。第9个位置原来是绿，待查却是蓝。两串都是16格，也可能有一个数不同。现在回到开场，比较的应是解压结果与原输入。</a:t>
            </a:r>
          </a:p>
          <a:p xmlns:a="http://schemas.openxmlformats.org/drawingml/2006/main">
            <a:r>
              <a:t>[教师提示] 比较对象：还原与原始输入；不是比较原文件与压缩文件。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少写以后，怎样证明一个也没丢？</a:t>
            </a:r>
          </a:p>
          <a:p xmlns:a="http://schemas.openxmlformats.org/drawingml/2006/main">
            <a:r>
              <a:t>[内部编号] Q3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先修正待查串的第9格，再逐位置核对，现在这16项一致。回到开场，用程序比较解压所得4096个bytes与原输入，得到True。这两个检验都比较还原结果和输入。原数据能完全恢复，才叫无损；不能仅看图像外观或文件长度。</a:t>
            </a:r>
          </a:p>
          <a:p xmlns:a="http://schemas.openxmlformats.org/drawingml/2006/main">
            <a:r>
              <a:t>[教师提示] 上页故障串已修正；本页的True明确属于开场4096B的实测。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同一规则，为什么有时反而变大？</a:t>
            </a:r>
          </a:p>
          <a:p xmlns:a="http://schemas.openxmlformats.org/drawingml/2006/main">
            <a:r>
              <a:t>[内部编号] Q4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两串都是16个颜色。按连续段存编号和次数：编号1B、次数1B。先投票，再分工数两串各有几段，算编码后的数据量。不要把红绿交替改写为红8绿8。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同一规则，为什么有时反而变大？</a:t>
            </a:r>
          </a:p>
          <a:p xmlns:a="http://schemas.openxmlformats.org/drawingml/2006/main">
            <a:r>
              <a:t>[内部编号] Q4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A有三段，3×2等于6B。B有十六段，每段只有一个颜色，16×2等于32B。它仍能准确恢复，却更大了。无损说的是可恢复，不是保证变小。</a:t>
            </a:r>
          </a:p>
          <a:p xmlns:a="http://schemas.openxmlformats.org/drawingml/2006/main">
            <a:r>
              <a:t>[教师提示] 只比payload；双方共享码表。256个相同色需拆255+1，不能让次数溢出。ZIP压JPEG效果需实测。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重复可以少写；无损必须完整恢复</a:t>
            </a:r>
          </a:p>
          <a:p xmlns:a="http://schemas.openxmlformats.org/drawingml/2006/main">
            <a:r>
              <a:t>[内部编号] 收束 · 重复可以少写；无损必须完整恢复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先不用术语，说出少写的办法、核对的方法和可能的代价。先留八秒请一位同学归纳，再用红框核对刚学到的节点。无损不保证每份数据都变小。四条主枝的位置一直不动。已经学过的节点保留，尚未建立的结论继续留空。今天学到的不只是几个格式名，要能说明怎样省空间、怎样验证还原，以及怎样检查用途。</a:t>
            </a:r>
          </a:p>
          <a:p xmlns:a="http://schemas.openxmlformats.org/drawingml/2006/main">
            <a:r>
              <a:t>[教师提示] 知识树阶段1；Q4之后显示。本页不提前公布后续叶节点。阶段0用20秒；阶段1至3各30秒；终图30秒。全部计入原有Q1、Q4、Q7、Q9、Q10预算。红框仅标本次新学节点。具体格式的用途与边界回看Q9表。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相邻值不相同，还能利用它们的关系吗？</a:t>
            </a:r>
          </a:p>
          <a:p xmlns:a="http://schemas.openxmlformats.org/drawingml/2006/main">
            <a:r>
              <a:t>[内部编号] Q5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这一行灰度几乎一样，数却不完全相同。要求完整恢复，除了逐个写8bit，还能怎样记录？先想规则。必要时从第一个120出发，问下一格比它多多少。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course-design.qmd；demos/compression_lab.py；https://www.w3.org/TR/png-3/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相邻值不相同，还能利用它们的关系吗？</a:t>
            </a:r>
          </a:p>
          <a:p xmlns:a="http://schemas.openxmlformats.org/drawingml/2006/main">
            <a:r>
              <a:t>[内部编号] Q5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给首值120，前三个差值已经列出。请填末四个，再只看首值与差值读回末三个数。负号不能丢，每次加在刚读回的前值上。变化都还在，才能恢复原来每一项。</a:t>
            </a:r>
          </a:p>
          <a:p xmlns:a="http://schemas.openxmlformats.org/drawingml/2006/main">
            <a:r>
              <a:t>[教师提示] A2正常版：首值及前三个差值已给，末四个学生填；迟到版仅减少一空。先活动后揭示。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course-design.qmd；demos/compression_lab.py；https://www.w3.org/TR/png-3/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相邻值不相同，还能利用它们的关系吗？</a:t>
            </a:r>
          </a:p>
          <a:p xmlns:a="http://schemas.openxmlformats.org/drawingml/2006/main">
            <a:r>
              <a:t>[内部编号] Q5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这一串差值只有三种，我们另约定−1为00、0为01、+1为10。首值8bit加七个2bit差值，共22bit，装入完整bytes是3B，末尾补2bit。差值项数没有减少，变短来自更合适的编码。</a:t>
            </a:r>
          </a:p>
          <a:p xmlns:a="http://schemas.openxmlformats.org/drawingml/2006/main">
            <a:r>
              <a:t>[教师提示] 长度、模式和码表未计入。一般图像有大差值，不能套三种值码表；PNG可逆滤波仍输出同数量bytes，后续压缩另处理。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course-design.qmd；demos/compression_lab.py；https://www.w3.org/TR/png-3/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只留近似值，还能找回原数吗？</a:t>
            </a:r>
          </a:p>
          <a:p xmlns:a="http://schemas.openxmlformats.org/drawingml/2006/main">
            <a:r>
              <a:t>[内部编号] Q6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现在换个规则：归到最近的4的倍数，中点向上取，最高只到252。看到120这一档，能确定原数吗？请写至少两个可能原数，再填A2下半表。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只留近似值，还能找回原数吗？</a:t>
            </a:r>
          </a:p>
          <a:p xmlns:a="http://schemas.openxmlformats.org/drawingml/2006/main">
            <a:r>
              <a:t>[内部编号] Q6 · focus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120会恢复为120，121也恢复为120。你如果再加1，就会把原来本来是120的情况选错。没有保存区分它们的依据，不能唯一倒回原数。</a:t>
            </a:r>
          </a:p>
          <a:p xmlns:a="http://schemas.openxmlformats.org/drawingml/2006/main">
            <a:r>
              <a:t>[教师提示] 119也映射到120。课堂模型不是JPEG，也不是初始数字化过程。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只留近似值，还能找回原数吗？</a:t>
            </a:r>
          </a:p>
          <a:p xmlns:a="http://schemas.openxmlformats.org/drawingml/2006/main">
            <a:r>
              <a:t>[内部编号] Q6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64个等级只需6bit编号。八格64bit变成48bit，即6B；但变小同时丢失了区分。某些值恰好不变，不代表这种规则能保证精确恢复。这是有损的例子。</a:t>
            </a:r>
          </a:p>
          <a:p xmlns:a="http://schemas.openxmlformats.org/drawingml/2006/main">
            <a:r>
              <a:t>[教师提示] 还原八项为120,120,124,120,120,120,120,124；不能用明暗看不出代替数字证据。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两图均来自所提供《蒙娜丽莎》JPEG本次解码得到的RGB，尺寸不变。先按正常大小看A和B，说出你能观察到的变化。再判断：看不出变化，足以证明每个像素相同吗？收判断后才查数据。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A保存为PNG，回读像素与本次输入一致。B用JPEG quality80保存，有504,742个像素改变。你能否看出差别，都不能代替逐像素检查。输入文件本身已是JPEG，我们没有更早的原图，不能宣称把它恢复成无损原作。</a:t>
            </a:r>
          </a:p>
          <a:p xmlns:a="http://schemas.openxmlformats.org/drawingml/2006/main">
            <a:r>
              <a:t>[教师提示] 保留原文件不改动；quality80不是80%质量。比较目标是本次输入RGB，不是未知的相机或艺术品数字母版。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focus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同一坐标的脸部细节，最近邻放大4倍，没有锐化。先描述观察到的纹理变化。看不出也可以，以刚才的像素检验为准。若任务只是浏览人物和背景，近似可能合用；若研究细微纹理，就要重新检查要求。</a:t>
            </a:r>
          </a:p>
          <a:p xmlns:a="http://schemas.openxmlformats.org/drawingml/2006/main">
            <a:r>
              <a:t>[教师提示] 裁切(x,y,w,h)=(368,310,192,128)。quality20仅作为可选明显对照，不能强迫学生在q80中看出指定差异。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本次绘画图像PNG1,706,860B，JPEG240,848B，JPEG较小。换成程序绘制的测试图，PNG4441B，JPEG10766B，大小关系反过来了。两组各自从同一RGB编码，尺寸均不变；不能只靠无损或有损标签判断大小。</a:t>
            </a:r>
          </a:p>
          <a:p xmlns:a="http://schemas.openxmlformats.org/drawingml/2006/main">
            <a:r>
              <a:t>[教师提示] 原提供JPEG为212536B，不与重编码文件混作同一编码起点的未压缩大小；本次RGB4590000B。两组内同尺寸、直接编码、q80/subsampling0。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利用关系能无损；舍弃区分会有损</a:t>
            </a:r>
          </a:p>
          <a:p xmlns:a="http://schemas.openxmlformats.org/drawingml/2006/main">
            <a:r>
              <a:t>[内部编号] 收束 · 利用关系能无损；舍弃区分会有损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起点加差值为何可逆？两个原数同归120为何不可逆？先留八秒请一位同学归纳，再用红框核对刚学到的节点。感知相似，不能证明原值相同。四条主枝的位置一直不动。已经学过的节点保留，尚未建立的结论继续留空。今天学到的不只是几个格式名，要能说明怎样省空间、怎样验证还原，以及怎样检查用途。</a:t>
            </a:r>
          </a:p>
          <a:p xmlns:a="http://schemas.openxmlformats.org/drawingml/2006/main">
            <a:r>
              <a:t>[教师提示] 知识树阶段2；Q7之后显示。本页不提前公布后续叶节点。阶段0用20秒；阶段1至3各30秒；终图30秒。全部计入原有Q1、Q4、Q7、Q9、Q10预算。红框仅标本次新学节点。具体格式的用途与边界回看Q9表。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同一种误差，哪些任务能接受？</a:t>
            </a:r>
          </a:p>
          <a:p xmlns:a="http://schemas.openxmlformats.org/drawingml/2006/main">
            <a:r>
              <a:t>[内部编号] Q8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先不要报格式名，判断每份材料要保留什么。通知少了一个五，程序少了等号，照片少量像素改变。三件事都能接受吗？同桌写一条理由。程序用60测试。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同一种误差，哪些任务能接受？</a:t>
            </a:r>
          </a:p>
          <a:p xmlns:a="http://schemas.openxmlformats.org/drawingml/2006/main">
            <a:r>
              <a:t>[内部编号] Q8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60大于等于60成立，60大于60不成立。符号很少，功能却变了。通知原文与源程序本体都要求无损。照片作为题中浏览副本，可以在质量达标时用有损方式。若要读角落小字，重新检查。</a:t>
            </a:r>
          </a:p>
          <a:p xmlns:a="http://schemas.openxmlformats.org/drawingml/2006/main">
            <a:r>
              <a:t>[教师提示] 不把删改内容称为原文件的合格压缩。测量和编辑母版可能同样要求无损。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看扩展名，就能判定压缩方式吗？</a:t>
            </a:r>
          </a:p>
          <a:p xmlns:a="http://schemas.openxmlformats.org/drawingml/2006/main">
            <a:r>
              <a:t>[内部编号] Q9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同学说这几个名字都是有损，图片不能无损。先找一个反例，再改他的说法。配置卡是依据技术文档做的规则表，软件保存设置可能不同。不能只看后缀。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course-design.qmd；demos/compression_lab.py；https://helpx.adobe.com/photoshop/desktop/save-and-export/export-files-to-different-formats/file-compression-in-photoshop.html</a:t>
            </a:r>
          </a:p>
          <a:p xmlns:a="http://schemas.openxmlformats.org/drawingml/2006/main">
            <a:r>
              <a:t>https://www.mpeg.org/standards/MPEG-1/</a:t>
            </a:r>
          </a:p>
          <a:p xmlns:a="http://schemas.openxmlformats.org/drawingml/2006/main">
            <a:r>
              <a:t>https://www.iis.fraunhofer.de/content/dam/iis/de/doc/ame/conference/AES-17-Conference_mp3-and-AAC-explained_AES17.pdf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看扩展名，就能判定压缩方式吗？</a:t>
            </a:r>
          </a:p>
          <a:p xmlns:a="http://schemas.openxmlformats.org/drawingml/2006/main">
            <a:r>
              <a:t>[内部编号] Q9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PNG已经推翻图片不能无损。TIFF同一后缀可以采用不同方式，所以需要看保存配置。常见照片JPEG通常有损；不能把一个文件格式名字等同唯一压缩算法。</a:t>
            </a:r>
          </a:p>
          <a:p xmlns:a="http://schemas.openxmlformats.org/drawingml/2006/main">
            <a:r>
              <a:t>[教师提示] JPEG标准还包含无损模式，本课不要求学生记标准编号。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course-design.qmd；demos/compression_lab.py；https://helpx.adobe.com/photoshop/desktop/save-and-export/export-files-to-different-formats/file-compression-in-photoshop.html</a:t>
            </a:r>
          </a:p>
          <a:p xmlns:a="http://schemas.openxmlformats.org/drawingml/2006/main">
            <a:r>
              <a:t>https://www.mpeg.org/standards/MPEG-1/</a:t>
            </a:r>
          </a:p>
          <a:p xmlns:a="http://schemas.openxmlformats.org/drawingml/2006/main">
            <a:r>
              <a:t>https://www.iis.fraunhofer.de/content/dam/iis/de/doc/ame/conference/AES-17-Conference_mp3-and-AAC-explained_AES17.pdf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看扩展名，就能判定压缩方式吗？</a:t>
            </a:r>
          </a:p>
          <a:p xmlns:a="http://schemas.openxmlformats.org/drawingml/2006/main">
            <a:r>
              <a:t>[内部编号] Q9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最后给名字放回常见用途：JPG图像通常有损，TIF图像看设置，MP3音频有损，MPEG视频相关标准常见用途采用有损编码。MPEG是一组标准，MP3是Audio Layer III，不是MPEG-3。长技术边界留在教师材料。</a:t>
            </a:r>
          </a:p>
          <a:p xmlns:a="http://schemas.openxmlformats.org/drawingml/2006/main">
            <a:r>
              <a:t>[教师提示] 本页替换配置卡区域，不增加新问题。MP4后缀也不能直接等同某一种算法。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course-design.qmd；demos/compression_lab.py；https://helpx.adobe.com/photoshop/desktop/save-and-export/export-files-to-different-formats/file-compression-in-photoshop.html</a:t>
            </a:r>
          </a:p>
          <a:p xmlns:a="http://schemas.openxmlformats.org/drawingml/2006/main">
            <a:r>
              <a:t>https://www.mpeg.org/standards/MPEG-1/</a:t>
            </a:r>
          </a:p>
          <a:p xmlns:a="http://schemas.openxmlformats.org/drawingml/2006/main">
            <a:r>
              <a:t>https://www.iis.fraunhofer.de/content/dam/iis/de/doc/ame/conference/AES-17-Conference_mp3-and-AAC-explained_AES17.pdf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能否接受有损，要看用途与编码</a:t>
            </a:r>
          </a:p>
          <a:p xmlns:a="http://schemas.openxmlformats.org/drawingml/2006/main">
            <a:r>
              <a:t>[内部编号] 收束 · 能否接受有损，要看用途与编码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说出一类必须无损的数据，再给TIF补一条判断条件。先留八秒请一位同学归纳，再用红框核对刚学到的节点。媒体可以无损；接受有损需要质量达标。四条主枝的位置一直不动。已经学过的节点保留，尚未建立的结论继续留空。今天学到的不只是几个格式名，要能说明怎样省空间、怎样验证还原，以及怎样检查用途。</a:t>
            </a:r>
          </a:p>
          <a:p xmlns:a="http://schemas.openxmlformats.org/drawingml/2006/main">
            <a:r>
              <a:t>[教师提示] 知识树阶段3；Q9之后显示。本页不提前公布后续叶节点。阶段0用20秒；阶段1至3各30秒；终图30秒。全部计入原有Q1、Q4、Q7、Q9、Q10预算。红框仅标本次新学节点。具体格式的用途与边界回看Q9表。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传送限额100KiB，下面是题目给定的候选结果，不是现场测量。先个人选，再同桌分两列检查：大小是否过关，信息是否过关。请说明另一方案为什么不合格。给90秒。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程序A同时满足两关，B虽小但不能交回原bytes。照片B同时满足两关，A虽无损却超限。照片B的合格限于题中浏览用途。回看开场猜测，请把文件变小一定删内容改成更准确的一句。</a:t>
            </a:r>
          </a:p>
          <a:p xmlns:a="http://schemas.openxmlformats.org/drawingml/2006/main">
            <a:r>
              <a:t>[教师提示] 300秒：30读题、90判断、60报告、30回扣、30定义、40出口、20收取。下两页收束只用剩余90秒；出口答案页课后显示。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用完整知识树检查压缩方案</a:t>
            </a:r>
          </a:p>
          <a:p xmlns:a="http://schemas.openxmlformats.org/drawingml/2006/main">
            <a:r>
              <a:t>[内部编号] 收束 · 用完整知识树检查压缩方案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沿知识树说明：程序A、照片B分别通过了哪两项检查？先留八秒请一位同学归纳，再用红框核对刚学到的节点。空间更少，还要符合当前任务的信息要求。四条主枝的位置一直不动。已经学过的节点保留，尚未建立的结论继续留空。今天学到的不只是几个格式名，要能说明怎样省空间、怎样验证还原，以及怎样检查用途。</a:t>
            </a:r>
          </a:p>
          <a:p xmlns:a="http://schemas.openxmlformats.org/drawingml/2006/main">
            <a:r>
              <a:t>[教师提示] 知识树阶段4；Q10之后显示。本页不提前公布后续叶节点。阶段0用20秒；阶段1至3各30秒；终图30秒。全部计入原有Q1、Q4、Q7、Q9、Q10预算。红框仅标本次新学节点。具体格式的用途与边界回看Q9表。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出口检查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现在自己写两句话，不跟同桌讨论。第一句要写出两个比较对象，第二句要区分人的感受与数据相等。40秒后收取，抽看三份。不要现在翻到参考答案页，避免学生照抄。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exit-answer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这一页只在收取后或课后核对。比较解压结果与原始输入；没有看出变化只说明感知接近，不能证明原值一致。若学生只写原图与压缩图，回到Q3要求说明还原对象；若仍凭肉眼判无损，回到Q6两个原数映到120。</a:t>
            </a:r>
          </a:p>
          <a:p xmlns:a="http://schemas.openxmlformats.org/drawingml/2006/main">
            <a:r>
              <a:t>[教师提示] 收取前不投影。作为课后反馈，可直接结束在上一页。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193cf7625448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2b331a41a949b9" /><Relationship Type="http://schemas.openxmlformats.org/officeDocument/2006/relationships/slideLayout" Target="/ppt/slideLayouts/slideLayout1.xml" Id="Rcab3069a3fed4e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b3069a3fed4e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c8f6b49964970" /><Relationship Type="http://schemas.openxmlformats.org/officeDocument/2006/relationships/notesSlide" Target="/ppt/notesSlides/notesSlide1.xml" Id="R27be3829700342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e947eb7e24a77" /><Relationship Type="http://schemas.openxmlformats.org/officeDocument/2006/relationships/notesSlide" Target="/ppt/notesSlides/notesSlide2.xml" Id="R0be3a32969284a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fbc80ecd044f1" /><Relationship Type="http://schemas.openxmlformats.org/officeDocument/2006/relationships/image" Target="/ppt/media/image.png" Id="Rb9663a2547234c09" /><Relationship Type="http://schemas.openxmlformats.org/officeDocument/2006/relationships/notesSlide" Target="/ppt/notesSlides/notesSlide3.xml" Id="R548c81759a3840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3afd2ec4b4a0a" /><Relationship Type="http://schemas.openxmlformats.org/officeDocument/2006/relationships/image" Target="/ppt/media/image.png" Id="Reb88bf3da0f04624" /><Relationship Type="http://schemas.openxmlformats.org/officeDocument/2006/relationships/image" Target="/ppt/media/image2.png" Id="R774b71aebe5a4f18" /><Relationship Type="http://schemas.openxmlformats.org/officeDocument/2006/relationships/notesSlide" Target="/ppt/notesSlides/notesSlide4.xml" Id="R5dcf810f60b840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668f84c414010" /><Relationship Type="http://schemas.openxmlformats.org/officeDocument/2006/relationships/notesSlide" Target="/ppt/notesSlides/notesSlide5.xml" Id="R6d3e81d10c1a44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319c3f4af4329" /><Relationship Type="http://schemas.openxmlformats.org/officeDocument/2006/relationships/notesSlide" Target="/ppt/notesSlides/notesSlide6.xml" Id="R6e70e123c11e49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80278872a4aea" /><Relationship Type="http://schemas.openxmlformats.org/officeDocument/2006/relationships/notesSlide" Target="/ppt/notesSlides/notesSlide7.xml" Id="Rbd2f281767cd49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29f7019204c8b" /><Relationship Type="http://schemas.openxmlformats.org/officeDocument/2006/relationships/notesSlide" Target="/ppt/notesSlides/notesSlide8.xml" Id="Rcf9a39850e1942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947ef79a6497a" /><Relationship Type="http://schemas.openxmlformats.org/officeDocument/2006/relationships/notesSlide" Target="/ppt/notesSlides/notesSlide9.xml" Id="R05db542c553e45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25cd54aca4913" /><Relationship Type="http://schemas.openxmlformats.org/officeDocument/2006/relationships/notesSlide" Target="/ppt/notesSlides/notesSlide10.xml" Id="R04104a6ee25c42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4847ad6584668" /><Relationship Type="http://schemas.openxmlformats.org/officeDocument/2006/relationships/notesSlide" Target="/ppt/notesSlides/notesSlide11.xml" Id="R4e0efdce0bd54d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b5d99cbcd4fc4" /><Relationship Type="http://schemas.openxmlformats.org/officeDocument/2006/relationships/notesSlide" Target="/ppt/notesSlides/notesSlide12.xml" Id="Rb184547b00444f4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12a6ffdb249c3" /><Relationship Type="http://schemas.openxmlformats.org/officeDocument/2006/relationships/notesSlide" Target="/ppt/notesSlides/notesSlide13.xml" Id="R3a756e16230649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8e25657264971" /><Relationship Type="http://schemas.openxmlformats.org/officeDocument/2006/relationships/notesSlide" Target="/ppt/notesSlides/notesSlide14.xml" Id="Rfb7f2f1927184b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246a9ddbb44b5" /><Relationship Type="http://schemas.openxmlformats.org/officeDocument/2006/relationships/notesSlide" Target="/ppt/notesSlides/notesSlide15.xml" Id="R4e9a5c34174d4cd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08a3cd9174a77" /><Relationship Type="http://schemas.openxmlformats.org/officeDocument/2006/relationships/notesSlide" Target="/ppt/notesSlides/notesSlide16.xml" Id="R7a9bf8fc8ee9474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cacaef8404de5" /><Relationship Type="http://schemas.openxmlformats.org/officeDocument/2006/relationships/notesSlide" Target="/ppt/notesSlides/notesSlide17.xml" Id="R601931d8a05c40d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7988f466a4097" /><Relationship Type="http://schemas.openxmlformats.org/officeDocument/2006/relationships/notesSlide" Target="/ppt/notesSlides/notesSlide18.xml" Id="R47e832e745814a6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e14cfba2940bf" /><Relationship Type="http://schemas.openxmlformats.org/officeDocument/2006/relationships/image" Target="/ppt/media/image3.png" Id="R7e86a063965141c6" /><Relationship Type="http://schemas.openxmlformats.org/officeDocument/2006/relationships/image" Target="/ppt/media/image.jpeg" Id="R12e54fac889a4a6e" /><Relationship Type="http://schemas.openxmlformats.org/officeDocument/2006/relationships/notesSlide" Target="/ppt/notesSlides/notesSlide19.xml" Id="R1cb39aba2d4742c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711eb126f44eb" /><Relationship Type="http://schemas.openxmlformats.org/officeDocument/2006/relationships/image" Target="/ppt/media/image3.png" Id="R1e3f3dc88d22430f" /><Relationship Type="http://schemas.openxmlformats.org/officeDocument/2006/relationships/image" Target="/ppt/media/image.jpeg" Id="Re76c0a24a35c4e90" /><Relationship Type="http://schemas.openxmlformats.org/officeDocument/2006/relationships/notesSlide" Target="/ppt/notesSlides/notesSlide20.xml" Id="R215044e6894a476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608fc7d134060" /><Relationship Type="http://schemas.openxmlformats.org/officeDocument/2006/relationships/image" Target="/ppt/media/image3.png" Id="Rd03cd77fea9f49e2" /><Relationship Type="http://schemas.openxmlformats.org/officeDocument/2006/relationships/image" Target="/ppt/media/image.jpeg" Id="R3674c713f6624191" /><Relationship Type="http://schemas.openxmlformats.org/officeDocument/2006/relationships/image" Target="/ppt/media/image4.png" Id="R735b0ce8eb594057" /><Relationship Type="http://schemas.openxmlformats.org/officeDocument/2006/relationships/image" Target="/ppt/media/image5.png" Id="R1670a911004e4d7e" /><Relationship Type="http://schemas.openxmlformats.org/officeDocument/2006/relationships/notesSlide" Target="/ppt/notesSlides/notesSlide21.xml" Id="R7f169c54abd04dc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01ea9efe441e3" /><Relationship Type="http://schemas.openxmlformats.org/officeDocument/2006/relationships/image" Target="/ppt/media/image3.png" Id="R19bd0f8b9cd141e4" /><Relationship Type="http://schemas.openxmlformats.org/officeDocument/2006/relationships/image" Target="/ppt/media/image.jpeg" Id="R795baeaf76414e12" /><Relationship Type="http://schemas.openxmlformats.org/officeDocument/2006/relationships/image" Target="/ppt/media/image4.png" Id="Rb2a6ec7b02c24b80" /><Relationship Type="http://schemas.openxmlformats.org/officeDocument/2006/relationships/image" Target="/ppt/media/image5.png" Id="R372ae2c20cb243ab" /><Relationship Type="http://schemas.openxmlformats.org/officeDocument/2006/relationships/image" Target="/ppt/media/image6.png" Id="R30a298b5418f4804" /><Relationship Type="http://schemas.openxmlformats.org/officeDocument/2006/relationships/notesSlide" Target="/ppt/notesSlides/notesSlide22.xml" Id="R43527a8ea5084a9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d26012ff44af9" /><Relationship Type="http://schemas.openxmlformats.org/officeDocument/2006/relationships/notesSlide" Target="/ppt/notesSlides/notesSlide23.xml" Id="R7782149660f04db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ab24250f44769" /><Relationship Type="http://schemas.openxmlformats.org/officeDocument/2006/relationships/notesSlide" Target="/ppt/notesSlides/notesSlide24.xml" Id="R16b32b00901c415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f2902c0474782" /><Relationship Type="http://schemas.openxmlformats.org/officeDocument/2006/relationships/notesSlide" Target="/ppt/notesSlides/notesSlide25.xml" Id="Rd7e92567ac5945d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51e39573543a9" /><Relationship Type="http://schemas.openxmlformats.org/officeDocument/2006/relationships/notesSlide" Target="/ppt/notesSlides/notesSlide26.xml" Id="Rb49b00bb08aa42d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2ce1f3ce74919" /><Relationship Type="http://schemas.openxmlformats.org/officeDocument/2006/relationships/notesSlide" Target="/ppt/notesSlides/notesSlide27.xml" Id="Rf8ad8a5ed824426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0a1adca8440ab" /><Relationship Type="http://schemas.openxmlformats.org/officeDocument/2006/relationships/notesSlide" Target="/ppt/notesSlides/notesSlide28.xml" Id="R3bfba7c04d6b4e4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9b28fb9c74635" /><Relationship Type="http://schemas.openxmlformats.org/officeDocument/2006/relationships/notesSlide" Target="/ppt/notesSlides/notesSlide29.xml" Id="R95649c845e8f439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169f886ed4049" /><Relationship Type="http://schemas.openxmlformats.org/officeDocument/2006/relationships/notesSlide" Target="/ppt/notesSlides/notesSlide30.xml" Id="R63c17527b457477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80bb7c1dd4a50" /><Relationship Type="http://schemas.openxmlformats.org/officeDocument/2006/relationships/notesSlide" Target="/ppt/notesSlides/notesSlide31.xml" Id="R27b4d4c285e4480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fb1f4df6442bd" /><Relationship Type="http://schemas.openxmlformats.org/officeDocument/2006/relationships/notesSlide" Target="/ppt/notesSlides/notesSlide32.xml" Id="R3ef6798a3ad94df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2b08e5ac44783" /><Relationship Type="http://schemas.openxmlformats.org/officeDocument/2006/relationships/notesSlide" Target="/ppt/notesSlides/notesSlide33.xml" Id="Rd2b4db67eeaa4ca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56bc2058f470c" /><Relationship Type="http://schemas.openxmlformats.org/officeDocument/2006/relationships/notesSlide" Target="/ppt/notesSlides/notesSlide34.xml" Id="Re9e6733756f04a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F621C4F2-987D-45F4-A7B6-7406BA78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2DF4961-C70B-4D9B-9129-12C77832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C48A40E-622F-4CD2-B49D-1C70F5D8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数据压缩入门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A5663CD-BB51-4FC7-837E-3A8F3418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文件变小，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信息去哪了？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8317650-4A75-4B61-AD6C-4A1FCC55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70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70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Data compression 101</a:t>
            </a:r>
          </a:p>
        </p:txBody>
      </p:sp>
    </p:spTree>
    <p:extLst>
      <p:ext uri="{BB962C8B-B14F-4D97-AF65-F5344CB8AC3E}">
        <p14:creationId xmlns:p14="http://schemas.microsoft.com/office/powerpoint/2010/main" val="17327268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">
            <a:extLst xmlns:a="http://schemas.openxmlformats.org/drawingml/2006/main">
              <a:ext uri="{FF2B5EF4-FFF2-40B4-BE49-F238E27FC236}">
                <a16:creationId xmlns:a16="http://schemas.microsoft.com/office/drawing/2014/main" id="{8B9D8A61-63C6-4318-A5F5-D0C5BDBA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4836FED-C777-42FE-8DA9-2411C9EA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E12FD41-31E4-448F-A663-C5307D1C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这节课要弄清四件事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4B7D8B4D-3F4B-424D-9626-E4511BD3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</a:t>
            </a:r>
          </a:p>
        </p:txBody>
      </p:sp>
      <p:sp>
        <p:nvSpPr>
          <p:cNvPr id="5" name="tree-trunk-horizontal">
            <a:extLst xmlns:a="http://schemas.openxmlformats.org/drawingml/2006/main">
              <a:ext uri="{FF2B5EF4-FFF2-40B4-BE49-F238E27FC236}">
                <a16:creationId xmlns:a16="http://schemas.microsoft.com/office/drawing/2014/main" id="{D60DD84C-32F2-42B2-97E7-5836C95A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338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" name="tree-trunk">
            <a:extLst xmlns:a="http://schemas.openxmlformats.org/drawingml/2006/main">
              <a:ext uri="{FF2B5EF4-FFF2-40B4-BE49-F238E27FC236}">
                <a16:creationId xmlns:a16="http://schemas.microsoft.com/office/drawing/2014/main" id="{C41ABC4B-D25D-4BBD-9D27-8F61BBA8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24050"/>
            <a:ext cx="190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7" name="tree-branch-link-purpose">
            <a:extLst xmlns:a="http://schemas.openxmlformats.org/drawingml/2006/main">
              <a:ext uri="{FF2B5EF4-FFF2-40B4-BE49-F238E27FC236}">
                <a16:creationId xmlns:a16="http://schemas.microsoft.com/office/drawing/2014/main" id="{0DA34DBE-21DB-4F28-8E7F-EC6C012E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240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tree-branch-purpose">
            <a:extLst xmlns:a="http://schemas.openxmlformats.org/drawingml/2006/main">
              <a:ext uri="{FF2B5EF4-FFF2-40B4-BE49-F238E27FC236}">
                <a16:creationId xmlns:a16="http://schemas.microsoft.com/office/drawing/2014/main" id="{253E3BE6-794F-4056-81C4-7E3C8F17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526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为何压缩</a:t>
            </a:r>
          </a:p>
        </p:txBody>
      </p:sp>
      <p:sp>
        <p:nvSpPr>
          <p:cNvPr id="9" name="tree-branch-link-method">
            <a:extLst xmlns:a="http://schemas.openxmlformats.org/drawingml/2006/main">
              <a:ext uri="{FF2B5EF4-FFF2-40B4-BE49-F238E27FC236}">
                <a16:creationId xmlns:a16="http://schemas.microsoft.com/office/drawing/2014/main" id="{A2D04E7D-E484-4FB0-BB4F-077BD05D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527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" name="tree-branch-method">
            <a:extLst xmlns:a="http://schemas.openxmlformats.org/drawingml/2006/main">
              <a:ext uri="{FF2B5EF4-FFF2-40B4-BE49-F238E27FC236}">
                <a16:creationId xmlns:a16="http://schemas.microsoft.com/office/drawing/2014/main" id="{41865155-75C6-4264-B83F-58A3A817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13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怎样变小</a:t>
            </a:r>
          </a:p>
        </p:txBody>
      </p:sp>
      <p:sp>
        <p:nvSpPr>
          <p:cNvPr id="11" name="tree-branch-link-recovery">
            <a:extLst xmlns:a="http://schemas.openxmlformats.org/drawingml/2006/main">
              <a:ext uri="{FF2B5EF4-FFF2-40B4-BE49-F238E27FC236}">
                <a16:creationId xmlns:a16="http://schemas.microsoft.com/office/drawing/2014/main" id="{7D17524B-55D8-46A7-8F68-BFDA2D1E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1624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" name="tree-branch-recovery">
            <a:extLst xmlns:a="http://schemas.openxmlformats.org/drawingml/2006/main">
              <a:ext uri="{FF2B5EF4-FFF2-40B4-BE49-F238E27FC236}">
                <a16:creationId xmlns:a16="http://schemas.microsoft.com/office/drawing/2014/main" id="{167056C5-68E5-4151-B3CA-F9340689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909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能否恢复</a:t>
            </a:r>
          </a:p>
        </p:txBody>
      </p:sp>
      <p:sp>
        <p:nvSpPr>
          <p:cNvPr id="13" name="tree-branch-link-choice">
            <a:extLst xmlns:a="http://schemas.openxmlformats.org/drawingml/2006/main">
              <a:ext uri="{FF2B5EF4-FFF2-40B4-BE49-F238E27FC236}">
                <a16:creationId xmlns:a16="http://schemas.microsoft.com/office/drawing/2014/main" id="{953FA75F-37CB-4F2A-9E39-87869957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4959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4" name="tree-branch-choice">
            <a:extLst xmlns:a="http://schemas.openxmlformats.org/drawingml/2006/main">
              <a:ext uri="{FF2B5EF4-FFF2-40B4-BE49-F238E27FC236}">
                <a16:creationId xmlns:a16="http://schemas.microsoft.com/office/drawing/2014/main" id="{72ED29B8-198C-481F-BF13-2AE6AA22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244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怎样选择</a:t>
            </a:r>
          </a:p>
        </p:txBody>
      </p:sp>
      <p:sp>
        <p:nvSpPr>
          <p:cNvPr id="15" name="tree-summary">
            <a:extLst xmlns:a="http://schemas.openxmlformats.org/drawingml/2006/main">
              <a:ext uri="{FF2B5EF4-FFF2-40B4-BE49-F238E27FC236}">
                <a16:creationId xmlns:a16="http://schemas.microsoft.com/office/drawing/2014/main" id="{864242BA-5B14-477F-A093-96E070E3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学到哪里，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就补到哪里。</a:t>
            </a:r>
          </a:p>
        </p:txBody>
      </p:sp>
    </p:spTree>
    <p:extLst>
      <p:ext uri="{BB962C8B-B14F-4D97-AF65-F5344CB8AC3E}">
        <p14:creationId xmlns:p14="http://schemas.microsoft.com/office/powerpoint/2010/main" val="2589796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BCE517E0-227D-4C1E-9ECA-35159B61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4D3433A-5EC8-41D3-BC4B-70D05019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AA808CC-DECC-428D-975D-4323F224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文件变小，是不是删掉了内容？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63a2547234c09"/>
          <a:stretch xmlns:a="http://schemas.openxmlformats.org/drawingml/2006/main"/>
        </p:blipFill>
        <p:spPr>
          <a:xfrm xmlns:a="http://schemas.openxmlformats.org/drawingml/2006/main">
            <a:off x="609600" y="198120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a-size">
            <a:extLst xmlns:a="http://schemas.openxmlformats.org/drawingml/2006/main">
              <a:ext uri="{FF2B5EF4-FFF2-40B4-BE49-F238E27FC236}">
                <a16:creationId xmlns:a16="http://schemas.microsoft.com/office/drawing/2014/main" id="{BBF69B60-0389-496C-8E72-58227CE5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0275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A：4096 B</a:t>
            </a:r>
          </a:p>
        </p:txBody>
      </p:sp>
      <p:sp>
        <p:nvSpPr>
          <p:cNvPr id="6" name="b-size">
            <a:extLst xmlns:a="http://schemas.openxmlformats.org/drawingml/2006/main">
              <a:ext uri="{FF2B5EF4-FFF2-40B4-BE49-F238E27FC236}">
                <a16:creationId xmlns:a16="http://schemas.microsoft.com/office/drawing/2014/main" id="{3FFC8878-C73E-4B80-966A-44E294DA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B：38 B</a:t>
            </a:r>
          </a:p>
        </p:txBody>
      </p:sp>
      <p:sp>
        <p:nvSpPr>
          <p:cNvPr id="7" name="origin">
            <a:extLst xmlns:a="http://schemas.openxmlformats.org/drawingml/2006/main">
              <a:ext uri="{FF2B5EF4-FFF2-40B4-BE49-F238E27FC236}">
                <a16:creationId xmlns:a16="http://schemas.microsoft.com/office/drawing/2014/main" id="{A9B0CC2A-4EA2-464B-907C-7B2D8775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959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B由A编码得到。先预测，再检查。</a:t>
            </a:r>
          </a:p>
        </p:txBody>
      </p:sp>
    </p:spTree>
    <p:extLst>
      <p:ext uri="{BB962C8B-B14F-4D97-AF65-F5344CB8AC3E}">
        <p14:creationId xmlns:p14="http://schemas.microsoft.com/office/powerpoint/2010/main" val="5771833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BCE517E0-227D-4C1E-9ECA-35159B61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4D3433A-5EC8-41D3-BC4B-70D05019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AA808CC-DECC-428D-975D-4323F224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文件变小，是不是删掉了内容？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8bf3da0f04624"/>
          <a:stretch xmlns:a="http://schemas.openxmlformats.org/drawingml/2006/main"/>
        </p:blipFill>
        <p:spPr>
          <a:xfrm xmlns:a="http://schemas.openxmlformats.org/drawingml/2006/main">
            <a:off x="609600" y="198120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a-size">
            <a:extLst xmlns:a="http://schemas.openxmlformats.org/drawingml/2006/main">
              <a:ext uri="{FF2B5EF4-FFF2-40B4-BE49-F238E27FC236}">
                <a16:creationId xmlns:a16="http://schemas.microsoft.com/office/drawing/2014/main" id="{BBF69B60-0389-496C-8E72-58227CE5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0275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A：4096 B</a:t>
            </a:r>
          </a:p>
        </p:txBody>
      </p:sp>
      <p:sp>
        <p:nvSpPr>
          <p:cNvPr id="6" name="b-size">
            <a:extLst xmlns:a="http://schemas.openxmlformats.org/drawingml/2006/main">
              <a:ext uri="{FF2B5EF4-FFF2-40B4-BE49-F238E27FC236}">
                <a16:creationId xmlns:a16="http://schemas.microsoft.com/office/drawing/2014/main" id="{3FFC8878-C73E-4B80-966A-44E294DA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B：38 B</a:t>
            </a:r>
          </a:p>
        </p:txBody>
      </p:sp>
      <p:sp>
        <p:nvSpPr>
          <p:cNvPr id="7" name="origin">
            <a:extLst xmlns:a="http://schemas.openxmlformats.org/drawingml/2006/main">
              <a:ext uri="{FF2B5EF4-FFF2-40B4-BE49-F238E27FC236}">
                <a16:creationId xmlns:a16="http://schemas.microsoft.com/office/drawing/2014/main" id="{A9B0CC2A-4EA2-464B-907C-7B2D8775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959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B由A编码得到。先预测，再检查。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b71aebe5a4f18"/>
          <a:stretch xmlns:a="http://schemas.openxmlformats.org/drawingml/2006/main"/>
        </p:blipFill>
        <p:spPr>
          <a:xfrm xmlns:a="http://schemas.openxmlformats.org/drawingml/2006/main">
            <a:off x="8229600" y="198120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9" name="restored-label">
            <a:extLst xmlns:a="http://schemas.openxmlformats.org/drawingml/2006/main">
              <a:ext uri="{FF2B5EF4-FFF2-40B4-BE49-F238E27FC236}">
                <a16:creationId xmlns:a16="http://schemas.microsoft.com/office/drawing/2014/main" id="{E0FEC6C5-E203-48E3-A118-5B0612BB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816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从B读回的图</a:t>
            </a:r>
          </a:p>
        </p:txBody>
      </p:sp>
    </p:spTree>
    <p:extLst>
      <p:ext uri="{BB962C8B-B14F-4D97-AF65-F5344CB8AC3E}">
        <p14:creationId xmlns:p14="http://schemas.microsoft.com/office/powerpoint/2010/main" val="5771833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">
            <a:extLst xmlns:a="http://schemas.openxmlformats.org/drawingml/2006/main">
              <a:ext uri="{FF2B5EF4-FFF2-40B4-BE49-F238E27FC236}">
                <a16:creationId xmlns:a16="http://schemas.microsoft.com/office/drawing/2014/main" id="{D3C3E881-50BC-413E-A156-39CB53FF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F6E3BF1-C3E4-4D8B-87D0-51740A53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AB27620-1F12-4824-9FF9-B300B51F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连续重复的颜色，怎样少写一些？</a:t>
            </a:r>
          </a:p>
        </p:txBody>
      </p:sp>
      <p:sp>
        <p:nvSpPr>
          <p:cNvPr id="4" name="value-244-0">
            <a:extLst xmlns:a="http://schemas.openxmlformats.org/drawingml/2006/main">
              <a:ext uri="{FF2B5EF4-FFF2-40B4-BE49-F238E27FC236}">
                <a16:creationId xmlns:a16="http://schemas.microsoft.com/office/drawing/2014/main" id="{918BE4C0-A04D-4649-ACF6-CF690A8C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5" name="value-244-1">
            <a:extLst xmlns:a="http://schemas.openxmlformats.org/drawingml/2006/main">
              <a:ext uri="{FF2B5EF4-FFF2-40B4-BE49-F238E27FC236}">
                <a16:creationId xmlns:a16="http://schemas.microsoft.com/office/drawing/2014/main" id="{325D6817-CC3F-4CD4-84BB-7F4854F3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44-2">
            <a:extLst xmlns:a="http://schemas.openxmlformats.org/drawingml/2006/main">
              <a:ext uri="{FF2B5EF4-FFF2-40B4-BE49-F238E27FC236}">
                <a16:creationId xmlns:a16="http://schemas.microsoft.com/office/drawing/2014/main" id="{48B254BE-2BD5-4D47-B5A7-EDF7D57F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44-3">
            <a:extLst xmlns:a="http://schemas.openxmlformats.org/drawingml/2006/main">
              <a:ext uri="{FF2B5EF4-FFF2-40B4-BE49-F238E27FC236}">
                <a16:creationId xmlns:a16="http://schemas.microsoft.com/office/drawing/2014/main" id="{B91B724A-4EC8-4895-8BDC-BBC5021D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44-4">
            <a:extLst xmlns:a="http://schemas.openxmlformats.org/drawingml/2006/main">
              <a:ext uri="{FF2B5EF4-FFF2-40B4-BE49-F238E27FC236}">
                <a16:creationId xmlns:a16="http://schemas.microsoft.com/office/drawing/2014/main" id="{AC2F9ED3-CD75-44AF-91ED-DB9B2423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44-5">
            <a:extLst xmlns:a="http://schemas.openxmlformats.org/drawingml/2006/main">
              <a:ext uri="{FF2B5EF4-FFF2-40B4-BE49-F238E27FC236}">
                <a16:creationId xmlns:a16="http://schemas.microsoft.com/office/drawing/2014/main" id="{0C48FD13-69BA-48A3-A7F4-0CAD302A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44-6">
            <a:extLst xmlns:a="http://schemas.openxmlformats.org/drawingml/2006/main">
              <a:ext uri="{FF2B5EF4-FFF2-40B4-BE49-F238E27FC236}">
                <a16:creationId xmlns:a16="http://schemas.microsoft.com/office/drawing/2014/main" id="{A40C3F02-39AC-44EE-A71F-469F20A7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44-7">
            <a:extLst xmlns:a="http://schemas.openxmlformats.org/drawingml/2006/main">
              <a:ext uri="{FF2B5EF4-FFF2-40B4-BE49-F238E27FC236}">
                <a16:creationId xmlns:a16="http://schemas.microsoft.com/office/drawing/2014/main" id="{59E6F0E0-F110-4EA6-A6A6-39CCDAAB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44-8">
            <a:extLst xmlns:a="http://schemas.openxmlformats.org/drawingml/2006/main">
              <a:ext uri="{FF2B5EF4-FFF2-40B4-BE49-F238E27FC236}">
                <a16:creationId xmlns:a16="http://schemas.microsoft.com/office/drawing/2014/main" id="{96A72218-CFDB-4325-BCA7-F1737114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3" name="value-244-9">
            <a:extLst xmlns:a="http://schemas.openxmlformats.org/drawingml/2006/main">
              <a:ext uri="{FF2B5EF4-FFF2-40B4-BE49-F238E27FC236}">
                <a16:creationId xmlns:a16="http://schemas.microsoft.com/office/drawing/2014/main" id="{1AD8C363-2F8C-4B03-9AE0-4B5E94AB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44-10">
            <a:extLst xmlns:a="http://schemas.openxmlformats.org/drawingml/2006/main">
              <a:ext uri="{FF2B5EF4-FFF2-40B4-BE49-F238E27FC236}">
                <a16:creationId xmlns:a16="http://schemas.microsoft.com/office/drawing/2014/main" id="{DF689B52-3AEA-4D80-AB31-61961708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44-11">
            <a:extLst xmlns:a="http://schemas.openxmlformats.org/drawingml/2006/main">
              <a:ext uri="{FF2B5EF4-FFF2-40B4-BE49-F238E27FC236}">
                <a16:creationId xmlns:a16="http://schemas.microsoft.com/office/drawing/2014/main" id="{B0D75A47-22C0-4FDC-B10F-EC91007E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44-12">
            <a:extLst xmlns:a="http://schemas.openxmlformats.org/drawingml/2006/main">
              <a:ext uri="{FF2B5EF4-FFF2-40B4-BE49-F238E27FC236}">
                <a16:creationId xmlns:a16="http://schemas.microsoft.com/office/drawing/2014/main" id="{6C1C0FFD-8C0D-426B-87C8-64D0BD60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44-13">
            <a:extLst xmlns:a="http://schemas.openxmlformats.org/drawingml/2006/main">
              <a:ext uri="{FF2B5EF4-FFF2-40B4-BE49-F238E27FC236}">
                <a16:creationId xmlns:a16="http://schemas.microsoft.com/office/drawing/2014/main" id="{01D3EE8E-2F5B-4FFB-8585-24983D6B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8" name="value-244-14">
            <a:extLst xmlns:a="http://schemas.openxmlformats.org/drawingml/2006/main">
              <a:ext uri="{FF2B5EF4-FFF2-40B4-BE49-F238E27FC236}">
                <a16:creationId xmlns:a16="http://schemas.microsoft.com/office/drawing/2014/main" id="{8F169F1D-2503-4B4E-B238-A1F6B913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44-15">
            <a:extLst xmlns:a="http://schemas.openxmlformats.org/drawingml/2006/main">
              <a:ext uri="{FF2B5EF4-FFF2-40B4-BE49-F238E27FC236}">
                <a16:creationId xmlns:a16="http://schemas.microsoft.com/office/drawing/2014/main" id="{C2B8CB95-2A70-42E4-86FB-EDC25746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a1-task">
            <a:extLst xmlns:a="http://schemas.openxmlformats.org/drawingml/2006/main">
              <a:ext uri="{FF2B5EF4-FFF2-40B4-BE49-F238E27FC236}">
                <a16:creationId xmlns:a16="http://schemas.microsoft.com/office/drawing/2014/main" id="{EB2D6ED5-527A-4B78-AAA5-C9158754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用短消息传给同桌：顺序不变，内容不漏。</a:t>
            </a:r>
          </a:p>
        </p:txBody>
      </p:sp>
    </p:spTree>
    <p:extLst>
      <p:ext uri="{BB962C8B-B14F-4D97-AF65-F5344CB8AC3E}">
        <p14:creationId xmlns:p14="http://schemas.microsoft.com/office/powerpoint/2010/main" val="2123084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">
            <a:extLst xmlns:a="http://schemas.openxmlformats.org/drawingml/2006/main">
              <a:ext uri="{FF2B5EF4-FFF2-40B4-BE49-F238E27FC236}">
                <a16:creationId xmlns:a16="http://schemas.microsoft.com/office/drawing/2014/main" id="{D3C3E881-50BC-413E-A156-39CB53FF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F6E3BF1-C3E4-4D8B-87D0-51740A53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AB27620-1F12-4824-9FF9-B300B51F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连续重复的颜色，怎样少写一些？</a:t>
            </a:r>
          </a:p>
        </p:txBody>
      </p:sp>
      <p:sp>
        <p:nvSpPr>
          <p:cNvPr id="4" name="value-244-0">
            <a:extLst xmlns:a="http://schemas.openxmlformats.org/drawingml/2006/main">
              <a:ext uri="{FF2B5EF4-FFF2-40B4-BE49-F238E27FC236}">
                <a16:creationId xmlns:a16="http://schemas.microsoft.com/office/drawing/2014/main" id="{918BE4C0-A04D-4649-ACF6-CF690A8C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5" name="value-244-1">
            <a:extLst xmlns:a="http://schemas.openxmlformats.org/drawingml/2006/main">
              <a:ext uri="{FF2B5EF4-FFF2-40B4-BE49-F238E27FC236}">
                <a16:creationId xmlns:a16="http://schemas.microsoft.com/office/drawing/2014/main" id="{325D6817-CC3F-4CD4-84BB-7F4854F3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44-2">
            <a:extLst xmlns:a="http://schemas.openxmlformats.org/drawingml/2006/main">
              <a:ext uri="{FF2B5EF4-FFF2-40B4-BE49-F238E27FC236}">
                <a16:creationId xmlns:a16="http://schemas.microsoft.com/office/drawing/2014/main" id="{48B254BE-2BD5-4D47-B5A7-EDF7D57F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44-3">
            <a:extLst xmlns:a="http://schemas.openxmlformats.org/drawingml/2006/main">
              <a:ext uri="{FF2B5EF4-FFF2-40B4-BE49-F238E27FC236}">
                <a16:creationId xmlns:a16="http://schemas.microsoft.com/office/drawing/2014/main" id="{B91B724A-4EC8-4895-8BDC-BBC5021D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44-4">
            <a:extLst xmlns:a="http://schemas.openxmlformats.org/drawingml/2006/main">
              <a:ext uri="{FF2B5EF4-FFF2-40B4-BE49-F238E27FC236}">
                <a16:creationId xmlns:a16="http://schemas.microsoft.com/office/drawing/2014/main" id="{AC2F9ED3-CD75-44AF-91ED-DB9B2423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44-5">
            <a:extLst xmlns:a="http://schemas.openxmlformats.org/drawingml/2006/main">
              <a:ext uri="{FF2B5EF4-FFF2-40B4-BE49-F238E27FC236}">
                <a16:creationId xmlns:a16="http://schemas.microsoft.com/office/drawing/2014/main" id="{0C48FD13-69BA-48A3-A7F4-0CAD302A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44-6">
            <a:extLst xmlns:a="http://schemas.openxmlformats.org/drawingml/2006/main">
              <a:ext uri="{FF2B5EF4-FFF2-40B4-BE49-F238E27FC236}">
                <a16:creationId xmlns:a16="http://schemas.microsoft.com/office/drawing/2014/main" id="{A40C3F02-39AC-44EE-A71F-469F20A7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44-7">
            <a:extLst xmlns:a="http://schemas.openxmlformats.org/drawingml/2006/main">
              <a:ext uri="{FF2B5EF4-FFF2-40B4-BE49-F238E27FC236}">
                <a16:creationId xmlns:a16="http://schemas.microsoft.com/office/drawing/2014/main" id="{59E6F0E0-F110-4EA6-A6A6-39CCDAAB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44-8">
            <a:extLst xmlns:a="http://schemas.openxmlformats.org/drawingml/2006/main">
              <a:ext uri="{FF2B5EF4-FFF2-40B4-BE49-F238E27FC236}">
                <a16:creationId xmlns:a16="http://schemas.microsoft.com/office/drawing/2014/main" id="{96A72218-CFDB-4325-BCA7-F1737114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3" name="value-244-9">
            <a:extLst xmlns:a="http://schemas.openxmlformats.org/drawingml/2006/main">
              <a:ext uri="{FF2B5EF4-FFF2-40B4-BE49-F238E27FC236}">
                <a16:creationId xmlns:a16="http://schemas.microsoft.com/office/drawing/2014/main" id="{1AD8C363-2F8C-4B03-9AE0-4B5E94AB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44-10">
            <a:extLst xmlns:a="http://schemas.openxmlformats.org/drawingml/2006/main">
              <a:ext uri="{FF2B5EF4-FFF2-40B4-BE49-F238E27FC236}">
                <a16:creationId xmlns:a16="http://schemas.microsoft.com/office/drawing/2014/main" id="{DF689B52-3AEA-4D80-AB31-61961708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44-11">
            <a:extLst xmlns:a="http://schemas.openxmlformats.org/drawingml/2006/main">
              <a:ext uri="{FF2B5EF4-FFF2-40B4-BE49-F238E27FC236}">
                <a16:creationId xmlns:a16="http://schemas.microsoft.com/office/drawing/2014/main" id="{B0D75A47-22C0-4FDC-B10F-EC91007E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44-12">
            <a:extLst xmlns:a="http://schemas.openxmlformats.org/drawingml/2006/main">
              <a:ext uri="{FF2B5EF4-FFF2-40B4-BE49-F238E27FC236}">
                <a16:creationId xmlns:a16="http://schemas.microsoft.com/office/drawing/2014/main" id="{6C1C0FFD-8C0D-426B-87C8-64D0BD60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44-13">
            <a:extLst xmlns:a="http://schemas.openxmlformats.org/drawingml/2006/main">
              <a:ext uri="{FF2B5EF4-FFF2-40B4-BE49-F238E27FC236}">
                <a16:creationId xmlns:a16="http://schemas.microsoft.com/office/drawing/2014/main" id="{01D3EE8E-2F5B-4FFB-8585-24983D6B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8" name="value-244-14">
            <a:extLst xmlns:a="http://schemas.openxmlformats.org/drawingml/2006/main">
              <a:ext uri="{FF2B5EF4-FFF2-40B4-BE49-F238E27FC236}">
                <a16:creationId xmlns:a16="http://schemas.microsoft.com/office/drawing/2014/main" id="{8F169F1D-2503-4B4E-B238-A1F6B913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44-15">
            <a:extLst xmlns:a="http://schemas.openxmlformats.org/drawingml/2006/main">
              <a:ext uri="{FF2B5EF4-FFF2-40B4-BE49-F238E27FC236}">
                <a16:creationId xmlns:a16="http://schemas.microsoft.com/office/drawing/2014/main" id="{C2B8CB95-2A70-42E4-86FB-EDC25746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a1-task">
            <a:extLst xmlns:a="http://schemas.openxmlformats.org/drawingml/2006/main">
              <a:ext uri="{FF2B5EF4-FFF2-40B4-BE49-F238E27FC236}">
                <a16:creationId xmlns:a16="http://schemas.microsoft.com/office/drawing/2014/main" id="{EB2D6ED5-527A-4B78-AAA5-C9158754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用短消息传给同桌：顺序不变，内容不漏。</a:t>
            </a:r>
          </a:p>
        </p:txBody>
      </p:sp>
      <p:sp>
        <p:nvSpPr>
          <p:cNvPr id="21" name="rle-result">
            <a:extLst xmlns:a="http://schemas.openxmlformats.org/drawingml/2006/main">
              <a:ext uri="{FF2B5EF4-FFF2-40B4-BE49-F238E27FC236}">
                <a16:creationId xmlns:a16="http://schemas.microsoft.com/office/drawing/2014/main" id="{9699802B-270F-442A-965D-D5FFA64C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红 8     绿 5     蓝 3</a:t>
            </a:r>
          </a:p>
        </p:txBody>
      </p:sp>
      <p:sp>
        <p:nvSpPr>
          <p:cNvPr id="22" name="rle-name">
            <a:extLst xmlns:a="http://schemas.openxmlformats.org/drawingml/2006/main">
              <a:ext uri="{FF2B5EF4-FFF2-40B4-BE49-F238E27FC236}">
                <a16:creationId xmlns:a16="http://schemas.microsoft.com/office/drawing/2014/main" id="{56276307-CE00-48FF-A729-52BF52E1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游程编码  Run-Length Encoding（RLE）</a:t>
            </a:r>
          </a:p>
        </p:txBody>
      </p:sp>
    </p:spTree>
    <p:extLst>
      <p:ext uri="{BB962C8B-B14F-4D97-AF65-F5344CB8AC3E}">
        <p14:creationId xmlns:p14="http://schemas.microsoft.com/office/powerpoint/2010/main" val="21230844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rail">
            <a:extLst xmlns:a="http://schemas.openxmlformats.org/drawingml/2006/main">
              <a:ext uri="{FF2B5EF4-FFF2-40B4-BE49-F238E27FC236}">
                <a16:creationId xmlns:a16="http://schemas.microsoft.com/office/drawing/2014/main" id="{645FCCA4-6550-42E3-9A03-63D8E9A7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AB4A860-E595-4274-B591-0A364AB5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2F8F788-75DA-40B3-B2F1-463E8681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少写以后，怎样证明一个也没丢？</a:t>
            </a:r>
          </a:p>
        </p:txBody>
      </p:sp>
      <p:sp>
        <p:nvSpPr>
          <p:cNvPr id="4" name="row-label-234">
            <a:extLst xmlns:a="http://schemas.openxmlformats.org/drawingml/2006/main">
              <a:ext uri="{FF2B5EF4-FFF2-40B4-BE49-F238E27FC236}">
                <a16:creationId xmlns:a16="http://schemas.microsoft.com/office/drawing/2014/main" id="{680A2C95-8C64-4303-898B-B3D0331A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原串</a:t>
            </a:r>
          </a:p>
        </p:txBody>
      </p:sp>
      <p:sp>
        <p:nvSpPr>
          <p:cNvPr id="5" name="value-234-0">
            <a:extLst xmlns:a="http://schemas.openxmlformats.org/drawingml/2006/main">
              <a:ext uri="{FF2B5EF4-FFF2-40B4-BE49-F238E27FC236}">
                <a16:creationId xmlns:a16="http://schemas.microsoft.com/office/drawing/2014/main" id="{D170EACD-0562-47F9-9EA9-27F9D98A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34-1">
            <a:extLst xmlns:a="http://schemas.openxmlformats.org/drawingml/2006/main">
              <a:ext uri="{FF2B5EF4-FFF2-40B4-BE49-F238E27FC236}">
                <a16:creationId xmlns:a16="http://schemas.microsoft.com/office/drawing/2014/main" id="{9D20C518-6E35-49A2-9F6F-47F52B7F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34-2">
            <a:extLst xmlns:a="http://schemas.openxmlformats.org/drawingml/2006/main">
              <a:ext uri="{FF2B5EF4-FFF2-40B4-BE49-F238E27FC236}">
                <a16:creationId xmlns:a16="http://schemas.microsoft.com/office/drawing/2014/main" id="{C6A08F1D-B8EB-4507-9D80-20EB660E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34-3">
            <a:extLst xmlns:a="http://schemas.openxmlformats.org/drawingml/2006/main">
              <a:ext uri="{FF2B5EF4-FFF2-40B4-BE49-F238E27FC236}">
                <a16:creationId xmlns:a16="http://schemas.microsoft.com/office/drawing/2014/main" id="{FD14A231-CBCE-40DA-91DE-B26BFA02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34-4">
            <a:extLst xmlns:a="http://schemas.openxmlformats.org/drawingml/2006/main">
              <a:ext uri="{FF2B5EF4-FFF2-40B4-BE49-F238E27FC236}">
                <a16:creationId xmlns:a16="http://schemas.microsoft.com/office/drawing/2014/main" id="{7230B871-B59E-45B7-B46A-54713CD8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34-5">
            <a:extLst xmlns:a="http://schemas.openxmlformats.org/drawingml/2006/main">
              <a:ext uri="{FF2B5EF4-FFF2-40B4-BE49-F238E27FC236}">
                <a16:creationId xmlns:a16="http://schemas.microsoft.com/office/drawing/2014/main" id="{D42A9DBD-2C3C-4453-920B-FEDB1D6A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34-6">
            <a:extLst xmlns:a="http://schemas.openxmlformats.org/drawingml/2006/main">
              <a:ext uri="{FF2B5EF4-FFF2-40B4-BE49-F238E27FC236}">
                <a16:creationId xmlns:a16="http://schemas.microsoft.com/office/drawing/2014/main" id="{170AD1A2-2982-4ED1-99A0-B5E9DCFE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34-7">
            <a:extLst xmlns:a="http://schemas.openxmlformats.org/drawingml/2006/main">
              <a:ext uri="{FF2B5EF4-FFF2-40B4-BE49-F238E27FC236}">
                <a16:creationId xmlns:a16="http://schemas.microsoft.com/office/drawing/2014/main" id="{F1CA10BA-0415-48A0-980C-BC7F7116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3" name="value-234-8">
            <a:extLst xmlns:a="http://schemas.openxmlformats.org/drawingml/2006/main">
              <a:ext uri="{FF2B5EF4-FFF2-40B4-BE49-F238E27FC236}">
                <a16:creationId xmlns:a16="http://schemas.microsoft.com/office/drawing/2014/main" id="{F9411B39-72E7-4C31-A5B7-44D85109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34-9">
            <a:extLst xmlns:a="http://schemas.openxmlformats.org/drawingml/2006/main">
              <a:ext uri="{FF2B5EF4-FFF2-40B4-BE49-F238E27FC236}">
                <a16:creationId xmlns:a16="http://schemas.microsoft.com/office/drawing/2014/main" id="{36ECBBB1-66AB-47A3-8C70-7080C601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34-10">
            <a:extLst xmlns:a="http://schemas.openxmlformats.org/drawingml/2006/main">
              <a:ext uri="{FF2B5EF4-FFF2-40B4-BE49-F238E27FC236}">
                <a16:creationId xmlns:a16="http://schemas.microsoft.com/office/drawing/2014/main" id="{2BF129AC-461E-4A6F-8403-8EE7D196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34-11">
            <a:extLst xmlns:a="http://schemas.openxmlformats.org/drawingml/2006/main">
              <a:ext uri="{FF2B5EF4-FFF2-40B4-BE49-F238E27FC236}">
                <a16:creationId xmlns:a16="http://schemas.microsoft.com/office/drawing/2014/main" id="{2AA2726D-FF1F-47A9-82E6-54210328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34-12">
            <a:extLst xmlns:a="http://schemas.openxmlformats.org/drawingml/2006/main">
              <a:ext uri="{FF2B5EF4-FFF2-40B4-BE49-F238E27FC236}">
                <a16:creationId xmlns:a16="http://schemas.microsoft.com/office/drawing/2014/main" id="{0F0D8248-106D-4B10-93E5-78316FD9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8" name="value-234-13">
            <a:extLst xmlns:a="http://schemas.openxmlformats.org/drawingml/2006/main">
              <a:ext uri="{FF2B5EF4-FFF2-40B4-BE49-F238E27FC236}">
                <a16:creationId xmlns:a16="http://schemas.microsoft.com/office/drawing/2014/main" id="{BF87C4F6-C6C2-40E7-BC2A-5C66732F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34-14">
            <a:extLst xmlns:a="http://schemas.openxmlformats.org/drawingml/2006/main">
              <a:ext uri="{FF2B5EF4-FFF2-40B4-BE49-F238E27FC236}">
                <a16:creationId xmlns:a16="http://schemas.microsoft.com/office/drawing/2014/main" id="{7835051E-133A-4436-B174-D767038E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value-234-15">
            <a:extLst xmlns:a="http://schemas.openxmlformats.org/drawingml/2006/main">
              <a:ext uri="{FF2B5EF4-FFF2-40B4-BE49-F238E27FC236}">
                <a16:creationId xmlns:a16="http://schemas.microsoft.com/office/drawing/2014/main" id="{119908A8-C6A3-430E-9C31-04EB20E7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1" name="row-label-372">
            <a:extLst xmlns:a="http://schemas.openxmlformats.org/drawingml/2006/main">
              <a:ext uri="{FF2B5EF4-FFF2-40B4-BE49-F238E27FC236}">
                <a16:creationId xmlns:a16="http://schemas.microsoft.com/office/drawing/2014/main" id="{7F85DE2A-AA9A-4CCD-BD53-4E65A9DF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待查</a:t>
            </a:r>
          </a:p>
        </p:txBody>
      </p:sp>
      <p:sp>
        <p:nvSpPr>
          <p:cNvPr id="22" name="value-372-0">
            <a:extLst xmlns:a="http://schemas.openxmlformats.org/drawingml/2006/main">
              <a:ext uri="{FF2B5EF4-FFF2-40B4-BE49-F238E27FC236}">
                <a16:creationId xmlns:a16="http://schemas.microsoft.com/office/drawing/2014/main" id="{0B003B0F-E61D-4351-A364-789DF600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3" name="value-372-1">
            <a:extLst xmlns:a="http://schemas.openxmlformats.org/drawingml/2006/main">
              <a:ext uri="{FF2B5EF4-FFF2-40B4-BE49-F238E27FC236}">
                <a16:creationId xmlns:a16="http://schemas.microsoft.com/office/drawing/2014/main" id="{3C88B855-26E2-4BD4-831B-A26CC15F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4" name="value-372-2">
            <a:extLst xmlns:a="http://schemas.openxmlformats.org/drawingml/2006/main">
              <a:ext uri="{FF2B5EF4-FFF2-40B4-BE49-F238E27FC236}">
                <a16:creationId xmlns:a16="http://schemas.microsoft.com/office/drawing/2014/main" id="{25EEFA52-A8C7-490B-A84F-ADF9B9CC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5" name="value-372-3">
            <a:extLst xmlns:a="http://schemas.openxmlformats.org/drawingml/2006/main">
              <a:ext uri="{FF2B5EF4-FFF2-40B4-BE49-F238E27FC236}">
                <a16:creationId xmlns:a16="http://schemas.microsoft.com/office/drawing/2014/main" id="{6800FE6D-FB98-4AB1-A30C-9343AB0A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6" name="value-372-4">
            <a:extLst xmlns:a="http://schemas.openxmlformats.org/drawingml/2006/main">
              <a:ext uri="{FF2B5EF4-FFF2-40B4-BE49-F238E27FC236}">
                <a16:creationId xmlns:a16="http://schemas.microsoft.com/office/drawing/2014/main" id="{793E39EC-0D29-4259-AE5D-95F18C8E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7" name="value-372-5">
            <a:extLst xmlns:a="http://schemas.openxmlformats.org/drawingml/2006/main">
              <a:ext uri="{FF2B5EF4-FFF2-40B4-BE49-F238E27FC236}">
                <a16:creationId xmlns:a16="http://schemas.microsoft.com/office/drawing/2014/main" id="{A03E5C54-D7FC-4BAA-86D3-B49BD259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8" name="value-372-6">
            <a:extLst xmlns:a="http://schemas.openxmlformats.org/drawingml/2006/main">
              <a:ext uri="{FF2B5EF4-FFF2-40B4-BE49-F238E27FC236}">
                <a16:creationId xmlns:a16="http://schemas.microsoft.com/office/drawing/2014/main" id="{C04C014A-981A-4F5C-9E9D-31AC0C0D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9" name="value-372-7">
            <a:extLst xmlns:a="http://schemas.openxmlformats.org/drawingml/2006/main">
              <a:ext uri="{FF2B5EF4-FFF2-40B4-BE49-F238E27FC236}">
                <a16:creationId xmlns:a16="http://schemas.microsoft.com/office/drawing/2014/main" id="{3F13423D-219E-43B5-864C-9AB9D848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0" name="value-372-8">
            <a:extLst xmlns:a="http://schemas.openxmlformats.org/drawingml/2006/main">
              <a:ext uri="{FF2B5EF4-FFF2-40B4-BE49-F238E27FC236}">
                <a16:creationId xmlns:a16="http://schemas.microsoft.com/office/drawing/2014/main" id="{0719A305-F745-43D2-8DA2-37176B7A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1" name="value-372-9">
            <a:extLst xmlns:a="http://schemas.openxmlformats.org/drawingml/2006/main">
              <a:ext uri="{FF2B5EF4-FFF2-40B4-BE49-F238E27FC236}">
                <a16:creationId xmlns:a16="http://schemas.microsoft.com/office/drawing/2014/main" id="{A1781EC1-64AB-4210-AF42-D006EB64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2" name="value-372-10">
            <a:extLst xmlns:a="http://schemas.openxmlformats.org/drawingml/2006/main">
              <a:ext uri="{FF2B5EF4-FFF2-40B4-BE49-F238E27FC236}">
                <a16:creationId xmlns:a16="http://schemas.microsoft.com/office/drawing/2014/main" id="{82CA1C40-3815-4877-929E-0E3D630F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3" name="value-372-11">
            <a:extLst xmlns:a="http://schemas.openxmlformats.org/drawingml/2006/main">
              <a:ext uri="{FF2B5EF4-FFF2-40B4-BE49-F238E27FC236}">
                <a16:creationId xmlns:a16="http://schemas.microsoft.com/office/drawing/2014/main" id="{1A5D4A8E-7CCF-4391-BAD6-340501A2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4" name="value-372-12">
            <a:extLst xmlns:a="http://schemas.openxmlformats.org/drawingml/2006/main">
              <a:ext uri="{FF2B5EF4-FFF2-40B4-BE49-F238E27FC236}">
                <a16:creationId xmlns:a16="http://schemas.microsoft.com/office/drawing/2014/main" id="{351D2F27-BF40-4D9B-AD94-76CC619B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5" name="value-372-13">
            <a:extLst xmlns:a="http://schemas.openxmlformats.org/drawingml/2006/main">
              <a:ext uri="{FF2B5EF4-FFF2-40B4-BE49-F238E27FC236}">
                <a16:creationId xmlns:a16="http://schemas.microsoft.com/office/drawing/2014/main" id="{C98279BB-0230-4601-B5F7-D0ED31AF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6" name="value-372-14">
            <a:extLst xmlns:a="http://schemas.openxmlformats.org/drawingml/2006/main">
              <a:ext uri="{FF2B5EF4-FFF2-40B4-BE49-F238E27FC236}">
                <a16:creationId xmlns:a16="http://schemas.microsoft.com/office/drawing/2014/main" id="{6DE85623-CD8B-46EB-8EE0-FFFA732E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7" name="value-372-15">
            <a:extLst xmlns:a="http://schemas.openxmlformats.org/drawingml/2006/main">
              <a:ext uri="{FF2B5EF4-FFF2-40B4-BE49-F238E27FC236}">
                <a16:creationId xmlns:a16="http://schemas.microsoft.com/office/drawing/2014/main" id="{B584C14F-C613-4DD0-A1A6-64273A2D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8" name="check-task">
            <a:extLst xmlns:a="http://schemas.openxmlformats.org/drawingml/2006/main">
              <a:ext uri="{FF2B5EF4-FFF2-40B4-BE49-F238E27FC236}">
                <a16:creationId xmlns:a16="http://schemas.microsoft.com/office/drawing/2014/main" id="{4C44CC59-C731-4319-8990-5F499054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提出检验方法，再检查这份还原结果。</a:t>
            </a:r>
          </a:p>
        </p:txBody>
      </p:sp>
    </p:spTree>
    <p:extLst>
      <p:ext uri="{BB962C8B-B14F-4D97-AF65-F5344CB8AC3E}">
        <p14:creationId xmlns:p14="http://schemas.microsoft.com/office/powerpoint/2010/main" val="7502650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op-rail">
            <a:extLst xmlns:a="http://schemas.openxmlformats.org/drawingml/2006/main">
              <a:ext uri="{FF2B5EF4-FFF2-40B4-BE49-F238E27FC236}">
                <a16:creationId xmlns:a16="http://schemas.microsoft.com/office/drawing/2014/main" id="{645FCCA4-6550-42E3-9A03-63D8E9A7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AB4A860-E595-4274-B591-0A364AB5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2F8F788-75DA-40B3-B2F1-463E8681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少写以后，怎样证明一个也没丢？</a:t>
            </a:r>
          </a:p>
        </p:txBody>
      </p:sp>
      <p:sp>
        <p:nvSpPr>
          <p:cNvPr id="4" name="row-label-234">
            <a:extLst xmlns:a="http://schemas.openxmlformats.org/drawingml/2006/main">
              <a:ext uri="{FF2B5EF4-FFF2-40B4-BE49-F238E27FC236}">
                <a16:creationId xmlns:a16="http://schemas.microsoft.com/office/drawing/2014/main" id="{680A2C95-8C64-4303-898B-B3D0331A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原串</a:t>
            </a:r>
          </a:p>
        </p:txBody>
      </p:sp>
      <p:sp>
        <p:nvSpPr>
          <p:cNvPr id="5" name="value-234-0">
            <a:extLst xmlns:a="http://schemas.openxmlformats.org/drawingml/2006/main">
              <a:ext uri="{FF2B5EF4-FFF2-40B4-BE49-F238E27FC236}">
                <a16:creationId xmlns:a16="http://schemas.microsoft.com/office/drawing/2014/main" id="{D170EACD-0562-47F9-9EA9-27F9D98A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34-1">
            <a:extLst xmlns:a="http://schemas.openxmlformats.org/drawingml/2006/main">
              <a:ext uri="{FF2B5EF4-FFF2-40B4-BE49-F238E27FC236}">
                <a16:creationId xmlns:a16="http://schemas.microsoft.com/office/drawing/2014/main" id="{9D20C518-6E35-49A2-9F6F-47F52B7F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34-2">
            <a:extLst xmlns:a="http://schemas.openxmlformats.org/drawingml/2006/main">
              <a:ext uri="{FF2B5EF4-FFF2-40B4-BE49-F238E27FC236}">
                <a16:creationId xmlns:a16="http://schemas.microsoft.com/office/drawing/2014/main" id="{C6A08F1D-B8EB-4507-9D80-20EB660E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34-3">
            <a:extLst xmlns:a="http://schemas.openxmlformats.org/drawingml/2006/main">
              <a:ext uri="{FF2B5EF4-FFF2-40B4-BE49-F238E27FC236}">
                <a16:creationId xmlns:a16="http://schemas.microsoft.com/office/drawing/2014/main" id="{FD14A231-CBCE-40DA-91DE-B26BFA02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34-4">
            <a:extLst xmlns:a="http://schemas.openxmlformats.org/drawingml/2006/main">
              <a:ext uri="{FF2B5EF4-FFF2-40B4-BE49-F238E27FC236}">
                <a16:creationId xmlns:a16="http://schemas.microsoft.com/office/drawing/2014/main" id="{7230B871-B59E-45B7-B46A-54713CD8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34-5">
            <a:extLst xmlns:a="http://schemas.openxmlformats.org/drawingml/2006/main">
              <a:ext uri="{FF2B5EF4-FFF2-40B4-BE49-F238E27FC236}">
                <a16:creationId xmlns:a16="http://schemas.microsoft.com/office/drawing/2014/main" id="{D42A9DBD-2C3C-4453-920B-FEDB1D6A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34-6">
            <a:extLst xmlns:a="http://schemas.openxmlformats.org/drawingml/2006/main">
              <a:ext uri="{FF2B5EF4-FFF2-40B4-BE49-F238E27FC236}">
                <a16:creationId xmlns:a16="http://schemas.microsoft.com/office/drawing/2014/main" id="{170AD1A2-2982-4ED1-99A0-B5E9DCFE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34-7">
            <a:extLst xmlns:a="http://schemas.openxmlformats.org/drawingml/2006/main">
              <a:ext uri="{FF2B5EF4-FFF2-40B4-BE49-F238E27FC236}">
                <a16:creationId xmlns:a16="http://schemas.microsoft.com/office/drawing/2014/main" id="{F1CA10BA-0415-48A0-980C-BC7F7116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3" name="value-234-8">
            <a:extLst xmlns:a="http://schemas.openxmlformats.org/drawingml/2006/main">
              <a:ext uri="{FF2B5EF4-FFF2-40B4-BE49-F238E27FC236}">
                <a16:creationId xmlns:a16="http://schemas.microsoft.com/office/drawing/2014/main" id="{F9411B39-72E7-4C31-A5B7-44D85109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34-9">
            <a:extLst xmlns:a="http://schemas.openxmlformats.org/drawingml/2006/main">
              <a:ext uri="{FF2B5EF4-FFF2-40B4-BE49-F238E27FC236}">
                <a16:creationId xmlns:a16="http://schemas.microsoft.com/office/drawing/2014/main" id="{36ECBBB1-66AB-47A3-8C70-7080C601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34-10">
            <a:extLst xmlns:a="http://schemas.openxmlformats.org/drawingml/2006/main">
              <a:ext uri="{FF2B5EF4-FFF2-40B4-BE49-F238E27FC236}">
                <a16:creationId xmlns:a16="http://schemas.microsoft.com/office/drawing/2014/main" id="{2BF129AC-461E-4A6F-8403-8EE7D196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34-11">
            <a:extLst xmlns:a="http://schemas.openxmlformats.org/drawingml/2006/main">
              <a:ext uri="{FF2B5EF4-FFF2-40B4-BE49-F238E27FC236}">
                <a16:creationId xmlns:a16="http://schemas.microsoft.com/office/drawing/2014/main" id="{2AA2726D-FF1F-47A9-82E6-54210328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34-12">
            <a:extLst xmlns:a="http://schemas.openxmlformats.org/drawingml/2006/main">
              <a:ext uri="{FF2B5EF4-FFF2-40B4-BE49-F238E27FC236}">
                <a16:creationId xmlns:a16="http://schemas.microsoft.com/office/drawing/2014/main" id="{0F0D8248-106D-4B10-93E5-78316FD9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8" name="value-234-13">
            <a:extLst xmlns:a="http://schemas.openxmlformats.org/drawingml/2006/main">
              <a:ext uri="{FF2B5EF4-FFF2-40B4-BE49-F238E27FC236}">
                <a16:creationId xmlns:a16="http://schemas.microsoft.com/office/drawing/2014/main" id="{BF87C4F6-C6C2-40E7-BC2A-5C66732F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34-14">
            <a:extLst xmlns:a="http://schemas.openxmlformats.org/drawingml/2006/main">
              <a:ext uri="{FF2B5EF4-FFF2-40B4-BE49-F238E27FC236}">
                <a16:creationId xmlns:a16="http://schemas.microsoft.com/office/drawing/2014/main" id="{7835051E-133A-4436-B174-D767038E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value-234-15">
            <a:extLst xmlns:a="http://schemas.openxmlformats.org/drawingml/2006/main">
              <a:ext uri="{FF2B5EF4-FFF2-40B4-BE49-F238E27FC236}">
                <a16:creationId xmlns:a16="http://schemas.microsoft.com/office/drawing/2014/main" id="{119908A8-C6A3-430E-9C31-04EB20E7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1" name="row-label-372">
            <a:extLst xmlns:a="http://schemas.openxmlformats.org/drawingml/2006/main">
              <a:ext uri="{FF2B5EF4-FFF2-40B4-BE49-F238E27FC236}">
                <a16:creationId xmlns:a16="http://schemas.microsoft.com/office/drawing/2014/main" id="{7F85DE2A-AA9A-4CCD-BD53-4E65A9DF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待查</a:t>
            </a:r>
          </a:p>
        </p:txBody>
      </p:sp>
      <p:sp>
        <p:nvSpPr>
          <p:cNvPr id="22" name="value-372-0">
            <a:extLst xmlns:a="http://schemas.openxmlformats.org/drawingml/2006/main">
              <a:ext uri="{FF2B5EF4-FFF2-40B4-BE49-F238E27FC236}">
                <a16:creationId xmlns:a16="http://schemas.microsoft.com/office/drawing/2014/main" id="{0B003B0F-E61D-4351-A364-789DF600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3" name="value-372-1">
            <a:extLst xmlns:a="http://schemas.openxmlformats.org/drawingml/2006/main">
              <a:ext uri="{FF2B5EF4-FFF2-40B4-BE49-F238E27FC236}">
                <a16:creationId xmlns:a16="http://schemas.microsoft.com/office/drawing/2014/main" id="{3C88B855-26E2-4BD4-831B-A26CC15F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4" name="value-372-2">
            <a:extLst xmlns:a="http://schemas.openxmlformats.org/drawingml/2006/main">
              <a:ext uri="{FF2B5EF4-FFF2-40B4-BE49-F238E27FC236}">
                <a16:creationId xmlns:a16="http://schemas.microsoft.com/office/drawing/2014/main" id="{25EEFA52-A8C7-490B-A84F-ADF9B9CC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5" name="value-372-3">
            <a:extLst xmlns:a="http://schemas.openxmlformats.org/drawingml/2006/main">
              <a:ext uri="{FF2B5EF4-FFF2-40B4-BE49-F238E27FC236}">
                <a16:creationId xmlns:a16="http://schemas.microsoft.com/office/drawing/2014/main" id="{6800FE6D-FB98-4AB1-A30C-9343AB0A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6" name="value-372-4">
            <a:extLst xmlns:a="http://schemas.openxmlformats.org/drawingml/2006/main">
              <a:ext uri="{FF2B5EF4-FFF2-40B4-BE49-F238E27FC236}">
                <a16:creationId xmlns:a16="http://schemas.microsoft.com/office/drawing/2014/main" id="{793E39EC-0D29-4259-AE5D-95F18C8E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7" name="value-372-5">
            <a:extLst xmlns:a="http://schemas.openxmlformats.org/drawingml/2006/main">
              <a:ext uri="{FF2B5EF4-FFF2-40B4-BE49-F238E27FC236}">
                <a16:creationId xmlns:a16="http://schemas.microsoft.com/office/drawing/2014/main" id="{A03E5C54-D7FC-4BAA-86D3-B49BD259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8" name="value-372-6">
            <a:extLst xmlns:a="http://schemas.openxmlformats.org/drawingml/2006/main">
              <a:ext uri="{FF2B5EF4-FFF2-40B4-BE49-F238E27FC236}">
                <a16:creationId xmlns:a16="http://schemas.microsoft.com/office/drawing/2014/main" id="{C04C014A-981A-4F5C-9E9D-31AC0C0D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9" name="value-372-7">
            <a:extLst xmlns:a="http://schemas.openxmlformats.org/drawingml/2006/main">
              <a:ext uri="{FF2B5EF4-FFF2-40B4-BE49-F238E27FC236}">
                <a16:creationId xmlns:a16="http://schemas.microsoft.com/office/drawing/2014/main" id="{3F13423D-219E-43B5-864C-9AB9D848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0" name="value-372-8">
            <a:extLst xmlns:a="http://schemas.openxmlformats.org/drawingml/2006/main">
              <a:ext uri="{FF2B5EF4-FFF2-40B4-BE49-F238E27FC236}">
                <a16:creationId xmlns:a16="http://schemas.microsoft.com/office/drawing/2014/main" id="{0719A305-F745-43D2-8DA2-37176B7A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1" name="value-372-9">
            <a:extLst xmlns:a="http://schemas.openxmlformats.org/drawingml/2006/main">
              <a:ext uri="{FF2B5EF4-FFF2-40B4-BE49-F238E27FC236}">
                <a16:creationId xmlns:a16="http://schemas.microsoft.com/office/drawing/2014/main" id="{A1781EC1-64AB-4210-AF42-D006EB64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2" name="value-372-10">
            <a:extLst xmlns:a="http://schemas.openxmlformats.org/drawingml/2006/main">
              <a:ext uri="{FF2B5EF4-FFF2-40B4-BE49-F238E27FC236}">
                <a16:creationId xmlns:a16="http://schemas.microsoft.com/office/drawing/2014/main" id="{82CA1C40-3815-4877-929E-0E3D630F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3" name="value-372-11">
            <a:extLst xmlns:a="http://schemas.openxmlformats.org/drawingml/2006/main">
              <a:ext uri="{FF2B5EF4-FFF2-40B4-BE49-F238E27FC236}">
                <a16:creationId xmlns:a16="http://schemas.microsoft.com/office/drawing/2014/main" id="{1A5D4A8E-7CCF-4391-BAD6-340501A2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4" name="value-372-12">
            <a:extLst xmlns:a="http://schemas.openxmlformats.org/drawingml/2006/main">
              <a:ext uri="{FF2B5EF4-FFF2-40B4-BE49-F238E27FC236}">
                <a16:creationId xmlns:a16="http://schemas.microsoft.com/office/drawing/2014/main" id="{351D2F27-BF40-4D9B-AD94-76CC619B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5" name="value-372-13">
            <a:extLst xmlns:a="http://schemas.openxmlformats.org/drawingml/2006/main">
              <a:ext uri="{FF2B5EF4-FFF2-40B4-BE49-F238E27FC236}">
                <a16:creationId xmlns:a16="http://schemas.microsoft.com/office/drawing/2014/main" id="{C98279BB-0230-4601-B5F7-D0ED31AF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6" name="value-372-14">
            <a:extLst xmlns:a="http://schemas.openxmlformats.org/drawingml/2006/main">
              <a:ext uri="{FF2B5EF4-FFF2-40B4-BE49-F238E27FC236}">
                <a16:creationId xmlns:a16="http://schemas.microsoft.com/office/drawing/2014/main" id="{6DE85623-CD8B-46EB-8EE0-FFFA732E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7" name="value-372-15">
            <a:extLst xmlns:a="http://schemas.openxmlformats.org/drawingml/2006/main">
              <a:ext uri="{FF2B5EF4-FFF2-40B4-BE49-F238E27FC236}">
                <a16:creationId xmlns:a16="http://schemas.microsoft.com/office/drawing/2014/main" id="{B584C14F-C613-4DD0-A1A6-64273A2D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8" name="check-task">
            <a:extLst xmlns:a="http://schemas.openxmlformats.org/drawingml/2006/main">
              <a:ext uri="{FF2B5EF4-FFF2-40B4-BE49-F238E27FC236}">
                <a16:creationId xmlns:a16="http://schemas.microsoft.com/office/drawing/2014/main" id="{4C44CC59-C731-4319-8990-5F499054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提出检验方法，再检查这份还原结果。</a:t>
            </a:r>
          </a:p>
        </p:txBody>
      </p:sp>
      <p:sp>
        <p:nvSpPr>
          <p:cNvPr id="39" name="first-difference">
            <a:extLst xmlns:a="http://schemas.openxmlformats.org/drawingml/2006/main">
              <a:ext uri="{FF2B5EF4-FFF2-40B4-BE49-F238E27FC236}">
                <a16:creationId xmlns:a16="http://schemas.microsoft.com/office/drawing/2014/main" id="{EE6BB6CC-7D78-410A-96B4-F7A4A288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</p:spTree>
    <p:extLst>
      <p:ext uri="{BB962C8B-B14F-4D97-AF65-F5344CB8AC3E}">
        <p14:creationId xmlns:p14="http://schemas.microsoft.com/office/powerpoint/2010/main" val="7502650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op-rail">
            <a:extLst xmlns:a="http://schemas.openxmlformats.org/drawingml/2006/main">
              <a:ext uri="{FF2B5EF4-FFF2-40B4-BE49-F238E27FC236}">
                <a16:creationId xmlns:a16="http://schemas.microsoft.com/office/drawing/2014/main" id="{645FCCA4-6550-42E3-9A03-63D8E9A7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AB4A860-E595-4274-B591-0A364AB5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2F8F788-75DA-40B3-B2F1-463E8681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少写以后，怎样证明一个也没丢？</a:t>
            </a:r>
          </a:p>
        </p:txBody>
      </p:sp>
      <p:sp>
        <p:nvSpPr>
          <p:cNvPr id="4" name="row-label-234">
            <a:extLst xmlns:a="http://schemas.openxmlformats.org/drawingml/2006/main">
              <a:ext uri="{FF2B5EF4-FFF2-40B4-BE49-F238E27FC236}">
                <a16:creationId xmlns:a16="http://schemas.microsoft.com/office/drawing/2014/main" id="{680A2C95-8C64-4303-898B-B3D0331A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原串</a:t>
            </a:r>
          </a:p>
        </p:txBody>
      </p:sp>
      <p:sp>
        <p:nvSpPr>
          <p:cNvPr id="5" name="value-234-0">
            <a:extLst xmlns:a="http://schemas.openxmlformats.org/drawingml/2006/main">
              <a:ext uri="{FF2B5EF4-FFF2-40B4-BE49-F238E27FC236}">
                <a16:creationId xmlns:a16="http://schemas.microsoft.com/office/drawing/2014/main" id="{D170EACD-0562-47F9-9EA9-27F9D98A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34-1">
            <a:extLst xmlns:a="http://schemas.openxmlformats.org/drawingml/2006/main">
              <a:ext uri="{FF2B5EF4-FFF2-40B4-BE49-F238E27FC236}">
                <a16:creationId xmlns:a16="http://schemas.microsoft.com/office/drawing/2014/main" id="{9D20C518-6E35-49A2-9F6F-47F52B7F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34-2">
            <a:extLst xmlns:a="http://schemas.openxmlformats.org/drawingml/2006/main">
              <a:ext uri="{FF2B5EF4-FFF2-40B4-BE49-F238E27FC236}">
                <a16:creationId xmlns:a16="http://schemas.microsoft.com/office/drawing/2014/main" id="{C6A08F1D-B8EB-4507-9D80-20EB660E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34-3">
            <a:extLst xmlns:a="http://schemas.openxmlformats.org/drawingml/2006/main">
              <a:ext uri="{FF2B5EF4-FFF2-40B4-BE49-F238E27FC236}">
                <a16:creationId xmlns:a16="http://schemas.microsoft.com/office/drawing/2014/main" id="{FD14A231-CBCE-40DA-91DE-B26BFA02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34-4">
            <a:extLst xmlns:a="http://schemas.openxmlformats.org/drawingml/2006/main">
              <a:ext uri="{FF2B5EF4-FFF2-40B4-BE49-F238E27FC236}">
                <a16:creationId xmlns:a16="http://schemas.microsoft.com/office/drawing/2014/main" id="{7230B871-B59E-45B7-B46A-54713CD8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34-5">
            <a:extLst xmlns:a="http://schemas.openxmlformats.org/drawingml/2006/main">
              <a:ext uri="{FF2B5EF4-FFF2-40B4-BE49-F238E27FC236}">
                <a16:creationId xmlns:a16="http://schemas.microsoft.com/office/drawing/2014/main" id="{D42A9DBD-2C3C-4453-920B-FEDB1D6A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34-6">
            <a:extLst xmlns:a="http://schemas.openxmlformats.org/drawingml/2006/main">
              <a:ext uri="{FF2B5EF4-FFF2-40B4-BE49-F238E27FC236}">
                <a16:creationId xmlns:a16="http://schemas.microsoft.com/office/drawing/2014/main" id="{170AD1A2-2982-4ED1-99A0-B5E9DCFE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34-7">
            <a:extLst xmlns:a="http://schemas.openxmlformats.org/drawingml/2006/main">
              <a:ext uri="{FF2B5EF4-FFF2-40B4-BE49-F238E27FC236}">
                <a16:creationId xmlns:a16="http://schemas.microsoft.com/office/drawing/2014/main" id="{F1CA10BA-0415-48A0-980C-BC7F7116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3" name="value-234-8">
            <a:extLst xmlns:a="http://schemas.openxmlformats.org/drawingml/2006/main">
              <a:ext uri="{FF2B5EF4-FFF2-40B4-BE49-F238E27FC236}">
                <a16:creationId xmlns:a16="http://schemas.microsoft.com/office/drawing/2014/main" id="{F9411B39-72E7-4C31-A5B7-44D85109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34-9">
            <a:extLst xmlns:a="http://schemas.openxmlformats.org/drawingml/2006/main">
              <a:ext uri="{FF2B5EF4-FFF2-40B4-BE49-F238E27FC236}">
                <a16:creationId xmlns:a16="http://schemas.microsoft.com/office/drawing/2014/main" id="{36ECBBB1-66AB-47A3-8C70-7080C601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34-10">
            <a:extLst xmlns:a="http://schemas.openxmlformats.org/drawingml/2006/main">
              <a:ext uri="{FF2B5EF4-FFF2-40B4-BE49-F238E27FC236}">
                <a16:creationId xmlns:a16="http://schemas.microsoft.com/office/drawing/2014/main" id="{2BF129AC-461E-4A6F-8403-8EE7D196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34-11">
            <a:extLst xmlns:a="http://schemas.openxmlformats.org/drawingml/2006/main">
              <a:ext uri="{FF2B5EF4-FFF2-40B4-BE49-F238E27FC236}">
                <a16:creationId xmlns:a16="http://schemas.microsoft.com/office/drawing/2014/main" id="{2AA2726D-FF1F-47A9-82E6-54210328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34-12">
            <a:extLst xmlns:a="http://schemas.openxmlformats.org/drawingml/2006/main">
              <a:ext uri="{FF2B5EF4-FFF2-40B4-BE49-F238E27FC236}">
                <a16:creationId xmlns:a16="http://schemas.microsoft.com/office/drawing/2014/main" id="{0F0D8248-106D-4B10-93E5-78316FD9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8" name="value-234-13">
            <a:extLst xmlns:a="http://schemas.openxmlformats.org/drawingml/2006/main">
              <a:ext uri="{FF2B5EF4-FFF2-40B4-BE49-F238E27FC236}">
                <a16:creationId xmlns:a16="http://schemas.microsoft.com/office/drawing/2014/main" id="{BF87C4F6-C6C2-40E7-BC2A-5C66732F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34-14">
            <a:extLst xmlns:a="http://schemas.openxmlformats.org/drawingml/2006/main">
              <a:ext uri="{FF2B5EF4-FFF2-40B4-BE49-F238E27FC236}">
                <a16:creationId xmlns:a16="http://schemas.microsoft.com/office/drawing/2014/main" id="{7835051E-133A-4436-B174-D767038E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value-234-15">
            <a:extLst xmlns:a="http://schemas.openxmlformats.org/drawingml/2006/main">
              <a:ext uri="{FF2B5EF4-FFF2-40B4-BE49-F238E27FC236}">
                <a16:creationId xmlns:a16="http://schemas.microsoft.com/office/drawing/2014/main" id="{119908A8-C6A3-430E-9C31-04EB20E7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1" name="row-label-372">
            <a:extLst xmlns:a="http://schemas.openxmlformats.org/drawingml/2006/main">
              <a:ext uri="{FF2B5EF4-FFF2-40B4-BE49-F238E27FC236}">
                <a16:creationId xmlns:a16="http://schemas.microsoft.com/office/drawing/2014/main" id="{7F85DE2A-AA9A-4CCD-BD53-4E65A9DF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待查</a:t>
            </a:r>
          </a:p>
        </p:txBody>
      </p:sp>
      <p:sp>
        <p:nvSpPr>
          <p:cNvPr id="22" name="value-372-0">
            <a:extLst xmlns:a="http://schemas.openxmlformats.org/drawingml/2006/main">
              <a:ext uri="{FF2B5EF4-FFF2-40B4-BE49-F238E27FC236}">
                <a16:creationId xmlns:a16="http://schemas.microsoft.com/office/drawing/2014/main" id="{0B003B0F-E61D-4351-A364-789DF600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3" name="value-372-1">
            <a:extLst xmlns:a="http://schemas.openxmlformats.org/drawingml/2006/main">
              <a:ext uri="{FF2B5EF4-FFF2-40B4-BE49-F238E27FC236}">
                <a16:creationId xmlns:a16="http://schemas.microsoft.com/office/drawing/2014/main" id="{3C88B855-26E2-4BD4-831B-A26CC15F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4" name="value-372-2">
            <a:extLst xmlns:a="http://schemas.openxmlformats.org/drawingml/2006/main">
              <a:ext uri="{FF2B5EF4-FFF2-40B4-BE49-F238E27FC236}">
                <a16:creationId xmlns:a16="http://schemas.microsoft.com/office/drawing/2014/main" id="{25EEFA52-A8C7-490B-A84F-ADF9B9CC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5" name="value-372-3">
            <a:extLst xmlns:a="http://schemas.openxmlformats.org/drawingml/2006/main">
              <a:ext uri="{FF2B5EF4-FFF2-40B4-BE49-F238E27FC236}">
                <a16:creationId xmlns:a16="http://schemas.microsoft.com/office/drawing/2014/main" id="{6800FE6D-FB98-4AB1-A30C-9343AB0A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6" name="value-372-4">
            <a:extLst xmlns:a="http://schemas.openxmlformats.org/drawingml/2006/main">
              <a:ext uri="{FF2B5EF4-FFF2-40B4-BE49-F238E27FC236}">
                <a16:creationId xmlns:a16="http://schemas.microsoft.com/office/drawing/2014/main" id="{793E39EC-0D29-4259-AE5D-95F18C8E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7" name="value-372-5">
            <a:extLst xmlns:a="http://schemas.openxmlformats.org/drawingml/2006/main">
              <a:ext uri="{FF2B5EF4-FFF2-40B4-BE49-F238E27FC236}">
                <a16:creationId xmlns:a16="http://schemas.microsoft.com/office/drawing/2014/main" id="{A03E5C54-D7FC-4BAA-86D3-B49BD259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8" name="value-372-6">
            <a:extLst xmlns:a="http://schemas.openxmlformats.org/drawingml/2006/main">
              <a:ext uri="{FF2B5EF4-FFF2-40B4-BE49-F238E27FC236}">
                <a16:creationId xmlns:a16="http://schemas.microsoft.com/office/drawing/2014/main" id="{C04C014A-981A-4F5C-9E9D-31AC0C0D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9" name="value-372-7">
            <a:extLst xmlns:a="http://schemas.openxmlformats.org/drawingml/2006/main">
              <a:ext uri="{FF2B5EF4-FFF2-40B4-BE49-F238E27FC236}">
                <a16:creationId xmlns:a16="http://schemas.microsoft.com/office/drawing/2014/main" id="{3F13423D-219E-43B5-864C-9AB9D848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0" name="value-372-8">
            <a:extLst xmlns:a="http://schemas.openxmlformats.org/drawingml/2006/main">
              <a:ext uri="{FF2B5EF4-FFF2-40B4-BE49-F238E27FC236}">
                <a16:creationId xmlns:a16="http://schemas.microsoft.com/office/drawing/2014/main" id="{0719A305-F745-43D2-8DA2-37176B7A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1" name="value-372-9">
            <a:extLst xmlns:a="http://schemas.openxmlformats.org/drawingml/2006/main">
              <a:ext uri="{FF2B5EF4-FFF2-40B4-BE49-F238E27FC236}">
                <a16:creationId xmlns:a16="http://schemas.microsoft.com/office/drawing/2014/main" id="{A1781EC1-64AB-4210-AF42-D006EB64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2" name="value-372-10">
            <a:extLst xmlns:a="http://schemas.openxmlformats.org/drawingml/2006/main">
              <a:ext uri="{FF2B5EF4-FFF2-40B4-BE49-F238E27FC236}">
                <a16:creationId xmlns:a16="http://schemas.microsoft.com/office/drawing/2014/main" id="{82CA1C40-3815-4877-929E-0E3D630F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3" name="value-372-11">
            <a:extLst xmlns:a="http://schemas.openxmlformats.org/drawingml/2006/main">
              <a:ext uri="{FF2B5EF4-FFF2-40B4-BE49-F238E27FC236}">
                <a16:creationId xmlns:a16="http://schemas.microsoft.com/office/drawing/2014/main" id="{1A5D4A8E-7CCF-4391-BAD6-340501A2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4" name="value-372-12">
            <a:extLst xmlns:a="http://schemas.openxmlformats.org/drawingml/2006/main">
              <a:ext uri="{FF2B5EF4-FFF2-40B4-BE49-F238E27FC236}">
                <a16:creationId xmlns:a16="http://schemas.microsoft.com/office/drawing/2014/main" id="{351D2F27-BF40-4D9B-AD94-76CC619B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5" name="value-372-13">
            <a:extLst xmlns:a="http://schemas.openxmlformats.org/drawingml/2006/main">
              <a:ext uri="{FF2B5EF4-FFF2-40B4-BE49-F238E27FC236}">
                <a16:creationId xmlns:a16="http://schemas.microsoft.com/office/drawing/2014/main" id="{C98279BB-0230-4601-B5F7-D0ED31AF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6" name="value-372-14">
            <a:extLst xmlns:a="http://schemas.openxmlformats.org/drawingml/2006/main">
              <a:ext uri="{FF2B5EF4-FFF2-40B4-BE49-F238E27FC236}">
                <a16:creationId xmlns:a16="http://schemas.microsoft.com/office/drawing/2014/main" id="{6DE85623-CD8B-46EB-8EE0-FFFA732E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7" name="value-372-15">
            <a:extLst xmlns:a="http://schemas.openxmlformats.org/drawingml/2006/main">
              <a:ext uri="{FF2B5EF4-FFF2-40B4-BE49-F238E27FC236}">
                <a16:creationId xmlns:a16="http://schemas.microsoft.com/office/drawing/2014/main" id="{B584C14F-C613-4DD0-A1A6-64273A2D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8" name="check-task">
            <a:extLst xmlns:a="http://schemas.openxmlformats.org/drawingml/2006/main">
              <a:ext uri="{FF2B5EF4-FFF2-40B4-BE49-F238E27FC236}">
                <a16:creationId xmlns:a16="http://schemas.microsoft.com/office/drawing/2014/main" id="{4C44CC59-C731-4319-8990-5F499054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提出检验方法，再检查这份还原结果。</a:t>
            </a:r>
          </a:p>
        </p:txBody>
      </p:sp>
      <p:sp>
        <p:nvSpPr>
          <p:cNvPr id="39" name="first-difference">
            <a:extLst xmlns:a="http://schemas.openxmlformats.org/drawingml/2006/main">
              <a:ext uri="{FF2B5EF4-FFF2-40B4-BE49-F238E27FC236}">
                <a16:creationId xmlns:a16="http://schemas.microsoft.com/office/drawing/2014/main" id="{EE6BB6CC-7D78-410A-96B4-F7A4A288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40" name="byte-comparison">
            <a:extLst xmlns:a="http://schemas.openxmlformats.org/drawingml/2006/main">
              <a:ext uri="{FF2B5EF4-FFF2-40B4-BE49-F238E27FC236}">
                <a16:creationId xmlns:a16="http://schemas.microsoft.com/office/drawing/2014/main" id="{D599E6D0-25FB-461D-B7D0-69C8904B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解压结果 == 原始输入  →  True</a:t>
            </a:r>
          </a:p>
        </p:txBody>
      </p:sp>
      <p:sp>
        <p:nvSpPr>
          <p:cNvPr id="41" name="recovery-caption-overlay">
            <a:extLst xmlns:a="http://schemas.openxmlformats.org/drawingml/2006/main">
              <a:ext uri="{FF2B5EF4-FFF2-40B4-BE49-F238E27FC236}">
                <a16:creationId xmlns:a16="http://schemas.microsoft.com/office/drawing/2014/main" id="{0EC3B410-9216-4BF7-99D9-34E0817E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762500"/>
            <a:ext cx="10972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" name="recovery-conclusion">
            <a:extLst xmlns:a="http://schemas.openxmlformats.org/drawingml/2006/main">
              <a:ext uri="{FF2B5EF4-FFF2-40B4-BE49-F238E27FC236}">
                <a16:creationId xmlns:a16="http://schemas.microsoft.com/office/drawing/2014/main" id="{5D6A89E1-4D47-4D54-BE41-5ED27CD0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5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16项逐值一致。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开场：4096 bytes还原一致（True）。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无损：解压后可完全恢复原始数据。</a:t>
            </a:r>
          </a:p>
        </p:txBody>
      </p:sp>
    </p:spTree>
    <p:extLst>
      <p:ext uri="{BB962C8B-B14F-4D97-AF65-F5344CB8AC3E}">
        <p14:creationId xmlns:p14="http://schemas.microsoft.com/office/powerpoint/2010/main" val="7502650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rail">
            <a:extLst xmlns:a="http://schemas.openxmlformats.org/drawingml/2006/main">
              <a:ext uri="{FF2B5EF4-FFF2-40B4-BE49-F238E27FC236}">
                <a16:creationId xmlns:a16="http://schemas.microsoft.com/office/drawing/2014/main" id="{D588203F-C18D-4943-93F9-D52186A5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4ADD25F-4575-410E-9550-CD5D5F7C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C8FEDAB-BC06-4A4D-B132-A8379267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同一规则，为什么有时反而变大？</a:t>
            </a:r>
          </a:p>
        </p:txBody>
      </p:sp>
      <p:sp>
        <p:nvSpPr>
          <p:cNvPr id="4" name="row-label-225">
            <a:extLst xmlns:a="http://schemas.openxmlformats.org/drawingml/2006/main">
              <a:ext uri="{FF2B5EF4-FFF2-40B4-BE49-F238E27FC236}">
                <a16:creationId xmlns:a16="http://schemas.microsoft.com/office/drawing/2014/main" id="{CFBB9119-14F0-4849-8D92-A680EAAE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A</a:t>
            </a:r>
          </a:p>
        </p:txBody>
      </p:sp>
      <p:sp>
        <p:nvSpPr>
          <p:cNvPr id="5" name="value-225-0">
            <a:extLst xmlns:a="http://schemas.openxmlformats.org/drawingml/2006/main">
              <a:ext uri="{FF2B5EF4-FFF2-40B4-BE49-F238E27FC236}">
                <a16:creationId xmlns:a16="http://schemas.microsoft.com/office/drawing/2014/main" id="{7B085E14-42E2-4633-8A88-0E6E5022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25-1">
            <a:extLst xmlns:a="http://schemas.openxmlformats.org/drawingml/2006/main">
              <a:ext uri="{FF2B5EF4-FFF2-40B4-BE49-F238E27FC236}">
                <a16:creationId xmlns:a16="http://schemas.microsoft.com/office/drawing/2014/main" id="{79998A39-6ACD-4C54-8F0C-FC5AE36B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25-2">
            <a:extLst xmlns:a="http://schemas.openxmlformats.org/drawingml/2006/main">
              <a:ext uri="{FF2B5EF4-FFF2-40B4-BE49-F238E27FC236}">
                <a16:creationId xmlns:a16="http://schemas.microsoft.com/office/drawing/2014/main" id="{B4809F6C-9300-4A2D-95FF-F377C8DC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25-3">
            <a:extLst xmlns:a="http://schemas.openxmlformats.org/drawingml/2006/main">
              <a:ext uri="{FF2B5EF4-FFF2-40B4-BE49-F238E27FC236}">
                <a16:creationId xmlns:a16="http://schemas.microsoft.com/office/drawing/2014/main" id="{93A77AD5-8E84-4EFA-9870-411B1A03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25-4">
            <a:extLst xmlns:a="http://schemas.openxmlformats.org/drawingml/2006/main">
              <a:ext uri="{FF2B5EF4-FFF2-40B4-BE49-F238E27FC236}">
                <a16:creationId xmlns:a16="http://schemas.microsoft.com/office/drawing/2014/main" id="{1435F0C8-2E1B-4B68-9940-F33AB729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25-5">
            <a:extLst xmlns:a="http://schemas.openxmlformats.org/drawingml/2006/main">
              <a:ext uri="{FF2B5EF4-FFF2-40B4-BE49-F238E27FC236}">
                <a16:creationId xmlns:a16="http://schemas.microsoft.com/office/drawing/2014/main" id="{1FBCA249-7847-4B92-9F51-1172542A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25-6">
            <a:extLst xmlns:a="http://schemas.openxmlformats.org/drawingml/2006/main">
              <a:ext uri="{FF2B5EF4-FFF2-40B4-BE49-F238E27FC236}">
                <a16:creationId xmlns:a16="http://schemas.microsoft.com/office/drawing/2014/main" id="{FB2D44FD-3421-4AE4-83B9-AFAB543A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25-7">
            <a:extLst xmlns:a="http://schemas.openxmlformats.org/drawingml/2006/main">
              <a:ext uri="{FF2B5EF4-FFF2-40B4-BE49-F238E27FC236}">
                <a16:creationId xmlns:a16="http://schemas.microsoft.com/office/drawing/2014/main" id="{8A120683-717C-44DF-AD91-F8BBCD7B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3" name="value-225-8">
            <a:extLst xmlns:a="http://schemas.openxmlformats.org/drawingml/2006/main">
              <a:ext uri="{FF2B5EF4-FFF2-40B4-BE49-F238E27FC236}">
                <a16:creationId xmlns:a16="http://schemas.microsoft.com/office/drawing/2014/main" id="{6D27CA15-B396-45E9-A324-54D9DDAE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25-9">
            <a:extLst xmlns:a="http://schemas.openxmlformats.org/drawingml/2006/main">
              <a:ext uri="{FF2B5EF4-FFF2-40B4-BE49-F238E27FC236}">
                <a16:creationId xmlns:a16="http://schemas.microsoft.com/office/drawing/2014/main" id="{64840A33-60AE-4108-8C82-E3F6589D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25-10">
            <a:extLst xmlns:a="http://schemas.openxmlformats.org/drawingml/2006/main">
              <a:ext uri="{FF2B5EF4-FFF2-40B4-BE49-F238E27FC236}">
                <a16:creationId xmlns:a16="http://schemas.microsoft.com/office/drawing/2014/main" id="{6F9E58A7-65F2-4B4C-89ED-5D91E60D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25-11">
            <a:extLst xmlns:a="http://schemas.openxmlformats.org/drawingml/2006/main">
              <a:ext uri="{FF2B5EF4-FFF2-40B4-BE49-F238E27FC236}">
                <a16:creationId xmlns:a16="http://schemas.microsoft.com/office/drawing/2014/main" id="{EB01B953-6C92-438F-BEA2-41F70530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25-12">
            <a:extLst xmlns:a="http://schemas.openxmlformats.org/drawingml/2006/main">
              <a:ext uri="{FF2B5EF4-FFF2-40B4-BE49-F238E27FC236}">
                <a16:creationId xmlns:a16="http://schemas.microsoft.com/office/drawing/2014/main" id="{54B4C66E-B686-4D8C-8CCA-727C2CB5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8" name="value-225-13">
            <a:extLst xmlns:a="http://schemas.openxmlformats.org/drawingml/2006/main">
              <a:ext uri="{FF2B5EF4-FFF2-40B4-BE49-F238E27FC236}">
                <a16:creationId xmlns:a16="http://schemas.microsoft.com/office/drawing/2014/main" id="{338A2EF2-2721-44E5-BEAD-6997EDC6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25-14">
            <a:extLst xmlns:a="http://schemas.openxmlformats.org/drawingml/2006/main">
              <a:ext uri="{FF2B5EF4-FFF2-40B4-BE49-F238E27FC236}">
                <a16:creationId xmlns:a16="http://schemas.microsoft.com/office/drawing/2014/main" id="{31CD7611-3ED7-4FE0-B460-ED45E64C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value-225-15">
            <a:extLst xmlns:a="http://schemas.openxmlformats.org/drawingml/2006/main">
              <a:ext uri="{FF2B5EF4-FFF2-40B4-BE49-F238E27FC236}">
                <a16:creationId xmlns:a16="http://schemas.microsoft.com/office/drawing/2014/main" id="{10C2AC36-BD3D-4433-A9FE-4AD4663F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1" name="row-label-342">
            <a:extLst xmlns:a="http://schemas.openxmlformats.org/drawingml/2006/main">
              <a:ext uri="{FF2B5EF4-FFF2-40B4-BE49-F238E27FC236}">
                <a16:creationId xmlns:a16="http://schemas.microsoft.com/office/drawing/2014/main" id="{63454788-DC12-41C6-A546-E702F50B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</a:t>
            </a:r>
          </a:p>
        </p:txBody>
      </p:sp>
      <p:sp>
        <p:nvSpPr>
          <p:cNvPr id="22" name="value-342-0">
            <a:extLst xmlns:a="http://schemas.openxmlformats.org/drawingml/2006/main">
              <a:ext uri="{FF2B5EF4-FFF2-40B4-BE49-F238E27FC236}">
                <a16:creationId xmlns:a16="http://schemas.microsoft.com/office/drawing/2014/main" id="{5156B2B2-604E-4551-8EDA-7AC9785D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3" name="value-342-1">
            <a:extLst xmlns:a="http://schemas.openxmlformats.org/drawingml/2006/main">
              <a:ext uri="{FF2B5EF4-FFF2-40B4-BE49-F238E27FC236}">
                <a16:creationId xmlns:a16="http://schemas.microsoft.com/office/drawing/2014/main" id="{BBE0FB4C-F60E-4ACF-B694-9C8EFB6F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24" name="value-342-2">
            <a:extLst xmlns:a="http://schemas.openxmlformats.org/drawingml/2006/main">
              <a:ext uri="{FF2B5EF4-FFF2-40B4-BE49-F238E27FC236}">
                <a16:creationId xmlns:a16="http://schemas.microsoft.com/office/drawing/2014/main" id="{9EACC86F-5FE1-424E-A7C9-A1E07003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5" name="value-342-3">
            <a:extLst xmlns:a="http://schemas.openxmlformats.org/drawingml/2006/main">
              <a:ext uri="{FF2B5EF4-FFF2-40B4-BE49-F238E27FC236}">
                <a16:creationId xmlns:a16="http://schemas.microsoft.com/office/drawing/2014/main" id="{FACF80CE-97E9-4919-B8D2-403115CB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26" name="value-342-4">
            <a:extLst xmlns:a="http://schemas.openxmlformats.org/drawingml/2006/main">
              <a:ext uri="{FF2B5EF4-FFF2-40B4-BE49-F238E27FC236}">
                <a16:creationId xmlns:a16="http://schemas.microsoft.com/office/drawing/2014/main" id="{E44BC1B9-F274-4631-BDC2-FCBAD6FF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7" name="value-342-5">
            <a:extLst xmlns:a="http://schemas.openxmlformats.org/drawingml/2006/main">
              <a:ext uri="{FF2B5EF4-FFF2-40B4-BE49-F238E27FC236}">
                <a16:creationId xmlns:a16="http://schemas.microsoft.com/office/drawing/2014/main" id="{E6DCC00F-9823-412B-8921-1F0C5FC6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28" name="value-342-6">
            <a:extLst xmlns:a="http://schemas.openxmlformats.org/drawingml/2006/main">
              <a:ext uri="{FF2B5EF4-FFF2-40B4-BE49-F238E27FC236}">
                <a16:creationId xmlns:a16="http://schemas.microsoft.com/office/drawing/2014/main" id="{F4BB10AB-1AB8-4EAB-ABDC-73E26412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9" name="value-342-7">
            <a:extLst xmlns:a="http://schemas.openxmlformats.org/drawingml/2006/main">
              <a:ext uri="{FF2B5EF4-FFF2-40B4-BE49-F238E27FC236}">
                <a16:creationId xmlns:a16="http://schemas.microsoft.com/office/drawing/2014/main" id="{1A79D022-53BC-40E5-B931-5C76DF41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0" name="value-342-8">
            <a:extLst xmlns:a="http://schemas.openxmlformats.org/drawingml/2006/main">
              <a:ext uri="{FF2B5EF4-FFF2-40B4-BE49-F238E27FC236}">
                <a16:creationId xmlns:a16="http://schemas.microsoft.com/office/drawing/2014/main" id="{A794DAD2-5C36-42C7-9E07-559D5CD9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1" name="value-342-9">
            <a:extLst xmlns:a="http://schemas.openxmlformats.org/drawingml/2006/main">
              <a:ext uri="{FF2B5EF4-FFF2-40B4-BE49-F238E27FC236}">
                <a16:creationId xmlns:a16="http://schemas.microsoft.com/office/drawing/2014/main" id="{085A53CA-A583-470F-AF01-E06CE109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2" name="value-342-10">
            <a:extLst xmlns:a="http://schemas.openxmlformats.org/drawingml/2006/main">
              <a:ext uri="{FF2B5EF4-FFF2-40B4-BE49-F238E27FC236}">
                <a16:creationId xmlns:a16="http://schemas.microsoft.com/office/drawing/2014/main" id="{025FBE9C-F111-4FEE-9B73-223345BF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3" name="value-342-11">
            <a:extLst xmlns:a="http://schemas.openxmlformats.org/drawingml/2006/main">
              <a:ext uri="{FF2B5EF4-FFF2-40B4-BE49-F238E27FC236}">
                <a16:creationId xmlns:a16="http://schemas.microsoft.com/office/drawing/2014/main" id="{42DFF560-7668-41BD-97EF-617B3D94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4" name="value-342-12">
            <a:extLst xmlns:a="http://schemas.openxmlformats.org/drawingml/2006/main">
              <a:ext uri="{FF2B5EF4-FFF2-40B4-BE49-F238E27FC236}">
                <a16:creationId xmlns:a16="http://schemas.microsoft.com/office/drawing/2014/main" id="{8D529C72-3BA7-4AD3-B67C-EB8649B1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5" name="value-342-13">
            <a:extLst xmlns:a="http://schemas.openxmlformats.org/drawingml/2006/main">
              <a:ext uri="{FF2B5EF4-FFF2-40B4-BE49-F238E27FC236}">
                <a16:creationId xmlns:a16="http://schemas.microsoft.com/office/drawing/2014/main" id="{2204947F-B841-447D-89BE-FD4E1FA4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6" name="value-342-14">
            <a:extLst xmlns:a="http://schemas.openxmlformats.org/drawingml/2006/main">
              <a:ext uri="{FF2B5EF4-FFF2-40B4-BE49-F238E27FC236}">
                <a16:creationId xmlns:a16="http://schemas.microsoft.com/office/drawing/2014/main" id="{30618949-1F2A-4F8A-8678-1EBDBA54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7" name="value-342-15">
            <a:extLst xmlns:a="http://schemas.openxmlformats.org/drawingml/2006/main">
              <a:ext uri="{FF2B5EF4-FFF2-40B4-BE49-F238E27FC236}">
                <a16:creationId xmlns:a16="http://schemas.microsoft.com/office/drawing/2014/main" id="{1D26DA2F-9907-4B8D-878C-7274780E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8" name="rle-rule">
            <a:extLst xmlns:a="http://schemas.openxmlformats.org/drawingml/2006/main">
              <a:ext uri="{FF2B5EF4-FFF2-40B4-BE49-F238E27FC236}">
                <a16:creationId xmlns:a16="http://schemas.microsoft.com/office/drawing/2014/main" id="{C70539D8-FC46-4D9C-BFF8-3514358E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每组：颜色编号1 B + 连续次数1 B</a:t>
            </a:r>
          </a:p>
        </p:txBody>
      </p:sp>
    </p:spTree>
    <p:extLst>
      <p:ext uri="{BB962C8B-B14F-4D97-AF65-F5344CB8AC3E}">
        <p14:creationId xmlns:p14="http://schemas.microsoft.com/office/powerpoint/2010/main" val="15956554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op-rail">
            <a:extLst xmlns:a="http://schemas.openxmlformats.org/drawingml/2006/main">
              <a:ext uri="{FF2B5EF4-FFF2-40B4-BE49-F238E27FC236}">
                <a16:creationId xmlns:a16="http://schemas.microsoft.com/office/drawing/2014/main" id="{D588203F-C18D-4943-93F9-D52186A5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4ADD25F-4575-410E-9550-CD5D5F7C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C8FEDAB-BC06-4A4D-B132-A8379267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同一规则，为什么有时反而变大？</a:t>
            </a:r>
          </a:p>
        </p:txBody>
      </p:sp>
      <p:sp>
        <p:nvSpPr>
          <p:cNvPr id="4" name="row-label-225">
            <a:extLst xmlns:a="http://schemas.openxmlformats.org/drawingml/2006/main">
              <a:ext uri="{FF2B5EF4-FFF2-40B4-BE49-F238E27FC236}">
                <a16:creationId xmlns:a16="http://schemas.microsoft.com/office/drawing/2014/main" id="{CFBB9119-14F0-4849-8D92-A680EAAE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A</a:t>
            </a:r>
          </a:p>
        </p:txBody>
      </p:sp>
      <p:sp>
        <p:nvSpPr>
          <p:cNvPr id="5" name="value-225-0">
            <a:extLst xmlns:a="http://schemas.openxmlformats.org/drawingml/2006/main">
              <a:ext uri="{FF2B5EF4-FFF2-40B4-BE49-F238E27FC236}">
                <a16:creationId xmlns:a16="http://schemas.microsoft.com/office/drawing/2014/main" id="{7B085E14-42E2-4633-8A88-0E6E5022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25-1">
            <a:extLst xmlns:a="http://schemas.openxmlformats.org/drawingml/2006/main">
              <a:ext uri="{FF2B5EF4-FFF2-40B4-BE49-F238E27FC236}">
                <a16:creationId xmlns:a16="http://schemas.microsoft.com/office/drawing/2014/main" id="{79998A39-6ACD-4C54-8F0C-FC5AE36B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25-2">
            <a:extLst xmlns:a="http://schemas.openxmlformats.org/drawingml/2006/main">
              <a:ext uri="{FF2B5EF4-FFF2-40B4-BE49-F238E27FC236}">
                <a16:creationId xmlns:a16="http://schemas.microsoft.com/office/drawing/2014/main" id="{B4809F6C-9300-4A2D-95FF-F377C8DC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25-3">
            <a:extLst xmlns:a="http://schemas.openxmlformats.org/drawingml/2006/main">
              <a:ext uri="{FF2B5EF4-FFF2-40B4-BE49-F238E27FC236}">
                <a16:creationId xmlns:a16="http://schemas.microsoft.com/office/drawing/2014/main" id="{93A77AD5-8E84-4EFA-9870-411B1A03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25-4">
            <a:extLst xmlns:a="http://schemas.openxmlformats.org/drawingml/2006/main">
              <a:ext uri="{FF2B5EF4-FFF2-40B4-BE49-F238E27FC236}">
                <a16:creationId xmlns:a16="http://schemas.microsoft.com/office/drawing/2014/main" id="{1435F0C8-2E1B-4B68-9940-F33AB729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25-5">
            <a:extLst xmlns:a="http://schemas.openxmlformats.org/drawingml/2006/main">
              <a:ext uri="{FF2B5EF4-FFF2-40B4-BE49-F238E27FC236}">
                <a16:creationId xmlns:a16="http://schemas.microsoft.com/office/drawing/2014/main" id="{1FBCA249-7847-4B92-9F51-1172542A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25-6">
            <a:extLst xmlns:a="http://schemas.openxmlformats.org/drawingml/2006/main">
              <a:ext uri="{FF2B5EF4-FFF2-40B4-BE49-F238E27FC236}">
                <a16:creationId xmlns:a16="http://schemas.microsoft.com/office/drawing/2014/main" id="{FB2D44FD-3421-4AE4-83B9-AFAB543A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25-7">
            <a:extLst xmlns:a="http://schemas.openxmlformats.org/drawingml/2006/main">
              <a:ext uri="{FF2B5EF4-FFF2-40B4-BE49-F238E27FC236}">
                <a16:creationId xmlns:a16="http://schemas.microsoft.com/office/drawing/2014/main" id="{8A120683-717C-44DF-AD91-F8BBCD7B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3" name="value-225-8">
            <a:extLst xmlns:a="http://schemas.openxmlformats.org/drawingml/2006/main">
              <a:ext uri="{FF2B5EF4-FFF2-40B4-BE49-F238E27FC236}">
                <a16:creationId xmlns:a16="http://schemas.microsoft.com/office/drawing/2014/main" id="{6D27CA15-B396-45E9-A324-54D9DDAE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25-9">
            <a:extLst xmlns:a="http://schemas.openxmlformats.org/drawingml/2006/main">
              <a:ext uri="{FF2B5EF4-FFF2-40B4-BE49-F238E27FC236}">
                <a16:creationId xmlns:a16="http://schemas.microsoft.com/office/drawing/2014/main" id="{64840A33-60AE-4108-8C82-E3F6589D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25-10">
            <a:extLst xmlns:a="http://schemas.openxmlformats.org/drawingml/2006/main">
              <a:ext uri="{FF2B5EF4-FFF2-40B4-BE49-F238E27FC236}">
                <a16:creationId xmlns:a16="http://schemas.microsoft.com/office/drawing/2014/main" id="{6F9E58A7-65F2-4B4C-89ED-5D91E60D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25-11">
            <a:extLst xmlns:a="http://schemas.openxmlformats.org/drawingml/2006/main">
              <a:ext uri="{FF2B5EF4-FFF2-40B4-BE49-F238E27FC236}">
                <a16:creationId xmlns:a16="http://schemas.microsoft.com/office/drawing/2014/main" id="{EB01B953-6C92-438F-BEA2-41F70530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25-12">
            <a:extLst xmlns:a="http://schemas.openxmlformats.org/drawingml/2006/main">
              <a:ext uri="{FF2B5EF4-FFF2-40B4-BE49-F238E27FC236}">
                <a16:creationId xmlns:a16="http://schemas.microsoft.com/office/drawing/2014/main" id="{54B4C66E-B686-4D8C-8CCA-727C2CB5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8" name="value-225-13">
            <a:extLst xmlns:a="http://schemas.openxmlformats.org/drawingml/2006/main">
              <a:ext uri="{FF2B5EF4-FFF2-40B4-BE49-F238E27FC236}">
                <a16:creationId xmlns:a16="http://schemas.microsoft.com/office/drawing/2014/main" id="{338A2EF2-2721-44E5-BEAD-6997EDC6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25-14">
            <a:extLst xmlns:a="http://schemas.openxmlformats.org/drawingml/2006/main">
              <a:ext uri="{FF2B5EF4-FFF2-40B4-BE49-F238E27FC236}">
                <a16:creationId xmlns:a16="http://schemas.microsoft.com/office/drawing/2014/main" id="{31CD7611-3ED7-4FE0-B460-ED45E64C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value-225-15">
            <a:extLst xmlns:a="http://schemas.openxmlformats.org/drawingml/2006/main">
              <a:ext uri="{FF2B5EF4-FFF2-40B4-BE49-F238E27FC236}">
                <a16:creationId xmlns:a16="http://schemas.microsoft.com/office/drawing/2014/main" id="{10C2AC36-BD3D-4433-A9FE-4AD4663F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1" name="row-label-342">
            <a:extLst xmlns:a="http://schemas.openxmlformats.org/drawingml/2006/main">
              <a:ext uri="{FF2B5EF4-FFF2-40B4-BE49-F238E27FC236}">
                <a16:creationId xmlns:a16="http://schemas.microsoft.com/office/drawing/2014/main" id="{63454788-DC12-41C6-A546-E702F50B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</a:t>
            </a:r>
          </a:p>
        </p:txBody>
      </p:sp>
      <p:sp>
        <p:nvSpPr>
          <p:cNvPr id="22" name="value-342-0">
            <a:extLst xmlns:a="http://schemas.openxmlformats.org/drawingml/2006/main">
              <a:ext uri="{FF2B5EF4-FFF2-40B4-BE49-F238E27FC236}">
                <a16:creationId xmlns:a16="http://schemas.microsoft.com/office/drawing/2014/main" id="{5156B2B2-604E-4551-8EDA-7AC9785D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3" name="value-342-1">
            <a:extLst xmlns:a="http://schemas.openxmlformats.org/drawingml/2006/main">
              <a:ext uri="{FF2B5EF4-FFF2-40B4-BE49-F238E27FC236}">
                <a16:creationId xmlns:a16="http://schemas.microsoft.com/office/drawing/2014/main" id="{BBE0FB4C-F60E-4ACF-B694-9C8EFB6F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24" name="value-342-2">
            <a:extLst xmlns:a="http://schemas.openxmlformats.org/drawingml/2006/main">
              <a:ext uri="{FF2B5EF4-FFF2-40B4-BE49-F238E27FC236}">
                <a16:creationId xmlns:a16="http://schemas.microsoft.com/office/drawing/2014/main" id="{9EACC86F-5FE1-424E-A7C9-A1E07003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5" name="value-342-3">
            <a:extLst xmlns:a="http://schemas.openxmlformats.org/drawingml/2006/main">
              <a:ext uri="{FF2B5EF4-FFF2-40B4-BE49-F238E27FC236}">
                <a16:creationId xmlns:a16="http://schemas.microsoft.com/office/drawing/2014/main" id="{FACF80CE-97E9-4919-B8D2-403115CB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26" name="value-342-4">
            <a:extLst xmlns:a="http://schemas.openxmlformats.org/drawingml/2006/main">
              <a:ext uri="{FF2B5EF4-FFF2-40B4-BE49-F238E27FC236}">
                <a16:creationId xmlns:a16="http://schemas.microsoft.com/office/drawing/2014/main" id="{E44BC1B9-F274-4631-BDC2-FCBAD6FF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7" name="value-342-5">
            <a:extLst xmlns:a="http://schemas.openxmlformats.org/drawingml/2006/main">
              <a:ext uri="{FF2B5EF4-FFF2-40B4-BE49-F238E27FC236}">
                <a16:creationId xmlns:a16="http://schemas.microsoft.com/office/drawing/2014/main" id="{E6DCC00F-9823-412B-8921-1F0C5FC6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28" name="value-342-6">
            <a:extLst xmlns:a="http://schemas.openxmlformats.org/drawingml/2006/main">
              <a:ext uri="{FF2B5EF4-FFF2-40B4-BE49-F238E27FC236}">
                <a16:creationId xmlns:a16="http://schemas.microsoft.com/office/drawing/2014/main" id="{F4BB10AB-1AB8-4EAB-ABDC-73E26412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9" name="value-342-7">
            <a:extLst xmlns:a="http://schemas.openxmlformats.org/drawingml/2006/main">
              <a:ext uri="{FF2B5EF4-FFF2-40B4-BE49-F238E27FC236}">
                <a16:creationId xmlns:a16="http://schemas.microsoft.com/office/drawing/2014/main" id="{1A79D022-53BC-40E5-B931-5C76DF41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0" name="value-342-8">
            <a:extLst xmlns:a="http://schemas.openxmlformats.org/drawingml/2006/main">
              <a:ext uri="{FF2B5EF4-FFF2-40B4-BE49-F238E27FC236}">
                <a16:creationId xmlns:a16="http://schemas.microsoft.com/office/drawing/2014/main" id="{A794DAD2-5C36-42C7-9E07-559D5CD9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1" name="value-342-9">
            <a:extLst xmlns:a="http://schemas.openxmlformats.org/drawingml/2006/main">
              <a:ext uri="{FF2B5EF4-FFF2-40B4-BE49-F238E27FC236}">
                <a16:creationId xmlns:a16="http://schemas.microsoft.com/office/drawing/2014/main" id="{085A53CA-A583-470F-AF01-E06CE109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2" name="value-342-10">
            <a:extLst xmlns:a="http://schemas.openxmlformats.org/drawingml/2006/main">
              <a:ext uri="{FF2B5EF4-FFF2-40B4-BE49-F238E27FC236}">
                <a16:creationId xmlns:a16="http://schemas.microsoft.com/office/drawing/2014/main" id="{025FBE9C-F111-4FEE-9B73-223345BF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3" name="value-342-11">
            <a:extLst xmlns:a="http://schemas.openxmlformats.org/drawingml/2006/main">
              <a:ext uri="{FF2B5EF4-FFF2-40B4-BE49-F238E27FC236}">
                <a16:creationId xmlns:a16="http://schemas.microsoft.com/office/drawing/2014/main" id="{42DFF560-7668-41BD-97EF-617B3D94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4" name="value-342-12">
            <a:extLst xmlns:a="http://schemas.openxmlformats.org/drawingml/2006/main">
              <a:ext uri="{FF2B5EF4-FFF2-40B4-BE49-F238E27FC236}">
                <a16:creationId xmlns:a16="http://schemas.microsoft.com/office/drawing/2014/main" id="{8D529C72-3BA7-4AD3-B67C-EB8649B1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5" name="value-342-13">
            <a:extLst xmlns:a="http://schemas.openxmlformats.org/drawingml/2006/main">
              <a:ext uri="{FF2B5EF4-FFF2-40B4-BE49-F238E27FC236}">
                <a16:creationId xmlns:a16="http://schemas.microsoft.com/office/drawing/2014/main" id="{2204947F-B841-447D-89BE-FD4E1FA4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6" name="value-342-14">
            <a:extLst xmlns:a="http://schemas.openxmlformats.org/drawingml/2006/main">
              <a:ext uri="{FF2B5EF4-FFF2-40B4-BE49-F238E27FC236}">
                <a16:creationId xmlns:a16="http://schemas.microsoft.com/office/drawing/2014/main" id="{30618949-1F2A-4F8A-8678-1EBDBA54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7" name="value-342-15">
            <a:extLst xmlns:a="http://schemas.openxmlformats.org/drawingml/2006/main">
              <a:ext uri="{FF2B5EF4-FFF2-40B4-BE49-F238E27FC236}">
                <a16:creationId xmlns:a16="http://schemas.microsoft.com/office/drawing/2014/main" id="{1D26DA2F-9907-4B8D-878C-7274780E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8" name="rle-rule">
            <a:extLst xmlns:a="http://schemas.openxmlformats.org/drawingml/2006/main">
              <a:ext uri="{FF2B5EF4-FFF2-40B4-BE49-F238E27FC236}">
                <a16:creationId xmlns:a16="http://schemas.microsoft.com/office/drawing/2014/main" id="{C70539D8-FC46-4D9C-BFF8-3514358E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每组：颜色编号1 B + 连续次数1 B</a:t>
            </a:r>
          </a:p>
        </p:txBody>
      </p:sp>
      <p:sp>
        <p:nvSpPr>
          <p:cNvPr id="39" name="counts">
            <a:extLst xmlns:a="http://schemas.openxmlformats.org/drawingml/2006/main">
              <a:ext uri="{FF2B5EF4-FFF2-40B4-BE49-F238E27FC236}">
                <a16:creationId xmlns:a16="http://schemas.microsoft.com/office/drawing/2014/main" id="{994CF7C2-F885-4FE9-A3F3-76C3F911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A：16 B → 6 B       B：16 B → 32 B</a:t>
            </a:r>
          </a:p>
        </p:txBody>
      </p:sp>
    </p:spTree>
    <p:extLst>
      <p:ext uri="{BB962C8B-B14F-4D97-AF65-F5344CB8AC3E}">
        <p14:creationId xmlns:p14="http://schemas.microsoft.com/office/powerpoint/2010/main" val="15956554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">
            <a:extLst xmlns:a="http://schemas.openxmlformats.org/drawingml/2006/main">
              <a:ext uri="{FF2B5EF4-FFF2-40B4-BE49-F238E27FC236}">
                <a16:creationId xmlns:a16="http://schemas.microsoft.com/office/drawing/2014/main" id="{8B9D8A61-63C6-4318-A5F5-D0C5BDBA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4836FED-C777-42FE-8DA9-2411C9EA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E12FD41-31E4-448F-A663-C5307D1C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重复可以少写；无损必须完整恢复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4B7D8B4D-3F4B-424D-9626-E4511BD3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</a:t>
            </a:r>
          </a:p>
        </p:txBody>
      </p:sp>
      <p:sp>
        <p:nvSpPr>
          <p:cNvPr id="5" name="tree-trunk-horizontal">
            <a:extLst xmlns:a="http://schemas.openxmlformats.org/drawingml/2006/main">
              <a:ext uri="{FF2B5EF4-FFF2-40B4-BE49-F238E27FC236}">
                <a16:creationId xmlns:a16="http://schemas.microsoft.com/office/drawing/2014/main" id="{D60DD84C-32F2-42B2-97E7-5836C95A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338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" name="tree-trunk">
            <a:extLst xmlns:a="http://schemas.openxmlformats.org/drawingml/2006/main">
              <a:ext uri="{FF2B5EF4-FFF2-40B4-BE49-F238E27FC236}">
                <a16:creationId xmlns:a16="http://schemas.microsoft.com/office/drawing/2014/main" id="{C41ABC4B-D25D-4BBD-9D27-8F61BBA8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24050"/>
            <a:ext cx="190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7" name="tree-branch-link-purpose">
            <a:extLst xmlns:a="http://schemas.openxmlformats.org/drawingml/2006/main">
              <a:ext uri="{FF2B5EF4-FFF2-40B4-BE49-F238E27FC236}">
                <a16:creationId xmlns:a16="http://schemas.microsoft.com/office/drawing/2014/main" id="{0DA34DBE-21DB-4F28-8E7F-EC6C012E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240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tree-branch-purpose">
            <a:extLst xmlns:a="http://schemas.openxmlformats.org/drawingml/2006/main">
              <a:ext uri="{FF2B5EF4-FFF2-40B4-BE49-F238E27FC236}">
                <a16:creationId xmlns:a16="http://schemas.microsoft.com/office/drawing/2014/main" id="{253E3BE6-794F-4056-81C4-7E3C8F17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526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为何压缩</a:t>
            </a:r>
          </a:p>
        </p:txBody>
      </p:sp>
      <p:sp>
        <p:nvSpPr>
          <p:cNvPr id="9" name="tree-branch-link-method">
            <a:extLst xmlns:a="http://schemas.openxmlformats.org/drawingml/2006/main">
              <a:ext uri="{FF2B5EF4-FFF2-40B4-BE49-F238E27FC236}">
                <a16:creationId xmlns:a16="http://schemas.microsoft.com/office/drawing/2014/main" id="{A2D04E7D-E484-4FB0-BB4F-077BD05D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527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" name="tree-branch-method">
            <a:extLst xmlns:a="http://schemas.openxmlformats.org/drawingml/2006/main">
              <a:ext uri="{FF2B5EF4-FFF2-40B4-BE49-F238E27FC236}">
                <a16:creationId xmlns:a16="http://schemas.microsoft.com/office/drawing/2014/main" id="{41865155-75C6-4264-B83F-58A3A817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13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怎样变小</a:t>
            </a:r>
          </a:p>
        </p:txBody>
      </p:sp>
      <p:sp>
        <p:nvSpPr>
          <p:cNvPr id="11" name="tree-branch-link-recovery">
            <a:extLst xmlns:a="http://schemas.openxmlformats.org/drawingml/2006/main">
              <a:ext uri="{FF2B5EF4-FFF2-40B4-BE49-F238E27FC236}">
                <a16:creationId xmlns:a16="http://schemas.microsoft.com/office/drawing/2014/main" id="{7D17524B-55D8-46A7-8F68-BFDA2D1E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1624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" name="tree-branch-recovery">
            <a:extLst xmlns:a="http://schemas.openxmlformats.org/drawingml/2006/main">
              <a:ext uri="{FF2B5EF4-FFF2-40B4-BE49-F238E27FC236}">
                <a16:creationId xmlns:a16="http://schemas.microsoft.com/office/drawing/2014/main" id="{167056C5-68E5-4151-B3CA-F9340689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909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能否恢复</a:t>
            </a:r>
          </a:p>
        </p:txBody>
      </p:sp>
      <p:sp>
        <p:nvSpPr>
          <p:cNvPr id="13" name="tree-branch-link-choice">
            <a:extLst xmlns:a="http://schemas.openxmlformats.org/drawingml/2006/main">
              <a:ext uri="{FF2B5EF4-FFF2-40B4-BE49-F238E27FC236}">
                <a16:creationId xmlns:a16="http://schemas.microsoft.com/office/drawing/2014/main" id="{953FA75F-37CB-4F2A-9E39-87869957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4959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4" name="tree-branch-choice">
            <a:extLst xmlns:a="http://schemas.openxmlformats.org/drawingml/2006/main">
              <a:ext uri="{FF2B5EF4-FFF2-40B4-BE49-F238E27FC236}">
                <a16:creationId xmlns:a16="http://schemas.microsoft.com/office/drawing/2014/main" id="{72ED29B8-198C-481F-BF13-2AE6AA22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244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怎样选择</a:t>
            </a:r>
          </a:p>
        </p:txBody>
      </p:sp>
      <p:sp>
        <p:nvSpPr>
          <p:cNvPr id="15" name="tree-leaf-space">
            <a:extLst xmlns:a="http://schemas.openxmlformats.org/drawingml/2006/main">
              <a:ext uri="{FF2B5EF4-FFF2-40B4-BE49-F238E27FC236}">
                <a16:creationId xmlns:a16="http://schemas.microsoft.com/office/drawing/2014/main" id="{33705414-E079-424B-8080-D68D2D07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811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特殊编码，减少存储／传输数据量</a:t>
            </a:r>
          </a:p>
        </p:txBody>
      </p:sp>
      <p:sp>
        <p:nvSpPr>
          <p:cNvPr id="16" name="tree-leaf-link-space">
            <a:extLst xmlns:a="http://schemas.openxmlformats.org/drawingml/2006/main">
              <a:ext uri="{FF2B5EF4-FFF2-40B4-BE49-F238E27FC236}">
                <a16:creationId xmlns:a16="http://schemas.microsoft.com/office/drawing/2014/main" id="{CC472E9D-C421-482A-95A7-3AD4A6C6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526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17" name="tree-leaf-limit">
            <a:extLst xmlns:a="http://schemas.openxmlformats.org/drawingml/2006/main">
              <a:ext uri="{FF2B5EF4-FFF2-40B4-BE49-F238E27FC236}">
                <a16:creationId xmlns:a16="http://schemas.microsoft.com/office/drawing/2014/main" id="{55CEDA1F-FDA8-43FE-B7B7-3BF3CF7F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31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效果取决于数据、方法与开销</a:t>
            </a:r>
          </a:p>
        </p:txBody>
      </p:sp>
      <p:sp>
        <p:nvSpPr>
          <p:cNvPr id="18" name="tree-leaf-link-limit">
            <a:extLst xmlns:a="http://schemas.openxmlformats.org/drawingml/2006/main">
              <a:ext uri="{FF2B5EF4-FFF2-40B4-BE49-F238E27FC236}">
                <a16:creationId xmlns:a16="http://schemas.microsoft.com/office/drawing/2014/main" id="{8DCD5CF8-D8BC-489A-82D2-2ACE7C4C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145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19" name="tree-leaf-repeat">
            <a:extLst xmlns:a="http://schemas.openxmlformats.org/drawingml/2006/main">
              <a:ext uri="{FF2B5EF4-FFF2-40B4-BE49-F238E27FC236}">
                <a16:creationId xmlns:a16="http://schemas.microsoft.com/office/drawing/2014/main" id="{66D2D48B-11C7-4563-9996-D413427E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193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去除冗余：连续重复写成次数</a:t>
            </a:r>
          </a:p>
        </p:txBody>
      </p:sp>
      <p:sp>
        <p:nvSpPr>
          <p:cNvPr id="20" name="tree-leaf-link-repeat">
            <a:extLst xmlns:a="http://schemas.openxmlformats.org/drawingml/2006/main">
              <a:ext uri="{FF2B5EF4-FFF2-40B4-BE49-F238E27FC236}">
                <a16:creationId xmlns:a16="http://schemas.microsoft.com/office/drawing/2014/main" id="{F50FA0D4-88D3-46EC-8CF6-0AF10526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908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1" name="tree-leaf-lossless">
            <a:extLst xmlns:a="http://schemas.openxmlformats.org/drawingml/2006/main">
              <a:ext uri="{FF2B5EF4-FFF2-40B4-BE49-F238E27FC236}">
                <a16:creationId xmlns:a16="http://schemas.microsoft.com/office/drawing/2014/main" id="{23BD5A45-4EDA-4471-B464-C276CDB0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100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无损：可完全恢复原始数据</a:t>
            </a:r>
          </a:p>
        </p:txBody>
      </p:sp>
      <p:sp>
        <p:nvSpPr>
          <p:cNvPr id="22" name="tree-leaf-link-lossless">
            <a:extLst xmlns:a="http://schemas.openxmlformats.org/drawingml/2006/main">
              <a:ext uri="{FF2B5EF4-FFF2-40B4-BE49-F238E27FC236}">
                <a16:creationId xmlns:a16="http://schemas.microsoft.com/office/drawing/2014/main" id="{D687783C-F32C-429B-AB21-087F7F6A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814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3" name="tree-stem-purpose">
            <a:extLst xmlns:a="http://schemas.openxmlformats.org/drawingml/2006/main">
              <a:ext uri="{FF2B5EF4-FFF2-40B4-BE49-F238E27FC236}">
                <a16:creationId xmlns:a16="http://schemas.microsoft.com/office/drawing/2014/main" id="{CF07365A-A803-48F3-AFB5-F963A3FF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4" name="tree-parent-link-purpose">
            <a:extLst xmlns:a="http://schemas.openxmlformats.org/drawingml/2006/main">
              <a:ext uri="{FF2B5EF4-FFF2-40B4-BE49-F238E27FC236}">
                <a16:creationId xmlns:a16="http://schemas.microsoft.com/office/drawing/2014/main" id="{213CCD3E-EDA7-4CAE-A500-2A54B4B8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2405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5" name="tree-stem-method">
            <a:extLst xmlns:a="http://schemas.openxmlformats.org/drawingml/2006/main">
              <a:ext uri="{FF2B5EF4-FFF2-40B4-BE49-F238E27FC236}">
                <a16:creationId xmlns:a16="http://schemas.microsoft.com/office/drawing/2014/main" id="{2BB8889E-E9D1-499C-976F-3E27332D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908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6" name="tree-parent-link-method">
            <a:extLst xmlns:a="http://schemas.openxmlformats.org/drawingml/2006/main">
              <a:ext uri="{FF2B5EF4-FFF2-40B4-BE49-F238E27FC236}">
                <a16:creationId xmlns:a16="http://schemas.microsoft.com/office/drawing/2014/main" id="{7B9529BD-912C-43BA-BD51-8AE48715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95275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7" name="tree-stem-recovery">
            <a:extLst xmlns:a="http://schemas.openxmlformats.org/drawingml/2006/main">
              <a:ext uri="{FF2B5EF4-FFF2-40B4-BE49-F238E27FC236}">
                <a16:creationId xmlns:a16="http://schemas.microsoft.com/office/drawing/2014/main" id="{003E6D50-1933-4F32-805E-4DB9D1BE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81450"/>
            <a:ext cx="19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8" name="tree-parent-link-recovery">
            <a:extLst xmlns:a="http://schemas.openxmlformats.org/drawingml/2006/main">
              <a:ext uri="{FF2B5EF4-FFF2-40B4-BE49-F238E27FC236}">
                <a16:creationId xmlns:a16="http://schemas.microsoft.com/office/drawing/2014/main" id="{CCB42D4E-1682-4DA5-960F-0BAC2AEE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162425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9" name="tree-focus-purpose">
            <a:extLst xmlns:a="http://schemas.openxmlformats.org/drawingml/2006/main">
              <a:ext uri="{FF2B5EF4-FFF2-40B4-BE49-F238E27FC236}">
                <a16:creationId xmlns:a16="http://schemas.microsoft.com/office/drawing/2014/main" id="{C8B8957E-C5AD-4FE6-8CEE-9E7E98A4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600200"/>
            <a:ext cx="56292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30" name="tree-focus-method">
            <a:extLst xmlns:a="http://schemas.openxmlformats.org/drawingml/2006/main">
              <a:ext uri="{FF2B5EF4-FFF2-40B4-BE49-F238E27FC236}">
                <a16:creationId xmlns:a16="http://schemas.microsoft.com/office/drawing/2014/main" id="{CDBCA0F9-9DAB-4846-8B79-4D5FF9F5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38400"/>
            <a:ext cx="5629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31" name="tree-focus-recovery">
            <a:extLst xmlns:a="http://schemas.openxmlformats.org/drawingml/2006/main">
              <a:ext uri="{FF2B5EF4-FFF2-40B4-BE49-F238E27FC236}">
                <a16:creationId xmlns:a16="http://schemas.microsoft.com/office/drawing/2014/main" id="{A3060CED-06FF-4082-BCD7-B758CD2B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29050"/>
            <a:ext cx="5629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32" name="tree-summary">
            <a:extLst xmlns:a="http://schemas.openxmlformats.org/drawingml/2006/main">
              <a:ext uri="{FF2B5EF4-FFF2-40B4-BE49-F238E27FC236}">
                <a16:creationId xmlns:a16="http://schemas.microsoft.com/office/drawing/2014/main" id="{04696B82-7AA0-497C-9272-9695B433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无损不保证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每份数据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都变小。</a:t>
            </a:r>
          </a:p>
        </p:txBody>
      </p:sp>
    </p:spTree>
    <p:extLst>
      <p:ext uri="{BB962C8B-B14F-4D97-AF65-F5344CB8AC3E}">
        <p14:creationId xmlns:p14="http://schemas.microsoft.com/office/powerpoint/2010/main" val="2589796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">
            <a:extLst xmlns:a="http://schemas.openxmlformats.org/drawingml/2006/main">
              <a:ext uri="{FF2B5EF4-FFF2-40B4-BE49-F238E27FC236}">
                <a16:creationId xmlns:a16="http://schemas.microsoft.com/office/drawing/2014/main" id="{0F7B8547-FCF5-42A1-86CB-94D3AF21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79C2313-3FC8-4C74-B475-BFEEAD0C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061F2FA-F89D-4225-ACB9-0BBEABD1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相邻值接近，怎样完整记录？</a:t>
            </a:r>
          </a:p>
        </p:txBody>
      </p:sp>
      <p:sp>
        <p:nvSpPr>
          <p:cNvPr id="4" name="gray-219-0">
            <a:extLst xmlns:a="http://schemas.openxmlformats.org/drawingml/2006/main">
              <a:ext uri="{FF2B5EF4-FFF2-40B4-BE49-F238E27FC236}">
                <a16:creationId xmlns:a16="http://schemas.microsoft.com/office/drawing/2014/main" id="{71AF84AE-9BB2-4149-AEC7-273E1C8F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5" name="gray-label-219-0">
            <a:extLst xmlns:a="http://schemas.openxmlformats.org/drawingml/2006/main">
              <a:ext uri="{FF2B5EF4-FFF2-40B4-BE49-F238E27FC236}">
                <a16:creationId xmlns:a16="http://schemas.microsoft.com/office/drawing/2014/main" id="{BF712DC5-DAF8-4A4A-91E5-50525BC2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6" name="gray-219-1">
            <a:extLst xmlns:a="http://schemas.openxmlformats.org/drawingml/2006/main">
              <a:ext uri="{FF2B5EF4-FFF2-40B4-BE49-F238E27FC236}">
                <a16:creationId xmlns:a16="http://schemas.microsoft.com/office/drawing/2014/main" id="{3300F4C9-9D07-498B-9F77-E199D1C0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7" name="gray-label-219-1">
            <a:extLst xmlns:a="http://schemas.openxmlformats.org/drawingml/2006/main">
              <a:ext uri="{FF2B5EF4-FFF2-40B4-BE49-F238E27FC236}">
                <a16:creationId xmlns:a16="http://schemas.microsoft.com/office/drawing/2014/main" id="{B265EC31-41D6-43FE-92CF-B2F30172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8" name="gray-219-2">
            <a:extLst xmlns:a="http://schemas.openxmlformats.org/drawingml/2006/main">
              <a:ext uri="{FF2B5EF4-FFF2-40B4-BE49-F238E27FC236}">
                <a16:creationId xmlns:a16="http://schemas.microsoft.com/office/drawing/2014/main" id="{03009460-4496-49B9-BB04-62406E42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9" name="gray-label-219-2">
            <a:extLst xmlns:a="http://schemas.openxmlformats.org/drawingml/2006/main">
              <a:ext uri="{FF2B5EF4-FFF2-40B4-BE49-F238E27FC236}">
                <a16:creationId xmlns:a16="http://schemas.microsoft.com/office/drawing/2014/main" id="{25CE4CFB-DE44-4889-AA1A-101D773A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10" name="gray-219-3">
            <a:extLst xmlns:a="http://schemas.openxmlformats.org/drawingml/2006/main">
              <a:ext uri="{FF2B5EF4-FFF2-40B4-BE49-F238E27FC236}">
                <a16:creationId xmlns:a16="http://schemas.microsoft.com/office/drawing/2014/main" id="{EF6BD467-9810-47B8-A821-5FFAD6A0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1" name="gray-label-219-3">
            <a:extLst xmlns:a="http://schemas.openxmlformats.org/drawingml/2006/main">
              <a:ext uri="{FF2B5EF4-FFF2-40B4-BE49-F238E27FC236}">
                <a16:creationId xmlns:a16="http://schemas.microsoft.com/office/drawing/2014/main" id="{4481544A-D4C7-4211-9373-47828140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2" name="gray-219-4">
            <a:extLst xmlns:a="http://schemas.openxmlformats.org/drawingml/2006/main">
              <a:ext uri="{FF2B5EF4-FFF2-40B4-BE49-F238E27FC236}">
                <a16:creationId xmlns:a16="http://schemas.microsoft.com/office/drawing/2014/main" id="{A65008BD-9DEF-4B02-9106-463F457A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3" name="gray-label-219-4">
            <a:extLst xmlns:a="http://schemas.openxmlformats.org/drawingml/2006/main">
              <a:ext uri="{FF2B5EF4-FFF2-40B4-BE49-F238E27FC236}">
                <a16:creationId xmlns:a16="http://schemas.microsoft.com/office/drawing/2014/main" id="{AE55C9E4-AD38-4BC9-9432-A0882760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4" name="gray-219-5">
            <a:extLst xmlns:a="http://schemas.openxmlformats.org/drawingml/2006/main">
              <a:ext uri="{FF2B5EF4-FFF2-40B4-BE49-F238E27FC236}">
                <a16:creationId xmlns:a16="http://schemas.microsoft.com/office/drawing/2014/main" id="{B76AB236-C277-4D6B-8081-CE5AA192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5" name="gray-label-219-5">
            <a:extLst xmlns:a="http://schemas.openxmlformats.org/drawingml/2006/main">
              <a:ext uri="{FF2B5EF4-FFF2-40B4-BE49-F238E27FC236}">
                <a16:creationId xmlns:a16="http://schemas.microsoft.com/office/drawing/2014/main" id="{72C0D08F-DCA4-459C-AA73-7F6CA30B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6" name="gray-219-6">
            <a:extLst xmlns:a="http://schemas.openxmlformats.org/drawingml/2006/main">
              <a:ext uri="{FF2B5EF4-FFF2-40B4-BE49-F238E27FC236}">
                <a16:creationId xmlns:a16="http://schemas.microsoft.com/office/drawing/2014/main" id="{52AAC95A-3617-4C07-B025-04449DDA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7" name="gray-label-219-6">
            <a:extLst xmlns:a="http://schemas.openxmlformats.org/drawingml/2006/main">
              <a:ext uri="{FF2B5EF4-FFF2-40B4-BE49-F238E27FC236}">
                <a16:creationId xmlns:a16="http://schemas.microsoft.com/office/drawing/2014/main" id="{09EAA6E6-6105-407F-85E4-8F63E656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8" name="gray-219-7">
            <a:extLst xmlns:a="http://schemas.openxmlformats.org/drawingml/2006/main">
              <a:ext uri="{FF2B5EF4-FFF2-40B4-BE49-F238E27FC236}">
                <a16:creationId xmlns:a16="http://schemas.microsoft.com/office/drawing/2014/main" id="{C23CA336-088E-4800-B48C-93941C21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19" name="gray-label-219-7">
            <a:extLst xmlns:a="http://schemas.openxmlformats.org/drawingml/2006/main">
              <a:ext uri="{FF2B5EF4-FFF2-40B4-BE49-F238E27FC236}">
                <a16:creationId xmlns:a16="http://schemas.microsoft.com/office/drawing/2014/main" id="{79F2359A-DCC0-4148-AFD9-A797F28C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20" name="gray-given">
            <a:extLst xmlns:a="http://schemas.openxmlformats.org/drawingml/2006/main">
              <a:ext uri="{FF2B5EF4-FFF2-40B4-BE49-F238E27FC236}">
                <a16:creationId xmlns:a16="http://schemas.microsoft.com/office/drawing/2014/main" id="{72F6B4CC-FD5C-4CDA-9E71-7F7FFDC4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灰度0–255，每项8 bit；必须完整恢复。</a:t>
            </a:r>
          </a:p>
        </p:txBody>
      </p:sp>
    </p:spTree>
    <p:extLst>
      <p:ext uri="{BB962C8B-B14F-4D97-AF65-F5344CB8AC3E}">
        <p14:creationId xmlns:p14="http://schemas.microsoft.com/office/powerpoint/2010/main" val="15526270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">
            <a:extLst xmlns:a="http://schemas.openxmlformats.org/drawingml/2006/main">
              <a:ext uri="{FF2B5EF4-FFF2-40B4-BE49-F238E27FC236}">
                <a16:creationId xmlns:a16="http://schemas.microsoft.com/office/drawing/2014/main" id="{0F7B8547-FCF5-42A1-86CB-94D3AF21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79C2313-3FC8-4C74-B475-BFEEAD0C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061F2FA-F89D-4225-ACB9-0BBEABD1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相邻值接近，怎样完整记录？</a:t>
            </a:r>
          </a:p>
        </p:txBody>
      </p:sp>
      <p:sp>
        <p:nvSpPr>
          <p:cNvPr id="4" name="gray-219-0">
            <a:extLst xmlns:a="http://schemas.openxmlformats.org/drawingml/2006/main">
              <a:ext uri="{FF2B5EF4-FFF2-40B4-BE49-F238E27FC236}">
                <a16:creationId xmlns:a16="http://schemas.microsoft.com/office/drawing/2014/main" id="{71AF84AE-9BB2-4149-AEC7-273E1C8F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5" name="gray-label-219-0">
            <a:extLst xmlns:a="http://schemas.openxmlformats.org/drawingml/2006/main">
              <a:ext uri="{FF2B5EF4-FFF2-40B4-BE49-F238E27FC236}">
                <a16:creationId xmlns:a16="http://schemas.microsoft.com/office/drawing/2014/main" id="{BF712DC5-DAF8-4A4A-91E5-50525BC2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6" name="gray-219-1">
            <a:extLst xmlns:a="http://schemas.openxmlformats.org/drawingml/2006/main">
              <a:ext uri="{FF2B5EF4-FFF2-40B4-BE49-F238E27FC236}">
                <a16:creationId xmlns:a16="http://schemas.microsoft.com/office/drawing/2014/main" id="{3300F4C9-9D07-498B-9F77-E199D1C0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7" name="gray-label-219-1">
            <a:extLst xmlns:a="http://schemas.openxmlformats.org/drawingml/2006/main">
              <a:ext uri="{FF2B5EF4-FFF2-40B4-BE49-F238E27FC236}">
                <a16:creationId xmlns:a16="http://schemas.microsoft.com/office/drawing/2014/main" id="{B265EC31-41D6-43FE-92CF-B2F30172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8" name="gray-219-2">
            <a:extLst xmlns:a="http://schemas.openxmlformats.org/drawingml/2006/main">
              <a:ext uri="{FF2B5EF4-FFF2-40B4-BE49-F238E27FC236}">
                <a16:creationId xmlns:a16="http://schemas.microsoft.com/office/drawing/2014/main" id="{03009460-4496-49B9-BB04-62406E42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9" name="gray-label-219-2">
            <a:extLst xmlns:a="http://schemas.openxmlformats.org/drawingml/2006/main">
              <a:ext uri="{FF2B5EF4-FFF2-40B4-BE49-F238E27FC236}">
                <a16:creationId xmlns:a16="http://schemas.microsoft.com/office/drawing/2014/main" id="{25CE4CFB-DE44-4889-AA1A-101D773A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10" name="gray-219-3">
            <a:extLst xmlns:a="http://schemas.openxmlformats.org/drawingml/2006/main">
              <a:ext uri="{FF2B5EF4-FFF2-40B4-BE49-F238E27FC236}">
                <a16:creationId xmlns:a16="http://schemas.microsoft.com/office/drawing/2014/main" id="{EF6BD467-9810-47B8-A821-5FFAD6A0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1" name="gray-label-219-3">
            <a:extLst xmlns:a="http://schemas.openxmlformats.org/drawingml/2006/main">
              <a:ext uri="{FF2B5EF4-FFF2-40B4-BE49-F238E27FC236}">
                <a16:creationId xmlns:a16="http://schemas.microsoft.com/office/drawing/2014/main" id="{4481544A-D4C7-4211-9373-47828140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2" name="gray-219-4">
            <a:extLst xmlns:a="http://schemas.openxmlformats.org/drawingml/2006/main">
              <a:ext uri="{FF2B5EF4-FFF2-40B4-BE49-F238E27FC236}">
                <a16:creationId xmlns:a16="http://schemas.microsoft.com/office/drawing/2014/main" id="{A65008BD-9DEF-4B02-9106-463F457A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3" name="gray-label-219-4">
            <a:extLst xmlns:a="http://schemas.openxmlformats.org/drawingml/2006/main">
              <a:ext uri="{FF2B5EF4-FFF2-40B4-BE49-F238E27FC236}">
                <a16:creationId xmlns:a16="http://schemas.microsoft.com/office/drawing/2014/main" id="{AE55C9E4-AD38-4BC9-9432-A0882760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4" name="gray-219-5">
            <a:extLst xmlns:a="http://schemas.openxmlformats.org/drawingml/2006/main">
              <a:ext uri="{FF2B5EF4-FFF2-40B4-BE49-F238E27FC236}">
                <a16:creationId xmlns:a16="http://schemas.microsoft.com/office/drawing/2014/main" id="{B76AB236-C277-4D6B-8081-CE5AA192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5" name="gray-label-219-5">
            <a:extLst xmlns:a="http://schemas.openxmlformats.org/drawingml/2006/main">
              <a:ext uri="{FF2B5EF4-FFF2-40B4-BE49-F238E27FC236}">
                <a16:creationId xmlns:a16="http://schemas.microsoft.com/office/drawing/2014/main" id="{72C0D08F-DCA4-459C-AA73-7F6CA30B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6" name="gray-219-6">
            <a:extLst xmlns:a="http://schemas.openxmlformats.org/drawingml/2006/main">
              <a:ext uri="{FF2B5EF4-FFF2-40B4-BE49-F238E27FC236}">
                <a16:creationId xmlns:a16="http://schemas.microsoft.com/office/drawing/2014/main" id="{52AAC95A-3617-4C07-B025-04449DDA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7" name="gray-label-219-6">
            <a:extLst xmlns:a="http://schemas.openxmlformats.org/drawingml/2006/main">
              <a:ext uri="{FF2B5EF4-FFF2-40B4-BE49-F238E27FC236}">
                <a16:creationId xmlns:a16="http://schemas.microsoft.com/office/drawing/2014/main" id="{09EAA6E6-6105-407F-85E4-8F63E656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8" name="gray-219-7">
            <a:extLst xmlns:a="http://schemas.openxmlformats.org/drawingml/2006/main">
              <a:ext uri="{FF2B5EF4-FFF2-40B4-BE49-F238E27FC236}">
                <a16:creationId xmlns:a16="http://schemas.microsoft.com/office/drawing/2014/main" id="{C23CA336-088E-4800-B48C-93941C21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19" name="gray-label-219-7">
            <a:extLst xmlns:a="http://schemas.openxmlformats.org/drawingml/2006/main">
              <a:ext uri="{FF2B5EF4-FFF2-40B4-BE49-F238E27FC236}">
                <a16:creationId xmlns:a16="http://schemas.microsoft.com/office/drawing/2014/main" id="{79F2359A-DCC0-4148-AFD9-A797F28C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20" name="gray-given">
            <a:extLst xmlns:a="http://schemas.openxmlformats.org/drawingml/2006/main">
              <a:ext uri="{FF2B5EF4-FFF2-40B4-BE49-F238E27FC236}">
                <a16:creationId xmlns:a16="http://schemas.microsoft.com/office/drawing/2014/main" id="{72F6B4CC-FD5C-4CDA-9E71-7F7FFDC4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灰度0–255，每项8 bit；必须完整恢复。</a:t>
            </a:r>
          </a:p>
        </p:txBody>
      </p:sp>
      <p:sp>
        <p:nvSpPr>
          <p:cNvPr id="21" name="deltas">
            <a:extLst xmlns:a="http://schemas.openxmlformats.org/drawingml/2006/main">
              <a:ext uri="{FF2B5EF4-FFF2-40B4-BE49-F238E27FC236}">
                <a16:creationId xmlns:a16="http://schemas.microsoft.com/office/drawing/2014/main" id="{B2355DED-25AE-4F08-8B0E-A96BDCB2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起点120；差值：+1，+1，−1，−1，0，+1，+1</a:t>
            </a:r>
          </a:p>
        </p:txBody>
      </p:sp>
    </p:spTree>
    <p:extLst>
      <p:ext uri="{BB962C8B-B14F-4D97-AF65-F5344CB8AC3E}">
        <p14:creationId xmlns:p14="http://schemas.microsoft.com/office/powerpoint/2010/main" val="15526270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">
            <a:extLst xmlns:a="http://schemas.openxmlformats.org/drawingml/2006/main">
              <a:ext uri="{FF2B5EF4-FFF2-40B4-BE49-F238E27FC236}">
                <a16:creationId xmlns:a16="http://schemas.microsoft.com/office/drawing/2014/main" id="{0F7B8547-FCF5-42A1-86CB-94D3AF21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79C2313-3FC8-4C74-B475-BFEEAD0C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061F2FA-F89D-4225-ACB9-0BBEABD1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相邻值接近，怎样完整记录？</a:t>
            </a:r>
          </a:p>
        </p:txBody>
      </p:sp>
      <p:sp>
        <p:nvSpPr>
          <p:cNvPr id="4" name="gray-219-0">
            <a:extLst xmlns:a="http://schemas.openxmlformats.org/drawingml/2006/main">
              <a:ext uri="{FF2B5EF4-FFF2-40B4-BE49-F238E27FC236}">
                <a16:creationId xmlns:a16="http://schemas.microsoft.com/office/drawing/2014/main" id="{71AF84AE-9BB2-4149-AEC7-273E1C8F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5" name="gray-label-219-0">
            <a:extLst xmlns:a="http://schemas.openxmlformats.org/drawingml/2006/main">
              <a:ext uri="{FF2B5EF4-FFF2-40B4-BE49-F238E27FC236}">
                <a16:creationId xmlns:a16="http://schemas.microsoft.com/office/drawing/2014/main" id="{BF712DC5-DAF8-4A4A-91E5-50525BC2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6" name="gray-219-1">
            <a:extLst xmlns:a="http://schemas.openxmlformats.org/drawingml/2006/main">
              <a:ext uri="{FF2B5EF4-FFF2-40B4-BE49-F238E27FC236}">
                <a16:creationId xmlns:a16="http://schemas.microsoft.com/office/drawing/2014/main" id="{3300F4C9-9D07-498B-9F77-E199D1C0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7" name="gray-label-219-1">
            <a:extLst xmlns:a="http://schemas.openxmlformats.org/drawingml/2006/main">
              <a:ext uri="{FF2B5EF4-FFF2-40B4-BE49-F238E27FC236}">
                <a16:creationId xmlns:a16="http://schemas.microsoft.com/office/drawing/2014/main" id="{B265EC31-41D6-43FE-92CF-B2F30172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8" name="gray-219-2">
            <a:extLst xmlns:a="http://schemas.openxmlformats.org/drawingml/2006/main">
              <a:ext uri="{FF2B5EF4-FFF2-40B4-BE49-F238E27FC236}">
                <a16:creationId xmlns:a16="http://schemas.microsoft.com/office/drawing/2014/main" id="{03009460-4496-49B9-BB04-62406E42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9" name="gray-label-219-2">
            <a:extLst xmlns:a="http://schemas.openxmlformats.org/drawingml/2006/main">
              <a:ext uri="{FF2B5EF4-FFF2-40B4-BE49-F238E27FC236}">
                <a16:creationId xmlns:a16="http://schemas.microsoft.com/office/drawing/2014/main" id="{25CE4CFB-DE44-4889-AA1A-101D773A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10" name="gray-219-3">
            <a:extLst xmlns:a="http://schemas.openxmlformats.org/drawingml/2006/main">
              <a:ext uri="{FF2B5EF4-FFF2-40B4-BE49-F238E27FC236}">
                <a16:creationId xmlns:a16="http://schemas.microsoft.com/office/drawing/2014/main" id="{EF6BD467-9810-47B8-A821-5FFAD6A0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1" name="gray-label-219-3">
            <a:extLst xmlns:a="http://schemas.openxmlformats.org/drawingml/2006/main">
              <a:ext uri="{FF2B5EF4-FFF2-40B4-BE49-F238E27FC236}">
                <a16:creationId xmlns:a16="http://schemas.microsoft.com/office/drawing/2014/main" id="{4481544A-D4C7-4211-9373-47828140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2" name="gray-219-4">
            <a:extLst xmlns:a="http://schemas.openxmlformats.org/drawingml/2006/main">
              <a:ext uri="{FF2B5EF4-FFF2-40B4-BE49-F238E27FC236}">
                <a16:creationId xmlns:a16="http://schemas.microsoft.com/office/drawing/2014/main" id="{A65008BD-9DEF-4B02-9106-463F457A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3" name="gray-label-219-4">
            <a:extLst xmlns:a="http://schemas.openxmlformats.org/drawingml/2006/main">
              <a:ext uri="{FF2B5EF4-FFF2-40B4-BE49-F238E27FC236}">
                <a16:creationId xmlns:a16="http://schemas.microsoft.com/office/drawing/2014/main" id="{AE55C9E4-AD38-4BC9-9432-A0882760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4" name="gray-219-5">
            <a:extLst xmlns:a="http://schemas.openxmlformats.org/drawingml/2006/main">
              <a:ext uri="{FF2B5EF4-FFF2-40B4-BE49-F238E27FC236}">
                <a16:creationId xmlns:a16="http://schemas.microsoft.com/office/drawing/2014/main" id="{B76AB236-C277-4D6B-8081-CE5AA192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5" name="gray-label-219-5">
            <a:extLst xmlns:a="http://schemas.openxmlformats.org/drawingml/2006/main">
              <a:ext uri="{FF2B5EF4-FFF2-40B4-BE49-F238E27FC236}">
                <a16:creationId xmlns:a16="http://schemas.microsoft.com/office/drawing/2014/main" id="{72C0D08F-DCA4-459C-AA73-7F6CA30B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6" name="gray-219-6">
            <a:extLst xmlns:a="http://schemas.openxmlformats.org/drawingml/2006/main">
              <a:ext uri="{FF2B5EF4-FFF2-40B4-BE49-F238E27FC236}">
                <a16:creationId xmlns:a16="http://schemas.microsoft.com/office/drawing/2014/main" id="{52AAC95A-3617-4C07-B025-04449DDA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7" name="gray-label-219-6">
            <a:extLst xmlns:a="http://schemas.openxmlformats.org/drawingml/2006/main">
              <a:ext uri="{FF2B5EF4-FFF2-40B4-BE49-F238E27FC236}">
                <a16:creationId xmlns:a16="http://schemas.microsoft.com/office/drawing/2014/main" id="{09EAA6E6-6105-407F-85E4-8F63E656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8" name="gray-219-7">
            <a:extLst xmlns:a="http://schemas.openxmlformats.org/drawingml/2006/main">
              <a:ext uri="{FF2B5EF4-FFF2-40B4-BE49-F238E27FC236}">
                <a16:creationId xmlns:a16="http://schemas.microsoft.com/office/drawing/2014/main" id="{C23CA336-088E-4800-B48C-93941C21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19" name="gray-label-219-7">
            <a:extLst xmlns:a="http://schemas.openxmlformats.org/drawingml/2006/main">
              <a:ext uri="{FF2B5EF4-FFF2-40B4-BE49-F238E27FC236}">
                <a16:creationId xmlns:a16="http://schemas.microsoft.com/office/drawing/2014/main" id="{79F2359A-DCC0-4148-AFD9-A797F28C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20" name="gray-given">
            <a:extLst xmlns:a="http://schemas.openxmlformats.org/drawingml/2006/main">
              <a:ext uri="{FF2B5EF4-FFF2-40B4-BE49-F238E27FC236}">
                <a16:creationId xmlns:a16="http://schemas.microsoft.com/office/drawing/2014/main" id="{72F6B4CC-FD5C-4CDA-9E71-7F7FFDC4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灰度0–255，每项8 bit；必须完整恢复。</a:t>
            </a:r>
          </a:p>
        </p:txBody>
      </p:sp>
      <p:sp>
        <p:nvSpPr>
          <p:cNvPr id="21" name="deltas">
            <a:extLst xmlns:a="http://schemas.openxmlformats.org/drawingml/2006/main">
              <a:ext uri="{FF2B5EF4-FFF2-40B4-BE49-F238E27FC236}">
                <a16:creationId xmlns:a16="http://schemas.microsoft.com/office/drawing/2014/main" id="{B2355DED-25AE-4F08-8B0E-A96BDCB2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起点120；差值：+1，+1，−1，−1，0，+1，+1</a:t>
            </a:r>
          </a:p>
        </p:txBody>
      </p:sp>
      <p:sp>
        <p:nvSpPr>
          <p:cNvPr id="22" name="delta-size">
            <a:extLst xmlns:a="http://schemas.openxmlformats.org/drawingml/2006/main">
              <a:ext uri="{FF2B5EF4-FFF2-40B4-BE49-F238E27FC236}">
                <a16:creationId xmlns:a16="http://schemas.microsoft.com/office/drawing/2014/main" id="{36E75A73-354D-4015-9997-E5DD4A26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+ 7 × 2 = 22 bit → 3 B（补2 bit）</a:t>
            </a:r>
          </a:p>
        </p:txBody>
      </p:sp>
      <p:sp>
        <p:nvSpPr>
          <p:cNvPr id="23" name="delta-code-table">
            <a:extLst xmlns:a="http://schemas.openxmlformats.org/drawingml/2006/main">
              <a:ext uri="{FF2B5EF4-FFF2-40B4-BE49-F238E27FC236}">
                <a16:creationId xmlns:a16="http://schemas.microsoft.com/office/drawing/2014/main" id="{906BC773-4089-4902-A919-86617BCF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本串码表：−1 = 00；0 = 01；+1 = 10</a:t>
            </a:r>
          </a:p>
        </p:txBody>
      </p:sp>
    </p:spTree>
    <p:extLst>
      <p:ext uri="{BB962C8B-B14F-4D97-AF65-F5344CB8AC3E}">
        <p14:creationId xmlns:p14="http://schemas.microsoft.com/office/powerpoint/2010/main" val="15526270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B405EDEC-23E1-473A-A3EC-5444B76C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4CF695F-59B3-4FE7-8B07-3FF05464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B777C50-14E2-475E-9502-AC158F27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只留近似值，还能找回原数吗？</a:t>
            </a:r>
          </a:p>
        </p:txBody>
      </p:sp>
      <p:sp>
        <p:nvSpPr>
          <p:cNvPr id="4" name="quant-rule">
            <a:extLst xmlns:a="http://schemas.openxmlformats.org/drawingml/2006/main">
              <a:ext uri="{FF2B5EF4-FFF2-40B4-BE49-F238E27FC236}">
                <a16:creationId xmlns:a16="http://schemas.microsoft.com/office/drawing/2014/main" id="{22C3E35E-CFF5-418B-88E7-24B29DB5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归到最近的4的倍数；中点向上取。</a:t>
            </a:r>
          </a:p>
        </p:txBody>
      </p:sp>
      <p:sp>
        <p:nvSpPr>
          <p:cNvPr id="5" name="axis-116">
            <a:extLst xmlns:a="http://schemas.openxmlformats.org/drawingml/2006/main">
              <a:ext uri="{FF2B5EF4-FFF2-40B4-BE49-F238E27FC236}">
                <a16:creationId xmlns:a16="http://schemas.microsoft.com/office/drawing/2014/main" id="{2FF34AEF-09F5-43AF-A4F8-D9A5512C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116</a:t>
            </a:r>
          </a:p>
        </p:txBody>
      </p:sp>
      <p:sp>
        <p:nvSpPr>
          <p:cNvPr id="6" name="axis-120">
            <a:extLst xmlns:a="http://schemas.openxmlformats.org/drawingml/2006/main">
              <a:ext uri="{FF2B5EF4-FFF2-40B4-BE49-F238E27FC236}">
                <a16:creationId xmlns:a16="http://schemas.microsoft.com/office/drawing/2014/main" id="{3F7F8434-6734-4E8E-BAD6-BAFABA25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120</a:t>
            </a:r>
          </a:p>
        </p:txBody>
      </p:sp>
      <p:sp>
        <p:nvSpPr>
          <p:cNvPr id="7" name="axis-124">
            <a:extLst xmlns:a="http://schemas.openxmlformats.org/drawingml/2006/main">
              <a:ext uri="{FF2B5EF4-FFF2-40B4-BE49-F238E27FC236}">
                <a16:creationId xmlns:a16="http://schemas.microsoft.com/office/drawing/2014/main" id="{01530F83-5CE2-4DC3-AD38-B5468414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124</a:t>
            </a:r>
          </a:p>
        </p:txBody>
      </p:sp>
      <p:sp>
        <p:nvSpPr>
          <p:cNvPr id="8" name="axis-line">
            <a:extLst xmlns:a="http://schemas.openxmlformats.org/drawingml/2006/main">
              <a:ext uri="{FF2B5EF4-FFF2-40B4-BE49-F238E27FC236}">
                <a16:creationId xmlns:a16="http://schemas.microsoft.com/office/drawing/2014/main" id="{53F23CA7-C112-4F58-997A-C2CB406F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00500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9" name="quant-ask">
            <a:extLst xmlns:a="http://schemas.openxmlformats.org/drawingml/2006/main">
              <a:ext uri="{FF2B5EF4-FFF2-40B4-BE49-F238E27FC236}">
                <a16:creationId xmlns:a16="http://schemas.microsoft.com/office/drawing/2014/main" id="{EDD97C4C-9B4E-441D-B226-B7B9C7A2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看到代表值120，原来可能是多少？</a:t>
            </a:r>
          </a:p>
        </p:txBody>
      </p:sp>
    </p:spTree>
    <p:extLst>
      <p:ext uri="{BB962C8B-B14F-4D97-AF65-F5344CB8AC3E}">
        <p14:creationId xmlns:p14="http://schemas.microsoft.com/office/powerpoint/2010/main" val="17193960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B405EDEC-23E1-473A-A3EC-5444B76C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4CF695F-59B3-4FE7-8B07-3FF05464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B777C50-14E2-475E-9502-AC158F27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只留近似值，还能找回原数吗？</a:t>
            </a:r>
          </a:p>
        </p:txBody>
      </p:sp>
      <p:sp>
        <p:nvSpPr>
          <p:cNvPr id="4" name="quant-rule">
            <a:extLst xmlns:a="http://schemas.openxmlformats.org/drawingml/2006/main">
              <a:ext uri="{FF2B5EF4-FFF2-40B4-BE49-F238E27FC236}">
                <a16:creationId xmlns:a16="http://schemas.microsoft.com/office/drawing/2014/main" id="{22C3E35E-CFF5-418B-88E7-24B29DB5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归到最近的4的倍数；中点向上取。</a:t>
            </a:r>
          </a:p>
        </p:txBody>
      </p:sp>
      <p:sp>
        <p:nvSpPr>
          <p:cNvPr id="5" name="axis-116">
            <a:extLst xmlns:a="http://schemas.openxmlformats.org/drawingml/2006/main">
              <a:ext uri="{FF2B5EF4-FFF2-40B4-BE49-F238E27FC236}">
                <a16:creationId xmlns:a16="http://schemas.microsoft.com/office/drawing/2014/main" id="{2FF34AEF-09F5-43AF-A4F8-D9A5512C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116</a:t>
            </a:r>
          </a:p>
        </p:txBody>
      </p:sp>
      <p:sp>
        <p:nvSpPr>
          <p:cNvPr id="6" name="axis-120">
            <a:extLst xmlns:a="http://schemas.openxmlformats.org/drawingml/2006/main">
              <a:ext uri="{FF2B5EF4-FFF2-40B4-BE49-F238E27FC236}">
                <a16:creationId xmlns:a16="http://schemas.microsoft.com/office/drawing/2014/main" id="{3F7F8434-6734-4E8E-BAD6-BAFABA25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120</a:t>
            </a:r>
          </a:p>
        </p:txBody>
      </p:sp>
      <p:sp>
        <p:nvSpPr>
          <p:cNvPr id="7" name="axis-124">
            <a:extLst xmlns:a="http://schemas.openxmlformats.org/drawingml/2006/main">
              <a:ext uri="{FF2B5EF4-FFF2-40B4-BE49-F238E27FC236}">
                <a16:creationId xmlns:a16="http://schemas.microsoft.com/office/drawing/2014/main" id="{01530F83-5CE2-4DC3-AD38-B5468414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124</a:t>
            </a:r>
          </a:p>
        </p:txBody>
      </p:sp>
      <p:sp>
        <p:nvSpPr>
          <p:cNvPr id="8" name="axis-line">
            <a:extLst xmlns:a="http://schemas.openxmlformats.org/drawingml/2006/main">
              <a:ext uri="{FF2B5EF4-FFF2-40B4-BE49-F238E27FC236}">
                <a16:creationId xmlns:a16="http://schemas.microsoft.com/office/drawing/2014/main" id="{53F23CA7-C112-4F58-997A-C2CB406F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00500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9" name="quant-ask">
            <a:extLst xmlns:a="http://schemas.openxmlformats.org/drawingml/2006/main">
              <a:ext uri="{FF2B5EF4-FFF2-40B4-BE49-F238E27FC236}">
                <a16:creationId xmlns:a16="http://schemas.microsoft.com/office/drawing/2014/main" id="{EDD97C4C-9B4E-441D-B226-B7B9C7A2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看到代表值120，原来可能是多少？</a:t>
            </a:r>
          </a:p>
        </p:txBody>
      </p:sp>
      <p:sp>
        <p:nvSpPr>
          <p:cNvPr id="10" name="many-to-one">
            <a:extLst xmlns:a="http://schemas.openxmlformats.org/drawingml/2006/main">
              <a:ext uri="{FF2B5EF4-FFF2-40B4-BE49-F238E27FC236}">
                <a16:creationId xmlns:a16="http://schemas.microsoft.com/office/drawing/2014/main" id="{0B248812-88BC-4E41-B95F-4F2A85BE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120 → 120       121 → 120</a:t>
            </a:r>
          </a:p>
        </p:txBody>
      </p:sp>
    </p:spTree>
    <p:extLst>
      <p:ext uri="{BB962C8B-B14F-4D97-AF65-F5344CB8AC3E}">
        <p14:creationId xmlns:p14="http://schemas.microsoft.com/office/powerpoint/2010/main" val="17193960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">
            <a:extLst xmlns:a="http://schemas.openxmlformats.org/drawingml/2006/main">
              <a:ext uri="{FF2B5EF4-FFF2-40B4-BE49-F238E27FC236}">
                <a16:creationId xmlns:a16="http://schemas.microsoft.com/office/drawing/2014/main" id="{B405EDEC-23E1-473A-A3EC-5444B76C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4CF695F-59B3-4FE7-8B07-3FF05464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B777C50-14E2-475E-9502-AC158F27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只留近似值，还能找回原数吗？</a:t>
            </a:r>
          </a:p>
        </p:txBody>
      </p:sp>
      <p:sp>
        <p:nvSpPr>
          <p:cNvPr id="4" name="quant-rule">
            <a:extLst xmlns:a="http://schemas.openxmlformats.org/drawingml/2006/main">
              <a:ext uri="{FF2B5EF4-FFF2-40B4-BE49-F238E27FC236}">
                <a16:creationId xmlns:a16="http://schemas.microsoft.com/office/drawing/2014/main" id="{22C3E35E-CFF5-418B-88E7-24B29DB5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归到最近的4的倍数；中点向上取。</a:t>
            </a:r>
          </a:p>
        </p:txBody>
      </p:sp>
      <p:sp>
        <p:nvSpPr>
          <p:cNvPr id="5" name="axis-116">
            <a:extLst xmlns:a="http://schemas.openxmlformats.org/drawingml/2006/main">
              <a:ext uri="{FF2B5EF4-FFF2-40B4-BE49-F238E27FC236}">
                <a16:creationId xmlns:a16="http://schemas.microsoft.com/office/drawing/2014/main" id="{2FF34AEF-09F5-43AF-A4F8-D9A5512C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116</a:t>
            </a:r>
          </a:p>
        </p:txBody>
      </p:sp>
      <p:sp>
        <p:nvSpPr>
          <p:cNvPr id="6" name="axis-120">
            <a:extLst xmlns:a="http://schemas.openxmlformats.org/drawingml/2006/main">
              <a:ext uri="{FF2B5EF4-FFF2-40B4-BE49-F238E27FC236}">
                <a16:creationId xmlns:a16="http://schemas.microsoft.com/office/drawing/2014/main" id="{3F7F8434-6734-4E8E-BAD6-BAFABA25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120</a:t>
            </a:r>
          </a:p>
        </p:txBody>
      </p:sp>
      <p:sp>
        <p:nvSpPr>
          <p:cNvPr id="7" name="axis-124">
            <a:extLst xmlns:a="http://schemas.openxmlformats.org/drawingml/2006/main">
              <a:ext uri="{FF2B5EF4-FFF2-40B4-BE49-F238E27FC236}">
                <a16:creationId xmlns:a16="http://schemas.microsoft.com/office/drawing/2014/main" id="{01530F83-5CE2-4DC3-AD38-B5468414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124</a:t>
            </a:r>
          </a:p>
        </p:txBody>
      </p:sp>
      <p:sp>
        <p:nvSpPr>
          <p:cNvPr id="8" name="axis-line">
            <a:extLst xmlns:a="http://schemas.openxmlformats.org/drawingml/2006/main">
              <a:ext uri="{FF2B5EF4-FFF2-40B4-BE49-F238E27FC236}">
                <a16:creationId xmlns:a16="http://schemas.microsoft.com/office/drawing/2014/main" id="{53F23CA7-C112-4F58-997A-C2CB406F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00500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9" name="quant-ask">
            <a:extLst xmlns:a="http://schemas.openxmlformats.org/drawingml/2006/main">
              <a:ext uri="{FF2B5EF4-FFF2-40B4-BE49-F238E27FC236}">
                <a16:creationId xmlns:a16="http://schemas.microsoft.com/office/drawing/2014/main" id="{EDD97C4C-9B4E-441D-B226-B7B9C7A2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看到代表值120，原来可能是多少？</a:t>
            </a:r>
          </a:p>
        </p:txBody>
      </p:sp>
      <p:sp>
        <p:nvSpPr>
          <p:cNvPr id="10" name="many-to-one">
            <a:extLst xmlns:a="http://schemas.openxmlformats.org/drawingml/2006/main">
              <a:ext uri="{FF2B5EF4-FFF2-40B4-BE49-F238E27FC236}">
                <a16:creationId xmlns:a16="http://schemas.microsoft.com/office/drawing/2014/main" id="{0B248812-88BC-4E41-B95F-4F2A85BE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120 → 120       121 → 120</a:t>
            </a:r>
          </a:p>
        </p:txBody>
      </p:sp>
      <p:sp>
        <p:nvSpPr>
          <p:cNvPr id="11" name="lossy-size">
            <a:extLst xmlns:a="http://schemas.openxmlformats.org/drawingml/2006/main">
              <a:ext uri="{FF2B5EF4-FFF2-40B4-BE49-F238E27FC236}">
                <a16:creationId xmlns:a16="http://schemas.microsoft.com/office/drawing/2014/main" id="{A1EDCED3-58EE-445C-8B8F-D7AA0E6D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× 6 = 48 bit = 6 B；不能保证完整恢复</a:t>
            </a:r>
          </a:p>
        </p:txBody>
      </p:sp>
    </p:spTree>
    <p:extLst>
      <p:ext uri="{BB962C8B-B14F-4D97-AF65-F5344CB8AC3E}">
        <p14:creationId xmlns:p14="http://schemas.microsoft.com/office/powerpoint/2010/main" val="17193960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4A752D58-6775-4C73-B17F-6377C784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94020D1-B8FD-4D96-AD89-37433D45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8012A11-00C9-48A1-AE65-007F276D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6a063965141c6"/>
          <a:stretch xmlns:a="http://schemas.openxmlformats.org/drawingml/2006/main"/>
        </p:blipFill>
        <p:spPr>
          <a:xfrm xmlns:a="http://schemas.openxmlformats.org/drawingml/2006/main">
            <a:off x="1543050" y="1981200"/>
            <a:ext cx="2266950" cy="33337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54fac889a4a6e"/>
          <a:stretch xmlns:a="http://schemas.openxmlformats.org/drawingml/2006/main"/>
        </p:blipFill>
        <p:spPr>
          <a:xfrm xmlns:a="http://schemas.openxmlformats.org/drawingml/2006/main">
            <a:off x="7391400" y="1981200"/>
            <a:ext cx="226695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C53FC727-E9F7-4CD2-800B-EDAD97F2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81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E8313903-2847-4777-A8FA-D92DEFDD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81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painting-baseline">
            <a:extLst xmlns:a="http://schemas.openxmlformats.org/drawingml/2006/main">
              <a:ext uri="{FF2B5EF4-FFF2-40B4-BE49-F238E27FC236}">
                <a16:creationId xmlns:a16="http://schemas.microsoft.com/office/drawing/2014/main" id="{75858C07-46A0-4A2C-9D79-EBCE843B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53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两图均为1020 × 1500像素；以所提供JPEG本次解码的RGB为起点。</a:t>
            </a:r>
          </a:p>
        </p:txBody>
      </p:sp>
    </p:spTree>
    <p:extLst>
      <p:ext uri="{BB962C8B-B14F-4D97-AF65-F5344CB8AC3E}">
        <p14:creationId xmlns:p14="http://schemas.microsoft.com/office/powerpoint/2010/main" val="9853795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4A752D58-6775-4C73-B17F-6377C784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94020D1-B8FD-4D96-AD89-37433D45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8012A11-00C9-48A1-AE65-007F276D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f3dc88d22430f"/>
          <a:stretch xmlns:a="http://schemas.openxmlformats.org/drawingml/2006/main"/>
        </p:blipFill>
        <p:spPr>
          <a:xfrm xmlns:a="http://schemas.openxmlformats.org/drawingml/2006/main">
            <a:off x="1543050" y="1981200"/>
            <a:ext cx="2266950" cy="333375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c0a24a35c4e90"/>
          <a:stretch xmlns:a="http://schemas.openxmlformats.org/drawingml/2006/main"/>
        </p:blipFill>
        <p:spPr>
          <a:xfrm xmlns:a="http://schemas.openxmlformats.org/drawingml/2006/main">
            <a:off x="7391400" y="1981200"/>
            <a:ext cx="226695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C53FC727-E9F7-4CD2-800B-EDAD97F2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81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E8313903-2847-4777-A8FA-D92DEFDD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81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painting-baseline">
            <a:extLst xmlns:a="http://schemas.openxmlformats.org/drawingml/2006/main">
              <a:ext uri="{FF2B5EF4-FFF2-40B4-BE49-F238E27FC236}">
                <a16:creationId xmlns:a16="http://schemas.microsoft.com/office/drawing/2014/main" id="{75858C07-46A0-4A2C-9D79-EBCE843B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比较本次输入RGB；不证明更早的原图无损。</a:t>
            </a:r>
          </a:p>
        </p:txBody>
      </p:sp>
      <p:sp>
        <p:nvSpPr>
          <p:cNvPr id="9" name="format-a">
            <a:extLst xmlns:a="http://schemas.openxmlformats.org/drawingml/2006/main">
              <a:ext uri="{FF2B5EF4-FFF2-40B4-BE49-F238E27FC236}">
                <a16:creationId xmlns:a16="http://schemas.microsoft.com/office/drawing/2014/main" id="{F5DED98D-E5D8-42B1-AAF7-5AF498F1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PNG：本次回读像素一致</a:t>
            </a:r>
          </a:p>
        </p:txBody>
      </p:sp>
      <p:sp>
        <p:nvSpPr>
          <p:cNvPr id="10" name="format-b">
            <a:extLst xmlns:a="http://schemas.openxmlformats.org/drawingml/2006/main">
              <a:ext uri="{FF2B5EF4-FFF2-40B4-BE49-F238E27FC236}">
                <a16:creationId xmlns:a16="http://schemas.microsoft.com/office/drawing/2014/main" id="{A78FEE02-83FC-4A74-8894-945BE406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JPEG：504,742个像素改变</a:t>
            </a:r>
          </a:p>
        </p:txBody>
      </p:sp>
    </p:spTree>
    <p:extLst>
      <p:ext uri="{BB962C8B-B14F-4D97-AF65-F5344CB8AC3E}">
        <p14:creationId xmlns:p14="http://schemas.microsoft.com/office/powerpoint/2010/main" val="9853795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">
            <a:extLst xmlns:a="http://schemas.openxmlformats.org/drawingml/2006/main">
              <a:ext uri="{FF2B5EF4-FFF2-40B4-BE49-F238E27FC236}">
                <a16:creationId xmlns:a16="http://schemas.microsoft.com/office/drawing/2014/main" id="{4A752D58-6775-4C73-B17F-6377C784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94020D1-B8FD-4D96-AD89-37433D45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8012A11-00C9-48A1-AE65-007F276D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cd77fea9f49e2"/>
          <a:stretch xmlns:a="http://schemas.openxmlformats.org/drawingml/2006/main"/>
        </p:blipFill>
        <p:spPr>
          <a:xfrm xmlns:a="http://schemas.openxmlformats.org/drawingml/2006/main">
            <a:off x="1543050" y="1981200"/>
            <a:ext cx="2266950" cy="333375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4c713f6624191"/>
          <a:stretch xmlns:a="http://schemas.openxmlformats.org/drawingml/2006/main"/>
        </p:blipFill>
        <p:spPr>
          <a:xfrm xmlns:a="http://schemas.openxmlformats.org/drawingml/2006/main">
            <a:off x="7391400" y="1981200"/>
            <a:ext cx="226695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C53FC727-E9F7-4CD2-800B-EDAD97F2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81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E8313903-2847-4777-A8FA-D92DEFDD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81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painting-baseline">
            <a:extLst xmlns:a="http://schemas.openxmlformats.org/drawingml/2006/main">
              <a:ext uri="{FF2B5EF4-FFF2-40B4-BE49-F238E27FC236}">
                <a16:creationId xmlns:a16="http://schemas.microsoft.com/office/drawing/2014/main" id="{75858C07-46A0-4A2C-9D79-EBCE843B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比较本次输入RGB；不证明更早的原图无损。</a:t>
            </a:r>
          </a:p>
        </p:txBody>
      </p:sp>
      <p:sp>
        <p:nvSpPr>
          <p:cNvPr id="9" name="format-a">
            <a:extLst xmlns:a="http://schemas.openxmlformats.org/drawingml/2006/main">
              <a:ext uri="{FF2B5EF4-FFF2-40B4-BE49-F238E27FC236}">
                <a16:creationId xmlns:a16="http://schemas.microsoft.com/office/drawing/2014/main" id="{F5DED98D-E5D8-42B1-AAF7-5AF498F1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PNG：本次回读像素一致</a:t>
            </a:r>
          </a:p>
        </p:txBody>
      </p:sp>
      <p:sp>
        <p:nvSpPr>
          <p:cNvPr id="10" name="format-b">
            <a:extLst xmlns:a="http://schemas.openxmlformats.org/drawingml/2006/main">
              <a:ext uri="{FF2B5EF4-FFF2-40B4-BE49-F238E27FC236}">
                <a16:creationId xmlns:a16="http://schemas.microsoft.com/office/drawing/2014/main" id="{A78FEE02-83FC-4A74-8894-945BE406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JPEG：504,742个像素改变</a:t>
            </a:r>
          </a:p>
        </p:txBody>
      </p:sp>
      <p:sp>
        <p:nvSpPr>
          <p:cNvPr id="11" name="painting-crop-overlay">
            <a:extLst xmlns:a="http://schemas.openxmlformats.org/drawingml/2006/main">
              <a:ext uri="{FF2B5EF4-FFF2-40B4-BE49-F238E27FC236}">
                <a16:creationId xmlns:a16="http://schemas.microsoft.com/office/drawing/2014/main" id="{3110F7E6-78BD-473D-A407-57813988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33575"/>
            <a:ext cx="109728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b0ce8eb594057"/>
          <a:stretch xmlns:a="http://schemas.openxmlformats.org/drawingml/2006/main"/>
        </p:blipFill>
        <p:spPr>
          <a:xfrm xmlns:a="http://schemas.openxmlformats.org/drawingml/2006/main">
            <a:off x="609600" y="2324100"/>
            <a:ext cx="5143500" cy="342900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0a911004e4d7e"/>
          <a:stretch xmlns:a="http://schemas.openxmlformats.org/drawingml/2006/main"/>
        </p:blipFill>
        <p:spPr>
          <a:xfrm xmlns:a="http://schemas.openxmlformats.org/drawingml/2006/main">
            <a:off x="6419850" y="2324100"/>
            <a:ext cx="5143500" cy="3429000"/>
          </a:xfrm>
          <a:prstGeom xmlns:a="http://schemas.openxmlformats.org/drawingml/2006/main" prst="rect">
            <a:avLst/>
          </a:prstGeom>
        </p:spPr>
      </p:pic>
      <p:sp>
        <p:nvSpPr>
          <p:cNvPr id="14" name="painting-crop-caption">
            <a:extLst xmlns:a="http://schemas.openxmlformats.org/drawingml/2006/main">
              <a:ext uri="{FF2B5EF4-FFF2-40B4-BE49-F238E27FC236}">
                <a16:creationId xmlns:a16="http://schemas.microsoft.com/office/drawing/2014/main" id="{F3A07ECF-5663-4A3A-ABB5-A5DCE9C1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同一192 × 128像素区域，最近邻放大4倍</a:t>
            </a:r>
          </a:p>
        </p:txBody>
      </p:sp>
    </p:spTree>
    <p:extLst>
      <p:ext uri="{BB962C8B-B14F-4D97-AF65-F5344CB8AC3E}">
        <p14:creationId xmlns:p14="http://schemas.microsoft.com/office/powerpoint/2010/main" val="98537958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">
            <a:extLst xmlns:a="http://schemas.openxmlformats.org/drawingml/2006/main">
              <a:ext uri="{FF2B5EF4-FFF2-40B4-BE49-F238E27FC236}">
                <a16:creationId xmlns:a16="http://schemas.microsoft.com/office/drawing/2014/main" id="{4A752D58-6775-4C73-B17F-6377C784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94020D1-B8FD-4D96-AD89-37433D45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8012A11-00C9-48A1-AE65-007F276D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d0f8b9cd141e4"/>
          <a:stretch xmlns:a="http://schemas.openxmlformats.org/drawingml/2006/main"/>
        </p:blipFill>
        <p:spPr>
          <a:xfrm xmlns:a="http://schemas.openxmlformats.org/drawingml/2006/main">
            <a:off x="1543050" y="1981200"/>
            <a:ext cx="2266950" cy="333375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5baeaf76414e12"/>
          <a:stretch xmlns:a="http://schemas.openxmlformats.org/drawingml/2006/main"/>
        </p:blipFill>
        <p:spPr>
          <a:xfrm xmlns:a="http://schemas.openxmlformats.org/drawingml/2006/main">
            <a:off x="7391400" y="1981200"/>
            <a:ext cx="226695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C53FC727-E9F7-4CD2-800B-EDAD97F2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81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E8313903-2847-4777-A8FA-D92DEFDD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81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painting-baseline">
            <a:extLst xmlns:a="http://schemas.openxmlformats.org/drawingml/2006/main">
              <a:ext uri="{FF2B5EF4-FFF2-40B4-BE49-F238E27FC236}">
                <a16:creationId xmlns:a16="http://schemas.microsoft.com/office/drawing/2014/main" id="{75858C07-46A0-4A2C-9D79-EBCE843B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比较本次输入RGB；不证明更早的原图无损。</a:t>
            </a:r>
          </a:p>
        </p:txBody>
      </p:sp>
      <p:sp>
        <p:nvSpPr>
          <p:cNvPr id="11" name="painting-crop-overlay">
            <a:extLst xmlns:a="http://schemas.openxmlformats.org/drawingml/2006/main">
              <a:ext uri="{FF2B5EF4-FFF2-40B4-BE49-F238E27FC236}">
                <a16:creationId xmlns:a16="http://schemas.microsoft.com/office/drawing/2014/main" id="{3110F7E6-78BD-473D-A407-57813988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33575"/>
            <a:ext cx="109728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6ec7b02c24b80"/>
          <a:stretch xmlns:a="http://schemas.openxmlformats.org/drawingml/2006/main"/>
        </p:blipFill>
        <p:spPr>
          <a:xfrm xmlns:a="http://schemas.openxmlformats.org/drawingml/2006/main">
            <a:off x="609600" y="2324100"/>
            <a:ext cx="5143500" cy="342900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ae2c20cb243ab"/>
          <a:stretch xmlns:a="http://schemas.openxmlformats.org/drawingml/2006/main"/>
        </p:blipFill>
        <p:spPr>
          <a:xfrm xmlns:a="http://schemas.openxmlformats.org/drawingml/2006/main">
            <a:off x="6419850" y="2324100"/>
            <a:ext cx="5143500" cy="3429000"/>
          </a:xfrm>
          <a:prstGeom xmlns:a="http://schemas.openxmlformats.org/drawingml/2006/main" prst="rect">
            <a:avLst/>
          </a:prstGeom>
        </p:spPr>
      </p:pic>
      <p:sp>
        <p:nvSpPr>
          <p:cNvPr id="14" name="painting-crop-caption">
            <a:extLst xmlns:a="http://schemas.openxmlformats.org/drawingml/2006/main">
              <a:ext uri="{FF2B5EF4-FFF2-40B4-BE49-F238E27FC236}">
                <a16:creationId xmlns:a16="http://schemas.microsoft.com/office/drawing/2014/main" id="{F3A07ECF-5663-4A3A-ABB5-A5DCE9C1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同一192 × 128像素区域，最近邻放大4倍</a:t>
            </a:r>
          </a:p>
        </p:txBody>
      </p:sp>
      <p:sp>
        <p:nvSpPr>
          <p:cNvPr id="15" name="painting-size-overlay">
            <a:extLst xmlns:a="http://schemas.openxmlformats.org/drawingml/2006/main">
              <a:ext uri="{FF2B5EF4-FFF2-40B4-BE49-F238E27FC236}">
                <a16:creationId xmlns:a16="http://schemas.microsoft.com/office/drawing/2014/main" id="{EECCCD94-65BB-4F26-B526-6B1E42A7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81150"/>
            <a:ext cx="1097280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painting-size-heading">
            <a:extLst xmlns:a="http://schemas.openxmlformats.org/drawingml/2006/main">
              <a:ext uri="{FF2B5EF4-FFF2-40B4-BE49-F238E27FC236}">
                <a16:creationId xmlns:a16="http://schemas.microsoft.com/office/drawing/2014/main" id="{D0155484-AFE3-4F1C-A902-B11CE1E5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这份绘画图像（1020 × 1500）</a:t>
            </a:r>
          </a:p>
        </p:txBody>
      </p:sp>
      <p:sp>
        <p:nvSpPr>
          <p:cNvPr id="17" name="painting-size-result">
            <a:extLst xmlns:a="http://schemas.openxmlformats.org/drawingml/2006/main">
              <a:ext uri="{FF2B5EF4-FFF2-40B4-BE49-F238E27FC236}">
                <a16:creationId xmlns:a16="http://schemas.microsoft.com/office/drawing/2014/main" id="{2F7F3570-3706-41D1-B858-EA9B9062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6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PNG 1,706,860 B    JPEG 240,848 B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298b5418f4804"/>
          <a:stretch xmlns:a="http://schemas.openxmlformats.org/drawingml/2006/main"/>
        </p:blipFill>
        <p:spPr>
          <a:xfrm xmlns:a="http://schemas.openxmlformats.org/drawingml/2006/main">
            <a:off x="609600" y="3095625"/>
            <a:ext cx="3657600" cy="2057400"/>
          </a:xfrm>
          <a:prstGeom xmlns:a="http://schemas.openxmlformats.org/drawingml/2006/main" prst="rect">
            <a:avLst/>
          </a:prstGeom>
        </p:spPr>
      </p:pic>
      <p:sp>
        <p:nvSpPr>
          <p:cNvPr id="19" name="test-size-heading">
            <a:extLst xmlns:a="http://schemas.openxmlformats.org/drawingml/2006/main">
              <a:ext uri="{FF2B5EF4-FFF2-40B4-BE49-F238E27FC236}">
                <a16:creationId xmlns:a16="http://schemas.microsoft.com/office/drawing/2014/main" id="{D0A8576E-6FC1-4C23-8A2C-38187B54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05150"/>
            <a:ext cx="6705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程序绘制的测试图（384 × 216）</a:t>
            </a:r>
          </a:p>
        </p:txBody>
      </p:sp>
      <p:sp>
        <p:nvSpPr>
          <p:cNvPr id="20" name="test-size-result">
            <a:extLst xmlns:a="http://schemas.openxmlformats.org/drawingml/2006/main">
              <a:ext uri="{FF2B5EF4-FFF2-40B4-BE49-F238E27FC236}">
                <a16:creationId xmlns:a16="http://schemas.microsoft.com/office/drawing/2014/main" id="{7F540FE3-CCE8-46A1-BE49-C6878D72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86200"/>
            <a:ext cx="670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PNG 4,441 B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JPEG 10,766 B</a:t>
            </a:r>
          </a:p>
        </p:txBody>
      </p:sp>
      <p:sp>
        <p:nvSpPr>
          <p:cNvPr id="21" name="painting-size-conclusion">
            <a:extLst xmlns:a="http://schemas.openxmlformats.org/drawingml/2006/main">
              <a:ext uri="{FF2B5EF4-FFF2-40B4-BE49-F238E27FC236}">
                <a16:creationId xmlns:a16="http://schemas.microsoft.com/office/drawing/2014/main" id="{C53CDFF5-A4F8-46FF-AA03-E0D30810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有损／无损说明能否精确恢复，不能替我们排文件大小。</a:t>
            </a:r>
          </a:p>
        </p:txBody>
      </p:sp>
    </p:spTree>
    <p:extLst>
      <p:ext uri="{BB962C8B-B14F-4D97-AF65-F5344CB8AC3E}">
        <p14:creationId xmlns:p14="http://schemas.microsoft.com/office/powerpoint/2010/main" val="98537958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op-rail">
            <a:extLst xmlns:a="http://schemas.openxmlformats.org/drawingml/2006/main">
              <a:ext uri="{FF2B5EF4-FFF2-40B4-BE49-F238E27FC236}">
                <a16:creationId xmlns:a16="http://schemas.microsoft.com/office/drawing/2014/main" id="{8B9D8A61-63C6-4318-A5F5-D0C5BDBA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4836FED-C777-42FE-8DA9-2411C9EA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E12FD41-31E4-448F-A663-C5307D1C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利用关系能无损；舍弃区分会有损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4B7D8B4D-3F4B-424D-9626-E4511BD3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</a:t>
            </a:r>
          </a:p>
        </p:txBody>
      </p:sp>
      <p:sp>
        <p:nvSpPr>
          <p:cNvPr id="5" name="tree-trunk-horizontal">
            <a:extLst xmlns:a="http://schemas.openxmlformats.org/drawingml/2006/main">
              <a:ext uri="{FF2B5EF4-FFF2-40B4-BE49-F238E27FC236}">
                <a16:creationId xmlns:a16="http://schemas.microsoft.com/office/drawing/2014/main" id="{D60DD84C-32F2-42B2-97E7-5836C95A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338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" name="tree-trunk">
            <a:extLst xmlns:a="http://schemas.openxmlformats.org/drawingml/2006/main">
              <a:ext uri="{FF2B5EF4-FFF2-40B4-BE49-F238E27FC236}">
                <a16:creationId xmlns:a16="http://schemas.microsoft.com/office/drawing/2014/main" id="{C41ABC4B-D25D-4BBD-9D27-8F61BBA8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24050"/>
            <a:ext cx="190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7" name="tree-branch-link-purpose">
            <a:extLst xmlns:a="http://schemas.openxmlformats.org/drawingml/2006/main">
              <a:ext uri="{FF2B5EF4-FFF2-40B4-BE49-F238E27FC236}">
                <a16:creationId xmlns:a16="http://schemas.microsoft.com/office/drawing/2014/main" id="{0DA34DBE-21DB-4F28-8E7F-EC6C012E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240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tree-branch-purpose">
            <a:extLst xmlns:a="http://schemas.openxmlformats.org/drawingml/2006/main">
              <a:ext uri="{FF2B5EF4-FFF2-40B4-BE49-F238E27FC236}">
                <a16:creationId xmlns:a16="http://schemas.microsoft.com/office/drawing/2014/main" id="{253E3BE6-794F-4056-81C4-7E3C8F17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526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为何压缩</a:t>
            </a:r>
          </a:p>
        </p:txBody>
      </p:sp>
      <p:sp>
        <p:nvSpPr>
          <p:cNvPr id="9" name="tree-branch-link-method">
            <a:extLst xmlns:a="http://schemas.openxmlformats.org/drawingml/2006/main">
              <a:ext uri="{FF2B5EF4-FFF2-40B4-BE49-F238E27FC236}">
                <a16:creationId xmlns:a16="http://schemas.microsoft.com/office/drawing/2014/main" id="{A2D04E7D-E484-4FB0-BB4F-077BD05D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527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" name="tree-branch-method">
            <a:extLst xmlns:a="http://schemas.openxmlformats.org/drawingml/2006/main">
              <a:ext uri="{FF2B5EF4-FFF2-40B4-BE49-F238E27FC236}">
                <a16:creationId xmlns:a16="http://schemas.microsoft.com/office/drawing/2014/main" id="{41865155-75C6-4264-B83F-58A3A817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13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怎样变小</a:t>
            </a:r>
          </a:p>
        </p:txBody>
      </p:sp>
      <p:sp>
        <p:nvSpPr>
          <p:cNvPr id="11" name="tree-branch-link-recovery">
            <a:extLst xmlns:a="http://schemas.openxmlformats.org/drawingml/2006/main">
              <a:ext uri="{FF2B5EF4-FFF2-40B4-BE49-F238E27FC236}">
                <a16:creationId xmlns:a16="http://schemas.microsoft.com/office/drawing/2014/main" id="{7D17524B-55D8-46A7-8F68-BFDA2D1E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1624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" name="tree-branch-recovery">
            <a:extLst xmlns:a="http://schemas.openxmlformats.org/drawingml/2006/main">
              <a:ext uri="{FF2B5EF4-FFF2-40B4-BE49-F238E27FC236}">
                <a16:creationId xmlns:a16="http://schemas.microsoft.com/office/drawing/2014/main" id="{167056C5-68E5-4151-B3CA-F9340689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909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能否恢复</a:t>
            </a:r>
          </a:p>
        </p:txBody>
      </p:sp>
      <p:sp>
        <p:nvSpPr>
          <p:cNvPr id="13" name="tree-branch-link-choice">
            <a:extLst xmlns:a="http://schemas.openxmlformats.org/drawingml/2006/main">
              <a:ext uri="{FF2B5EF4-FFF2-40B4-BE49-F238E27FC236}">
                <a16:creationId xmlns:a16="http://schemas.microsoft.com/office/drawing/2014/main" id="{953FA75F-37CB-4F2A-9E39-87869957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4959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4" name="tree-branch-choice">
            <a:extLst xmlns:a="http://schemas.openxmlformats.org/drawingml/2006/main">
              <a:ext uri="{FF2B5EF4-FFF2-40B4-BE49-F238E27FC236}">
                <a16:creationId xmlns:a16="http://schemas.microsoft.com/office/drawing/2014/main" id="{72ED29B8-198C-481F-BF13-2AE6AA22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244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怎样选择</a:t>
            </a:r>
          </a:p>
        </p:txBody>
      </p:sp>
      <p:sp>
        <p:nvSpPr>
          <p:cNvPr id="15" name="tree-leaf-space">
            <a:extLst xmlns:a="http://schemas.openxmlformats.org/drawingml/2006/main">
              <a:ext uri="{FF2B5EF4-FFF2-40B4-BE49-F238E27FC236}">
                <a16:creationId xmlns:a16="http://schemas.microsoft.com/office/drawing/2014/main" id="{33705414-E079-424B-8080-D68D2D07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811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特殊编码，减少存储／传输数据量</a:t>
            </a:r>
          </a:p>
        </p:txBody>
      </p:sp>
      <p:sp>
        <p:nvSpPr>
          <p:cNvPr id="16" name="tree-leaf-link-space">
            <a:extLst xmlns:a="http://schemas.openxmlformats.org/drawingml/2006/main">
              <a:ext uri="{FF2B5EF4-FFF2-40B4-BE49-F238E27FC236}">
                <a16:creationId xmlns:a16="http://schemas.microsoft.com/office/drawing/2014/main" id="{CC472E9D-C421-482A-95A7-3AD4A6C6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526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17" name="tree-leaf-limit">
            <a:extLst xmlns:a="http://schemas.openxmlformats.org/drawingml/2006/main">
              <a:ext uri="{FF2B5EF4-FFF2-40B4-BE49-F238E27FC236}">
                <a16:creationId xmlns:a16="http://schemas.microsoft.com/office/drawing/2014/main" id="{55CEDA1F-FDA8-43FE-B7B7-3BF3CF7F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31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效果取决于数据、方法与开销</a:t>
            </a:r>
          </a:p>
        </p:txBody>
      </p:sp>
      <p:sp>
        <p:nvSpPr>
          <p:cNvPr id="18" name="tree-leaf-link-limit">
            <a:extLst xmlns:a="http://schemas.openxmlformats.org/drawingml/2006/main">
              <a:ext uri="{FF2B5EF4-FFF2-40B4-BE49-F238E27FC236}">
                <a16:creationId xmlns:a16="http://schemas.microsoft.com/office/drawing/2014/main" id="{8DCD5CF8-D8BC-489A-82D2-2ACE7C4C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145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19" name="tree-leaf-repeat">
            <a:extLst xmlns:a="http://schemas.openxmlformats.org/drawingml/2006/main">
              <a:ext uri="{FF2B5EF4-FFF2-40B4-BE49-F238E27FC236}">
                <a16:creationId xmlns:a16="http://schemas.microsoft.com/office/drawing/2014/main" id="{66D2D48B-11C7-4563-9996-D413427E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193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去除冗余：连续重复写成次数</a:t>
            </a:r>
          </a:p>
        </p:txBody>
      </p:sp>
      <p:sp>
        <p:nvSpPr>
          <p:cNvPr id="20" name="tree-leaf-link-repeat">
            <a:extLst xmlns:a="http://schemas.openxmlformats.org/drawingml/2006/main">
              <a:ext uri="{FF2B5EF4-FFF2-40B4-BE49-F238E27FC236}">
                <a16:creationId xmlns:a16="http://schemas.microsoft.com/office/drawing/2014/main" id="{F50FA0D4-88D3-46EC-8CF6-0AF10526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908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1" name="tree-leaf-lossless">
            <a:extLst xmlns:a="http://schemas.openxmlformats.org/drawingml/2006/main">
              <a:ext uri="{FF2B5EF4-FFF2-40B4-BE49-F238E27FC236}">
                <a16:creationId xmlns:a16="http://schemas.microsoft.com/office/drawing/2014/main" id="{23BD5A45-4EDA-4471-B464-C276CDB0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100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无损：可完全恢复原始数据</a:t>
            </a:r>
          </a:p>
        </p:txBody>
      </p:sp>
      <p:sp>
        <p:nvSpPr>
          <p:cNvPr id="22" name="tree-leaf-link-lossless">
            <a:extLst xmlns:a="http://schemas.openxmlformats.org/drawingml/2006/main">
              <a:ext uri="{FF2B5EF4-FFF2-40B4-BE49-F238E27FC236}">
                <a16:creationId xmlns:a16="http://schemas.microsoft.com/office/drawing/2014/main" id="{D687783C-F32C-429B-AB21-087F7F6A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814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3" name="tree-stem-purpose">
            <a:extLst xmlns:a="http://schemas.openxmlformats.org/drawingml/2006/main">
              <a:ext uri="{FF2B5EF4-FFF2-40B4-BE49-F238E27FC236}">
                <a16:creationId xmlns:a16="http://schemas.microsoft.com/office/drawing/2014/main" id="{CF07365A-A803-48F3-AFB5-F963A3FF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4" name="tree-parent-link-purpose">
            <a:extLst xmlns:a="http://schemas.openxmlformats.org/drawingml/2006/main">
              <a:ext uri="{FF2B5EF4-FFF2-40B4-BE49-F238E27FC236}">
                <a16:creationId xmlns:a16="http://schemas.microsoft.com/office/drawing/2014/main" id="{213CCD3E-EDA7-4CAE-A500-2A54B4B8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2405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5" name="tree-stem-method">
            <a:extLst xmlns:a="http://schemas.openxmlformats.org/drawingml/2006/main">
              <a:ext uri="{FF2B5EF4-FFF2-40B4-BE49-F238E27FC236}">
                <a16:creationId xmlns:a16="http://schemas.microsoft.com/office/drawing/2014/main" id="{2BB8889E-E9D1-499C-976F-3E27332D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9080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6" name="tree-parent-link-method">
            <a:extLst xmlns:a="http://schemas.openxmlformats.org/drawingml/2006/main">
              <a:ext uri="{FF2B5EF4-FFF2-40B4-BE49-F238E27FC236}">
                <a16:creationId xmlns:a16="http://schemas.microsoft.com/office/drawing/2014/main" id="{7B9529BD-912C-43BA-BD51-8AE48715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95275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7" name="tree-stem-recovery">
            <a:extLst xmlns:a="http://schemas.openxmlformats.org/drawingml/2006/main">
              <a:ext uri="{FF2B5EF4-FFF2-40B4-BE49-F238E27FC236}">
                <a16:creationId xmlns:a16="http://schemas.microsoft.com/office/drawing/2014/main" id="{003E6D50-1933-4F32-805E-4DB9D1BE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814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8" name="tree-parent-link-recovery">
            <a:extLst xmlns:a="http://schemas.openxmlformats.org/drawingml/2006/main">
              <a:ext uri="{FF2B5EF4-FFF2-40B4-BE49-F238E27FC236}">
                <a16:creationId xmlns:a16="http://schemas.microsoft.com/office/drawing/2014/main" id="{CCB42D4E-1682-4DA5-960F-0BAC2AEE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162425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9" name="tree-leaf-correlation">
            <a:extLst xmlns:a="http://schemas.openxmlformats.org/drawingml/2006/main">
              <a:ext uri="{FF2B5EF4-FFF2-40B4-BE49-F238E27FC236}">
                <a16:creationId xmlns:a16="http://schemas.microsoft.com/office/drawing/2014/main" id="{E2D710A2-BBBE-4A46-880E-B9526D6E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利用相关：首值＋完整差值</a:t>
            </a:r>
          </a:p>
        </p:txBody>
      </p:sp>
      <p:sp>
        <p:nvSpPr>
          <p:cNvPr id="30" name="tree-leaf-link-correlation">
            <a:extLst xmlns:a="http://schemas.openxmlformats.org/drawingml/2006/main">
              <a:ext uri="{FF2B5EF4-FFF2-40B4-BE49-F238E27FC236}">
                <a16:creationId xmlns:a16="http://schemas.microsoft.com/office/drawing/2014/main" id="{69B2657F-F4E2-41D6-956F-BE658080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527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1" name="tree-leaf-perception">
            <a:extLst xmlns:a="http://schemas.openxmlformats.org/drawingml/2006/main">
              <a:ext uri="{FF2B5EF4-FFF2-40B4-BE49-F238E27FC236}">
                <a16:creationId xmlns:a16="http://schemas.microsoft.com/office/drawing/2014/main" id="{0C3D89EF-802F-45BB-A470-69308DCE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感知近似：舍弃不敏感的区分</a:t>
            </a:r>
          </a:p>
        </p:txBody>
      </p:sp>
      <p:sp>
        <p:nvSpPr>
          <p:cNvPr id="32" name="tree-leaf-link-perception">
            <a:extLst xmlns:a="http://schemas.openxmlformats.org/drawingml/2006/main">
              <a:ext uri="{FF2B5EF4-FFF2-40B4-BE49-F238E27FC236}">
                <a16:creationId xmlns:a16="http://schemas.microsoft.com/office/drawing/2014/main" id="{A4818AC0-D30B-403E-90C1-E07270AE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147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3" name="tree-leaf-lossy">
            <a:extLst xmlns:a="http://schemas.openxmlformats.org/drawingml/2006/main">
              <a:ext uri="{FF2B5EF4-FFF2-40B4-BE49-F238E27FC236}">
                <a16:creationId xmlns:a16="http://schemas.microsoft.com/office/drawing/2014/main" id="{71EE4AE0-64DE-43A3-9455-7FE0C9BC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719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有损：不能保证完全恢复</a:t>
            </a:r>
          </a:p>
        </p:txBody>
      </p:sp>
      <p:sp>
        <p:nvSpPr>
          <p:cNvPr id="34" name="tree-leaf-link-lossy">
            <a:extLst xmlns:a="http://schemas.openxmlformats.org/drawingml/2006/main">
              <a:ext uri="{FF2B5EF4-FFF2-40B4-BE49-F238E27FC236}">
                <a16:creationId xmlns:a16="http://schemas.microsoft.com/office/drawing/2014/main" id="{DCAD5CDE-4171-40F5-8A36-D256257B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434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5" name="tree-focus-method">
            <a:extLst xmlns:a="http://schemas.openxmlformats.org/drawingml/2006/main">
              <a:ext uri="{FF2B5EF4-FFF2-40B4-BE49-F238E27FC236}">
                <a16:creationId xmlns:a16="http://schemas.microsoft.com/office/drawing/2014/main" id="{76CAA1B8-1BBB-45CC-A813-30C70D2A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800350"/>
            <a:ext cx="56292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36" name="tree-focus-recovery">
            <a:extLst xmlns:a="http://schemas.openxmlformats.org/drawingml/2006/main">
              <a:ext uri="{FF2B5EF4-FFF2-40B4-BE49-F238E27FC236}">
                <a16:creationId xmlns:a16="http://schemas.microsoft.com/office/drawing/2014/main" id="{3AC67F58-DCE4-484F-801E-0CB5A87B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191000"/>
            <a:ext cx="5629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37" name="tree-summary">
            <a:extLst xmlns:a="http://schemas.openxmlformats.org/drawingml/2006/main">
              <a:ext uri="{FF2B5EF4-FFF2-40B4-BE49-F238E27FC236}">
                <a16:creationId xmlns:a16="http://schemas.microsoft.com/office/drawing/2014/main" id="{0359D066-1F7A-435F-BC1C-15C8FCAD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看起来相似，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不能证明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原值相同。</a:t>
            </a:r>
          </a:p>
        </p:txBody>
      </p:sp>
    </p:spTree>
    <p:extLst>
      <p:ext uri="{BB962C8B-B14F-4D97-AF65-F5344CB8AC3E}">
        <p14:creationId xmlns:p14="http://schemas.microsoft.com/office/powerpoint/2010/main" val="25897964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op-rail">
            <a:extLst xmlns:a="http://schemas.openxmlformats.org/drawingml/2006/main">
              <a:ext uri="{FF2B5EF4-FFF2-40B4-BE49-F238E27FC236}">
                <a16:creationId xmlns:a16="http://schemas.microsoft.com/office/drawing/2014/main" id="{A194C93B-1284-4CFA-B61E-D7929400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86355B2-DD78-400F-98C0-09174E43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56FEFBB-F0F1-42A1-A1FB-04B14ADD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同一种误差，哪些任务能接受？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53750" cy="3076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变化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通知原文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本周五交作业 → 本周交作业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score &gt;= 60 → score &gt; 60；输入60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照片浏览副本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像素略变，人物与活动内容仍清楚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013506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A194C93B-1284-4CFA-B61E-D7929400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86355B2-DD78-400F-98C0-09174E43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56FEFBB-F0F1-42A1-A1FB-04B14ADD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同一种误差，哪些任务能接受？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53750" cy="3076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变化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通知原文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本周五交作业 → 本周交作业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score &gt;= 60 → score &gt; 60；输入60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照片浏览副本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像素略变，人物与活动内容仍清楚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use-answer">
            <a:extLst xmlns:a="http://schemas.openxmlformats.org/drawingml/2006/main">
              <a:ext uri="{FF2B5EF4-FFF2-40B4-BE49-F238E27FC236}">
                <a16:creationId xmlns:a16="http://schemas.microsoft.com/office/drawing/2014/main" id="{56027733-F2E8-42FF-9FFF-FE08B243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文本文档／程序必须无损；媒体要检查用途与质量。</a:t>
            </a:r>
          </a:p>
        </p:txBody>
      </p:sp>
    </p:spTree>
    <p:extLst>
      <p:ext uri="{BB962C8B-B14F-4D97-AF65-F5344CB8AC3E}">
        <p14:creationId xmlns:p14="http://schemas.microsoft.com/office/powerpoint/2010/main" val="145013506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FBE12726-6F5C-4C18-BBE5-BDBA8614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631E05C-189D-470D-9101-BFAA5C0D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F9D9F96-D4C9-4AF4-94C2-A54A849A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看扩展名，就能判定压缩方式吗？</a:t>
            </a:r>
          </a:p>
        </p:txBody>
      </p:sp>
      <p:sp>
        <p:nvSpPr>
          <p:cNvPr id="4" name="format-claim">
            <a:extLst xmlns:a="http://schemas.openxmlformats.org/drawingml/2006/main">
              <a:ext uri="{FF2B5EF4-FFF2-40B4-BE49-F238E27FC236}">
                <a16:creationId xmlns:a16="http://schemas.microsoft.com/office/drawing/2014/main" id="{8C10CB06-F475-4031-9EE2-7F38AF7F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“JPG、TIF、MP3、MPEG都是有损；图片不能无损。”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3295650"/>
          <a:ext xmlns:a="http://schemas.openxmlformats.org/drawingml/2006/main" cx="1095375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TIFF配置卡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可选方式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编码设置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未压缩／LZW无损／JPEG有损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ng-recall">
            <a:extLst xmlns:a="http://schemas.openxmlformats.org/drawingml/2006/main">
              <a:ext uri="{FF2B5EF4-FFF2-40B4-BE49-F238E27FC236}">
                <a16:creationId xmlns:a16="http://schemas.microsoft.com/office/drawing/2014/main" id="{8B8116F2-0427-4CCB-9AA3-6A552C2A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已有证据：本课PNG回读像素一致。</a:t>
            </a:r>
          </a:p>
        </p:txBody>
      </p:sp>
    </p:spTree>
    <p:extLst>
      <p:ext uri="{BB962C8B-B14F-4D97-AF65-F5344CB8AC3E}">
        <p14:creationId xmlns:p14="http://schemas.microsoft.com/office/powerpoint/2010/main" val="155124131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FBE12726-6F5C-4C18-BBE5-BDBA8614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631E05C-189D-470D-9101-BFAA5C0D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F9D9F96-D4C9-4AF4-94C2-A54A849A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看扩展名，就能判定压缩方式吗？</a:t>
            </a:r>
          </a:p>
        </p:txBody>
      </p:sp>
      <p:sp>
        <p:nvSpPr>
          <p:cNvPr id="4" name="format-claim">
            <a:extLst xmlns:a="http://schemas.openxmlformats.org/drawingml/2006/main">
              <a:ext uri="{FF2B5EF4-FFF2-40B4-BE49-F238E27FC236}">
                <a16:creationId xmlns:a16="http://schemas.microsoft.com/office/drawing/2014/main" id="{8C10CB06-F475-4031-9EE2-7F38AF7F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“JPG、TIF、MP3、MPEG都是有损；图片不能无损。”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3295650"/>
          <a:ext xmlns:a="http://schemas.openxmlformats.org/drawingml/2006/main" cx="1095375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TIFF配置卡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可选方式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编码设置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未压缩／LZW无损／JPEG有损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ng-recall">
            <a:extLst xmlns:a="http://schemas.openxmlformats.org/drawingml/2006/main">
              <a:ext uri="{FF2B5EF4-FFF2-40B4-BE49-F238E27FC236}">
                <a16:creationId xmlns:a16="http://schemas.microsoft.com/office/drawing/2014/main" id="{8B8116F2-0427-4CCB-9AA3-6A552C2A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已有证据：本课PNG回读像素一致。</a:t>
            </a:r>
          </a:p>
        </p:txBody>
      </p:sp>
      <p:sp>
        <p:nvSpPr>
          <p:cNvPr id="7" name="format-fix">
            <a:extLst xmlns:a="http://schemas.openxmlformats.org/drawingml/2006/main">
              <a:ext uri="{FF2B5EF4-FFF2-40B4-BE49-F238E27FC236}">
                <a16:creationId xmlns:a16="http://schemas.microsoft.com/office/drawing/2014/main" id="{48E433DF-536E-4FEF-AEAD-D43BBA53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TIF需看编码；图片也能无损压缩。</a:t>
            </a:r>
          </a:p>
        </p:txBody>
      </p:sp>
    </p:spTree>
    <p:extLst>
      <p:ext uri="{BB962C8B-B14F-4D97-AF65-F5344CB8AC3E}">
        <p14:creationId xmlns:p14="http://schemas.microsoft.com/office/powerpoint/2010/main" val="155124131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FBE12726-6F5C-4C18-BBE5-BDBA8614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631E05C-189D-470D-9101-BFAA5C0D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F9D9F96-D4C9-4AF4-94C2-A54A849A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看扩展名，就能判定压缩方式吗？</a:t>
            </a:r>
          </a:p>
        </p:txBody>
      </p:sp>
      <p:sp>
        <p:nvSpPr>
          <p:cNvPr id="4" name="format-claim">
            <a:extLst xmlns:a="http://schemas.openxmlformats.org/drawingml/2006/main">
              <a:ext uri="{FF2B5EF4-FFF2-40B4-BE49-F238E27FC236}">
                <a16:creationId xmlns:a16="http://schemas.microsoft.com/office/drawing/2014/main" id="{8C10CB06-F475-4031-9EE2-7F38AF7F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“JPG、TIF、MP3、MPEG都是有损；图片不能无损。”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3295650"/>
          <a:ext xmlns:a="http://schemas.openxmlformats.org/drawingml/2006/main" cx="1095375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TIFF配置卡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可选方式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编码设置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未压缩／LZW无损／JPEG有损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ng-recall">
            <a:extLst xmlns:a="http://schemas.openxmlformats.org/drawingml/2006/main">
              <a:ext uri="{FF2B5EF4-FFF2-40B4-BE49-F238E27FC236}">
                <a16:creationId xmlns:a16="http://schemas.microsoft.com/office/drawing/2014/main" id="{8B8116F2-0427-4CCB-9AA3-6A552C2A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已有证据：本课PNG回读像素一致。</a:t>
            </a:r>
          </a:p>
        </p:txBody>
      </p:sp>
      <p:sp>
        <p:nvSpPr>
          <p:cNvPr id="7" name="format-fix">
            <a:extLst xmlns:a="http://schemas.openxmlformats.org/drawingml/2006/main">
              <a:ext uri="{FF2B5EF4-FFF2-40B4-BE49-F238E27FC236}">
                <a16:creationId xmlns:a16="http://schemas.microsoft.com/office/drawing/2014/main" id="{48E433DF-536E-4FEF-AEAD-D43BBA53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TIF需看编码；图片也能无损压缩。</a:t>
            </a:r>
          </a:p>
        </p:txBody>
      </p:sp>
      <p:sp>
        <p:nvSpPr>
          <p:cNvPr id="8" name="format-overlay">
            <a:extLst xmlns:a="http://schemas.openxmlformats.org/drawingml/2006/main">
              <a:ext uri="{FF2B5EF4-FFF2-40B4-BE49-F238E27FC236}">
                <a16:creationId xmlns:a16="http://schemas.microsoft.com/office/drawing/2014/main" id="{C8E502D1-5502-4FF7-A7D1-55EDE169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14500"/>
            <a:ext cx="109728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53750" cy="4019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952750"/>
                <a:gridCol w="5715000"/>
              </a:tblGrid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名称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常见用途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本课保留的边界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JPG/JPEG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常见照片保存通常有损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TIF/TIFF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需看所用编码方式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MP3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音频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常见有损音频编码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MPEG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视频相关标准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常见视频用途采用有损编码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format-key">
            <a:extLst xmlns:a="http://schemas.openxmlformats.org/drawingml/2006/main">
              <a:ext uri="{FF2B5EF4-FFF2-40B4-BE49-F238E27FC236}">
                <a16:creationId xmlns:a16="http://schemas.microsoft.com/office/drawing/2014/main" id="{2DC6C99A-BC94-4E1B-BA86-3B213293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先看用途与保存方式，再判断。</a:t>
            </a:r>
          </a:p>
        </p:txBody>
      </p:sp>
    </p:spTree>
    <p:extLst>
      <p:ext uri="{BB962C8B-B14F-4D97-AF65-F5344CB8AC3E}">
        <p14:creationId xmlns:p14="http://schemas.microsoft.com/office/powerpoint/2010/main" val="155124131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op-rail">
            <a:extLst xmlns:a="http://schemas.openxmlformats.org/drawingml/2006/main">
              <a:ext uri="{FF2B5EF4-FFF2-40B4-BE49-F238E27FC236}">
                <a16:creationId xmlns:a16="http://schemas.microsoft.com/office/drawing/2014/main" id="{8B9D8A61-63C6-4318-A5F5-D0C5BDBA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4836FED-C777-42FE-8DA9-2411C9EA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E12FD41-31E4-448F-A663-C5307D1C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能否接受有损，要看用途与编码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4B7D8B4D-3F4B-424D-9626-E4511BD3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</a:t>
            </a:r>
          </a:p>
        </p:txBody>
      </p:sp>
      <p:sp>
        <p:nvSpPr>
          <p:cNvPr id="5" name="tree-trunk-horizontal">
            <a:extLst xmlns:a="http://schemas.openxmlformats.org/drawingml/2006/main">
              <a:ext uri="{FF2B5EF4-FFF2-40B4-BE49-F238E27FC236}">
                <a16:creationId xmlns:a16="http://schemas.microsoft.com/office/drawing/2014/main" id="{D60DD84C-32F2-42B2-97E7-5836C95A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338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" name="tree-trunk">
            <a:extLst xmlns:a="http://schemas.openxmlformats.org/drawingml/2006/main">
              <a:ext uri="{FF2B5EF4-FFF2-40B4-BE49-F238E27FC236}">
                <a16:creationId xmlns:a16="http://schemas.microsoft.com/office/drawing/2014/main" id="{C41ABC4B-D25D-4BBD-9D27-8F61BBA8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24050"/>
            <a:ext cx="190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7" name="tree-branch-link-purpose">
            <a:extLst xmlns:a="http://schemas.openxmlformats.org/drawingml/2006/main">
              <a:ext uri="{FF2B5EF4-FFF2-40B4-BE49-F238E27FC236}">
                <a16:creationId xmlns:a16="http://schemas.microsoft.com/office/drawing/2014/main" id="{0DA34DBE-21DB-4F28-8E7F-EC6C012E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240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tree-branch-purpose">
            <a:extLst xmlns:a="http://schemas.openxmlformats.org/drawingml/2006/main">
              <a:ext uri="{FF2B5EF4-FFF2-40B4-BE49-F238E27FC236}">
                <a16:creationId xmlns:a16="http://schemas.microsoft.com/office/drawing/2014/main" id="{253E3BE6-794F-4056-81C4-7E3C8F17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526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为何压缩</a:t>
            </a:r>
          </a:p>
        </p:txBody>
      </p:sp>
      <p:sp>
        <p:nvSpPr>
          <p:cNvPr id="9" name="tree-branch-link-method">
            <a:extLst xmlns:a="http://schemas.openxmlformats.org/drawingml/2006/main">
              <a:ext uri="{FF2B5EF4-FFF2-40B4-BE49-F238E27FC236}">
                <a16:creationId xmlns:a16="http://schemas.microsoft.com/office/drawing/2014/main" id="{A2D04E7D-E484-4FB0-BB4F-077BD05D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527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" name="tree-branch-method">
            <a:extLst xmlns:a="http://schemas.openxmlformats.org/drawingml/2006/main">
              <a:ext uri="{FF2B5EF4-FFF2-40B4-BE49-F238E27FC236}">
                <a16:creationId xmlns:a16="http://schemas.microsoft.com/office/drawing/2014/main" id="{41865155-75C6-4264-B83F-58A3A817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13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怎样变小</a:t>
            </a:r>
          </a:p>
        </p:txBody>
      </p:sp>
      <p:sp>
        <p:nvSpPr>
          <p:cNvPr id="11" name="tree-branch-link-recovery">
            <a:extLst xmlns:a="http://schemas.openxmlformats.org/drawingml/2006/main">
              <a:ext uri="{FF2B5EF4-FFF2-40B4-BE49-F238E27FC236}">
                <a16:creationId xmlns:a16="http://schemas.microsoft.com/office/drawing/2014/main" id="{7D17524B-55D8-46A7-8F68-BFDA2D1E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1624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" name="tree-branch-recovery">
            <a:extLst xmlns:a="http://schemas.openxmlformats.org/drawingml/2006/main">
              <a:ext uri="{FF2B5EF4-FFF2-40B4-BE49-F238E27FC236}">
                <a16:creationId xmlns:a16="http://schemas.microsoft.com/office/drawing/2014/main" id="{167056C5-68E5-4151-B3CA-F9340689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909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能否恢复</a:t>
            </a:r>
          </a:p>
        </p:txBody>
      </p:sp>
      <p:sp>
        <p:nvSpPr>
          <p:cNvPr id="13" name="tree-branch-link-choice">
            <a:extLst xmlns:a="http://schemas.openxmlformats.org/drawingml/2006/main">
              <a:ext uri="{FF2B5EF4-FFF2-40B4-BE49-F238E27FC236}">
                <a16:creationId xmlns:a16="http://schemas.microsoft.com/office/drawing/2014/main" id="{953FA75F-37CB-4F2A-9E39-87869957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4959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4" name="tree-branch-choice">
            <a:extLst xmlns:a="http://schemas.openxmlformats.org/drawingml/2006/main">
              <a:ext uri="{FF2B5EF4-FFF2-40B4-BE49-F238E27FC236}">
                <a16:creationId xmlns:a16="http://schemas.microsoft.com/office/drawing/2014/main" id="{72ED29B8-198C-481F-BF13-2AE6AA22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244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怎样选择</a:t>
            </a:r>
          </a:p>
        </p:txBody>
      </p:sp>
      <p:sp>
        <p:nvSpPr>
          <p:cNvPr id="15" name="tree-leaf-space">
            <a:extLst xmlns:a="http://schemas.openxmlformats.org/drawingml/2006/main">
              <a:ext uri="{FF2B5EF4-FFF2-40B4-BE49-F238E27FC236}">
                <a16:creationId xmlns:a16="http://schemas.microsoft.com/office/drawing/2014/main" id="{33705414-E079-424B-8080-D68D2D07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811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特殊编码，减少存储／传输数据量</a:t>
            </a:r>
          </a:p>
        </p:txBody>
      </p:sp>
      <p:sp>
        <p:nvSpPr>
          <p:cNvPr id="16" name="tree-leaf-link-space">
            <a:extLst xmlns:a="http://schemas.openxmlformats.org/drawingml/2006/main">
              <a:ext uri="{FF2B5EF4-FFF2-40B4-BE49-F238E27FC236}">
                <a16:creationId xmlns:a16="http://schemas.microsoft.com/office/drawing/2014/main" id="{CC472E9D-C421-482A-95A7-3AD4A6C6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526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17" name="tree-leaf-limit">
            <a:extLst xmlns:a="http://schemas.openxmlformats.org/drawingml/2006/main">
              <a:ext uri="{FF2B5EF4-FFF2-40B4-BE49-F238E27FC236}">
                <a16:creationId xmlns:a16="http://schemas.microsoft.com/office/drawing/2014/main" id="{55CEDA1F-FDA8-43FE-B7B7-3BF3CF7F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31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效果取决于数据、方法与开销</a:t>
            </a:r>
          </a:p>
        </p:txBody>
      </p:sp>
      <p:sp>
        <p:nvSpPr>
          <p:cNvPr id="18" name="tree-leaf-link-limit">
            <a:extLst xmlns:a="http://schemas.openxmlformats.org/drawingml/2006/main">
              <a:ext uri="{FF2B5EF4-FFF2-40B4-BE49-F238E27FC236}">
                <a16:creationId xmlns:a16="http://schemas.microsoft.com/office/drawing/2014/main" id="{8DCD5CF8-D8BC-489A-82D2-2ACE7C4C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145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19" name="tree-leaf-repeat">
            <a:extLst xmlns:a="http://schemas.openxmlformats.org/drawingml/2006/main">
              <a:ext uri="{FF2B5EF4-FFF2-40B4-BE49-F238E27FC236}">
                <a16:creationId xmlns:a16="http://schemas.microsoft.com/office/drawing/2014/main" id="{66D2D48B-11C7-4563-9996-D413427E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193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去除冗余：连续重复写成次数</a:t>
            </a:r>
          </a:p>
        </p:txBody>
      </p:sp>
      <p:sp>
        <p:nvSpPr>
          <p:cNvPr id="20" name="tree-leaf-link-repeat">
            <a:extLst xmlns:a="http://schemas.openxmlformats.org/drawingml/2006/main">
              <a:ext uri="{FF2B5EF4-FFF2-40B4-BE49-F238E27FC236}">
                <a16:creationId xmlns:a16="http://schemas.microsoft.com/office/drawing/2014/main" id="{F50FA0D4-88D3-46EC-8CF6-0AF10526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908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1" name="tree-leaf-lossless">
            <a:extLst xmlns:a="http://schemas.openxmlformats.org/drawingml/2006/main">
              <a:ext uri="{FF2B5EF4-FFF2-40B4-BE49-F238E27FC236}">
                <a16:creationId xmlns:a16="http://schemas.microsoft.com/office/drawing/2014/main" id="{23BD5A45-4EDA-4471-B464-C276CDB0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100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无损：可完全恢复原始数据</a:t>
            </a:r>
          </a:p>
        </p:txBody>
      </p:sp>
      <p:sp>
        <p:nvSpPr>
          <p:cNvPr id="22" name="tree-leaf-link-lossless">
            <a:extLst xmlns:a="http://schemas.openxmlformats.org/drawingml/2006/main">
              <a:ext uri="{FF2B5EF4-FFF2-40B4-BE49-F238E27FC236}">
                <a16:creationId xmlns:a16="http://schemas.microsoft.com/office/drawing/2014/main" id="{D687783C-F32C-429B-AB21-087F7F6A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814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3" name="tree-stem-purpose">
            <a:extLst xmlns:a="http://schemas.openxmlformats.org/drawingml/2006/main">
              <a:ext uri="{FF2B5EF4-FFF2-40B4-BE49-F238E27FC236}">
                <a16:creationId xmlns:a16="http://schemas.microsoft.com/office/drawing/2014/main" id="{CF07365A-A803-48F3-AFB5-F963A3FF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4" name="tree-parent-link-purpose">
            <a:extLst xmlns:a="http://schemas.openxmlformats.org/drawingml/2006/main">
              <a:ext uri="{FF2B5EF4-FFF2-40B4-BE49-F238E27FC236}">
                <a16:creationId xmlns:a16="http://schemas.microsoft.com/office/drawing/2014/main" id="{213CCD3E-EDA7-4CAE-A500-2A54B4B8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2405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5" name="tree-stem-method">
            <a:extLst xmlns:a="http://schemas.openxmlformats.org/drawingml/2006/main">
              <a:ext uri="{FF2B5EF4-FFF2-40B4-BE49-F238E27FC236}">
                <a16:creationId xmlns:a16="http://schemas.microsoft.com/office/drawing/2014/main" id="{2BB8889E-E9D1-499C-976F-3E27332D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9080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6" name="tree-parent-link-method">
            <a:extLst xmlns:a="http://schemas.openxmlformats.org/drawingml/2006/main">
              <a:ext uri="{FF2B5EF4-FFF2-40B4-BE49-F238E27FC236}">
                <a16:creationId xmlns:a16="http://schemas.microsoft.com/office/drawing/2014/main" id="{7B9529BD-912C-43BA-BD51-8AE48715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95275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7" name="tree-stem-recovery">
            <a:extLst xmlns:a="http://schemas.openxmlformats.org/drawingml/2006/main">
              <a:ext uri="{FF2B5EF4-FFF2-40B4-BE49-F238E27FC236}">
                <a16:creationId xmlns:a16="http://schemas.microsoft.com/office/drawing/2014/main" id="{003E6D50-1933-4F32-805E-4DB9D1BE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814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8" name="tree-parent-link-recovery">
            <a:extLst xmlns:a="http://schemas.openxmlformats.org/drawingml/2006/main">
              <a:ext uri="{FF2B5EF4-FFF2-40B4-BE49-F238E27FC236}">
                <a16:creationId xmlns:a16="http://schemas.microsoft.com/office/drawing/2014/main" id="{CCB42D4E-1682-4DA5-960F-0BAC2AEE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162425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9" name="tree-leaf-correlation">
            <a:extLst xmlns:a="http://schemas.openxmlformats.org/drawingml/2006/main">
              <a:ext uri="{FF2B5EF4-FFF2-40B4-BE49-F238E27FC236}">
                <a16:creationId xmlns:a16="http://schemas.microsoft.com/office/drawing/2014/main" id="{E2D710A2-BBBE-4A46-880E-B9526D6E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利用相关：首值＋完整差值</a:t>
            </a:r>
          </a:p>
        </p:txBody>
      </p:sp>
      <p:sp>
        <p:nvSpPr>
          <p:cNvPr id="30" name="tree-leaf-link-correlation">
            <a:extLst xmlns:a="http://schemas.openxmlformats.org/drawingml/2006/main">
              <a:ext uri="{FF2B5EF4-FFF2-40B4-BE49-F238E27FC236}">
                <a16:creationId xmlns:a16="http://schemas.microsoft.com/office/drawing/2014/main" id="{69B2657F-F4E2-41D6-956F-BE658080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527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1" name="tree-leaf-perception">
            <a:extLst xmlns:a="http://schemas.openxmlformats.org/drawingml/2006/main">
              <a:ext uri="{FF2B5EF4-FFF2-40B4-BE49-F238E27FC236}">
                <a16:creationId xmlns:a16="http://schemas.microsoft.com/office/drawing/2014/main" id="{0C3D89EF-802F-45BB-A470-69308DCE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感知近似：舍弃不敏感的区分</a:t>
            </a:r>
          </a:p>
        </p:txBody>
      </p:sp>
      <p:sp>
        <p:nvSpPr>
          <p:cNvPr id="32" name="tree-leaf-link-perception">
            <a:extLst xmlns:a="http://schemas.openxmlformats.org/drawingml/2006/main">
              <a:ext uri="{FF2B5EF4-FFF2-40B4-BE49-F238E27FC236}">
                <a16:creationId xmlns:a16="http://schemas.microsoft.com/office/drawing/2014/main" id="{A4818AC0-D30B-403E-90C1-E07270AE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147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3" name="tree-leaf-lossy">
            <a:extLst xmlns:a="http://schemas.openxmlformats.org/drawingml/2006/main">
              <a:ext uri="{FF2B5EF4-FFF2-40B4-BE49-F238E27FC236}">
                <a16:creationId xmlns:a16="http://schemas.microsoft.com/office/drawing/2014/main" id="{71EE4AE0-64DE-43A3-9455-7FE0C9BC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719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有损：不能保证完全恢复</a:t>
            </a:r>
          </a:p>
        </p:txBody>
      </p:sp>
      <p:sp>
        <p:nvSpPr>
          <p:cNvPr id="34" name="tree-leaf-link-lossy">
            <a:extLst xmlns:a="http://schemas.openxmlformats.org/drawingml/2006/main">
              <a:ext uri="{FF2B5EF4-FFF2-40B4-BE49-F238E27FC236}">
                <a16:creationId xmlns:a16="http://schemas.microsoft.com/office/drawing/2014/main" id="{DCAD5CDE-4171-40F5-8A36-D256257B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434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5" name="tree-leaf-textcode">
            <a:extLst xmlns:a="http://schemas.openxmlformats.org/drawingml/2006/main">
              <a:ext uri="{FF2B5EF4-FFF2-40B4-BE49-F238E27FC236}">
                <a16:creationId xmlns:a16="http://schemas.microsoft.com/office/drawing/2014/main" id="{65F5238A-6BAF-4BAA-B8EF-A7FA3492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815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文本文档／程序：必须无损</a:t>
            </a:r>
          </a:p>
        </p:txBody>
      </p:sp>
      <p:sp>
        <p:nvSpPr>
          <p:cNvPr id="36" name="tree-leaf-link-textcode">
            <a:extLst xmlns:a="http://schemas.openxmlformats.org/drawingml/2006/main">
              <a:ext uri="{FF2B5EF4-FFF2-40B4-BE49-F238E27FC236}">
                <a16:creationId xmlns:a16="http://schemas.microsoft.com/office/drawing/2014/main" id="{4EBB4D7C-7E4D-45CF-983A-7B27FEBF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9530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7" name="tree-leaf-media">
            <a:extLst xmlns:a="http://schemas.openxmlformats.org/drawingml/2006/main">
              <a:ext uri="{FF2B5EF4-FFF2-40B4-BE49-F238E27FC236}">
                <a16:creationId xmlns:a16="http://schemas.microsoft.com/office/drawing/2014/main" id="{F0F108A6-1090-488C-964C-C562DA68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媒体：所需主要信息仍可获取</a:t>
            </a:r>
          </a:p>
        </p:txBody>
      </p:sp>
      <p:sp>
        <p:nvSpPr>
          <p:cNvPr id="38" name="tree-leaf-link-media">
            <a:extLst xmlns:a="http://schemas.openxmlformats.org/drawingml/2006/main">
              <a:ext uri="{FF2B5EF4-FFF2-40B4-BE49-F238E27FC236}">
                <a16:creationId xmlns:a16="http://schemas.microsoft.com/office/drawing/2014/main" id="{019A0BF6-9141-42A7-A8AB-AFE8F67A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3149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9" name="tree-leaf-format">
            <a:extLst xmlns:a="http://schemas.openxmlformats.org/drawingml/2006/main">
              <a:ext uri="{FF2B5EF4-FFF2-40B4-BE49-F238E27FC236}">
                <a16:creationId xmlns:a16="http://schemas.microsoft.com/office/drawing/2014/main" id="{2C71F45B-A8C5-4D4A-99D2-BC3CDBC0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054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格式名不足；TIF须查具体编码</a:t>
            </a:r>
          </a:p>
        </p:txBody>
      </p:sp>
      <p:sp>
        <p:nvSpPr>
          <p:cNvPr id="40" name="tree-leaf-link-format">
            <a:extLst xmlns:a="http://schemas.openxmlformats.org/drawingml/2006/main">
              <a:ext uri="{FF2B5EF4-FFF2-40B4-BE49-F238E27FC236}">
                <a16:creationId xmlns:a16="http://schemas.microsoft.com/office/drawing/2014/main" id="{D5ACB0E9-FDBF-4A0B-8E9A-FE323B79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6769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41" name="tree-stem-choice">
            <a:extLst xmlns:a="http://schemas.openxmlformats.org/drawingml/2006/main">
              <a:ext uri="{FF2B5EF4-FFF2-40B4-BE49-F238E27FC236}">
                <a16:creationId xmlns:a16="http://schemas.microsoft.com/office/drawing/2014/main" id="{729C4952-825D-4B1C-9A5E-2621782A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5300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42" name="tree-parent-link-choice">
            <a:extLst xmlns:a="http://schemas.openxmlformats.org/drawingml/2006/main">
              <a:ext uri="{FF2B5EF4-FFF2-40B4-BE49-F238E27FC236}">
                <a16:creationId xmlns:a16="http://schemas.microsoft.com/office/drawing/2014/main" id="{B797D2F8-BA1B-40EB-8778-D3925373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495925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43" name="tree-focus-choice">
            <a:extLst xmlns:a="http://schemas.openxmlformats.org/drawingml/2006/main">
              <a:ext uri="{FF2B5EF4-FFF2-40B4-BE49-F238E27FC236}">
                <a16:creationId xmlns:a16="http://schemas.microsoft.com/office/drawing/2014/main" id="{9067C66B-3C31-4B02-8650-0CA26F12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800600"/>
            <a:ext cx="56292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44" name="tree-summary">
            <a:extLst xmlns:a="http://schemas.openxmlformats.org/drawingml/2006/main">
              <a:ext uri="{FF2B5EF4-FFF2-40B4-BE49-F238E27FC236}">
                <a16:creationId xmlns:a16="http://schemas.microsoft.com/office/drawing/2014/main" id="{92D1FA5B-A107-460A-88B6-BC583FC8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媒体接受有损，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需要质量达标。</a:t>
            </a:r>
          </a:p>
        </p:txBody>
      </p:sp>
    </p:spTree>
    <p:extLst>
      <p:ext uri="{BB962C8B-B14F-4D97-AF65-F5344CB8AC3E}">
        <p14:creationId xmlns:p14="http://schemas.microsoft.com/office/powerpoint/2010/main" val="25897964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01DDBECD-FF91-4111-87F2-1A059F05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68B11D3-39AC-43FA-A62D-DD58AC9A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205AD3F-73EF-40B4-A822-28EEABF9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大小和信息要求，怎样同时满足？</a:t>
            </a:r>
          </a:p>
        </p:txBody>
      </p:sp>
      <p:sp>
        <p:nvSpPr>
          <p:cNvPr id="4" name="limit">
            <a:extLst xmlns:a="http://schemas.openxmlformats.org/drawingml/2006/main">
              <a:ext uri="{FF2B5EF4-FFF2-40B4-BE49-F238E27FC236}">
                <a16:creationId xmlns:a16="http://schemas.microsoft.com/office/drawing/2014/main" id="{4CB0044B-A42C-4A46-AFA0-609B639E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限额100 KiB；1 KiB = 1024 B。以下为题目给定结果。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5375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62375"/>
                <a:gridCol w="3762375"/>
              </a:tblGrid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任务（原120 KiB）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方案A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方案B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bytes须完整恢复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无损80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解压bytes一致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删改内容50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不能恢复原bytes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照片浏览，人物主题清楚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无损110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回读像素一致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有损70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人物主题仍清楚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ecision-prompt">
            <a:extLst xmlns:a="http://schemas.openxmlformats.org/drawingml/2006/main">
              <a:ext uri="{FF2B5EF4-FFF2-40B4-BE49-F238E27FC236}">
                <a16:creationId xmlns:a16="http://schemas.microsoft.com/office/drawing/2014/main" id="{DA77CC10-015C-443C-BDF3-4DFEB6D4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逐份选方案，并说明另一种为什么不合格。</a:t>
            </a:r>
          </a:p>
        </p:txBody>
      </p:sp>
    </p:spTree>
    <p:extLst>
      <p:ext uri="{BB962C8B-B14F-4D97-AF65-F5344CB8AC3E}">
        <p14:creationId xmlns:p14="http://schemas.microsoft.com/office/powerpoint/2010/main" val="32468485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01DDBECD-FF91-4111-87F2-1A059F05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68B11D3-39AC-43FA-A62D-DD58AC9A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205AD3F-73EF-40B4-A822-28EEABF9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大小和信息要求，怎样同时满足？</a:t>
            </a:r>
          </a:p>
        </p:txBody>
      </p:sp>
      <p:sp>
        <p:nvSpPr>
          <p:cNvPr id="4" name="limit">
            <a:extLst xmlns:a="http://schemas.openxmlformats.org/drawingml/2006/main">
              <a:ext uri="{FF2B5EF4-FFF2-40B4-BE49-F238E27FC236}">
                <a16:creationId xmlns:a16="http://schemas.microsoft.com/office/drawing/2014/main" id="{4CB0044B-A42C-4A46-AFA0-609B639E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限额100 KiB；1 KiB = 1024 B。以下为题目给定结果。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5375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62375"/>
                <a:gridCol w="3762375"/>
              </a:tblGrid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任务（原120 KiB）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方案A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方案B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bytes须完整恢复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无损80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解压bytes一致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删改内容50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不能恢复原bytes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照片浏览，人物主题清楚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无损110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回读像素一致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有损70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人物主题仍清楚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ecision-prompt">
            <a:extLst xmlns:a="http://schemas.openxmlformats.org/drawingml/2006/main">
              <a:ext uri="{FF2B5EF4-FFF2-40B4-BE49-F238E27FC236}">
                <a16:creationId xmlns:a16="http://schemas.microsoft.com/office/drawing/2014/main" id="{DA77CC10-015C-443C-BDF3-4DFEB6D4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逐份选方案，并说明另一种为什么不合格。</a:t>
            </a:r>
          </a:p>
        </p:txBody>
      </p:sp>
      <p:sp>
        <p:nvSpPr>
          <p:cNvPr id="7" name="choice-answer">
            <a:extLst xmlns:a="http://schemas.openxmlformats.org/drawingml/2006/main">
              <a:ext uri="{FF2B5EF4-FFF2-40B4-BE49-F238E27FC236}">
                <a16:creationId xmlns:a16="http://schemas.microsoft.com/office/drawing/2014/main" id="{28BF4115-0E3A-4A60-B955-FBEF51D1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源程序选A；照片浏览副本选B。两项要求都要满足。</a:t>
            </a:r>
          </a:p>
        </p:txBody>
      </p:sp>
    </p:spTree>
    <p:extLst>
      <p:ext uri="{BB962C8B-B14F-4D97-AF65-F5344CB8AC3E}">
        <p14:creationId xmlns:p14="http://schemas.microsoft.com/office/powerpoint/2010/main" val="32468485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op-rail">
            <a:extLst xmlns:a="http://schemas.openxmlformats.org/drawingml/2006/main">
              <a:ext uri="{FF2B5EF4-FFF2-40B4-BE49-F238E27FC236}">
                <a16:creationId xmlns:a16="http://schemas.microsoft.com/office/drawing/2014/main" id="{8B9D8A61-63C6-4318-A5F5-D0C5BDBA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4836FED-C777-42FE-8DA9-2411C9EA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E12FD41-31E4-448F-A663-C5307D1C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用完整知识树检查压缩方案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4B7D8B4D-3F4B-424D-9626-E4511BD3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</a:t>
            </a:r>
          </a:p>
        </p:txBody>
      </p:sp>
      <p:sp>
        <p:nvSpPr>
          <p:cNvPr id="5" name="tree-trunk-horizontal">
            <a:extLst xmlns:a="http://schemas.openxmlformats.org/drawingml/2006/main">
              <a:ext uri="{FF2B5EF4-FFF2-40B4-BE49-F238E27FC236}">
                <a16:creationId xmlns:a16="http://schemas.microsoft.com/office/drawing/2014/main" id="{D60DD84C-32F2-42B2-97E7-5836C95A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338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" name="tree-trunk">
            <a:extLst xmlns:a="http://schemas.openxmlformats.org/drawingml/2006/main">
              <a:ext uri="{FF2B5EF4-FFF2-40B4-BE49-F238E27FC236}">
                <a16:creationId xmlns:a16="http://schemas.microsoft.com/office/drawing/2014/main" id="{C41ABC4B-D25D-4BBD-9D27-8F61BBA8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24050"/>
            <a:ext cx="190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7" name="tree-branch-link-purpose">
            <a:extLst xmlns:a="http://schemas.openxmlformats.org/drawingml/2006/main">
              <a:ext uri="{FF2B5EF4-FFF2-40B4-BE49-F238E27FC236}">
                <a16:creationId xmlns:a16="http://schemas.microsoft.com/office/drawing/2014/main" id="{0DA34DBE-21DB-4F28-8E7F-EC6C012E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240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tree-branch-purpose">
            <a:extLst xmlns:a="http://schemas.openxmlformats.org/drawingml/2006/main">
              <a:ext uri="{FF2B5EF4-FFF2-40B4-BE49-F238E27FC236}">
                <a16:creationId xmlns:a16="http://schemas.microsoft.com/office/drawing/2014/main" id="{253E3BE6-794F-4056-81C4-7E3C8F17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526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为何压缩</a:t>
            </a:r>
          </a:p>
        </p:txBody>
      </p:sp>
      <p:sp>
        <p:nvSpPr>
          <p:cNvPr id="9" name="tree-branch-link-method">
            <a:extLst xmlns:a="http://schemas.openxmlformats.org/drawingml/2006/main">
              <a:ext uri="{FF2B5EF4-FFF2-40B4-BE49-F238E27FC236}">
                <a16:creationId xmlns:a16="http://schemas.microsoft.com/office/drawing/2014/main" id="{A2D04E7D-E484-4FB0-BB4F-077BD05D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527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" name="tree-branch-method">
            <a:extLst xmlns:a="http://schemas.openxmlformats.org/drawingml/2006/main">
              <a:ext uri="{FF2B5EF4-FFF2-40B4-BE49-F238E27FC236}">
                <a16:creationId xmlns:a16="http://schemas.microsoft.com/office/drawing/2014/main" id="{41865155-75C6-4264-B83F-58A3A817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13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怎样变小</a:t>
            </a:r>
          </a:p>
        </p:txBody>
      </p:sp>
      <p:sp>
        <p:nvSpPr>
          <p:cNvPr id="11" name="tree-branch-link-recovery">
            <a:extLst xmlns:a="http://schemas.openxmlformats.org/drawingml/2006/main">
              <a:ext uri="{FF2B5EF4-FFF2-40B4-BE49-F238E27FC236}">
                <a16:creationId xmlns:a16="http://schemas.microsoft.com/office/drawing/2014/main" id="{7D17524B-55D8-46A7-8F68-BFDA2D1E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1624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" name="tree-branch-recovery">
            <a:extLst xmlns:a="http://schemas.openxmlformats.org/drawingml/2006/main">
              <a:ext uri="{FF2B5EF4-FFF2-40B4-BE49-F238E27FC236}">
                <a16:creationId xmlns:a16="http://schemas.microsoft.com/office/drawing/2014/main" id="{167056C5-68E5-4151-B3CA-F9340689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909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能否恢复</a:t>
            </a:r>
          </a:p>
        </p:txBody>
      </p:sp>
      <p:sp>
        <p:nvSpPr>
          <p:cNvPr id="13" name="tree-branch-link-choice">
            <a:extLst xmlns:a="http://schemas.openxmlformats.org/drawingml/2006/main">
              <a:ext uri="{FF2B5EF4-FFF2-40B4-BE49-F238E27FC236}">
                <a16:creationId xmlns:a16="http://schemas.microsoft.com/office/drawing/2014/main" id="{953FA75F-37CB-4F2A-9E39-87869957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4959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4" name="tree-branch-choice">
            <a:extLst xmlns:a="http://schemas.openxmlformats.org/drawingml/2006/main">
              <a:ext uri="{FF2B5EF4-FFF2-40B4-BE49-F238E27FC236}">
                <a16:creationId xmlns:a16="http://schemas.microsoft.com/office/drawing/2014/main" id="{72ED29B8-198C-481F-BF13-2AE6AA22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244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怎样选择</a:t>
            </a:r>
          </a:p>
        </p:txBody>
      </p:sp>
      <p:sp>
        <p:nvSpPr>
          <p:cNvPr id="15" name="tree-leaf-space">
            <a:extLst xmlns:a="http://schemas.openxmlformats.org/drawingml/2006/main">
              <a:ext uri="{FF2B5EF4-FFF2-40B4-BE49-F238E27FC236}">
                <a16:creationId xmlns:a16="http://schemas.microsoft.com/office/drawing/2014/main" id="{33705414-E079-424B-8080-D68D2D07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811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特殊编码，减少存储／传输数据量</a:t>
            </a:r>
          </a:p>
        </p:txBody>
      </p:sp>
      <p:sp>
        <p:nvSpPr>
          <p:cNvPr id="16" name="tree-leaf-link-space">
            <a:extLst xmlns:a="http://schemas.openxmlformats.org/drawingml/2006/main">
              <a:ext uri="{FF2B5EF4-FFF2-40B4-BE49-F238E27FC236}">
                <a16:creationId xmlns:a16="http://schemas.microsoft.com/office/drawing/2014/main" id="{CC472E9D-C421-482A-95A7-3AD4A6C6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526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17" name="tree-leaf-limit">
            <a:extLst xmlns:a="http://schemas.openxmlformats.org/drawingml/2006/main">
              <a:ext uri="{FF2B5EF4-FFF2-40B4-BE49-F238E27FC236}">
                <a16:creationId xmlns:a16="http://schemas.microsoft.com/office/drawing/2014/main" id="{55CEDA1F-FDA8-43FE-B7B7-3BF3CF7F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31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效果取决于数据、方法与开销</a:t>
            </a:r>
          </a:p>
        </p:txBody>
      </p:sp>
      <p:sp>
        <p:nvSpPr>
          <p:cNvPr id="18" name="tree-leaf-link-limit">
            <a:extLst xmlns:a="http://schemas.openxmlformats.org/drawingml/2006/main">
              <a:ext uri="{FF2B5EF4-FFF2-40B4-BE49-F238E27FC236}">
                <a16:creationId xmlns:a16="http://schemas.microsoft.com/office/drawing/2014/main" id="{8DCD5CF8-D8BC-489A-82D2-2ACE7C4C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145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19" name="tree-leaf-repeat">
            <a:extLst xmlns:a="http://schemas.openxmlformats.org/drawingml/2006/main">
              <a:ext uri="{FF2B5EF4-FFF2-40B4-BE49-F238E27FC236}">
                <a16:creationId xmlns:a16="http://schemas.microsoft.com/office/drawing/2014/main" id="{66D2D48B-11C7-4563-9996-D413427E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193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去除冗余：连续重复写成次数</a:t>
            </a:r>
          </a:p>
        </p:txBody>
      </p:sp>
      <p:sp>
        <p:nvSpPr>
          <p:cNvPr id="20" name="tree-leaf-link-repeat">
            <a:extLst xmlns:a="http://schemas.openxmlformats.org/drawingml/2006/main">
              <a:ext uri="{FF2B5EF4-FFF2-40B4-BE49-F238E27FC236}">
                <a16:creationId xmlns:a16="http://schemas.microsoft.com/office/drawing/2014/main" id="{F50FA0D4-88D3-46EC-8CF6-0AF10526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908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1" name="tree-leaf-lossless">
            <a:extLst xmlns:a="http://schemas.openxmlformats.org/drawingml/2006/main">
              <a:ext uri="{FF2B5EF4-FFF2-40B4-BE49-F238E27FC236}">
                <a16:creationId xmlns:a16="http://schemas.microsoft.com/office/drawing/2014/main" id="{23BD5A45-4EDA-4471-B464-C276CDB0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100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无损：可完全恢复原始数据</a:t>
            </a:r>
          </a:p>
        </p:txBody>
      </p:sp>
      <p:sp>
        <p:nvSpPr>
          <p:cNvPr id="22" name="tree-leaf-link-lossless">
            <a:extLst xmlns:a="http://schemas.openxmlformats.org/drawingml/2006/main">
              <a:ext uri="{FF2B5EF4-FFF2-40B4-BE49-F238E27FC236}">
                <a16:creationId xmlns:a16="http://schemas.microsoft.com/office/drawing/2014/main" id="{D687783C-F32C-429B-AB21-087F7F6A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814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3" name="tree-stem-purpose">
            <a:extLst xmlns:a="http://schemas.openxmlformats.org/drawingml/2006/main">
              <a:ext uri="{FF2B5EF4-FFF2-40B4-BE49-F238E27FC236}">
                <a16:creationId xmlns:a16="http://schemas.microsoft.com/office/drawing/2014/main" id="{CF07365A-A803-48F3-AFB5-F963A3FF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4" name="tree-parent-link-purpose">
            <a:extLst xmlns:a="http://schemas.openxmlformats.org/drawingml/2006/main">
              <a:ext uri="{FF2B5EF4-FFF2-40B4-BE49-F238E27FC236}">
                <a16:creationId xmlns:a16="http://schemas.microsoft.com/office/drawing/2014/main" id="{213CCD3E-EDA7-4CAE-A500-2A54B4B8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2405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5" name="tree-stem-method">
            <a:extLst xmlns:a="http://schemas.openxmlformats.org/drawingml/2006/main">
              <a:ext uri="{FF2B5EF4-FFF2-40B4-BE49-F238E27FC236}">
                <a16:creationId xmlns:a16="http://schemas.microsoft.com/office/drawing/2014/main" id="{2BB8889E-E9D1-499C-976F-3E27332D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9080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6" name="tree-parent-link-method">
            <a:extLst xmlns:a="http://schemas.openxmlformats.org/drawingml/2006/main">
              <a:ext uri="{FF2B5EF4-FFF2-40B4-BE49-F238E27FC236}">
                <a16:creationId xmlns:a16="http://schemas.microsoft.com/office/drawing/2014/main" id="{7B9529BD-912C-43BA-BD51-8AE48715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95275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7" name="tree-stem-recovery">
            <a:extLst xmlns:a="http://schemas.openxmlformats.org/drawingml/2006/main">
              <a:ext uri="{FF2B5EF4-FFF2-40B4-BE49-F238E27FC236}">
                <a16:creationId xmlns:a16="http://schemas.microsoft.com/office/drawing/2014/main" id="{003E6D50-1933-4F32-805E-4DB9D1BE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814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8" name="tree-parent-link-recovery">
            <a:extLst xmlns:a="http://schemas.openxmlformats.org/drawingml/2006/main">
              <a:ext uri="{FF2B5EF4-FFF2-40B4-BE49-F238E27FC236}">
                <a16:creationId xmlns:a16="http://schemas.microsoft.com/office/drawing/2014/main" id="{CCB42D4E-1682-4DA5-960F-0BAC2AEE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162425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9" name="tree-leaf-correlation">
            <a:extLst xmlns:a="http://schemas.openxmlformats.org/drawingml/2006/main">
              <a:ext uri="{FF2B5EF4-FFF2-40B4-BE49-F238E27FC236}">
                <a16:creationId xmlns:a16="http://schemas.microsoft.com/office/drawing/2014/main" id="{E2D710A2-BBBE-4A46-880E-B9526D6E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利用相关：首值＋完整差值</a:t>
            </a:r>
          </a:p>
        </p:txBody>
      </p:sp>
      <p:sp>
        <p:nvSpPr>
          <p:cNvPr id="30" name="tree-leaf-link-correlation">
            <a:extLst xmlns:a="http://schemas.openxmlformats.org/drawingml/2006/main">
              <a:ext uri="{FF2B5EF4-FFF2-40B4-BE49-F238E27FC236}">
                <a16:creationId xmlns:a16="http://schemas.microsoft.com/office/drawing/2014/main" id="{69B2657F-F4E2-41D6-956F-BE658080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527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1" name="tree-leaf-perception">
            <a:extLst xmlns:a="http://schemas.openxmlformats.org/drawingml/2006/main">
              <a:ext uri="{FF2B5EF4-FFF2-40B4-BE49-F238E27FC236}">
                <a16:creationId xmlns:a16="http://schemas.microsoft.com/office/drawing/2014/main" id="{0C3D89EF-802F-45BB-A470-69308DCE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感知近似：舍弃不敏感的区分</a:t>
            </a:r>
          </a:p>
        </p:txBody>
      </p:sp>
      <p:sp>
        <p:nvSpPr>
          <p:cNvPr id="32" name="tree-leaf-link-perception">
            <a:extLst xmlns:a="http://schemas.openxmlformats.org/drawingml/2006/main">
              <a:ext uri="{FF2B5EF4-FFF2-40B4-BE49-F238E27FC236}">
                <a16:creationId xmlns:a16="http://schemas.microsoft.com/office/drawing/2014/main" id="{A4818AC0-D30B-403E-90C1-E07270AE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147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3" name="tree-leaf-lossy">
            <a:extLst xmlns:a="http://schemas.openxmlformats.org/drawingml/2006/main">
              <a:ext uri="{FF2B5EF4-FFF2-40B4-BE49-F238E27FC236}">
                <a16:creationId xmlns:a16="http://schemas.microsoft.com/office/drawing/2014/main" id="{71EE4AE0-64DE-43A3-9455-7FE0C9BC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719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有损：不能保证完全恢复</a:t>
            </a:r>
          </a:p>
        </p:txBody>
      </p:sp>
      <p:sp>
        <p:nvSpPr>
          <p:cNvPr id="34" name="tree-leaf-link-lossy">
            <a:extLst xmlns:a="http://schemas.openxmlformats.org/drawingml/2006/main">
              <a:ext uri="{FF2B5EF4-FFF2-40B4-BE49-F238E27FC236}">
                <a16:creationId xmlns:a16="http://schemas.microsoft.com/office/drawing/2014/main" id="{DCAD5CDE-4171-40F5-8A36-D256257B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434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5" name="tree-leaf-textcode">
            <a:extLst xmlns:a="http://schemas.openxmlformats.org/drawingml/2006/main">
              <a:ext uri="{FF2B5EF4-FFF2-40B4-BE49-F238E27FC236}">
                <a16:creationId xmlns:a16="http://schemas.microsoft.com/office/drawing/2014/main" id="{65F5238A-6BAF-4BAA-B8EF-A7FA3492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815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文本文档／程序：必须无损</a:t>
            </a:r>
          </a:p>
        </p:txBody>
      </p:sp>
      <p:sp>
        <p:nvSpPr>
          <p:cNvPr id="36" name="tree-leaf-link-textcode">
            <a:extLst xmlns:a="http://schemas.openxmlformats.org/drawingml/2006/main">
              <a:ext uri="{FF2B5EF4-FFF2-40B4-BE49-F238E27FC236}">
                <a16:creationId xmlns:a16="http://schemas.microsoft.com/office/drawing/2014/main" id="{4EBB4D7C-7E4D-45CF-983A-7B27FEBF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9530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7" name="tree-leaf-media">
            <a:extLst xmlns:a="http://schemas.openxmlformats.org/drawingml/2006/main">
              <a:ext uri="{FF2B5EF4-FFF2-40B4-BE49-F238E27FC236}">
                <a16:creationId xmlns:a16="http://schemas.microsoft.com/office/drawing/2014/main" id="{F0F108A6-1090-488C-964C-C562DA68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媒体：所需主要信息仍可获取</a:t>
            </a:r>
          </a:p>
        </p:txBody>
      </p:sp>
      <p:sp>
        <p:nvSpPr>
          <p:cNvPr id="38" name="tree-leaf-link-media">
            <a:extLst xmlns:a="http://schemas.openxmlformats.org/drawingml/2006/main">
              <a:ext uri="{FF2B5EF4-FFF2-40B4-BE49-F238E27FC236}">
                <a16:creationId xmlns:a16="http://schemas.microsoft.com/office/drawing/2014/main" id="{019A0BF6-9141-42A7-A8AB-AFE8F67A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3149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9" name="tree-leaf-format">
            <a:extLst xmlns:a="http://schemas.openxmlformats.org/drawingml/2006/main">
              <a:ext uri="{FF2B5EF4-FFF2-40B4-BE49-F238E27FC236}">
                <a16:creationId xmlns:a16="http://schemas.microsoft.com/office/drawing/2014/main" id="{2C71F45B-A8C5-4D4A-99D2-BC3CDBC0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054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格式名不足；TIF须查具体编码</a:t>
            </a:r>
          </a:p>
        </p:txBody>
      </p:sp>
      <p:sp>
        <p:nvSpPr>
          <p:cNvPr id="40" name="tree-leaf-link-format">
            <a:extLst xmlns:a="http://schemas.openxmlformats.org/drawingml/2006/main">
              <a:ext uri="{FF2B5EF4-FFF2-40B4-BE49-F238E27FC236}">
                <a16:creationId xmlns:a16="http://schemas.microsoft.com/office/drawing/2014/main" id="{D5ACB0E9-FDBF-4A0B-8E9A-FE323B79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6769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41" name="tree-stem-choice">
            <a:extLst xmlns:a="http://schemas.openxmlformats.org/drawingml/2006/main">
              <a:ext uri="{FF2B5EF4-FFF2-40B4-BE49-F238E27FC236}">
                <a16:creationId xmlns:a16="http://schemas.microsoft.com/office/drawing/2014/main" id="{729C4952-825D-4B1C-9A5E-2621782A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53000"/>
            <a:ext cx="19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42" name="tree-parent-link-choice">
            <a:extLst xmlns:a="http://schemas.openxmlformats.org/drawingml/2006/main">
              <a:ext uri="{FF2B5EF4-FFF2-40B4-BE49-F238E27FC236}">
                <a16:creationId xmlns:a16="http://schemas.microsoft.com/office/drawing/2014/main" id="{B797D2F8-BA1B-40EB-8778-D3925373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495925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43" name="tree-leaf-both">
            <a:extLst xmlns:a="http://schemas.openxmlformats.org/drawingml/2006/main">
              <a:ext uri="{FF2B5EF4-FFF2-40B4-BE49-F238E27FC236}">
                <a16:creationId xmlns:a16="http://schemas.microsoft.com/office/drawing/2014/main" id="{2E402341-DFD7-4A5C-A36F-13D2F3CB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8674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大小、信息要求都要满足</a:t>
            </a:r>
          </a:p>
        </p:txBody>
      </p:sp>
      <p:sp>
        <p:nvSpPr>
          <p:cNvPr id="44" name="tree-leaf-link-both">
            <a:extLst xmlns:a="http://schemas.openxmlformats.org/drawingml/2006/main">
              <a:ext uri="{FF2B5EF4-FFF2-40B4-BE49-F238E27FC236}">
                <a16:creationId xmlns:a16="http://schemas.microsoft.com/office/drawing/2014/main" id="{D35A1CD9-F401-474A-9A11-40E3B64E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45" name="tree-focus-choice">
            <a:extLst xmlns:a="http://schemas.openxmlformats.org/drawingml/2006/main">
              <a:ext uri="{FF2B5EF4-FFF2-40B4-BE49-F238E27FC236}">
                <a16:creationId xmlns:a16="http://schemas.microsoft.com/office/drawing/2014/main" id="{CC983AAA-E78E-45D1-8551-D7413B8C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886450"/>
            <a:ext cx="5629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46" name="tree-summary">
            <a:extLst xmlns:a="http://schemas.openxmlformats.org/drawingml/2006/main">
              <a:ext uri="{FF2B5EF4-FFF2-40B4-BE49-F238E27FC236}">
                <a16:creationId xmlns:a16="http://schemas.microsoft.com/office/drawing/2014/main" id="{7F271E00-468C-4A89-A178-A23910AB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大小和信息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两项要求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都要满足。</a:t>
            </a:r>
          </a:p>
        </p:txBody>
      </p:sp>
    </p:spTree>
    <p:extLst>
      <p:ext uri="{BB962C8B-B14F-4D97-AF65-F5344CB8AC3E}">
        <p14:creationId xmlns:p14="http://schemas.microsoft.com/office/powerpoint/2010/main" val="25897964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BF37DE19-C4AB-478B-AC25-AAA012B5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99EB870-83C5-4ADA-83FD-F5FD5BC9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76754EC-854D-4E74-A945-B4C3529D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用两句话检查自己的判断</a:t>
            </a:r>
          </a:p>
        </p:txBody>
      </p:sp>
      <p:sp>
        <p:nvSpPr>
          <p:cNvPr id="4" name="exit-task">
            <a:extLst xmlns:a="http://schemas.openxmlformats.org/drawingml/2006/main">
              <a:ext uri="{FF2B5EF4-FFF2-40B4-BE49-F238E27FC236}">
                <a16:creationId xmlns:a16="http://schemas.microsoft.com/office/drawing/2014/main" id="{A443F4AA-7BB1-4797-BBB9-0266C7C4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独立写40秒：</a:t>
            </a:r>
          </a:p>
        </p:txBody>
      </p:sp>
      <p:sp>
        <p:nvSpPr>
          <p:cNvPr id="5" name="exit-one">
            <a:extLst xmlns:a="http://schemas.openxmlformats.org/drawingml/2006/main">
              <a:ext uri="{FF2B5EF4-FFF2-40B4-BE49-F238E27FC236}">
                <a16:creationId xmlns:a16="http://schemas.microsoft.com/office/drawing/2014/main" id="{8AEA372A-D57E-4FE6-A53C-BB5DF12A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无损判断要比较 ______ 与 ______。</a:t>
            </a:r>
          </a:p>
        </p:txBody>
      </p:sp>
      <p:sp>
        <p:nvSpPr>
          <p:cNvPr id="6" name="exit-two">
            <a:extLst xmlns:a="http://schemas.openxmlformats.org/drawingml/2006/main">
              <a:ext uri="{FF2B5EF4-FFF2-40B4-BE49-F238E27FC236}">
                <a16:creationId xmlns:a16="http://schemas.microsoft.com/office/drawing/2014/main" id="{8BF47DB4-2763-4DB3-8D9C-5240F04E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照片看不出变化仍可能有损，因为 ______。</a:t>
            </a:r>
          </a:p>
        </p:txBody>
      </p:sp>
    </p:spTree>
    <p:extLst>
      <p:ext uri="{BB962C8B-B14F-4D97-AF65-F5344CB8AC3E}">
        <p14:creationId xmlns:p14="http://schemas.microsoft.com/office/powerpoint/2010/main" val="165480405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BF37DE19-C4AB-478B-AC25-AAA012B5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99EB870-83C5-4ADA-83FD-F5FD5BC9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76754EC-854D-4E74-A945-B4C3529D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用两句话检查自己的判断</a:t>
            </a:r>
          </a:p>
        </p:txBody>
      </p:sp>
      <p:sp>
        <p:nvSpPr>
          <p:cNvPr id="4" name="exit-task">
            <a:extLst xmlns:a="http://schemas.openxmlformats.org/drawingml/2006/main">
              <a:ext uri="{FF2B5EF4-FFF2-40B4-BE49-F238E27FC236}">
                <a16:creationId xmlns:a16="http://schemas.microsoft.com/office/drawing/2014/main" id="{A443F4AA-7BB1-4797-BBB9-0266C7C4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独立写40秒：</a:t>
            </a:r>
          </a:p>
        </p:txBody>
      </p:sp>
      <p:sp>
        <p:nvSpPr>
          <p:cNvPr id="5" name="exit-one">
            <a:extLst xmlns:a="http://schemas.openxmlformats.org/drawingml/2006/main">
              <a:ext uri="{FF2B5EF4-FFF2-40B4-BE49-F238E27FC236}">
                <a16:creationId xmlns:a16="http://schemas.microsoft.com/office/drawing/2014/main" id="{8AEA372A-D57E-4FE6-A53C-BB5DF12A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无损判断要比较 ______ 与 ______。</a:t>
            </a:r>
          </a:p>
        </p:txBody>
      </p:sp>
      <p:sp>
        <p:nvSpPr>
          <p:cNvPr id="6" name="exit-two">
            <a:extLst xmlns:a="http://schemas.openxmlformats.org/drawingml/2006/main">
              <a:ext uri="{FF2B5EF4-FFF2-40B4-BE49-F238E27FC236}">
                <a16:creationId xmlns:a16="http://schemas.microsoft.com/office/drawing/2014/main" id="{8BF47DB4-2763-4DB3-8D9C-5240F04E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照片看不出变化仍可能有损，因为 ______。</a:t>
            </a:r>
          </a:p>
        </p:txBody>
      </p:sp>
      <p:sp>
        <p:nvSpPr>
          <p:cNvPr id="7" name="exit-answer-one">
            <a:extLst xmlns:a="http://schemas.openxmlformats.org/drawingml/2006/main">
              <a:ext uri="{FF2B5EF4-FFF2-40B4-BE49-F238E27FC236}">
                <a16:creationId xmlns:a16="http://schemas.microsoft.com/office/drawing/2014/main" id="{68A068EC-45E0-40C1-84B1-E7561EEC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解压结果 与 原始输入</a:t>
            </a:r>
          </a:p>
        </p:txBody>
      </p:sp>
      <p:sp>
        <p:nvSpPr>
          <p:cNvPr id="8" name="exit-answer-two">
            <a:extLst xmlns:a="http://schemas.openxmlformats.org/drawingml/2006/main">
              <a:ext uri="{FF2B5EF4-FFF2-40B4-BE49-F238E27FC236}">
                <a16:creationId xmlns:a16="http://schemas.microsoft.com/office/drawing/2014/main" id="{4D22DAD1-A88F-40C8-8B58-EFF4B4D6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感知相似，不能证明每个原值都相同。</a:t>
            </a:r>
          </a:p>
        </p:txBody>
      </p:sp>
    </p:spTree>
    <p:extLst>
      <p:ext uri="{BB962C8B-B14F-4D97-AF65-F5344CB8AC3E}">
        <p14:creationId xmlns:p14="http://schemas.microsoft.com/office/powerpoint/2010/main" val="16548040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2026-10-01T02:41:08.4400000Z</dcterms:created>
  <dcterms:modified xsi:type="dcterms:W3CDTF">2026-10-01T02:41:08.4400000Z</dcterms:modified>
</coreProperties>
</file>
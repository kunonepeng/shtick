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3def269084959" /><Relationship Type="http://schemas.openxmlformats.org/officeDocument/2006/relationships/extended-properties" Target="/docProps/app.xml" Id="Ra86577a79fac4f8b" /><Relationship Type="http://schemas.openxmlformats.org/officeDocument/2006/relationships/officeDocument" Target="/ppt/presentation.xml" Id="Rb61ce97bc95b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d4ef8e8c88427f"/>
  </p:sldMasterIdLst>
  <p:notesMasterIdLst>
    <p:notesMasterId xmlns:r="http://schemas.openxmlformats.org/officeDocument/2006/relationships" r:id="R532e56b0c4684fd2"/>
  </p:notesMasterIdLst>
  <p:sldIdLst>
    <p:sldId xmlns:r="http://schemas.openxmlformats.org/officeDocument/2006/relationships" id="256" r:id="R6842b09c6e7b4ebb"/>
    <p:sldId xmlns:r="http://schemas.openxmlformats.org/officeDocument/2006/relationships" id="257" r:id="R8c3877e96c124752"/>
    <p:sldId xmlns:r="http://schemas.openxmlformats.org/officeDocument/2006/relationships" id="258" r:id="R571963875de64ec6"/>
    <p:sldId xmlns:r="http://schemas.openxmlformats.org/officeDocument/2006/relationships" id="259" r:id="R285c01a0fe95411a"/>
    <p:sldId xmlns:r="http://schemas.openxmlformats.org/officeDocument/2006/relationships" id="260" r:id="Rb3835b620d584b91"/>
    <p:sldId xmlns:r="http://schemas.openxmlformats.org/officeDocument/2006/relationships" id="261" r:id="R95fd9f6d0e4e4779"/>
    <p:sldId xmlns:r="http://schemas.openxmlformats.org/officeDocument/2006/relationships" id="262" r:id="Rcb841379b01b4bcf"/>
    <p:sldId xmlns:r="http://schemas.openxmlformats.org/officeDocument/2006/relationships" id="263" r:id="R9a9bae5ef4024ee0"/>
    <p:sldId xmlns:r="http://schemas.openxmlformats.org/officeDocument/2006/relationships" id="264" r:id="Rb12f0ebcb39e4145"/>
    <p:sldId xmlns:r="http://schemas.openxmlformats.org/officeDocument/2006/relationships" id="265" r:id="Ra66b105266624994"/>
    <p:sldId xmlns:r="http://schemas.openxmlformats.org/officeDocument/2006/relationships" id="266" r:id="R755bc067cd5245b8"/>
    <p:sldId xmlns:r="http://schemas.openxmlformats.org/officeDocument/2006/relationships" id="267" r:id="Rc27a3557ff204e72"/>
    <p:sldId xmlns:r="http://schemas.openxmlformats.org/officeDocument/2006/relationships" id="268" r:id="Rf55845902b534fc1"/>
    <p:sldId xmlns:r="http://schemas.openxmlformats.org/officeDocument/2006/relationships" id="269" r:id="R1950a176f6e24bd2"/>
    <p:sldId xmlns:r="http://schemas.openxmlformats.org/officeDocument/2006/relationships" id="270" r:id="R6be0ba038faf42ae"/>
    <p:sldId xmlns:r="http://schemas.openxmlformats.org/officeDocument/2006/relationships" id="271" r:id="Rc14cce85ae75433d"/>
    <p:sldId xmlns:r="http://schemas.openxmlformats.org/officeDocument/2006/relationships" id="272" r:id="R85036d70a07545b7"/>
    <p:sldId xmlns:r="http://schemas.openxmlformats.org/officeDocument/2006/relationships" id="273" r:id="R4067ed4debb14ea4"/>
    <p:sldId xmlns:r="http://schemas.openxmlformats.org/officeDocument/2006/relationships" id="274" r:id="R289ce987de954906"/>
    <p:sldId xmlns:r="http://schemas.openxmlformats.org/officeDocument/2006/relationships" id="275" r:id="R70f4d5d5891846e4"/>
    <p:sldId xmlns:r="http://schemas.openxmlformats.org/officeDocument/2006/relationships" id="276" r:id="R731fbc8692cf43f9"/>
    <p:sldId xmlns:r="http://schemas.openxmlformats.org/officeDocument/2006/relationships" id="277" r:id="R769a2a07f73c47f6"/>
    <p:sldId xmlns:r="http://schemas.openxmlformats.org/officeDocument/2006/relationships" id="278" r:id="Rdb6bd5250e9e49d6"/>
    <p:sldId xmlns:r="http://schemas.openxmlformats.org/officeDocument/2006/relationships" id="279" r:id="R86633e5c320e4149"/>
    <p:sldId xmlns:r="http://schemas.openxmlformats.org/officeDocument/2006/relationships" id="280" r:id="R00663ea43c004bef"/>
    <p:sldId xmlns:r="http://schemas.openxmlformats.org/officeDocument/2006/relationships" id="281" r:id="R9bf5c15447224dbb"/>
    <p:sldId xmlns:r="http://schemas.openxmlformats.org/officeDocument/2006/relationships" id="282" r:id="R77e3fdf1f3c34f9e"/>
    <p:sldId xmlns:r="http://schemas.openxmlformats.org/officeDocument/2006/relationships" id="283" r:id="R3a8739f56af34c5b"/>
    <p:sldId xmlns:r="http://schemas.openxmlformats.org/officeDocument/2006/relationships" id="284" r:id="Rb33c5d7ca6dd4be1"/>
    <p:sldId xmlns:r="http://schemas.openxmlformats.org/officeDocument/2006/relationships" id="285" r:id="R0fa87b8ccfa9413e"/>
    <p:sldId xmlns:r="http://schemas.openxmlformats.org/officeDocument/2006/relationships" id="286" r:id="Rfda445790396438a"/>
    <p:sldId xmlns:r="http://schemas.openxmlformats.org/officeDocument/2006/relationships" id="287" r:id="R033baa099de540ef"/>
    <p:sldId xmlns:r="http://schemas.openxmlformats.org/officeDocument/2006/relationships" id="288" r:id="R32a9e6515bd04fd8"/>
    <p:sldId xmlns:r="http://schemas.openxmlformats.org/officeDocument/2006/relationships" id="289" r:id="R02da073ecac24c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92a1caa1e147c4" /><Relationship Type="http://schemas.openxmlformats.org/officeDocument/2006/relationships/slideMaster" Target="/ppt/slideMasters/slideMaster1.xml" Id="Rf8d4ef8e8c88427f" /><Relationship Type="http://schemas.openxmlformats.org/officeDocument/2006/relationships/notesMaster" Target="/ppt/notesMasters/notesMaster1.xml" Id="R532e56b0c4684fd2" /><Relationship Type="http://schemas.openxmlformats.org/officeDocument/2006/relationships/presProps" Target="/ppt/presProps.xml" Id="R35a6b2b7a0e8453e" /><Relationship Type="http://schemas.openxmlformats.org/officeDocument/2006/relationships/tableStyles" Target="/ppt/tableStyles.xml" Id="R9406e94a2c2e4e3b" /><Relationship Type="http://schemas.openxmlformats.org/officeDocument/2006/relationships/slide" Target="/ppt/slides/slide1.xml" Id="R6842b09c6e7b4ebb" /><Relationship Type="http://schemas.openxmlformats.org/officeDocument/2006/relationships/slide" Target="/ppt/slides/slide2.xml" Id="R8c3877e96c124752" /><Relationship Type="http://schemas.openxmlformats.org/officeDocument/2006/relationships/slide" Target="/ppt/slides/slide3.xml" Id="R571963875de64ec6" /><Relationship Type="http://schemas.openxmlformats.org/officeDocument/2006/relationships/slide" Target="/ppt/slides/slide4.xml" Id="R285c01a0fe95411a" /><Relationship Type="http://schemas.openxmlformats.org/officeDocument/2006/relationships/slide" Target="/ppt/slides/slide5.xml" Id="Rb3835b620d584b91" /><Relationship Type="http://schemas.openxmlformats.org/officeDocument/2006/relationships/slide" Target="/ppt/slides/slide6.xml" Id="R95fd9f6d0e4e4779" /><Relationship Type="http://schemas.openxmlformats.org/officeDocument/2006/relationships/slide" Target="/ppt/slides/slide7.xml" Id="Rcb841379b01b4bcf" /><Relationship Type="http://schemas.openxmlformats.org/officeDocument/2006/relationships/slide" Target="/ppt/slides/slide8.xml" Id="R9a9bae5ef4024ee0" /><Relationship Type="http://schemas.openxmlformats.org/officeDocument/2006/relationships/slide" Target="/ppt/slides/slide9.xml" Id="Rb12f0ebcb39e4145" /><Relationship Type="http://schemas.openxmlformats.org/officeDocument/2006/relationships/slide" Target="/ppt/slides/slide10.xml" Id="Ra66b105266624994" /><Relationship Type="http://schemas.openxmlformats.org/officeDocument/2006/relationships/slide" Target="/ppt/slides/slide11.xml" Id="R755bc067cd5245b8" /><Relationship Type="http://schemas.openxmlformats.org/officeDocument/2006/relationships/slide" Target="/ppt/slides/slide12.xml" Id="Rc27a3557ff204e72" /><Relationship Type="http://schemas.openxmlformats.org/officeDocument/2006/relationships/slide" Target="/ppt/slides/slide13.xml" Id="Rf55845902b534fc1" /><Relationship Type="http://schemas.openxmlformats.org/officeDocument/2006/relationships/slide" Target="/ppt/slides/slide14.xml" Id="R1950a176f6e24bd2" /><Relationship Type="http://schemas.openxmlformats.org/officeDocument/2006/relationships/slide" Target="/ppt/slides/slide15.xml" Id="R6be0ba038faf42ae" /><Relationship Type="http://schemas.openxmlformats.org/officeDocument/2006/relationships/slide" Target="/ppt/slides/slide16.xml" Id="Rc14cce85ae75433d" /><Relationship Type="http://schemas.openxmlformats.org/officeDocument/2006/relationships/slide" Target="/ppt/slides/slide17.xml" Id="R85036d70a07545b7" /><Relationship Type="http://schemas.openxmlformats.org/officeDocument/2006/relationships/slide" Target="/ppt/slides/slide18.xml" Id="R4067ed4debb14ea4" /><Relationship Type="http://schemas.openxmlformats.org/officeDocument/2006/relationships/slide" Target="/ppt/slides/slide19.xml" Id="R289ce987de954906" /><Relationship Type="http://schemas.openxmlformats.org/officeDocument/2006/relationships/slide" Target="/ppt/slides/slide20.xml" Id="R70f4d5d5891846e4" /><Relationship Type="http://schemas.openxmlformats.org/officeDocument/2006/relationships/slide" Target="/ppt/slides/slide21.xml" Id="R731fbc8692cf43f9" /><Relationship Type="http://schemas.openxmlformats.org/officeDocument/2006/relationships/slide" Target="/ppt/slides/slide22.xml" Id="R769a2a07f73c47f6" /><Relationship Type="http://schemas.openxmlformats.org/officeDocument/2006/relationships/slide" Target="/ppt/slides/slide23.xml" Id="Rdb6bd5250e9e49d6" /><Relationship Type="http://schemas.openxmlformats.org/officeDocument/2006/relationships/slide" Target="/ppt/slides/slide24.xml" Id="R86633e5c320e4149" /><Relationship Type="http://schemas.openxmlformats.org/officeDocument/2006/relationships/slide" Target="/ppt/slides/slide25.xml" Id="R00663ea43c004bef" /><Relationship Type="http://schemas.openxmlformats.org/officeDocument/2006/relationships/slide" Target="/ppt/slides/slide26.xml" Id="R9bf5c15447224dbb" /><Relationship Type="http://schemas.openxmlformats.org/officeDocument/2006/relationships/slide" Target="/ppt/slides/slide27.xml" Id="R77e3fdf1f3c34f9e" /><Relationship Type="http://schemas.openxmlformats.org/officeDocument/2006/relationships/slide" Target="/ppt/slides/slide28.xml" Id="R3a8739f56af34c5b" /><Relationship Type="http://schemas.openxmlformats.org/officeDocument/2006/relationships/slide" Target="/ppt/slides/slide29.xml" Id="Rb33c5d7ca6dd4be1" /><Relationship Type="http://schemas.openxmlformats.org/officeDocument/2006/relationships/slide" Target="/ppt/slides/slide30.xml" Id="R0fa87b8ccfa9413e" /><Relationship Type="http://schemas.openxmlformats.org/officeDocument/2006/relationships/slide" Target="/ppt/slides/slide31.xml" Id="Rfda445790396438a" /><Relationship Type="http://schemas.openxmlformats.org/officeDocument/2006/relationships/slide" Target="/ppt/slides/slide32.xml" Id="R033baa099de540ef" /><Relationship Type="http://schemas.openxmlformats.org/officeDocument/2006/relationships/slide" Target="/ppt/slides/slide33.xml" Id="R32a9e6515bd04fd8" /><Relationship Type="http://schemas.openxmlformats.org/officeDocument/2006/relationships/slide" Target="/ppt/slides/slide34.xml" Id="R02da073ecac24c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f9df3f8914a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45800bd83b411b" /><Relationship Type="http://schemas.openxmlformats.org/officeDocument/2006/relationships/notesMaster" Target="/ppt/notesMasters/notesMaster1.xml" Id="R8e48d2945f4046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90d0a6601343da" /><Relationship Type="http://schemas.openxmlformats.org/officeDocument/2006/relationships/notesMaster" Target="/ppt/notesMasters/notesMaster1.xml" Id="Ra31e40bc792f4f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cbc30dc7c14e66" /><Relationship Type="http://schemas.openxmlformats.org/officeDocument/2006/relationships/notesMaster" Target="/ppt/notesMasters/notesMaster1.xml" Id="R9b9fe66ac05b48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5bc1c202754278" /><Relationship Type="http://schemas.openxmlformats.org/officeDocument/2006/relationships/notesMaster" Target="/ppt/notesMasters/notesMaster1.xml" Id="R110630b8a70d48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9e29569fec472a" /><Relationship Type="http://schemas.openxmlformats.org/officeDocument/2006/relationships/notesMaster" Target="/ppt/notesMasters/notesMaster1.xml" Id="R596089befe68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12190a103b46a8" /><Relationship Type="http://schemas.openxmlformats.org/officeDocument/2006/relationships/notesMaster" Target="/ppt/notesMasters/notesMaster1.xml" Id="Rfe9740028ac645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e85b0394ad4afe" /><Relationship Type="http://schemas.openxmlformats.org/officeDocument/2006/relationships/notesMaster" Target="/ppt/notesMasters/notesMaster1.xml" Id="R0e9aeeef4b1843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cd351cb57f4c8e" /><Relationship Type="http://schemas.openxmlformats.org/officeDocument/2006/relationships/notesMaster" Target="/ppt/notesMasters/notesMaster1.xml" Id="R706ad3f15b0b48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5c3cb81dd14916" /><Relationship Type="http://schemas.openxmlformats.org/officeDocument/2006/relationships/notesMaster" Target="/ppt/notesMasters/notesMaster1.xml" Id="R40dc9d72d1984b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9bb92e9e744192" /><Relationship Type="http://schemas.openxmlformats.org/officeDocument/2006/relationships/notesMaster" Target="/ppt/notesMasters/notesMaster1.xml" Id="R8de29108d24142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b478c9823346bf" /><Relationship Type="http://schemas.openxmlformats.org/officeDocument/2006/relationships/notesMaster" Target="/ppt/notesMasters/notesMaster1.xml" Id="Rc340edb1a70f47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4d335e30574f27" /><Relationship Type="http://schemas.openxmlformats.org/officeDocument/2006/relationships/notesMaster" Target="/ppt/notesMasters/notesMaster1.xml" Id="Rc4e34e0c8a8645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ec55b496f44ca4" /><Relationship Type="http://schemas.openxmlformats.org/officeDocument/2006/relationships/notesMaster" Target="/ppt/notesMasters/notesMaster1.xml" Id="Rc29d890b866643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ce956011af4129" /><Relationship Type="http://schemas.openxmlformats.org/officeDocument/2006/relationships/notesMaster" Target="/ppt/notesMasters/notesMaster1.xml" Id="R7417dca314de41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b00db3fb804ba2" /><Relationship Type="http://schemas.openxmlformats.org/officeDocument/2006/relationships/notesMaster" Target="/ppt/notesMasters/notesMaster1.xml" Id="R4f3f7d4a6c8148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a862b36d3e455f" /><Relationship Type="http://schemas.openxmlformats.org/officeDocument/2006/relationships/notesMaster" Target="/ppt/notesMasters/notesMaster1.xml" Id="Rdda0706b5fd446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42d38c8e084ad3" /><Relationship Type="http://schemas.openxmlformats.org/officeDocument/2006/relationships/notesMaster" Target="/ppt/notesMasters/notesMaster1.xml" Id="R8ea0c7c0b32842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063a7cc7ac4ef0" /><Relationship Type="http://schemas.openxmlformats.org/officeDocument/2006/relationships/notesMaster" Target="/ppt/notesMasters/notesMaster1.xml" Id="R57578df2f5c645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5979bc200b43e4" /><Relationship Type="http://schemas.openxmlformats.org/officeDocument/2006/relationships/notesMaster" Target="/ppt/notesMasters/notesMaster1.xml" Id="R905a9ec21f6e42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65a3ff12894d13" /><Relationship Type="http://schemas.openxmlformats.org/officeDocument/2006/relationships/notesMaster" Target="/ppt/notesMasters/notesMaster1.xml" Id="R77b25f58470649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da35f527114cc3" /><Relationship Type="http://schemas.openxmlformats.org/officeDocument/2006/relationships/notesMaster" Target="/ppt/notesMasters/notesMaster1.xml" Id="Rd2766bd7a27a4a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1c2b7e8c8d4891" /><Relationship Type="http://schemas.openxmlformats.org/officeDocument/2006/relationships/notesMaster" Target="/ppt/notesMasters/notesMaster1.xml" Id="R9ca0d2e1dd5541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567335dc1d4a05" /><Relationship Type="http://schemas.openxmlformats.org/officeDocument/2006/relationships/notesMaster" Target="/ppt/notesMasters/notesMaster1.xml" Id="R77de6f65cc8c4f2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c1e3e25960b45be" /><Relationship Type="http://schemas.openxmlformats.org/officeDocument/2006/relationships/notesMaster" Target="/ppt/notesMasters/notesMaster1.xml" Id="R6f6d5a56d0e349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3e7004278b471e" /><Relationship Type="http://schemas.openxmlformats.org/officeDocument/2006/relationships/notesMaster" Target="/ppt/notesMasters/notesMaster1.xml" Id="R959bf87b294b40c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ee9cce426044e07" /><Relationship Type="http://schemas.openxmlformats.org/officeDocument/2006/relationships/notesMaster" Target="/ppt/notesMasters/notesMaster1.xml" Id="R7fd581276b69444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1bf172c75c24d9a" /><Relationship Type="http://schemas.openxmlformats.org/officeDocument/2006/relationships/notesMaster" Target="/ppt/notesMasters/notesMaster1.xml" Id="R2c7c5f8a98e244e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7a00915d7a64eff" /><Relationship Type="http://schemas.openxmlformats.org/officeDocument/2006/relationships/notesMaster" Target="/ppt/notesMasters/notesMaster1.xml" Id="R3c488e64aef14b5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9e418b4c2934ee1" /><Relationship Type="http://schemas.openxmlformats.org/officeDocument/2006/relationships/notesMaster" Target="/ppt/notesMasters/notesMaster1.xml" Id="R7358b8ff6df748e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8a284700fe94020" /><Relationship Type="http://schemas.openxmlformats.org/officeDocument/2006/relationships/notesMaster" Target="/ppt/notesMasters/notesMaster1.xml" Id="R51524b8e2aca49d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a77846065ba468c" /><Relationship Type="http://schemas.openxmlformats.org/officeDocument/2006/relationships/notesMaster" Target="/ppt/notesMasters/notesMaster1.xml" Id="Rd45678d5737448e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17ef73398be4629" /><Relationship Type="http://schemas.openxmlformats.org/officeDocument/2006/relationships/notesMaster" Target="/ppt/notesMasters/notesMaster1.xml" Id="R0c78baae844c4d9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e7fed5d1714b89" /><Relationship Type="http://schemas.openxmlformats.org/officeDocument/2006/relationships/notesMaster" Target="/ppt/notesMasters/notesMaster1.xml" Id="Re5e6d8153f7247a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9946cd766bf44f6" /><Relationship Type="http://schemas.openxmlformats.org/officeDocument/2006/relationships/notesMaster" Target="/ppt/notesMasters/notesMaster1.xml" Id="Re74821bde11c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开场：从文件大小提出问题</a:t>
            </a:r>
          </a:p>
          <a:p xmlns:a="http://schemas.openxmlformats.org/drawingml/2006/main">
            <a:r>
              <a:t>[内部编号] 收束 · 开场：从文件大小提出问题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前面算过数据需要多少空间。今天先看一个反常现象：文件一下小了很多，图却还能还原。请保留你的第一反应，后面我们用数据来检查。先不要背定义。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这节课要弄清四件事</a:t>
            </a:r>
          </a:p>
          <a:p xmlns:a="http://schemas.openxmlformats.org/drawingml/2006/main">
            <a:r>
              <a:t>[内部编号] 收束 · 这节课要弄清四件事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只看四条主枝，先预测文件变小会不会丢内容。先留八秒请一位同学归纳，再用红框核对刚学到的节点。先保留四个问题，学到哪里就补到哪里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知识树阶段0；opening之后显示。本页不提前公布后续叶节点。阶段0用20秒；阶段1至3各30秒；终图30秒。全部计入原有Q1、Q4、Q7、Q9、Q10预算。红框仅标本次新学节点。具体格式的用途与边界回看Q9表。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同一幅64×64颜色图，A有4096个bytes，B是用A编码得到的，只有38个bytes。先写一个猜测：变小以后，哪些内容可能发生变化？说出你想检查什么。先不给答案。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现在把B读回图像。你看到少了哪一块吗？看上去一样，还不够证明每一个数都相同。我们先找一种能变短又能画回的规则，第三问再检查所有bytes。</a:t>
            </a:r>
          </a:p>
          <a:p xmlns:a="http://schemas.openxmlformats.org/drawingml/2006/main">
            <a:r>
              <a:t>[教师提示] 64×64与码表预先约定；这是颜色编号数据，不冒充PNG。38B是随包记录，现场大小若不同以实际输出为准。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这次只看16个颜色。怎样少写一些，又让同桌恢复原来的顺序和数量？发送者看折叠卡，接收者先不看原串。给你们60秒写规则与短消息，30秒画回，再展开卡核对。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先听你们的规则。红绿蓝三个字能找回多少个吗？这一种保留了颜色、连续次数和段的顺序。红8代表连续8个红，不是全图所有红的总数。它把重复展开的依据留了下来。</a:t>
            </a:r>
          </a:p>
          <a:p xmlns:a="http://schemas.openxmlformats.org/drawingml/2006/main">
            <a:r>
              <a:t>[教师提示] 私有变体只给发送者，接收者先画回再展开原卡。写8红5绿3蓝也可，不因格式不同判错。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接收者说已经恢复了，你准备怎样检查？先提出方法，再动手对比下面两行。不要只说长度一样。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把两行按位置对齐。第9个位置原来是绿，待查却是蓝。两串都是16格，也可能有一个数不同。现在回到开场，比较的应是解压结果与原输入。</a:t>
            </a:r>
          </a:p>
          <a:p xmlns:a="http://schemas.openxmlformats.org/drawingml/2006/main">
            <a:r>
              <a:t>[教师提示] 比较对象：还原与原始输入；不是比较原文件与压缩文件。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修正待查串的第9格，再逐位置核对，现在这16项一致。回到开场，用程序比较解压所得4096个bytes与原输入，得到True。这两个检验都比较还原结果和输入。原数据能完全恢复，才叫无损；不能仅看图像外观或文件长度。</a:t>
            </a:r>
          </a:p>
          <a:p xmlns:a="http://schemas.openxmlformats.org/drawingml/2006/main">
            <a:r>
              <a:t>[教师提示] 上页故障串已修正；本页的True明确属于开场4096B的实测。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两串都是16个颜色。按连续段存编号和次数：编号1B、次数1B。先投票，再分工数两串各有几段，算编码后的数据量。不要把红绿交替改写为红8绿8。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A有三段，3×2等于6B。B有十六段，每段只有一个颜色，16×2等于32B。它仍能准确恢复，却更大了。无损说的是可恢复，不是保证变小。</a:t>
            </a:r>
          </a:p>
          <a:p xmlns:a="http://schemas.openxmlformats.org/drawingml/2006/main">
            <a:r>
              <a:t>[教师提示] 只比payload；双方共享码表。256个相同色需拆255+1，不能让次数溢出。ZIP压JPEG效果需实测。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重复可以少写；无损必须完整恢复</a:t>
            </a:r>
          </a:p>
          <a:p xmlns:a="http://schemas.openxmlformats.org/drawingml/2006/main">
            <a:r>
              <a:t>[内部编号] 收束 · 重复可以少写；无损必须完整恢复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不用术语，说出少写的办法、核对的方法和可能的代价。先留八秒请一位同学归纳，再用红框核对刚学到的节点。无损不保证每份数据都变小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知识树阶段1；Q4之后显示。本页不提前公布后续叶节点。阶段0用20秒；阶段1至3各30秒；终图30秒。全部计入原有Q1、Q4、Q7、Q9、Q10预算。红框仅标本次新学节点。具体格式的用途与边界回看Q9表。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这一行灰度几乎一样，数却不完全相同。要求完整恢复，除了逐个写8bit，还能怎样记录？先想规则。必要时从第一个120出发，问下一格比它多多少。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给首值120，前三个差值已经列出。请填末四个，再只看首值与差值读回末三个数。负号不能丢，每次加在刚读回的前值上。变化都还在，才能恢复原来每一项。</a:t>
            </a:r>
          </a:p>
          <a:p xmlns:a="http://schemas.openxmlformats.org/drawingml/2006/main">
            <a:r>
              <a:t>[教师提示] A2正常版：首值及前三个差值已给，末四个学生填；迟到版仅减少一空。先活动后揭示。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这一串差值只有三种，我们另约定−1为00、0为01、+1为10。首值8bit加七个2bit差值，共22bit，装入完整bytes是3B，末尾补2bit。差值项数没有减少，变短来自更合适的编码。</a:t>
            </a:r>
          </a:p>
          <a:p xmlns:a="http://schemas.openxmlformats.org/drawingml/2006/main">
            <a:r>
              <a:t>[教师提示] 长度、模式和码表未计入。一般图像有大差值，不能套三种值码表；PNG可逆滤波仍输出同数量bytes，后续压缩另处理。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现在换个规则：归到最近的4的倍数，中点向上取，最高只到252。看到120这一档，能确定原数吗？请写至少两个可能原数，再填A2下半表。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120会恢复为120，121也恢复为120。你如果再加1，就会把原来本来是120的情况选错。没有保存区分它们的依据，不能唯一倒回原数。</a:t>
            </a:r>
          </a:p>
          <a:p xmlns:a="http://schemas.openxmlformats.org/drawingml/2006/main">
            <a:r>
              <a:t>[教师提示] 119也映射到120。课堂模型不是JPEG，也不是初始数字化过程。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64个等级只需6bit编号。八格64bit变成48bit，即6B；但变小同时丢失了区分。某些值恰好不变，不代表这种规则能保证精确恢复。这是有损的例子。</a:t>
            </a:r>
          </a:p>
          <a:p xmlns:a="http://schemas.openxmlformats.org/drawingml/2006/main">
            <a:r>
              <a:t>[教师提示] 还原八项为120,120,124,120,120,120,120,124；不能用明暗看不出代替数字证据。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两图均来自所提供《蒙娜丽莎》JPEG本次解码得到的RGB，尺寸不变。先按正常大小看A和B，说出你能观察到的变化。再判断：看不出变化，足以证明每个像素相同吗？收判断后才查数据。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A保存为PNG，回读像素与本次输入一致。B用JPEG quality80保存，有504,742个像素改变。你能否看出差别，都不能代替逐像素检查。输入文件本身已是JPEG，我们没有更早的原图，不能宣称把它恢复成无损原作。</a:t>
            </a:r>
          </a:p>
          <a:p xmlns:a="http://schemas.openxmlformats.org/drawingml/2006/main">
            <a:r>
              <a:t>[教师提示] 保留原文件不改动；quality80不是80%质量。比较目标是本次输入RGB，不是未知的相机或艺术品数字母版。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同一坐标的脸部细节，最近邻放大4倍，没有锐化。先描述观察到的纹理变化。看不出也可以，以刚才的像素检验为准。若任务只是浏览人物和背景，近似可能合用；若研究细微纹理，就要重新检查要求。</a:t>
            </a:r>
          </a:p>
          <a:p xmlns:a="http://schemas.openxmlformats.org/drawingml/2006/main">
            <a:r>
              <a:t>[教师提示] 裁切(x,y,w,h)=(368,310,192,128)。quality20仅作为可选明显对照，不能强迫学生在q80中看出指定差异。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本次绘画图像PNG1,706,860B，JPEG240,848B，JPEG较小。换成程序绘制的测试图，PNG4441B，JPEG10766B，大小关系反过来了。两组各自从同一RGB编码，尺寸均不变；不能只靠无损或有损标签判断大小。</a:t>
            </a:r>
          </a:p>
          <a:p xmlns:a="http://schemas.openxmlformats.org/drawingml/2006/main">
            <a:r>
              <a:t>[教师提示] 原提供JPEG为212536B，不与重编码文件混作同一编码起点的未压缩大小；本次RGB4590000B。两组内同尺寸、直接编码、q80/subsampling0。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利用关系能无损；舍弃区分会有损</a:t>
            </a:r>
          </a:p>
          <a:p xmlns:a="http://schemas.openxmlformats.org/drawingml/2006/main">
            <a:r>
              <a:t>[内部编号] 收束 · 利用关系能无损；舍弃区分会有损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起点加差值为何可逆？两个原数同归120为何不可逆？先留八秒请一位同学归纳，再用红框核对刚学到的节点。感知相似，不能证明原值相同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知识树阶段2；Q7之后显示。本页不提前公布后续叶节点。阶段0用20秒；阶段1至3各30秒；终图30秒。全部计入原有Q1、Q4、Q7、Q9、Q10预算。红框仅标本次新学节点。具体格式的用途与边界回看Q9表。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先不要报格式名，判断每份材料要保留什么。通知少了一个五，程序少了等号，照片少量像素改变。三件事都能接受吗？同桌写一条理由。程序用60测试。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60大于等于60成立，60大于60不成立。符号很少，功能却变了。通知原文与源程序本体都要求无损。照片作为题中浏览副本，可以在质量达标时用有损方式。若要读角落小字，重新检查。</a:t>
            </a:r>
          </a:p>
          <a:p xmlns:a="http://schemas.openxmlformats.org/drawingml/2006/main">
            <a:r>
              <a:t>[教师提示] 不把删改内容称为原文件的合格压缩。测量和编辑母版可能同样要求无损。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同学说这几个名字都是有损，图片不能无损。先找一个反例，再改他的说法。配置卡是依据技术文档做的规则表，软件保存设置可能不同。不能只看后缀。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PNG已经推翻图片不能无损。TIFF同一后缀可以采用不同方式，所以需要看保存配置。常见照片JPEG通常有损；不能把一个文件格式名字等同唯一压缩算法。</a:t>
            </a:r>
          </a:p>
          <a:p xmlns:a="http://schemas.openxmlformats.org/drawingml/2006/main">
            <a:r>
              <a:t>[教师提示] JPEG标准还包含无损模式，本课不要求学生记标准编号。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最后给名字放回常见用途：JPG图像通常有损，TIF图像看设置，MP3音频有损，MPEG视频相关标准常见用途采用有损编码。MPEG是一组标准，MP3是Audio Layer III，不是MPEG-3。长技术边界留在教师材料。</a:t>
            </a:r>
          </a:p>
          <a:p xmlns:a="http://schemas.openxmlformats.org/drawingml/2006/main">
            <a:r>
              <a:t>[教师提示] 本页替换配置卡区域，不增加新问题。MP4后缀也不能直接等同某一种算法。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能否接受有损，要看用途与编码</a:t>
            </a:r>
          </a:p>
          <a:p xmlns:a="http://schemas.openxmlformats.org/drawingml/2006/main">
            <a:r>
              <a:t>[内部编号] 收束 · 能否接受有损，要看用途与编码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说出一类必须无损的数据，再给TIF补一条判断条件。先留八秒请一位同学归纳，再用红框核对刚学到的节点。媒体可以无损；接受有损需要质量达标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知识树阶段3；Q9之后显示。本页不提前公布后续叶节点。阶段0用20秒；阶段1至3各30秒；终图30秒。全部计入原有Q1、Q4、Q7、Q9、Q10预算。红框仅标本次新学节点。具体格式的用途与边界回看Q9表。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传送限额100KiB，下面是题目给定的候选结果，不是现场测量。先个人选，再同桌分两列检查：大小是否过关，信息是否过关。请说明另一方案为什么不合格。给90秒。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程序A同时满足两关，B虽小但不能交回原bytes。照片B同时满足两关，A虽无损却超限。照片B的合格限于题中浏览用途。回看开场猜测，请把文件变小一定删内容改成更准确的一句。</a:t>
            </a:r>
          </a:p>
          <a:p xmlns:a="http://schemas.openxmlformats.org/drawingml/2006/main">
            <a:r>
              <a:t>[教师提示] 300秒：30读题、90判断、60报告、30回扣、30定义、40出口、20收取。下两页收束只用剩余90秒；出口答案页课后显示。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用完整知识树检查压缩方案</a:t>
            </a:r>
          </a:p>
          <a:p xmlns:a="http://schemas.openxmlformats.org/drawingml/2006/main">
            <a:r>
              <a:t>[内部编号] 收束 · 用完整知识树检查压缩方案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沿知识树说明：程序A、照片B分别通过了哪两项检查？先留八秒请一位同学归纳，再用红框核对刚学到的节点。空间更少，还要符合当前任务的信息要求。四条主枝的位置一直不动。已经学过的节点保留，尚未建立的结论继续留空。今天学到的不只是几个格式名，要能说明怎样省空间、怎样验证还原，以及怎样检查用途。</a:t>
            </a:r>
          </a:p>
          <a:p xmlns:a="http://schemas.openxmlformats.org/drawingml/2006/main">
            <a:r>
              <a:t>[教师提示] 知识树阶段4；Q10之后显示。本页不提前公布后续叶节点。阶段0用20秒；阶段1至3各30秒；终图30秒。全部计入原有Q1、Q4、Q7、Q9、Q10预算。红框仅标本次新学节点。具体格式的用途与边界回看Q9表。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出口检查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现在自己写两句话，不跟同桌讨论。第一句要写出两个比较对象，第二句要区分人的感受与数据相等。40秒后收取，抽看三份。不要现在翻到参考答案页，避免学生照抄。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exit-answer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这一页只在收取后或课后核对。比较解压结果与原始输入；没有看出变化只说明感知接近，不能证明原值一致。若学生只写原图与压缩图，回到Q3要求说明还原对象；若仍凭肉眼判无损，回到Q6两个原数映到120。</a:t>
            </a:r>
          </a:p>
          <a:p xmlns:a="http://schemas.openxmlformats.org/drawingml/2006/main">
            <a:r>
              <a:t>[教师提示] 收取前不投影。作为课后反馈，可直接结束在上一页。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de700c345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71ce7122df4bd7" /><Relationship Type="http://schemas.openxmlformats.org/officeDocument/2006/relationships/slideLayout" Target="/ppt/slideLayouts/slideLayout1.xml" Id="R7ed03b0ea3ea4c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d03b0ea3ea4c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ccf55cc9d4d04" /><Relationship Type="http://schemas.openxmlformats.org/officeDocument/2006/relationships/notesSlide" Target="/ppt/notesSlides/notesSlide1.xml" Id="Rf6882df4b6d6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87a313aeb4194" /><Relationship Type="http://schemas.openxmlformats.org/officeDocument/2006/relationships/notesSlide" Target="/ppt/notesSlides/notesSlide2.xml" Id="R4611445acc0d45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d849f3d22498d" /><Relationship Type="http://schemas.openxmlformats.org/officeDocument/2006/relationships/image" Target="/ppt/media/image.png" Id="Rbc3ccad28c364848" /><Relationship Type="http://schemas.openxmlformats.org/officeDocument/2006/relationships/notesSlide" Target="/ppt/notesSlides/notesSlide3.xml" Id="R57791cf45eb940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ff36789da420f" /><Relationship Type="http://schemas.openxmlformats.org/officeDocument/2006/relationships/image" Target="/ppt/media/image.png" Id="R4439cc7e4c0e4072" /><Relationship Type="http://schemas.openxmlformats.org/officeDocument/2006/relationships/image" Target="/ppt/media/image2.png" Id="R2843ab582fc5493e" /><Relationship Type="http://schemas.openxmlformats.org/officeDocument/2006/relationships/notesSlide" Target="/ppt/notesSlides/notesSlide4.xml" Id="R3ca7349707974f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be801b4624f21" /><Relationship Type="http://schemas.openxmlformats.org/officeDocument/2006/relationships/notesSlide" Target="/ppt/notesSlides/notesSlide5.xml" Id="R21049e1f18464e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d0eab5d7041a9" /><Relationship Type="http://schemas.openxmlformats.org/officeDocument/2006/relationships/notesSlide" Target="/ppt/notesSlides/notesSlide6.xml" Id="R2375e8e567bd45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466d1b32b46d3" /><Relationship Type="http://schemas.openxmlformats.org/officeDocument/2006/relationships/notesSlide" Target="/ppt/notesSlides/notesSlide7.xml" Id="R4119ad99ed8c47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9162bba284965" /><Relationship Type="http://schemas.openxmlformats.org/officeDocument/2006/relationships/notesSlide" Target="/ppt/notesSlides/notesSlide8.xml" Id="R915a0405314e40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870d074894310" /><Relationship Type="http://schemas.openxmlformats.org/officeDocument/2006/relationships/notesSlide" Target="/ppt/notesSlides/notesSlide9.xml" Id="Rd0365697ff6c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2beb9e4594c08" /><Relationship Type="http://schemas.openxmlformats.org/officeDocument/2006/relationships/notesSlide" Target="/ppt/notesSlides/notesSlide10.xml" Id="Ra3cfcbd8345045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bb24c63594463" /><Relationship Type="http://schemas.openxmlformats.org/officeDocument/2006/relationships/notesSlide" Target="/ppt/notesSlides/notesSlide11.xml" Id="R7c590070c79a46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28196404f4b3b" /><Relationship Type="http://schemas.openxmlformats.org/officeDocument/2006/relationships/notesSlide" Target="/ppt/notesSlides/notesSlide12.xml" Id="R394b262b2af941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f943745904e48" /><Relationship Type="http://schemas.openxmlformats.org/officeDocument/2006/relationships/notesSlide" Target="/ppt/notesSlides/notesSlide13.xml" Id="Rc8adb350a6f04c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d664cd6f4cf2" /><Relationship Type="http://schemas.openxmlformats.org/officeDocument/2006/relationships/notesSlide" Target="/ppt/notesSlides/notesSlide14.xml" Id="R2d351eef1ece4b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b17a290144650" /><Relationship Type="http://schemas.openxmlformats.org/officeDocument/2006/relationships/notesSlide" Target="/ppt/notesSlides/notesSlide15.xml" Id="R1f1f90fb1ef14f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3467c6ebd43a7" /><Relationship Type="http://schemas.openxmlformats.org/officeDocument/2006/relationships/notesSlide" Target="/ppt/notesSlides/notesSlide16.xml" Id="R799edeace9c445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bed3ee1cb42f0" /><Relationship Type="http://schemas.openxmlformats.org/officeDocument/2006/relationships/notesSlide" Target="/ppt/notesSlides/notesSlide17.xml" Id="R64ee07392d9141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679f5be5f43fd" /><Relationship Type="http://schemas.openxmlformats.org/officeDocument/2006/relationships/notesSlide" Target="/ppt/notesSlides/notesSlide18.xml" Id="Rf283392405b346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92cea471c485f" /><Relationship Type="http://schemas.openxmlformats.org/officeDocument/2006/relationships/image" Target="/ppt/media/image3.png" Id="Rb58dd7368b14450d" /><Relationship Type="http://schemas.openxmlformats.org/officeDocument/2006/relationships/image" Target="/ppt/media/image.jpeg" Id="Rb8d9898bdaf34eb0" /><Relationship Type="http://schemas.openxmlformats.org/officeDocument/2006/relationships/notesSlide" Target="/ppt/notesSlides/notesSlide19.xml" Id="R66092ff2953941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c7333eded4f08" /><Relationship Type="http://schemas.openxmlformats.org/officeDocument/2006/relationships/image" Target="/ppt/media/image3.png" Id="R731d1a44e2314b15" /><Relationship Type="http://schemas.openxmlformats.org/officeDocument/2006/relationships/image" Target="/ppt/media/image.jpeg" Id="Rf4760faf34a047aa" /><Relationship Type="http://schemas.openxmlformats.org/officeDocument/2006/relationships/notesSlide" Target="/ppt/notesSlides/notesSlide20.xml" Id="R69949aca097947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6e5df64341b9" /><Relationship Type="http://schemas.openxmlformats.org/officeDocument/2006/relationships/image" Target="/ppt/media/image3.png" Id="R289a1e37c9a14f74" /><Relationship Type="http://schemas.openxmlformats.org/officeDocument/2006/relationships/image" Target="/ppt/media/image.jpeg" Id="Rd79246a5513d46bc" /><Relationship Type="http://schemas.openxmlformats.org/officeDocument/2006/relationships/image" Target="/ppt/media/image4.png" Id="Rc15075a09b06434e" /><Relationship Type="http://schemas.openxmlformats.org/officeDocument/2006/relationships/image" Target="/ppt/media/image5.png" Id="Rc16319c2cead4a30" /><Relationship Type="http://schemas.openxmlformats.org/officeDocument/2006/relationships/notesSlide" Target="/ppt/notesSlides/notesSlide21.xml" Id="R936a569e233247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bd4e11d004383" /><Relationship Type="http://schemas.openxmlformats.org/officeDocument/2006/relationships/image" Target="/ppt/media/image3.png" Id="R8589373f09e14233" /><Relationship Type="http://schemas.openxmlformats.org/officeDocument/2006/relationships/image" Target="/ppt/media/image.jpeg" Id="Rdd494b7f3e414007" /><Relationship Type="http://schemas.openxmlformats.org/officeDocument/2006/relationships/image" Target="/ppt/media/image4.png" Id="Rb22b5a9d9c124318" /><Relationship Type="http://schemas.openxmlformats.org/officeDocument/2006/relationships/image" Target="/ppt/media/image5.png" Id="Rd7648eddf67c40f0" /><Relationship Type="http://schemas.openxmlformats.org/officeDocument/2006/relationships/image" Target="/ppt/media/image6.png" Id="Rc532c6d58fef4eff" /><Relationship Type="http://schemas.openxmlformats.org/officeDocument/2006/relationships/notesSlide" Target="/ppt/notesSlides/notesSlide22.xml" Id="Rc39888b6bf3140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50c66ce8448a0" /><Relationship Type="http://schemas.openxmlformats.org/officeDocument/2006/relationships/notesSlide" Target="/ppt/notesSlides/notesSlide23.xml" Id="R8bd1c1e26ee04e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fb03bc10a42fa" /><Relationship Type="http://schemas.openxmlformats.org/officeDocument/2006/relationships/notesSlide" Target="/ppt/notesSlides/notesSlide24.xml" Id="R692da82e128c46d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0b9e0352b4b88" /><Relationship Type="http://schemas.openxmlformats.org/officeDocument/2006/relationships/notesSlide" Target="/ppt/notesSlides/notesSlide25.xml" Id="R2a4ab92376f5400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e3f9273b449da" /><Relationship Type="http://schemas.openxmlformats.org/officeDocument/2006/relationships/notesSlide" Target="/ppt/notesSlides/notesSlide26.xml" Id="Rfa14b411236e498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3cdcdedd249b9" /><Relationship Type="http://schemas.openxmlformats.org/officeDocument/2006/relationships/notesSlide" Target="/ppt/notesSlides/notesSlide27.xml" Id="R7a27bf19d67746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e99ff71824fae" /><Relationship Type="http://schemas.openxmlformats.org/officeDocument/2006/relationships/notesSlide" Target="/ppt/notesSlides/notesSlide28.xml" Id="R32a3f5d326c5431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a343996f04328" /><Relationship Type="http://schemas.openxmlformats.org/officeDocument/2006/relationships/notesSlide" Target="/ppt/notesSlides/notesSlide29.xml" Id="Ra95cc99397cc47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6b6da99674c65" /><Relationship Type="http://schemas.openxmlformats.org/officeDocument/2006/relationships/notesSlide" Target="/ppt/notesSlides/notesSlide30.xml" Id="R9da9ff08dd1a4b8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91f3e62b54e55" /><Relationship Type="http://schemas.openxmlformats.org/officeDocument/2006/relationships/notesSlide" Target="/ppt/notesSlides/notesSlide31.xml" Id="Rf88e9a4ddc2942e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20d60dce94171" /><Relationship Type="http://schemas.openxmlformats.org/officeDocument/2006/relationships/notesSlide" Target="/ppt/notesSlides/notesSlide32.xml" Id="R2bad091f47684b5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0d29cd75e4f2e" /><Relationship Type="http://schemas.openxmlformats.org/officeDocument/2006/relationships/notesSlide" Target="/ppt/notesSlides/notesSlide33.xml" Id="R315b94572d7d435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d6d54a0834d94" /><Relationship Type="http://schemas.openxmlformats.org/officeDocument/2006/relationships/notesSlide" Target="/ppt/notesSlides/notesSlide34.xml" Id="R1e951a1ddff64b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56F42CA-1849-4D07-8530-580D69D9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BF9CDE-861B-4BB6-BA3C-F774421E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9481A7E-A533-4CA1-9B33-01EFF25A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数据压缩入门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6944C96-6699-46ED-9284-A185B99B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信息去哪了？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22B43A5-B388-4BDD-85FF-147A240A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Data compression 101</a:t>
            </a:r>
          </a:p>
        </p:txBody>
      </p:sp>
    </p:spTree>
    <p:extLst>
      <p:ext uri="{BB962C8B-B14F-4D97-AF65-F5344CB8AC3E}">
        <p14:creationId xmlns:p14="http://schemas.microsoft.com/office/powerpoint/2010/main" val="713723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34AE0563-BFD0-408E-9B51-D068782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36CBA3E-EFAE-484B-831D-BA46854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D49A458-9CE5-49CB-A2F3-3AA8EEC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这节课要弄清四件事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1AE17F97-F8C0-4265-B2F6-355459C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63557EFE-481C-41AD-A183-D77A82E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3C08F800-D18D-4177-AB97-F49D8B50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1CEA1193-9F7F-42BF-A301-C2C039DD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7A23E723-8F98-4DE9-8A59-EA256B3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59BB2AEF-FDAE-4DBE-847E-BA35A5E1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03ECDB6-0E99-463D-B50B-A94AEF40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11116067-3805-4524-9C1B-3701BAC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5B8B9935-647F-420D-9471-E34E9C8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D664312B-5988-4620-BA75-40F844E6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213E6637-2B48-4A27-A1BE-E1368C0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814E4620-A667-4707-8815-7C730F76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学到哪里，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就补到哪里。</a:t>
            </a:r>
          </a:p>
        </p:txBody>
      </p:sp>
    </p:spTree>
    <p:extLst>
      <p:ext uri="{BB962C8B-B14F-4D97-AF65-F5344CB8AC3E}">
        <p14:creationId xmlns:p14="http://schemas.microsoft.com/office/powerpoint/2010/main" val="1395142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64D64759-FA93-4A8E-AE9F-1BA7D7D5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279354-219E-421B-A9C5-DE1F1E5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0487BA3-63A5-43B8-B2E3-8D3CBE4E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ccad28c364848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9E18DFE9-43C3-4878-A04A-6B6510A3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302A556B-1A3C-402C-9D73-A9C191C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DEEAB146-1996-4002-BFB8-E58A5806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</p:spTree>
    <p:extLst>
      <p:ext uri="{BB962C8B-B14F-4D97-AF65-F5344CB8AC3E}">
        <p14:creationId xmlns:p14="http://schemas.microsoft.com/office/powerpoint/2010/main" val="1742635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64D64759-FA93-4A8E-AE9F-1BA7D7D5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279354-219E-421B-A9C5-DE1F1E5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0487BA3-63A5-43B8-B2E3-8D3CBE4E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9cc7e4c0e4072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9E18DFE9-43C3-4878-A04A-6B6510A3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302A556B-1A3C-402C-9D73-A9C191C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DEEAB146-1996-4002-BFB8-E58A5806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3ab582fc5493e"/>
          <a:stretch xmlns:a="http://schemas.openxmlformats.org/drawingml/2006/main"/>
        </p:blipFill>
        <p:spPr>
          <a:xfrm xmlns:a="http://schemas.openxmlformats.org/drawingml/2006/main">
            <a:off x="822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restored-label">
            <a:extLst xmlns:a="http://schemas.openxmlformats.org/drawingml/2006/main">
              <a:ext uri="{FF2B5EF4-FFF2-40B4-BE49-F238E27FC236}">
                <a16:creationId xmlns:a16="http://schemas.microsoft.com/office/drawing/2014/main" id="{6CC17139-B313-4B52-886A-F00F2D0B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从B读回的图</a:t>
            </a:r>
          </a:p>
        </p:txBody>
      </p:sp>
    </p:spTree>
    <p:extLst>
      <p:ext uri="{BB962C8B-B14F-4D97-AF65-F5344CB8AC3E}">
        <p14:creationId xmlns:p14="http://schemas.microsoft.com/office/powerpoint/2010/main" val="1742635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EF0E2357-28CF-454F-A7B6-F9A17140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39B0A80-6EA3-4CDB-BEEA-5C9A736F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9C44542-6515-42A8-AE0F-519C4E4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D6D59ECA-CE26-4E8F-9429-5BBA9A9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7B522DFF-4D34-4D84-85D7-DB73C0A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E48543AF-3947-45A2-9588-84A7F2D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703F4449-6D99-498B-980C-E23617C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F38EC183-BA6B-4656-8E6C-073AB44A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2D0D62CA-C0E2-4160-8890-C99836FD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E940B603-1E36-415B-AEE8-341924B2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AA12FEF8-BDF1-4D61-B415-B5FB8726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2C7A7A59-951D-4147-A67D-956EACED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0F520AA0-0AE0-4D74-BF5D-CE7CC6EE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E0FCF7A7-C526-47AB-A6AD-18AF8BAD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B642A319-94DC-4E3D-9082-D17633F2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58D39904-D1F2-4AF1-AC23-69E6DA0D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F1059D0D-E01B-470C-AB54-852BA43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6DF56AFF-EEFB-4936-AD0A-95BB6BD6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A2E64B88-A2CF-49A8-BA50-D3CE14DC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096CEA81-E89C-4C1D-A710-85B37537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</p:spTree>
    <p:extLst>
      <p:ext uri="{BB962C8B-B14F-4D97-AF65-F5344CB8AC3E}">
        <p14:creationId xmlns:p14="http://schemas.microsoft.com/office/powerpoint/2010/main" val="1750997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EF0E2357-28CF-454F-A7B6-F9A17140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39B0A80-6EA3-4CDB-BEEA-5C9A736F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9C44542-6515-42A8-AE0F-519C4E4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D6D59ECA-CE26-4E8F-9429-5BBA9A9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7B522DFF-4D34-4D84-85D7-DB73C0A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E48543AF-3947-45A2-9588-84A7F2D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703F4449-6D99-498B-980C-E23617C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F38EC183-BA6B-4656-8E6C-073AB44A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2D0D62CA-C0E2-4160-8890-C99836FD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E940B603-1E36-415B-AEE8-341924B2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AA12FEF8-BDF1-4D61-B415-B5FB8726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2C7A7A59-951D-4147-A67D-956EACED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0F520AA0-0AE0-4D74-BF5D-CE7CC6EE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E0FCF7A7-C526-47AB-A6AD-18AF8BAD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B642A319-94DC-4E3D-9082-D17633F2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58D39904-D1F2-4AF1-AC23-69E6DA0D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F1059D0D-E01B-470C-AB54-852BA43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6DF56AFF-EEFB-4936-AD0A-95BB6BD6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A2E64B88-A2CF-49A8-BA50-D3CE14DC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096CEA81-E89C-4C1D-A710-85B37537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  <p:sp>
        <p:nvSpPr>
          <p:cNvPr id="21" name="rle-result">
            <a:extLst xmlns:a="http://schemas.openxmlformats.org/drawingml/2006/main">
              <a:ext uri="{FF2B5EF4-FFF2-40B4-BE49-F238E27FC236}">
                <a16:creationId xmlns:a16="http://schemas.microsoft.com/office/drawing/2014/main" id="{1FF93BCD-6850-4943-A519-A30A487A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红 8     绿 5     蓝 3</a:t>
            </a:r>
          </a:p>
        </p:txBody>
      </p:sp>
      <p:sp>
        <p:nvSpPr>
          <p:cNvPr id="22" name="rle-name">
            <a:extLst xmlns:a="http://schemas.openxmlformats.org/drawingml/2006/main">
              <a:ext uri="{FF2B5EF4-FFF2-40B4-BE49-F238E27FC236}">
                <a16:creationId xmlns:a16="http://schemas.microsoft.com/office/drawing/2014/main" id="{0D77D53D-F7AC-49FD-BB24-EF589526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游程编码  Run-Length Encoding（RLE）</a:t>
            </a:r>
          </a:p>
        </p:txBody>
      </p:sp>
    </p:spTree>
    <p:extLst>
      <p:ext uri="{BB962C8B-B14F-4D97-AF65-F5344CB8AC3E}">
        <p14:creationId xmlns:p14="http://schemas.microsoft.com/office/powerpoint/2010/main" val="1750997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A9A9901C-398B-408D-9C79-A24BD8D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D748DA3-9F2D-43C1-9280-F3365DB0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B7FD09-28D4-4ADA-A307-1030A1C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B6214D2D-C2CB-44A1-BD15-BAB3D8C1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1387D178-415A-41D1-8B6D-FF3AD51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90B06B26-6568-4291-80A6-354F20A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DCD7235E-4269-4E32-9387-DB43ACA7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23D282F9-8C84-4743-B97B-C7DB447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410ABC17-2864-4662-B3E3-B4867A3E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51FF52CE-0C5E-4A7E-BA6B-258EA710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70D7D4A8-1E29-4C18-8D49-B8EA2071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5A4F2F27-4F23-41EE-A884-A262AE5D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80666F93-2A30-4D84-8C76-A6D15187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275ACF7F-82DE-464D-92DD-D1982745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31E8D7EC-2F62-4D28-A1ED-6C2355F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B010BF19-5384-43B3-A75F-580D00F9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C18BFF21-97CE-408E-9F48-5A282EE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CFD5664F-4F8A-489F-96D5-289ED0D1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E55B4C12-C86C-4B86-B541-24FB6BC5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0E4990C9-FF66-46FE-94FD-78B57F2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5C416475-B133-466E-A683-B99022E3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ECA78480-CA96-4EC1-A32B-F674E90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9332E680-EB25-4974-AF09-A625797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4947C0DE-0926-4F28-92A7-409B903B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F0937655-EE45-46F4-B6AD-18845DD5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E11B4007-D8C2-4621-8A87-04C782E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B68BDD2E-51F0-41B3-833B-EB88061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B7424D68-CDFC-4677-9731-F97D481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C45FB7ED-4A08-47E7-9085-FBA6D5AB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83F9A0DA-2944-4FD1-901A-BF2ADCC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328E7BE2-0282-4081-83D6-1F2E9507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73C5D604-5B53-4272-A673-731770B1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C2AB27D-BC04-4411-A058-B9E5FA9C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1748566C-3D32-40CC-BCBF-66B5EF0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875E2195-F8EB-40C0-9344-E6D66E3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38012290-3669-47D7-A339-BEC0E8AB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8BED3D65-20DF-44FD-9F26-ADECF4D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90C5041B-7409-45AA-9B24-691D36C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</p:spTree>
    <p:extLst>
      <p:ext uri="{BB962C8B-B14F-4D97-AF65-F5344CB8AC3E}">
        <p14:creationId xmlns:p14="http://schemas.microsoft.com/office/powerpoint/2010/main" val="1913494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A9A9901C-398B-408D-9C79-A24BD8D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D748DA3-9F2D-43C1-9280-F3365DB0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B7FD09-28D4-4ADA-A307-1030A1C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B6214D2D-C2CB-44A1-BD15-BAB3D8C1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1387D178-415A-41D1-8B6D-FF3AD51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90B06B26-6568-4291-80A6-354F20A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DCD7235E-4269-4E32-9387-DB43ACA7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23D282F9-8C84-4743-B97B-C7DB447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410ABC17-2864-4662-B3E3-B4867A3E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51FF52CE-0C5E-4A7E-BA6B-258EA710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70D7D4A8-1E29-4C18-8D49-B8EA2071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5A4F2F27-4F23-41EE-A884-A262AE5D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80666F93-2A30-4D84-8C76-A6D15187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275ACF7F-82DE-464D-92DD-D1982745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31E8D7EC-2F62-4D28-A1ED-6C2355F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B010BF19-5384-43B3-A75F-580D00F9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C18BFF21-97CE-408E-9F48-5A282EE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CFD5664F-4F8A-489F-96D5-289ED0D1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E55B4C12-C86C-4B86-B541-24FB6BC5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0E4990C9-FF66-46FE-94FD-78B57F2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5C416475-B133-466E-A683-B99022E3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ECA78480-CA96-4EC1-A32B-F674E90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9332E680-EB25-4974-AF09-A625797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4947C0DE-0926-4F28-92A7-409B903B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F0937655-EE45-46F4-B6AD-18845DD5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E11B4007-D8C2-4621-8A87-04C782E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B68BDD2E-51F0-41B3-833B-EB88061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B7424D68-CDFC-4677-9731-F97D481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C45FB7ED-4A08-47E7-9085-FBA6D5AB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83F9A0DA-2944-4FD1-901A-BF2ADCC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328E7BE2-0282-4081-83D6-1F2E9507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73C5D604-5B53-4272-A673-731770B1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C2AB27D-BC04-4411-A058-B9E5FA9C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1748566C-3D32-40CC-BCBF-66B5EF0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875E2195-F8EB-40C0-9344-E6D66E3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38012290-3669-47D7-A339-BEC0E8AB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8BED3D65-20DF-44FD-9F26-ADECF4D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90C5041B-7409-45AA-9B24-691D36C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942C3A9A-021C-448B-B4E4-5CDB5024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</p:spTree>
    <p:extLst>
      <p:ext uri="{BB962C8B-B14F-4D97-AF65-F5344CB8AC3E}">
        <p14:creationId xmlns:p14="http://schemas.microsoft.com/office/powerpoint/2010/main" val="1913494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A9A9901C-398B-408D-9C79-A24BD8D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D748DA3-9F2D-43C1-9280-F3365DB0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B7FD09-28D4-4ADA-A307-1030A1C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B6214D2D-C2CB-44A1-BD15-BAB3D8C1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1387D178-415A-41D1-8B6D-FF3AD51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90B06B26-6568-4291-80A6-354F20A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DCD7235E-4269-4E32-9387-DB43ACA7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23D282F9-8C84-4743-B97B-C7DB447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410ABC17-2864-4662-B3E3-B4867A3E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51FF52CE-0C5E-4A7E-BA6B-258EA710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70D7D4A8-1E29-4C18-8D49-B8EA2071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5A4F2F27-4F23-41EE-A884-A262AE5D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80666F93-2A30-4D84-8C76-A6D15187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275ACF7F-82DE-464D-92DD-D1982745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31E8D7EC-2F62-4D28-A1ED-6C2355F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B010BF19-5384-43B3-A75F-580D00F9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C18BFF21-97CE-408E-9F48-5A282EE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CFD5664F-4F8A-489F-96D5-289ED0D1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E55B4C12-C86C-4B86-B541-24FB6BC5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0E4990C9-FF66-46FE-94FD-78B57F2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5C416475-B133-466E-A683-B99022E3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ECA78480-CA96-4EC1-A32B-F674E90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9332E680-EB25-4974-AF09-A625797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4947C0DE-0926-4F28-92A7-409B903B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F0937655-EE45-46F4-B6AD-18845DD5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E11B4007-D8C2-4621-8A87-04C782E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B68BDD2E-51F0-41B3-833B-EB88061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B7424D68-CDFC-4677-9731-F97D481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C45FB7ED-4A08-47E7-9085-FBA6D5AB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83F9A0DA-2944-4FD1-901A-BF2ADCC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328E7BE2-0282-4081-83D6-1F2E9507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73C5D604-5B53-4272-A673-731770B1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C2AB27D-BC04-4411-A058-B9E5FA9C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1748566C-3D32-40CC-BCBF-66B5EF0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875E2195-F8EB-40C0-9344-E6D66E3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38012290-3669-47D7-A339-BEC0E8AB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8BED3D65-20DF-44FD-9F26-ADECF4D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90C5041B-7409-45AA-9B24-691D36C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942C3A9A-021C-448B-B4E4-5CDB5024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0" name="byte-comparison">
            <a:extLst xmlns:a="http://schemas.openxmlformats.org/drawingml/2006/main">
              <a:ext uri="{FF2B5EF4-FFF2-40B4-BE49-F238E27FC236}">
                <a16:creationId xmlns:a16="http://schemas.microsoft.com/office/drawing/2014/main" id="{2B3B0BE4-E7C5-4A8A-9859-76CB0A1B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== 原始输入  →  True</a:t>
            </a:r>
          </a:p>
        </p:txBody>
      </p:sp>
      <p:sp>
        <p:nvSpPr>
          <p:cNvPr id="41" name="recovery-caption-overlay">
            <a:extLst xmlns:a="http://schemas.openxmlformats.org/drawingml/2006/main">
              <a:ext uri="{FF2B5EF4-FFF2-40B4-BE49-F238E27FC236}">
                <a16:creationId xmlns:a16="http://schemas.microsoft.com/office/drawing/2014/main" id="{29A9F8BD-C057-4A3E-9F2D-BFF4D1EB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62500"/>
            <a:ext cx="10972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recovery-conclusion">
            <a:extLst xmlns:a="http://schemas.openxmlformats.org/drawingml/2006/main">
              <a:ext uri="{FF2B5EF4-FFF2-40B4-BE49-F238E27FC236}">
                <a16:creationId xmlns:a16="http://schemas.microsoft.com/office/drawing/2014/main" id="{2085B6D2-92B8-48A4-8EEA-4286BC5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16项逐值一致。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开场：4096 bytes还原一致（True）。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无损：解压后可完全恢复原始数据。</a:t>
            </a:r>
          </a:p>
        </p:txBody>
      </p:sp>
    </p:spTree>
    <p:extLst>
      <p:ext uri="{BB962C8B-B14F-4D97-AF65-F5344CB8AC3E}">
        <p14:creationId xmlns:p14="http://schemas.microsoft.com/office/powerpoint/2010/main" val="19134945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EC8D0F51-6526-457C-AA64-DCF87FF9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FF81C8-2D82-4CA5-ABA3-E4D93069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7CAFC4C-B4A8-4AFD-A672-7B21F07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814E83A9-2AA8-4A8C-A048-96F27D18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40B1BC8B-1CD5-41E6-9ECB-61785B9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0C87692C-4E73-41EF-B7BC-05A96672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4519C931-8107-459B-A44B-3893C859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6556CC7D-9BD3-4514-A342-872EB0A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30B76250-9DDF-4F28-BADD-FD8F9676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ADB457BF-8DE7-4D92-A8DF-368179F3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D1D69521-25D0-4C22-BD0F-C7F8030F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1E33A617-831B-4A43-A8F4-B60664B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3039AEE4-6268-4F66-B87F-D66F0192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532DB7D0-8953-4D8A-851B-6BF363BF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896EC772-3233-4354-BBBD-979C1BC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8E4B79C6-2AC7-4FEC-9D77-51D586AC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4230A21A-6ADB-4174-8312-B3B3420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5BC4DF1A-FCF2-4B57-9D86-C569E257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AD7EF1F9-7C57-4DCA-9EB0-58A0AB83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27568F6B-476A-4890-9FEA-9D1B467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DF7640AC-377B-4509-BCC4-36B77CA4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19C9B942-9BE3-478C-8051-81820430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6F8EA5B5-B2B6-42CA-8AA7-E9A9F3CE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D19CC355-2307-49C6-82FB-FD9066DD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0982C1EA-5AAD-45CE-ADD4-937FB751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A33F9D88-DE52-4B54-8AD5-558D29E3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34DF5809-350F-4BC0-9051-26E5B4D7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3F7CFE0C-C2F0-40BB-9109-A4086C4E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7EBDDA5E-3083-4F9F-A418-2F80FC8B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4BBAABD4-710F-422F-BBF4-5577A72B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370247D8-561E-4867-8EFA-12ABFB2E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8085A782-E4FC-4414-8F9D-004F5DC3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F9DA86A1-394C-4706-B40F-0A30CA1A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D7602B9B-7BFD-42A7-9C85-CADD8C5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01E70228-9F4B-41F4-9C95-6F754019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A9A1A953-7F72-4D40-8744-D22A871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9A7F3C4F-DA4D-4F8F-BF10-0B909E5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6DD52EC8-2E21-492B-B5E2-1C0E35D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</p:spTree>
    <p:extLst>
      <p:ext uri="{BB962C8B-B14F-4D97-AF65-F5344CB8AC3E}">
        <p14:creationId xmlns:p14="http://schemas.microsoft.com/office/powerpoint/2010/main" val="1667631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EC8D0F51-6526-457C-AA64-DCF87FF9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FF81C8-2D82-4CA5-ABA3-E4D93069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7CAFC4C-B4A8-4AFD-A672-7B21F07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814E83A9-2AA8-4A8C-A048-96F27D18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40B1BC8B-1CD5-41E6-9ECB-61785B9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0C87692C-4E73-41EF-B7BC-05A96672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4519C931-8107-459B-A44B-3893C859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6556CC7D-9BD3-4514-A342-872EB0A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30B76250-9DDF-4F28-BADD-FD8F9676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ADB457BF-8DE7-4D92-A8DF-368179F3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D1D69521-25D0-4C22-BD0F-C7F8030F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1E33A617-831B-4A43-A8F4-B60664B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3039AEE4-6268-4F66-B87F-D66F0192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532DB7D0-8953-4D8A-851B-6BF363BF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896EC772-3233-4354-BBBD-979C1BC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8E4B79C6-2AC7-4FEC-9D77-51D586AC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4230A21A-6ADB-4174-8312-B3B3420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5BC4DF1A-FCF2-4B57-9D86-C569E257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AD7EF1F9-7C57-4DCA-9EB0-58A0AB83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27568F6B-476A-4890-9FEA-9D1B467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DF7640AC-377B-4509-BCC4-36B77CA4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19C9B942-9BE3-478C-8051-81820430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6F8EA5B5-B2B6-42CA-8AA7-E9A9F3CE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D19CC355-2307-49C6-82FB-FD9066DD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0982C1EA-5AAD-45CE-ADD4-937FB751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A33F9D88-DE52-4B54-8AD5-558D29E3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34DF5809-350F-4BC0-9051-26E5B4D7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3F7CFE0C-C2F0-40BB-9109-A4086C4E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7EBDDA5E-3083-4F9F-A418-2F80FC8B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4BBAABD4-710F-422F-BBF4-5577A72B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370247D8-561E-4867-8EFA-12ABFB2E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8085A782-E4FC-4414-8F9D-004F5DC3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F9DA86A1-394C-4706-B40F-0A30CA1A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D7602B9B-7BFD-42A7-9C85-CADD8C5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01E70228-9F4B-41F4-9C95-6F754019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A9A1A953-7F72-4D40-8744-D22A871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9A7F3C4F-DA4D-4F8F-BF10-0B909E5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6DD52EC8-2E21-492B-B5E2-1C0E35D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  <p:sp>
        <p:nvSpPr>
          <p:cNvPr id="39" name="counts">
            <a:extLst xmlns:a="http://schemas.openxmlformats.org/drawingml/2006/main">
              <a:ext uri="{FF2B5EF4-FFF2-40B4-BE49-F238E27FC236}">
                <a16:creationId xmlns:a16="http://schemas.microsoft.com/office/drawing/2014/main" id="{ACDF60AA-5358-4DB3-ACDB-707C10F5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A：16 B → 6 B       B：16 B → 32 B</a:t>
            </a:r>
          </a:p>
        </p:txBody>
      </p:sp>
    </p:spTree>
    <p:extLst>
      <p:ext uri="{BB962C8B-B14F-4D97-AF65-F5344CB8AC3E}">
        <p14:creationId xmlns:p14="http://schemas.microsoft.com/office/powerpoint/2010/main" val="16676316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34AE0563-BFD0-408E-9B51-D068782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36CBA3E-EFAE-484B-831D-BA46854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D49A458-9CE5-49CB-A2F3-3AA8EEC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重复可以少写；无损必须完整恢复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1AE17F97-F8C0-4265-B2F6-355459C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63557EFE-481C-41AD-A183-D77A82E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3C08F800-D18D-4177-AB97-F49D8B50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1CEA1193-9F7F-42BF-A301-C2C039DD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7A23E723-8F98-4DE9-8A59-EA256B3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59BB2AEF-FDAE-4DBE-847E-BA35A5E1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03ECDB6-0E99-463D-B50B-A94AEF40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11116067-3805-4524-9C1B-3701BAC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5B8B9935-647F-420D-9471-E34E9C8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D664312B-5988-4620-BA75-40F844E6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213E6637-2B48-4A27-A1BE-E1368C0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B2E44CD6-B4EC-4440-A98D-66CDCEB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8FE9B16B-379F-4060-A4E8-71D7926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D7BE3FDA-E561-4E18-A527-BA751D3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88B5FF76-8C93-454B-B756-878FE39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3EA24FE8-FC41-4EE6-996D-D1003BA2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49CBD9BE-8EB8-4D2C-88B5-11BD2BAB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F3004773-E885-4B53-9DB6-00CC7F2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2A6B7DBB-40D2-4863-80D7-33EA386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0AB09521-BEF5-44ED-B95C-2769D35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5558F5AB-B670-4F87-8EE4-8C1816F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2874C154-5EE6-4C71-B85A-030FE04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ABC28C71-8C85-4A10-BA45-65AF82E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3C8241CA-1EB6-42A7-A310-ED88D088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CAEFAF40-46D8-4800-8BA3-5CF944E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focus-space">
            <a:extLst xmlns:a="http://schemas.openxmlformats.org/drawingml/2006/main">
              <a:ext uri="{FF2B5EF4-FFF2-40B4-BE49-F238E27FC236}">
                <a16:creationId xmlns:a16="http://schemas.microsoft.com/office/drawing/2014/main" id="{5B46C8AF-414F-41C2-8FD9-B2405E81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56210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0" name="tree-focus-limit">
            <a:extLst xmlns:a="http://schemas.openxmlformats.org/drawingml/2006/main">
              <a:ext uri="{FF2B5EF4-FFF2-40B4-BE49-F238E27FC236}">
                <a16:creationId xmlns:a16="http://schemas.microsoft.com/office/drawing/2014/main" id="{9A00A019-71E4-449A-8ADF-E5F981F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2405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1" name="tree-focus-repeat">
            <a:extLst xmlns:a="http://schemas.openxmlformats.org/drawingml/2006/main">
              <a:ext uri="{FF2B5EF4-FFF2-40B4-BE49-F238E27FC236}">
                <a16:creationId xmlns:a16="http://schemas.microsoft.com/office/drawing/2014/main" id="{5412CEB0-7717-49FC-83B9-61EC3BC1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0030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2" name="tree-focus-lossless">
            <a:extLst xmlns:a="http://schemas.openxmlformats.org/drawingml/2006/main">
              <a:ext uri="{FF2B5EF4-FFF2-40B4-BE49-F238E27FC236}">
                <a16:creationId xmlns:a16="http://schemas.microsoft.com/office/drawing/2014/main" id="{97B062B7-4B64-4572-A828-DC2F9121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9095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3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F155592D-C938-4126-A7B4-0CEEF29E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无损不保证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每份数据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都变小。</a:t>
            </a:r>
          </a:p>
        </p:txBody>
      </p:sp>
    </p:spTree>
    <p:extLst>
      <p:ext uri="{BB962C8B-B14F-4D97-AF65-F5344CB8AC3E}">
        <p14:creationId xmlns:p14="http://schemas.microsoft.com/office/powerpoint/2010/main" val="13951422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557DD9F7-2C7D-4A96-AD0B-D41E2992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691F1DF-8B82-4E05-AD05-149A27B8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1BD1042-B961-47BF-8BA7-B220B40B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422BA6F2-8624-4C8F-AFEE-46AEE33C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D5CC2BDA-CF99-4FFD-A636-FAA31BED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254DCB35-52C7-4A48-BF7B-2D2F2BD7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292377D6-C03F-4C1D-BD64-68A883B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C6E5DB84-DBC7-464E-BB42-142858F9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781B19D9-6E22-430C-990D-34D0DC4E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4BD47FE1-8130-4208-99D4-40CA037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CA0A6704-4D5C-4D65-BAF9-7796584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276CDA7E-513F-44D1-B9A1-C6D10EB0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3A59C826-21DC-4B96-A4C9-303C557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26195BD3-7506-4842-80C4-B7FDFED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3386F8D3-56EA-4288-B77B-9FB731B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0E4C1FF7-FC84-4B6F-8267-8D90944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F7AD9A93-FD73-4D2C-9660-DDA9A6A7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03171F4-BFC9-4141-9D24-8D979F4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37EAD9ED-9D8D-44D8-B584-A9726F60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CDC55E11-95D5-4DB4-9E0D-363BC9BD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</p:spTree>
    <p:extLst>
      <p:ext uri="{BB962C8B-B14F-4D97-AF65-F5344CB8AC3E}">
        <p14:creationId xmlns:p14="http://schemas.microsoft.com/office/powerpoint/2010/main" val="1073918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557DD9F7-2C7D-4A96-AD0B-D41E2992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691F1DF-8B82-4E05-AD05-149A27B8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1BD1042-B961-47BF-8BA7-B220B40B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422BA6F2-8624-4C8F-AFEE-46AEE33C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D5CC2BDA-CF99-4FFD-A636-FAA31BED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254DCB35-52C7-4A48-BF7B-2D2F2BD7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292377D6-C03F-4C1D-BD64-68A883B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C6E5DB84-DBC7-464E-BB42-142858F9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781B19D9-6E22-430C-990D-34D0DC4E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4BD47FE1-8130-4208-99D4-40CA037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CA0A6704-4D5C-4D65-BAF9-7796584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276CDA7E-513F-44D1-B9A1-C6D10EB0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3A59C826-21DC-4B96-A4C9-303C557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26195BD3-7506-4842-80C4-B7FDFED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3386F8D3-56EA-4288-B77B-9FB731B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0E4C1FF7-FC84-4B6F-8267-8D90944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F7AD9A93-FD73-4D2C-9660-DDA9A6A7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03171F4-BFC9-4141-9D24-8D979F4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37EAD9ED-9D8D-44D8-B584-A9726F60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CDC55E11-95D5-4DB4-9E0D-363BC9BD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8B50CA9A-2501-44A4-A909-1645BE6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</p:spTree>
    <p:extLst>
      <p:ext uri="{BB962C8B-B14F-4D97-AF65-F5344CB8AC3E}">
        <p14:creationId xmlns:p14="http://schemas.microsoft.com/office/powerpoint/2010/main" val="10739186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557DD9F7-2C7D-4A96-AD0B-D41E2992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691F1DF-8B82-4E05-AD05-149A27B8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1BD1042-B961-47BF-8BA7-B220B40B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422BA6F2-8624-4C8F-AFEE-46AEE33C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D5CC2BDA-CF99-4FFD-A636-FAA31BED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254DCB35-52C7-4A48-BF7B-2D2F2BD7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292377D6-C03F-4C1D-BD64-68A883B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C6E5DB84-DBC7-464E-BB42-142858F9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781B19D9-6E22-430C-990D-34D0DC4E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4BD47FE1-8130-4208-99D4-40CA037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CA0A6704-4D5C-4D65-BAF9-7796584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276CDA7E-513F-44D1-B9A1-C6D10EB0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3A59C826-21DC-4B96-A4C9-303C557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26195BD3-7506-4842-80C4-B7FDFED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3386F8D3-56EA-4288-B77B-9FB731B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0E4C1FF7-FC84-4B6F-8267-8D90944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F7AD9A93-FD73-4D2C-9660-DDA9A6A7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03171F4-BFC9-4141-9D24-8D979F4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37EAD9ED-9D8D-44D8-B584-A9726F60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CDC55E11-95D5-4DB4-9E0D-363BC9BD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8B50CA9A-2501-44A4-A909-1645BE6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  <p:sp>
        <p:nvSpPr>
          <p:cNvPr id="22" name="delta-size">
            <a:extLst xmlns:a="http://schemas.openxmlformats.org/drawingml/2006/main">
              <a:ext uri="{FF2B5EF4-FFF2-40B4-BE49-F238E27FC236}">
                <a16:creationId xmlns:a16="http://schemas.microsoft.com/office/drawing/2014/main" id="{A1A08EA1-2987-45A9-A024-87A72582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+ 7 × 2 = 22 bit → 3 B（补2 bit）</a:t>
            </a:r>
          </a:p>
        </p:txBody>
      </p:sp>
      <p:sp>
        <p:nvSpPr>
          <p:cNvPr id="23" name="delta-code-table">
            <a:extLst xmlns:a="http://schemas.openxmlformats.org/drawingml/2006/main">
              <a:ext uri="{FF2B5EF4-FFF2-40B4-BE49-F238E27FC236}">
                <a16:creationId xmlns:a16="http://schemas.microsoft.com/office/drawing/2014/main" id="{3AE6689B-DE8B-4833-BBB0-50F7A786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本串码表：−1 = 00；0 = 01；+1 = 10</a:t>
            </a:r>
          </a:p>
        </p:txBody>
      </p:sp>
    </p:spTree>
    <p:extLst>
      <p:ext uri="{BB962C8B-B14F-4D97-AF65-F5344CB8AC3E}">
        <p14:creationId xmlns:p14="http://schemas.microsoft.com/office/powerpoint/2010/main" val="10739186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364B621D-8815-4A1D-9CEE-982503C6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339A059-DB5D-4875-93F0-242F064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FAECC2E-989D-4573-809E-6B88CE80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3EE20BE-F1B2-4451-8F75-78B90CD4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5C359775-DC6C-4407-A8E0-0197E41E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4D602172-FBA7-43BB-9AC5-DA4D714A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7D0B0359-E9E7-4F86-AEB7-C612017C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16AB61F9-5A63-43A1-B6E5-73349FEE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3BC487C-02F7-4014-8AD3-4DFEF1F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</p:spTree>
    <p:extLst>
      <p:ext uri="{BB962C8B-B14F-4D97-AF65-F5344CB8AC3E}">
        <p14:creationId xmlns:p14="http://schemas.microsoft.com/office/powerpoint/2010/main" val="18166125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364B621D-8815-4A1D-9CEE-982503C6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339A059-DB5D-4875-93F0-242F064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FAECC2E-989D-4573-809E-6B88CE80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3EE20BE-F1B2-4451-8F75-78B90CD4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5C359775-DC6C-4407-A8E0-0197E41E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4D602172-FBA7-43BB-9AC5-DA4D714A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7D0B0359-E9E7-4F86-AEB7-C612017C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16AB61F9-5A63-43A1-B6E5-73349FEE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3BC487C-02F7-4014-8AD3-4DFEF1F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42516B97-B241-47F1-845D-296A59CD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</p:spTree>
    <p:extLst>
      <p:ext uri="{BB962C8B-B14F-4D97-AF65-F5344CB8AC3E}">
        <p14:creationId xmlns:p14="http://schemas.microsoft.com/office/powerpoint/2010/main" val="18166125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364B621D-8815-4A1D-9CEE-982503C6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339A059-DB5D-4875-93F0-242F064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FAECC2E-989D-4573-809E-6B88CE80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3EE20BE-F1B2-4451-8F75-78B90CD4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5C359775-DC6C-4407-A8E0-0197E41E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4D602172-FBA7-43BB-9AC5-DA4D714A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7D0B0359-E9E7-4F86-AEB7-C612017C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16AB61F9-5A63-43A1-B6E5-73349FEE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3BC487C-02F7-4014-8AD3-4DFEF1F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42516B97-B241-47F1-845D-296A59CD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  <p:sp>
        <p:nvSpPr>
          <p:cNvPr id="11" name="lossy-size">
            <a:extLst xmlns:a="http://schemas.openxmlformats.org/drawingml/2006/main">
              <a:ext uri="{FF2B5EF4-FFF2-40B4-BE49-F238E27FC236}">
                <a16:creationId xmlns:a16="http://schemas.microsoft.com/office/drawing/2014/main" id="{1F17CD30-EF84-4C73-8CDE-81B1F241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× 6 = 48 bit = 6 B；不能保证完整恢复</a:t>
            </a:r>
          </a:p>
        </p:txBody>
      </p:sp>
    </p:spTree>
    <p:extLst>
      <p:ext uri="{BB962C8B-B14F-4D97-AF65-F5344CB8AC3E}">
        <p14:creationId xmlns:p14="http://schemas.microsoft.com/office/powerpoint/2010/main" val="18166125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0BC03B4D-989E-40FF-BBC9-4D2D94AF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90B3C7F-6742-46F5-9FBC-65FA405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3A7074E-8411-494B-BDA9-B33C700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dd7368b14450d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9898bdaf34eb0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8B78BCBB-BC24-40BD-8936-55BFFDEB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BA9DFBBE-9FBF-42D0-A531-79E7F6AE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6D3829DF-366D-45EA-B2B8-59475DA8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两图均为1020 × 1500像素；以所提供JPEG本次解码的RGB为起点。</a:t>
            </a:r>
          </a:p>
        </p:txBody>
      </p:sp>
    </p:spTree>
    <p:extLst>
      <p:ext uri="{BB962C8B-B14F-4D97-AF65-F5344CB8AC3E}">
        <p14:creationId xmlns:p14="http://schemas.microsoft.com/office/powerpoint/2010/main" val="15475954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0BC03B4D-989E-40FF-BBC9-4D2D94AF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90B3C7F-6742-46F5-9FBC-65FA405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3A7074E-8411-494B-BDA9-B33C700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d1a44e2314b15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60faf34a047aa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8B78BCBB-BC24-40BD-8936-55BFFDEB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BA9DFBBE-9FBF-42D0-A531-79E7F6AE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6D3829DF-366D-45EA-B2B8-59475DA8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C9851FBB-9B3A-449A-A08C-6BD9EB17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PNG：本次回读像素一致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8D2F32AF-0C77-47C1-BF1E-2723DE0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JPEG：504,742个像素改变</a:t>
            </a:r>
          </a:p>
        </p:txBody>
      </p:sp>
    </p:spTree>
    <p:extLst>
      <p:ext uri="{BB962C8B-B14F-4D97-AF65-F5344CB8AC3E}">
        <p14:creationId xmlns:p14="http://schemas.microsoft.com/office/powerpoint/2010/main" val="15475954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0BC03B4D-989E-40FF-BBC9-4D2D94AF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90B3C7F-6742-46F5-9FBC-65FA405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3A7074E-8411-494B-BDA9-B33C700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a1e37c9a14f74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246a5513d46bc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8B78BCBB-BC24-40BD-8936-55BFFDEB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BA9DFBBE-9FBF-42D0-A531-79E7F6AE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6D3829DF-366D-45EA-B2B8-59475DA8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C9851FBB-9B3A-449A-A08C-6BD9EB17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PNG：本次回读像素一致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8D2F32AF-0C77-47C1-BF1E-2723DE0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JPEG：504,742个像素改变</a:t>
            </a:r>
          </a:p>
        </p:txBody>
      </p:sp>
      <p:sp>
        <p:nvSpPr>
          <p:cNvPr id="11" name="painting-crop-overlay">
            <a:extLst xmlns:a="http://schemas.openxmlformats.org/drawingml/2006/main">
              <a:ext uri="{FF2B5EF4-FFF2-40B4-BE49-F238E27FC236}">
                <a16:creationId xmlns:a16="http://schemas.microsoft.com/office/drawing/2014/main" id="{C59DD54C-8B67-4ACD-A86D-E9958F56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33575"/>
            <a:ext cx="109728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075a09b06434e"/>
          <a:stretch xmlns:a="http://schemas.openxmlformats.org/drawingml/2006/main"/>
        </p:blipFill>
        <p:spPr>
          <a:xfrm xmlns:a="http://schemas.openxmlformats.org/drawingml/2006/main">
            <a:off x="609600" y="2324100"/>
            <a:ext cx="5143500" cy="34290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319c2cead4a30"/>
          <a:stretch xmlns:a="http://schemas.openxmlformats.org/drawingml/2006/main"/>
        </p:blipFill>
        <p:spPr>
          <a:xfrm xmlns:a="http://schemas.openxmlformats.org/drawingml/2006/main">
            <a:off x="6419850" y="232410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14" name="painting-crop-caption">
            <a:extLst xmlns:a="http://schemas.openxmlformats.org/drawingml/2006/main">
              <a:ext uri="{FF2B5EF4-FFF2-40B4-BE49-F238E27FC236}">
                <a16:creationId xmlns:a16="http://schemas.microsoft.com/office/drawing/2014/main" id="{16A4D38B-057A-4C92-B3E0-1E35D69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同一192 × 128像素区域，最近邻放大4倍</a:t>
            </a:r>
          </a:p>
        </p:txBody>
      </p:sp>
    </p:spTree>
    <p:extLst>
      <p:ext uri="{BB962C8B-B14F-4D97-AF65-F5344CB8AC3E}">
        <p14:creationId xmlns:p14="http://schemas.microsoft.com/office/powerpoint/2010/main" val="15475954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0BC03B4D-989E-40FF-BBC9-4D2D94AF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90B3C7F-6742-46F5-9FBC-65FA405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3A7074E-8411-494B-BDA9-B33C700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9373f09e14233"/>
          <a:stretch xmlns:a="http://schemas.openxmlformats.org/drawingml/2006/main"/>
        </p:blipFill>
        <p:spPr>
          <a:xfrm xmlns:a="http://schemas.openxmlformats.org/drawingml/2006/main">
            <a:off x="1543050" y="1981200"/>
            <a:ext cx="2266950" cy="33337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94b7f3e414007"/>
          <a:stretch xmlns:a="http://schemas.openxmlformats.org/drawingml/2006/main"/>
        </p:blipFill>
        <p:spPr>
          <a:xfrm xmlns:a="http://schemas.openxmlformats.org/drawingml/2006/main">
            <a:off x="7391400" y="1981200"/>
            <a:ext cx="22669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8B78BCBB-BC24-40BD-8936-55BFFDEB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BA9DFBBE-9FBF-42D0-A531-79E7F6AE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painting-baseline">
            <a:extLst xmlns:a="http://schemas.openxmlformats.org/drawingml/2006/main">
              <a:ext uri="{FF2B5EF4-FFF2-40B4-BE49-F238E27FC236}">
                <a16:creationId xmlns:a16="http://schemas.microsoft.com/office/drawing/2014/main" id="{6D3829DF-366D-45EA-B2B8-59475DA8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比较本次输入RGB；不证明更早的原图无损。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C9851FBB-9B3A-449A-A08C-6BD9EB17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PNG：本次回读像素一致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8D2F32AF-0C77-47C1-BF1E-2723DE0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JPEG：504,742个像素改变</a:t>
            </a:r>
          </a:p>
        </p:txBody>
      </p:sp>
      <p:sp>
        <p:nvSpPr>
          <p:cNvPr id="11" name="painting-crop-overlay">
            <a:extLst xmlns:a="http://schemas.openxmlformats.org/drawingml/2006/main">
              <a:ext uri="{FF2B5EF4-FFF2-40B4-BE49-F238E27FC236}">
                <a16:creationId xmlns:a16="http://schemas.microsoft.com/office/drawing/2014/main" id="{C59DD54C-8B67-4ACD-A86D-E9958F56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33575"/>
            <a:ext cx="109728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b5a9d9c124318"/>
          <a:stretch xmlns:a="http://schemas.openxmlformats.org/drawingml/2006/main"/>
        </p:blipFill>
        <p:spPr>
          <a:xfrm xmlns:a="http://schemas.openxmlformats.org/drawingml/2006/main">
            <a:off x="609600" y="2324100"/>
            <a:ext cx="5143500" cy="342900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48eddf67c40f0"/>
          <a:stretch xmlns:a="http://schemas.openxmlformats.org/drawingml/2006/main"/>
        </p:blipFill>
        <p:spPr>
          <a:xfrm xmlns:a="http://schemas.openxmlformats.org/drawingml/2006/main">
            <a:off x="6419850" y="232410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14" name="painting-crop-caption">
            <a:extLst xmlns:a="http://schemas.openxmlformats.org/drawingml/2006/main">
              <a:ext uri="{FF2B5EF4-FFF2-40B4-BE49-F238E27FC236}">
                <a16:creationId xmlns:a16="http://schemas.microsoft.com/office/drawing/2014/main" id="{16A4D38B-057A-4C92-B3E0-1E35D69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同一192 × 128像素区域，最近邻放大4倍</a:t>
            </a:r>
          </a:p>
        </p:txBody>
      </p:sp>
      <p:sp>
        <p:nvSpPr>
          <p:cNvPr id="15" name="painting-size-overlay">
            <a:extLst xmlns:a="http://schemas.openxmlformats.org/drawingml/2006/main">
              <a:ext uri="{FF2B5EF4-FFF2-40B4-BE49-F238E27FC236}">
                <a16:creationId xmlns:a16="http://schemas.microsoft.com/office/drawing/2014/main" id="{D661609E-F13C-4BC0-9A1D-F49B002A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81150"/>
            <a:ext cx="109728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painting-size-heading">
            <a:extLst xmlns:a="http://schemas.openxmlformats.org/drawingml/2006/main">
              <a:ext uri="{FF2B5EF4-FFF2-40B4-BE49-F238E27FC236}">
                <a16:creationId xmlns:a16="http://schemas.microsoft.com/office/drawing/2014/main" id="{CF9B1DB0-2A2A-4E95-B2A7-C45E46E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这份绘画图像（1020 × 1500）</a:t>
            </a:r>
          </a:p>
        </p:txBody>
      </p:sp>
      <p:sp>
        <p:nvSpPr>
          <p:cNvPr id="17" name="painting-size-result">
            <a:extLst xmlns:a="http://schemas.openxmlformats.org/drawingml/2006/main">
              <a:ext uri="{FF2B5EF4-FFF2-40B4-BE49-F238E27FC236}">
                <a16:creationId xmlns:a16="http://schemas.microsoft.com/office/drawing/2014/main" id="{2D9AE270-C76E-4578-BD92-74ED87C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PNG 1,706,860 B    JPEG 240,848 B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2c6d58fef4eff"/>
          <a:stretch xmlns:a="http://schemas.openxmlformats.org/drawingml/2006/main"/>
        </p:blipFill>
        <p:spPr>
          <a:xfrm xmlns:a="http://schemas.openxmlformats.org/drawingml/2006/main">
            <a:off x="609600" y="3095625"/>
            <a:ext cx="3657600" cy="2057400"/>
          </a:xfrm>
          <a:prstGeom xmlns:a="http://schemas.openxmlformats.org/drawingml/2006/main" prst="rect">
            <a:avLst/>
          </a:prstGeom>
        </p:spPr>
      </p:pic>
      <p:sp>
        <p:nvSpPr>
          <p:cNvPr id="19" name="test-size-heading">
            <a:extLst xmlns:a="http://schemas.openxmlformats.org/drawingml/2006/main">
              <a:ext uri="{FF2B5EF4-FFF2-40B4-BE49-F238E27FC236}">
                <a16:creationId xmlns:a16="http://schemas.microsoft.com/office/drawing/2014/main" id="{0172A0D0-8648-48E8-A27A-0657FA5F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670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程序绘制的测试图（384 × 216）</a:t>
            </a:r>
          </a:p>
        </p:txBody>
      </p:sp>
      <p:sp>
        <p:nvSpPr>
          <p:cNvPr id="20" name="test-size-result">
            <a:extLst xmlns:a="http://schemas.openxmlformats.org/drawingml/2006/main">
              <a:ext uri="{FF2B5EF4-FFF2-40B4-BE49-F238E27FC236}">
                <a16:creationId xmlns:a16="http://schemas.microsoft.com/office/drawing/2014/main" id="{629EA698-FA29-4951-BE12-4D4FF060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670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JPEG 10,766 B</a:t>
            </a:r>
          </a:p>
        </p:txBody>
      </p:sp>
      <p:sp>
        <p:nvSpPr>
          <p:cNvPr id="21" name="painting-size-conclusion">
            <a:extLst xmlns:a="http://schemas.openxmlformats.org/drawingml/2006/main">
              <a:ext uri="{FF2B5EF4-FFF2-40B4-BE49-F238E27FC236}">
                <a16:creationId xmlns:a16="http://schemas.microsoft.com/office/drawing/2014/main" id="{FF87E4F2-6672-49D1-9E74-B6AD9F48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有损／无损说明能否精确恢复，不能替我们排文件大小。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5475954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34AE0563-BFD0-408E-9B51-D068782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36CBA3E-EFAE-484B-831D-BA46854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D49A458-9CE5-49CB-A2F3-3AA8EEC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利用关系能无损；舍弃区分会有损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1AE17F97-F8C0-4265-B2F6-355459C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63557EFE-481C-41AD-A183-D77A82E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3C08F800-D18D-4177-AB97-F49D8B50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1CEA1193-9F7F-42BF-A301-C2C039DD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7A23E723-8F98-4DE9-8A59-EA256B3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59BB2AEF-FDAE-4DBE-847E-BA35A5E1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03ECDB6-0E99-463D-B50B-A94AEF40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11116067-3805-4524-9C1B-3701BAC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5B8B9935-647F-420D-9471-E34E9C8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D664312B-5988-4620-BA75-40F844E6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213E6637-2B48-4A27-A1BE-E1368C0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B2E44CD6-B4EC-4440-A98D-66CDCEB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8FE9B16B-379F-4060-A4E8-71D7926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D7BE3FDA-E561-4E18-A527-BA751D3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88B5FF76-8C93-454B-B756-878FE39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3EA24FE8-FC41-4EE6-996D-D1003BA2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49CBD9BE-8EB8-4D2C-88B5-11BD2BAB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F3004773-E885-4B53-9DB6-00CC7F2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2A6B7DBB-40D2-4863-80D7-33EA386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0AB09521-BEF5-44ED-B95C-2769D35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5558F5AB-B670-4F87-8EE4-8C1816F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2874C154-5EE6-4C71-B85A-030FE04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ABC28C71-8C85-4A10-BA45-65AF82E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3C8241CA-1EB6-42A7-A310-ED88D088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CAEFAF40-46D8-4800-8BA3-5CF944E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B653FCC4-AC43-405E-9FCA-B927C8E3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EF2CE915-3A67-49B8-962E-5217A8B4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C236C6C5-6665-4F19-924D-5570CBCD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69DFBA9E-3CE0-4891-8123-5D413555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3889D2CF-4CDA-479A-BD06-054AE991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5B62C3DD-217D-4ABE-83A0-B005C9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focus-correlation">
            <a:extLst xmlns:a="http://schemas.openxmlformats.org/drawingml/2006/main">
              <a:ext uri="{FF2B5EF4-FFF2-40B4-BE49-F238E27FC236}">
                <a16:creationId xmlns:a16="http://schemas.microsoft.com/office/drawing/2014/main" id="{B279D916-C1D8-48DA-84D6-74EEA5F6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6225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6" name="tree-focus-perception">
            <a:extLst xmlns:a="http://schemas.openxmlformats.org/drawingml/2006/main">
              <a:ext uri="{FF2B5EF4-FFF2-40B4-BE49-F238E27FC236}">
                <a16:creationId xmlns:a16="http://schemas.microsoft.com/office/drawing/2014/main" id="{B6FADF8E-BF78-45FC-BAE2-7C94DD3D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12420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7" name="tree-focus-lossy">
            <a:extLst xmlns:a="http://schemas.openxmlformats.org/drawingml/2006/main">
              <a:ext uri="{FF2B5EF4-FFF2-40B4-BE49-F238E27FC236}">
                <a16:creationId xmlns:a16="http://schemas.microsoft.com/office/drawing/2014/main" id="{71C2F4ED-9133-404E-A4E2-7F01185D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5290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8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20B71AD8-B978-4455-B15D-C3C2E7A2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看起来相似，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不能证明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原值相同。</a:t>
            </a:r>
          </a:p>
        </p:txBody>
      </p:sp>
    </p:spTree>
    <p:extLst>
      <p:ext uri="{BB962C8B-B14F-4D97-AF65-F5344CB8AC3E}">
        <p14:creationId xmlns:p14="http://schemas.microsoft.com/office/powerpoint/2010/main" val="13951422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rail">
            <a:extLst xmlns:a="http://schemas.openxmlformats.org/drawingml/2006/main">
              <a:ext uri="{FF2B5EF4-FFF2-40B4-BE49-F238E27FC236}">
                <a16:creationId xmlns:a16="http://schemas.microsoft.com/office/drawing/2014/main" id="{97BA5646-2E10-4CAF-A9E2-28347306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D8A61AF-31BD-4FA0-BF6D-ABE4A62D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231328A-F43F-4264-80BC-759A3FAD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005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97BA5646-2E10-4CAF-A9E2-28347306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D8A61AF-31BD-4FA0-BF6D-ABE4A62D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231328A-F43F-4264-80BC-759A3FAD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use-answer">
            <a:extLst xmlns:a="http://schemas.openxmlformats.org/drawingml/2006/main">
              <a:ext uri="{FF2B5EF4-FFF2-40B4-BE49-F238E27FC236}">
                <a16:creationId xmlns:a16="http://schemas.microsoft.com/office/drawing/2014/main" id="{837190CE-0852-4213-ADF0-5D8BFF46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文本文档／程序必须无损；媒体要检查用途与质量。</a:t>
            </a:r>
          </a:p>
        </p:txBody>
      </p:sp>
    </p:spTree>
    <p:extLst>
      <p:ext uri="{BB962C8B-B14F-4D97-AF65-F5344CB8AC3E}">
        <p14:creationId xmlns:p14="http://schemas.microsoft.com/office/powerpoint/2010/main" val="3376005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C603946C-5DEA-4AB4-AEBC-A22B7C6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4C2929B-F42B-4C95-8F5F-DF5B8A55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758847E-994D-43CB-A584-04C96474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25794D8-8866-4D22-ACBF-0553AD0C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7B8EB38C-88C0-45F0-99C9-BA15275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</p:spTree>
    <p:extLst>
      <p:ext uri="{BB962C8B-B14F-4D97-AF65-F5344CB8AC3E}">
        <p14:creationId xmlns:p14="http://schemas.microsoft.com/office/powerpoint/2010/main" val="15336952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C603946C-5DEA-4AB4-AEBC-A22B7C6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4C2929B-F42B-4C95-8F5F-DF5B8A55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758847E-994D-43CB-A584-04C96474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25794D8-8866-4D22-ACBF-0553AD0C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7B8EB38C-88C0-45F0-99C9-BA15275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EBE0144E-606B-4A91-A04D-5B0E96DE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</p:spTree>
    <p:extLst>
      <p:ext uri="{BB962C8B-B14F-4D97-AF65-F5344CB8AC3E}">
        <p14:creationId xmlns:p14="http://schemas.microsoft.com/office/powerpoint/2010/main" val="15336952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C603946C-5DEA-4AB4-AEBC-A22B7C6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4C2929B-F42B-4C95-8F5F-DF5B8A55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758847E-994D-43CB-A584-04C96474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425794D8-8866-4D22-ACBF-0553AD0C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7B8EB38C-88C0-45F0-99C9-BA15275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EBE0144E-606B-4A91-A04D-5B0E96DE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  <p:sp>
        <p:nvSpPr>
          <p:cNvPr id="8" name="format-overlay">
            <a:extLst xmlns:a="http://schemas.openxmlformats.org/drawingml/2006/main">
              <a:ext uri="{FF2B5EF4-FFF2-40B4-BE49-F238E27FC236}">
                <a16:creationId xmlns:a16="http://schemas.microsoft.com/office/drawing/2014/main" id="{E5AE00DA-B0CB-4133-920B-B7187540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14500"/>
            <a:ext cx="109728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5375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52750"/>
                <a:gridCol w="5715000"/>
              </a:tblGrid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常见用途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本课保留的边界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JPG/JPEG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常见照片保存通常有损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TIF/TIFF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需看所用编码方式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常见有损音频编码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视频相关标准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常见视频用途采用有损编码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format-key">
            <a:extLst xmlns:a="http://schemas.openxmlformats.org/drawingml/2006/main">
              <a:ext uri="{FF2B5EF4-FFF2-40B4-BE49-F238E27FC236}">
                <a16:creationId xmlns:a16="http://schemas.microsoft.com/office/drawing/2014/main" id="{B21C3492-0FDB-441B-AE28-9E2C3A96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先看用途与保存方式，再判断。</a:t>
            </a:r>
          </a:p>
        </p:txBody>
      </p:sp>
    </p:spTree>
    <p:extLst>
      <p:ext uri="{BB962C8B-B14F-4D97-AF65-F5344CB8AC3E}">
        <p14:creationId xmlns:p14="http://schemas.microsoft.com/office/powerpoint/2010/main" val="15336952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34AE0563-BFD0-408E-9B51-D068782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36CBA3E-EFAE-484B-831D-BA46854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D49A458-9CE5-49CB-A2F3-3AA8EEC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能否接受有损，要看用途与编码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1AE17F97-F8C0-4265-B2F6-355459C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63557EFE-481C-41AD-A183-D77A82E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3C08F800-D18D-4177-AB97-F49D8B50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1CEA1193-9F7F-42BF-A301-C2C039DD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7A23E723-8F98-4DE9-8A59-EA256B3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59BB2AEF-FDAE-4DBE-847E-BA35A5E1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03ECDB6-0E99-463D-B50B-A94AEF40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11116067-3805-4524-9C1B-3701BAC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5B8B9935-647F-420D-9471-E34E9C8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D664312B-5988-4620-BA75-40F844E6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213E6637-2B48-4A27-A1BE-E1368C0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B2E44CD6-B4EC-4440-A98D-66CDCEB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8FE9B16B-379F-4060-A4E8-71D7926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D7BE3FDA-E561-4E18-A527-BA751D3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88B5FF76-8C93-454B-B756-878FE39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3EA24FE8-FC41-4EE6-996D-D1003BA2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49CBD9BE-8EB8-4D2C-88B5-11BD2BAB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F3004773-E885-4B53-9DB6-00CC7F2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2A6B7DBB-40D2-4863-80D7-33EA386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0AB09521-BEF5-44ED-B95C-2769D35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5558F5AB-B670-4F87-8EE4-8C1816F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2874C154-5EE6-4C71-B85A-030FE04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ABC28C71-8C85-4A10-BA45-65AF82E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3C8241CA-1EB6-42A7-A310-ED88D088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CAEFAF40-46D8-4800-8BA3-5CF944E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B653FCC4-AC43-405E-9FCA-B927C8E3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EF2CE915-3A67-49B8-962E-5217A8B4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C236C6C5-6665-4F19-924D-5570CBCD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69DFBA9E-3CE0-4891-8123-5D413555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3889D2CF-4CDA-479A-BD06-054AE991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5B62C3DD-217D-4ABE-83A0-B005C9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leaf-textcode">
            <a:extLst xmlns:a="http://schemas.openxmlformats.org/drawingml/2006/main">
              <a:ext uri="{FF2B5EF4-FFF2-40B4-BE49-F238E27FC236}">
                <a16:creationId xmlns:a16="http://schemas.microsoft.com/office/drawing/2014/main" id="{99DEC555-57D7-4CC2-A273-EE9555A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文本文档／程序：必须无损</a:t>
            </a:r>
          </a:p>
        </p:txBody>
      </p:sp>
      <p:sp>
        <p:nvSpPr>
          <p:cNvPr id="36" name="tree-leaf-link-textcode">
            <a:extLst xmlns:a="http://schemas.openxmlformats.org/drawingml/2006/main">
              <a:ext uri="{FF2B5EF4-FFF2-40B4-BE49-F238E27FC236}">
                <a16:creationId xmlns:a16="http://schemas.microsoft.com/office/drawing/2014/main" id="{DB0C29A1-80C4-4003-A3C7-C1F2B866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7" name="tree-leaf-media">
            <a:extLst xmlns:a="http://schemas.openxmlformats.org/drawingml/2006/main">
              <a:ext uri="{FF2B5EF4-FFF2-40B4-BE49-F238E27FC236}">
                <a16:creationId xmlns:a16="http://schemas.microsoft.com/office/drawing/2014/main" id="{2E02A1A8-EA26-4C9C-933A-A8F8B4DF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媒体：所需主要信息仍可获取</a:t>
            </a:r>
          </a:p>
        </p:txBody>
      </p:sp>
      <p:sp>
        <p:nvSpPr>
          <p:cNvPr id="38" name="tree-leaf-link-media">
            <a:extLst xmlns:a="http://schemas.openxmlformats.org/drawingml/2006/main">
              <a:ext uri="{FF2B5EF4-FFF2-40B4-BE49-F238E27FC236}">
                <a16:creationId xmlns:a16="http://schemas.microsoft.com/office/drawing/2014/main" id="{B8E4C20D-4BF0-4A05-A134-3E840729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9" name="tree-leaf-format">
            <a:extLst xmlns:a="http://schemas.openxmlformats.org/drawingml/2006/main">
              <a:ext uri="{FF2B5EF4-FFF2-40B4-BE49-F238E27FC236}">
                <a16:creationId xmlns:a16="http://schemas.microsoft.com/office/drawing/2014/main" id="{6D503BAE-B060-4010-BFF3-CD0195DE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格式名不足；TIF须查具体编码</a:t>
            </a:r>
          </a:p>
        </p:txBody>
      </p:sp>
      <p:sp>
        <p:nvSpPr>
          <p:cNvPr id="40" name="tree-leaf-link-format">
            <a:extLst xmlns:a="http://schemas.openxmlformats.org/drawingml/2006/main">
              <a:ext uri="{FF2B5EF4-FFF2-40B4-BE49-F238E27FC236}">
                <a16:creationId xmlns:a16="http://schemas.microsoft.com/office/drawing/2014/main" id="{F88A39BF-C2F2-4594-9324-323CCCEA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76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1" name="tree-stem-choice">
            <a:extLst xmlns:a="http://schemas.openxmlformats.org/drawingml/2006/main">
              <a:ext uri="{FF2B5EF4-FFF2-40B4-BE49-F238E27FC236}">
                <a16:creationId xmlns:a16="http://schemas.microsoft.com/office/drawing/2014/main" id="{75EFD712-C7B9-4BE7-A960-6BD49CD0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2" name="tree-parent-link-choice">
            <a:extLst xmlns:a="http://schemas.openxmlformats.org/drawingml/2006/main">
              <a:ext uri="{FF2B5EF4-FFF2-40B4-BE49-F238E27FC236}">
                <a16:creationId xmlns:a16="http://schemas.microsoft.com/office/drawing/2014/main" id="{878E1E51-4C03-4F1A-B471-839E4741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3" name="tree-focus-textcode">
            <a:extLst xmlns:a="http://schemas.openxmlformats.org/drawingml/2006/main">
              <a:ext uri="{FF2B5EF4-FFF2-40B4-BE49-F238E27FC236}">
                <a16:creationId xmlns:a16="http://schemas.microsoft.com/office/drawing/2014/main" id="{C5230258-4F08-411A-9972-DCC7EABE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76250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4" name="tree-focus-media">
            <a:extLst xmlns:a="http://schemas.openxmlformats.org/drawingml/2006/main">
              <a:ext uri="{FF2B5EF4-FFF2-40B4-BE49-F238E27FC236}">
                <a16:creationId xmlns:a16="http://schemas.microsoft.com/office/drawing/2014/main" id="{E4473D83-DB42-4628-AE64-94D6A65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5" name="tree-focus-format">
            <a:extLst xmlns:a="http://schemas.openxmlformats.org/drawingml/2006/main">
              <a:ext uri="{FF2B5EF4-FFF2-40B4-BE49-F238E27FC236}">
                <a16:creationId xmlns:a16="http://schemas.microsoft.com/office/drawing/2014/main" id="{D3237EA6-0AC8-4444-AB13-3324CDA7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48640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6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5A8D7ADD-1725-41D1-BD31-464C337D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媒体接受有损，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需要质量达标。</a:t>
            </a:r>
          </a:p>
        </p:txBody>
      </p:sp>
    </p:spTree>
    <p:extLst>
      <p:ext uri="{BB962C8B-B14F-4D97-AF65-F5344CB8AC3E}">
        <p14:creationId xmlns:p14="http://schemas.microsoft.com/office/powerpoint/2010/main" val="13951422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BBB1EA84-A136-4138-8EE0-C824A5D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8CA3EDF-1443-4DA3-9321-F7E97A1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73DFF9-7D94-4828-ABA9-343C520B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102BAE91-BCC1-4C18-B6A2-501EB6F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D6AC7CCC-ADFE-4B02-AE1B-DEB1F77A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</p:spTree>
    <p:extLst>
      <p:ext uri="{BB962C8B-B14F-4D97-AF65-F5344CB8AC3E}">
        <p14:creationId xmlns:p14="http://schemas.microsoft.com/office/powerpoint/2010/main" val="21186353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BBB1EA84-A136-4138-8EE0-C824A5D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8CA3EDF-1443-4DA3-9321-F7E97A1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73DFF9-7D94-4828-ABA9-343C520B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102BAE91-BCC1-4C18-B6A2-501EB6F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D6AC7CCC-ADFE-4B02-AE1B-DEB1F77A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  <p:sp>
        <p:nvSpPr>
          <p:cNvPr id="7" name="choice-answer">
            <a:extLst xmlns:a="http://schemas.openxmlformats.org/drawingml/2006/main">
              <a:ext uri="{FF2B5EF4-FFF2-40B4-BE49-F238E27FC236}">
                <a16:creationId xmlns:a16="http://schemas.microsoft.com/office/drawing/2014/main" id="{682D163F-6D90-45A3-8D79-5B644903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源程序选A；照片浏览副本选B。两项要求都要满足。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21186353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34AE0563-BFD0-408E-9B51-D068782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36CBA3E-EFAE-484B-831D-BA46854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D49A458-9CE5-49CB-A2F3-3AA8EEC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用完整知识树检查压缩方案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1AE17F97-F8C0-4265-B2F6-355459C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5" name="tree-trunk-horizontal">
            <a:extLst xmlns:a="http://schemas.openxmlformats.org/drawingml/2006/main">
              <a:ext uri="{FF2B5EF4-FFF2-40B4-BE49-F238E27FC236}">
                <a16:creationId xmlns:a16="http://schemas.microsoft.com/office/drawing/2014/main" id="{63557EFE-481C-41AD-A183-D77A82E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3C08F800-D18D-4177-AB97-F49D8B50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7" name="tree-branch-link-purpose">
            <a:extLst xmlns:a="http://schemas.openxmlformats.org/drawingml/2006/main">
              <a:ext uri="{FF2B5EF4-FFF2-40B4-BE49-F238E27FC236}">
                <a16:creationId xmlns:a16="http://schemas.microsoft.com/office/drawing/2014/main" id="{1CEA1193-9F7F-42BF-A301-C2C039DD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tree-branch-purpose">
            <a:extLst xmlns:a="http://schemas.openxmlformats.org/drawingml/2006/main">
              <a:ext uri="{FF2B5EF4-FFF2-40B4-BE49-F238E27FC236}">
                <a16:creationId xmlns:a16="http://schemas.microsoft.com/office/drawing/2014/main" id="{7A23E723-8F98-4DE9-8A59-EA256B3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为何压缩</a:t>
            </a:r>
          </a:p>
        </p:txBody>
      </p:sp>
      <p:sp>
        <p:nvSpPr>
          <p:cNvPr id="9" name="tree-branch-link-method">
            <a:extLst xmlns:a="http://schemas.openxmlformats.org/drawingml/2006/main">
              <a:ext uri="{FF2B5EF4-FFF2-40B4-BE49-F238E27FC236}">
                <a16:creationId xmlns:a16="http://schemas.microsoft.com/office/drawing/2014/main" id="{59BB2AEF-FDAE-4DBE-847E-BA35A5E1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527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" name="tree-branch-method">
            <a:extLst xmlns:a="http://schemas.openxmlformats.org/drawingml/2006/main">
              <a:ext uri="{FF2B5EF4-FFF2-40B4-BE49-F238E27FC236}">
                <a16:creationId xmlns:a16="http://schemas.microsoft.com/office/drawing/2014/main" id="{B03ECDB6-0E99-463D-B50B-A94AEF40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怎样变小</a:t>
            </a:r>
          </a:p>
        </p:txBody>
      </p:sp>
      <p:sp>
        <p:nvSpPr>
          <p:cNvPr id="11" name="tree-branch-link-recovery">
            <a:extLst xmlns:a="http://schemas.openxmlformats.org/drawingml/2006/main">
              <a:ext uri="{FF2B5EF4-FFF2-40B4-BE49-F238E27FC236}">
                <a16:creationId xmlns:a16="http://schemas.microsoft.com/office/drawing/2014/main" id="{11116067-3805-4524-9C1B-3701BAC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624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" name="tree-branch-recovery">
            <a:extLst xmlns:a="http://schemas.openxmlformats.org/drawingml/2006/main">
              <a:ext uri="{FF2B5EF4-FFF2-40B4-BE49-F238E27FC236}">
                <a16:creationId xmlns:a16="http://schemas.microsoft.com/office/drawing/2014/main" id="{5B8B9935-647F-420D-9471-E34E9C8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能否恢复</a:t>
            </a:r>
          </a:p>
        </p:txBody>
      </p:sp>
      <p:sp>
        <p:nvSpPr>
          <p:cNvPr id="13" name="tree-branch-link-choice">
            <a:extLst xmlns:a="http://schemas.openxmlformats.org/drawingml/2006/main">
              <a:ext uri="{FF2B5EF4-FFF2-40B4-BE49-F238E27FC236}">
                <a16:creationId xmlns:a16="http://schemas.microsoft.com/office/drawing/2014/main" id="{D664312B-5988-4620-BA75-40F844E6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tree-branch-choice">
            <a:extLst xmlns:a="http://schemas.openxmlformats.org/drawingml/2006/main">
              <a:ext uri="{FF2B5EF4-FFF2-40B4-BE49-F238E27FC236}">
                <a16:creationId xmlns:a16="http://schemas.microsoft.com/office/drawing/2014/main" id="{213E6637-2B48-4A27-A1BE-E1368C0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24475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怎样选择</a:t>
            </a:r>
          </a:p>
        </p:txBody>
      </p:sp>
      <p:sp>
        <p:nvSpPr>
          <p:cNvPr id="15" name="tree-leaf-space">
            <a:extLst xmlns:a="http://schemas.openxmlformats.org/drawingml/2006/main">
              <a:ext uri="{FF2B5EF4-FFF2-40B4-BE49-F238E27FC236}">
                <a16:creationId xmlns:a16="http://schemas.microsoft.com/office/drawing/2014/main" id="{B2E44CD6-B4EC-4440-A98D-66CDCEB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特殊编码，减少存储／传输数据量</a:t>
            </a:r>
          </a:p>
        </p:txBody>
      </p:sp>
      <p:sp>
        <p:nvSpPr>
          <p:cNvPr id="16" name="tree-leaf-link-space">
            <a:extLst xmlns:a="http://schemas.openxmlformats.org/drawingml/2006/main">
              <a:ext uri="{FF2B5EF4-FFF2-40B4-BE49-F238E27FC236}">
                <a16:creationId xmlns:a16="http://schemas.microsoft.com/office/drawing/2014/main" id="{8FE9B16B-379F-4060-A4E8-71D7926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7" name="tree-leaf-limit">
            <a:extLst xmlns:a="http://schemas.openxmlformats.org/drawingml/2006/main">
              <a:ext uri="{FF2B5EF4-FFF2-40B4-BE49-F238E27FC236}">
                <a16:creationId xmlns:a16="http://schemas.microsoft.com/office/drawing/2014/main" id="{D7BE3FDA-E561-4E18-A527-BA751D3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效果取决于数据、方法与开销</a:t>
            </a:r>
          </a:p>
        </p:txBody>
      </p:sp>
      <p:sp>
        <p:nvSpPr>
          <p:cNvPr id="18" name="tree-leaf-link-limit">
            <a:extLst xmlns:a="http://schemas.openxmlformats.org/drawingml/2006/main">
              <a:ext uri="{FF2B5EF4-FFF2-40B4-BE49-F238E27FC236}">
                <a16:creationId xmlns:a16="http://schemas.microsoft.com/office/drawing/2014/main" id="{88B5FF76-8C93-454B-B756-878FE39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19" name="tree-leaf-repeat">
            <a:extLst xmlns:a="http://schemas.openxmlformats.org/drawingml/2006/main">
              <a:ext uri="{FF2B5EF4-FFF2-40B4-BE49-F238E27FC236}">
                <a16:creationId xmlns:a16="http://schemas.microsoft.com/office/drawing/2014/main" id="{3EA24FE8-FC41-4EE6-996D-D1003BA2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去除冗余：连续重复写成次数</a:t>
            </a:r>
          </a:p>
        </p:txBody>
      </p:sp>
      <p:sp>
        <p:nvSpPr>
          <p:cNvPr id="20" name="tree-leaf-link-repeat">
            <a:extLst xmlns:a="http://schemas.openxmlformats.org/drawingml/2006/main">
              <a:ext uri="{FF2B5EF4-FFF2-40B4-BE49-F238E27FC236}">
                <a16:creationId xmlns:a16="http://schemas.microsoft.com/office/drawing/2014/main" id="{49CBD9BE-8EB8-4D2C-88B5-11BD2BAB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1" name="tree-leaf-lossless">
            <a:extLst xmlns:a="http://schemas.openxmlformats.org/drawingml/2006/main">
              <a:ext uri="{FF2B5EF4-FFF2-40B4-BE49-F238E27FC236}">
                <a16:creationId xmlns:a16="http://schemas.microsoft.com/office/drawing/2014/main" id="{F3004773-E885-4B53-9DB6-00CC7F2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无损：可完全恢复原始数据</a:t>
            </a:r>
          </a:p>
        </p:txBody>
      </p:sp>
      <p:sp>
        <p:nvSpPr>
          <p:cNvPr id="22" name="tree-leaf-link-lossless">
            <a:extLst xmlns:a="http://schemas.openxmlformats.org/drawingml/2006/main">
              <a:ext uri="{FF2B5EF4-FFF2-40B4-BE49-F238E27FC236}">
                <a16:creationId xmlns:a16="http://schemas.microsoft.com/office/drawing/2014/main" id="{2A6B7DBB-40D2-4863-80D7-33EA386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3" name="tree-stem-purpose">
            <a:extLst xmlns:a="http://schemas.openxmlformats.org/drawingml/2006/main">
              <a:ext uri="{FF2B5EF4-FFF2-40B4-BE49-F238E27FC236}">
                <a16:creationId xmlns:a16="http://schemas.microsoft.com/office/drawing/2014/main" id="{0AB09521-BEF5-44ED-B95C-2769D35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4" name="tree-parent-link-purpose">
            <a:extLst xmlns:a="http://schemas.openxmlformats.org/drawingml/2006/main">
              <a:ext uri="{FF2B5EF4-FFF2-40B4-BE49-F238E27FC236}">
                <a16:creationId xmlns:a16="http://schemas.microsoft.com/office/drawing/2014/main" id="{5558F5AB-B670-4F87-8EE4-8C1816F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240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5" name="tree-stem-method">
            <a:extLst xmlns:a="http://schemas.openxmlformats.org/drawingml/2006/main">
              <a:ext uri="{FF2B5EF4-FFF2-40B4-BE49-F238E27FC236}">
                <a16:creationId xmlns:a16="http://schemas.microsoft.com/office/drawing/2014/main" id="{2874C154-5EE6-4C71-B85A-030FE04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6" name="tree-parent-link-method">
            <a:extLst xmlns:a="http://schemas.openxmlformats.org/drawingml/2006/main">
              <a:ext uri="{FF2B5EF4-FFF2-40B4-BE49-F238E27FC236}">
                <a16:creationId xmlns:a16="http://schemas.microsoft.com/office/drawing/2014/main" id="{ABC28C71-8C85-4A10-BA45-65AF82E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52750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7" name="tree-stem-recovery">
            <a:extLst xmlns:a="http://schemas.openxmlformats.org/drawingml/2006/main">
              <a:ext uri="{FF2B5EF4-FFF2-40B4-BE49-F238E27FC236}">
                <a16:creationId xmlns:a16="http://schemas.microsoft.com/office/drawing/2014/main" id="{3C8241CA-1EB6-42A7-A310-ED88D088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8" name="tree-parent-link-recovery">
            <a:extLst xmlns:a="http://schemas.openxmlformats.org/drawingml/2006/main">
              <a:ext uri="{FF2B5EF4-FFF2-40B4-BE49-F238E27FC236}">
                <a16:creationId xmlns:a16="http://schemas.microsoft.com/office/drawing/2014/main" id="{CAEFAF40-46D8-4800-8BA3-5CF944E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29" name="tree-leaf-correlation">
            <a:extLst xmlns:a="http://schemas.openxmlformats.org/drawingml/2006/main">
              <a:ext uri="{FF2B5EF4-FFF2-40B4-BE49-F238E27FC236}">
                <a16:creationId xmlns:a16="http://schemas.microsoft.com/office/drawing/2014/main" id="{B653FCC4-AC43-405E-9FCA-B927C8E3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利用相关：首值＋完整差值</a:t>
            </a:r>
          </a:p>
        </p:txBody>
      </p:sp>
      <p:sp>
        <p:nvSpPr>
          <p:cNvPr id="30" name="tree-leaf-link-correlation">
            <a:extLst xmlns:a="http://schemas.openxmlformats.org/drawingml/2006/main">
              <a:ext uri="{FF2B5EF4-FFF2-40B4-BE49-F238E27FC236}">
                <a16:creationId xmlns:a16="http://schemas.microsoft.com/office/drawing/2014/main" id="{EF2CE915-3A67-49B8-962E-5217A8B4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1" name="tree-leaf-perception">
            <a:extLst xmlns:a="http://schemas.openxmlformats.org/drawingml/2006/main">
              <a:ext uri="{FF2B5EF4-FFF2-40B4-BE49-F238E27FC236}">
                <a16:creationId xmlns:a16="http://schemas.microsoft.com/office/drawing/2014/main" id="{C236C6C5-6665-4F19-924D-5570CBCD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感知近似：舍弃不敏感的区分</a:t>
            </a:r>
          </a:p>
        </p:txBody>
      </p:sp>
      <p:sp>
        <p:nvSpPr>
          <p:cNvPr id="32" name="tree-leaf-link-perception">
            <a:extLst xmlns:a="http://schemas.openxmlformats.org/drawingml/2006/main">
              <a:ext uri="{FF2B5EF4-FFF2-40B4-BE49-F238E27FC236}">
                <a16:creationId xmlns:a16="http://schemas.microsoft.com/office/drawing/2014/main" id="{69DFBA9E-3CE0-4891-8123-5D413555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3" name="tree-leaf-lossy">
            <a:extLst xmlns:a="http://schemas.openxmlformats.org/drawingml/2006/main">
              <a:ext uri="{FF2B5EF4-FFF2-40B4-BE49-F238E27FC236}">
                <a16:creationId xmlns:a16="http://schemas.microsoft.com/office/drawing/2014/main" id="{3889D2CF-4CDA-479A-BD06-054AE991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有损：不能保证完全恢复</a:t>
            </a:r>
          </a:p>
        </p:txBody>
      </p:sp>
      <p:sp>
        <p:nvSpPr>
          <p:cNvPr id="34" name="tree-leaf-link-lossy">
            <a:extLst xmlns:a="http://schemas.openxmlformats.org/drawingml/2006/main">
              <a:ext uri="{FF2B5EF4-FFF2-40B4-BE49-F238E27FC236}">
                <a16:creationId xmlns:a16="http://schemas.microsoft.com/office/drawing/2014/main" id="{5B62C3DD-217D-4ABE-83A0-B005C9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5" name="tree-leaf-textcode">
            <a:extLst xmlns:a="http://schemas.openxmlformats.org/drawingml/2006/main">
              <a:ext uri="{FF2B5EF4-FFF2-40B4-BE49-F238E27FC236}">
                <a16:creationId xmlns:a16="http://schemas.microsoft.com/office/drawing/2014/main" id="{99DEC555-57D7-4CC2-A273-EE9555A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文本文档／程序：必须无损</a:t>
            </a:r>
          </a:p>
        </p:txBody>
      </p:sp>
      <p:sp>
        <p:nvSpPr>
          <p:cNvPr id="36" name="tree-leaf-link-textcode">
            <a:extLst xmlns:a="http://schemas.openxmlformats.org/drawingml/2006/main">
              <a:ext uri="{FF2B5EF4-FFF2-40B4-BE49-F238E27FC236}">
                <a16:creationId xmlns:a16="http://schemas.microsoft.com/office/drawing/2014/main" id="{DB0C29A1-80C4-4003-A3C7-C1F2B866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7" name="tree-leaf-media">
            <a:extLst xmlns:a="http://schemas.openxmlformats.org/drawingml/2006/main">
              <a:ext uri="{FF2B5EF4-FFF2-40B4-BE49-F238E27FC236}">
                <a16:creationId xmlns:a16="http://schemas.microsoft.com/office/drawing/2014/main" id="{2E02A1A8-EA26-4C9C-933A-A8F8B4DF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媒体：所需主要信息仍可获取</a:t>
            </a:r>
          </a:p>
        </p:txBody>
      </p:sp>
      <p:sp>
        <p:nvSpPr>
          <p:cNvPr id="38" name="tree-leaf-link-media">
            <a:extLst xmlns:a="http://schemas.openxmlformats.org/drawingml/2006/main">
              <a:ext uri="{FF2B5EF4-FFF2-40B4-BE49-F238E27FC236}">
                <a16:creationId xmlns:a16="http://schemas.microsoft.com/office/drawing/2014/main" id="{B8E4C20D-4BF0-4A05-A134-3E840729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39" name="tree-leaf-format">
            <a:extLst xmlns:a="http://schemas.openxmlformats.org/drawingml/2006/main">
              <a:ext uri="{FF2B5EF4-FFF2-40B4-BE49-F238E27FC236}">
                <a16:creationId xmlns:a16="http://schemas.microsoft.com/office/drawing/2014/main" id="{6D503BAE-B060-4010-BFF3-CD0195DE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格式名不足；TIF须查具体编码</a:t>
            </a:r>
          </a:p>
        </p:txBody>
      </p:sp>
      <p:sp>
        <p:nvSpPr>
          <p:cNvPr id="40" name="tree-leaf-link-format">
            <a:extLst xmlns:a="http://schemas.openxmlformats.org/drawingml/2006/main">
              <a:ext uri="{FF2B5EF4-FFF2-40B4-BE49-F238E27FC236}">
                <a16:creationId xmlns:a16="http://schemas.microsoft.com/office/drawing/2014/main" id="{F88A39BF-C2F2-4594-9324-323CCCEA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769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1" name="tree-stem-choice">
            <a:extLst xmlns:a="http://schemas.openxmlformats.org/drawingml/2006/main">
              <a:ext uri="{FF2B5EF4-FFF2-40B4-BE49-F238E27FC236}">
                <a16:creationId xmlns:a16="http://schemas.microsoft.com/office/drawing/2014/main" id="{75EFD712-C7B9-4BE7-A960-6BD49CD0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2" name="tree-parent-link-choice">
            <a:extLst xmlns:a="http://schemas.openxmlformats.org/drawingml/2006/main">
              <a:ext uri="{FF2B5EF4-FFF2-40B4-BE49-F238E27FC236}">
                <a16:creationId xmlns:a16="http://schemas.microsoft.com/office/drawing/2014/main" id="{878E1E51-4C03-4F1A-B471-839E4741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657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3" name="tree-leaf-both">
            <a:extLst xmlns:a="http://schemas.openxmlformats.org/drawingml/2006/main">
              <a:ext uri="{FF2B5EF4-FFF2-40B4-BE49-F238E27FC236}">
                <a16:creationId xmlns:a16="http://schemas.microsoft.com/office/drawing/2014/main" id="{275F2835-4661-4136-B676-ABC4D64E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67400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大小、信息要求都要满足</a:t>
            </a:r>
          </a:p>
        </p:txBody>
      </p:sp>
      <p:sp>
        <p:nvSpPr>
          <p:cNvPr id="44" name="tree-leaf-link-both">
            <a:extLst xmlns:a="http://schemas.openxmlformats.org/drawingml/2006/main">
              <a:ext uri="{FF2B5EF4-FFF2-40B4-BE49-F238E27FC236}">
                <a16:creationId xmlns:a16="http://schemas.microsoft.com/office/drawing/2014/main" id="{4472AC14-ADDE-4185-98BF-EB2D6F04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</p:sp>
      <p:sp>
        <p:nvSpPr>
          <p:cNvPr id="45" name="tree-focus-both">
            <a:extLst xmlns:a="http://schemas.openxmlformats.org/drawingml/2006/main">
              <a:ext uri="{FF2B5EF4-FFF2-40B4-BE49-F238E27FC236}">
                <a16:creationId xmlns:a16="http://schemas.microsoft.com/office/drawing/2014/main" id="{C49D99F8-EB4E-42D7-9DFD-40F3A1EB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848350"/>
            <a:ext cx="5629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6" name="tree-summary">
            <a:extLst xmlns:a="http://schemas.openxmlformats.org/drawingml/2006/main">
              <a:ext uri="{FF2B5EF4-FFF2-40B4-BE49-F238E27FC236}">
                <a16:creationId xmlns:a16="http://schemas.microsoft.com/office/drawing/2014/main" id="{6737E2CB-528E-47AB-9E83-7436F6E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两项要求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13951422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CF0C5BD0-B4F9-418C-BD92-FBBB130C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4F0A3B-F39D-443F-906A-6DD8713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2BEB376-FC1F-4776-874B-2934E3AA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43406842-F097-4E05-A0C6-1635A79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03054F16-218C-425C-A8BC-8B5F1A8A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91D3ABB8-BBC9-43E6-9171-C6C8FBEB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</p:spTree>
    <p:extLst>
      <p:ext uri="{BB962C8B-B14F-4D97-AF65-F5344CB8AC3E}">
        <p14:creationId xmlns:p14="http://schemas.microsoft.com/office/powerpoint/2010/main" val="4809933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CF0C5BD0-B4F9-418C-BD92-FBBB130C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4F0A3B-F39D-443F-906A-6DD8713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2BEB376-FC1F-4776-874B-2934E3AA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43406842-F097-4E05-A0C6-1635A79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03054F16-218C-425C-A8BC-8B5F1A8A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91D3ABB8-BBC9-43E6-9171-C6C8FBEB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  <p:sp>
        <p:nvSpPr>
          <p:cNvPr id="7" name="exit-answer-one">
            <a:extLst xmlns:a="http://schemas.openxmlformats.org/drawingml/2006/main">
              <a:ext uri="{FF2B5EF4-FFF2-40B4-BE49-F238E27FC236}">
                <a16:creationId xmlns:a16="http://schemas.microsoft.com/office/drawing/2014/main" id="{565CEEEE-8186-4366-B1DA-A32045EF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与 原始输入</a:t>
            </a:r>
          </a:p>
        </p:txBody>
      </p:sp>
      <p:sp>
        <p:nvSpPr>
          <p:cNvPr id="8" name="exit-answer-two">
            <a:extLst xmlns:a="http://schemas.openxmlformats.org/drawingml/2006/main">
              <a:ext uri="{FF2B5EF4-FFF2-40B4-BE49-F238E27FC236}">
                <a16:creationId xmlns:a16="http://schemas.microsoft.com/office/drawing/2014/main" id="{9BEAC0C1-BFB6-4665-A278-1586FBA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感知相似，不能证明每个原值都相同。</a:t>
            </a:r>
          </a:p>
        </p:txBody>
      </p:sp>
    </p:spTree>
    <p:extLst>
      <p:ext uri="{BB962C8B-B14F-4D97-AF65-F5344CB8AC3E}">
        <p14:creationId xmlns:p14="http://schemas.microsoft.com/office/powerpoint/2010/main" val="480993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2026-10-01T02:35:34.8830000Z</dcterms:created>
  <dcterms:modified xsi:type="dcterms:W3CDTF">2026-10-01T02:35:34.8830000Z</dcterms:modified>
</coreProperties>
</file>
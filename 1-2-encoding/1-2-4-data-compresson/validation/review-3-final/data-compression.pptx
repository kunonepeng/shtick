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c159a3b9374bc4" /><Relationship Type="http://schemas.openxmlformats.org/officeDocument/2006/relationships/extended-properties" Target="/docProps/app.xml" Id="R10fb7545881d4f4e" /><Relationship Type="http://schemas.openxmlformats.org/officeDocument/2006/relationships/officeDocument" Target="/ppt/presentation.xml" Id="R999074e6bd6c4e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0218339b0c4f39"/>
  </p:sldMasterIdLst>
  <p:notesMasterIdLst>
    <p:notesMasterId xmlns:r="http://schemas.openxmlformats.org/officeDocument/2006/relationships" r:id="Redff2ec050314f4e"/>
  </p:notesMasterIdLst>
  <p:sldIdLst>
    <p:sldId xmlns:r="http://schemas.openxmlformats.org/officeDocument/2006/relationships" id="256" r:id="Rf85da5352d6e482e"/>
    <p:sldId xmlns:r="http://schemas.openxmlformats.org/officeDocument/2006/relationships" id="257" r:id="Ra74cd41d483349ac"/>
    <p:sldId xmlns:r="http://schemas.openxmlformats.org/officeDocument/2006/relationships" id="258" r:id="R275ed34f57944d59"/>
    <p:sldId xmlns:r="http://schemas.openxmlformats.org/officeDocument/2006/relationships" id="259" r:id="R60e0921a6a46445d"/>
    <p:sldId xmlns:r="http://schemas.openxmlformats.org/officeDocument/2006/relationships" id="260" r:id="Rf1d10f66bc4b4305"/>
    <p:sldId xmlns:r="http://schemas.openxmlformats.org/officeDocument/2006/relationships" id="261" r:id="R4abdbb7ae2eb44a4"/>
    <p:sldId xmlns:r="http://schemas.openxmlformats.org/officeDocument/2006/relationships" id="262" r:id="R3f2f75bcb96f41d8"/>
    <p:sldId xmlns:r="http://schemas.openxmlformats.org/officeDocument/2006/relationships" id="263" r:id="R3cba6cb304a642ca"/>
    <p:sldId xmlns:r="http://schemas.openxmlformats.org/officeDocument/2006/relationships" id="264" r:id="Rdcfcd8fa1fd64ba0"/>
    <p:sldId xmlns:r="http://schemas.openxmlformats.org/officeDocument/2006/relationships" id="265" r:id="R6a1f0b83079d40ce"/>
    <p:sldId xmlns:r="http://schemas.openxmlformats.org/officeDocument/2006/relationships" id="266" r:id="R2cbf55c095e54711"/>
    <p:sldId xmlns:r="http://schemas.openxmlformats.org/officeDocument/2006/relationships" id="267" r:id="R81b4e733c5f84f3d"/>
    <p:sldId xmlns:r="http://schemas.openxmlformats.org/officeDocument/2006/relationships" id="268" r:id="R9dd13bd40e154228"/>
    <p:sldId xmlns:r="http://schemas.openxmlformats.org/officeDocument/2006/relationships" id="269" r:id="Re638bf34f1c141ec"/>
    <p:sldId xmlns:r="http://schemas.openxmlformats.org/officeDocument/2006/relationships" id="270" r:id="R146d10a009ff4d4f"/>
    <p:sldId xmlns:r="http://schemas.openxmlformats.org/officeDocument/2006/relationships" id="271" r:id="Re6df124ceeda4d13"/>
    <p:sldId xmlns:r="http://schemas.openxmlformats.org/officeDocument/2006/relationships" id="272" r:id="R9922051f70624cd1"/>
    <p:sldId xmlns:r="http://schemas.openxmlformats.org/officeDocument/2006/relationships" id="273" r:id="R624e525e91cd4d62"/>
    <p:sldId xmlns:r="http://schemas.openxmlformats.org/officeDocument/2006/relationships" id="274" r:id="Reccd0b29f89446b6"/>
    <p:sldId xmlns:r="http://schemas.openxmlformats.org/officeDocument/2006/relationships" id="275" r:id="R3943456ecc4b447f"/>
    <p:sldId xmlns:r="http://schemas.openxmlformats.org/officeDocument/2006/relationships" id="276" r:id="R6c5f569787dd4352"/>
    <p:sldId xmlns:r="http://schemas.openxmlformats.org/officeDocument/2006/relationships" id="277" r:id="Rda5e2a2138be423d"/>
    <p:sldId xmlns:r="http://schemas.openxmlformats.org/officeDocument/2006/relationships" id="278" r:id="Rc4c7e16c526449ed"/>
    <p:sldId xmlns:r="http://schemas.openxmlformats.org/officeDocument/2006/relationships" id="279" r:id="R49e43aac3b1c4ba1"/>
    <p:sldId xmlns:r="http://schemas.openxmlformats.org/officeDocument/2006/relationships" id="280" r:id="R4a453ed30c09422a"/>
    <p:sldId xmlns:r="http://schemas.openxmlformats.org/officeDocument/2006/relationships" id="281" r:id="Rcbc2b8b0d4a0410f"/>
    <p:sldId xmlns:r="http://schemas.openxmlformats.org/officeDocument/2006/relationships" id="282" r:id="R7b7cb66735bb48e9"/>
    <p:sldId xmlns:r="http://schemas.openxmlformats.org/officeDocument/2006/relationships" id="283" r:id="Rbce96c7b8f7c42ef"/>
    <p:sldId xmlns:r="http://schemas.openxmlformats.org/officeDocument/2006/relationships" id="284" r:id="R7ba1b5c2f1a24bfb"/>
    <p:sldId xmlns:r="http://schemas.openxmlformats.org/officeDocument/2006/relationships" id="285" r:id="Rdc2d7f1f05e64b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08f2a223f74773" /><Relationship Type="http://schemas.openxmlformats.org/officeDocument/2006/relationships/slideMaster" Target="/ppt/slideMasters/slideMaster1.xml" Id="R460218339b0c4f39" /><Relationship Type="http://schemas.openxmlformats.org/officeDocument/2006/relationships/notesMaster" Target="/ppt/notesMasters/notesMaster1.xml" Id="Redff2ec050314f4e" /><Relationship Type="http://schemas.openxmlformats.org/officeDocument/2006/relationships/presProps" Target="/ppt/presProps.xml" Id="Rbce7cc62178043db" /><Relationship Type="http://schemas.openxmlformats.org/officeDocument/2006/relationships/tableStyles" Target="/ppt/tableStyles.xml" Id="R955117fb1b654650" /><Relationship Type="http://schemas.openxmlformats.org/officeDocument/2006/relationships/slide" Target="/ppt/slides/slide1.xml" Id="Rf85da5352d6e482e" /><Relationship Type="http://schemas.openxmlformats.org/officeDocument/2006/relationships/slide" Target="/ppt/slides/slide2.xml" Id="Ra74cd41d483349ac" /><Relationship Type="http://schemas.openxmlformats.org/officeDocument/2006/relationships/slide" Target="/ppt/slides/slide3.xml" Id="R275ed34f57944d59" /><Relationship Type="http://schemas.openxmlformats.org/officeDocument/2006/relationships/slide" Target="/ppt/slides/slide4.xml" Id="R60e0921a6a46445d" /><Relationship Type="http://schemas.openxmlformats.org/officeDocument/2006/relationships/slide" Target="/ppt/slides/slide5.xml" Id="Rf1d10f66bc4b4305" /><Relationship Type="http://schemas.openxmlformats.org/officeDocument/2006/relationships/slide" Target="/ppt/slides/slide6.xml" Id="R4abdbb7ae2eb44a4" /><Relationship Type="http://schemas.openxmlformats.org/officeDocument/2006/relationships/slide" Target="/ppt/slides/slide7.xml" Id="R3f2f75bcb96f41d8" /><Relationship Type="http://schemas.openxmlformats.org/officeDocument/2006/relationships/slide" Target="/ppt/slides/slide8.xml" Id="R3cba6cb304a642ca" /><Relationship Type="http://schemas.openxmlformats.org/officeDocument/2006/relationships/slide" Target="/ppt/slides/slide9.xml" Id="Rdcfcd8fa1fd64ba0" /><Relationship Type="http://schemas.openxmlformats.org/officeDocument/2006/relationships/slide" Target="/ppt/slides/slide10.xml" Id="R6a1f0b83079d40ce" /><Relationship Type="http://schemas.openxmlformats.org/officeDocument/2006/relationships/slide" Target="/ppt/slides/slide11.xml" Id="R2cbf55c095e54711" /><Relationship Type="http://schemas.openxmlformats.org/officeDocument/2006/relationships/slide" Target="/ppt/slides/slide12.xml" Id="R81b4e733c5f84f3d" /><Relationship Type="http://schemas.openxmlformats.org/officeDocument/2006/relationships/slide" Target="/ppt/slides/slide13.xml" Id="R9dd13bd40e154228" /><Relationship Type="http://schemas.openxmlformats.org/officeDocument/2006/relationships/slide" Target="/ppt/slides/slide14.xml" Id="Re638bf34f1c141ec" /><Relationship Type="http://schemas.openxmlformats.org/officeDocument/2006/relationships/slide" Target="/ppt/slides/slide15.xml" Id="R146d10a009ff4d4f" /><Relationship Type="http://schemas.openxmlformats.org/officeDocument/2006/relationships/slide" Target="/ppt/slides/slide16.xml" Id="Re6df124ceeda4d13" /><Relationship Type="http://schemas.openxmlformats.org/officeDocument/2006/relationships/slide" Target="/ppt/slides/slide17.xml" Id="R9922051f70624cd1" /><Relationship Type="http://schemas.openxmlformats.org/officeDocument/2006/relationships/slide" Target="/ppt/slides/slide18.xml" Id="R624e525e91cd4d62" /><Relationship Type="http://schemas.openxmlformats.org/officeDocument/2006/relationships/slide" Target="/ppt/slides/slide19.xml" Id="Reccd0b29f89446b6" /><Relationship Type="http://schemas.openxmlformats.org/officeDocument/2006/relationships/slide" Target="/ppt/slides/slide20.xml" Id="R3943456ecc4b447f" /><Relationship Type="http://schemas.openxmlformats.org/officeDocument/2006/relationships/slide" Target="/ppt/slides/slide21.xml" Id="R6c5f569787dd4352" /><Relationship Type="http://schemas.openxmlformats.org/officeDocument/2006/relationships/slide" Target="/ppt/slides/slide22.xml" Id="Rda5e2a2138be423d" /><Relationship Type="http://schemas.openxmlformats.org/officeDocument/2006/relationships/slide" Target="/ppt/slides/slide23.xml" Id="Rc4c7e16c526449ed" /><Relationship Type="http://schemas.openxmlformats.org/officeDocument/2006/relationships/slide" Target="/ppt/slides/slide24.xml" Id="R49e43aac3b1c4ba1" /><Relationship Type="http://schemas.openxmlformats.org/officeDocument/2006/relationships/slide" Target="/ppt/slides/slide25.xml" Id="R4a453ed30c09422a" /><Relationship Type="http://schemas.openxmlformats.org/officeDocument/2006/relationships/slide" Target="/ppt/slides/slide26.xml" Id="Rcbc2b8b0d4a0410f" /><Relationship Type="http://schemas.openxmlformats.org/officeDocument/2006/relationships/slide" Target="/ppt/slides/slide27.xml" Id="R7b7cb66735bb48e9" /><Relationship Type="http://schemas.openxmlformats.org/officeDocument/2006/relationships/slide" Target="/ppt/slides/slide28.xml" Id="Rbce96c7b8f7c42ef" /><Relationship Type="http://schemas.openxmlformats.org/officeDocument/2006/relationships/slide" Target="/ppt/slides/slide29.xml" Id="R7ba1b5c2f1a24bfb" /><Relationship Type="http://schemas.openxmlformats.org/officeDocument/2006/relationships/slide" Target="/ppt/slides/slide30.xml" Id="Rdc2d7f1f05e64b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be8bd3fd4947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b8151a54ec465e" /><Relationship Type="http://schemas.openxmlformats.org/officeDocument/2006/relationships/notesMaster" Target="/ppt/notesMasters/notesMaster1.xml" Id="R07fd11b4ee304e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c9f5fcf69f4135" /><Relationship Type="http://schemas.openxmlformats.org/officeDocument/2006/relationships/notesMaster" Target="/ppt/notesMasters/notesMaster1.xml" Id="R8360256829154b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57d536d76843ac" /><Relationship Type="http://schemas.openxmlformats.org/officeDocument/2006/relationships/notesMaster" Target="/ppt/notesMasters/notesMaster1.xml" Id="R2cd0a47a1a764f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36f6f889464975" /><Relationship Type="http://schemas.openxmlformats.org/officeDocument/2006/relationships/notesMaster" Target="/ppt/notesMasters/notesMaster1.xml" Id="R6fa6b2ece6d74d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1c6f18153b4871" /><Relationship Type="http://schemas.openxmlformats.org/officeDocument/2006/relationships/notesMaster" Target="/ppt/notesMasters/notesMaster1.xml" Id="R734f7344830141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f163ca7d0b4e18" /><Relationship Type="http://schemas.openxmlformats.org/officeDocument/2006/relationships/notesMaster" Target="/ppt/notesMasters/notesMaster1.xml" Id="R4c5807b4904f4c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ef876e3daf4040" /><Relationship Type="http://schemas.openxmlformats.org/officeDocument/2006/relationships/notesMaster" Target="/ppt/notesMasters/notesMaster1.xml" Id="Rcf47d574d9a14a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1cd925f60d4f4c" /><Relationship Type="http://schemas.openxmlformats.org/officeDocument/2006/relationships/notesMaster" Target="/ppt/notesMasters/notesMaster1.xml" Id="Rfe3c21f2b54e46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205f52e5cc4df3" /><Relationship Type="http://schemas.openxmlformats.org/officeDocument/2006/relationships/notesMaster" Target="/ppt/notesMasters/notesMaster1.xml" Id="Rdcbeca2c1fad44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003f34108b432f" /><Relationship Type="http://schemas.openxmlformats.org/officeDocument/2006/relationships/notesMaster" Target="/ppt/notesMasters/notesMaster1.xml" Id="R51c0e7dd74d343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468733d6ec43d7" /><Relationship Type="http://schemas.openxmlformats.org/officeDocument/2006/relationships/notesMaster" Target="/ppt/notesMasters/notesMaster1.xml" Id="Rd9073ae962d14f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c3e53c6b244e69" /><Relationship Type="http://schemas.openxmlformats.org/officeDocument/2006/relationships/notesMaster" Target="/ppt/notesMasters/notesMaster1.xml" Id="Rd9358c22d17942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9ccdff03ac42d6" /><Relationship Type="http://schemas.openxmlformats.org/officeDocument/2006/relationships/notesMaster" Target="/ppt/notesMasters/notesMaster1.xml" Id="R12802ba1ff4343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186bfa388242bb" /><Relationship Type="http://schemas.openxmlformats.org/officeDocument/2006/relationships/notesMaster" Target="/ppt/notesMasters/notesMaster1.xml" Id="Rc36d4efb833649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fb02f22df042df" /><Relationship Type="http://schemas.openxmlformats.org/officeDocument/2006/relationships/notesMaster" Target="/ppt/notesMasters/notesMaster1.xml" Id="R9fee1a3c7f2a41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b287d52b184660" /><Relationship Type="http://schemas.openxmlformats.org/officeDocument/2006/relationships/notesMaster" Target="/ppt/notesMasters/notesMaster1.xml" Id="Rb2f35a68890149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192586f75f401e" /><Relationship Type="http://schemas.openxmlformats.org/officeDocument/2006/relationships/notesMaster" Target="/ppt/notesMasters/notesMaster1.xml" Id="Re2c4de8c79054f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92a86c12124240" /><Relationship Type="http://schemas.openxmlformats.org/officeDocument/2006/relationships/notesMaster" Target="/ppt/notesMasters/notesMaster1.xml" Id="R346700d5392143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ed563e7c25e492a" /><Relationship Type="http://schemas.openxmlformats.org/officeDocument/2006/relationships/notesMaster" Target="/ppt/notesMasters/notesMaster1.xml" Id="R21e417196c3f41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ba782bb0144e87" /><Relationship Type="http://schemas.openxmlformats.org/officeDocument/2006/relationships/notesMaster" Target="/ppt/notesMasters/notesMaster1.xml" Id="Rab893c58510c4a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c2f9b33c044325" /><Relationship Type="http://schemas.openxmlformats.org/officeDocument/2006/relationships/notesMaster" Target="/ppt/notesMasters/notesMaster1.xml" Id="Rf0e697bce43846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b5b0a02d7f4b04" /><Relationship Type="http://schemas.openxmlformats.org/officeDocument/2006/relationships/notesMaster" Target="/ppt/notesMasters/notesMaster1.xml" Id="R38a08c67ea024b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0bf6da03b244c5d" /><Relationship Type="http://schemas.openxmlformats.org/officeDocument/2006/relationships/notesMaster" Target="/ppt/notesMasters/notesMaster1.xml" Id="Raa206b1ba769406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a4f0d158c094270" /><Relationship Type="http://schemas.openxmlformats.org/officeDocument/2006/relationships/notesMaster" Target="/ppt/notesMasters/notesMaster1.xml" Id="Rb1b17553a6c34f5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cef5dbf10244b1f" /><Relationship Type="http://schemas.openxmlformats.org/officeDocument/2006/relationships/notesMaster" Target="/ppt/notesMasters/notesMaster1.xml" Id="Rb8e1352cc66e49d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cbe7c1c1db3469d" /><Relationship Type="http://schemas.openxmlformats.org/officeDocument/2006/relationships/notesMaster" Target="/ppt/notesMasters/notesMaster1.xml" Id="R8ebeb01fbd83482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d21356d6584234" /><Relationship Type="http://schemas.openxmlformats.org/officeDocument/2006/relationships/notesMaster" Target="/ppt/notesMasters/notesMaster1.xml" Id="Rd3654ea500094be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e44ce6b39a4b9f" /><Relationship Type="http://schemas.openxmlformats.org/officeDocument/2006/relationships/notesMaster" Target="/ppt/notesMasters/notesMaster1.xml" Id="Rbfa07e60a44d4a5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f755ad74fb0457c" /><Relationship Type="http://schemas.openxmlformats.org/officeDocument/2006/relationships/notesMaster" Target="/ppt/notesMasters/notesMaster1.xml" Id="R15eac6bf43c6466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cd31cc527e24479" /><Relationship Type="http://schemas.openxmlformats.org/officeDocument/2006/relationships/notesMaster" Target="/ppt/notesMasters/notesMaster1.xml" Id="R9ed4e8d9e7c946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开场：从文件大小提出问题</a:t>
            </a:r>
          </a:p>
          <a:p xmlns:a="http://schemas.openxmlformats.org/drawingml/2006/main">
            <a:r>
              <a:t>[内部编号] 收束 · 开场：从文件大小提出问题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前面算过数据需要多少空间。今天先看一个反常现象：文件一下小了很多，图却还能还原。请保留你的第一反应，后面我们用数据来检查。先不要背定义。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同一幅64×64颜色图，A有4096个bytes，B是用A编码得到的，只有38个bytes。先写一个猜测：变小以后，哪些内容可能发生变化？说出你想检查什么。先不给答案。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现在把B读回图像。你看到少了哪一块吗？看上去一样，还不够证明每一个数都相同。我们先找一种能变短又能画回的规则，第三问再检查所有bytes。</a:t>
            </a:r>
          </a:p>
          <a:p xmlns:a="http://schemas.openxmlformats.org/drawingml/2006/main">
            <a:r>
              <a:t>[教师提示] 64×64与码表预先约定；这是颜色编号数据，不冒充PNG。38B是随包记录，现场大小若不同以实际输出为准。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这次只看16个颜色。怎样少写一些，又让同桌恢复原来的顺序和数量？发送者看折叠卡，接收者先不看原串。给你们60秒写规则与短消息，30秒画回，再展开卡核对。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先听你们的规则。红绿蓝三个字能找回多少个吗？这一种保留了颜色、连续次数和段的顺序。红8代表连续8个红，不是全图所有红的总数。它把重复展开的依据留了下来。</a:t>
            </a:r>
          </a:p>
          <a:p xmlns:a="http://schemas.openxmlformats.org/drawingml/2006/main">
            <a:r>
              <a:t>[教师提示] 私有变体只给发送者，接收者先画回再展开原卡。写8红5绿3蓝也可，不因格式不同判错。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接收者说已经恢复了，你准备怎样检查？先提出方法，再动手对比下面两行。不要只说长度一样。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把两行按位置对齐。第9个位置原来是绿，待查却是蓝。两串都是16格，也可能有一个数不同。现在回到开场，比较的应是解压结果与原输入。</a:t>
            </a:r>
          </a:p>
          <a:p xmlns:a="http://schemas.openxmlformats.org/drawingml/2006/main">
            <a:r>
              <a:t>[教师提示] 比较对象：还原与原始输入；不是比较原文件与压缩文件。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修正待查串的第9格，再逐位置核对，现在这16项一致。回到开场，用程序比较解压所得4096个bytes与原输入，得到True。这两个检验都比较还原结果和输入。原数据能完全恢复，才叫无损；不能仅看图像外观或文件长度。</a:t>
            </a:r>
          </a:p>
          <a:p xmlns:a="http://schemas.openxmlformats.org/drawingml/2006/main">
            <a:r>
              <a:t>[教师提示] 上页故障串已修正；本页的True明确属于开场4096B的实测。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两串都是16个颜色。按连续段存编号和次数：编号1B、次数1B。先投票，再分工数两串各有几段，算编码后的数据量。不要把红绿交替改写为红8绿8。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A有三段，3×2等于6B。B有十六段，每段只有一个颜色，16×2等于32B。它仍能准确恢复，却更大了。无损说的是可恢复，不是保证变小。</a:t>
            </a:r>
          </a:p>
          <a:p xmlns:a="http://schemas.openxmlformats.org/drawingml/2006/main">
            <a:r>
              <a:t>[教师提示] 只比payload；双方共享码表。256个相同色需拆255+1，不能让次数溢出。ZIP压JPEG效果需实测。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这一行灰度几乎一样，数却不完全相同。要求完整恢复，除了逐个写8bit，还能怎样记录？先想规则。必要时从第一个120出发，问下一格比它多多少。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给首值120，前三个差值已经列出。请填末四个，再只看首值与差值读回末三个数。负号不能丢，每次加在刚读回的前值上。变化都还在，才能恢复原来每一项。</a:t>
            </a:r>
          </a:p>
          <a:p xmlns:a="http://schemas.openxmlformats.org/drawingml/2006/main">
            <a:r>
              <a:t>[教师提示] A2正常版：首值及前三个差值已给，末四个学生填；迟到版仅减少一空。先活动后揭示。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这一串差值只有三种，我们另约定−1为00、0为01、+1为10。首值8bit加七个2bit差值，共22bit，装入完整bytes是3B，末尾补2bit。差值项数没有减少，变短来自更合适的编码。</a:t>
            </a:r>
          </a:p>
          <a:p xmlns:a="http://schemas.openxmlformats.org/drawingml/2006/main">
            <a:r>
              <a:t>[教师提示] 长度、模式和码表未计入。一般图像有大差值，不能套三种值码表；PNG可逆滤波仍输出同数量bytes，后续压缩另处理。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现在换个规则：归到最近的4的倍数，中点向上取，最高只到252。看到120这一档，能确定原数吗？请写至少两个可能原数，再填A2下半表。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120会恢复为120，121也恢复为120。你如果再加1，就会把原来本来是120的情况选错。没有保存区分它们的依据，不能唯一倒回原数。</a:t>
            </a:r>
          </a:p>
          <a:p xmlns:a="http://schemas.openxmlformats.org/drawingml/2006/main">
            <a:r>
              <a:t>[教师提示] 119也映射到120。课堂模型不是JPEG，也不是初始数字化过程。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64个等级只需6bit编号。八格64bit变成48bit，即6B；但变小同时丢失了区分。某些值恰好不变，不代表这种规则能保证精确恢复。这是有损的例子。</a:t>
            </a:r>
          </a:p>
          <a:p xmlns:a="http://schemas.openxmlformats.org/drawingml/2006/main">
            <a:r>
              <a:t>[教师提示] 还原八项为120,120,124,120,120,120,120,124；不能用明暗看不出代替数字证据。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两图尺寸相同。先按正常大小观察，你能指出哪里不同？再回答另一个问题：看不出变化，足以证明每个像素都一样吗？先收判断，不显示格式和大小。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揭开格式：A是PNG，B是常见有损JPEG，quality80。逐像素比较，PNG回读与源RGB一致，JPEG有28917个像素不同。有人能看出变化，有人不能，都不影响这个数据检验。</a:t>
            </a:r>
          </a:p>
          <a:p xmlns:a="http://schemas.openxmlformats.org/drawingml/2006/main">
            <a:r>
              <a:t>[教师提示] 两份完整文件来自相同RGB。JPEG固定subsampling=0，直接源图编码。图像检验对象为像素，不保证所有源文件metadata。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现在只看同一坐标的细节，放大8倍，使用最近邻，不另做锐化。先说差别在哪，再换用途：展示明暗渐变方向，这些近似仍能传达；若要读取原灰度做测量，就不能用外观过关。</a:t>
            </a:r>
          </a:p>
          <a:p xmlns:a="http://schemas.openxmlformats.org/drawingml/2006/main">
            <a:r>
              <a:t>[教师提示] 替换本页正常图时保留问题不动。照片任务改变必须重新检验。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完整文件大小也要实测。本例PNG4441B，JPEG10766B，PNG反而更小。原RGB数据248832B是像素数据量，不是PNG大小。有损和无损不能替我们排大小；还要看数据和编码。</a:t>
            </a:r>
          </a:p>
          <a:p xmlns:a="http://schemas.openxmlformats.org/drawingml/2006/main">
            <a:r>
              <a:t>[教师提示] 数字来自随包执行记录。quality20可在Notebook拓展，不增加核心45分钟讲授。MP3有损感知编码不只是删20kHz以上。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先不要报格式名，判断每份材料要保留什么。通知少了一个五，程序少了等号，照片少量像素改变。三件事都能接受吗？同桌写一条理由。程序用60测试。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60大于等于60成立，60大于60不成立。符号很少，功能却变了。通知原文与源程序本体都要求无损。照片作为题中浏览副本，可以在质量达标时用有损方式。若要读角落小字，重新检查。</a:t>
            </a:r>
          </a:p>
          <a:p xmlns:a="http://schemas.openxmlformats.org/drawingml/2006/main">
            <a:r>
              <a:t>[教师提示] 不把删改内容称为原文件的合格压缩。测量和编辑母版可能同样要求无损。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同学说这几个名字都是有损，图片不能无损。先找一个反例，再改他的说法。配置卡是依据技术文档做的规则表，软件保存设置可能不同。不能只看后缀。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PNG已经推翻图片不能无损。TIFF同一后缀可以采用不同方式，所以需要看保存配置。常见照片JPEG通常有损；不能把一个文件格式名字等同唯一压缩算法。</a:t>
            </a:r>
          </a:p>
          <a:p xmlns:a="http://schemas.openxmlformats.org/drawingml/2006/main">
            <a:r>
              <a:t>[教师提示] JPEG标准还包含无损模式，本课不要求学生记标准编号。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最后给名字放回常见用途：JPG图像通常有损，TIF图像看设置，MP3音频有损，MPEG视频相关标准常见用途采用有损编码。MPEG是一组标准，MP3是Audio Layer III，不是MPEG-3。长技术边界留在教师材料。</a:t>
            </a:r>
          </a:p>
          <a:p xmlns:a="http://schemas.openxmlformats.org/drawingml/2006/main">
            <a:r>
              <a:t>[教师提示] 本页替换配置卡区域，不增加新问题。MP4后缀也不能直接等同某一种算法。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传送限额100KiB，下面是题目给定的候选结果，不是现场测量。先个人选，再同桌分两列检查：大小是否过关，信息是否过关。请说明另一方案为什么不合格。给90秒。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程序A同时满足两关，B虽小但不能交回原bytes。照片B同时满足两关，A虽无损却超限。照片B的合格限于题中浏览用途。回看开场猜测，请把文件变小一定删内容改成更准确的一句。</a:t>
            </a:r>
          </a:p>
          <a:p xmlns:a="http://schemas.openxmlformats.org/drawingml/2006/main">
            <a:r>
              <a:t>[教师提示] 300秒：30读题、90判断、60报告、30回扣、30定义、40出口、20收取。下两页收束只用剩余90秒；出口答案页课后显示。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形成概念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把刚才的三件事连起来：是否变小，是否完整恢复，是否适合当前任务。重复可以写成次数，相关性可以写成起点和变化，感知允许的近似可以舍弃部分区分。没有一种标签替我们完成全部判断。定义说的是存储与传输采用特殊编码，结果还取决于数据与开销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出口检查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现在自己写两句话，不跟同桌讨论。第一句要写出两个比较对象，第二句要区分人的感受与数据相等。40秒后收取，抽看三份。不要现在翻到参考答案页，避免学生照抄。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exit-answer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这一页只在收取后或课后核对。比较解压结果与原始输入；没有看出变化只说明感知接近，不能证明原值一致。若学生只写原图与压缩图，回到Q3要求说明还原对象；若仍凭肉眼判无损，回到Q6两个原数映到120。</a:t>
            </a:r>
          </a:p>
          <a:p xmlns:a="http://schemas.openxmlformats.org/drawingml/2006/main">
            <a:r>
              <a:t>[教师提示] 收取前不投影。作为课后反馈，可直接结束在上一页。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04421cb1e4a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5d586582c745e9" /><Relationship Type="http://schemas.openxmlformats.org/officeDocument/2006/relationships/slideLayout" Target="/ppt/slideLayouts/slideLayout1.xml" Id="Rc71b8fb83d9b4d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1b8fb83d9b4d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92ec89f974346" /><Relationship Type="http://schemas.openxmlformats.org/officeDocument/2006/relationships/notesSlide" Target="/ppt/notesSlides/notesSlide1.xml" Id="R452a1e911a9b42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2c0ec35064a1e" /><Relationship Type="http://schemas.openxmlformats.org/officeDocument/2006/relationships/image" Target="/ppt/media/image.png" Id="Rcc72aaa5f43f4483" /><Relationship Type="http://schemas.openxmlformats.org/officeDocument/2006/relationships/notesSlide" Target="/ppt/notesSlides/notesSlide2.xml" Id="R70021ba7bd6a42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03d322fa94fd2" /><Relationship Type="http://schemas.openxmlformats.org/officeDocument/2006/relationships/image" Target="/ppt/media/image.png" Id="Ra68ae39885224e6b" /><Relationship Type="http://schemas.openxmlformats.org/officeDocument/2006/relationships/image" Target="/ppt/media/image2.png" Id="Ra6837636e80f4c12" /><Relationship Type="http://schemas.openxmlformats.org/officeDocument/2006/relationships/notesSlide" Target="/ppt/notesSlides/notesSlide3.xml" Id="R512f17cbc80148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49f835aa242c0" /><Relationship Type="http://schemas.openxmlformats.org/officeDocument/2006/relationships/notesSlide" Target="/ppt/notesSlides/notesSlide4.xml" Id="Rc60d3e75b55242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63715cf274ac2" /><Relationship Type="http://schemas.openxmlformats.org/officeDocument/2006/relationships/notesSlide" Target="/ppt/notesSlides/notesSlide5.xml" Id="Rce02f8ffc61f40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3efc607ad4186" /><Relationship Type="http://schemas.openxmlformats.org/officeDocument/2006/relationships/notesSlide" Target="/ppt/notesSlides/notesSlide6.xml" Id="Rf98693d4a35e43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ee61e70a841bf" /><Relationship Type="http://schemas.openxmlformats.org/officeDocument/2006/relationships/notesSlide" Target="/ppt/notesSlides/notesSlide7.xml" Id="R6b6ef2b58c9544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d88fb2b824799" /><Relationship Type="http://schemas.openxmlformats.org/officeDocument/2006/relationships/notesSlide" Target="/ppt/notesSlides/notesSlide8.xml" Id="Rcdf1e27bb3ee46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6ad9b83cc4f81" /><Relationship Type="http://schemas.openxmlformats.org/officeDocument/2006/relationships/notesSlide" Target="/ppt/notesSlides/notesSlide9.xml" Id="R9d9b591f872640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52aac0fec4ea0" /><Relationship Type="http://schemas.openxmlformats.org/officeDocument/2006/relationships/notesSlide" Target="/ppt/notesSlides/notesSlide10.xml" Id="R832f338072e243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b5b136b2b4202" /><Relationship Type="http://schemas.openxmlformats.org/officeDocument/2006/relationships/notesSlide" Target="/ppt/notesSlides/notesSlide11.xml" Id="Rd126f3cadd8a47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4f0e4274b4273" /><Relationship Type="http://schemas.openxmlformats.org/officeDocument/2006/relationships/notesSlide" Target="/ppt/notesSlides/notesSlide12.xml" Id="R13f80fd10abf4b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3cdb85a7c491b" /><Relationship Type="http://schemas.openxmlformats.org/officeDocument/2006/relationships/notesSlide" Target="/ppt/notesSlides/notesSlide13.xml" Id="R7040b755d7cf47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cd0e3162b4c62" /><Relationship Type="http://schemas.openxmlformats.org/officeDocument/2006/relationships/notesSlide" Target="/ppt/notesSlides/notesSlide14.xml" Id="R4da42cb8b85345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36e4b46eb4f59" /><Relationship Type="http://schemas.openxmlformats.org/officeDocument/2006/relationships/notesSlide" Target="/ppt/notesSlides/notesSlide15.xml" Id="R92a61b1da8b74f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6b5e7a4cd44ce" /><Relationship Type="http://schemas.openxmlformats.org/officeDocument/2006/relationships/notesSlide" Target="/ppt/notesSlides/notesSlide16.xml" Id="Ref9cd4f7c8164e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6f2fba5c04d6a" /><Relationship Type="http://schemas.openxmlformats.org/officeDocument/2006/relationships/image" Target="/ppt/media/image3.png" Id="R70ab28b6101a4343" /><Relationship Type="http://schemas.openxmlformats.org/officeDocument/2006/relationships/image" Target="/ppt/media/image.jpeg" Id="R04df0c2833b64e2d" /><Relationship Type="http://schemas.openxmlformats.org/officeDocument/2006/relationships/notesSlide" Target="/ppt/notesSlides/notesSlide17.xml" Id="Rba06e439b76140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cc67bfd6d4e51" /><Relationship Type="http://schemas.openxmlformats.org/officeDocument/2006/relationships/image" Target="/ppt/media/image3.png" Id="Ra3f60b30bc044f18" /><Relationship Type="http://schemas.openxmlformats.org/officeDocument/2006/relationships/image" Target="/ppt/media/image.jpeg" Id="R8631dd2acc21498f" /><Relationship Type="http://schemas.openxmlformats.org/officeDocument/2006/relationships/notesSlide" Target="/ppt/notesSlides/notesSlide18.xml" Id="Rdfc9ef398f2949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51f4bf0fc4b35" /><Relationship Type="http://schemas.openxmlformats.org/officeDocument/2006/relationships/image" Target="/ppt/media/image3.png" Id="R642d34ef32364d56" /><Relationship Type="http://schemas.openxmlformats.org/officeDocument/2006/relationships/image" Target="/ppt/media/image.jpeg" Id="Rc413cfe64a35417f" /><Relationship Type="http://schemas.openxmlformats.org/officeDocument/2006/relationships/image" Target="/ppt/media/image4.png" Id="Rdf728c5343404293" /><Relationship Type="http://schemas.openxmlformats.org/officeDocument/2006/relationships/image" Target="/ppt/media/image5.png" Id="R51f3031e7acb4131" /><Relationship Type="http://schemas.openxmlformats.org/officeDocument/2006/relationships/notesSlide" Target="/ppt/notesSlides/notesSlide19.xml" Id="R81fa12a45d0145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835ffb13b4051" /><Relationship Type="http://schemas.openxmlformats.org/officeDocument/2006/relationships/image" Target="/ppt/media/image3.png" Id="R1b1eb1250b614d2d" /><Relationship Type="http://schemas.openxmlformats.org/officeDocument/2006/relationships/image" Target="/ppt/media/image.jpeg" Id="R47fc25dd31ca4bb1" /><Relationship Type="http://schemas.openxmlformats.org/officeDocument/2006/relationships/image" Target="/ppt/media/image4.png" Id="Rb997c6f4837644c7" /><Relationship Type="http://schemas.openxmlformats.org/officeDocument/2006/relationships/image" Target="/ppt/media/image5.png" Id="R9368cf8b603b4faf" /><Relationship Type="http://schemas.openxmlformats.org/officeDocument/2006/relationships/notesSlide" Target="/ppt/notesSlides/notesSlide20.xml" Id="R7b0c3152b0de4d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75d8a46c94138" /><Relationship Type="http://schemas.openxmlformats.org/officeDocument/2006/relationships/notesSlide" Target="/ppt/notesSlides/notesSlide21.xml" Id="R1c0f8915f1f0490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9f45076a6483e" /><Relationship Type="http://schemas.openxmlformats.org/officeDocument/2006/relationships/notesSlide" Target="/ppt/notesSlides/notesSlide22.xml" Id="R70e00a3bc83b4c0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b8b74d1ab41d1" /><Relationship Type="http://schemas.openxmlformats.org/officeDocument/2006/relationships/notesSlide" Target="/ppt/notesSlides/notesSlide23.xml" Id="Rc01a5416c1a5466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342f2a16c45ff" /><Relationship Type="http://schemas.openxmlformats.org/officeDocument/2006/relationships/notesSlide" Target="/ppt/notesSlides/notesSlide24.xml" Id="R6b4b768cbe814b7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7a071bf53428b" /><Relationship Type="http://schemas.openxmlformats.org/officeDocument/2006/relationships/notesSlide" Target="/ppt/notesSlides/notesSlide25.xml" Id="R08a708d7936345f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b5a7f7bf74b5e" /><Relationship Type="http://schemas.openxmlformats.org/officeDocument/2006/relationships/notesSlide" Target="/ppt/notesSlides/notesSlide26.xml" Id="Rcca8159f39834d1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65306ed264e78" /><Relationship Type="http://schemas.openxmlformats.org/officeDocument/2006/relationships/notesSlide" Target="/ppt/notesSlides/notesSlide27.xml" Id="R5930d7f382dd464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dce4ed8044f6f" /><Relationship Type="http://schemas.openxmlformats.org/officeDocument/2006/relationships/notesSlide" Target="/ppt/notesSlides/notesSlide28.xml" Id="R1c47847356fa492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1b4cfea5845bd" /><Relationship Type="http://schemas.openxmlformats.org/officeDocument/2006/relationships/notesSlide" Target="/ppt/notesSlides/notesSlide29.xml" Id="R7340b729b1fd435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10e2ef53c410e" /><Relationship Type="http://schemas.openxmlformats.org/officeDocument/2006/relationships/notesSlide" Target="/ppt/notesSlides/notesSlide30.xml" Id="Ra002dbd69ae74a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00A70551-E101-4269-9104-117F8FAD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760A6F8-8789-4987-BC73-D5E276FB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C8E617B-AFB9-4DFF-BFE7-1CC7283F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数据压缩入门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079B5F9-08CF-4243-AE65-3F20733D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信息去哪了？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80BC01-1C81-4846-B512-87B65336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Data compression 101</a:t>
            </a:r>
          </a:p>
        </p:txBody>
      </p:sp>
    </p:spTree>
    <p:extLst>
      <p:ext uri="{BB962C8B-B14F-4D97-AF65-F5344CB8AC3E}">
        <p14:creationId xmlns:p14="http://schemas.microsoft.com/office/powerpoint/2010/main" val="1556371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8D05EF42-8B23-4188-971B-C57C0BE4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25B4097-C4B5-4068-9A23-F47F3F92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0B5CA5-3FD8-4793-8388-EF8E4F80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2aaa5f43f4483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EC6CCCBA-23E1-4049-9F18-C7FD7ADC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C33D2D13-0273-4B2D-BE96-5C481439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C259E246-6499-4536-AB36-966E3818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</p:spTree>
    <p:extLst>
      <p:ext uri="{BB962C8B-B14F-4D97-AF65-F5344CB8AC3E}">
        <p14:creationId xmlns:p14="http://schemas.microsoft.com/office/powerpoint/2010/main" val="335993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8D05EF42-8B23-4188-971B-C57C0BE4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25B4097-C4B5-4068-9A23-F47F3F92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0B5CA5-3FD8-4793-8388-EF8E4F80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ae39885224e6b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EC6CCCBA-23E1-4049-9F18-C7FD7ADC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C33D2D13-0273-4B2D-BE96-5C481439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C259E246-6499-4536-AB36-966E3818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37636e80f4c12"/>
          <a:stretch xmlns:a="http://schemas.openxmlformats.org/drawingml/2006/main"/>
        </p:blipFill>
        <p:spPr>
          <a:xfrm xmlns:a="http://schemas.openxmlformats.org/drawingml/2006/main">
            <a:off x="822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restored-label">
            <a:extLst xmlns:a="http://schemas.openxmlformats.org/drawingml/2006/main">
              <a:ext uri="{FF2B5EF4-FFF2-40B4-BE49-F238E27FC236}">
                <a16:creationId xmlns:a16="http://schemas.microsoft.com/office/drawing/2014/main" id="{C74A177B-E259-492D-AEA4-FE412E96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81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从B读回的图</a:t>
            </a:r>
          </a:p>
        </p:txBody>
      </p:sp>
    </p:spTree>
    <p:extLst>
      <p:ext uri="{BB962C8B-B14F-4D97-AF65-F5344CB8AC3E}">
        <p14:creationId xmlns:p14="http://schemas.microsoft.com/office/powerpoint/2010/main" val="335993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2A76053D-61AF-49D6-B00B-58CC3D9F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ED3F8B-3801-451E-B771-9BB32ECE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8918454-3F3B-419B-A517-83C928BE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9AD7BD3E-BEEF-4A1A-B6BA-FBC841A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D9004A98-A414-4EB2-B109-297AB59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70C76A90-5E29-496B-9514-AF071157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332C53DF-1904-4ABB-A243-0BFB8B31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6E00EFED-F407-4333-B669-B69A4940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C12CAFD0-6CE1-4E80-B91A-2D775ABE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4426D31F-6191-4862-892D-220C6C76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6E1824BF-DFA8-4ABE-A0B4-62AD41A3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E3B4F6B0-91CC-4627-B05A-6B3BB4DD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71472B2C-3358-41B5-9DCF-F899487F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EA947579-88F4-4976-B217-127A869E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02C30FC5-D8C8-4CE1-AC98-5D6EAFB0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3ECBCD54-0B9D-4EEE-BDF9-CFAD47D2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80BEC7F9-0733-454B-87D7-5C91EB81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E5313546-11F7-4B4E-A6D3-C1C5CA31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004B1F41-12C7-4323-971D-58E32768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398E9499-816E-4911-84D4-F4BC3017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</p:spTree>
    <p:extLst>
      <p:ext uri="{BB962C8B-B14F-4D97-AF65-F5344CB8AC3E}">
        <p14:creationId xmlns:p14="http://schemas.microsoft.com/office/powerpoint/2010/main" val="1403023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">
            <a:extLst xmlns:a="http://schemas.openxmlformats.org/drawingml/2006/main">
              <a:ext uri="{FF2B5EF4-FFF2-40B4-BE49-F238E27FC236}">
                <a16:creationId xmlns:a16="http://schemas.microsoft.com/office/drawing/2014/main" id="{2A76053D-61AF-49D6-B00B-58CC3D9F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3ED3F8B-3801-451E-B771-9BB32ECE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8918454-3F3B-419B-A517-83C928BE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9AD7BD3E-BEEF-4A1A-B6BA-FBC841A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D9004A98-A414-4EB2-B109-297AB59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70C76A90-5E29-496B-9514-AF071157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332C53DF-1904-4ABB-A243-0BFB8B31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6E00EFED-F407-4333-B669-B69A4940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C12CAFD0-6CE1-4E80-B91A-2D775ABE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4426D31F-6191-4862-892D-220C6C76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6E1824BF-DFA8-4ABE-A0B4-62AD41A3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E3B4F6B0-91CC-4627-B05A-6B3BB4DD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71472B2C-3358-41B5-9DCF-F899487F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EA947579-88F4-4976-B217-127A869E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02C30FC5-D8C8-4CE1-AC98-5D6EAFB0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3ECBCD54-0B9D-4EEE-BDF9-CFAD47D2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80BEC7F9-0733-454B-87D7-5C91EB81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E5313546-11F7-4B4E-A6D3-C1C5CA31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004B1F41-12C7-4323-971D-58E32768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398E9499-816E-4911-84D4-F4BC3017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  <p:sp>
        <p:nvSpPr>
          <p:cNvPr id="21" name="rle-result">
            <a:extLst xmlns:a="http://schemas.openxmlformats.org/drawingml/2006/main">
              <a:ext uri="{FF2B5EF4-FFF2-40B4-BE49-F238E27FC236}">
                <a16:creationId xmlns:a16="http://schemas.microsoft.com/office/drawing/2014/main" id="{8CBA925F-1328-4380-A15C-51571E1B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红 8     绿 5     蓝 3</a:t>
            </a:r>
          </a:p>
        </p:txBody>
      </p:sp>
      <p:sp>
        <p:nvSpPr>
          <p:cNvPr id="22" name="rle-name">
            <a:extLst xmlns:a="http://schemas.openxmlformats.org/drawingml/2006/main">
              <a:ext uri="{FF2B5EF4-FFF2-40B4-BE49-F238E27FC236}">
                <a16:creationId xmlns:a16="http://schemas.microsoft.com/office/drawing/2014/main" id="{AEBDEC30-7810-434D-BD29-4752C5C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游程编码  Run-Length Encoding（RLE）</a:t>
            </a:r>
          </a:p>
        </p:txBody>
      </p:sp>
    </p:spTree>
    <p:extLst>
      <p:ext uri="{BB962C8B-B14F-4D97-AF65-F5344CB8AC3E}">
        <p14:creationId xmlns:p14="http://schemas.microsoft.com/office/powerpoint/2010/main" val="1403023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21051FC5-5BCC-4257-B7BC-EB5C218D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E5529A4-3C39-4F06-898C-755E3293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64804E3-4E0C-4268-A609-69799232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7543F613-2400-4702-B2FB-2B4DB62B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34F469AC-5976-483E-AF49-8684B2B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8B6D1A83-2CE3-4D3E-97B4-8B1512F8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FC186598-AC5A-4867-B6CE-B134B9C7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356CEBE6-4F4F-4643-9C94-49013395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767A739F-7AD4-494D-9B2B-D688CAD0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6DC7927C-5EBE-4C10-9B60-8E049BCA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A1E569B8-BFAF-4EA8-877B-089DA7CD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231F25FF-F89C-49F0-946E-4F52C805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E90BE36A-13A2-41B4-9A33-0B2D74F7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232B2521-C121-42D6-AC52-5CF68A5E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EF0D80AD-3FA3-455A-86BA-9E79F79F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9D72570D-66E3-409C-BBAE-C9729E8D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CE16F4FC-E7DA-4B07-855B-2411C048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2E373803-C1A1-4E38-A4C5-FEF5DF0B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C32504AC-8E61-42F3-8F67-304FAC59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D4C50581-1A50-44AF-A093-EBA1B59E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DB57A479-9FCC-4481-8588-E82D553E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5239BC98-4628-433E-9534-5C5F047D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C3280485-D523-463C-99DD-C832F6B3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D51166BD-50B1-470F-B858-9BE3408C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EC73F0AB-6A6C-4477-B057-C91E0EF6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9AAF546F-15E1-4108-B69A-2D54D44B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5AF9135C-717F-4A9E-A843-697F4DA3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37C57188-6DC7-4E6B-A1DA-8A961CA0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0CB829DE-2D34-43A3-B193-2DCEE79E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9A95A1D0-6A5C-4A6E-BCA1-3624DCE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0D17BE46-224D-4EF4-B9BE-A90271AF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CF1AC72A-4BE0-4E51-B825-56E96F5B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CC865A54-E54B-4A5B-8618-B207D6F6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F43BC81B-8993-47E1-B7E0-013DE883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D9DEB65C-E582-4688-9E65-E1BF644E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FDFE243F-8EBB-46EE-9AE2-2590BD8B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66D8DD07-821B-4479-89CB-E649CB4B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F8B9BCDF-BF3E-48C2-A5DB-578067C0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</p:spTree>
    <p:extLst>
      <p:ext uri="{BB962C8B-B14F-4D97-AF65-F5344CB8AC3E}">
        <p14:creationId xmlns:p14="http://schemas.microsoft.com/office/powerpoint/2010/main" val="478339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21051FC5-5BCC-4257-B7BC-EB5C218D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E5529A4-3C39-4F06-898C-755E3293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64804E3-4E0C-4268-A609-69799232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7543F613-2400-4702-B2FB-2B4DB62B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34F469AC-5976-483E-AF49-8684B2B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8B6D1A83-2CE3-4D3E-97B4-8B1512F8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FC186598-AC5A-4867-B6CE-B134B9C7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356CEBE6-4F4F-4643-9C94-49013395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767A739F-7AD4-494D-9B2B-D688CAD0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6DC7927C-5EBE-4C10-9B60-8E049BCA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A1E569B8-BFAF-4EA8-877B-089DA7CD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231F25FF-F89C-49F0-946E-4F52C805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E90BE36A-13A2-41B4-9A33-0B2D74F7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232B2521-C121-42D6-AC52-5CF68A5E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EF0D80AD-3FA3-455A-86BA-9E79F79F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9D72570D-66E3-409C-BBAE-C9729E8D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CE16F4FC-E7DA-4B07-855B-2411C048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2E373803-C1A1-4E38-A4C5-FEF5DF0B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C32504AC-8E61-42F3-8F67-304FAC59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D4C50581-1A50-44AF-A093-EBA1B59E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DB57A479-9FCC-4481-8588-E82D553E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5239BC98-4628-433E-9534-5C5F047D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C3280485-D523-463C-99DD-C832F6B3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D51166BD-50B1-470F-B858-9BE3408C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EC73F0AB-6A6C-4477-B057-C91E0EF6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9AAF546F-15E1-4108-B69A-2D54D44B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5AF9135C-717F-4A9E-A843-697F4DA3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37C57188-6DC7-4E6B-A1DA-8A961CA0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0CB829DE-2D34-43A3-B193-2DCEE79E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9A95A1D0-6A5C-4A6E-BCA1-3624DCE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0D17BE46-224D-4EF4-B9BE-A90271AF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CF1AC72A-4BE0-4E51-B825-56E96F5B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CC865A54-E54B-4A5B-8618-B207D6F6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F43BC81B-8993-47E1-B7E0-013DE883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D9DEB65C-E582-4688-9E65-E1BF644E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FDFE243F-8EBB-46EE-9AE2-2590BD8B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66D8DD07-821B-4479-89CB-E649CB4B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F8B9BCDF-BF3E-48C2-A5DB-578067C0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9306D890-7EF6-49E4-B2E5-6FF36797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</p:spTree>
    <p:extLst>
      <p:ext uri="{BB962C8B-B14F-4D97-AF65-F5344CB8AC3E}">
        <p14:creationId xmlns:p14="http://schemas.microsoft.com/office/powerpoint/2010/main" val="478339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rail">
            <a:extLst xmlns:a="http://schemas.openxmlformats.org/drawingml/2006/main">
              <a:ext uri="{FF2B5EF4-FFF2-40B4-BE49-F238E27FC236}">
                <a16:creationId xmlns:a16="http://schemas.microsoft.com/office/drawing/2014/main" id="{21051FC5-5BCC-4257-B7BC-EB5C218D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E5529A4-3C39-4F06-898C-755E3293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64804E3-4E0C-4268-A609-69799232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7543F613-2400-4702-B2FB-2B4DB62B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34F469AC-5976-483E-AF49-8684B2B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8B6D1A83-2CE3-4D3E-97B4-8B1512F8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FC186598-AC5A-4867-B6CE-B134B9C7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356CEBE6-4F4F-4643-9C94-49013395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767A739F-7AD4-494D-9B2B-D688CAD0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6DC7927C-5EBE-4C10-9B60-8E049BCA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A1E569B8-BFAF-4EA8-877B-089DA7CD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231F25FF-F89C-49F0-946E-4F52C805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E90BE36A-13A2-41B4-9A33-0B2D74F7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232B2521-C121-42D6-AC52-5CF68A5E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EF0D80AD-3FA3-455A-86BA-9E79F79F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9D72570D-66E3-409C-BBAE-C9729E8D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CE16F4FC-E7DA-4B07-855B-2411C048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2E373803-C1A1-4E38-A4C5-FEF5DF0B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C32504AC-8E61-42F3-8F67-304FAC59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D4C50581-1A50-44AF-A093-EBA1B59E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DB57A479-9FCC-4481-8588-E82D553E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5239BC98-4628-433E-9534-5C5F047D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C3280485-D523-463C-99DD-C832F6B3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D51166BD-50B1-470F-B858-9BE3408C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EC73F0AB-6A6C-4477-B057-C91E0EF6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9AAF546F-15E1-4108-B69A-2D54D44B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5AF9135C-717F-4A9E-A843-697F4DA3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37C57188-6DC7-4E6B-A1DA-8A961CA0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0CB829DE-2D34-43A3-B193-2DCEE79E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9A95A1D0-6A5C-4A6E-BCA1-3624DCE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0D17BE46-224D-4EF4-B9BE-A90271AF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CF1AC72A-4BE0-4E51-B825-56E96F5B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CC865A54-E54B-4A5B-8618-B207D6F6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F43BC81B-8993-47E1-B7E0-013DE883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D9DEB65C-E582-4688-9E65-E1BF644E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FDFE243F-8EBB-46EE-9AE2-2590BD8B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66D8DD07-821B-4479-89CB-E649CB4B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F8B9BCDF-BF3E-48C2-A5DB-578067C0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9306D890-7EF6-49E4-B2E5-6FF36797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0" name="byte-comparison">
            <a:extLst xmlns:a="http://schemas.openxmlformats.org/drawingml/2006/main">
              <a:ext uri="{FF2B5EF4-FFF2-40B4-BE49-F238E27FC236}">
                <a16:creationId xmlns:a16="http://schemas.microsoft.com/office/drawing/2014/main" id="{EBC43421-3358-465C-823A-7529F5A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== 原始输入  →  True</a:t>
            </a:r>
          </a:p>
        </p:txBody>
      </p:sp>
      <p:sp>
        <p:nvSpPr>
          <p:cNvPr id="41" name="recovery-caption-overlay">
            <a:extLst xmlns:a="http://schemas.openxmlformats.org/drawingml/2006/main">
              <a:ext uri="{FF2B5EF4-FFF2-40B4-BE49-F238E27FC236}">
                <a16:creationId xmlns:a16="http://schemas.microsoft.com/office/drawing/2014/main" id="{BEA649FB-3DA5-4016-B92A-0047F47E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62500"/>
            <a:ext cx="10972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recovery-conclusion">
            <a:extLst xmlns:a="http://schemas.openxmlformats.org/drawingml/2006/main">
              <a:ext uri="{FF2B5EF4-FFF2-40B4-BE49-F238E27FC236}">
                <a16:creationId xmlns:a16="http://schemas.microsoft.com/office/drawing/2014/main" id="{3B6F914F-5CAB-4749-9475-EE814C26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16项逐值一致。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开场：4096 bytes还原一致（True）。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无损：解压后可完全恢复原始数据。</a:t>
            </a:r>
          </a:p>
        </p:txBody>
      </p:sp>
    </p:spTree>
    <p:extLst>
      <p:ext uri="{BB962C8B-B14F-4D97-AF65-F5344CB8AC3E}">
        <p14:creationId xmlns:p14="http://schemas.microsoft.com/office/powerpoint/2010/main" val="4783397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0FF191A3-E942-4FBF-B10B-5B233ADD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66FB30B-2491-474D-97BD-CBA51F03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233C736-824B-41BC-9AEC-56EC1B5F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87BCA7DA-3C01-417D-A1AF-9A5AA59D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62DF414A-64A8-4AAE-B435-2A8695FF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3B644E6B-8D4C-4313-B3C0-CD16B2CC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E424A2C3-5F5F-4679-A47A-14CFB96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63E51E65-9E16-4454-A5A6-A66073A5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84CD0D1C-5737-4D2D-9F19-B5A340EE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61D98817-49AD-484F-B545-FC138565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A751498C-D6C6-4656-8CB6-B19B9217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2CDFE2CB-C219-4D42-AF86-CD7E3B4E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AB0905FB-C7CE-4D00-BAC6-D13854A6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DA422687-55E6-481E-934A-B90CAD11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8D102A2B-2439-4EF7-AFA4-1C2C7124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3D9C58EF-25D6-4C5D-8450-2B204FA6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7786FA33-6534-4122-9C25-86BCA58D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7749D114-0CCA-434B-8057-01A390EC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CF158C1F-B7AE-489B-9EBC-7D9F64D1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C124AB78-5FC0-4C8C-833B-5057AEB9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155C4F94-3E42-42F5-A9DD-BE587EA5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FEC9E694-D8F3-4C4E-A177-A870EED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CF6F254A-7DD4-4AC5-97FA-5EA090EF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5F13764A-74CB-4C74-973E-601790D7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D8AD66FE-797D-4F1A-A680-738C9500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89B59A84-04FC-452F-B008-9756F41C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74024357-CF2F-49A7-992B-D97E2C2A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B4AC83EC-814F-4131-8186-96217E38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A56BDB09-3561-4C8B-84DE-6D26A651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BEAE6A16-1807-4BB1-8EBC-4BE36CDA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2161D85C-D3B0-4FDF-AB95-D03751D0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D399BE0F-7803-4B20-8DF0-7BD04879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626EDB5B-0174-47DB-BE69-51753647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701DADA9-2CD9-4117-A9DD-31D5DCB2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C46D23C5-C3B7-4FEA-8D52-CD57904B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2C40BDFD-0931-4068-8CC7-BD87F0E8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8301BAA9-3E59-4A7D-9B08-B36F9F9C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8F051E7F-669F-48DA-99C3-B39AEA81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</p:spTree>
    <p:extLst>
      <p:ext uri="{BB962C8B-B14F-4D97-AF65-F5344CB8AC3E}">
        <p14:creationId xmlns:p14="http://schemas.microsoft.com/office/powerpoint/2010/main" val="1392786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0FF191A3-E942-4FBF-B10B-5B233ADD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66FB30B-2491-474D-97BD-CBA51F03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233C736-824B-41BC-9AEC-56EC1B5F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87BCA7DA-3C01-417D-A1AF-9A5AA59D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62DF414A-64A8-4AAE-B435-2A8695FF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3B644E6B-8D4C-4313-B3C0-CD16B2CC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E424A2C3-5F5F-4679-A47A-14CFB96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63E51E65-9E16-4454-A5A6-A66073A5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84CD0D1C-5737-4D2D-9F19-B5A340EE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61D98817-49AD-484F-B545-FC138565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A751498C-D6C6-4656-8CB6-B19B9217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2CDFE2CB-C219-4D42-AF86-CD7E3B4E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AB0905FB-C7CE-4D00-BAC6-D13854A6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DA422687-55E6-481E-934A-B90CAD11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8D102A2B-2439-4EF7-AFA4-1C2C7124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3D9C58EF-25D6-4C5D-8450-2B204FA6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7786FA33-6534-4122-9C25-86BCA58D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7749D114-0CCA-434B-8057-01A390EC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CF158C1F-B7AE-489B-9EBC-7D9F64D1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C124AB78-5FC0-4C8C-833B-5057AEB9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蓝</a:t>
            </a:r>
          </a:p>
        </p:txBody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155C4F94-3E42-42F5-A9DD-BE587EA5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FEC9E694-D8F3-4C4E-A177-A870EED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CF6F254A-7DD4-4AC5-97FA-5EA090EF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5F13764A-74CB-4C74-973E-601790D7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D8AD66FE-797D-4F1A-A680-738C9500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89B59A84-04FC-452F-B008-9756F41C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74024357-CF2F-49A7-992B-D97E2C2A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B4AC83EC-814F-4131-8186-96217E38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A56BDB09-3561-4C8B-84DE-6D26A651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BEAE6A16-1807-4BB1-8EBC-4BE36CDA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2161D85C-D3B0-4FDF-AB95-D03751D0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D399BE0F-7803-4B20-8DF0-7BD04879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626EDB5B-0174-47DB-BE69-51753647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701DADA9-2CD9-4117-A9DD-31D5DCB2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C46D23C5-C3B7-4FEA-8D52-CD57904B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2C40BDFD-0931-4068-8CC7-BD87F0E8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</a:t>
            </a:r>
          </a:p>
        </p:txBody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8301BAA9-3E59-4A7D-9B08-B36F9F9C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绿</a:t>
            </a:r>
          </a:p>
        </p:txBody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8F051E7F-669F-48DA-99C3-B39AEA81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  <p:sp>
        <p:nvSpPr>
          <p:cNvPr id="39" name="counts">
            <a:extLst xmlns:a="http://schemas.openxmlformats.org/drawingml/2006/main">
              <a:ext uri="{FF2B5EF4-FFF2-40B4-BE49-F238E27FC236}">
                <a16:creationId xmlns:a16="http://schemas.microsoft.com/office/drawing/2014/main" id="{7CEAD2C3-4298-4ECA-9A80-A4A112DC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A：16 B → 6 B       B：16 B → 32 B</a:t>
            </a:r>
          </a:p>
        </p:txBody>
      </p:sp>
    </p:spTree>
    <p:extLst>
      <p:ext uri="{BB962C8B-B14F-4D97-AF65-F5344CB8AC3E}">
        <p14:creationId xmlns:p14="http://schemas.microsoft.com/office/powerpoint/2010/main" val="1392786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2EE5665C-BDBB-4702-AC28-884F9F1C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EDE1482-B9F0-4003-8C7B-01EAB70A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EAB2AC2-E0BA-4DD6-8CA4-41CF3C89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28872318-1E3F-40EA-BA9B-3F073376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580BECDE-4FB7-4F0B-BE83-6CC63ADA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99C5880D-14B9-435E-949F-F939F010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DE865D21-230F-4D9B-9124-5C3D693B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01491D51-DD05-4C3E-AE4D-A840CBC8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BC2FEFC2-1E3A-4C7A-AD7C-DBD3C4F0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AA112AA9-37EA-4809-8334-7FA33B04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BDE1E5F4-AAB4-42DD-9BDB-A5720185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5E7CE482-05E3-4069-AD8C-1085AA9C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1883012E-44F4-408B-90A1-34DD6207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9CD819D1-73EA-4147-8F8E-941C041C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A02A88D7-9E15-4C98-9DB4-B223289E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3DE1405D-6123-43B7-90AA-8ED3F2F6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6948902C-425E-4E9D-909E-1A0B26BA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A823FB97-C2A1-4F04-B05E-C378B785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918A6671-5296-4923-A1CA-CE050D3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02661E41-13B4-4D83-BC0F-B982C0A2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</p:spTree>
    <p:extLst>
      <p:ext uri="{BB962C8B-B14F-4D97-AF65-F5344CB8AC3E}">
        <p14:creationId xmlns:p14="http://schemas.microsoft.com/office/powerpoint/2010/main" val="6892369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2EE5665C-BDBB-4702-AC28-884F9F1C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EDE1482-B9F0-4003-8C7B-01EAB70A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EAB2AC2-E0BA-4DD6-8CA4-41CF3C89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28872318-1E3F-40EA-BA9B-3F073376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580BECDE-4FB7-4F0B-BE83-6CC63ADA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99C5880D-14B9-435E-949F-F939F010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DE865D21-230F-4D9B-9124-5C3D693B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01491D51-DD05-4C3E-AE4D-A840CBC8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BC2FEFC2-1E3A-4C7A-AD7C-DBD3C4F0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AA112AA9-37EA-4809-8334-7FA33B04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BDE1E5F4-AAB4-42DD-9BDB-A5720185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5E7CE482-05E3-4069-AD8C-1085AA9C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1883012E-44F4-408B-90A1-34DD6207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9CD819D1-73EA-4147-8F8E-941C041C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A02A88D7-9E15-4C98-9DB4-B223289E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3DE1405D-6123-43B7-90AA-8ED3F2F6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6948902C-425E-4E9D-909E-1A0B26BA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A823FB97-C2A1-4F04-B05E-C378B785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918A6671-5296-4923-A1CA-CE050D3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02661E41-13B4-4D83-BC0F-B982C0A2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C0FAAA35-1CAC-493F-A26B-FC6BB21B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</p:spTree>
    <p:extLst>
      <p:ext uri="{BB962C8B-B14F-4D97-AF65-F5344CB8AC3E}">
        <p14:creationId xmlns:p14="http://schemas.microsoft.com/office/powerpoint/2010/main" val="6892369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2EE5665C-BDBB-4702-AC28-884F9F1C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EDE1482-B9F0-4003-8C7B-01EAB70A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EAB2AC2-E0BA-4DD6-8CA4-41CF3C89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28872318-1E3F-40EA-BA9B-3F073376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580BECDE-4FB7-4F0B-BE83-6CC63ADA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99C5880D-14B9-435E-949F-F939F010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DE865D21-230F-4D9B-9124-5C3D693B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01491D51-DD05-4C3E-AE4D-A840CBC8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BC2FEFC2-1E3A-4C7A-AD7C-DBD3C4F0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AA112AA9-37EA-4809-8334-7FA33B04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BDE1E5F4-AAB4-42DD-9BDB-A5720185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5E7CE482-05E3-4069-AD8C-1085AA9C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1883012E-44F4-408B-90A1-34DD6207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9CD819D1-73EA-4147-8F8E-941C041C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A02A88D7-9E15-4C98-9DB4-B223289E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3DE1405D-6123-43B7-90AA-8ED3F2F6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6948902C-425E-4E9D-909E-1A0B26BA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A823FB97-C2A1-4F04-B05E-C378B785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918A6671-5296-4923-A1CA-CE050D3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02661E41-13B4-4D83-BC0F-B982C0A2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C0FAAA35-1CAC-493F-A26B-FC6BB21B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  <p:sp>
        <p:nvSpPr>
          <p:cNvPr id="22" name="delta-size">
            <a:extLst xmlns:a="http://schemas.openxmlformats.org/drawingml/2006/main">
              <a:ext uri="{FF2B5EF4-FFF2-40B4-BE49-F238E27FC236}">
                <a16:creationId xmlns:a16="http://schemas.microsoft.com/office/drawing/2014/main" id="{1B0A6E93-1AD2-4154-A61F-FE900D8E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+ 7 × 2 = 22 bit → 3 B（补2 bit）</a:t>
            </a:r>
          </a:p>
        </p:txBody>
      </p:sp>
      <p:sp>
        <p:nvSpPr>
          <p:cNvPr id="23" name="delta-code-table">
            <a:extLst xmlns:a="http://schemas.openxmlformats.org/drawingml/2006/main">
              <a:ext uri="{FF2B5EF4-FFF2-40B4-BE49-F238E27FC236}">
                <a16:creationId xmlns:a16="http://schemas.microsoft.com/office/drawing/2014/main" id="{1D79F450-07BE-469C-9BDE-B2D43C63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本串码表：−1 = 00；0 = 01；+1 = 10</a:t>
            </a:r>
          </a:p>
        </p:txBody>
      </p:sp>
    </p:spTree>
    <p:extLst>
      <p:ext uri="{BB962C8B-B14F-4D97-AF65-F5344CB8AC3E}">
        <p14:creationId xmlns:p14="http://schemas.microsoft.com/office/powerpoint/2010/main" val="6892369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C00F4C71-8010-4ED8-999C-7072293A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E143E40-5DD0-42BF-B3E8-01F1FB59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9F2FF11-5CFF-47BB-A746-A16092D9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B8CA96E-24FB-41B7-A4DD-737FBB9A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C3E3D20C-89E6-4EA2-AC8B-F239F5B8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2C101BC7-9871-406F-BFC1-056DD2AD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5432D5AF-863F-4E09-9C2F-0FD622F8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1EA6FCEB-612A-42D1-9161-3DD10396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95BD86E9-D770-4DA1-B50A-1C9F52DC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</p:spTree>
    <p:extLst>
      <p:ext uri="{BB962C8B-B14F-4D97-AF65-F5344CB8AC3E}">
        <p14:creationId xmlns:p14="http://schemas.microsoft.com/office/powerpoint/2010/main" val="188994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C00F4C71-8010-4ED8-999C-7072293A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E143E40-5DD0-42BF-B3E8-01F1FB59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9F2FF11-5CFF-47BB-A746-A16092D9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B8CA96E-24FB-41B7-A4DD-737FBB9A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C3E3D20C-89E6-4EA2-AC8B-F239F5B8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2C101BC7-9871-406F-BFC1-056DD2AD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5432D5AF-863F-4E09-9C2F-0FD622F8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1EA6FCEB-612A-42D1-9161-3DD10396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95BD86E9-D770-4DA1-B50A-1C9F52DC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2998EBBE-A9FE-438A-AE96-71B81483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</p:spTree>
    <p:extLst>
      <p:ext uri="{BB962C8B-B14F-4D97-AF65-F5344CB8AC3E}">
        <p14:creationId xmlns:p14="http://schemas.microsoft.com/office/powerpoint/2010/main" val="1889942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C00F4C71-8010-4ED8-999C-7072293A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E143E40-5DD0-42BF-B3E8-01F1FB59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9F2FF11-5CFF-47BB-A746-A16092D9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5B8CA96E-24FB-41B7-A4DD-737FBB9A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C3E3D20C-89E6-4EA2-AC8B-F239F5B8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2C101BC7-9871-406F-BFC1-056DD2AD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5432D5AF-863F-4E09-9C2F-0FD622F8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1EA6FCEB-612A-42D1-9161-3DD10396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95BD86E9-D770-4DA1-B50A-1C9F52DC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2998EBBE-A9FE-438A-AE96-71B81483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  <p:sp>
        <p:nvSpPr>
          <p:cNvPr id="11" name="lossy-size">
            <a:extLst xmlns:a="http://schemas.openxmlformats.org/drawingml/2006/main">
              <a:ext uri="{FF2B5EF4-FFF2-40B4-BE49-F238E27FC236}">
                <a16:creationId xmlns:a16="http://schemas.microsoft.com/office/drawing/2014/main" id="{6A6BCA08-63EF-42AD-B188-D39C9922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× 6 = 48 bit = 6 B；不能保证完整恢复</a:t>
            </a:r>
          </a:p>
        </p:txBody>
      </p:sp>
    </p:spTree>
    <p:extLst>
      <p:ext uri="{BB962C8B-B14F-4D97-AF65-F5344CB8AC3E}">
        <p14:creationId xmlns:p14="http://schemas.microsoft.com/office/powerpoint/2010/main" val="188994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AF349D14-1D68-40C1-83FC-3C4646E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889C913-E696-4D99-93A3-0F78998E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07A838B-91CE-42B3-AF59-95397A48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b28b6101a4343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f0c2833b64e2d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B7E6526-B376-47C5-B471-4974910D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14A79C45-8747-435E-BFAC-6CD27FF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8BF7B913-54BE-4033-B8BE-AA191DE0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216像素（程序绘制的测试图）。</a:t>
            </a:r>
          </a:p>
        </p:txBody>
      </p:sp>
    </p:spTree>
    <p:extLst>
      <p:ext uri="{BB962C8B-B14F-4D97-AF65-F5344CB8AC3E}">
        <p14:creationId xmlns:p14="http://schemas.microsoft.com/office/powerpoint/2010/main" val="3940007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AF349D14-1D68-40C1-83FC-3C4646E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889C913-E696-4D99-93A3-0F78998E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07A838B-91CE-42B3-AF59-95397A48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60b30bc044f18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1dd2acc21498f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B7E6526-B376-47C5-B471-4974910D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14A79C45-8747-435E-BFAC-6CD27FF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8BF7B913-54BE-4033-B8BE-AA191DE0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216像素（程序绘制的测试图）。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EDE78879-8416-4165-8176-981D33E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3166FBED-29C8-44B9-9906-E6F87C6C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</p:spTree>
    <p:extLst>
      <p:ext uri="{BB962C8B-B14F-4D97-AF65-F5344CB8AC3E}">
        <p14:creationId xmlns:p14="http://schemas.microsoft.com/office/powerpoint/2010/main" val="3940007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AF349D14-1D68-40C1-83FC-3C4646E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889C913-E696-4D99-93A3-0F78998E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07A838B-91CE-42B3-AF59-95397A48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d34ef32364d56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3cfe64a35417f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B7E6526-B376-47C5-B471-4974910D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14A79C45-8747-435E-BFAC-6CD27FF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8BF7B913-54BE-4033-B8BE-AA191DE0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216像素（程序绘制的测试图）。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EDE78879-8416-4165-8176-981D33E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3166FBED-29C8-44B9-9906-E6F87C6C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  <p:sp>
        <p:nvSpPr>
          <p:cNvPr id="11" name="crop-overlay">
            <a:extLst xmlns:a="http://schemas.openxmlformats.org/drawingml/2006/main">
              <a:ext uri="{FF2B5EF4-FFF2-40B4-BE49-F238E27FC236}">
                <a16:creationId xmlns:a16="http://schemas.microsoft.com/office/drawing/2014/main" id="{DE5752A4-2116-4D87-8495-F80FC2C0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38375"/>
            <a:ext cx="109728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28c5343404293"/>
          <a:stretch xmlns:a="http://schemas.openxmlformats.org/drawingml/2006/main"/>
        </p:blipFill>
        <p:spPr>
          <a:xfrm xmlns:a="http://schemas.openxmlformats.org/drawingml/2006/main">
            <a:off x="609600" y="2438400"/>
            <a:ext cx="5143500" cy="25717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3031e7acb4131"/>
          <a:stretch xmlns:a="http://schemas.openxmlformats.org/drawingml/2006/main"/>
        </p:blipFill>
        <p:spPr>
          <a:xfrm xmlns:a="http://schemas.openxmlformats.org/drawingml/2006/main">
            <a:off x="6419850" y="2438400"/>
            <a:ext cx="5143500" cy="2571750"/>
          </a:xfrm>
          <a:prstGeom xmlns:a="http://schemas.openxmlformats.org/drawingml/2006/main" prst="rect">
            <a:avLst/>
          </a:prstGeom>
        </p:spPr>
      </p:pic>
      <p:sp>
        <p:nvSpPr>
          <p:cNvPr id="14" name="crop-caption">
            <a:extLst xmlns:a="http://schemas.openxmlformats.org/drawingml/2006/main">
              <a:ext uri="{FF2B5EF4-FFF2-40B4-BE49-F238E27FC236}">
                <a16:creationId xmlns:a16="http://schemas.microsoft.com/office/drawing/2014/main" id="{4B436BDA-3674-4E86-95D9-7AD6B06E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同一96 × 48像素区域，最近邻放大8倍</a:t>
            </a:r>
          </a:p>
        </p:txBody>
      </p:sp>
    </p:spTree>
    <p:extLst>
      <p:ext uri="{BB962C8B-B14F-4D97-AF65-F5344CB8AC3E}">
        <p14:creationId xmlns:p14="http://schemas.microsoft.com/office/powerpoint/2010/main" val="3940007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AF349D14-1D68-40C1-83FC-3C4646E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889C913-E696-4D99-93A3-0F78998E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07A838B-91CE-42B3-AF59-95397A48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eb1250b614d2d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c25dd31ca4bb1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B7E6526-B376-47C5-B471-4974910D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14A79C45-8747-435E-BFAC-6CD27FF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8BF7B913-54BE-4033-B8BE-AA191DE0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216像素（程序绘制的测试图）。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EDE78879-8416-4165-8176-981D33E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3166FBED-29C8-44B9-9906-E6F87C6C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  <p:sp>
        <p:nvSpPr>
          <p:cNvPr id="11" name="crop-overlay">
            <a:extLst xmlns:a="http://schemas.openxmlformats.org/drawingml/2006/main">
              <a:ext uri="{FF2B5EF4-FFF2-40B4-BE49-F238E27FC236}">
                <a16:creationId xmlns:a16="http://schemas.microsoft.com/office/drawing/2014/main" id="{DE5752A4-2116-4D87-8495-F80FC2C0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38375"/>
            <a:ext cx="109728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7c6f4837644c7"/>
          <a:stretch xmlns:a="http://schemas.openxmlformats.org/drawingml/2006/main"/>
        </p:blipFill>
        <p:spPr>
          <a:xfrm xmlns:a="http://schemas.openxmlformats.org/drawingml/2006/main">
            <a:off x="609600" y="2438400"/>
            <a:ext cx="5143500" cy="25717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8cf8b603b4faf"/>
          <a:stretch xmlns:a="http://schemas.openxmlformats.org/drawingml/2006/main"/>
        </p:blipFill>
        <p:spPr>
          <a:xfrm xmlns:a="http://schemas.openxmlformats.org/drawingml/2006/main">
            <a:off x="6419850" y="2438400"/>
            <a:ext cx="5143500" cy="2571750"/>
          </a:xfrm>
          <a:prstGeom xmlns:a="http://schemas.openxmlformats.org/drawingml/2006/main" prst="rect">
            <a:avLst/>
          </a:prstGeom>
        </p:spPr>
      </p:pic>
      <p:sp>
        <p:nvSpPr>
          <p:cNvPr id="14" name="crop-caption">
            <a:extLst xmlns:a="http://schemas.openxmlformats.org/drawingml/2006/main">
              <a:ext uri="{FF2B5EF4-FFF2-40B4-BE49-F238E27FC236}">
                <a16:creationId xmlns:a16="http://schemas.microsoft.com/office/drawing/2014/main" id="{4B436BDA-3674-4E86-95D9-7AD6B06E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同一96 × 48像素区域，最近邻放大8倍</a:t>
            </a:r>
          </a:p>
        </p:txBody>
      </p:sp>
      <p:sp>
        <p:nvSpPr>
          <p:cNvPr id="15" name="file-size">
            <a:extLst xmlns:a="http://schemas.openxmlformats.org/drawingml/2006/main">
              <a:ext uri="{FF2B5EF4-FFF2-40B4-BE49-F238E27FC236}">
                <a16:creationId xmlns:a16="http://schemas.microsoft.com/office/drawing/2014/main" id="{65A7A046-B6F2-4588-A030-7E5290ED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PNG 4,441 B      JPEG 10,766 B</a:t>
            </a:r>
          </a:p>
        </p:txBody>
      </p:sp>
      <p:sp>
        <p:nvSpPr>
          <p:cNvPr id="16" name="file-size-label-overlay">
            <a:extLst xmlns:a="http://schemas.openxmlformats.org/drawingml/2006/main">
              <a:ext uri="{FF2B5EF4-FFF2-40B4-BE49-F238E27FC236}">
                <a16:creationId xmlns:a16="http://schemas.microsoft.com/office/drawing/2014/main" id="{2037A453-0280-4199-BA20-746B979A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90675"/>
            <a:ext cx="109728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file-size-final">
            <a:extLst xmlns:a="http://schemas.openxmlformats.org/drawingml/2006/main">
              <a:ext uri="{FF2B5EF4-FFF2-40B4-BE49-F238E27FC236}">
                <a16:creationId xmlns:a16="http://schemas.microsoft.com/office/drawing/2014/main" id="{67C104A0-DCE4-4397-9FBC-FEC38E3F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PNG 4,441 B      JPEG 10,766 B</a:t>
            </a:r>
          </a:p>
        </p:txBody>
      </p:sp>
    </p:spTree>
    <p:extLst>
      <p:ext uri="{BB962C8B-B14F-4D97-AF65-F5344CB8AC3E}">
        <p14:creationId xmlns:p14="http://schemas.microsoft.com/office/powerpoint/2010/main" val="3940007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op-rail">
            <a:extLst xmlns:a="http://schemas.openxmlformats.org/drawingml/2006/main">
              <a:ext uri="{FF2B5EF4-FFF2-40B4-BE49-F238E27FC236}">
                <a16:creationId xmlns:a16="http://schemas.microsoft.com/office/drawing/2014/main" id="{D8B8279D-9DF5-47EA-B38C-9E2BBE3A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F555661-75F8-4BCD-9201-9F045400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F4E5BA6-CB25-44A5-96A0-96B4236E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5571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D8B8279D-9DF5-47EA-B38C-9E2BBE3A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F555661-75F8-4BCD-9201-9F045400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F4E5BA6-CB25-44A5-96A0-96B4236E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use-answer">
            <a:extLst xmlns:a="http://schemas.openxmlformats.org/drawingml/2006/main">
              <a:ext uri="{FF2B5EF4-FFF2-40B4-BE49-F238E27FC236}">
                <a16:creationId xmlns:a16="http://schemas.microsoft.com/office/drawing/2014/main" id="{75539A6A-E9DB-4EE4-8B64-13A7B7BC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文本文档／程序必须无损；媒体要检查用途与质量。</a:t>
            </a:r>
          </a:p>
        </p:txBody>
      </p:sp>
    </p:spTree>
    <p:extLst>
      <p:ext uri="{BB962C8B-B14F-4D97-AF65-F5344CB8AC3E}">
        <p14:creationId xmlns:p14="http://schemas.microsoft.com/office/powerpoint/2010/main" val="14895571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570CEB69-E52A-4F46-A95A-83D48943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959EA05-3E35-4991-A88E-8C74DBAB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6BCCB37-45E7-4FC8-8466-E13324D9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82499ED7-4451-4ACE-AA22-9E2C53DA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FB292D88-9AD0-4A17-929E-9C82405B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</p:spTree>
    <p:extLst>
      <p:ext uri="{BB962C8B-B14F-4D97-AF65-F5344CB8AC3E}">
        <p14:creationId xmlns:p14="http://schemas.microsoft.com/office/powerpoint/2010/main" val="1803785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570CEB69-E52A-4F46-A95A-83D48943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959EA05-3E35-4991-A88E-8C74DBAB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6BCCB37-45E7-4FC8-8466-E13324D9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82499ED7-4451-4ACE-AA22-9E2C53DA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FB292D88-9AD0-4A17-929E-9C82405B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3E9C982E-7526-407B-B441-5B2F57AD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</p:spTree>
    <p:extLst>
      <p:ext uri="{BB962C8B-B14F-4D97-AF65-F5344CB8AC3E}">
        <p14:creationId xmlns:p14="http://schemas.microsoft.com/office/powerpoint/2010/main" val="1803785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570CEB69-E52A-4F46-A95A-83D48943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959EA05-3E35-4991-A88E-8C74DBAB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6BCCB37-45E7-4FC8-8466-E13324D9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82499ED7-4451-4ACE-AA22-9E2C53DA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FB292D88-9AD0-4A17-929E-9C82405B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3E9C982E-7526-407B-B441-5B2F57AD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  <p:sp>
        <p:nvSpPr>
          <p:cNvPr id="8" name="format-overlay">
            <a:extLst xmlns:a="http://schemas.openxmlformats.org/drawingml/2006/main">
              <a:ext uri="{FF2B5EF4-FFF2-40B4-BE49-F238E27FC236}">
                <a16:creationId xmlns:a16="http://schemas.microsoft.com/office/drawing/2014/main" id="{BF685E86-E8DC-4B66-9E19-056D9CB1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14500"/>
            <a:ext cx="109728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5375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952750"/>
                <a:gridCol w="5715000"/>
              </a:tblGrid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常见用途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本课保留的边界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JPG/JPEG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常见照片保存通常有损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TIF/TIFF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需看所用编码方式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音频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常见有损音频编码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视频相关标准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常见视频用途采用有损编码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format-key">
            <a:extLst xmlns:a="http://schemas.openxmlformats.org/drawingml/2006/main">
              <a:ext uri="{FF2B5EF4-FFF2-40B4-BE49-F238E27FC236}">
                <a16:creationId xmlns:a16="http://schemas.microsoft.com/office/drawing/2014/main" id="{C27B9123-E6A4-4B2A-B4BB-5FEA2732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先看用途与保存方式，再判断。</a:t>
            </a:r>
          </a:p>
        </p:txBody>
      </p:sp>
    </p:spTree>
    <p:extLst>
      <p:ext uri="{BB962C8B-B14F-4D97-AF65-F5344CB8AC3E}">
        <p14:creationId xmlns:p14="http://schemas.microsoft.com/office/powerpoint/2010/main" val="1803785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654A9AC8-33D8-4ABF-B091-D42C97F3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D501C4C-8B87-43BC-B1C5-14694447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572F63B-C78A-449F-B09A-248D4965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DB4CD2B5-7F8B-424F-81E2-E0C4BA76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E66C45BD-128F-45E4-A7E0-2904CF2D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</p:spTree>
    <p:extLst>
      <p:ext uri="{BB962C8B-B14F-4D97-AF65-F5344CB8AC3E}">
        <p14:creationId xmlns:p14="http://schemas.microsoft.com/office/powerpoint/2010/main" val="19947077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654A9AC8-33D8-4ABF-B091-D42C97F3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D501C4C-8B87-43BC-B1C5-14694447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572F63B-C78A-449F-B09A-248D4965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DB4CD2B5-7F8B-424F-81E2-E0C4BA76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E66C45BD-128F-45E4-A7E0-2904CF2D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  <p:sp>
        <p:nvSpPr>
          <p:cNvPr id="7" name="choice-answer">
            <a:extLst xmlns:a="http://schemas.openxmlformats.org/drawingml/2006/main">
              <a:ext uri="{FF2B5EF4-FFF2-40B4-BE49-F238E27FC236}">
                <a16:creationId xmlns:a16="http://schemas.microsoft.com/office/drawing/2014/main" id="{84E92F8B-BE5B-4832-A9A3-977C80B3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源程序选A；照片浏览副本选B。两项要求都要满足。</a:t>
            </a:r>
          </a:p>
        </p:txBody>
      </p:sp>
    </p:spTree>
    <p:extLst>
      <p:ext uri="{BB962C8B-B14F-4D97-AF65-F5344CB8AC3E}">
        <p14:creationId xmlns:p14="http://schemas.microsoft.com/office/powerpoint/2010/main" val="1994707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807F126B-E1AB-4F11-83F8-DC8691CA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B92D820-F69B-4190-B093-0A8BC99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130E0D1-CDD6-458D-8688-D068FBA7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数据压缩：改变表示，检查用途</a:t>
            </a:r>
          </a:p>
        </p:txBody>
      </p:sp>
      <p:sp>
        <p:nvSpPr>
          <p:cNvPr id="4" name="definition">
            <a:extLst xmlns:a="http://schemas.openxmlformats.org/drawingml/2006/main">
              <a:ext uri="{FF2B5EF4-FFF2-40B4-BE49-F238E27FC236}">
                <a16:creationId xmlns:a16="http://schemas.microsoft.com/office/drawing/2014/main" id="{CDF728A1-4165-4AF7-BD49-A2E8DFF1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存储和传输时采用特殊编码，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使数据占用的空间相对减少。</a:t>
            </a:r>
          </a:p>
        </p:txBody>
      </p:sp>
      <p:sp>
        <p:nvSpPr>
          <p:cNvPr id="5" name="lossless">
            <a:extLst xmlns:a="http://schemas.openxmlformats.org/drawingml/2006/main">
              <a:ext uri="{FF2B5EF4-FFF2-40B4-BE49-F238E27FC236}">
                <a16:creationId xmlns:a16="http://schemas.microsoft.com/office/drawing/2014/main" id="{34D0FDB8-BDE1-433A-BE82-A8F4CC46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无损：解压后可完全恢复原始数据。</a:t>
            </a:r>
          </a:p>
        </p:txBody>
      </p:sp>
      <p:sp>
        <p:nvSpPr>
          <p:cNvPr id="6" name="lossy">
            <a:extLst xmlns:a="http://schemas.openxmlformats.org/drawingml/2006/main">
              <a:ext uri="{FF2B5EF4-FFF2-40B4-BE49-F238E27FC236}">
                <a16:creationId xmlns:a16="http://schemas.microsoft.com/office/drawing/2014/main" id="{386C6735-49DD-4322-99B3-4074052D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有损：不能保证完整恢复；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前提是所需主要信息仍能获取。</a:t>
            </a:r>
          </a:p>
        </p:txBody>
      </p:sp>
    </p:spTree>
    <p:extLst>
      <p:ext uri="{BB962C8B-B14F-4D97-AF65-F5344CB8AC3E}">
        <p14:creationId xmlns:p14="http://schemas.microsoft.com/office/powerpoint/2010/main" val="18997298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01CE6B27-5B2B-4D89-BCDB-A115919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D22953E-CF5D-4B72-B323-0E82F73F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2AA4452-3A15-4871-B266-D700934A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F6C8D90E-8054-40DB-8DA7-98D5A610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C6C976B9-94F8-439C-B1C5-3697E9ED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52D0FCD0-C0C5-4271-A816-578DF7A0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</p:spTree>
    <p:extLst>
      <p:ext uri="{BB962C8B-B14F-4D97-AF65-F5344CB8AC3E}">
        <p14:creationId xmlns:p14="http://schemas.microsoft.com/office/powerpoint/2010/main" val="157824365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01CE6B27-5B2B-4D89-BCDB-A115919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D22953E-CF5D-4B72-B323-0E82F73F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2AA4452-3A15-4871-B266-D700934A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F6C8D90E-8054-40DB-8DA7-98D5A610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C6C976B9-94F8-439C-B1C5-3697E9ED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52D0FCD0-C0C5-4271-A816-578DF7A0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  <p:sp>
        <p:nvSpPr>
          <p:cNvPr id="7" name="exit-answer-one">
            <a:extLst xmlns:a="http://schemas.openxmlformats.org/drawingml/2006/main">
              <a:ext uri="{FF2B5EF4-FFF2-40B4-BE49-F238E27FC236}">
                <a16:creationId xmlns:a16="http://schemas.microsoft.com/office/drawing/2014/main" id="{2C2A8CFA-4AFA-4C75-84A3-1F3A80B0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与 原始输入</a:t>
            </a:r>
          </a:p>
        </p:txBody>
      </p:sp>
      <p:sp>
        <p:nvSpPr>
          <p:cNvPr id="8" name="exit-answer-two">
            <a:extLst xmlns:a="http://schemas.openxmlformats.org/drawingml/2006/main">
              <a:ext uri="{FF2B5EF4-FFF2-40B4-BE49-F238E27FC236}">
                <a16:creationId xmlns:a16="http://schemas.microsoft.com/office/drawing/2014/main" id="{BF9541BD-BBA3-455D-B354-B520F5B3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感知相似，不能证明每个原值都相同。</a:t>
            </a:r>
          </a:p>
        </p:txBody>
      </p:sp>
    </p:spTree>
    <p:extLst>
      <p:ext uri="{BB962C8B-B14F-4D97-AF65-F5344CB8AC3E}">
        <p14:creationId xmlns:p14="http://schemas.microsoft.com/office/powerpoint/2010/main" val="1578243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2026-10-01T00:26:12.4800000Z</dcterms:created>
  <dcterms:modified xsi:type="dcterms:W3CDTF">2026-10-01T00:26:12.4800000Z</dcterms:modified>
</coreProperties>
</file>
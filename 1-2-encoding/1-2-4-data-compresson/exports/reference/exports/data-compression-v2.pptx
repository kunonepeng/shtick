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90e81b04c94f54" /><Relationship Type="http://schemas.openxmlformats.org/officeDocument/2006/relationships/extended-properties" Target="/docProps/app.xml" Id="R73ff76ca04484317" /><Relationship Type="http://schemas.openxmlformats.org/officeDocument/2006/relationships/officeDocument" Target="/ppt/presentation.xml" Id="R33f8b52279754c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2af09a4f784f79"/>
  </p:sldMasterIdLst>
  <p:notesMasterIdLst>
    <p:notesMasterId xmlns:r="http://schemas.openxmlformats.org/officeDocument/2006/relationships" r:id="R31462d29a26e4a31"/>
  </p:notesMasterIdLst>
  <p:sldIdLst>
    <p:sldId xmlns:r="http://schemas.openxmlformats.org/officeDocument/2006/relationships" id="256" r:id="Rc2c1a06a5e6f462a"/>
    <p:sldId xmlns:r="http://schemas.openxmlformats.org/officeDocument/2006/relationships" id="257" r:id="R3a9e53148dbd42fb"/>
    <p:sldId xmlns:r="http://schemas.openxmlformats.org/officeDocument/2006/relationships" id="258" r:id="R19ca330d12f948e2"/>
    <p:sldId xmlns:r="http://schemas.openxmlformats.org/officeDocument/2006/relationships" id="259" r:id="Rcb25abafc1664271"/>
    <p:sldId xmlns:r="http://schemas.openxmlformats.org/officeDocument/2006/relationships" id="260" r:id="R25905fe90de74cb3"/>
    <p:sldId xmlns:r="http://schemas.openxmlformats.org/officeDocument/2006/relationships" id="261" r:id="Rc287e8ed716649f4"/>
    <p:sldId xmlns:r="http://schemas.openxmlformats.org/officeDocument/2006/relationships" id="262" r:id="Ra1d61d252acc4f16"/>
    <p:sldId xmlns:r="http://schemas.openxmlformats.org/officeDocument/2006/relationships" id="263" r:id="R514afd6bc5c746ec"/>
    <p:sldId xmlns:r="http://schemas.openxmlformats.org/officeDocument/2006/relationships" id="264" r:id="R0b46feaf65d2425a"/>
    <p:sldId xmlns:r="http://schemas.openxmlformats.org/officeDocument/2006/relationships" id="265" r:id="Rcfc6bc3189d045cf"/>
    <p:sldId xmlns:r="http://schemas.openxmlformats.org/officeDocument/2006/relationships" id="266" r:id="R143ff4b38bc94f49"/>
    <p:sldId xmlns:r="http://schemas.openxmlformats.org/officeDocument/2006/relationships" id="267" r:id="R0c03e2ffd9704b7e"/>
    <p:sldId xmlns:r="http://schemas.openxmlformats.org/officeDocument/2006/relationships" id="268" r:id="R4b08bc58e5c74985"/>
    <p:sldId xmlns:r="http://schemas.openxmlformats.org/officeDocument/2006/relationships" id="269" r:id="R6b0e4e12a8594d67"/>
    <p:sldId xmlns:r="http://schemas.openxmlformats.org/officeDocument/2006/relationships" id="270" r:id="R51f1f8675a9642b2"/>
    <p:sldId xmlns:r="http://schemas.openxmlformats.org/officeDocument/2006/relationships" id="271" r:id="R326aecec940b4d0c"/>
    <p:sldId xmlns:r="http://schemas.openxmlformats.org/officeDocument/2006/relationships" id="272" r:id="R2c5b73860def46fa"/>
    <p:sldId xmlns:r="http://schemas.openxmlformats.org/officeDocument/2006/relationships" id="273" r:id="Redc35ce98dc242fe"/>
    <p:sldId xmlns:r="http://schemas.openxmlformats.org/officeDocument/2006/relationships" id="274" r:id="R8c59ae93201f4c8b"/>
    <p:sldId xmlns:r="http://schemas.openxmlformats.org/officeDocument/2006/relationships" id="275" r:id="R79e67c3ea911488a"/>
    <p:sldId xmlns:r="http://schemas.openxmlformats.org/officeDocument/2006/relationships" id="276" r:id="R9fb53b28f68f4a48"/>
    <p:sldId xmlns:r="http://schemas.openxmlformats.org/officeDocument/2006/relationships" id="277" r:id="R1303eda21228481e"/>
    <p:sldId xmlns:r="http://schemas.openxmlformats.org/officeDocument/2006/relationships" id="278" r:id="Rf1b0790d9bfb40e5"/>
    <p:sldId xmlns:r="http://schemas.openxmlformats.org/officeDocument/2006/relationships" id="279" r:id="R080adae016a44759"/>
    <p:sldId xmlns:r="http://schemas.openxmlformats.org/officeDocument/2006/relationships" id="280" r:id="Rc04a619dc0e64ca0"/>
    <p:sldId xmlns:r="http://schemas.openxmlformats.org/officeDocument/2006/relationships" id="281" r:id="R6a12178ec6c94cf7"/>
    <p:sldId xmlns:r="http://schemas.openxmlformats.org/officeDocument/2006/relationships" id="282" r:id="R8a36769fd2cb4187"/>
    <p:sldId xmlns:r="http://schemas.openxmlformats.org/officeDocument/2006/relationships" id="283" r:id="R63b02496a2a649db"/>
    <p:sldId xmlns:r="http://schemas.openxmlformats.org/officeDocument/2006/relationships" id="284" r:id="R352d3e0314f3415b"/>
    <p:sldId xmlns:r="http://schemas.openxmlformats.org/officeDocument/2006/relationships" id="285" r:id="Rd6d486569b0042fc"/>
    <p:sldId xmlns:r="http://schemas.openxmlformats.org/officeDocument/2006/relationships" id="286" r:id="Rea34093c1bbb4c55"/>
    <p:sldId xmlns:r="http://schemas.openxmlformats.org/officeDocument/2006/relationships" id="287" r:id="R8dbc4d082faf48c5"/>
    <p:sldId xmlns:r="http://schemas.openxmlformats.org/officeDocument/2006/relationships" id="288" r:id="R7be4dcbf9bb04bbf"/>
    <p:sldId xmlns:r="http://schemas.openxmlformats.org/officeDocument/2006/relationships" id="289" r:id="Rdd6b2ed8947b47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2c2560bd2c4bb2" /><Relationship Type="http://schemas.openxmlformats.org/officeDocument/2006/relationships/slideMaster" Target="/ppt/slideMasters/slideMaster1.xml" Id="R402af09a4f784f79" /><Relationship Type="http://schemas.openxmlformats.org/officeDocument/2006/relationships/notesMaster" Target="/ppt/notesMasters/notesMaster1.xml" Id="R31462d29a26e4a31" /><Relationship Type="http://schemas.openxmlformats.org/officeDocument/2006/relationships/presProps" Target="/ppt/presProps.xml" Id="R5546a89b0d274e28" /><Relationship Type="http://schemas.openxmlformats.org/officeDocument/2006/relationships/tableStyles" Target="/ppt/tableStyles.xml" Id="Rc41e6d8f582249a7" /><Relationship Type="http://schemas.openxmlformats.org/officeDocument/2006/relationships/slide" Target="/ppt/slides/slide1.xml" Id="Rc2c1a06a5e6f462a" /><Relationship Type="http://schemas.openxmlformats.org/officeDocument/2006/relationships/slide" Target="/ppt/slides/slide2.xml" Id="R3a9e53148dbd42fb" /><Relationship Type="http://schemas.openxmlformats.org/officeDocument/2006/relationships/slide" Target="/ppt/slides/slide3.xml" Id="R19ca330d12f948e2" /><Relationship Type="http://schemas.openxmlformats.org/officeDocument/2006/relationships/slide" Target="/ppt/slides/slide4.xml" Id="Rcb25abafc1664271" /><Relationship Type="http://schemas.openxmlformats.org/officeDocument/2006/relationships/slide" Target="/ppt/slides/slide5.xml" Id="R25905fe90de74cb3" /><Relationship Type="http://schemas.openxmlformats.org/officeDocument/2006/relationships/slide" Target="/ppt/slides/slide6.xml" Id="Rc287e8ed716649f4" /><Relationship Type="http://schemas.openxmlformats.org/officeDocument/2006/relationships/slide" Target="/ppt/slides/slide7.xml" Id="Ra1d61d252acc4f16" /><Relationship Type="http://schemas.openxmlformats.org/officeDocument/2006/relationships/slide" Target="/ppt/slides/slide8.xml" Id="R514afd6bc5c746ec" /><Relationship Type="http://schemas.openxmlformats.org/officeDocument/2006/relationships/slide" Target="/ppt/slides/slide9.xml" Id="R0b46feaf65d2425a" /><Relationship Type="http://schemas.openxmlformats.org/officeDocument/2006/relationships/slide" Target="/ppt/slides/slide10.xml" Id="Rcfc6bc3189d045cf" /><Relationship Type="http://schemas.openxmlformats.org/officeDocument/2006/relationships/slide" Target="/ppt/slides/slide11.xml" Id="R143ff4b38bc94f49" /><Relationship Type="http://schemas.openxmlformats.org/officeDocument/2006/relationships/slide" Target="/ppt/slides/slide12.xml" Id="R0c03e2ffd9704b7e" /><Relationship Type="http://schemas.openxmlformats.org/officeDocument/2006/relationships/slide" Target="/ppt/slides/slide13.xml" Id="R4b08bc58e5c74985" /><Relationship Type="http://schemas.openxmlformats.org/officeDocument/2006/relationships/slide" Target="/ppt/slides/slide14.xml" Id="R6b0e4e12a8594d67" /><Relationship Type="http://schemas.openxmlformats.org/officeDocument/2006/relationships/slide" Target="/ppt/slides/slide15.xml" Id="R51f1f8675a9642b2" /><Relationship Type="http://schemas.openxmlformats.org/officeDocument/2006/relationships/slide" Target="/ppt/slides/slide16.xml" Id="R326aecec940b4d0c" /><Relationship Type="http://schemas.openxmlformats.org/officeDocument/2006/relationships/slide" Target="/ppt/slides/slide17.xml" Id="R2c5b73860def46fa" /><Relationship Type="http://schemas.openxmlformats.org/officeDocument/2006/relationships/slide" Target="/ppt/slides/slide18.xml" Id="Redc35ce98dc242fe" /><Relationship Type="http://schemas.openxmlformats.org/officeDocument/2006/relationships/slide" Target="/ppt/slides/slide19.xml" Id="R8c59ae93201f4c8b" /><Relationship Type="http://schemas.openxmlformats.org/officeDocument/2006/relationships/slide" Target="/ppt/slides/slide20.xml" Id="R79e67c3ea911488a" /><Relationship Type="http://schemas.openxmlformats.org/officeDocument/2006/relationships/slide" Target="/ppt/slides/slide21.xml" Id="R9fb53b28f68f4a48" /><Relationship Type="http://schemas.openxmlformats.org/officeDocument/2006/relationships/slide" Target="/ppt/slides/slide22.xml" Id="R1303eda21228481e" /><Relationship Type="http://schemas.openxmlformats.org/officeDocument/2006/relationships/slide" Target="/ppt/slides/slide23.xml" Id="Rf1b0790d9bfb40e5" /><Relationship Type="http://schemas.openxmlformats.org/officeDocument/2006/relationships/slide" Target="/ppt/slides/slide24.xml" Id="R080adae016a44759" /><Relationship Type="http://schemas.openxmlformats.org/officeDocument/2006/relationships/slide" Target="/ppt/slides/slide25.xml" Id="Rc04a619dc0e64ca0" /><Relationship Type="http://schemas.openxmlformats.org/officeDocument/2006/relationships/slide" Target="/ppt/slides/slide26.xml" Id="R6a12178ec6c94cf7" /><Relationship Type="http://schemas.openxmlformats.org/officeDocument/2006/relationships/slide" Target="/ppt/slides/slide27.xml" Id="R8a36769fd2cb4187" /><Relationship Type="http://schemas.openxmlformats.org/officeDocument/2006/relationships/slide" Target="/ppt/slides/slide28.xml" Id="R63b02496a2a649db" /><Relationship Type="http://schemas.openxmlformats.org/officeDocument/2006/relationships/slide" Target="/ppt/slides/slide29.xml" Id="R352d3e0314f3415b" /><Relationship Type="http://schemas.openxmlformats.org/officeDocument/2006/relationships/slide" Target="/ppt/slides/slide30.xml" Id="Rd6d486569b0042fc" /><Relationship Type="http://schemas.openxmlformats.org/officeDocument/2006/relationships/slide" Target="/ppt/slides/slide31.xml" Id="Rea34093c1bbb4c55" /><Relationship Type="http://schemas.openxmlformats.org/officeDocument/2006/relationships/slide" Target="/ppt/slides/slide32.xml" Id="R8dbc4d082faf48c5" /><Relationship Type="http://schemas.openxmlformats.org/officeDocument/2006/relationships/slide" Target="/ppt/slides/slide33.xml" Id="R7be4dcbf9bb04bbf" /><Relationship Type="http://schemas.openxmlformats.org/officeDocument/2006/relationships/slide" Target="/ppt/slides/slide34.xml" Id="Rdd6b2ed8947b47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74957a421342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e6217667ec419f" /><Relationship Type="http://schemas.openxmlformats.org/officeDocument/2006/relationships/notesMaster" Target="/ppt/notesMasters/notesMaster1.xml" Id="R9bd2f251c1bb4b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542d8cb7b34db1" /><Relationship Type="http://schemas.openxmlformats.org/officeDocument/2006/relationships/notesMaster" Target="/ppt/notesMasters/notesMaster1.xml" Id="Rf9eede00989c4b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ed1b60d3ce4092" /><Relationship Type="http://schemas.openxmlformats.org/officeDocument/2006/relationships/notesMaster" Target="/ppt/notesMasters/notesMaster1.xml" Id="Rdb43f9842b6348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b647969e214490" /><Relationship Type="http://schemas.openxmlformats.org/officeDocument/2006/relationships/notesMaster" Target="/ppt/notesMasters/notesMaster1.xml" Id="Re9bf4199a05143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ee417d9e9b47b2" /><Relationship Type="http://schemas.openxmlformats.org/officeDocument/2006/relationships/notesMaster" Target="/ppt/notesMasters/notesMaster1.xml" Id="R5fecc69746b140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552611c0464e9b" /><Relationship Type="http://schemas.openxmlformats.org/officeDocument/2006/relationships/notesMaster" Target="/ppt/notesMasters/notesMaster1.xml" Id="R9aa05a3a235b42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6bc3c04d2a4655" /><Relationship Type="http://schemas.openxmlformats.org/officeDocument/2006/relationships/notesMaster" Target="/ppt/notesMasters/notesMaster1.xml" Id="R0fae4a0874e04b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0d634b65e247ab" /><Relationship Type="http://schemas.openxmlformats.org/officeDocument/2006/relationships/notesMaster" Target="/ppt/notesMasters/notesMaster1.xml" Id="Rbea44e35277248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3a50a92ee14c5a" /><Relationship Type="http://schemas.openxmlformats.org/officeDocument/2006/relationships/notesMaster" Target="/ppt/notesMasters/notesMaster1.xml" Id="R097079ab39b944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0288cd06bf54566" /><Relationship Type="http://schemas.openxmlformats.org/officeDocument/2006/relationships/notesMaster" Target="/ppt/notesMasters/notesMaster1.xml" Id="R8ec8b92bdd0948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43dc7840c2485b" /><Relationship Type="http://schemas.openxmlformats.org/officeDocument/2006/relationships/notesMaster" Target="/ppt/notesMasters/notesMaster1.xml" Id="R983cbe371c774d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2f785359134f31" /><Relationship Type="http://schemas.openxmlformats.org/officeDocument/2006/relationships/notesMaster" Target="/ppt/notesMasters/notesMaster1.xml" Id="R1c81ab650b1a491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ab56e82d6ec4d5d" /><Relationship Type="http://schemas.openxmlformats.org/officeDocument/2006/relationships/notesMaster" Target="/ppt/notesMasters/notesMaster1.xml" Id="R512b7e7806da4dd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9f96f4439764d3d" /><Relationship Type="http://schemas.openxmlformats.org/officeDocument/2006/relationships/notesMaster" Target="/ppt/notesMasters/notesMaster1.xml" Id="R40325ad87ba6449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aa8ece3144d4d0e" /><Relationship Type="http://schemas.openxmlformats.org/officeDocument/2006/relationships/notesMaster" Target="/ppt/notesMasters/notesMaster1.xml" Id="R1039c9f137ba415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f2ebc4fcca6468c" /><Relationship Type="http://schemas.openxmlformats.org/officeDocument/2006/relationships/notesMaster" Target="/ppt/notesMasters/notesMaster1.xml" Id="R3937a6a48b8a485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e51feea3a244c90" /><Relationship Type="http://schemas.openxmlformats.org/officeDocument/2006/relationships/notesMaster" Target="/ppt/notesMasters/notesMaster1.xml" Id="Re4c26e2298fd44d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2446b6c4d1845e9" /><Relationship Type="http://schemas.openxmlformats.org/officeDocument/2006/relationships/notesMaster" Target="/ppt/notesMasters/notesMaster1.xml" Id="R6f29d373ea2b456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f4fa874af204f13" /><Relationship Type="http://schemas.openxmlformats.org/officeDocument/2006/relationships/notesMaster" Target="/ppt/notesMasters/notesMaster1.xml" Id="R0a866aa40315442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26968ecfb124bd6" /><Relationship Type="http://schemas.openxmlformats.org/officeDocument/2006/relationships/notesMaster" Target="/ppt/notesMasters/notesMaster1.xml" Id="R5bde7eb8d3154e2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2b84780db314d78" /><Relationship Type="http://schemas.openxmlformats.org/officeDocument/2006/relationships/notesMaster" Target="/ppt/notesMasters/notesMaster1.xml" Id="R992577f246ee473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0602cded84947d5" /><Relationship Type="http://schemas.openxmlformats.org/officeDocument/2006/relationships/notesMaster" Target="/ppt/notesMasters/notesMaster1.xml" Id="R02316e892ad4456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8381fe28a1e4af7" /><Relationship Type="http://schemas.openxmlformats.org/officeDocument/2006/relationships/notesMaster" Target="/ppt/notesMasters/notesMaster1.xml" Id="R826bb404cfc04f8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7d200963a6f43a5" /><Relationship Type="http://schemas.openxmlformats.org/officeDocument/2006/relationships/notesMaster" Target="/ppt/notesMasters/notesMaster1.xml" Id="Rf885b9d6d5194f4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242937838be4a3c" /><Relationship Type="http://schemas.openxmlformats.org/officeDocument/2006/relationships/notesMaster" Target="/ppt/notesMasters/notesMaster1.xml" Id="Rfb0c00b5161b449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703f8d2322544e9" /><Relationship Type="http://schemas.openxmlformats.org/officeDocument/2006/relationships/notesMaster" Target="/ppt/notesMasters/notesMaster1.xml" Id="Raf8b508eb0cb43e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d3acfbda6214da7" /><Relationship Type="http://schemas.openxmlformats.org/officeDocument/2006/relationships/notesMaster" Target="/ppt/notesMasters/notesMaster1.xml" Id="R65f2b372a98a485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b99618490194a7b" /><Relationship Type="http://schemas.openxmlformats.org/officeDocument/2006/relationships/notesMaster" Target="/ppt/notesMasters/notesMaster1.xml" Id="R8e76b37756c148c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c32013769394c93" /><Relationship Type="http://schemas.openxmlformats.org/officeDocument/2006/relationships/notesMaster" Target="/ppt/notesMasters/notesMaster1.xml" Id="R4fa367d8e4144fe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ff7374f3eeb467d" /><Relationship Type="http://schemas.openxmlformats.org/officeDocument/2006/relationships/notesMaster" Target="/ppt/notesMasters/notesMaster1.xml" Id="R062413dd2cfe4e2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f982a3f16164b91" /><Relationship Type="http://schemas.openxmlformats.org/officeDocument/2006/relationships/notesMaster" Target="/ppt/notesMasters/notesMaster1.xml" Id="R1bbb7732e7434b7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36c4515dab54986" /><Relationship Type="http://schemas.openxmlformats.org/officeDocument/2006/relationships/notesMaster" Target="/ppt/notesMasters/notesMaster1.xml" Id="R45874a5ec0ef4df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edfbbf900a44172" /><Relationship Type="http://schemas.openxmlformats.org/officeDocument/2006/relationships/notesMaster" Target="/ppt/notesMasters/notesMaster1.xml" Id="R97b44f8355664cc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e3068f15303425c" /><Relationship Type="http://schemas.openxmlformats.org/officeDocument/2006/relationships/notesMaster" Target="/ppt/notesMasters/notesMaster1.xml" Id="Rbbdfd40d534046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开场：从文件大小提出问题</a:t>
            </a:r>
          </a:p>
          <a:p xmlns:a="http://schemas.openxmlformats.org/drawingml/2006/main">
            <a:r>
              <a:t>[内部编号] 收束 · 开场：从文件大小提出问题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前面算过数据需要多少空间。今天先看一个反常现象：文件一下小了很多，图却还能还原。请保留你的第一反应，后面我们用数据来检查。先不要背定义。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这节课要弄清四件事</a:t>
            </a:r>
          </a:p>
          <a:p xmlns:a="http://schemas.openxmlformats.org/drawingml/2006/main">
            <a:r>
              <a:t>[内部编号] 收束 · 这节课要弄清四件事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现在只看四条主枝，先预测文件变小会不会丢内容。先留八秒请一位同学归纳，再用红框核对刚学到的节点。先保留四个问题，学到哪里就补到哪里。四条主枝的位置一直不动。已经学过的节点保留，尚未建立的结论继续留空。今天学到的不只是几个格式名，要能说明怎样省空间、怎样验证还原，以及怎样检查用途。</a:t>
            </a:r>
          </a:p>
          <a:p xmlns:a="http://schemas.openxmlformats.org/drawingml/2006/main">
            <a:r>
              <a:t>[教师提示] 知识树阶段0；opening之后显示。本页不提前公布后续叶节点。阶段0用20秒；阶段1至3各30秒；终图30秒。全部计入原有Q1、Q4、Q7、Q9、Q10预算。红框仅标本次新学节点。具体格式的用途与边界回看Q9表。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文件变小，是不是删掉了内容？</a:t>
            </a:r>
          </a:p>
          <a:p xmlns:a="http://schemas.openxmlformats.org/drawingml/2006/main">
            <a:r>
              <a:t>[内部编号] Q1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同一幅64×64颜色图，A有4096个bytes，B是用A编码得到的，只有38个bytes。先写一个猜测：变小以后，哪些内容可能发生变化？说出你想检查什么。先不给答案。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文件变小，是不是删掉了内容？</a:t>
            </a:r>
          </a:p>
          <a:p xmlns:a="http://schemas.openxmlformats.org/drawingml/2006/main">
            <a:r>
              <a:t>[内部编号] Q1 · evidence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现在把B读回图像。你看到少了哪一块吗？看上去一样，还不够证明每一个数都相同。我们先找一种能变短又能画回的规则，第三问再检查所有bytes。</a:t>
            </a:r>
          </a:p>
          <a:p xmlns:a="http://schemas.openxmlformats.org/drawingml/2006/main">
            <a:r>
              <a:t>[教师提示] 64×64与码表预先约定；这是颜色编号数据，不冒充PNG。38B是随包记录，现场大小若不同以实际输出为准。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连续重复的颜色，怎样少写一些？</a:t>
            </a:r>
          </a:p>
          <a:p xmlns:a="http://schemas.openxmlformats.org/drawingml/2006/main">
            <a:r>
              <a:t>[内部编号] Q2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这次只看16个颜色。怎样少写一些，又让同桌恢复原来的顺序和数量？发送者看折叠卡，接收者先不看原串。给你们60秒写规则与短消息，30秒画回，再展开卡核对。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连续重复的颜色，怎样少写一些？</a:t>
            </a:r>
          </a:p>
          <a:p xmlns:a="http://schemas.openxmlformats.org/drawingml/2006/main">
            <a:r>
              <a:t>[内部编号] Q2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先听你们的规则。红绿蓝三个字能找回多少个吗？这一种保留了颜色、连续次数和段的顺序。红8代表连续8个红，不是全图所有红的总数。它把重复展开的依据留了下来。</a:t>
            </a:r>
          </a:p>
          <a:p xmlns:a="http://schemas.openxmlformats.org/drawingml/2006/main">
            <a:r>
              <a:t>[教师提示] 私有变体只给发送者，接收者先画回再展开原卡。写8红5绿3蓝也可，不因格式不同判错。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少写以后，怎样证明一个也没丢？</a:t>
            </a:r>
          </a:p>
          <a:p xmlns:a="http://schemas.openxmlformats.org/drawingml/2006/main">
            <a:r>
              <a:t>[内部编号] Q3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接收者说已经恢复了，你准备怎样检查？先提出方法，再动手对比下面两行。不要只说长度一样。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course-design.qmd；demos/compression_lab.py；https://datatracker.ietf.org/doc/rfc1951/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少写以后，怎样证明一个也没丢？</a:t>
            </a:r>
          </a:p>
          <a:p xmlns:a="http://schemas.openxmlformats.org/drawingml/2006/main">
            <a:r>
              <a:t>[内部编号] Q3 · focus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把两行按位置对齐。第9个位置原来是绿，待查却是蓝。两串都是16格，也可能有一个数不同。现在回到开场，比较的应是解压结果与原输入。</a:t>
            </a:r>
          </a:p>
          <a:p xmlns:a="http://schemas.openxmlformats.org/drawingml/2006/main">
            <a:r>
              <a:t>[教师提示] 比较对象：还原与原始输入；不是比较原文件与压缩文件。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course-design.qmd；demos/compression_lab.py；https://datatracker.ietf.org/doc/rfc1951/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少写以后，怎样证明一个也没丢？</a:t>
            </a:r>
          </a:p>
          <a:p xmlns:a="http://schemas.openxmlformats.org/drawingml/2006/main">
            <a:r>
              <a:t>[内部编号] Q3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先修正待查串的第9格，再逐位置核对，现在这16项一致。回到开场，用程序比较解压所得4096个bytes与原输入，得到True。这两个检验都比较还原结果和输入。原数据能完全恢复，才叫无损；不能仅看图像外观或文件长度。</a:t>
            </a:r>
          </a:p>
          <a:p xmlns:a="http://schemas.openxmlformats.org/drawingml/2006/main">
            <a:r>
              <a:t>[教师提示] 上页故障串已修正；本页的True明确属于开场4096B的实测。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course-design.qmd；demos/compression_lab.py；https://datatracker.ietf.org/doc/rfc1951/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同一规则，为什么有时反而变大？</a:t>
            </a:r>
          </a:p>
          <a:p xmlns:a="http://schemas.openxmlformats.org/drawingml/2006/main">
            <a:r>
              <a:t>[内部编号] Q4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两串都是16个颜色。按连续段存编号和次数：编号1B、次数1B。先投票，再分工数两串各有几段，算编码后的数据量。不要把红绿交替改写为红8绿8。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course-design.qmd；demos/compression_lab.py；https://datatracker.ietf.org/doc/rfc1951/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同一规则，为什么有时反而变大？</a:t>
            </a:r>
          </a:p>
          <a:p xmlns:a="http://schemas.openxmlformats.org/drawingml/2006/main">
            <a:r>
              <a:t>[内部编号] Q4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A有三段，3×2等于6B。B有十六段，每段只有一个颜色，16×2等于32B。它仍能准确恢复，却更大了。无损说的是可恢复，不是保证变小。</a:t>
            </a:r>
          </a:p>
          <a:p xmlns:a="http://schemas.openxmlformats.org/drawingml/2006/main">
            <a:r>
              <a:t>[教师提示] 只比payload；双方共享码表。256个相同色需拆255+1，不能让次数溢出。ZIP压JPEG效果需实测。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course-design.qmd；demos/compression_lab.py；https://datatracker.ietf.org/doc/rfc1951/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重复可以少写；无损必须完整恢复</a:t>
            </a:r>
          </a:p>
          <a:p xmlns:a="http://schemas.openxmlformats.org/drawingml/2006/main">
            <a:r>
              <a:t>[内部编号] 收束 · 重复可以少写；无损必须完整恢复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先不用术语，说出少写的办法、核对的方法和可能的代价。先留八秒请一位同学归纳，再用红框核对刚学到的节点。无损不保证每份数据都变小。四条主枝的位置一直不动。已经学过的节点保留，尚未建立的结论继续留空。今天学到的不只是几个格式名，要能说明怎样省空间、怎样验证还原，以及怎样检查用途。</a:t>
            </a:r>
          </a:p>
          <a:p xmlns:a="http://schemas.openxmlformats.org/drawingml/2006/main">
            <a:r>
              <a:t>[教师提示] 知识树阶段1；Q4之后显示。本页不提前公布后续叶节点。阶段0用20秒；阶段1至3各30秒；终图30秒。全部计入原有Q1、Q4、Q7、Q9、Q10预算。红框仅标本次新学节点。具体格式的用途与边界回看Q9表。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相邻值不相同，还能利用它们的关系吗？</a:t>
            </a:r>
          </a:p>
          <a:p xmlns:a="http://schemas.openxmlformats.org/drawingml/2006/main">
            <a:r>
              <a:t>[内部编号] Q5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这一行灰度几乎一样，数却不完全相同。要求完整恢复，除了逐个写8bit，还能怎样记录？先想规则。必要时从第一个120出发，问下一格比它多多少。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course-design.qmd；demos/compression_lab.py；https://www.w3.org/TR/png-3/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相邻值不相同，还能利用它们的关系吗？</a:t>
            </a:r>
          </a:p>
          <a:p xmlns:a="http://schemas.openxmlformats.org/drawingml/2006/main">
            <a:r>
              <a:t>[内部编号] Q5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给首值120，前三个差值已经列出。请填末四个，再只看首值与差值读回末三个数。负号不能丢，每次加在刚读回的前值上。变化都还在，才能恢复原来每一项。</a:t>
            </a:r>
          </a:p>
          <a:p xmlns:a="http://schemas.openxmlformats.org/drawingml/2006/main">
            <a:r>
              <a:t>[教师提示] A2正常版：首值及前三个差值已给，末四个学生填；迟到版仅减少一空。先活动后揭示。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course-design.qmd；demos/compression_lab.py；https://www.w3.org/TR/png-3/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相邻值不相同，还能利用它们的关系吗？</a:t>
            </a:r>
          </a:p>
          <a:p xmlns:a="http://schemas.openxmlformats.org/drawingml/2006/main">
            <a:r>
              <a:t>[内部编号] Q5 · evidence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这一串差值只有三种，我们另约定−1为00、0为01、+1为10。首值8bit加七个2bit差值，共22bit，装入完整bytes是3B，末尾补2bit。差值项数没有减少，变短来自更合适的编码。</a:t>
            </a:r>
          </a:p>
          <a:p xmlns:a="http://schemas.openxmlformats.org/drawingml/2006/main">
            <a:r>
              <a:t>[教师提示] 长度、模式和码表未计入。一般图像有大差值，不能套三种值码表；PNG可逆滤波仍输出同数量bytes，后续压缩另处理。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course-design.qmd；demos/compression_lab.py；https://www.w3.org/TR/png-3/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只留近似值，还能找回原数吗？</a:t>
            </a:r>
          </a:p>
          <a:p xmlns:a="http://schemas.openxmlformats.org/drawingml/2006/main">
            <a:r>
              <a:t>[内部编号] Q6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现在换个规则：归到最近的4的倍数，中点向上取，最高只到252。看到120这一档，能确定原数吗？请写至少两个可能原数，再填A2下半表。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只留近似值，还能找回原数吗？</a:t>
            </a:r>
          </a:p>
          <a:p xmlns:a="http://schemas.openxmlformats.org/drawingml/2006/main">
            <a:r>
              <a:t>[内部编号] Q6 · focus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120会恢复为120，121也恢复为120。你如果再加1，就会把原来本来是120的情况选错。没有保存区分它们的依据，不能唯一倒回原数。</a:t>
            </a:r>
          </a:p>
          <a:p xmlns:a="http://schemas.openxmlformats.org/drawingml/2006/main">
            <a:r>
              <a:t>[教师提示] 119也映射到120。课堂模型不是JPEG，也不是初始数字化过程。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只留近似值，还能找回原数吗？</a:t>
            </a:r>
          </a:p>
          <a:p xmlns:a="http://schemas.openxmlformats.org/drawingml/2006/main">
            <a:r>
              <a:t>[内部编号] Q6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64个等级只需6bit编号。八格64bit变成48bit，即6B；但变小同时丢失了区分。某些值恰好不变，不代表这种规则能保证精确恢复。这是有损的例子。</a:t>
            </a:r>
          </a:p>
          <a:p xmlns:a="http://schemas.openxmlformats.org/drawingml/2006/main">
            <a:r>
              <a:t>[教师提示] 还原八项为120,120,124,120,120,120,120,124；不能用明暗看不出代替数字证据。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看起来差不多，能否叫无损？</a:t>
            </a:r>
          </a:p>
          <a:p xmlns:a="http://schemas.openxmlformats.org/drawingml/2006/main">
            <a:r>
              <a:t>[内部编号] Q7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两图均来自所提供《蒙娜丽莎》JPEG本次解码得到的RGB，尺寸不变。先按正常大小看A和B，说出你能观察到的变化。再判断：看不出变化，足以证明每个像素相同吗？收判断后才查数据。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course-design.qmd；demos/compression_lab.py；https://pillow.readthedocs.io/en/stable/handbook/image-file-formats.html</a:t>
            </a:r>
          </a:p>
          <a:p xmlns:a="http://schemas.openxmlformats.org/drawingml/2006/main">
            <a:r>
              <a:t>https://www.w3.org/Graphics/JPEG/itu-t81.pdf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看起来差不多，能否叫无损？</a:t>
            </a:r>
          </a:p>
          <a:p xmlns:a="http://schemas.openxmlformats.org/drawingml/2006/main">
            <a:r>
              <a:t>[内部编号] Q7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A保存为PNG，回读像素与本次输入一致。B用JPEG quality80保存，有504,742个像素改变。你能否看出差别，都不能代替逐像素检查。输入文件本身已是JPEG，我们没有更早的原图，不能宣称把它恢复成无损原作。</a:t>
            </a:r>
          </a:p>
          <a:p xmlns:a="http://schemas.openxmlformats.org/drawingml/2006/main">
            <a:r>
              <a:t>[教师提示] 保留原文件不改动；quality80不是80%质量。比较目标是本次输入RGB，不是未知的相机或艺术品数字母版。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course-design.qmd；demos/compression_lab.py；https://pillow.readthedocs.io/en/stable/handbook/image-file-formats.html</a:t>
            </a:r>
          </a:p>
          <a:p xmlns:a="http://schemas.openxmlformats.org/drawingml/2006/main">
            <a:r>
              <a:t>https://www.w3.org/Graphics/JPEG/itu-t81.pdf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看起来差不多，能否叫无损？</a:t>
            </a:r>
          </a:p>
          <a:p xmlns:a="http://schemas.openxmlformats.org/drawingml/2006/main">
            <a:r>
              <a:t>[内部编号] Q7 · focus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同一坐标的脸部细节，最近邻放大4倍，没有锐化。先描述观察到的纹理变化。看不出也可以，以刚才的像素检验为准。若任务只是浏览人物和背景，近似可能合用；若研究细微纹理，就要重新检查要求。</a:t>
            </a:r>
          </a:p>
          <a:p xmlns:a="http://schemas.openxmlformats.org/drawingml/2006/main">
            <a:r>
              <a:t>[教师提示] 裁切(x,y,w,h)=(368,310,192,128)。quality20仅作为可选明显对照，不能强迫学生在q80中看出指定差异。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course-design.qmd；demos/compression_lab.py；https://pillow.readthedocs.io/en/stable/handbook/image-file-formats.html</a:t>
            </a:r>
          </a:p>
          <a:p xmlns:a="http://schemas.openxmlformats.org/drawingml/2006/main">
            <a:r>
              <a:t>https://www.w3.org/Graphics/JPEG/itu-t81.pdf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看起来差不多，能否叫无损？</a:t>
            </a:r>
          </a:p>
          <a:p xmlns:a="http://schemas.openxmlformats.org/drawingml/2006/main">
            <a:r>
              <a:t>[内部编号] Q7 · evidence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本次绘画图像PNG1,706,860B，JPEG240,848B，JPEG较小。换成程序绘制的测试图，PNG4441B，JPEG10766B，大小关系反过来了。两组各自从同一RGB编码，尺寸均不变；不能只靠无损或有损标签判断大小。</a:t>
            </a:r>
          </a:p>
          <a:p xmlns:a="http://schemas.openxmlformats.org/drawingml/2006/main">
            <a:r>
              <a:t>[教师提示] 原提供JPEG为212536B，不与重编码文件混作同一编码起点的未压缩大小；本次RGB4590000B。两组内同尺寸、直接编码、q80/subsampling0。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course-design.qmd；demos/compression_lab.py；https://pillow.readthedocs.io/en/stable/handbook/image-file-formats.html</a:t>
            </a:r>
          </a:p>
          <a:p xmlns:a="http://schemas.openxmlformats.org/drawingml/2006/main">
            <a:r>
              <a:t>https://www.w3.org/Graphics/JPEG/itu-t81.pdf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利用关系能无损；舍弃区分会有损</a:t>
            </a:r>
          </a:p>
          <a:p xmlns:a="http://schemas.openxmlformats.org/drawingml/2006/main">
            <a:r>
              <a:t>[内部编号] 收束 · 利用关系能无损；舍弃区分会有损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起点加差值为何可逆？两个原数同归120为何不可逆？先留八秒请一位同学归纳，再用红框核对刚学到的节点。感知相似，不能证明原值相同。四条主枝的位置一直不动。已经学过的节点保留，尚未建立的结论继续留空。今天学到的不只是几个格式名，要能说明怎样省空间、怎样验证还原，以及怎样检查用途。</a:t>
            </a:r>
          </a:p>
          <a:p xmlns:a="http://schemas.openxmlformats.org/drawingml/2006/main">
            <a:r>
              <a:t>[教师提示] 知识树阶段2；Q7之后显示。本页不提前公布后续叶节点。阶段0用20秒；阶段1至3各30秒；终图30秒。全部计入原有Q1、Q4、Q7、Q9、Q10预算。红框仅标本次新学节点。具体格式的用途与边界回看Q9表。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同一种误差，哪些任务能接受？</a:t>
            </a:r>
          </a:p>
          <a:p xmlns:a="http://schemas.openxmlformats.org/drawingml/2006/main">
            <a:r>
              <a:t>[内部编号] Q8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先不要报格式名，判断每份材料要保留什么。通知少了一个五，程序少了等号，照片少量像素改变。三件事都能接受吗？同桌写一条理由。程序用60测试。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同一种误差，哪些任务能接受？</a:t>
            </a:r>
          </a:p>
          <a:p xmlns:a="http://schemas.openxmlformats.org/drawingml/2006/main">
            <a:r>
              <a:t>[内部编号] Q8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60大于等于60成立，60大于60不成立。符号很少，功能却变了。通知原文与源程序本体都要求无损。照片作为题中浏览副本，可以在质量达标时用有损方式。若要读角落小字，重新检查。</a:t>
            </a:r>
          </a:p>
          <a:p xmlns:a="http://schemas.openxmlformats.org/drawingml/2006/main">
            <a:r>
              <a:t>[教师提示] 不把删改内容称为原文件的合格压缩。测量和编辑母版可能同样要求无损。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看扩展名，就能判定压缩方式吗？</a:t>
            </a:r>
          </a:p>
          <a:p xmlns:a="http://schemas.openxmlformats.org/drawingml/2006/main">
            <a:r>
              <a:t>[内部编号] Q9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同学说这几个名字都是有损，图片不能无损。先找一个反例，再改他的说法。配置卡是依据技术文档做的规则表，软件保存设置可能不同。不能只看后缀。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course-design.qmd；demos/compression_lab.py；https://helpx.adobe.com/photoshop/desktop/save-and-export/export-files-to-different-formats/file-compression-in-photoshop.html</a:t>
            </a:r>
          </a:p>
          <a:p xmlns:a="http://schemas.openxmlformats.org/drawingml/2006/main">
            <a:r>
              <a:t>https://www.mpeg.org/standards/MPEG-1/</a:t>
            </a:r>
          </a:p>
          <a:p xmlns:a="http://schemas.openxmlformats.org/drawingml/2006/main">
            <a:r>
              <a:t>https://www.iis.fraunhofer.de/content/dam/iis/de/doc/ame/conference/AES-17-Conference_mp3-and-AAC-explained_AES17.pdf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看扩展名，就能判定压缩方式吗？</a:t>
            </a:r>
          </a:p>
          <a:p xmlns:a="http://schemas.openxmlformats.org/drawingml/2006/main">
            <a:r>
              <a:t>[内部编号] Q9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PNG已经推翻图片不能无损。TIFF同一后缀可以采用不同方式，所以需要看保存配置。常见照片JPEG通常有损；不能把一个文件格式名字等同唯一压缩算法。</a:t>
            </a:r>
          </a:p>
          <a:p xmlns:a="http://schemas.openxmlformats.org/drawingml/2006/main">
            <a:r>
              <a:t>[教师提示] JPEG标准还包含无损模式，本课不要求学生记标准编号。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course-design.qmd；demos/compression_lab.py；https://helpx.adobe.com/photoshop/desktop/save-and-export/export-files-to-different-formats/file-compression-in-photoshop.html</a:t>
            </a:r>
          </a:p>
          <a:p xmlns:a="http://schemas.openxmlformats.org/drawingml/2006/main">
            <a:r>
              <a:t>https://www.mpeg.org/standards/MPEG-1/</a:t>
            </a:r>
          </a:p>
          <a:p xmlns:a="http://schemas.openxmlformats.org/drawingml/2006/main">
            <a:r>
              <a:t>https://www.iis.fraunhofer.de/content/dam/iis/de/doc/ame/conference/AES-17-Conference_mp3-and-AAC-explained_AES17.pdf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看扩展名，就能判定压缩方式吗？</a:t>
            </a:r>
          </a:p>
          <a:p xmlns:a="http://schemas.openxmlformats.org/drawingml/2006/main">
            <a:r>
              <a:t>[内部编号] Q9 · evidence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最后给名字放回常见用途：JPG图像通常有损，TIF图像看设置，MP3音频有损，MPEG视频相关标准常见用途采用有损编码。MPEG是一组标准，MP3是Audio Layer III，不是MPEG-3。长技术边界留在教师材料。</a:t>
            </a:r>
          </a:p>
          <a:p xmlns:a="http://schemas.openxmlformats.org/drawingml/2006/main">
            <a:r>
              <a:t>[教师提示] 本页替换配置卡区域，不增加新问题。MP4后缀也不能直接等同某一种算法。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course-design.qmd；demos/compression_lab.py；https://helpx.adobe.com/photoshop/desktop/save-and-export/export-files-to-different-formats/file-compression-in-photoshop.html</a:t>
            </a:r>
          </a:p>
          <a:p xmlns:a="http://schemas.openxmlformats.org/drawingml/2006/main">
            <a:r>
              <a:t>https://www.mpeg.org/standards/MPEG-1/</a:t>
            </a:r>
          </a:p>
          <a:p xmlns:a="http://schemas.openxmlformats.org/drawingml/2006/main">
            <a:r>
              <a:t>https://www.iis.fraunhofer.de/content/dam/iis/de/doc/ame/conference/AES-17-Conference_mp3-and-AAC-explained_AES17.pdf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能否接受有损，要看用途与编码</a:t>
            </a:r>
          </a:p>
          <a:p xmlns:a="http://schemas.openxmlformats.org/drawingml/2006/main">
            <a:r>
              <a:t>[内部编号] 收束 · 能否接受有损，要看用途与编码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说出一类必须无损的数据，再给TIF补一条判断条件。先留八秒请一位同学归纳，再用红框核对刚学到的节点。媒体可以无损；接受有损需要质量达标。四条主枝的位置一直不动。已经学过的节点保留，尚未建立的结论继续留空。今天学到的不只是几个格式名，要能说明怎样省空间、怎样验证还原，以及怎样检查用途。</a:t>
            </a:r>
          </a:p>
          <a:p xmlns:a="http://schemas.openxmlformats.org/drawingml/2006/main">
            <a:r>
              <a:t>[教师提示] 知识树阶段3；Q9之后显示。本页不提前公布后续叶节点。阶段0用20秒；阶段1至3各30秒；终图30秒。全部计入原有Q1、Q4、Q7、Q9、Q10预算。红框仅标本次新学节点。具体格式的用途与边界回看Q9表。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怎样在大小限制和信息要求之间选方案？</a:t>
            </a:r>
          </a:p>
          <a:p xmlns:a="http://schemas.openxmlformats.org/drawingml/2006/main">
            <a:r>
              <a:t>[内部编号] Q10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传送限额100KiB，下面是题目给定的候选结果，不是现场测量。先个人选，再同桌分两列检查：大小是否过关，信息是否过关。请说明另一方案为什么不合格。给90秒。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怎样在大小限制和信息要求之间选方案？</a:t>
            </a:r>
          </a:p>
          <a:p xmlns:a="http://schemas.openxmlformats.org/drawingml/2006/main">
            <a:r>
              <a:t>[内部编号] Q10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程序A同时满足两关，B虽小但不能交回原bytes。照片B同时满足两关，A虽无损却超限。照片B的合格限于题中浏览用途。回看开场猜测，请把文件变小一定删内容改成更准确的一句。</a:t>
            </a:r>
          </a:p>
          <a:p xmlns:a="http://schemas.openxmlformats.org/drawingml/2006/main">
            <a:r>
              <a:t>[教师提示] 300秒：30读题、90判断、60报告、30回扣、30定义、40出口、20收取。下两页收束只用剩余90秒；出口答案页课后显示。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用完整知识树检查压缩方案</a:t>
            </a:r>
          </a:p>
          <a:p xmlns:a="http://schemas.openxmlformats.org/drawingml/2006/main">
            <a:r>
              <a:t>[内部编号] 收束 · 用完整知识树检查压缩方案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沿知识树说明：程序A、照片B分别通过了哪两项检查？先留八秒请一位同学归纳，再用红框核对刚学到的节点。空间更少，还要符合当前任务的信息要求。四条主枝的位置一直不动。已经学过的节点保留，尚未建立的结论继续留空。今天学到的不只是几个格式名，要能说明怎样省空间、怎样验证还原，以及怎样检查用途。</a:t>
            </a:r>
          </a:p>
          <a:p xmlns:a="http://schemas.openxmlformats.org/drawingml/2006/main">
            <a:r>
              <a:t>[教师提示] 知识树阶段4；Q10之后显示。本页不提前公布后续叶节点。阶段0用20秒；阶段1至3各30秒；终图30秒。全部计入原有Q1、Q4、Q7、Q9、Q10预算。红框仅标本次新学节点。具体格式的用途与边界回看Q9表。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怎样在大小限制和信息要求之间选方案？</a:t>
            </a:r>
          </a:p>
          <a:p xmlns:a="http://schemas.openxmlformats.org/drawingml/2006/main">
            <a:r>
              <a:t>[内部编号] Q10 · 出口检查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现在自己写两句话，不跟同桌讨论。第一句要写出两个比较对象，第二句要区分人的感受与数据相等。40秒后收取，抽看三份。不要现在翻到参考答案页，避免学生照抄。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怎样在大小限制和信息要求之间选方案？</a:t>
            </a:r>
          </a:p>
          <a:p xmlns:a="http://schemas.openxmlformats.org/drawingml/2006/main">
            <a:r>
              <a:t>[内部编号] Q10 · exit-answer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这一页只在收取后或课后核对。比较解压结果与原始输入；没有看出变化只说明感知接近，不能证明原值一致。若学生只写原图与压缩图，回到Q3要求说明还原对象；若仍凭肉眼判无损，回到Q6两个原数映到120。</a:t>
            </a:r>
          </a:p>
          <a:p xmlns:a="http://schemas.openxmlformats.org/drawingml/2006/main">
            <a:r>
              <a:t>[教师提示] 收取前不投影。作为课后反馈，可直接结束在上一页。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7cdd227c114f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21a8e11b2a4351" /><Relationship Type="http://schemas.openxmlformats.org/officeDocument/2006/relationships/slideLayout" Target="/ppt/slideLayouts/slideLayout1.xml" Id="Rccd86737ca484d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d86737ca484d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c8ed6fe044044" /><Relationship Type="http://schemas.openxmlformats.org/officeDocument/2006/relationships/notesSlide" Target="/ppt/notesSlides/notesSlide1.xml" Id="Rdeb7082121094e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bce9fcbec43ec" /><Relationship Type="http://schemas.openxmlformats.org/officeDocument/2006/relationships/notesSlide" Target="/ppt/notesSlides/notesSlide2.xml" Id="R1409d28924df45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dafca9da8400e" /><Relationship Type="http://schemas.openxmlformats.org/officeDocument/2006/relationships/image" Target="/ppt/media/image.png" Id="R9202785bbbf34017" /><Relationship Type="http://schemas.openxmlformats.org/officeDocument/2006/relationships/notesSlide" Target="/ppt/notesSlides/notesSlide3.xml" Id="R00ef85d039a944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6d9714b984a58" /><Relationship Type="http://schemas.openxmlformats.org/officeDocument/2006/relationships/image" Target="/ppt/media/image.png" Id="R1d5cb52ca6c74b4a" /><Relationship Type="http://schemas.openxmlformats.org/officeDocument/2006/relationships/image" Target="/ppt/media/image2.png" Id="R7c3f9c29a9f84faf" /><Relationship Type="http://schemas.openxmlformats.org/officeDocument/2006/relationships/notesSlide" Target="/ppt/notesSlides/notesSlide4.xml" Id="R52ea57165f2649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5cac5e24d4a57" /><Relationship Type="http://schemas.openxmlformats.org/officeDocument/2006/relationships/notesSlide" Target="/ppt/notesSlides/notesSlide5.xml" Id="Re0f735523b914e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26fc07a3f4488" /><Relationship Type="http://schemas.openxmlformats.org/officeDocument/2006/relationships/notesSlide" Target="/ppt/notesSlides/notesSlide6.xml" Id="Re760c6a506d243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8cc83c9494c66" /><Relationship Type="http://schemas.openxmlformats.org/officeDocument/2006/relationships/notesSlide" Target="/ppt/notesSlides/notesSlide7.xml" Id="Rd94b9ae263034f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58517c2f4426b" /><Relationship Type="http://schemas.openxmlformats.org/officeDocument/2006/relationships/notesSlide" Target="/ppt/notesSlides/notesSlide8.xml" Id="Rf9609cf003db4d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60b3ecf5640eb" /><Relationship Type="http://schemas.openxmlformats.org/officeDocument/2006/relationships/notesSlide" Target="/ppt/notesSlides/notesSlide9.xml" Id="R89402ec0dd3745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9186f9ad9470a" /><Relationship Type="http://schemas.openxmlformats.org/officeDocument/2006/relationships/notesSlide" Target="/ppt/notesSlides/notesSlide10.xml" Id="R6f802cfbc33b41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8e761df0344a6" /><Relationship Type="http://schemas.openxmlformats.org/officeDocument/2006/relationships/notesSlide" Target="/ppt/notesSlides/notesSlide11.xml" Id="R83b1de17854346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3b8189a2b4267" /><Relationship Type="http://schemas.openxmlformats.org/officeDocument/2006/relationships/notesSlide" Target="/ppt/notesSlides/notesSlide12.xml" Id="R14557eed42b943d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4f8aaab72408e" /><Relationship Type="http://schemas.openxmlformats.org/officeDocument/2006/relationships/notesSlide" Target="/ppt/notesSlides/notesSlide13.xml" Id="R99b1dff7efa04bd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a9ed774454add" /><Relationship Type="http://schemas.openxmlformats.org/officeDocument/2006/relationships/notesSlide" Target="/ppt/notesSlides/notesSlide14.xml" Id="Raaa47182f61c428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b882102914211" /><Relationship Type="http://schemas.openxmlformats.org/officeDocument/2006/relationships/notesSlide" Target="/ppt/notesSlides/notesSlide15.xml" Id="R8eb157382d48406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44e7b51fd43f8" /><Relationship Type="http://schemas.openxmlformats.org/officeDocument/2006/relationships/notesSlide" Target="/ppt/notesSlides/notesSlide16.xml" Id="R53ff8808a4fb414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71854c1c649d4" /><Relationship Type="http://schemas.openxmlformats.org/officeDocument/2006/relationships/notesSlide" Target="/ppt/notesSlides/notesSlide17.xml" Id="R911ed4687bc54ed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afb510a2a4bea" /><Relationship Type="http://schemas.openxmlformats.org/officeDocument/2006/relationships/notesSlide" Target="/ppt/notesSlides/notesSlide18.xml" Id="R951445f6fb5d4dc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5f8d9b66a4faf" /><Relationship Type="http://schemas.openxmlformats.org/officeDocument/2006/relationships/image" Target="/ppt/media/image3.png" Id="Reaa309e26d674f20" /><Relationship Type="http://schemas.openxmlformats.org/officeDocument/2006/relationships/image" Target="/ppt/media/image.jpeg" Id="R8635fe354d174091" /><Relationship Type="http://schemas.openxmlformats.org/officeDocument/2006/relationships/notesSlide" Target="/ppt/notesSlides/notesSlide19.xml" Id="R99b1179ceace43f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b9724fb00413e" /><Relationship Type="http://schemas.openxmlformats.org/officeDocument/2006/relationships/image" Target="/ppt/media/image3.png" Id="Ra0013d50ee6e429e" /><Relationship Type="http://schemas.openxmlformats.org/officeDocument/2006/relationships/image" Target="/ppt/media/image.jpeg" Id="R4fa6b9b4caf24e8e" /><Relationship Type="http://schemas.openxmlformats.org/officeDocument/2006/relationships/notesSlide" Target="/ppt/notesSlides/notesSlide20.xml" Id="R6322acf201234bb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df29719c941bd" /><Relationship Type="http://schemas.openxmlformats.org/officeDocument/2006/relationships/image" Target="/ppt/media/image3.png" Id="R5141060cd72a43be" /><Relationship Type="http://schemas.openxmlformats.org/officeDocument/2006/relationships/image" Target="/ppt/media/image.jpeg" Id="R0384974b98ef4ddb" /><Relationship Type="http://schemas.openxmlformats.org/officeDocument/2006/relationships/image" Target="/ppt/media/image4.png" Id="Rfb84f33acdb34c60" /><Relationship Type="http://schemas.openxmlformats.org/officeDocument/2006/relationships/image" Target="/ppt/media/image5.png" Id="Rc448b5a84d4d46c6" /><Relationship Type="http://schemas.openxmlformats.org/officeDocument/2006/relationships/notesSlide" Target="/ppt/notesSlides/notesSlide21.xml" Id="Rfc8707ff84a1492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a0ba05da84861" /><Relationship Type="http://schemas.openxmlformats.org/officeDocument/2006/relationships/image" Target="/ppt/media/image3.png" Id="R6861555a5d9b4555" /><Relationship Type="http://schemas.openxmlformats.org/officeDocument/2006/relationships/image" Target="/ppt/media/image.jpeg" Id="R7adb257acfd04b84" /><Relationship Type="http://schemas.openxmlformats.org/officeDocument/2006/relationships/image" Target="/ppt/media/image4.png" Id="Red9c8012ca2d4e90" /><Relationship Type="http://schemas.openxmlformats.org/officeDocument/2006/relationships/image" Target="/ppt/media/image5.png" Id="Rccd84b2f27db412c" /><Relationship Type="http://schemas.openxmlformats.org/officeDocument/2006/relationships/image" Target="/ppt/media/image6.png" Id="Ref0ccb5f83d74008" /><Relationship Type="http://schemas.openxmlformats.org/officeDocument/2006/relationships/notesSlide" Target="/ppt/notesSlides/notesSlide22.xml" Id="Ra5a1cf24e6a646e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dc245c5c7476a" /><Relationship Type="http://schemas.openxmlformats.org/officeDocument/2006/relationships/notesSlide" Target="/ppt/notesSlides/notesSlide23.xml" Id="Rc6808b400d76475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60a92ede24ac9" /><Relationship Type="http://schemas.openxmlformats.org/officeDocument/2006/relationships/notesSlide" Target="/ppt/notesSlides/notesSlide24.xml" Id="R9b7ede373191488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02bf3b4ef4f1a" /><Relationship Type="http://schemas.openxmlformats.org/officeDocument/2006/relationships/notesSlide" Target="/ppt/notesSlides/notesSlide25.xml" Id="Rc1ab22b904fd4fc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48510f77e48b1" /><Relationship Type="http://schemas.openxmlformats.org/officeDocument/2006/relationships/notesSlide" Target="/ppt/notesSlides/notesSlide26.xml" Id="R2afbe98876a14fa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aa92cacdf4bf5" /><Relationship Type="http://schemas.openxmlformats.org/officeDocument/2006/relationships/notesSlide" Target="/ppt/notesSlides/notesSlide27.xml" Id="R59bef5d3ee834d1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764e0b93449c5" /><Relationship Type="http://schemas.openxmlformats.org/officeDocument/2006/relationships/notesSlide" Target="/ppt/notesSlides/notesSlide28.xml" Id="Re810623f6ae2406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4bfc689734679" /><Relationship Type="http://schemas.openxmlformats.org/officeDocument/2006/relationships/notesSlide" Target="/ppt/notesSlides/notesSlide29.xml" Id="R4b0efdfa23b8405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1acc277de4b12" /><Relationship Type="http://schemas.openxmlformats.org/officeDocument/2006/relationships/notesSlide" Target="/ppt/notesSlides/notesSlide30.xml" Id="R8147351a1f16409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ded668f3449c5" /><Relationship Type="http://schemas.openxmlformats.org/officeDocument/2006/relationships/notesSlide" Target="/ppt/notesSlides/notesSlide31.xml" Id="Rc3c971bba13542c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59e128c7747fa" /><Relationship Type="http://schemas.openxmlformats.org/officeDocument/2006/relationships/notesSlide" Target="/ppt/notesSlides/notesSlide32.xml" Id="Ra2e553222b03454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92587c790489f" /><Relationship Type="http://schemas.openxmlformats.org/officeDocument/2006/relationships/notesSlide" Target="/ppt/notesSlides/notesSlide33.xml" Id="Rbe3fafc39a41445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8e76d1c87481e" /><Relationship Type="http://schemas.openxmlformats.org/officeDocument/2006/relationships/notesSlide" Target="/ppt/notesSlides/notesSlide34.xml" Id="Re4d93f718f364b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241D12B6-3E9D-4521-B3C2-EA8B1587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2FBC8A9-A7D6-437A-9F45-937675B2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D36A154-8E91-4FB2-AF94-79DF0D61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数据压缩入门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BBCD371-B17D-45DE-A1BF-314C2E55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60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文件变小，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60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信息去哪了？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1061258-0F08-4B17-8E73-B28566AC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70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70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Data compression 101</a:t>
            </a:r>
          </a:p>
        </p:txBody>
      </p:sp>
    </p:spTree>
    <p:extLst>
      <p:ext uri="{BB962C8B-B14F-4D97-AF65-F5344CB8AC3E}">
        <p14:creationId xmlns:p14="http://schemas.microsoft.com/office/powerpoint/2010/main" val="3788552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ail">
            <a:extLst xmlns:a="http://schemas.openxmlformats.org/drawingml/2006/main">
              <a:ext uri="{FF2B5EF4-FFF2-40B4-BE49-F238E27FC236}">
                <a16:creationId xmlns:a16="http://schemas.microsoft.com/office/drawing/2014/main" id="{A9ACA2E2-BCEE-44A3-9B91-6EC7D0E0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009CFF8-7BE1-4CBF-9E34-A09A6335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1C2661E-1707-4ED9-86AC-3E30472F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这节课要弄清四件事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E33B57CC-5F28-4131-B3AD-E055CB49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数据压缩</a:t>
            </a:r>
          </a:p>
        </p:txBody>
      </p:sp>
      <p:sp>
        <p:nvSpPr>
          <p:cNvPr id="5" name="tree-trunk-horizontal">
            <a:extLst xmlns:a="http://schemas.openxmlformats.org/drawingml/2006/main">
              <a:ext uri="{FF2B5EF4-FFF2-40B4-BE49-F238E27FC236}">
                <a16:creationId xmlns:a16="http://schemas.microsoft.com/office/drawing/2014/main" id="{A9C0476F-CFDE-4947-8282-7E8EFE8D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73380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" name="tree-trunk">
            <a:extLst xmlns:a="http://schemas.openxmlformats.org/drawingml/2006/main">
              <a:ext uri="{FF2B5EF4-FFF2-40B4-BE49-F238E27FC236}">
                <a16:creationId xmlns:a16="http://schemas.microsoft.com/office/drawing/2014/main" id="{FDEBAF60-B1F1-4BB9-968F-36ACBA4B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924050"/>
            <a:ext cx="1905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7" name="tree-branch-link-purpose">
            <a:extLst xmlns:a="http://schemas.openxmlformats.org/drawingml/2006/main">
              <a:ext uri="{FF2B5EF4-FFF2-40B4-BE49-F238E27FC236}">
                <a16:creationId xmlns:a16="http://schemas.microsoft.com/office/drawing/2014/main" id="{96997067-1079-4253-90D6-E6C35D3B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9240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tree-branch-purpose">
            <a:extLst xmlns:a="http://schemas.openxmlformats.org/drawingml/2006/main">
              <a:ext uri="{FF2B5EF4-FFF2-40B4-BE49-F238E27FC236}">
                <a16:creationId xmlns:a16="http://schemas.microsoft.com/office/drawing/2014/main" id="{3196A6DC-E45B-44F7-A2BE-03EBB311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52600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为何压缩</a:t>
            </a:r>
          </a:p>
        </p:txBody>
      </p:sp>
      <p:sp>
        <p:nvSpPr>
          <p:cNvPr id="9" name="tree-branch-link-method">
            <a:extLst xmlns:a="http://schemas.openxmlformats.org/drawingml/2006/main">
              <a:ext uri="{FF2B5EF4-FFF2-40B4-BE49-F238E27FC236}">
                <a16:creationId xmlns:a16="http://schemas.microsoft.com/office/drawing/2014/main" id="{606826CA-24B9-40A3-8B59-AF91D52A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9527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" name="tree-branch-method">
            <a:extLst xmlns:a="http://schemas.openxmlformats.org/drawingml/2006/main">
              <a:ext uri="{FF2B5EF4-FFF2-40B4-BE49-F238E27FC236}">
                <a16:creationId xmlns:a16="http://schemas.microsoft.com/office/drawing/2014/main" id="{B46657AD-C61D-4216-8AED-B280B92A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81300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怎样变小</a:t>
            </a:r>
          </a:p>
        </p:txBody>
      </p:sp>
      <p:sp>
        <p:nvSpPr>
          <p:cNvPr id="11" name="tree-branch-link-recovery">
            <a:extLst xmlns:a="http://schemas.openxmlformats.org/drawingml/2006/main">
              <a:ext uri="{FF2B5EF4-FFF2-40B4-BE49-F238E27FC236}">
                <a16:creationId xmlns:a16="http://schemas.microsoft.com/office/drawing/2014/main" id="{5FE86790-E449-493F-A65E-AC64ACA3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16242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" name="tree-branch-recovery">
            <a:extLst xmlns:a="http://schemas.openxmlformats.org/drawingml/2006/main">
              <a:ext uri="{FF2B5EF4-FFF2-40B4-BE49-F238E27FC236}">
                <a16:creationId xmlns:a16="http://schemas.microsoft.com/office/drawing/2014/main" id="{DAFCF7C6-F481-4F42-A73B-FD8746B0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90975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能否恢复</a:t>
            </a:r>
          </a:p>
        </p:txBody>
      </p:sp>
      <p:sp>
        <p:nvSpPr>
          <p:cNvPr id="13" name="tree-branch-link-choice">
            <a:extLst xmlns:a="http://schemas.openxmlformats.org/drawingml/2006/main">
              <a:ext uri="{FF2B5EF4-FFF2-40B4-BE49-F238E27FC236}">
                <a16:creationId xmlns:a16="http://schemas.microsoft.com/office/drawing/2014/main" id="{1C7BBA97-3FFF-45B5-9BE7-63FE0BAE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49592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4" name="tree-branch-choice">
            <a:extLst xmlns:a="http://schemas.openxmlformats.org/drawingml/2006/main">
              <a:ext uri="{FF2B5EF4-FFF2-40B4-BE49-F238E27FC236}">
                <a16:creationId xmlns:a16="http://schemas.microsoft.com/office/drawing/2014/main" id="{3746EA0F-1BED-4796-9774-E97AC6CD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24475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怎样选择</a:t>
            </a:r>
          </a:p>
        </p:txBody>
      </p:sp>
      <p:sp>
        <p:nvSpPr>
          <p:cNvPr id="15" name="tree-summary">
            <a:extLst xmlns:a="http://schemas.openxmlformats.org/drawingml/2006/main">
              <a:ext uri="{FF2B5EF4-FFF2-40B4-BE49-F238E27FC236}">
                <a16:creationId xmlns:a16="http://schemas.microsoft.com/office/drawing/2014/main" id="{F0D26A63-73B5-4CD9-8857-C8A96F05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学到哪里，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就补到哪里。</a:t>
            </a:r>
          </a:p>
        </p:txBody>
      </p:sp>
    </p:spTree>
    <p:extLst>
      <p:ext uri="{BB962C8B-B14F-4D97-AF65-F5344CB8AC3E}">
        <p14:creationId xmlns:p14="http://schemas.microsoft.com/office/powerpoint/2010/main" val="14025137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2C022017-AB39-4EAC-B892-07A69A23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2EF54F5-B020-491E-8986-1C4E148A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37600AC-CC7D-419F-9536-63356B03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文件变小，是不是删掉了内容？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2785bbbf34017"/>
          <a:stretch xmlns:a="http://schemas.openxmlformats.org/drawingml/2006/main"/>
        </p:blipFill>
        <p:spPr>
          <a:xfrm xmlns:a="http://schemas.openxmlformats.org/drawingml/2006/main">
            <a:off x="609600" y="1981200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5" name="a-size">
            <a:extLst xmlns:a="http://schemas.openxmlformats.org/drawingml/2006/main">
              <a:ext uri="{FF2B5EF4-FFF2-40B4-BE49-F238E27FC236}">
                <a16:creationId xmlns:a16="http://schemas.microsoft.com/office/drawing/2014/main" id="{B927812F-9B07-4B3B-96E4-B290233F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00275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A：4096 B</a:t>
            </a:r>
          </a:p>
        </p:txBody>
      </p:sp>
      <p:sp>
        <p:nvSpPr>
          <p:cNvPr id="6" name="b-size">
            <a:extLst xmlns:a="http://schemas.openxmlformats.org/drawingml/2006/main">
              <a:ext uri="{FF2B5EF4-FFF2-40B4-BE49-F238E27FC236}">
                <a16:creationId xmlns:a16="http://schemas.microsoft.com/office/drawing/2014/main" id="{D9298960-C65F-4F05-A862-0AD26E24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B：38 B</a:t>
            </a:r>
          </a:p>
        </p:txBody>
      </p:sp>
      <p:sp>
        <p:nvSpPr>
          <p:cNvPr id="7" name="origin">
            <a:extLst xmlns:a="http://schemas.openxmlformats.org/drawingml/2006/main">
              <a:ext uri="{FF2B5EF4-FFF2-40B4-BE49-F238E27FC236}">
                <a16:creationId xmlns:a16="http://schemas.microsoft.com/office/drawing/2014/main" id="{47F26CA1-1C5B-4D13-BDE4-DB32ECBB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9595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B由A编码得到。先预测，再检查。</a:t>
            </a:r>
          </a:p>
        </p:txBody>
      </p:sp>
    </p:spTree>
    <p:extLst>
      <p:ext uri="{BB962C8B-B14F-4D97-AF65-F5344CB8AC3E}">
        <p14:creationId xmlns:p14="http://schemas.microsoft.com/office/powerpoint/2010/main" val="18527565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2C022017-AB39-4EAC-B892-07A69A23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2EF54F5-B020-491E-8986-1C4E148A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37600AC-CC7D-419F-9536-63356B03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文件变小，是不是删掉了内容？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5cb52ca6c74b4a"/>
          <a:stretch xmlns:a="http://schemas.openxmlformats.org/drawingml/2006/main"/>
        </p:blipFill>
        <p:spPr>
          <a:xfrm xmlns:a="http://schemas.openxmlformats.org/drawingml/2006/main">
            <a:off x="609600" y="1981200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5" name="a-size">
            <a:extLst xmlns:a="http://schemas.openxmlformats.org/drawingml/2006/main">
              <a:ext uri="{FF2B5EF4-FFF2-40B4-BE49-F238E27FC236}">
                <a16:creationId xmlns:a16="http://schemas.microsoft.com/office/drawing/2014/main" id="{B927812F-9B07-4B3B-96E4-B290233F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00275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A：4096 B</a:t>
            </a:r>
          </a:p>
        </p:txBody>
      </p:sp>
      <p:sp>
        <p:nvSpPr>
          <p:cNvPr id="6" name="b-size">
            <a:extLst xmlns:a="http://schemas.openxmlformats.org/drawingml/2006/main">
              <a:ext uri="{FF2B5EF4-FFF2-40B4-BE49-F238E27FC236}">
                <a16:creationId xmlns:a16="http://schemas.microsoft.com/office/drawing/2014/main" id="{D9298960-C65F-4F05-A862-0AD26E24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B：38 B</a:t>
            </a:r>
          </a:p>
        </p:txBody>
      </p:sp>
      <p:sp>
        <p:nvSpPr>
          <p:cNvPr id="7" name="origin">
            <a:extLst xmlns:a="http://schemas.openxmlformats.org/drawingml/2006/main">
              <a:ext uri="{FF2B5EF4-FFF2-40B4-BE49-F238E27FC236}">
                <a16:creationId xmlns:a16="http://schemas.microsoft.com/office/drawing/2014/main" id="{47F26CA1-1C5B-4D13-BDE4-DB32ECBB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9595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B由A编码得到。先预测，再检查。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f9c29a9f84faf"/>
          <a:stretch xmlns:a="http://schemas.openxmlformats.org/drawingml/2006/main"/>
        </p:blipFill>
        <p:spPr>
          <a:xfrm xmlns:a="http://schemas.openxmlformats.org/drawingml/2006/main">
            <a:off x="8229600" y="1981200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9" name="restored-label">
            <a:extLst xmlns:a="http://schemas.openxmlformats.org/drawingml/2006/main">
              <a:ext uri="{FF2B5EF4-FFF2-40B4-BE49-F238E27FC236}">
                <a16:creationId xmlns:a16="http://schemas.microsoft.com/office/drawing/2014/main" id="{71AB5019-A8A0-4520-8816-FCC680B2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816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从B读回的图</a:t>
            </a:r>
          </a:p>
        </p:txBody>
      </p:sp>
    </p:spTree>
    <p:extLst>
      <p:ext uri="{BB962C8B-B14F-4D97-AF65-F5344CB8AC3E}">
        <p14:creationId xmlns:p14="http://schemas.microsoft.com/office/powerpoint/2010/main" val="18527565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rail">
            <a:extLst xmlns:a="http://schemas.openxmlformats.org/drawingml/2006/main">
              <a:ext uri="{FF2B5EF4-FFF2-40B4-BE49-F238E27FC236}">
                <a16:creationId xmlns:a16="http://schemas.microsoft.com/office/drawing/2014/main" id="{4CBC5C92-00EF-42FC-89F9-4F65C6F3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468A301-E703-4A7D-847D-1605F6E1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B889FD5-2D8D-4B60-AFB7-9D82E4C7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连续重复的颜色，怎样少写一些？</a:t>
            </a:r>
          </a:p>
        </p:txBody>
      </p:sp>
      <p:sp>
        <p:nvSpPr>
          <p:cNvPr id="4" name="value-244-0">
            <a:extLst xmlns:a="http://schemas.openxmlformats.org/drawingml/2006/main">
              <a:ext uri="{FF2B5EF4-FFF2-40B4-BE49-F238E27FC236}">
                <a16:creationId xmlns:a16="http://schemas.microsoft.com/office/drawing/2014/main" id="{484C8D73-EA8D-49FA-9942-2523DC07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5" name="value-244-1">
            <a:extLst xmlns:a="http://schemas.openxmlformats.org/drawingml/2006/main">
              <a:ext uri="{FF2B5EF4-FFF2-40B4-BE49-F238E27FC236}">
                <a16:creationId xmlns:a16="http://schemas.microsoft.com/office/drawing/2014/main" id="{D710D40F-7B11-4076-A669-7B9FD700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6" name="value-244-2">
            <a:extLst xmlns:a="http://schemas.openxmlformats.org/drawingml/2006/main">
              <a:ext uri="{FF2B5EF4-FFF2-40B4-BE49-F238E27FC236}">
                <a16:creationId xmlns:a16="http://schemas.microsoft.com/office/drawing/2014/main" id="{66A1A4D9-F8D0-471A-BC1C-9FBE8397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7" name="value-244-3">
            <a:extLst xmlns:a="http://schemas.openxmlformats.org/drawingml/2006/main">
              <a:ext uri="{FF2B5EF4-FFF2-40B4-BE49-F238E27FC236}">
                <a16:creationId xmlns:a16="http://schemas.microsoft.com/office/drawing/2014/main" id="{71C1AE73-E156-43BE-AF68-4121F530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8" name="value-244-4">
            <a:extLst xmlns:a="http://schemas.openxmlformats.org/drawingml/2006/main">
              <a:ext uri="{FF2B5EF4-FFF2-40B4-BE49-F238E27FC236}">
                <a16:creationId xmlns:a16="http://schemas.microsoft.com/office/drawing/2014/main" id="{211DC8A8-5C8E-4270-AE40-A66BA58D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9" name="value-244-5">
            <a:extLst xmlns:a="http://schemas.openxmlformats.org/drawingml/2006/main">
              <a:ext uri="{FF2B5EF4-FFF2-40B4-BE49-F238E27FC236}">
                <a16:creationId xmlns:a16="http://schemas.microsoft.com/office/drawing/2014/main" id="{A23E9014-7DB4-4B9D-A174-3E5A13F1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0" name="value-244-6">
            <a:extLst xmlns:a="http://schemas.openxmlformats.org/drawingml/2006/main">
              <a:ext uri="{FF2B5EF4-FFF2-40B4-BE49-F238E27FC236}">
                <a16:creationId xmlns:a16="http://schemas.microsoft.com/office/drawing/2014/main" id="{FE5A4220-A59A-4414-A8C6-E42E80D3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1" name="value-244-7">
            <a:extLst xmlns:a="http://schemas.openxmlformats.org/drawingml/2006/main">
              <a:ext uri="{FF2B5EF4-FFF2-40B4-BE49-F238E27FC236}">
                <a16:creationId xmlns:a16="http://schemas.microsoft.com/office/drawing/2014/main" id="{7D220424-0BE0-4929-99C7-E46483C7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2" name="value-244-8">
            <a:extLst xmlns:a="http://schemas.openxmlformats.org/drawingml/2006/main">
              <a:ext uri="{FF2B5EF4-FFF2-40B4-BE49-F238E27FC236}">
                <a16:creationId xmlns:a16="http://schemas.microsoft.com/office/drawing/2014/main" id="{1E5E228B-CF45-499B-ABAF-36680640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3" name="value-244-9">
            <a:extLst xmlns:a="http://schemas.openxmlformats.org/drawingml/2006/main">
              <a:ext uri="{FF2B5EF4-FFF2-40B4-BE49-F238E27FC236}">
                <a16:creationId xmlns:a16="http://schemas.microsoft.com/office/drawing/2014/main" id="{A500F1AA-598C-41A6-879A-7DB08146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4" name="value-244-10">
            <a:extLst xmlns:a="http://schemas.openxmlformats.org/drawingml/2006/main">
              <a:ext uri="{FF2B5EF4-FFF2-40B4-BE49-F238E27FC236}">
                <a16:creationId xmlns:a16="http://schemas.microsoft.com/office/drawing/2014/main" id="{3E72A808-1E18-484D-9228-F950FCDD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5" name="value-244-11">
            <a:extLst xmlns:a="http://schemas.openxmlformats.org/drawingml/2006/main">
              <a:ext uri="{FF2B5EF4-FFF2-40B4-BE49-F238E27FC236}">
                <a16:creationId xmlns:a16="http://schemas.microsoft.com/office/drawing/2014/main" id="{8A47E271-6BF2-437E-9E80-B0A1B3ED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6" name="value-244-12">
            <a:extLst xmlns:a="http://schemas.openxmlformats.org/drawingml/2006/main">
              <a:ext uri="{FF2B5EF4-FFF2-40B4-BE49-F238E27FC236}">
                <a16:creationId xmlns:a16="http://schemas.microsoft.com/office/drawing/2014/main" id="{1BE1F8D8-672F-47B9-9BE7-414EF557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7" name="value-244-13">
            <a:extLst xmlns:a="http://schemas.openxmlformats.org/drawingml/2006/main">
              <a:ext uri="{FF2B5EF4-FFF2-40B4-BE49-F238E27FC236}">
                <a16:creationId xmlns:a16="http://schemas.microsoft.com/office/drawing/2014/main" id="{00D1478A-7863-4D7A-9BF3-A6D816EA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8" name="value-244-14">
            <a:extLst xmlns:a="http://schemas.openxmlformats.org/drawingml/2006/main">
              <a:ext uri="{FF2B5EF4-FFF2-40B4-BE49-F238E27FC236}">
                <a16:creationId xmlns:a16="http://schemas.microsoft.com/office/drawing/2014/main" id="{2B298B8B-6743-4EA7-BF6F-C23BC950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9" name="value-244-15">
            <a:extLst xmlns:a="http://schemas.openxmlformats.org/drawingml/2006/main">
              <a:ext uri="{FF2B5EF4-FFF2-40B4-BE49-F238E27FC236}">
                <a16:creationId xmlns:a16="http://schemas.microsoft.com/office/drawing/2014/main" id="{BAA7662F-761E-4A04-A283-5CB4EAC8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0" name="a1-task">
            <a:extLst xmlns:a="http://schemas.openxmlformats.org/drawingml/2006/main">
              <a:ext uri="{FF2B5EF4-FFF2-40B4-BE49-F238E27FC236}">
                <a16:creationId xmlns:a16="http://schemas.microsoft.com/office/drawing/2014/main" id="{1EDF4551-329B-4327-83E5-A7BBA1A3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用短消息传给同桌：顺序不变，内容不漏。</a:t>
            </a:r>
          </a:p>
        </p:txBody>
      </p:sp>
    </p:spTree>
    <p:extLst>
      <p:ext uri="{BB962C8B-B14F-4D97-AF65-F5344CB8AC3E}">
        <p14:creationId xmlns:p14="http://schemas.microsoft.com/office/powerpoint/2010/main" val="19648618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ail">
            <a:extLst xmlns:a="http://schemas.openxmlformats.org/drawingml/2006/main">
              <a:ext uri="{FF2B5EF4-FFF2-40B4-BE49-F238E27FC236}">
                <a16:creationId xmlns:a16="http://schemas.microsoft.com/office/drawing/2014/main" id="{4CBC5C92-00EF-42FC-89F9-4F65C6F3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468A301-E703-4A7D-847D-1605F6E1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B889FD5-2D8D-4B60-AFB7-9D82E4C7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连续重复的颜色，怎样少写一些？</a:t>
            </a:r>
          </a:p>
        </p:txBody>
      </p:sp>
      <p:sp>
        <p:nvSpPr>
          <p:cNvPr id="4" name="value-244-0">
            <a:extLst xmlns:a="http://schemas.openxmlformats.org/drawingml/2006/main">
              <a:ext uri="{FF2B5EF4-FFF2-40B4-BE49-F238E27FC236}">
                <a16:creationId xmlns:a16="http://schemas.microsoft.com/office/drawing/2014/main" id="{484C8D73-EA8D-49FA-9942-2523DC07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5" name="value-244-1">
            <a:extLst xmlns:a="http://schemas.openxmlformats.org/drawingml/2006/main">
              <a:ext uri="{FF2B5EF4-FFF2-40B4-BE49-F238E27FC236}">
                <a16:creationId xmlns:a16="http://schemas.microsoft.com/office/drawing/2014/main" id="{D710D40F-7B11-4076-A669-7B9FD700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6" name="value-244-2">
            <a:extLst xmlns:a="http://schemas.openxmlformats.org/drawingml/2006/main">
              <a:ext uri="{FF2B5EF4-FFF2-40B4-BE49-F238E27FC236}">
                <a16:creationId xmlns:a16="http://schemas.microsoft.com/office/drawing/2014/main" id="{66A1A4D9-F8D0-471A-BC1C-9FBE8397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7" name="value-244-3">
            <a:extLst xmlns:a="http://schemas.openxmlformats.org/drawingml/2006/main">
              <a:ext uri="{FF2B5EF4-FFF2-40B4-BE49-F238E27FC236}">
                <a16:creationId xmlns:a16="http://schemas.microsoft.com/office/drawing/2014/main" id="{71C1AE73-E156-43BE-AF68-4121F530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8" name="value-244-4">
            <a:extLst xmlns:a="http://schemas.openxmlformats.org/drawingml/2006/main">
              <a:ext uri="{FF2B5EF4-FFF2-40B4-BE49-F238E27FC236}">
                <a16:creationId xmlns:a16="http://schemas.microsoft.com/office/drawing/2014/main" id="{211DC8A8-5C8E-4270-AE40-A66BA58D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9" name="value-244-5">
            <a:extLst xmlns:a="http://schemas.openxmlformats.org/drawingml/2006/main">
              <a:ext uri="{FF2B5EF4-FFF2-40B4-BE49-F238E27FC236}">
                <a16:creationId xmlns:a16="http://schemas.microsoft.com/office/drawing/2014/main" id="{A23E9014-7DB4-4B9D-A174-3E5A13F1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0" name="value-244-6">
            <a:extLst xmlns:a="http://schemas.openxmlformats.org/drawingml/2006/main">
              <a:ext uri="{FF2B5EF4-FFF2-40B4-BE49-F238E27FC236}">
                <a16:creationId xmlns:a16="http://schemas.microsoft.com/office/drawing/2014/main" id="{FE5A4220-A59A-4414-A8C6-E42E80D3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1" name="value-244-7">
            <a:extLst xmlns:a="http://schemas.openxmlformats.org/drawingml/2006/main">
              <a:ext uri="{FF2B5EF4-FFF2-40B4-BE49-F238E27FC236}">
                <a16:creationId xmlns:a16="http://schemas.microsoft.com/office/drawing/2014/main" id="{7D220424-0BE0-4929-99C7-E46483C7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2" name="value-244-8">
            <a:extLst xmlns:a="http://schemas.openxmlformats.org/drawingml/2006/main">
              <a:ext uri="{FF2B5EF4-FFF2-40B4-BE49-F238E27FC236}">
                <a16:creationId xmlns:a16="http://schemas.microsoft.com/office/drawing/2014/main" id="{1E5E228B-CF45-499B-ABAF-36680640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3" name="value-244-9">
            <a:extLst xmlns:a="http://schemas.openxmlformats.org/drawingml/2006/main">
              <a:ext uri="{FF2B5EF4-FFF2-40B4-BE49-F238E27FC236}">
                <a16:creationId xmlns:a16="http://schemas.microsoft.com/office/drawing/2014/main" id="{A500F1AA-598C-41A6-879A-7DB08146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4" name="value-244-10">
            <a:extLst xmlns:a="http://schemas.openxmlformats.org/drawingml/2006/main">
              <a:ext uri="{FF2B5EF4-FFF2-40B4-BE49-F238E27FC236}">
                <a16:creationId xmlns:a16="http://schemas.microsoft.com/office/drawing/2014/main" id="{3E72A808-1E18-484D-9228-F950FCDD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5" name="value-244-11">
            <a:extLst xmlns:a="http://schemas.openxmlformats.org/drawingml/2006/main">
              <a:ext uri="{FF2B5EF4-FFF2-40B4-BE49-F238E27FC236}">
                <a16:creationId xmlns:a16="http://schemas.microsoft.com/office/drawing/2014/main" id="{8A47E271-6BF2-437E-9E80-B0A1B3ED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6" name="value-244-12">
            <a:extLst xmlns:a="http://schemas.openxmlformats.org/drawingml/2006/main">
              <a:ext uri="{FF2B5EF4-FFF2-40B4-BE49-F238E27FC236}">
                <a16:creationId xmlns:a16="http://schemas.microsoft.com/office/drawing/2014/main" id="{1BE1F8D8-672F-47B9-9BE7-414EF557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7" name="value-244-13">
            <a:extLst xmlns:a="http://schemas.openxmlformats.org/drawingml/2006/main">
              <a:ext uri="{FF2B5EF4-FFF2-40B4-BE49-F238E27FC236}">
                <a16:creationId xmlns:a16="http://schemas.microsoft.com/office/drawing/2014/main" id="{00D1478A-7863-4D7A-9BF3-A6D816EA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8" name="value-244-14">
            <a:extLst xmlns:a="http://schemas.openxmlformats.org/drawingml/2006/main">
              <a:ext uri="{FF2B5EF4-FFF2-40B4-BE49-F238E27FC236}">
                <a16:creationId xmlns:a16="http://schemas.microsoft.com/office/drawing/2014/main" id="{2B298B8B-6743-4EA7-BF6F-C23BC950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9" name="value-244-15">
            <a:extLst xmlns:a="http://schemas.openxmlformats.org/drawingml/2006/main">
              <a:ext uri="{FF2B5EF4-FFF2-40B4-BE49-F238E27FC236}">
                <a16:creationId xmlns:a16="http://schemas.microsoft.com/office/drawing/2014/main" id="{BAA7662F-761E-4A04-A283-5CB4EAC8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0" name="a1-task">
            <a:extLst xmlns:a="http://schemas.openxmlformats.org/drawingml/2006/main">
              <a:ext uri="{FF2B5EF4-FFF2-40B4-BE49-F238E27FC236}">
                <a16:creationId xmlns:a16="http://schemas.microsoft.com/office/drawing/2014/main" id="{1EDF4551-329B-4327-83E5-A7BBA1A3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用短消息传给同桌：顺序不变，内容不漏。</a:t>
            </a:r>
          </a:p>
        </p:txBody>
      </p:sp>
      <p:sp>
        <p:nvSpPr>
          <p:cNvPr id="21" name="rle-result">
            <a:extLst xmlns:a="http://schemas.openxmlformats.org/drawingml/2006/main">
              <a:ext uri="{FF2B5EF4-FFF2-40B4-BE49-F238E27FC236}">
                <a16:creationId xmlns:a16="http://schemas.microsoft.com/office/drawing/2014/main" id="{F32A5485-96B0-4AC9-9224-22AC5923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红 8     绿 5     蓝 3</a:t>
            </a:r>
          </a:p>
        </p:txBody>
      </p:sp>
      <p:sp>
        <p:nvSpPr>
          <p:cNvPr id="22" name="rle-name">
            <a:extLst xmlns:a="http://schemas.openxmlformats.org/drawingml/2006/main">
              <a:ext uri="{FF2B5EF4-FFF2-40B4-BE49-F238E27FC236}">
                <a16:creationId xmlns:a16="http://schemas.microsoft.com/office/drawing/2014/main" id="{700EAD8C-C356-47AE-9EDA-EDA28EC9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游程编码  Run-Length Encoding（RLE）</a:t>
            </a:r>
          </a:p>
        </p:txBody>
      </p:sp>
    </p:spTree>
    <p:extLst>
      <p:ext uri="{BB962C8B-B14F-4D97-AF65-F5344CB8AC3E}">
        <p14:creationId xmlns:p14="http://schemas.microsoft.com/office/powerpoint/2010/main" val="19648618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rail">
            <a:extLst xmlns:a="http://schemas.openxmlformats.org/drawingml/2006/main">
              <a:ext uri="{FF2B5EF4-FFF2-40B4-BE49-F238E27FC236}">
                <a16:creationId xmlns:a16="http://schemas.microsoft.com/office/drawing/2014/main" id="{262D6C61-6101-41FB-9C8F-32A91C30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3A8BC97-FEDA-4A7D-B624-F6406B09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6DF2C8E-1B4A-4726-936A-5528D6AE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少写以后，怎样证明一个也没丢？</a:t>
            </a:r>
          </a:p>
        </p:txBody>
      </p:sp>
      <p:sp>
        <p:nvSpPr>
          <p:cNvPr id="4" name="row-label-234">
            <a:extLst xmlns:a="http://schemas.openxmlformats.org/drawingml/2006/main">
              <a:ext uri="{FF2B5EF4-FFF2-40B4-BE49-F238E27FC236}">
                <a16:creationId xmlns:a16="http://schemas.microsoft.com/office/drawing/2014/main" id="{C2F5B06D-1F2B-44C2-8E79-62AC1828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原串</a:t>
            </a:r>
          </a:p>
        </p:txBody>
      </p:sp>
      <p:sp>
        <p:nvSpPr>
          <p:cNvPr id="5" name="value-234-0">
            <a:extLst xmlns:a="http://schemas.openxmlformats.org/drawingml/2006/main">
              <a:ext uri="{FF2B5EF4-FFF2-40B4-BE49-F238E27FC236}">
                <a16:creationId xmlns:a16="http://schemas.microsoft.com/office/drawing/2014/main" id="{7F19A3F2-DBFB-416B-9B45-0BF26D7B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6" name="value-234-1">
            <a:extLst xmlns:a="http://schemas.openxmlformats.org/drawingml/2006/main">
              <a:ext uri="{FF2B5EF4-FFF2-40B4-BE49-F238E27FC236}">
                <a16:creationId xmlns:a16="http://schemas.microsoft.com/office/drawing/2014/main" id="{DD2F2DCA-F320-409D-A2CB-6298B75F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7" name="value-234-2">
            <a:extLst xmlns:a="http://schemas.openxmlformats.org/drawingml/2006/main">
              <a:ext uri="{FF2B5EF4-FFF2-40B4-BE49-F238E27FC236}">
                <a16:creationId xmlns:a16="http://schemas.microsoft.com/office/drawing/2014/main" id="{C6751F8C-CC40-494F-9F95-9E2CE876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8" name="value-234-3">
            <a:extLst xmlns:a="http://schemas.openxmlformats.org/drawingml/2006/main">
              <a:ext uri="{FF2B5EF4-FFF2-40B4-BE49-F238E27FC236}">
                <a16:creationId xmlns:a16="http://schemas.microsoft.com/office/drawing/2014/main" id="{1927FAEC-978C-4A32-9A11-2834AA25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9" name="value-234-4">
            <a:extLst xmlns:a="http://schemas.openxmlformats.org/drawingml/2006/main">
              <a:ext uri="{FF2B5EF4-FFF2-40B4-BE49-F238E27FC236}">
                <a16:creationId xmlns:a16="http://schemas.microsoft.com/office/drawing/2014/main" id="{6B107FF6-6A16-4A3B-9977-7D8E5B1F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0" name="value-234-5">
            <a:extLst xmlns:a="http://schemas.openxmlformats.org/drawingml/2006/main">
              <a:ext uri="{FF2B5EF4-FFF2-40B4-BE49-F238E27FC236}">
                <a16:creationId xmlns:a16="http://schemas.microsoft.com/office/drawing/2014/main" id="{8066C535-0820-43E3-AD23-AA7FAA44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1" name="value-234-6">
            <a:extLst xmlns:a="http://schemas.openxmlformats.org/drawingml/2006/main">
              <a:ext uri="{FF2B5EF4-FFF2-40B4-BE49-F238E27FC236}">
                <a16:creationId xmlns:a16="http://schemas.microsoft.com/office/drawing/2014/main" id="{ADA4BE94-504B-4426-9FB1-FCEE0B2C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2" name="value-234-7">
            <a:extLst xmlns:a="http://schemas.openxmlformats.org/drawingml/2006/main">
              <a:ext uri="{FF2B5EF4-FFF2-40B4-BE49-F238E27FC236}">
                <a16:creationId xmlns:a16="http://schemas.microsoft.com/office/drawing/2014/main" id="{697745B0-67CB-4FE9-82F5-60DB7618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3" name="value-234-8">
            <a:extLst xmlns:a="http://schemas.openxmlformats.org/drawingml/2006/main">
              <a:ext uri="{FF2B5EF4-FFF2-40B4-BE49-F238E27FC236}">
                <a16:creationId xmlns:a16="http://schemas.microsoft.com/office/drawing/2014/main" id="{FF9ED6CB-34CC-481F-B832-54D2176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4" name="value-234-9">
            <a:extLst xmlns:a="http://schemas.openxmlformats.org/drawingml/2006/main">
              <a:ext uri="{FF2B5EF4-FFF2-40B4-BE49-F238E27FC236}">
                <a16:creationId xmlns:a16="http://schemas.microsoft.com/office/drawing/2014/main" id="{FAD01BA1-3D34-4D42-844A-893BAB36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5" name="value-234-10">
            <a:extLst xmlns:a="http://schemas.openxmlformats.org/drawingml/2006/main">
              <a:ext uri="{FF2B5EF4-FFF2-40B4-BE49-F238E27FC236}">
                <a16:creationId xmlns:a16="http://schemas.microsoft.com/office/drawing/2014/main" id="{90BE58F6-C7B8-4481-9743-0E7E3E08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6" name="value-234-11">
            <a:extLst xmlns:a="http://schemas.openxmlformats.org/drawingml/2006/main">
              <a:ext uri="{FF2B5EF4-FFF2-40B4-BE49-F238E27FC236}">
                <a16:creationId xmlns:a16="http://schemas.microsoft.com/office/drawing/2014/main" id="{57381B46-9A09-45C3-AE6D-11704EAF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7" name="value-234-12">
            <a:extLst xmlns:a="http://schemas.openxmlformats.org/drawingml/2006/main">
              <a:ext uri="{FF2B5EF4-FFF2-40B4-BE49-F238E27FC236}">
                <a16:creationId xmlns:a16="http://schemas.microsoft.com/office/drawing/2014/main" id="{8F5F3371-E309-4832-BD16-416813FE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8" name="value-234-13">
            <a:extLst xmlns:a="http://schemas.openxmlformats.org/drawingml/2006/main">
              <a:ext uri="{FF2B5EF4-FFF2-40B4-BE49-F238E27FC236}">
                <a16:creationId xmlns:a16="http://schemas.microsoft.com/office/drawing/2014/main" id="{AC1BF533-BD26-4B4A-BC96-88BA65DC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9" name="value-234-14">
            <a:extLst xmlns:a="http://schemas.openxmlformats.org/drawingml/2006/main">
              <a:ext uri="{FF2B5EF4-FFF2-40B4-BE49-F238E27FC236}">
                <a16:creationId xmlns:a16="http://schemas.microsoft.com/office/drawing/2014/main" id="{8C1B0A2C-81E2-4564-A28A-60288A30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0" name="value-234-15">
            <a:extLst xmlns:a="http://schemas.openxmlformats.org/drawingml/2006/main">
              <a:ext uri="{FF2B5EF4-FFF2-40B4-BE49-F238E27FC236}">
                <a16:creationId xmlns:a16="http://schemas.microsoft.com/office/drawing/2014/main" id="{CC65FC83-8834-42B0-A7F6-9CC1B897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1" name="row-label-372">
            <a:extLst xmlns:a="http://schemas.openxmlformats.org/drawingml/2006/main">
              <a:ext uri="{FF2B5EF4-FFF2-40B4-BE49-F238E27FC236}">
                <a16:creationId xmlns:a16="http://schemas.microsoft.com/office/drawing/2014/main" id="{D438EA24-D593-41F0-ABB0-34BFE87D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待查</a:t>
            </a:r>
          </a:p>
        </p:txBody>
      </p:sp>
      <p:sp>
        <p:nvSpPr>
          <p:cNvPr id="22" name="value-372-0">
            <a:extLst xmlns:a="http://schemas.openxmlformats.org/drawingml/2006/main">
              <a:ext uri="{FF2B5EF4-FFF2-40B4-BE49-F238E27FC236}">
                <a16:creationId xmlns:a16="http://schemas.microsoft.com/office/drawing/2014/main" id="{C3BEA5A5-F4F1-4B31-AEC6-D69C6437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3" name="value-372-1">
            <a:extLst xmlns:a="http://schemas.openxmlformats.org/drawingml/2006/main">
              <a:ext uri="{FF2B5EF4-FFF2-40B4-BE49-F238E27FC236}">
                <a16:creationId xmlns:a16="http://schemas.microsoft.com/office/drawing/2014/main" id="{FB0D0DA2-ECED-42CD-B8CB-04F867BA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4" name="value-372-2">
            <a:extLst xmlns:a="http://schemas.openxmlformats.org/drawingml/2006/main">
              <a:ext uri="{FF2B5EF4-FFF2-40B4-BE49-F238E27FC236}">
                <a16:creationId xmlns:a16="http://schemas.microsoft.com/office/drawing/2014/main" id="{0EBE9500-2D3A-4AD5-8457-693270E0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5" name="value-372-3">
            <a:extLst xmlns:a="http://schemas.openxmlformats.org/drawingml/2006/main">
              <a:ext uri="{FF2B5EF4-FFF2-40B4-BE49-F238E27FC236}">
                <a16:creationId xmlns:a16="http://schemas.microsoft.com/office/drawing/2014/main" id="{8204D3BA-33F9-4FFA-BAC0-FA000552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6" name="value-372-4">
            <a:extLst xmlns:a="http://schemas.openxmlformats.org/drawingml/2006/main">
              <a:ext uri="{FF2B5EF4-FFF2-40B4-BE49-F238E27FC236}">
                <a16:creationId xmlns:a16="http://schemas.microsoft.com/office/drawing/2014/main" id="{BBB9C1EF-9BB8-4C21-9C78-648F23FA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7" name="value-372-5">
            <a:extLst xmlns:a="http://schemas.openxmlformats.org/drawingml/2006/main">
              <a:ext uri="{FF2B5EF4-FFF2-40B4-BE49-F238E27FC236}">
                <a16:creationId xmlns:a16="http://schemas.microsoft.com/office/drawing/2014/main" id="{D06535B3-0775-425A-98A8-80656F5E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8" name="value-372-6">
            <a:extLst xmlns:a="http://schemas.openxmlformats.org/drawingml/2006/main">
              <a:ext uri="{FF2B5EF4-FFF2-40B4-BE49-F238E27FC236}">
                <a16:creationId xmlns:a16="http://schemas.microsoft.com/office/drawing/2014/main" id="{25C9E51F-34AA-4C49-9D2F-1C6A25C3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9" name="value-372-7">
            <a:extLst xmlns:a="http://schemas.openxmlformats.org/drawingml/2006/main">
              <a:ext uri="{FF2B5EF4-FFF2-40B4-BE49-F238E27FC236}">
                <a16:creationId xmlns:a16="http://schemas.microsoft.com/office/drawing/2014/main" id="{59F6D2F4-89A1-422F-AE25-64AEC041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0" name="value-372-8">
            <a:extLst xmlns:a="http://schemas.openxmlformats.org/drawingml/2006/main">
              <a:ext uri="{FF2B5EF4-FFF2-40B4-BE49-F238E27FC236}">
                <a16:creationId xmlns:a16="http://schemas.microsoft.com/office/drawing/2014/main" id="{5D33D459-3152-4483-8B4E-59D0E719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1" name="value-372-9">
            <a:extLst xmlns:a="http://schemas.openxmlformats.org/drawingml/2006/main">
              <a:ext uri="{FF2B5EF4-FFF2-40B4-BE49-F238E27FC236}">
                <a16:creationId xmlns:a16="http://schemas.microsoft.com/office/drawing/2014/main" id="{6964A74D-4AEB-4E8C-A937-CD67CF5C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2" name="value-372-10">
            <a:extLst xmlns:a="http://schemas.openxmlformats.org/drawingml/2006/main">
              <a:ext uri="{FF2B5EF4-FFF2-40B4-BE49-F238E27FC236}">
                <a16:creationId xmlns:a16="http://schemas.microsoft.com/office/drawing/2014/main" id="{907D56DD-356E-41CF-98CD-00619119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3" name="value-372-11">
            <a:extLst xmlns:a="http://schemas.openxmlformats.org/drawingml/2006/main">
              <a:ext uri="{FF2B5EF4-FFF2-40B4-BE49-F238E27FC236}">
                <a16:creationId xmlns:a16="http://schemas.microsoft.com/office/drawing/2014/main" id="{4DC4B661-5157-42B3-89C0-4696BC4C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4" name="value-372-12">
            <a:extLst xmlns:a="http://schemas.openxmlformats.org/drawingml/2006/main">
              <a:ext uri="{FF2B5EF4-FFF2-40B4-BE49-F238E27FC236}">
                <a16:creationId xmlns:a16="http://schemas.microsoft.com/office/drawing/2014/main" id="{8BFA9593-55EF-46F7-A452-C0AB6499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5" name="value-372-13">
            <a:extLst xmlns:a="http://schemas.openxmlformats.org/drawingml/2006/main">
              <a:ext uri="{FF2B5EF4-FFF2-40B4-BE49-F238E27FC236}">
                <a16:creationId xmlns:a16="http://schemas.microsoft.com/office/drawing/2014/main" id="{D2B76AC7-188A-47A3-B4D1-04A8AA39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6" name="value-372-14">
            <a:extLst xmlns:a="http://schemas.openxmlformats.org/drawingml/2006/main">
              <a:ext uri="{FF2B5EF4-FFF2-40B4-BE49-F238E27FC236}">
                <a16:creationId xmlns:a16="http://schemas.microsoft.com/office/drawing/2014/main" id="{86566CEA-8CA0-47DA-A8B1-6EA82E4E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7" name="value-372-15">
            <a:extLst xmlns:a="http://schemas.openxmlformats.org/drawingml/2006/main">
              <a:ext uri="{FF2B5EF4-FFF2-40B4-BE49-F238E27FC236}">
                <a16:creationId xmlns:a16="http://schemas.microsoft.com/office/drawing/2014/main" id="{44A9F31E-AB1A-45F7-A420-F32240CF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8" name="check-task">
            <a:extLst xmlns:a="http://schemas.openxmlformats.org/drawingml/2006/main">
              <a:ext uri="{FF2B5EF4-FFF2-40B4-BE49-F238E27FC236}">
                <a16:creationId xmlns:a16="http://schemas.microsoft.com/office/drawing/2014/main" id="{E942F666-B957-4EB4-AD46-AB747FC2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提出检验方法，再检查这份还原结果。</a:t>
            </a:r>
          </a:p>
        </p:txBody>
      </p:sp>
    </p:spTree>
    <p:extLst>
      <p:ext uri="{BB962C8B-B14F-4D97-AF65-F5344CB8AC3E}">
        <p14:creationId xmlns:p14="http://schemas.microsoft.com/office/powerpoint/2010/main" val="5554282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top-rail">
            <a:extLst xmlns:a="http://schemas.openxmlformats.org/drawingml/2006/main">
              <a:ext uri="{FF2B5EF4-FFF2-40B4-BE49-F238E27FC236}">
                <a16:creationId xmlns:a16="http://schemas.microsoft.com/office/drawing/2014/main" id="{262D6C61-6101-41FB-9C8F-32A91C30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3A8BC97-FEDA-4A7D-B624-F6406B09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6DF2C8E-1B4A-4726-936A-5528D6AE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少写以后，怎样证明一个也没丢？</a:t>
            </a:r>
          </a:p>
        </p:txBody>
      </p:sp>
      <p:sp>
        <p:nvSpPr>
          <p:cNvPr id="4" name="row-label-234">
            <a:extLst xmlns:a="http://schemas.openxmlformats.org/drawingml/2006/main">
              <a:ext uri="{FF2B5EF4-FFF2-40B4-BE49-F238E27FC236}">
                <a16:creationId xmlns:a16="http://schemas.microsoft.com/office/drawing/2014/main" id="{C2F5B06D-1F2B-44C2-8E79-62AC1828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原串</a:t>
            </a:r>
          </a:p>
        </p:txBody>
      </p:sp>
      <p:sp>
        <p:nvSpPr>
          <p:cNvPr id="5" name="value-234-0">
            <a:extLst xmlns:a="http://schemas.openxmlformats.org/drawingml/2006/main">
              <a:ext uri="{FF2B5EF4-FFF2-40B4-BE49-F238E27FC236}">
                <a16:creationId xmlns:a16="http://schemas.microsoft.com/office/drawing/2014/main" id="{7F19A3F2-DBFB-416B-9B45-0BF26D7B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6" name="value-234-1">
            <a:extLst xmlns:a="http://schemas.openxmlformats.org/drawingml/2006/main">
              <a:ext uri="{FF2B5EF4-FFF2-40B4-BE49-F238E27FC236}">
                <a16:creationId xmlns:a16="http://schemas.microsoft.com/office/drawing/2014/main" id="{DD2F2DCA-F320-409D-A2CB-6298B75F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7" name="value-234-2">
            <a:extLst xmlns:a="http://schemas.openxmlformats.org/drawingml/2006/main">
              <a:ext uri="{FF2B5EF4-FFF2-40B4-BE49-F238E27FC236}">
                <a16:creationId xmlns:a16="http://schemas.microsoft.com/office/drawing/2014/main" id="{C6751F8C-CC40-494F-9F95-9E2CE876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8" name="value-234-3">
            <a:extLst xmlns:a="http://schemas.openxmlformats.org/drawingml/2006/main">
              <a:ext uri="{FF2B5EF4-FFF2-40B4-BE49-F238E27FC236}">
                <a16:creationId xmlns:a16="http://schemas.microsoft.com/office/drawing/2014/main" id="{1927FAEC-978C-4A32-9A11-2834AA25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9" name="value-234-4">
            <a:extLst xmlns:a="http://schemas.openxmlformats.org/drawingml/2006/main">
              <a:ext uri="{FF2B5EF4-FFF2-40B4-BE49-F238E27FC236}">
                <a16:creationId xmlns:a16="http://schemas.microsoft.com/office/drawing/2014/main" id="{6B107FF6-6A16-4A3B-9977-7D8E5B1F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0" name="value-234-5">
            <a:extLst xmlns:a="http://schemas.openxmlformats.org/drawingml/2006/main">
              <a:ext uri="{FF2B5EF4-FFF2-40B4-BE49-F238E27FC236}">
                <a16:creationId xmlns:a16="http://schemas.microsoft.com/office/drawing/2014/main" id="{8066C535-0820-43E3-AD23-AA7FAA44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1" name="value-234-6">
            <a:extLst xmlns:a="http://schemas.openxmlformats.org/drawingml/2006/main">
              <a:ext uri="{FF2B5EF4-FFF2-40B4-BE49-F238E27FC236}">
                <a16:creationId xmlns:a16="http://schemas.microsoft.com/office/drawing/2014/main" id="{ADA4BE94-504B-4426-9FB1-FCEE0B2C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2" name="value-234-7">
            <a:extLst xmlns:a="http://schemas.openxmlformats.org/drawingml/2006/main">
              <a:ext uri="{FF2B5EF4-FFF2-40B4-BE49-F238E27FC236}">
                <a16:creationId xmlns:a16="http://schemas.microsoft.com/office/drawing/2014/main" id="{697745B0-67CB-4FE9-82F5-60DB7618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3" name="value-234-8">
            <a:extLst xmlns:a="http://schemas.openxmlformats.org/drawingml/2006/main">
              <a:ext uri="{FF2B5EF4-FFF2-40B4-BE49-F238E27FC236}">
                <a16:creationId xmlns:a16="http://schemas.microsoft.com/office/drawing/2014/main" id="{FF9ED6CB-34CC-481F-B832-54D2176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4" name="value-234-9">
            <a:extLst xmlns:a="http://schemas.openxmlformats.org/drawingml/2006/main">
              <a:ext uri="{FF2B5EF4-FFF2-40B4-BE49-F238E27FC236}">
                <a16:creationId xmlns:a16="http://schemas.microsoft.com/office/drawing/2014/main" id="{FAD01BA1-3D34-4D42-844A-893BAB36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5" name="value-234-10">
            <a:extLst xmlns:a="http://schemas.openxmlformats.org/drawingml/2006/main">
              <a:ext uri="{FF2B5EF4-FFF2-40B4-BE49-F238E27FC236}">
                <a16:creationId xmlns:a16="http://schemas.microsoft.com/office/drawing/2014/main" id="{90BE58F6-C7B8-4481-9743-0E7E3E08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6" name="value-234-11">
            <a:extLst xmlns:a="http://schemas.openxmlformats.org/drawingml/2006/main">
              <a:ext uri="{FF2B5EF4-FFF2-40B4-BE49-F238E27FC236}">
                <a16:creationId xmlns:a16="http://schemas.microsoft.com/office/drawing/2014/main" id="{57381B46-9A09-45C3-AE6D-11704EAF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7" name="value-234-12">
            <a:extLst xmlns:a="http://schemas.openxmlformats.org/drawingml/2006/main">
              <a:ext uri="{FF2B5EF4-FFF2-40B4-BE49-F238E27FC236}">
                <a16:creationId xmlns:a16="http://schemas.microsoft.com/office/drawing/2014/main" id="{8F5F3371-E309-4832-BD16-416813FE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8" name="value-234-13">
            <a:extLst xmlns:a="http://schemas.openxmlformats.org/drawingml/2006/main">
              <a:ext uri="{FF2B5EF4-FFF2-40B4-BE49-F238E27FC236}">
                <a16:creationId xmlns:a16="http://schemas.microsoft.com/office/drawing/2014/main" id="{AC1BF533-BD26-4B4A-BC96-88BA65DC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9" name="value-234-14">
            <a:extLst xmlns:a="http://schemas.openxmlformats.org/drawingml/2006/main">
              <a:ext uri="{FF2B5EF4-FFF2-40B4-BE49-F238E27FC236}">
                <a16:creationId xmlns:a16="http://schemas.microsoft.com/office/drawing/2014/main" id="{8C1B0A2C-81E2-4564-A28A-60288A30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0" name="value-234-15">
            <a:extLst xmlns:a="http://schemas.openxmlformats.org/drawingml/2006/main">
              <a:ext uri="{FF2B5EF4-FFF2-40B4-BE49-F238E27FC236}">
                <a16:creationId xmlns:a16="http://schemas.microsoft.com/office/drawing/2014/main" id="{CC65FC83-8834-42B0-A7F6-9CC1B897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1" name="row-label-372">
            <a:extLst xmlns:a="http://schemas.openxmlformats.org/drawingml/2006/main">
              <a:ext uri="{FF2B5EF4-FFF2-40B4-BE49-F238E27FC236}">
                <a16:creationId xmlns:a16="http://schemas.microsoft.com/office/drawing/2014/main" id="{D438EA24-D593-41F0-ABB0-34BFE87D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待查</a:t>
            </a:r>
          </a:p>
        </p:txBody>
      </p:sp>
      <p:sp>
        <p:nvSpPr>
          <p:cNvPr id="22" name="value-372-0">
            <a:extLst xmlns:a="http://schemas.openxmlformats.org/drawingml/2006/main">
              <a:ext uri="{FF2B5EF4-FFF2-40B4-BE49-F238E27FC236}">
                <a16:creationId xmlns:a16="http://schemas.microsoft.com/office/drawing/2014/main" id="{C3BEA5A5-F4F1-4B31-AEC6-D69C6437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3" name="value-372-1">
            <a:extLst xmlns:a="http://schemas.openxmlformats.org/drawingml/2006/main">
              <a:ext uri="{FF2B5EF4-FFF2-40B4-BE49-F238E27FC236}">
                <a16:creationId xmlns:a16="http://schemas.microsoft.com/office/drawing/2014/main" id="{FB0D0DA2-ECED-42CD-B8CB-04F867BA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4" name="value-372-2">
            <a:extLst xmlns:a="http://schemas.openxmlformats.org/drawingml/2006/main">
              <a:ext uri="{FF2B5EF4-FFF2-40B4-BE49-F238E27FC236}">
                <a16:creationId xmlns:a16="http://schemas.microsoft.com/office/drawing/2014/main" id="{0EBE9500-2D3A-4AD5-8457-693270E0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5" name="value-372-3">
            <a:extLst xmlns:a="http://schemas.openxmlformats.org/drawingml/2006/main">
              <a:ext uri="{FF2B5EF4-FFF2-40B4-BE49-F238E27FC236}">
                <a16:creationId xmlns:a16="http://schemas.microsoft.com/office/drawing/2014/main" id="{8204D3BA-33F9-4FFA-BAC0-FA000552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6" name="value-372-4">
            <a:extLst xmlns:a="http://schemas.openxmlformats.org/drawingml/2006/main">
              <a:ext uri="{FF2B5EF4-FFF2-40B4-BE49-F238E27FC236}">
                <a16:creationId xmlns:a16="http://schemas.microsoft.com/office/drawing/2014/main" id="{BBB9C1EF-9BB8-4C21-9C78-648F23FA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7" name="value-372-5">
            <a:extLst xmlns:a="http://schemas.openxmlformats.org/drawingml/2006/main">
              <a:ext uri="{FF2B5EF4-FFF2-40B4-BE49-F238E27FC236}">
                <a16:creationId xmlns:a16="http://schemas.microsoft.com/office/drawing/2014/main" id="{D06535B3-0775-425A-98A8-80656F5E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8" name="value-372-6">
            <a:extLst xmlns:a="http://schemas.openxmlformats.org/drawingml/2006/main">
              <a:ext uri="{FF2B5EF4-FFF2-40B4-BE49-F238E27FC236}">
                <a16:creationId xmlns:a16="http://schemas.microsoft.com/office/drawing/2014/main" id="{25C9E51F-34AA-4C49-9D2F-1C6A25C3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9" name="value-372-7">
            <a:extLst xmlns:a="http://schemas.openxmlformats.org/drawingml/2006/main">
              <a:ext uri="{FF2B5EF4-FFF2-40B4-BE49-F238E27FC236}">
                <a16:creationId xmlns:a16="http://schemas.microsoft.com/office/drawing/2014/main" id="{59F6D2F4-89A1-422F-AE25-64AEC041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0" name="value-372-8">
            <a:extLst xmlns:a="http://schemas.openxmlformats.org/drawingml/2006/main">
              <a:ext uri="{FF2B5EF4-FFF2-40B4-BE49-F238E27FC236}">
                <a16:creationId xmlns:a16="http://schemas.microsoft.com/office/drawing/2014/main" id="{5D33D459-3152-4483-8B4E-59D0E719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1" name="value-372-9">
            <a:extLst xmlns:a="http://schemas.openxmlformats.org/drawingml/2006/main">
              <a:ext uri="{FF2B5EF4-FFF2-40B4-BE49-F238E27FC236}">
                <a16:creationId xmlns:a16="http://schemas.microsoft.com/office/drawing/2014/main" id="{6964A74D-4AEB-4E8C-A937-CD67CF5C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2" name="value-372-10">
            <a:extLst xmlns:a="http://schemas.openxmlformats.org/drawingml/2006/main">
              <a:ext uri="{FF2B5EF4-FFF2-40B4-BE49-F238E27FC236}">
                <a16:creationId xmlns:a16="http://schemas.microsoft.com/office/drawing/2014/main" id="{907D56DD-356E-41CF-98CD-00619119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3" name="value-372-11">
            <a:extLst xmlns:a="http://schemas.openxmlformats.org/drawingml/2006/main">
              <a:ext uri="{FF2B5EF4-FFF2-40B4-BE49-F238E27FC236}">
                <a16:creationId xmlns:a16="http://schemas.microsoft.com/office/drawing/2014/main" id="{4DC4B661-5157-42B3-89C0-4696BC4C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4" name="value-372-12">
            <a:extLst xmlns:a="http://schemas.openxmlformats.org/drawingml/2006/main">
              <a:ext uri="{FF2B5EF4-FFF2-40B4-BE49-F238E27FC236}">
                <a16:creationId xmlns:a16="http://schemas.microsoft.com/office/drawing/2014/main" id="{8BFA9593-55EF-46F7-A452-C0AB6499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5" name="value-372-13">
            <a:extLst xmlns:a="http://schemas.openxmlformats.org/drawingml/2006/main">
              <a:ext uri="{FF2B5EF4-FFF2-40B4-BE49-F238E27FC236}">
                <a16:creationId xmlns:a16="http://schemas.microsoft.com/office/drawing/2014/main" id="{D2B76AC7-188A-47A3-B4D1-04A8AA39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6" name="value-372-14">
            <a:extLst xmlns:a="http://schemas.openxmlformats.org/drawingml/2006/main">
              <a:ext uri="{FF2B5EF4-FFF2-40B4-BE49-F238E27FC236}">
                <a16:creationId xmlns:a16="http://schemas.microsoft.com/office/drawing/2014/main" id="{86566CEA-8CA0-47DA-A8B1-6EA82E4E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7" name="value-372-15">
            <a:extLst xmlns:a="http://schemas.openxmlformats.org/drawingml/2006/main">
              <a:ext uri="{FF2B5EF4-FFF2-40B4-BE49-F238E27FC236}">
                <a16:creationId xmlns:a16="http://schemas.microsoft.com/office/drawing/2014/main" id="{44A9F31E-AB1A-45F7-A420-F32240CF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8" name="check-task">
            <a:extLst xmlns:a="http://schemas.openxmlformats.org/drawingml/2006/main">
              <a:ext uri="{FF2B5EF4-FFF2-40B4-BE49-F238E27FC236}">
                <a16:creationId xmlns:a16="http://schemas.microsoft.com/office/drawing/2014/main" id="{E942F666-B957-4EB4-AD46-AB747FC2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提出检验方法，再检查这份还原结果。</a:t>
            </a:r>
          </a:p>
        </p:txBody>
      </p:sp>
      <p:sp>
        <p:nvSpPr>
          <p:cNvPr id="39" name="first-difference">
            <a:extLst xmlns:a="http://schemas.openxmlformats.org/drawingml/2006/main">
              <a:ext uri="{FF2B5EF4-FFF2-40B4-BE49-F238E27FC236}">
                <a16:creationId xmlns:a16="http://schemas.microsoft.com/office/drawing/2014/main" id="{63A829FF-542B-46D9-9B78-5BCC74B8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24250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</p:spTree>
    <p:extLst>
      <p:ext uri="{BB962C8B-B14F-4D97-AF65-F5344CB8AC3E}">
        <p14:creationId xmlns:p14="http://schemas.microsoft.com/office/powerpoint/2010/main" val="5554282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top-rail">
            <a:extLst xmlns:a="http://schemas.openxmlformats.org/drawingml/2006/main">
              <a:ext uri="{FF2B5EF4-FFF2-40B4-BE49-F238E27FC236}">
                <a16:creationId xmlns:a16="http://schemas.microsoft.com/office/drawing/2014/main" id="{262D6C61-6101-41FB-9C8F-32A91C30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3A8BC97-FEDA-4A7D-B624-F6406B09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6DF2C8E-1B4A-4726-936A-5528D6AE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少写以后，怎样证明一个也没丢？</a:t>
            </a:r>
          </a:p>
        </p:txBody>
      </p:sp>
      <p:sp>
        <p:nvSpPr>
          <p:cNvPr id="4" name="row-label-234">
            <a:extLst xmlns:a="http://schemas.openxmlformats.org/drawingml/2006/main">
              <a:ext uri="{FF2B5EF4-FFF2-40B4-BE49-F238E27FC236}">
                <a16:creationId xmlns:a16="http://schemas.microsoft.com/office/drawing/2014/main" id="{C2F5B06D-1F2B-44C2-8E79-62AC1828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原串</a:t>
            </a:r>
          </a:p>
        </p:txBody>
      </p:sp>
      <p:sp>
        <p:nvSpPr>
          <p:cNvPr id="5" name="value-234-0">
            <a:extLst xmlns:a="http://schemas.openxmlformats.org/drawingml/2006/main">
              <a:ext uri="{FF2B5EF4-FFF2-40B4-BE49-F238E27FC236}">
                <a16:creationId xmlns:a16="http://schemas.microsoft.com/office/drawing/2014/main" id="{7F19A3F2-DBFB-416B-9B45-0BF26D7B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6" name="value-234-1">
            <a:extLst xmlns:a="http://schemas.openxmlformats.org/drawingml/2006/main">
              <a:ext uri="{FF2B5EF4-FFF2-40B4-BE49-F238E27FC236}">
                <a16:creationId xmlns:a16="http://schemas.microsoft.com/office/drawing/2014/main" id="{DD2F2DCA-F320-409D-A2CB-6298B75F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7" name="value-234-2">
            <a:extLst xmlns:a="http://schemas.openxmlformats.org/drawingml/2006/main">
              <a:ext uri="{FF2B5EF4-FFF2-40B4-BE49-F238E27FC236}">
                <a16:creationId xmlns:a16="http://schemas.microsoft.com/office/drawing/2014/main" id="{C6751F8C-CC40-494F-9F95-9E2CE876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8" name="value-234-3">
            <a:extLst xmlns:a="http://schemas.openxmlformats.org/drawingml/2006/main">
              <a:ext uri="{FF2B5EF4-FFF2-40B4-BE49-F238E27FC236}">
                <a16:creationId xmlns:a16="http://schemas.microsoft.com/office/drawing/2014/main" id="{1927FAEC-978C-4A32-9A11-2834AA25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9" name="value-234-4">
            <a:extLst xmlns:a="http://schemas.openxmlformats.org/drawingml/2006/main">
              <a:ext uri="{FF2B5EF4-FFF2-40B4-BE49-F238E27FC236}">
                <a16:creationId xmlns:a16="http://schemas.microsoft.com/office/drawing/2014/main" id="{6B107FF6-6A16-4A3B-9977-7D8E5B1F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0" name="value-234-5">
            <a:extLst xmlns:a="http://schemas.openxmlformats.org/drawingml/2006/main">
              <a:ext uri="{FF2B5EF4-FFF2-40B4-BE49-F238E27FC236}">
                <a16:creationId xmlns:a16="http://schemas.microsoft.com/office/drawing/2014/main" id="{8066C535-0820-43E3-AD23-AA7FAA44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1" name="value-234-6">
            <a:extLst xmlns:a="http://schemas.openxmlformats.org/drawingml/2006/main">
              <a:ext uri="{FF2B5EF4-FFF2-40B4-BE49-F238E27FC236}">
                <a16:creationId xmlns:a16="http://schemas.microsoft.com/office/drawing/2014/main" id="{ADA4BE94-504B-4426-9FB1-FCEE0B2C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2" name="value-234-7">
            <a:extLst xmlns:a="http://schemas.openxmlformats.org/drawingml/2006/main">
              <a:ext uri="{FF2B5EF4-FFF2-40B4-BE49-F238E27FC236}">
                <a16:creationId xmlns:a16="http://schemas.microsoft.com/office/drawing/2014/main" id="{697745B0-67CB-4FE9-82F5-60DB7618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3" name="value-234-8">
            <a:extLst xmlns:a="http://schemas.openxmlformats.org/drawingml/2006/main">
              <a:ext uri="{FF2B5EF4-FFF2-40B4-BE49-F238E27FC236}">
                <a16:creationId xmlns:a16="http://schemas.microsoft.com/office/drawing/2014/main" id="{FF9ED6CB-34CC-481F-B832-54D2176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4" name="value-234-9">
            <a:extLst xmlns:a="http://schemas.openxmlformats.org/drawingml/2006/main">
              <a:ext uri="{FF2B5EF4-FFF2-40B4-BE49-F238E27FC236}">
                <a16:creationId xmlns:a16="http://schemas.microsoft.com/office/drawing/2014/main" id="{FAD01BA1-3D34-4D42-844A-893BAB36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5" name="value-234-10">
            <a:extLst xmlns:a="http://schemas.openxmlformats.org/drawingml/2006/main">
              <a:ext uri="{FF2B5EF4-FFF2-40B4-BE49-F238E27FC236}">
                <a16:creationId xmlns:a16="http://schemas.microsoft.com/office/drawing/2014/main" id="{90BE58F6-C7B8-4481-9743-0E7E3E08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6" name="value-234-11">
            <a:extLst xmlns:a="http://schemas.openxmlformats.org/drawingml/2006/main">
              <a:ext uri="{FF2B5EF4-FFF2-40B4-BE49-F238E27FC236}">
                <a16:creationId xmlns:a16="http://schemas.microsoft.com/office/drawing/2014/main" id="{57381B46-9A09-45C3-AE6D-11704EAF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7" name="value-234-12">
            <a:extLst xmlns:a="http://schemas.openxmlformats.org/drawingml/2006/main">
              <a:ext uri="{FF2B5EF4-FFF2-40B4-BE49-F238E27FC236}">
                <a16:creationId xmlns:a16="http://schemas.microsoft.com/office/drawing/2014/main" id="{8F5F3371-E309-4832-BD16-416813FE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8" name="value-234-13">
            <a:extLst xmlns:a="http://schemas.openxmlformats.org/drawingml/2006/main">
              <a:ext uri="{FF2B5EF4-FFF2-40B4-BE49-F238E27FC236}">
                <a16:creationId xmlns:a16="http://schemas.microsoft.com/office/drawing/2014/main" id="{AC1BF533-BD26-4B4A-BC96-88BA65DC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9" name="value-234-14">
            <a:extLst xmlns:a="http://schemas.openxmlformats.org/drawingml/2006/main">
              <a:ext uri="{FF2B5EF4-FFF2-40B4-BE49-F238E27FC236}">
                <a16:creationId xmlns:a16="http://schemas.microsoft.com/office/drawing/2014/main" id="{8C1B0A2C-81E2-4564-A28A-60288A30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0" name="value-234-15">
            <a:extLst xmlns:a="http://schemas.openxmlformats.org/drawingml/2006/main">
              <a:ext uri="{FF2B5EF4-FFF2-40B4-BE49-F238E27FC236}">
                <a16:creationId xmlns:a16="http://schemas.microsoft.com/office/drawing/2014/main" id="{CC65FC83-8834-42B0-A7F6-9CC1B897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1" name="row-label-372">
            <a:extLst xmlns:a="http://schemas.openxmlformats.org/drawingml/2006/main">
              <a:ext uri="{FF2B5EF4-FFF2-40B4-BE49-F238E27FC236}">
                <a16:creationId xmlns:a16="http://schemas.microsoft.com/office/drawing/2014/main" id="{D438EA24-D593-41F0-ABB0-34BFE87D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待查</a:t>
            </a:r>
          </a:p>
        </p:txBody>
      </p:sp>
      <p:sp>
        <p:nvSpPr>
          <p:cNvPr id="22" name="value-372-0">
            <a:extLst xmlns:a="http://schemas.openxmlformats.org/drawingml/2006/main">
              <a:ext uri="{FF2B5EF4-FFF2-40B4-BE49-F238E27FC236}">
                <a16:creationId xmlns:a16="http://schemas.microsoft.com/office/drawing/2014/main" id="{C3BEA5A5-F4F1-4B31-AEC6-D69C6437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3" name="value-372-1">
            <a:extLst xmlns:a="http://schemas.openxmlformats.org/drawingml/2006/main">
              <a:ext uri="{FF2B5EF4-FFF2-40B4-BE49-F238E27FC236}">
                <a16:creationId xmlns:a16="http://schemas.microsoft.com/office/drawing/2014/main" id="{FB0D0DA2-ECED-42CD-B8CB-04F867BA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4" name="value-372-2">
            <a:extLst xmlns:a="http://schemas.openxmlformats.org/drawingml/2006/main">
              <a:ext uri="{FF2B5EF4-FFF2-40B4-BE49-F238E27FC236}">
                <a16:creationId xmlns:a16="http://schemas.microsoft.com/office/drawing/2014/main" id="{0EBE9500-2D3A-4AD5-8457-693270E0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5" name="value-372-3">
            <a:extLst xmlns:a="http://schemas.openxmlformats.org/drawingml/2006/main">
              <a:ext uri="{FF2B5EF4-FFF2-40B4-BE49-F238E27FC236}">
                <a16:creationId xmlns:a16="http://schemas.microsoft.com/office/drawing/2014/main" id="{8204D3BA-33F9-4FFA-BAC0-FA000552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6" name="value-372-4">
            <a:extLst xmlns:a="http://schemas.openxmlformats.org/drawingml/2006/main">
              <a:ext uri="{FF2B5EF4-FFF2-40B4-BE49-F238E27FC236}">
                <a16:creationId xmlns:a16="http://schemas.microsoft.com/office/drawing/2014/main" id="{BBB9C1EF-9BB8-4C21-9C78-648F23FA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7" name="value-372-5">
            <a:extLst xmlns:a="http://schemas.openxmlformats.org/drawingml/2006/main">
              <a:ext uri="{FF2B5EF4-FFF2-40B4-BE49-F238E27FC236}">
                <a16:creationId xmlns:a16="http://schemas.microsoft.com/office/drawing/2014/main" id="{D06535B3-0775-425A-98A8-80656F5E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8" name="value-372-6">
            <a:extLst xmlns:a="http://schemas.openxmlformats.org/drawingml/2006/main">
              <a:ext uri="{FF2B5EF4-FFF2-40B4-BE49-F238E27FC236}">
                <a16:creationId xmlns:a16="http://schemas.microsoft.com/office/drawing/2014/main" id="{25C9E51F-34AA-4C49-9D2F-1C6A25C3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9" name="value-372-7">
            <a:extLst xmlns:a="http://schemas.openxmlformats.org/drawingml/2006/main">
              <a:ext uri="{FF2B5EF4-FFF2-40B4-BE49-F238E27FC236}">
                <a16:creationId xmlns:a16="http://schemas.microsoft.com/office/drawing/2014/main" id="{59F6D2F4-89A1-422F-AE25-64AEC041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0" name="value-372-8">
            <a:extLst xmlns:a="http://schemas.openxmlformats.org/drawingml/2006/main">
              <a:ext uri="{FF2B5EF4-FFF2-40B4-BE49-F238E27FC236}">
                <a16:creationId xmlns:a16="http://schemas.microsoft.com/office/drawing/2014/main" id="{5D33D459-3152-4483-8B4E-59D0E719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1" name="value-372-9">
            <a:extLst xmlns:a="http://schemas.openxmlformats.org/drawingml/2006/main">
              <a:ext uri="{FF2B5EF4-FFF2-40B4-BE49-F238E27FC236}">
                <a16:creationId xmlns:a16="http://schemas.microsoft.com/office/drawing/2014/main" id="{6964A74D-4AEB-4E8C-A937-CD67CF5C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2" name="value-372-10">
            <a:extLst xmlns:a="http://schemas.openxmlformats.org/drawingml/2006/main">
              <a:ext uri="{FF2B5EF4-FFF2-40B4-BE49-F238E27FC236}">
                <a16:creationId xmlns:a16="http://schemas.microsoft.com/office/drawing/2014/main" id="{907D56DD-356E-41CF-98CD-00619119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3" name="value-372-11">
            <a:extLst xmlns:a="http://schemas.openxmlformats.org/drawingml/2006/main">
              <a:ext uri="{FF2B5EF4-FFF2-40B4-BE49-F238E27FC236}">
                <a16:creationId xmlns:a16="http://schemas.microsoft.com/office/drawing/2014/main" id="{4DC4B661-5157-42B3-89C0-4696BC4C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4" name="value-372-12">
            <a:extLst xmlns:a="http://schemas.openxmlformats.org/drawingml/2006/main">
              <a:ext uri="{FF2B5EF4-FFF2-40B4-BE49-F238E27FC236}">
                <a16:creationId xmlns:a16="http://schemas.microsoft.com/office/drawing/2014/main" id="{8BFA9593-55EF-46F7-A452-C0AB6499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5" name="value-372-13">
            <a:extLst xmlns:a="http://schemas.openxmlformats.org/drawingml/2006/main">
              <a:ext uri="{FF2B5EF4-FFF2-40B4-BE49-F238E27FC236}">
                <a16:creationId xmlns:a16="http://schemas.microsoft.com/office/drawing/2014/main" id="{D2B76AC7-188A-47A3-B4D1-04A8AA39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6" name="value-372-14">
            <a:extLst xmlns:a="http://schemas.openxmlformats.org/drawingml/2006/main">
              <a:ext uri="{FF2B5EF4-FFF2-40B4-BE49-F238E27FC236}">
                <a16:creationId xmlns:a16="http://schemas.microsoft.com/office/drawing/2014/main" id="{86566CEA-8CA0-47DA-A8B1-6EA82E4E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7" name="value-372-15">
            <a:extLst xmlns:a="http://schemas.openxmlformats.org/drawingml/2006/main">
              <a:ext uri="{FF2B5EF4-FFF2-40B4-BE49-F238E27FC236}">
                <a16:creationId xmlns:a16="http://schemas.microsoft.com/office/drawing/2014/main" id="{44A9F31E-AB1A-45F7-A420-F32240CF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8" name="check-task">
            <a:extLst xmlns:a="http://schemas.openxmlformats.org/drawingml/2006/main">
              <a:ext uri="{FF2B5EF4-FFF2-40B4-BE49-F238E27FC236}">
                <a16:creationId xmlns:a16="http://schemas.microsoft.com/office/drawing/2014/main" id="{E942F666-B957-4EB4-AD46-AB747FC2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提出检验方法，再检查这份还原结果。</a:t>
            </a:r>
          </a:p>
        </p:txBody>
      </p:sp>
      <p:sp>
        <p:nvSpPr>
          <p:cNvPr id="39" name="first-difference">
            <a:extLst xmlns:a="http://schemas.openxmlformats.org/drawingml/2006/main">
              <a:ext uri="{FF2B5EF4-FFF2-40B4-BE49-F238E27FC236}">
                <a16:creationId xmlns:a16="http://schemas.microsoft.com/office/drawing/2014/main" id="{63A829FF-542B-46D9-9B78-5BCC74B8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24250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40" name="byte-comparison">
            <a:extLst xmlns:a="http://schemas.openxmlformats.org/drawingml/2006/main">
              <a:ext uri="{FF2B5EF4-FFF2-40B4-BE49-F238E27FC236}">
                <a16:creationId xmlns:a16="http://schemas.microsoft.com/office/drawing/2014/main" id="{EBDF8D34-D254-4418-B3A7-6AF97C0D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解压结果 == 原始输入  →  True</a:t>
            </a:r>
          </a:p>
        </p:txBody>
      </p:sp>
      <p:sp>
        <p:nvSpPr>
          <p:cNvPr id="41" name="recovery-caption-overlay">
            <a:extLst xmlns:a="http://schemas.openxmlformats.org/drawingml/2006/main">
              <a:ext uri="{FF2B5EF4-FFF2-40B4-BE49-F238E27FC236}">
                <a16:creationId xmlns:a16="http://schemas.microsoft.com/office/drawing/2014/main" id="{AE92D2EF-ED6F-4804-8568-6B06CA28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762500"/>
            <a:ext cx="109728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" name="recovery-conclusion">
            <a:extLst xmlns:a="http://schemas.openxmlformats.org/drawingml/2006/main">
              <a:ext uri="{FF2B5EF4-FFF2-40B4-BE49-F238E27FC236}">
                <a16:creationId xmlns:a16="http://schemas.microsoft.com/office/drawing/2014/main" id="{22C0933B-AAFA-4FA6-B30E-7475CD92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5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16项逐值一致。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开场：4096 bytes还原一致（True）。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无损：解压后可完全恢复原始数据。</a:t>
            </a:r>
          </a:p>
        </p:txBody>
      </p:sp>
    </p:spTree>
    <p:extLst>
      <p:ext uri="{BB962C8B-B14F-4D97-AF65-F5344CB8AC3E}">
        <p14:creationId xmlns:p14="http://schemas.microsoft.com/office/powerpoint/2010/main" val="5554282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rail">
            <a:extLst xmlns:a="http://schemas.openxmlformats.org/drawingml/2006/main">
              <a:ext uri="{FF2B5EF4-FFF2-40B4-BE49-F238E27FC236}">
                <a16:creationId xmlns:a16="http://schemas.microsoft.com/office/drawing/2014/main" id="{5178E85D-A756-4D3A-96C6-9631E4F6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FC4BC3C-C4BA-4115-BD84-7FE136B0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2A96253-50F8-4DE9-BC5F-E9A60F34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同一规则，为什么有时反而变大？</a:t>
            </a:r>
          </a:p>
        </p:txBody>
      </p:sp>
      <p:sp>
        <p:nvSpPr>
          <p:cNvPr id="4" name="row-label-225">
            <a:extLst xmlns:a="http://schemas.openxmlformats.org/drawingml/2006/main">
              <a:ext uri="{FF2B5EF4-FFF2-40B4-BE49-F238E27FC236}">
                <a16:creationId xmlns:a16="http://schemas.microsoft.com/office/drawing/2014/main" id="{7F21FE9C-6406-4CC9-B997-C2BC8791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A</a:t>
            </a:r>
          </a:p>
        </p:txBody>
      </p:sp>
      <p:sp>
        <p:nvSpPr>
          <p:cNvPr id="5" name="value-225-0">
            <a:extLst xmlns:a="http://schemas.openxmlformats.org/drawingml/2006/main">
              <a:ext uri="{FF2B5EF4-FFF2-40B4-BE49-F238E27FC236}">
                <a16:creationId xmlns:a16="http://schemas.microsoft.com/office/drawing/2014/main" id="{5F875B3A-45E0-45FD-8BE5-02207F59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6" name="value-225-1">
            <a:extLst xmlns:a="http://schemas.openxmlformats.org/drawingml/2006/main">
              <a:ext uri="{FF2B5EF4-FFF2-40B4-BE49-F238E27FC236}">
                <a16:creationId xmlns:a16="http://schemas.microsoft.com/office/drawing/2014/main" id="{D874B9DA-512E-40F2-B6F3-B1723923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7" name="value-225-2">
            <a:extLst xmlns:a="http://schemas.openxmlformats.org/drawingml/2006/main">
              <a:ext uri="{FF2B5EF4-FFF2-40B4-BE49-F238E27FC236}">
                <a16:creationId xmlns:a16="http://schemas.microsoft.com/office/drawing/2014/main" id="{5D11D331-A6F3-45D7-B605-621C8172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8" name="value-225-3">
            <a:extLst xmlns:a="http://schemas.openxmlformats.org/drawingml/2006/main">
              <a:ext uri="{FF2B5EF4-FFF2-40B4-BE49-F238E27FC236}">
                <a16:creationId xmlns:a16="http://schemas.microsoft.com/office/drawing/2014/main" id="{AC45CF85-062E-4995-A270-6828C359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9" name="value-225-4">
            <a:extLst xmlns:a="http://schemas.openxmlformats.org/drawingml/2006/main">
              <a:ext uri="{FF2B5EF4-FFF2-40B4-BE49-F238E27FC236}">
                <a16:creationId xmlns:a16="http://schemas.microsoft.com/office/drawing/2014/main" id="{95678A8F-E801-4597-8B13-EFD20DAC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0" name="value-225-5">
            <a:extLst xmlns:a="http://schemas.openxmlformats.org/drawingml/2006/main">
              <a:ext uri="{FF2B5EF4-FFF2-40B4-BE49-F238E27FC236}">
                <a16:creationId xmlns:a16="http://schemas.microsoft.com/office/drawing/2014/main" id="{F81E28E0-CC65-44BF-ABA0-EAD0328F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1" name="value-225-6">
            <a:extLst xmlns:a="http://schemas.openxmlformats.org/drawingml/2006/main">
              <a:ext uri="{FF2B5EF4-FFF2-40B4-BE49-F238E27FC236}">
                <a16:creationId xmlns:a16="http://schemas.microsoft.com/office/drawing/2014/main" id="{986C8681-AC49-46D3-95CD-0671DAFD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2" name="value-225-7">
            <a:extLst xmlns:a="http://schemas.openxmlformats.org/drawingml/2006/main">
              <a:ext uri="{FF2B5EF4-FFF2-40B4-BE49-F238E27FC236}">
                <a16:creationId xmlns:a16="http://schemas.microsoft.com/office/drawing/2014/main" id="{0F056CAB-9593-452C-8F03-1732F492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3" name="value-225-8">
            <a:extLst xmlns:a="http://schemas.openxmlformats.org/drawingml/2006/main">
              <a:ext uri="{FF2B5EF4-FFF2-40B4-BE49-F238E27FC236}">
                <a16:creationId xmlns:a16="http://schemas.microsoft.com/office/drawing/2014/main" id="{D2BD9AC0-FDBF-4B1E-A21B-BE3D1E4A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4" name="value-225-9">
            <a:extLst xmlns:a="http://schemas.openxmlformats.org/drawingml/2006/main">
              <a:ext uri="{FF2B5EF4-FFF2-40B4-BE49-F238E27FC236}">
                <a16:creationId xmlns:a16="http://schemas.microsoft.com/office/drawing/2014/main" id="{F17F538C-F8BF-42E8-8994-6846DAC5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5" name="value-225-10">
            <a:extLst xmlns:a="http://schemas.openxmlformats.org/drawingml/2006/main">
              <a:ext uri="{FF2B5EF4-FFF2-40B4-BE49-F238E27FC236}">
                <a16:creationId xmlns:a16="http://schemas.microsoft.com/office/drawing/2014/main" id="{00CEC3EA-DACF-4E30-8AB9-12004902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6" name="value-225-11">
            <a:extLst xmlns:a="http://schemas.openxmlformats.org/drawingml/2006/main">
              <a:ext uri="{FF2B5EF4-FFF2-40B4-BE49-F238E27FC236}">
                <a16:creationId xmlns:a16="http://schemas.microsoft.com/office/drawing/2014/main" id="{F4717662-42DA-48F3-BC28-C21DAD4B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7" name="value-225-12">
            <a:extLst xmlns:a="http://schemas.openxmlformats.org/drawingml/2006/main">
              <a:ext uri="{FF2B5EF4-FFF2-40B4-BE49-F238E27FC236}">
                <a16:creationId xmlns:a16="http://schemas.microsoft.com/office/drawing/2014/main" id="{64BA4FD1-E76E-4F20-A8C7-34726594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8" name="value-225-13">
            <a:extLst xmlns:a="http://schemas.openxmlformats.org/drawingml/2006/main">
              <a:ext uri="{FF2B5EF4-FFF2-40B4-BE49-F238E27FC236}">
                <a16:creationId xmlns:a16="http://schemas.microsoft.com/office/drawing/2014/main" id="{FE1A0111-FC3B-453C-985E-9F540650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9" name="value-225-14">
            <a:extLst xmlns:a="http://schemas.openxmlformats.org/drawingml/2006/main">
              <a:ext uri="{FF2B5EF4-FFF2-40B4-BE49-F238E27FC236}">
                <a16:creationId xmlns:a16="http://schemas.microsoft.com/office/drawing/2014/main" id="{228626C0-762C-4F38-B8A7-C8D95F0C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0" name="value-225-15">
            <a:extLst xmlns:a="http://schemas.openxmlformats.org/drawingml/2006/main">
              <a:ext uri="{FF2B5EF4-FFF2-40B4-BE49-F238E27FC236}">
                <a16:creationId xmlns:a16="http://schemas.microsoft.com/office/drawing/2014/main" id="{35FF0F8B-99E4-40C6-8D4C-222E0922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1" name="row-label-342">
            <a:extLst xmlns:a="http://schemas.openxmlformats.org/drawingml/2006/main">
              <a:ext uri="{FF2B5EF4-FFF2-40B4-BE49-F238E27FC236}">
                <a16:creationId xmlns:a16="http://schemas.microsoft.com/office/drawing/2014/main" id="{60E74AC1-9D3C-4F06-B731-C7775839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B</a:t>
            </a:r>
          </a:p>
        </p:txBody>
      </p:sp>
      <p:sp>
        <p:nvSpPr>
          <p:cNvPr id="22" name="value-342-0">
            <a:extLst xmlns:a="http://schemas.openxmlformats.org/drawingml/2006/main">
              <a:ext uri="{FF2B5EF4-FFF2-40B4-BE49-F238E27FC236}">
                <a16:creationId xmlns:a16="http://schemas.microsoft.com/office/drawing/2014/main" id="{A497BFF6-A049-4E3C-93AF-CE9952CC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3" name="value-342-1">
            <a:extLst xmlns:a="http://schemas.openxmlformats.org/drawingml/2006/main">
              <a:ext uri="{FF2B5EF4-FFF2-40B4-BE49-F238E27FC236}">
                <a16:creationId xmlns:a16="http://schemas.microsoft.com/office/drawing/2014/main" id="{D275E6CC-9321-481B-97B4-AA5AC3D0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24" name="value-342-2">
            <a:extLst xmlns:a="http://schemas.openxmlformats.org/drawingml/2006/main">
              <a:ext uri="{FF2B5EF4-FFF2-40B4-BE49-F238E27FC236}">
                <a16:creationId xmlns:a16="http://schemas.microsoft.com/office/drawing/2014/main" id="{E707C797-BF2E-43BE-8388-F26F41C6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5" name="value-342-3">
            <a:extLst xmlns:a="http://schemas.openxmlformats.org/drawingml/2006/main">
              <a:ext uri="{FF2B5EF4-FFF2-40B4-BE49-F238E27FC236}">
                <a16:creationId xmlns:a16="http://schemas.microsoft.com/office/drawing/2014/main" id="{57194A53-4D13-44D9-8904-F8D70EDD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26" name="value-342-4">
            <a:extLst xmlns:a="http://schemas.openxmlformats.org/drawingml/2006/main">
              <a:ext uri="{FF2B5EF4-FFF2-40B4-BE49-F238E27FC236}">
                <a16:creationId xmlns:a16="http://schemas.microsoft.com/office/drawing/2014/main" id="{66D661E8-9682-46F0-AABB-CF85A782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7" name="value-342-5">
            <a:extLst xmlns:a="http://schemas.openxmlformats.org/drawingml/2006/main">
              <a:ext uri="{FF2B5EF4-FFF2-40B4-BE49-F238E27FC236}">
                <a16:creationId xmlns:a16="http://schemas.microsoft.com/office/drawing/2014/main" id="{94EE5EE9-78D9-4350-BE6C-F790E971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28" name="value-342-6">
            <a:extLst xmlns:a="http://schemas.openxmlformats.org/drawingml/2006/main">
              <a:ext uri="{FF2B5EF4-FFF2-40B4-BE49-F238E27FC236}">
                <a16:creationId xmlns:a16="http://schemas.microsoft.com/office/drawing/2014/main" id="{C543E4A7-389E-4CB9-AB38-10AEB99F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9" name="value-342-7">
            <a:extLst xmlns:a="http://schemas.openxmlformats.org/drawingml/2006/main">
              <a:ext uri="{FF2B5EF4-FFF2-40B4-BE49-F238E27FC236}">
                <a16:creationId xmlns:a16="http://schemas.microsoft.com/office/drawing/2014/main" id="{A897DA00-4CB3-4574-8A7D-2B508700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0" name="value-342-8">
            <a:extLst xmlns:a="http://schemas.openxmlformats.org/drawingml/2006/main">
              <a:ext uri="{FF2B5EF4-FFF2-40B4-BE49-F238E27FC236}">
                <a16:creationId xmlns:a16="http://schemas.microsoft.com/office/drawing/2014/main" id="{34928FB2-2EDF-439D-AF96-B465AD1D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1" name="value-342-9">
            <a:extLst xmlns:a="http://schemas.openxmlformats.org/drawingml/2006/main">
              <a:ext uri="{FF2B5EF4-FFF2-40B4-BE49-F238E27FC236}">
                <a16:creationId xmlns:a16="http://schemas.microsoft.com/office/drawing/2014/main" id="{77382D0F-8EF0-4CC0-AE17-022B3B50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2" name="value-342-10">
            <a:extLst xmlns:a="http://schemas.openxmlformats.org/drawingml/2006/main">
              <a:ext uri="{FF2B5EF4-FFF2-40B4-BE49-F238E27FC236}">
                <a16:creationId xmlns:a16="http://schemas.microsoft.com/office/drawing/2014/main" id="{35CC5158-4066-43C0-9D27-AE38644D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3" name="value-342-11">
            <a:extLst xmlns:a="http://schemas.openxmlformats.org/drawingml/2006/main">
              <a:ext uri="{FF2B5EF4-FFF2-40B4-BE49-F238E27FC236}">
                <a16:creationId xmlns:a16="http://schemas.microsoft.com/office/drawing/2014/main" id="{6E1BF4CB-82AC-4247-A6AF-DFED26E6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4" name="value-342-12">
            <a:extLst xmlns:a="http://schemas.openxmlformats.org/drawingml/2006/main">
              <a:ext uri="{FF2B5EF4-FFF2-40B4-BE49-F238E27FC236}">
                <a16:creationId xmlns:a16="http://schemas.microsoft.com/office/drawing/2014/main" id="{BC8C3B26-12EC-4D00-A2BB-78B91A48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5" name="value-342-13">
            <a:extLst xmlns:a="http://schemas.openxmlformats.org/drawingml/2006/main">
              <a:ext uri="{FF2B5EF4-FFF2-40B4-BE49-F238E27FC236}">
                <a16:creationId xmlns:a16="http://schemas.microsoft.com/office/drawing/2014/main" id="{F16F22FC-4847-4331-A775-92B1E3A6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6" name="value-342-14">
            <a:extLst xmlns:a="http://schemas.openxmlformats.org/drawingml/2006/main">
              <a:ext uri="{FF2B5EF4-FFF2-40B4-BE49-F238E27FC236}">
                <a16:creationId xmlns:a16="http://schemas.microsoft.com/office/drawing/2014/main" id="{F8C69AA0-BE96-4EFA-9BDE-38E87D44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7" name="value-342-15">
            <a:extLst xmlns:a="http://schemas.openxmlformats.org/drawingml/2006/main">
              <a:ext uri="{FF2B5EF4-FFF2-40B4-BE49-F238E27FC236}">
                <a16:creationId xmlns:a16="http://schemas.microsoft.com/office/drawing/2014/main" id="{9771722E-4D41-447F-98FE-76DF8BCD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8" name="rle-rule">
            <a:extLst xmlns:a="http://schemas.openxmlformats.org/drawingml/2006/main">
              <a:ext uri="{FF2B5EF4-FFF2-40B4-BE49-F238E27FC236}">
                <a16:creationId xmlns:a16="http://schemas.microsoft.com/office/drawing/2014/main" id="{5614CFD8-79CA-4AEE-9B4F-10A9F055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每组：颜色编号1 B + 连续次数1 B</a:t>
            </a:r>
          </a:p>
        </p:txBody>
      </p:sp>
    </p:spTree>
    <p:extLst>
      <p:ext uri="{BB962C8B-B14F-4D97-AF65-F5344CB8AC3E}">
        <p14:creationId xmlns:p14="http://schemas.microsoft.com/office/powerpoint/2010/main" val="12168333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top-rail">
            <a:extLst xmlns:a="http://schemas.openxmlformats.org/drawingml/2006/main">
              <a:ext uri="{FF2B5EF4-FFF2-40B4-BE49-F238E27FC236}">
                <a16:creationId xmlns:a16="http://schemas.microsoft.com/office/drawing/2014/main" id="{5178E85D-A756-4D3A-96C6-9631E4F6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FC4BC3C-C4BA-4115-BD84-7FE136B0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2A96253-50F8-4DE9-BC5F-E9A60F34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同一规则，为什么有时反而变大？</a:t>
            </a:r>
          </a:p>
        </p:txBody>
      </p:sp>
      <p:sp>
        <p:nvSpPr>
          <p:cNvPr id="4" name="row-label-225">
            <a:extLst xmlns:a="http://schemas.openxmlformats.org/drawingml/2006/main">
              <a:ext uri="{FF2B5EF4-FFF2-40B4-BE49-F238E27FC236}">
                <a16:creationId xmlns:a16="http://schemas.microsoft.com/office/drawing/2014/main" id="{7F21FE9C-6406-4CC9-B997-C2BC8791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A</a:t>
            </a:r>
          </a:p>
        </p:txBody>
      </p:sp>
      <p:sp>
        <p:nvSpPr>
          <p:cNvPr id="5" name="value-225-0">
            <a:extLst xmlns:a="http://schemas.openxmlformats.org/drawingml/2006/main">
              <a:ext uri="{FF2B5EF4-FFF2-40B4-BE49-F238E27FC236}">
                <a16:creationId xmlns:a16="http://schemas.microsoft.com/office/drawing/2014/main" id="{5F875B3A-45E0-45FD-8BE5-02207F59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6" name="value-225-1">
            <a:extLst xmlns:a="http://schemas.openxmlformats.org/drawingml/2006/main">
              <a:ext uri="{FF2B5EF4-FFF2-40B4-BE49-F238E27FC236}">
                <a16:creationId xmlns:a16="http://schemas.microsoft.com/office/drawing/2014/main" id="{D874B9DA-512E-40F2-B6F3-B1723923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7" name="value-225-2">
            <a:extLst xmlns:a="http://schemas.openxmlformats.org/drawingml/2006/main">
              <a:ext uri="{FF2B5EF4-FFF2-40B4-BE49-F238E27FC236}">
                <a16:creationId xmlns:a16="http://schemas.microsoft.com/office/drawing/2014/main" id="{5D11D331-A6F3-45D7-B605-621C8172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8" name="value-225-3">
            <a:extLst xmlns:a="http://schemas.openxmlformats.org/drawingml/2006/main">
              <a:ext uri="{FF2B5EF4-FFF2-40B4-BE49-F238E27FC236}">
                <a16:creationId xmlns:a16="http://schemas.microsoft.com/office/drawing/2014/main" id="{AC45CF85-062E-4995-A270-6828C359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9" name="value-225-4">
            <a:extLst xmlns:a="http://schemas.openxmlformats.org/drawingml/2006/main">
              <a:ext uri="{FF2B5EF4-FFF2-40B4-BE49-F238E27FC236}">
                <a16:creationId xmlns:a16="http://schemas.microsoft.com/office/drawing/2014/main" id="{95678A8F-E801-4597-8B13-EFD20DAC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0" name="value-225-5">
            <a:extLst xmlns:a="http://schemas.openxmlformats.org/drawingml/2006/main">
              <a:ext uri="{FF2B5EF4-FFF2-40B4-BE49-F238E27FC236}">
                <a16:creationId xmlns:a16="http://schemas.microsoft.com/office/drawing/2014/main" id="{F81E28E0-CC65-44BF-ABA0-EAD0328F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1" name="value-225-6">
            <a:extLst xmlns:a="http://schemas.openxmlformats.org/drawingml/2006/main">
              <a:ext uri="{FF2B5EF4-FFF2-40B4-BE49-F238E27FC236}">
                <a16:creationId xmlns:a16="http://schemas.microsoft.com/office/drawing/2014/main" id="{986C8681-AC49-46D3-95CD-0671DAFD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2" name="value-225-7">
            <a:extLst xmlns:a="http://schemas.openxmlformats.org/drawingml/2006/main">
              <a:ext uri="{FF2B5EF4-FFF2-40B4-BE49-F238E27FC236}">
                <a16:creationId xmlns:a16="http://schemas.microsoft.com/office/drawing/2014/main" id="{0F056CAB-9593-452C-8F03-1732F492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3" name="value-225-8">
            <a:extLst xmlns:a="http://schemas.openxmlformats.org/drawingml/2006/main">
              <a:ext uri="{FF2B5EF4-FFF2-40B4-BE49-F238E27FC236}">
                <a16:creationId xmlns:a16="http://schemas.microsoft.com/office/drawing/2014/main" id="{D2BD9AC0-FDBF-4B1E-A21B-BE3D1E4A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4" name="value-225-9">
            <a:extLst xmlns:a="http://schemas.openxmlformats.org/drawingml/2006/main">
              <a:ext uri="{FF2B5EF4-FFF2-40B4-BE49-F238E27FC236}">
                <a16:creationId xmlns:a16="http://schemas.microsoft.com/office/drawing/2014/main" id="{F17F538C-F8BF-42E8-8994-6846DAC5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5" name="value-225-10">
            <a:extLst xmlns:a="http://schemas.openxmlformats.org/drawingml/2006/main">
              <a:ext uri="{FF2B5EF4-FFF2-40B4-BE49-F238E27FC236}">
                <a16:creationId xmlns:a16="http://schemas.microsoft.com/office/drawing/2014/main" id="{00CEC3EA-DACF-4E30-8AB9-12004902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6" name="value-225-11">
            <a:extLst xmlns:a="http://schemas.openxmlformats.org/drawingml/2006/main">
              <a:ext uri="{FF2B5EF4-FFF2-40B4-BE49-F238E27FC236}">
                <a16:creationId xmlns:a16="http://schemas.microsoft.com/office/drawing/2014/main" id="{F4717662-42DA-48F3-BC28-C21DAD4B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7" name="value-225-12">
            <a:extLst xmlns:a="http://schemas.openxmlformats.org/drawingml/2006/main">
              <a:ext uri="{FF2B5EF4-FFF2-40B4-BE49-F238E27FC236}">
                <a16:creationId xmlns:a16="http://schemas.microsoft.com/office/drawing/2014/main" id="{64BA4FD1-E76E-4F20-A8C7-34726594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8" name="value-225-13">
            <a:extLst xmlns:a="http://schemas.openxmlformats.org/drawingml/2006/main">
              <a:ext uri="{FF2B5EF4-FFF2-40B4-BE49-F238E27FC236}">
                <a16:creationId xmlns:a16="http://schemas.microsoft.com/office/drawing/2014/main" id="{FE1A0111-FC3B-453C-985E-9F540650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9" name="value-225-14">
            <a:extLst xmlns:a="http://schemas.openxmlformats.org/drawingml/2006/main">
              <a:ext uri="{FF2B5EF4-FFF2-40B4-BE49-F238E27FC236}">
                <a16:creationId xmlns:a16="http://schemas.microsoft.com/office/drawing/2014/main" id="{228626C0-762C-4F38-B8A7-C8D95F0C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0" name="value-225-15">
            <a:extLst xmlns:a="http://schemas.openxmlformats.org/drawingml/2006/main">
              <a:ext uri="{FF2B5EF4-FFF2-40B4-BE49-F238E27FC236}">
                <a16:creationId xmlns:a16="http://schemas.microsoft.com/office/drawing/2014/main" id="{35FF0F8B-99E4-40C6-8D4C-222E0922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1" name="row-label-342">
            <a:extLst xmlns:a="http://schemas.openxmlformats.org/drawingml/2006/main">
              <a:ext uri="{FF2B5EF4-FFF2-40B4-BE49-F238E27FC236}">
                <a16:creationId xmlns:a16="http://schemas.microsoft.com/office/drawing/2014/main" id="{60E74AC1-9D3C-4F06-B731-C7775839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B</a:t>
            </a:r>
          </a:p>
        </p:txBody>
      </p:sp>
      <p:sp>
        <p:nvSpPr>
          <p:cNvPr id="22" name="value-342-0">
            <a:extLst xmlns:a="http://schemas.openxmlformats.org/drawingml/2006/main">
              <a:ext uri="{FF2B5EF4-FFF2-40B4-BE49-F238E27FC236}">
                <a16:creationId xmlns:a16="http://schemas.microsoft.com/office/drawing/2014/main" id="{A497BFF6-A049-4E3C-93AF-CE9952CC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3" name="value-342-1">
            <a:extLst xmlns:a="http://schemas.openxmlformats.org/drawingml/2006/main">
              <a:ext uri="{FF2B5EF4-FFF2-40B4-BE49-F238E27FC236}">
                <a16:creationId xmlns:a16="http://schemas.microsoft.com/office/drawing/2014/main" id="{D275E6CC-9321-481B-97B4-AA5AC3D0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24" name="value-342-2">
            <a:extLst xmlns:a="http://schemas.openxmlformats.org/drawingml/2006/main">
              <a:ext uri="{FF2B5EF4-FFF2-40B4-BE49-F238E27FC236}">
                <a16:creationId xmlns:a16="http://schemas.microsoft.com/office/drawing/2014/main" id="{E707C797-BF2E-43BE-8388-F26F41C6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5" name="value-342-3">
            <a:extLst xmlns:a="http://schemas.openxmlformats.org/drawingml/2006/main">
              <a:ext uri="{FF2B5EF4-FFF2-40B4-BE49-F238E27FC236}">
                <a16:creationId xmlns:a16="http://schemas.microsoft.com/office/drawing/2014/main" id="{57194A53-4D13-44D9-8904-F8D70EDD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26" name="value-342-4">
            <a:extLst xmlns:a="http://schemas.openxmlformats.org/drawingml/2006/main">
              <a:ext uri="{FF2B5EF4-FFF2-40B4-BE49-F238E27FC236}">
                <a16:creationId xmlns:a16="http://schemas.microsoft.com/office/drawing/2014/main" id="{66D661E8-9682-46F0-AABB-CF85A782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7" name="value-342-5">
            <a:extLst xmlns:a="http://schemas.openxmlformats.org/drawingml/2006/main">
              <a:ext uri="{FF2B5EF4-FFF2-40B4-BE49-F238E27FC236}">
                <a16:creationId xmlns:a16="http://schemas.microsoft.com/office/drawing/2014/main" id="{94EE5EE9-78D9-4350-BE6C-F790E971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28" name="value-342-6">
            <a:extLst xmlns:a="http://schemas.openxmlformats.org/drawingml/2006/main">
              <a:ext uri="{FF2B5EF4-FFF2-40B4-BE49-F238E27FC236}">
                <a16:creationId xmlns:a16="http://schemas.microsoft.com/office/drawing/2014/main" id="{C543E4A7-389E-4CB9-AB38-10AEB99F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9" name="value-342-7">
            <a:extLst xmlns:a="http://schemas.openxmlformats.org/drawingml/2006/main">
              <a:ext uri="{FF2B5EF4-FFF2-40B4-BE49-F238E27FC236}">
                <a16:creationId xmlns:a16="http://schemas.microsoft.com/office/drawing/2014/main" id="{A897DA00-4CB3-4574-8A7D-2B508700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0" name="value-342-8">
            <a:extLst xmlns:a="http://schemas.openxmlformats.org/drawingml/2006/main">
              <a:ext uri="{FF2B5EF4-FFF2-40B4-BE49-F238E27FC236}">
                <a16:creationId xmlns:a16="http://schemas.microsoft.com/office/drawing/2014/main" id="{34928FB2-2EDF-439D-AF96-B465AD1D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1" name="value-342-9">
            <a:extLst xmlns:a="http://schemas.openxmlformats.org/drawingml/2006/main">
              <a:ext uri="{FF2B5EF4-FFF2-40B4-BE49-F238E27FC236}">
                <a16:creationId xmlns:a16="http://schemas.microsoft.com/office/drawing/2014/main" id="{77382D0F-8EF0-4CC0-AE17-022B3B50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2" name="value-342-10">
            <a:extLst xmlns:a="http://schemas.openxmlformats.org/drawingml/2006/main">
              <a:ext uri="{FF2B5EF4-FFF2-40B4-BE49-F238E27FC236}">
                <a16:creationId xmlns:a16="http://schemas.microsoft.com/office/drawing/2014/main" id="{35CC5158-4066-43C0-9D27-AE38644D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3" name="value-342-11">
            <a:extLst xmlns:a="http://schemas.openxmlformats.org/drawingml/2006/main">
              <a:ext uri="{FF2B5EF4-FFF2-40B4-BE49-F238E27FC236}">
                <a16:creationId xmlns:a16="http://schemas.microsoft.com/office/drawing/2014/main" id="{6E1BF4CB-82AC-4247-A6AF-DFED26E6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4" name="value-342-12">
            <a:extLst xmlns:a="http://schemas.openxmlformats.org/drawingml/2006/main">
              <a:ext uri="{FF2B5EF4-FFF2-40B4-BE49-F238E27FC236}">
                <a16:creationId xmlns:a16="http://schemas.microsoft.com/office/drawing/2014/main" id="{BC8C3B26-12EC-4D00-A2BB-78B91A48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5" name="value-342-13">
            <a:extLst xmlns:a="http://schemas.openxmlformats.org/drawingml/2006/main">
              <a:ext uri="{FF2B5EF4-FFF2-40B4-BE49-F238E27FC236}">
                <a16:creationId xmlns:a16="http://schemas.microsoft.com/office/drawing/2014/main" id="{F16F22FC-4847-4331-A775-92B1E3A6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6" name="value-342-14">
            <a:extLst xmlns:a="http://schemas.openxmlformats.org/drawingml/2006/main">
              <a:ext uri="{FF2B5EF4-FFF2-40B4-BE49-F238E27FC236}">
                <a16:creationId xmlns:a16="http://schemas.microsoft.com/office/drawing/2014/main" id="{F8C69AA0-BE96-4EFA-9BDE-38E87D44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7" name="value-342-15">
            <a:extLst xmlns:a="http://schemas.openxmlformats.org/drawingml/2006/main">
              <a:ext uri="{FF2B5EF4-FFF2-40B4-BE49-F238E27FC236}">
                <a16:creationId xmlns:a16="http://schemas.microsoft.com/office/drawing/2014/main" id="{9771722E-4D41-447F-98FE-76DF8BCD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8" name="rle-rule">
            <a:extLst xmlns:a="http://schemas.openxmlformats.org/drawingml/2006/main">
              <a:ext uri="{FF2B5EF4-FFF2-40B4-BE49-F238E27FC236}">
                <a16:creationId xmlns:a16="http://schemas.microsoft.com/office/drawing/2014/main" id="{5614CFD8-79CA-4AEE-9B4F-10A9F055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每组：颜色编号1 B + 连续次数1 B</a:t>
            </a:r>
          </a:p>
        </p:txBody>
      </p:sp>
      <p:sp>
        <p:nvSpPr>
          <p:cNvPr id="39" name="counts">
            <a:extLst xmlns:a="http://schemas.openxmlformats.org/drawingml/2006/main">
              <a:ext uri="{FF2B5EF4-FFF2-40B4-BE49-F238E27FC236}">
                <a16:creationId xmlns:a16="http://schemas.microsoft.com/office/drawing/2014/main" id="{11E8C9ED-9121-4AE0-83F1-8C4FB4DD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A：16 B → 6 B       B：16 B → 32 B</a:t>
            </a:r>
          </a:p>
        </p:txBody>
      </p:sp>
    </p:spTree>
    <p:extLst>
      <p:ext uri="{BB962C8B-B14F-4D97-AF65-F5344CB8AC3E}">
        <p14:creationId xmlns:p14="http://schemas.microsoft.com/office/powerpoint/2010/main" val="12168333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rail">
            <a:extLst xmlns:a="http://schemas.openxmlformats.org/drawingml/2006/main">
              <a:ext uri="{FF2B5EF4-FFF2-40B4-BE49-F238E27FC236}">
                <a16:creationId xmlns:a16="http://schemas.microsoft.com/office/drawing/2014/main" id="{A9ACA2E2-BCEE-44A3-9B91-6EC7D0E0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009CFF8-7BE1-4CBF-9E34-A09A6335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1C2661E-1707-4ED9-86AC-3E30472F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重复可以少写；无损必须完整恢复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E33B57CC-5F28-4131-B3AD-E055CB49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数据压缩</a:t>
            </a:r>
          </a:p>
        </p:txBody>
      </p:sp>
      <p:sp>
        <p:nvSpPr>
          <p:cNvPr id="5" name="tree-trunk-horizontal">
            <a:extLst xmlns:a="http://schemas.openxmlformats.org/drawingml/2006/main">
              <a:ext uri="{FF2B5EF4-FFF2-40B4-BE49-F238E27FC236}">
                <a16:creationId xmlns:a16="http://schemas.microsoft.com/office/drawing/2014/main" id="{A9C0476F-CFDE-4947-8282-7E8EFE8D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73380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" name="tree-trunk">
            <a:extLst xmlns:a="http://schemas.openxmlformats.org/drawingml/2006/main">
              <a:ext uri="{FF2B5EF4-FFF2-40B4-BE49-F238E27FC236}">
                <a16:creationId xmlns:a16="http://schemas.microsoft.com/office/drawing/2014/main" id="{FDEBAF60-B1F1-4BB9-968F-36ACBA4B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924050"/>
            <a:ext cx="1905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7" name="tree-branch-link-purpose">
            <a:extLst xmlns:a="http://schemas.openxmlformats.org/drawingml/2006/main">
              <a:ext uri="{FF2B5EF4-FFF2-40B4-BE49-F238E27FC236}">
                <a16:creationId xmlns:a16="http://schemas.microsoft.com/office/drawing/2014/main" id="{96997067-1079-4253-90D6-E6C35D3B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9240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tree-branch-purpose">
            <a:extLst xmlns:a="http://schemas.openxmlformats.org/drawingml/2006/main">
              <a:ext uri="{FF2B5EF4-FFF2-40B4-BE49-F238E27FC236}">
                <a16:creationId xmlns:a16="http://schemas.microsoft.com/office/drawing/2014/main" id="{3196A6DC-E45B-44F7-A2BE-03EBB311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52600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为何压缩</a:t>
            </a:r>
          </a:p>
        </p:txBody>
      </p:sp>
      <p:sp>
        <p:nvSpPr>
          <p:cNvPr id="9" name="tree-branch-link-method">
            <a:extLst xmlns:a="http://schemas.openxmlformats.org/drawingml/2006/main">
              <a:ext uri="{FF2B5EF4-FFF2-40B4-BE49-F238E27FC236}">
                <a16:creationId xmlns:a16="http://schemas.microsoft.com/office/drawing/2014/main" id="{606826CA-24B9-40A3-8B59-AF91D52A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9527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" name="tree-branch-method">
            <a:extLst xmlns:a="http://schemas.openxmlformats.org/drawingml/2006/main">
              <a:ext uri="{FF2B5EF4-FFF2-40B4-BE49-F238E27FC236}">
                <a16:creationId xmlns:a16="http://schemas.microsoft.com/office/drawing/2014/main" id="{B46657AD-C61D-4216-8AED-B280B92A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81300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怎样变小</a:t>
            </a:r>
          </a:p>
        </p:txBody>
      </p:sp>
      <p:sp>
        <p:nvSpPr>
          <p:cNvPr id="11" name="tree-branch-link-recovery">
            <a:extLst xmlns:a="http://schemas.openxmlformats.org/drawingml/2006/main">
              <a:ext uri="{FF2B5EF4-FFF2-40B4-BE49-F238E27FC236}">
                <a16:creationId xmlns:a16="http://schemas.microsoft.com/office/drawing/2014/main" id="{5FE86790-E449-493F-A65E-AC64ACA3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16242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" name="tree-branch-recovery">
            <a:extLst xmlns:a="http://schemas.openxmlformats.org/drawingml/2006/main">
              <a:ext uri="{FF2B5EF4-FFF2-40B4-BE49-F238E27FC236}">
                <a16:creationId xmlns:a16="http://schemas.microsoft.com/office/drawing/2014/main" id="{DAFCF7C6-F481-4F42-A73B-FD8746B0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90975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能否恢复</a:t>
            </a:r>
          </a:p>
        </p:txBody>
      </p:sp>
      <p:sp>
        <p:nvSpPr>
          <p:cNvPr id="13" name="tree-branch-link-choice">
            <a:extLst xmlns:a="http://schemas.openxmlformats.org/drawingml/2006/main">
              <a:ext uri="{FF2B5EF4-FFF2-40B4-BE49-F238E27FC236}">
                <a16:creationId xmlns:a16="http://schemas.microsoft.com/office/drawing/2014/main" id="{1C7BBA97-3FFF-45B5-9BE7-63FE0BAE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49592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4" name="tree-branch-choice">
            <a:extLst xmlns:a="http://schemas.openxmlformats.org/drawingml/2006/main">
              <a:ext uri="{FF2B5EF4-FFF2-40B4-BE49-F238E27FC236}">
                <a16:creationId xmlns:a16="http://schemas.microsoft.com/office/drawing/2014/main" id="{3746EA0F-1BED-4796-9774-E97AC6CD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24475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怎样选择</a:t>
            </a:r>
          </a:p>
        </p:txBody>
      </p:sp>
      <p:sp>
        <p:nvSpPr>
          <p:cNvPr id="15" name="tree-leaf-space">
            <a:extLst xmlns:a="http://schemas.openxmlformats.org/drawingml/2006/main">
              <a:ext uri="{FF2B5EF4-FFF2-40B4-BE49-F238E27FC236}">
                <a16:creationId xmlns:a16="http://schemas.microsoft.com/office/drawing/2014/main" id="{D9B5A6FC-721B-4F34-8828-55D581AA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811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特殊编码，减少存储／传输数据量</a:t>
            </a:r>
          </a:p>
        </p:txBody>
      </p:sp>
      <p:sp>
        <p:nvSpPr>
          <p:cNvPr id="16" name="tree-leaf-link-space">
            <a:extLst xmlns:a="http://schemas.openxmlformats.org/drawingml/2006/main">
              <a:ext uri="{FF2B5EF4-FFF2-40B4-BE49-F238E27FC236}">
                <a16:creationId xmlns:a16="http://schemas.microsoft.com/office/drawing/2014/main" id="{AB77B750-299F-4116-A4B4-9FF7B7A2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7526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17" name="tree-leaf-limit">
            <a:extLst xmlns:a="http://schemas.openxmlformats.org/drawingml/2006/main">
              <a:ext uri="{FF2B5EF4-FFF2-40B4-BE49-F238E27FC236}">
                <a16:creationId xmlns:a16="http://schemas.microsoft.com/office/drawing/2014/main" id="{A9863E69-C56C-44C3-9CCB-667F0C69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431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效果取决于数据、方法与开销</a:t>
            </a:r>
          </a:p>
        </p:txBody>
      </p:sp>
      <p:sp>
        <p:nvSpPr>
          <p:cNvPr id="18" name="tree-leaf-link-limit">
            <a:extLst xmlns:a="http://schemas.openxmlformats.org/drawingml/2006/main">
              <a:ext uri="{FF2B5EF4-FFF2-40B4-BE49-F238E27FC236}">
                <a16:creationId xmlns:a16="http://schemas.microsoft.com/office/drawing/2014/main" id="{0D16F80C-1589-4EA7-8EA6-1A68B495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145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19" name="tree-leaf-repeat">
            <a:extLst xmlns:a="http://schemas.openxmlformats.org/drawingml/2006/main">
              <a:ext uri="{FF2B5EF4-FFF2-40B4-BE49-F238E27FC236}">
                <a16:creationId xmlns:a16="http://schemas.microsoft.com/office/drawing/2014/main" id="{48D41C54-40B8-4CAD-AAFD-E2DCE420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193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去除冗余：连续重复写成次数</a:t>
            </a:r>
          </a:p>
        </p:txBody>
      </p:sp>
      <p:sp>
        <p:nvSpPr>
          <p:cNvPr id="20" name="tree-leaf-link-repeat">
            <a:extLst xmlns:a="http://schemas.openxmlformats.org/drawingml/2006/main">
              <a:ext uri="{FF2B5EF4-FFF2-40B4-BE49-F238E27FC236}">
                <a16:creationId xmlns:a16="http://schemas.microsoft.com/office/drawing/2014/main" id="{1C9B787E-58D1-4442-BD54-3337BB55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908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1" name="tree-leaf-lossless">
            <a:extLst xmlns:a="http://schemas.openxmlformats.org/drawingml/2006/main">
              <a:ext uri="{FF2B5EF4-FFF2-40B4-BE49-F238E27FC236}">
                <a16:creationId xmlns:a16="http://schemas.microsoft.com/office/drawing/2014/main" id="{8B170082-9E88-4D7D-AC7D-619E8167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100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无损：可完全恢复原始数据</a:t>
            </a:r>
          </a:p>
        </p:txBody>
      </p:sp>
      <p:sp>
        <p:nvSpPr>
          <p:cNvPr id="22" name="tree-leaf-link-lossless">
            <a:extLst xmlns:a="http://schemas.openxmlformats.org/drawingml/2006/main">
              <a:ext uri="{FF2B5EF4-FFF2-40B4-BE49-F238E27FC236}">
                <a16:creationId xmlns:a16="http://schemas.microsoft.com/office/drawing/2014/main" id="{F7C1135E-A323-4773-AF8F-E155BB5F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814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3" name="tree-stem-purpose">
            <a:extLst xmlns:a="http://schemas.openxmlformats.org/drawingml/2006/main">
              <a:ext uri="{FF2B5EF4-FFF2-40B4-BE49-F238E27FC236}">
                <a16:creationId xmlns:a16="http://schemas.microsoft.com/office/drawing/2014/main" id="{68568472-2AA6-4BA7-90E8-3F3269A2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5260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4" name="tree-parent-link-purpose">
            <a:extLst xmlns:a="http://schemas.openxmlformats.org/drawingml/2006/main">
              <a:ext uri="{FF2B5EF4-FFF2-40B4-BE49-F238E27FC236}">
                <a16:creationId xmlns:a16="http://schemas.microsoft.com/office/drawing/2014/main" id="{D11B3B8D-8A9D-4587-99F7-6ABF42D0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24050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5" name="tree-stem-method">
            <a:extLst xmlns:a="http://schemas.openxmlformats.org/drawingml/2006/main">
              <a:ext uri="{FF2B5EF4-FFF2-40B4-BE49-F238E27FC236}">
                <a16:creationId xmlns:a16="http://schemas.microsoft.com/office/drawing/2014/main" id="{6F57C38C-8252-44C8-A6A2-93E87FB9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9080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6" name="tree-parent-link-method">
            <a:extLst xmlns:a="http://schemas.openxmlformats.org/drawingml/2006/main">
              <a:ext uri="{FF2B5EF4-FFF2-40B4-BE49-F238E27FC236}">
                <a16:creationId xmlns:a16="http://schemas.microsoft.com/office/drawing/2014/main" id="{50ED2DAF-17AD-4E53-A950-1814DD3B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952750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7" name="tree-stem-recovery">
            <a:extLst xmlns:a="http://schemas.openxmlformats.org/drawingml/2006/main">
              <a:ext uri="{FF2B5EF4-FFF2-40B4-BE49-F238E27FC236}">
                <a16:creationId xmlns:a16="http://schemas.microsoft.com/office/drawing/2014/main" id="{C4425911-CC97-40F4-B947-10879B9F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81450"/>
            <a:ext cx="19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8" name="tree-parent-link-recovery">
            <a:extLst xmlns:a="http://schemas.openxmlformats.org/drawingml/2006/main">
              <a:ext uri="{FF2B5EF4-FFF2-40B4-BE49-F238E27FC236}">
                <a16:creationId xmlns:a16="http://schemas.microsoft.com/office/drawing/2014/main" id="{D76DECE5-F11E-4521-AD2A-9AE2A8F9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162425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9" name="tree-focus-purpose">
            <a:extLst xmlns:a="http://schemas.openxmlformats.org/drawingml/2006/main">
              <a:ext uri="{FF2B5EF4-FFF2-40B4-BE49-F238E27FC236}">
                <a16:creationId xmlns:a16="http://schemas.microsoft.com/office/drawing/2014/main" id="{B6F2B073-2A59-4B92-A599-CC6105CD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600200"/>
            <a:ext cx="56292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30" name="tree-focus-method">
            <a:extLst xmlns:a="http://schemas.openxmlformats.org/drawingml/2006/main">
              <a:ext uri="{FF2B5EF4-FFF2-40B4-BE49-F238E27FC236}">
                <a16:creationId xmlns:a16="http://schemas.microsoft.com/office/drawing/2014/main" id="{7E33CB11-EB09-4C07-88B6-DF0AB4E5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438400"/>
            <a:ext cx="5629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31" name="tree-focus-recovery">
            <a:extLst xmlns:a="http://schemas.openxmlformats.org/drawingml/2006/main">
              <a:ext uri="{FF2B5EF4-FFF2-40B4-BE49-F238E27FC236}">
                <a16:creationId xmlns:a16="http://schemas.microsoft.com/office/drawing/2014/main" id="{E5B3AA01-81EF-432F-9124-E1DA8A2F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829050"/>
            <a:ext cx="5629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32" name="tree-summary">
            <a:extLst xmlns:a="http://schemas.openxmlformats.org/drawingml/2006/main">
              <a:ext uri="{FF2B5EF4-FFF2-40B4-BE49-F238E27FC236}">
                <a16:creationId xmlns:a16="http://schemas.microsoft.com/office/drawing/2014/main" id="{C407F832-36DD-42FB-AB2E-F2869D2E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无损不保证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每份数据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都变小。</a:t>
            </a:r>
          </a:p>
        </p:txBody>
      </p:sp>
    </p:spTree>
    <p:extLst>
      <p:ext uri="{BB962C8B-B14F-4D97-AF65-F5344CB8AC3E}">
        <p14:creationId xmlns:p14="http://schemas.microsoft.com/office/powerpoint/2010/main" val="14025137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rail">
            <a:extLst xmlns:a="http://schemas.openxmlformats.org/drawingml/2006/main">
              <a:ext uri="{FF2B5EF4-FFF2-40B4-BE49-F238E27FC236}">
                <a16:creationId xmlns:a16="http://schemas.microsoft.com/office/drawing/2014/main" id="{73B85D0E-3B9D-438A-AFF7-6790785E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4B86BE4-568D-4C4B-A3E5-DDAC8F07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2B270E1-0C2D-4449-AF76-E7A6684E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相邻值接近，怎样完整记录？</a:t>
            </a:r>
          </a:p>
        </p:txBody>
      </p:sp>
      <p:sp>
        <p:nvSpPr>
          <p:cNvPr id="4" name="gray-219-0">
            <a:extLst xmlns:a="http://schemas.openxmlformats.org/drawingml/2006/main">
              <a:ext uri="{FF2B5EF4-FFF2-40B4-BE49-F238E27FC236}">
                <a16:creationId xmlns:a16="http://schemas.microsoft.com/office/drawing/2014/main" id="{0E540601-AB3B-4401-BEED-1DE78B51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5" name="gray-label-219-0">
            <a:extLst xmlns:a="http://schemas.openxmlformats.org/drawingml/2006/main">
              <a:ext uri="{FF2B5EF4-FFF2-40B4-BE49-F238E27FC236}">
                <a16:creationId xmlns:a16="http://schemas.microsoft.com/office/drawing/2014/main" id="{8000DFA4-8C81-49B5-ABFE-F1F9353E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6" name="gray-219-1">
            <a:extLst xmlns:a="http://schemas.openxmlformats.org/drawingml/2006/main">
              <a:ext uri="{FF2B5EF4-FFF2-40B4-BE49-F238E27FC236}">
                <a16:creationId xmlns:a16="http://schemas.microsoft.com/office/drawing/2014/main" id="{102B148E-D38E-4904-BFDB-DB30BB45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7" name="gray-label-219-1">
            <a:extLst xmlns:a="http://schemas.openxmlformats.org/drawingml/2006/main">
              <a:ext uri="{FF2B5EF4-FFF2-40B4-BE49-F238E27FC236}">
                <a16:creationId xmlns:a16="http://schemas.microsoft.com/office/drawing/2014/main" id="{0594171C-EC21-49E0-ADCD-A69B79A9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8" name="gray-219-2">
            <a:extLst xmlns:a="http://schemas.openxmlformats.org/drawingml/2006/main">
              <a:ext uri="{FF2B5EF4-FFF2-40B4-BE49-F238E27FC236}">
                <a16:creationId xmlns:a16="http://schemas.microsoft.com/office/drawing/2014/main" id="{0024AC15-A77B-4CDA-9A3B-6EF91E83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9" name="gray-label-219-2">
            <a:extLst xmlns:a="http://schemas.openxmlformats.org/drawingml/2006/main">
              <a:ext uri="{FF2B5EF4-FFF2-40B4-BE49-F238E27FC236}">
                <a16:creationId xmlns:a16="http://schemas.microsoft.com/office/drawing/2014/main" id="{95FC6DBA-B41C-40BA-9D98-FE799E2A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10" name="gray-219-3">
            <a:extLst xmlns:a="http://schemas.openxmlformats.org/drawingml/2006/main">
              <a:ext uri="{FF2B5EF4-FFF2-40B4-BE49-F238E27FC236}">
                <a16:creationId xmlns:a16="http://schemas.microsoft.com/office/drawing/2014/main" id="{2333CD03-4353-4863-8EB2-2B03F589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1" name="gray-label-219-3">
            <a:extLst xmlns:a="http://schemas.openxmlformats.org/drawingml/2006/main">
              <a:ext uri="{FF2B5EF4-FFF2-40B4-BE49-F238E27FC236}">
                <a16:creationId xmlns:a16="http://schemas.microsoft.com/office/drawing/2014/main" id="{8789381D-D114-4330-A2B7-613C12B9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2" name="gray-219-4">
            <a:extLst xmlns:a="http://schemas.openxmlformats.org/drawingml/2006/main">
              <a:ext uri="{FF2B5EF4-FFF2-40B4-BE49-F238E27FC236}">
                <a16:creationId xmlns:a16="http://schemas.microsoft.com/office/drawing/2014/main" id="{ED991B95-E40A-4292-85A0-500BC762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3" name="gray-label-219-4">
            <a:extLst xmlns:a="http://schemas.openxmlformats.org/drawingml/2006/main">
              <a:ext uri="{FF2B5EF4-FFF2-40B4-BE49-F238E27FC236}">
                <a16:creationId xmlns:a16="http://schemas.microsoft.com/office/drawing/2014/main" id="{1C67B095-B919-47E2-934C-31C988BB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4" name="gray-219-5">
            <a:extLst xmlns:a="http://schemas.openxmlformats.org/drawingml/2006/main">
              <a:ext uri="{FF2B5EF4-FFF2-40B4-BE49-F238E27FC236}">
                <a16:creationId xmlns:a16="http://schemas.microsoft.com/office/drawing/2014/main" id="{6F103C38-0954-45D6-8D01-8ADFF4B0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5" name="gray-label-219-5">
            <a:extLst xmlns:a="http://schemas.openxmlformats.org/drawingml/2006/main">
              <a:ext uri="{FF2B5EF4-FFF2-40B4-BE49-F238E27FC236}">
                <a16:creationId xmlns:a16="http://schemas.microsoft.com/office/drawing/2014/main" id="{FDB87E2D-2D66-49C5-800C-B31999CA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6" name="gray-219-6">
            <a:extLst xmlns:a="http://schemas.openxmlformats.org/drawingml/2006/main">
              <a:ext uri="{FF2B5EF4-FFF2-40B4-BE49-F238E27FC236}">
                <a16:creationId xmlns:a16="http://schemas.microsoft.com/office/drawing/2014/main" id="{089F6A37-88D5-46CD-8FCF-A4D0C9E0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7" name="gray-label-219-6">
            <a:extLst xmlns:a="http://schemas.openxmlformats.org/drawingml/2006/main">
              <a:ext uri="{FF2B5EF4-FFF2-40B4-BE49-F238E27FC236}">
                <a16:creationId xmlns:a16="http://schemas.microsoft.com/office/drawing/2014/main" id="{F13A3028-51E2-49E2-8AC3-CC95F81A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8" name="gray-219-7">
            <a:extLst xmlns:a="http://schemas.openxmlformats.org/drawingml/2006/main">
              <a:ext uri="{FF2B5EF4-FFF2-40B4-BE49-F238E27FC236}">
                <a16:creationId xmlns:a16="http://schemas.microsoft.com/office/drawing/2014/main" id="{5BEE09EE-0380-4989-AF3B-380563B8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19" name="gray-label-219-7">
            <a:extLst xmlns:a="http://schemas.openxmlformats.org/drawingml/2006/main">
              <a:ext uri="{FF2B5EF4-FFF2-40B4-BE49-F238E27FC236}">
                <a16:creationId xmlns:a16="http://schemas.microsoft.com/office/drawing/2014/main" id="{F4932B93-E0CB-4DBE-A22C-2F5A78A7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20" name="gray-given">
            <a:extLst xmlns:a="http://schemas.openxmlformats.org/drawingml/2006/main">
              <a:ext uri="{FF2B5EF4-FFF2-40B4-BE49-F238E27FC236}">
                <a16:creationId xmlns:a16="http://schemas.microsoft.com/office/drawing/2014/main" id="{E47FA0B9-41A9-4BA3-8BA1-E0DE14CE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灰度0–255，每项8 bit；必须完整恢复。</a:t>
            </a:r>
          </a:p>
        </p:txBody>
      </p:sp>
    </p:spTree>
    <p:extLst>
      <p:ext uri="{BB962C8B-B14F-4D97-AF65-F5344CB8AC3E}">
        <p14:creationId xmlns:p14="http://schemas.microsoft.com/office/powerpoint/2010/main" val="1851639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ail">
            <a:extLst xmlns:a="http://schemas.openxmlformats.org/drawingml/2006/main">
              <a:ext uri="{FF2B5EF4-FFF2-40B4-BE49-F238E27FC236}">
                <a16:creationId xmlns:a16="http://schemas.microsoft.com/office/drawing/2014/main" id="{73B85D0E-3B9D-438A-AFF7-6790785E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4B86BE4-568D-4C4B-A3E5-DDAC8F07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2B270E1-0C2D-4449-AF76-E7A6684E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相邻值接近，怎样完整记录？</a:t>
            </a:r>
          </a:p>
        </p:txBody>
      </p:sp>
      <p:sp>
        <p:nvSpPr>
          <p:cNvPr id="4" name="gray-219-0">
            <a:extLst xmlns:a="http://schemas.openxmlformats.org/drawingml/2006/main">
              <a:ext uri="{FF2B5EF4-FFF2-40B4-BE49-F238E27FC236}">
                <a16:creationId xmlns:a16="http://schemas.microsoft.com/office/drawing/2014/main" id="{0E540601-AB3B-4401-BEED-1DE78B51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5" name="gray-label-219-0">
            <a:extLst xmlns:a="http://schemas.openxmlformats.org/drawingml/2006/main">
              <a:ext uri="{FF2B5EF4-FFF2-40B4-BE49-F238E27FC236}">
                <a16:creationId xmlns:a16="http://schemas.microsoft.com/office/drawing/2014/main" id="{8000DFA4-8C81-49B5-ABFE-F1F9353E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6" name="gray-219-1">
            <a:extLst xmlns:a="http://schemas.openxmlformats.org/drawingml/2006/main">
              <a:ext uri="{FF2B5EF4-FFF2-40B4-BE49-F238E27FC236}">
                <a16:creationId xmlns:a16="http://schemas.microsoft.com/office/drawing/2014/main" id="{102B148E-D38E-4904-BFDB-DB30BB45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7" name="gray-label-219-1">
            <a:extLst xmlns:a="http://schemas.openxmlformats.org/drawingml/2006/main">
              <a:ext uri="{FF2B5EF4-FFF2-40B4-BE49-F238E27FC236}">
                <a16:creationId xmlns:a16="http://schemas.microsoft.com/office/drawing/2014/main" id="{0594171C-EC21-49E0-ADCD-A69B79A9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8" name="gray-219-2">
            <a:extLst xmlns:a="http://schemas.openxmlformats.org/drawingml/2006/main">
              <a:ext uri="{FF2B5EF4-FFF2-40B4-BE49-F238E27FC236}">
                <a16:creationId xmlns:a16="http://schemas.microsoft.com/office/drawing/2014/main" id="{0024AC15-A77B-4CDA-9A3B-6EF91E83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9" name="gray-label-219-2">
            <a:extLst xmlns:a="http://schemas.openxmlformats.org/drawingml/2006/main">
              <a:ext uri="{FF2B5EF4-FFF2-40B4-BE49-F238E27FC236}">
                <a16:creationId xmlns:a16="http://schemas.microsoft.com/office/drawing/2014/main" id="{95FC6DBA-B41C-40BA-9D98-FE799E2A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10" name="gray-219-3">
            <a:extLst xmlns:a="http://schemas.openxmlformats.org/drawingml/2006/main">
              <a:ext uri="{FF2B5EF4-FFF2-40B4-BE49-F238E27FC236}">
                <a16:creationId xmlns:a16="http://schemas.microsoft.com/office/drawing/2014/main" id="{2333CD03-4353-4863-8EB2-2B03F589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1" name="gray-label-219-3">
            <a:extLst xmlns:a="http://schemas.openxmlformats.org/drawingml/2006/main">
              <a:ext uri="{FF2B5EF4-FFF2-40B4-BE49-F238E27FC236}">
                <a16:creationId xmlns:a16="http://schemas.microsoft.com/office/drawing/2014/main" id="{8789381D-D114-4330-A2B7-613C12B9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2" name="gray-219-4">
            <a:extLst xmlns:a="http://schemas.openxmlformats.org/drawingml/2006/main">
              <a:ext uri="{FF2B5EF4-FFF2-40B4-BE49-F238E27FC236}">
                <a16:creationId xmlns:a16="http://schemas.microsoft.com/office/drawing/2014/main" id="{ED991B95-E40A-4292-85A0-500BC762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3" name="gray-label-219-4">
            <a:extLst xmlns:a="http://schemas.openxmlformats.org/drawingml/2006/main">
              <a:ext uri="{FF2B5EF4-FFF2-40B4-BE49-F238E27FC236}">
                <a16:creationId xmlns:a16="http://schemas.microsoft.com/office/drawing/2014/main" id="{1C67B095-B919-47E2-934C-31C988BB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4" name="gray-219-5">
            <a:extLst xmlns:a="http://schemas.openxmlformats.org/drawingml/2006/main">
              <a:ext uri="{FF2B5EF4-FFF2-40B4-BE49-F238E27FC236}">
                <a16:creationId xmlns:a16="http://schemas.microsoft.com/office/drawing/2014/main" id="{6F103C38-0954-45D6-8D01-8ADFF4B0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5" name="gray-label-219-5">
            <a:extLst xmlns:a="http://schemas.openxmlformats.org/drawingml/2006/main">
              <a:ext uri="{FF2B5EF4-FFF2-40B4-BE49-F238E27FC236}">
                <a16:creationId xmlns:a16="http://schemas.microsoft.com/office/drawing/2014/main" id="{FDB87E2D-2D66-49C5-800C-B31999CA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6" name="gray-219-6">
            <a:extLst xmlns:a="http://schemas.openxmlformats.org/drawingml/2006/main">
              <a:ext uri="{FF2B5EF4-FFF2-40B4-BE49-F238E27FC236}">
                <a16:creationId xmlns:a16="http://schemas.microsoft.com/office/drawing/2014/main" id="{089F6A37-88D5-46CD-8FCF-A4D0C9E0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7" name="gray-label-219-6">
            <a:extLst xmlns:a="http://schemas.openxmlformats.org/drawingml/2006/main">
              <a:ext uri="{FF2B5EF4-FFF2-40B4-BE49-F238E27FC236}">
                <a16:creationId xmlns:a16="http://schemas.microsoft.com/office/drawing/2014/main" id="{F13A3028-51E2-49E2-8AC3-CC95F81A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8" name="gray-219-7">
            <a:extLst xmlns:a="http://schemas.openxmlformats.org/drawingml/2006/main">
              <a:ext uri="{FF2B5EF4-FFF2-40B4-BE49-F238E27FC236}">
                <a16:creationId xmlns:a16="http://schemas.microsoft.com/office/drawing/2014/main" id="{5BEE09EE-0380-4989-AF3B-380563B8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19" name="gray-label-219-7">
            <a:extLst xmlns:a="http://schemas.openxmlformats.org/drawingml/2006/main">
              <a:ext uri="{FF2B5EF4-FFF2-40B4-BE49-F238E27FC236}">
                <a16:creationId xmlns:a16="http://schemas.microsoft.com/office/drawing/2014/main" id="{F4932B93-E0CB-4DBE-A22C-2F5A78A7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20" name="gray-given">
            <a:extLst xmlns:a="http://schemas.openxmlformats.org/drawingml/2006/main">
              <a:ext uri="{FF2B5EF4-FFF2-40B4-BE49-F238E27FC236}">
                <a16:creationId xmlns:a16="http://schemas.microsoft.com/office/drawing/2014/main" id="{E47FA0B9-41A9-4BA3-8BA1-E0DE14CE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灰度0–255，每项8 bit；必须完整恢复。</a:t>
            </a:r>
          </a:p>
        </p:txBody>
      </p:sp>
      <p:sp>
        <p:nvSpPr>
          <p:cNvPr id="21" name="deltas">
            <a:extLst xmlns:a="http://schemas.openxmlformats.org/drawingml/2006/main">
              <a:ext uri="{FF2B5EF4-FFF2-40B4-BE49-F238E27FC236}">
                <a16:creationId xmlns:a16="http://schemas.microsoft.com/office/drawing/2014/main" id="{772A7F5A-7A22-42FB-9675-D73A65F1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起点120；差值：+1，+1，−1，−1，0，+1，+1</a:t>
            </a:r>
          </a:p>
        </p:txBody>
      </p:sp>
    </p:spTree>
    <p:extLst>
      <p:ext uri="{BB962C8B-B14F-4D97-AF65-F5344CB8AC3E}">
        <p14:creationId xmlns:p14="http://schemas.microsoft.com/office/powerpoint/2010/main" val="1851639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ail">
            <a:extLst xmlns:a="http://schemas.openxmlformats.org/drawingml/2006/main">
              <a:ext uri="{FF2B5EF4-FFF2-40B4-BE49-F238E27FC236}">
                <a16:creationId xmlns:a16="http://schemas.microsoft.com/office/drawing/2014/main" id="{73B85D0E-3B9D-438A-AFF7-6790785E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4B86BE4-568D-4C4B-A3E5-DDAC8F07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2B270E1-0C2D-4449-AF76-E7A6684E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相邻值接近，怎样完整记录？</a:t>
            </a:r>
          </a:p>
        </p:txBody>
      </p:sp>
      <p:sp>
        <p:nvSpPr>
          <p:cNvPr id="4" name="gray-219-0">
            <a:extLst xmlns:a="http://schemas.openxmlformats.org/drawingml/2006/main">
              <a:ext uri="{FF2B5EF4-FFF2-40B4-BE49-F238E27FC236}">
                <a16:creationId xmlns:a16="http://schemas.microsoft.com/office/drawing/2014/main" id="{0E540601-AB3B-4401-BEED-1DE78B51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5" name="gray-label-219-0">
            <a:extLst xmlns:a="http://schemas.openxmlformats.org/drawingml/2006/main">
              <a:ext uri="{FF2B5EF4-FFF2-40B4-BE49-F238E27FC236}">
                <a16:creationId xmlns:a16="http://schemas.microsoft.com/office/drawing/2014/main" id="{8000DFA4-8C81-49B5-ABFE-F1F9353E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6" name="gray-219-1">
            <a:extLst xmlns:a="http://schemas.openxmlformats.org/drawingml/2006/main">
              <a:ext uri="{FF2B5EF4-FFF2-40B4-BE49-F238E27FC236}">
                <a16:creationId xmlns:a16="http://schemas.microsoft.com/office/drawing/2014/main" id="{102B148E-D38E-4904-BFDB-DB30BB45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7" name="gray-label-219-1">
            <a:extLst xmlns:a="http://schemas.openxmlformats.org/drawingml/2006/main">
              <a:ext uri="{FF2B5EF4-FFF2-40B4-BE49-F238E27FC236}">
                <a16:creationId xmlns:a16="http://schemas.microsoft.com/office/drawing/2014/main" id="{0594171C-EC21-49E0-ADCD-A69B79A9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8" name="gray-219-2">
            <a:extLst xmlns:a="http://schemas.openxmlformats.org/drawingml/2006/main">
              <a:ext uri="{FF2B5EF4-FFF2-40B4-BE49-F238E27FC236}">
                <a16:creationId xmlns:a16="http://schemas.microsoft.com/office/drawing/2014/main" id="{0024AC15-A77B-4CDA-9A3B-6EF91E83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9" name="gray-label-219-2">
            <a:extLst xmlns:a="http://schemas.openxmlformats.org/drawingml/2006/main">
              <a:ext uri="{FF2B5EF4-FFF2-40B4-BE49-F238E27FC236}">
                <a16:creationId xmlns:a16="http://schemas.microsoft.com/office/drawing/2014/main" id="{95FC6DBA-B41C-40BA-9D98-FE799E2A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10" name="gray-219-3">
            <a:extLst xmlns:a="http://schemas.openxmlformats.org/drawingml/2006/main">
              <a:ext uri="{FF2B5EF4-FFF2-40B4-BE49-F238E27FC236}">
                <a16:creationId xmlns:a16="http://schemas.microsoft.com/office/drawing/2014/main" id="{2333CD03-4353-4863-8EB2-2B03F589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1" name="gray-label-219-3">
            <a:extLst xmlns:a="http://schemas.openxmlformats.org/drawingml/2006/main">
              <a:ext uri="{FF2B5EF4-FFF2-40B4-BE49-F238E27FC236}">
                <a16:creationId xmlns:a16="http://schemas.microsoft.com/office/drawing/2014/main" id="{8789381D-D114-4330-A2B7-613C12B9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2" name="gray-219-4">
            <a:extLst xmlns:a="http://schemas.openxmlformats.org/drawingml/2006/main">
              <a:ext uri="{FF2B5EF4-FFF2-40B4-BE49-F238E27FC236}">
                <a16:creationId xmlns:a16="http://schemas.microsoft.com/office/drawing/2014/main" id="{ED991B95-E40A-4292-85A0-500BC762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3" name="gray-label-219-4">
            <a:extLst xmlns:a="http://schemas.openxmlformats.org/drawingml/2006/main">
              <a:ext uri="{FF2B5EF4-FFF2-40B4-BE49-F238E27FC236}">
                <a16:creationId xmlns:a16="http://schemas.microsoft.com/office/drawing/2014/main" id="{1C67B095-B919-47E2-934C-31C988BB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4" name="gray-219-5">
            <a:extLst xmlns:a="http://schemas.openxmlformats.org/drawingml/2006/main">
              <a:ext uri="{FF2B5EF4-FFF2-40B4-BE49-F238E27FC236}">
                <a16:creationId xmlns:a16="http://schemas.microsoft.com/office/drawing/2014/main" id="{6F103C38-0954-45D6-8D01-8ADFF4B0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5" name="gray-label-219-5">
            <a:extLst xmlns:a="http://schemas.openxmlformats.org/drawingml/2006/main">
              <a:ext uri="{FF2B5EF4-FFF2-40B4-BE49-F238E27FC236}">
                <a16:creationId xmlns:a16="http://schemas.microsoft.com/office/drawing/2014/main" id="{FDB87E2D-2D66-49C5-800C-B31999CA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6" name="gray-219-6">
            <a:extLst xmlns:a="http://schemas.openxmlformats.org/drawingml/2006/main">
              <a:ext uri="{FF2B5EF4-FFF2-40B4-BE49-F238E27FC236}">
                <a16:creationId xmlns:a16="http://schemas.microsoft.com/office/drawing/2014/main" id="{089F6A37-88D5-46CD-8FCF-A4D0C9E0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7" name="gray-label-219-6">
            <a:extLst xmlns:a="http://schemas.openxmlformats.org/drawingml/2006/main">
              <a:ext uri="{FF2B5EF4-FFF2-40B4-BE49-F238E27FC236}">
                <a16:creationId xmlns:a16="http://schemas.microsoft.com/office/drawing/2014/main" id="{F13A3028-51E2-49E2-8AC3-CC95F81A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8" name="gray-219-7">
            <a:extLst xmlns:a="http://schemas.openxmlformats.org/drawingml/2006/main">
              <a:ext uri="{FF2B5EF4-FFF2-40B4-BE49-F238E27FC236}">
                <a16:creationId xmlns:a16="http://schemas.microsoft.com/office/drawing/2014/main" id="{5BEE09EE-0380-4989-AF3B-380563B8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19" name="gray-label-219-7">
            <a:extLst xmlns:a="http://schemas.openxmlformats.org/drawingml/2006/main">
              <a:ext uri="{FF2B5EF4-FFF2-40B4-BE49-F238E27FC236}">
                <a16:creationId xmlns:a16="http://schemas.microsoft.com/office/drawing/2014/main" id="{F4932B93-E0CB-4DBE-A22C-2F5A78A7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20" name="gray-given">
            <a:extLst xmlns:a="http://schemas.openxmlformats.org/drawingml/2006/main">
              <a:ext uri="{FF2B5EF4-FFF2-40B4-BE49-F238E27FC236}">
                <a16:creationId xmlns:a16="http://schemas.microsoft.com/office/drawing/2014/main" id="{E47FA0B9-41A9-4BA3-8BA1-E0DE14CE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灰度0–255，每项8 bit；必须完整恢复。</a:t>
            </a:r>
          </a:p>
        </p:txBody>
      </p:sp>
      <p:sp>
        <p:nvSpPr>
          <p:cNvPr id="21" name="deltas">
            <a:extLst xmlns:a="http://schemas.openxmlformats.org/drawingml/2006/main">
              <a:ext uri="{FF2B5EF4-FFF2-40B4-BE49-F238E27FC236}">
                <a16:creationId xmlns:a16="http://schemas.microsoft.com/office/drawing/2014/main" id="{772A7F5A-7A22-42FB-9675-D73A65F1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起点120；差值：+1，+1，−1，−1，0，+1，+1</a:t>
            </a:r>
          </a:p>
        </p:txBody>
      </p:sp>
      <p:sp>
        <p:nvSpPr>
          <p:cNvPr id="22" name="delta-size">
            <a:extLst xmlns:a="http://schemas.openxmlformats.org/drawingml/2006/main">
              <a:ext uri="{FF2B5EF4-FFF2-40B4-BE49-F238E27FC236}">
                <a16:creationId xmlns:a16="http://schemas.microsoft.com/office/drawing/2014/main" id="{8D714DD0-BC58-4E59-BAD1-707FC167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+ 7 × 2 = 22 bit → 3 B（补2 bit）</a:t>
            </a:r>
          </a:p>
        </p:txBody>
      </p:sp>
      <p:sp>
        <p:nvSpPr>
          <p:cNvPr id="23" name="delta-code-table">
            <a:extLst xmlns:a="http://schemas.openxmlformats.org/drawingml/2006/main">
              <a:ext uri="{FF2B5EF4-FFF2-40B4-BE49-F238E27FC236}">
                <a16:creationId xmlns:a16="http://schemas.microsoft.com/office/drawing/2014/main" id="{510DDFC2-3AB0-4FD3-BCFC-9F79CC00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本串码表：−1 = 00；0 = 01；+1 = 10</a:t>
            </a:r>
          </a:p>
        </p:txBody>
      </p:sp>
    </p:spTree>
    <p:extLst>
      <p:ext uri="{BB962C8B-B14F-4D97-AF65-F5344CB8AC3E}">
        <p14:creationId xmlns:p14="http://schemas.microsoft.com/office/powerpoint/2010/main" val="18516397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60391F45-DD2A-4EE2-90FB-BAC8DAA5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186D387-8837-49D5-A239-F7F32AB1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23E2633-8C51-488A-8EF5-47D76EA9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只留近似值，还能找回原数吗？</a:t>
            </a:r>
          </a:p>
        </p:txBody>
      </p:sp>
      <p:sp>
        <p:nvSpPr>
          <p:cNvPr id="4" name="quant-rule">
            <a:extLst xmlns:a="http://schemas.openxmlformats.org/drawingml/2006/main">
              <a:ext uri="{FF2B5EF4-FFF2-40B4-BE49-F238E27FC236}">
                <a16:creationId xmlns:a16="http://schemas.microsoft.com/office/drawing/2014/main" id="{58614EF8-2F9F-45E9-B6F1-AB64DDA9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归到最近的4的倍数；中点向上取。</a:t>
            </a:r>
          </a:p>
        </p:txBody>
      </p:sp>
      <p:sp>
        <p:nvSpPr>
          <p:cNvPr id="5" name="axis-116">
            <a:extLst xmlns:a="http://schemas.openxmlformats.org/drawingml/2006/main">
              <a:ext uri="{FF2B5EF4-FFF2-40B4-BE49-F238E27FC236}">
                <a16:creationId xmlns:a16="http://schemas.microsoft.com/office/drawing/2014/main" id="{F8276192-1058-45BE-86AC-2C501CBD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116</a:t>
            </a:r>
          </a:p>
        </p:txBody>
      </p:sp>
      <p:sp>
        <p:nvSpPr>
          <p:cNvPr id="6" name="axis-120">
            <a:extLst xmlns:a="http://schemas.openxmlformats.org/drawingml/2006/main">
              <a:ext uri="{FF2B5EF4-FFF2-40B4-BE49-F238E27FC236}">
                <a16:creationId xmlns:a16="http://schemas.microsoft.com/office/drawing/2014/main" id="{05867C6B-A552-47C0-AE20-FFA648E0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120</a:t>
            </a:r>
          </a:p>
        </p:txBody>
      </p:sp>
      <p:sp>
        <p:nvSpPr>
          <p:cNvPr id="7" name="axis-124">
            <a:extLst xmlns:a="http://schemas.openxmlformats.org/drawingml/2006/main">
              <a:ext uri="{FF2B5EF4-FFF2-40B4-BE49-F238E27FC236}">
                <a16:creationId xmlns:a16="http://schemas.microsoft.com/office/drawing/2014/main" id="{7DAD0364-3B44-48F1-B1D8-06AE5391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124</a:t>
            </a:r>
          </a:p>
        </p:txBody>
      </p:sp>
      <p:sp>
        <p:nvSpPr>
          <p:cNvPr id="8" name="axis-line">
            <a:extLst xmlns:a="http://schemas.openxmlformats.org/drawingml/2006/main">
              <a:ext uri="{FF2B5EF4-FFF2-40B4-BE49-F238E27FC236}">
                <a16:creationId xmlns:a16="http://schemas.microsoft.com/office/drawing/2014/main" id="{CF21DB53-073D-46BB-916F-0F571E06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00500"/>
            <a:ext cx="838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9" name="quant-ask">
            <a:extLst xmlns:a="http://schemas.openxmlformats.org/drawingml/2006/main">
              <a:ext uri="{FF2B5EF4-FFF2-40B4-BE49-F238E27FC236}">
                <a16:creationId xmlns:a16="http://schemas.microsoft.com/office/drawing/2014/main" id="{971B4F05-FDE1-41A9-9BDA-AABB6202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看到代表值120，原来可能是多少？</a:t>
            </a:r>
          </a:p>
        </p:txBody>
      </p:sp>
    </p:spTree>
    <p:extLst>
      <p:ext uri="{BB962C8B-B14F-4D97-AF65-F5344CB8AC3E}">
        <p14:creationId xmlns:p14="http://schemas.microsoft.com/office/powerpoint/2010/main" val="7678740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60391F45-DD2A-4EE2-90FB-BAC8DAA5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186D387-8837-49D5-A239-F7F32AB1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23E2633-8C51-488A-8EF5-47D76EA9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只留近似值，还能找回原数吗？</a:t>
            </a:r>
          </a:p>
        </p:txBody>
      </p:sp>
      <p:sp>
        <p:nvSpPr>
          <p:cNvPr id="4" name="quant-rule">
            <a:extLst xmlns:a="http://schemas.openxmlformats.org/drawingml/2006/main">
              <a:ext uri="{FF2B5EF4-FFF2-40B4-BE49-F238E27FC236}">
                <a16:creationId xmlns:a16="http://schemas.microsoft.com/office/drawing/2014/main" id="{58614EF8-2F9F-45E9-B6F1-AB64DDA9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归到最近的4的倍数；中点向上取。</a:t>
            </a:r>
          </a:p>
        </p:txBody>
      </p:sp>
      <p:sp>
        <p:nvSpPr>
          <p:cNvPr id="5" name="axis-116">
            <a:extLst xmlns:a="http://schemas.openxmlformats.org/drawingml/2006/main">
              <a:ext uri="{FF2B5EF4-FFF2-40B4-BE49-F238E27FC236}">
                <a16:creationId xmlns:a16="http://schemas.microsoft.com/office/drawing/2014/main" id="{F8276192-1058-45BE-86AC-2C501CBD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116</a:t>
            </a:r>
          </a:p>
        </p:txBody>
      </p:sp>
      <p:sp>
        <p:nvSpPr>
          <p:cNvPr id="6" name="axis-120">
            <a:extLst xmlns:a="http://schemas.openxmlformats.org/drawingml/2006/main">
              <a:ext uri="{FF2B5EF4-FFF2-40B4-BE49-F238E27FC236}">
                <a16:creationId xmlns:a16="http://schemas.microsoft.com/office/drawing/2014/main" id="{05867C6B-A552-47C0-AE20-FFA648E0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120</a:t>
            </a:r>
          </a:p>
        </p:txBody>
      </p:sp>
      <p:sp>
        <p:nvSpPr>
          <p:cNvPr id="7" name="axis-124">
            <a:extLst xmlns:a="http://schemas.openxmlformats.org/drawingml/2006/main">
              <a:ext uri="{FF2B5EF4-FFF2-40B4-BE49-F238E27FC236}">
                <a16:creationId xmlns:a16="http://schemas.microsoft.com/office/drawing/2014/main" id="{7DAD0364-3B44-48F1-B1D8-06AE5391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124</a:t>
            </a:r>
          </a:p>
        </p:txBody>
      </p:sp>
      <p:sp>
        <p:nvSpPr>
          <p:cNvPr id="8" name="axis-line">
            <a:extLst xmlns:a="http://schemas.openxmlformats.org/drawingml/2006/main">
              <a:ext uri="{FF2B5EF4-FFF2-40B4-BE49-F238E27FC236}">
                <a16:creationId xmlns:a16="http://schemas.microsoft.com/office/drawing/2014/main" id="{CF21DB53-073D-46BB-916F-0F571E06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00500"/>
            <a:ext cx="838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9" name="quant-ask">
            <a:extLst xmlns:a="http://schemas.openxmlformats.org/drawingml/2006/main">
              <a:ext uri="{FF2B5EF4-FFF2-40B4-BE49-F238E27FC236}">
                <a16:creationId xmlns:a16="http://schemas.microsoft.com/office/drawing/2014/main" id="{971B4F05-FDE1-41A9-9BDA-AABB6202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看到代表值120，原来可能是多少？</a:t>
            </a:r>
          </a:p>
        </p:txBody>
      </p:sp>
      <p:sp>
        <p:nvSpPr>
          <p:cNvPr id="10" name="many-to-one">
            <a:extLst xmlns:a="http://schemas.openxmlformats.org/drawingml/2006/main">
              <a:ext uri="{FF2B5EF4-FFF2-40B4-BE49-F238E27FC236}">
                <a16:creationId xmlns:a16="http://schemas.microsoft.com/office/drawing/2014/main" id="{2802BD94-58B1-4D84-95AD-6F8F5515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120 → 120       121 → 120</a:t>
            </a:r>
          </a:p>
        </p:txBody>
      </p:sp>
    </p:spTree>
    <p:extLst>
      <p:ext uri="{BB962C8B-B14F-4D97-AF65-F5344CB8AC3E}">
        <p14:creationId xmlns:p14="http://schemas.microsoft.com/office/powerpoint/2010/main" val="7678740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">
            <a:extLst xmlns:a="http://schemas.openxmlformats.org/drawingml/2006/main">
              <a:ext uri="{FF2B5EF4-FFF2-40B4-BE49-F238E27FC236}">
                <a16:creationId xmlns:a16="http://schemas.microsoft.com/office/drawing/2014/main" id="{60391F45-DD2A-4EE2-90FB-BAC8DAA5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186D387-8837-49D5-A239-F7F32AB1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23E2633-8C51-488A-8EF5-47D76EA9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只留近似值，还能找回原数吗？</a:t>
            </a:r>
          </a:p>
        </p:txBody>
      </p:sp>
      <p:sp>
        <p:nvSpPr>
          <p:cNvPr id="4" name="quant-rule">
            <a:extLst xmlns:a="http://schemas.openxmlformats.org/drawingml/2006/main">
              <a:ext uri="{FF2B5EF4-FFF2-40B4-BE49-F238E27FC236}">
                <a16:creationId xmlns:a16="http://schemas.microsoft.com/office/drawing/2014/main" id="{58614EF8-2F9F-45E9-B6F1-AB64DDA9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归到最近的4的倍数；中点向上取。</a:t>
            </a:r>
          </a:p>
        </p:txBody>
      </p:sp>
      <p:sp>
        <p:nvSpPr>
          <p:cNvPr id="5" name="axis-116">
            <a:extLst xmlns:a="http://schemas.openxmlformats.org/drawingml/2006/main">
              <a:ext uri="{FF2B5EF4-FFF2-40B4-BE49-F238E27FC236}">
                <a16:creationId xmlns:a16="http://schemas.microsoft.com/office/drawing/2014/main" id="{F8276192-1058-45BE-86AC-2C501CBD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116</a:t>
            </a:r>
          </a:p>
        </p:txBody>
      </p:sp>
      <p:sp>
        <p:nvSpPr>
          <p:cNvPr id="6" name="axis-120">
            <a:extLst xmlns:a="http://schemas.openxmlformats.org/drawingml/2006/main">
              <a:ext uri="{FF2B5EF4-FFF2-40B4-BE49-F238E27FC236}">
                <a16:creationId xmlns:a16="http://schemas.microsoft.com/office/drawing/2014/main" id="{05867C6B-A552-47C0-AE20-FFA648E0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120</a:t>
            </a:r>
          </a:p>
        </p:txBody>
      </p:sp>
      <p:sp>
        <p:nvSpPr>
          <p:cNvPr id="7" name="axis-124">
            <a:extLst xmlns:a="http://schemas.openxmlformats.org/drawingml/2006/main">
              <a:ext uri="{FF2B5EF4-FFF2-40B4-BE49-F238E27FC236}">
                <a16:creationId xmlns:a16="http://schemas.microsoft.com/office/drawing/2014/main" id="{7DAD0364-3B44-48F1-B1D8-06AE5391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124</a:t>
            </a:r>
          </a:p>
        </p:txBody>
      </p:sp>
      <p:sp>
        <p:nvSpPr>
          <p:cNvPr id="8" name="axis-line">
            <a:extLst xmlns:a="http://schemas.openxmlformats.org/drawingml/2006/main">
              <a:ext uri="{FF2B5EF4-FFF2-40B4-BE49-F238E27FC236}">
                <a16:creationId xmlns:a16="http://schemas.microsoft.com/office/drawing/2014/main" id="{CF21DB53-073D-46BB-916F-0F571E06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00500"/>
            <a:ext cx="838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9" name="quant-ask">
            <a:extLst xmlns:a="http://schemas.openxmlformats.org/drawingml/2006/main">
              <a:ext uri="{FF2B5EF4-FFF2-40B4-BE49-F238E27FC236}">
                <a16:creationId xmlns:a16="http://schemas.microsoft.com/office/drawing/2014/main" id="{971B4F05-FDE1-41A9-9BDA-AABB6202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看到代表值120，原来可能是多少？</a:t>
            </a:r>
          </a:p>
        </p:txBody>
      </p:sp>
      <p:sp>
        <p:nvSpPr>
          <p:cNvPr id="10" name="many-to-one">
            <a:extLst xmlns:a="http://schemas.openxmlformats.org/drawingml/2006/main">
              <a:ext uri="{FF2B5EF4-FFF2-40B4-BE49-F238E27FC236}">
                <a16:creationId xmlns:a16="http://schemas.microsoft.com/office/drawing/2014/main" id="{2802BD94-58B1-4D84-95AD-6F8F5515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120 → 120       121 → 120</a:t>
            </a:r>
          </a:p>
        </p:txBody>
      </p:sp>
      <p:sp>
        <p:nvSpPr>
          <p:cNvPr id="11" name="lossy-size">
            <a:extLst xmlns:a="http://schemas.openxmlformats.org/drawingml/2006/main">
              <a:ext uri="{FF2B5EF4-FFF2-40B4-BE49-F238E27FC236}">
                <a16:creationId xmlns:a16="http://schemas.microsoft.com/office/drawing/2014/main" id="{FEB30537-DB77-45E3-AB90-AB64A3ED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× 6 = 48 bit = 6 B；不能保证完整恢复</a:t>
            </a:r>
          </a:p>
        </p:txBody>
      </p:sp>
    </p:spTree>
    <p:extLst>
      <p:ext uri="{BB962C8B-B14F-4D97-AF65-F5344CB8AC3E}">
        <p14:creationId xmlns:p14="http://schemas.microsoft.com/office/powerpoint/2010/main" val="7678740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64C872A7-0956-47A0-AE4F-3CC400CB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94D9341-696A-44D6-B727-1F94E6FD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F5AD1AA-E7FE-44BC-8906-8AA365EA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看起来差不多，能否叫无损？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a309e26d674f20"/>
          <a:stretch xmlns:a="http://schemas.openxmlformats.org/drawingml/2006/main"/>
        </p:blipFill>
        <p:spPr>
          <a:xfrm xmlns:a="http://schemas.openxmlformats.org/drawingml/2006/main">
            <a:off x="1543050" y="1981200"/>
            <a:ext cx="2266950" cy="33337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5fe354d174091"/>
          <a:stretch xmlns:a="http://schemas.openxmlformats.org/drawingml/2006/main"/>
        </p:blipFill>
        <p:spPr>
          <a:xfrm xmlns:a="http://schemas.openxmlformats.org/drawingml/2006/main">
            <a:off x="7391400" y="1981200"/>
            <a:ext cx="2266950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image-a">
            <a:extLst xmlns:a="http://schemas.openxmlformats.org/drawingml/2006/main">
              <a:ext uri="{FF2B5EF4-FFF2-40B4-BE49-F238E27FC236}">
                <a16:creationId xmlns:a16="http://schemas.microsoft.com/office/drawing/2014/main" id="{43A0EBFE-CAF5-4FB0-9E87-5B518AD9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811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</a:t>
            </a:r>
          </a:p>
        </p:txBody>
      </p:sp>
      <p:sp>
        <p:nvSpPr>
          <p:cNvPr id="7" name="image-b">
            <a:extLst xmlns:a="http://schemas.openxmlformats.org/drawingml/2006/main">
              <a:ext uri="{FF2B5EF4-FFF2-40B4-BE49-F238E27FC236}">
                <a16:creationId xmlns:a16="http://schemas.microsoft.com/office/drawing/2014/main" id="{4033187C-FFBE-4C9D-8C40-7920D4D3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811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8" name="painting-baseline">
            <a:extLst xmlns:a="http://schemas.openxmlformats.org/drawingml/2006/main">
              <a:ext uri="{FF2B5EF4-FFF2-40B4-BE49-F238E27FC236}">
                <a16:creationId xmlns:a16="http://schemas.microsoft.com/office/drawing/2014/main" id="{7AA7A312-B1F1-4411-AF39-6919AA0A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53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两图均为1020 × 1500像素；以所提供JPEG本次解码的RGB为起点。</a:t>
            </a:r>
          </a:p>
        </p:txBody>
      </p:sp>
    </p:spTree>
    <p:extLst>
      <p:ext uri="{BB962C8B-B14F-4D97-AF65-F5344CB8AC3E}">
        <p14:creationId xmlns:p14="http://schemas.microsoft.com/office/powerpoint/2010/main" val="204820703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64C872A7-0956-47A0-AE4F-3CC400CB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94D9341-696A-44D6-B727-1F94E6FD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F5AD1AA-E7FE-44BC-8906-8AA365EA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看起来差不多，能否叫无损？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13d50ee6e429e"/>
          <a:stretch xmlns:a="http://schemas.openxmlformats.org/drawingml/2006/main"/>
        </p:blipFill>
        <p:spPr>
          <a:xfrm xmlns:a="http://schemas.openxmlformats.org/drawingml/2006/main">
            <a:off x="1543050" y="1981200"/>
            <a:ext cx="2266950" cy="333375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6b9b4caf24e8e"/>
          <a:stretch xmlns:a="http://schemas.openxmlformats.org/drawingml/2006/main"/>
        </p:blipFill>
        <p:spPr>
          <a:xfrm xmlns:a="http://schemas.openxmlformats.org/drawingml/2006/main">
            <a:off x="7391400" y="1981200"/>
            <a:ext cx="2266950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image-a">
            <a:extLst xmlns:a="http://schemas.openxmlformats.org/drawingml/2006/main">
              <a:ext uri="{FF2B5EF4-FFF2-40B4-BE49-F238E27FC236}">
                <a16:creationId xmlns:a16="http://schemas.microsoft.com/office/drawing/2014/main" id="{43A0EBFE-CAF5-4FB0-9E87-5B518AD9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811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</a:t>
            </a:r>
          </a:p>
        </p:txBody>
      </p:sp>
      <p:sp>
        <p:nvSpPr>
          <p:cNvPr id="7" name="image-b">
            <a:extLst xmlns:a="http://schemas.openxmlformats.org/drawingml/2006/main">
              <a:ext uri="{FF2B5EF4-FFF2-40B4-BE49-F238E27FC236}">
                <a16:creationId xmlns:a16="http://schemas.microsoft.com/office/drawing/2014/main" id="{4033187C-FFBE-4C9D-8C40-7920D4D3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811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8" name="painting-baseline">
            <a:extLst xmlns:a="http://schemas.openxmlformats.org/drawingml/2006/main">
              <a:ext uri="{FF2B5EF4-FFF2-40B4-BE49-F238E27FC236}">
                <a16:creationId xmlns:a16="http://schemas.microsoft.com/office/drawing/2014/main" id="{7AA7A312-B1F1-4411-AF39-6919AA0A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比较本次输入RGB；不证明更早的原图无损。</a:t>
            </a:r>
          </a:p>
        </p:txBody>
      </p:sp>
      <p:sp>
        <p:nvSpPr>
          <p:cNvPr id="9" name="format-a">
            <a:extLst xmlns:a="http://schemas.openxmlformats.org/drawingml/2006/main">
              <a:ext uri="{FF2B5EF4-FFF2-40B4-BE49-F238E27FC236}">
                <a16:creationId xmlns:a16="http://schemas.microsoft.com/office/drawing/2014/main" id="{1E7B5240-0BED-49EE-A4B2-554ACB20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PNG：本次回读像素一致</a:t>
            </a:r>
          </a:p>
        </p:txBody>
      </p:sp>
      <p:sp>
        <p:nvSpPr>
          <p:cNvPr id="10" name="format-b">
            <a:extLst xmlns:a="http://schemas.openxmlformats.org/drawingml/2006/main">
              <a:ext uri="{FF2B5EF4-FFF2-40B4-BE49-F238E27FC236}">
                <a16:creationId xmlns:a16="http://schemas.microsoft.com/office/drawing/2014/main" id="{7E2A71A8-8BC0-4464-8E52-D0DB60EE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8197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JPEG：504,742个像素改变</a:t>
            </a:r>
          </a:p>
        </p:txBody>
      </p:sp>
    </p:spTree>
    <p:extLst>
      <p:ext uri="{BB962C8B-B14F-4D97-AF65-F5344CB8AC3E}">
        <p14:creationId xmlns:p14="http://schemas.microsoft.com/office/powerpoint/2010/main" val="204820703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ail">
            <a:extLst xmlns:a="http://schemas.openxmlformats.org/drawingml/2006/main">
              <a:ext uri="{FF2B5EF4-FFF2-40B4-BE49-F238E27FC236}">
                <a16:creationId xmlns:a16="http://schemas.microsoft.com/office/drawing/2014/main" id="{64C872A7-0956-47A0-AE4F-3CC400CB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94D9341-696A-44D6-B727-1F94E6FD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F5AD1AA-E7FE-44BC-8906-8AA365EA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看起来差不多，能否叫无损？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1060cd72a43be"/>
          <a:stretch xmlns:a="http://schemas.openxmlformats.org/drawingml/2006/main"/>
        </p:blipFill>
        <p:spPr>
          <a:xfrm xmlns:a="http://schemas.openxmlformats.org/drawingml/2006/main">
            <a:off x="1543050" y="1981200"/>
            <a:ext cx="2266950" cy="333375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84974b98ef4ddb"/>
          <a:stretch xmlns:a="http://schemas.openxmlformats.org/drawingml/2006/main"/>
        </p:blipFill>
        <p:spPr>
          <a:xfrm xmlns:a="http://schemas.openxmlformats.org/drawingml/2006/main">
            <a:off x="7391400" y="1981200"/>
            <a:ext cx="2266950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image-a">
            <a:extLst xmlns:a="http://schemas.openxmlformats.org/drawingml/2006/main">
              <a:ext uri="{FF2B5EF4-FFF2-40B4-BE49-F238E27FC236}">
                <a16:creationId xmlns:a16="http://schemas.microsoft.com/office/drawing/2014/main" id="{43A0EBFE-CAF5-4FB0-9E87-5B518AD9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811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</a:t>
            </a:r>
          </a:p>
        </p:txBody>
      </p:sp>
      <p:sp>
        <p:nvSpPr>
          <p:cNvPr id="7" name="image-b">
            <a:extLst xmlns:a="http://schemas.openxmlformats.org/drawingml/2006/main">
              <a:ext uri="{FF2B5EF4-FFF2-40B4-BE49-F238E27FC236}">
                <a16:creationId xmlns:a16="http://schemas.microsoft.com/office/drawing/2014/main" id="{4033187C-FFBE-4C9D-8C40-7920D4D3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811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8" name="painting-baseline">
            <a:extLst xmlns:a="http://schemas.openxmlformats.org/drawingml/2006/main">
              <a:ext uri="{FF2B5EF4-FFF2-40B4-BE49-F238E27FC236}">
                <a16:creationId xmlns:a16="http://schemas.microsoft.com/office/drawing/2014/main" id="{7AA7A312-B1F1-4411-AF39-6919AA0A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比较本次输入RGB；不证明更早的原图无损。</a:t>
            </a:r>
          </a:p>
        </p:txBody>
      </p:sp>
      <p:sp>
        <p:nvSpPr>
          <p:cNvPr id="9" name="format-a">
            <a:extLst xmlns:a="http://schemas.openxmlformats.org/drawingml/2006/main">
              <a:ext uri="{FF2B5EF4-FFF2-40B4-BE49-F238E27FC236}">
                <a16:creationId xmlns:a16="http://schemas.microsoft.com/office/drawing/2014/main" id="{1E7B5240-0BED-49EE-A4B2-554ACB20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PNG：本次回读像素一致</a:t>
            </a:r>
          </a:p>
        </p:txBody>
      </p:sp>
      <p:sp>
        <p:nvSpPr>
          <p:cNvPr id="10" name="format-b">
            <a:extLst xmlns:a="http://schemas.openxmlformats.org/drawingml/2006/main">
              <a:ext uri="{FF2B5EF4-FFF2-40B4-BE49-F238E27FC236}">
                <a16:creationId xmlns:a16="http://schemas.microsoft.com/office/drawing/2014/main" id="{7E2A71A8-8BC0-4464-8E52-D0DB60EE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8197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JPEG：504,742个像素改变</a:t>
            </a:r>
          </a:p>
        </p:txBody>
      </p:sp>
      <p:sp>
        <p:nvSpPr>
          <p:cNvPr id="11" name="painting-crop-overlay">
            <a:extLst xmlns:a="http://schemas.openxmlformats.org/drawingml/2006/main">
              <a:ext uri="{FF2B5EF4-FFF2-40B4-BE49-F238E27FC236}">
                <a16:creationId xmlns:a16="http://schemas.microsoft.com/office/drawing/2014/main" id="{433A189C-0FE4-4038-9EE0-B053CE54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933575"/>
            <a:ext cx="109728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84f33acdb34c60"/>
          <a:stretch xmlns:a="http://schemas.openxmlformats.org/drawingml/2006/main"/>
        </p:blipFill>
        <p:spPr>
          <a:xfrm xmlns:a="http://schemas.openxmlformats.org/drawingml/2006/main">
            <a:off x="866775" y="2190750"/>
            <a:ext cx="4629150" cy="3086100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8b5a84d4d46c6"/>
          <a:stretch xmlns:a="http://schemas.openxmlformats.org/drawingml/2006/main"/>
        </p:blipFill>
        <p:spPr>
          <a:xfrm xmlns:a="http://schemas.openxmlformats.org/drawingml/2006/main">
            <a:off x="6677025" y="2190750"/>
            <a:ext cx="4629150" cy="3086100"/>
          </a:xfrm>
          <a:prstGeom xmlns:a="http://schemas.openxmlformats.org/drawingml/2006/main" prst="rect">
            <a:avLst/>
          </a:prstGeom>
        </p:spPr>
      </p:pic>
      <p:sp>
        <p:nvSpPr>
          <p:cNvPr id="14" name="painting-crop-caption">
            <a:extLst xmlns:a="http://schemas.openxmlformats.org/drawingml/2006/main">
              <a:ext uri="{FF2B5EF4-FFF2-40B4-BE49-F238E27FC236}">
                <a16:creationId xmlns:a16="http://schemas.microsoft.com/office/drawing/2014/main" id="{8D96E5BA-E719-4766-A12B-3634AFC7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同一192 × 128像素区域，最近邻放大4倍</a:t>
            </a:r>
          </a:p>
        </p:txBody>
      </p:sp>
    </p:spTree>
    <p:extLst>
      <p:ext uri="{BB962C8B-B14F-4D97-AF65-F5344CB8AC3E}">
        <p14:creationId xmlns:p14="http://schemas.microsoft.com/office/powerpoint/2010/main" val="204820703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ail">
            <a:extLst xmlns:a="http://schemas.openxmlformats.org/drawingml/2006/main">
              <a:ext uri="{FF2B5EF4-FFF2-40B4-BE49-F238E27FC236}">
                <a16:creationId xmlns:a16="http://schemas.microsoft.com/office/drawing/2014/main" id="{64C872A7-0956-47A0-AE4F-3CC400CB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94D9341-696A-44D6-B727-1F94E6FD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F5AD1AA-E7FE-44BC-8906-8AA365EA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看起来差不多，能否叫无损？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1555a5d9b4555"/>
          <a:stretch xmlns:a="http://schemas.openxmlformats.org/drawingml/2006/main"/>
        </p:blipFill>
        <p:spPr>
          <a:xfrm xmlns:a="http://schemas.openxmlformats.org/drawingml/2006/main">
            <a:off x="1543050" y="1981200"/>
            <a:ext cx="2266950" cy="333375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db257acfd04b84"/>
          <a:stretch xmlns:a="http://schemas.openxmlformats.org/drawingml/2006/main"/>
        </p:blipFill>
        <p:spPr>
          <a:xfrm xmlns:a="http://schemas.openxmlformats.org/drawingml/2006/main">
            <a:off x="7391400" y="1981200"/>
            <a:ext cx="2266950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image-a">
            <a:extLst xmlns:a="http://schemas.openxmlformats.org/drawingml/2006/main">
              <a:ext uri="{FF2B5EF4-FFF2-40B4-BE49-F238E27FC236}">
                <a16:creationId xmlns:a16="http://schemas.microsoft.com/office/drawing/2014/main" id="{43A0EBFE-CAF5-4FB0-9E87-5B518AD9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811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</a:t>
            </a:r>
          </a:p>
        </p:txBody>
      </p:sp>
      <p:sp>
        <p:nvSpPr>
          <p:cNvPr id="7" name="image-b">
            <a:extLst xmlns:a="http://schemas.openxmlformats.org/drawingml/2006/main">
              <a:ext uri="{FF2B5EF4-FFF2-40B4-BE49-F238E27FC236}">
                <a16:creationId xmlns:a16="http://schemas.microsoft.com/office/drawing/2014/main" id="{4033187C-FFBE-4C9D-8C40-7920D4D3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811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8" name="painting-baseline">
            <a:extLst xmlns:a="http://schemas.openxmlformats.org/drawingml/2006/main">
              <a:ext uri="{FF2B5EF4-FFF2-40B4-BE49-F238E27FC236}">
                <a16:creationId xmlns:a16="http://schemas.microsoft.com/office/drawing/2014/main" id="{7AA7A312-B1F1-4411-AF39-6919AA0A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比较本次输入RGB；不证明更早的原图无损。</a:t>
            </a:r>
          </a:p>
        </p:txBody>
      </p:sp>
      <p:sp>
        <p:nvSpPr>
          <p:cNvPr id="11" name="painting-crop-overlay">
            <a:extLst xmlns:a="http://schemas.openxmlformats.org/drawingml/2006/main">
              <a:ext uri="{FF2B5EF4-FFF2-40B4-BE49-F238E27FC236}">
                <a16:creationId xmlns:a16="http://schemas.microsoft.com/office/drawing/2014/main" id="{433A189C-0FE4-4038-9EE0-B053CE54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933575"/>
            <a:ext cx="109728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9c8012ca2d4e90"/>
          <a:stretch xmlns:a="http://schemas.openxmlformats.org/drawingml/2006/main"/>
        </p:blipFill>
        <p:spPr>
          <a:xfrm xmlns:a="http://schemas.openxmlformats.org/drawingml/2006/main">
            <a:off x="866775" y="2190750"/>
            <a:ext cx="4629150" cy="3086100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d84b2f27db412c"/>
          <a:stretch xmlns:a="http://schemas.openxmlformats.org/drawingml/2006/main"/>
        </p:blipFill>
        <p:spPr>
          <a:xfrm xmlns:a="http://schemas.openxmlformats.org/drawingml/2006/main">
            <a:off x="6677025" y="2190750"/>
            <a:ext cx="4629150" cy="3086100"/>
          </a:xfrm>
          <a:prstGeom xmlns:a="http://schemas.openxmlformats.org/drawingml/2006/main" prst="rect">
            <a:avLst/>
          </a:prstGeom>
        </p:spPr>
      </p:pic>
      <p:sp>
        <p:nvSpPr>
          <p:cNvPr id="14" name="painting-crop-caption">
            <a:extLst xmlns:a="http://schemas.openxmlformats.org/drawingml/2006/main">
              <a:ext uri="{FF2B5EF4-FFF2-40B4-BE49-F238E27FC236}">
                <a16:creationId xmlns:a16="http://schemas.microsoft.com/office/drawing/2014/main" id="{8D96E5BA-E719-4766-A12B-3634AFC7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同一192 × 128像素区域，最近邻放大4倍</a:t>
            </a:r>
          </a:p>
        </p:txBody>
      </p:sp>
      <p:sp>
        <p:nvSpPr>
          <p:cNvPr id="15" name="painting-size-overlay">
            <a:extLst xmlns:a="http://schemas.openxmlformats.org/drawingml/2006/main">
              <a:ext uri="{FF2B5EF4-FFF2-40B4-BE49-F238E27FC236}">
                <a16:creationId xmlns:a16="http://schemas.microsoft.com/office/drawing/2014/main" id="{EB7BE885-4D87-4F84-8CDC-72CD5C49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581150"/>
            <a:ext cx="10972800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painting-size-heading">
            <a:extLst xmlns:a="http://schemas.openxmlformats.org/drawingml/2006/main">
              <a:ext uri="{FF2B5EF4-FFF2-40B4-BE49-F238E27FC236}">
                <a16:creationId xmlns:a16="http://schemas.microsoft.com/office/drawing/2014/main" id="{04759917-B346-4AE1-A0BF-FFA86212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这份绘画图像（1020 × 1500）</a:t>
            </a:r>
          </a:p>
        </p:txBody>
      </p:sp>
      <p:sp>
        <p:nvSpPr>
          <p:cNvPr id="17" name="painting-size-result">
            <a:extLst xmlns:a="http://schemas.openxmlformats.org/drawingml/2006/main">
              <a:ext uri="{FF2B5EF4-FFF2-40B4-BE49-F238E27FC236}">
                <a16:creationId xmlns:a16="http://schemas.microsoft.com/office/drawing/2014/main" id="{FD1BAADA-1C54-4365-91E8-58BDC6C1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6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PNG 1,706,860 B    JPEG 240,848 B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ccb5f83d74008"/>
          <a:stretch xmlns:a="http://schemas.openxmlformats.org/drawingml/2006/main"/>
        </p:blipFill>
        <p:spPr>
          <a:xfrm xmlns:a="http://schemas.openxmlformats.org/drawingml/2006/main">
            <a:off x="609600" y="3095625"/>
            <a:ext cx="3657600" cy="2057400"/>
          </a:xfrm>
          <a:prstGeom xmlns:a="http://schemas.openxmlformats.org/drawingml/2006/main" prst="rect">
            <a:avLst/>
          </a:prstGeom>
        </p:spPr>
      </p:pic>
      <p:sp>
        <p:nvSpPr>
          <p:cNvPr id="19" name="test-size-heading">
            <a:extLst xmlns:a="http://schemas.openxmlformats.org/drawingml/2006/main">
              <a:ext uri="{FF2B5EF4-FFF2-40B4-BE49-F238E27FC236}">
                <a16:creationId xmlns:a16="http://schemas.microsoft.com/office/drawing/2014/main" id="{C196CBC8-49C2-48AC-962D-CCB10A7B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05150"/>
            <a:ext cx="6705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程序绘制的测试图（384 × 216）</a:t>
            </a:r>
          </a:p>
        </p:txBody>
      </p:sp>
      <p:sp>
        <p:nvSpPr>
          <p:cNvPr id="20" name="test-size-result">
            <a:extLst xmlns:a="http://schemas.openxmlformats.org/drawingml/2006/main">
              <a:ext uri="{FF2B5EF4-FFF2-40B4-BE49-F238E27FC236}">
                <a16:creationId xmlns:a16="http://schemas.microsoft.com/office/drawing/2014/main" id="{47028B99-4890-4F5E-802E-990C7170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86200"/>
            <a:ext cx="670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PNG 4,441 B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JPEG 10,766 B</a:t>
            </a:r>
          </a:p>
        </p:txBody>
      </p:sp>
      <p:sp>
        <p:nvSpPr>
          <p:cNvPr id="21" name="painting-size-conclusion">
            <a:extLst xmlns:a="http://schemas.openxmlformats.org/drawingml/2006/main">
              <a:ext uri="{FF2B5EF4-FFF2-40B4-BE49-F238E27FC236}">
                <a16:creationId xmlns:a16="http://schemas.microsoft.com/office/drawing/2014/main" id="{7E589A4F-5311-40DC-935D-59CD35C3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有损／无损说明能否精确恢复，不能替我们排文件大小。</a:t>
            </a:r>
          </a:p>
        </p:txBody>
      </p:sp>
    </p:spTree>
    <p:extLst>
      <p:ext uri="{BB962C8B-B14F-4D97-AF65-F5344CB8AC3E}">
        <p14:creationId xmlns:p14="http://schemas.microsoft.com/office/powerpoint/2010/main" val="204820703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op-rail">
            <a:extLst xmlns:a="http://schemas.openxmlformats.org/drawingml/2006/main">
              <a:ext uri="{FF2B5EF4-FFF2-40B4-BE49-F238E27FC236}">
                <a16:creationId xmlns:a16="http://schemas.microsoft.com/office/drawing/2014/main" id="{A9ACA2E2-BCEE-44A3-9B91-6EC7D0E0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009CFF8-7BE1-4CBF-9E34-A09A6335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1C2661E-1707-4ED9-86AC-3E30472F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利用关系能无损；舍弃区分会有损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E33B57CC-5F28-4131-B3AD-E055CB49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数据压缩</a:t>
            </a:r>
          </a:p>
        </p:txBody>
      </p:sp>
      <p:sp>
        <p:nvSpPr>
          <p:cNvPr id="5" name="tree-trunk-horizontal">
            <a:extLst xmlns:a="http://schemas.openxmlformats.org/drawingml/2006/main">
              <a:ext uri="{FF2B5EF4-FFF2-40B4-BE49-F238E27FC236}">
                <a16:creationId xmlns:a16="http://schemas.microsoft.com/office/drawing/2014/main" id="{A9C0476F-CFDE-4947-8282-7E8EFE8D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73380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" name="tree-trunk">
            <a:extLst xmlns:a="http://schemas.openxmlformats.org/drawingml/2006/main">
              <a:ext uri="{FF2B5EF4-FFF2-40B4-BE49-F238E27FC236}">
                <a16:creationId xmlns:a16="http://schemas.microsoft.com/office/drawing/2014/main" id="{FDEBAF60-B1F1-4BB9-968F-36ACBA4B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924050"/>
            <a:ext cx="1905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7" name="tree-branch-link-purpose">
            <a:extLst xmlns:a="http://schemas.openxmlformats.org/drawingml/2006/main">
              <a:ext uri="{FF2B5EF4-FFF2-40B4-BE49-F238E27FC236}">
                <a16:creationId xmlns:a16="http://schemas.microsoft.com/office/drawing/2014/main" id="{96997067-1079-4253-90D6-E6C35D3B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9240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tree-branch-purpose">
            <a:extLst xmlns:a="http://schemas.openxmlformats.org/drawingml/2006/main">
              <a:ext uri="{FF2B5EF4-FFF2-40B4-BE49-F238E27FC236}">
                <a16:creationId xmlns:a16="http://schemas.microsoft.com/office/drawing/2014/main" id="{3196A6DC-E45B-44F7-A2BE-03EBB311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52600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为何压缩</a:t>
            </a:r>
          </a:p>
        </p:txBody>
      </p:sp>
      <p:sp>
        <p:nvSpPr>
          <p:cNvPr id="9" name="tree-branch-link-method">
            <a:extLst xmlns:a="http://schemas.openxmlformats.org/drawingml/2006/main">
              <a:ext uri="{FF2B5EF4-FFF2-40B4-BE49-F238E27FC236}">
                <a16:creationId xmlns:a16="http://schemas.microsoft.com/office/drawing/2014/main" id="{606826CA-24B9-40A3-8B59-AF91D52A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9527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" name="tree-branch-method">
            <a:extLst xmlns:a="http://schemas.openxmlformats.org/drawingml/2006/main">
              <a:ext uri="{FF2B5EF4-FFF2-40B4-BE49-F238E27FC236}">
                <a16:creationId xmlns:a16="http://schemas.microsoft.com/office/drawing/2014/main" id="{B46657AD-C61D-4216-8AED-B280B92A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81300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怎样变小</a:t>
            </a:r>
          </a:p>
        </p:txBody>
      </p:sp>
      <p:sp>
        <p:nvSpPr>
          <p:cNvPr id="11" name="tree-branch-link-recovery">
            <a:extLst xmlns:a="http://schemas.openxmlformats.org/drawingml/2006/main">
              <a:ext uri="{FF2B5EF4-FFF2-40B4-BE49-F238E27FC236}">
                <a16:creationId xmlns:a16="http://schemas.microsoft.com/office/drawing/2014/main" id="{5FE86790-E449-493F-A65E-AC64ACA3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16242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" name="tree-branch-recovery">
            <a:extLst xmlns:a="http://schemas.openxmlformats.org/drawingml/2006/main">
              <a:ext uri="{FF2B5EF4-FFF2-40B4-BE49-F238E27FC236}">
                <a16:creationId xmlns:a16="http://schemas.microsoft.com/office/drawing/2014/main" id="{DAFCF7C6-F481-4F42-A73B-FD8746B0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90975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能否恢复</a:t>
            </a:r>
          </a:p>
        </p:txBody>
      </p:sp>
      <p:sp>
        <p:nvSpPr>
          <p:cNvPr id="13" name="tree-branch-link-choice">
            <a:extLst xmlns:a="http://schemas.openxmlformats.org/drawingml/2006/main">
              <a:ext uri="{FF2B5EF4-FFF2-40B4-BE49-F238E27FC236}">
                <a16:creationId xmlns:a16="http://schemas.microsoft.com/office/drawing/2014/main" id="{1C7BBA97-3FFF-45B5-9BE7-63FE0BAE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49592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4" name="tree-branch-choice">
            <a:extLst xmlns:a="http://schemas.openxmlformats.org/drawingml/2006/main">
              <a:ext uri="{FF2B5EF4-FFF2-40B4-BE49-F238E27FC236}">
                <a16:creationId xmlns:a16="http://schemas.microsoft.com/office/drawing/2014/main" id="{3746EA0F-1BED-4796-9774-E97AC6CD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24475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怎样选择</a:t>
            </a:r>
          </a:p>
        </p:txBody>
      </p:sp>
      <p:sp>
        <p:nvSpPr>
          <p:cNvPr id="15" name="tree-leaf-space">
            <a:extLst xmlns:a="http://schemas.openxmlformats.org/drawingml/2006/main">
              <a:ext uri="{FF2B5EF4-FFF2-40B4-BE49-F238E27FC236}">
                <a16:creationId xmlns:a16="http://schemas.microsoft.com/office/drawing/2014/main" id="{D9B5A6FC-721B-4F34-8828-55D581AA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811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特殊编码，减少存储／传输数据量</a:t>
            </a:r>
          </a:p>
        </p:txBody>
      </p:sp>
      <p:sp>
        <p:nvSpPr>
          <p:cNvPr id="16" name="tree-leaf-link-space">
            <a:extLst xmlns:a="http://schemas.openxmlformats.org/drawingml/2006/main">
              <a:ext uri="{FF2B5EF4-FFF2-40B4-BE49-F238E27FC236}">
                <a16:creationId xmlns:a16="http://schemas.microsoft.com/office/drawing/2014/main" id="{AB77B750-299F-4116-A4B4-9FF7B7A2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7526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17" name="tree-leaf-limit">
            <a:extLst xmlns:a="http://schemas.openxmlformats.org/drawingml/2006/main">
              <a:ext uri="{FF2B5EF4-FFF2-40B4-BE49-F238E27FC236}">
                <a16:creationId xmlns:a16="http://schemas.microsoft.com/office/drawing/2014/main" id="{A9863E69-C56C-44C3-9CCB-667F0C69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431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效果取决于数据、方法与开销</a:t>
            </a:r>
          </a:p>
        </p:txBody>
      </p:sp>
      <p:sp>
        <p:nvSpPr>
          <p:cNvPr id="18" name="tree-leaf-link-limit">
            <a:extLst xmlns:a="http://schemas.openxmlformats.org/drawingml/2006/main">
              <a:ext uri="{FF2B5EF4-FFF2-40B4-BE49-F238E27FC236}">
                <a16:creationId xmlns:a16="http://schemas.microsoft.com/office/drawing/2014/main" id="{0D16F80C-1589-4EA7-8EA6-1A68B495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145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19" name="tree-leaf-repeat">
            <a:extLst xmlns:a="http://schemas.openxmlformats.org/drawingml/2006/main">
              <a:ext uri="{FF2B5EF4-FFF2-40B4-BE49-F238E27FC236}">
                <a16:creationId xmlns:a16="http://schemas.microsoft.com/office/drawing/2014/main" id="{48D41C54-40B8-4CAD-AAFD-E2DCE420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193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去除冗余：连续重复写成次数</a:t>
            </a:r>
          </a:p>
        </p:txBody>
      </p:sp>
      <p:sp>
        <p:nvSpPr>
          <p:cNvPr id="20" name="tree-leaf-link-repeat">
            <a:extLst xmlns:a="http://schemas.openxmlformats.org/drawingml/2006/main">
              <a:ext uri="{FF2B5EF4-FFF2-40B4-BE49-F238E27FC236}">
                <a16:creationId xmlns:a16="http://schemas.microsoft.com/office/drawing/2014/main" id="{1C9B787E-58D1-4442-BD54-3337BB55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908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1" name="tree-leaf-lossless">
            <a:extLst xmlns:a="http://schemas.openxmlformats.org/drawingml/2006/main">
              <a:ext uri="{FF2B5EF4-FFF2-40B4-BE49-F238E27FC236}">
                <a16:creationId xmlns:a16="http://schemas.microsoft.com/office/drawing/2014/main" id="{8B170082-9E88-4D7D-AC7D-619E8167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100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无损：可完全恢复原始数据</a:t>
            </a:r>
          </a:p>
        </p:txBody>
      </p:sp>
      <p:sp>
        <p:nvSpPr>
          <p:cNvPr id="22" name="tree-leaf-link-lossless">
            <a:extLst xmlns:a="http://schemas.openxmlformats.org/drawingml/2006/main">
              <a:ext uri="{FF2B5EF4-FFF2-40B4-BE49-F238E27FC236}">
                <a16:creationId xmlns:a16="http://schemas.microsoft.com/office/drawing/2014/main" id="{F7C1135E-A323-4773-AF8F-E155BB5F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814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3" name="tree-stem-purpose">
            <a:extLst xmlns:a="http://schemas.openxmlformats.org/drawingml/2006/main">
              <a:ext uri="{FF2B5EF4-FFF2-40B4-BE49-F238E27FC236}">
                <a16:creationId xmlns:a16="http://schemas.microsoft.com/office/drawing/2014/main" id="{68568472-2AA6-4BA7-90E8-3F3269A2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5260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4" name="tree-parent-link-purpose">
            <a:extLst xmlns:a="http://schemas.openxmlformats.org/drawingml/2006/main">
              <a:ext uri="{FF2B5EF4-FFF2-40B4-BE49-F238E27FC236}">
                <a16:creationId xmlns:a16="http://schemas.microsoft.com/office/drawing/2014/main" id="{D11B3B8D-8A9D-4587-99F7-6ABF42D0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24050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5" name="tree-stem-method">
            <a:extLst xmlns:a="http://schemas.openxmlformats.org/drawingml/2006/main">
              <a:ext uri="{FF2B5EF4-FFF2-40B4-BE49-F238E27FC236}">
                <a16:creationId xmlns:a16="http://schemas.microsoft.com/office/drawing/2014/main" id="{6F57C38C-8252-44C8-A6A2-93E87FB9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90800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6" name="tree-parent-link-method">
            <a:extLst xmlns:a="http://schemas.openxmlformats.org/drawingml/2006/main">
              <a:ext uri="{FF2B5EF4-FFF2-40B4-BE49-F238E27FC236}">
                <a16:creationId xmlns:a16="http://schemas.microsoft.com/office/drawing/2014/main" id="{50ED2DAF-17AD-4E53-A950-1814DD3B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952750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7" name="tree-stem-recovery">
            <a:extLst xmlns:a="http://schemas.openxmlformats.org/drawingml/2006/main">
              <a:ext uri="{FF2B5EF4-FFF2-40B4-BE49-F238E27FC236}">
                <a16:creationId xmlns:a16="http://schemas.microsoft.com/office/drawing/2014/main" id="{C4425911-CC97-40F4-B947-10879B9F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8145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8" name="tree-parent-link-recovery">
            <a:extLst xmlns:a="http://schemas.openxmlformats.org/drawingml/2006/main">
              <a:ext uri="{FF2B5EF4-FFF2-40B4-BE49-F238E27FC236}">
                <a16:creationId xmlns:a16="http://schemas.microsoft.com/office/drawing/2014/main" id="{D76DECE5-F11E-4521-AD2A-9AE2A8F9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162425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9" name="tree-leaf-correlation">
            <a:extLst xmlns:a="http://schemas.openxmlformats.org/drawingml/2006/main">
              <a:ext uri="{FF2B5EF4-FFF2-40B4-BE49-F238E27FC236}">
                <a16:creationId xmlns:a16="http://schemas.microsoft.com/office/drawing/2014/main" id="{EDED383B-3C06-45CF-BDEC-E433105A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利用相关：首值＋完整差值</a:t>
            </a:r>
          </a:p>
        </p:txBody>
      </p:sp>
      <p:sp>
        <p:nvSpPr>
          <p:cNvPr id="30" name="tree-leaf-link-correlation">
            <a:extLst xmlns:a="http://schemas.openxmlformats.org/drawingml/2006/main">
              <a:ext uri="{FF2B5EF4-FFF2-40B4-BE49-F238E27FC236}">
                <a16:creationId xmlns:a16="http://schemas.microsoft.com/office/drawing/2014/main" id="{23BEE4F5-2E90-4127-94E1-75B8DBF2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527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1" name="tree-leaf-perception">
            <a:extLst xmlns:a="http://schemas.openxmlformats.org/drawingml/2006/main">
              <a:ext uri="{FF2B5EF4-FFF2-40B4-BE49-F238E27FC236}">
                <a16:creationId xmlns:a16="http://schemas.microsoft.com/office/drawing/2014/main" id="{E2954F52-9FFA-4CC5-97E8-F8EDB29D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432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感知近似：舍弃不敏感的区分</a:t>
            </a:r>
          </a:p>
        </p:txBody>
      </p:sp>
      <p:sp>
        <p:nvSpPr>
          <p:cNvPr id="32" name="tree-leaf-link-perception">
            <a:extLst xmlns:a="http://schemas.openxmlformats.org/drawingml/2006/main">
              <a:ext uri="{FF2B5EF4-FFF2-40B4-BE49-F238E27FC236}">
                <a16:creationId xmlns:a16="http://schemas.microsoft.com/office/drawing/2014/main" id="{A339116C-482E-4776-886B-23EA1589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147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3" name="tree-leaf-lossy">
            <a:extLst xmlns:a="http://schemas.openxmlformats.org/drawingml/2006/main">
              <a:ext uri="{FF2B5EF4-FFF2-40B4-BE49-F238E27FC236}">
                <a16:creationId xmlns:a16="http://schemas.microsoft.com/office/drawing/2014/main" id="{8C56C6A8-49D8-490C-A461-19C5D389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719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有损：不能保证完全恢复</a:t>
            </a:r>
          </a:p>
        </p:txBody>
      </p:sp>
      <p:sp>
        <p:nvSpPr>
          <p:cNvPr id="34" name="tree-leaf-link-lossy">
            <a:extLst xmlns:a="http://schemas.openxmlformats.org/drawingml/2006/main">
              <a:ext uri="{FF2B5EF4-FFF2-40B4-BE49-F238E27FC236}">
                <a16:creationId xmlns:a16="http://schemas.microsoft.com/office/drawing/2014/main" id="{EDE64E39-43C5-4663-9A10-D14EB178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434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5" name="tree-focus-method">
            <a:extLst xmlns:a="http://schemas.openxmlformats.org/drawingml/2006/main">
              <a:ext uri="{FF2B5EF4-FFF2-40B4-BE49-F238E27FC236}">
                <a16:creationId xmlns:a16="http://schemas.microsoft.com/office/drawing/2014/main" id="{3EE0FBB7-C8EF-4D21-B3C9-54AA7F2F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800350"/>
            <a:ext cx="56292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36" name="tree-focus-recovery">
            <a:extLst xmlns:a="http://schemas.openxmlformats.org/drawingml/2006/main">
              <a:ext uri="{FF2B5EF4-FFF2-40B4-BE49-F238E27FC236}">
                <a16:creationId xmlns:a16="http://schemas.microsoft.com/office/drawing/2014/main" id="{D739BD5C-3148-4667-AAB1-9B77B4AC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191000"/>
            <a:ext cx="5629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37" name="tree-summary">
            <a:extLst xmlns:a="http://schemas.openxmlformats.org/drawingml/2006/main">
              <a:ext uri="{FF2B5EF4-FFF2-40B4-BE49-F238E27FC236}">
                <a16:creationId xmlns:a16="http://schemas.microsoft.com/office/drawing/2014/main" id="{23B5D562-E54A-48DC-B84B-53BB019A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看起来相似，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不能证明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原值相同。</a:t>
            </a:r>
          </a:p>
        </p:txBody>
      </p:sp>
    </p:spTree>
    <p:extLst>
      <p:ext uri="{BB962C8B-B14F-4D97-AF65-F5344CB8AC3E}">
        <p14:creationId xmlns:p14="http://schemas.microsoft.com/office/powerpoint/2010/main" val="140251374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op-rail">
            <a:extLst xmlns:a="http://schemas.openxmlformats.org/drawingml/2006/main">
              <a:ext uri="{FF2B5EF4-FFF2-40B4-BE49-F238E27FC236}">
                <a16:creationId xmlns:a16="http://schemas.microsoft.com/office/drawing/2014/main" id="{2DD65361-57DA-4A23-8B7C-2C448955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27A9019-110F-41EE-9378-937E02C0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B774C41-FF41-4777-BCCD-F296AD2D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同一种误差，哪些任务能接受？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53750" cy="3076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86750"/>
              </a:tblGrid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任务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变化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通知原文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本周五交作业 → 本周交作业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源程序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score &gt;= 60 → score &gt; 60；输入60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照片浏览副本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像素略变，人物与活动内容仍清楚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640895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2DD65361-57DA-4A23-8B7C-2C448955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27A9019-110F-41EE-9378-937E02C0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B774C41-FF41-4777-BCCD-F296AD2D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同一种误差，哪些任务能接受？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53750" cy="3076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86750"/>
              </a:tblGrid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任务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变化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通知原文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本周五交作业 → 本周交作业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源程序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score &gt;= 60 → score &gt; 60；输入60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照片浏览副本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像素略变，人物与活动内容仍清楚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use-answer">
            <a:extLst xmlns:a="http://schemas.openxmlformats.org/drawingml/2006/main">
              <a:ext uri="{FF2B5EF4-FFF2-40B4-BE49-F238E27FC236}">
                <a16:creationId xmlns:a16="http://schemas.microsoft.com/office/drawing/2014/main" id="{5366235B-2869-4360-AE5C-C06D616E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文本文档／程序必须无损；媒体要检查用途与质量。</a:t>
            </a:r>
          </a:p>
        </p:txBody>
      </p:sp>
    </p:spTree>
    <p:extLst>
      <p:ext uri="{BB962C8B-B14F-4D97-AF65-F5344CB8AC3E}">
        <p14:creationId xmlns:p14="http://schemas.microsoft.com/office/powerpoint/2010/main" val="175640895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6067BDB8-736C-413D-B10A-79121393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858DA18-2004-4D3D-BC87-75710242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2497DC4-BBAF-48BC-8877-D68FE2C6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看扩展名，就能判定压缩方式吗？</a:t>
            </a:r>
          </a:p>
        </p:txBody>
      </p:sp>
      <p:sp>
        <p:nvSpPr>
          <p:cNvPr id="4" name="format-claim">
            <a:extLst xmlns:a="http://schemas.openxmlformats.org/drawingml/2006/main">
              <a:ext uri="{FF2B5EF4-FFF2-40B4-BE49-F238E27FC236}">
                <a16:creationId xmlns:a16="http://schemas.microsoft.com/office/drawing/2014/main" id="{4DC293CC-0048-42F3-A5DF-B14687DD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“JPG、TIF、MP3、MPEG都是有损；图片不能无损。”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3295650"/>
          <a:ext xmlns:a="http://schemas.openxmlformats.org/drawingml/2006/main" cx="1095375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86750"/>
              </a:tblGrid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TIFF配置卡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可选方式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编码设置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未压缩／LZW无损／JPEG有损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ng-recall">
            <a:extLst xmlns:a="http://schemas.openxmlformats.org/drawingml/2006/main">
              <a:ext uri="{FF2B5EF4-FFF2-40B4-BE49-F238E27FC236}">
                <a16:creationId xmlns:a16="http://schemas.microsoft.com/office/drawing/2014/main" id="{1A494184-7EBA-4CAB-8600-7156CDE3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已有证据：本课PNG回读像素一致。</a:t>
            </a:r>
          </a:p>
        </p:txBody>
      </p:sp>
    </p:spTree>
    <p:extLst>
      <p:ext uri="{BB962C8B-B14F-4D97-AF65-F5344CB8AC3E}">
        <p14:creationId xmlns:p14="http://schemas.microsoft.com/office/powerpoint/2010/main" val="190787168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6067BDB8-736C-413D-B10A-79121393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858DA18-2004-4D3D-BC87-75710242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2497DC4-BBAF-48BC-8877-D68FE2C6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看扩展名，就能判定压缩方式吗？</a:t>
            </a:r>
          </a:p>
        </p:txBody>
      </p:sp>
      <p:sp>
        <p:nvSpPr>
          <p:cNvPr id="4" name="format-claim">
            <a:extLst xmlns:a="http://schemas.openxmlformats.org/drawingml/2006/main">
              <a:ext uri="{FF2B5EF4-FFF2-40B4-BE49-F238E27FC236}">
                <a16:creationId xmlns:a16="http://schemas.microsoft.com/office/drawing/2014/main" id="{4DC293CC-0048-42F3-A5DF-B14687DD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“JPG、TIF、MP3、MPEG都是有损；图片不能无损。”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3295650"/>
          <a:ext xmlns:a="http://schemas.openxmlformats.org/drawingml/2006/main" cx="1095375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86750"/>
              </a:tblGrid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TIFF配置卡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可选方式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编码设置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未压缩／LZW无损／JPEG有损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ng-recall">
            <a:extLst xmlns:a="http://schemas.openxmlformats.org/drawingml/2006/main">
              <a:ext uri="{FF2B5EF4-FFF2-40B4-BE49-F238E27FC236}">
                <a16:creationId xmlns:a16="http://schemas.microsoft.com/office/drawing/2014/main" id="{1A494184-7EBA-4CAB-8600-7156CDE3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已有证据：本课PNG回读像素一致。</a:t>
            </a:r>
          </a:p>
        </p:txBody>
      </p:sp>
      <p:sp>
        <p:nvSpPr>
          <p:cNvPr id="7" name="format-fix">
            <a:extLst xmlns:a="http://schemas.openxmlformats.org/drawingml/2006/main">
              <a:ext uri="{FF2B5EF4-FFF2-40B4-BE49-F238E27FC236}">
                <a16:creationId xmlns:a16="http://schemas.microsoft.com/office/drawing/2014/main" id="{C3C300E5-693E-40C6-9559-6C3861D2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TIF需看编码；图片也能无损压缩。</a:t>
            </a:r>
          </a:p>
        </p:txBody>
      </p:sp>
    </p:spTree>
    <p:extLst>
      <p:ext uri="{BB962C8B-B14F-4D97-AF65-F5344CB8AC3E}">
        <p14:creationId xmlns:p14="http://schemas.microsoft.com/office/powerpoint/2010/main" val="190787168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6067BDB8-736C-413D-B10A-79121393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858DA18-2004-4D3D-BC87-75710242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2497DC4-BBAF-48BC-8877-D68FE2C6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看扩展名，就能判定压缩方式吗？</a:t>
            </a:r>
          </a:p>
        </p:txBody>
      </p:sp>
      <p:sp>
        <p:nvSpPr>
          <p:cNvPr id="4" name="format-claim">
            <a:extLst xmlns:a="http://schemas.openxmlformats.org/drawingml/2006/main">
              <a:ext uri="{FF2B5EF4-FFF2-40B4-BE49-F238E27FC236}">
                <a16:creationId xmlns:a16="http://schemas.microsoft.com/office/drawing/2014/main" id="{4DC293CC-0048-42F3-A5DF-B14687DD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“JPG、TIF、MP3、MPEG都是有损；图片不能无损。”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3295650"/>
          <a:ext xmlns:a="http://schemas.openxmlformats.org/drawingml/2006/main" cx="1095375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86750"/>
              </a:tblGrid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TIFF配置卡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可选方式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编码设置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未压缩／LZW无损／JPEG有损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ng-recall">
            <a:extLst xmlns:a="http://schemas.openxmlformats.org/drawingml/2006/main">
              <a:ext uri="{FF2B5EF4-FFF2-40B4-BE49-F238E27FC236}">
                <a16:creationId xmlns:a16="http://schemas.microsoft.com/office/drawing/2014/main" id="{1A494184-7EBA-4CAB-8600-7156CDE3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已有证据：本课PNG回读像素一致。</a:t>
            </a:r>
          </a:p>
        </p:txBody>
      </p:sp>
      <p:sp>
        <p:nvSpPr>
          <p:cNvPr id="7" name="format-fix">
            <a:extLst xmlns:a="http://schemas.openxmlformats.org/drawingml/2006/main">
              <a:ext uri="{FF2B5EF4-FFF2-40B4-BE49-F238E27FC236}">
                <a16:creationId xmlns:a16="http://schemas.microsoft.com/office/drawing/2014/main" id="{C3C300E5-693E-40C6-9559-6C3861D2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TIF需看编码；图片也能无损压缩。</a:t>
            </a:r>
          </a:p>
        </p:txBody>
      </p:sp>
      <p:sp>
        <p:nvSpPr>
          <p:cNvPr id="8" name="format-overlay">
            <a:extLst xmlns:a="http://schemas.openxmlformats.org/drawingml/2006/main">
              <a:ext uri="{FF2B5EF4-FFF2-40B4-BE49-F238E27FC236}">
                <a16:creationId xmlns:a16="http://schemas.microsoft.com/office/drawing/2014/main" id="{282C0A95-F04B-4A14-9CD6-6760E229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14500"/>
            <a:ext cx="109728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1828800"/>
          <a:ext xmlns:a="http://schemas.openxmlformats.org/drawingml/2006/main" cx="10953750" cy="4019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952750"/>
                <a:gridCol w="5715000"/>
              </a:tblGrid>
              <a:tr h="80391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名称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常见用途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本课保留的边界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80391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JPG/JPEG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图像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常见照片保存通常有损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391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TIF/TIFF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图像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需看所用编码方式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391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MP3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音频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常见有损音频编码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391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MPEG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视频相关标准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常见视频用途采用有损编码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format-key">
            <a:extLst xmlns:a="http://schemas.openxmlformats.org/drawingml/2006/main">
              <a:ext uri="{FF2B5EF4-FFF2-40B4-BE49-F238E27FC236}">
                <a16:creationId xmlns:a16="http://schemas.microsoft.com/office/drawing/2014/main" id="{69C95EC9-5BEC-40CA-8D86-A4E922E0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先看用途与保存方式，再判断。</a:t>
            </a:r>
          </a:p>
        </p:txBody>
      </p:sp>
    </p:spTree>
    <p:extLst>
      <p:ext uri="{BB962C8B-B14F-4D97-AF65-F5344CB8AC3E}">
        <p14:creationId xmlns:p14="http://schemas.microsoft.com/office/powerpoint/2010/main" val="190787168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op-rail">
            <a:extLst xmlns:a="http://schemas.openxmlformats.org/drawingml/2006/main">
              <a:ext uri="{FF2B5EF4-FFF2-40B4-BE49-F238E27FC236}">
                <a16:creationId xmlns:a16="http://schemas.microsoft.com/office/drawing/2014/main" id="{A9ACA2E2-BCEE-44A3-9B91-6EC7D0E0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009CFF8-7BE1-4CBF-9E34-A09A6335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1C2661E-1707-4ED9-86AC-3E30472F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能否接受有损，要看用途与编码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E33B57CC-5F28-4131-B3AD-E055CB49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数据压缩</a:t>
            </a:r>
          </a:p>
        </p:txBody>
      </p:sp>
      <p:sp>
        <p:nvSpPr>
          <p:cNvPr id="5" name="tree-trunk-horizontal">
            <a:extLst xmlns:a="http://schemas.openxmlformats.org/drawingml/2006/main">
              <a:ext uri="{FF2B5EF4-FFF2-40B4-BE49-F238E27FC236}">
                <a16:creationId xmlns:a16="http://schemas.microsoft.com/office/drawing/2014/main" id="{A9C0476F-CFDE-4947-8282-7E8EFE8D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73380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" name="tree-trunk">
            <a:extLst xmlns:a="http://schemas.openxmlformats.org/drawingml/2006/main">
              <a:ext uri="{FF2B5EF4-FFF2-40B4-BE49-F238E27FC236}">
                <a16:creationId xmlns:a16="http://schemas.microsoft.com/office/drawing/2014/main" id="{FDEBAF60-B1F1-4BB9-968F-36ACBA4B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924050"/>
            <a:ext cx="1905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7" name="tree-branch-link-purpose">
            <a:extLst xmlns:a="http://schemas.openxmlformats.org/drawingml/2006/main">
              <a:ext uri="{FF2B5EF4-FFF2-40B4-BE49-F238E27FC236}">
                <a16:creationId xmlns:a16="http://schemas.microsoft.com/office/drawing/2014/main" id="{96997067-1079-4253-90D6-E6C35D3B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9240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tree-branch-purpose">
            <a:extLst xmlns:a="http://schemas.openxmlformats.org/drawingml/2006/main">
              <a:ext uri="{FF2B5EF4-FFF2-40B4-BE49-F238E27FC236}">
                <a16:creationId xmlns:a16="http://schemas.microsoft.com/office/drawing/2014/main" id="{3196A6DC-E45B-44F7-A2BE-03EBB311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52600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为何压缩</a:t>
            </a:r>
          </a:p>
        </p:txBody>
      </p:sp>
      <p:sp>
        <p:nvSpPr>
          <p:cNvPr id="9" name="tree-branch-link-method">
            <a:extLst xmlns:a="http://schemas.openxmlformats.org/drawingml/2006/main">
              <a:ext uri="{FF2B5EF4-FFF2-40B4-BE49-F238E27FC236}">
                <a16:creationId xmlns:a16="http://schemas.microsoft.com/office/drawing/2014/main" id="{606826CA-24B9-40A3-8B59-AF91D52A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9527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" name="tree-branch-method">
            <a:extLst xmlns:a="http://schemas.openxmlformats.org/drawingml/2006/main">
              <a:ext uri="{FF2B5EF4-FFF2-40B4-BE49-F238E27FC236}">
                <a16:creationId xmlns:a16="http://schemas.microsoft.com/office/drawing/2014/main" id="{B46657AD-C61D-4216-8AED-B280B92A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81300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怎样变小</a:t>
            </a:r>
          </a:p>
        </p:txBody>
      </p:sp>
      <p:sp>
        <p:nvSpPr>
          <p:cNvPr id="11" name="tree-branch-link-recovery">
            <a:extLst xmlns:a="http://schemas.openxmlformats.org/drawingml/2006/main">
              <a:ext uri="{FF2B5EF4-FFF2-40B4-BE49-F238E27FC236}">
                <a16:creationId xmlns:a16="http://schemas.microsoft.com/office/drawing/2014/main" id="{5FE86790-E449-493F-A65E-AC64ACA3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16242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" name="tree-branch-recovery">
            <a:extLst xmlns:a="http://schemas.openxmlformats.org/drawingml/2006/main">
              <a:ext uri="{FF2B5EF4-FFF2-40B4-BE49-F238E27FC236}">
                <a16:creationId xmlns:a16="http://schemas.microsoft.com/office/drawing/2014/main" id="{DAFCF7C6-F481-4F42-A73B-FD8746B0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90975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能否恢复</a:t>
            </a:r>
          </a:p>
        </p:txBody>
      </p:sp>
      <p:sp>
        <p:nvSpPr>
          <p:cNvPr id="13" name="tree-branch-link-choice">
            <a:extLst xmlns:a="http://schemas.openxmlformats.org/drawingml/2006/main">
              <a:ext uri="{FF2B5EF4-FFF2-40B4-BE49-F238E27FC236}">
                <a16:creationId xmlns:a16="http://schemas.microsoft.com/office/drawing/2014/main" id="{1C7BBA97-3FFF-45B5-9BE7-63FE0BAE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49592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4" name="tree-branch-choice">
            <a:extLst xmlns:a="http://schemas.openxmlformats.org/drawingml/2006/main">
              <a:ext uri="{FF2B5EF4-FFF2-40B4-BE49-F238E27FC236}">
                <a16:creationId xmlns:a16="http://schemas.microsoft.com/office/drawing/2014/main" id="{3746EA0F-1BED-4796-9774-E97AC6CD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24475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怎样选择</a:t>
            </a:r>
          </a:p>
        </p:txBody>
      </p:sp>
      <p:sp>
        <p:nvSpPr>
          <p:cNvPr id="15" name="tree-leaf-space">
            <a:extLst xmlns:a="http://schemas.openxmlformats.org/drawingml/2006/main">
              <a:ext uri="{FF2B5EF4-FFF2-40B4-BE49-F238E27FC236}">
                <a16:creationId xmlns:a16="http://schemas.microsoft.com/office/drawing/2014/main" id="{D9B5A6FC-721B-4F34-8828-55D581AA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811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特殊编码，减少存储／传输数据量</a:t>
            </a:r>
          </a:p>
        </p:txBody>
      </p:sp>
      <p:sp>
        <p:nvSpPr>
          <p:cNvPr id="16" name="tree-leaf-link-space">
            <a:extLst xmlns:a="http://schemas.openxmlformats.org/drawingml/2006/main">
              <a:ext uri="{FF2B5EF4-FFF2-40B4-BE49-F238E27FC236}">
                <a16:creationId xmlns:a16="http://schemas.microsoft.com/office/drawing/2014/main" id="{AB77B750-299F-4116-A4B4-9FF7B7A2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7526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17" name="tree-leaf-limit">
            <a:extLst xmlns:a="http://schemas.openxmlformats.org/drawingml/2006/main">
              <a:ext uri="{FF2B5EF4-FFF2-40B4-BE49-F238E27FC236}">
                <a16:creationId xmlns:a16="http://schemas.microsoft.com/office/drawing/2014/main" id="{A9863E69-C56C-44C3-9CCB-667F0C69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431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效果取决于数据、方法与开销</a:t>
            </a:r>
          </a:p>
        </p:txBody>
      </p:sp>
      <p:sp>
        <p:nvSpPr>
          <p:cNvPr id="18" name="tree-leaf-link-limit">
            <a:extLst xmlns:a="http://schemas.openxmlformats.org/drawingml/2006/main">
              <a:ext uri="{FF2B5EF4-FFF2-40B4-BE49-F238E27FC236}">
                <a16:creationId xmlns:a16="http://schemas.microsoft.com/office/drawing/2014/main" id="{0D16F80C-1589-4EA7-8EA6-1A68B495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145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19" name="tree-leaf-repeat">
            <a:extLst xmlns:a="http://schemas.openxmlformats.org/drawingml/2006/main">
              <a:ext uri="{FF2B5EF4-FFF2-40B4-BE49-F238E27FC236}">
                <a16:creationId xmlns:a16="http://schemas.microsoft.com/office/drawing/2014/main" id="{48D41C54-40B8-4CAD-AAFD-E2DCE420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193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去除冗余：连续重复写成次数</a:t>
            </a:r>
          </a:p>
        </p:txBody>
      </p:sp>
      <p:sp>
        <p:nvSpPr>
          <p:cNvPr id="20" name="tree-leaf-link-repeat">
            <a:extLst xmlns:a="http://schemas.openxmlformats.org/drawingml/2006/main">
              <a:ext uri="{FF2B5EF4-FFF2-40B4-BE49-F238E27FC236}">
                <a16:creationId xmlns:a16="http://schemas.microsoft.com/office/drawing/2014/main" id="{1C9B787E-58D1-4442-BD54-3337BB55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908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1" name="tree-leaf-lossless">
            <a:extLst xmlns:a="http://schemas.openxmlformats.org/drawingml/2006/main">
              <a:ext uri="{FF2B5EF4-FFF2-40B4-BE49-F238E27FC236}">
                <a16:creationId xmlns:a16="http://schemas.microsoft.com/office/drawing/2014/main" id="{8B170082-9E88-4D7D-AC7D-619E8167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100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无损：可完全恢复原始数据</a:t>
            </a:r>
          </a:p>
        </p:txBody>
      </p:sp>
      <p:sp>
        <p:nvSpPr>
          <p:cNvPr id="22" name="tree-leaf-link-lossless">
            <a:extLst xmlns:a="http://schemas.openxmlformats.org/drawingml/2006/main">
              <a:ext uri="{FF2B5EF4-FFF2-40B4-BE49-F238E27FC236}">
                <a16:creationId xmlns:a16="http://schemas.microsoft.com/office/drawing/2014/main" id="{F7C1135E-A323-4773-AF8F-E155BB5F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814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3" name="tree-stem-purpose">
            <a:extLst xmlns:a="http://schemas.openxmlformats.org/drawingml/2006/main">
              <a:ext uri="{FF2B5EF4-FFF2-40B4-BE49-F238E27FC236}">
                <a16:creationId xmlns:a16="http://schemas.microsoft.com/office/drawing/2014/main" id="{68568472-2AA6-4BA7-90E8-3F3269A2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5260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4" name="tree-parent-link-purpose">
            <a:extLst xmlns:a="http://schemas.openxmlformats.org/drawingml/2006/main">
              <a:ext uri="{FF2B5EF4-FFF2-40B4-BE49-F238E27FC236}">
                <a16:creationId xmlns:a16="http://schemas.microsoft.com/office/drawing/2014/main" id="{D11B3B8D-8A9D-4587-99F7-6ABF42D0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24050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5" name="tree-stem-method">
            <a:extLst xmlns:a="http://schemas.openxmlformats.org/drawingml/2006/main">
              <a:ext uri="{FF2B5EF4-FFF2-40B4-BE49-F238E27FC236}">
                <a16:creationId xmlns:a16="http://schemas.microsoft.com/office/drawing/2014/main" id="{6F57C38C-8252-44C8-A6A2-93E87FB9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90800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6" name="tree-parent-link-method">
            <a:extLst xmlns:a="http://schemas.openxmlformats.org/drawingml/2006/main">
              <a:ext uri="{FF2B5EF4-FFF2-40B4-BE49-F238E27FC236}">
                <a16:creationId xmlns:a16="http://schemas.microsoft.com/office/drawing/2014/main" id="{50ED2DAF-17AD-4E53-A950-1814DD3B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952750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7" name="tree-stem-recovery">
            <a:extLst xmlns:a="http://schemas.openxmlformats.org/drawingml/2006/main">
              <a:ext uri="{FF2B5EF4-FFF2-40B4-BE49-F238E27FC236}">
                <a16:creationId xmlns:a16="http://schemas.microsoft.com/office/drawing/2014/main" id="{C4425911-CC97-40F4-B947-10879B9F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8145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8" name="tree-parent-link-recovery">
            <a:extLst xmlns:a="http://schemas.openxmlformats.org/drawingml/2006/main">
              <a:ext uri="{FF2B5EF4-FFF2-40B4-BE49-F238E27FC236}">
                <a16:creationId xmlns:a16="http://schemas.microsoft.com/office/drawing/2014/main" id="{D76DECE5-F11E-4521-AD2A-9AE2A8F9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162425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9" name="tree-leaf-correlation">
            <a:extLst xmlns:a="http://schemas.openxmlformats.org/drawingml/2006/main">
              <a:ext uri="{FF2B5EF4-FFF2-40B4-BE49-F238E27FC236}">
                <a16:creationId xmlns:a16="http://schemas.microsoft.com/office/drawing/2014/main" id="{EDED383B-3C06-45CF-BDEC-E433105A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利用相关：首值＋完整差值</a:t>
            </a:r>
          </a:p>
        </p:txBody>
      </p:sp>
      <p:sp>
        <p:nvSpPr>
          <p:cNvPr id="30" name="tree-leaf-link-correlation">
            <a:extLst xmlns:a="http://schemas.openxmlformats.org/drawingml/2006/main">
              <a:ext uri="{FF2B5EF4-FFF2-40B4-BE49-F238E27FC236}">
                <a16:creationId xmlns:a16="http://schemas.microsoft.com/office/drawing/2014/main" id="{23BEE4F5-2E90-4127-94E1-75B8DBF2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527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1" name="tree-leaf-perception">
            <a:extLst xmlns:a="http://schemas.openxmlformats.org/drawingml/2006/main">
              <a:ext uri="{FF2B5EF4-FFF2-40B4-BE49-F238E27FC236}">
                <a16:creationId xmlns:a16="http://schemas.microsoft.com/office/drawing/2014/main" id="{E2954F52-9FFA-4CC5-97E8-F8EDB29D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432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感知近似：舍弃不敏感的区分</a:t>
            </a:r>
          </a:p>
        </p:txBody>
      </p:sp>
      <p:sp>
        <p:nvSpPr>
          <p:cNvPr id="32" name="tree-leaf-link-perception">
            <a:extLst xmlns:a="http://schemas.openxmlformats.org/drawingml/2006/main">
              <a:ext uri="{FF2B5EF4-FFF2-40B4-BE49-F238E27FC236}">
                <a16:creationId xmlns:a16="http://schemas.microsoft.com/office/drawing/2014/main" id="{A339116C-482E-4776-886B-23EA1589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147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3" name="tree-leaf-lossy">
            <a:extLst xmlns:a="http://schemas.openxmlformats.org/drawingml/2006/main">
              <a:ext uri="{FF2B5EF4-FFF2-40B4-BE49-F238E27FC236}">
                <a16:creationId xmlns:a16="http://schemas.microsoft.com/office/drawing/2014/main" id="{8C56C6A8-49D8-490C-A461-19C5D389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719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有损：不能保证完全恢复</a:t>
            </a:r>
          </a:p>
        </p:txBody>
      </p:sp>
      <p:sp>
        <p:nvSpPr>
          <p:cNvPr id="34" name="tree-leaf-link-lossy">
            <a:extLst xmlns:a="http://schemas.openxmlformats.org/drawingml/2006/main">
              <a:ext uri="{FF2B5EF4-FFF2-40B4-BE49-F238E27FC236}">
                <a16:creationId xmlns:a16="http://schemas.microsoft.com/office/drawing/2014/main" id="{EDE64E39-43C5-4663-9A10-D14EB178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434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5" name="tree-leaf-textcode">
            <a:extLst xmlns:a="http://schemas.openxmlformats.org/drawingml/2006/main">
              <a:ext uri="{FF2B5EF4-FFF2-40B4-BE49-F238E27FC236}">
                <a16:creationId xmlns:a16="http://schemas.microsoft.com/office/drawing/2014/main" id="{0432B2CB-53AD-4318-BC69-9FEF5846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815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文本文档／程序：必须无损</a:t>
            </a:r>
          </a:p>
        </p:txBody>
      </p:sp>
      <p:sp>
        <p:nvSpPr>
          <p:cNvPr id="36" name="tree-leaf-link-textcode">
            <a:extLst xmlns:a="http://schemas.openxmlformats.org/drawingml/2006/main">
              <a:ext uri="{FF2B5EF4-FFF2-40B4-BE49-F238E27FC236}">
                <a16:creationId xmlns:a16="http://schemas.microsoft.com/office/drawing/2014/main" id="{D9D33703-5CAF-49A9-B8B4-9C48A72D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9530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7" name="tree-leaf-media">
            <a:extLst xmlns:a="http://schemas.openxmlformats.org/drawingml/2006/main">
              <a:ext uri="{FF2B5EF4-FFF2-40B4-BE49-F238E27FC236}">
                <a16:creationId xmlns:a16="http://schemas.microsoft.com/office/drawing/2014/main" id="{FCD61AE2-D385-44DC-B6BC-BEAEE5E4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媒体：所需主要信息仍可获取</a:t>
            </a:r>
          </a:p>
        </p:txBody>
      </p:sp>
      <p:sp>
        <p:nvSpPr>
          <p:cNvPr id="38" name="tree-leaf-link-media">
            <a:extLst xmlns:a="http://schemas.openxmlformats.org/drawingml/2006/main">
              <a:ext uri="{FF2B5EF4-FFF2-40B4-BE49-F238E27FC236}">
                <a16:creationId xmlns:a16="http://schemas.microsoft.com/office/drawing/2014/main" id="{F4E2B224-B88F-4416-B931-10D56C81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3149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9" name="tree-leaf-format">
            <a:extLst xmlns:a="http://schemas.openxmlformats.org/drawingml/2006/main">
              <a:ext uri="{FF2B5EF4-FFF2-40B4-BE49-F238E27FC236}">
                <a16:creationId xmlns:a16="http://schemas.microsoft.com/office/drawing/2014/main" id="{2A8A2219-1BCC-4408-BD51-CFE9D9D9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054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格式名不足；TIF须查具体编码</a:t>
            </a:r>
          </a:p>
        </p:txBody>
      </p:sp>
      <p:sp>
        <p:nvSpPr>
          <p:cNvPr id="40" name="tree-leaf-link-format">
            <a:extLst xmlns:a="http://schemas.openxmlformats.org/drawingml/2006/main">
              <a:ext uri="{FF2B5EF4-FFF2-40B4-BE49-F238E27FC236}">
                <a16:creationId xmlns:a16="http://schemas.microsoft.com/office/drawing/2014/main" id="{4D30A637-794C-4B67-962D-8D4635F2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6769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41" name="tree-stem-choice">
            <a:extLst xmlns:a="http://schemas.openxmlformats.org/drawingml/2006/main">
              <a:ext uri="{FF2B5EF4-FFF2-40B4-BE49-F238E27FC236}">
                <a16:creationId xmlns:a16="http://schemas.microsoft.com/office/drawing/2014/main" id="{692A4468-E6AB-4E81-8678-14DC2D6F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53000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42" name="tree-parent-link-choice">
            <a:extLst xmlns:a="http://schemas.openxmlformats.org/drawingml/2006/main">
              <a:ext uri="{FF2B5EF4-FFF2-40B4-BE49-F238E27FC236}">
                <a16:creationId xmlns:a16="http://schemas.microsoft.com/office/drawing/2014/main" id="{B2C9377B-0214-421D-A1DC-2DEC09BA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495925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43" name="tree-focus-choice">
            <a:extLst xmlns:a="http://schemas.openxmlformats.org/drawingml/2006/main">
              <a:ext uri="{FF2B5EF4-FFF2-40B4-BE49-F238E27FC236}">
                <a16:creationId xmlns:a16="http://schemas.microsoft.com/office/drawing/2014/main" id="{15A93505-FF8E-4D99-8C77-B90EA88F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800600"/>
            <a:ext cx="56292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44" name="tree-summary">
            <a:extLst xmlns:a="http://schemas.openxmlformats.org/drawingml/2006/main">
              <a:ext uri="{FF2B5EF4-FFF2-40B4-BE49-F238E27FC236}">
                <a16:creationId xmlns:a16="http://schemas.microsoft.com/office/drawing/2014/main" id="{C4885963-497D-4210-BD8F-E0DE1E6F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媒体接受有损，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需要质量达标。</a:t>
            </a:r>
          </a:p>
        </p:txBody>
      </p:sp>
    </p:spTree>
    <p:extLst>
      <p:ext uri="{BB962C8B-B14F-4D97-AF65-F5344CB8AC3E}">
        <p14:creationId xmlns:p14="http://schemas.microsoft.com/office/powerpoint/2010/main" val="140251374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D7F89D9B-AE31-45AA-8CF3-27ABAE9F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9C1AC60-86FA-4F5C-B43F-275A3FFB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60800C8-A500-450A-AC2A-6FFF257E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大小和信息要求，怎样同时满足？</a:t>
            </a:r>
          </a:p>
        </p:txBody>
      </p:sp>
      <p:sp>
        <p:nvSpPr>
          <p:cNvPr id="4" name="limit">
            <a:extLst xmlns:a="http://schemas.openxmlformats.org/drawingml/2006/main">
              <a:ext uri="{FF2B5EF4-FFF2-40B4-BE49-F238E27FC236}">
                <a16:creationId xmlns:a16="http://schemas.microsoft.com/office/drawing/2014/main" id="{866E151E-7B5E-4BEA-B448-2E2ED87A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限额100 KiB；1 KiB = 1024 B。以下为题目给定结果。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953750" cy="2647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762375"/>
                <a:gridCol w="3762375"/>
              </a:tblGrid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任务（原120 KiB）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方案A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方案B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源程序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bytes须完整恢复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无损80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解压bytes一致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删改内容50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不能恢复原bytes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照片浏览，人物主题清楚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无损110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回读像素一致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有损70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人物主题仍清楚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ecision-prompt">
            <a:extLst xmlns:a="http://schemas.openxmlformats.org/drawingml/2006/main">
              <a:ext uri="{FF2B5EF4-FFF2-40B4-BE49-F238E27FC236}">
                <a16:creationId xmlns:a16="http://schemas.microsoft.com/office/drawing/2014/main" id="{6EF8A933-083F-4826-A509-E32F1CC1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逐份选方案，并说明另一种为什么不合格。</a:t>
            </a:r>
          </a:p>
        </p:txBody>
      </p:sp>
    </p:spTree>
    <p:extLst>
      <p:ext uri="{BB962C8B-B14F-4D97-AF65-F5344CB8AC3E}">
        <p14:creationId xmlns:p14="http://schemas.microsoft.com/office/powerpoint/2010/main" val="113061112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D7F89D9B-AE31-45AA-8CF3-27ABAE9F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9C1AC60-86FA-4F5C-B43F-275A3FFB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60800C8-A500-450A-AC2A-6FFF257E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大小和信息要求，怎样同时满足？</a:t>
            </a:r>
          </a:p>
        </p:txBody>
      </p:sp>
      <p:sp>
        <p:nvSpPr>
          <p:cNvPr id="4" name="limit">
            <a:extLst xmlns:a="http://schemas.openxmlformats.org/drawingml/2006/main">
              <a:ext uri="{FF2B5EF4-FFF2-40B4-BE49-F238E27FC236}">
                <a16:creationId xmlns:a16="http://schemas.microsoft.com/office/drawing/2014/main" id="{866E151E-7B5E-4BEA-B448-2E2ED87A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限额100 KiB；1 KiB = 1024 B。以下为题目给定结果。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953750" cy="2647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762375"/>
                <a:gridCol w="3762375"/>
              </a:tblGrid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任务（原120 KiB）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方案A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方案B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源程序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bytes须完整恢复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无损80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解压bytes一致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删改内容50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不能恢复原bytes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照片浏览，人物主题清楚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无损110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回读像素一致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有损70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人物主题仍清楚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ecision-prompt">
            <a:extLst xmlns:a="http://schemas.openxmlformats.org/drawingml/2006/main">
              <a:ext uri="{FF2B5EF4-FFF2-40B4-BE49-F238E27FC236}">
                <a16:creationId xmlns:a16="http://schemas.microsoft.com/office/drawing/2014/main" id="{6EF8A933-083F-4826-A509-E32F1CC1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逐份选方案，并说明另一种为什么不合格。</a:t>
            </a:r>
          </a:p>
        </p:txBody>
      </p:sp>
      <p:sp>
        <p:nvSpPr>
          <p:cNvPr id="7" name="choice-answer">
            <a:extLst xmlns:a="http://schemas.openxmlformats.org/drawingml/2006/main">
              <a:ext uri="{FF2B5EF4-FFF2-40B4-BE49-F238E27FC236}">
                <a16:creationId xmlns:a16="http://schemas.microsoft.com/office/drawing/2014/main" id="{A1354927-9675-41E1-A8A8-81EB9A2D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源程序选A；照片浏览副本选B。两项要求都要满足。</a:t>
            </a:r>
          </a:p>
        </p:txBody>
      </p:sp>
    </p:spTree>
    <p:extLst>
      <p:ext uri="{BB962C8B-B14F-4D97-AF65-F5344CB8AC3E}">
        <p14:creationId xmlns:p14="http://schemas.microsoft.com/office/powerpoint/2010/main" val="113061112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top-rail">
            <a:extLst xmlns:a="http://schemas.openxmlformats.org/drawingml/2006/main">
              <a:ext uri="{FF2B5EF4-FFF2-40B4-BE49-F238E27FC236}">
                <a16:creationId xmlns:a16="http://schemas.microsoft.com/office/drawing/2014/main" id="{A9ACA2E2-BCEE-44A3-9B91-6EC7D0E0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009CFF8-7BE1-4CBF-9E34-A09A6335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1C2661E-1707-4ED9-86AC-3E30472F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用完整知识树检查压缩方案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E33B57CC-5F28-4131-B3AD-E055CB49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数据压缩</a:t>
            </a:r>
          </a:p>
        </p:txBody>
      </p:sp>
      <p:sp>
        <p:nvSpPr>
          <p:cNvPr id="5" name="tree-trunk-horizontal">
            <a:extLst xmlns:a="http://schemas.openxmlformats.org/drawingml/2006/main">
              <a:ext uri="{FF2B5EF4-FFF2-40B4-BE49-F238E27FC236}">
                <a16:creationId xmlns:a16="http://schemas.microsoft.com/office/drawing/2014/main" id="{A9C0476F-CFDE-4947-8282-7E8EFE8D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73380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" name="tree-trunk">
            <a:extLst xmlns:a="http://schemas.openxmlformats.org/drawingml/2006/main">
              <a:ext uri="{FF2B5EF4-FFF2-40B4-BE49-F238E27FC236}">
                <a16:creationId xmlns:a16="http://schemas.microsoft.com/office/drawing/2014/main" id="{FDEBAF60-B1F1-4BB9-968F-36ACBA4B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924050"/>
            <a:ext cx="1905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7" name="tree-branch-link-purpose">
            <a:extLst xmlns:a="http://schemas.openxmlformats.org/drawingml/2006/main">
              <a:ext uri="{FF2B5EF4-FFF2-40B4-BE49-F238E27FC236}">
                <a16:creationId xmlns:a16="http://schemas.microsoft.com/office/drawing/2014/main" id="{96997067-1079-4253-90D6-E6C35D3B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9240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tree-branch-purpose">
            <a:extLst xmlns:a="http://schemas.openxmlformats.org/drawingml/2006/main">
              <a:ext uri="{FF2B5EF4-FFF2-40B4-BE49-F238E27FC236}">
                <a16:creationId xmlns:a16="http://schemas.microsoft.com/office/drawing/2014/main" id="{3196A6DC-E45B-44F7-A2BE-03EBB311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52600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为何压缩</a:t>
            </a:r>
          </a:p>
        </p:txBody>
      </p:sp>
      <p:sp>
        <p:nvSpPr>
          <p:cNvPr id="9" name="tree-branch-link-method">
            <a:extLst xmlns:a="http://schemas.openxmlformats.org/drawingml/2006/main">
              <a:ext uri="{FF2B5EF4-FFF2-40B4-BE49-F238E27FC236}">
                <a16:creationId xmlns:a16="http://schemas.microsoft.com/office/drawing/2014/main" id="{606826CA-24B9-40A3-8B59-AF91D52A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9527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" name="tree-branch-method">
            <a:extLst xmlns:a="http://schemas.openxmlformats.org/drawingml/2006/main">
              <a:ext uri="{FF2B5EF4-FFF2-40B4-BE49-F238E27FC236}">
                <a16:creationId xmlns:a16="http://schemas.microsoft.com/office/drawing/2014/main" id="{B46657AD-C61D-4216-8AED-B280B92A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81300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怎样变小</a:t>
            </a:r>
          </a:p>
        </p:txBody>
      </p:sp>
      <p:sp>
        <p:nvSpPr>
          <p:cNvPr id="11" name="tree-branch-link-recovery">
            <a:extLst xmlns:a="http://schemas.openxmlformats.org/drawingml/2006/main">
              <a:ext uri="{FF2B5EF4-FFF2-40B4-BE49-F238E27FC236}">
                <a16:creationId xmlns:a16="http://schemas.microsoft.com/office/drawing/2014/main" id="{5FE86790-E449-493F-A65E-AC64ACA3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16242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" name="tree-branch-recovery">
            <a:extLst xmlns:a="http://schemas.openxmlformats.org/drawingml/2006/main">
              <a:ext uri="{FF2B5EF4-FFF2-40B4-BE49-F238E27FC236}">
                <a16:creationId xmlns:a16="http://schemas.microsoft.com/office/drawing/2014/main" id="{DAFCF7C6-F481-4F42-A73B-FD8746B0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90975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能否恢复</a:t>
            </a:r>
          </a:p>
        </p:txBody>
      </p:sp>
      <p:sp>
        <p:nvSpPr>
          <p:cNvPr id="13" name="tree-branch-link-choice">
            <a:extLst xmlns:a="http://schemas.openxmlformats.org/drawingml/2006/main">
              <a:ext uri="{FF2B5EF4-FFF2-40B4-BE49-F238E27FC236}">
                <a16:creationId xmlns:a16="http://schemas.microsoft.com/office/drawing/2014/main" id="{1C7BBA97-3FFF-45B5-9BE7-63FE0BAE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49592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4" name="tree-branch-choice">
            <a:extLst xmlns:a="http://schemas.openxmlformats.org/drawingml/2006/main">
              <a:ext uri="{FF2B5EF4-FFF2-40B4-BE49-F238E27FC236}">
                <a16:creationId xmlns:a16="http://schemas.microsoft.com/office/drawing/2014/main" id="{3746EA0F-1BED-4796-9774-E97AC6CD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24475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怎样选择</a:t>
            </a:r>
          </a:p>
        </p:txBody>
      </p:sp>
      <p:sp>
        <p:nvSpPr>
          <p:cNvPr id="15" name="tree-leaf-space">
            <a:extLst xmlns:a="http://schemas.openxmlformats.org/drawingml/2006/main">
              <a:ext uri="{FF2B5EF4-FFF2-40B4-BE49-F238E27FC236}">
                <a16:creationId xmlns:a16="http://schemas.microsoft.com/office/drawing/2014/main" id="{D9B5A6FC-721B-4F34-8828-55D581AA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811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特殊编码，减少存储／传输数据量</a:t>
            </a:r>
          </a:p>
        </p:txBody>
      </p:sp>
      <p:sp>
        <p:nvSpPr>
          <p:cNvPr id="16" name="tree-leaf-link-space">
            <a:extLst xmlns:a="http://schemas.openxmlformats.org/drawingml/2006/main">
              <a:ext uri="{FF2B5EF4-FFF2-40B4-BE49-F238E27FC236}">
                <a16:creationId xmlns:a16="http://schemas.microsoft.com/office/drawing/2014/main" id="{AB77B750-299F-4116-A4B4-9FF7B7A2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7526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17" name="tree-leaf-limit">
            <a:extLst xmlns:a="http://schemas.openxmlformats.org/drawingml/2006/main">
              <a:ext uri="{FF2B5EF4-FFF2-40B4-BE49-F238E27FC236}">
                <a16:creationId xmlns:a16="http://schemas.microsoft.com/office/drawing/2014/main" id="{A9863E69-C56C-44C3-9CCB-667F0C69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431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效果取决于数据、方法与开销</a:t>
            </a:r>
          </a:p>
        </p:txBody>
      </p:sp>
      <p:sp>
        <p:nvSpPr>
          <p:cNvPr id="18" name="tree-leaf-link-limit">
            <a:extLst xmlns:a="http://schemas.openxmlformats.org/drawingml/2006/main">
              <a:ext uri="{FF2B5EF4-FFF2-40B4-BE49-F238E27FC236}">
                <a16:creationId xmlns:a16="http://schemas.microsoft.com/office/drawing/2014/main" id="{0D16F80C-1589-4EA7-8EA6-1A68B495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145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19" name="tree-leaf-repeat">
            <a:extLst xmlns:a="http://schemas.openxmlformats.org/drawingml/2006/main">
              <a:ext uri="{FF2B5EF4-FFF2-40B4-BE49-F238E27FC236}">
                <a16:creationId xmlns:a16="http://schemas.microsoft.com/office/drawing/2014/main" id="{48D41C54-40B8-4CAD-AAFD-E2DCE420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193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去除冗余：连续重复写成次数</a:t>
            </a:r>
          </a:p>
        </p:txBody>
      </p:sp>
      <p:sp>
        <p:nvSpPr>
          <p:cNvPr id="20" name="tree-leaf-link-repeat">
            <a:extLst xmlns:a="http://schemas.openxmlformats.org/drawingml/2006/main">
              <a:ext uri="{FF2B5EF4-FFF2-40B4-BE49-F238E27FC236}">
                <a16:creationId xmlns:a16="http://schemas.microsoft.com/office/drawing/2014/main" id="{1C9B787E-58D1-4442-BD54-3337BB55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908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1" name="tree-leaf-lossless">
            <a:extLst xmlns:a="http://schemas.openxmlformats.org/drawingml/2006/main">
              <a:ext uri="{FF2B5EF4-FFF2-40B4-BE49-F238E27FC236}">
                <a16:creationId xmlns:a16="http://schemas.microsoft.com/office/drawing/2014/main" id="{8B170082-9E88-4D7D-AC7D-619E8167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100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无损：可完全恢复原始数据</a:t>
            </a:r>
          </a:p>
        </p:txBody>
      </p:sp>
      <p:sp>
        <p:nvSpPr>
          <p:cNvPr id="22" name="tree-leaf-link-lossless">
            <a:extLst xmlns:a="http://schemas.openxmlformats.org/drawingml/2006/main">
              <a:ext uri="{FF2B5EF4-FFF2-40B4-BE49-F238E27FC236}">
                <a16:creationId xmlns:a16="http://schemas.microsoft.com/office/drawing/2014/main" id="{F7C1135E-A323-4773-AF8F-E155BB5F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814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3" name="tree-stem-purpose">
            <a:extLst xmlns:a="http://schemas.openxmlformats.org/drawingml/2006/main">
              <a:ext uri="{FF2B5EF4-FFF2-40B4-BE49-F238E27FC236}">
                <a16:creationId xmlns:a16="http://schemas.microsoft.com/office/drawing/2014/main" id="{68568472-2AA6-4BA7-90E8-3F3269A2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5260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4" name="tree-parent-link-purpose">
            <a:extLst xmlns:a="http://schemas.openxmlformats.org/drawingml/2006/main">
              <a:ext uri="{FF2B5EF4-FFF2-40B4-BE49-F238E27FC236}">
                <a16:creationId xmlns:a16="http://schemas.microsoft.com/office/drawing/2014/main" id="{D11B3B8D-8A9D-4587-99F7-6ABF42D0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24050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5" name="tree-stem-method">
            <a:extLst xmlns:a="http://schemas.openxmlformats.org/drawingml/2006/main">
              <a:ext uri="{FF2B5EF4-FFF2-40B4-BE49-F238E27FC236}">
                <a16:creationId xmlns:a16="http://schemas.microsoft.com/office/drawing/2014/main" id="{6F57C38C-8252-44C8-A6A2-93E87FB9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90800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6" name="tree-parent-link-method">
            <a:extLst xmlns:a="http://schemas.openxmlformats.org/drawingml/2006/main">
              <a:ext uri="{FF2B5EF4-FFF2-40B4-BE49-F238E27FC236}">
                <a16:creationId xmlns:a16="http://schemas.microsoft.com/office/drawing/2014/main" id="{50ED2DAF-17AD-4E53-A950-1814DD3B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952750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7" name="tree-stem-recovery">
            <a:extLst xmlns:a="http://schemas.openxmlformats.org/drawingml/2006/main">
              <a:ext uri="{FF2B5EF4-FFF2-40B4-BE49-F238E27FC236}">
                <a16:creationId xmlns:a16="http://schemas.microsoft.com/office/drawing/2014/main" id="{C4425911-CC97-40F4-B947-10879B9F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8145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8" name="tree-parent-link-recovery">
            <a:extLst xmlns:a="http://schemas.openxmlformats.org/drawingml/2006/main">
              <a:ext uri="{FF2B5EF4-FFF2-40B4-BE49-F238E27FC236}">
                <a16:creationId xmlns:a16="http://schemas.microsoft.com/office/drawing/2014/main" id="{D76DECE5-F11E-4521-AD2A-9AE2A8F9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162425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9" name="tree-leaf-correlation">
            <a:extLst xmlns:a="http://schemas.openxmlformats.org/drawingml/2006/main">
              <a:ext uri="{FF2B5EF4-FFF2-40B4-BE49-F238E27FC236}">
                <a16:creationId xmlns:a16="http://schemas.microsoft.com/office/drawing/2014/main" id="{EDED383B-3C06-45CF-BDEC-E433105A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利用相关：首值＋完整差值</a:t>
            </a:r>
          </a:p>
        </p:txBody>
      </p:sp>
      <p:sp>
        <p:nvSpPr>
          <p:cNvPr id="30" name="tree-leaf-link-correlation">
            <a:extLst xmlns:a="http://schemas.openxmlformats.org/drawingml/2006/main">
              <a:ext uri="{FF2B5EF4-FFF2-40B4-BE49-F238E27FC236}">
                <a16:creationId xmlns:a16="http://schemas.microsoft.com/office/drawing/2014/main" id="{23BEE4F5-2E90-4127-94E1-75B8DBF2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527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1" name="tree-leaf-perception">
            <a:extLst xmlns:a="http://schemas.openxmlformats.org/drawingml/2006/main">
              <a:ext uri="{FF2B5EF4-FFF2-40B4-BE49-F238E27FC236}">
                <a16:creationId xmlns:a16="http://schemas.microsoft.com/office/drawing/2014/main" id="{E2954F52-9FFA-4CC5-97E8-F8EDB29D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432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感知近似：舍弃不敏感的区分</a:t>
            </a:r>
          </a:p>
        </p:txBody>
      </p:sp>
      <p:sp>
        <p:nvSpPr>
          <p:cNvPr id="32" name="tree-leaf-link-perception">
            <a:extLst xmlns:a="http://schemas.openxmlformats.org/drawingml/2006/main">
              <a:ext uri="{FF2B5EF4-FFF2-40B4-BE49-F238E27FC236}">
                <a16:creationId xmlns:a16="http://schemas.microsoft.com/office/drawing/2014/main" id="{A339116C-482E-4776-886B-23EA1589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147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3" name="tree-leaf-lossy">
            <a:extLst xmlns:a="http://schemas.openxmlformats.org/drawingml/2006/main">
              <a:ext uri="{FF2B5EF4-FFF2-40B4-BE49-F238E27FC236}">
                <a16:creationId xmlns:a16="http://schemas.microsoft.com/office/drawing/2014/main" id="{8C56C6A8-49D8-490C-A461-19C5D389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719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有损：不能保证完全恢复</a:t>
            </a:r>
          </a:p>
        </p:txBody>
      </p:sp>
      <p:sp>
        <p:nvSpPr>
          <p:cNvPr id="34" name="tree-leaf-link-lossy">
            <a:extLst xmlns:a="http://schemas.openxmlformats.org/drawingml/2006/main">
              <a:ext uri="{FF2B5EF4-FFF2-40B4-BE49-F238E27FC236}">
                <a16:creationId xmlns:a16="http://schemas.microsoft.com/office/drawing/2014/main" id="{EDE64E39-43C5-4663-9A10-D14EB178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434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5" name="tree-leaf-textcode">
            <a:extLst xmlns:a="http://schemas.openxmlformats.org/drawingml/2006/main">
              <a:ext uri="{FF2B5EF4-FFF2-40B4-BE49-F238E27FC236}">
                <a16:creationId xmlns:a16="http://schemas.microsoft.com/office/drawing/2014/main" id="{0432B2CB-53AD-4318-BC69-9FEF5846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815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文本文档／程序：必须无损</a:t>
            </a:r>
          </a:p>
        </p:txBody>
      </p:sp>
      <p:sp>
        <p:nvSpPr>
          <p:cNvPr id="36" name="tree-leaf-link-textcode">
            <a:extLst xmlns:a="http://schemas.openxmlformats.org/drawingml/2006/main">
              <a:ext uri="{FF2B5EF4-FFF2-40B4-BE49-F238E27FC236}">
                <a16:creationId xmlns:a16="http://schemas.microsoft.com/office/drawing/2014/main" id="{D9D33703-5CAF-49A9-B8B4-9C48A72D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9530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7" name="tree-leaf-media">
            <a:extLst xmlns:a="http://schemas.openxmlformats.org/drawingml/2006/main">
              <a:ext uri="{FF2B5EF4-FFF2-40B4-BE49-F238E27FC236}">
                <a16:creationId xmlns:a16="http://schemas.microsoft.com/office/drawing/2014/main" id="{FCD61AE2-D385-44DC-B6BC-BEAEE5E4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媒体：所需主要信息仍可获取</a:t>
            </a:r>
          </a:p>
        </p:txBody>
      </p:sp>
      <p:sp>
        <p:nvSpPr>
          <p:cNvPr id="38" name="tree-leaf-link-media">
            <a:extLst xmlns:a="http://schemas.openxmlformats.org/drawingml/2006/main">
              <a:ext uri="{FF2B5EF4-FFF2-40B4-BE49-F238E27FC236}">
                <a16:creationId xmlns:a16="http://schemas.microsoft.com/office/drawing/2014/main" id="{F4E2B224-B88F-4416-B931-10D56C81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3149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9" name="tree-leaf-format">
            <a:extLst xmlns:a="http://schemas.openxmlformats.org/drawingml/2006/main">
              <a:ext uri="{FF2B5EF4-FFF2-40B4-BE49-F238E27FC236}">
                <a16:creationId xmlns:a16="http://schemas.microsoft.com/office/drawing/2014/main" id="{2A8A2219-1BCC-4408-BD51-CFE9D9D9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054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格式名不足；TIF须查具体编码</a:t>
            </a:r>
          </a:p>
        </p:txBody>
      </p:sp>
      <p:sp>
        <p:nvSpPr>
          <p:cNvPr id="40" name="tree-leaf-link-format">
            <a:extLst xmlns:a="http://schemas.openxmlformats.org/drawingml/2006/main">
              <a:ext uri="{FF2B5EF4-FFF2-40B4-BE49-F238E27FC236}">
                <a16:creationId xmlns:a16="http://schemas.microsoft.com/office/drawing/2014/main" id="{4D30A637-794C-4B67-962D-8D4635F2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6769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41" name="tree-stem-choice">
            <a:extLst xmlns:a="http://schemas.openxmlformats.org/drawingml/2006/main">
              <a:ext uri="{FF2B5EF4-FFF2-40B4-BE49-F238E27FC236}">
                <a16:creationId xmlns:a16="http://schemas.microsoft.com/office/drawing/2014/main" id="{692A4468-E6AB-4E81-8678-14DC2D6F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53000"/>
            <a:ext cx="19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42" name="tree-parent-link-choice">
            <a:extLst xmlns:a="http://schemas.openxmlformats.org/drawingml/2006/main">
              <a:ext uri="{FF2B5EF4-FFF2-40B4-BE49-F238E27FC236}">
                <a16:creationId xmlns:a16="http://schemas.microsoft.com/office/drawing/2014/main" id="{B2C9377B-0214-421D-A1DC-2DEC09BA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495925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43" name="tree-leaf-both">
            <a:extLst xmlns:a="http://schemas.openxmlformats.org/drawingml/2006/main">
              <a:ext uri="{FF2B5EF4-FFF2-40B4-BE49-F238E27FC236}">
                <a16:creationId xmlns:a16="http://schemas.microsoft.com/office/drawing/2014/main" id="{0A785A46-53B5-4961-96F8-AEB10083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8674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大小、信息要求都要满足</a:t>
            </a:r>
          </a:p>
        </p:txBody>
      </p:sp>
      <p:sp>
        <p:nvSpPr>
          <p:cNvPr id="44" name="tree-leaf-link-both">
            <a:extLst xmlns:a="http://schemas.openxmlformats.org/drawingml/2006/main">
              <a:ext uri="{FF2B5EF4-FFF2-40B4-BE49-F238E27FC236}">
                <a16:creationId xmlns:a16="http://schemas.microsoft.com/office/drawing/2014/main" id="{51E8DA34-8ECD-4950-BE86-274F833E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45" name="tree-focus-choice">
            <a:extLst xmlns:a="http://schemas.openxmlformats.org/drawingml/2006/main">
              <a:ext uri="{FF2B5EF4-FFF2-40B4-BE49-F238E27FC236}">
                <a16:creationId xmlns:a16="http://schemas.microsoft.com/office/drawing/2014/main" id="{F561920A-DC2F-403D-B9B3-7BE37EB6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886450"/>
            <a:ext cx="5629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46" name="tree-summary">
            <a:extLst xmlns:a="http://schemas.openxmlformats.org/drawingml/2006/main">
              <a:ext uri="{FF2B5EF4-FFF2-40B4-BE49-F238E27FC236}">
                <a16:creationId xmlns:a16="http://schemas.microsoft.com/office/drawing/2014/main" id="{C0F1AF0E-E60D-47D0-8227-6F0B1D74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大小和信息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两项要求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都要满足。</a:t>
            </a:r>
          </a:p>
        </p:txBody>
      </p:sp>
    </p:spTree>
    <p:extLst>
      <p:ext uri="{BB962C8B-B14F-4D97-AF65-F5344CB8AC3E}">
        <p14:creationId xmlns:p14="http://schemas.microsoft.com/office/powerpoint/2010/main" val="140251374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C4070415-1F95-444A-B92F-EB188EC0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A157C62-CAEF-4769-985E-C2955852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EF2FA27-E89F-46EB-900F-96AA343F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用两句话检查自己的判断</a:t>
            </a:r>
          </a:p>
        </p:txBody>
      </p:sp>
      <p:sp>
        <p:nvSpPr>
          <p:cNvPr id="4" name="exit-task">
            <a:extLst xmlns:a="http://schemas.openxmlformats.org/drawingml/2006/main">
              <a:ext uri="{FF2B5EF4-FFF2-40B4-BE49-F238E27FC236}">
                <a16:creationId xmlns:a16="http://schemas.microsoft.com/office/drawing/2014/main" id="{036C904D-782E-4629-BA95-423E0BB3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独立写40秒：</a:t>
            </a:r>
          </a:p>
        </p:txBody>
      </p:sp>
      <p:sp>
        <p:nvSpPr>
          <p:cNvPr id="5" name="exit-one">
            <a:extLst xmlns:a="http://schemas.openxmlformats.org/drawingml/2006/main">
              <a:ext uri="{FF2B5EF4-FFF2-40B4-BE49-F238E27FC236}">
                <a16:creationId xmlns:a16="http://schemas.microsoft.com/office/drawing/2014/main" id="{9D3C7CE3-7AD5-4395-9A52-0D216877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无损判断要比较 ______ 与 ______。</a:t>
            </a:r>
          </a:p>
        </p:txBody>
      </p:sp>
      <p:sp>
        <p:nvSpPr>
          <p:cNvPr id="6" name="exit-two">
            <a:extLst xmlns:a="http://schemas.openxmlformats.org/drawingml/2006/main">
              <a:ext uri="{FF2B5EF4-FFF2-40B4-BE49-F238E27FC236}">
                <a16:creationId xmlns:a16="http://schemas.microsoft.com/office/drawing/2014/main" id="{6FD32F85-B20E-41AB-B347-E24B1C66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照片看不出变化仍可能有损，因为 ______。</a:t>
            </a:r>
          </a:p>
        </p:txBody>
      </p:sp>
    </p:spTree>
    <p:extLst>
      <p:ext uri="{BB962C8B-B14F-4D97-AF65-F5344CB8AC3E}">
        <p14:creationId xmlns:p14="http://schemas.microsoft.com/office/powerpoint/2010/main" val="119891607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C4070415-1F95-444A-B92F-EB188EC0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A157C62-CAEF-4769-985E-C2955852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EF2FA27-E89F-46EB-900F-96AA343F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用两句话检查自己的判断</a:t>
            </a:r>
          </a:p>
        </p:txBody>
      </p:sp>
      <p:sp>
        <p:nvSpPr>
          <p:cNvPr id="4" name="exit-task">
            <a:extLst xmlns:a="http://schemas.openxmlformats.org/drawingml/2006/main">
              <a:ext uri="{FF2B5EF4-FFF2-40B4-BE49-F238E27FC236}">
                <a16:creationId xmlns:a16="http://schemas.microsoft.com/office/drawing/2014/main" id="{036C904D-782E-4629-BA95-423E0BB3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独立写40秒：</a:t>
            </a:r>
          </a:p>
        </p:txBody>
      </p:sp>
      <p:sp>
        <p:nvSpPr>
          <p:cNvPr id="5" name="exit-one">
            <a:extLst xmlns:a="http://schemas.openxmlformats.org/drawingml/2006/main">
              <a:ext uri="{FF2B5EF4-FFF2-40B4-BE49-F238E27FC236}">
                <a16:creationId xmlns:a16="http://schemas.microsoft.com/office/drawing/2014/main" id="{9D3C7CE3-7AD5-4395-9A52-0D216877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无损判断要比较 ______ 与 ______。</a:t>
            </a:r>
          </a:p>
        </p:txBody>
      </p:sp>
      <p:sp>
        <p:nvSpPr>
          <p:cNvPr id="6" name="exit-two">
            <a:extLst xmlns:a="http://schemas.openxmlformats.org/drawingml/2006/main">
              <a:ext uri="{FF2B5EF4-FFF2-40B4-BE49-F238E27FC236}">
                <a16:creationId xmlns:a16="http://schemas.microsoft.com/office/drawing/2014/main" id="{6FD32F85-B20E-41AB-B347-E24B1C66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照片看不出变化仍可能有损，因为 ______。</a:t>
            </a:r>
          </a:p>
        </p:txBody>
      </p:sp>
      <p:sp>
        <p:nvSpPr>
          <p:cNvPr id="7" name="exit-answer-one">
            <a:extLst xmlns:a="http://schemas.openxmlformats.org/drawingml/2006/main">
              <a:ext uri="{FF2B5EF4-FFF2-40B4-BE49-F238E27FC236}">
                <a16:creationId xmlns:a16="http://schemas.microsoft.com/office/drawing/2014/main" id="{84165F95-C62E-4E4A-8841-38A20CB7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解压结果 与 原始输入</a:t>
            </a:r>
          </a:p>
        </p:txBody>
      </p:sp>
      <p:sp>
        <p:nvSpPr>
          <p:cNvPr id="8" name="exit-answer-two">
            <a:extLst xmlns:a="http://schemas.openxmlformats.org/drawingml/2006/main">
              <a:ext uri="{FF2B5EF4-FFF2-40B4-BE49-F238E27FC236}">
                <a16:creationId xmlns:a16="http://schemas.microsoft.com/office/drawing/2014/main" id="{0EB8153D-4563-43CC-A4A2-735C53F5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感知相似，不能证明每个原值都相同。</a:t>
            </a:r>
          </a:p>
        </p:txBody>
      </p:sp>
    </p:spTree>
    <p:extLst>
      <p:ext uri="{BB962C8B-B14F-4D97-AF65-F5344CB8AC3E}">
        <p14:creationId xmlns:p14="http://schemas.microsoft.com/office/powerpoint/2010/main" val="11989160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2026-10-01T02:48:58.4490000Z</dcterms:created>
  <dcterms:modified xsi:type="dcterms:W3CDTF">2026-10-01T02:48:58.4490000Z</dcterms:modified>
</coreProperties>
</file>
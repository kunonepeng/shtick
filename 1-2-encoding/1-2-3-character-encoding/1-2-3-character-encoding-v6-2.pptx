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34bafc87e94669" /><Relationship Type="http://schemas.openxmlformats.org/officeDocument/2006/relationships/extended-properties" Target="/docProps/app.xml" Id="R5e76157a5c704bcb" /><Relationship Type="http://schemas.openxmlformats.org/officeDocument/2006/relationships/officeDocument" Target="/ppt/presentation.xml" Id="Rd3faba6b887941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5c8708932746be"/>
  </p:sldMasterIdLst>
  <p:notesMasterIdLst>
    <p:notesMasterId xmlns:r="http://schemas.openxmlformats.org/officeDocument/2006/relationships" r:id="R43e747fd3aa8439d"/>
  </p:notesMasterIdLst>
  <p:sldIdLst>
    <p:sldId xmlns:r="http://schemas.openxmlformats.org/officeDocument/2006/relationships" id="256" r:id="Re2d5fff1bca84557"/>
    <p:sldId xmlns:r="http://schemas.openxmlformats.org/officeDocument/2006/relationships" id="257" r:id="R8693c47238bf4f38"/>
    <p:sldId xmlns:r="http://schemas.openxmlformats.org/officeDocument/2006/relationships" id="258" r:id="Rc893ff7cefb84961"/>
    <p:sldId xmlns:r="http://schemas.openxmlformats.org/officeDocument/2006/relationships" id="259" r:id="R6718777832ef4c69"/>
    <p:sldId xmlns:r="http://schemas.openxmlformats.org/officeDocument/2006/relationships" id="260" r:id="R6c2c906166874d3d"/>
    <p:sldId xmlns:r="http://schemas.openxmlformats.org/officeDocument/2006/relationships" id="261" r:id="R905012dee2944664"/>
    <p:sldId xmlns:r="http://schemas.openxmlformats.org/officeDocument/2006/relationships" id="262" r:id="R434cefc65e09421d"/>
    <p:sldId xmlns:r="http://schemas.openxmlformats.org/officeDocument/2006/relationships" id="263" r:id="Rfc362bfd6bb749cd"/>
    <p:sldId xmlns:r="http://schemas.openxmlformats.org/officeDocument/2006/relationships" id="264" r:id="Rc82135c2bf7344ee"/>
    <p:sldId xmlns:r="http://schemas.openxmlformats.org/officeDocument/2006/relationships" id="265" r:id="Reb1119ce2b7b4e59"/>
    <p:sldId xmlns:r="http://schemas.openxmlformats.org/officeDocument/2006/relationships" id="266" r:id="R6dc0174867b94153"/>
    <p:sldId xmlns:r="http://schemas.openxmlformats.org/officeDocument/2006/relationships" id="267" r:id="Re531ff8a0df54644"/>
    <p:sldId xmlns:r="http://schemas.openxmlformats.org/officeDocument/2006/relationships" id="268" r:id="Rc5028384c3364d02"/>
    <p:sldId xmlns:r="http://schemas.openxmlformats.org/officeDocument/2006/relationships" id="269" r:id="R2b8b2841ea804130"/>
    <p:sldId xmlns:r="http://schemas.openxmlformats.org/officeDocument/2006/relationships" id="270" r:id="Rb3cd79355dd44e63"/>
    <p:sldId xmlns:r="http://schemas.openxmlformats.org/officeDocument/2006/relationships" id="271" r:id="R2c497d3dc4bf4198"/>
    <p:sldId xmlns:r="http://schemas.openxmlformats.org/officeDocument/2006/relationships" id="272" r:id="Rd8bc3f1ebc1a4ec9"/>
    <p:sldId xmlns:r="http://schemas.openxmlformats.org/officeDocument/2006/relationships" id="273" r:id="R00cd7785fe684b5e"/>
    <p:sldId xmlns:r="http://schemas.openxmlformats.org/officeDocument/2006/relationships" id="274" r:id="R5e3e692cf1f44a51"/>
    <p:sldId xmlns:r="http://schemas.openxmlformats.org/officeDocument/2006/relationships" id="275" r:id="Raf37867eec3f45d2"/>
    <p:sldId xmlns:r="http://schemas.openxmlformats.org/officeDocument/2006/relationships" id="276" r:id="R648cd16fbfb54c5d"/>
    <p:sldId xmlns:r="http://schemas.openxmlformats.org/officeDocument/2006/relationships" id="277" r:id="Rec2ce88b0fd14698"/>
    <p:sldId xmlns:r="http://schemas.openxmlformats.org/officeDocument/2006/relationships" id="278" r:id="R0dcd0484d18f4c3a"/>
    <p:sldId xmlns:r="http://schemas.openxmlformats.org/officeDocument/2006/relationships" id="279" r:id="R2066c401bb174607"/>
    <p:sldId xmlns:r="http://schemas.openxmlformats.org/officeDocument/2006/relationships" id="280" r:id="Rb55bb48ede574b66"/>
    <p:sldId xmlns:r="http://schemas.openxmlformats.org/officeDocument/2006/relationships" id="281" r:id="R82935d7e749545b9"/>
    <p:sldId xmlns:r="http://schemas.openxmlformats.org/officeDocument/2006/relationships" id="282" r:id="R98ba942c459a4d4d"/>
    <p:sldId xmlns:r="http://schemas.openxmlformats.org/officeDocument/2006/relationships" id="283" r:id="Rfc7dc67d4da74d34"/>
    <p:sldId xmlns:r="http://schemas.openxmlformats.org/officeDocument/2006/relationships" id="284" r:id="R5ea2170c460c470d"/>
    <p:sldId xmlns:r="http://schemas.openxmlformats.org/officeDocument/2006/relationships" id="285" r:id="Rc4006d379d964c3f"/>
    <p:sldId xmlns:r="http://schemas.openxmlformats.org/officeDocument/2006/relationships" id="286" r:id="R19d8ca3ffc524a0f"/>
    <p:sldId xmlns:r="http://schemas.openxmlformats.org/officeDocument/2006/relationships" id="287" r:id="R589164af11e74202"/>
    <p:sldId xmlns:r="http://schemas.openxmlformats.org/officeDocument/2006/relationships" id="288" r:id="Rd27d27af4b3a4195"/>
    <p:sldId xmlns:r="http://schemas.openxmlformats.org/officeDocument/2006/relationships" id="289" r:id="Rd425ea63a4384c15"/>
    <p:sldId xmlns:r="http://schemas.openxmlformats.org/officeDocument/2006/relationships" id="290" r:id="R91684e1c0fe642c4"/>
    <p:sldId xmlns:r="http://schemas.openxmlformats.org/officeDocument/2006/relationships" id="291" r:id="R9c84234493934e06"/>
    <p:sldId xmlns:r="http://schemas.openxmlformats.org/officeDocument/2006/relationships" id="292" r:id="Rdd5bee88fd7f42cb"/>
    <p:sldId xmlns:r="http://schemas.openxmlformats.org/officeDocument/2006/relationships" id="293" r:id="R858e7021402d4d27"/>
  </p:sldIdLst>
  <p:sldSz cx="12191695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7d338fb4a04305" /><Relationship Type="http://schemas.openxmlformats.org/officeDocument/2006/relationships/slideMaster" Target="/ppt/slideMasters/slideMaster1.xml" Id="Red5c8708932746be" /><Relationship Type="http://schemas.openxmlformats.org/officeDocument/2006/relationships/notesMaster" Target="/ppt/notesMasters/notesMaster1.xml" Id="R43e747fd3aa8439d" /><Relationship Type="http://schemas.openxmlformats.org/officeDocument/2006/relationships/presProps" Target="/ppt/presProps.xml" Id="R3481a6153d2f47ef" /><Relationship Type="http://schemas.openxmlformats.org/officeDocument/2006/relationships/viewProps" Target="/ppt/viewProps.xml" Id="R7c6996efcca54ffb" /><Relationship Type="http://schemas.openxmlformats.org/officeDocument/2006/relationships/tableStyles" Target="/ppt/tableStyles.xml" Id="Rac8389397c3446a2" /><Relationship Type="http://schemas.openxmlformats.org/officeDocument/2006/relationships/slide" Target="/ppt/slides/slide1.xml" Id="Re2d5fff1bca84557" /><Relationship Type="http://schemas.openxmlformats.org/officeDocument/2006/relationships/slide" Target="/ppt/slides/slide2.xml" Id="R8693c47238bf4f38" /><Relationship Type="http://schemas.openxmlformats.org/officeDocument/2006/relationships/slide" Target="/ppt/slides/slide3.xml" Id="Rc893ff7cefb84961" /><Relationship Type="http://schemas.openxmlformats.org/officeDocument/2006/relationships/slide" Target="/ppt/slides/slide4.xml" Id="R6718777832ef4c69" /><Relationship Type="http://schemas.openxmlformats.org/officeDocument/2006/relationships/slide" Target="/ppt/slides/slide5.xml" Id="R6c2c906166874d3d" /><Relationship Type="http://schemas.openxmlformats.org/officeDocument/2006/relationships/slide" Target="/ppt/slides/slide6.xml" Id="R905012dee2944664" /><Relationship Type="http://schemas.openxmlformats.org/officeDocument/2006/relationships/slide" Target="/ppt/slides/slide7.xml" Id="R434cefc65e09421d" /><Relationship Type="http://schemas.openxmlformats.org/officeDocument/2006/relationships/slide" Target="/ppt/slides/slide8.xml" Id="Rfc362bfd6bb749cd" /><Relationship Type="http://schemas.openxmlformats.org/officeDocument/2006/relationships/slide" Target="/ppt/slides/slide9.xml" Id="Rc82135c2bf7344ee" /><Relationship Type="http://schemas.openxmlformats.org/officeDocument/2006/relationships/slide" Target="/ppt/slides/slide10.xml" Id="Reb1119ce2b7b4e59" /><Relationship Type="http://schemas.openxmlformats.org/officeDocument/2006/relationships/slide" Target="/ppt/slides/slide11.xml" Id="R6dc0174867b94153" /><Relationship Type="http://schemas.openxmlformats.org/officeDocument/2006/relationships/slide" Target="/ppt/slides/slide12.xml" Id="Re531ff8a0df54644" /><Relationship Type="http://schemas.openxmlformats.org/officeDocument/2006/relationships/slide" Target="/ppt/slides/slide13.xml" Id="Rc5028384c3364d02" /><Relationship Type="http://schemas.openxmlformats.org/officeDocument/2006/relationships/slide" Target="/ppt/slides/slide14.xml" Id="R2b8b2841ea804130" /><Relationship Type="http://schemas.openxmlformats.org/officeDocument/2006/relationships/slide" Target="/ppt/slides/slide15.xml" Id="Rb3cd79355dd44e63" /><Relationship Type="http://schemas.openxmlformats.org/officeDocument/2006/relationships/slide" Target="/ppt/slides/slide16.xml" Id="R2c497d3dc4bf4198" /><Relationship Type="http://schemas.openxmlformats.org/officeDocument/2006/relationships/slide" Target="/ppt/slides/slide17.xml" Id="Rd8bc3f1ebc1a4ec9" /><Relationship Type="http://schemas.openxmlformats.org/officeDocument/2006/relationships/slide" Target="/ppt/slides/slide18.xml" Id="R00cd7785fe684b5e" /><Relationship Type="http://schemas.openxmlformats.org/officeDocument/2006/relationships/slide" Target="/ppt/slides/slide19.xml" Id="R5e3e692cf1f44a51" /><Relationship Type="http://schemas.openxmlformats.org/officeDocument/2006/relationships/slide" Target="/ppt/slides/slide20.xml" Id="Raf37867eec3f45d2" /><Relationship Type="http://schemas.openxmlformats.org/officeDocument/2006/relationships/slide" Target="/ppt/slides/slide21.xml" Id="R648cd16fbfb54c5d" /><Relationship Type="http://schemas.openxmlformats.org/officeDocument/2006/relationships/slide" Target="/ppt/slides/slide22.xml" Id="Rec2ce88b0fd14698" /><Relationship Type="http://schemas.openxmlformats.org/officeDocument/2006/relationships/slide" Target="/ppt/slides/slide23.xml" Id="R0dcd0484d18f4c3a" /><Relationship Type="http://schemas.openxmlformats.org/officeDocument/2006/relationships/slide" Target="/ppt/slides/slide24.xml" Id="R2066c401bb174607" /><Relationship Type="http://schemas.openxmlformats.org/officeDocument/2006/relationships/slide" Target="/ppt/slides/slide25.xml" Id="Rb55bb48ede574b66" /><Relationship Type="http://schemas.openxmlformats.org/officeDocument/2006/relationships/slide" Target="/ppt/slides/slide26.xml" Id="R82935d7e749545b9" /><Relationship Type="http://schemas.openxmlformats.org/officeDocument/2006/relationships/slide" Target="/ppt/slides/slide27.xml" Id="R98ba942c459a4d4d" /><Relationship Type="http://schemas.openxmlformats.org/officeDocument/2006/relationships/slide" Target="/ppt/slides/slide28.xml" Id="Rfc7dc67d4da74d34" /><Relationship Type="http://schemas.openxmlformats.org/officeDocument/2006/relationships/slide" Target="/ppt/slides/slide29.xml" Id="R5ea2170c460c470d" /><Relationship Type="http://schemas.openxmlformats.org/officeDocument/2006/relationships/slide" Target="/ppt/slides/slide30.xml" Id="Rc4006d379d964c3f" /><Relationship Type="http://schemas.openxmlformats.org/officeDocument/2006/relationships/slide" Target="/ppt/slides/slide31.xml" Id="R19d8ca3ffc524a0f" /><Relationship Type="http://schemas.openxmlformats.org/officeDocument/2006/relationships/slide" Target="/ppt/slides/slide32.xml" Id="R589164af11e74202" /><Relationship Type="http://schemas.openxmlformats.org/officeDocument/2006/relationships/slide" Target="/ppt/slides/slide33.xml" Id="Rd27d27af4b3a4195" /><Relationship Type="http://schemas.openxmlformats.org/officeDocument/2006/relationships/slide" Target="/ppt/slides/slide34.xml" Id="Rd425ea63a4384c15" /><Relationship Type="http://schemas.openxmlformats.org/officeDocument/2006/relationships/slide" Target="/ppt/slides/slide35.xml" Id="R91684e1c0fe642c4" /><Relationship Type="http://schemas.openxmlformats.org/officeDocument/2006/relationships/slide" Target="/ppt/slides/slide36.xml" Id="R9c84234493934e06" /><Relationship Type="http://schemas.openxmlformats.org/officeDocument/2006/relationships/slide" Target="/ppt/slides/slide37.xml" Id="Rdd5bee88fd7f42cb" /><Relationship Type="http://schemas.openxmlformats.org/officeDocument/2006/relationships/slide" Target="/ppt/slides/slide38.xml" Id="R858e7021402d4d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ca823886c446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libaba PuHuiTi 3.0 115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libaba PuHuiTi 3.0 55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824220cc98490f" /><Relationship Type="http://schemas.openxmlformats.org/officeDocument/2006/relationships/notesMaster" Target="/ppt/notesMasters/notesMaster1.xml" Id="R686070d9381043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e28abb71a2416c" /><Relationship Type="http://schemas.openxmlformats.org/officeDocument/2006/relationships/notesMaster" Target="/ppt/notesMasters/notesMaster1.xml" Id="Ra5be76e7cd3d4c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9c5af2f03d4f92" /><Relationship Type="http://schemas.openxmlformats.org/officeDocument/2006/relationships/notesMaster" Target="/ppt/notesMasters/notesMaster1.xml" Id="R1a398f92d1d143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ca88c9e11046c0" /><Relationship Type="http://schemas.openxmlformats.org/officeDocument/2006/relationships/notesMaster" Target="/ppt/notesMasters/notesMaster1.xml" Id="R1a73f88f2cd8460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9b929888bb4f2d" /><Relationship Type="http://schemas.openxmlformats.org/officeDocument/2006/relationships/notesMaster" Target="/ppt/notesMasters/notesMaster1.xml" Id="R84771d4143a949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b45ef152aa431e" /><Relationship Type="http://schemas.openxmlformats.org/officeDocument/2006/relationships/notesMaster" Target="/ppt/notesMasters/notesMaster1.xml" Id="R0f9e8fe5a3a640d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14a3dab9884158" /><Relationship Type="http://schemas.openxmlformats.org/officeDocument/2006/relationships/notesMaster" Target="/ppt/notesMasters/notesMaster1.xml" Id="R52182b52527740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940f2e0d37411b" /><Relationship Type="http://schemas.openxmlformats.org/officeDocument/2006/relationships/notesMaster" Target="/ppt/notesMasters/notesMaster1.xml" Id="R3bbbd80969374c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78a608e3d845ea" /><Relationship Type="http://schemas.openxmlformats.org/officeDocument/2006/relationships/notesMaster" Target="/ppt/notesMasters/notesMaster1.xml" Id="Rf133e3b1030348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f69cdc82e848bd" /><Relationship Type="http://schemas.openxmlformats.org/officeDocument/2006/relationships/notesMaster" Target="/ppt/notesMasters/notesMaster1.xml" Id="R3cd9488aec2c41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7c73789c47b491a" /><Relationship Type="http://schemas.openxmlformats.org/officeDocument/2006/relationships/notesMaster" Target="/ppt/notesMasters/notesMaster1.xml" Id="R9b338f09d23746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c964a4979614564" /><Relationship Type="http://schemas.openxmlformats.org/officeDocument/2006/relationships/notesMaster" Target="/ppt/notesMasters/notesMaster1.xml" Id="Re3032d188a98486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2c43594269248ef" /><Relationship Type="http://schemas.openxmlformats.org/officeDocument/2006/relationships/notesMaster" Target="/ppt/notesMasters/notesMaster1.xml" Id="R0b5c08aa065148d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e2b6cf072b7467c" /><Relationship Type="http://schemas.openxmlformats.org/officeDocument/2006/relationships/notesMaster" Target="/ppt/notesMasters/notesMaster1.xml" Id="Rabd0c5d8cfb446e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2934397d6664edd" /><Relationship Type="http://schemas.openxmlformats.org/officeDocument/2006/relationships/notesMaster" Target="/ppt/notesMasters/notesMaster1.xml" Id="R70784206699444e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6138b048f44439b" /><Relationship Type="http://schemas.openxmlformats.org/officeDocument/2006/relationships/notesMaster" Target="/ppt/notesMasters/notesMaster1.xml" Id="R33fed086783b4c6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0ef14b7aa3149fb" /><Relationship Type="http://schemas.openxmlformats.org/officeDocument/2006/relationships/notesMaster" Target="/ppt/notesMasters/notesMaster1.xml" Id="R9fce89ac09884e3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4949129ab1845bf" /><Relationship Type="http://schemas.openxmlformats.org/officeDocument/2006/relationships/notesMaster" Target="/ppt/notesMasters/notesMaster1.xml" Id="Raf2d39eb172f4b3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58130e046a64305" /><Relationship Type="http://schemas.openxmlformats.org/officeDocument/2006/relationships/notesMaster" Target="/ppt/notesMasters/notesMaster1.xml" Id="R5b8266271b9f470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f12440657d24e52" /><Relationship Type="http://schemas.openxmlformats.org/officeDocument/2006/relationships/notesMaster" Target="/ppt/notesMasters/notesMaster1.xml" Id="Ree4b240496a04ab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c73d9d9f1e44c75" /><Relationship Type="http://schemas.openxmlformats.org/officeDocument/2006/relationships/notesMaster" Target="/ppt/notesMasters/notesMaster1.xml" Id="R752068b1daed48b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a754fed308c4cec" /><Relationship Type="http://schemas.openxmlformats.org/officeDocument/2006/relationships/notesMaster" Target="/ppt/notesMasters/notesMaster1.xml" Id="R176f57b1ff544ed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946bb4c6c164683" /><Relationship Type="http://schemas.openxmlformats.org/officeDocument/2006/relationships/notesMaster" Target="/ppt/notesMasters/notesMaster1.xml" Id="R64ec129e9aad4dc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ce0228c80c7460e" /><Relationship Type="http://schemas.openxmlformats.org/officeDocument/2006/relationships/notesMaster" Target="/ppt/notesMasters/notesMaster1.xml" Id="R7ce13eef113049b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0e99b56c2cd4016" /><Relationship Type="http://schemas.openxmlformats.org/officeDocument/2006/relationships/notesMaster" Target="/ppt/notesMasters/notesMaster1.xml" Id="R484cf7a6b47342d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51a5e093c6e4ee1" /><Relationship Type="http://schemas.openxmlformats.org/officeDocument/2006/relationships/notesMaster" Target="/ppt/notesMasters/notesMaster1.xml" Id="Rdaca3f51a30349f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2ed0949bb6b49e9" /><Relationship Type="http://schemas.openxmlformats.org/officeDocument/2006/relationships/notesMaster" Target="/ppt/notesMasters/notesMaster1.xml" Id="R85ac70875cff4ce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015c3bf52ee4dbe" /><Relationship Type="http://schemas.openxmlformats.org/officeDocument/2006/relationships/notesMaster" Target="/ppt/notesMasters/notesMaster1.xml" Id="R9085e349a038471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ca650d0e47840db" /><Relationship Type="http://schemas.openxmlformats.org/officeDocument/2006/relationships/notesMaster" Target="/ppt/notesMasters/notesMaster1.xml" Id="R2dd3ea2428284b2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8a7838fab0b46c2" /><Relationship Type="http://schemas.openxmlformats.org/officeDocument/2006/relationships/notesMaster" Target="/ppt/notesMasters/notesMaster1.xml" Id="R24c3ef9de1ea451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5c73d7c525a42a0" /><Relationship Type="http://schemas.openxmlformats.org/officeDocument/2006/relationships/notesMaster" Target="/ppt/notesMasters/notesMaster1.xml" Id="R352a3dda598e4be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0f2f9da730a4e03" /><Relationship Type="http://schemas.openxmlformats.org/officeDocument/2006/relationships/notesMaster" Target="/ppt/notesMasters/notesMaster1.xml" Id="R4bb0e0dd3cb649a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74cb6687c4944c5" /><Relationship Type="http://schemas.openxmlformats.org/officeDocument/2006/relationships/notesMaster" Target="/ppt/notesMasters/notesMaster1.xml" Id="R43fb62a701414ac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c5775f0e3e942d7" /><Relationship Type="http://schemas.openxmlformats.org/officeDocument/2006/relationships/notesMaster" Target="/ppt/notesMasters/notesMaster1.xml" Id="R27c945ded42e43b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dd06e53c8424da9" /><Relationship Type="http://schemas.openxmlformats.org/officeDocument/2006/relationships/notesMaster" Target="/ppt/notesMasters/notesMaster1.xml" Id="Ra1c8934aea37497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aa109b043524197" /><Relationship Type="http://schemas.openxmlformats.org/officeDocument/2006/relationships/notesMaster" Target="/ppt/notesMasters/notesMaster1.xml" Id="R22f6856e94514ec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e4235258eda844e0" /><Relationship Type="http://schemas.openxmlformats.org/officeDocument/2006/relationships/notesMaster" Target="/ppt/notesMasters/notesMaster1.xml" Id="R650b2e3ed09c45f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25091516a1934697" /><Relationship Type="http://schemas.openxmlformats.org/officeDocument/2006/relationships/notesMaster" Target="/ppt/notesMasters/notesMaster1.xml" Id="R3de3bf40530b4b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endParaRPr/>
          </a:p>
          <a:p xmlns:a="http://schemas.openxmlformats.org/drawingml/2006/main">
            <a:r>
              <a:t>本节课的学习主题：从按下键盘，到屏幕出现汉字，计算机内部经历哪些表示？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[内部编号]</a:t>
            </a:r>
            <a:endParaRPr/>
          </a:p>
          <a:p xmlns:a="http://schemas.openxmlformats.org/drawingml/2006/main">
            <a:r>
              <a:t>Cover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[教学意图]</a:t>
            </a:r>
            <a:endParaRPr/>
          </a:p>
          <a:p xmlns:a="http://schemas.openxmlformats.org/drawingml/2006/main">
            <a:r>
              <a:t>从可观察的乱码现象进入问题链，暂不展示完整模型或诊断结果。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[教师逐字稿]</a:t>
            </a:r>
            <a:endParaRPr/>
          </a:p>
          <a:p xmlns:a="http://schemas.openxmlformats.org/drawingml/2006/main">
            <a:r>
              <a:t>今天先不背“字符集、编码、Unicode”。想一件具体的事：我打出 ni，选中“你”，它为什么能出现在屏幕上？如果同一份文字后来显示成乱码，我们该从哪里查起？先看现象，再一步步找证据。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同一份文字，为什么会出现乱码？</a:t>
            </a:r>
            <a:br/>
            <a:br/>
            <a:r>
              <a:t>[内部编号]</a:t>
            </a:r>
            <a:br/>
            <a:r>
              <a:t>Q0</a:t>
            </a:r>
            <a:br/>
            <a:br/>
            <a:r>
              <a:t>[教学意图]</a:t>
            </a:r>
            <a:br/>
            <a:r>
              <a:t>只制造认知困惑，不解释 encode/decode。</a:t>
            </a:r>
            <a:br/>
            <a:br/>
            <a:r>
              <a:t>[教师逐字稿]</a:t>
            </a:r>
            <a:br/>
            <a:r>
              <a:t>先看一个现象。原来是“你好”，但电脑上可能显示成另一串看不懂的字符。现在不要急着说编码，也不要猜“电脑坏了”。请先投票：你觉得问题可能发生在输入、字符身份、bytes，还是显示？</a:t>
            </a:r>
            <a:br/>
            <a:br/>
            <a:r>
              <a:t>[预期学生反应]</a:t>
            </a:r>
            <a:br/>
            <a:r>
              <a:t>学生可能猜输入法、字体、文件损坏或系统语言设置。都记录，不立刻判定。</a:t>
            </a:r>
            <a:br/>
            <a:br/>
            <a:r>
              <a:t>[追问问题]</a:t>
            </a:r>
            <a:br/>
            <a:r>
              <a:t>如果 bytes 没坏，只是读它的规则变了，会发生什么？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同一份文字，为什么会出现乱码？</a:t>
            </a:r>
            <a:br/>
            <a:br/>
            <a:r>
              <a:t>[内部编号]</a:t>
            </a:r>
            <a:br/>
            <a:r>
              <a:t>Q0</a:t>
            </a:r>
            <a:br/>
            <a:br/>
            <a:r>
              <a:t>[教学意图]</a:t>
            </a:r>
            <a:br/>
            <a:r>
              <a:t>展示现象：同一文本在错误规则下会变成乱码。</a:t>
            </a:r>
            <a:br/>
            <a:br/>
            <a:r>
              <a:t>[教师逐字稿]</a:t>
            </a:r>
            <a:br/>
            <a:r>
              <a:t>左边是我们想看到的文字，右边是电脑可能给出的结果。注意，这里先不解释原因。我们只是把问题放在桌面上：如果文字“变脸”，到底是哪一层出了问题？这个问题先放着，等到最后我们再回来诊断。</a:t>
            </a:r>
            <a:br/>
            <a:br/>
            <a:r>
              <a:t>[追问问题]</a:t>
            </a:r>
            <a:br/>
            <a:r>
              <a:t>如果文件里的 0 和 1 没变，为什么屏幕上的字会变？</a:t>
            </a:r>
            <a:br/>
            <a:br/>
            <a:r>
              <a:t>[形成结论]</a:t>
            </a:r>
            <a:br/>
            <a:r>
              <a:t>先保留疑问：乱码不一定意味着原始内容损坏。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一串 0 和 1 天生具有文字意义吗？</a:t>
            </a:r>
            <a:br/>
            <a:br/>
            <a:r>
              <a:t>[内部编号]</a:t>
            </a:r>
            <a:br/>
            <a:r>
              <a:t>Q1-A</a:t>
            </a:r>
            <a:br/>
            <a:br/>
            <a:r>
              <a:t>[教学意图]</a:t>
            </a:r>
            <a:br/>
            <a:r>
              <a:t>让学生体验“共享映射”是文本交换的前提。</a:t>
            </a:r>
            <a:br/>
            <a:br/>
            <a:r>
              <a:t>[教师逐字稿]</a:t>
            </a:r>
            <a:br/>
            <a:r>
              <a:t>现在我们不用真正的 ASCII，也不用汉字。只用 3 bit，自己发明一套编码。问题是：我给你一串 0 和 1，它天生就会告诉你这是 HELLO 吗？还是必须先知道某张表？</a:t>
            </a:r>
            <a:br/>
            <a:br/>
            <a:r>
              <a:t>[追问问题]</a:t>
            </a:r>
            <a:br/>
            <a:r>
              <a:t>如果两个人都用 3 bit，但表不同，会不会仍然读错？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一串 0 和 1 天生具有文字意义吗？</a:t>
            </a:r>
            <a:br/>
            <a:br/>
            <a:r>
              <a:t>[内部编号]</a:t>
            </a:r>
            <a:br/>
            <a:r>
              <a:t>Q1-A</a:t>
            </a:r>
            <a:br/>
            <a:br/>
            <a:r>
              <a:t>[教学意图]</a:t>
            </a:r>
            <a:br/>
            <a:r>
              <a:t>活动页：每个学生建立自己的秘密映射表。</a:t>
            </a:r>
            <a:br/>
            <a:br/>
            <a:r>
              <a:t>[教师逐字稿]</a:t>
            </a:r>
            <a:br/>
            <a:r>
              <a:t>规则很简单：这 8 个字符都可以被编码，3 bit 也刚好有 8 个位置。每个人把 000 到 111 打乱后分给这些字母。然后用自己的表编码 HELLO，只把 bit 串给同桌。第一轮，不给表。看看对方能不能读出来。</a:t>
            </a:r>
            <a:br/>
            <a:br/>
            <a:r>
              <a:t>[预期学生反应]</a:t>
            </a:r>
            <a:br/>
            <a:r>
              <a:t>学生通常会发现：同桌用自己的表去解，结果不是 HELLO。</a:t>
            </a:r>
            <a:br/>
            <a:br/>
            <a:r>
              <a:t>[追问问题]</a:t>
            </a:r>
            <a:br/>
            <a:r>
              <a:t>bit 串变了吗？变的是哪一个环节？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一串 0 和 1 天生具有文字意义吗？</a:t>
            </a:r>
            <a:br/>
            <a:br/>
            <a:r>
              <a:t>[内部编号]</a:t>
            </a:r>
            <a:br/>
            <a:r>
              <a:t>Q1-A</a:t>
            </a:r>
            <a:br/>
            <a:br/>
            <a:r>
              <a:t>[教学意图]</a:t>
            </a:r>
            <a:br/>
            <a:r>
              <a:t>形成结论：bits 需要共享映射规则才有确定文字意义。</a:t>
            </a:r>
            <a:br/>
            <a:br/>
            <a:r>
              <a:t>[教师逐字稿]</a:t>
            </a:r>
            <a:br/>
            <a:r>
              <a:t>现在请注意：bit 串从头到尾没有变。第一次读不出来，是因为你用了自己的表；第二次读出来，是因为你拿到了发送者的表。所以一串 bits 不会自己“长出文字意义”。意义来自大家共享的那张字符到编码的映射表。</a:t>
            </a:r>
            <a:br/>
            <a:br/>
            <a:r>
              <a:t>[追问问题]</a:t>
            </a:r>
            <a:br/>
            <a:r>
              <a:t>如果字符根本不在表里，共享映射还有用吗？</a:t>
            </a:r>
            <a:br/>
            <a:br/>
            <a:r>
              <a:t>[形成结论]</a:t>
            </a:r>
            <a:br/>
            <a:r>
              <a:t>文本交换需要共享字符集和字符—编码映射。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只有 8 个位置，哪些字符能进入字符集？</a:t>
            </a:r>
            <a:br/>
            <a:br/>
            <a:r>
              <a:t>[内部编号]</a:t>
            </a:r>
            <a:br/>
            <a:r>
              <a:t>Q1-B</a:t>
            </a:r>
            <a:br/>
            <a:br/>
            <a:r>
              <a:t>[教学意图]</a:t>
            </a:r>
            <a:br/>
            <a:r>
              <a:t>让学生发现“字符集选择”先于编码映射。</a:t>
            </a:r>
            <a:br/>
            <a:br/>
            <a:r>
              <a:t>[教师逐字稿]</a:t>
            </a:r>
            <a:br/>
            <a:r>
              <a:t>刚才我们解决了“共享哪张表”。但还有一个更早的问题：表里到底允许放哪些字符？3 bit 只有 8 个位置，候选字符却有 12 个。你必须先做选择。</a:t>
            </a:r>
            <a:br/>
            <a:br/>
            <a:r>
              <a:t>[追问问题]</a:t>
            </a:r>
            <a:br/>
            <a:r>
              <a:t>如果要同时编码 HELLO 和 STAR，最少要把哪些字母放进字符集？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只有 8 个位置，哪些字符能进入字符集？</a:t>
            </a:r>
            <a:br/>
            <a:br/>
            <a:r>
              <a:t>[内部编号]</a:t>
            </a:r>
            <a:br/>
            <a:r>
              <a:t>Q1-B</a:t>
            </a:r>
            <a:br/>
            <a:br/>
            <a:r>
              <a:t>[教学意图]</a:t>
            </a:r>
            <a:br/>
            <a:r>
              <a:t>结论：先确定字符集，再分配编码。</a:t>
            </a:r>
            <a:br/>
            <a:br/>
            <a:r>
              <a:t>[教师逐字稿]</a:t>
            </a:r>
            <a:br/>
            <a:r>
              <a:t>HELLO 需要 H、E、L、O；STAR 需要 S、T、A、R。合起来正好 8 个不同字母。3 bit 没有多余位置了，所以 CODE 中的 C 和 D 根本不在字符集中。不是我们忘记编码它们，而是这套系统一开始就没有收录它们。</a:t>
            </a:r>
            <a:br/>
            <a:br/>
            <a:r>
              <a:t>[追问问题]</a:t>
            </a:r>
            <a:br/>
            <a:r>
              <a:t>现实世界谁来制定这张大家都能查的表？</a:t>
            </a:r>
            <a:br/>
            <a:br/>
            <a:r>
              <a:t>[形成结论]</a:t>
            </a:r>
            <a:br/>
            <a:r>
              <a:t>设计字符编码：先确定字符集，再为字符建立唯一编码映射。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endParaRPr/>
          </a:p>
          <a:p xmlns:a="http://schemas.openxmlformats.org/drawingml/2006/main">
            <a:r>
              <a:t>ASCII 表怎样读？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[内部编号]</a:t>
            </a:r>
            <a:endParaRPr/>
          </a:p>
          <a:p xmlns:a="http://schemas.openxmlformats.org/drawingml/2006/main">
            <a:r>
              <a:t>Q2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[教学意图]</a:t>
            </a:r>
            <a:endParaRPr/>
          </a:p>
          <a:p xmlns:a="http://schemas.openxmlformats.org/drawingml/2006/main">
            <a:r>
              <a:t>用课堂摘录表把 Q1 的自制映射迁移到真实标准。学生先拼高 3 位与低 4 位，不在问题页显示完整计算。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[教师逐字稿]</a:t>
            </a:r>
            <a:endParaRPr/>
          </a:p>
          <a:p xmlns:a="http://schemas.openxmlformats.org/drawingml/2006/main">
            <a:r>
              <a:t>这是一张 ASCII 表的摘录。先看每行：字符在左边，高 3 位和低 4 位在右边。请两人一组，先把 A 的两列拼起来，再试 a、0、9、Space、LF。十六进制和十进制的写法，下一页再核对。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[预期学生反应]</a:t>
            </a:r>
            <a:endParaRPr/>
          </a:p>
          <a:p xmlns:a="http://schemas.openxmlformats.org/drawingml/2006/main">
            <a:r>
              <a:t>学生可能把 0x41 误读为十进制 41。先让他们说明进制，再给示范。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[来源]</a:t>
            </a:r>
            <a:endParaRPr/>
          </a:p>
          <a:p xmlns:a="http://schemas.openxmlformats.org/drawingml/2006/main">
            <a:r>
              <a:t>RFC 20, ASCII format for Network Interchange: https://www.rfc-editor.org/rfc/rfc20.html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endParaRPr/>
          </a:p>
          <a:p xmlns:a="http://schemas.openxmlformats.org/drawingml/2006/main">
            <a:r>
              <a:t>ASCII 表怎样读？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[内部编号]</a:t>
            </a:r>
            <a:endParaRPr/>
          </a:p>
          <a:p xmlns:a="http://schemas.openxmlformats.org/drawingml/2006/main">
            <a:r>
              <a:t>Q2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[教学意图]</a:t>
            </a:r>
            <a:endParaRPr/>
          </a:p>
          <a:p xmlns:a="http://schemas.openxmlformats.org/drawingml/2006/main">
            <a:r>
              <a:t>在相同表格上揭示 A 的读法，再让学生核对其他指定字符。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[教师逐字稿]</a:t>
            </a:r>
            <a:endParaRPr/>
          </a:p>
          <a:p xmlns:a="http://schemas.openxmlformats.org/drawingml/2006/main">
            <a:r>
              <a:t>先看 A：高 3 位是 100，低 4 位是 0001，拼起来是 1000001。这个值也可以写成十六进制 0x41、十进制 65。它们是同一个数的不同写法。现在请用同样方法核对其他五个字符。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[预期学生反应]</a:t>
            </a:r>
            <a:endParaRPr/>
          </a:p>
          <a:p xmlns:a="http://schemas.openxmlformats.org/drawingml/2006/main">
            <a:r>
              <a:t>学生容易把 0x41 当成十进制 41；请他们说明下标和前缀各表示哪种进制。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[形成结论]</a:t>
            </a:r>
            <a:endParaRPr/>
          </a:p>
          <a:p xmlns:a="http://schemas.openxmlformats.org/drawingml/2006/main">
            <a:r>
              <a:t>ASCII 规定字符与编码值的公共映射；高位与低位合起来才是完整的 7-bit 值。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[来源]</a:t>
            </a:r>
            <a:endParaRPr/>
          </a:p>
          <a:p xmlns:a="http://schemas.openxmlformats.org/drawingml/2006/main">
            <a:r>
              <a:t>RFC 20, ASCII format for Network Interchange: https://www.rfc-editor.org/rfc/rfc20.html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ASCII 是 7 bit，为什么计算机中常常看到 8 bit？</a:t>
            </a:r>
            <a:br/>
            <a:br/>
            <a:r>
              <a:t>[内部编号]</a:t>
            </a:r>
            <a:br/>
            <a:r>
              <a:t>Q3</a:t>
            </a:r>
            <a:br/>
            <a:br/>
            <a:r>
              <a:t>[教学意图]</a:t>
            </a:r>
            <a:br/>
            <a:r>
              <a:t>制造 7-bit 编码与 8-bit 存储之间的认知冲突。</a:t>
            </a:r>
            <a:br/>
            <a:br/>
            <a:r>
              <a:t>[教师逐字稿]</a:t>
            </a:r>
            <a:br/>
            <a:r>
              <a:t>先别算。ASCII 明明只有 128 个位置，7 bit 已经够了。那为什么文件里我们偏偏看到 8 bit？多出来的这一位到底从哪儿来的？</a:t>
            </a:r>
            <a:br/>
            <a:br/>
            <a:r>
              <a:t>[追问问题]</a:t>
            </a:r>
            <a:br/>
            <a:r>
              <a:t>多出来的这一位是否让 ASCII 字符数变成 256？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ASCII 是 7 bit，为什么计算机中常常看到 8 bit？</a:t>
            </a:r>
            <a:br/>
            <a:br/>
            <a:r>
              <a:t>[内部编号]</a:t>
            </a:r>
            <a:br/>
            <a:r>
              <a:t>Q3</a:t>
            </a:r>
            <a:br/>
            <a:br/>
            <a:r>
              <a:t>[教学意图]</a:t>
            </a:r>
            <a:br/>
            <a:r>
              <a:t>用 A 的编码证据说明 ASCII 编码值与 1 byte 存储之间的关系。</a:t>
            </a:r>
            <a:br/>
            <a:br/>
            <a:r>
              <a:t>[教师逐字稿]</a:t>
            </a:r>
            <a:br/>
            <a:r>
              <a:t>看 A。ASCII 表给出的 7-bit 值是 1000001。把它放进一个 byte 里，左侧补 0，就得到 01000001。这个左边的 0 是最高位，它不改变 A 的 ASCII 值。</a:t>
            </a:r>
            <a:br/>
            <a:br/>
            <a:r>
              <a:t>[预期学生反应]</a:t>
            </a:r>
            <a:br/>
            <a:r>
              <a:t>学生应指出字符值仍是 65，额外的一位只是存储成 1 byte 的补位。</a:t>
            </a:r>
            <a:br/>
            <a:br/>
            <a:r>
              <a:t>[形成结论]</a:t>
            </a:r>
            <a:br/>
            <a:r>
              <a:t>ASCII 编码本身是 7 bit；在 1 byte 中保存时最高位通常为 0。</a:t>
            </a:r>
            <a:br/>
            <a:br/>
            <a:r>
              <a:t>[Demo 操作]</a:t>
            </a:r>
            <a:br/>
            <a:r>
              <a:t>可切到 demo-lab-student.qmd → Q3 运行 A 的 ASCII 例子。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ASCII 中数字、大写字母、小写字母有什么规律？</a:t>
            </a:r>
            <a:br/>
            <a:br/>
            <a:r>
              <a:t>[内部编号]</a:t>
            </a:r>
            <a:br/>
            <a:r>
              <a:t>Q4</a:t>
            </a:r>
            <a:br/>
            <a:br/>
            <a:r>
              <a:t>[教学意图]</a:t>
            </a:r>
            <a:br/>
            <a:r>
              <a:t>将 ASCII 表查找转化为编码值比较，为考试常见比较题做准备。</a:t>
            </a:r>
            <a:br/>
            <a:br/>
            <a:r>
              <a:t>[教师逐字稿]</a:t>
            </a:r>
            <a:br/>
            <a:r>
              <a:t>这个问题看起来像常识题，其实不是。我们比较的不是“9 和 A 谁更大”，而是它们的 ASCII 编码值谁更大。请先猜，再用表验证。</a:t>
            </a:r>
            <a:br/>
            <a:br/>
            <a:r>
              <a:t>[追问问题]</a:t>
            </a:r>
            <a:br/>
            <a:r>
              <a:t>你比较的是字符外形、日常意义，还是编码值？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ASCII 中数字、大写字母、小写字母有什么规律？</a:t>
            </a:r>
            <a:br/>
            <a:br/>
            <a:r>
              <a:t>[内部编号]</a:t>
            </a:r>
            <a:br/>
            <a:r>
              <a:t>Q4</a:t>
            </a:r>
            <a:br/>
            <a:br/>
            <a:r>
              <a:t>[教学意图]</a:t>
            </a:r>
            <a:br/>
            <a:r>
              <a:t>用端点值建立范围顺序：数字字符 &lt; 大写字母 &lt; 小写字母。</a:t>
            </a:r>
            <a:br/>
            <a:br/>
            <a:r>
              <a:t>[教师逐字稿]</a:t>
            </a:r>
            <a:br/>
            <a:r>
              <a:t>先看端点。数字字符从 0x30 到 0x39，大写字母从 0x41 到 0x5A，小写字母从 0x61 到 0x7A。它们不是散乱排布，而是分段排列。</a:t>
            </a:r>
            <a:br/>
            <a:br/>
            <a:r>
              <a:t>[形成结论]</a:t>
            </a:r>
            <a:br/>
            <a:r>
              <a:t>ASCII 编码值：数字字符 &lt; 大写英文字母 &lt; 小写英文字母。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如果让你设计汉字编码，ASCII 的哪些思想还能使用？</a:t>
            </a:r>
            <a:br/>
            <a:br/>
            <a:r>
              <a:t>[内部编号]</a:t>
            </a:r>
            <a:br/>
            <a:r>
              <a:t>Q5</a:t>
            </a:r>
            <a:br/>
            <a:br/>
            <a:r>
              <a:t>[教学意图]</a:t>
            </a:r>
            <a:br/>
            <a:r>
              <a:t>从 ASCII 迁移到汉字编码设计，明确哪些设计原则能借鉴，哪些容量问题必须重做。</a:t>
            </a:r>
            <a:br/>
            <a:br/>
            <a:r>
              <a:t>[教师逐字稿]</a:t>
            </a:r>
            <a:br/>
            <a:r>
              <a:t>现在假设你来设计汉字编码。能不能照搬 ASCII？哪些思想能用，哪些地方马上不够了？先不急着给标准答案，小组先逐行判断。</a:t>
            </a:r>
            <a:br/>
            <a:br/>
            <a:r>
              <a:t>[追问问题]</a:t>
            </a:r>
            <a:br/>
            <a:r>
              <a:t>7 bit、1 byte 这些选择能直接用于汉字吗？为什么？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如果让你设计汉字编码，ASCII 的哪些思想还能使用？</a:t>
            </a:r>
            <a:br/>
            <a:br/>
            <a:r>
              <a:t>[内部编号]</a:t>
            </a:r>
            <a:br/>
            <a:r>
              <a:t>Q5</a:t>
            </a:r>
            <a:br/>
            <a:br/>
            <a:r>
              <a:t>[教学意图]</a:t>
            </a:r>
            <a:br/>
            <a:r>
              <a:t>形成从 ASCII 迁移到汉字编码的设计问题。</a:t>
            </a:r>
            <a:br/>
            <a:br/>
            <a:r>
              <a:t>[教师逐字稿]</a:t>
            </a:r>
            <a:br/>
            <a:r>
              <a:t>ASCII 给我们的不是“7 bit 永远够用”，而是一套设计方法：先定字符集，再定映射，再考虑存储和兼容。汉字编码要回答同样的问题，但答案不会和 ASCII 一样。</a:t>
            </a:r>
            <a:br/>
            <a:br/>
            <a:r>
              <a:t>[追问问题]</a:t>
            </a:r>
            <a:br/>
            <a:r>
              <a:t>方案真正写进文件后，汉字留下什么 byte？</a:t>
            </a:r>
            <a:br/>
            <a:br/>
            <a:r>
              <a:t>[形成结论]</a:t>
            </a:r>
            <a:br/>
            <a:r>
              <a:t>设计方法可借鉴；容量和存储方案必须重新设计。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汉字写进文件以后是什么？</a:t>
            </a:r>
            <a:br/>
            <a:br/>
            <a:r>
              <a:t>[内部编号]</a:t>
            </a:r>
            <a:br/>
            <a:r>
              <a:t>Q6</a:t>
            </a:r>
            <a:br/>
            <a:br/>
            <a:r>
              <a:t>[教学意图]</a:t>
            </a:r>
            <a:br/>
            <a:r>
              <a:t>从设计问题进入文件证据，用 WinHex 或 Notebook 观察 GB2312 兼容样本。</a:t>
            </a:r>
            <a:br/>
            <a:br/>
            <a:r>
              <a:t>[教师逐字稿]</a:t>
            </a:r>
            <a:br/>
            <a:r>
              <a:t>前面我们一直在谈“应该怎么设计”。现在看证据。一个文件里同时有英文和汉字，它们到底留下了哪些 byte？请先预测：A 占几个 byte，“中”占几个 byte？</a:t>
            </a:r>
            <a:br/>
            <a:br/>
            <a:r>
              <a:t>[追问问题]</a:t>
            </a:r>
            <a:br/>
            <a:r>
              <a:t>英文和汉字的最高位有什么不同？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endParaRPr/>
          </a:p>
          <a:p xmlns:a="http://schemas.openxmlformats.org/drawingml/2006/main">
            <a:r>
              <a:t>汉字写进文件以后是什么？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[内部编号]</a:t>
            </a:r>
            <a:endParaRPr/>
          </a:p>
          <a:p xmlns:a="http://schemas.openxmlformats.org/drawingml/2006/main">
            <a:r>
              <a:t>Q6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[教学意图]</a:t>
            </a:r>
            <a:endParaRPr/>
          </a:p>
          <a:p xmlns:a="http://schemas.openxmlformats.org/drawingml/2006/main">
            <a:r>
              <a:t>展示 GB2312 样本的十六进制 bytes。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[教师逐字稿]</a:t>
            </a:r>
            <a:endParaRPr/>
          </a:p>
          <a:p xmlns:a="http://schemas.openxmlformats.org/drawingml/2006/main">
            <a:r>
              <a:t>这是样本文本 A中B国C文。在 GB2312 兼容文件中，A 是 41；“中”是 D6 D0。先只数位置：英文是一个 byte，样本里的汉字是两个 bytes。红框现在只圈住“中”的 D6 D0。这里只说这个 GB2312 样本的 byte 数；下一问再比较其他编码。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[预期学生反应]</a:t>
            </a:r>
            <a:endParaRPr/>
          </a:p>
          <a:p xmlns:a="http://schemas.openxmlformats.org/drawingml/2006/main">
            <a:r>
              <a:t>学生应能数出英文 1 byte，汉字 2 bytes，并注意汉字两个 byte 的最高位都是 1。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[Demo 操作]</a:t>
            </a:r>
            <a:endParaRPr/>
          </a:p>
          <a:p xmlns:a="http://schemas.openxmlformats.org/drawingml/2006/main">
            <a:r>
              <a:t>首选 WinHex；如果不稳定，切到 demo-lab-student.qmd → Q6–Q7。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什么是“机内码”？D6 D0 为什么能代表“中”？</a:t>
            </a:r>
            <a:br/>
            <a:br/>
            <a:r>
              <a:t>[内部编号]</a:t>
            </a:r>
            <a:br/>
            <a:r>
              <a:t>Q7</a:t>
            </a:r>
            <a:br/>
            <a:br/>
            <a:r>
              <a:t>[教学意图]</a:t>
            </a:r>
            <a:br/>
            <a:r>
              <a:t>将 WinHex 观察推进到国标码与传统机内码的区别。</a:t>
            </a:r>
            <a:br/>
            <a:br/>
            <a:r>
              <a:t>[教师逐字稿]</a:t>
            </a:r>
            <a:br/>
            <a:r>
              <a:t>现在我们看到 D6 D0，但 GB2312 字符表里常说的“中”的区位或国标码不是直接 D6 D0。它们之间是什么关系？请先猜：D6 D0 是否可以直接当成表里的原始编码？</a:t>
            </a:r>
            <a:br/>
            <a:br/>
            <a:r>
              <a:t>[追问问题]</a:t>
            </a:r>
            <a:br/>
            <a:r>
              <a:t>为什么每个 byte 加 0x80 之后最高位就变成 1？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endParaRPr/>
          </a:p>
          <a:p xmlns:a="http://schemas.openxmlformats.org/drawingml/2006/main">
            <a:r>
              <a:t>什么是“机内码”？D6 D0 为什么能代表“中”？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[内部编号]</a:t>
            </a:r>
            <a:endParaRPr/>
          </a:p>
          <a:p xmlns:a="http://schemas.openxmlformats.org/drawingml/2006/main">
            <a:r>
              <a:t>Q7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[教学意图]</a:t>
            </a:r>
            <a:endParaRPr/>
          </a:p>
          <a:p xmlns:a="http://schemas.openxmlformats.org/drawingml/2006/main">
            <a:r>
              <a:t>明确“国标码 56 50 → 机内码 D6 D0”的课堂边界。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[教师逐字稿]</a:t>
            </a:r>
            <a:endParaRPr/>
          </a:p>
          <a:p xmlns:a="http://schemas.openxmlformats.org/drawingml/2006/main">
            <a:r>
              <a:t>在传统 GB2312 教学模型里，“中”的国标码可以写成 56 50。文件中的机内码把两个 byte 各加 0x80，于是得到 D6 D0。这样做以后，汉字两个 byte 的最高位都变成 1，就能和 ASCII 单字节区分。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[形成结论]</a:t>
            </a:r>
            <a:endParaRPr/>
          </a:p>
          <a:p xmlns:a="http://schemas.openxmlformats.org/drawingml/2006/main">
            <a:r>
              <a:t>GB2312 样本中：ASCII 0xxxxxxx；汉字 1xxxxxxx 1xxxxxxx。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[技术注解]</a:t>
            </a:r>
            <a:endParaRPr/>
          </a:p>
          <a:p xmlns:a="http://schemas.openxmlformats.org/drawingml/2006/main">
            <a:r>
              <a:t>此处“机内码”只指 GB2312 双字节实现模型；现代软件内部表示可能是 UTF-8、UTF-16 等。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[来源]</a:t>
            </a:r>
            <a:endParaRPr/>
          </a:p>
          <a:p xmlns:a="http://schemas.openxmlformats.org/drawingml/2006/main">
            <a:r>
              <a:t>Unicode Conference 技术教程第 7 页：“中”在 ISO-2022-CN 为 56 50，在 EUC-CN 为 D6 D0。https://www.unicode.org/iuc/iuc15/tb1/slides.pdf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汉字真的总是占 2 bytes 吗？</a:t>
            </a:r>
            <a:br/>
            <a:br/>
            <a:r>
              <a:t>[内部编号]</a:t>
            </a:r>
            <a:br/>
            <a:r>
              <a:t>Q8</a:t>
            </a:r>
            <a:br/>
            <a:br/>
            <a:r>
              <a:t>[教学意图]</a:t>
            </a:r>
            <a:br/>
            <a:r>
              <a:t>限制 Q6–Q7 的结论，防止把 GB2312 观察误认为汉字本身属性。</a:t>
            </a:r>
            <a:br/>
            <a:br/>
            <a:r>
              <a:t>[教师逐字稿]</a:t>
            </a:r>
            <a:br/>
            <a:r>
              <a:t>刚才我们在 GB2312 样本中看到一个汉字占两个 bytes。现在只改编码方案，不改这个“中”字。你预测它还会是两个 bytes 吗？</a:t>
            </a:r>
            <a:br/>
            <a:br/>
            <a:r>
              <a:t>[追问问题]</a:t>
            </a:r>
            <a:br/>
            <a:r>
              <a:t>如果字形没变，byte 数为什么会变？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汉字真的总是占 2 bytes 吗？</a:t>
            </a:r>
            <a:br/>
            <a:br/>
            <a:r>
              <a:t>[内部编号]</a:t>
            </a:r>
            <a:br/>
            <a:r>
              <a:t>Q8</a:t>
            </a:r>
            <a:br/>
            <a:br/>
            <a:r>
              <a:t>[教学意图]</a:t>
            </a:r>
            <a:br/>
            <a:r>
              <a:t>用同一个“中”的 GB2312 与 UTF-8 bytes 对比。</a:t>
            </a:r>
            <a:br/>
            <a:br/>
            <a:r>
              <a:t>[教师逐字稿]</a:t>
            </a:r>
            <a:br/>
            <a:r>
              <a:t>看同一个“中”。在 GB2312 中是 D6 D0，两个 bytes；在 UTF-8 中是 E4 B8 AD，三个 bytes。字符没有变，字形也没有变，变化的是把这个字符写成 bytes 的规则。</a:t>
            </a:r>
            <a:br/>
            <a:br/>
            <a:r>
              <a:t>[形成结论]</a:t>
            </a:r>
            <a:br/>
            <a:r>
              <a:t>字符占多少 bytes，取决于编码方案。</a:t>
            </a:r>
            <a:br/>
            <a:br/>
            <a:r>
              <a:t>[Demo 操作]</a:t>
            </a:r>
            <a:br/>
            <a:r>
              <a:t>可切到 demo-lab-student.qmd → Q8 运行比较。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英文字符和汉字，从键盘到屏幕有什么不同？</a:t>
            </a:r>
            <a:br/>
            <a:br/>
            <a:r>
              <a:t>[内部编号]</a:t>
            </a:r>
            <a:br/>
            <a:r>
              <a:t>Q9</a:t>
            </a:r>
            <a:br/>
            <a:br/>
            <a:r>
              <a:t>[教学意图]</a:t>
            </a:r>
            <a:br/>
            <a:r>
              <a:t>回到输入与显示路径，区分输入码、IME、字符与字形。</a:t>
            </a:r>
            <a:br/>
            <a:br/>
            <a:r>
              <a:t>[教师逐字稿]</a:t>
            </a:r>
            <a:br/>
            <a:r>
              <a:t>保存文件的路径我们看过了。现在回到键盘：按 A 和输入 ni 后选“你”，有什么不同？特别注意，ni 本身不是“你”的编码 bytes，它只是输入法用来帮助选字的输入码。</a:t>
            </a:r>
            <a:br/>
            <a:br/>
            <a:r>
              <a:t>[追问问题]</a:t>
            </a:r>
            <a:br/>
            <a:r>
              <a:t>输入 ni 之后，系统为什么还要让你选字？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英文字符和汉字，从键盘到屏幕有什么不同？</a:t>
            </a:r>
            <a:br/>
            <a:br/>
            <a:r>
              <a:t>[内部编号]</a:t>
            </a:r>
            <a:br/>
            <a:r>
              <a:t>Q9</a:t>
            </a:r>
            <a:br/>
            <a:br/>
            <a:r>
              <a:t>[教学意图]</a:t>
            </a:r>
            <a:br/>
            <a:r>
              <a:t>流程对比：中文输入多了“输入码 → IME → 选字”，显示阶段还需要字形。</a:t>
            </a:r>
            <a:br/>
            <a:br/>
            <a:r>
              <a:t>[教师逐字稿]</a:t>
            </a:r>
            <a:br/>
            <a:r>
              <a:t>英文 A 通常可以从按键直接确定字符；中文“你”常常先输入 ni，再由 IME 从候选中选出字符。字符确定以后，还没有结束：屏幕上看到的形状来自字体中的 glyph，最后才变成像素。</a:t>
            </a:r>
            <a:br/>
            <a:br/>
            <a:r>
              <a:t>[形成结论]</a:t>
            </a:r>
            <a:br/>
            <a:r>
              <a:t>输入码解决“怎样输入大量汉字”；字形码 / glyph 解决“怎样显示这个字符”。</a:t>
            </a:r>
            <a:br/>
            <a:br/>
            <a:r>
              <a:t>[技术注解]</a:t>
            </a:r>
            <a:br/>
            <a:r>
              <a:t>这里讨论字符输入层，不讨论键盘硬件扫描码。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[问题] 编码表各不相同，怎样确认是同一个“你”？</a:t>
            </a:r>
            <a:endParaRPr/>
          </a:p>
          <a:p xmlns:a="http://schemas.openxmlformats.org/drawingml/2006/main">
            <a:r>
              <a:t>[内部编号] Q10 · 问题</a:t>
            </a:r>
            <a:endParaRPr/>
          </a:p>
          <a:p xmlns:a="http://schemas.openxmlformats.org/drawingml/2006/main">
            <a:r>
              <a:t>[教学意图] 回看 Q1 的私人编码表和 Q8 同一字符的不同 bytes，提出跨系统共同字符身份的需要。暂不展示 Unicode 码位。</a:t>
            </a:r>
            <a:endParaRPr/>
          </a:p>
          <a:p xmlns:a="http://schemas.openxmlformats.org/drawingml/2006/main">
            <a:r>
              <a:t>[教师逐字稿] Q1 里，两组同学都用 3 bit，却读不懂对方的 HELLO。Q8 里，同一个“中”写成 GB2312 和 UTF-8，bytes 也不同。现在换一台电脑输入“你”，双方怎样确认选中的是同一个字符？先说说：我们需要统一的是字形、文件里的 bytes，还是字符的身份？</a:t>
            </a:r>
            <a:endParaRPr/>
          </a:p>
          <a:p xmlns:a="http://schemas.openxmlformats.org/drawingml/2006/main">
            <a:r>
              <a:t>[预期学生反应] 有学生可能说统一 bytes 就够了，也有人可能说看起来一样就是同一个字。先记录，不在本页判定。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[问题] 编码表各不相同，怎样确认是同一个“你”？</a:t>
            </a:r>
            <a:endParaRPr/>
          </a:p>
          <a:p xmlns:a="http://schemas.openxmlformats.org/drawingml/2006/main">
            <a:r>
              <a:t>[内部编号] Q10 · 解释</a:t>
            </a:r>
            <a:endParaRPr/>
          </a:p>
          <a:p xmlns:a="http://schemas.openxmlformats.org/drawingml/2006/main">
            <a:r>
              <a:t>[教学意图] 用 U+4F60 说明 Unicode 为字符约定跨系统可交流的身份，区分码位、bytes 和字形。</a:t>
            </a:r>
            <a:endParaRPr/>
          </a:p>
          <a:p xmlns:a="http://schemas.openxmlformats.org/drawingml/2006/main">
            <a:r>
              <a:t>[教师逐字稿] 看这个“你”。Unicode 给它一个共同的码位 U+4F60。哪怕两台电脑用不同字体，或者保存文件时选不同编码方式，我们仍能用这个码位谈论同一个字符。请指一指：哪一部分是字符身份？哪一部分还没有说明文件里具体是什么 bytes？</a:t>
            </a:r>
            <a:endParaRPr/>
          </a:p>
          <a:p xmlns:a="http://schemas.openxmlformats.org/drawingml/2006/main">
            <a:r>
              <a:t>[追问问题] 如果旧表没有收录一个姓名用字，仅换字体能让双方可靠交换吗？</a:t>
            </a:r>
            <a:endParaRPr/>
          </a:p>
          <a:p xmlns:a="http://schemas.openxmlformats.org/drawingml/2006/main">
            <a:r>
              <a:t>[形成结论] Unicode 约定字符及码位；文件 bytes 要再选编码形式，屏幕上的字形由字体提供。</a:t>
            </a:r>
            <a:endParaRPr/>
          </a:p>
          <a:p xmlns:a="http://schemas.openxmlformats.org/drawingml/2006/main">
            <a:r>
              <a:t>[技术注解] 单个可见字形不一定只对应一个码位；此处使用单码位样本。</a:t>
            </a:r>
            <a:endParaRPr/>
          </a:p>
          <a:p xmlns:a="http://schemas.openxmlformats.org/drawingml/2006/main">
            <a:r>
              <a:t>[来源] Unicode Standard Chapter 2: https://www.unicode.org/versions/Unicode18.0.0/core-spec/chapter-2/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[问题] 码位 U+4F60 是文件里的 bytes 吗？</a:t>
            </a:r>
            <a:endParaRPr/>
          </a:p>
          <a:p xmlns:a="http://schemas.openxmlformats.org/drawingml/2006/main">
            <a:r>
              <a:t>[内部编号] Q11-A · 问题</a:t>
            </a:r>
            <a:endParaRPr/>
          </a:p>
          <a:p xmlns:a="http://schemas.openxmlformats.org/drawingml/2006/main">
            <a:r>
              <a:t>[教学意图] 让学生把 Unicode 码位与文件 byte 序列分开。</a:t>
            </a:r>
            <a:endParaRPr/>
          </a:p>
          <a:p xmlns:a="http://schemas.openxmlformats.org/drawingml/2006/main">
            <a:r>
              <a:t>[教师逐字稿] 现在我们知道“你”是 U+4F60。那我把它保存成文件，是不是文件里一定写着 4F 60？先投票，再用三种 UTF 查证。请不要从名称猜答案，先说你认为“码位”和“bytes”是不是同一层。</a:t>
            </a:r>
            <a:endParaRPr/>
          </a:p>
          <a:p xmlns:a="http://schemas.openxmlformats.org/drawingml/2006/main">
            <a:r>
              <a:t>[预期学生反应] 可能把 U+4F60 当作固定的两个 bytes。保留这个猜测到下一页。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[问题] 码位 U+4F60 是文件里的 bytes 吗？</a:t>
            </a:r>
            <a:endParaRPr/>
          </a:p>
          <a:p xmlns:a="http://schemas.openxmlformats.org/drawingml/2006/main">
            <a:r>
              <a:t>[内部编号] Q11-A · 证据与结论</a:t>
            </a:r>
            <a:endParaRPr/>
          </a:p>
          <a:p xmlns:a="http://schemas.openxmlformats.org/drawingml/2006/main">
            <a:r>
              <a:t>[教学意图] 比较同一 Unicode 码位在 UTF-8、UTF-16BE、UTF-32BE 中的 byte 表示。</a:t>
            </a:r>
            <a:endParaRPr/>
          </a:p>
          <a:p xmlns:a="http://schemas.openxmlformats.org/drawingml/2006/main">
            <a:r>
              <a:t>[教师逐字稿] 左边的字符和码位都没有变。看三张框：UTF-8 得到 E4 BD A0，UTF-16BE 得到 4F 60，UTF-32BE 得到 00 00 4F 60。刚才猜“文件里一定是 4F 60”的同学，现在会怎样改？这三个 UTF 不是三张互相冲突的字符表，它们是 Unicode 规定的三种编码形式。</a:t>
            </a:r>
            <a:endParaRPr/>
          </a:p>
          <a:p xmlns:a="http://schemas.openxmlformats.org/drawingml/2006/main">
            <a:r>
              <a:t>[形成结论] Unicode 约定码位；UTF 编码形式把码位表示为编码单元。保存后的 bytes 可不同。</a:t>
            </a:r>
            <a:endParaRPr/>
          </a:p>
          <a:p xmlns:a="http://schemas.openxmlformats.org/drawingml/2006/main">
            <a:r>
              <a:t>[技术注解] 本页指定 BE，且不写 BOM。不要把 U+4F60 记法当作 UTF-16BE 的通用文件形式。</a:t>
            </a:r>
            <a:endParaRPr/>
          </a:p>
          <a:p xmlns:a="http://schemas.openxmlformats.org/drawingml/2006/main">
            <a:r>
              <a:t>[来源] Unicode Standard Chapter 3: https://www.unicode.org/versions/Unicode18.0.0/core-spec/chapter-3/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[问题] UTF-16 是否表示每个字符都占 16 bit？</a:t>
            </a:r>
            <a:endParaRPr/>
          </a:p>
          <a:p xmlns:a="http://schemas.openxmlformats.org/drawingml/2006/main">
            <a:r>
              <a:t>[内部编号] Q11-B · 问题</a:t>
            </a:r>
            <a:endParaRPr/>
          </a:p>
          <a:p xmlns:a="http://schemas.openxmlformats.org/drawingml/2006/main">
            <a:r>
              <a:t>[教学意图] 检查学生是否把 UTF 名称中的数字误作每个字符的固定长度。</a:t>
            </a:r>
            <a:endParaRPr/>
          </a:p>
          <a:p xmlns:a="http://schemas.openxmlformats.org/drawingml/2006/main">
            <a:r>
              <a:t>[教师逐字稿] 三种名字里有 8、16、32。你们觉得它们说的是“每个字符占多少 bit”吗？先猜 A 和“你”在三种格式里各有多少 bytes。不要急着说“UTF-16 永远 2 bytes”，先找证据。</a:t>
            </a:r>
            <a:endParaRPr/>
          </a:p>
          <a:p xmlns:a="http://schemas.openxmlformats.org/drawingml/2006/main">
            <a:r>
              <a:t>[预期学生反应] 可能把 UTF-16 直接说成每个字符 16 bit。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[问题] UTF-16 是否表示每个字符都占 16 bit？</a:t>
            </a:r>
            <a:endParaRPr/>
          </a:p>
          <a:p xmlns:a="http://schemas.openxmlformats.org/drawingml/2006/main">
            <a:r>
              <a:t>[内部编号] Q11-B · 初步证据</a:t>
            </a:r>
            <a:endParaRPr/>
          </a:p>
          <a:p xmlns:a="http://schemas.openxmlformats.org/drawingml/2006/main">
            <a:r>
              <a:t>[教学意图] 先给 A 和“你”的 byte 数，让学生判断两行是否足以证明 UTF-16 固定 2 bytes。</a:t>
            </a:r>
            <a:endParaRPr/>
          </a:p>
          <a:p xmlns:a="http://schemas.openxmlformats.org/drawingml/2006/main">
            <a:r>
              <a:t>[教师逐字稿] 看 A 和“你”：UTF-8 分别是 1 和 3 bytes；UTF-16BE 都是 2 bytes；UTF-32BE 都是 4 bytes。只看这两行，你能断定 UTF-16 对任何字符都只用 2 bytes 吗？为什么？最后一行先留空，听完你们的判断再试。</a:t>
            </a:r>
            <a:endParaRPr/>
          </a:p>
          <a:p xmlns:a="http://schemas.openxmlformats.org/drawingml/2006/main">
            <a:r>
              <a:t>[追问问题] 两个例子能证明对所有字符都成立吗？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[问题] UTF-16 是否表示每个字符都占 16 bit？</a:t>
            </a:r>
            <a:endParaRPr/>
          </a:p>
          <a:p xmlns:a="http://schemas.openxmlformats.org/drawingml/2006/main">
            <a:r>
              <a:t>[内部编号] Q11-B · 反例与结论</a:t>
            </a:r>
            <a:endParaRPr/>
          </a:p>
          <a:p xmlns:a="http://schemas.openxmlformats.org/drawingml/2006/main">
            <a:r>
              <a:t>[教学意图] 用 U+1F600 打破“UTF-16 每个字符固定 2 bytes”的概括，明确 code unit 宽度。</a:t>
            </a:r>
            <a:endParaRPr/>
          </a:p>
          <a:p xmlns:a="http://schemas.openxmlformats.org/drawingml/2006/main">
            <a:r>
              <a:t>[教师逐字稿] 现在填最后一行。U+1F600 在 UTF-16BE 里占 4 bytes，也就是两个 16-bit 单元。红框圈住的是这个反例。刚才的 16 说的到底是什么？它说的是一个编码单元的位数，不是每个字符固定占用的位数。UTF-8 用 8-bit 单元，UTF-16 用 16-bit 单元，UTF-32 用 32-bit 单元。</a:t>
            </a:r>
            <a:endParaRPr/>
          </a:p>
          <a:p xmlns:a="http://schemas.openxmlformats.org/drawingml/2006/main">
            <a:r>
              <a:t>[形成结论] Unicode 码位是字符身份；三种 UTF 是表示 Unicode 标量值的编码形式。UTF-8 可用 1–4 个 8-bit 单元，UTF-16 可用 1 或 2 个 16-bit 单元，UTF-32 用 1 个 32-bit 单元。</a:t>
            </a:r>
            <a:endParaRPr/>
          </a:p>
          <a:p xmlns:a="http://schemas.openxmlformats.org/drawingml/2006/main">
            <a:r>
              <a:t>[技术注解] UTF-16 对 U+1F600 使用一对代理码元。这里展示无 BOM 的 BE 文件 bytes；不要求学生计算代理对。一个可见字形可能由多个码位组成。</a:t>
            </a:r>
            <a:endParaRPr/>
          </a:p>
          <a:p xmlns:a="http://schemas.openxmlformats.org/drawingml/2006/main">
            <a:r>
              <a:t>[来源] Unicode Standard Chapter 3: https://www.unicode.org/versions/Unicode18.0.0/core-spec/chapter-3/</a:t>
            </a:r>
            <a:endParaRPr/>
          </a:p>
          <a:p xmlns:a="http://schemas.openxmlformats.org/drawingml/2006/main">
            <a:r>
              <a:t>Unicode FAQ: https://www.unicode.org/faq/utf_bom.html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中文编码标准为什么不断扩展？</a:t>
            </a:r>
            <a:br/>
            <a:br/>
            <a:r>
              <a:t>[内部编号]</a:t>
            </a:r>
            <a:br/>
            <a:r>
              <a:t>Q12</a:t>
            </a:r>
            <a:br/>
            <a:br/>
            <a:r>
              <a:t>[教学意图]</a:t>
            </a:r>
            <a:br/>
            <a:r>
              <a:t>以“字符不在字符集里”的实际问题回扣 Q1-B，并引出标准演进。</a:t>
            </a:r>
            <a:br/>
            <a:br/>
            <a:r>
              <a:t>[教师逐字稿]</a:t>
            </a:r>
            <a:br/>
            <a:r>
              <a:t>现在回到 Q1-B。如果某个名字里的字不在字符集中，换字体能解决保存和交换问题吗？请注意：有字形，和有可交换的编码，不是一回事。</a:t>
            </a:r>
            <a:br/>
            <a:br/>
            <a:r>
              <a:t>[追问问题]</a:t>
            </a:r>
            <a:br/>
            <a:r>
              <a:t>为什么标准要不断收录更多汉字？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endParaRPr/>
          </a:p>
          <a:p xmlns:a="http://schemas.openxmlformats.org/drawingml/2006/main">
            <a:r>
              <a:t>中文编码标准为什么不断扩展？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[内部编号]</a:t>
            </a:r>
            <a:endParaRPr/>
          </a:p>
          <a:p xmlns:a="http://schemas.openxmlformats.org/drawingml/2006/main">
            <a:r>
              <a:t>Q12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[教学意图]</a:t>
            </a:r>
            <a:endParaRPr/>
          </a:p>
          <a:p xmlns:a="http://schemas.openxmlformats.org/drawingml/2006/main">
            <a:r>
              <a:t>展示 GB2312 → GBK → GB18030 的收字规模扩展趋势。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[教师逐字稿]</a:t>
            </a:r>
            <a:endParaRPr/>
          </a:p>
          <a:p xmlns:a="http://schemas.openxmlformats.org/drawingml/2006/main">
            <a:r>
              <a:t>从 GB2312 的六千余常用汉字，到 GBK 的两万余，再到 GB18030 的七万、八万余，趋势很清楚：字符集不断扩大，是为了让更多真实姓名、地名和文献中的字能稳定输入、保存、交换和显示。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[形成结论]</a:t>
            </a:r>
            <a:endParaRPr/>
          </a:p>
          <a:p xmlns:a="http://schemas.openxmlformats.org/drawingml/2006/main">
            <a:r>
              <a:t>字符集扩大，是中文编码标准演进的重要驱动力。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[技术注解]</a:t>
            </a:r>
            <a:endParaRPr/>
          </a:p>
          <a:p xmlns:a="http://schemas.openxmlformats.org/drawingml/2006/main">
            <a:r>
              <a:t>GB18030-2022 原发布资料给出 87,887 个汉字；第1号修改单新增编码 9,793 个汉字。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[来源]</a:t>
            </a:r>
            <a:endParaRPr/>
          </a:p>
          <a:p xmlns:a="http://schemas.openxmlformats.org/drawingml/2006/main">
            <a:r>
              <a:t>GB18030-2022 发布资料：https://www.sac.gov.cn/Standards/Release/art/2022/art_3555a3d3ce1c49dfb06a2c615a1d1190.html</a:t>
            </a:r>
            <a:endParaRPr/>
          </a:p>
          <a:p xmlns:a="http://schemas.openxmlformats.org/drawingml/2006/main">
            <a:r>
              <a:t>GB18030-2022 第1号修改单认证执行要求：https://www.cc.cesi.cn/news/show-4889.aspx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[补充对照]</a:t>
            </a:r>
            <a:endParaRPr/>
          </a:p>
          <a:p xmlns:a="http://schemas.openxmlformats.org/drawingml/2006/main">
            <a:r>
              <a:t>GB18030 中“你”的 bytes 为 C4 E3。它属于 Q12 的中文编码标准对照；Q11 主表只比较三种 Unicode UTF 形式。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同一批 bytes 为什么会变成乱码？</a:t>
            </a:r>
            <a:br/>
            <a:br/>
            <a:r>
              <a:t>[内部编号]</a:t>
            </a:r>
            <a:br/>
            <a:r>
              <a:t>Q13</a:t>
            </a:r>
            <a:br/>
            <a:br/>
            <a:r>
              <a:t>[教学意图]</a:t>
            </a:r>
            <a:br/>
            <a:r>
              <a:t>回到 Q0，定位 encode/decode 规则不一致导致的乱码。</a:t>
            </a:r>
            <a:br/>
            <a:br/>
            <a:r>
              <a:t>[教师逐字稿]</a:t>
            </a:r>
            <a:br/>
            <a:r>
              <a:t>现在回到开头。我们已经知道字符、码位、bytes 和显示是不同层。请预测：同一批 bytes，分别按 UTF-8 和 GBK 读取，会得到相同文字吗？</a:t>
            </a:r>
            <a:br/>
            <a:br/>
            <a:r>
              <a:t>[追问问题]</a:t>
            </a:r>
            <a:br/>
            <a:r>
              <a:t>如果 bytes 没变，错误可能发生在哪一步？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</a:t>
            </a:r>
            <a:br/>
            <a:r>
              <a:t>同一批 bytes 为什么会变成乱码？</a:t>
            </a:r>
            <a:br/>
            <a:br/>
            <a:r>
              <a:t>[内部编号]</a:t>
            </a:r>
            <a:br/>
            <a:r>
              <a:t>Q13</a:t>
            </a:r>
            <a:br/>
            <a:br/>
            <a:r>
              <a:t>[教学意图]</a:t>
            </a:r>
            <a:br/>
            <a:r>
              <a:t>展开 Q0 的乱码过程：UTF-8 bytes 被 GBK 错误 decode。</a:t>
            </a:r>
            <a:br/>
            <a:br/>
            <a:r>
              <a:t>[教师逐字稿]</a:t>
            </a:r>
            <a:br/>
            <a:r>
              <a:t>“你好”按 UTF-8 写成这批 bytes。若再按 UTF-8 读，还是“你好”；若按 GBK 读，就变成“浣犲ソ”。注意，bytes 并没有被破坏；问题在 decode 时使用了不匹配的规则。</a:t>
            </a:r>
            <a:br/>
            <a:br/>
            <a:r>
              <a:t>[形成结论]</a:t>
            </a:r>
            <a:br/>
            <a:r>
              <a:t>乱码不一定意味着 bytes 损坏；编码和解码规则不一致也会产生乱码。</a:t>
            </a:r>
            <a:br/>
            <a:br/>
            <a:r>
              <a:t>[Demo 操作]</a:t>
            </a:r>
            <a:br/>
            <a:r>
              <a:t>可切到 demo-lab-student.qmd → Q13 运行解码对比。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[问题] 现在能重新解释整个过程吗？</a:t>
            </a:r>
            <a:endParaRPr/>
          </a:p>
          <a:p xmlns:a="http://schemas.openxmlformats.org/drawingml/2006/main">
            <a:r>
              <a:t>[内部编号] Q14 · 问题</a:t>
            </a:r>
            <a:endParaRPr/>
          </a:p>
          <a:p xmlns:a="http://schemas.openxmlformats.org/drawingml/2006/main">
            <a:r>
              <a:t>[教学意图] 让学生独立重建输入显示、保存读取两条路径，并在保存路径标出所选编码形式。</a:t>
            </a:r>
            <a:endParaRPr/>
          </a:p>
          <a:p xmlns:a="http://schemas.openxmlformats.org/drawingml/2006/main">
            <a:r>
              <a:t>[教师逐字稿] 最后请自己画两条路：一条是输入后显示，一条是保存后重新读取。把输入码、IME、字符、Unicode 码位、编码后的 bytes、字体映射放在合适的位置。保存那条路还要写清用的是哪种编码形式，比如 UTF-8、UTF-16 或 UTF-32；不要把 encode 和 decode 硬塞进键盘到屏幕的即时显示路径。</a:t>
            </a:r>
            <a:endParaRPr/>
          </a:p>
          <a:p xmlns:a="http://schemas.openxmlformats.org/drawingml/2006/main">
            <a:r>
              <a:t>[追问问题] Q0 的乱码在哪条路径？Q9 的输入码在哪条路径？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[问题] 现在能重新解释整个过程吗？</a:t>
            </a:r>
            <a:endParaRPr/>
          </a:p>
          <a:p xmlns:a="http://schemas.openxmlformats.org/drawingml/2006/main">
            <a:r>
              <a:t>[内部编号] Q14 · 解释</a:t>
            </a:r>
            <a:endParaRPr/>
          </a:p>
          <a:p xmlns:a="http://schemas.openxmlformats.org/drawingml/2006/main">
            <a:r>
              <a:t>[教学意图] 统合字符身份、UTF 编码形式、bytes、输入码和字形呈现。</a:t>
            </a:r>
            <a:endParaRPr/>
          </a:p>
          <a:p xmlns:a="http://schemas.openxmlformats.org/drawingml/2006/main">
            <a:r>
              <a:t>[教师逐字稿] 上面这条路解释键盘输入后怎样显示：输入码和 IME 帮我们确定字符，Unicode 码位标识字符，字体把它画成 glyph。下面这条路解释保存和读取：从字符的码位出发，选 UTF-8、UTF-16、UTF-32 等编码形式写成 bytes；读取时用相应规则解码，再由字体绘出字形。Q0 的乱码是下面这条路在 decode 时用了不匹配的规则。</a:t>
            </a:r>
            <a:endParaRPr/>
          </a:p>
          <a:p xmlns:a="http://schemas.openxmlformats.org/drawingml/2006/main">
            <a:r>
              <a:t>[追问问题] 同一个 U+4F60 在三种 UTF 里保存的 bytes 一样吗？这会改变“你”的字符身份吗？</a:t>
            </a:r>
            <a:endParaRPr/>
          </a:p>
          <a:p xmlns:a="http://schemas.openxmlformats.org/drawingml/2006/main">
            <a:r>
              <a:t>[形成结论] 输入、字符身份、编码形式、字节表示、读取规则、字形呈现是不同环节。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[问题 / 页面目的] 用三句话解释字符编码</a:t>
            </a:r>
            <a:endParaRPr/>
          </a:p>
          <a:p xmlns:a="http://schemas.openxmlformats.org/drawingml/2006/main">
            <a:r>
              <a:t>[内部编号] Exit Ticket</a:t>
            </a:r>
            <a:endParaRPr/>
          </a:p>
          <a:p xmlns:a="http://schemas.openxmlformats.org/drawingml/2006/main">
            <a:r>
              <a:t>[教学意图] 检查学生能否区分映射规则、Unicode 码位、UTF 编码形式和错误解码。</a:t>
            </a:r>
            <a:endParaRPr/>
          </a:p>
          <a:p xmlns:a="http://schemas.openxmlformats.org/drawingml/2006/main">
            <a:r>
              <a:t>[教师逐字稿] 最后写三句话。第一句解释 bits 为什么不能自己决定文字意义。第二句说清 Unicode 码位是什么，UTF-8、UTF-16、UTF-32 又负责什么。第三句解释 bytes 没坏时为什么仍可能乱码。不要照抄屏幕上的词，试着讲给同桌听。</a:t>
            </a:r>
            <a:endParaRPr/>
          </a:p>
          <a:p xmlns:a="http://schemas.openxmlformats.org/drawingml/2006/main">
            <a:r>
              <a:t>[预期学生反应] 学生应能说出共同的字符身份、不同的 byte 表示，以及读取时需要匹配的规则。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14a859ef4449d7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cbee544567840fc" /><Relationship Type="http://schemas.openxmlformats.org/officeDocument/2006/relationships/slideLayout" Target="/ppt/slideLayouts/slideLayout1.xml" Id="Rc0acb180c38f44a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acb180c38f44a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libaba PuHuiTi 3.0 115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libaba PuHuiTi 3.0 55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7915de52e409d" /><Relationship Type="http://schemas.openxmlformats.org/officeDocument/2006/relationships/notesSlide" Target="/ppt/notesSlides/notesSlide1.xml" Id="R45689f40a9f44d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8cbbb653774479" /><Relationship Type="http://schemas.openxmlformats.org/officeDocument/2006/relationships/notesSlide" Target="/ppt/notesSlides/notesSlide2.xml" Id="Rfe34cbc24e3c48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a3632a0e44d8b" /><Relationship Type="http://schemas.openxmlformats.org/officeDocument/2006/relationships/notesSlide" Target="/ppt/notesSlides/notesSlide3.xml" Id="Rcefe549f599141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6789fbea10442a" /><Relationship Type="http://schemas.openxmlformats.org/officeDocument/2006/relationships/notesSlide" Target="/ppt/notesSlides/notesSlide4.xml" Id="R7fe27661c4db47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c39639e874aca" /><Relationship Type="http://schemas.openxmlformats.org/officeDocument/2006/relationships/notesSlide" Target="/ppt/notesSlides/notesSlide5.xml" Id="R6ad502fc13654b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6de05ca0941a0" /><Relationship Type="http://schemas.openxmlformats.org/officeDocument/2006/relationships/notesSlide" Target="/ppt/notesSlides/notesSlide6.xml" Id="R563f2759d01742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dd364116845ff" /><Relationship Type="http://schemas.openxmlformats.org/officeDocument/2006/relationships/notesSlide" Target="/ppt/notesSlides/notesSlide7.xml" Id="Rddb27d86081844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22bea6118d4a39" /><Relationship Type="http://schemas.openxmlformats.org/officeDocument/2006/relationships/notesSlide" Target="/ppt/notesSlides/notesSlide8.xml" Id="Re8a217662604409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314d0c4b124c6f" /><Relationship Type="http://schemas.openxmlformats.org/officeDocument/2006/relationships/notesSlide" Target="/ppt/notesSlides/notesSlide9.xml" Id="Ra29100f0e6a34f2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9318ca6524db5" /><Relationship Type="http://schemas.openxmlformats.org/officeDocument/2006/relationships/notesSlide" Target="/ppt/notesSlides/notesSlide10.xml" Id="R0ac8f73c33e44c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3c3e19d8114a80" /><Relationship Type="http://schemas.openxmlformats.org/officeDocument/2006/relationships/notesSlide" Target="/ppt/notesSlides/notesSlide11.xml" Id="R76575f57559647b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066ab908134ea1" /><Relationship Type="http://schemas.openxmlformats.org/officeDocument/2006/relationships/notesSlide" Target="/ppt/notesSlides/notesSlide12.xml" Id="R752c6cf6b60646a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3aa93f08fb4f32" /><Relationship Type="http://schemas.openxmlformats.org/officeDocument/2006/relationships/notesSlide" Target="/ppt/notesSlides/notesSlide13.xml" Id="R8037ce9bf9a04b7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e700bd531249a3" /><Relationship Type="http://schemas.openxmlformats.org/officeDocument/2006/relationships/notesSlide" Target="/ppt/notesSlides/notesSlide14.xml" Id="Rad5f7fb4d0c54c0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054421cbb43ce" /><Relationship Type="http://schemas.openxmlformats.org/officeDocument/2006/relationships/notesSlide" Target="/ppt/notesSlides/notesSlide15.xml" Id="Raa92bca660284e4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7c11b9fda4832" /><Relationship Type="http://schemas.openxmlformats.org/officeDocument/2006/relationships/notesSlide" Target="/ppt/notesSlides/notesSlide16.xml" Id="R56c163f002ca4ba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c38883c8144039" /><Relationship Type="http://schemas.openxmlformats.org/officeDocument/2006/relationships/notesSlide" Target="/ppt/notesSlides/notesSlide17.xml" Id="R158ccb5c87b24bb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4c8055e5342a3" /><Relationship Type="http://schemas.openxmlformats.org/officeDocument/2006/relationships/notesSlide" Target="/ppt/notesSlides/notesSlide18.xml" Id="R510c876c5ed7481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e845cc31d54cdc" /><Relationship Type="http://schemas.openxmlformats.org/officeDocument/2006/relationships/notesSlide" Target="/ppt/notesSlides/notesSlide19.xml" Id="R75ffccc7427540f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6aaaa0b634c44" /><Relationship Type="http://schemas.openxmlformats.org/officeDocument/2006/relationships/notesSlide" Target="/ppt/notesSlides/notesSlide20.xml" Id="R533b76129735459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430be36fa84f3d" /><Relationship Type="http://schemas.openxmlformats.org/officeDocument/2006/relationships/notesSlide" Target="/ppt/notesSlides/notesSlide21.xml" Id="R801d97975e4d481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40b71d20e4979" /><Relationship Type="http://schemas.openxmlformats.org/officeDocument/2006/relationships/notesSlide" Target="/ppt/notesSlides/notesSlide22.xml" Id="Rd6cd657f6816428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2b44baeda48b7" /><Relationship Type="http://schemas.openxmlformats.org/officeDocument/2006/relationships/notesSlide" Target="/ppt/notesSlides/notesSlide23.xml" Id="R97d623532e48424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bdfd5da1144df" /><Relationship Type="http://schemas.openxmlformats.org/officeDocument/2006/relationships/notesSlide" Target="/ppt/notesSlides/notesSlide24.xml" Id="R83e6cd4f6e8f432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1ef47bcdd5400c" /><Relationship Type="http://schemas.openxmlformats.org/officeDocument/2006/relationships/notesSlide" Target="/ppt/notesSlides/notesSlide25.xml" Id="R2fdc51cd2cca474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dfe318c3a4d8c" /><Relationship Type="http://schemas.openxmlformats.org/officeDocument/2006/relationships/notesSlide" Target="/ppt/notesSlides/notesSlide26.xml" Id="R9128121978524d6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7d2d3e8bd44c1" /><Relationship Type="http://schemas.openxmlformats.org/officeDocument/2006/relationships/notesSlide" Target="/ppt/notesSlides/notesSlide27.xml" Id="R8264d60eac3744c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3d66778ef4bb9" /><Relationship Type="http://schemas.openxmlformats.org/officeDocument/2006/relationships/notesSlide" Target="/ppt/notesSlides/notesSlide28.xml" Id="Rd9b08ef5a625444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3777da50f4581" /><Relationship Type="http://schemas.openxmlformats.org/officeDocument/2006/relationships/notesSlide" Target="/ppt/notesSlides/notesSlide29.xml" Id="R0a8be1e286d0415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036baeeac4dac" /><Relationship Type="http://schemas.openxmlformats.org/officeDocument/2006/relationships/notesSlide" Target="/ppt/notesSlides/notesSlide30.xml" Id="R0941a8cb088e4aa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093f6d3b8d4941" /><Relationship Type="http://schemas.openxmlformats.org/officeDocument/2006/relationships/notesSlide" Target="/ppt/notesSlides/notesSlide31.xml" Id="R035b6be79868422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63b8078ec74d02" /><Relationship Type="http://schemas.openxmlformats.org/officeDocument/2006/relationships/notesSlide" Target="/ppt/notesSlides/notesSlide32.xml" Id="R4312f8bb60104f6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46db2003a4c59" /><Relationship Type="http://schemas.openxmlformats.org/officeDocument/2006/relationships/notesSlide" Target="/ppt/notesSlides/notesSlide33.xml" Id="R691b9ee205d0444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4c497067f4b08" /><Relationship Type="http://schemas.openxmlformats.org/officeDocument/2006/relationships/notesSlide" Target="/ppt/notesSlides/notesSlide34.xml" Id="R11f6847a95c844f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e44db5cd84d36" /><Relationship Type="http://schemas.openxmlformats.org/officeDocument/2006/relationships/notesSlide" Target="/ppt/notesSlides/notesSlide35.xml" Id="R5113e16d536844d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348aaf5cb74f5b" /><Relationship Type="http://schemas.openxmlformats.org/officeDocument/2006/relationships/notesSlide" Target="/ppt/notesSlides/notesSlide36.xml" Id="R2161a482649f47f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59574413f427f" /><Relationship Type="http://schemas.openxmlformats.org/officeDocument/2006/relationships/notesSlide" Target="/ppt/notesSlides/notesSlide37.xml" Id="R2f811c720557463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d60a5abc844338" /><Relationship Type="http://schemas.openxmlformats.org/officeDocument/2006/relationships/notesSlide" Target="/ppt/notesSlides/notesSlide38.xml" Id="Rab170d11312d40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420BD4A-7E91-4ED4-B1F4-1B8CA865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E22F958-E961-44D5-AE46-D0E7DF02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6F1991E-EC1A-4745-9504-30AEE9EE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965960"/>
            <a:ext cx="99669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0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字符</a:t>
            </a:r>
            <a:r>
              <a:rPr sz="60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编码</a:t>
            </a:r>
            <a:endParaRPr sz="60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5E01D5B-EC65-4538-B7A8-79AD6D0F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926080"/>
            <a:ext cx="9966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700">
                <a:solidFill>
                  <a:srgbClr val="808080"/>
                </a:solidFill>
                <a:latin typeface="Alibaba PuHuiTi 3.0 55 Regular"/>
                <a:ea typeface="Alibaba PuHuiTi 3.0 55 Regular"/>
                <a:cs typeface="Alibaba PuHuiTi 3.0 55 Regular"/>
              </a:rPr>
              <a:t>从按下键盘，到屏幕出现汉字</a:t>
            </a:r>
            <a:endParaRPr sz="3700"/>
          </a:p>
        </p:txBody>
      </p:sp>
    </p:spTree>
    <p:extLst>
      <p:ext uri="{BB962C8B-B14F-4D97-AF65-F5344CB8AC3E}">
        <p14:creationId xmlns:p14="http://schemas.microsoft.com/office/powerpoint/2010/main" val="3139369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32B112F-E0E5-4C5C-8094-9C292990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19C27E8-3D8A-42D1-9E27-E6A131E3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839517D-B8C7-4D98-B196-2FB280ED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同一份文字，为什么会出现乱码？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5694190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95A503B-474C-4634-8FA6-9AAAE09B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1C090F3-7406-451A-BBDD-88CDA945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5F98584-D8D1-480A-8138-D903F860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同一份文字，为什么会出现乱码？</a:t>
            </a:r>
            <a:endParaRPr sz="3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5EE716C-0826-4740-9508-AFE6E45B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737360"/>
            <a:ext cx="4389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正常显示</a:t>
            </a:r>
            <a:endParaRPr sz="2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6D53914-258D-46EA-A25B-E64E82E8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737360"/>
            <a:ext cx="43891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/>
                <a:ea typeface="Alibaba PuHuiTi 3.0 115 Black"/>
                <a:cs typeface="Alibaba PuHuiTi 3.0 115 Black"/>
              </a:rPr>
              <a:t>错误显示</a:t>
            </a:r>
            <a:endParaRPr sz="24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F1F4F3AC-B262-4753-A299-ABF01DB1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423160"/>
            <a:ext cx="448056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80C0555-3F97-4B5E-8E1D-B9A63DF92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496312"/>
            <a:ext cx="4334256" cy="1088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2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你好</a:t>
            </a:r>
            <a:endParaRPr sz="42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12989067-7BFC-43BD-8535-6BE7EEF2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23160"/>
            <a:ext cx="448056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D772355-1A82-4AFF-BB4F-99142ABD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496312"/>
            <a:ext cx="4334256" cy="1088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2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浣犲ソ</a:t>
            </a:r>
            <a:endParaRPr sz="42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3C5584E7-D481-4F85-AA9C-5FFFBA0D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035808"/>
            <a:ext cx="822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8080"/>
            </a:solidFill>
            <a:prstDash val="solid"/>
            <a:headEnd type="none"/>
            <a:tailEnd type="triangle"/>
          </a:ln>
        </p:spPr>
      </p:sp>
    </p:spTree>
    <p:extLst>
      <p:ext uri="{BB962C8B-B14F-4D97-AF65-F5344CB8AC3E}">
        <p14:creationId xmlns:p14="http://schemas.microsoft.com/office/powerpoint/2010/main" val="18490611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518F589-ABD9-4CEA-B9CD-A0F114FD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E2DD93E-5400-425D-8B4B-C46215E0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34C97E4-605C-4AE8-BB7F-979C325F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一串 bits 天生具有文字意义吗？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5692607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B16D02C-5B17-4CA8-8C5F-A434E323A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F700CF2-AE1F-443A-A4BA-EA29120F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8C69620-8173-4196-9D85-FF116335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一串 bits 天生具有文字意义吗？</a:t>
            </a:r>
            <a:endParaRPr sz="3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F84811C-1BE2-450E-8DDE-CCFBA1D6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1417320"/>
            <a:ext cx="82296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字符集 = { A, E, H, L, O, R, S, T }</a:t>
            </a:r>
            <a:endParaRPr sz="2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13328E29-8937-4184-808F-B5D06DEC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03120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F1C8A3F-568F-4DEF-B862-A28383A9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176272"/>
            <a:ext cx="804672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A</a:t>
            </a:r>
            <a:endParaRPr sz="24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FB413C7B-A3D7-41CF-A0B1-9F84F1E7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770632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D5D7C8C0-6E2E-4A7A-A9F2-C8BDB86B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56432"/>
            <a:ext cx="95097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/>
                <a:ea typeface="Alibaba PuHuiTi 3.0 85 Bold"/>
                <a:cs typeface="Alibaba PuHuiTi 3.0 85 Bold"/>
              </a:rPr>
              <a:t>000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EDEFA8A0-EAE7-4152-8C55-98D70DDC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2103120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C53291E5-B303-4271-A678-70AE265B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864" y="2176272"/>
            <a:ext cx="804672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E</a:t>
            </a:r>
            <a:endParaRPr sz="24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7DE14E8-E85E-4421-BC9F-303A88EA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2770632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B7806DF-4E7E-430D-A0C9-BE0AE375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3456432"/>
            <a:ext cx="95097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/>
                <a:ea typeface="Alibaba PuHuiTi 3.0 85 Bold"/>
                <a:cs typeface="Alibaba PuHuiTi 3.0 85 Bold"/>
              </a:rPr>
              <a:t>001</a:t>
            </a:r>
            <a:endParaRPr sz="140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744B8A0-CF8A-40BB-A1F0-F423C77B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103120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D318CF2C-885A-4F58-9322-264FCA0D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176272"/>
            <a:ext cx="804672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H</a:t>
            </a:r>
            <a:endParaRPr sz="24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AC0A027-913A-4073-A9E2-05DE1EC2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70632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F8B47F9-C118-49C1-BC5E-A357AAEF0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3456432"/>
            <a:ext cx="95097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/>
                <a:ea typeface="Alibaba PuHuiTi 3.0 85 Bold"/>
                <a:cs typeface="Alibaba PuHuiTi 3.0 85 Bold"/>
              </a:rPr>
              <a:t>010</a:t>
            </a:r>
            <a:endParaRPr sz="14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014B8981-36AC-48A8-A2DD-AD83CAB6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103120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8579D518-0766-4CA5-82D8-41CD19B4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2176272"/>
            <a:ext cx="804672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L</a:t>
            </a:r>
            <a:endParaRPr sz="240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BF881034-7977-4016-844C-04EDB615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770632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A3020A7-59AE-4998-A057-49F4CB20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3456432"/>
            <a:ext cx="95097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/>
                <a:ea typeface="Alibaba PuHuiTi 3.0 85 Bold"/>
                <a:cs typeface="Alibaba PuHuiTi 3.0 85 Bold"/>
              </a:rPr>
              <a:t>011</a:t>
            </a:r>
            <a:endParaRPr sz="140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B40C339-2C5C-415C-8A05-B926DFD9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2103120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F31EB297-56E8-4478-BB8A-2FD3B390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176272"/>
            <a:ext cx="804672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O</a:t>
            </a:r>
            <a:endParaRPr sz="2400"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684A0D9-BA26-4FCE-876F-587D78B4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2770632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F2EB0924-134A-4975-9720-CED8B556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3456432"/>
            <a:ext cx="95097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/>
                <a:ea typeface="Alibaba PuHuiTi 3.0 85 Bold"/>
                <a:cs typeface="Alibaba PuHuiTi 3.0 85 Bold"/>
              </a:rPr>
              <a:t>100</a:t>
            </a:r>
            <a:endParaRPr sz="14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11D2EEAB-3D0E-421A-9529-32458B15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03120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553C8F3E-FB92-4D4A-8C0B-F15CC6B8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176272"/>
            <a:ext cx="804672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R</a:t>
            </a:r>
            <a:endParaRPr sz="2400"/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7E0A5155-75F7-4FA1-982A-5342E84A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770632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CD202F1-CADD-4CAB-943E-954A31D7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56432"/>
            <a:ext cx="95097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/>
                <a:ea typeface="Alibaba PuHuiTi 3.0 85 Bold"/>
                <a:cs typeface="Alibaba PuHuiTi 3.0 85 Bold"/>
              </a:rPr>
              <a:t>101</a:t>
            </a:r>
            <a:endParaRPr sz="140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259EF01-403A-4AEC-B4D6-B130CCC1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2103120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FA19A8F9-DF0D-431F-978F-93C97FB1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2176272"/>
            <a:ext cx="804672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S</a:t>
            </a:r>
            <a:endParaRPr sz="2400"/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E05F4A08-94A1-441E-94A6-21C21D39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2770632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654B9A9D-A54A-441E-A277-872337EB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456432"/>
            <a:ext cx="95097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/>
                <a:ea typeface="Alibaba PuHuiTi 3.0 85 Bold"/>
                <a:cs typeface="Alibaba PuHuiTi 3.0 85 Bold"/>
              </a:rPr>
              <a:t>110</a:t>
            </a:r>
            <a:endParaRPr sz="1400"/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A66C34AC-739C-44FF-AFE2-EDB11953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2103120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FE89C93-90C5-48C2-B976-F8402D16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2096" y="2176272"/>
            <a:ext cx="804672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T</a:t>
            </a:r>
            <a:endParaRPr sz="2400"/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037A9094-1C7F-4D1B-93DE-035FDDD0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2770632"/>
            <a:ext cx="950976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8228AB94-9D38-4A14-8157-B33CC158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8944" y="3456432"/>
            <a:ext cx="95097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/>
                <a:ea typeface="Alibaba PuHuiTi 3.0 85 Bold"/>
                <a:cs typeface="Alibaba PuHuiTi 3.0 85 Bold"/>
              </a:rPr>
              <a:t>111</a:t>
            </a:r>
            <a:endParaRPr sz="1400"/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39ADC7E8-F813-4AC1-9533-8AA6FE03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2040"/>
            <a:ext cx="1033272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0A18CC6C-6133-431E-B8AD-24D31507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001768"/>
            <a:ext cx="9930384" cy="5577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任务：编码 HELLO，只交换 bit 串；第二轮再交换编码表。</a:t>
            </a:r>
            <a:endParaRPr sz="2900"/>
          </a:p>
        </p:txBody>
      </p:sp>
    </p:spTree>
    <p:extLst>
      <p:ext uri="{BB962C8B-B14F-4D97-AF65-F5344CB8AC3E}">
        <p14:creationId xmlns:p14="http://schemas.microsoft.com/office/powerpoint/2010/main" val="2888808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DF15FA0-7474-411F-835C-5D95C39A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70CE7F8-4D71-409F-A9AF-B9648ABC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15F99F7-46FA-4ABB-A091-7C675362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一串 bits 天生具有文字意义吗？</a:t>
            </a:r>
            <a:endParaRPr sz="3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B8A2125-A61B-487E-A443-9AF64C53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828800"/>
            <a:ext cx="2834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同一串 bits</a:t>
            </a:r>
            <a:endParaRPr sz="2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98F73D5B-5F62-47B7-92BF-159CD5EB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0320"/>
            <a:ext cx="310896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12700">
            <a:solidFill>
              <a:srgbClr val="D0D0D0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92B92EEE-57C7-48C5-ADD9-17CE04103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688336"/>
            <a:ext cx="2816352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010 001 011 011 100</a:t>
            </a:r>
            <a:endParaRPr sz="20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D9F665B4-E977-4C33-8EB6-E5354D0B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44368"/>
            <a:ext cx="1051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921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348A4CFD-1B05-48AB-9D7A-B1379CD9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48840"/>
            <a:ext cx="233172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30792D6-4CC5-4E68-AC49-B49B3059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9552" y="2221992"/>
            <a:ext cx="2185416" cy="9052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/>
                <a:ea typeface="Alibaba PuHuiTi 3.0 115 Black"/>
                <a:cs typeface="Alibaba PuHuiTi 3.0 115 Black"/>
              </a:rPr>
              <a:t>自己的表</a:t>
            </a:r>
            <a:endParaRPr sz="2400"/>
          </a:p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/>
                <a:ea typeface="Alibaba PuHuiTi 3.0 115 Black"/>
                <a:cs typeface="Alibaba PuHuiTi 3.0 115 Black"/>
              </a:rPr>
              <a:t>→ 可能读错</a:t>
            </a:r>
            <a:endParaRPr sz="2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71F34A96-75E2-4F55-BA07-101E4DD32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48840"/>
            <a:ext cx="2606040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123B2FF-B796-4D91-AA64-7791DBB1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221992"/>
            <a:ext cx="2459736" cy="9052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发送者的表</a:t>
            </a:r>
            <a:endParaRPr sz="2400"/>
          </a:p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→ 恢复 HELLO</a:t>
            </a:r>
            <a:endParaRPr sz="24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38D109-EE0D-4A7F-B8F7-E77B2F36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64608"/>
            <a:ext cx="1033272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27F5175B-9DA9-4A43-85DA-5A649B1E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974336"/>
            <a:ext cx="9930384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bits 本身没有文字意义；共享映射规则后才有确定解释。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2944985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AB911B3-9A5F-4181-8A9E-F9B5491D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09B5683-8950-4E73-A2A4-E6A0F794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65AA166-A8FA-4D98-8B57-6C51A6D1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只有 8 个位置，哪些字符能进入字符集？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12455685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8ABEEF5-9BF9-4485-A67B-4D35E49D6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16B1214-2E12-4AC9-AAC0-E97BBF87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71085BA-0283-428A-AF1C-4E05025A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只有 8 个位置，哪些字符能进入字符集？</a:t>
            </a:r>
            <a:endParaRPr sz="3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F8C56DE7-DCFC-4675-B228-C44FC140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08760"/>
            <a:ext cx="10149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候选：A  C  D  E  H  L  O  R  S  T  X  Y</a:t>
            </a:r>
            <a:endParaRPr sz="24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EFD0A236-3120-4F29-AFE7-43D7B4AE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240280"/>
            <a:ext cx="5577840" cy="1508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C64E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AE39032-ACE1-4C92-9BC2-39CCD2C8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2368296"/>
            <a:ext cx="5285232" cy="1252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HELLO → { H, E, L, O }</a:t>
            </a:r>
            <a:endParaRPr sz="2300"/>
          </a:p>
          <a:p xmlns:a="http://schemas.openxmlformats.org/drawingml/2006/main">
            <a:pPr marL="0" indent="0">
              <a:buNone/>
            </a:pPr>
            <a:r>
              <a:rPr sz="23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STAR  → { S, T, A, R }</a:t>
            </a:r>
            <a:endParaRPr sz="2300"/>
          </a:p>
          <a:p xmlns:a="http://schemas.openxmlformats.org/drawingml/2006/main">
            <a:pPr marL="0" indent="0">
              <a:buNone/>
            </a:pPr>
            <a:r>
              <a:rPr sz="23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合并  → { A, E, H, L, O, R, S, T }</a:t>
            </a:r>
            <a:endParaRPr sz="23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FA900741-CDBF-4810-8122-41521A20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423160"/>
            <a:ext cx="2286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CODE</a:t>
            </a:r>
            <a:endParaRPr sz="36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717EF5A3-1DCD-4429-B9F5-54C3C413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2240280"/>
            <a:ext cx="62179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F0000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8EAB2DBB-6834-4632-8893-F4897133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2240280"/>
            <a:ext cx="621792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F0000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2A955ED-A3F9-4B4E-BDAC-724D3D86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246120"/>
            <a:ext cx="36576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/>
                <a:ea typeface="Alibaba PuHuiTi 3.0 115 Black"/>
                <a:cs typeface="Alibaba PuHuiTi 3.0 115 Black"/>
              </a:rPr>
              <a:t>C、D 不在字符集中</a:t>
            </a:r>
            <a:endParaRPr sz="24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A2BD4B8-DE3C-4E68-9E84-239318CD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9472"/>
            <a:ext cx="1033272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293554A6-0B69-43FC-A57C-5B293FBA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029200"/>
            <a:ext cx="993038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先确定字符集，再为字符建立唯一的编码映射。</a:t>
            </a:r>
            <a:endParaRPr sz="3100"/>
          </a:p>
        </p:txBody>
      </p:sp>
    </p:spTree>
    <p:extLst>
      <p:ext uri="{BB962C8B-B14F-4D97-AF65-F5344CB8AC3E}">
        <p14:creationId xmlns:p14="http://schemas.microsoft.com/office/powerpoint/2010/main" val="21363583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9BD929A-9F49-4545-BF05-B35FC7FE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8126516-02B1-4DE3-8E2E-56AD9703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1C08989-8725-4F15-BD46-B7C95BD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ASCII 表怎样读？</a:t>
            </a:r>
            <a:endParaRPr sz="3600"/>
          </a:p>
        </p:txBody>
      </p:sp>
      <p:sp>
        <p:nvSpPr>
          <p:cNvPr id="5" name="ASCII task">
            <a:extLst xmlns:a="http://schemas.openxmlformats.org/drawingml/2006/main">
              <a:ext uri="{FF2B5EF4-FFF2-40B4-BE49-F238E27FC236}">
                <a16:creationId xmlns:a16="http://schemas.microsoft.com/office/drawing/2014/main" id="{F8E90D36-59A2-43A1-8CFB-C4BB9E15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552575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262626"/>
                </a:solidFill>
                <a:latin typeface="Alibaba PuHuiTi 3.0 55 Regular"/>
                <a:ea typeface="Alibaba PuHuiTi 3.0 55 Regular"/>
                <a:cs typeface="Alibaba PuHuiTi 3.0 55 Regular"/>
              </a:defRPr>
            </a:pPr>
            <a:r>
              <a:rPr sz="2250">
                <a:solidFill>
                  <a:srgbClr val="262626"/>
                </a:solidFill>
                <a:latin typeface="Alibaba PuHuiTi 3.0 55 Regular"/>
                <a:ea typeface="Alibaba PuHuiTi 3.0 55 Regular"/>
                <a:cs typeface="Alibaba PuHuiTi 3.0 55 Regular"/>
              </a:rPr>
              <a:t>把两列拼成 7-bit 值：A、a、0、9、Space、LF。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1857375" y="2076450"/>
          <a:ext xmlns:a="http://schemas.openxmlformats.org/drawingml/2006/main" cx="8477250" cy="3667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2857500"/>
                <a:gridCol w="2857500"/>
              </a:tblGrid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字符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高 3 位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低 4 位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LF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1010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Space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011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011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1001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100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0001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110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0001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36234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161E425-A36D-4227-B9BC-AAF3AE1BD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D26A2DA-E58F-4F67-BF61-4AA415B8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26A370B-EFCA-488C-B616-0FDD8136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ASCII 表怎样读？</a:t>
            </a:r>
            <a:endParaRPr sz="3600"/>
          </a:p>
        </p:txBody>
      </p:sp>
      <p:sp>
        <p:nvSpPr>
          <p:cNvPr id="5" name="ASCII task">
            <a:extLst xmlns:a="http://schemas.openxmlformats.org/drawingml/2006/main">
              <a:ext uri="{FF2B5EF4-FFF2-40B4-BE49-F238E27FC236}">
                <a16:creationId xmlns:a16="http://schemas.microsoft.com/office/drawing/2014/main" id="{B42DD6E4-EE40-4A31-A8EB-2B39B60F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552575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262626"/>
                </a:solidFill>
                <a:latin typeface="Alibaba PuHuiTi 3.0 55 Regular"/>
                <a:ea typeface="Alibaba PuHuiTi 3.0 55 Regular"/>
                <a:cs typeface="Alibaba PuHuiTi 3.0 55 Regular"/>
              </a:defRPr>
            </a:pPr>
            <a:r>
              <a:rPr sz="2250">
                <a:solidFill>
                  <a:srgbClr val="262626"/>
                </a:solidFill>
                <a:latin typeface="Alibaba PuHuiTi 3.0 55 Regular"/>
                <a:ea typeface="Alibaba PuHuiTi 3.0 55 Regular"/>
                <a:cs typeface="Alibaba PuHuiTi 3.0 55 Regular"/>
              </a:rPr>
              <a:t>把两列拼成 7-bit 值：A、a、0、9、Space、LF。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1857375" y="2076450"/>
          <a:ext xmlns:a="http://schemas.openxmlformats.org/drawingml/2006/main" cx="8477250" cy="3667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2857500"/>
                <a:gridCol w="2857500"/>
              </a:tblGrid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字符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高 3 位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低 4 位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LF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1010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Space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011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9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011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1001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100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0001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110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0001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ASCII A reveal">
            <a:extLst xmlns:a="http://schemas.openxmlformats.org/drawingml/2006/main">
              <a:ext uri="{FF2B5EF4-FFF2-40B4-BE49-F238E27FC236}">
                <a16:creationId xmlns:a16="http://schemas.microsoft.com/office/drawing/2014/main" id="{35F1801A-097F-4A3F-A642-3145B170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915025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defRPr>
            </a:pPr>
            <a:r>
              <a:rPr sz="2250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A：100 + 0001 = 1000001₂ = 0x41 = 65</a:t>
            </a:r>
          </a:p>
        </p:txBody>
      </p:sp>
    </p:spTree>
    <p:extLst>
      <p:ext uri="{BB962C8B-B14F-4D97-AF65-F5344CB8AC3E}">
        <p14:creationId xmlns:p14="http://schemas.microsoft.com/office/powerpoint/2010/main" val="17371051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4F686AB-07CE-44D9-B512-B1258205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8C94A52-B072-4779-9CA6-8B5276A9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0486A05-003E-4325-AD26-9D58EB8E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ASCII 是 7 bit，为什么常看到 8 bit？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15392321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B76B73B-47FC-485A-9CE5-95BD3A8C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BB25E80-0208-4418-A160-18B986C0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66B4E0A-E643-4F16-99D0-F6C441FF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ASCII 是 7 bit，为什么常看到 8 bit？</a:t>
            </a:r>
            <a:endParaRPr sz="36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AF666042-ABA9-48D9-996A-1A98FC79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554480"/>
            <a:ext cx="5577840" cy="2926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C64E1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B1B18A6-229D-495C-8AEB-6E3808F7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984" y="1682496"/>
            <a:ext cx="5285232" cy="2670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Character        : A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Decimal code     : 65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Hex code         : 0x41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ASCII 7-bit code : 1000001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Stored in 1 byte : 01000001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MSB              : 0</a:t>
            </a:r>
            <a:endParaRPr sz="22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A17EAD0-D00D-478A-8240-58791BB4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627632"/>
            <a:ext cx="34747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7-bit ASCII</a:t>
            </a:r>
            <a:endParaRPr sz="24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737002E3-4CD5-49B3-8D54-7FC7A813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03120"/>
            <a:ext cx="41148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F29E788-E7E9-44AC-8C1C-3318B21C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176272"/>
            <a:ext cx="396849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1 0 0 0 0 0 1</a:t>
            </a:r>
            <a:endParaRPr sz="2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ED4D463-10CA-4B27-8183-5E9D476E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743200"/>
            <a:ext cx="0" cy="5029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B309CB2-E96B-4F54-85EE-37468C3C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364992"/>
            <a:ext cx="34747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存入 1 byte</a:t>
            </a:r>
            <a:endParaRPr sz="24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07975734-43A4-4C33-ACEA-0B67B5EC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840480"/>
            <a:ext cx="411480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71CF937-7E94-41E6-BB65-B5BC84A3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913632"/>
            <a:ext cx="396849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0 1 0 0 0 0 0 1</a:t>
            </a:r>
            <a:endParaRPr sz="240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5356C77A-871A-4C4F-A451-4535FD1E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840480"/>
            <a:ext cx="512064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F0000"/>
            </a:solidFill>
            <a:prstDash val="solid"/>
          </a:ln>
        </p:spPr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021AB9C-4D45-44F4-881C-CD19E308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103327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ACC1ADB3-2015-4778-BF15-B2DB4F26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276088"/>
            <a:ext cx="9930384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ASCII 的编码值没变；只是用 8-bit byte 存放。</a:t>
            </a:r>
            <a:endParaRPr sz="2800"/>
          </a:p>
        </p:txBody>
      </p:sp>
    </p:spTree>
    <p:extLst>
      <p:ext uri="{BB962C8B-B14F-4D97-AF65-F5344CB8AC3E}">
        <p14:creationId xmlns:p14="http://schemas.microsoft.com/office/powerpoint/2010/main" val="8855291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08A423E-4DAC-4A38-B86E-AD5C5C3F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7AE9343-4AB7-40A2-B5B4-DB0EC0A0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A103826-94FB-4757-BD2C-0C9026CA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数字、大写、小写在 ASCII 中谁更小？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2624114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57BBCD-6C87-4266-A699-37FD2FA6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00E6ED5-6ED6-448F-9377-446E9F183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304B72F-FEDB-4532-A0E1-B1A75A2E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数字、大写、小写在 ASCII 中谁更小？</a:t>
            </a:r>
            <a:endParaRPr sz="3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023F0FAA-5015-4DC1-BE50-4A6E3FBC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691640"/>
            <a:ext cx="2834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数字字符</a:t>
            </a:r>
            <a:endParaRPr sz="24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7A39CA94-5DF8-4462-9D84-2280E4E9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331720"/>
            <a:ext cx="283464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BBD9ED8-ABD7-406B-BE8C-80D9D4FC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404872"/>
            <a:ext cx="2688336" cy="1088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'0' 0x30</a:t>
            </a:r>
            <a:endParaRPr sz="2200"/>
          </a:p>
          <a:p xmlns:a="http://schemas.openxmlformats.org/drawingml/2006/main"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↓</a:t>
            </a:r>
            <a:endParaRPr sz="2200"/>
          </a:p>
          <a:p xmlns:a="http://schemas.openxmlformats.org/drawingml/2006/main"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'9' 0x39</a:t>
            </a:r>
            <a:endParaRPr sz="22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FADD564-4626-45C9-863C-B93CA628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691640"/>
            <a:ext cx="2834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7C9B"/>
                </a:solidFill>
                <a:latin typeface="Alibaba PuHuiTi 3.0 115 Black"/>
                <a:ea typeface="Alibaba PuHuiTi 3.0 115 Black"/>
                <a:cs typeface="Alibaba PuHuiTi 3.0 115 Black"/>
              </a:rPr>
              <a:t>大写字母</a:t>
            </a:r>
            <a:endParaRPr sz="24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C4FF08D9-97D6-45F6-9BE5-E4B284F6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331720"/>
            <a:ext cx="283464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0B0F0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43135CE9-E304-4746-8243-DE41021F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404872"/>
            <a:ext cx="2688336" cy="1088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'A' 0x41</a:t>
            </a:r>
            <a:endParaRPr sz="2200"/>
          </a:p>
          <a:p xmlns:a="http://schemas.openxmlformats.org/drawingml/2006/main"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↓</a:t>
            </a:r>
            <a:endParaRPr sz="2200"/>
          </a:p>
          <a:p xmlns:a="http://schemas.openxmlformats.org/drawingml/2006/main"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'Z' 0x5A</a:t>
            </a:r>
            <a:endParaRPr sz="2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EB3178A-CD69-43AF-A866-CB552CA5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1691640"/>
            <a:ext cx="2834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小写字母</a:t>
            </a:r>
            <a:endParaRPr sz="24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6D83D67-39C4-4A32-9DDA-E1E87E81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2331720"/>
            <a:ext cx="283464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CE23164-563D-4B21-8BD0-DCD310CD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2404872"/>
            <a:ext cx="2688336" cy="1088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'a' 0x61</a:t>
            </a:r>
            <a:endParaRPr sz="2200"/>
          </a:p>
          <a:p xmlns:a="http://schemas.openxmlformats.org/drawingml/2006/main"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↓</a:t>
            </a:r>
            <a:endParaRPr sz="2200"/>
          </a:p>
          <a:p xmlns:a="http://schemas.openxmlformats.org/drawingml/2006/main"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'z' 0x7A</a:t>
            </a:r>
            <a:endParaRPr sz="220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5305CF11-8FF5-47E3-8A04-E0F95872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944368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A3C86F3-48F0-41EB-8A32-767FF15E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944368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788C1FE-07DC-4B9E-BE43-CAEDE7E6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720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77EE39F-3998-4DEB-9241-E86A164C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184648"/>
            <a:ext cx="99303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编码值顺序：数字字符 &lt; 大写字母 &lt; 小写字母。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07133620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1F828B4-C1CA-4EC1-8CED-2F1CAD36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AFC8236-1674-49B2-9358-597BD26A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528A4A5-EE30-4BEA-B929-7E6937D9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如果设计汉字编码，ASCII 的哪些思想还能用？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153719709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B9C12DA-4113-4EE4-9FA3-34444EA8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12B2FE2-D4B1-4539-98E1-EF08E42C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BA6A483-28DD-4989-95EB-153B0B12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如果设计汉字编码，ASCII 的哪些思想还能用？</a:t>
            </a:r>
            <a:endParaRPr sz="3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BECB83A-73B2-414D-A865-EEEC2941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44752"/>
            <a:ext cx="4754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ASCII 给出的设计问题</a:t>
            </a:r>
            <a:endParaRPr sz="2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FE6C275-A081-403C-A42F-646EB78E1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444752"/>
            <a:ext cx="4754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7C9B"/>
                </a:solidFill>
                <a:latin typeface="Alibaba PuHuiTi 3.0 115 Black"/>
                <a:ea typeface="Alibaba PuHuiTi 3.0 115 Black"/>
                <a:cs typeface="Alibaba PuHuiTi 3.0 115 Black"/>
              </a:rPr>
              <a:t>汉字编码必须重新回答</a:t>
            </a:r>
            <a:endParaRPr sz="24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8184A9E1-878E-4A8D-A87E-66EE7185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/>
                <a:ea typeface="Alibaba PuHuiTi 3.0 55 Regular"/>
                <a:cs typeface="Alibaba PuHuiTi 3.0 55 Regular"/>
              </a:rPr>
              <a:t>先确定字符集</a:t>
            </a:r>
            <a:endParaRPr sz="21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5A016D5C-D158-491C-AF44-1AF5598A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130552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5187E35-CC56-49B4-8547-B46342B1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965960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哪些汉字进入字符集？</a:t>
            </a:r>
            <a:endParaRPr sz="21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124B5C88-BBF5-43E8-90B5-232BE042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53288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/>
                <a:ea typeface="Alibaba PuHuiTi 3.0 55 Regular"/>
                <a:cs typeface="Alibaba PuHuiTi 3.0 55 Regular"/>
              </a:rPr>
              <a:t>每个字符唯一映射</a:t>
            </a:r>
            <a:endParaRPr sz="21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25E492C-668F-4B82-97E5-42C609E1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69748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11C3B8-03CD-4915-A187-4E38559E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532888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每个汉字对应什么编码？</a:t>
            </a:r>
            <a:endParaRPr sz="21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34469017-813A-4F72-BCE0-91B66B16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099816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/>
                <a:ea typeface="Alibaba PuHuiTi 3.0 55 Regular"/>
                <a:cs typeface="Alibaba PuHuiTi 3.0 55 Regular"/>
              </a:rPr>
              <a:t>ASCII 有 128 个位置</a:t>
            </a:r>
            <a:endParaRPr sz="210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FC8937A-7CCD-4F73-BAC0-B4C33440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264408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C9FBFF1-4AD6-4CD1-8CD7-7E10B66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099816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容量够吗？</a:t>
            </a:r>
            <a:endParaRPr sz="21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D206744-0173-486A-8225-791276E5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66744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/>
                <a:ea typeface="Alibaba PuHuiTi 3.0 55 Regular"/>
                <a:cs typeface="Alibaba PuHuiTi 3.0 55 Regular"/>
              </a:rPr>
              <a:t>常用 1 byte 存放</a:t>
            </a:r>
            <a:endParaRPr sz="21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2F9B3EE1-EBD2-4821-98CA-8D67B080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3831336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85EE7F5-9517-4433-80ED-2E6DF523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666744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1 byte 够吗？</a:t>
            </a:r>
            <a:endParaRPr sz="210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EAAA339-8806-4A98-9981-6EA4FB00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33672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/>
                <a:ea typeface="Alibaba PuHuiTi 3.0 55 Regular"/>
                <a:cs typeface="Alibaba PuHuiTi 3.0 55 Regular"/>
              </a:rPr>
              <a:t>已有 ASCII 文本</a:t>
            </a:r>
            <a:endParaRPr sz="210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D7AC726F-2CBA-4A8B-86A8-F2DC2B56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4398264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0CEBB4D-2556-4C8C-9D45-924F35D9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233672"/>
            <a:ext cx="4572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怎样兼容已有文本？</a:t>
            </a:r>
            <a:endParaRPr sz="210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6D0415C-F3EF-4C0E-A88F-1F9C8437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720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E901C758-BDFF-458B-A4DC-15DAA445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184648"/>
            <a:ext cx="99303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字符集与映射可以借鉴；容量与存储必须重新设计。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67747638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55E5BED-8F6F-4FC5-9D31-141AF1E8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AC7D4CD-B6C5-4BCE-8384-E9BDB15F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BD0BB6A-3E88-4536-B45A-59F57A94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汉字写进文件以后是什么？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200270976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5703883-F24F-45E2-947C-9F14B346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4C4214E-D5E4-454F-8F28-8CBD34E8F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FF3689C-6F01-4396-8D48-EEC0C266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汉字写进文件以后是什么？</a:t>
            </a:r>
            <a:endParaRPr sz="3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01722D42-2DCC-4DB1-960A-64A871AD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08760"/>
            <a:ext cx="5029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样本：A中B国C文</a:t>
            </a:r>
            <a:endParaRPr sz="26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E2A9D5CC-1CE0-4479-A538-EA5E4B42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1033272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C64E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77C43599-0A01-4A6A-B249-8F831EC2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276856"/>
            <a:ext cx="10040112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41  D6 D0  42  B9 FA  43  CE C4</a:t>
            </a:r>
            <a:endParaRPr sz="2700"/>
          </a:p>
          <a:p xmlns:a="http://schemas.openxmlformats.org/drawingml/2006/main">
            <a:pPr marL="0" indent="0">
              <a:buNone/>
            </a:pPr>
            <a:r>
              <a:rPr sz="27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A     中    B    国    C    文</a:t>
            </a:r>
            <a:endParaRPr sz="27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60481466-9310-475E-ADFB-50BF17354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093976"/>
            <a:ext cx="127635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F0000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501581A-C5F2-4366-B3C2-CB883287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29000"/>
            <a:ext cx="2286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5076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0000"/>
                </a:solidFill>
                <a:latin typeface="Alibaba PuHuiTi 3.0 115 Black"/>
                <a:ea typeface="Alibaba PuHuiTi 3.0 115 Black"/>
                <a:cs typeface="Alibaba PuHuiTi 3.0 115 Black"/>
              </a:rPr>
              <a:t>“中” → D6 D0</a:t>
            </a:r>
            <a:endParaRPr sz="22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C3EE35D-B7AA-451F-A17C-F813398A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160520"/>
            <a:ext cx="27432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9D328A0-D8C1-4604-95C8-D14CEB42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9652" y="4233672"/>
            <a:ext cx="259689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326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ASCII 字符</a:t>
            </a:r>
            <a:endParaRPr sz="2400"/>
          </a:p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1 byte</a:t>
            </a:r>
            <a:endParaRPr sz="24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AEFEF85-A002-4C3A-B1B9-9F903374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160520"/>
            <a:ext cx="292608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DF9F1D6-4784-4D20-A744-67273876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8777" y="4233672"/>
            <a:ext cx="277977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326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/>
                <a:ea typeface="Alibaba PuHuiTi 3.0 115 Black"/>
                <a:cs typeface="Alibaba PuHuiTi 3.0 115 Black"/>
              </a:rPr>
              <a:t>GB2312 样本汉字</a:t>
            </a:r>
            <a:endParaRPr sz="2400"/>
          </a:p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/>
                <a:ea typeface="Alibaba PuHuiTi 3.0 115 Black"/>
                <a:cs typeface="Alibaba PuHuiTi 3.0 115 Black"/>
              </a:rPr>
              <a:t>2 bytes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27064759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2C0F485-EFB6-440B-9EE6-FD43ECE8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A40108B-1F4E-474C-B5CA-BF97483D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1529ED6-AC26-4C00-8433-0944BDCE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D6 D0 为什么能代表“中”？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171200530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ED732F9-C037-4808-AC7A-4AFFD896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9B19A43-B20B-4ECD-844E-D0E37D59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F28456C-A27D-4C93-9CE2-5CDC1859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D6 D0 为什么能代表“中”？</a:t>
            </a:r>
            <a:endParaRPr sz="36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F5E7974-98CE-4A91-B94A-423BDF96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1640"/>
            <a:ext cx="457200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C64E1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D9853A7-662E-4B1B-BD2C-9D45A343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1819656"/>
            <a:ext cx="4279392" cy="1572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“中”  国标码 56 50</a:t>
            </a:r>
            <a:endParaRPr sz="2600"/>
          </a:p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             +80 +80</a:t>
            </a:r>
            <a:endParaRPr sz="2600"/>
          </a:p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      机内码 D6 D0</a:t>
            </a:r>
            <a:endParaRPr sz="2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4F565AB-E599-449B-A0DE-634F1618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64208"/>
            <a:ext cx="3657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MSB 区分</a:t>
            </a:r>
            <a:endParaRPr sz="28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D7EAF87B-6969-4E16-8E34-E4467AB8A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240280"/>
            <a:ext cx="32004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FB2FB1D-6CC1-41A5-9CCC-AD0E806F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313432"/>
            <a:ext cx="305409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ASCII</a:t>
            </a:r>
            <a:endParaRPr sz="2400"/>
          </a:p>
          <a:p xmlns:a="http://schemas.openxmlformats.org/drawingml/2006/main"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0xxxxxxx</a:t>
            </a:r>
            <a:endParaRPr sz="2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11A6C69-DC15-4C29-B350-9AB71169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337560"/>
            <a:ext cx="3200400" cy="82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BB54EEE4-6E31-43AC-A3F1-4F4C248E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3410712"/>
            <a:ext cx="3054096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汉字</a:t>
            </a:r>
            <a:endParaRPr sz="2400"/>
          </a:p>
          <a:p xmlns:a="http://schemas.openxmlformats.org/drawingml/2006/main"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1xxxxxxx 1xxxxxxx</a:t>
            </a:r>
            <a:endParaRPr sz="24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BC296035-E4D7-4084-8A92-0C2093F5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720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4BB59788-9CE1-4F4F-8FD0-3B4E0E00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184648"/>
            <a:ext cx="99303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这里的“机内码”只限于 GB2312 双字节模型。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67023605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5B34F1D-BFB8-43B6-98A9-122122F9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4D43ABF-84C5-41BE-BDA7-38540CF5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3EB45C7-944D-4AFB-8621-2A27A2B4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汉字真的总是占 2 bytes 吗？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150984389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5D631D0-7D79-46DE-9745-AED3F802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CD749B4-DFA9-4DD7-8A7F-4EEB3885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CA11F23-7790-4158-B5DA-75508B42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汉字真的总是占 2 bytes 吗？</a:t>
            </a:r>
            <a:endParaRPr sz="3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359F3E2-E3E0-4357-8A4B-51D7677C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54480"/>
            <a:ext cx="103327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同一个字符：“中”</a:t>
            </a:r>
            <a:endParaRPr sz="30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CF550FC-67CA-466F-B3DD-C00E03E5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520" y="2423160"/>
            <a:ext cx="338328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E775529-F1D3-4623-BF45-B63ECC43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96312"/>
            <a:ext cx="3236976" cy="1499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GB2312</a:t>
            </a:r>
            <a:endParaRPr sz="2600"/>
          </a:p>
          <a:p xmlns:a="http://schemas.openxmlformats.org/drawingml/2006/main"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D6 D0</a:t>
            </a:r>
            <a:endParaRPr sz="2600"/>
          </a:p>
          <a:p xmlns:a="http://schemas.openxmlformats.org/drawingml/2006/main"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2 bytes</a:t>
            </a:r>
            <a:endParaRPr sz="26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4EF7FAA8-E829-4D0C-8E2D-EF7A9800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423160"/>
            <a:ext cx="338328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0B0F0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E301E6-E23D-4F35-9FEF-06B87F5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2496312"/>
            <a:ext cx="3236976" cy="1499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UTF-8</a:t>
            </a:r>
            <a:endParaRPr sz="2600"/>
          </a:p>
          <a:p xmlns:a="http://schemas.openxmlformats.org/drawingml/2006/main"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E4 B8 AD</a:t>
            </a:r>
            <a:endParaRPr sz="2600"/>
          </a:p>
          <a:p xmlns:a="http://schemas.openxmlformats.org/drawingml/2006/main"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3 bytes</a:t>
            </a:r>
            <a:endParaRPr sz="26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197FB87-252D-4945-9345-7FB4754E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246120"/>
            <a:ext cx="13258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0D57669-91FC-4671-B3D9-8FD033A5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720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4B8F5F1-72B1-47F8-814A-5CD7CCB4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184648"/>
            <a:ext cx="99303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“汉字占 2 bytes”不是汉字本身的属性。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61538591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715FF50-4C36-4EBB-9711-74CE779B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FDDDAD8-4699-4991-90C6-A272A917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BF756D-4ED1-4AA8-8406-41B8C751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英文字符和汉字，从键盘到屏幕有什么不同？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18095908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01C425F-D4F0-4CDB-BAFF-E1299F63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2952B17-EB55-45B9-A83D-B157EF8E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A951D65-E130-41FE-AA8C-8B4A5818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英文字符和汉字，从键盘到屏幕有什么不同？</a:t>
            </a:r>
            <a:endParaRPr sz="3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099456D5-CD9B-4FDC-81CE-27DA5A01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98448"/>
            <a:ext cx="4297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英文字符 A</a:t>
            </a:r>
            <a:endParaRPr sz="24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50633A1-032A-499C-930F-9A63D20B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298448"/>
            <a:ext cx="4297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007C9B"/>
                </a:solidFill>
                <a:latin typeface="Alibaba PuHuiTi 3.0 115 Black"/>
                <a:ea typeface="Alibaba PuHuiTi 3.0 115 Black"/>
                <a:cs typeface="Alibaba PuHuiTi 3.0 115 Black"/>
              </a:rPr>
              <a:t>中文字符“你”</a:t>
            </a:r>
            <a:endParaRPr sz="24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7BA91B0-29B5-4011-94D3-07E841FD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08760"/>
            <a:ext cx="42976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7996C9E-94F0-4B14-BECB-F58B3C1D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1581912"/>
            <a:ext cx="415137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按下 A</a:t>
            </a:r>
            <a:endParaRPr sz="19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42105A9C-B405-4412-AD4B-46BE81EF9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8760"/>
            <a:ext cx="42976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56A6490C-B392-43DE-9C8C-9323CCDA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1581912"/>
            <a:ext cx="415137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按下 n、i</a:t>
            </a:r>
            <a:endParaRPr sz="19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3F0301A1-F7B1-4030-9BCD-B00EA7CB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1938528"/>
            <a:ext cx="0" cy="1554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CD13405-76EB-4B95-9A04-48E2F7B6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1938528"/>
            <a:ext cx="0" cy="1554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30AE7A5-B80F-4D4A-A659-6A4E83FF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2976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BEC4858-4FAD-434D-86D3-7F28B2AB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221992"/>
            <a:ext cx="415137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字符 A</a:t>
            </a:r>
            <a:endParaRPr sz="1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9BB6AB35-ED4F-4B56-94EC-8DCD2335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48840"/>
            <a:ext cx="42976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9625345-E925-4EA4-A6ED-D6E035C4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221992"/>
            <a:ext cx="415137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输入码 ni</a:t>
            </a:r>
            <a:endParaRPr sz="19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E4F16D9-6364-47F9-AE62-06F2788A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2578608"/>
            <a:ext cx="0" cy="1554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558CE8A4-5954-49D2-A62E-55058D04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578608"/>
            <a:ext cx="0" cy="1554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77E37A0-C0B0-433F-BF04-D1803498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8920"/>
            <a:ext cx="42976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F66E0035-7AC5-40FC-9590-250566E8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862072"/>
            <a:ext cx="415137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字体映射</a:t>
            </a:r>
            <a:endParaRPr sz="190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3DBB0E5D-E9EA-49D5-B4B9-AA063A09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8920"/>
            <a:ext cx="42976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E1A8259B-EB1C-4D17-B316-71259D8A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862072"/>
            <a:ext cx="415137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IME 选择“你”</a:t>
            </a:r>
            <a:endParaRPr sz="190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B0F3AF32-5CDC-4CEB-B1D3-48B8D14F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218688"/>
            <a:ext cx="0" cy="1554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E36F383D-EE98-476B-9A8B-F17343F6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218688"/>
            <a:ext cx="0" cy="1554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ED758AA4-5D4B-4BBA-A6B3-307801DE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42976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1F9CF2CE-6792-4244-B1F6-B3C12788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502152"/>
            <a:ext cx="415137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glyph A</a:t>
            </a:r>
            <a:endParaRPr sz="190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892034A-EDD3-4AC1-9445-1D68A76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29000"/>
            <a:ext cx="42976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0B0F0"/>
            </a:solidFill>
            <a:prstDash val="solid"/>
          </a:ln>
        </p:spPr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15CFABDD-1CC0-43A2-945D-13151981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502152"/>
            <a:ext cx="415137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glyph 你</a:t>
            </a:r>
            <a:endParaRPr sz="190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B9C2962D-612F-4544-B15C-3F02CBDD6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3858768"/>
            <a:ext cx="0" cy="1554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B92CA5BE-77FB-47FC-B02E-57244B7B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858768"/>
            <a:ext cx="0" cy="1554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3F088B18-365B-4B49-8910-C1F1A4AA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2976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363E9D9-E943-46C3-A6F7-B3F26BB6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142232"/>
            <a:ext cx="415137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pixels → A</a:t>
            </a:r>
            <a:endParaRPr sz="190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DAD29CD9-FC62-4450-8383-50DB87CE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69080"/>
            <a:ext cx="429768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0B0F0"/>
            </a:solidFill>
            <a:prstDash val="solid"/>
          </a:ln>
        </p:spPr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0EE8EFD3-2085-4157-B42C-AF41AF57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142232"/>
            <a:ext cx="415137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pixels → 你</a:t>
            </a:r>
            <a:endParaRPr sz="1900"/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B7B7E826-B99C-4F46-A14A-A98A4346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033272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20700DD-44C8-48F7-916D-3F6E7F17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367528"/>
            <a:ext cx="99303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中文输入多了“输入码 → IME → 选字”；显示阶段仍要经过 glyph → pixels。</a:t>
            </a:r>
            <a:endParaRPr sz="2700"/>
          </a:p>
        </p:txBody>
      </p:sp>
    </p:spTree>
    <p:extLst>
      <p:ext uri="{BB962C8B-B14F-4D97-AF65-F5344CB8AC3E}">
        <p14:creationId xmlns:p14="http://schemas.microsoft.com/office/powerpoint/2010/main" val="109197750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73B7FFF-2BF1-411C-9C17-81D283DF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2760D66-98EC-40FD-BBBE-957E66B1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8ED3721-CB8D-4CCA-8195-72410A087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编码表各不相同，怎样确认是同一个“你”？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160101911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0C643C3-3375-4D9D-9EA3-C3BEBE5D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30F89DA-3D30-49C5-9C84-13A99583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8B8AD35-0595-49E2-BA36-5A9285BA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编码表各不相同，怎样确认是同一个“你”？</a:t>
            </a:r>
            <a:endParaRPr sz="3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D3A4E-3B78-417C-B3D7-527A46FD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4480" y="1828800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字符</a:t>
            </a:r>
            <a:endParaRPr sz="2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A568D85-C3A1-41F5-8528-183D7CF8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423160"/>
            <a:ext cx="201168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E86A1E9-BBF5-4FFD-8923-22905FD0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792" y="2496312"/>
            <a:ext cx="1865376" cy="8138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6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你</a:t>
            </a:r>
            <a:endParaRPr sz="46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4F7C1032-F812-4539-88D7-FAA75E1A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88036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54F97D08-FF09-4422-A1C0-D62951286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182880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Unicode 码位</a:t>
            </a:r>
            <a:endParaRPr sz="28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503C3E7-B80F-4A48-AB86-B5C2C050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423160"/>
            <a:ext cx="265176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C92F41F-9C70-428E-BBB3-418ABC6E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3832" y="2496312"/>
            <a:ext cx="2505456" cy="8138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FF0000"/>
                </a:solidFill>
                <a:latin typeface="Alibaba PuHuiTi 3.0 115 Black"/>
                <a:ea typeface="Alibaba PuHuiTi 3.0 115 Black"/>
                <a:cs typeface="Alibaba PuHuiTi 3.0 115 Black"/>
              </a:rPr>
              <a:t>U+4F60</a:t>
            </a:r>
            <a:endParaRPr sz="40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B8D2031D-88EA-4E5E-83BA-DA41965A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80360"/>
            <a:ext cx="8686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8F313D8-3528-4F24-8C7D-C15997DC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60" y="2423160"/>
            <a:ext cx="1828800" cy="960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0B0F0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7B41D938-DE5C-473B-B87A-711A9EF3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2496312"/>
            <a:ext cx="1682496" cy="8138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>
                <a:solidFill>
                  <a:srgbClr val="007C9B"/>
                </a:solidFill>
                <a:latin typeface="Alibaba PuHuiTi 3.0 85 Bold"/>
                <a:ea typeface="Alibaba PuHuiTi 3.0 85 Bold"/>
                <a:cs typeface="Alibaba PuHuiTi 3.0 85 Bold"/>
              </a:rPr>
              <a:t>共同字符身份</a:t>
            </a:r>
            <a:endParaRPr sz="22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6C75833-A925-4F2E-8504-590AEDC3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720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54B53CB-8355-4806-A2B1-EB20E4AF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184648"/>
            <a:ext cx="99303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722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Unicode 为字符约定共同身份；文件 bytes 还需另定。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14266039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F07C685-50D2-492B-A972-B7446758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0BEBC1-EAB6-44F4-BA72-A6B00DB2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0CCF409-4183-48E0-853F-A56D63BC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码位 U+4F60 是文件里的 bytes 吗？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37812262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DFE7692-37B6-4C2C-9412-9ADE5E5B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CF66BBB-0E82-48E3-B743-A3DC53705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D64ECC9-38A7-41A0-89F2-4D6D4F5D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码位 U+4F60 是文件里的 bytes 吗？</a:t>
            </a:r>
            <a:endParaRPr sz="3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FE59E54-BB74-497F-8E61-2DC66C71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54480"/>
            <a:ext cx="10149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字符：你    码位：U+4F60</a:t>
            </a:r>
            <a:endParaRPr sz="28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4FCB44D0-05A3-4CEB-8371-9E8F2B70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423160"/>
            <a:ext cx="297180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C64E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9674DCB-A6F8-40E3-A794-CF87081B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2496312"/>
            <a:ext cx="2825496" cy="1271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875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defRPr>
            </a:pPr>
            <a:r>
              <a:rPr sz="1875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UTF-8</a:t>
            </a:r>
            <a:endParaRPr sz="2500"/>
          </a:p>
          <a:p xmlns:a="http://schemas.openxmlformats.org/drawingml/2006/main">
            <a:pPr marL="0" indent="0" algn="ctr">
              <a:buNone/>
              <a:defRPr sz="1875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defRPr>
            </a:pPr>
            <a:r>
              <a:rPr sz="1875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E4 BD A0</a:t>
            </a:r>
            <a:endParaRPr sz="2500"/>
          </a:p>
          <a:p xmlns:a="http://schemas.openxmlformats.org/drawingml/2006/main">
            <a:pPr marL="0" indent="0" algn="ctr">
              <a:buNone/>
              <a:defRPr sz="1875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defRPr>
            </a:pPr>
            <a:r>
              <a:rPr sz="1875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3 bytes</a:t>
            </a:r>
            <a:endParaRPr sz="25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DD502538-950E-4A47-AA5E-D13DC9E7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423160"/>
            <a:ext cx="297180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C64E1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D1001C0-411B-489D-90AF-9EC0631D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496312"/>
            <a:ext cx="2825496" cy="1271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875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defRPr>
            </a:pPr>
            <a:r>
              <a:rPr sz="1875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UTF-16BE</a:t>
            </a:r>
            <a:endParaRPr sz="2500"/>
          </a:p>
          <a:p xmlns:a="http://schemas.openxmlformats.org/drawingml/2006/main">
            <a:pPr marL="0" indent="0" algn="ctr">
              <a:buNone/>
              <a:defRPr sz="1875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defRPr>
            </a:pPr>
            <a:r>
              <a:rPr sz="1875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4F 60</a:t>
            </a:r>
          </a:p>
          <a:p xmlns:a="http://schemas.openxmlformats.org/drawingml/2006/main">
            <a:pPr marL="0" indent="0" algn="ctr">
              <a:buNone/>
              <a:defRPr sz="1875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defRPr>
            </a:pPr>
            <a:r>
              <a:rPr sz="1875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2 bytes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F2FCFC5-3D99-431A-A1CC-38BF2071C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423160"/>
            <a:ext cx="2971800" cy="1417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C64E1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CC4F8719-0E75-49A8-A255-B08DC514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2496312"/>
            <a:ext cx="2825496" cy="1271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875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defRPr>
            </a:pPr>
            <a:r>
              <a:rPr sz="1875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UTF-32BE</a:t>
            </a:r>
            <a:endParaRPr sz="2500"/>
          </a:p>
          <a:p xmlns:a="http://schemas.openxmlformats.org/drawingml/2006/main">
            <a:pPr marL="0" indent="0" algn="ctr">
              <a:buNone/>
              <a:defRPr sz="1875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defRPr>
            </a:pPr>
            <a:r>
              <a:rPr sz="1875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00 00 4F 60</a:t>
            </a:r>
            <a:endParaRPr sz="2500"/>
          </a:p>
          <a:p xmlns:a="http://schemas.openxmlformats.org/drawingml/2006/main">
            <a:pPr marL="0" indent="0" algn="ctr">
              <a:buNone/>
              <a:defRPr sz="1875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defRPr>
            </a:pPr>
            <a:r>
              <a:rPr sz="1875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4 bytes</a:t>
            </a:r>
            <a:endParaRPr sz="25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415AF3E-314C-4DCF-9D7B-71863A88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720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238B294-81B4-4DFE-9BD1-46D102F5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184648"/>
            <a:ext cx="99303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722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Unicode 定码位；三种 UTF 给出不同的 byte 表示。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87258017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F07C685-50D2-492B-A972-B7446758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0BEBC1-EAB6-44F4-BA72-A6B00DB2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0CCF409-4183-48E0-853F-A56D63BC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UTF-16 是否表示每个字符都占 16 bit？</a:t>
            </a:r>
            <a:endParaRPr sz="3600"/>
          </a:p>
        </p:txBody>
      </p:sp>
      <p:sp>
        <p:nvSpPr>
          <p:cNvPr id="5" name="Q11-B task">
            <a:extLst xmlns:a="http://schemas.openxmlformats.org/drawingml/2006/main">
              <a:ext uri="{FF2B5EF4-FFF2-40B4-BE49-F238E27FC236}">
                <a16:creationId xmlns:a16="http://schemas.microsoft.com/office/drawing/2014/main" id="{C8B47337-95D5-4A5D-BC29-3100EE71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19250"/>
            <a:ext cx="1019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262626"/>
                </a:solidFill>
                <a:latin typeface="Alibaba PuHuiTi 3.0 55 Regular"/>
                <a:ea typeface="Alibaba PuHuiTi 3.0 55 Regular"/>
                <a:cs typeface="Alibaba PuHuiTi 3.0 55 Regular"/>
              </a:defRPr>
            </a:pPr>
            <a:r>
              <a:rPr sz="2175">
                <a:solidFill>
                  <a:srgbClr val="262626"/>
                </a:solidFill>
                <a:latin typeface="Alibaba PuHuiTi 3.0 55 Regular"/>
                <a:ea typeface="Alibaba PuHuiTi 3.0 55 Regular"/>
                <a:cs typeface="Alibaba PuHuiTi 3.0 55 Regular"/>
              </a:rPr>
              <a:t>先预测 A 和“你”的 byte 数，再检验 UTF-16。</a:t>
            </a:r>
          </a:p>
        </p:txBody>
      </p:sp>
    </p:spTree>
    <p:extLst>
      <p:ext uri="{BB962C8B-B14F-4D97-AF65-F5344CB8AC3E}">
        <p14:creationId xmlns:p14="http://schemas.microsoft.com/office/powerpoint/2010/main" val="37812262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F07C685-50D2-492B-A972-B7446758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0BEBC1-EAB6-44F4-BA72-A6B00DB2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0CCF409-4183-48E0-853F-A56D63BC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UTF-16 是否表示每个字符都占 16 bit？</a:t>
            </a:r>
            <a:endParaRPr sz="3600"/>
          </a:p>
        </p:txBody>
      </p:sp>
      <p:sp>
        <p:nvSpPr>
          <p:cNvPr id="5" name="Q11-B task">
            <a:extLst xmlns:a="http://schemas.openxmlformats.org/drawingml/2006/main">
              <a:ext uri="{FF2B5EF4-FFF2-40B4-BE49-F238E27FC236}">
                <a16:creationId xmlns:a16="http://schemas.microsoft.com/office/drawing/2014/main" id="{C8B47337-95D5-4A5D-BC29-3100EE71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19250"/>
            <a:ext cx="1019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262626"/>
                </a:solidFill>
                <a:latin typeface="Alibaba PuHuiTi 3.0 55 Regular"/>
                <a:ea typeface="Alibaba PuHuiTi 3.0 55 Regular"/>
                <a:cs typeface="Alibaba PuHuiTi 3.0 55 Regular"/>
              </a:defRPr>
            </a:pPr>
            <a:r>
              <a:rPr sz="2175">
                <a:solidFill>
                  <a:srgbClr val="262626"/>
                </a:solidFill>
                <a:latin typeface="Alibaba PuHuiTi 3.0 55 Regular"/>
                <a:ea typeface="Alibaba PuHuiTi 3.0 55 Regular"/>
                <a:cs typeface="Alibaba PuHuiTi 3.0 55 Regular"/>
              </a:rPr>
              <a:t>先预测 A 和“你”的 byte 数，再检验 UTF-16。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1428750" y="2476500"/>
          <a:ext xmlns:a="http://schemas.openxmlformats.org/drawingml/2006/main" cx="93345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2095500"/>
                <a:gridCol w="2381250"/>
                <a:gridCol w="2095500"/>
              </a:tblGrid>
              <a:tr h="714375"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2025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码位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2025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UTF-8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2025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UTF-16BE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2025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UTF-32BE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U+0041  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1 byte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2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4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U+4F60  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3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2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4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待检验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?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?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?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12262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F07C685-50D2-492B-A972-B7446758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0BEBC1-EAB6-44F4-BA72-A6B00DB2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0CCF409-4183-48E0-853F-A56D63BC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UTF-16 是否表示每个字符都占 16 bit？</a:t>
            </a:r>
            <a:endParaRPr sz="3600"/>
          </a:p>
        </p:txBody>
      </p:sp>
      <p:sp>
        <p:nvSpPr>
          <p:cNvPr id="5" name="Q11-B task">
            <a:extLst xmlns:a="http://schemas.openxmlformats.org/drawingml/2006/main">
              <a:ext uri="{FF2B5EF4-FFF2-40B4-BE49-F238E27FC236}">
                <a16:creationId xmlns:a16="http://schemas.microsoft.com/office/drawing/2014/main" id="{C8B47337-95D5-4A5D-BC29-3100EE71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19250"/>
            <a:ext cx="1019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262626"/>
                </a:solidFill>
                <a:latin typeface="Alibaba PuHuiTi 3.0 55 Regular"/>
                <a:ea typeface="Alibaba PuHuiTi 3.0 55 Regular"/>
                <a:cs typeface="Alibaba PuHuiTi 3.0 55 Regular"/>
              </a:defRPr>
            </a:pPr>
            <a:r>
              <a:rPr sz="2175">
                <a:solidFill>
                  <a:srgbClr val="262626"/>
                </a:solidFill>
                <a:latin typeface="Alibaba PuHuiTi 3.0 55 Regular"/>
                <a:ea typeface="Alibaba PuHuiTi 3.0 55 Regular"/>
                <a:cs typeface="Alibaba PuHuiTi 3.0 55 Regular"/>
              </a:rPr>
              <a:t>先预测 A 和“你”的 byte 数，再检验 UTF-16。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1428750" y="2476500"/>
          <a:ext xmlns:a="http://schemas.openxmlformats.org/drawingml/2006/main" cx="93345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2095500"/>
                <a:gridCol w="2381250"/>
                <a:gridCol w="2095500"/>
              </a:tblGrid>
              <a:tr h="714375"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2025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码位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2025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UTF-8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2025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UTF-16BE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2025">
                          <a:solidFill>
                            <a:srgbClr val="6251B1"/>
                          </a:solidFill>
                          <a:latin typeface="Alibaba PuHuiTi 3.0 115 Black"/>
                          <a:ea typeface="Alibaba PuHuiTi 3.0 115 Black"/>
                          <a:cs typeface="Alibaba PuHuiTi 3.0 115 Black"/>
                        </a:rPr>
                        <a:t>UTF-32BE</a:t>
                      </a:r>
                    </a:p>
                  </a:txBody>
                  <a:tcPr marL="91440" marR="91440" marT="45720" marB="45720" anchor="ctr">
                    <a:solidFill>
                      <a:srgbClr val="F7F5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U+0041  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1 byte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2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4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U+4F60  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3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2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4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U+1F600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4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4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>
                          <a:solidFill>
                            <a:srgbClr val="262626"/>
                          </a:solidFill>
                          <a:latin typeface="Alibaba PuHuiTi 3.0 55 Regular"/>
                          <a:ea typeface="Alibaba PuHuiTi 3.0 55 Regular"/>
                          <a:cs typeface="Alibaba PuHuiTi 3.0 55 Regular"/>
                        </a:rPr>
                        <a:t>4 bytes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Q11-B UTF-16 focus">
            <a:extLst xmlns:a="http://schemas.openxmlformats.org/drawingml/2006/main">
              <a:ext uri="{FF2B5EF4-FFF2-40B4-BE49-F238E27FC236}">
                <a16:creationId xmlns:a16="http://schemas.microsoft.com/office/drawing/2014/main" id="{529D11EC-C147-4D5E-8DF5-883171B4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67250"/>
            <a:ext cx="228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0000"/>
            </a:solidFill>
            <a:prstDash val="solid"/>
          </a:ln>
        </p:spPr>
      </p:sp>
      <p:sp>
        <p:nvSpPr>
          <p:cNvPr id="8" name="Q11-B conclusion bar">
            <a:extLst xmlns:a="http://schemas.openxmlformats.org/drawingml/2006/main">
              <a:ext uri="{FF2B5EF4-FFF2-40B4-BE49-F238E27FC236}">
                <a16:creationId xmlns:a16="http://schemas.microsoft.com/office/drawing/2014/main" id="{E3510BF8-319D-4E8C-96A7-01F3B4B9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67375"/>
            <a:ext cx="10334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Q11-B conclusion">
            <a:extLst xmlns:a="http://schemas.openxmlformats.org/drawingml/2006/main">
              <a:ext uri="{FF2B5EF4-FFF2-40B4-BE49-F238E27FC236}">
                <a16:creationId xmlns:a16="http://schemas.microsoft.com/office/drawing/2014/main" id="{4D8F2607-8F27-46E3-813E-F390BB9A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9120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defRPr>
            </a:pPr>
            <a:r>
              <a:rPr sz="2250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UTF 名称说的是单元宽度，不是字符长度。</a:t>
            </a:r>
          </a:p>
        </p:txBody>
      </p:sp>
    </p:spTree>
    <p:extLst>
      <p:ext uri="{BB962C8B-B14F-4D97-AF65-F5344CB8AC3E}">
        <p14:creationId xmlns:p14="http://schemas.microsoft.com/office/powerpoint/2010/main" val="37812262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920308E-587A-4143-B2BE-F3A8AC91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097718C-9941-45DE-810C-2D8A3E0E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018AE07-13C9-4947-9784-D1CC91AB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中文编码标准为什么不断扩展？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114200161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4317080-9705-488C-8FDA-ED2984C5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A12AF45-0C57-4887-A645-F6958C69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82227FD-5301-427C-B2F7-F4F28A76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中文编码标准为什么不断扩展？</a:t>
            </a:r>
            <a:endParaRPr sz="36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72483A98-7A4F-468F-9B0C-014728A4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240280"/>
            <a:ext cx="9875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808080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2F216515-ECF2-4C04-BBD8-32ADEEF7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57984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64E1"/>
          </a:solidFill>
          <a:ln xmlns:a="http://schemas.openxmlformats.org/drawingml/2006/main" w="12700">
            <a:solidFill>
              <a:srgbClr val="8C64E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5AAC84CE-2B52-497D-AD85-C40F678A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73352"/>
            <a:ext cx="1005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/>
                <a:ea typeface="Alibaba PuHuiTi 3.0 55 Regular"/>
                <a:cs typeface="Alibaba PuHuiTi 3.0 55 Regular"/>
              </a:rPr>
              <a:t>1980</a:t>
            </a:r>
            <a:endParaRPr sz="13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FD21D4E-DA20-4FD0-B569-67B29DFB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423160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GB2312</a:t>
            </a:r>
            <a:endParaRPr sz="14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78D9EB9-FE98-4D11-9452-36CFF6F4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734056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6千余</a:t>
            </a:r>
            <a:endParaRPr sz="16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4FEE842-8D66-4768-8B18-5E1CD098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157984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64E1"/>
          </a:solidFill>
          <a:ln xmlns:a="http://schemas.openxmlformats.org/drawingml/2006/main" w="0">
            <a:solidFill>
              <a:srgbClr val="8C64E1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E2814F8-5173-40EA-9B96-75DB87C6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673352"/>
            <a:ext cx="1005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/>
                <a:ea typeface="Alibaba PuHuiTi 3.0 55 Regular"/>
                <a:cs typeface="Alibaba PuHuiTi 3.0 55 Regular"/>
              </a:rPr>
              <a:t>1995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1F5A6F0-98E4-4CB4-8907-A4D23543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423160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GBK</a:t>
            </a:r>
            <a:endParaRPr sz="14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2499070-73EA-43BA-A540-8AB5F5F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734056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2万余</a:t>
            </a:r>
            <a:endParaRPr sz="160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4070C42-14C8-4C24-8EFB-3DDE5B2E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157984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64E1"/>
          </a:solidFill>
          <a:ln xmlns:a="http://schemas.openxmlformats.org/drawingml/2006/main" w="0">
            <a:solidFill>
              <a:srgbClr val="8C64E1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3BA5005-1724-488B-A7D4-C8E581F2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673352"/>
            <a:ext cx="1005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/>
                <a:ea typeface="Alibaba PuHuiTi 3.0 55 Regular"/>
                <a:cs typeface="Alibaba PuHuiTi 3.0 55 Regular"/>
              </a:rPr>
              <a:t>2000</a:t>
            </a:r>
            <a:endParaRPr sz="13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8BEEF50-981D-4CD0-83A5-68EEAA3A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2423160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GB18030</a:t>
            </a:r>
            <a:endParaRPr sz="14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62F171E-F017-4110-B82E-2869AE3E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2734056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2.7万余</a:t>
            </a:r>
            <a:endParaRPr sz="16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BAC31440-0EB8-4B27-934C-47CB83274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157984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64E1"/>
          </a:solidFill>
          <a:ln xmlns:a="http://schemas.openxmlformats.org/drawingml/2006/main" w="0">
            <a:solidFill>
              <a:srgbClr val="8C64E1"/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B3E3301-7947-451B-8C62-C945C465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73352"/>
            <a:ext cx="1005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/>
                <a:ea typeface="Alibaba PuHuiTi 3.0 55 Regular"/>
                <a:cs typeface="Alibaba PuHuiTi 3.0 55 Regular"/>
              </a:rPr>
              <a:t>2005</a:t>
            </a:r>
            <a:endParaRPr sz="13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6D6B5085-9856-4F3D-960C-AD423CC8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423160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GB18030</a:t>
            </a:r>
            <a:endParaRPr sz="1400"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B136734-F5CF-4659-8FE0-C1924B16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734056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7万余</a:t>
            </a:r>
            <a:endParaRPr sz="1600"/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1D58B41-38C9-4DE1-809E-17DE828B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2157984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C64E1"/>
          </a:solidFill>
          <a:ln xmlns:a="http://schemas.openxmlformats.org/drawingml/2006/main" w="0">
            <a:solidFill>
              <a:srgbClr val="8C64E1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F082AB1B-3D86-4356-A485-86F7B77C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73352"/>
            <a:ext cx="1005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/>
                <a:ea typeface="Alibaba PuHuiTi 3.0 55 Regular"/>
                <a:cs typeface="Alibaba PuHuiTi 3.0 55 Regular"/>
              </a:rPr>
              <a:t>2022</a:t>
            </a:r>
            <a:endParaRPr sz="130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E7F9B2D1-02C1-4A93-B5C6-B7F249D0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23160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GB18030</a:t>
            </a:r>
            <a:endParaRPr sz="140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7B35C4DE-6B53-4A14-A32E-5BAE17C5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34056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8.7万余</a:t>
            </a:r>
            <a:endParaRPr sz="16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070890B5-CE86-4D1B-B174-7952954C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157984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0000"/>
          </a:solidFill>
          <a:ln xmlns:a="http://schemas.openxmlformats.org/drawingml/2006/main" w="12700">
            <a:solidFill>
              <a:srgbClr val="FF0000"/>
            </a:solidFill>
            <a:prstDash val="solid"/>
          </a:ln>
        </p:spPr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071DBE8-04D0-4596-9333-D41B36AC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4120" y="1673352"/>
            <a:ext cx="10058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/>
                <a:ea typeface="Alibaba PuHuiTi 3.0 55 Regular"/>
                <a:cs typeface="Alibaba PuHuiTi 3.0 55 Regular"/>
              </a:rPr>
              <a:t>2024</a:t>
            </a:r>
            <a:endParaRPr sz="130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121CD57B-0184-4E60-B4E2-DAD82C06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423160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第1号修改单</a:t>
            </a:r>
            <a:endParaRPr sz="14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A798DD1-5160-4FDD-B6CF-D357FB84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734056"/>
            <a:ext cx="1371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F0000"/>
                </a:solidFill>
                <a:latin typeface="Alibaba PuHuiTi 3.0 115 Black"/>
                <a:ea typeface="Alibaba PuHuiTi 3.0 115 Black"/>
                <a:cs typeface="Alibaba PuHuiTi 3.0 115 Black"/>
              </a:rPr>
              <a:t>+9793</a:t>
            </a:r>
            <a:endParaRPr sz="160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573892D-CEF7-4B78-AB09-9C15924A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720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86210E98-D80C-40CA-8586-BE7DEAE6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184648"/>
            <a:ext cx="99303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如果字符不在字符集中，系统就无法稳定交换它。</a:t>
            </a:r>
            <a:endParaRPr sz="3000"/>
          </a:p>
        </p:txBody>
      </p:sp>
    </p:spTree>
    <p:extLst>
      <p:ext uri="{BB962C8B-B14F-4D97-AF65-F5344CB8AC3E}">
        <p14:creationId xmlns:p14="http://schemas.microsoft.com/office/powerpoint/2010/main" val="79440300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1F98FE0-5E03-49D5-B47C-623F1D0A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0A04D6A-66E2-40B1-AEE5-5391EBDA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6FC5282-59DE-41E3-9141-5180E443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同一批 bytes，为什么会变成乱码？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93714885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E27C716-1985-413B-BD35-CBA1DF32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A508A06-D8AB-4374-BB5D-0FE3049E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E16D653-B1B0-4354-B4D5-754E2306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同一批 bytes，为什么会变成乱码？</a:t>
            </a:r>
            <a:endParaRPr sz="36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A7BDE7B7-814F-4BF8-A90D-985E975F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600200"/>
            <a:ext cx="1828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2B17C2F-10D3-445D-ADC3-027049CA9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1673352"/>
            <a:ext cx="1682496" cy="5394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 b="1">
                <a:solidFill>
                  <a:srgbClr val="000000"/>
                </a:solidFill>
                <a:latin typeface="Alibaba PuHuiTi 3.0 115 Black"/>
                <a:ea typeface="Alibaba PuHuiTi 3.0 115 Black"/>
                <a:cs typeface="Alibaba PuHuiTi 3.0 115 Black"/>
              </a:rPr>
              <a:t>你好</a:t>
            </a:r>
            <a:endParaRPr sz="30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ACE9F9FC-6614-4457-8BF3-51B4DE6D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1947672"/>
            <a:ext cx="10515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5E8B7DB9-16EF-413C-B396-F9A0DEC9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1600200"/>
            <a:ext cx="2240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3CD8830-B078-45D8-A395-ADA8938D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112" y="1673352"/>
            <a:ext cx="2093976" cy="5394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UTF-8 encode</a:t>
            </a:r>
            <a:endParaRPr sz="21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9DD4595-451F-4678-BEF9-A8E8D4A7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47672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CEF615CB-2CF1-4739-9D4C-746E2B66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1600200"/>
            <a:ext cx="329184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C64E1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F294B57-6E51-451E-B349-885B8BFD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664" y="1728216"/>
            <a:ext cx="2999232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3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E4 BD A0 E5 A5 BD</a:t>
            </a:r>
            <a:endParaRPr sz="23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C299483E-8275-43F9-8A7E-31726906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468880"/>
            <a:ext cx="0" cy="5943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8080"/>
            </a:solidFill>
            <a:prstDash val="solid"/>
          </a:ln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5521EE3-21CE-47F3-A5CB-57CF32E5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3246120"/>
            <a:ext cx="23317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D66A036-7787-43B3-A523-C3BD59F0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592" y="3319272"/>
            <a:ext cx="2185416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按 UTF-8 读</a:t>
            </a:r>
            <a:endParaRPr sz="2200"/>
          </a:p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→ 你好</a:t>
            </a:r>
            <a:endParaRPr sz="220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B9AFA7C-342F-4B5C-AA35-07540E39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246120"/>
            <a:ext cx="233172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E8E6448C-9568-420C-934D-C86BE867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792" y="3319272"/>
            <a:ext cx="2185416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0000"/>
                </a:solidFill>
                <a:latin typeface="Alibaba PuHuiTi 3.0 115 Black"/>
                <a:ea typeface="Alibaba PuHuiTi 3.0 115 Black"/>
                <a:cs typeface="Alibaba PuHuiTi 3.0 115 Black"/>
              </a:rPr>
              <a:t>按 GBK 读</a:t>
            </a:r>
            <a:endParaRPr sz="2200"/>
          </a:p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F0000"/>
                </a:solidFill>
                <a:latin typeface="Alibaba PuHuiTi 3.0 115 Black"/>
                <a:ea typeface="Alibaba PuHuiTi 3.0 115 Black"/>
                <a:cs typeface="Alibaba PuHuiTi 3.0 115 Black"/>
              </a:rPr>
              <a:t>→ 浣犲ソ</a:t>
            </a:r>
            <a:endParaRPr sz="2200"/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FE952B1F-7E89-48BF-BF67-B32AFEE0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720" cy="6766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72EBDAA8-5111-4731-A4E5-6051BFE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184648"/>
            <a:ext cx="99303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同一批 bytes，使用不匹配的 decode 规则，就可能显示成乱码。</a:t>
            </a:r>
            <a:endParaRPr sz="2700"/>
          </a:p>
        </p:txBody>
      </p:sp>
    </p:spTree>
    <p:extLst>
      <p:ext uri="{BB962C8B-B14F-4D97-AF65-F5344CB8AC3E}">
        <p14:creationId xmlns:p14="http://schemas.microsoft.com/office/powerpoint/2010/main" val="170778213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734B6B4-F352-46B2-B6A0-831BB11A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3894755-EBA8-448C-920A-418887F2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9BF1C84-8DCA-4BEA-9912-54FD960E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现在能重新解释整个过程吗？</a:t>
            </a:r>
            <a:endParaRPr sz="3600"/>
          </a:p>
        </p:txBody>
      </p:sp>
    </p:spTree>
    <p:extLst>
      <p:ext uri="{BB962C8B-B14F-4D97-AF65-F5344CB8AC3E}">
        <p14:creationId xmlns:p14="http://schemas.microsoft.com/office/powerpoint/2010/main" val="573718496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5502EDA-CD5E-4822-B697-BDEF6AAF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147A6E3-129F-4419-9116-4619B46D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B7057D8-2A9D-477B-97CD-7CB05C7A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现在能重新解释整个过程吗？</a:t>
            </a:r>
            <a:endParaRPr sz="3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3980C25-BC75-4206-A405-EA5B890D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08760"/>
            <a:ext cx="18288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8C64E1"/>
                </a:solidFill>
                <a:latin typeface="Alibaba PuHuiTi 3.0 115 Black"/>
                <a:ea typeface="Alibaba PuHuiTi 3.0 115 Black"/>
                <a:cs typeface="Alibaba PuHuiTi 3.0 115 Black"/>
              </a:rPr>
              <a:t>输入并显示</a:t>
            </a:r>
            <a:endParaRPr sz="240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802BA32-A8B1-44BD-B961-52B0BDA6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5960"/>
            <a:ext cx="14173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668A7956-6176-4718-BF31-A1AEEF2D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2039112"/>
            <a:ext cx="127101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键盘输入</a:t>
            </a:r>
            <a:endParaRPr sz="160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9FD4D1A7-C5DB-4C4E-A8D2-A6D3A456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2249424"/>
            <a:ext cx="28346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CDBD548-A5DC-4D52-9286-610F5812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0048" y="1965960"/>
            <a:ext cx="14173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64AB25B9-78FF-465C-9DDC-CBB1B4BDB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39112"/>
            <a:ext cx="127101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输入码 / IME</a:t>
            </a:r>
            <a:endParaRPr sz="16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CEFC2E88-07E1-4808-BC17-A2045F51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7368" y="2249424"/>
            <a:ext cx="28346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B5DA7EC1-00D8-471F-938E-2C4F9664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965960"/>
            <a:ext cx="14173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F0AEF85-F40A-4D40-86D4-50BB786A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2039112"/>
            <a:ext cx="127101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字符 / code point</a:t>
            </a:r>
            <a:endParaRPr sz="160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9287200-A8F9-420D-9E8B-B91679FD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3016" y="2249424"/>
            <a:ext cx="28346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DB4DA61-8AAB-4D41-B146-E80FC2F9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965960"/>
            <a:ext cx="14173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E61A4AD5-A619-455B-90FA-8B729C6A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2039112"/>
            <a:ext cx="127101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字体映射</a:t>
            </a:r>
            <a:endParaRPr sz="16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9AC41C8B-BAED-47AD-B838-BCD5D26C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664" y="2249424"/>
            <a:ext cx="28346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9A4E10D8-78BE-4C79-ADE2-4D4C44B2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1965960"/>
            <a:ext cx="14173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7D619C7-CB16-4A26-B0DA-C2E0DEB3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2039112"/>
            <a:ext cx="127101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glyph</a:t>
            </a:r>
            <a:endParaRPr sz="1600"/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7DE6FE7-0C9C-4677-A339-71419FB8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2249424"/>
            <a:ext cx="28346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DBE317AC-7BA5-4707-93F0-FC4B1270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1965960"/>
            <a:ext cx="141732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8C64E1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C8D25853-C94E-40A6-A4FD-9BEC90787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2039112"/>
            <a:ext cx="127101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pixels</a:t>
            </a:r>
            <a:endParaRPr sz="1600"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392BDB2-3124-47BF-AEC5-60FD4A3C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6120"/>
            <a:ext cx="18288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007C9B"/>
                </a:solidFill>
                <a:latin typeface="Alibaba PuHuiTi 3.0 115 Black"/>
                <a:ea typeface="Alibaba PuHuiTi 3.0 115 Black"/>
                <a:cs typeface="Alibaba PuHuiTi 3.0 115 Black"/>
              </a:rPr>
              <a:t>保存并读取</a:t>
            </a:r>
            <a:endParaRPr sz="2400"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49D0985D-7DB2-405D-A8D8-546DEC65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03320"/>
            <a:ext cx="12344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0B0F0"/>
            </a:solidFill>
            <a:prstDash val="solid"/>
          </a:ln>
        </p:spPr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7FB6BF96-AAF7-4238-9D58-77BD1717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3776472"/>
            <a:ext cx="108813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字符 / code point</a:t>
            </a:r>
            <a:endParaRPr sz="1500"/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2C1A3818-21B1-4ACE-A415-8FADB891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3986784"/>
            <a:ext cx="2743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8425291D-21F2-47D3-85E0-FB45ACFE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3703320"/>
            <a:ext cx="12344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0B0F0"/>
            </a:solidFill>
            <a:prstDash val="solid"/>
          </a:ln>
        </p:spPr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FF7371F-DD6D-4B77-A288-A579A691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3776472"/>
            <a:ext cx="108813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encode</a:t>
            </a:r>
            <a:endParaRPr sz="150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A35CB9CD-4878-4C7D-B05D-050962F6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86784"/>
            <a:ext cx="2743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7263330D-6CAF-4626-9E6F-D224BC3E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3703320"/>
            <a:ext cx="12344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0B0F0"/>
            </a:solidFill>
            <a:prstDash val="solid"/>
          </a:ln>
        </p:spPr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09F83619-4DCA-423F-BB9D-C2FA6690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3776472"/>
            <a:ext cx="108813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bytes</a:t>
            </a:r>
            <a:endParaRPr sz="1500"/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1906CDFD-395D-4F01-96E6-B4E56BA8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986784"/>
            <a:ext cx="2743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FF0000"/>
            </a:solidFill>
            <a:prstDash val="solid"/>
            <a:headEnd type="none"/>
            <a:tailEnd type="triangle"/>
          </a:ln>
        </p:spPr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2A4EBD06-1EFA-434F-9647-B41D4DD1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3703320"/>
            <a:ext cx="12344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FF0000"/>
            </a:solidFill>
            <a:prstDash val="solid"/>
          </a:ln>
        </p:spPr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68354581-A5CE-480D-8F54-7515DC21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3832" y="3776472"/>
            <a:ext cx="108813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FF0000"/>
                </a:solidFill>
                <a:latin typeface="Alibaba PuHuiTi 3.0 85 Bold"/>
                <a:ea typeface="Alibaba PuHuiTi 3.0 85 Bold"/>
                <a:cs typeface="Alibaba PuHuiTi 3.0 85 Bold"/>
              </a:rPr>
              <a:t>decode</a:t>
            </a:r>
            <a:endParaRPr sz="1500"/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27E7935A-5AB2-4C06-A2F7-50D32EDE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986784"/>
            <a:ext cx="2743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35DA1C94-5DF3-41CB-9319-9FF7D790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703320"/>
            <a:ext cx="12344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0B0F0"/>
            </a:solidFill>
            <a:prstDash val="solid"/>
          </a:ln>
        </p:spPr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A84181AA-4968-43B9-9F9F-B26347AE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3776472"/>
            <a:ext cx="108813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字符</a:t>
            </a:r>
            <a:endParaRPr sz="1500"/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D5677ADA-0E77-4C69-A9C6-E67044A5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86784"/>
            <a:ext cx="2743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B064F5F-57DE-461A-80EA-2BD95F96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03320"/>
            <a:ext cx="12344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0B0F0"/>
            </a:solidFill>
            <a:prstDash val="solid"/>
          </a:ln>
        </p:spPr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00A792AB-4C79-4053-9502-E20281BF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1352" y="3776472"/>
            <a:ext cx="108813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172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字体映射</a:t>
            </a:r>
            <a:endParaRPr sz="1500"/>
          </a:p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→ glyph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301BE108-725E-4DF3-B719-F48FF663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3986784"/>
            <a:ext cx="2743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AB60FA24-ECE2-46E9-8528-4C9CE8FD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6960" y="3703320"/>
            <a:ext cx="1234440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00B0F0"/>
            </a:solidFill>
            <a:prstDash val="solid"/>
          </a:ln>
        </p:spPr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8FA6243-9AA9-4B8B-8446-3E4D7BBA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0112" y="3776472"/>
            <a:ext cx="1088136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pixels</a:t>
            </a:r>
            <a:endParaRPr sz="1500"/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873C2374-93D3-4D23-9A92-ACF4BFAB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0332720" cy="594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>
              <a:alpha val="90000"/>
            </a:srgbClr>
          </a:solidFill>
          <a:ln xmlns:a="http://schemas.openxmlformats.org/drawingml/2006/main"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6DE5E2F5-82DB-440F-8CE8-E9D81B13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367528"/>
            <a:ext cx="9930384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Alibaba PuHuiTi 3.0 115 Black"/>
                <a:ea typeface="Alibaba PuHuiTi 3.0 115 Black"/>
                <a:cs typeface="Alibaba PuHuiTi 3.0 115 Black"/>
              </a:rPr>
              <a:t>乱码定位：保存并读取路径中，decode 使用了不匹配的规则。</a:t>
            </a:r>
            <a:endParaRPr sz="2700"/>
          </a:p>
        </p:txBody>
      </p:sp>
    </p:spTree>
    <p:extLst>
      <p:ext uri="{BB962C8B-B14F-4D97-AF65-F5344CB8AC3E}">
        <p14:creationId xmlns:p14="http://schemas.microsoft.com/office/powerpoint/2010/main" val="25775860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DCC44E7-621D-4B8E-A931-5D20AA53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6E7873F-6446-4331-8837-11CA64AB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56397"/>
            <a:ext cx="12192000" cy="1016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251B1"/>
          </a:solidFill>
          <a:ln xmlns:a="http://schemas.openxmlformats.org/drawingml/2006/main" w="0">
            <a:solidFill>
              <a:srgbClr val="6251B1"/>
            </a:solidFill>
            <a:prstDash val="solid"/>
          </a:ln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F1B0B01-9189-4993-9824-57B87456E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" y="608076"/>
            <a:ext cx="1097280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/>
                <a:ea typeface="Alibaba PuHuiTi 3.0 115 Black"/>
                <a:cs typeface="Alibaba PuHuiTi 3.0 115 Black"/>
              </a:rPr>
              <a:t>用三句话解释字符编码</a:t>
            </a:r>
            <a:endParaRPr sz="36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05C8D9C8-6CE9-4CF8-AEB3-F055FAB9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645920"/>
            <a:ext cx="996696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C64E1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30D81AD-6EB3-4BCF-9860-748C915E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1719072"/>
            <a:ext cx="98206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1. 一串 bits 为什么不能自己决定文字意义？</a:t>
            </a:r>
            <a:endParaRPr sz="22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AE605928-5A3F-4068-AAC8-BC1557A3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670048"/>
            <a:ext cx="996696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C64E1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FAE2C5C-F67B-4A02-ABD0-72C50C8E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2743200"/>
            <a:ext cx="98206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2. Unicode 码位与三种 UTF 各负责什么？</a:t>
            </a:r>
            <a:endParaRPr sz="22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58D9747B-F4C8-4C6D-A4EB-13C881FA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694176"/>
            <a:ext cx="996696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C64E1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727708E5-D1F8-49D3-BFAC-5B7B8405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3767328"/>
            <a:ext cx="98206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>
                <a:solidFill>
                  <a:srgbClr val="000000"/>
                </a:solidFill>
                <a:latin typeface="Alibaba PuHuiTi 3.0 85 Bold"/>
                <a:ea typeface="Alibaba PuHuiTi 3.0 85 Bold"/>
                <a:cs typeface="Alibaba PuHuiTi 3.0 85 Bold"/>
              </a:rPr>
              <a:t>3. bytes 没坏时，为什么仍可能出现乱码？</a:t>
            </a:r>
            <a:endParaRPr sz="2200"/>
          </a:p>
        </p:txBody>
      </p:sp>
    </p:spTree>
    <p:extLst>
      <p:ext uri="{BB962C8B-B14F-4D97-AF65-F5344CB8AC3E}">
        <p14:creationId xmlns:p14="http://schemas.microsoft.com/office/powerpoint/2010/main" val="149309489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libaba PuHuiTi 3.0 115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libaba PuHuiTi 3.0 55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2026-09-27T05:24:14.9720000Z</dcterms:created>
  <dcterms:modified xsi:type="dcterms:W3CDTF">2026-09-27T05:24:14.9720000Z</dcterms:modified>
</coreProperties>
</file>
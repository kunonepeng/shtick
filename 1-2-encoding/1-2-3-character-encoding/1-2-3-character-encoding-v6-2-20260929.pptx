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97" r:id="rId9"/>
    <p:sldId id="298" r:id="rId10"/>
    <p:sldId id="261" r:id="rId11"/>
    <p:sldId id="324" r:id="rId12"/>
    <p:sldId id="323" r:id="rId13"/>
    <p:sldId id="262" r:id="rId14"/>
    <p:sldId id="263" r:id="rId15"/>
    <p:sldId id="299" r:id="rId16"/>
    <p:sldId id="300" r:id="rId17"/>
    <p:sldId id="326" r:id="rId18"/>
    <p:sldId id="301" r:id="rId19"/>
    <p:sldId id="327" r:id="rId20"/>
    <p:sldId id="330" r:id="rId21"/>
    <p:sldId id="331" r:id="rId22"/>
    <p:sldId id="302" r:id="rId23"/>
    <p:sldId id="303" r:id="rId24"/>
    <p:sldId id="314" r:id="rId25"/>
    <p:sldId id="317" r:id="rId26"/>
    <p:sldId id="315" r:id="rId27"/>
    <p:sldId id="318" r:id="rId28"/>
    <p:sldId id="316" r:id="rId29"/>
    <p:sldId id="319" r:id="rId30"/>
    <p:sldId id="266" r:id="rId31"/>
    <p:sldId id="267" r:id="rId32"/>
    <p:sldId id="268" r:id="rId33"/>
    <p:sldId id="269" r:id="rId34"/>
    <p:sldId id="270" r:id="rId35"/>
    <p:sldId id="304" r:id="rId36"/>
    <p:sldId id="271" r:id="rId37"/>
    <p:sldId id="320" r:id="rId38"/>
    <p:sldId id="272" r:id="rId39"/>
    <p:sldId id="273" r:id="rId40"/>
    <p:sldId id="274" r:id="rId41"/>
    <p:sldId id="275" r:id="rId42"/>
    <p:sldId id="276" r:id="rId43"/>
    <p:sldId id="277" r:id="rId44"/>
    <p:sldId id="278" r:id="rId45"/>
    <p:sldId id="279" r:id="rId46"/>
    <p:sldId id="309" r:id="rId47"/>
    <p:sldId id="310" r:id="rId48"/>
    <p:sldId id="312" r:id="rId49"/>
    <p:sldId id="305" r:id="rId50"/>
    <p:sldId id="306" r:id="rId51"/>
    <p:sldId id="313" r:id="rId52"/>
    <p:sldId id="307" r:id="rId53"/>
    <p:sldId id="308" r:id="rId54"/>
    <p:sldId id="289" r:id="rId55"/>
    <p:sldId id="290" r:id="rId56"/>
    <p:sldId id="291" r:id="rId57"/>
    <p:sldId id="292" r:id="rId58"/>
    <p:sldId id="293" r:id="rId59"/>
  </p:sldIdLst>
  <p:sldSz cx="12191365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521415D9-36F7-43E2-AB2F-B90AF26B5E84}">
      <p14:sectionLst xmlns:p14="http://schemas.microsoft.com/office/powerpoint/2010/main">
        <p14:section name="Default Section" id="{31faa5c3-4be3-49ac-9fce-7bad189566c1}">
          <p14:sldIdLst>
            <p14:sldId id="256"/>
            <p14:sldId id="257"/>
            <p14:sldId id="258"/>
            <p14:sldId id="259"/>
            <p14:sldId id="260"/>
            <p14:sldId id="297"/>
            <p14:sldId id="298"/>
            <p14:sldId id="261"/>
            <p14:sldId id="324"/>
            <p14:sldId id="323"/>
            <p14:sldId id="262"/>
            <p14:sldId id="263"/>
            <p14:sldId id="299"/>
            <p14:sldId id="300"/>
            <p14:sldId id="326"/>
            <p14:sldId id="301"/>
            <p14:sldId id="327"/>
            <p14:sldId id="330"/>
            <p14:sldId id="331"/>
            <p14:sldId id="302"/>
            <p14:sldId id="303"/>
            <p14:sldId id="314"/>
            <p14:sldId id="317"/>
            <p14:sldId id="315"/>
            <p14:sldId id="318"/>
            <p14:sldId id="316"/>
            <p14:sldId id="319"/>
            <p14:sldId id="266"/>
            <p14:sldId id="267"/>
            <p14:sldId id="268"/>
            <p14:sldId id="269"/>
            <p14:sldId id="270"/>
            <p14:sldId id="304"/>
            <p14:sldId id="271"/>
            <p14:sldId id="320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309"/>
            <p14:sldId id="310"/>
            <p14:sldId id="312"/>
            <p14:sldId id="305"/>
            <p14:sldId id="306"/>
            <p14:sldId id="313"/>
            <p14:sldId id="307"/>
            <p14:sldId id="308"/>
            <p14:sldId id="289"/>
            <p14:sldId id="290"/>
            <p14:sldId id="291"/>
            <p14:sldId id="292"/>
            <p14:sldId id="29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fc-editor.org/info/rfc20/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</a:p>
          <a:p>
            <a:r>
              <a:t>本节课的学习主题：从按下键盘，到屏幕出现汉字，计算机内部经历哪些表示？</a:t>
            </a:r>
          </a:p>
          <a:p/>
          <a:p>
            <a:r>
              <a:t>[内部编号]</a:t>
            </a:r>
          </a:p>
          <a:p>
            <a:r>
              <a:t>Cover</a:t>
            </a:r>
          </a:p>
          <a:p/>
          <a:p>
            <a:r>
              <a:t>[教学意图]</a:t>
            </a:r>
          </a:p>
          <a:p>
            <a:r>
              <a:t>从可观察的乱码现象进入问题链，暂不展示完整模型或诊断结果。</a:t>
            </a:r>
          </a:p>
          <a:p/>
          <a:p>
            <a:r>
              <a:t>[教师逐字稿]</a:t>
            </a:r>
          </a:p>
          <a:p>
            <a:r>
              <a:t>今天先不背“字符集、编码、Unicode”。想一件具体的事：我打出 ni，选中“你”，它为什么能出现在屏幕上？如果同一份文字后来显示成乱码，我们该从哪里查起？先看现象，再一步步找证据。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同一份文字，为什么会出现乱码？</a:t>
            </a:r>
            <a:br/>
            <a:br/>
            <a:r>
              <a:t>[内部编号]</a:t>
            </a:r>
            <a:br/>
            <a:r>
              <a:t>Q0</a:t>
            </a:r>
            <a:br/>
            <a:br/>
            <a:r>
              <a:t>[教学意图]</a:t>
            </a:r>
            <a:br/>
            <a:r>
              <a:t>只制造认知困惑，不解释 encode/decode。</a:t>
            </a:r>
            <a:br/>
            <a:br/>
            <a:r>
              <a:t>[教师逐字稿]</a:t>
            </a:r>
            <a:br/>
            <a:r>
              <a:t>先看一个现象。原来是“你好”，但电脑上可能显示成另一串看不懂的字符。现在不要急着说编码，也不要猜“电脑坏了”。请先投票：你觉得问题可能发生在输入、字符身份、bytes，还是显示？</a:t>
            </a:r>
            <a:br/>
            <a:br/>
            <a:r>
              <a:t>[预期学生反应]</a:t>
            </a:r>
            <a:br/>
            <a:r>
              <a:t>学生可能猜输入法、字体、文件损坏或系统语言设置。都记录，不立刻判定。</a:t>
            </a:r>
            <a:br/>
            <a:br/>
            <a:r>
              <a:t>[追问问题]</a:t>
            </a:r>
            <a:br/>
            <a:r>
              <a:t>如果 bytes 没坏，只是读它的规则变了，会发生什么？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同一份文字，为什么会出现乱码？</a:t>
            </a:r>
            <a:br/>
            <a:br/>
            <a:r>
              <a:t>[内部编号]</a:t>
            </a:r>
            <a:br/>
            <a:r>
              <a:t>Q0</a:t>
            </a:r>
            <a:br/>
            <a:br/>
            <a:r>
              <a:t>[教学意图]</a:t>
            </a:r>
            <a:br/>
            <a:r>
              <a:t>展示现象：同一文本在错误规则下会变成乱码。</a:t>
            </a:r>
            <a:br/>
            <a:br/>
            <a:r>
              <a:t>[教师逐字稿]</a:t>
            </a:r>
            <a:br/>
            <a:r>
              <a:t>左边是我们想看到的文字，右边是电脑可能给出的结果。注意，这里先不解释原因。我们只是把问题放在桌面上：如果文字“变脸”，到底是哪一层出了问题？这个问题先放着，等到最后我们再回来诊断。</a:t>
            </a:r>
            <a:br/>
            <a:br/>
            <a:r>
              <a:t>[追问问题]</a:t>
            </a:r>
            <a:br/>
            <a:r>
              <a:t>如果文件里的 0 和 1 没变，为什么屏幕上的字会变？</a:t>
            </a:r>
            <a:br/>
            <a:br/>
            <a:r>
              <a:t>[形成结论]</a:t>
            </a:r>
            <a:br/>
            <a:r>
              <a:t>先保留疑问：乱码不一定意味着原始内容损坏。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一串 0 和 1 天生具有文字意义吗？</a:t>
            </a:r>
            <a:br/>
            <a:br/>
            <a:r>
              <a:t>[内部编号]</a:t>
            </a:r>
            <a:br/>
            <a:r>
              <a:t>Q1-A</a:t>
            </a:r>
            <a:br/>
            <a:br/>
            <a:r>
              <a:t>[教学意图]</a:t>
            </a:r>
            <a:br/>
            <a:r>
              <a:t>让学生体验“共享映射”是文本交换的前提。</a:t>
            </a:r>
            <a:br/>
            <a:br/>
            <a:r>
              <a:t>[教师逐字稿]</a:t>
            </a:r>
            <a:br/>
            <a:r>
              <a:t>现在我们不用真正的 ASCII，也不用汉字。只用 3 bit，自己发明一套编码。问题是：我给你一串 0 和 1，它天生就会告诉你这是 HELLO 吗？还是必须先知道某张表？</a:t>
            </a:r>
            <a:br/>
            <a:br/>
            <a:r>
              <a:t>[追问问题]</a:t>
            </a:r>
            <a:br/>
            <a:r>
              <a:t>如果两个人都用 3 bit，但表不同，会不会仍然读错？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一串 0 和 1 天生具有文字意义吗？</a:t>
            </a:r>
            <a:br/>
            <a:br/>
            <a:r>
              <a:t>[内部编号]</a:t>
            </a:r>
            <a:br/>
            <a:r>
              <a:t>Q1-A</a:t>
            </a:r>
            <a:br/>
            <a:br/>
            <a:r>
              <a:t>[教学意图]</a:t>
            </a:r>
            <a:br/>
            <a:r>
              <a:t>活动页：每个学生建立自己的秘密映射表。</a:t>
            </a:r>
            <a:br/>
            <a:br/>
            <a:r>
              <a:t>[教师逐字稿]</a:t>
            </a:r>
            <a:br/>
            <a:r>
              <a:t>规则很简单：这 8 个字符都可以被编码，3 bit 也刚好有 8 个位置。每个人把 000 到 111 打乱后分给这些字母。然后用自己的表编码 HELLO，只把 bit 串给同桌。第一轮，不给表。看看对方能不能读出来。</a:t>
            </a:r>
            <a:br/>
            <a:br/>
            <a:r>
              <a:t>[预期学生反应]</a:t>
            </a:r>
            <a:br/>
            <a:r>
              <a:t>学生通常会发现：同桌用自己的表去解，结果不是 HELLO。</a:t>
            </a:r>
            <a:br/>
            <a:br/>
            <a:r>
              <a:t>[追问问题]</a:t>
            </a:r>
            <a:br/>
            <a:r>
              <a:t>bit 串变了吗？变的是哪一个环节？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一串 0 和 1 天生具有文字意义吗？</a:t>
            </a:r>
            <a:br/>
            <a:br/>
            <a:r>
              <a:t>[内部编号]</a:t>
            </a:r>
            <a:br/>
            <a:r>
              <a:t>Q1-A</a:t>
            </a:r>
            <a:br/>
            <a:br/>
            <a:r>
              <a:t>[教学意图]</a:t>
            </a:r>
            <a:br/>
            <a:r>
              <a:t>形成结论：bits 需要共享映射规则才有确定文字意义。</a:t>
            </a:r>
            <a:br/>
            <a:br/>
            <a:r>
              <a:t>[教师逐字稿]</a:t>
            </a:r>
            <a:br/>
            <a:r>
              <a:t>现在请注意：bit 串从头到尾没有变。第一次读不出来，是因为你用了自己的表；第二次读出来，是因为你拿到了发送者的表。所以一串 bits 不会自己“长出文字意义”。意义来自大家共享的那张字符到编码的映射表。</a:t>
            </a:r>
            <a:br/>
            <a:br/>
            <a:r>
              <a:t>[追问问题]</a:t>
            </a:r>
            <a:br/>
            <a:r>
              <a:t>如果字符根本不在表里，共享映射还有用吗？</a:t>
            </a:r>
            <a:br/>
            <a:br/>
            <a:r>
              <a:t>[形成结论]</a:t>
            </a:r>
            <a:br/>
            <a:r>
              <a:t>文本交换需要共享字符集和字符—编码映射。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一串 0 和 1 天生具有文字意义吗？</a:t>
            </a:r>
            <a:br/>
            <a:br/>
            <a:r>
              <a:t>[内部编号]</a:t>
            </a:r>
            <a:br/>
            <a:r>
              <a:t>Q1-A</a:t>
            </a:r>
            <a:br/>
            <a:br/>
            <a:r>
              <a:t>[教学意图]</a:t>
            </a:r>
            <a:br/>
            <a:r>
              <a:t>形成结论：bits 需要共享映射规则才有确定文字意义。</a:t>
            </a:r>
            <a:br/>
            <a:br/>
            <a:r>
              <a:t>[教师逐字稿]</a:t>
            </a:r>
            <a:br/>
            <a:r>
              <a:t>现在请注意：bit 串从头到尾没有变。第一次读不出来，是因为你用了自己的表；第二次读出来，是因为你拿到了发送者的表。所以一串 bits 不会自己“长出文字意义”。意义来自大家共享的那张字符到编码的映射表。</a:t>
            </a:r>
            <a:br/>
            <a:br/>
            <a:r>
              <a:t>[追问问题]</a:t>
            </a:r>
            <a:br/>
            <a:r>
              <a:t>如果字符根本不在表里，共享映射还有用吗？</a:t>
            </a:r>
            <a:br/>
            <a:br/>
            <a:r>
              <a:t>[形成结论]</a:t>
            </a:r>
            <a:br/>
            <a:r>
              <a:t>文本交换需要共享字符集和字符—编码映射。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一串 0 和 1 天生具有文字意义吗？</a:t>
            </a:r>
            <a:br/>
            <a:br/>
            <a:r>
              <a:t>[内部编号]</a:t>
            </a:r>
            <a:br/>
            <a:r>
              <a:t>Q1-A</a:t>
            </a:r>
            <a:br/>
            <a:br/>
            <a:r>
              <a:t>[教学意图]</a:t>
            </a:r>
            <a:br/>
            <a:r>
              <a:t>形成结论：bits 需要共享映射规则才有确定文字意义。</a:t>
            </a:r>
            <a:br/>
            <a:br/>
            <a:r>
              <a:t>[教师逐字稿]</a:t>
            </a:r>
            <a:br/>
            <a:r>
              <a:t>现在请注意：bit 串从头到尾没有变。第一次读不出来，是因为你用了自己的表；第二次读出来，是因为你拿到了发送者的表。所以一串 bits 不会自己“长出文字意义”。意义来自大家共享的那张字符到编码的映射表。</a:t>
            </a:r>
            <a:br/>
            <a:br/>
            <a:r>
              <a:t>[追问问题]</a:t>
            </a:r>
            <a:br/>
            <a:r>
              <a:t>如果字符根本不在表里，共享映射还有用吗？</a:t>
            </a:r>
            <a:br/>
            <a:br/>
            <a:r>
              <a:t>[形成结论]</a:t>
            </a:r>
            <a:br/>
            <a:r>
              <a:t>文本交换需要共享字符集和字符—编码映射。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只有 8 个位置，哪些字符能进入字符集？</a:t>
            </a:r>
            <a:br/>
            <a:br/>
            <a:r>
              <a:t>[内部编号]</a:t>
            </a:r>
            <a:br/>
            <a:r>
              <a:t>Q1-B</a:t>
            </a:r>
            <a:br/>
            <a:br/>
            <a:r>
              <a:t>[教学意图]</a:t>
            </a:r>
            <a:br/>
            <a:r>
              <a:t>让学生发现“字符集选择”先于编码映射。</a:t>
            </a:r>
            <a:br/>
            <a:br/>
            <a:r>
              <a:t>[教师逐字稿]</a:t>
            </a:r>
            <a:br/>
            <a:r>
              <a:t>刚才我们解决了“共享哪张表”。但还有一个更早的问题：表里到底允许放哪些字符？3 bit 只有 8 个位置，候选字符却有 12 个。你必须先做选择。</a:t>
            </a:r>
            <a:br/>
            <a:br/>
            <a:r>
              <a:t>[追问问题]</a:t>
            </a:r>
            <a:br/>
            <a:r>
              <a:t>如果要同时编码 HELLO 和 STAR，最少要把哪些字母放进字符集？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只有 8 个位置，哪些字符能进入字符集？</a:t>
            </a:r>
            <a:br/>
            <a:br/>
            <a:r>
              <a:t>[内部编号]</a:t>
            </a:r>
            <a:br/>
            <a:r>
              <a:t>Q1-B</a:t>
            </a:r>
            <a:br/>
            <a:br/>
            <a:r>
              <a:t>[教学意图]</a:t>
            </a:r>
            <a:br/>
            <a:r>
              <a:t>结论：先确定字符集，再分配编码。</a:t>
            </a:r>
            <a:br/>
            <a:br/>
            <a:r>
              <a:t>[教师逐字稿]</a:t>
            </a:r>
            <a:br/>
            <a:r>
              <a:t>HELLO 需要 H、E、L、O；STAR 需要 S、T、A、R。合起来正好 8 个不同字母。3 bit 没有多余位置了，所以 CODE 中的 C 和 D 根本不在字符集中。不是我们忘记编码它们，而是这套系统一开始就没有收录它们。</a:t>
            </a:r>
            <a:br/>
            <a:br/>
            <a:r>
              <a:t>[追问问题]</a:t>
            </a:r>
            <a:br/>
            <a:r>
              <a:t>现实世界谁来制定这张大家都能查的表？</a:t>
            </a:r>
            <a:br/>
            <a:br/>
            <a:r>
              <a:t>[形成结论]</a:t>
            </a:r>
            <a:br/>
            <a:r>
              <a:t>设计字符编码：先确定字符集，再为字符建立唯一编码映射。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只有 8 个位置，哪些字符能进入字符集？</a:t>
            </a:r>
            <a:br/>
            <a:br/>
            <a:r>
              <a:t>[内部编号]</a:t>
            </a:r>
            <a:br/>
            <a:r>
              <a:t>Q1-B</a:t>
            </a:r>
            <a:br/>
            <a:br/>
            <a:r>
              <a:t>[教学意图]</a:t>
            </a:r>
            <a:br/>
            <a:r>
              <a:t>结论：先确定字符集，再分配编码。</a:t>
            </a:r>
            <a:br/>
            <a:br/>
            <a:r>
              <a:t>[教师逐字稿]</a:t>
            </a:r>
            <a:br/>
            <a:r>
              <a:t>HELLO 需要 H、E、L、O；STAR 需要 S、T、A、R。合起来正好 8 个不同字母。3 bit 没有多余位置了，所以 CODE 中的 C 和 D 根本不在字符集中。不是我们忘记编码它们，而是这套系统一开始就没有收录它们。</a:t>
            </a:r>
            <a:br/>
            <a:br/>
            <a:r>
              <a:t>[追问问题]</a:t>
            </a:r>
            <a:br/>
            <a:r>
              <a:t>现实世界谁来制定这张大家都能查的表？</a:t>
            </a:r>
            <a:br/>
            <a:br/>
            <a:r>
              <a:t>[形成结论]</a:t>
            </a:r>
            <a:br/>
            <a:r>
              <a:t>设计字符编码：先确定字符集，再为字符建立唯一编码映射。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只有 8 个位置，哪些字符能进入字符集？</a:t>
            </a:r>
            <a:br/>
            <a:br/>
            <a:r>
              <a:t>[内部编号]</a:t>
            </a:r>
            <a:br/>
            <a:r>
              <a:t>Q1-B</a:t>
            </a:r>
            <a:br/>
            <a:br/>
            <a:r>
              <a:t>[教学意图]</a:t>
            </a:r>
            <a:br/>
            <a:r>
              <a:t>结论：先确定字符集，再分配编码。</a:t>
            </a:r>
            <a:br/>
            <a:br/>
            <a:r>
              <a:t>[教师逐字稿]</a:t>
            </a:r>
            <a:br/>
            <a:r>
              <a:t>HELLO 需要 H、E、L、O；STAR 需要 S、T、A、R。合起来正好 8 个不同字母。3 bit 没有多余位置了，所以 CODE 中的 C 和 D 根本不在字符集中。不是我们忘记编码它们，而是这套系统一开始就没有收录它们。</a:t>
            </a:r>
            <a:br/>
            <a:br/>
            <a:r>
              <a:t>[追问问题]</a:t>
            </a:r>
            <a:br/>
            <a:r>
              <a:t>现实世界谁来制定这张大家都能查的表？</a:t>
            </a:r>
            <a:br/>
            <a:br/>
            <a:r>
              <a:t>[形成结论]</a:t>
            </a:r>
            <a:br/>
            <a:r>
              <a:t>设计字符编码：先确定字符集，再为字符建立唯一编码映射。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只有 8 个位置，哪些字符能进入字符集？</a:t>
            </a:r>
            <a:br/>
            <a:br/>
            <a:r>
              <a:t>[内部编号]</a:t>
            </a:r>
            <a:br/>
            <a:r>
              <a:t>Q1-B</a:t>
            </a:r>
            <a:br/>
            <a:br/>
            <a:r>
              <a:t>[教学意图]</a:t>
            </a:r>
            <a:br/>
            <a:r>
              <a:t>结论：先确定字符集，再分配编码。</a:t>
            </a:r>
            <a:br/>
            <a:br/>
            <a:r>
              <a:t>[教师逐字稿]</a:t>
            </a:r>
            <a:br/>
            <a:r>
              <a:t>HELLO 需要 H、E、L、O；STAR 需要 S、T、A、R。合起来正好 8 个不同字母。3 bit 没有多余位置了，所以 CODE 中的 C 和 D 根本不在字符集中。不是我们忘记编码它们，而是这套系统一开始就没有收录它们。</a:t>
            </a:r>
            <a:br/>
            <a:br/>
            <a:r>
              <a:t>[追问问题]</a:t>
            </a:r>
            <a:br/>
            <a:r>
              <a:t>现实世界谁来制定这张大家都能查的表？</a:t>
            </a:r>
            <a:br/>
            <a:br/>
            <a:r>
              <a:t>[形成结论]</a:t>
            </a:r>
            <a:br/>
            <a:r>
              <a:t>设计字符编码：先确定字符集，再为字符建立唯一编码映射。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只有 8 个位置，哪些字符能进入字符集？</a:t>
            </a:r>
            <a:br/>
            <a:br/>
            <a:r>
              <a:t>[内部编号]</a:t>
            </a:r>
            <a:br/>
            <a:r>
              <a:t>Q1-B</a:t>
            </a:r>
            <a:br/>
            <a:br/>
            <a:r>
              <a:t>[教学意图]</a:t>
            </a:r>
            <a:br/>
            <a:r>
              <a:t>结论：先确定字符集，再分配编码。</a:t>
            </a:r>
            <a:br/>
            <a:br/>
            <a:r>
              <a:t>[教师逐字稿]</a:t>
            </a:r>
            <a:br/>
            <a:r>
              <a:t>HELLO 需要 H、E、L、O；STAR 需要 S、T、A、R。合起来正好 8 个不同字母。3 bit 没有多余位置了，所以 CODE 中的 C 和 D 根本不在字符集中。不是我们忘记编码它们，而是这套系统一开始就没有收录它们。</a:t>
            </a:r>
            <a:br/>
            <a:br/>
            <a:r>
              <a:t>[追问问题]</a:t>
            </a:r>
            <a:br/>
            <a:r>
              <a:t>现实世界谁来制定这张大家都能查的表？</a:t>
            </a:r>
            <a:br/>
            <a:br/>
            <a:r>
              <a:t>[形成结论]</a:t>
            </a:r>
            <a:br/>
            <a:r>
              <a:t>设计字符编码：先确定字符集，再为字符建立唯一编码映射。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只有 8 个位置，哪些字符能进入字符集？</a:t>
            </a:r>
            <a:br/>
            <a:br/>
            <a:r>
              <a:t>[内部编号]</a:t>
            </a:r>
            <a:br/>
            <a:r>
              <a:t>Q1-B</a:t>
            </a:r>
            <a:br/>
            <a:br/>
            <a:r>
              <a:t>[教学意图]</a:t>
            </a:r>
            <a:br/>
            <a:r>
              <a:t>结论：先确定字符集，再分配编码。</a:t>
            </a:r>
            <a:br/>
            <a:br/>
            <a:r>
              <a:t>[教师逐字稿]</a:t>
            </a:r>
            <a:br/>
            <a:r>
              <a:t>HELLO 需要 H、E、L、O；STAR 需要 S、T、A、R。合起来正好 8 个不同字母。3 bit 没有多余位置了，所以 CODE 中的 C 和 D 根本不在字符集中。不是我们忘记编码它们，而是这套系统一开始就没有收录它们。</a:t>
            </a:r>
            <a:br/>
            <a:br/>
            <a:r>
              <a:t>[追问问题]</a:t>
            </a:r>
            <a:br/>
            <a:r>
              <a:t>现实世界谁来制定这张大家都能查的表？</a:t>
            </a:r>
            <a:br/>
            <a:br/>
            <a:r>
              <a:t>[形成结论]</a:t>
            </a:r>
            <a:br/>
            <a:r>
              <a:t>设计字符编码：先确定字符集，再为字符建立唯一编码映射。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【教学意图】采用认知困惑法：先让学生看到“原有理解解释不了”的现象，再用问题链推动概念重建。
【认知困惑】学生往往把字符等同于屏幕上看得见的字。控制字符挑战这一理解。
【问题链】BEL、CR、LF为什么也占码位？它们是不是“文字”？
【讲解要点】0–31和127主要是控制字符，用于通信控制、设备控制、格式控制等；它们不是普通可打印字符。
【资料来源】RFC 20 Definitions包括Communication Control、Format Effector等控制字符分类：</a:t>
            </a:r>
            <a:r>
              <a:rPr lang="en-US" dirty="0">
                <a:hlinkClick r:id="rId3" action="ppaction://hlinkfile"/>
              </a:rPr>
              <a:t>https://www.rfc-editor.org/info/rfc20/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pitchFamily="34" charset="-120"/>
                <a:sym typeface="+mn-ea"/>
              </a:rPr>
              <a:t>ESC 转义 </a:t>
            </a:r>
            <a:r>
              <a:rPr lang="zh-CN" altLang="en-US" dirty="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pitchFamily="34" charset="-120"/>
                <a:sym typeface="+mn-ea"/>
              </a:rPr>
              <a:t>是什么意思</a:t>
            </a:r>
            <a:r>
              <a:rPr lang="en-US" altLang="zh-CN" dirty="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pitchFamily="34" charset="-120"/>
                <a:sym typeface="+mn-ea"/>
              </a:rPr>
              <a:t>？</a:t>
            </a:r>
            <a:endParaRPr lang="en-US" altLang="zh-CN" dirty="0">
              <a:solidFill>
                <a:srgbClr val="00000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pitchFamily="34" charset="-12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ASCII 是 7 bit，为什么计算机中常常看到 8 bit？</a:t>
            </a:r>
            <a:br/>
            <a:br/>
            <a:r>
              <a:t>[内部编号]</a:t>
            </a:r>
            <a:br/>
            <a:r>
              <a:t>Q3</a:t>
            </a:r>
            <a:br/>
            <a:br/>
            <a:r>
              <a:t>[教学意图]</a:t>
            </a:r>
            <a:br/>
            <a:r>
              <a:t>制造 7-bit 编码与 8-bit 存储之间的认知冲突。</a:t>
            </a:r>
            <a:br/>
            <a:br/>
            <a:r>
              <a:t>[教师逐字稿]</a:t>
            </a:r>
            <a:br/>
            <a:r>
              <a:t>先别算。ASCII 明明只有 128 个位置，7 bit 已经够了。那为什么文件里我们偏偏看到 8 bit？多出来的这一位到底从哪儿来的？</a:t>
            </a:r>
            <a:br/>
            <a:br/>
            <a:r>
              <a:t>[追问问题]</a:t>
            </a:r>
            <a:br/>
            <a:r>
              <a:t>多出来的这一位是否让 ASCII 字符数变成 256？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ASCII 是 7 bit，为什么计算机中常常看到 8 bit？</a:t>
            </a:r>
            <a:br/>
            <a:br/>
            <a:r>
              <a:t>[内部编号]</a:t>
            </a:r>
            <a:br/>
            <a:r>
              <a:t>Q3</a:t>
            </a:r>
            <a:br/>
            <a:br/>
            <a:r>
              <a:t>[教学意图]</a:t>
            </a:r>
            <a:br/>
            <a:r>
              <a:t>用 A 的编码证据说明 ASCII 编码值与 1 byte 存储之间的关系。</a:t>
            </a:r>
            <a:br/>
            <a:br/>
            <a:r>
              <a:t>[教师逐字稿]</a:t>
            </a:r>
            <a:br/>
            <a:r>
              <a:t>看 A。ASCII 表给出的 7-bit 值是 1000001。把它放进一个 byte 里，左侧补 0，就得到 01000001。这个左边的 0 是最高位，它不改变 A 的 ASCII 值。</a:t>
            </a:r>
            <a:br/>
            <a:br/>
            <a:r>
              <a:t>[预期学生反应]</a:t>
            </a:r>
            <a:br/>
            <a:r>
              <a:t>学生应指出字符值仍是 65，额外的一位只是存储成 1 byte 的补位。</a:t>
            </a:r>
            <a:br/>
            <a:br/>
            <a:r>
              <a:t>[形成结论]</a:t>
            </a:r>
            <a:br/>
            <a:r>
              <a:t>ASCII 编码本身是 7 bit；在 1 byte 中保存时最高位通常为 0。</a:t>
            </a:r>
            <a:br/>
            <a:br/>
            <a:r>
              <a:t>[Demo 操作]</a:t>
            </a:r>
            <a:br/>
            <a:r>
              <a:t>可切到 demo-lab-student.qmd → Q3 运行 A 的 ASCII 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ASCII 中数字、大写字母、小写字母有什么规律？</a:t>
            </a:r>
            <a:br/>
            <a:br/>
            <a:r>
              <a:t>[内部编号]</a:t>
            </a:r>
            <a:br/>
            <a:r>
              <a:t>Q4</a:t>
            </a:r>
            <a:br/>
            <a:br/>
            <a:r>
              <a:t>[教学意图]</a:t>
            </a:r>
            <a:br/>
            <a:r>
              <a:t>将 ASCII 表查找转化为编码值比较，为考试常见比较题做准备。</a:t>
            </a:r>
            <a:br/>
            <a:br/>
            <a:r>
              <a:t>[教师逐字稿]</a:t>
            </a:r>
            <a:br/>
            <a:r>
              <a:t>这个问题看起来像常识题，其实不是。我们比较的不是“9 和 A 谁更大”，而是它们的 ASCII 编码值谁更大。请先猜，再用表验证。</a:t>
            </a:r>
            <a:br/>
            <a:br/>
            <a:r>
              <a:t>[追问问题]</a:t>
            </a:r>
            <a:br/>
            <a:r>
              <a:t>你比较的是字符外形、日常意义，还是编码值？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ASCII 中数字、大写字母、小写字母有什么规律？</a:t>
            </a:r>
            <a:br/>
            <a:br/>
            <a:r>
              <a:t>[内部编号]</a:t>
            </a:r>
            <a:br/>
            <a:r>
              <a:t>Q4</a:t>
            </a:r>
            <a:br/>
            <a:br/>
            <a:r>
              <a:t>[教学意图]</a:t>
            </a:r>
            <a:br/>
            <a:r>
              <a:t>用端点值建立范围顺序：数字字符 &lt; 大写字母 &lt; 小写字母。</a:t>
            </a:r>
            <a:br/>
            <a:br/>
            <a:r>
              <a:t>[教师逐字稿]</a:t>
            </a:r>
            <a:br/>
            <a:r>
              <a:t>先看端点。数字字符从 0x30 到 0x39，大写字母从 0x41 到 0x5A，小写字母从 0x61 到 0x7A。它们不是散乱排布，而是分段排列。</a:t>
            </a:r>
            <a:br/>
            <a:br/>
            <a:r>
              <a:t>[形成结论]</a:t>
            </a:r>
            <a:br/>
            <a:r>
              <a:t>ASCII 编码值：数字字符 &lt; 大写英文字母 &lt; 小写英文字母。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如果让你设计汉字编码，ASCII 的哪些思想还能使用？</a:t>
            </a:r>
            <a:br/>
            <a:br/>
            <a:r>
              <a:t>[内部编号]</a:t>
            </a:r>
            <a:br/>
            <a:r>
              <a:t>Q5</a:t>
            </a:r>
            <a:br/>
            <a:br/>
            <a:r>
              <a:t>[教学意图]</a:t>
            </a:r>
            <a:br/>
            <a:r>
              <a:t>从 ASCII 迁移到汉字编码设计，明确哪些设计原则能借鉴，哪些容量问题必须重做。</a:t>
            </a:r>
            <a:br/>
            <a:br/>
            <a:r>
              <a:t>[教师逐字稿]</a:t>
            </a:r>
            <a:br/>
            <a:r>
              <a:t>现在假设你来设计汉字编码。能不能照搬 ASCII？哪些思想能用，哪些地方马上不够了？先不急着给标准答案，小组先逐行判断。</a:t>
            </a:r>
            <a:br/>
            <a:br/>
            <a:r>
              <a:t>[追问问题]</a:t>
            </a:r>
            <a:br/>
            <a:r>
              <a:t>7 bit、1 byte 这些选择能直接用于汉字吗？为什么？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如果让你设计汉字编码，ASCII 的哪些思想还能使用？</a:t>
            </a:r>
            <a:br/>
            <a:br/>
            <a:r>
              <a:t>[内部编号]</a:t>
            </a:r>
            <a:br/>
            <a:r>
              <a:t>Q5</a:t>
            </a:r>
            <a:br/>
            <a:br/>
            <a:r>
              <a:t>[教学意图]</a:t>
            </a:r>
            <a:br/>
            <a:r>
              <a:t>从 ASCII 迁移到汉字编码设计，明确哪些设计原则能借鉴，哪些容量问题必须重做。</a:t>
            </a:r>
            <a:br/>
            <a:br/>
            <a:r>
              <a:t>[教师逐字稿]</a:t>
            </a:r>
            <a:br/>
            <a:r>
              <a:t>现在假设你来设计汉字编码。能不能照搬 ASCII？哪些思想能用，哪些地方马上不够了？先不急着给标准答案，小组先逐行判断。</a:t>
            </a:r>
            <a:br/>
            <a:br/>
            <a:r>
              <a:t>[追问问题]</a:t>
            </a:r>
            <a:br/>
            <a:r>
              <a:t>7 bit、1 byte 这些选择能直接用于汉字吗？为什么？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如果让你设计汉字编码，ASCII 的哪些思想还能使用？</a:t>
            </a:r>
            <a:br/>
            <a:br/>
            <a:r>
              <a:t>[内部编号]</a:t>
            </a:r>
            <a:br/>
            <a:r>
              <a:t>Q5</a:t>
            </a:r>
            <a:br/>
            <a:br/>
            <a:r>
              <a:t>[教学意图]</a:t>
            </a:r>
            <a:br/>
            <a:r>
              <a:t>形成从 ASCII 迁移到汉字编码的设计问题。</a:t>
            </a:r>
            <a:br/>
            <a:br/>
            <a:r>
              <a:t>[教师逐字稿]</a:t>
            </a:r>
            <a:br/>
            <a:r>
              <a:t>ASCII 给我们的不是“7 bit 永远够用”，而是一套设计方法：先定字符集，再定映射，再考虑存储和兼容。汉字编码要回答同样的问题，但答案不会和 ASCII 一样。</a:t>
            </a:r>
            <a:br/>
            <a:br/>
            <a:r>
              <a:t>[追问问题]</a:t>
            </a:r>
            <a:br/>
            <a:r>
              <a:t>方案真正写进文件后，汉字留下什么 byte？</a:t>
            </a:r>
            <a:br/>
            <a:br/>
            <a:r>
              <a:t>[形成结论]</a:t>
            </a:r>
            <a:br/>
            <a:r>
              <a:t>设计方法可借鉴；容量和存储方案必须重新设计。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如果让你设计汉字编码，ASCII 的哪些思想还能使用？</a:t>
            </a:r>
            <a:br/>
            <a:br/>
            <a:r>
              <a:t>[内部编号]</a:t>
            </a:r>
            <a:br/>
            <a:r>
              <a:t>Q5</a:t>
            </a:r>
            <a:br/>
            <a:br/>
            <a:r>
              <a:t>[教学意图]</a:t>
            </a:r>
            <a:br/>
            <a:r>
              <a:t>形成从 ASCII 迁移到汉字编码的设计问题。</a:t>
            </a:r>
            <a:br/>
            <a:br/>
            <a:r>
              <a:t>[教师逐字稿]</a:t>
            </a:r>
            <a:br/>
            <a:r>
              <a:t>ASCII 给我们的不是“7 bit 永远够用”，而是一套设计方法：先定字符集，再定映射，再考虑存储和兼容。汉字编码要回答同样的问题，但答案不会和 ASCII 一样。</a:t>
            </a:r>
            <a:br/>
            <a:br/>
            <a:r>
              <a:t>[追问问题]</a:t>
            </a:r>
            <a:br/>
            <a:r>
              <a:t>方案真正写进文件后，汉字留下什么 byte？</a:t>
            </a:r>
            <a:br/>
            <a:br/>
            <a:r>
              <a:t>[形成结论]</a:t>
            </a:r>
            <a:br/>
            <a:r>
              <a:t>设计方法可借鉴；容量和存储方案必须重新设计。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汉字写进文件以后是什么？</a:t>
            </a:r>
            <a:br/>
            <a:br/>
            <a:r>
              <a:t>[内部编号]</a:t>
            </a:r>
            <a:br/>
            <a:r>
              <a:t>Q6</a:t>
            </a:r>
            <a:br/>
            <a:br/>
            <a:r>
              <a:t>[教学意图]</a:t>
            </a:r>
            <a:br/>
            <a:r>
              <a:t>从设计问题进入文件证据，用 WinHex 或 Notebook 观察 GB2312 兼容样本。</a:t>
            </a:r>
            <a:br/>
            <a:br/>
            <a:r>
              <a:t>[教师逐字稿]</a:t>
            </a:r>
            <a:br/>
            <a:r>
              <a:t>前面我们一直在谈“应该怎么设计”。现在看证据。一个文件里同时有英文和汉字，它们到底留下了哪些 byte？请先预测：A 占几个 byte，“中”占几个 byte？</a:t>
            </a:r>
            <a:br/>
            <a:br/>
            <a:r>
              <a:t>[追问问题]</a:t>
            </a:r>
            <a:br/>
            <a:r>
              <a:t>英文和汉字的最高位有什么不同？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</a:p>
          <a:p>
            <a:r>
              <a:t>汉字写进文件以后是什么？</a:t>
            </a:r>
          </a:p>
          <a:p/>
          <a:p>
            <a:r>
              <a:t>[内部编号]</a:t>
            </a:r>
          </a:p>
          <a:p>
            <a:r>
              <a:t>Q6</a:t>
            </a:r>
          </a:p>
          <a:p/>
          <a:p>
            <a:r>
              <a:t>[教学意图]</a:t>
            </a:r>
          </a:p>
          <a:p>
            <a:r>
              <a:t>展示 GB2312 样本的十六进制 bytes。</a:t>
            </a:r>
          </a:p>
          <a:p/>
          <a:p>
            <a:r>
              <a:t>[教师逐字稿]</a:t>
            </a:r>
          </a:p>
          <a:p>
            <a:r>
              <a:t>这是样本文本 A中B国C文。在 GB2312 兼容文件中，A 是 41；“中”是 D6 D0。先只数位置：英文是一个 byte，样本里的汉字是两个 bytes。红框现在只圈住“中”的 D6 D0。这里只说这个 GB2312 样本的 byte 数；下一问再比较其他编码。</a:t>
            </a:r>
          </a:p>
          <a:p/>
          <a:p>
            <a:r>
              <a:t>[预期学生反应]</a:t>
            </a:r>
          </a:p>
          <a:p>
            <a:r>
              <a:t>学生应能数出英文 1 byte，汉字 2 bytes，并注意汉字两个 byte 的最高位都是 1。</a:t>
            </a:r>
          </a:p>
          <a:p/>
          <a:p>
            <a:r>
              <a:t>[Demo 操作]</a:t>
            </a:r>
          </a:p>
          <a:p>
            <a:r>
              <a:t>首选 WinHex；如果不稳定，切到 demo-lab-student.qmd → Q6–Q7。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什么是“机内码”？D6 D0 为什么能代表“中”？</a:t>
            </a:r>
            <a:br/>
            <a:br/>
            <a:r>
              <a:t>[内部编号]</a:t>
            </a:r>
            <a:br/>
            <a:r>
              <a:t>Q7</a:t>
            </a:r>
            <a:br/>
            <a:br/>
            <a:r>
              <a:t>[教学意图]</a:t>
            </a:r>
            <a:br/>
            <a:r>
              <a:t>将 WinHex 观察推进到国标码与传统机内码的区别。</a:t>
            </a:r>
            <a:br/>
            <a:br/>
            <a:r>
              <a:t>[教师逐字稿]</a:t>
            </a:r>
            <a:br/>
            <a:r>
              <a:t>现在我们看到 D6 D0，但 GB2312 字符表里常说的“中”的区位或国标码不是直接 D6 D0。它们之间是什么关系？请先猜：D6 D0 是否可以直接当成表里的原始编码？</a:t>
            </a:r>
            <a:br/>
            <a:br/>
            <a:r>
              <a:t>[追问问题]</a:t>
            </a:r>
            <a:br/>
            <a:r>
              <a:t>为什么每个 byte 加 0x80 之后最高位就变成 1？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</a:p>
          <a:p>
            <a:r>
              <a:t>什么是“机内码”？D6 D0 为什么能代表“中”？</a:t>
            </a:r>
          </a:p>
          <a:p/>
          <a:p>
            <a:r>
              <a:t>[内部编号]</a:t>
            </a:r>
          </a:p>
          <a:p>
            <a:r>
              <a:t>Q7</a:t>
            </a:r>
          </a:p>
          <a:p/>
          <a:p>
            <a:r>
              <a:t>[教学意图]</a:t>
            </a:r>
          </a:p>
          <a:p>
            <a:r>
              <a:t>明确“国标码 56 50 → 机内码 D6 D0”的课堂边界。</a:t>
            </a:r>
          </a:p>
          <a:p/>
          <a:p>
            <a:r>
              <a:t>[教师逐字稿]</a:t>
            </a:r>
          </a:p>
          <a:p>
            <a:r>
              <a:t>在传统 GB2312 教学模型里，“中”的国标码可以写成 56 50。文件中的机内码把两个 byte 各加 0x80，于是得到 D6 D0。这样做以后，汉字两个 byte 的最高位都变成 1，就能和 ASCII 单字节区分。</a:t>
            </a:r>
          </a:p>
          <a:p/>
          <a:p>
            <a:r>
              <a:t>[形成结论]</a:t>
            </a:r>
          </a:p>
          <a:p>
            <a:r>
              <a:t>GB2312 样本中：ASCII 0xxxxxxx；汉字 1xxxxxxx 1xxxxxxx。</a:t>
            </a:r>
          </a:p>
          <a:p/>
          <a:p>
            <a:r>
              <a:t>[技术注解]</a:t>
            </a:r>
          </a:p>
          <a:p>
            <a:r>
              <a:t>此处“机内码”只指 GB2312 双字节实现模型；现代软件内部表示可能是 UTF-8、UTF-16 等。</a:t>
            </a:r>
          </a:p>
          <a:p/>
          <a:p>
            <a:r>
              <a:t>[来源]</a:t>
            </a:r>
          </a:p>
          <a:p>
            <a:r>
              <a:t>Unicode Conference 技术教程第 7 页：“中”在 ISO-2022-CN 为 56 50，在 EUC-CN 为 D6 D0。https://www.unicode.org/iuc/iuc15/tb1/slides.pdf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汉字真的总是占 2 bytes 吗？</a:t>
            </a:r>
            <a:br/>
            <a:br/>
            <a:r>
              <a:t>[内部编号]</a:t>
            </a:r>
            <a:br/>
            <a:r>
              <a:t>Q8</a:t>
            </a:r>
            <a:br/>
            <a:br/>
            <a:r>
              <a:t>[教学意图]</a:t>
            </a:r>
            <a:br/>
            <a:r>
              <a:t>限制 Q6–Q7 的结论，防止把 GB2312 观察误认为汉字本身属性。</a:t>
            </a:r>
            <a:br/>
            <a:br/>
            <a:r>
              <a:t>[教师逐字稿]</a:t>
            </a:r>
            <a:br/>
            <a:r>
              <a:t>刚才我们在 GB2312 样本中看到一个汉字占两个 bytes。现在只改编码方案，不改这个“中”字。你预测它还会是两个 bytes 吗？</a:t>
            </a:r>
            <a:br/>
            <a:br/>
            <a:r>
              <a:t>[追问问题]</a:t>
            </a:r>
            <a:br/>
            <a:r>
              <a:t>如果字形没变，byte 数为什么会变？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汉字真的总是占 2 bytes 吗？</a:t>
            </a:r>
            <a:br/>
            <a:br/>
            <a:r>
              <a:t>[内部编号]</a:t>
            </a:r>
            <a:br/>
            <a:r>
              <a:t>Q8</a:t>
            </a:r>
            <a:br/>
            <a:br/>
            <a:r>
              <a:t>[教学意图]</a:t>
            </a:r>
            <a:br/>
            <a:r>
              <a:t>用同一个“中”的 GB2312 与 UTF-8 bytes 对比。</a:t>
            </a:r>
            <a:br/>
            <a:br/>
            <a:r>
              <a:t>[教师逐字稿]</a:t>
            </a:r>
            <a:br/>
            <a:r>
              <a:t>看同一个“中”。在 GB2312 中是 D6 D0，两个 bytes；在 UTF-8 中是 E4 B8 AD，三个 bytes。字符没有变，字形也没有变，变化的是把这个字符写成 bytes 的规则。</a:t>
            </a:r>
            <a:br/>
            <a:br/>
            <a:r>
              <a:t>[形成结论]</a:t>
            </a:r>
            <a:br/>
            <a:r>
              <a:t>字符占多少 bytes，取决于编码方案。</a:t>
            </a:r>
            <a:br/>
            <a:br/>
            <a:r>
              <a:t>[Demo 操作]</a:t>
            </a:r>
            <a:br/>
            <a:r>
              <a:t>可切到 demo-lab-student.qmd → Q8 运行比较。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英文字符和汉字，从键盘到屏幕有什么不同？</a:t>
            </a:r>
            <a:br/>
            <a:br/>
            <a:r>
              <a:t>[内部编号]</a:t>
            </a:r>
            <a:br/>
            <a:r>
              <a:t>Q9</a:t>
            </a:r>
            <a:br/>
            <a:br/>
            <a:r>
              <a:t>[教学意图]</a:t>
            </a:r>
            <a:br/>
            <a:r>
              <a:t>回到输入与显示路径，区分输入码、IME、字符与字形。</a:t>
            </a:r>
            <a:br/>
            <a:br/>
            <a:r>
              <a:t>[教师逐字稿]</a:t>
            </a:r>
            <a:br/>
            <a:r>
              <a:t>保存文件的路径我们看过了。现在回到键盘：按 A 和输入 ni 后选“你”，有什么不同？特别注意，ni 本身不是“你”的编码 bytes，它只是输入法用来帮助选字的输入码。</a:t>
            </a:r>
            <a:br/>
            <a:br/>
            <a:r>
              <a:t>[追问问题]</a:t>
            </a:r>
            <a:br/>
            <a:r>
              <a:t>输入 ni 之后，系统为什么还要让你选字？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英文字符和汉字，从键盘到屏幕有什么不同？</a:t>
            </a:r>
            <a:br/>
            <a:br/>
            <a:r>
              <a:t>[内部编号]</a:t>
            </a:r>
            <a:br/>
            <a:r>
              <a:t>Q9</a:t>
            </a:r>
            <a:br/>
            <a:br/>
            <a:r>
              <a:t>[教学意图]</a:t>
            </a:r>
            <a:br/>
            <a:r>
              <a:t>流程对比：中文输入多了“输入码 → IME → 选字”，显示阶段还需要字形。</a:t>
            </a:r>
            <a:br/>
            <a:br/>
            <a:r>
              <a:t>[教师逐字稿]</a:t>
            </a:r>
            <a:br/>
            <a:r>
              <a:t>英文 A 通常可以从按键直接确定字符；中文“你”常常先输入 ni，再由 IME 从候选中选出字符。字符确定以后，还没有结束：屏幕上看到的形状来自字体中的 glyph，最后才变成像素。</a:t>
            </a:r>
            <a:br/>
            <a:br/>
            <a:r>
              <a:t>[形成结论]</a:t>
            </a:r>
            <a:br/>
            <a:r>
              <a:t>输入码解决“怎样输入大量汉字”；字形码 / glyph 解决“怎样显示这个字符”。</a:t>
            </a:r>
            <a:br/>
            <a:br/>
            <a:r>
              <a:t>[技术注解]</a:t>
            </a:r>
            <a:br/>
            <a:r>
              <a:t>这里讨论字符输入层，不讨论键盘硬件扫描码。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</a:p>
          <a:p>
            <a:r>
              <a:t>中文编码标准为什么不断扩展？</a:t>
            </a:r>
          </a:p>
          <a:p/>
          <a:p>
            <a:r>
              <a:t>[内部编号]</a:t>
            </a:r>
          </a:p>
          <a:p>
            <a:r>
              <a:t>Q12</a:t>
            </a:r>
          </a:p>
          <a:p/>
          <a:p>
            <a:r>
              <a:t>[教学意图]</a:t>
            </a:r>
          </a:p>
          <a:p>
            <a:r>
              <a:t>展示 GB2312 → GBK → GB18030 的收字规模扩展趋势。</a:t>
            </a:r>
          </a:p>
          <a:p/>
          <a:p>
            <a:r>
              <a:t>[教师逐字稿]</a:t>
            </a:r>
          </a:p>
          <a:p>
            <a:r>
              <a:t>从 GB2312 的六千余常用汉字，到 GBK 的两万余，再到 GB18030 的七万、八万余，趋势很清楚：字符集不断扩大，是为了让更多真实姓名、地名和文献中的字能稳定输入、保存、交换和显示。</a:t>
            </a:r>
          </a:p>
          <a:p/>
          <a:p>
            <a:r>
              <a:t>[形成结论]</a:t>
            </a:r>
          </a:p>
          <a:p>
            <a:r>
              <a:t>字符集扩大，是中文编码标准演进的重要驱动力。</a:t>
            </a:r>
          </a:p>
          <a:p/>
          <a:p>
            <a:r>
              <a:t>[技术注解]</a:t>
            </a:r>
          </a:p>
          <a:p>
            <a:r>
              <a:t>GB18030-2022 原发布资料给出 87,887 个汉字；第1号修改单新增编码 9,793 个汉字。</a:t>
            </a:r>
          </a:p>
          <a:p/>
          <a:p>
            <a:r>
              <a:t>[来源]</a:t>
            </a:r>
          </a:p>
          <a:p>
            <a:r>
              <a:t>GB18030-2022 发布资料：https://www.sac.gov.cn/Standards/Release/art/2022/art_3555a3d3ce1c49dfb06a2c615a1d1190.html</a:t>
            </a:r>
          </a:p>
          <a:p>
            <a:r>
              <a:t>GB18030-2022 第1号修改单认证执行要求：https://www.cc.cesi.cn/news/show-4889.aspx</a:t>
            </a:r>
          </a:p>
          <a:p/>
          <a:p>
            <a:r>
              <a:t>[补充对照]</a:t>
            </a:r>
          </a:p>
          <a:p>
            <a:r>
              <a:t>GB18030 中“你”的 bytes 为 C4 E3。它属于 Q12 的中文编码标准对照；Q11 主表只比较三种 Unicode UTF 形式。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</a:p>
          <a:p>
            <a:r>
              <a:t>中文编码标准为什么不断扩展？</a:t>
            </a:r>
          </a:p>
          <a:p/>
          <a:p>
            <a:r>
              <a:t>[内部编号]</a:t>
            </a:r>
          </a:p>
          <a:p>
            <a:r>
              <a:t>Q12</a:t>
            </a:r>
          </a:p>
          <a:p/>
          <a:p>
            <a:r>
              <a:t>[教学意图]</a:t>
            </a:r>
          </a:p>
          <a:p>
            <a:r>
              <a:t>展示 GB2312 → GBK → GB18030 的收字规模扩展趋势。</a:t>
            </a:r>
          </a:p>
          <a:p/>
          <a:p>
            <a:r>
              <a:t>[教师逐字稿]</a:t>
            </a:r>
          </a:p>
          <a:p>
            <a:r>
              <a:t>从 GB2312 的六千余常用汉字，到 GBK 的两万余，再到 GB18030 的七万、八万余，趋势很清楚：字符集不断扩大，是为了让更多真实姓名、地名和文献中的字能稳定输入、保存、交换和显示。</a:t>
            </a:r>
          </a:p>
          <a:p/>
          <a:p>
            <a:r>
              <a:t>[形成结论]</a:t>
            </a:r>
          </a:p>
          <a:p>
            <a:r>
              <a:t>字符集扩大，是中文编码标准演进的重要驱动力。</a:t>
            </a:r>
          </a:p>
          <a:p/>
          <a:p>
            <a:r>
              <a:t>[技术注解]</a:t>
            </a:r>
          </a:p>
          <a:p>
            <a:r>
              <a:t>GB18030-2022 原发布资料给出 87,887 个汉字；第1号修改单新增编码 9,793 个汉字。</a:t>
            </a:r>
          </a:p>
          <a:p/>
          <a:p>
            <a:r>
              <a:t>[来源]</a:t>
            </a:r>
          </a:p>
          <a:p>
            <a:r>
              <a:t>GB18030-2022 发布资料：https://www.sac.gov.cn/Standards/Release/art/2022/art_3555a3d3ce1c49dfb06a2c615a1d1190.html</a:t>
            </a:r>
          </a:p>
          <a:p>
            <a:r>
              <a:t>GB18030-2022 第1号修改单认证执行要求：https://www.cc.cesi.cn/news/show-4889.aspx</a:t>
            </a:r>
          </a:p>
          <a:p/>
          <a:p>
            <a:r>
              <a:t>[补充对照]</a:t>
            </a:r>
          </a:p>
          <a:p>
            <a:r>
              <a:t>GB18030 中“你”的 bytes 为 C4 E3。它属于 Q12 的中文编码标准对照；Q11 主表只比较三种 Unicode UTF 形式。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逐字稿：</a:t>
            </a:r>
          </a:p>
          <a:p>
            <a:r>
              <a:t>当文本交换从英文扩展到全球文字时，各国语言如果继续各自维护一张彼此冲突的编码表，就会非常混乱。Unicode 的核心目标，就是尽量给全球字符建立统一编号体系。</a:t>
            </a:r>
          </a:p>
          <a:p/>
          <a:p>
            <a:r>
              <a:t>这里我们看到，不同语言里的字符都可以拥有自己的码位，比如 A 是 U+0041，中是 U+4E2D，笑脸表情也有自己的编号。</a:t>
            </a:r>
          </a:p>
          <a:p/>
          <a:p>
            <a:r>
              <a:t>但请大家千万不要把 Unicode 误解成某一种具体的字节格式。Unicode 首先解决的是“字符是谁、编号是什么”这个问题；至于这个编号怎样保存成字节，还要靠后面的 UTF。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逐字稿：</a:t>
            </a:r>
          </a:p>
          <a:p>
            <a:r>
              <a:t>当文本交换从英文扩展到全球文字时，各国语言如果继续各自维护一张彼此冲突的编码表，就会非常混乱。Unicode 的核心目标，就是尽量给全球字符建立统一编号体系。</a:t>
            </a:r>
          </a:p>
          <a:p/>
          <a:p>
            <a:r>
              <a:t>这里我们看到，不同语言里的字符都可以拥有自己的码位，比如 A 是 U+0041，中是 U+4E2D，笑脸表情也有自己的编号。</a:t>
            </a:r>
          </a:p>
          <a:p/>
          <a:p>
            <a:r>
              <a:t>但请大家千万不要把 Unicode 误解成某一种具体的字节格式。Unicode 首先解决的是“字符是谁、编号是什么”这个问题；至于这个编号怎样保存成字节，还要靠后面的 UTF。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逐字稿：</a:t>
            </a:r>
          </a:p>
          <a:p>
            <a:r>
              <a:t>这是第二个容易混淆的地方。很多同学会说：既然 Unicode 已经有统一编号了，问题不就解决了吗？</a:t>
            </a:r>
          </a:p>
          <a:p/>
          <a:p>
            <a:r>
              <a:t>还没有。因为文件和网络最终保存、传输的是字节，而不是“U+4E2D”这种抽象记号。于是我们还需要一层规则，规定这个编号怎样写成字节。这一层，就是 UTF-8、UTF-16、UTF-32。</a:t>
            </a:r>
          </a:p>
          <a:p/>
          <a:p>
            <a:r>
              <a:t>所以请把这句话记清楚：Unicode 管编号，UTF 管字节写法。同一个码位，可以被写成不同的字节序列。看见 U+ 开头的，先想到“码位”；看见 E4 B8 AD 这样的，先想到“编码后的字节”。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逐字稿：</a:t>
            </a:r>
          </a:p>
          <a:p>
            <a:r>
              <a:t>这是第二个容易混淆的地方。很多同学会说：既然 Unicode 已经有统一编号了，问题不就解决了吗？</a:t>
            </a:r>
          </a:p>
          <a:p/>
          <a:p>
            <a:r>
              <a:t>还没有。因为文件和网络最终保存、传输的是字节，而不是“U+4E2D”这种抽象记号。于是我们还需要一层规则，规定这个编号怎样写成字节。这一层，就是 UTF-8、UTF-16、UTF-32。</a:t>
            </a:r>
          </a:p>
          <a:p/>
          <a:p>
            <a:r>
              <a:t>所以请把这句话记清楚：Unicode 管编号，UTF 管字节写法。同一个码位，可以被写成不同的字节序列。看见 U+ 开头的，先想到“码位”；看见 E4 B8 AD 这样的，先想到“编码后的字节”。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逐字稿：</a:t>
            </a:r>
          </a:p>
          <a:p>
            <a:r>
              <a:t>我们用三个很有代表性的字符来比较：英文 A、一个常用汉字“语”、以及一个 Emoji。</a:t>
            </a:r>
          </a:p>
          <a:p/>
          <a:p>
            <a:r>
              <a:t>你会发现，UTF-8、UTF-16、UTF-32 的本质区别，不是“谁更现代”，而是：同一个字符编号，到底要用多少字节来表示。UTF-8 对 ASCII 字符非常节省，但汉字往往要 3 个字节；UTF-16 对很多常用文字更紧凑一些；UTF-32 最简单，统一 4 字节，但空间开销最大。</a:t>
            </a:r>
          </a:p>
          <a:p/>
          <a:p>
            <a:r>
              <a:t>所以这里没有绝对优劣，只有不同场景的权衡。下一页我们就把这种权衡说得更清楚。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逐字稿：</a:t>
            </a:r>
          </a:p>
          <a:p>
            <a:r>
              <a:t>现在请大家不要再问“哪个 UTF 最好”，而要问“在什么场景下更合适”。</a:t>
            </a:r>
          </a:p>
          <a:p/>
          <a:p>
            <a:r>
              <a:t>UTF-8 的优势是对英文和互联网环境非常友好，而且保持了 ASCII 的兼容性；UTF-16 和一些平台、历史实现关系更紧密；UTF-32 虽然占空间，但它定长、简单，在某些底层处理里也有自己的价值。</a:t>
            </a:r>
          </a:p>
          <a:p/>
          <a:p>
            <a:r>
              <a:t>所以真正的工程思维不是找一个“永远正确”的答案，而是看清楚：你要优化的是存储、传输、兼容性，还是实现复杂度。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同一批 bytes 为什么会变成乱码？</a:t>
            </a:r>
            <a:br/>
            <a:br/>
            <a:r>
              <a:t>[内部编号]</a:t>
            </a:r>
            <a:br/>
            <a:r>
              <a:t>Q13</a:t>
            </a:r>
            <a:br/>
            <a:br/>
            <a:r>
              <a:t>[教学意图]</a:t>
            </a:r>
            <a:br/>
            <a:r>
              <a:t>回到 Q0，定位 encode/decode 规则不一致导致的乱码。</a:t>
            </a:r>
            <a:br/>
            <a:br/>
            <a:r>
              <a:t>[教师逐字稿]</a:t>
            </a:r>
            <a:br/>
            <a:r>
              <a:t>现在回到开头。我们已经知道字符、码位、bytes 和显示是不同层。请预测：同一批 bytes，分别按 UTF-8 和 GBK 读取，会得到相同文字吗？</a:t>
            </a:r>
            <a:br/>
            <a:br/>
            <a:r>
              <a:t>[追问问题]</a:t>
            </a:r>
            <a:br/>
            <a:r>
              <a:t>如果 bytes 没变，错误可能发生在哪一步？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同一批 bytes 为什么会变成乱码？</a:t>
            </a:r>
            <a:br/>
            <a:br/>
            <a:r>
              <a:t>[内部编号]</a:t>
            </a:r>
            <a:br/>
            <a:r>
              <a:t>Q13</a:t>
            </a:r>
            <a:br/>
            <a:br/>
            <a:r>
              <a:t>[教学意图]</a:t>
            </a:r>
            <a:br/>
            <a:r>
              <a:t>展开 Q0 的乱码过程：UTF-8 bytes 被 GBK 错误 decode。</a:t>
            </a:r>
            <a:br/>
            <a:br/>
            <a:r>
              <a:t>[教师逐字稿]</a:t>
            </a:r>
            <a:br/>
            <a:r>
              <a:t>“你好”按 UTF-8 写成这批 bytes。若再按 UTF-8 读，还是“你好”；若按 GBK 读，就变成“浣犲ソ”。注意，bytes 并没有被破坏；问题在 decode 时使用了不匹配的规则。</a:t>
            </a:r>
            <a:br/>
            <a:br/>
            <a:r>
              <a:t>[形成结论]</a:t>
            </a:r>
            <a:br/>
            <a:r>
              <a:t>乱码不一定意味着 bytes 损坏；编码和解码规则不一致也会产生乱码。</a:t>
            </a:r>
            <a:br/>
            <a:br/>
            <a:r>
              <a:t>[Demo 操作]</a:t>
            </a:r>
            <a:br/>
            <a:r>
              <a:t>可切到 demo-lab-student.qmd → Q13 运行解码对比。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现在能重新解释整个过程吗？</a:t>
            </a:r>
          </a:p>
          <a:p>
            <a:r>
              <a:t>[内部编号] Q14 · 问题</a:t>
            </a:r>
          </a:p>
          <a:p>
            <a:r>
              <a:t>[教学意图] 让学生独立重建输入显示、保存读取两条路径，并在保存路径标出所选编码形式。</a:t>
            </a:r>
          </a:p>
          <a:p>
            <a:r>
              <a:t>[教师逐字稿] 最后请自己画两条路：一条是输入后显示，一条是保存后重新读取。把输入码、IME、字符、Unicode 码位、编码后的 bytes、字体映射放在合适的位置。保存那条路还要写清用的是哪种编码形式，比如 UTF-8、UTF-16 或 UTF-32；不要把 encode 和 decode 硬塞进键盘到屏幕的即时显示路径。</a:t>
            </a:r>
          </a:p>
          <a:p>
            <a:r>
              <a:t>[追问问题] Q0 的乱码在哪条路径？Q9 的输入码在哪条路径？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现在能重新解释整个过程吗？</a:t>
            </a:r>
          </a:p>
          <a:p>
            <a:r>
              <a:t>[内部编号] Q14 · 解释</a:t>
            </a:r>
          </a:p>
          <a:p>
            <a:r>
              <a:t>[教学意图] 统合字符身份、UTF 编码形式、bytes、输入码和字形呈现。</a:t>
            </a:r>
          </a:p>
          <a:p>
            <a:r>
              <a:t>[教师逐字稿] 上面这条路解释键盘输入后怎样显示：输入码和 IME 帮我们确定字符，Unicode 码位标识字符，字体把它画成 glyph。下面这条路解释保存和读取：从字符的码位出发，选 UTF-8、UTF-16、UTF-32 等编码形式写成 bytes；读取时用相应规则解码，再由字体绘出字形。Q0 的乱码是下面这条路在 decode 时用了不匹配的规则。</a:t>
            </a:r>
          </a:p>
          <a:p>
            <a:r>
              <a:t>[追问问题] 同一个 U+4F60 在三种 UTF 里保存的 bytes 一样吗？这会改变“你”的字符身份吗？</a:t>
            </a:r>
          </a:p>
          <a:p>
            <a:r>
              <a:t>[形成结论] 输入、字符身份、编码形式、字节表示、读取规则、字形呈现是不同环节。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用三句话解释字符编码</a:t>
            </a:r>
          </a:p>
          <a:p>
            <a:r>
              <a:t>[内部编号] Exit Ticket</a:t>
            </a:r>
          </a:p>
          <a:p>
            <a:r>
              <a:t>[教学意图] 检查学生能否区分映射规则、Unicode 码位、UTF 编码形式和错误解码。</a:t>
            </a:r>
          </a:p>
          <a:p>
            <a:r>
              <a:t>[教师逐字稿] 最后写三句话。第一句解释 bits 为什么不能自己决定文字意义。第二句说清 Unicode 码位是什么，UTF-8、UTF-16、UTF-32 又负责什么。第三句解释 bytes 没坏时为什么仍可能乱码。不要照抄屏幕上的词，试着讲给同桌听。</a:t>
            </a:r>
          </a:p>
          <a:p>
            <a:r>
              <a:t>[预期学生反应] 学生应能说出共同的字符身份、不同的 byte 表示，以及读取时需要匹配的规则。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oletRail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12191695" cy="0"/>
          </a:xfrm>
          <a:prstGeom prst="line">
            <a:avLst/>
          </a:prstGeom>
          <a:noFill/>
          <a:ln w="1016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101600">
            <a:solidFill>
              <a:srgbClr val="6251B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tif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tif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1097280" y="196596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6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字符</a:t>
            </a:r>
            <a:r>
              <a:rPr sz="6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编码</a:t>
            </a:r>
            <a:endParaRPr sz="60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097280" y="292608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37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从按下键盘，到屏幕出现汉字</a:t>
            </a:r>
            <a:endParaRPr sz="3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你遇见过乱码吗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？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为什么会出现乱码？</a:t>
            </a:r>
            <a:endParaRPr sz="3600"/>
          </a:p>
        </p:txBody>
      </p:sp>
      <p:pic>
        <p:nvPicPr>
          <p:cNvPr id="6" name="Picture 5" descr="ChatGPT Image Sep 27, 2026, 04_58_25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30" y="1486535"/>
            <a:ext cx="8531225" cy="480187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2"/>
          <a:srcRect l="21398" t="20741" r="21491" b="21222"/>
          <a:stretch>
            <a:fillRect/>
          </a:stretch>
        </p:blipFill>
        <p:spPr>
          <a:xfrm>
            <a:off x="11437620" y="6097270"/>
            <a:ext cx="499745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同一份文字，为什么会出现乱码？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74370" y="1737360"/>
            <a:ext cx="438912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正常显示</a:t>
            </a:r>
            <a:endParaRPr sz="24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5977890" y="1737360"/>
            <a:ext cx="438912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错误显示</a:t>
            </a:r>
            <a:endParaRPr sz="24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628650" y="2423160"/>
            <a:ext cx="448056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701802" y="2496312"/>
            <a:ext cx="4334256" cy="108813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42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你好</a:t>
            </a:r>
            <a:endParaRPr sz="4200"/>
          </a:p>
        </p:txBody>
      </p:sp>
      <p:sp>
        <p:nvSpPr>
          <p:cNvPr id="10" name="Shape 7"/>
          <p:cNvSpPr>
            <a:spLocks noGrp="1"/>
          </p:cNvSpPr>
          <p:nvPr/>
        </p:nvSpPr>
        <p:spPr>
          <a:xfrm>
            <a:off x="5932170" y="2423160"/>
            <a:ext cx="448056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6005322" y="2496312"/>
            <a:ext cx="4334256" cy="108813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42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浣犲ソ</a:t>
            </a:r>
            <a:endParaRPr sz="420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5063490" y="3035808"/>
            <a:ext cx="82296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玩个游戏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只用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3 bit，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发明一套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编码</a:t>
            </a:r>
            <a:endParaRPr lang="zh-CN" altLang="en-US"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5" name="Picture 4" descr="ChatGPT Image Sep 27, 2026, 04_57_45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485265"/>
            <a:ext cx="8283575" cy="46621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玩个游戏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：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只用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 3 bit，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发明一套编码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8330" y="1530985"/>
            <a:ext cx="9391015" cy="5029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字符集 = { A, E, H, L, O, R, S, T }</a:t>
            </a:r>
            <a:endParaRPr sz="28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640715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13867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</a:t>
            </a:r>
            <a:endParaRPr sz="24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640715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640715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000</a:t>
            </a:r>
            <a:endParaRPr sz="14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1902587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1975739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E</a:t>
            </a:r>
            <a:endParaRPr sz="24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1902587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1902587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001</a:t>
            </a:r>
            <a:endParaRPr sz="14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3164459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3237611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</a:t>
            </a:r>
            <a:endParaRPr sz="240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3164459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3164459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010</a:t>
            </a:r>
            <a:endParaRPr sz="140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4426331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4499483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L</a:t>
            </a:r>
            <a:endParaRPr sz="240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4426331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4426331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011</a:t>
            </a:r>
            <a:endParaRPr sz="140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5688203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4" name="Text 21"/>
          <p:cNvSpPr>
            <a:spLocks noGrp="1"/>
          </p:cNvSpPr>
          <p:nvPr/>
        </p:nvSpPr>
        <p:spPr>
          <a:xfrm>
            <a:off x="5761355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O</a:t>
            </a:r>
            <a:endParaRPr sz="24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5688203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5688203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100</a:t>
            </a:r>
            <a:endParaRPr sz="140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6950075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7023227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R</a:t>
            </a:r>
            <a:endParaRPr sz="240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6950075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6950075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101</a:t>
            </a:r>
            <a:endParaRPr sz="140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8211947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8285099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</a:t>
            </a:r>
            <a:endParaRPr sz="24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8211947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8211947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110</a:t>
            </a:r>
            <a:endParaRPr sz="140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9473819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36" name="Text 33"/>
          <p:cNvSpPr>
            <a:spLocks noGrp="1"/>
          </p:cNvSpPr>
          <p:nvPr/>
        </p:nvSpPr>
        <p:spPr>
          <a:xfrm>
            <a:off x="9546971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T</a:t>
            </a:r>
            <a:endParaRPr sz="2400"/>
          </a:p>
        </p:txBody>
      </p:sp>
      <p:sp>
        <p:nvSpPr>
          <p:cNvPr id="37" name="Shape 34"/>
          <p:cNvSpPr>
            <a:spLocks noGrp="1"/>
          </p:cNvSpPr>
          <p:nvPr/>
        </p:nvSpPr>
        <p:spPr>
          <a:xfrm>
            <a:off x="9473819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8" name="Text 35"/>
          <p:cNvSpPr>
            <a:spLocks noGrp="1"/>
          </p:cNvSpPr>
          <p:nvPr/>
        </p:nvSpPr>
        <p:spPr>
          <a:xfrm>
            <a:off x="9473819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111</a:t>
            </a:r>
            <a:endParaRPr sz="14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614045" y="4323715"/>
            <a:ext cx="10332720" cy="2082165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815340" y="4433570"/>
            <a:ext cx="9930130" cy="2082165"/>
          </a:xfrm>
          <a:prstGeom prst="rect">
            <a:avLst/>
          </a:prstGeom>
          <a:noFill/>
        </p:spPr>
        <p:txBody>
          <a:bodyPr wrap="square" lIns="635" tIns="635" rIns="635" bIns="635" anchor="t" anchorCtr="0">
            <a:normAutofit/>
          </a:bodyPr>
          <a:lstStyle/>
          <a:p>
            <a:pPr marL="0" indent="0">
              <a:buNone/>
            </a:pP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环节</a:t>
            </a:r>
            <a:r>
              <a:rPr 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1</a:t>
            </a:r>
            <a:r>
              <a:rPr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建立自己的秘密映射表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1）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拿出一张白纸</a:t>
            </a:r>
            <a:b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</a:b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2）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把 000 到 111 </a:t>
            </a:r>
            <a:r>
              <a:rPr lang="zh-CN" altLang="en-US" sz="29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打乱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后分给这些字母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，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并在纸上记录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3）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不要给别人看自己设计编码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表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玩个游戏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：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只用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 3 bit，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发明一套编码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8330" y="1530985"/>
            <a:ext cx="9391015" cy="5029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字符集 = { A, E, H, L, O, R, S, T }</a:t>
            </a:r>
            <a:endParaRPr sz="28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640715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13867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</a:t>
            </a:r>
            <a:endParaRPr sz="24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640715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640715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000</a:t>
            </a:r>
            <a:endParaRPr sz="14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1902587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1975739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E</a:t>
            </a:r>
            <a:endParaRPr sz="24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1902587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1902587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001</a:t>
            </a:r>
            <a:endParaRPr sz="14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3164459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3237611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</a:t>
            </a:r>
            <a:endParaRPr sz="240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3164459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3164459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010</a:t>
            </a:r>
            <a:endParaRPr sz="140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4426331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4499483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L</a:t>
            </a:r>
            <a:endParaRPr sz="240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4426331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4426331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011</a:t>
            </a:r>
            <a:endParaRPr sz="140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5688203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4" name="Text 21"/>
          <p:cNvSpPr>
            <a:spLocks noGrp="1"/>
          </p:cNvSpPr>
          <p:nvPr/>
        </p:nvSpPr>
        <p:spPr>
          <a:xfrm>
            <a:off x="5761355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O</a:t>
            </a:r>
            <a:endParaRPr sz="24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5688203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5688203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100</a:t>
            </a:r>
            <a:endParaRPr sz="140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6950075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7023227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R</a:t>
            </a:r>
            <a:endParaRPr sz="240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6950075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6950075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101</a:t>
            </a:r>
            <a:endParaRPr sz="140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8211947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8285099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</a:t>
            </a:r>
            <a:endParaRPr sz="24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8211947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8211947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110</a:t>
            </a:r>
            <a:endParaRPr sz="140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9473819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36" name="Text 33"/>
          <p:cNvSpPr>
            <a:spLocks noGrp="1"/>
          </p:cNvSpPr>
          <p:nvPr/>
        </p:nvSpPr>
        <p:spPr>
          <a:xfrm>
            <a:off x="9546971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T</a:t>
            </a:r>
            <a:endParaRPr sz="2400"/>
          </a:p>
        </p:txBody>
      </p:sp>
      <p:sp>
        <p:nvSpPr>
          <p:cNvPr id="37" name="Shape 34"/>
          <p:cNvSpPr>
            <a:spLocks noGrp="1"/>
          </p:cNvSpPr>
          <p:nvPr/>
        </p:nvSpPr>
        <p:spPr>
          <a:xfrm>
            <a:off x="9473819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8" name="Text 35"/>
          <p:cNvSpPr>
            <a:spLocks noGrp="1"/>
          </p:cNvSpPr>
          <p:nvPr/>
        </p:nvSpPr>
        <p:spPr>
          <a:xfrm>
            <a:off x="9473819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111</a:t>
            </a:r>
            <a:endParaRPr sz="14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614045" y="4323715"/>
            <a:ext cx="10805795" cy="2082165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815340" y="4433570"/>
            <a:ext cx="10346055" cy="2082165"/>
          </a:xfrm>
          <a:prstGeom prst="rect">
            <a:avLst/>
          </a:prstGeom>
          <a:noFill/>
        </p:spPr>
        <p:txBody>
          <a:bodyPr wrap="square" lIns="635" tIns="635" rIns="635" bIns="635" anchor="t" anchorCtr="0">
            <a:normAutofit lnSpcReduction="20000"/>
          </a:bodyPr>
          <a:lstStyle/>
          <a:p>
            <a:pPr marL="0" indent="0">
              <a:buNone/>
            </a:pP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环节</a:t>
            </a:r>
            <a:r>
              <a:rPr 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2</a:t>
            </a:r>
            <a:r>
              <a:rPr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1）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拿出另一张白纸</a:t>
            </a:r>
            <a:b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</a:b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2）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用自己设计的编码表编码 </a:t>
            </a:r>
            <a:r>
              <a:rPr lang="en-US" altLang="zh-CN" sz="29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HELLO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, 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记录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bit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串在另一张白纸上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3）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将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bit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串给你旁边的同学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，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看看对方能解读出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什么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注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只给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bit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串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，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不给对方你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的编码表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玩个游戏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：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只用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 3 bit，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发明一套编码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8330" y="1530985"/>
            <a:ext cx="9391015" cy="5029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字符集 = { A, E, H, L, O, R, S, T }</a:t>
            </a:r>
            <a:endParaRPr sz="28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640715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13867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</a:t>
            </a:r>
            <a:endParaRPr sz="24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640715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640715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000</a:t>
            </a:r>
            <a:endParaRPr sz="14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1902587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1975739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E</a:t>
            </a:r>
            <a:endParaRPr sz="24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1902587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1902587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001</a:t>
            </a:r>
            <a:endParaRPr sz="14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3164459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3237611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</a:t>
            </a:r>
            <a:endParaRPr sz="240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3164459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3164459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010</a:t>
            </a:r>
            <a:endParaRPr sz="140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4426331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4499483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L</a:t>
            </a:r>
            <a:endParaRPr sz="240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4426331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4426331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011</a:t>
            </a:r>
            <a:endParaRPr sz="140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5688203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4" name="Text 21"/>
          <p:cNvSpPr>
            <a:spLocks noGrp="1"/>
          </p:cNvSpPr>
          <p:nvPr/>
        </p:nvSpPr>
        <p:spPr>
          <a:xfrm>
            <a:off x="5761355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O</a:t>
            </a:r>
            <a:endParaRPr sz="24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5688203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5688203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100</a:t>
            </a:r>
            <a:endParaRPr sz="140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6950075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7023227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R</a:t>
            </a:r>
            <a:endParaRPr sz="240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6950075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6950075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101</a:t>
            </a:r>
            <a:endParaRPr sz="140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8211947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8285099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</a:t>
            </a:r>
            <a:endParaRPr sz="24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8211947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8211947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110</a:t>
            </a:r>
            <a:endParaRPr sz="140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9473819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36" name="Text 33"/>
          <p:cNvSpPr>
            <a:spLocks noGrp="1"/>
          </p:cNvSpPr>
          <p:nvPr/>
        </p:nvSpPr>
        <p:spPr>
          <a:xfrm>
            <a:off x="9546971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T</a:t>
            </a:r>
            <a:endParaRPr sz="2400"/>
          </a:p>
        </p:txBody>
      </p:sp>
      <p:sp>
        <p:nvSpPr>
          <p:cNvPr id="37" name="Shape 34"/>
          <p:cNvSpPr>
            <a:spLocks noGrp="1"/>
          </p:cNvSpPr>
          <p:nvPr/>
        </p:nvSpPr>
        <p:spPr>
          <a:xfrm>
            <a:off x="9473819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8" name="Text 35"/>
          <p:cNvSpPr>
            <a:spLocks noGrp="1"/>
          </p:cNvSpPr>
          <p:nvPr/>
        </p:nvSpPr>
        <p:spPr>
          <a:xfrm>
            <a:off x="9473819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111</a:t>
            </a:r>
            <a:endParaRPr sz="14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614045" y="4323715"/>
            <a:ext cx="10805795" cy="2082165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815340" y="4433570"/>
            <a:ext cx="10346055" cy="2082165"/>
          </a:xfrm>
          <a:prstGeom prst="rect">
            <a:avLst/>
          </a:prstGeom>
          <a:noFill/>
        </p:spPr>
        <p:txBody>
          <a:bodyPr wrap="square" lIns="635" tIns="635" rIns="635" bIns="635" anchor="t" anchorCtr="0">
            <a:normAutofit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环节</a:t>
            </a:r>
            <a:r>
              <a:rPr 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3</a:t>
            </a:r>
            <a:r>
              <a:rPr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1）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彼此交换编码表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2）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结合编码表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，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再次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解读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bit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串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5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altLang="en-US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思考</a:t>
            </a:r>
            <a:r>
              <a:rPr lang="en-US" altLang="zh-CN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r>
              <a:rPr lang="zh-CN" altLang="en-US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从刚才的游戏中</a:t>
            </a:r>
            <a:r>
              <a:rPr lang="en-US" altLang="zh-CN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，</a:t>
            </a:r>
            <a:r>
              <a:rPr lang="zh-CN" altLang="en-US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我们学到了什么</a:t>
            </a:r>
            <a:r>
              <a:rPr lang="en-US" altLang="zh-CN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？</a:t>
            </a:r>
            <a:endParaRPr lang="en-US" altLang="zh-CN" sz="3600" b="1">
              <a:solidFill>
                <a:srgbClr val="7030A0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altLang="en-US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思考</a:t>
            </a:r>
            <a:r>
              <a:rPr lang="en-US" altLang="zh-CN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r>
              <a:rPr lang="zh-CN" altLang="en-US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从刚才的游戏中</a:t>
            </a:r>
            <a:r>
              <a:rPr lang="en-US" altLang="zh-CN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，</a:t>
            </a:r>
            <a:r>
              <a:rPr lang="zh-CN" altLang="en-US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我们学到了什么</a:t>
            </a:r>
            <a:r>
              <a:rPr lang="en-US" altLang="zh-CN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？</a:t>
            </a:r>
            <a:endParaRPr lang="en-US" altLang="zh-CN" sz="3600" b="1">
              <a:solidFill>
                <a:srgbClr val="7030A0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1097280" y="1828800"/>
            <a:ext cx="2834640" cy="54864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同一串 bits</a:t>
            </a:r>
            <a:endParaRPr sz="28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914400" y="2560320"/>
            <a:ext cx="3108960" cy="777240"/>
          </a:xfrm>
          <a:prstGeom prst="rect">
            <a:avLst/>
          </a:prstGeom>
          <a:solidFill>
            <a:srgbClr val="F7F7F7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1060704" y="2688336"/>
            <a:ext cx="2816352" cy="5212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0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010 001 011 011 100</a:t>
            </a:r>
            <a:endParaRPr sz="20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4297680" y="2944368"/>
            <a:ext cx="1051560" cy="0"/>
          </a:xfrm>
          <a:prstGeom prst="line">
            <a:avLst/>
          </a:prstGeom>
          <a:noFill/>
          <a:ln w="2921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5486400" y="2148840"/>
            <a:ext cx="4396105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5559425" y="2221865"/>
            <a:ext cx="4193540" cy="90551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自己的表</a:t>
            </a:r>
            <a:r>
              <a:rPr lang="en-US"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</a:t>
            </a: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→ 可能读错</a:t>
            </a:r>
            <a:endParaRPr sz="240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5486400" y="3524885"/>
            <a:ext cx="4396105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5559425" y="3597910"/>
            <a:ext cx="4193540" cy="90551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发送者的表</a:t>
            </a:r>
            <a:r>
              <a:rPr lang="en-US"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</a:t>
            </a: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→ 恢复 HELLO</a:t>
            </a:r>
            <a:endParaRPr sz="2400"/>
          </a:p>
        </p:txBody>
      </p:sp>
      <p:sp>
        <p:nvSpPr>
          <p:cNvPr id="14" name="Shape 11"/>
          <p:cNvSpPr>
            <a:spLocks noGrp="1"/>
          </p:cNvSpPr>
          <p:nvPr/>
        </p:nvSpPr>
        <p:spPr>
          <a:xfrm>
            <a:off x="608965" y="4864608"/>
            <a:ext cx="10332720" cy="822960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810133" y="4974336"/>
            <a:ext cx="9930384" cy="60350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bits 本身没有文字意义；共享</a:t>
            </a:r>
            <a:r>
              <a:rPr lang="zh-CN" sz="30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编码</a:t>
            </a:r>
            <a:r>
              <a:rPr sz="30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规则后才有确定解释。</a:t>
            </a:r>
            <a:endParaRPr sz="3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6" name="Text 3"/>
          <p:cNvSpPr>
            <a:spLocks noGrp="1"/>
          </p:cNvSpPr>
          <p:nvPr/>
        </p:nvSpPr>
        <p:spPr>
          <a:xfrm>
            <a:off x="1097280" y="1828800"/>
            <a:ext cx="2834640" cy="54864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同一串 bits</a:t>
            </a:r>
            <a:endParaRPr sz="28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914400" y="2560320"/>
            <a:ext cx="3108960" cy="777240"/>
          </a:xfrm>
          <a:prstGeom prst="rect">
            <a:avLst/>
          </a:prstGeom>
          <a:solidFill>
            <a:srgbClr val="F7F7F7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1060704" y="2688336"/>
            <a:ext cx="2816352" cy="5212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0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010 001 011 011 100</a:t>
            </a:r>
            <a:endParaRPr sz="20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4297680" y="2944368"/>
            <a:ext cx="1051560" cy="0"/>
          </a:xfrm>
          <a:prstGeom prst="line">
            <a:avLst/>
          </a:prstGeom>
          <a:noFill/>
          <a:ln w="2921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5486400" y="2148840"/>
            <a:ext cx="4396105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5559425" y="2221865"/>
            <a:ext cx="4193540" cy="90551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自己的表</a:t>
            </a:r>
            <a:r>
              <a:rPr lang="en-US"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</a:t>
            </a: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→ 可能读错</a:t>
            </a:r>
            <a:endParaRPr sz="240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5486400" y="3524885"/>
            <a:ext cx="4396105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5559425" y="3597910"/>
            <a:ext cx="4193540" cy="90551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发送者的表</a:t>
            </a:r>
            <a:r>
              <a:rPr lang="en-US"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</a:t>
            </a: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→ 恢复 HELLO</a:t>
            </a:r>
            <a:endParaRPr sz="2400"/>
          </a:p>
        </p:txBody>
      </p:sp>
      <p:sp>
        <p:nvSpPr>
          <p:cNvPr id="14" name="Shape 11"/>
          <p:cNvSpPr>
            <a:spLocks noGrp="1"/>
          </p:cNvSpPr>
          <p:nvPr/>
        </p:nvSpPr>
        <p:spPr>
          <a:xfrm>
            <a:off x="608965" y="4864608"/>
            <a:ext cx="10332720" cy="822960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810133" y="4974336"/>
            <a:ext cx="9930384" cy="60350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bits 本身没有文字意义；共享</a:t>
            </a:r>
            <a:r>
              <a:rPr lang="zh-CN" sz="30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编码</a:t>
            </a:r>
            <a:r>
              <a:rPr sz="30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规则后才有确定解释。</a:t>
            </a:r>
            <a:endParaRPr sz="30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608076" y="578713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altLang="en-US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结论</a:t>
            </a:r>
            <a:r>
              <a:rPr lang="en-US" altLang="zh-CN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r>
              <a:rPr lang="zh-CN" altLang="en-US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文本交换需要共享</a:t>
            </a:r>
            <a:r>
              <a:rPr lang="zh-CN" altLang="en-US" sz="3600" b="1" u="sng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字符—编码映射</a:t>
            </a:r>
            <a:r>
              <a:rPr lang="en-US" altLang="zh-CN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。</a:t>
            </a:r>
            <a:endParaRPr lang="en-US" altLang="zh-CN" sz="3600" b="1">
              <a:solidFill>
                <a:srgbClr val="FF0000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altLang="en-US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思考</a:t>
            </a:r>
            <a:r>
              <a:rPr lang="en-US" altLang="zh-CN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r>
              <a:rPr lang="zh-CN" altLang="en-US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从刚才的游戏中</a:t>
            </a:r>
            <a:r>
              <a:rPr lang="en-US" altLang="zh-CN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，</a:t>
            </a:r>
            <a:r>
              <a:rPr lang="zh-CN" altLang="en-US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我们学到了什么</a:t>
            </a:r>
            <a:r>
              <a:rPr lang="en-US" altLang="zh-CN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？</a:t>
            </a:r>
            <a:endParaRPr lang="en-US" altLang="zh-CN" sz="3600" b="1">
              <a:solidFill>
                <a:srgbClr val="7030A0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24205" y="2240280"/>
            <a:ext cx="6142355" cy="194437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56920" y="2368550"/>
            <a:ext cx="5862955" cy="1603375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HELLO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STAR  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endParaRPr sz="23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如果要同时编码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HELLO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和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START，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但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只有 8 个位置，哪些字符能进入字符集？</a:t>
            </a:r>
            <a:endParaRPr sz="3600"/>
          </a:p>
        </p:txBody>
      </p:sp>
      <p:sp>
        <p:nvSpPr>
          <p:cNvPr id="9" name="Text 3"/>
          <p:cNvSpPr>
            <a:spLocks noGrp="1"/>
          </p:cNvSpPr>
          <p:nvPr/>
        </p:nvSpPr>
        <p:spPr>
          <a:xfrm>
            <a:off x="608330" y="1651000"/>
            <a:ext cx="1054735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候选</a:t>
            </a:r>
            <a:r>
              <a:rPr lang="zh-CN"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</a:t>
            </a: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：A  C  D  E  H  L  O  R  S  T  X  Y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如果要同时编码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HELLO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和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START，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但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只有 8 个位置，哪些字符能进入字符集？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8330" y="1651000"/>
            <a:ext cx="1054735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候选</a:t>
            </a:r>
            <a:r>
              <a:rPr lang="zh-CN"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</a:t>
            </a: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：A  C  D  E  H  L  O  R  S  T  X  Y</a:t>
            </a:r>
            <a:endParaRPr sz="24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624205" y="2240280"/>
            <a:ext cx="6142355" cy="194437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56920" y="2368550"/>
            <a:ext cx="5862955" cy="1603375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HELLO → { H, E, L, O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STAR  → { S, T, A, R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合并  → { A, E, H, L, O, R, S, T }</a:t>
            </a:r>
            <a:endParaRPr sz="2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如果要同时编码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HELLO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和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START，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但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只有 8 个位置，哪些字符能进入字符集？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8330" y="1651000"/>
            <a:ext cx="1054735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候选</a:t>
            </a:r>
            <a:r>
              <a:rPr lang="zh-CN"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</a:t>
            </a: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：A  C  D  E  H  L  O  R  S  T  X  Y</a:t>
            </a:r>
            <a:endParaRPr sz="24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624205" y="2240280"/>
            <a:ext cx="6142355" cy="194437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56920" y="2368550"/>
            <a:ext cx="5862955" cy="1603375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HELLO → { H, E, L, O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STAR  → { S, T, A, R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合并  → { A, E, H, L, O, R, S, T }</a:t>
            </a:r>
            <a:endParaRPr sz="23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635240" y="2618740"/>
            <a:ext cx="2286000" cy="5029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36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CODE</a:t>
            </a:r>
            <a:endParaRPr sz="36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804418" y="4895850"/>
            <a:ext cx="9930384" cy="53035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先确定字符集，再为字符建立唯一的编码映射。</a:t>
            </a:r>
            <a:endParaRPr sz="3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如果要同时编码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HELLO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和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START，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但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只有 8 个位置，哪些字符能进入字符集？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8330" y="1651000"/>
            <a:ext cx="1054735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候选</a:t>
            </a:r>
            <a:r>
              <a:rPr lang="zh-CN"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</a:t>
            </a: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：A  C  D  E  H  L  O  R  S  T  X  Y</a:t>
            </a:r>
            <a:endParaRPr sz="24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624205" y="2240280"/>
            <a:ext cx="6142355" cy="194437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56920" y="2368550"/>
            <a:ext cx="5862955" cy="1603375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HELLO → { H, E, L, O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STAR  → { S, T, A, R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合并  → { A, E, H, L, O, R, S, T }</a:t>
            </a:r>
            <a:endParaRPr sz="23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635240" y="2618740"/>
            <a:ext cx="2286000" cy="5029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36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CODE</a:t>
            </a:r>
            <a:endParaRPr sz="3600"/>
          </a:p>
        </p:txBody>
      </p:sp>
      <p:sp>
        <p:nvSpPr>
          <p:cNvPr id="10" name="Shape 7"/>
          <p:cNvSpPr>
            <a:spLocks noGrp="1"/>
          </p:cNvSpPr>
          <p:nvPr/>
        </p:nvSpPr>
        <p:spPr>
          <a:xfrm>
            <a:off x="8136255" y="2435860"/>
            <a:ext cx="32766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8814435" y="2435860"/>
            <a:ext cx="327025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6949440" y="3441700"/>
            <a:ext cx="365760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C、D 不在字符集中</a:t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如果要同时编码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HELLO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和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START，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但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只有 8 个位置，哪些字符能进入字符集？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8330" y="1651000"/>
            <a:ext cx="1054735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候选</a:t>
            </a:r>
            <a:r>
              <a:rPr lang="zh-CN"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</a:t>
            </a: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：A  C  D  E  H  L  O  R  S  T  X  Y</a:t>
            </a:r>
            <a:endParaRPr sz="24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624205" y="2240280"/>
            <a:ext cx="6142355" cy="194437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56920" y="2368550"/>
            <a:ext cx="5862955" cy="1603375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HELLO → { H, E, L, O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STAR  → { S, T, A, R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合并  → { A, E, H, L, O, R, S, T }</a:t>
            </a:r>
            <a:endParaRPr sz="23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635240" y="2618740"/>
            <a:ext cx="2286000" cy="5029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36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CODE</a:t>
            </a:r>
            <a:endParaRPr sz="3600"/>
          </a:p>
        </p:txBody>
      </p:sp>
      <p:sp>
        <p:nvSpPr>
          <p:cNvPr id="10" name="Shape 7"/>
          <p:cNvSpPr>
            <a:spLocks noGrp="1"/>
          </p:cNvSpPr>
          <p:nvPr/>
        </p:nvSpPr>
        <p:spPr>
          <a:xfrm>
            <a:off x="8136255" y="2435860"/>
            <a:ext cx="32766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8814435" y="2435860"/>
            <a:ext cx="327025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6949440" y="3441700"/>
            <a:ext cx="365760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C、D 不在字符集中</a:t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如果要同时编码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HELLO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和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START，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但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只有 8 个位置，哪些字符能进入字符集？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8330" y="1651000"/>
            <a:ext cx="1054735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候选</a:t>
            </a:r>
            <a:r>
              <a:rPr lang="zh-CN"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</a:t>
            </a: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：A  C  D  E  H  L  O  R  S  T  X  Y</a:t>
            </a:r>
            <a:endParaRPr sz="24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624205" y="2240280"/>
            <a:ext cx="6142355" cy="194437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56920" y="2368550"/>
            <a:ext cx="5862955" cy="1603375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HELLO → { H, E, L, O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STAR  → { S, T, A, R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合并  → { A, E, H, L, O, R, S, T }</a:t>
            </a:r>
            <a:endParaRPr sz="23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635240" y="2618740"/>
            <a:ext cx="2286000" cy="5029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fontScale="80000"/>
          </a:bodyPr>
          <a:lstStyle/>
          <a:p>
            <a:pPr marL="0" indent="0" algn="ctr">
              <a:buNone/>
            </a:pPr>
            <a:r>
              <a:rPr sz="36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CODE</a:t>
            </a:r>
            <a:endParaRPr sz="3600"/>
          </a:p>
        </p:txBody>
      </p:sp>
      <p:sp>
        <p:nvSpPr>
          <p:cNvPr id="10" name="Shape 7"/>
          <p:cNvSpPr>
            <a:spLocks noGrp="1"/>
          </p:cNvSpPr>
          <p:nvPr/>
        </p:nvSpPr>
        <p:spPr>
          <a:xfrm>
            <a:off x="8136255" y="2435860"/>
            <a:ext cx="32766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8814435" y="2435860"/>
            <a:ext cx="327025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6949440" y="3441700"/>
            <a:ext cx="365760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C、D 不在字符集中</a:t>
            </a:r>
            <a:endParaRPr sz="24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623951" y="44688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想一想</a:t>
            </a:r>
            <a:r>
              <a:rPr lang="en-US" altLang="zh-CN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r>
              <a:rPr lang="zh-CN" altLang="en-US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这对设计一套字符编码有什么启示</a:t>
            </a:r>
            <a:r>
              <a:rPr lang="en-US" altLang="zh-CN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？</a:t>
            </a:r>
            <a:endParaRPr lang="en-US" altLang="zh-CN" sz="3600" b="1">
              <a:solidFill>
                <a:srgbClr val="7030A0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如果要同时编码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HELLO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和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START，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但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只有 8 个位置，哪些字符能进入字符集？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8330" y="1651000"/>
            <a:ext cx="1054735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候选</a:t>
            </a:r>
            <a:r>
              <a:rPr lang="zh-CN"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</a:t>
            </a: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：A  C  D  E  H  L  O  R  S  T  X  Y</a:t>
            </a:r>
            <a:endParaRPr sz="24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624205" y="2240280"/>
            <a:ext cx="6142355" cy="194437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56920" y="2368550"/>
            <a:ext cx="5862955" cy="1603375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HELLO → { H, E, L, O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STAR  → { S, T, A, R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合并  → { A, E, H, L, O, R, S, T }</a:t>
            </a:r>
            <a:endParaRPr sz="23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635240" y="2618740"/>
            <a:ext cx="2286000" cy="5029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fontScale="80000"/>
          </a:bodyPr>
          <a:lstStyle/>
          <a:p>
            <a:pPr marL="0" indent="0" algn="ctr">
              <a:buNone/>
            </a:pPr>
            <a:r>
              <a:rPr sz="36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CODE</a:t>
            </a:r>
            <a:endParaRPr sz="3600"/>
          </a:p>
        </p:txBody>
      </p:sp>
      <p:sp>
        <p:nvSpPr>
          <p:cNvPr id="10" name="Shape 7"/>
          <p:cNvSpPr>
            <a:spLocks noGrp="1"/>
          </p:cNvSpPr>
          <p:nvPr/>
        </p:nvSpPr>
        <p:spPr>
          <a:xfrm>
            <a:off x="8136255" y="2435860"/>
            <a:ext cx="32766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8814435" y="2435860"/>
            <a:ext cx="327025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6949440" y="3441700"/>
            <a:ext cx="365760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C、D 不在字符集中</a:t>
            </a:r>
            <a:endParaRPr sz="24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623951" y="4393311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想一想</a:t>
            </a:r>
            <a:r>
              <a:rPr lang="en-US" altLang="zh-CN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r>
              <a:rPr lang="zh-CN" altLang="en-US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这对设计一套字符编码有什么启示</a:t>
            </a:r>
            <a:r>
              <a:rPr lang="en-US" altLang="zh-CN" sz="3600" b="1">
                <a:solidFill>
                  <a:srgbClr val="7030A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？</a:t>
            </a:r>
            <a:endParaRPr lang="en-US" altLang="zh-CN" sz="3600" b="1">
              <a:solidFill>
                <a:srgbClr val="7030A0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" name="Text 2"/>
          <p:cNvSpPr>
            <a:spLocks noGrp="1"/>
          </p:cNvSpPr>
          <p:nvPr/>
        </p:nvSpPr>
        <p:spPr>
          <a:xfrm>
            <a:off x="623951" y="555599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zh-CN" altLang="en-US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结论</a:t>
            </a:r>
            <a:r>
              <a:rPr lang="en-US" altLang="zh-CN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r>
              <a:rPr lang="zh-CN" altLang="en-US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设计字符编码</a:t>
            </a:r>
            <a:r>
              <a:rPr lang="en-US" altLang="zh-CN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，</a:t>
            </a:r>
            <a:r>
              <a:rPr lang="zh-CN" altLang="en-US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要先确定</a:t>
            </a:r>
            <a:r>
              <a:rPr lang="zh-CN" altLang="en-US" sz="3600" b="1" u="sng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字符集</a:t>
            </a:r>
            <a:r>
              <a:rPr lang="en-US" altLang="zh-CN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，</a:t>
            </a:r>
            <a:r>
              <a:rPr lang="zh-CN" altLang="en-US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再为字符建立</a:t>
            </a:r>
            <a:r>
              <a:rPr lang="zh-CN" altLang="en-US" sz="3600" b="1" u="sng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唯一编码映射</a:t>
            </a:r>
            <a:r>
              <a:rPr lang="en-US" altLang="zh-CN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，</a:t>
            </a:r>
            <a:r>
              <a:rPr lang="zh-CN" altLang="en-US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并且文本交换时需要共享</a:t>
            </a:r>
            <a:r>
              <a:rPr lang="zh-CN" altLang="en-US" sz="3600" b="1" u="sng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字符集</a:t>
            </a:r>
            <a:r>
              <a:rPr lang="zh-CN" altLang="en-US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和</a:t>
            </a:r>
            <a:r>
              <a:rPr lang="zh-CN" altLang="en-US" sz="3600" b="1" u="sng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字符—编码映射</a:t>
            </a:r>
            <a:r>
              <a:rPr lang="en-US" altLang="zh-CN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。</a:t>
            </a:r>
            <a:endParaRPr lang="en-US" altLang="zh-CN" sz="3600" b="1">
              <a:solidFill>
                <a:srgbClr val="FF0000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394335" y="608330"/>
            <a:ext cx="11822430" cy="3726815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lnSpcReduction="10000"/>
          </a:bodyPr>
          <a:lstStyle/>
          <a:p>
            <a:pPr marL="0" indent="0">
              <a:buNone/>
            </a:pP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现实世界谁来制定这张大家都能查的表？</a:t>
            </a:r>
            <a:endParaRPr lang="zh-CN" altLang="en-US"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endParaRPr lang="en-US" altLang="zh-CN" sz="3600" b="1">
              <a:solidFill>
                <a:srgbClr val="FF0000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394335" y="608330"/>
            <a:ext cx="11822430" cy="3726815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lnSpcReduction="10000"/>
          </a:bodyPr>
          <a:lstStyle/>
          <a:p>
            <a:pPr marL="0" indent="0">
              <a:buNone/>
            </a:pP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现实世界谁来制定这张大家都能查的表？</a:t>
            </a:r>
            <a:endParaRPr lang="zh-CN" altLang="en-US"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endParaRPr lang="zh-CN" altLang="en-US"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我们先来看看</a:t>
            </a:r>
            <a:r>
              <a:rPr lang="zh-CN" altLang="en-US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英文世界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的编码表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。</a:t>
            </a:r>
            <a:endParaRPr lang="en-US" altLang="zh-CN"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endParaRPr lang="en-US" altLang="zh-CN"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美国信息技术交换标准码</a:t>
            </a:r>
            <a:r>
              <a:rPr lang="en-US" altLang="zh-CN" sz="3600" b="1" baseline="30000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p20</a:t>
            </a:r>
            <a:endParaRPr lang="zh-CN" altLang="en-US"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r>
              <a:rPr lang="en-US" altLang="zh-CN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merican </a:t>
            </a:r>
            <a:r>
              <a:rPr lang="en-US" altLang="zh-CN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tandard </a:t>
            </a:r>
            <a:r>
              <a:rPr lang="en-US" altLang="zh-CN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C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ode for </a:t>
            </a:r>
            <a:r>
              <a:rPr lang="en-US" altLang="zh-CN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I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nformation </a:t>
            </a:r>
            <a:r>
              <a:rPr lang="en-US" altLang="zh-CN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I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nterchange</a:t>
            </a:r>
            <a:endParaRPr lang="en-US" altLang="zh-CN"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r>
              <a:rPr lang="en-US" altLang="zh-CN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</a:t>
            </a:r>
            <a:endParaRPr lang="en-US" altLang="zh-CN" sz="3600" b="1">
              <a:solidFill>
                <a:srgbClr val="FF0000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活动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请你读一读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表？</a:t>
            </a:r>
            <a:endParaRPr sz="3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685" y="0"/>
            <a:ext cx="5014595" cy="68580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7188200" y="6494145"/>
            <a:ext cx="45485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/>
              <a:t>source: </a:t>
            </a:r>
            <a:r>
              <a:rPr lang="en-US" altLang="en-US" sz="1400"/>
              <a:t>https://www.rfc-editor.org/info/rfc20/</a:t>
            </a:r>
            <a:endParaRPr lang="en-US" altLang="en-US" sz="1400"/>
          </a:p>
        </p:txBody>
      </p:sp>
      <p:sp>
        <p:nvSpPr>
          <p:cNvPr id="5" name="ASCII task"/>
          <p:cNvSpPr>
            <a:spLocks noGrp="1"/>
          </p:cNvSpPr>
          <p:nvPr/>
        </p:nvSpPr>
        <p:spPr>
          <a:xfrm>
            <a:off x="6043295" y="1114425"/>
            <a:ext cx="501459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1）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有哪些字符</a:t>
            </a: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？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2）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字符</a:t>
            </a: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A 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的编码是什么</a:t>
            </a: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？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3）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一共有多少个字符</a:t>
            </a: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？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685" y="0"/>
            <a:ext cx="5014595" cy="68580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7188200" y="6494145"/>
            <a:ext cx="45485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/>
              <a:t>source: </a:t>
            </a:r>
            <a:r>
              <a:rPr lang="en-US" altLang="en-US" sz="1400"/>
              <a:t>https://www.rfc-editor.org/info/rfc20/</a:t>
            </a:r>
            <a:endParaRPr lang="en-US" altLang="en-US" sz="1400"/>
          </a:p>
        </p:txBody>
      </p:sp>
      <p:sp>
        <p:nvSpPr>
          <p:cNvPr id="5" name="ASCII task"/>
          <p:cNvSpPr>
            <a:spLocks noGrp="1"/>
          </p:cNvSpPr>
          <p:nvPr/>
        </p:nvSpPr>
        <p:spPr>
          <a:xfrm>
            <a:off x="6043295" y="1114425"/>
            <a:ext cx="369951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1）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有哪些字符</a:t>
            </a: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？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562860" y="1371600"/>
            <a:ext cx="3360420" cy="53828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8076" y="608076"/>
            <a:ext cx="1097280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pitchFamily="34" charset="-120"/>
              </a:rPr>
              <a:t>ASCII里，为什么有些“字符”看不见？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914400" y="2148840"/>
            <a:ext cx="2468880" cy="658368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383280" y="2148840"/>
            <a:ext cx="732948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712768" y="2148840"/>
            <a:ext cx="77153" cy="658368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" y="2221992"/>
            <a:ext cx="2414016" cy="5029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pitchFamily="34" charset="-120"/>
              </a:rPr>
              <a:t>0–31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pitchFamily="34" charset="-120"/>
              </a:rPr>
              <a:t>控制字符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474720" y="2221992"/>
            <a:ext cx="6918008" cy="5029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pitchFamily="34" charset="-120"/>
              </a:rPr>
              <a:t>32–126</a:t>
            </a:r>
            <a:endParaRPr lang="en-US" sz="1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pitchFamily="34" charset="-120"/>
              </a:rPr>
              <a:t>可打印字符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2935224"/>
            <a:ext cx="274320" cy="22860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pitchFamily="34" charset="-120"/>
              </a:rPr>
              <a:t>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104120" y="2935224"/>
            <a:ext cx="868680" cy="22860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200" dirty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pitchFamily="34" charset="-120"/>
              </a:rPr>
              <a:t>127 / DEL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96112" y="2112264"/>
            <a:ext cx="2505456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3794760"/>
            <a:ext cx="4206240" cy="5029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dirty="0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pitchFamily="34" charset="-120"/>
              </a:rPr>
              <a:t>看不见 ≠ 没有意义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914400" y="4434840"/>
            <a:ext cx="9601200" cy="41148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pitchFamily="34" charset="-120"/>
              </a:rPr>
              <a:t>BEL 响铃　	CR 回车　	LF 换行　	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914400" y="5074920"/>
            <a:ext cx="9784080" cy="38404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pitchFamily="34" charset="-120"/>
              </a:rPr>
              <a:t>控制字符说明：早期字符编码服务的不只是“显示文字”，也服务于通信与设备控制。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685" y="0"/>
            <a:ext cx="5014595" cy="68580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7188200" y="6494145"/>
            <a:ext cx="45485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/>
              <a:t>source: </a:t>
            </a:r>
            <a:r>
              <a:rPr lang="en-US" altLang="en-US" sz="1400"/>
              <a:t>https://www.rfc-editor.org/info/rfc20/</a:t>
            </a:r>
            <a:endParaRPr lang="en-US" altLang="en-US" sz="1400"/>
          </a:p>
        </p:txBody>
      </p:sp>
      <p:sp>
        <p:nvSpPr>
          <p:cNvPr id="5" name="ASCII task"/>
          <p:cNvSpPr>
            <a:spLocks noGrp="1"/>
          </p:cNvSpPr>
          <p:nvPr/>
        </p:nvSpPr>
        <p:spPr>
          <a:xfrm>
            <a:off x="6043295" y="1114425"/>
            <a:ext cx="3699510" cy="42608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  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2）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字符</a:t>
            </a: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A 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的编码是什么</a:t>
            </a: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？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   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685" y="0"/>
            <a:ext cx="5014595" cy="68580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7188200" y="6494145"/>
            <a:ext cx="45485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/>
              <a:t>source: </a:t>
            </a:r>
            <a:r>
              <a:rPr lang="en-US" altLang="en-US" sz="1400"/>
              <a:t>https://www.rfc-editor.org/info/rfc20/</a:t>
            </a:r>
            <a:endParaRPr lang="en-US" altLang="en-US" sz="1400"/>
          </a:p>
        </p:txBody>
      </p:sp>
      <p:sp>
        <p:nvSpPr>
          <p:cNvPr id="5" name="ASCII task"/>
          <p:cNvSpPr>
            <a:spLocks noGrp="1"/>
          </p:cNvSpPr>
          <p:nvPr/>
        </p:nvSpPr>
        <p:spPr>
          <a:xfrm>
            <a:off x="6043295" y="1114425"/>
            <a:ext cx="7188835" cy="42608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  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2）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字符</a:t>
            </a: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A 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的编码是什么</a:t>
            </a: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？1000001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   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138295" y="1636395"/>
            <a:ext cx="464185" cy="426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908685" y="1636395"/>
            <a:ext cx="1166495" cy="4171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138295" y="151765"/>
            <a:ext cx="492125" cy="5861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660" y="2399030"/>
            <a:ext cx="5490845" cy="349186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833485" y="3810635"/>
            <a:ext cx="657225" cy="1600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685" y="0"/>
            <a:ext cx="5014595" cy="68580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7188200" y="6494145"/>
            <a:ext cx="45485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/>
              <a:t>source: </a:t>
            </a:r>
            <a:r>
              <a:rPr lang="en-US" altLang="en-US" sz="1400"/>
              <a:t>https://www.rfc-editor.org/info/rfc20/</a:t>
            </a:r>
            <a:endParaRPr lang="en-US" altLang="en-US" sz="1400"/>
          </a:p>
        </p:txBody>
      </p:sp>
      <p:sp>
        <p:nvSpPr>
          <p:cNvPr id="5" name="ASCII task"/>
          <p:cNvSpPr>
            <a:spLocks noGrp="1"/>
          </p:cNvSpPr>
          <p:nvPr/>
        </p:nvSpPr>
        <p:spPr>
          <a:xfrm>
            <a:off x="6043295" y="1114425"/>
            <a:ext cx="369951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 </a:t>
            </a: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  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  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3）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一共有多少个字符</a:t>
            </a: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？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685" y="0"/>
            <a:ext cx="5014595" cy="68580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7188200" y="6494145"/>
            <a:ext cx="45485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/>
              <a:t>source: </a:t>
            </a:r>
            <a:r>
              <a:rPr lang="en-US" altLang="en-US" sz="1400"/>
              <a:t>https://www.rfc-editor.org/info/rfc20/</a:t>
            </a:r>
            <a:endParaRPr lang="en-US" altLang="en-US" sz="1400"/>
          </a:p>
        </p:txBody>
      </p:sp>
      <p:sp>
        <p:nvSpPr>
          <p:cNvPr id="5" name="ASCII task"/>
          <p:cNvSpPr>
            <a:spLocks noGrp="1"/>
          </p:cNvSpPr>
          <p:nvPr/>
        </p:nvSpPr>
        <p:spPr>
          <a:xfrm>
            <a:off x="6043295" y="1114425"/>
            <a:ext cx="608139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 </a:t>
            </a: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  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  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3）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一共有多少个字符</a:t>
            </a: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？2^7 = 128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是 7 bit，为什么常看到 8 bit？</a:t>
            </a:r>
            <a:endParaRPr sz="3600"/>
          </a:p>
        </p:txBody>
      </p:sp>
      <p:pic>
        <p:nvPicPr>
          <p:cNvPr id="25" name="Picture 24"/>
          <p:cNvPicPr/>
          <p:nvPr/>
        </p:nvPicPr>
        <p:blipFill>
          <a:blip r:embed="rId1"/>
          <a:srcRect l="19791" t="19986" r="18905" b="17736"/>
          <a:stretch>
            <a:fillRect/>
          </a:stretch>
        </p:blipFill>
        <p:spPr>
          <a:xfrm>
            <a:off x="10789920" y="6052185"/>
            <a:ext cx="654050" cy="66421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是 7 bit，为什么常看到 8 bit？</a:t>
            </a:r>
            <a:endParaRPr sz="3600"/>
          </a:p>
        </p:txBody>
      </p:sp>
      <p:sp>
        <p:nvSpPr>
          <p:cNvPr id="6" name="Shape 3"/>
          <p:cNvSpPr>
            <a:spLocks noGrp="1"/>
          </p:cNvSpPr>
          <p:nvPr/>
        </p:nvSpPr>
        <p:spPr>
          <a:xfrm>
            <a:off x="868680" y="1554480"/>
            <a:ext cx="5577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1014984" y="1682496"/>
            <a:ext cx="5285232" cy="2670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Character: </a:t>
            </a:r>
            <a:r>
              <a:rPr lang="en-US"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         </a:t>
            </a: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A</a:t>
            </a:r>
            <a:endParaRPr sz="2200"/>
          </a:p>
          <a:p>
            <a:pPr marL="0" indent="0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Decimal code: </a:t>
            </a:r>
            <a:r>
              <a:rPr lang="en-US"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  </a:t>
            </a: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65</a:t>
            </a:r>
            <a:endParaRPr sz="2200"/>
          </a:p>
          <a:p>
            <a:pPr marL="0" indent="0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Hex code: </a:t>
            </a:r>
            <a:r>
              <a:rPr lang="en-US"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          </a:t>
            </a: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0x41</a:t>
            </a:r>
            <a:endParaRPr sz="2200"/>
          </a:p>
          <a:p>
            <a:pPr marL="0" indent="0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ASCII 7-bit code : </a:t>
            </a:r>
            <a:r>
              <a:rPr lang="en-US"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</a:t>
            </a: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1000001</a:t>
            </a:r>
            <a:endParaRPr sz="2200"/>
          </a:p>
          <a:p>
            <a:pPr marL="0" indent="0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Stored in 1 byte : </a:t>
            </a:r>
            <a:r>
              <a:rPr lang="en-US"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</a:t>
            </a: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01000001</a:t>
            </a:r>
            <a:endParaRPr sz="2200"/>
          </a:p>
          <a:p>
            <a:pPr marL="0" indent="0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MSB: </a:t>
            </a:r>
            <a:r>
              <a:rPr lang="en-US"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                   </a:t>
            </a: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</a:t>
            </a:r>
            <a:endParaRPr sz="22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6949440" y="1627632"/>
            <a:ext cx="3474720" cy="34747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fontScale="80000"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7-bit ASCII</a:t>
            </a:r>
            <a:endParaRPr sz="24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6675120" y="2103120"/>
            <a:ext cx="411480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6748272" y="2176272"/>
            <a:ext cx="396849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1 0 0 0 0 0 1</a:t>
            </a:r>
            <a:endParaRPr sz="24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8732520" y="2743200"/>
            <a:ext cx="0" cy="502920"/>
          </a:xfrm>
          <a:prstGeom prst="line">
            <a:avLst/>
          </a:prstGeom>
          <a:noFill/>
          <a:ln w="2032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6949440" y="3364992"/>
            <a:ext cx="3474720" cy="34747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fontScale="80000"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存入 1 byte</a:t>
            </a:r>
            <a:endParaRPr sz="24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6675120" y="3840480"/>
            <a:ext cx="411480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6748272" y="3913632"/>
            <a:ext cx="396849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0 1 0 0 0 0 0 1</a:t>
            </a:r>
            <a:endParaRPr sz="24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7583170" y="3884930"/>
            <a:ext cx="398145" cy="42164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7" name="Text 14"/>
          <p:cNvSpPr>
            <a:spLocks noGrp="1"/>
          </p:cNvSpPr>
          <p:nvPr/>
        </p:nvSpPr>
        <p:spPr>
          <a:xfrm>
            <a:off x="1115568" y="5276088"/>
            <a:ext cx="9930384" cy="37490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fontScale="80000"/>
          </a:bodyPr>
          <a:lstStyle/>
          <a:p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的编码值没变；只是用 8-bit byte 存放。</a:t>
            </a:r>
            <a:endParaRPr sz="28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868680" y="4855210"/>
            <a:ext cx="10972800" cy="111061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zh-CN" altLang="en-US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重点</a:t>
            </a:r>
            <a:r>
              <a:rPr lang="en-US" altLang="zh-CN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r>
              <a:rPr lang="zh-CN" altLang="en-US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标准的</a:t>
            </a:r>
            <a:r>
              <a:rPr lang="en-US" altLang="zh-CN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</a:t>
            </a:r>
            <a:r>
              <a:rPr lang="zh-CN" altLang="en-US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码为</a:t>
            </a:r>
            <a:r>
              <a:rPr lang="en-US" altLang="zh-CN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7</a:t>
            </a:r>
            <a:r>
              <a:rPr lang="zh-CN" altLang="en-US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位二进制编码</a:t>
            </a:r>
            <a:r>
              <a:rPr lang="en-US" altLang="zh-CN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，</a:t>
            </a:r>
            <a:r>
              <a:rPr lang="zh-CN" altLang="en-US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存储时占用一个字节</a:t>
            </a:r>
            <a:r>
              <a:rPr lang="en-US" altLang="zh-CN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，</a:t>
            </a:r>
            <a:r>
              <a:rPr lang="zh-CN" altLang="en-US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最高位为</a:t>
            </a:r>
            <a:r>
              <a:rPr lang="en-US" altLang="zh-CN" sz="3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0。</a:t>
            </a:r>
            <a:r>
              <a:rPr lang="en-US" altLang="zh-CN" sz="3600" b="1" baseline="30000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p20</a:t>
            </a:r>
            <a:endParaRPr lang="en-US" altLang="zh-CN" sz="3600" b="1" baseline="30000">
              <a:solidFill>
                <a:srgbClr val="FF0000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数字、大写、小写在 ASCII 中谁更小？</a:t>
            </a:r>
            <a:endParaRPr sz="3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数字、大写、小写在 ASCII 中谁更小？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11200" y="1691640"/>
            <a:ext cx="2834640" cy="36576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数字字符</a:t>
            </a:r>
            <a:endParaRPr sz="24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711200" y="2331720"/>
            <a:ext cx="28346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84352" y="2404872"/>
            <a:ext cx="2688336" cy="108813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'0' 0x30</a:t>
            </a:r>
            <a:endParaRPr sz="2200"/>
          </a:p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↓</a:t>
            </a:r>
            <a:endParaRPr sz="2200"/>
          </a:p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'9' 0x39</a:t>
            </a:r>
            <a:endParaRPr sz="22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284980" y="1691640"/>
            <a:ext cx="2834640" cy="36576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大写字母</a:t>
            </a:r>
            <a:endParaRPr sz="2400"/>
          </a:p>
        </p:txBody>
      </p:sp>
      <p:sp>
        <p:nvSpPr>
          <p:cNvPr id="10" name="Shape 7"/>
          <p:cNvSpPr>
            <a:spLocks noGrp="1"/>
          </p:cNvSpPr>
          <p:nvPr/>
        </p:nvSpPr>
        <p:spPr>
          <a:xfrm>
            <a:off x="4284980" y="2331720"/>
            <a:ext cx="28346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4358132" y="2404872"/>
            <a:ext cx="2688336" cy="108813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'A' 0x41</a:t>
            </a:r>
            <a:endParaRPr sz="2200"/>
          </a:p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↓</a:t>
            </a:r>
            <a:endParaRPr sz="2200"/>
          </a:p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'Z' 0x5A</a:t>
            </a:r>
            <a:endParaRPr sz="220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7680960" y="1691640"/>
            <a:ext cx="2834640" cy="36576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小写字母</a:t>
            </a:r>
            <a:endParaRPr sz="24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7680960" y="2331720"/>
            <a:ext cx="28346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7754112" y="2404872"/>
            <a:ext cx="2688336" cy="108813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'a' 0x61</a:t>
            </a:r>
            <a:endParaRPr sz="2200"/>
          </a:p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↓</a:t>
            </a:r>
            <a:endParaRPr sz="2200"/>
          </a:p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'z' 0x7A</a:t>
            </a:r>
            <a:endParaRPr sz="22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3747770" y="2944368"/>
            <a:ext cx="45720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7178040" y="2944368"/>
            <a:ext cx="45720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866775" y="4500245"/>
            <a:ext cx="9930130" cy="908685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lang="zh-CN" sz="30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重点</a:t>
            </a:r>
            <a:r>
              <a:rPr lang="en-US" altLang="zh-CN" sz="30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：ASCII</a:t>
            </a:r>
            <a:r>
              <a:rPr sz="30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编码值顺序：数字字符 &lt; 大写字母 &lt; 小写字母。</a:t>
            </a:r>
            <a:endParaRPr sz="3000" b="1">
              <a:solidFill>
                <a:srgbClr val="FF0000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如何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设计汉字编码</a:t>
            </a:r>
            <a:r>
              <a:rPr 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？</a:t>
            </a:r>
            <a:endParaRPr sz="3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如何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设计汉字编码</a:t>
            </a:r>
            <a:r>
              <a:rPr 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？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的哪些思想还能用？</a:t>
            </a:r>
            <a:endParaRPr sz="3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如何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设计汉字编码</a:t>
            </a:r>
            <a:r>
              <a:rPr 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？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ASCII 的哪些思想还能用？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914400" y="1444752"/>
            <a:ext cx="475488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给出的设计问题</a:t>
            </a:r>
            <a:endParaRPr sz="24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1051560" y="1965960"/>
            <a:ext cx="448056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先确定字符集</a:t>
            </a:r>
            <a:endParaRPr sz="21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1051560" y="2532888"/>
            <a:ext cx="448056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每个字符唯一映射</a:t>
            </a:r>
            <a:endParaRPr sz="21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1051560" y="3099816"/>
            <a:ext cx="448056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ASCII 有 128 个位置</a:t>
            </a:r>
            <a:endParaRPr sz="2100"/>
          </a:p>
        </p:txBody>
      </p:sp>
      <p:sp>
        <p:nvSpPr>
          <p:cNvPr id="17" name="Text 14"/>
          <p:cNvSpPr>
            <a:spLocks noGrp="1"/>
          </p:cNvSpPr>
          <p:nvPr/>
        </p:nvSpPr>
        <p:spPr>
          <a:xfrm>
            <a:off x="1051560" y="3666744"/>
            <a:ext cx="448056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常用 1 byte 存放</a:t>
            </a:r>
            <a:endParaRPr sz="21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1115568" y="5184648"/>
            <a:ext cx="9930384" cy="45720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字符集与映射可以借鉴；容量与存储必须重新设计。</a:t>
            </a:r>
            <a:endParaRPr sz="3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如何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设计汉字编码</a:t>
            </a:r>
            <a:r>
              <a:rPr 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？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ASCII 的哪些思想还能用？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914400" y="1444752"/>
            <a:ext cx="475488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给出的设计问题</a:t>
            </a:r>
            <a:endParaRPr sz="24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6492240" y="1444752"/>
            <a:ext cx="475488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汉字编码必须重新回答</a:t>
            </a:r>
            <a:endParaRPr sz="24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1051560" y="1965960"/>
            <a:ext cx="448056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先确定字符集</a:t>
            </a:r>
            <a:endParaRPr sz="21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5623560" y="2130552"/>
            <a:ext cx="685800" cy="0"/>
          </a:xfrm>
          <a:prstGeom prst="line">
            <a:avLst/>
          </a:prstGeom>
          <a:noFill/>
          <a:ln w="1524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6446520" y="1965960"/>
            <a:ext cx="45720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哪些汉字进入字符集？</a:t>
            </a:r>
            <a:endParaRPr sz="21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1051560" y="2532888"/>
            <a:ext cx="448056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每个字符唯一映射</a:t>
            </a:r>
            <a:endParaRPr sz="210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5623560" y="2697480"/>
            <a:ext cx="685800" cy="0"/>
          </a:xfrm>
          <a:prstGeom prst="line">
            <a:avLst/>
          </a:prstGeom>
          <a:noFill/>
          <a:ln w="1524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6446520" y="2532888"/>
            <a:ext cx="45720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每个汉字对应什么编码？</a:t>
            </a:r>
            <a:endParaRPr sz="21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1051560" y="3099816"/>
            <a:ext cx="448056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ASCII 有 128 个位置</a:t>
            </a:r>
            <a:endParaRPr sz="21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5623560" y="3264408"/>
            <a:ext cx="685800" cy="0"/>
          </a:xfrm>
          <a:prstGeom prst="line">
            <a:avLst/>
          </a:prstGeom>
          <a:noFill/>
          <a:ln w="1524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6446520" y="3099816"/>
            <a:ext cx="45720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容量够吗？</a:t>
            </a:r>
            <a:endParaRPr sz="2100"/>
          </a:p>
        </p:txBody>
      </p:sp>
      <p:sp>
        <p:nvSpPr>
          <p:cNvPr id="17" name="Text 14"/>
          <p:cNvSpPr>
            <a:spLocks noGrp="1"/>
          </p:cNvSpPr>
          <p:nvPr/>
        </p:nvSpPr>
        <p:spPr>
          <a:xfrm>
            <a:off x="1051560" y="3666744"/>
            <a:ext cx="448056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常用 1 byte 存放</a:t>
            </a:r>
            <a:endParaRPr sz="2100"/>
          </a:p>
        </p:txBody>
      </p:sp>
      <p:sp>
        <p:nvSpPr>
          <p:cNvPr id="18" name="Shape 15"/>
          <p:cNvSpPr>
            <a:spLocks noGrp="1"/>
          </p:cNvSpPr>
          <p:nvPr/>
        </p:nvSpPr>
        <p:spPr>
          <a:xfrm>
            <a:off x="5623560" y="3831336"/>
            <a:ext cx="685800" cy="0"/>
          </a:xfrm>
          <a:prstGeom prst="line">
            <a:avLst/>
          </a:prstGeom>
          <a:noFill/>
          <a:ln w="1524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6446520" y="3666744"/>
            <a:ext cx="45720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 byte 够吗？</a:t>
            </a:r>
            <a:endParaRPr sz="210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914400" y="5074920"/>
            <a:ext cx="10332720" cy="676656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24" name="Text 21"/>
          <p:cNvSpPr>
            <a:spLocks noGrp="1"/>
          </p:cNvSpPr>
          <p:nvPr/>
        </p:nvSpPr>
        <p:spPr>
          <a:xfrm>
            <a:off x="1115568" y="5184648"/>
            <a:ext cx="9930384" cy="45720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字符集与映射可以借鉴；容量与存储必须重新设计。</a:t>
            </a:r>
            <a:endParaRPr sz="3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汉字写进文件以后是什么？</a:t>
            </a:r>
            <a:endParaRPr sz="3600"/>
          </a:p>
        </p:txBody>
      </p:sp>
      <p:pic>
        <p:nvPicPr>
          <p:cNvPr id="5" name="Picture 4"/>
          <p:cNvPicPr/>
          <p:nvPr/>
        </p:nvPicPr>
        <p:blipFill>
          <a:blip r:embed="rId1"/>
          <a:srcRect l="21398" t="20741" r="21491" b="21222"/>
          <a:stretch>
            <a:fillRect/>
          </a:stretch>
        </p:blipFill>
        <p:spPr>
          <a:xfrm>
            <a:off x="11437620" y="6097270"/>
            <a:ext cx="499745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汉字写进文件以后是什么？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914400" y="1508760"/>
            <a:ext cx="50292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样本：A中B国C文</a:t>
            </a:r>
            <a:endParaRPr sz="26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914400" y="2148840"/>
            <a:ext cx="10332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1060704" y="2276856"/>
            <a:ext cx="10040112" cy="88696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7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41  D6 D0  42  B9 FA  43  CE C4</a:t>
            </a:r>
            <a:endParaRPr sz="2700"/>
          </a:p>
          <a:p>
            <a:pPr marL="0" indent="0">
              <a:buNone/>
            </a:pPr>
            <a:r>
              <a:rPr sz="27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A    中  </a:t>
            </a:r>
            <a:r>
              <a:rPr lang="en-US" sz="27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</a:t>
            </a:r>
            <a:r>
              <a:rPr sz="27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B   国    </a:t>
            </a:r>
            <a:r>
              <a:rPr lang="en-US" sz="27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</a:t>
            </a:r>
            <a:r>
              <a:rPr sz="27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C    文</a:t>
            </a:r>
            <a:endParaRPr sz="27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1572260" y="2264410"/>
            <a:ext cx="1068070" cy="488315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1714500" y="3429000"/>
            <a:ext cx="2286000" cy="32004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fontScale="95076"/>
          </a:bodyPr>
          <a:lstStyle/>
          <a:p>
            <a:pPr marL="0" indent="0" algn="ctr">
              <a:buNone/>
            </a:pPr>
            <a:r>
              <a:rPr sz="22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“中” → D6 D0</a:t>
            </a:r>
            <a:endParaRPr sz="22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914400" y="4233545"/>
            <a:ext cx="27432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987552" y="4306697"/>
            <a:ext cx="2596896" cy="6766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fontScale="92326"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字符</a:t>
            </a:r>
            <a:endParaRPr sz="2400"/>
          </a:p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 byte</a:t>
            </a:r>
            <a:endParaRPr sz="24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4707890" y="4233545"/>
            <a:ext cx="29260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4781042" y="4306697"/>
            <a:ext cx="2779776" cy="6766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fontScale="92326"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GB2312 样本汉字</a:t>
            </a:r>
            <a:endParaRPr sz="2400"/>
          </a:p>
          <a:p>
            <a:pPr marL="0" indent="0" algn="ctr">
              <a:buNone/>
            </a:pP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 bytes</a:t>
            </a:r>
            <a:endParaRPr sz="2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D6 D0 为什么能代表“中”？</a:t>
            </a:r>
            <a:endParaRPr sz="36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D6 D0 为什么能代表“中”？</a:t>
            </a:r>
            <a:endParaRPr sz="3600"/>
          </a:p>
        </p:txBody>
      </p:sp>
      <p:sp>
        <p:nvSpPr>
          <p:cNvPr id="6" name="Shape 3"/>
          <p:cNvSpPr>
            <a:spLocks noGrp="1"/>
          </p:cNvSpPr>
          <p:nvPr/>
        </p:nvSpPr>
        <p:spPr>
          <a:xfrm>
            <a:off x="608330" y="1691640"/>
            <a:ext cx="5487035" cy="2468245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754634" y="1819656"/>
            <a:ext cx="4279392" cy="157276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“中”  国标码 </a:t>
            </a:r>
            <a:r>
              <a:rPr lang="en-US"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</a:t>
            </a: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56 </a:t>
            </a:r>
            <a:r>
              <a:rPr lang="en-US"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</a:t>
            </a: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50</a:t>
            </a:r>
            <a:endParaRPr sz="2600"/>
          </a:p>
          <a:p>
            <a:pPr marL="0" indent="0">
              <a:buNone/>
            </a:pP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       </a:t>
            </a:r>
            <a:r>
              <a:rPr lang="en-US"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      </a:t>
            </a: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+80 </a:t>
            </a:r>
            <a:r>
              <a:rPr lang="en-US"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</a:t>
            </a: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+80</a:t>
            </a:r>
            <a:endParaRPr sz="2600"/>
          </a:p>
          <a:p>
            <a:pPr marL="0" indent="0">
              <a:buNone/>
            </a:pP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机内码 </a:t>
            </a:r>
            <a:r>
              <a:rPr lang="en-US"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  </a:t>
            </a: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D6 </a:t>
            </a:r>
            <a:r>
              <a:rPr lang="en-US"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</a:t>
            </a: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D0</a:t>
            </a:r>
            <a:endParaRPr sz="26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6629400" y="1664208"/>
            <a:ext cx="36576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MSB 区分</a:t>
            </a:r>
            <a:endParaRPr sz="28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6766560" y="2240280"/>
            <a:ext cx="32004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6839712" y="2313432"/>
            <a:ext cx="3054096" cy="6766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</a:t>
            </a:r>
            <a:endParaRPr sz="2400"/>
          </a:p>
          <a:p>
            <a:pPr marL="0" indent="0" algn="ctr">
              <a:buNone/>
            </a:pPr>
            <a:r>
              <a:rPr sz="24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0xxxxxxx</a:t>
            </a:r>
            <a:endParaRPr sz="24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6766560" y="3337560"/>
            <a:ext cx="32004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6839712" y="3410712"/>
            <a:ext cx="3054096" cy="6766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汉字</a:t>
            </a:r>
            <a:endParaRPr sz="2400"/>
          </a:p>
          <a:p>
            <a:pPr marL="0" indent="0" algn="ctr">
              <a:buNone/>
            </a:pPr>
            <a:r>
              <a:rPr sz="24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1xxxxxxx 1xxxxxxx</a:t>
            </a:r>
            <a:endParaRPr sz="24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914400" y="5074920"/>
            <a:ext cx="10332720" cy="676656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1115568" y="5184648"/>
            <a:ext cx="9930384" cy="45720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这里的“机内码”只限于 GB2312 双字节模型。</a:t>
            </a:r>
            <a:endParaRPr sz="3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汉字真的总是占 2 bytes 吗？</a:t>
            </a:r>
            <a:endParaRPr sz="36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汉字真的总是占 2 bytes 吗？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-187960" y="1554480"/>
            <a:ext cx="1033272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3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同一个字符：“中”</a:t>
            </a:r>
            <a:endParaRPr sz="30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745490" y="2423160"/>
            <a:ext cx="33832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818642" y="2496312"/>
            <a:ext cx="3236976" cy="1499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6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GB2312</a:t>
            </a:r>
            <a:endParaRPr sz="2600"/>
          </a:p>
          <a:p>
            <a:pPr marL="0" indent="0" algn="ctr">
              <a:buNone/>
            </a:pPr>
            <a:r>
              <a:rPr sz="26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D6 D0</a:t>
            </a:r>
            <a:endParaRPr sz="2600"/>
          </a:p>
          <a:p>
            <a:pPr marL="0" indent="0" algn="ctr">
              <a:buNone/>
            </a:pPr>
            <a:r>
              <a:rPr sz="26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 bytes</a:t>
            </a:r>
            <a:endParaRPr sz="26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5847080" y="2423160"/>
            <a:ext cx="33832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5920232" y="2496312"/>
            <a:ext cx="3236976" cy="1499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6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UTF-8</a:t>
            </a:r>
            <a:endParaRPr sz="2600"/>
          </a:p>
          <a:p>
            <a:pPr marL="0" indent="0" algn="ctr">
              <a:buNone/>
            </a:pPr>
            <a:r>
              <a:rPr sz="26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E4 B8 AD</a:t>
            </a:r>
            <a:endParaRPr sz="2600"/>
          </a:p>
          <a:p>
            <a:pPr marL="0" indent="0" algn="ctr">
              <a:buNone/>
            </a:pPr>
            <a:r>
              <a:rPr sz="26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 bytes</a:t>
            </a:r>
            <a:endParaRPr sz="26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4338320" y="3246120"/>
            <a:ext cx="1325880" cy="0"/>
          </a:xfrm>
          <a:prstGeom prst="line">
            <a:avLst/>
          </a:prstGeom>
          <a:noFill/>
          <a:ln w="2286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718820" y="5074920"/>
            <a:ext cx="10332720" cy="676656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919988" y="5184648"/>
            <a:ext cx="9930384" cy="45720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“汉字占 2 bytes”不是汉字本身的属性。</a:t>
            </a:r>
            <a:endParaRPr sz="3000"/>
          </a:p>
        </p:txBody>
      </p:sp>
      <p:pic>
        <p:nvPicPr>
          <p:cNvPr id="18" name="Picture 17" descr="dyn-ad481486803adea284f0a3137b8b2c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3330" y="6155055"/>
            <a:ext cx="495300" cy="50482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英文字符和汉字，从键盘到屏幕有什么不同？</a:t>
            </a:r>
            <a:endParaRPr sz="36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英文字符和汉字，从键盘到屏幕有什么不同？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914400" y="1440688"/>
            <a:ext cx="4297680" cy="2743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英文字符 A</a:t>
            </a:r>
            <a:endParaRPr sz="24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6400800" y="1440688"/>
            <a:ext cx="4297680" cy="2743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中文字符“你”</a:t>
            </a:r>
            <a:endParaRPr sz="24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914400" y="183769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987552" y="191084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按下 A</a:t>
            </a:r>
            <a:endParaRPr sz="1900"/>
          </a:p>
        </p:txBody>
      </p:sp>
      <p:sp>
        <p:nvSpPr>
          <p:cNvPr id="10" name="Shape 7"/>
          <p:cNvSpPr>
            <a:spLocks noGrp="1"/>
          </p:cNvSpPr>
          <p:nvPr/>
        </p:nvSpPr>
        <p:spPr>
          <a:xfrm>
            <a:off x="6400800" y="186436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6473952" y="193751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按下 n、i</a:t>
            </a:r>
            <a:endParaRPr sz="190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3063240" y="2267458"/>
            <a:ext cx="0" cy="155448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8549640" y="2294128"/>
            <a:ext cx="0" cy="155448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914400" y="247777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987552" y="255092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 A</a:t>
            </a:r>
            <a:endParaRPr sz="1900"/>
          </a:p>
        </p:txBody>
      </p:sp>
      <p:sp>
        <p:nvSpPr>
          <p:cNvPr id="16" name="Shape 13"/>
          <p:cNvSpPr>
            <a:spLocks noGrp="1"/>
          </p:cNvSpPr>
          <p:nvPr/>
        </p:nvSpPr>
        <p:spPr>
          <a:xfrm>
            <a:off x="6400800" y="250444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7" name="Text 14"/>
          <p:cNvSpPr>
            <a:spLocks noGrp="1"/>
          </p:cNvSpPr>
          <p:nvPr/>
        </p:nvSpPr>
        <p:spPr>
          <a:xfrm>
            <a:off x="6473952" y="257759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输入码 ni</a:t>
            </a:r>
            <a:endParaRPr sz="1900"/>
          </a:p>
        </p:txBody>
      </p:sp>
      <p:sp>
        <p:nvSpPr>
          <p:cNvPr id="18" name="Shape 15"/>
          <p:cNvSpPr>
            <a:spLocks noGrp="1"/>
          </p:cNvSpPr>
          <p:nvPr/>
        </p:nvSpPr>
        <p:spPr>
          <a:xfrm>
            <a:off x="3063240" y="2907538"/>
            <a:ext cx="0" cy="155448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8549640" y="2934208"/>
            <a:ext cx="0" cy="155448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>
            <a:spLocks noGrp="1"/>
          </p:cNvSpPr>
          <p:nvPr/>
        </p:nvSpPr>
        <p:spPr>
          <a:xfrm>
            <a:off x="914400" y="311785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1" name="Text 18"/>
          <p:cNvSpPr>
            <a:spLocks noGrp="1"/>
          </p:cNvSpPr>
          <p:nvPr/>
        </p:nvSpPr>
        <p:spPr>
          <a:xfrm>
            <a:off x="987552" y="319100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字体映射</a:t>
            </a:r>
            <a:endParaRPr sz="1900"/>
          </a:p>
        </p:txBody>
      </p:sp>
      <p:sp>
        <p:nvSpPr>
          <p:cNvPr id="22" name="Shape 19"/>
          <p:cNvSpPr>
            <a:spLocks noGrp="1"/>
          </p:cNvSpPr>
          <p:nvPr/>
        </p:nvSpPr>
        <p:spPr>
          <a:xfrm>
            <a:off x="6400800" y="314452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6473952" y="321767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IME 选择“你”</a:t>
            </a:r>
            <a:endParaRPr sz="1900"/>
          </a:p>
        </p:txBody>
      </p:sp>
      <p:sp>
        <p:nvSpPr>
          <p:cNvPr id="24" name="Shape 21"/>
          <p:cNvSpPr>
            <a:spLocks noGrp="1"/>
          </p:cNvSpPr>
          <p:nvPr/>
        </p:nvSpPr>
        <p:spPr>
          <a:xfrm>
            <a:off x="3063240" y="3547618"/>
            <a:ext cx="0" cy="155448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>
            <a:spLocks noGrp="1"/>
          </p:cNvSpPr>
          <p:nvPr/>
        </p:nvSpPr>
        <p:spPr>
          <a:xfrm>
            <a:off x="8549640" y="3574288"/>
            <a:ext cx="0" cy="155448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>
            <a:spLocks noGrp="1"/>
          </p:cNvSpPr>
          <p:nvPr/>
        </p:nvSpPr>
        <p:spPr>
          <a:xfrm>
            <a:off x="914400" y="375793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987552" y="383108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fontScale="80000"/>
          </a:bodyPr>
          <a:lstStyle/>
          <a:p>
            <a:pPr marL="0" indent="0" algn="ctr">
              <a:buNone/>
            </a:pPr>
            <a:r>
              <a:rPr lang="zh-CN"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字形码</a:t>
            </a:r>
            <a:r>
              <a:rPr lang="en-US" altLang="zh-CN"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</a:t>
            </a: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A</a:t>
            </a:r>
            <a:endParaRPr sz="190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400800" y="378460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6473952" y="385775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fontScale="80000"/>
          </a:bodyPr>
          <a:lstStyle/>
          <a:p>
            <a:pPr marL="0" indent="0" algn="ctr">
              <a:buNone/>
            </a:pPr>
            <a:r>
              <a:rPr lang="zh-CN"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字形码</a:t>
            </a: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你</a:t>
            </a:r>
            <a:endParaRPr sz="1900"/>
          </a:p>
        </p:txBody>
      </p:sp>
      <p:sp>
        <p:nvSpPr>
          <p:cNvPr id="30" name="Shape 27"/>
          <p:cNvSpPr>
            <a:spLocks noGrp="1"/>
          </p:cNvSpPr>
          <p:nvPr/>
        </p:nvSpPr>
        <p:spPr>
          <a:xfrm>
            <a:off x="3063240" y="4187698"/>
            <a:ext cx="0" cy="155448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>
            <a:spLocks noGrp="1"/>
          </p:cNvSpPr>
          <p:nvPr/>
        </p:nvSpPr>
        <p:spPr>
          <a:xfrm>
            <a:off x="8549640" y="4214368"/>
            <a:ext cx="0" cy="155448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32" name="Shape 29"/>
          <p:cNvSpPr>
            <a:spLocks noGrp="1"/>
          </p:cNvSpPr>
          <p:nvPr/>
        </p:nvSpPr>
        <p:spPr>
          <a:xfrm>
            <a:off x="914400" y="439801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987552" y="447116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pixels → A</a:t>
            </a:r>
            <a:endParaRPr sz="1900"/>
          </a:p>
        </p:txBody>
      </p:sp>
      <p:sp>
        <p:nvSpPr>
          <p:cNvPr id="34" name="Shape 31"/>
          <p:cNvSpPr>
            <a:spLocks noGrp="1"/>
          </p:cNvSpPr>
          <p:nvPr/>
        </p:nvSpPr>
        <p:spPr>
          <a:xfrm>
            <a:off x="6400800" y="442468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35" name="Text 32"/>
          <p:cNvSpPr>
            <a:spLocks noGrp="1"/>
          </p:cNvSpPr>
          <p:nvPr/>
        </p:nvSpPr>
        <p:spPr>
          <a:xfrm>
            <a:off x="6473952" y="449783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pixels → 你</a:t>
            </a:r>
            <a:endParaRPr sz="1900"/>
          </a:p>
        </p:txBody>
      </p:sp>
      <p:sp>
        <p:nvSpPr>
          <p:cNvPr id="36" name="Shape 33"/>
          <p:cNvSpPr>
            <a:spLocks noGrp="1"/>
          </p:cNvSpPr>
          <p:nvPr/>
        </p:nvSpPr>
        <p:spPr>
          <a:xfrm>
            <a:off x="914400" y="5257800"/>
            <a:ext cx="10332720" cy="943610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1115695" y="5367655"/>
            <a:ext cx="9930130" cy="770255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lnSpcReduction="20000"/>
          </a:bodyPr>
          <a:lstStyle/>
          <a:p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中文输入多了“输入码 → IME → 选字”；</a:t>
            </a:r>
            <a:endParaRPr sz="27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显示阶段仍要经过 </a:t>
            </a:r>
            <a:r>
              <a:rPr lang="zh-CN" sz="27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字形码</a:t>
            </a:r>
            <a:r>
              <a:rPr lang="en-US" altLang="zh-CN" sz="27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</a:t>
            </a:r>
            <a:r>
              <a:rPr sz="27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→ pixels。</a:t>
            </a:r>
            <a:endParaRPr sz="27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中文编码标准为什么不断扩展？</a:t>
            </a:r>
            <a:endParaRPr sz="3600"/>
          </a:p>
        </p:txBody>
      </p:sp>
      <p:sp>
        <p:nvSpPr>
          <p:cNvPr id="6" name="Shape 3"/>
          <p:cNvSpPr>
            <a:spLocks noGrp="1"/>
          </p:cNvSpPr>
          <p:nvPr/>
        </p:nvSpPr>
        <p:spPr>
          <a:xfrm>
            <a:off x="1097280" y="2240280"/>
            <a:ext cx="9875520" cy="0"/>
          </a:xfrm>
          <a:prstGeom prst="line">
            <a:avLst/>
          </a:prstGeom>
          <a:noFill/>
          <a:ln w="20320">
            <a:solidFill>
              <a:srgbClr val="808080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1143000" y="2157984"/>
            <a:ext cx="164592" cy="164592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3152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1980</a:t>
            </a:r>
            <a:endParaRPr sz="13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0292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GB2312</a:t>
            </a:r>
            <a:endParaRPr sz="140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50292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6千余</a:t>
            </a:r>
            <a:endParaRPr sz="16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3017520" y="2157984"/>
            <a:ext cx="164592" cy="164592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260604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1995</a:t>
            </a:r>
            <a:endParaRPr sz="13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237744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GBK</a:t>
            </a:r>
            <a:endParaRPr sz="14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237744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2万余</a:t>
            </a:r>
            <a:endParaRPr sz="16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4892040" y="2157984"/>
            <a:ext cx="164592" cy="164592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448056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2000</a:t>
            </a:r>
            <a:endParaRPr sz="1300"/>
          </a:p>
        </p:txBody>
      </p:sp>
      <p:sp>
        <p:nvSpPr>
          <p:cNvPr id="17" name="Text 14"/>
          <p:cNvSpPr>
            <a:spLocks noGrp="1"/>
          </p:cNvSpPr>
          <p:nvPr/>
        </p:nvSpPr>
        <p:spPr>
          <a:xfrm>
            <a:off x="425196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GB18030</a:t>
            </a:r>
            <a:endParaRPr sz="1400"/>
          </a:p>
        </p:txBody>
      </p:sp>
      <p:sp>
        <p:nvSpPr>
          <p:cNvPr id="18" name="Text 15"/>
          <p:cNvSpPr>
            <a:spLocks noGrp="1"/>
          </p:cNvSpPr>
          <p:nvPr/>
        </p:nvSpPr>
        <p:spPr>
          <a:xfrm>
            <a:off x="425196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2.7万余</a:t>
            </a:r>
            <a:endParaRPr sz="160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6766560" y="2157984"/>
            <a:ext cx="164592" cy="164592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635508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2005</a:t>
            </a:r>
            <a:endParaRPr sz="1300"/>
          </a:p>
        </p:txBody>
      </p:sp>
      <p:sp>
        <p:nvSpPr>
          <p:cNvPr id="21" name="Text 18"/>
          <p:cNvSpPr>
            <a:spLocks noGrp="1"/>
          </p:cNvSpPr>
          <p:nvPr/>
        </p:nvSpPr>
        <p:spPr>
          <a:xfrm>
            <a:off x="612648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GB18030</a:t>
            </a:r>
            <a:endParaRPr sz="1400"/>
          </a:p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612648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7万余</a:t>
            </a:r>
            <a:endParaRPr sz="160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8641080" y="2157984"/>
            <a:ext cx="164592" cy="164592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  <a:prstDash val="solid"/>
          </a:ln>
        </p:spPr>
      </p:sp>
      <p:sp>
        <p:nvSpPr>
          <p:cNvPr id="24" name="Text 21"/>
          <p:cNvSpPr>
            <a:spLocks noGrp="1"/>
          </p:cNvSpPr>
          <p:nvPr/>
        </p:nvSpPr>
        <p:spPr>
          <a:xfrm>
            <a:off x="822960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2022</a:t>
            </a:r>
            <a:endParaRPr sz="130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800100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GB18030</a:t>
            </a:r>
            <a:endParaRPr sz="1400"/>
          </a:p>
        </p:txBody>
      </p:sp>
      <p:sp>
        <p:nvSpPr>
          <p:cNvPr id="26" name="Text 23"/>
          <p:cNvSpPr>
            <a:spLocks noGrp="1"/>
          </p:cNvSpPr>
          <p:nvPr/>
        </p:nvSpPr>
        <p:spPr>
          <a:xfrm>
            <a:off x="800100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8.7万余</a:t>
            </a:r>
            <a:endParaRPr sz="160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10515600" y="2157984"/>
            <a:ext cx="164592" cy="16459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1010412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2024</a:t>
            </a:r>
            <a:endParaRPr sz="1300"/>
          </a:p>
        </p:txBody>
      </p:sp>
      <p:sp>
        <p:nvSpPr>
          <p:cNvPr id="29" name="Text 26"/>
          <p:cNvSpPr>
            <a:spLocks noGrp="1"/>
          </p:cNvSpPr>
          <p:nvPr/>
        </p:nvSpPr>
        <p:spPr>
          <a:xfrm>
            <a:off x="987552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第1号修改单</a:t>
            </a:r>
            <a:endParaRPr sz="140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987552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+9793</a:t>
            </a:r>
            <a:endParaRPr sz="16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中文编码标准为什么不断扩展？</a:t>
            </a:r>
            <a:endParaRPr sz="3600"/>
          </a:p>
        </p:txBody>
      </p:sp>
      <p:sp>
        <p:nvSpPr>
          <p:cNvPr id="6" name="Shape 3"/>
          <p:cNvSpPr>
            <a:spLocks noGrp="1"/>
          </p:cNvSpPr>
          <p:nvPr/>
        </p:nvSpPr>
        <p:spPr>
          <a:xfrm>
            <a:off x="1097280" y="2240280"/>
            <a:ext cx="9875520" cy="0"/>
          </a:xfrm>
          <a:prstGeom prst="line">
            <a:avLst/>
          </a:prstGeom>
          <a:noFill/>
          <a:ln w="20320">
            <a:solidFill>
              <a:srgbClr val="808080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1143000" y="2157984"/>
            <a:ext cx="164592" cy="164592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3152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1980</a:t>
            </a:r>
            <a:endParaRPr sz="13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0292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GB2312</a:t>
            </a:r>
            <a:endParaRPr sz="140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50292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6千余</a:t>
            </a:r>
            <a:endParaRPr sz="16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3017520" y="2157984"/>
            <a:ext cx="164592" cy="164592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260604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1995</a:t>
            </a:r>
            <a:endParaRPr sz="13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237744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GBK</a:t>
            </a:r>
            <a:endParaRPr sz="14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237744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2万余</a:t>
            </a:r>
            <a:endParaRPr sz="16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4892040" y="2157984"/>
            <a:ext cx="164592" cy="164592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448056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2000</a:t>
            </a:r>
            <a:endParaRPr sz="1300"/>
          </a:p>
        </p:txBody>
      </p:sp>
      <p:sp>
        <p:nvSpPr>
          <p:cNvPr id="17" name="Text 14"/>
          <p:cNvSpPr>
            <a:spLocks noGrp="1"/>
          </p:cNvSpPr>
          <p:nvPr/>
        </p:nvSpPr>
        <p:spPr>
          <a:xfrm>
            <a:off x="425196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GB18030</a:t>
            </a:r>
            <a:endParaRPr sz="1400"/>
          </a:p>
        </p:txBody>
      </p:sp>
      <p:sp>
        <p:nvSpPr>
          <p:cNvPr id="18" name="Text 15"/>
          <p:cNvSpPr>
            <a:spLocks noGrp="1"/>
          </p:cNvSpPr>
          <p:nvPr/>
        </p:nvSpPr>
        <p:spPr>
          <a:xfrm>
            <a:off x="425196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2.7万余</a:t>
            </a:r>
            <a:endParaRPr sz="160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6766560" y="2157984"/>
            <a:ext cx="164592" cy="164592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635508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2005</a:t>
            </a:r>
            <a:endParaRPr sz="1300"/>
          </a:p>
        </p:txBody>
      </p:sp>
      <p:sp>
        <p:nvSpPr>
          <p:cNvPr id="21" name="Text 18"/>
          <p:cNvSpPr>
            <a:spLocks noGrp="1"/>
          </p:cNvSpPr>
          <p:nvPr/>
        </p:nvSpPr>
        <p:spPr>
          <a:xfrm>
            <a:off x="612648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GB18030</a:t>
            </a:r>
            <a:endParaRPr sz="1400"/>
          </a:p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612648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7万余</a:t>
            </a:r>
            <a:endParaRPr sz="160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8641080" y="2157984"/>
            <a:ext cx="164592" cy="164592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  <a:prstDash val="solid"/>
          </a:ln>
        </p:spPr>
      </p:sp>
      <p:sp>
        <p:nvSpPr>
          <p:cNvPr id="24" name="Text 21"/>
          <p:cNvSpPr>
            <a:spLocks noGrp="1"/>
          </p:cNvSpPr>
          <p:nvPr/>
        </p:nvSpPr>
        <p:spPr>
          <a:xfrm>
            <a:off x="822960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2022</a:t>
            </a:r>
            <a:endParaRPr sz="130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800100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GB18030</a:t>
            </a:r>
            <a:endParaRPr sz="1400"/>
          </a:p>
        </p:txBody>
      </p:sp>
      <p:sp>
        <p:nvSpPr>
          <p:cNvPr id="26" name="Text 23"/>
          <p:cNvSpPr>
            <a:spLocks noGrp="1"/>
          </p:cNvSpPr>
          <p:nvPr/>
        </p:nvSpPr>
        <p:spPr>
          <a:xfrm>
            <a:off x="800100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8.7万余</a:t>
            </a:r>
            <a:endParaRPr sz="160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10515600" y="2157984"/>
            <a:ext cx="164592" cy="16459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1010412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2024</a:t>
            </a:r>
            <a:endParaRPr sz="1300"/>
          </a:p>
        </p:txBody>
      </p:sp>
      <p:sp>
        <p:nvSpPr>
          <p:cNvPr id="29" name="Text 26"/>
          <p:cNvSpPr>
            <a:spLocks noGrp="1"/>
          </p:cNvSpPr>
          <p:nvPr/>
        </p:nvSpPr>
        <p:spPr>
          <a:xfrm>
            <a:off x="987552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第1号修改单</a:t>
            </a:r>
            <a:endParaRPr sz="140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987552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+9793</a:t>
            </a:r>
            <a:endParaRPr sz="160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914400" y="3723640"/>
            <a:ext cx="10332720" cy="676656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1115568" y="3833368"/>
            <a:ext cx="9930384" cy="45720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如果字符不在字符集中，系统就无法稳定交换它。</a:t>
            </a:r>
            <a:endParaRPr sz="3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27432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" y="6784848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250" y="548640"/>
            <a:ext cx="1070737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如何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给全球字符进行编码？第一步要做什么？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103120" cy="1920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62626"/>
                </a:solidFill>
                <a:latin typeface="Alibaba PuHuiTi 3.0" panose="00020600040101010101" charset="-122"/>
              </a:rPr>
              <a:t>A</a:t>
            </a:r>
            <a:endParaRPr sz="3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U+0041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566160" y="1874519"/>
            <a:ext cx="2103120" cy="1920240"/>
          </a:xfrm>
          <a:prstGeom prst="roundRect">
            <a:avLst/>
          </a:prstGeom>
          <a:solidFill>
            <a:srgbClr val="F1ECFB"/>
          </a:solidFill>
          <a:ln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62626"/>
                </a:solidFill>
                <a:latin typeface="Alibaba PuHuiTi 3.0" panose="00020600040101010101" charset="-122"/>
              </a:rPr>
              <a:t>中</a:t>
            </a:r>
            <a:endParaRPr sz="3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U+4E2D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09360" y="1874519"/>
            <a:ext cx="2103120" cy="1920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62626"/>
                </a:solidFill>
                <a:latin typeface="Alibaba PuHuiTi 3.0" panose="00020600040101010101" charset="-122"/>
              </a:rPr>
              <a:t>ש</a:t>
            </a:r>
            <a:endParaRPr sz="3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U+05E9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052560" y="1874519"/>
            <a:ext cx="2103120" cy="1920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62626"/>
                </a:solidFill>
                <a:latin typeface="Alibaba PuHuiTi 3.0" panose="00020600040101010101" charset="-122"/>
              </a:rPr>
              <a:t>😀</a:t>
            </a:r>
            <a:endParaRPr sz="3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U+1F600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27432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" y="6784848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548640"/>
            <a:ext cx="746379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Unicode：给全球字符分配统一码位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103120" cy="1920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62626"/>
                </a:solidFill>
                <a:latin typeface="Alibaba PuHuiTi 3.0" panose="00020600040101010101" charset="-122"/>
              </a:rPr>
              <a:t>A</a:t>
            </a:r>
            <a:endParaRPr sz="3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U+0041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566160" y="1874519"/>
            <a:ext cx="2103120" cy="1920240"/>
          </a:xfrm>
          <a:prstGeom prst="roundRect">
            <a:avLst/>
          </a:prstGeom>
          <a:solidFill>
            <a:srgbClr val="F1ECFB"/>
          </a:solidFill>
          <a:ln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62626"/>
                </a:solidFill>
                <a:latin typeface="Alibaba PuHuiTi 3.0" panose="00020600040101010101" charset="-122"/>
              </a:rPr>
              <a:t>中</a:t>
            </a:r>
            <a:endParaRPr sz="3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U+4E2D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09360" y="1874519"/>
            <a:ext cx="2103120" cy="1920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62626"/>
                </a:solidFill>
                <a:latin typeface="Alibaba PuHuiTi 3.0" panose="00020600040101010101" charset="-122"/>
              </a:rPr>
              <a:t>ש</a:t>
            </a:r>
            <a:endParaRPr sz="3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U+05E9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052560" y="1874519"/>
            <a:ext cx="2103120" cy="1920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62626"/>
                </a:solidFill>
                <a:latin typeface="Alibaba PuHuiTi 3.0" panose="00020600040101010101" charset="-122"/>
              </a:rPr>
              <a:t>😀</a:t>
            </a:r>
            <a:endParaRPr sz="3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U+1F600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4663440"/>
            <a:ext cx="10058400" cy="91440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62626"/>
                </a:solidFill>
                <a:latin typeface="Alibaba PuHuiTi 3.0" panose="00020600040101010101" charset="-122"/>
              </a:rPr>
              <a:t>Unicode 先回答：</a:t>
            </a:r>
            <a:r>
              <a:rPr sz="2400" b="1">
                <a:solidFill>
                  <a:srgbClr val="8C64E1"/>
                </a:solidFill>
                <a:latin typeface="Alibaba PuHuiTi 3.0" panose="00020600040101010101" charset="-122"/>
              </a:rPr>
              <a:t>“这个字符的全球统一编号是多少？”</a:t>
            </a:r>
            <a:endParaRPr sz="2400" b="1">
              <a:solidFill>
                <a:srgbClr val="8C64E1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注意：码位不是字节。下一步才是 UTF。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27432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" y="6784848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5674" y="548640"/>
            <a:ext cx="120446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有了 Unicode，为什么还会有 UTF-8 / UTF-16 / UTF-32？</a:t>
            </a:r>
            <a:endParaRPr sz="36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3000" y="1828800"/>
            <a:ext cx="2377440" cy="1645920"/>
          </a:xfrm>
          <a:prstGeom prst="roundRect">
            <a:avLst/>
          </a:prstGeom>
          <a:solidFill>
            <a:srgbClr val="F1ECFB"/>
          </a:solidFill>
          <a:ln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62626"/>
                </a:solidFill>
                <a:latin typeface="Alibaba PuHuiTi 3.0" panose="00020600040101010101" charset="-122"/>
              </a:rPr>
              <a:t>Unicode 码位</a:t>
            </a:r>
            <a:endParaRPr sz="24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800" b="1">
                <a:solidFill>
                  <a:srgbClr val="8C64E1"/>
                </a:solidFill>
                <a:latin typeface="Alibaba PuHuiTi 3.0" panose="00020600040101010101" charset="-122"/>
              </a:rPr>
              <a:t>U+4E2D</a:t>
            </a:r>
            <a:endParaRPr sz="28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14800" y="1828800"/>
            <a:ext cx="2103120" cy="164592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UTF-8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E4 B8 AD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0" y="1828800"/>
            <a:ext cx="2103120" cy="164592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UTF-16BE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4E 2D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052560" y="1828800"/>
            <a:ext cx="2103120" cy="164592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UTF-32BE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00 00 4E 2D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27432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" y="6784848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5674" y="548640"/>
            <a:ext cx="120446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有了 Unicode，为什么还会有 UTF-8 / UTF-16 / UTF-32？</a:t>
            </a:r>
            <a:endParaRPr sz="36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3000" y="1828800"/>
            <a:ext cx="2377440" cy="1645920"/>
          </a:xfrm>
          <a:prstGeom prst="roundRect">
            <a:avLst/>
          </a:prstGeom>
          <a:solidFill>
            <a:srgbClr val="F1ECFB"/>
          </a:solidFill>
          <a:ln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62626"/>
                </a:solidFill>
                <a:latin typeface="Alibaba PuHuiTi 3.0" panose="00020600040101010101" charset="-122"/>
              </a:rPr>
              <a:t>Unicode 码位</a:t>
            </a:r>
            <a:endParaRPr sz="24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800" b="1">
                <a:solidFill>
                  <a:srgbClr val="8C64E1"/>
                </a:solidFill>
                <a:latin typeface="Alibaba PuHuiTi 3.0" panose="00020600040101010101" charset="-122"/>
              </a:rPr>
              <a:t>U+4E2D</a:t>
            </a:r>
            <a:endParaRPr sz="28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14800" y="1828800"/>
            <a:ext cx="2103120" cy="164592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UTF-8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E4 B8 AD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0" y="1828800"/>
            <a:ext cx="2103120" cy="164592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UTF-16BE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4E 2D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052560" y="1828800"/>
            <a:ext cx="2103120" cy="164592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UTF-32BE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00 00 4E 2D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05840" y="4572000"/>
            <a:ext cx="10149840" cy="10058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62626"/>
                </a:solidFill>
                <a:latin typeface="Alibaba PuHuiTi 3.0" panose="00020600040101010101" charset="-122"/>
              </a:rPr>
              <a:t>Unicode 决定“编号”，UTF 决定“字节”。</a:t>
            </a:r>
            <a:endParaRPr sz="24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同一个码位，可以有不同的字节写法。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27432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" y="6784848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548640"/>
            <a:ext cx="1174242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ClrTx/>
              <a:buSzTx/>
              <a:buFontTx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UTF-8、UTF-16、UTF-32 的差异，本质是“用多少字节”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400" y="1600200"/>
            <a:ext cx="1463040" cy="41148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字符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926080" y="1600200"/>
            <a:ext cx="1737360" cy="411480"/>
          </a:xfrm>
          <a:prstGeom prst="roundRect">
            <a:avLst/>
          </a:prstGeom>
          <a:solidFill>
            <a:srgbClr val="F1ECFB"/>
          </a:solidFill>
          <a:ln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UTF-8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212080" y="1600200"/>
            <a:ext cx="1737360" cy="41148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UTF-16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8079" y="1600200"/>
            <a:ext cx="2011680" cy="41148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UTF-32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2240280"/>
            <a:ext cx="1463040" cy="777240"/>
          </a:xfrm>
          <a:prstGeom prst="roundRect">
            <a:avLst/>
          </a:prstGeom>
          <a:solidFill>
            <a:srgbClr val="F1EC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8C64E1"/>
                </a:solidFill>
                <a:latin typeface="Alibaba PuHuiTi 3.0" panose="00020600040101010101" charset="-122"/>
              </a:rPr>
              <a:t>A</a:t>
            </a:r>
            <a:endParaRPr sz="24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926080" y="2240280"/>
            <a:ext cx="173736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1 字节
41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212080" y="2240280"/>
            <a:ext cx="173736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2 字节
00 41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498079" y="2240280"/>
            <a:ext cx="201168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4 字节
00 00 00 41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14400" y="3200400"/>
            <a:ext cx="1463040" cy="777240"/>
          </a:xfrm>
          <a:prstGeom prst="roundRect">
            <a:avLst/>
          </a:prstGeom>
          <a:solidFill>
            <a:srgbClr val="F1EC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8C64E1"/>
                </a:solidFill>
                <a:latin typeface="Alibaba PuHuiTi 3.0" panose="00020600040101010101" charset="-122"/>
              </a:rPr>
              <a:t>语</a:t>
            </a:r>
            <a:endParaRPr sz="24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926080" y="3200400"/>
            <a:ext cx="173736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3 字节
E8 AF AD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212080" y="3200400"/>
            <a:ext cx="173736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2 字节
8B ED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498079" y="3200400"/>
            <a:ext cx="201168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4 字节
00 00 8B ED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14400" y="4160520"/>
            <a:ext cx="1463040" cy="777240"/>
          </a:xfrm>
          <a:prstGeom prst="roundRect">
            <a:avLst/>
          </a:prstGeom>
          <a:solidFill>
            <a:srgbClr val="F1EC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8C64E1"/>
                </a:solidFill>
                <a:latin typeface="Alibaba PuHuiTi 3.0" panose="00020600040101010101" charset="-122"/>
              </a:rPr>
              <a:t>😀</a:t>
            </a:r>
            <a:endParaRPr sz="24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926080" y="4160520"/>
            <a:ext cx="173736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4 字节
F0 9F 98 80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212080" y="4160520"/>
            <a:ext cx="173736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4 字节
D8 3D DE 00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498079" y="4160520"/>
            <a:ext cx="201168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4 字节
00 01 F6 00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1024128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Alibaba PuHuiTi 3.0" panose="00020600040101010101" charset="-122"/>
              </a:rPr>
              <a:t>同一个 Unicode 码位，不同 UTF 形式会有不同空间成本。</a:t>
            </a:r>
            <a:endParaRPr sz="20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27432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" y="6784848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548640"/>
            <a:ext cx="815213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ClrTx/>
              <a:buSzTx/>
              <a:buFontTx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UTF-8、UTF-16、UTF-32，谁更优秀？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05840" y="1828800"/>
            <a:ext cx="2926080" cy="2377440"/>
          </a:xfrm>
          <a:prstGeom prst="roundRect">
            <a:avLst/>
          </a:prstGeom>
          <a:solidFill>
            <a:srgbClr val="F1ECFB"/>
          </a:solidFill>
          <a:ln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8C64E1"/>
                </a:solidFill>
                <a:latin typeface="Alibaba PuHuiTi 3.0" panose="00020600040101010101" charset="-122"/>
              </a:rPr>
              <a:t>UTF-8</a:t>
            </a:r>
            <a:endParaRPr sz="2800" b="1">
              <a:solidFill>
                <a:srgbClr val="8C64E1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Alibaba PuHuiTi 3.0" panose="00020600040101010101" charset="-122"/>
              </a:rPr>
              <a:t>传输与存储</a:t>
            </a:r>
            <a:endParaRPr sz="2000" b="0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Alibaba PuHuiTi 3.0" panose="00020600040101010101" charset="-122"/>
              </a:rPr>
              <a:t>兼容 ASCII</a:t>
            </a:r>
            <a:endParaRPr sz="20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663440" y="1828800"/>
            <a:ext cx="2926080" cy="2377440"/>
          </a:xfrm>
          <a:prstGeom prst="roundRect">
            <a:avLst/>
          </a:prstGeom>
          <a:solidFill>
            <a:srgbClr val="F7F7FB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262626"/>
                </a:solidFill>
                <a:latin typeface="Alibaba PuHuiTi 3.0" panose="00020600040101010101" charset="-122"/>
              </a:rPr>
              <a:t>UTF-16</a:t>
            </a:r>
            <a:endParaRPr sz="28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Alibaba PuHuiTi 3.0" panose="00020600040101010101" charset="-122"/>
              </a:rPr>
              <a:t>平台历史</a:t>
            </a:r>
            <a:endParaRPr sz="2000" b="0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Alibaba PuHuiTi 3.0" panose="00020600040101010101" charset="-122"/>
              </a:rPr>
              <a:t>兼顾 BMP 字符</a:t>
            </a:r>
            <a:endParaRPr sz="20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321040" y="1828800"/>
            <a:ext cx="2926080" cy="2377440"/>
          </a:xfrm>
          <a:prstGeom prst="roundRect">
            <a:avLst/>
          </a:prstGeom>
          <a:solidFill>
            <a:srgbClr val="F7F7FB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262626"/>
                </a:solidFill>
                <a:latin typeface="Alibaba PuHuiTi 3.0" panose="00020600040101010101" charset="-122"/>
              </a:rPr>
              <a:t>UTF-32</a:t>
            </a:r>
            <a:endParaRPr sz="28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Alibaba PuHuiTi 3.0" panose="00020600040101010101" charset="-122"/>
              </a:rPr>
              <a:t>定长简单</a:t>
            </a:r>
            <a:endParaRPr sz="2000" b="0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Alibaba PuHuiTi 3.0" panose="00020600040101010101" charset="-122"/>
              </a:rPr>
              <a:t>空间成本高</a:t>
            </a:r>
            <a:endParaRPr sz="20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011680" y="4892040"/>
            <a:ext cx="8138160" cy="68580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262626"/>
                </a:solidFill>
                <a:latin typeface="Alibaba PuHuiTi 3.0" panose="00020600040101010101" charset="-122"/>
              </a:rPr>
              <a:t>没有绝对优秀，只有场景权衡。</a:t>
            </a:r>
            <a:endParaRPr sz="28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同一批 bytes，为什么会变成乱码？</a:t>
            </a:r>
            <a:endParaRPr sz="3600"/>
          </a:p>
        </p:txBody>
      </p:sp>
      <p:pic>
        <p:nvPicPr>
          <p:cNvPr id="5" name="Picture 4" descr="dyn-ad481486803adea284f0a3137b8b2c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1130" y="6251575"/>
            <a:ext cx="495300" cy="50482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同一批 bytes，为什么会变成乱码？</a:t>
            </a:r>
            <a:endParaRPr sz="3600"/>
          </a:p>
        </p:txBody>
      </p:sp>
      <p:sp>
        <p:nvSpPr>
          <p:cNvPr id="6" name="Shape 3"/>
          <p:cNvSpPr>
            <a:spLocks noGrp="1"/>
          </p:cNvSpPr>
          <p:nvPr/>
        </p:nvSpPr>
        <p:spPr>
          <a:xfrm>
            <a:off x="1097280" y="1600200"/>
            <a:ext cx="18288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1170432" y="1673352"/>
            <a:ext cx="1682496" cy="53949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30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你好</a:t>
            </a:r>
            <a:endParaRPr sz="30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3063240" y="1947672"/>
            <a:ext cx="1051560" cy="0"/>
          </a:xfrm>
          <a:prstGeom prst="line">
            <a:avLst/>
          </a:prstGeom>
          <a:noFill/>
          <a:ln w="2540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4251960" y="1600200"/>
            <a:ext cx="224028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4325112" y="1673352"/>
            <a:ext cx="2093976" cy="53949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UTF-8 encode</a:t>
            </a:r>
            <a:endParaRPr sz="21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6629400" y="1947672"/>
            <a:ext cx="685800" cy="0"/>
          </a:xfrm>
          <a:prstGeom prst="line">
            <a:avLst/>
          </a:prstGeom>
          <a:noFill/>
          <a:ln w="2540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7452360" y="160020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7598664" y="1728216"/>
            <a:ext cx="2999232" cy="42976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E4 BD A0 E5 A5 BD</a:t>
            </a:r>
            <a:endParaRPr sz="2300"/>
          </a:p>
        </p:txBody>
      </p:sp>
      <p:sp>
        <p:nvSpPr>
          <p:cNvPr id="14" name="Shape 11"/>
          <p:cNvSpPr>
            <a:spLocks noGrp="1"/>
          </p:cNvSpPr>
          <p:nvPr/>
        </p:nvSpPr>
        <p:spPr>
          <a:xfrm>
            <a:off x="9052560" y="2468880"/>
            <a:ext cx="0" cy="59436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5806440" y="3246120"/>
            <a:ext cx="23317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5879592" y="3319272"/>
            <a:ext cx="2185416" cy="76809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按 UTF-8 读</a:t>
            </a:r>
            <a:endParaRPr sz="2200"/>
          </a:p>
          <a:p>
            <a:pPr marL="0" indent="0" algn="ctr">
              <a:buNone/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→ 你好</a:t>
            </a:r>
            <a:endParaRPr sz="220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8549640" y="3246120"/>
            <a:ext cx="23317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8622792" y="3319272"/>
            <a:ext cx="2185416" cy="76809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2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按 GBK 读</a:t>
            </a:r>
            <a:endParaRPr sz="2200"/>
          </a:p>
          <a:p>
            <a:pPr marL="0" indent="0" algn="ctr">
              <a:buNone/>
            </a:pPr>
            <a:r>
              <a:rPr sz="22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→ 浣犲ソ</a:t>
            </a:r>
            <a:endParaRPr sz="220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914400" y="5074920"/>
            <a:ext cx="10332720" cy="676656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1115568" y="5184648"/>
            <a:ext cx="9930384" cy="45720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同一批 bytes，使用不匹配的 decode 规则，就可能显示成乱码。</a:t>
            </a:r>
            <a:endParaRPr sz="27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现在能重新解释整个过程吗？</a:t>
            </a:r>
            <a:endParaRPr sz="36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现在能重新解释整个过程吗？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914400" y="1508760"/>
            <a:ext cx="18288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输入并显示</a:t>
            </a:r>
            <a:endParaRPr sz="24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914400" y="1965960"/>
            <a:ext cx="14173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987552" y="2039112"/>
            <a:ext cx="127101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键盘输入</a:t>
            </a:r>
            <a:endParaRPr sz="16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2331720" y="2249424"/>
            <a:ext cx="283464" cy="0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2670048" y="1965960"/>
            <a:ext cx="14173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2743200" y="2039112"/>
            <a:ext cx="127101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输入码 / IME</a:t>
            </a:r>
            <a:endParaRPr sz="160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087368" y="2249424"/>
            <a:ext cx="283464" cy="0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4425696" y="1965960"/>
            <a:ext cx="14173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4498848" y="2039112"/>
            <a:ext cx="127101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 / code point</a:t>
            </a:r>
            <a:endParaRPr sz="16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5843016" y="2249424"/>
            <a:ext cx="283464" cy="0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181344" y="1965960"/>
            <a:ext cx="14173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7" name="Text 14"/>
          <p:cNvSpPr>
            <a:spLocks noGrp="1"/>
          </p:cNvSpPr>
          <p:nvPr/>
        </p:nvSpPr>
        <p:spPr>
          <a:xfrm>
            <a:off x="6254496" y="2039112"/>
            <a:ext cx="127101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字体映射</a:t>
            </a:r>
            <a:endParaRPr sz="1600"/>
          </a:p>
        </p:txBody>
      </p:sp>
      <p:sp>
        <p:nvSpPr>
          <p:cNvPr id="18" name="Shape 15"/>
          <p:cNvSpPr>
            <a:spLocks noGrp="1"/>
          </p:cNvSpPr>
          <p:nvPr/>
        </p:nvSpPr>
        <p:spPr>
          <a:xfrm>
            <a:off x="7598664" y="2249424"/>
            <a:ext cx="283464" cy="0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7936992" y="1965960"/>
            <a:ext cx="14173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8010144" y="2039112"/>
            <a:ext cx="127101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字形</a:t>
            </a:r>
            <a:r>
              <a:rPr lang="zh-CN" altLang="en-US" sz="1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码</a:t>
            </a:r>
            <a:endParaRPr lang="zh-CN" altLang="en-US" sz="1600">
              <a:solidFill>
                <a:srgbClr val="000000"/>
              </a:solidFill>
              <a:latin typeface="Alibaba PuHuiTi 3.0 85 Bold" panose="00020600040101010101" charset="-122"/>
              <a:ea typeface="Alibaba PuHuiTi 3.0 85 Bold" panose="00020600040101010101" charset="-122"/>
              <a:cs typeface="Alibaba PuHuiTi 3.0 85 Bold" panose="00020600040101010101" charset="-122"/>
            </a:endParaRPr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9354312" y="2249424"/>
            <a:ext cx="283464" cy="0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9692640" y="1965960"/>
            <a:ext cx="14173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9765792" y="2039112"/>
            <a:ext cx="127101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pixels</a:t>
            </a:r>
            <a:endParaRPr sz="16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914400" y="3246120"/>
            <a:ext cx="18288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保存并读取</a:t>
            </a:r>
            <a:endParaRPr sz="24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914400" y="3703320"/>
            <a:ext cx="12344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987552" y="3776472"/>
            <a:ext cx="108813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5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 / code point</a:t>
            </a:r>
            <a:endParaRPr sz="150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2148840" y="3986784"/>
            <a:ext cx="274320" cy="0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>
            <a:spLocks noGrp="1"/>
          </p:cNvSpPr>
          <p:nvPr/>
        </p:nvSpPr>
        <p:spPr>
          <a:xfrm>
            <a:off x="2423160" y="3703320"/>
            <a:ext cx="12344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2496312" y="3776472"/>
            <a:ext cx="108813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5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encode</a:t>
            </a:r>
            <a:endParaRPr sz="1500"/>
          </a:p>
        </p:txBody>
      </p:sp>
      <p:sp>
        <p:nvSpPr>
          <p:cNvPr id="30" name="Shape 27"/>
          <p:cNvSpPr>
            <a:spLocks noGrp="1"/>
          </p:cNvSpPr>
          <p:nvPr/>
        </p:nvSpPr>
        <p:spPr>
          <a:xfrm>
            <a:off x="3657600" y="3986784"/>
            <a:ext cx="274320" cy="0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>
            <a:spLocks noGrp="1"/>
          </p:cNvSpPr>
          <p:nvPr/>
        </p:nvSpPr>
        <p:spPr>
          <a:xfrm>
            <a:off x="3931920" y="3703320"/>
            <a:ext cx="12344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4005072" y="3776472"/>
            <a:ext cx="108813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5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bytes</a:t>
            </a:r>
            <a:endParaRPr sz="15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5166360" y="3986784"/>
            <a:ext cx="274320" cy="0"/>
          </a:xfrm>
          <a:prstGeom prst="line">
            <a:avLst/>
          </a:prstGeom>
          <a:noFill/>
          <a:ln w="15240">
            <a:solidFill>
              <a:srgbClr val="FF0000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>
            <a:spLocks noGrp="1"/>
          </p:cNvSpPr>
          <p:nvPr/>
        </p:nvSpPr>
        <p:spPr>
          <a:xfrm>
            <a:off x="5440680" y="3703320"/>
            <a:ext cx="12344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5" name="Text 32"/>
          <p:cNvSpPr>
            <a:spLocks noGrp="1"/>
          </p:cNvSpPr>
          <p:nvPr/>
        </p:nvSpPr>
        <p:spPr>
          <a:xfrm>
            <a:off x="5513832" y="3776472"/>
            <a:ext cx="108813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500">
                <a:solidFill>
                  <a:srgbClr val="FF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decode</a:t>
            </a:r>
            <a:endParaRPr sz="1500"/>
          </a:p>
        </p:txBody>
      </p:sp>
      <p:sp>
        <p:nvSpPr>
          <p:cNvPr id="36" name="Shape 33"/>
          <p:cNvSpPr>
            <a:spLocks noGrp="1"/>
          </p:cNvSpPr>
          <p:nvPr/>
        </p:nvSpPr>
        <p:spPr>
          <a:xfrm>
            <a:off x="6675120" y="3986784"/>
            <a:ext cx="274320" cy="0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37" name="Shape 34"/>
          <p:cNvSpPr>
            <a:spLocks noGrp="1"/>
          </p:cNvSpPr>
          <p:nvPr/>
        </p:nvSpPr>
        <p:spPr>
          <a:xfrm>
            <a:off x="6949440" y="3703320"/>
            <a:ext cx="12344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38" name="Text 35"/>
          <p:cNvSpPr>
            <a:spLocks noGrp="1"/>
          </p:cNvSpPr>
          <p:nvPr/>
        </p:nvSpPr>
        <p:spPr>
          <a:xfrm>
            <a:off x="7022592" y="3776472"/>
            <a:ext cx="108813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5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</a:t>
            </a:r>
            <a:endParaRPr sz="15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8183880" y="3986784"/>
            <a:ext cx="274320" cy="0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40" name="Shape 37"/>
          <p:cNvSpPr>
            <a:spLocks noGrp="1"/>
          </p:cNvSpPr>
          <p:nvPr/>
        </p:nvSpPr>
        <p:spPr>
          <a:xfrm>
            <a:off x="8458200" y="3703320"/>
            <a:ext cx="12344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8531352" y="3776472"/>
            <a:ext cx="108813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fontScale="91722" lnSpcReduction="20000"/>
          </a:bodyPr>
          <a:lstStyle/>
          <a:p>
            <a:pPr marL="0" indent="0" algn="ctr">
              <a:buNone/>
            </a:pPr>
            <a:r>
              <a:rPr sz="15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字体映射</a:t>
            </a:r>
            <a:endParaRPr sz="1500"/>
          </a:p>
          <a:p>
            <a:pPr marL="0" indent="0" algn="ctr">
              <a:buNone/>
            </a:pPr>
            <a:r>
              <a:rPr sz="15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→ </a:t>
            </a:r>
            <a:r>
              <a:rPr lang="zh-CN" sz="15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字形码</a:t>
            </a:r>
            <a:endParaRPr lang="zh-CN" sz="1500">
              <a:solidFill>
                <a:srgbClr val="000000"/>
              </a:solidFill>
              <a:latin typeface="Alibaba PuHuiTi 3.0 85 Bold" panose="00020600040101010101" charset="-122"/>
              <a:ea typeface="Alibaba PuHuiTi 3.0 85 Bold" panose="00020600040101010101" charset="-122"/>
              <a:cs typeface="Alibaba PuHuiTi 3.0 85 Bold" panose="00020600040101010101" charset="-122"/>
            </a:endParaRPr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9692640" y="3986784"/>
            <a:ext cx="274320" cy="0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9966960" y="3703320"/>
            <a:ext cx="12344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10040112" y="3776472"/>
            <a:ext cx="108813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5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pixels</a:t>
            </a:r>
            <a:endParaRPr sz="1500"/>
          </a:p>
        </p:txBody>
      </p:sp>
      <p:sp>
        <p:nvSpPr>
          <p:cNvPr id="45" name="Shape 42"/>
          <p:cNvSpPr>
            <a:spLocks noGrp="1"/>
          </p:cNvSpPr>
          <p:nvPr/>
        </p:nvSpPr>
        <p:spPr>
          <a:xfrm>
            <a:off x="914400" y="5257800"/>
            <a:ext cx="10332720" cy="594360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46" name="Text 43"/>
          <p:cNvSpPr>
            <a:spLocks noGrp="1"/>
          </p:cNvSpPr>
          <p:nvPr/>
        </p:nvSpPr>
        <p:spPr>
          <a:xfrm>
            <a:off x="1115568" y="5367528"/>
            <a:ext cx="9930384" cy="37490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乱码定位：保存并读取路径中，decode 使用了不匹配的规则。</a:t>
            </a:r>
            <a:endParaRPr sz="27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用三句话解释字符编码</a:t>
            </a:r>
            <a:endParaRPr sz="3600"/>
          </a:p>
        </p:txBody>
      </p:sp>
      <p:sp>
        <p:nvSpPr>
          <p:cNvPr id="6" name="Shape 3"/>
          <p:cNvSpPr>
            <a:spLocks noGrp="1"/>
          </p:cNvSpPr>
          <p:nvPr/>
        </p:nvSpPr>
        <p:spPr>
          <a:xfrm>
            <a:off x="1097280" y="1645920"/>
            <a:ext cx="99669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  <a:prstDash val="solid"/>
          </a:ln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1170432" y="1719072"/>
            <a:ext cx="9820656" cy="51206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1. 一串 bits 为什么不能自己决定文字意义？</a:t>
            </a:r>
            <a:endParaRPr sz="22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1097280" y="2670048"/>
            <a:ext cx="99669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1170432" y="2743200"/>
            <a:ext cx="9820656" cy="51206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2. Unicode 码位与三种 UTF 各负责什么？</a:t>
            </a:r>
            <a:endParaRPr sz="2200"/>
          </a:p>
        </p:txBody>
      </p:sp>
      <p:sp>
        <p:nvSpPr>
          <p:cNvPr id="10" name="Shape 7"/>
          <p:cNvSpPr>
            <a:spLocks noGrp="1"/>
          </p:cNvSpPr>
          <p:nvPr/>
        </p:nvSpPr>
        <p:spPr>
          <a:xfrm>
            <a:off x="1097280" y="3694176"/>
            <a:ext cx="99669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  <a:prstDash val="solid"/>
          </a:ln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1170432" y="3767328"/>
            <a:ext cx="9820656" cy="51206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3. bytes 没坏时，为什么仍可能出现乱码？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libaba PuHuiTi 3.0 115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libaba PuHuiTi 3.0 55 Regula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libaba PuHuiTi 3.0 115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libaba PuHuiTi 3.0 55 Regula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5262</Words>
  <Application>WPS Presentation</Application>
  <PresentationFormat>Converted Presentation</PresentationFormat>
  <Paragraphs>742</Paragraphs>
  <Slides>56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77" baseType="lpstr">
      <vt:lpstr>Arial</vt:lpstr>
      <vt:lpstr>SimSun</vt:lpstr>
      <vt:lpstr>Wingdings</vt:lpstr>
      <vt:lpstr>Arial</vt:lpstr>
      <vt:lpstr>Alibaba PuHuiTi 3.0 115 Black</vt:lpstr>
      <vt:lpstr>Alibaba PuHuiTi 3.0 55 Regular</vt:lpstr>
      <vt:lpstr>Alibaba PuHuiTi 3.0 85 Bold</vt:lpstr>
      <vt:lpstr>Microsoft YaHei</vt:lpstr>
      <vt:lpstr>方正雅意黑 GB18030L2</vt:lpstr>
      <vt:lpstr>Arial Unicode MS</vt:lpstr>
      <vt:lpstr>SimSun</vt:lpstr>
      <vt:lpstr>汉仪书宋二KW</vt:lpstr>
      <vt:lpstr>Alibaba PuHuiTi 3.0 115 Black</vt:lpstr>
      <vt:lpstr>Alibaba PuHuiTi 3.0 55 Regular</vt:lpstr>
      <vt:lpstr>Alibaba PuHuiTi 3.0 85 Bold</vt:lpstr>
      <vt:lpstr>Alibaba PuHuiTi 3.0</vt:lpstr>
      <vt:lpstr>Calibri</vt:lpstr>
      <vt:lpstr>Helvetica Neue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Peter Ran</cp:lastModifiedBy>
  <cp:revision>85</cp:revision>
  <dcterms:created xsi:type="dcterms:W3CDTF">2026-09-29T00:39:31Z</dcterms:created>
  <dcterms:modified xsi:type="dcterms:W3CDTF">2026-09-29T00:39:31Z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9CC120483AF090EF73C8B86AD55AE65D_42</vt:lpwstr>
  </property>
  <property fmtid="{D5CDD505-2E9C-101B-9397-08002B2CF9AE}" pid="3" name="KSOProductBuildVer">
    <vt:lpwstr>1033-12.1.28492.28492</vt:lpwstr>
  </property>
</Properties>
</file>